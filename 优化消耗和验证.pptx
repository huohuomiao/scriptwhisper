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>
                <a:solidFill>
                  <a:srgbClr val="68727B"/>
                </a:solidFill>
                <a:latin typeface="微软雅黑"/>
                <a:ea typeface="微软雅黑"/>
                <a:cs typeface="微软雅黑"/>
              </a:rPr>
              <a:t>基础 Workflow 解决“任务怎么跑通”，这一页解决“怎么让它稳定、可调用、可复用”。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1">
                <a:solidFill>
                  <a:srgbClr val="252B31"/>
                </a:solidFill>
                <a:latin typeface="微软雅黑"/>
                <a:ea typeface="微软雅黑"/>
                <a:cs typeface="微软雅黑"/>
              </a:rPr>
              <a:t>从基础 Workflow 到完整 Skill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1">
                <a:solidFill>
                  <a:srgbClr val="557A96"/>
                </a:solidFill>
                <a:latin typeface="微软雅黑"/>
                <a:ea typeface="微软雅黑"/>
                <a:cs typeface="微软雅黑"/>
              </a:rPr>
              <a:t>检查每个 Stage：Agent 还缺什么？</a:t>
            </a:r>
            <a:endParaRPr sz="1200" b="1">
              <a:solidFill>
                <a:srgbClr val="252B31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1">
                <a:solidFill>
                  <a:srgbClr val="557A96"/>
                </a:solidFill>
                <a:latin typeface="微软雅黑"/>
                <a:ea typeface="微软雅黑"/>
                <a:cs typeface="微软雅黑"/>
              </a:rPr>
              <a:t>让 Skill 稳定、可发现、可调用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1">
                <a:solidFill>
                  <a:srgbClr val="557A96"/>
                </a:solidFill>
                <a:latin typeface="微软雅黑"/>
                <a:ea typeface="微软雅黑"/>
                <a:cs typeface="微软雅黑"/>
              </a:rPr>
              <a:t>用真实任务验证“是否真的好用”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2237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/>
              <a:t>在尽可能不降低优化质量的情况下，加快生成速度。</a:t>
            </a:r>
            <a:endParaRPr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0095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如何根据指南开发一个新平台skill，我把整个过程整理成八步。首先确定平台和编程语言，cuda或者 triton然后系统收集平台资料。接着进行真实环境检测和微基准，确认平台实际行为。验证过的信息再整理进 Platform Knowledge，并接入前面的通用 Workflow。最后使用 LayerNorm、Softmax 和 MatMul 三个标准算子进行完整验证。如果过程中发现问题，就分类处理：平台事实有偏差就更新知识，优化策略失效就更新规则，流程不合理就调整 Workflow。所以新平台 Skill 的开发，本质上是“</a:t>
            </a:r>
            <a:r>
              <a:rPr sz="1200" b="1">
                <a:solidFill>
                  <a:srgbClr val="2F3A45"/>
                </a:solidFill>
                <a:latin typeface="Arial"/>
                <a:ea typeface="Arial"/>
                <a:cs typeface="Arial"/>
              </a:rPr>
              <a:t>通用框架上补齐目标平台知识，并通过真实验证不断校准。最关键就是 搜集平台知识这步。要根据 官方、网络资料，已有的工程经验 和现有的真实平台测试 去补充真实有效的平台知识。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103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62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E37178FA-5CE2-4CAB-8872-6CCA8ACBB856}"/>
              </a:ext>
            </a:extLst>
          </p:cNvPr>
          <p:cNvSpPr>
            <a:spLocks noGrp="1"/>
          </p:cNvSpPr>
          <p:nvPr/>
        </p:nvSpPr>
        <p:spPr>
          <a:xfrm>
            <a:off x="1004887" y="171035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使用</a:t>
            </a:r>
            <a:r>
              <a:rPr sz="270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Skill </a:t>
            </a:r>
            <a:r>
              <a:rPr sz="2700" b="1" dirty="0" err="1" smtClean="0">
                <a:solidFill>
                  <a:srgbClr val="243B53"/>
                </a:solidFill>
                <a:latin typeface="Arial"/>
                <a:ea typeface="Arial"/>
                <a:cs typeface="Arial"/>
              </a:rPr>
              <a:t>进行</a:t>
            </a:r>
            <a:r>
              <a:rPr lang="zh-CN" altLang="en-US" sz="2700" b="1" dirty="0" smtClean="0">
                <a:solidFill>
                  <a:srgbClr val="243B53"/>
                </a:solidFill>
                <a:latin typeface="Arial"/>
                <a:ea typeface="Arial"/>
                <a:cs typeface="Arial"/>
              </a:rPr>
              <a:t>复杂开发时</a:t>
            </a:r>
            <a:r>
              <a:rPr sz="2700" b="1" dirty="0" err="1" smtClean="0">
                <a:solidFill>
                  <a:srgbClr val="243B53"/>
                </a:solidFill>
                <a:latin typeface="Arial"/>
                <a:ea typeface="Arial"/>
                <a:cs typeface="Arial"/>
              </a:rPr>
              <a:t>的三个</a:t>
            </a:r>
            <a:r>
              <a:rPr lang="zh-CN" altLang="en-US" sz="2700" b="1" dirty="0" smtClean="0">
                <a:solidFill>
                  <a:srgbClr val="243B53"/>
                </a:solidFill>
                <a:latin typeface="Arial"/>
                <a:ea typeface="Arial"/>
                <a:cs typeface="Arial"/>
              </a:rPr>
              <a:t>困难</a:t>
            </a:r>
            <a:endParaRPr sz="2700" b="1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sources-frame">
            <a:extLst>
              <a:ext uri="{FF2B5EF4-FFF2-40B4-BE49-F238E27FC236}">
                <a16:creationId xmlns:a16="http://schemas.microsoft.com/office/drawing/2014/main" id="{0463F984-48C2-4C52-BB3E-34CBC392545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3333750" cy="3905250"/>
          </a:xfrm>
          <a:prstGeom prst="roundRect">
            <a:avLst>
              <a:gd name="adj" fmla="val 1429"/>
            </a:avLst>
          </a:prstGeom>
          <a:solidFill>
            <a:srgbClr val="F7F8F9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6" name="resources-accent">
            <a:extLst>
              <a:ext uri="{FF2B5EF4-FFF2-40B4-BE49-F238E27FC236}">
                <a16:creationId xmlns:a16="http://schemas.microsoft.com/office/drawing/2014/main" id="{7E975677-AF72-4DA3-BBA0-0A12A6BBA1C2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3333750" cy="28575"/>
          </a:xfrm>
          <a:prstGeom prst="rect">
            <a:avLst/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17" name="resources-number">
            <a:extLst>
              <a:ext uri="{FF2B5EF4-FFF2-40B4-BE49-F238E27FC236}">
                <a16:creationId xmlns:a16="http://schemas.microsoft.com/office/drawing/2014/main" id="{7EEA21D6-BB92-438F-BA79-BF3919CF78E9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557A9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C7F9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resources-title">
            <a:extLst>
              <a:ext uri="{FF2B5EF4-FFF2-40B4-BE49-F238E27FC236}">
                <a16:creationId xmlns:a16="http://schemas.microsoft.com/office/drawing/2014/main" id="{30C52ED7-A208-46F5-B7E3-740B879C6A07}"/>
              </a:ext>
            </a:extLst>
          </p:cNvPr>
          <p:cNvSpPr>
            <a:spLocks noGrp="1"/>
          </p:cNvSpPr>
          <p:nvPr/>
        </p:nvSpPr>
        <p:spPr>
          <a:xfrm>
            <a:off x="1162050" y="1638300"/>
            <a:ext cx="2628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61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defRPr>
            </a:pPr>
            <a:r>
              <a:rPr sz="161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rPr>
              <a:t>Token / 额度消耗大</a:t>
            </a:r>
          </a:p>
        </p:txBody>
      </p:sp>
      <p:sp>
        <p:nvSpPr>
          <p:cNvPr id="21" name="constraints-frame">
            <a:extLst>
              <a:ext uri="{FF2B5EF4-FFF2-40B4-BE49-F238E27FC236}">
                <a16:creationId xmlns:a16="http://schemas.microsoft.com/office/drawing/2014/main" id="{1154F099-8A45-4ED2-94A3-BD7455226A92}"/>
              </a:ext>
            </a:extLst>
          </p:cNvPr>
          <p:cNvSpPr>
            <a:spLocks noGrp="1"/>
          </p:cNvSpPr>
          <p:nvPr/>
        </p:nvSpPr>
        <p:spPr>
          <a:xfrm>
            <a:off x="4200525" y="1562100"/>
            <a:ext cx="3781425" cy="3905250"/>
          </a:xfrm>
          <a:prstGeom prst="roundRect">
            <a:avLst>
              <a:gd name="adj" fmla="val 1259"/>
            </a:avLst>
          </a:prstGeom>
          <a:solidFill>
            <a:srgbClr val="F7F8F9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2" name="constraints-accent">
            <a:extLst>
              <a:ext uri="{FF2B5EF4-FFF2-40B4-BE49-F238E27FC236}">
                <a16:creationId xmlns:a16="http://schemas.microsoft.com/office/drawing/2014/main" id="{4B8B09AB-62BE-4C49-8D8E-CCE708434311}"/>
              </a:ext>
            </a:extLst>
          </p:cNvPr>
          <p:cNvSpPr>
            <a:spLocks noGrp="1"/>
          </p:cNvSpPr>
          <p:nvPr/>
        </p:nvSpPr>
        <p:spPr>
          <a:xfrm>
            <a:off x="4200525" y="1562100"/>
            <a:ext cx="3781425" cy="28575"/>
          </a:xfrm>
          <a:prstGeom prst="rect">
            <a:avLst/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23" name="constraints-number">
            <a:extLst>
              <a:ext uri="{FF2B5EF4-FFF2-40B4-BE49-F238E27FC236}">
                <a16:creationId xmlns:a16="http://schemas.microsoft.com/office/drawing/2014/main" id="{D866D818-3B45-4ED0-A8F4-E28D5FE09613}"/>
              </a:ext>
            </a:extLst>
          </p:cNvPr>
          <p:cNvSpPr>
            <a:spLocks noGrp="1"/>
          </p:cNvSpPr>
          <p:nvPr/>
        </p:nvSpPr>
        <p:spPr>
          <a:xfrm>
            <a:off x="4352925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557A9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C7F9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4" name="constraints-title">
            <a:extLst>
              <a:ext uri="{FF2B5EF4-FFF2-40B4-BE49-F238E27FC236}">
                <a16:creationId xmlns:a16="http://schemas.microsoft.com/office/drawing/2014/main" id="{61BC0F20-8843-45F3-ACA8-BBB1EE312A95}"/>
              </a:ext>
            </a:extLst>
          </p:cNvPr>
          <p:cNvSpPr>
            <a:spLocks noGrp="1"/>
          </p:cNvSpPr>
          <p:nvPr/>
        </p:nvSpPr>
        <p:spPr>
          <a:xfrm>
            <a:off x="4752975" y="1638300"/>
            <a:ext cx="30765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61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defRPr>
            </a:pPr>
            <a:r>
              <a:rPr sz="161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rPr>
              <a:t>端到端开发时间长</a:t>
            </a:r>
          </a:p>
        </p:txBody>
      </p:sp>
      <p:sp>
        <p:nvSpPr>
          <p:cNvPr id="27" name="validation-frame">
            <a:extLst>
              <a:ext uri="{FF2B5EF4-FFF2-40B4-BE49-F238E27FC236}">
                <a16:creationId xmlns:a16="http://schemas.microsoft.com/office/drawing/2014/main" id="{D65B7BEB-A3E1-41DE-B759-0EFC9AE2ADCE}"/>
              </a:ext>
            </a:extLst>
          </p:cNvPr>
          <p:cNvSpPr>
            <a:spLocks noGrp="1"/>
          </p:cNvSpPr>
          <p:nvPr/>
        </p:nvSpPr>
        <p:spPr>
          <a:xfrm>
            <a:off x="8239125" y="1562100"/>
            <a:ext cx="3343275" cy="3905250"/>
          </a:xfrm>
          <a:prstGeom prst="roundRect">
            <a:avLst>
              <a:gd name="adj" fmla="val 1425"/>
            </a:avLst>
          </a:prstGeom>
          <a:solidFill>
            <a:srgbClr val="F7F8F9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8" name="validation-accent">
            <a:extLst>
              <a:ext uri="{FF2B5EF4-FFF2-40B4-BE49-F238E27FC236}">
                <a16:creationId xmlns:a16="http://schemas.microsoft.com/office/drawing/2014/main" id="{5F00A8CD-1A13-436A-83B4-B3CE8172F1E1}"/>
              </a:ext>
            </a:extLst>
          </p:cNvPr>
          <p:cNvSpPr>
            <a:spLocks noGrp="1"/>
          </p:cNvSpPr>
          <p:nvPr/>
        </p:nvSpPr>
        <p:spPr>
          <a:xfrm>
            <a:off x="8239125" y="1562100"/>
            <a:ext cx="3343275" cy="28575"/>
          </a:xfrm>
          <a:prstGeom prst="rect">
            <a:avLst/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29" name="validation-number">
            <a:extLst>
              <a:ext uri="{FF2B5EF4-FFF2-40B4-BE49-F238E27FC236}">
                <a16:creationId xmlns:a16="http://schemas.microsoft.com/office/drawing/2014/main" id="{9F760B8E-EAAA-4D95-97BB-D91B0A94921C}"/>
              </a:ext>
            </a:extLst>
          </p:cNvPr>
          <p:cNvSpPr>
            <a:spLocks noGrp="1"/>
          </p:cNvSpPr>
          <p:nvPr/>
        </p:nvSpPr>
        <p:spPr>
          <a:xfrm>
            <a:off x="8391525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557A9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C7F9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0" name="validation-title">
            <a:extLst>
              <a:ext uri="{FF2B5EF4-FFF2-40B4-BE49-F238E27FC236}">
                <a16:creationId xmlns:a16="http://schemas.microsoft.com/office/drawing/2014/main" id="{B4878559-B26A-47C0-B3AE-1DFD747C9068}"/>
              </a:ext>
            </a:extLst>
          </p:cNvPr>
          <p:cNvSpPr>
            <a:spLocks noGrp="1"/>
          </p:cNvSpPr>
          <p:nvPr/>
        </p:nvSpPr>
        <p:spPr>
          <a:xfrm>
            <a:off x="8734425" y="1638300"/>
            <a:ext cx="26955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61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defRPr>
            </a:pPr>
            <a:r>
              <a:rPr sz="161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rPr>
              <a:t>Skill 修改后验证困难</a:t>
            </a:r>
          </a:p>
        </p:txBody>
      </p:sp>
      <p:sp>
        <p:nvSpPr>
          <p:cNvPr id="85" name="constraints-principle-band">
            <a:extLst>
              <a:ext uri="{FF2B5EF4-FFF2-40B4-BE49-F238E27FC236}">
                <a16:creationId xmlns:a16="http://schemas.microsoft.com/office/drawing/2014/main" id="{F2BA136F-494B-4D56-BC3A-2713F5870DBA}"/>
              </a:ext>
            </a:extLst>
          </p:cNvPr>
          <p:cNvSpPr>
            <a:spLocks noGrp="1"/>
          </p:cNvSpPr>
          <p:nvPr/>
        </p:nvSpPr>
        <p:spPr>
          <a:xfrm>
            <a:off x="4300537" y="2666999"/>
            <a:ext cx="3476625" cy="333375"/>
          </a:xfrm>
          <a:prstGeom prst="rect">
            <a:avLst/>
          </a:prstGeom>
          <a:solidFill>
            <a:srgbClr val="EAF0F4"/>
          </a:solidFill>
          <a:ln w="0">
            <a:noFill/>
            <a:prstDash val="solid"/>
          </a:ln>
        </p:spPr>
      </p:sp>
      <p:sp>
        <p:nvSpPr>
          <p:cNvPr id="86" name="constraints-principle">
            <a:extLst>
              <a:ext uri="{FF2B5EF4-FFF2-40B4-BE49-F238E27FC236}">
                <a16:creationId xmlns:a16="http://schemas.microsoft.com/office/drawing/2014/main" id="{156253C9-2297-4D97-AFBF-87F0305D6000}"/>
              </a:ext>
            </a:extLst>
          </p:cNvPr>
          <p:cNvSpPr>
            <a:spLocks noGrp="1"/>
          </p:cNvSpPr>
          <p:nvPr/>
        </p:nvSpPr>
        <p:spPr>
          <a:xfrm>
            <a:off x="4424363" y="2666999"/>
            <a:ext cx="32289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015" b="1">
                <a:solidFill>
                  <a:srgbClr val="4B6F8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 dirty="0" err="1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等待时间多，端到端周期持续拉长</a:t>
            </a:r>
            <a:endParaRPr sz="1100" b="1" dirty="0">
              <a:solidFill>
                <a:srgbClr val="4B6F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constraints-product-band">
            <a:extLst>
              <a:ext uri="{FF2B5EF4-FFF2-40B4-BE49-F238E27FC236}">
                <a16:creationId xmlns:a16="http://schemas.microsoft.com/office/drawing/2014/main" id="{8677319F-E2B7-4B34-BE19-5B5025A147FD}"/>
              </a:ext>
            </a:extLst>
          </p:cNvPr>
          <p:cNvSpPr>
            <a:spLocks noGrp="1"/>
          </p:cNvSpPr>
          <p:nvPr/>
        </p:nvSpPr>
        <p:spPr>
          <a:xfrm>
            <a:off x="4343400" y="3495675"/>
            <a:ext cx="3476625" cy="295275"/>
          </a:xfrm>
          <a:prstGeom prst="rect">
            <a:avLst/>
          </a:prstGeom>
          <a:solidFill>
            <a:srgbClr val="EAF0F4"/>
          </a:solidFill>
          <a:ln w="0">
            <a:noFill/>
            <a:prstDash val="solid"/>
          </a:ln>
        </p:spPr>
      </p:sp>
      <p:sp>
        <p:nvSpPr>
          <p:cNvPr id="88" name="constraints-product">
            <a:extLst>
              <a:ext uri="{FF2B5EF4-FFF2-40B4-BE49-F238E27FC236}">
                <a16:creationId xmlns:a16="http://schemas.microsoft.com/office/drawing/2014/main" id="{0D89544D-B7F5-4F76-860A-468B23EA4346}"/>
              </a:ext>
            </a:extLst>
          </p:cNvPr>
          <p:cNvSpPr>
            <a:spLocks noGrp="1"/>
          </p:cNvSpPr>
          <p:nvPr/>
        </p:nvSpPr>
        <p:spPr>
          <a:xfrm>
            <a:off x="4521993" y="3505200"/>
            <a:ext cx="3228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065" b="1">
                <a:solidFill>
                  <a:srgbClr val="4B6F8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100" b="1" dirty="0" smtClean="0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开发一个算子需要</a:t>
            </a:r>
            <a:r>
              <a:rPr lang="en-US" altLang="zh-CN" sz="1100" b="1" dirty="0" smtClean="0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2h-5h</a:t>
            </a:r>
            <a:r>
              <a:rPr lang="zh-CN" altLang="en-US" sz="1100" b="1" dirty="0" smtClean="0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不等</a:t>
            </a:r>
            <a:endParaRPr sz="1100" b="1" dirty="0">
              <a:solidFill>
                <a:srgbClr val="4B6F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trigger-test-label">
            <a:extLst>
              <a:ext uri="{FF2B5EF4-FFF2-40B4-BE49-F238E27FC236}">
                <a16:creationId xmlns:a16="http://schemas.microsoft.com/office/drawing/2014/main" id="{7A5FF5AB-8C4D-416C-B7E7-145F72CAA42F}"/>
              </a:ext>
            </a:extLst>
          </p:cNvPr>
          <p:cNvSpPr>
            <a:spLocks noGrp="1"/>
          </p:cNvSpPr>
          <p:nvPr/>
        </p:nvSpPr>
        <p:spPr>
          <a:xfrm>
            <a:off x="8524875" y="238125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140" b="1">
                <a:solidFill>
                  <a:srgbClr val="4B6F88"/>
                </a:solidFill>
                <a:latin typeface="微软雅黑"/>
                <a:ea typeface="微软雅黑"/>
                <a:cs typeface="微软雅黑"/>
              </a:defRPr>
            </a:pPr>
            <a:endParaRPr sz="1140" b="1" dirty="0">
              <a:solidFill>
                <a:srgbClr val="4B6F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trigger-test-detail">
            <a:extLst>
              <a:ext uri="{FF2B5EF4-FFF2-40B4-BE49-F238E27FC236}">
                <a16:creationId xmlns:a16="http://schemas.microsoft.com/office/drawing/2014/main" id="{860F0785-2E65-4B16-9663-854C5C9D4911}"/>
              </a:ext>
            </a:extLst>
          </p:cNvPr>
          <p:cNvSpPr>
            <a:spLocks noGrp="1"/>
          </p:cNvSpPr>
          <p:nvPr/>
        </p:nvSpPr>
        <p:spPr>
          <a:xfrm>
            <a:off x="8445500" y="2962275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1035" b="0">
                <a:solidFill>
                  <a:srgbClr val="414951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 dirty="0" err="1">
                <a:solidFill>
                  <a:srgbClr val="414951"/>
                </a:solidFill>
                <a:latin typeface="微软雅黑"/>
                <a:ea typeface="微软雅黑"/>
                <a:cs typeface="微软雅黑"/>
              </a:rPr>
              <a:t>限制</a:t>
            </a:r>
            <a:r>
              <a:rPr sz="1000" b="0" dirty="0">
                <a:solidFill>
                  <a:srgbClr val="414951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00" b="0" dirty="0" err="1">
                <a:solidFill>
                  <a:srgbClr val="414951"/>
                </a:solidFill>
                <a:latin typeface="微软雅黑"/>
                <a:ea typeface="微软雅黑"/>
                <a:cs typeface="微软雅黑"/>
              </a:rPr>
              <a:t>路由</a:t>
            </a:r>
            <a:r>
              <a:rPr sz="1000" b="0" dirty="0">
                <a:solidFill>
                  <a:srgbClr val="414951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00" b="0" dirty="0" err="1">
                <a:solidFill>
                  <a:srgbClr val="414951"/>
                </a:solidFill>
                <a:latin typeface="微软雅黑"/>
                <a:ea typeface="微软雅黑"/>
                <a:cs typeface="微软雅黑"/>
              </a:rPr>
              <a:t>描述</a:t>
            </a:r>
            <a:endParaRPr sz="1000" b="0" dirty="0">
              <a:solidFill>
                <a:srgbClr val="4149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0" name="validation-product-band">
            <a:extLst>
              <a:ext uri="{FF2B5EF4-FFF2-40B4-BE49-F238E27FC236}">
                <a16:creationId xmlns:a16="http://schemas.microsoft.com/office/drawing/2014/main" id="{A929412D-440B-4144-9335-A0FAC39C0BA0}"/>
              </a:ext>
            </a:extLst>
          </p:cNvPr>
          <p:cNvSpPr>
            <a:spLocks noGrp="1"/>
          </p:cNvSpPr>
          <p:nvPr/>
        </p:nvSpPr>
        <p:spPr>
          <a:xfrm>
            <a:off x="8445500" y="2686049"/>
            <a:ext cx="3038475" cy="295275"/>
          </a:xfrm>
          <a:prstGeom prst="rect">
            <a:avLst/>
          </a:prstGeom>
          <a:solidFill>
            <a:srgbClr val="EAF0F4"/>
          </a:solidFill>
          <a:ln w="0">
            <a:noFill/>
            <a:prstDash val="solid"/>
          </a:ln>
        </p:spPr>
      </p:sp>
      <p:sp>
        <p:nvSpPr>
          <p:cNvPr id="111" name="validation-product">
            <a:extLst>
              <a:ext uri="{FF2B5EF4-FFF2-40B4-BE49-F238E27FC236}">
                <a16:creationId xmlns:a16="http://schemas.microsoft.com/office/drawing/2014/main" id="{8202033B-A28F-4A97-82C6-0A267F54FFDE}"/>
              </a:ext>
            </a:extLst>
          </p:cNvPr>
          <p:cNvSpPr>
            <a:spLocks noGrp="1"/>
          </p:cNvSpPr>
          <p:nvPr/>
        </p:nvSpPr>
        <p:spPr>
          <a:xfrm>
            <a:off x="8559800" y="2695574"/>
            <a:ext cx="2809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4B6F8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100" b="1" dirty="0" smtClean="0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轻微修改规则也要跑完整任务</a:t>
            </a:r>
            <a:endParaRPr sz="1100" b="1" dirty="0">
              <a:solidFill>
                <a:srgbClr val="4B6F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0" name="s13-title-rule">
            <a:extLst>
              <a:ext uri="{FF2B5EF4-FFF2-40B4-BE49-F238E27FC236}">
                <a16:creationId xmlns:a16="http://schemas.microsoft.com/office/drawing/2014/main" id="{6DEF5333-FF1F-44B1-B6BA-A04D7D201325}"/>
              </a:ext>
            </a:extLst>
          </p:cNvPr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</p:spPr>
      </p:sp>
      <p:sp>
        <p:nvSpPr>
          <p:cNvPr id="150" name="summary-band">
            <a:extLst>
              <a:ext uri="{FF2B5EF4-FFF2-40B4-BE49-F238E27FC236}">
                <a16:creationId xmlns:a16="http://schemas.microsoft.com/office/drawing/2014/main" id="{316FF209-C60B-47A7-A8CD-6C0770B6793F}"/>
              </a:ext>
            </a:extLst>
          </p:cNvPr>
          <p:cNvSpPr>
            <a:spLocks noGrp="1"/>
          </p:cNvSpPr>
          <p:nvPr/>
        </p:nvSpPr>
        <p:spPr>
          <a:xfrm>
            <a:off x="609600" y="6238874"/>
            <a:ext cx="10972800" cy="371476"/>
          </a:xfrm>
          <a:prstGeom prst="rect">
            <a:avLst/>
          </a:prstGeom>
          <a:solidFill>
            <a:srgbClr val="173F61"/>
          </a:solidFill>
          <a:ln w="0">
            <a:solidFill>
              <a:srgbClr val="173F61"/>
            </a:solidFill>
            <a:prstDash val="solid"/>
          </a:ln>
        </p:spPr>
      </p:sp>
      <p:sp>
        <p:nvSpPr>
          <p:cNvPr id="151" name="summary-accent">
            <a:extLst>
              <a:ext uri="{FF2B5EF4-FFF2-40B4-BE49-F238E27FC236}">
                <a16:creationId xmlns:a16="http://schemas.microsoft.com/office/drawing/2014/main" id="{943392F1-252D-4C20-BAFC-4FDAAC42009B}"/>
              </a:ext>
            </a:extLst>
          </p:cNvPr>
          <p:cNvSpPr>
            <a:spLocks noGrp="1"/>
          </p:cNvSpPr>
          <p:nvPr/>
        </p:nvSpPr>
        <p:spPr>
          <a:xfrm>
            <a:off x="601981" y="6238874"/>
            <a:ext cx="45719" cy="371476"/>
          </a:xfrm>
          <a:prstGeom prst="rect">
            <a:avLst/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0B611F55-D757-4DF5-8949-B09347300247}"/>
              </a:ext>
            </a:extLst>
          </p:cNvPr>
          <p:cNvSpPr>
            <a:spLocks noGrp="1"/>
          </p:cNvSpPr>
          <p:nvPr/>
        </p:nvSpPr>
        <p:spPr>
          <a:xfrm>
            <a:off x="914400" y="6105525"/>
            <a:ext cx="10363200" cy="640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 smtClean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这三个问题</a:t>
            </a:r>
            <a:r>
              <a:rPr lang="zh-CN" altLang="en-US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</a:t>
            </a:r>
            <a:r>
              <a:rPr sz="1350" b="1" dirty="0" smtClean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 </a:t>
            </a:r>
            <a:r>
              <a:rPr sz="13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会从“提升开发效率的工具”变成“高成本、慢迭代、难维护的复杂流程</a:t>
            </a:r>
            <a:r>
              <a:rPr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  <p:sp>
        <p:nvSpPr>
          <p:cNvPr id="153" name="slide-1-title">
            <a:extLst>
              <a:ext uri="{FF2B5EF4-FFF2-40B4-BE49-F238E27FC236}">
                <a16:creationId xmlns:a16="http://schemas.microsoft.com/office/drawing/2014/main" id="{68B10C97-FF22-4CD3-8248-9CDCD6E71306}"/>
              </a:ext>
            </a:extLst>
          </p:cNvPr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 dirty="0" smtClean="0">
                <a:solidFill>
                  <a:srgbClr val="243B53"/>
                </a:solidFill>
                <a:latin typeface="Arial"/>
                <a:ea typeface="Arial"/>
                <a:cs typeface="Arial"/>
              </a:rPr>
              <a:t>1.</a:t>
            </a:r>
            <a:r>
              <a:rPr lang="en-US" sz="3000" b="1" dirty="0" smtClean="0">
                <a:solidFill>
                  <a:srgbClr val="243B53"/>
                </a:solidFill>
                <a:latin typeface="Arial"/>
                <a:ea typeface="Arial"/>
                <a:cs typeface="Arial"/>
              </a:rPr>
              <a:t>7</a:t>
            </a:r>
            <a:endParaRPr sz="3000" b="1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slide-7-page-number">
            <a:extLst>
              <a:ext uri="{FF2B5EF4-FFF2-40B4-BE49-F238E27FC236}">
                <a16:creationId xmlns:a16="http://schemas.microsoft.com/office/drawing/2014/main" id="{D8C5E5EF-5921-4585-9D03-64794CEE38A3}"/>
              </a:ext>
            </a:extLst>
          </p:cNvPr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1200" b="1" dirty="0">
                <a:solidFill>
                  <a:srgbClr val="66737F"/>
                </a:solidFill>
                <a:latin typeface="Arial"/>
                <a:ea typeface="Arial"/>
                <a:cs typeface="Arial"/>
              </a:rPr>
              <a:t>9</a:t>
            </a:r>
            <a:endParaRPr sz="1200" b="1" dirty="0">
              <a:solidFill>
                <a:srgbClr val="6673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constraints-principle-band">
            <a:extLst>
              <a:ext uri="{FF2B5EF4-FFF2-40B4-BE49-F238E27FC236}">
                <a16:creationId xmlns:a16="http://schemas.microsoft.com/office/drawing/2014/main" id="{F2BA136F-494B-4D56-BC3A-2713F5870DBA}"/>
              </a:ext>
            </a:extLst>
          </p:cNvPr>
          <p:cNvSpPr>
            <a:spLocks noGrp="1"/>
          </p:cNvSpPr>
          <p:nvPr/>
        </p:nvSpPr>
        <p:spPr>
          <a:xfrm>
            <a:off x="859631" y="2666999"/>
            <a:ext cx="2833688" cy="333375"/>
          </a:xfrm>
          <a:prstGeom prst="rect">
            <a:avLst/>
          </a:prstGeom>
          <a:solidFill>
            <a:srgbClr val="EAF0F4"/>
          </a:solidFill>
          <a:ln w="0">
            <a:noFill/>
            <a:prstDash val="solid"/>
          </a:ln>
        </p:spPr>
      </p:sp>
      <p:sp>
        <p:nvSpPr>
          <p:cNvPr id="109" name="references-node-text">
            <a:extLst>
              <a:ext uri="{FF2B5EF4-FFF2-40B4-BE49-F238E27FC236}">
                <a16:creationId xmlns:a16="http://schemas.microsoft.com/office/drawing/2014/main" id="{979C869B-FEAF-4537-B779-775560C9F33C}"/>
              </a:ext>
            </a:extLst>
          </p:cNvPr>
          <p:cNvSpPr>
            <a:spLocks noGrp="1"/>
          </p:cNvSpPr>
          <p:nvPr/>
        </p:nvSpPr>
        <p:spPr>
          <a:xfrm>
            <a:off x="859631" y="2686049"/>
            <a:ext cx="2862263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92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100" b="1" dirty="0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开发一个算子需要消耗数百万</a:t>
            </a:r>
            <a:r>
              <a:rPr lang="en-US" altLang="zh-CN" sz="1100" b="1" dirty="0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token</a:t>
            </a:r>
            <a:endParaRPr sz="1100" b="1" dirty="0">
              <a:solidFill>
                <a:srgbClr val="4B6F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2" name="constraints-principle-band">
            <a:extLst>
              <a:ext uri="{FF2B5EF4-FFF2-40B4-BE49-F238E27FC236}">
                <a16:creationId xmlns:a16="http://schemas.microsoft.com/office/drawing/2014/main" id="{F2BA136F-494B-4D56-BC3A-2713F5870DBA}"/>
              </a:ext>
            </a:extLst>
          </p:cNvPr>
          <p:cNvSpPr>
            <a:spLocks noGrp="1"/>
          </p:cNvSpPr>
          <p:nvPr/>
        </p:nvSpPr>
        <p:spPr>
          <a:xfrm>
            <a:off x="931069" y="3462337"/>
            <a:ext cx="2833688" cy="333375"/>
          </a:xfrm>
          <a:prstGeom prst="rect">
            <a:avLst/>
          </a:prstGeom>
          <a:solidFill>
            <a:srgbClr val="EAF0F4"/>
          </a:solidFill>
          <a:ln w="0">
            <a:noFill/>
            <a:prstDash val="solid"/>
          </a:ln>
        </p:spPr>
      </p:sp>
      <p:sp>
        <p:nvSpPr>
          <p:cNvPr id="113" name="examples-node-text">
            <a:extLst>
              <a:ext uri="{FF2B5EF4-FFF2-40B4-BE49-F238E27FC236}">
                <a16:creationId xmlns:a16="http://schemas.microsoft.com/office/drawing/2014/main" id="{204B5BBD-14BB-48D3-A09C-EA9EAB187CBB}"/>
              </a:ext>
            </a:extLst>
          </p:cNvPr>
          <p:cNvSpPr>
            <a:spLocks noGrp="1"/>
          </p:cNvSpPr>
          <p:nvPr/>
        </p:nvSpPr>
        <p:spPr>
          <a:xfrm>
            <a:off x="1509712" y="3505200"/>
            <a:ext cx="1519237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925" b="1">
                <a:solidFill>
                  <a:srgbClr val="252B3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100" b="1" dirty="0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一天的内网模型调用额度跑不了三个算子</a:t>
            </a:r>
            <a:endParaRPr sz="1100" b="1" dirty="0">
              <a:solidFill>
                <a:srgbClr val="4B6F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4" name="validation-product-band">
            <a:extLst>
              <a:ext uri="{FF2B5EF4-FFF2-40B4-BE49-F238E27FC236}">
                <a16:creationId xmlns:a16="http://schemas.microsoft.com/office/drawing/2014/main" id="{A929412D-440B-4144-9335-A0FAC39C0BA0}"/>
              </a:ext>
            </a:extLst>
          </p:cNvPr>
          <p:cNvSpPr>
            <a:spLocks noGrp="1"/>
          </p:cNvSpPr>
          <p:nvPr/>
        </p:nvSpPr>
        <p:spPr>
          <a:xfrm>
            <a:off x="8445500" y="3486150"/>
            <a:ext cx="3038475" cy="295275"/>
          </a:xfrm>
          <a:prstGeom prst="rect">
            <a:avLst/>
          </a:prstGeom>
          <a:solidFill>
            <a:srgbClr val="EAF0F4"/>
          </a:solidFill>
          <a:ln w="0">
            <a:noFill/>
            <a:prstDash val="solid"/>
          </a:ln>
        </p:spPr>
      </p:sp>
      <p:sp>
        <p:nvSpPr>
          <p:cNvPr id="115" name="validation-product">
            <a:extLst>
              <a:ext uri="{FF2B5EF4-FFF2-40B4-BE49-F238E27FC236}">
                <a16:creationId xmlns:a16="http://schemas.microsoft.com/office/drawing/2014/main" id="{8202033B-A28F-4A97-82C6-0A267F54FFDE}"/>
              </a:ext>
            </a:extLst>
          </p:cNvPr>
          <p:cNvSpPr>
            <a:spLocks noGrp="1"/>
          </p:cNvSpPr>
          <p:nvPr/>
        </p:nvSpPr>
        <p:spPr>
          <a:xfrm>
            <a:off x="8559800" y="3495675"/>
            <a:ext cx="2809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4B6F8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 dirty="0" err="1">
                <a:solidFill>
                  <a:srgbClr val="4B6F88"/>
                </a:solidFill>
                <a:latin typeface="微软雅黑"/>
                <a:ea typeface="微软雅黑"/>
                <a:cs typeface="微软雅黑"/>
              </a:rPr>
              <a:t>结果：小改动验证成本高</a:t>
            </a:r>
            <a:endParaRPr sz="1100" b="1" dirty="0">
              <a:solidFill>
                <a:srgbClr val="4B6F8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7092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hase-c-surface">
            <a:extLst>
              <a:ext uri="{FF2B5EF4-FFF2-40B4-BE49-F238E27FC236}">
                <a16:creationId xmlns:a16="http://schemas.microsoft.com/office/drawing/2014/main" id="{9BF5975D-A29B-4C85-BDCA-AE02672F0BE0}"/>
              </a:ext>
            </a:extLst>
          </p:cNvPr>
          <p:cNvSpPr>
            <a:spLocks noGrp="1"/>
          </p:cNvSpPr>
          <p:nvPr/>
        </p:nvSpPr>
        <p:spPr>
          <a:xfrm>
            <a:off x="1352550" y="1831659"/>
            <a:ext cx="9601200" cy="1000125"/>
          </a:xfrm>
          <a:prstGeom prst="rect">
            <a:avLst/>
          </a:prstGeom>
          <a:solidFill>
            <a:srgbClr val="F1F5F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45" name="phase-c-surface">
            <a:extLst>
              <a:ext uri="{FF2B5EF4-FFF2-40B4-BE49-F238E27FC236}">
                <a16:creationId xmlns:a16="http://schemas.microsoft.com/office/drawing/2014/main" id="{9BF5975D-A29B-4C85-BDCA-AE02672F0BE0}"/>
              </a:ext>
            </a:extLst>
          </p:cNvPr>
          <p:cNvSpPr>
            <a:spLocks noGrp="1"/>
          </p:cNvSpPr>
          <p:nvPr/>
        </p:nvSpPr>
        <p:spPr>
          <a:xfrm>
            <a:off x="1352550" y="2869884"/>
            <a:ext cx="9601200" cy="1000125"/>
          </a:xfrm>
          <a:prstGeom prst="rect">
            <a:avLst/>
          </a:prstGeom>
          <a:solidFill>
            <a:srgbClr val="F1F5F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44" name="phase-c-surface">
            <a:extLst>
              <a:ext uri="{FF2B5EF4-FFF2-40B4-BE49-F238E27FC236}">
                <a16:creationId xmlns:a16="http://schemas.microsoft.com/office/drawing/2014/main" id="{9BF5975D-A29B-4C85-BDCA-AE02672F0BE0}"/>
              </a:ext>
            </a:extLst>
          </p:cNvPr>
          <p:cNvSpPr>
            <a:spLocks noGrp="1"/>
          </p:cNvSpPr>
          <p:nvPr/>
        </p:nvSpPr>
        <p:spPr>
          <a:xfrm>
            <a:off x="1352550" y="3926205"/>
            <a:ext cx="9601200" cy="1000125"/>
          </a:xfrm>
          <a:prstGeom prst="rect">
            <a:avLst/>
          </a:prstGeom>
          <a:solidFill>
            <a:srgbClr val="F1F5F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7" name="slide-8-title">
            <a:extLst>
              <a:ext uri="{FF2B5EF4-FFF2-40B4-BE49-F238E27FC236}">
                <a16:creationId xmlns:a16="http://schemas.microsoft.com/office/drawing/2014/main" id="{375095E6-F8D5-4CE6-83F3-BB443C6C8DB1}"/>
              </a:ext>
            </a:extLst>
          </p:cNvPr>
          <p:cNvSpPr>
            <a:spLocks noGrp="1"/>
          </p:cNvSpPr>
          <p:nvPr/>
        </p:nvSpPr>
        <p:spPr>
          <a:xfrm>
            <a:off x="1082993" y="246698"/>
            <a:ext cx="962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850" b="1">
                <a:solidFill>
                  <a:srgbClr val="072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优化方向一：降低算子开发时间与 Token 消耗</a:t>
            </a:r>
          </a:p>
        </p:txBody>
      </p:sp>
      <p:sp>
        <p:nvSpPr>
          <p:cNvPr id="9" name="footer-background">
            <a:extLst>
              <a:ext uri="{FF2B5EF4-FFF2-40B4-BE49-F238E27FC236}">
                <a16:creationId xmlns:a16="http://schemas.microsoft.com/office/drawing/2014/main" id="{C6E7F932-DCB2-46AD-92B1-4487DFCD10B6}"/>
              </a:ext>
            </a:extLst>
          </p:cNvPr>
          <p:cNvSpPr>
            <a:spLocks noGrp="1"/>
          </p:cNvSpPr>
          <p:nvPr/>
        </p:nvSpPr>
        <p:spPr>
          <a:xfrm>
            <a:off x="200025" y="6172201"/>
            <a:ext cx="11791950" cy="533400"/>
          </a:xfrm>
          <a:prstGeom prst="rect">
            <a:avLst/>
          </a:prstGeom>
          <a:solidFill>
            <a:srgbClr val="173F61"/>
          </a:solidFill>
          <a:ln w="0">
            <a:solidFill>
              <a:srgbClr val="173F6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11" name="slide-8-editable-footer">
            <a:extLst>
              <a:ext uri="{FF2B5EF4-FFF2-40B4-BE49-F238E27FC236}">
                <a16:creationId xmlns:a16="http://schemas.microsoft.com/office/drawing/2014/main" id="{9CE192D7-ED29-49CC-A75A-06D02AEA387C}"/>
              </a:ext>
            </a:extLst>
          </p:cNvPr>
          <p:cNvSpPr>
            <a:spLocks noGrp="1"/>
          </p:cNvSpPr>
          <p:nvPr/>
        </p:nvSpPr>
        <p:spPr>
          <a:xfrm>
            <a:off x="1000125" y="6200775"/>
            <a:ext cx="10191750" cy="466725"/>
          </a:xfrm>
          <a:prstGeom prst="rect">
            <a:avLst/>
          </a:prstGeom>
          <a:solidFill>
            <a:srgbClr val="173F61"/>
          </a:solidFill>
          <a:ln w="0">
            <a:solidFill>
              <a:srgbClr val="173F61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减少无效流程、无效优化和重复分析，让</a:t>
            </a:r>
            <a:r>
              <a:rPr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12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只处理真正需要推理的部分</a:t>
            </a:r>
            <a:r>
              <a:rPr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knowledge-source-1">
            <a:extLst>
              <a:ext uri="{FF2B5EF4-FFF2-40B4-BE49-F238E27FC236}">
                <a16:creationId xmlns:a16="http://schemas.microsoft.com/office/drawing/2014/main" id="{EBDC28E3-6143-410C-BEFE-5B7F627C63C2}"/>
              </a:ext>
            </a:extLst>
          </p:cNvPr>
          <p:cNvSpPr>
            <a:spLocks noGrp="1"/>
          </p:cNvSpPr>
          <p:nvPr/>
        </p:nvSpPr>
        <p:spPr>
          <a:xfrm>
            <a:off x="1759585" y="831214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2" name="knowledge-source-1-title">
            <a:extLst>
              <a:ext uri="{FF2B5EF4-FFF2-40B4-BE49-F238E27FC236}">
                <a16:creationId xmlns:a16="http://schemas.microsoft.com/office/drawing/2014/main" id="{496FBD7A-2744-49B2-AF4E-57BDC19EB1AA}"/>
              </a:ext>
            </a:extLst>
          </p:cNvPr>
          <p:cNvSpPr>
            <a:spLocks noGrp="1"/>
          </p:cNvSpPr>
          <p:nvPr/>
        </p:nvSpPr>
        <p:spPr>
          <a:xfrm>
            <a:off x="2038350" y="866774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全流程重复执行</a:t>
            </a:r>
          </a:p>
        </p:txBody>
      </p:sp>
      <p:sp>
        <p:nvSpPr>
          <p:cNvPr id="23" name="knowledge-source-1-note">
            <a:extLst>
              <a:ext uri="{FF2B5EF4-FFF2-40B4-BE49-F238E27FC236}">
                <a16:creationId xmlns:a16="http://schemas.microsoft.com/office/drawing/2014/main" id="{11C9D527-AE0E-41BB-BAD2-0A32C441DE5C}"/>
              </a:ext>
            </a:extLst>
          </p:cNvPr>
          <p:cNvSpPr>
            <a:spLocks noGrp="1"/>
          </p:cNvSpPr>
          <p:nvPr/>
        </p:nvSpPr>
        <p:spPr>
          <a:xfrm>
            <a:off x="2038350" y="1095374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863" b="0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rPr>
              <a:t>不同任务都从头开始</a:t>
            </a:r>
          </a:p>
        </p:txBody>
      </p:sp>
      <p:sp>
        <p:nvSpPr>
          <p:cNvPr id="24" name="knowledge-source-2">
            <a:extLst>
              <a:ext uri="{FF2B5EF4-FFF2-40B4-BE49-F238E27FC236}">
                <a16:creationId xmlns:a16="http://schemas.microsoft.com/office/drawing/2014/main" id="{4CD9FA40-F42B-4D79-A6C5-A69D8D01CAE3}"/>
              </a:ext>
            </a:extLst>
          </p:cNvPr>
          <p:cNvSpPr>
            <a:spLocks noGrp="1"/>
          </p:cNvSpPr>
          <p:nvPr/>
        </p:nvSpPr>
        <p:spPr>
          <a:xfrm>
            <a:off x="4683760" y="831214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6" name="knowledge-source-2-title">
            <a:extLst>
              <a:ext uri="{FF2B5EF4-FFF2-40B4-BE49-F238E27FC236}">
                <a16:creationId xmlns:a16="http://schemas.microsoft.com/office/drawing/2014/main" id="{FD18660E-7B06-4404-89B4-819FDDB10F02}"/>
              </a:ext>
            </a:extLst>
          </p:cNvPr>
          <p:cNvSpPr>
            <a:spLocks noGrp="1"/>
          </p:cNvSpPr>
          <p:nvPr/>
        </p:nvSpPr>
        <p:spPr>
          <a:xfrm>
            <a:off x="4972050" y="866774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优化策略过度遍历</a:t>
            </a:r>
          </a:p>
        </p:txBody>
      </p:sp>
      <p:sp>
        <p:nvSpPr>
          <p:cNvPr id="27" name="knowledge-source-2-note">
            <a:extLst>
              <a:ext uri="{FF2B5EF4-FFF2-40B4-BE49-F238E27FC236}">
                <a16:creationId xmlns:a16="http://schemas.microsoft.com/office/drawing/2014/main" id="{29B1723A-5A11-4EC9-9F93-9FBA049C550B}"/>
              </a:ext>
            </a:extLst>
          </p:cNvPr>
          <p:cNvSpPr>
            <a:spLocks noGrp="1"/>
          </p:cNvSpPr>
          <p:nvPr/>
        </p:nvSpPr>
        <p:spPr>
          <a:xfrm>
            <a:off x="4876800" y="1095374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863" b="0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rPr>
              <a:t>缺少瓶颈判断，低收益尝试过多</a:t>
            </a:r>
          </a:p>
        </p:txBody>
      </p:sp>
      <p:sp>
        <p:nvSpPr>
          <p:cNvPr id="28" name="knowledge-source-3">
            <a:extLst>
              <a:ext uri="{FF2B5EF4-FFF2-40B4-BE49-F238E27FC236}">
                <a16:creationId xmlns:a16="http://schemas.microsoft.com/office/drawing/2014/main" id="{877D0EC0-69E8-492F-B27E-3128FF395ED6}"/>
              </a:ext>
            </a:extLst>
          </p:cNvPr>
          <p:cNvSpPr>
            <a:spLocks noGrp="1"/>
          </p:cNvSpPr>
          <p:nvPr/>
        </p:nvSpPr>
        <p:spPr>
          <a:xfrm>
            <a:off x="7607935" y="831214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knowledge-source-3-title">
            <a:extLst>
              <a:ext uri="{FF2B5EF4-FFF2-40B4-BE49-F238E27FC236}">
                <a16:creationId xmlns:a16="http://schemas.microsoft.com/office/drawing/2014/main" id="{D3D31AFF-A1D6-4E1E-AC09-4176658BF202}"/>
              </a:ext>
            </a:extLst>
          </p:cNvPr>
          <p:cNvSpPr>
            <a:spLocks noGrp="1"/>
          </p:cNvSpPr>
          <p:nvPr/>
        </p:nvSpPr>
        <p:spPr>
          <a:xfrm>
            <a:off x="7896225" y="866774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大量工作交给 Agent</a:t>
            </a:r>
          </a:p>
        </p:txBody>
      </p:sp>
      <p:sp>
        <p:nvSpPr>
          <p:cNvPr id="31" name="knowledge-source-3-note">
            <a:extLst>
              <a:ext uri="{FF2B5EF4-FFF2-40B4-BE49-F238E27FC236}">
                <a16:creationId xmlns:a16="http://schemas.microsoft.com/office/drawing/2014/main" id="{1339139C-1351-47A9-9705-04C74CC76091}"/>
              </a:ext>
            </a:extLst>
          </p:cNvPr>
          <p:cNvSpPr>
            <a:spLocks noGrp="1"/>
          </p:cNvSpPr>
          <p:nvPr/>
        </p:nvSpPr>
        <p:spPr>
          <a:xfrm>
            <a:off x="7753350" y="1095374"/>
            <a:ext cx="2571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863" b="0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rPr>
              <a:t>Log / Benchmark / Profile 反复读取</a:t>
            </a:r>
          </a:p>
        </p:txBody>
      </p:sp>
      <p:sp>
        <p:nvSpPr>
          <p:cNvPr id="32" name="platform-knowledge-node">
            <a:extLst>
              <a:ext uri="{FF2B5EF4-FFF2-40B4-BE49-F238E27FC236}">
                <a16:creationId xmlns:a16="http://schemas.microsoft.com/office/drawing/2014/main" id="{5762D966-7501-439C-A080-138BF198C932}"/>
              </a:ext>
            </a:extLst>
          </p:cNvPr>
          <p:cNvSpPr>
            <a:spLocks noGrp="1"/>
          </p:cNvSpPr>
          <p:nvPr/>
        </p:nvSpPr>
        <p:spPr>
          <a:xfrm>
            <a:off x="4683760" y="1407637"/>
            <a:ext cx="2667000" cy="295275"/>
          </a:xfrm>
          <a:prstGeom prst="roundRect">
            <a:avLst>
              <a:gd name="adj" fmla="val 24000"/>
            </a:avLst>
          </a:prstGeom>
          <a:solidFill>
            <a:srgbClr val="173F61"/>
          </a:solidFill>
          <a:ln w="0">
            <a:solidFill>
              <a:srgbClr val="173F61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开发时间</a:t>
            </a:r>
            <a:r>
              <a:rPr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↑   +   Token </a:t>
            </a:r>
            <a:r>
              <a:rPr sz="11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消耗</a:t>
            </a:r>
            <a:r>
              <a:rPr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↑</a:t>
            </a:r>
            <a:endParaRPr sz="1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phase-a-accent">
            <a:extLst>
              <a:ext uri="{FF2B5EF4-FFF2-40B4-BE49-F238E27FC236}">
                <a16:creationId xmlns:a16="http://schemas.microsoft.com/office/drawing/2014/main" id="{F5A2FC7B-8AB5-46AF-B186-FC8395962260}"/>
              </a:ext>
            </a:extLst>
          </p:cNvPr>
          <p:cNvSpPr>
            <a:spLocks noGrp="1"/>
          </p:cNvSpPr>
          <p:nvPr/>
        </p:nvSpPr>
        <p:spPr>
          <a:xfrm>
            <a:off x="1295400" y="1844675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39" name="phase-a-letter">
            <a:extLst>
              <a:ext uri="{FF2B5EF4-FFF2-40B4-BE49-F238E27FC236}">
                <a16:creationId xmlns:a16="http://schemas.microsoft.com/office/drawing/2014/main" id="{35C3BBFF-CB6B-4D33-8A0A-AE313D295B23}"/>
              </a:ext>
            </a:extLst>
          </p:cNvPr>
          <p:cNvSpPr>
            <a:spLocks noGrp="1"/>
          </p:cNvSpPr>
          <p:nvPr/>
        </p:nvSpPr>
        <p:spPr>
          <a:xfrm>
            <a:off x="1504950" y="1981200"/>
            <a:ext cx="323850" cy="238125"/>
          </a:xfrm>
          <a:prstGeom prst="roundRect">
            <a:avLst>
              <a:gd name="adj" fmla="val 19355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1" name="phase-a-chinese">
            <a:extLst>
              <a:ext uri="{FF2B5EF4-FFF2-40B4-BE49-F238E27FC236}">
                <a16:creationId xmlns:a16="http://schemas.microsoft.com/office/drawing/2014/main" id="{B28E6AE6-91E1-4238-AA3C-AE2DB3CAAE25}"/>
              </a:ext>
            </a:extLst>
          </p:cNvPr>
          <p:cNvSpPr>
            <a:spLocks noGrp="1"/>
          </p:cNvSpPr>
          <p:nvPr/>
        </p:nvSpPr>
        <p:spPr>
          <a:xfrm>
            <a:off x="1866900" y="19526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1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任务路由</a:t>
            </a:r>
            <a:endParaRPr sz="1275" b="1" dirty="0">
              <a:solidFill>
                <a:srgbClr val="173F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phase-a-sidebar-divider">
            <a:extLst>
              <a:ext uri="{FF2B5EF4-FFF2-40B4-BE49-F238E27FC236}">
                <a16:creationId xmlns:a16="http://schemas.microsoft.com/office/drawing/2014/main" id="{D9CD0AD7-6CA4-46E4-8E1E-B4EBB896863B}"/>
              </a:ext>
            </a:extLst>
          </p:cNvPr>
          <p:cNvSpPr>
            <a:spLocks noGrp="1"/>
          </p:cNvSpPr>
          <p:nvPr/>
        </p:nvSpPr>
        <p:spPr>
          <a:xfrm>
            <a:off x="4333875" y="1943100"/>
            <a:ext cx="9525" cy="790575"/>
          </a:xfrm>
          <a:prstGeom prst="rect">
            <a:avLst/>
          </a:prstGeom>
          <a:solidFill>
            <a:srgbClr val="D1DCE3"/>
          </a:solidFill>
          <a:ln w="0">
            <a:solidFill>
              <a:srgbClr val="D1DCE3"/>
            </a:solidFill>
            <a:prstDash val="solid"/>
          </a:ln>
        </p:spPr>
      </p:sp>
      <p:sp>
        <p:nvSpPr>
          <p:cNvPr id="64" name="phase-b-accent">
            <a:extLst>
              <a:ext uri="{FF2B5EF4-FFF2-40B4-BE49-F238E27FC236}">
                <a16:creationId xmlns:a16="http://schemas.microsoft.com/office/drawing/2014/main" id="{35124B45-02EA-4E61-BF62-155BBA81FF82}"/>
              </a:ext>
            </a:extLst>
          </p:cNvPr>
          <p:cNvSpPr>
            <a:spLocks noGrp="1"/>
          </p:cNvSpPr>
          <p:nvPr/>
        </p:nvSpPr>
        <p:spPr>
          <a:xfrm>
            <a:off x="1295400" y="2892425"/>
            <a:ext cx="57150" cy="971550"/>
          </a:xfrm>
          <a:prstGeom prst="roundRect">
            <a:avLst>
              <a:gd name="adj" fmla="val 50000"/>
            </a:avLst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70" name="step-03-number">
            <a:extLst>
              <a:ext uri="{FF2B5EF4-FFF2-40B4-BE49-F238E27FC236}">
                <a16:creationId xmlns:a16="http://schemas.microsoft.com/office/drawing/2014/main" id="{6B15DC1F-B2E6-4B0E-9606-56DD31B76A1C}"/>
              </a:ext>
            </a:extLst>
          </p:cNvPr>
          <p:cNvSpPr>
            <a:spLocks noGrp="1"/>
          </p:cNvSpPr>
          <p:nvPr/>
        </p:nvSpPr>
        <p:spPr>
          <a:xfrm>
            <a:off x="1524000" y="3021964"/>
            <a:ext cx="323850" cy="2381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125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125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1" name="step-03-title">
            <a:extLst>
              <a:ext uri="{FF2B5EF4-FFF2-40B4-BE49-F238E27FC236}">
                <a16:creationId xmlns:a16="http://schemas.microsoft.com/office/drawing/2014/main" id="{E708CCC2-CB4D-496E-B416-E8393D2BB238}"/>
              </a:ext>
            </a:extLst>
          </p:cNvPr>
          <p:cNvSpPr>
            <a:spLocks noGrp="1"/>
          </p:cNvSpPr>
          <p:nvPr/>
        </p:nvSpPr>
        <p:spPr>
          <a:xfrm>
            <a:off x="1876425" y="2991166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优化策略分析</a:t>
            </a:r>
            <a:endParaRPr sz="1275" b="1" dirty="0">
              <a:solidFill>
                <a:srgbClr val="173F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phase-c-accent">
            <a:extLst>
              <a:ext uri="{FF2B5EF4-FFF2-40B4-BE49-F238E27FC236}">
                <a16:creationId xmlns:a16="http://schemas.microsoft.com/office/drawing/2014/main" id="{E15BA5EA-E588-4A98-8B37-E7496B653B65}"/>
              </a:ext>
            </a:extLst>
          </p:cNvPr>
          <p:cNvSpPr>
            <a:spLocks noGrp="1"/>
          </p:cNvSpPr>
          <p:nvPr/>
        </p:nvSpPr>
        <p:spPr>
          <a:xfrm>
            <a:off x="1295400" y="3911600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133" name="step-08-number">
            <a:extLst>
              <a:ext uri="{FF2B5EF4-FFF2-40B4-BE49-F238E27FC236}">
                <a16:creationId xmlns:a16="http://schemas.microsoft.com/office/drawing/2014/main" id="{3D7AAE78-4212-4968-822C-1853B3BAFC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4" name="step-08-title">
            <a:extLst>
              <a:ext uri="{FF2B5EF4-FFF2-40B4-BE49-F238E27FC236}">
                <a16:creationId xmlns:a16="http://schemas.microsoft.com/office/drawing/2014/main" id="{98CF8D5D-4BB7-4641-B4A6-FFAC645FE9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14855C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</p:txBody>
      </p:sp>
      <p:sp>
        <p:nvSpPr>
          <p:cNvPr id="135" name="step-08-subtitle">
            <a:extLst>
              <a:ext uri="{FF2B5EF4-FFF2-40B4-BE49-F238E27FC236}">
                <a16:creationId xmlns:a16="http://schemas.microsoft.com/office/drawing/2014/main" id="{4FC7CE93-DD4D-463D-9836-56D303844E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27364A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</p:txBody>
      </p:sp>
      <p:sp>
        <p:nvSpPr>
          <p:cNvPr id="3" name="slide-7-page-number">
            <a:extLst>
              <a:ext uri="{FF2B5EF4-FFF2-40B4-BE49-F238E27FC236}">
                <a16:creationId xmlns:a16="http://schemas.microsoft.com/office/drawing/2014/main" id="{B9A54D7D-D642-4660-9F2D-34D9C9C7A13B}"/>
              </a:ext>
            </a:extLst>
          </p:cNvPr>
          <p:cNvSpPr>
            <a:spLocks noGrp="1"/>
          </p:cNvSpPr>
          <p:nvPr/>
        </p:nvSpPr>
        <p:spPr>
          <a:xfrm>
            <a:off x="11366183" y="317183"/>
            <a:ext cx="330518" cy="279083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1" dirty="0" smtClean="0">
                <a:solidFill>
                  <a:srgbClr val="66737F"/>
                </a:solidFill>
                <a:latin typeface="Microsoft YaHei"/>
                <a:ea typeface="Microsoft YaHei"/>
                <a:cs typeface="Arial"/>
              </a:rPr>
              <a:t>10</a:t>
            </a:r>
            <a:endParaRPr sz="1200" b="1" dirty="0">
              <a:solidFill>
                <a:srgbClr val="6673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slide-1-title">
            <a:extLst>
              <a:ext uri="{FF2B5EF4-FFF2-40B4-BE49-F238E27FC236}">
                <a16:creationId xmlns:a16="http://schemas.microsoft.com/office/drawing/2014/main" id="{C381CF64-BAB1-47F1-8866-115A246CAF93}"/>
              </a:ext>
            </a:extLst>
          </p:cNvPr>
          <p:cNvSpPr>
            <a:spLocks noGrp="1"/>
          </p:cNvSpPr>
          <p:nvPr/>
        </p:nvSpPr>
        <p:spPr>
          <a:xfrm>
            <a:off x="342900" y="223838"/>
            <a:ext cx="638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000" b="1" dirty="0" smtClean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3000" b="1" dirty="0" smtClean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sz="3000" b="1" dirty="0" smtClean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3000" b="1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15-title-rule">
            <a:extLst>
              <a:ext uri="{FF2B5EF4-FFF2-40B4-BE49-F238E27FC236}">
                <a16:creationId xmlns:a16="http://schemas.microsoft.com/office/drawing/2014/main" id="{151B2147-080F-49BB-AA1C-DEAA33C95C2C}"/>
              </a:ext>
            </a:extLst>
          </p:cNvPr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</p:spPr>
      </p:sp>
      <p:sp>
        <p:nvSpPr>
          <p:cNvPr id="90" name="phase-b-chinese">
            <a:extLst>
              <a:ext uri="{FF2B5EF4-FFF2-40B4-BE49-F238E27FC236}">
                <a16:creationId xmlns:a16="http://schemas.microsoft.com/office/drawing/2014/main" id="{B9EA628B-BC8E-43F9-80A2-649FEB1374C6}"/>
              </a:ext>
            </a:extLst>
          </p:cNvPr>
          <p:cNvSpPr>
            <a:spLocks noGrp="1"/>
          </p:cNvSpPr>
          <p:nvPr/>
        </p:nvSpPr>
        <p:spPr>
          <a:xfrm>
            <a:off x="1685925" y="2248215"/>
            <a:ext cx="246951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根据不同的输入，直接进入对于的阶段。</a:t>
            </a:r>
            <a:endParaRPr sz="1200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step-05-title">
            <a:extLst>
              <a:ext uri="{FF2B5EF4-FFF2-40B4-BE49-F238E27FC236}">
                <a16:creationId xmlns:a16="http://schemas.microsoft.com/office/drawing/2014/main" id="{CAEDB44C-147B-4FB5-990F-EDADB3A566EF}"/>
              </a:ext>
            </a:extLst>
          </p:cNvPr>
          <p:cNvSpPr>
            <a:spLocks noGrp="1"/>
          </p:cNvSpPr>
          <p:nvPr/>
        </p:nvSpPr>
        <p:spPr>
          <a:xfrm>
            <a:off x="4598033" y="2265362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根据用户输入，从所需的阶段进入，不是每次从头开始</a:t>
            </a:r>
            <a:endParaRPr sz="1200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phase-b-chinese">
            <a:extLst>
              <a:ext uri="{FF2B5EF4-FFF2-40B4-BE49-F238E27FC236}">
                <a16:creationId xmlns:a16="http://schemas.microsoft.com/office/drawing/2014/main" id="{B9EA628B-BC8E-43F9-80A2-649FEB1374C6}"/>
              </a:ext>
            </a:extLst>
          </p:cNvPr>
          <p:cNvSpPr>
            <a:spLocks noGrp="1"/>
          </p:cNvSpPr>
          <p:nvPr/>
        </p:nvSpPr>
        <p:spPr>
          <a:xfrm>
            <a:off x="1752600" y="3257866"/>
            <a:ext cx="246951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不便利所有优化，根据输入的类型，选择效率高的优化。</a:t>
            </a:r>
            <a:endParaRPr sz="1200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step-04-number">
            <a:extLst>
              <a:ext uri="{FF2B5EF4-FFF2-40B4-BE49-F238E27FC236}">
                <a16:creationId xmlns:a16="http://schemas.microsoft.com/office/drawing/2014/main" id="{52221225-C23A-46DC-BBF4-FFEE0E417C0D}"/>
              </a:ext>
            </a:extLst>
          </p:cNvPr>
          <p:cNvSpPr>
            <a:spLocks noGrp="1"/>
          </p:cNvSpPr>
          <p:nvPr/>
        </p:nvSpPr>
        <p:spPr>
          <a:xfrm>
            <a:off x="1562100" y="4027487"/>
            <a:ext cx="323850" cy="2381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125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125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step-04-title">
            <a:extLst>
              <a:ext uri="{FF2B5EF4-FFF2-40B4-BE49-F238E27FC236}">
                <a16:creationId xmlns:a16="http://schemas.microsoft.com/office/drawing/2014/main" id="{F2BD160D-7767-481F-BE44-4CDC6835A7C5}"/>
              </a:ext>
            </a:extLst>
          </p:cNvPr>
          <p:cNvSpPr>
            <a:spLocks noGrp="1"/>
          </p:cNvSpPr>
          <p:nvPr/>
        </p:nvSpPr>
        <p:spPr>
          <a:xfrm>
            <a:off x="1876425" y="3998912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1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 smtClean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优化</a:t>
            </a:r>
            <a:r>
              <a:rPr lang="zh-CN" altLang="en-US" sz="1275" b="1" dirty="0" smtClean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r>
              <a:rPr sz="1275" b="1" dirty="0" err="1" smtClean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与停止门禁</a:t>
            </a:r>
            <a:endParaRPr sz="1275" b="1" dirty="0">
              <a:solidFill>
                <a:srgbClr val="173F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phase-b-chinese">
            <a:extLst>
              <a:ext uri="{FF2B5EF4-FFF2-40B4-BE49-F238E27FC236}">
                <a16:creationId xmlns:a16="http://schemas.microsoft.com/office/drawing/2014/main" id="{B9EA628B-BC8E-43F9-80A2-649FEB1374C6}"/>
              </a:ext>
            </a:extLst>
          </p:cNvPr>
          <p:cNvSpPr>
            <a:spLocks noGrp="1"/>
          </p:cNvSpPr>
          <p:nvPr/>
        </p:nvSpPr>
        <p:spPr>
          <a:xfrm>
            <a:off x="1724025" y="4306252"/>
            <a:ext cx="246951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优化结果满足条件或者多轮优化都不满足条件，停止优化迭代</a:t>
            </a:r>
            <a:endParaRPr sz="1200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78067" y="3246053"/>
            <a:ext cx="5617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先进性基础优化，根据</a:t>
            </a:r>
            <a:r>
              <a:rPr lang="en-US" altLang="zh-CN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profile</a:t>
            </a:r>
            <a:r>
              <a:rPr lang="zh-CN" altLang="en-US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选择性的进行深度优化，只排除明显不合适的优化</a:t>
            </a:r>
            <a:endParaRPr lang="zh-CN" altLang="en-US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4555490" y="4332675"/>
            <a:ext cx="43204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防止</a:t>
            </a:r>
            <a:r>
              <a:rPr lang="zh-CN" altLang="en-US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大模型无限制的追求高优化，造成开发时间和</a:t>
            </a:r>
            <a:r>
              <a:rPr lang="en-US" altLang="zh-CN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token</a:t>
            </a:r>
            <a:r>
              <a:rPr lang="zh-CN" altLang="en-US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浪费</a:t>
            </a:r>
            <a:endParaRPr lang="zh-CN" altLang="en-US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phase-c-surface">
            <a:extLst>
              <a:ext uri="{FF2B5EF4-FFF2-40B4-BE49-F238E27FC236}">
                <a16:creationId xmlns:a16="http://schemas.microsoft.com/office/drawing/2014/main" id="{9BF5975D-A29B-4C85-BDCA-AE02672F0BE0}"/>
              </a:ext>
            </a:extLst>
          </p:cNvPr>
          <p:cNvSpPr>
            <a:spLocks noGrp="1"/>
          </p:cNvSpPr>
          <p:nvPr/>
        </p:nvSpPr>
        <p:spPr>
          <a:xfrm>
            <a:off x="1295400" y="5013960"/>
            <a:ext cx="9658350" cy="1000125"/>
          </a:xfrm>
          <a:prstGeom prst="rect">
            <a:avLst/>
          </a:prstGeom>
          <a:solidFill>
            <a:srgbClr val="F1F5F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6" name="phase-c-accent">
            <a:extLst>
              <a:ext uri="{FF2B5EF4-FFF2-40B4-BE49-F238E27FC236}">
                <a16:creationId xmlns:a16="http://schemas.microsoft.com/office/drawing/2014/main" id="{E15BA5EA-E588-4A98-8B37-E7496B653B65}"/>
              </a:ext>
            </a:extLst>
          </p:cNvPr>
          <p:cNvSpPr>
            <a:spLocks noGrp="1"/>
          </p:cNvSpPr>
          <p:nvPr/>
        </p:nvSpPr>
        <p:spPr>
          <a:xfrm>
            <a:off x="1295400" y="5013960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117" name="phase-c-letter">
            <a:extLst>
              <a:ext uri="{FF2B5EF4-FFF2-40B4-BE49-F238E27FC236}">
                <a16:creationId xmlns:a16="http://schemas.microsoft.com/office/drawing/2014/main" id="{B51EFEDB-88BA-43EC-9E81-459023A9A84A}"/>
              </a:ext>
            </a:extLst>
          </p:cNvPr>
          <p:cNvSpPr>
            <a:spLocks noGrp="1"/>
          </p:cNvSpPr>
          <p:nvPr/>
        </p:nvSpPr>
        <p:spPr>
          <a:xfrm>
            <a:off x="1504950" y="5131435"/>
            <a:ext cx="295275" cy="238125"/>
          </a:xfrm>
          <a:prstGeom prst="roundRect">
            <a:avLst>
              <a:gd name="adj" fmla="val 19355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endParaRPr sz="1125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phase-c-chinese">
            <a:extLst>
              <a:ext uri="{FF2B5EF4-FFF2-40B4-BE49-F238E27FC236}">
                <a16:creationId xmlns:a16="http://schemas.microsoft.com/office/drawing/2014/main" id="{BB7C305E-B9AA-4850-A3FC-67DD1CAC3B99}"/>
              </a:ext>
            </a:extLst>
          </p:cNvPr>
          <p:cNvSpPr>
            <a:spLocks noGrp="1"/>
          </p:cNvSpPr>
          <p:nvPr/>
        </p:nvSpPr>
        <p:spPr>
          <a:xfrm>
            <a:off x="1571625" y="538861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1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 smtClean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机制</a:t>
            </a:r>
            <a:r>
              <a:rPr lang="zh-CN" altLang="en-US" sz="1275" b="1" dirty="0" smtClean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优化</a:t>
            </a:r>
            <a:endParaRPr sz="1275" b="1" dirty="0">
              <a:solidFill>
                <a:srgbClr val="294A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phase-c-sidebar-divider">
            <a:extLst>
              <a:ext uri="{FF2B5EF4-FFF2-40B4-BE49-F238E27FC236}">
                <a16:creationId xmlns:a16="http://schemas.microsoft.com/office/drawing/2014/main" id="{B9BBB7EF-1085-4F67-9D9B-DA0594A01300}"/>
              </a:ext>
            </a:extLst>
          </p:cNvPr>
          <p:cNvSpPr>
            <a:spLocks noGrp="1"/>
          </p:cNvSpPr>
          <p:nvPr/>
        </p:nvSpPr>
        <p:spPr>
          <a:xfrm>
            <a:off x="2847975" y="5102860"/>
            <a:ext cx="9525" cy="809625"/>
          </a:xfrm>
          <a:prstGeom prst="rect">
            <a:avLst/>
          </a:prstGeom>
          <a:solidFill>
            <a:srgbClr val="D1DCE3"/>
          </a:solidFill>
          <a:ln w="0">
            <a:solidFill>
              <a:srgbClr val="D1DCE3"/>
            </a:solidFill>
            <a:prstDash val="solid"/>
          </a:ln>
        </p:spPr>
      </p:sp>
      <p:sp>
        <p:nvSpPr>
          <p:cNvPr id="131" name="phase-c-step-divider">
            <a:extLst>
              <a:ext uri="{FF2B5EF4-FFF2-40B4-BE49-F238E27FC236}">
                <a16:creationId xmlns:a16="http://schemas.microsoft.com/office/drawing/2014/main" id="{7EA01028-7252-45DD-8977-26FF69F4B93F}"/>
              </a:ext>
            </a:extLst>
          </p:cNvPr>
          <p:cNvSpPr>
            <a:spLocks noGrp="1"/>
          </p:cNvSpPr>
          <p:nvPr/>
        </p:nvSpPr>
        <p:spPr>
          <a:xfrm>
            <a:off x="6924675" y="5102860"/>
            <a:ext cx="9525" cy="809625"/>
          </a:xfrm>
          <a:prstGeom prst="rect">
            <a:avLst/>
          </a:prstGeom>
          <a:solidFill>
            <a:srgbClr val="D1DCE3"/>
          </a:solidFill>
          <a:ln w="0">
            <a:solidFill>
              <a:srgbClr val="D1DCE3"/>
            </a:solidFill>
            <a:prstDash val="solid"/>
          </a:ln>
        </p:spPr>
      </p:sp>
      <p:sp>
        <p:nvSpPr>
          <p:cNvPr id="132" name="step-05-number">
            <a:extLst>
              <a:ext uri="{FF2B5EF4-FFF2-40B4-BE49-F238E27FC236}">
                <a16:creationId xmlns:a16="http://schemas.microsoft.com/office/drawing/2014/main" id="{67B0BF77-110D-477F-B0FB-F7032469F1EA}"/>
              </a:ext>
            </a:extLst>
          </p:cNvPr>
          <p:cNvSpPr>
            <a:spLocks noGrp="1"/>
          </p:cNvSpPr>
          <p:nvPr/>
        </p:nvSpPr>
        <p:spPr>
          <a:xfrm>
            <a:off x="3009900" y="5245735"/>
            <a:ext cx="457200" cy="228600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4B6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4B6F88"/>
                </a:solidFill>
                <a:latin typeface="Microsoft YaHei"/>
                <a:ea typeface="Microsoft YaHei"/>
                <a:cs typeface="Microsoft YaHei"/>
              </a:rPr>
              <a:t>原来</a:t>
            </a:r>
            <a:endParaRPr sz="1050" b="1" dirty="0">
              <a:solidFill>
                <a:srgbClr val="4B6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step-05-title">
            <a:extLst>
              <a:ext uri="{FF2B5EF4-FFF2-40B4-BE49-F238E27FC236}">
                <a16:creationId xmlns:a16="http://schemas.microsoft.com/office/drawing/2014/main" id="{CAEDB44C-147B-4FB5-990F-EDADB3A566EF}"/>
              </a:ext>
            </a:extLst>
          </p:cNvPr>
          <p:cNvSpPr>
            <a:spLocks noGrp="1"/>
          </p:cNvSpPr>
          <p:nvPr/>
        </p:nvSpPr>
        <p:spPr>
          <a:xfrm>
            <a:off x="3524250" y="520763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全流程 × 全策略 × 全量上下文</a:t>
            </a:r>
          </a:p>
        </p:txBody>
      </p:sp>
      <p:sp>
        <p:nvSpPr>
          <p:cNvPr id="140" name="step-05-subtitle">
            <a:extLst>
              <a:ext uri="{FF2B5EF4-FFF2-40B4-BE49-F238E27FC236}">
                <a16:creationId xmlns:a16="http://schemas.microsoft.com/office/drawing/2014/main" id="{8CE5ADDC-2B28-475D-9265-BB318693676B}"/>
              </a:ext>
            </a:extLst>
          </p:cNvPr>
          <p:cNvSpPr>
            <a:spLocks noGrp="1"/>
          </p:cNvSpPr>
          <p:nvPr/>
        </p:nvSpPr>
        <p:spPr>
          <a:xfrm>
            <a:off x="3524250" y="554101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4B6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 err="1">
                <a:solidFill>
                  <a:srgbClr val="4B6F88"/>
                </a:solidFill>
                <a:latin typeface="Microsoft YaHei"/>
                <a:ea typeface="Microsoft YaHei"/>
                <a:cs typeface="Microsoft YaHei"/>
              </a:rPr>
              <a:t>多轮尝试</a:t>
            </a:r>
            <a:r>
              <a:rPr sz="975" b="1" dirty="0">
                <a:solidFill>
                  <a:srgbClr val="4B6F88"/>
                </a:solidFill>
                <a:latin typeface="Microsoft YaHei"/>
                <a:ea typeface="Microsoft YaHei"/>
                <a:cs typeface="Microsoft YaHei"/>
              </a:rPr>
              <a:t>  →  慢 + 贵</a:t>
            </a:r>
            <a:endParaRPr sz="825" b="1" dirty="0">
              <a:solidFill>
                <a:srgbClr val="2F3A4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step-06-number">
            <a:extLst>
              <a:ext uri="{FF2B5EF4-FFF2-40B4-BE49-F238E27FC236}">
                <a16:creationId xmlns:a16="http://schemas.microsoft.com/office/drawing/2014/main" id="{B6985589-247F-4354-9976-FD0F7A206EC8}"/>
              </a:ext>
            </a:extLst>
          </p:cNvPr>
          <p:cNvSpPr>
            <a:spLocks noGrp="1"/>
          </p:cNvSpPr>
          <p:nvPr/>
        </p:nvSpPr>
        <p:spPr>
          <a:xfrm>
            <a:off x="7067550" y="5245735"/>
            <a:ext cx="609600" cy="228600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优化后</a:t>
            </a:r>
          </a:p>
        </p:txBody>
      </p:sp>
      <p:sp>
        <p:nvSpPr>
          <p:cNvPr id="142" name="step-06-title">
            <a:extLst>
              <a:ext uri="{FF2B5EF4-FFF2-40B4-BE49-F238E27FC236}">
                <a16:creationId xmlns:a16="http://schemas.microsoft.com/office/drawing/2014/main" id="{B1AF9BE3-7975-4567-AD37-8FF3D22D0C59}"/>
              </a:ext>
            </a:extLst>
          </p:cNvPr>
          <p:cNvSpPr>
            <a:spLocks noGrp="1"/>
          </p:cNvSpPr>
          <p:nvPr/>
        </p:nvSpPr>
        <p:spPr>
          <a:xfrm>
            <a:off x="7715250" y="5207635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按需进入</a:t>
            </a:r>
            <a:r>
              <a:rPr sz="1200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1" dirty="0" err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按瓶颈</a:t>
            </a:r>
            <a:r>
              <a:rPr sz="1200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1" dirty="0" err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复用</a:t>
            </a:r>
            <a:r>
              <a:rPr sz="1200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lang="zh-CN" altLang="en-US" sz="1200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合理优化</a:t>
            </a:r>
            <a:endParaRPr sz="1125" b="1" dirty="0">
              <a:solidFill>
                <a:srgbClr val="294A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step-06-subtitle">
            <a:extLst>
              <a:ext uri="{FF2B5EF4-FFF2-40B4-BE49-F238E27FC236}">
                <a16:creationId xmlns:a16="http://schemas.microsoft.com/office/drawing/2014/main" id="{BEA32223-6D3A-4FF1-9C83-DD2A8B9F4718}"/>
              </a:ext>
            </a:extLst>
          </p:cNvPr>
          <p:cNvSpPr>
            <a:spLocks noGrp="1"/>
          </p:cNvSpPr>
          <p:nvPr/>
        </p:nvSpPr>
        <p:spPr>
          <a:xfrm>
            <a:off x="7715250" y="5541010"/>
            <a:ext cx="3028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及时停止  →  更短流程 + 更少 Token</a:t>
            </a:r>
          </a:p>
        </p:txBody>
      </p:sp>
      <p:sp>
        <p:nvSpPr>
          <p:cNvPr id="147" name="phase-a-sidebar-divider">
            <a:extLst>
              <a:ext uri="{FF2B5EF4-FFF2-40B4-BE49-F238E27FC236}">
                <a16:creationId xmlns:a16="http://schemas.microsoft.com/office/drawing/2014/main" id="{D9CD0AD7-6CA4-46E4-8E1E-B4EBB896863B}"/>
              </a:ext>
            </a:extLst>
          </p:cNvPr>
          <p:cNvSpPr>
            <a:spLocks noGrp="1"/>
          </p:cNvSpPr>
          <p:nvPr/>
        </p:nvSpPr>
        <p:spPr>
          <a:xfrm>
            <a:off x="4314825" y="2916554"/>
            <a:ext cx="9525" cy="790575"/>
          </a:xfrm>
          <a:prstGeom prst="rect">
            <a:avLst/>
          </a:prstGeom>
          <a:solidFill>
            <a:srgbClr val="D1DCE3"/>
          </a:solidFill>
          <a:ln w="0">
            <a:solidFill>
              <a:srgbClr val="D1DCE3"/>
            </a:solidFill>
            <a:prstDash val="solid"/>
          </a:ln>
        </p:spPr>
      </p:sp>
      <p:sp>
        <p:nvSpPr>
          <p:cNvPr id="148" name="phase-a-sidebar-divider">
            <a:extLst>
              <a:ext uri="{FF2B5EF4-FFF2-40B4-BE49-F238E27FC236}">
                <a16:creationId xmlns:a16="http://schemas.microsoft.com/office/drawing/2014/main" id="{D9CD0AD7-6CA4-46E4-8E1E-B4EBB896863B}"/>
              </a:ext>
            </a:extLst>
          </p:cNvPr>
          <p:cNvSpPr>
            <a:spLocks noGrp="1"/>
          </p:cNvSpPr>
          <p:nvPr/>
        </p:nvSpPr>
        <p:spPr>
          <a:xfrm>
            <a:off x="4314825" y="4093214"/>
            <a:ext cx="9525" cy="790575"/>
          </a:xfrm>
          <a:prstGeom prst="rect">
            <a:avLst/>
          </a:prstGeom>
          <a:solidFill>
            <a:srgbClr val="D1DCE3"/>
          </a:solidFill>
          <a:ln w="0">
            <a:solidFill>
              <a:srgbClr val="D1DC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6280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hase-c-surface">
            <a:extLst>
              <a:ext uri="{FF2B5EF4-FFF2-40B4-BE49-F238E27FC236}">
                <a16:creationId xmlns:a16="http://schemas.microsoft.com/office/drawing/2014/main" id="{9BF5975D-A29B-4C85-BDCA-AE02672F0BE0}"/>
              </a:ext>
            </a:extLst>
          </p:cNvPr>
          <p:cNvSpPr>
            <a:spLocks noGrp="1"/>
          </p:cNvSpPr>
          <p:nvPr/>
        </p:nvSpPr>
        <p:spPr>
          <a:xfrm>
            <a:off x="2164080" y="2663401"/>
            <a:ext cx="7458075" cy="1000125"/>
          </a:xfrm>
          <a:prstGeom prst="rect">
            <a:avLst/>
          </a:prstGeom>
          <a:solidFill>
            <a:srgbClr val="F1F5F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1" name="phase-c-surface">
            <a:extLst>
              <a:ext uri="{FF2B5EF4-FFF2-40B4-BE49-F238E27FC236}">
                <a16:creationId xmlns:a16="http://schemas.microsoft.com/office/drawing/2014/main" id="{9BF5975D-A29B-4C85-BDCA-AE02672F0BE0}"/>
              </a:ext>
            </a:extLst>
          </p:cNvPr>
          <p:cNvSpPr>
            <a:spLocks noGrp="1"/>
          </p:cNvSpPr>
          <p:nvPr/>
        </p:nvSpPr>
        <p:spPr>
          <a:xfrm>
            <a:off x="2164080" y="3958400"/>
            <a:ext cx="7458075" cy="1000125"/>
          </a:xfrm>
          <a:prstGeom prst="rect">
            <a:avLst/>
          </a:prstGeom>
          <a:solidFill>
            <a:srgbClr val="F1F5F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7" name="slide-8-title">
            <a:extLst>
              <a:ext uri="{FF2B5EF4-FFF2-40B4-BE49-F238E27FC236}">
                <a16:creationId xmlns:a16="http://schemas.microsoft.com/office/drawing/2014/main" id="{375095E6-F8D5-4CE6-83F3-BB443C6C8DB1}"/>
              </a:ext>
            </a:extLst>
          </p:cNvPr>
          <p:cNvSpPr>
            <a:spLocks noGrp="1"/>
          </p:cNvSpPr>
          <p:nvPr/>
        </p:nvSpPr>
        <p:spPr>
          <a:xfrm>
            <a:off x="1082993" y="246698"/>
            <a:ext cx="962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850" b="1">
                <a:solidFill>
                  <a:srgbClr val="072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优化方向二：建立快速、分层的 Skill 验证机制</a:t>
            </a:r>
          </a:p>
        </p:txBody>
      </p:sp>
      <p:sp>
        <p:nvSpPr>
          <p:cNvPr id="9" name="footer-background">
            <a:extLst>
              <a:ext uri="{FF2B5EF4-FFF2-40B4-BE49-F238E27FC236}">
                <a16:creationId xmlns:a16="http://schemas.microsoft.com/office/drawing/2014/main" id="{C6E7F932-DCB2-46AD-92B1-4487DFCD10B6}"/>
              </a:ext>
            </a:extLst>
          </p:cNvPr>
          <p:cNvSpPr>
            <a:spLocks noGrp="1"/>
          </p:cNvSpPr>
          <p:nvPr/>
        </p:nvSpPr>
        <p:spPr>
          <a:xfrm>
            <a:off x="200025" y="6172201"/>
            <a:ext cx="11791950" cy="533400"/>
          </a:xfrm>
          <a:prstGeom prst="rect">
            <a:avLst/>
          </a:prstGeom>
          <a:solidFill>
            <a:srgbClr val="173F61"/>
          </a:solidFill>
          <a:ln w="0">
            <a:solidFill>
              <a:srgbClr val="173F6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11" name="slide-8-editable-footer">
            <a:extLst>
              <a:ext uri="{FF2B5EF4-FFF2-40B4-BE49-F238E27FC236}">
                <a16:creationId xmlns:a16="http://schemas.microsoft.com/office/drawing/2014/main" id="{9CE192D7-ED29-49CC-A75A-06D02AEA387C}"/>
              </a:ext>
            </a:extLst>
          </p:cNvPr>
          <p:cNvSpPr>
            <a:spLocks noGrp="1"/>
          </p:cNvSpPr>
          <p:nvPr/>
        </p:nvSpPr>
        <p:spPr>
          <a:xfrm>
            <a:off x="1000125" y="6200775"/>
            <a:ext cx="10191750" cy="466725"/>
          </a:xfrm>
          <a:prstGeom prst="rect">
            <a:avLst/>
          </a:prstGeom>
          <a:solidFill>
            <a:srgbClr val="173F61"/>
          </a:solidFill>
          <a:ln w="0">
            <a:solidFill>
              <a:srgbClr val="173F61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局部修改局部验证，流程修改分层验证，全面测试负责最终兜底。</a:t>
            </a:r>
          </a:p>
        </p:txBody>
      </p:sp>
      <p:sp>
        <p:nvSpPr>
          <p:cNvPr id="20" name="knowledge-source-1">
            <a:extLst>
              <a:ext uri="{FF2B5EF4-FFF2-40B4-BE49-F238E27FC236}">
                <a16:creationId xmlns:a16="http://schemas.microsoft.com/office/drawing/2014/main" id="{EBDC28E3-6143-410C-BEFE-5B7F627C63C2}"/>
              </a:ext>
            </a:extLst>
          </p:cNvPr>
          <p:cNvSpPr>
            <a:spLocks noGrp="1"/>
          </p:cNvSpPr>
          <p:nvPr/>
        </p:nvSpPr>
        <p:spPr>
          <a:xfrm>
            <a:off x="1378202" y="1069767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2" name="knowledge-source-1-title">
            <a:extLst>
              <a:ext uri="{FF2B5EF4-FFF2-40B4-BE49-F238E27FC236}">
                <a16:creationId xmlns:a16="http://schemas.microsoft.com/office/drawing/2014/main" id="{496FBD7A-2744-49B2-AF4E-57BDC19EB1AA}"/>
              </a:ext>
            </a:extLst>
          </p:cNvPr>
          <p:cNvSpPr>
            <a:spLocks noGrp="1"/>
          </p:cNvSpPr>
          <p:nvPr/>
        </p:nvSpPr>
        <p:spPr>
          <a:xfrm>
            <a:off x="1656967" y="1105327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Skill 小修改</a:t>
            </a:r>
          </a:p>
        </p:txBody>
      </p:sp>
      <p:sp>
        <p:nvSpPr>
          <p:cNvPr id="23" name="knowledge-source-1-note">
            <a:extLst>
              <a:ext uri="{FF2B5EF4-FFF2-40B4-BE49-F238E27FC236}">
                <a16:creationId xmlns:a16="http://schemas.microsoft.com/office/drawing/2014/main" id="{11C9D527-AE0E-41BB-BAD2-0A32C441DE5C}"/>
              </a:ext>
            </a:extLst>
          </p:cNvPr>
          <p:cNvSpPr>
            <a:spLocks noGrp="1"/>
          </p:cNvSpPr>
          <p:nvPr/>
        </p:nvSpPr>
        <p:spPr>
          <a:xfrm>
            <a:off x="1561717" y="1333927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863" b="0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rPr>
              <a:t>路由 / Prompt / Gate / 限制</a:t>
            </a:r>
          </a:p>
        </p:txBody>
      </p:sp>
      <p:sp>
        <p:nvSpPr>
          <p:cNvPr id="24" name="knowledge-source-2">
            <a:extLst>
              <a:ext uri="{FF2B5EF4-FFF2-40B4-BE49-F238E27FC236}">
                <a16:creationId xmlns:a16="http://schemas.microsoft.com/office/drawing/2014/main" id="{4CD9FA40-F42B-4D79-A6C5-A69D8D01CAE3}"/>
              </a:ext>
            </a:extLst>
          </p:cNvPr>
          <p:cNvSpPr>
            <a:spLocks noGrp="1"/>
          </p:cNvSpPr>
          <p:nvPr/>
        </p:nvSpPr>
        <p:spPr>
          <a:xfrm>
            <a:off x="4302377" y="1069767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6" name="knowledge-source-2-title">
            <a:extLst>
              <a:ext uri="{FF2B5EF4-FFF2-40B4-BE49-F238E27FC236}">
                <a16:creationId xmlns:a16="http://schemas.microsoft.com/office/drawing/2014/main" id="{FD18660E-7B06-4404-89B4-819FDDB10F02}"/>
              </a:ext>
            </a:extLst>
          </p:cNvPr>
          <p:cNvSpPr>
            <a:spLocks noGrp="1"/>
          </p:cNvSpPr>
          <p:nvPr/>
        </p:nvSpPr>
        <p:spPr>
          <a:xfrm>
            <a:off x="4438267" y="1219627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重新运行完整开发</a:t>
            </a:r>
            <a:endParaRPr sz="1125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knowledge-source-3">
            <a:extLst>
              <a:ext uri="{FF2B5EF4-FFF2-40B4-BE49-F238E27FC236}">
                <a16:creationId xmlns:a16="http://schemas.microsoft.com/office/drawing/2014/main" id="{877D0EC0-69E8-492F-B27E-3128FF395ED6}"/>
              </a:ext>
            </a:extLst>
          </p:cNvPr>
          <p:cNvSpPr>
            <a:spLocks noGrp="1"/>
          </p:cNvSpPr>
          <p:nvPr/>
        </p:nvSpPr>
        <p:spPr>
          <a:xfrm>
            <a:off x="7226552" y="1069767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knowledge-source-3-title">
            <a:extLst>
              <a:ext uri="{FF2B5EF4-FFF2-40B4-BE49-F238E27FC236}">
                <a16:creationId xmlns:a16="http://schemas.microsoft.com/office/drawing/2014/main" id="{D3D31AFF-A1D6-4E1E-AC09-4176658BF202}"/>
              </a:ext>
            </a:extLst>
          </p:cNvPr>
          <p:cNvSpPr>
            <a:spLocks noGrp="1"/>
          </p:cNvSpPr>
          <p:nvPr/>
        </p:nvSpPr>
        <p:spPr>
          <a:xfrm>
            <a:off x="7495792" y="1210102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验证成本高</a:t>
            </a:r>
            <a:endParaRPr sz="1125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platform-knowledge-node">
            <a:extLst>
              <a:ext uri="{FF2B5EF4-FFF2-40B4-BE49-F238E27FC236}">
                <a16:creationId xmlns:a16="http://schemas.microsoft.com/office/drawing/2014/main" id="{5762D966-7501-439C-A080-138BF198C932}"/>
              </a:ext>
            </a:extLst>
          </p:cNvPr>
          <p:cNvSpPr>
            <a:spLocks noGrp="1"/>
          </p:cNvSpPr>
          <p:nvPr/>
        </p:nvSpPr>
        <p:spPr>
          <a:xfrm>
            <a:off x="4123942" y="1667302"/>
            <a:ext cx="3200400" cy="295275"/>
          </a:xfrm>
          <a:prstGeom prst="roundRect">
            <a:avLst>
              <a:gd name="adj" fmla="val 24000"/>
            </a:avLst>
          </a:prstGeom>
          <a:solidFill>
            <a:srgbClr val="173F61"/>
          </a:solidFill>
          <a:ln w="0">
            <a:solidFill>
              <a:srgbClr val="173F61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问题不在没有验证，而是验证粒度过大</a:t>
            </a:r>
            <a:endParaRPr sz="1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phase-a-accent">
            <a:extLst>
              <a:ext uri="{FF2B5EF4-FFF2-40B4-BE49-F238E27FC236}">
                <a16:creationId xmlns:a16="http://schemas.microsoft.com/office/drawing/2014/main" id="{F5A2FC7B-8AB5-46AF-B186-FC8395962260}"/>
              </a:ext>
            </a:extLst>
          </p:cNvPr>
          <p:cNvSpPr>
            <a:spLocks noGrp="1"/>
          </p:cNvSpPr>
          <p:nvPr/>
        </p:nvSpPr>
        <p:spPr>
          <a:xfrm>
            <a:off x="2099627" y="2647964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39" name="phase-a-letter">
            <a:extLst>
              <a:ext uri="{FF2B5EF4-FFF2-40B4-BE49-F238E27FC236}">
                <a16:creationId xmlns:a16="http://schemas.microsoft.com/office/drawing/2014/main" id="{35C3BBFF-CB6B-4D33-8A0A-AE313D295B23}"/>
              </a:ext>
            </a:extLst>
          </p:cNvPr>
          <p:cNvSpPr>
            <a:spLocks noGrp="1"/>
          </p:cNvSpPr>
          <p:nvPr/>
        </p:nvSpPr>
        <p:spPr>
          <a:xfrm>
            <a:off x="2309177" y="2784489"/>
            <a:ext cx="323850" cy="238125"/>
          </a:xfrm>
          <a:prstGeom prst="roundRect">
            <a:avLst>
              <a:gd name="adj" fmla="val 19355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1" name="phase-a-chinese">
            <a:extLst>
              <a:ext uri="{FF2B5EF4-FFF2-40B4-BE49-F238E27FC236}">
                <a16:creationId xmlns:a16="http://schemas.microsoft.com/office/drawing/2014/main" id="{B28E6AE6-91E1-4238-AA3C-AE2DB3CAAE25}"/>
              </a:ext>
            </a:extLst>
          </p:cNvPr>
          <p:cNvSpPr>
            <a:spLocks noGrp="1"/>
          </p:cNvSpPr>
          <p:nvPr/>
        </p:nvSpPr>
        <p:spPr>
          <a:xfrm>
            <a:off x="2571115" y="2784489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38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主流程修改 → </a:t>
            </a:r>
            <a:r>
              <a:rPr lang="en-US" altLang="zh-CN"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Smoke Test</a:t>
            </a:r>
            <a:endParaRPr lang="en-US" altLang="zh-CN" sz="1200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phase-a-sidebar-divider">
            <a:extLst>
              <a:ext uri="{FF2B5EF4-FFF2-40B4-BE49-F238E27FC236}">
                <a16:creationId xmlns:a16="http://schemas.microsoft.com/office/drawing/2014/main" id="{D9CD0AD7-6CA4-46E4-8E1E-B4EBB896863B}"/>
              </a:ext>
            </a:extLst>
          </p:cNvPr>
          <p:cNvSpPr>
            <a:spLocks noGrp="1"/>
          </p:cNvSpPr>
          <p:nvPr/>
        </p:nvSpPr>
        <p:spPr>
          <a:xfrm>
            <a:off x="5501022" y="2757819"/>
            <a:ext cx="9525" cy="790575"/>
          </a:xfrm>
          <a:prstGeom prst="rect">
            <a:avLst/>
          </a:prstGeom>
          <a:solidFill>
            <a:srgbClr val="D1DCE3"/>
          </a:solidFill>
          <a:ln w="0">
            <a:solidFill>
              <a:srgbClr val="D1DCE3"/>
            </a:solidFill>
            <a:prstDash val="solid"/>
          </a:ln>
        </p:spPr>
      </p:sp>
      <p:sp>
        <p:nvSpPr>
          <p:cNvPr id="44" name="step-01-number">
            <a:extLst>
              <a:ext uri="{FF2B5EF4-FFF2-40B4-BE49-F238E27FC236}">
                <a16:creationId xmlns:a16="http://schemas.microsoft.com/office/drawing/2014/main" id="{542F2650-F23C-48AB-B99A-5217158F5E90}"/>
              </a:ext>
            </a:extLst>
          </p:cNvPr>
          <p:cNvSpPr>
            <a:spLocks noGrp="1"/>
          </p:cNvSpPr>
          <p:nvPr/>
        </p:nvSpPr>
        <p:spPr>
          <a:xfrm>
            <a:off x="5866764" y="2830856"/>
            <a:ext cx="304800" cy="2381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5" name="step-01-title">
            <a:extLst>
              <a:ext uri="{FF2B5EF4-FFF2-40B4-BE49-F238E27FC236}">
                <a16:creationId xmlns:a16="http://schemas.microsoft.com/office/drawing/2014/main" id="{027DB957-5C36-4487-A1CC-66FA52EBBF59}"/>
              </a:ext>
            </a:extLst>
          </p:cNvPr>
          <p:cNvSpPr>
            <a:spLocks noGrp="1"/>
          </p:cNvSpPr>
          <p:nvPr/>
        </p:nvSpPr>
        <p:spPr>
          <a:xfrm>
            <a:off x="6228713" y="2802281"/>
            <a:ext cx="25884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子代理修改</a:t>
            </a:r>
            <a:r>
              <a:rPr sz="1200" b="1" dirty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200" b="1" dirty="0" err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单独运行</a:t>
            </a:r>
            <a:r>
              <a:rPr lang="zh-CN" altLang="en-US"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子代理</a:t>
            </a:r>
            <a:r>
              <a:rPr lang="zh-CN" altLang="en-US"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lang="en-US" altLang="zh-CN"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skill</a:t>
            </a:r>
            <a:endParaRPr sz="1200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step-01-subtitle">
            <a:extLst>
              <a:ext uri="{FF2B5EF4-FFF2-40B4-BE49-F238E27FC236}">
                <a16:creationId xmlns:a16="http://schemas.microsoft.com/office/drawing/2014/main" id="{FC0EDE66-76ED-46F6-A8BD-E9A38211F0DC}"/>
              </a:ext>
            </a:extLst>
          </p:cNvPr>
          <p:cNvSpPr>
            <a:spLocks noGrp="1"/>
          </p:cNvSpPr>
          <p:nvPr/>
        </p:nvSpPr>
        <p:spPr>
          <a:xfrm>
            <a:off x="5866764" y="3107081"/>
            <a:ext cx="26098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863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Fixed Input → Subagent → Output</a:t>
            </a:r>
            <a:endParaRPr sz="825" b="1">
              <a:solidFill>
                <a:srgbClr val="2F3A45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defRPr sz="863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修改哪个，就直接验证哪个</a:t>
            </a:r>
            <a:endParaRPr sz="825" b="1">
              <a:solidFill>
                <a:srgbClr val="2F3A4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step-08-number">
            <a:extLst>
              <a:ext uri="{FF2B5EF4-FFF2-40B4-BE49-F238E27FC236}">
                <a16:creationId xmlns:a16="http://schemas.microsoft.com/office/drawing/2014/main" id="{3D7AAE78-4212-4968-822C-1853B3BAFC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4" name="step-08-title">
            <a:extLst>
              <a:ext uri="{FF2B5EF4-FFF2-40B4-BE49-F238E27FC236}">
                <a16:creationId xmlns:a16="http://schemas.microsoft.com/office/drawing/2014/main" id="{98CF8D5D-4BB7-4641-B4A6-FFAC645FE9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14855C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</p:txBody>
      </p:sp>
      <p:sp>
        <p:nvSpPr>
          <p:cNvPr id="135" name="step-08-subtitle">
            <a:extLst>
              <a:ext uri="{FF2B5EF4-FFF2-40B4-BE49-F238E27FC236}">
                <a16:creationId xmlns:a16="http://schemas.microsoft.com/office/drawing/2014/main" id="{4FC7CE93-DD4D-463D-9836-56D303844E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27364A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</p:txBody>
      </p:sp>
      <p:sp>
        <p:nvSpPr>
          <p:cNvPr id="3" name="slide-7-page-number">
            <a:extLst>
              <a:ext uri="{FF2B5EF4-FFF2-40B4-BE49-F238E27FC236}">
                <a16:creationId xmlns:a16="http://schemas.microsoft.com/office/drawing/2014/main" id="{B9A54D7D-D642-4660-9F2D-34D9C9C7A13B}"/>
              </a:ext>
            </a:extLst>
          </p:cNvPr>
          <p:cNvSpPr>
            <a:spLocks noGrp="1"/>
          </p:cNvSpPr>
          <p:nvPr/>
        </p:nvSpPr>
        <p:spPr>
          <a:xfrm>
            <a:off x="11366183" y="317183"/>
            <a:ext cx="330518" cy="279083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37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200" b="1">
              <a:solidFill>
                <a:srgbClr val="6673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slide-1-title">
            <a:extLst>
              <a:ext uri="{FF2B5EF4-FFF2-40B4-BE49-F238E27FC236}">
                <a16:creationId xmlns:a16="http://schemas.microsoft.com/office/drawing/2014/main" id="{C381CF64-BAB1-47F1-8866-115A246CAF93}"/>
              </a:ext>
            </a:extLst>
          </p:cNvPr>
          <p:cNvSpPr>
            <a:spLocks noGrp="1"/>
          </p:cNvSpPr>
          <p:nvPr/>
        </p:nvSpPr>
        <p:spPr>
          <a:xfrm>
            <a:off x="342900" y="223838"/>
            <a:ext cx="638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000" b="1" dirty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3000" b="1" dirty="0" smtClean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sz="3000" b="1" dirty="0" smtClean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3000" b="1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15-title-rule">
            <a:extLst>
              <a:ext uri="{FF2B5EF4-FFF2-40B4-BE49-F238E27FC236}">
                <a16:creationId xmlns:a16="http://schemas.microsoft.com/office/drawing/2014/main" id="{151B2147-080F-49BB-AA1C-DEAA33C95C2C}"/>
              </a:ext>
            </a:extLst>
          </p:cNvPr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</p:spPr>
      </p:sp>
      <p:sp>
        <p:nvSpPr>
          <p:cNvPr id="2" name="矩形 1"/>
          <p:cNvSpPr/>
          <p:nvPr/>
        </p:nvSpPr>
        <p:spPr>
          <a:xfrm>
            <a:off x="2410822" y="3130564"/>
            <a:ext cx="2260555" cy="225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863" b="1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简单算子 </a:t>
            </a:r>
            <a:r>
              <a:rPr lang="en-US" altLang="zh-CN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+ </a:t>
            </a:r>
            <a:r>
              <a:rPr lang="zh-CN" altLang="en-US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小 </a:t>
            </a:r>
            <a:r>
              <a:rPr lang="en-US" altLang="zh-CN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Shape</a:t>
            </a:r>
            <a:r>
              <a:rPr lang="zh-CN" altLang="en-US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，快速验证模块连接</a:t>
            </a:r>
            <a:endParaRPr lang="zh-CN" altLang="en-US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phase-a-accent">
            <a:extLst>
              <a:ext uri="{FF2B5EF4-FFF2-40B4-BE49-F238E27FC236}">
                <a16:creationId xmlns:a16="http://schemas.microsoft.com/office/drawing/2014/main" id="{F5A2FC7B-8AB5-46AF-B186-FC8395962260}"/>
              </a:ext>
            </a:extLst>
          </p:cNvPr>
          <p:cNvSpPr>
            <a:spLocks noGrp="1"/>
          </p:cNvSpPr>
          <p:nvPr/>
        </p:nvSpPr>
        <p:spPr>
          <a:xfrm>
            <a:off x="2106930" y="3972353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5C7F99"/>
          </a:solidFill>
          <a:ln w="0">
            <a:solidFill>
              <a:srgbClr val="5C7F99"/>
            </a:solidFill>
            <a:prstDash val="solid"/>
          </a:ln>
        </p:spPr>
      </p:sp>
      <p:sp>
        <p:nvSpPr>
          <p:cNvPr id="95" name="phase-a-letter">
            <a:extLst>
              <a:ext uri="{FF2B5EF4-FFF2-40B4-BE49-F238E27FC236}">
                <a16:creationId xmlns:a16="http://schemas.microsoft.com/office/drawing/2014/main" id="{35C3BBFF-CB6B-4D33-8A0A-AE313D295B23}"/>
              </a:ext>
            </a:extLst>
          </p:cNvPr>
          <p:cNvSpPr>
            <a:spLocks noGrp="1"/>
          </p:cNvSpPr>
          <p:nvPr/>
        </p:nvSpPr>
        <p:spPr>
          <a:xfrm>
            <a:off x="2316480" y="4108878"/>
            <a:ext cx="323850" cy="238125"/>
          </a:xfrm>
          <a:prstGeom prst="roundRect">
            <a:avLst>
              <a:gd name="adj" fmla="val 19355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125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125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phase-a-chinese">
            <a:extLst>
              <a:ext uri="{FF2B5EF4-FFF2-40B4-BE49-F238E27FC236}">
                <a16:creationId xmlns:a16="http://schemas.microsoft.com/office/drawing/2014/main" id="{B28E6AE6-91E1-4238-AA3C-AE2DB3CAAE25}"/>
              </a:ext>
            </a:extLst>
          </p:cNvPr>
          <p:cNvSpPr>
            <a:spLocks noGrp="1"/>
          </p:cNvSpPr>
          <p:nvPr/>
        </p:nvSpPr>
        <p:spPr>
          <a:xfrm>
            <a:off x="2578418" y="4108878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163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中间流程修改 → </a:t>
            </a:r>
            <a:r>
              <a:rPr lang="en-US" altLang="zh-CN"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Artifact Replay</a:t>
            </a:r>
            <a:endParaRPr lang="en-US" altLang="zh-CN" sz="1200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phase-a-sidebar-divider">
            <a:extLst>
              <a:ext uri="{FF2B5EF4-FFF2-40B4-BE49-F238E27FC236}">
                <a16:creationId xmlns:a16="http://schemas.microsoft.com/office/drawing/2014/main" id="{D9CD0AD7-6CA4-46E4-8E1E-B4EBB896863B}"/>
              </a:ext>
            </a:extLst>
          </p:cNvPr>
          <p:cNvSpPr>
            <a:spLocks noGrp="1"/>
          </p:cNvSpPr>
          <p:nvPr/>
        </p:nvSpPr>
        <p:spPr>
          <a:xfrm>
            <a:off x="5491497" y="4044090"/>
            <a:ext cx="9525" cy="790575"/>
          </a:xfrm>
          <a:prstGeom prst="rect">
            <a:avLst/>
          </a:prstGeom>
          <a:solidFill>
            <a:srgbClr val="D1DCE3"/>
          </a:solidFill>
          <a:ln w="0">
            <a:solidFill>
              <a:srgbClr val="D1DCE3"/>
            </a:solidFill>
            <a:prstDash val="solid"/>
          </a:ln>
        </p:spPr>
      </p:sp>
      <p:sp>
        <p:nvSpPr>
          <p:cNvPr id="157" name="矩形 156"/>
          <p:cNvSpPr/>
          <p:nvPr/>
        </p:nvSpPr>
        <p:spPr>
          <a:xfrm>
            <a:off x="2571115" y="4686880"/>
            <a:ext cx="1733167" cy="225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863" b="1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63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从修改分支最近的有效产物继续</a:t>
            </a:r>
          </a:p>
        </p:txBody>
      </p:sp>
      <p:sp>
        <p:nvSpPr>
          <p:cNvPr id="158" name="矩形 157"/>
          <p:cNvSpPr/>
          <p:nvPr/>
        </p:nvSpPr>
        <p:spPr>
          <a:xfrm>
            <a:off x="2590548" y="4439378"/>
            <a:ext cx="1401346" cy="225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863" b="1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63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保存上次运行的中间产物</a:t>
            </a:r>
            <a:endParaRPr lang="zh-CN" altLang="en-US" sz="863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1" name="step-04-number">
            <a:extLst>
              <a:ext uri="{FF2B5EF4-FFF2-40B4-BE49-F238E27FC236}">
                <a16:creationId xmlns:a16="http://schemas.microsoft.com/office/drawing/2014/main" id="{52221225-C23A-46DC-BBF4-FFEE0E417C0D}"/>
              </a:ext>
            </a:extLst>
          </p:cNvPr>
          <p:cNvSpPr>
            <a:spLocks noGrp="1"/>
          </p:cNvSpPr>
          <p:nvPr/>
        </p:nvSpPr>
        <p:spPr>
          <a:xfrm>
            <a:off x="5926455" y="4137453"/>
            <a:ext cx="323850" cy="2381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125" b="1" dirty="0" smtClean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1125" b="1" dirty="0">
              <a:solidFill>
                <a:srgbClr val="5C7F9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step-04-title">
            <a:extLst>
              <a:ext uri="{FF2B5EF4-FFF2-40B4-BE49-F238E27FC236}">
                <a16:creationId xmlns:a16="http://schemas.microsoft.com/office/drawing/2014/main" id="{F2BD160D-7767-481F-BE44-4CDC6835A7C5}"/>
              </a:ext>
            </a:extLst>
          </p:cNvPr>
          <p:cNvSpPr>
            <a:spLocks noGrp="1"/>
          </p:cNvSpPr>
          <p:nvPr/>
        </p:nvSpPr>
        <p:spPr>
          <a:xfrm>
            <a:off x="6345555" y="4108878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38" b="1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版本级修改</a:t>
            </a:r>
            <a:r>
              <a:rPr sz="1238" b="1" dirty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Regression</a:t>
            </a:r>
            <a:r>
              <a:rPr sz="1238" b="1" dirty="0">
                <a:solidFill>
                  <a:srgbClr val="173F6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>
                <a:solidFill>
                  <a:srgbClr val="5C7F99"/>
                </a:solidFill>
                <a:latin typeface="Microsoft YaHei"/>
                <a:ea typeface="Microsoft YaHei"/>
                <a:cs typeface="Microsoft YaHei"/>
              </a:rPr>
              <a:t>Suite</a:t>
            </a:r>
          </a:p>
        </p:txBody>
      </p:sp>
      <p:sp>
        <p:nvSpPr>
          <p:cNvPr id="170" name="矩形 169"/>
          <p:cNvSpPr/>
          <p:nvPr/>
        </p:nvSpPr>
        <p:spPr>
          <a:xfrm>
            <a:off x="6213015" y="4576054"/>
            <a:ext cx="3502882" cy="225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863" b="1">
                <a:solidFill>
                  <a:srgbClr val="67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63" b="1" dirty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针对</a:t>
            </a:r>
            <a:r>
              <a:rPr lang="zh-CN" altLang="en-US" sz="863" b="1" dirty="0" smtClean="0">
                <a:solidFill>
                  <a:srgbClr val="263544"/>
                </a:solidFill>
                <a:latin typeface="Microsoft YaHei"/>
                <a:ea typeface="Microsoft YaHei"/>
                <a:cs typeface="Microsoft YaHei"/>
              </a:rPr>
              <a:t>于主流程等各个部分都产生的大修改，进行大范围数据集测试。</a:t>
            </a:r>
            <a:endParaRPr lang="zh-CN" altLang="en-US" sz="863" b="1" dirty="0">
              <a:solidFill>
                <a:srgbClr val="26354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6034507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DocSecurity>0</DocSecurity>
  <PresentationFormat>宽屏</PresentationFormat>
  <Paragraphs>77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Microsoft YaHei</vt:lpstr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霍子昂</cp:lastModifiedBy>
  <cp:revision>1</cp:revision>
  <dcterms:created xsi:type="dcterms:W3CDTF">2026-08-20T06:47:31Z</dcterms:created>
  <dcterms:modified xsi:type="dcterms:W3CDTF">2026-08-21T03:31:13Z</dcterms:modified>
</cp:coreProperties>
</file>
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tags/tag1.xml" ContentType="application/vnd.openxmlformats-officedocument.presentationml.tags+xml"/>
  <Override PartName="/ppt/notesSlides/notesSlide5.xml" ContentType="application/vnd.openxmlformats-officedocument.presentationml.notesSlide+xml"/>
  <Override PartName="/ppt/comments/comment1.xml" ContentType="application/vnd.openxmlformats-officedocument.presentationml.comments+xml"/>
  <Override PartName="/ppt/tags/tag2.xml" ContentType="application/vnd.openxmlformats-officedocument.presentationml.tags+xml"/>
  <Override PartName="/ppt/tags/tag3.xml" ContentType="application/vnd.openxmlformats-officedocument.presentationml.tags+xml"/>
  <Override PartName="/ppt/notesSlides/notesSlide6.xml" ContentType="application/vnd.openxmlformats-officedocument.presentationml.notesSlide+xml"/>
  <Override PartName="/ppt/comments/comment2.xml" ContentType="application/vnd.openxmlformats-officedocument.presentationml.comment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7.xml" ContentType="application/vnd.openxmlformats-officedocument.presentationml.notesSlide+xml"/>
  <Override PartName="/ppt/charts/chart1.xml" ContentType="application/vnd.openxmlformats-officedocument.drawingml.chart+xml"/>
  <Override PartName="/ppt/comments/comment3.xml" ContentType="application/vnd.openxmlformats-officedocument.presentationml.comments+xml"/>
  <Override PartName="/ppt/notesSlides/notesSlide8.xml" ContentType="application/vnd.openxmlformats-officedocument.presentationml.notesSlide+xml"/>
  <Override PartName="/ppt/comments/comment4.xml" ContentType="application/vnd.openxmlformats-officedocument.presentationml.comments+xml"/>
  <Override PartName="/ppt/notesSlides/notesSlide9.xml" ContentType="application/vnd.openxmlformats-officedocument.presentationml.notesSlide+xml"/>
  <Override PartName="/ppt/comments/comment5.xml" ContentType="application/vnd.openxmlformats-officedocument.presentationml.comments+xml"/>
  <Override PartName="/ppt/tags/tag7.xml" ContentType="application/vnd.openxmlformats-officedocument.presentationml.tags+xml"/>
  <Override PartName="/ppt/notesSlides/notesSlide10.xml" ContentType="application/vnd.openxmlformats-officedocument.presentationml.notesSlide+xml"/>
  <Override PartName="/ppt/comments/comment6.xml" ContentType="application/vnd.openxmlformats-officedocument.presentationml.comments+xml"/>
  <Override PartName="/ppt/notesSlides/notesSlide11.xml" ContentType="application/vnd.openxmlformats-officedocument.presentationml.notesSlide+xml"/>
  <Override PartName="/ppt/comments/comment7.xml" ContentType="application/vnd.openxmlformats-officedocument.presentationml.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4.xml" ContentType="application/vnd.openxmlformats-officedocument.presentationml.notesSlide+xml"/>
  <Override PartName="/ppt/tags/tag8.xml" ContentType="application/vnd.openxmlformats-officedocument.presentationml.tags+xml"/>
  <Override PartName="/ppt/notesSlides/notesSlide15.xml" ContentType="application/vnd.openxmlformats-officedocument.presentationml.notesSlide+xml"/>
  <Override PartName="/ppt/tags/tag9.xml" ContentType="application/vnd.openxmlformats-officedocument.presentationml.tags+xml"/>
  <Override PartName="/ppt/notesSlides/notesSlide16.xml" ContentType="application/vnd.openxmlformats-officedocument.presentationml.notesSlide+xml"/>
  <Override PartName="/ppt/tags/tag10.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11.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ags/tag12.xml" ContentType="application/vnd.openxmlformats-officedocument.presentationml.tags+xml"/>
  <Override PartName="/ppt/tags/tag13.xml" ContentType="application/vnd.openxmlformats-officedocument.presentationml.tags+xml"/>
  <Override PartName="/ppt/notesSlides/notesSlide24.xml" ContentType="application/vnd.openxmlformats-officedocument.presentationml.notesSlide+xml"/>
  <Override PartName="/ppt/comments/comment8.xml" ContentType="application/vnd.openxmlformats-officedocument.presentationml.comment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comment9.xml" ContentType="application/vnd.openxmlformats-officedocument.presentationml.comments+xml"/>
  <Override PartName="/ppt/notesSlides/notesSlide27.xml" ContentType="application/vnd.openxmlformats-officedocument.presentationml.notesSlide+xml"/>
  <Override PartName="/ppt/charts/chart2.xml" ContentType="application/vnd.openxmlformats-officedocument.drawingml.chart+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1"/>
  </p:notesMasterIdLst>
  <p:sldIdLst>
    <p:sldId id="256" r:id="rId2"/>
    <p:sldId id="257" r:id="rId3"/>
    <p:sldId id="355" r:id="rId4"/>
    <p:sldId id="347" r:id="rId5"/>
    <p:sldId id="331" r:id="rId6"/>
    <p:sldId id="349" r:id="rId7"/>
    <p:sldId id="350" r:id="rId8"/>
    <p:sldId id="351" r:id="rId9"/>
    <p:sldId id="339" r:id="rId10"/>
    <p:sldId id="336" r:id="rId11"/>
    <p:sldId id="352" r:id="rId12"/>
    <p:sldId id="338" r:id="rId13"/>
    <p:sldId id="356" r:id="rId14"/>
    <p:sldId id="309" r:id="rId15"/>
    <p:sldId id="310" r:id="rId16"/>
    <p:sldId id="315" r:id="rId17"/>
    <p:sldId id="313" r:id="rId18"/>
    <p:sldId id="354" r:id="rId19"/>
    <p:sldId id="341" r:id="rId20"/>
    <p:sldId id="319" r:id="rId21"/>
    <p:sldId id="342" r:id="rId22"/>
    <p:sldId id="326" r:id="rId23"/>
    <p:sldId id="357" r:id="rId24"/>
    <p:sldId id="353" r:id="rId25"/>
    <p:sldId id="323" r:id="rId26"/>
    <p:sldId id="324" r:id="rId27"/>
    <p:sldId id="325" r:id="rId28"/>
    <p:sldId id="340" r:id="rId29"/>
    <p:sldId id="285" r:id="rId30"/>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4A4EE3E-A92F-4C5F-8B6C-4E1C00B88B07}">
          <p14:sldIdLst>
            <p14:sldId id="256"/>
            <p14:sldId id="257"/>
            <p14:sldId id="355"/>
            <p14:sldId id="347"/>
            <p14:sldId id="331"/>
            <p14:sldId id="349"/>
            <p14:sldId id="350"/>
            <p14:sldId id="351"/>
            <p14:sldId id="339"/>
            <p14:sldId id="336"/>
            <p14:sldId id="352"/>
            <p14:sldId id="338"/>
            <p14:sldId id="356"/>
            <p14:sldId id="309"/>
            <p14:sldId id="310"/>
            <p14:sldId id="315"/>
            <p14:sldId id="313"/>
            <p14:sldId id="354"/>
            <p14:sldId id="341"/>
            <p14:sldId id="319"/>
            <p14:sldId id="342"/>
            <p14:sldId id="326"/>
            <p14:sldId id="357"/>
            <p14:sldId id="353"/>
            <p14:sldId id="323"/>
            <p14:sldId id="324"/>
            <p14:sldId id="325"/>
            <p14:sldId id="340"/>
          </p14:sldIdLst>
        </p14:section>
        <p14:section name="无标题节" id="{37246721-A1E7-42EC-8ABD-C60CA6BBCE74}">
          <p14:sldIdLst>
            <p14:sldId id="285"/>
          </p14:sldIdLst>
        </p14:section>
      </p14:sectionLst>
    </p:ext>
    <p:ext uri="{EFAFB233-063F-42B5-8137-9DF3F51BA10A}">
      <p15:sldGuideLst xmlns:p15="http://schemas.microsoft.com/office/powerpoint/2012/main">
        <p15:guide id="1" orient="horz" pos="2199" userDrawn="1">
          <p15:clr>
            <a:srgbClr val="A4A3A4"/>
          </p15:clr>
        </p15:guide>
        <p15:guide id="2" pos="282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霍子昂" initials="霍子昂" lastIdx="22" clrIdx="0">
    <p:extLst>
      <p:ext uri="{19B8F6BF-5375-455C-9EA6-DF929625EA0E}">
        <p15:presenceInfo xmlns:p15="http://schemas.microsoft.com/office/powerpoint/2012/main" userId="霍子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000F"/>
    <a:srgbClr val="1C334E"/>
    <a:srgbClr val="6699FF"/>
    <a:srgbClr val="FFFFFF"/>
    <a:srgbClr val="CCFFFF"/>
    <a:srgbClr val="CCECFF"/>
    <a:srgbClr val="FF9933"/>
    <a:srgbClr val="00CC66"/>
    <a:srgbClr val="FF9900"/>
    <a:srgbClr val="D9D9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75" autoAdjust="0"/>
    <p:restoredTop sz="78621" autoAdjust="0"/>
  </p:normalViewPr>
  <p:slideViewPr>
    <p:cSldViewPr showGuides="1">
      <p:cViewPr varScale="1">
        <p:scale>
          <a:sx n="90" d="100"/>
          <a:sy n="90" d="100"/>
        </p:scale>
        <p:origin x="1404" y="84"/>
      </p:cViewPr>
      <p:guideLst>
        <p:guide orient="horz" pos="2199"/>
        <p:guide pos="2827"/>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性能</c:f>
              <c:strCache>
                <c:ptCount val="1"/>
                <c:pt idx="0">
                  <c:v>性能</c:v>
                </c:pt>
              </c:strCache>
            </c:strRef>
          </c:tx>
          <c:spPr>
            <a:gradFill flip="none" rotWithShape="1">
              <a:gsLst>
                <a:gs pos="0">
                  <a:schemeClr val="accent6">
                    <a:lumMod val="40000"/>
                    <a:lumOff val="60000"/>
                  </a:schemeClr>
                </a:gs>
                <a:gs pos="46000">
                  <a:schemeClr val="accent6">
                    <a:lumMod val="95000"/>
                    <a:lumOff val="5000"/>
                  </a:schemeClr>
                </a:gs>
                <a:gs pos="100000">
                  <a:schemeClr val="accent6">
                    <a:lumMod val="60000"/>
                  </a:schemeClr>
                </a:gs>
              </a:gsLst>
              <a:path path="circle">
                <a:fillToRect l="50000" t="130000" r="50000" b="-30000"/>
              </a:path>
              <a:tileRect/>
            </a:gradFill>
          </c:spPr>
          <c:invertIfNegative val="0"/>
          <c:dPt>
            <c:idx val="0"/>
            <c:invertIfNegative val="0"/>
            <c:bubble3D val="0"/>
            <c:extLst>
              <c:ext xmlns:c16="http://schemas.microsoft.com/office/drawing/2014/chart" uri="{C3380CC4-5D6E-409C-BE32-E72D297353CC}">
                <c16:uniqueId val="{00000000-BABD-43E2-A97A-CDFAF89902AD}"/>
              </c:ext>
            </c:extLst>
          </c:dPt>
          <c:dPt>
            <c:idx val="1"/>
            <c:invertIfNegative val="0"/>
            <c:bubble3D val="0"/>
            <c:extLst>
              <c:ext xmlns:c16="http://schemas.microsoft.com/office/drawing/2014/chart" uri="{C3380CC4-5D6E-409C-BE32-E72D297353CC}">
                <c16:uniqueId val="{00000001-BABD-43E2-A97A-CDFAF89902AD}"/>
              </c:ext>
            </c:extLst>
          </c:dPt>
          <c:dPt>
            <c:idx val="2"/>
            <c:invertIfNegative val="0"/>
            <c:bubble3D val="0"/>
            <c:extLst>
              <c:ext xmlns:c16="http://schemas.microsoft.com/office/drawing/2014/chart" uri="{C3380CC4-5D6E-409C-BE32-E72D297353CC}">
                <c16:uniqueId val="{00000002-BABD-43E2-A97A-CDFAF89902AD}"/>
              </c:ext>
            </c:extLst>
          </c:dPt>
          <c:dPt>
            <c:idx val="3"/>
            <c:invertIfNegative val="0"/>
            <c:bubble3D val="0"/>
            <c:extLst>
              <c:ext xmlns:c16="http://schemas.microsoft.com/office/drawing/2014/chart" uri="{C3380CC4-5D6E-409C-BE32-E72D297353CC}">
                <c16:uniqueId val="{00000003-BABD-43E2-A97A-CDFAF89902AD}"/>
              </c:ext>
            </c:extLst>
          </c:dPt>
          <c:dLbls>
            <c:dLbl>
              <c:idx val="0"/>
              <c:layout/>
              <c:tx>
                <c:rich>
                  <a:bodyPr rot="0" spcFirstLastPara="0" vertOverflow="ellipsis" vert="horz" wrap="square" lIns="38100" tIns="19050" rIns="38100" bIns="19050" anchor="ctr" anchorCtr="1"/>
                  <a:lstStyle/>
                  <a:p>
                    <a:pPr>
                      <a:defRPr lang="zh-CN" sz="1200" b="1" i="0" u="none" strike="noStrike" kern="1200" baseline="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defRPr>
                    </a:pPr>
                    <a:r>
                      <a:rPr lang="en-US" altLang="zh-CN"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12.6</a:t>
                    </a: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0-BABD-43E2-A97A-CDFAF89902AD}"/>
                </c:ext>
              </c:extLst>
            </c:dLbl>
            <c:dLbl>
              <c:idx val="1"/>
              <c:layout/>
              <c:tx>
                <c:rich>
                  <a:bodyPr rot="0" spcFirstLastPara="0" vertOverflow="ellipsis" vert="horz" wrap="square" lIns="38100" tIns="19050" rIns="38100" bIns="19050" anchor="ctr" anchorCtr="1"/>
                  <a:lstStyle/>
                  <a:p>
                    <a:pPr>
                      <a:defRPr lang="zh-CN" sz="1350" b="1" i="0" u="none" strike="noStrike" kern="1200" baseline="0">
                        <a:solidFill>
                          <a:schemeClr val="tx1">
                            <a:lumMod val="95000"/>
                            <a:lumOff val="5000"/>
                          </a:schemeClr>
                        </a:solidFill>
                        <a:latin typeface="微软雅黑" panose="020B0503020204020204" pitchFamily="34" charset="-122"/>
                        <a:ea typeface="微软雅黑" panose="020B0503020204020204" pitchFamily="34" charset="-122"/>
                        <a:cs typeface="微软雅黑" panose="020B0503020204020204" pitchFamily="34" charset="-122"/>
                      </a:defRPr>
                    </a:pPr>
                    <a:r>
                      <a:rPr lang="en-US" altLang="zh-CN"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92.6</a:t>
                    </a: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1-BABD-43E2-A97A-CDFAF89902AD}"/>
                </c:ext>
              </c:extLst>
            </c:dLbl>
            <c:dLbl>
              <c:idx val="2"/>
              <c:layout/>
              <c:tx>
                <c:rich>
                  <a:bodyPr rot="0" spcFirstLastPara="0" vertOverflow="ellipsis" vert="horz" wrap="square" lIns="38100" tIns="19050" rIns="38100" bIns="19050" anchor="ctr" anchorCtr="1"/>
                  <a:lstStyle/>
                  <a:p>
                    <a:pPr>
                      <a:defRPr lang="zh-CN" sz="1200" b="1" i="0" u="none" strike="noStrike" kern="1200" baseline="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defRPr>
                    </a:pPr>
                    <a:r>
                      <a:rPr lang="en-US" altLang="zh-CN"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150.8</a:t>
                    </a: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2-BABD-43E2-A97A-CDFAF89902AD}"/>
                </c:ext>
              </c:extLst>
            </c:dLbl>
            <c:dLbl>
              <c:idx val="3"/>
              <c:layout/>
              <c:tx>
                <c:rich>
                  <a:bodyPr rot="0" spcFirstLastPara="0" vertOverflow="ellipsis" vert="horz" wrap="square" lIns="38100" tIns="19050" rIns="38100" bIns="19050" anchor="ctr" anchorCtr="1"/>
                  <a:lstStyle/>
                  <a:p>
                    <a:pPr>
                      <a:defRPr lang="zh-CN" sz="1350" b="1" i="0" u="none" strike="noStrike" kern="1200" baseline="0">
                        <a:solidFill>
                          <a:schemeClr val="tx1">
                            <a:lumMod val="95000"/>
                            <a:lumOff val="5000"/>
                          </a:schemeClr>
                        </a:solidFill>
                        <a:latin typeface="微软雅黑" panose="020B0503020204020204" pitchFamily="34" charset="-122"/>
                        <a:ea typeface="微软雅黑" panose="020B0503020204020204" pitchFamily="34" charset="-122"/>
                        <a:cs typeface="微软雅黑" panose="020B0503020204020204" pitchFamily="34" charset="-122"/>
                      </a:defRPr>
                    </a:pPr>
                    <a:r>
                      <a:rPr lang="en-US" altLang="zh-CN"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220.4</a:t>
                    </a: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3-BABD-43E2-A97A-CDFAF89902AD}"/>
                </c:ext>
              </c:extLst>
            </c:dLbl>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95000"/>
                        <a:lumOff val="5000"/>
                      </a:schemeClr>
                    </a:solidFill>
                    <a:latin typeface="+mn-lt"/>
                    <a:ea typeface="+mn-ea"/>
                    <a:cs typeface="+mn-cs"/>
                  </a:defRPr>
                </a:pPr>
                <a:endParaRPr lang="zh-CN"/>
              </a:p>
            </c:txPr>
            <c:dLblPos val="outEnd"/>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早期基线</c:v>
                </c:pt>
                <c:pt idx="1">
                  <c:v>Skill 版本</c:v>
                </c:pt>
                <c:pt idx="2">
                  <c:v>手写优化版</c:v>
                </c:pt>
                <c:pt idx="3">
                  <c:v>PyTorch (厂商)</c:v>
                </c:pt>
              </c:strCache>
            </c:strRef>
          </c:cat>
          <c:val>
            <c:numRef>
              <c:f>'Chart Data'!$B$2:$B$5</c:f>
              <c:numCache>
                <c:formatCode>0.##</c:formatCode>
                <c:ptCount val="4"/>
                <c:pt idx="0">
                  <c:v>12.6</c:v>
                </c:pt>
                <c:pt idx="1">
                  <c:v>92.6</c:v>
                </c:pt>
                <c:pt idx="2">
                  <c:v>150.80000000000001</c:v>
                </c:pt>
                <c:pt idx="3">
                  <c:v>220.4</c:v>
                </c:pt>
              </c:numCache>
            </c:numRef>
          </c:val>
          <c:extLst>
            <c:ext xmlns:c16="http://schemas.microsoft.com/office/drawing/2014/chart" uri="{C3380CC4-5D6E-409C-BE32-E72D297353CC}">
              <c16:uniqueId val="{00000004-BABD-43E2-A97A-CDFAF89902AD}"/>
            </c:ext>
          </c:extLst>
        </c:ser>
        <c:dLbls>
          <c:showLegendKey val="0"/>
          <c:showVal val="1"/>
          <c:showCatName val="0"/>
          <c:showSerName val="0"/>
          <c:showPercent val="0"/>
          <c:showBubbleSize val="0"/>
        </c:dLbls>
        <c:gapWidth val="75"/>
        <c:axId val="48650112"/>
        <c:axId val="48672768"/>
      </c:barChart>
      <c:catAx>
        <c:axId val="48650112"/>
        <c:scaling>
          <c:orientation val="minMax"/>
        </c:scaling>
        <c:delete val="1"/>
        <c:axPos val="b"/>
        <c:numFmt formatCode="General" sourceLinked="1"/>
        <c:majorTickMark val="none"/>
        <c:minorTickMark val="none"/>
        <c:tickLblPos val="nextTo"/>
        <c:crossAx val="48672768"/>
        <c:crosses val="autoZero"/>
        <c:auto val="1"/>
        <c:lblAlgn val="ctr"/>
        <c:lblOffset val="100"/>
        <c:noMultiLvlLbl val="0"/>
      </c:catAx>
      <c:valAx>
        <c:axId val="48672768"/>
        <c:scaling>
          <c:orientation val="minMax"/>
          <c:max val="250"/>
          <c:min val="0"/>
        </c:scaling>
        <c:delete val="0"/>
        <c:axPos val="l"/>
        <c:majorGridlines>
          <c:spPr>
            <a:ln w="9525" cap="flat" cmpd="sng" algn="ctr">
              <a:solidFill>
                <a:srgbClr val="E5EDF7"/>
              </a:solidFill>
              <a:prstDash val="solid"/>
              <a:round/>
            </a:ln>
          </c:spPr>
        </c:majorGridlines>
        <c:numFmt formatCode="0.##" sourceLinked="1"/>
        <c:majorTickMark val="none"/>
        <c:minorTickMark val="none"/>
        <c:tickLblPos val="nextTo"/>
        <c:spPr>
          <a:ln w="0" cap="flat" cmpd="sng" algn="ctr">
            <a:noFill/>
            <a:prstDash val="solid"/>
            <a:round/>
          </a:ln>
        </c:spPr>
        <c:txPr>
          <a:bodyPr rot="-60000000" spcFirstLastPara="0" vertOverflow="ellipsis" vert="horz" wrap="square" anchor="ctr" anchorCtr="1"/>
          <a:lstStyle/>
          <a:p>
            <a:pPr>
              <a:defRPr lang="zh-CN" sz="1200" b="0" i="0" u="none" strike="noStrike" kern="1200" baseline="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defRPr>
            </a:pPr>
            <a:endParaRPr lang="zh-CN"/>
          </a:p>
        </c:txPr>
        <c:crossAx val="48650112"/>
        <c:crosses val="autoZero"/>
        <c:crossBetween val="between"/>
      </c:valAx>
      <c:spPr>
        <a:noFill/>
        <a:ln w="0">
          <a:noFill/>
        </a:ln>
      </c:spPr>
    </c:plotArea>
    <c:plotVisOnly val="1"/>
    <c:dispBlanksAs val="gap"/>
    <c:showDLblsOverMax val="0"/>
    <c:extLst>
      <c:ext uri="{0b15fc19-7d7d-44ad-8c2d-2c3a37ce22c3}">
        <chartProps xmlns="https://web.wps.cn/et/2018/main" chartId="{b92e8392-fb0a-4671-a51f-e8c61a91ee6c}"/>
      </c:ext>
    </c:extLst>
  </c:chart>
  <c:spPr>
    <a:noFill/>
    <a:ln w="0">
      <a:noFill/>
    </a:ln>
  </c:spPr>
  <c:txPr>
    <a:bodyPr/>
    <a:lstStyle/>
    <a:p>
      <a:pPr>
        <a:defRPr lang="zh-CN"/>
      </a:pPr>
      <a:endParaRPr lang="zh-CN"/>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LayerNorm</c:f>
              <c:strCache>
                <c:ptCount val="1"/>
                <c:pt idx="0">
                  <c:v>LayerNorm</c:v>
                </c:pt>
              </c:strCache>
            </c:strRef>
          </c:tx>
          <c:spPr>
            <a:solidFill>
              <a:srgbClr val="C4BD97"/>
            </a:solidFill>
          </c:spPr>
          <c:invertIfNegative val="1"/>
          <c:dLbls>
            <c:spPr>
              <a:noFill/>
              <a:ln>
                <a:noFill/>
              </a:ln>
              <a:effectLst/>
            </c:spPr>
            <c:txPr>
              <a:bodyPr rot="0" spcFirstLastPara="0" vertOverflow="ellipsis" vert="horz" wrap="square" lIns="38100" tIns="19050" rIns="38100" bIns="19050" anchor="ctr" anchorCtr="1"/>
              <a:lstStyle/>
              <a:p>
                <a:pPr>
                  <a:defRPr lang="zh-CN" sz="940" b="0" i="0" u="none" strike="noStrike" kern="1200" baseline="0">
                    <a:solidFill>
                      <a:srgbClr val="000000"/>
                    </a:solidFill>
                    <a:latin typeface="Times New Roman" panose="02020603050405020304" pitchFamily="18" charset="0"/>
                    <a:ea typeface="Arial" panose="020B0604020202020204"/>
                    <a:cs typeface="Times New Roman" panose="02020603050405020304" pitchFamily="18" charset="0"/>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'Chart Data'!$A$2:$A$5</c:f>
              <c:strCache>
                <c:ptCount val="4"/>
                <c:pt idx="0">
                  <c:v>MLU Triton</c:v>
                </c:pt>
                <c:pt idx="1">
                  <c:v>BANG C</c:v>
                </c:pt>
                <c:pt idx="2">
                  <c:v>GPU Triton</c:v>
                </c:pt>
                <c:pt idx="3">
                  <c:v>CUDA C</c:v>
                </c:pt>
              </c:strCache>
            </c:strRef>
          </c:cat>
          <c:val>
            <c:numRef>
              <c:f>'Chart Data'!$B$2:$B$5</c:f>
              <c:numCache>
                <c:formatCode>0.0</c:formatCode>
                <c:ptCount val="4"/>
                <c:pt idx="0">
                  <c:v>1</c:v>
                </c:pt>
                <c:pt idx="1">
                  <c:v>3.5</c:v>
                </c:pt>
                <c:pt idx="2">
                  <c:v>0.8</c:v>
                </c:pt>
                <c:pt idx="3">
                  <c:v>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08E-4C2F-8811-63A5856B63A2}"/>
            </c:ext>
          </c:extLst>
        </c:ser>
        <c:ser>
          <c:idx val="1"/>
          <c:order val="1"/>
          <c:tx>
            <c:strRef>
              <c:f>Softmax</c:f>
              <c:strCache>
                <c:ptCount val="1"/>
                <c:pt idx="0">
                  <c:v>Softmax</c:v>
                </c:pt>
              </c:strCache>
            </c:strRef>
          </c:tx>
          <c:spPr>
            <a:solidFill>
              <a:srgbClr val="4F81BD"/>
            </a:solidFill>
          </c:spPr>
          <c:invertIfNegative val="1"/>
          <c:dLbls>
            <c:spPr>
              <a:noFill/>
              <a:ln>
                <a:noFill/>
              </a:ln>
              <a:effectLst/>
            </c:spPr>
            <c:txPr>
              <a:bodyPr rot="0" spcFirstLastPara="0" vertOverflow="ellipsis" vert="horz" wrap="square" lIns="38100" tIns="19050" rIns="38100" bIns="19050" anchor="ctr" anchorCtr="1"/>
              <a:lstStyle/>
              <a:p>
                <a:pPr>
                  <a:defRPr lang="zh-CN" sz="940" b="0" i="0" u="none" strike="noStrike" kern="1200" baseline="0">
                    <a:solidFill>
                      <a:srgbClr val="000000"/>
                    </a:solidFill>
                    <a:latin typeface="Times New Roman" panose="02020603050405020304" pitchFamily="18" charset="0"/>
                    <a:ea typeface="Arial" panose="020B0604020202020204"/>
                    <a:cs typeface="Times New Roman" panose="02020603050405020304" pitchFamily="18" charset="0"/>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'Chart Data'!$C$2:$C$5</c:f>
              <c:strCache>
                <c:ptCount val="4"/>
                <c:pt idx="0">
                  <c:v>MLU Triton</c:v>
                </c:pt>
                <c:pt idx="1">
                  <c:v>BANG C</c:v>
                </c:pt>
                <c:pt idx="2">
                  <c:v>GPU Triton</c:v>
                </c:pt>
                <c:pt idx="3">
                  <c:v>CUDA C</c:v>
                </c:pt>
              </c:strCache>
            </c:strRef>
          </c:cat>
          <c:val>
            <c:numRef>
              <c:f>'Chart Data'!$D$2:$D$5</c:f>
              <c:numCache>
                <c:formatCode>0.0</c:formatCode>
                <c:ptCount val="4"/>
                <c:pt idx="0">
                  <c:v>1.2</c:v>
                </c:pt>
                <c:pt idx="1">
                  <c:v>3.2</c:v>
                </c:pt>
                <c:pt idx="2">
                  <c:v>1</c:v>
                </c:pt>
                <c:pt idx="3">
                  <c:v>0.9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708E-4C2F-8811-63A5856B63A2}"/>
            </c:ext>
          </c:extLst>
        </c:ser>
        <c:ser>
          <c:idx val="2"/>
          <c:order val="2"/>
          <c:tx>
            <c:strRef>
              <c:f>MatMul</c:f>
              <c:strCache>
                <c:ptCount val="1"/>
                <c:pt idx="0">
                  <c:v>MatMul</c:v>
                </c:pt>
              </c:strCache>
            </c:strRef>
          </c:tx>
          <c:spPr>
            <a:solidFill>
              <a:srgbClr val="0D0D0D"/>
            </a:solidFill>
            <a:ln>
              <a:solidFill>
                <a:schemeClr val="tx1">
                  <a:lumMod val="95000"/>
                  <a:lumOff val="5000"/>
                </a:schemeClr>
              </a:solidFill>
            </a:ln>
          </c:spPr>
          <c:invertIfNegative val="1"/>
          <c:dLbls>
            <c:spPr>
              <a:noFill/>
              <a:ln>
                <a:noFill/>
              </a:ln>
              <a:effectLst/>
            </c:spPr>
            <c:txPr>
              <a:bodyPr rot="0" spcFirstLastPara="0" vertOverflow="ellipsis" vert="horz" wrap="square" lIns="38100" tIns="19050" rIns="38100" bIns="19050" anchor="ctr" anchorCtr="1"/>
              <a:lstStyle/>
              <a:p>
                <a:pPr>
                  <a:defRPr lang="zh-CN" sz="940" b="0" i="0" u="none" strike="noStrike" kern="1200" baseline="0">
                    <a:solidFill>
                      <a:srgbClr val="000000"/>
                    </a:solidFill>
                    <a:latin typeface="Times New Roman" panose="02020603050405020304" pitchFamily="18" charset="0"/>
                    <a:ea typeface="Arial" panose="020B0604020202020204"/>
                    <a:cs typeface="Times New Roman" panose="02020603050405020304" pitchFamily="18" charset="0"/>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ext>
            </c:extLst>
          </c:dLbls>
          <c:cat>
            <c:strRef>
              <c:f>'Chart Data'!$E$2:$E$5</c:f>
              <c:strCache>
                <c:ptCount val="4"/>
                <c:pt idx="0">
                  <c:v>MLU Triton</c:v>
                </c:pt>
                <c:pt idx="1">
                  <c:v>BANG C</c:v>
                </c:pt>
                <c:pt idx="2">
                  <c:v>GPU Triton</c:v>
                </c:pt>
                <c:pt idx="3">
                  <c:v>CUDA C</c:v>
                </c:pt>
              </c:strCache>
            </c:strRef>
          </c:cat>
          <c:val>
            <c:numRef>
              <c:f>'Chart Data'!$F$2:$F$5</c:f>
              <c:numCache>
                <c:formatCode>0.0</c:formatCode>
                <c:ptCount val="4"/>
                <c:pt idx="0">
                  <c:v>1.8</c:v>
                </c:pt>
                <c:pt idx="1">
                  <c:v>4</c:v>
                </c:pt>
                <c:pt idx="2">
                  <c:v>1.6</c:v>
                </c:pt>
                <c:pt idx="3">
                  <c:v>1.5</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tx1">
                        <a:lumMod val="95000"/>
                        <a:lumOff val="5000"/>
                      </a:schemeClr>
                    </a:solidFill>
                  </a:ln>
                </c14:spPr>
              </c14:invertSolidFillFmt>
            </c:ext>
            <c:ext xmlns:c16="http://schemas.microsoft.com/office/drawing/2014/chart" uri="{C3380CC4-5D6E-409C-BE32-E72D297353CC}">
              <c16:uniqueId val="{00000002-708E-4C2F-8811-63A5856B63A2}"/>
            </c:ext>
          </c:extLst>
        </c:ser>
        <c:dLbls>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cap="flat" cmpd="sng" algn="ctr">
            <a:solidFill>
              <a:srgbClr val="D9D9D9"/>
            </a:solidFill>
            <a:prstDash val="solid"/>
            <a:round/>
          </a:ln>
        </c:spPr>
        <c:txPr>
          <a:bodyPr rot="-60000000" spcFirstLastPara="0" vertOverflow="ellipsis" vert="horz" wrap="square" anchor="ctr" anchorCtr="1"/>
          <a:lstStyle/>
          <a:p>
            <a:pPr>
              <a:defRPr lang="zh-CN" sz="865" b="0" i="0" u="none" strike="noStrike" kern="1200" baseline="0">
                <a:solidFill>
                  <a:srgbClr val="242424"/>
                </a:solidFill>
                <a:latin typeface="Times New Roman" panose="02020603050405020304" pitchFamily="18" charset="0"/>
                <a:ea typeface="Arial" panose="020B0604020202020204"/>
                <a:cs typeface="Times New Roman" panose="02020603050405020304" pitchFamily="18" charset="0"/>
              </a:defRPr>
            </a:pPr>
            <a:endParaRPr lang="zh-CN"/>
          </a:p>
        </c:txPr>
        <c:crossAx val="48672768"/>
        <c:crosses val="autoZero"/>
        <c:auto val="1"/>
        <c:lblAlgn val="ctr"/>
        <c:lblOffset val="100"/>
        <c:noMultiLvlLbl val="1"/>
      </c:catAx>
      <c:valAx>
        <c:axId val="48672768"/>
        <c:scaling>
          <c:orientation val="minMax"/>
          <c:max val="4.5"/>
          <c:min val="0"/>
        </c:scaling>
        <c:delete val="0"/>
        <c:axPos val="l"/>
        <c:majorGridlines>
          <c:spPr>
            <a:ln w="4763" cap="flat" cmpd="sng" algn="ctr">
              <a:solidFill>
                <a:srgbClr val="D9D9D9"/>
              </a:solidFill>
              <a:prstDash val="solid"/>
              <a:round/>
            </a:ln>
          </c:spPr>
        </c:majorGridlines>
        <c:numFmt formatCode="0.0" sourceLinked="1"/>
        <c:majorTickMark val="none"/>
        <c:minorTickMark val="none"/>
        <c:tickLblPos val="nextTo"/>
        <c:spPr>
          <a:ln w="9525" cap="flat" cmpd="sng" algn="ctr">
            <a:solidFill>
              <a:srgbClr val="D9D9D9"/>
            </a:solidFill>
            <a:prstDash val="solid"/>
            <a:round/>
          </a:ln>
        </c:spPr>
        <c:txPr>
          <a:bodyPr rot="-60000000" spcFirstLastPara="0" vertOverflow="ellipsis" vert="horz" wrap="square" anchor="ctr" anchorCtr="1"/>
          <a:lstStyle/>
          <a:p>
            <a:pPr>
              <a:defRPr lang="zh-CN" sz="900" b="0" i="0" u="none" strike="noStrike" kern="1200" baseline="0">
                <a:solidFill>
                  <a:srgbClr val="242424"/>
                </a:solidFill>
                <a:latin typeface="Arial" panose="020B0604020202020204"/>
                <a:ea typeface="Arial" panose="020B0604020202020204"/>
                <a:cs typeface="Arial" panose="020B0604020202020204"/>
              </a:defRPr>
            </a:pPr>
            <a:endParaRPr lang="zh-CN"/>
          </a:p>
        </c:txPr>
        <c:crossAx val="48650112"/>
        <c:crosses val="autoZero"/>
        <c:crossBetween val="between"/>
        <c:majorUnit val="1"/>
      </c:valAx>
      <c:spPr>
        <a:noFill/>
        <a:ln w="25400">
          <a:noFill/>
        </a:ln>
      </c:spPr>
    </c:plotArea>
    <c:legend>
      <c:legendPos val="t"/>
      <c:layout/>
      <c:overlay val="0"/>
      <c:txPr>
        <a:bodyPr rot="0" spcFirstLastPara="0" vertOverflow="ellipsis" vert="horz" wrap="square" anchor="ctr" anchorCtr="1"/>
        <a:lstStyle/>
        <a:p>
          <a:pPr>
            <a:defRPr lang="zh-CN" sz="975" b="0" i="0" u="none" strike="noStrike" kern="1200" baseline="0">
              <a:solidFill>
                <a:srgbClr val="242424"/>
              </a:solidFill>
              <a:latin typeface="Times New Roman" panose="02020603050405020304" pitchFamily="18" charset="0"/>
              <a:ea typeface="Arial" panose="020B0604020202020204"/>
              <a:cs typeface="Times New Roman" panose="02020603050405020304" pitchFamily="18" charset="0"/>
            </a:defRPr>
          </a:pPr>
          <a:endParaRPr lang="zh-CN"/>
        </a:p>
      </c:txPr>
    </c:legend>
    <c:plotVisOnly val="1"/>
    <c:dispBlanksAs val="zero"/>
    <c:showDLblsOverMax val="1"/>
    <c:extLst>
      <c:ext uri="{0b15fc19-7d7d-44ad-8c2d-2c3a37ce22c3}">
        <chartProps xmlns="https://web.wps.cn/et/2018/main" chartId="{6aabcb56-5ddf-4d63-9750-b34d24ad7e42}"/>
      </c:ext>
    </c:extLst>
  </c:chart>
  <c:spPr>
    <a:solidFill>
      <a:srgbClr val="FFFFFF"/>
    </a:solidFill>
    <a:ln w="0">
      <a:noFill/>
    </a:ln>
  </c:spPr>
  <c:txPr>
    <a:bodyPr/>
    <a:lstStyle/>
    <a:p>
      <a:pPr>
        <a:defRPr lang="zh-CN"/>
      </a:pPr>
      <a:endParaRPr lang="zh-CN"/>
    </a:p>
  </c:txPr>
  <c:externalData r:id="rId1">
    <c:autoUpdate val="0"/>
  </c:externalData>
</c:chartSpace>
</file>

<file path=ppt/comments/comment1.xml><?xml version="1.0" encoding="utf-8"?>
<p:cmLst xmlns:a="http://schemas.openxmlformats.org/drawingml/2006/main" xmlns:r="http://schemas.openxmlformats.org/officeDocument/2006/relationships" xmlns:p="http://schemas.openxmlformats.org/presentationml/2006/main">
  <p:cm authorId="1" dt="2026-09-22T10:14:41.762" idx="13">
    <p:pos x="-271" y="4062"/>
    <p:text>为后续定位算子瓶颈提供方向</p:text>
    <p:extLst>
      <p:ext uri="{C676402C-5697-4E1C-873F-D02D1690AC5C}">
        <p15:threadingInfo xmlns:p15="http://schemas.microsoft.com/office/powerpoint/2012/main" timeZoneBias="-48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9-22T10:16:52.399" idx="14">
    <p:pos x="-359" y="3004"/>
    <p:text>双缓冲会占用额外的片上空间</p:text>
    <p:extLst>
      <p:ext uri="{C676402C-5697-4E1C-873F-D02D1690AC5C}">
        <p15:threadingInfo xmlns:p15="http://schemas.microsoft.com/office/powerpoint/2012/main" timeZoneBias="-480"/>
      </p:ext>
    </p:extLst>
  </p:cm>
  <p:cm authorId="1" dt="2026-09-23T11:19:44.547" idx="22">
    <p:pos x="-358" y="2401"/>
    <p:text>但是优化方式也有限制</p:text>
    <p:extLst>
      <p:ext uri="{C676402C-5697-4E1C-873F-D02D1690AC5C}">
        <p15:threadingInfo xmlns:p15="http://schemas.microsoft.com/office/powerpoint/2012/main" timeZoneBias="-48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9-22T10:18:47.907" idx="18">
    <p:pos x="5830" y="2026"/>
    <p:text>这个差距就主要来自于bangc和triton的语言差距了</p:text>
    <p:extLst>
      <p:ext uri="{C676402C-5697-4E1C-873F-D02D1690AC5C}">
        <p15:threadingInfo xmlns:p15="http://schemas.microsoft.com/office/powerpoint/2012/main" timeZoneBias="-48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9-22T09:34:42.618" idx="1">
    <p:pos x="-278" y="1530"/>
    <p:text>当多个请求具有相同前缀时</p:text>
    <p:extLst>
      <p:ext uri="{C676402C-5697-4E1C-873F-D02D1690AC5C}">
        <p15:threadingInfo xmlns:p15="http://schemas.microsoft.com/office/powerpoint/2012/main" timeZoneBias="-480"/>
      </p:ext>
    </p:extLst>
  </p:cm>
  <p:cm authorId="1" dt="2026-09-22T09:35:06.247" idx="2">
    <p:pos x="-283" y="1820"/>
    <p:text>进一步影响并发和吞吐</p:text>
    <p:extLst>
      <p:ext uri="{C676402C-5697-4E1C-873F-D02D1690AC5C}">
        <p15:threadingInfo xmlns:p15="http://schemas.microsoft.com/office/powerpoint/2012/main" timeZoneBias="-480"/>
      </p:ext>
    </p:extLst>
  </p:cm>
  <p:cm authorId="1" dt="2026-09-22T09:35:50.768" idx="3">
    <p:pos x="-294" y="2365"/>
    <p:text>我实现了mlu平台的cpu offload，分层前缀kvcache存储</p:text>
    <p:extLst>
      <p:ext uri="{C676402C-5697-4E1C-873F-D02D1690AC5C}">
        <p15:threadingInfo xmlns:p15="http://schemas.microsoft.com/office/powerpoint/2012/main" timeZoneBias="-48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9-22T09:48:47.714" idx="5">
    <p:pos x="-238" y="4035"/>
    <p:text>通过cpu内存扩展，可以保留更多的kvcache</p:text>
    <p:extLst>
      <p:ext uri="{C676402C-5697-4E1C-873F-D02D1690AC5C}">
        <p15:threadingInfo xmlns:p15="http://schemas.microsoft.com/office/powerpoint/2012/main" timeZoneBias="-48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1" dt="2026-09-22T09:52:09.454" idx="6">
    <p:pos x="-291" y="1182"/>
    <p:text>项目中使用block管理kv，但是存储时层主导的布局，按照block为单位进行数据搬运时</p:text>
    <p:extLst>
      <p:ext uri="{C676402C-5697-4E1C-873F-D02D1690AC5C}">
        <p15:threadingInfo xmlns:p15="http://schemas.microsoft.com/office/powerpoint/2012/main" timeZoneBias="-480"/>
      </p:ext>
    </p:extLst>
  </p:cm>
  <p:cm authorId="1" dt="2026-09-22T09:54:15.973" idx="7">
    <p:pos x="5917" y="1135"/>
    <p:text>将每个block内的数据打包到一起，拦蓄存放</p:text>
    <p:extLst>
      <p:ext uri="{C676402C-5697-4E1C-873F-D02D1690AC5C}">
        <p15:threadingInfo xmlns:p15="http://schemas.microsoft.com/office/powerpoint/2012/main" timeZoneBias="-480"/>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1" dt="2026-09-22T09:56:11.135" idx="8">
    <p:pos x="-365" y="1242"/>
    <p:text>当多个请求同时命中相同的cpu前缀时</p:text>
    <p:extLst>
      <p:ext uri="{C676402C-5697-4E1C-873F-D02D1690AC5C}">
        <p15:threadingInfo xmlns:p15="http://schemas.microsoft.com/office/powerpoint/2012/main" timeZoneBias="-480"/>
      </p:ext>
    </p:extLst>
  </p:cm>
  <p:cm authorId="1" dt="2026-09-22T09:56:53.849" idx="9">
    <p:pos x="-350" y="3059"/>
    <p:text>减少数据传输的次数</p:text>
    <p:extLst>
      <p:ext uri="{C676402C-5697-4E1C-873F-D02D1690AC5C}">
        <p15:threadingInfo xmlns:p15="http://schemas.microsoft.com/office/powerpoint/2012/main" timeZoneBias="-480"/>
      </p:ext>
    </p:extLst>
  </p:cm>
  <p:cm authorId="1" dt="2026-09-22T09:57:41.860" idx="10">
    <p:pos x="-338" y="2254"/>
    <p:text>合并相同数据的加载</p:text>
    <p:extLst>
      <p:ext uri="{C676402C-5697-4E1C-873F-D02D1690AC5C}">
        <p15:threadingInfo xmlns:p15="http://schemas.microsoft.com/office/powerpoint/2012/main" timeZoneBias="-480"/>
      </p:ext>
    </p:extLst>
  </p:cm>
  <p:cm authorId="1" dt="2026-09-22T09:58:49.814" idx="11">
    <p:pos x="5911" y="2836"/>
    <p:text>让没有依赖的计算和搬运尽可能重叠</p:text>
    <p:extLst>
      <p:ext uri="{C676402C-5697-4E1C-873F-D02D1690AC5C}">
        <p15:threadingInfo xmlns:p15="http://schemas.microsoft.com/office/powerpoint/2012/main" timeZoneBias="-480"/>
      </p:ext>
    </p:extLst>
  </p:cm>
  <p:cm authorId="1" dt="2026-09-22T09:59:24.279" idx="12">
    <p:pos x="5904" y="2193"/>
    <p:text>通过event保证两个流之间的顺序正确</p:text>
    <p:extLst>
      <p:ext uri="{C676402C-5697-4E1C-873F-D02D1690AC5C}">
        <p15:threadingInfo xmlns:p15="http://schemas.microsoft.com/office/powerpoint/2012/main" timeZoneBias="-480"/>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1" dt="2026-09-22T11:09:01.296" idx="19">
    <p:pos x="-479" y="1296"/>
    <p:text>但是以当前skill为模板开发其他平台skill时，会遇到平台资料替换的问题。原始结构平台资料替换困难</p:text>
    <p:extLst mod="1">
      <p:ext uri="{C676402C-5697-4E1C-873F-D02D1690AC5C}">
        <p15:threadingInfo xmlns:p15="http://schemas.microsoft.com/office/powerpoint/2012/main" timeZoneBias="-480"/>
      </p:ext>
    </p:extLst>
  </p:cm>
  <p:cm authorId="1" dt="2026-09-22T11:10:29.118" idx="20">
    <p:pos x="-457" y="2510"/>
    <p:text>导致以原来的结构进行跨平台开发时，需要多个模块大范围修改，替换成本高</p:text>
    <p:extLst mod="1">
      <p:ext uri="{C676402C-5697-4E1C-873F-D02D1690AC5C}">
        <p15:threadingInfo xmlns:p15="http://schemas.microsoft.com/office/powerpoint/2012/main" timeZoneBias="-480"/>
      </p:ext>
    </p:extLst>
  </p:cm>
</p:cmLst>
</file>

<file path=ppt/comments/comment9.xml><?xml version="1.0" encoding="utf-8"?>
<p:cmLst xmlns:a="http://schemas.openxmlformats.org/drawingml/2006/main" xmlns:r="http://schemas.openxmlformats.org/officeDocument/2006/relationships" xmlns:p="http://schemas.openxmlformats.org/presentationml/2006/main">
  <p:cm authorId="1" dt="2026-09-22T11:14:09.587" idx="21">
    <p:pos x="5797" y="2897"/>
    <p:text>当前结果验证了跨平台流程能够运行，但高性能生成能力还不均衡</p:text>
    <p:extLst>
      <p:ext uri="{C676402C-5697-4E1C-873F-D02D1690AC5C}">
        <p15:threadingInfo xmlns:p15="http://schemas.microsoft.com/office/powerpoint/2012/main" timeZoneBias="-480"/>
      </p:ext>
    </p:extLst>
  </p:cm>
</p:cmLst>
</file>

<file path=ppt/diagrams/colors1.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94704665-A736-4D9D-8335-F52D0001726A}" type="doc">
      <dgm:prSet loTypeId="urn:microsoft.com/office/officeart/2005/8/layout/list1#1" loCatId="list" qsTypeId="urn:microsoft.com/office/officeart/2005/8/quickstyle/simple1#1" qsCatId="simple" csTypeId="urn:microsoft.com/office/officeart/2005/8/colors/colorful3#1" csCatId="colorful" phldr="1"/>
      <dgm:spPr/>
      <dgm:t>
        <a:bodyPr/>
        <a:lstStyle/>
        <a:p>
          <a:endParaRPr lang="zh-CN" altLang="en-US"/>
        </a:p>
      </dgm:t>
    </dgm:pt>
    <dgm:pt modelId="{E61598D1-5714-48B6-8D09-72944FE9F33B}">
      <dgm:prSet phldrT="[文本]" custT="1"/>
      <dgm:spPr>
        <a:solidFill>
          <a:srgbClr val="C00000"/>
        </a:solidFill>
      </dgm:spPr>
      <dgm:t>
        <a:bodyPr/>
        <a:lstStyle/>
        <a:p>
          <a:pPr algn="l"/>
          <a:r>
            <a:rPr lang="zh-CN" altLang="en-US" sz="2000" b="1"/>
            <a:t>自我介绍</a:t>
          </a:r>
        </a:p>
      </dgm:t>
    </dgm:pt>
    <dgm:pt modelId="{93B0F235-AD2E-4B57-AD3A-0FA3DCEEC602}" type="parTrans" cxnId="{B99F2629-7A48-4225-A786-33DB37B34471}">
      <dgm:prSet/>
      <dgm:spPr/>
      <dgm:t>
        <a:bodyPr/>
        <a:lstStyle/>
        <a:p>
          <a:pPr algn="l"/>
          <a:endParaRPr lang="zh-CN" altLang="en-US" sz="1600"/>
        </a:p>
      </dgm:t>
    </dgm:pt>
    <dgm:pt modelId="{3A1DFD91-6042-4471-98C1-87903CF1668E}" type="sibTrans" cxnId="{B99F2629-7A48-4225-A786-33DB37B34471}">
      <dgm:prSet/>
      <dgm:spPr/>
      <dgm:t>
        <a:bodyPr/>
        <a:lstStyle/>
        <a:p>
          <a:pPr algn="l"/>
          <a:endParaRPr lang="zh-CN" altLang="en-US" sz="1600"/>
        </a:p>
      </dgm:t>
    </dgm:pt>
    <dgm:pt modelId="{3AC1DE5D-0C7B-4F77-A8E1-863ADFF7D298}">
      <dgm:prSet phldrT="[文本]" phldr="0" custT="1"/>
      <dgm:spPr/>
      <dgm:t>
        <a:bodyPr vert="horz" wrap="square"/>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a:t>实习期间的工作</a:t>
          </a:r>
          <a:endParaRPr sz="1800" dirty="0"/>
        </a:p>
      </dgm:t>
    </dgm:pt>
    <dgm:pt modelId="{2F56BB86-74F7-4F59-A92B-1698457E79E8}" type="parTrans" cxnId="{E55B3D29-929C-4E77-BF3E-85FDB7FEA21C}">
      <dgm:prSet/>
      <dgm:spPr/>
      <dgm:t>
        <a:bodyPr/>
        <a:lstStyle/>
        <a:p>
          <a:pPr algn="l"/>
          <a:endParaRPr lang="zh-CN" altLang="en-US" sz="1600"/>
        </a:p>
      </dgm:t>
    </dgm:pt>
    <dgm:pt modelId="{3DAB2A60-3F2E-4034-81A2-3EB9E57EE331}" type="sibTrans" cxnId="{E55B3D29-929C-4E77-BF3E-85FDB7FEA21C}">
      <dgm:prSet/>
      <dgm:spPr/>
      <dgm:t>
        <a:bodyPr/>
        <a:lstStyle/>
        <a:p>
          <a:pPr algn="l"/>
          <a:endParaRPr lang="zh-CN" altLang="en-US" sz="1600"/>
        </a:p>
      </dgm:t>
    </dgm:pt>
    <dgm:pt modelId="{CA79CA1E-6203-4C5E-89B8-D5BC85C20887}">
      <dgm:prSet phldrT="[文本]" phldr="0" custT="1"/>
      <dgm:spPr/>
      <dgm:t>
        <a:bodyPr vert="horz" wrap="square"/>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1800" dirty="0" smtClean="0"/>
            <a:t>工作总结</a:t>
          </a:r>
          <a:r>
            <a:rPr lang="zh-CN" altLang="en-US" sz="1800" dirty="0"/>
            <a:t>与个人发展计划</a:t>
          </a:r>
          <a:endParaRPr sz="1800" dirty="0"/>
        </a:p>
      </dgm:t>
    </dgm:pt>
    <dgm:pt modelId="{2E0C74A6-90CB-4972-9BFC-F8A200BA693D}" type="parTrans" cxnId="{FDD4248E-A4F8-4914-9FC1-67F9FDF198CB}">
      <dgm:prSet/>
      <dgm:spPr/>
      <dgm:t>
        <a:bodyPr/>
        <a:lstStyle/>
        <a:p>
          <a:pPr algn="l"/>
          <a:endParaRPr lang="zh-CN" altLang="en-US" sz="1600"/>
        </a:p>
      </dgm:t>
    </dgm:pt>
    <dgm:pt modelId="{AD6EB47E-6070-4E3A-8230-56564994DA6C}" type="sibTrans" cxnId="{FDD4248E-A4F8-4914-9FC1-67F9FDF198CB}">
      <dgm:prSet/>
      <dgm:spPr/>
      <dgm:t>
        <a:bodyPr/>
        <a:lstStyle/>
        <a:p>
          <a:pPr algn="l"/>
          <a:endParaRPr lang="zh-CN" altLang="en-US" sz="1600"/>
        </a:p>
      </dgm:t>
    </dgm:pt>
    <dgm:pt modelId="{1F9E5051-CCF5-4A33-A6E9-64414976A650}" type="pres">
      <dgm:prSet presAssocID="{94704665-A736-4D9D-8335-F52D0001726A}" presName="linear" presStyleCnt="0">
        <dgm:presLayoutVars>
          <dgm:dir/>
          <dgm:animLvl val="lvl"/>
          <dgm:resizeHandles val="exact"/>
        </dgm:presLayoutVars>
      </dgm:prSet>
      <dgm:spPr/>
      <dgm:t>
        <a:bodyPr/>
        <a:lstStyle/>
        <a:p>
          <a:endParaRPr lang="zh-CN" altLang="en-US"/>
        </a:p>
      </dgm:t>
    </dgm:pt>
    <dgm:pt modelId="{20EA8654-DEE7-4CDF-ACEA-95FAEC5EB7B6}" type="pres">
      <dgm:prSet presAssocID="{E61598D1-5714-48B6-8D09-72944FE9F33B}" presName="parentLin" presStyleCnt="0"/>
      <dgm:spPr/>
    </dgm:pt>
    <dgm:pt modelId="{6FFBADE6-0AA7-4D85-B7A6-2AA7C805E598}" type="pres">
      <dgm:prSet presAssocID="{E61598D1-5714-48B6-8D09-72944FE9F33B}" presName="parentLeftMargin" presStyleLbl="node1" presStyleIdx="0" presStyleCnt="3"/>
      <dgm:spPr/>
      <dgm:t>
        <a:bodyPr/>
        <a:lstStyle/>
        <a:p>
          <a:endParaRPr lang="zh-CN" altLang="en-US"/>
        </a:p>
      </dgm:t>
    </dgm:pt>
    <dgm:pt modelId="{C709F359-301E-4C8A-A678-3A5064987B42}" type="pres">
      <dgm:prSet presAssocID="{E61598D1-5714-48B6-8D09-72944FE9F33B}" presName="parentText" presStyleLbl="node1" presStyleIdx="0" presStyleCnt="3">
        <dgm:presLayoutVars>
          <dgm:chMax val="0"/>
          <dgm:bulletEnabled val="1"/>
        </dgm:presLayoutVars>
      </dgm:prSet>
      <dgm:spPr/>
      <dgm:t>
        <a:bodyPr/>
        <a:lstStyle/>
        <a:p>
          <a:endParaRPr lang="zh-CN" altLang="en-US"/>
        </a:p>
      </dgm:t>
    </dgm:pt>
    <dgm:pt modelId="{EEB85027-A905-4D19-B3BE-E5E5FCA331DE}" type="pres">
      <dgm:prSet presAssocID="{E61598D1-5714-48B6-8D09-72944FE9F33B}" presName="negativeSpace" presStyleCnt="0"/>
      <dgm:spPr/>
    </dgm:pt>
    <dgm:pt modelId="{3159482F-45E3-424C-97E7-6642D85469CE}" type="pres">
      <dgm:prSet presAssocID="{E61598D1-5714-48B6-8D09-72944FE9F33B}" presName="childText" presStyleLbl="conFgAcc1" presStyleIdx="0" presStyleCnt="3">
        <dgm:presLayoutVars>
          <dgm:bulletEnabled val="1"/>
        </dgm:presLayoutVars>
      </dgm:prSet>
      <dgm:spPr/>
    </dgm:pt>
    <dgm:pt modelId="{8C07274C-1018-4D57-AA5C-718010CCE74F}" type="pres">
      <dgm:prSet presAssocID="{3A1DFD91-6042-4471-98C1-87903CF1668E}" presName="spaceBetweenRectangles" presStyleCnt="0"/>
      <dgm:spPr/>
    </dgm:pt>
    <dgm:pt modelId="{67A6475B-C843-4769-AFD7-BD620849CA3A}" type="pres">
      <dgm:prSet presAssocID="{3AC1DE5D-0C7B-4F77-A8E1-863ADFF7D298}" presName="parentLin" presStyleCnt="0"/>
      <dgm:spPr/>
    </dgm:pt>
    <dgm:pt modelId="{FD2A137D-8787-4399-83E3-F753DA75BC74}" type="pres">
      <dgm:prSet presAssocID="{3AC1DE5D-0C7B-4F77-A8E1-863ADFF7D298}" presName="parentLeftMargin" presStyleLbl="node1" presStyleIdx="0" presStyleCnt="3"/>
      <dgm:spPr/>
      <dgm:t>
        <a:bodyPr/>
        <a:lstStyle/>
        <a:p>
          <a:endParaRPr lang="zh-CN" altLang="en-US"/>
        </a:p>
      </dgm:t>
    </dgm:pt>
    <dgm:pt modelId="{4F479855-378F-4D03-960B-E6F8A5F36BE8}" type="pres">
      <dgm:prSet presAssocID="{3AC1DE5D-0C7B-4F77-A8E1-863ADFF7D298}" presName="parentText" presStyleLbl="node1" presStyleIdx="1" presStyleCnt="3">
        <dgm:presLayoutVars>
          <dgm:chMax val="0"/>
          <dgm:bulletEnabled val="1"/>
        </dgm:presLayoutVars>
      </dgm:prSet>
      <dgm:spPr/>
      <dgm:t>
        <a:bodyPr/>
        <a:lstStyle/>
        <a:p>
          <a:endParaRPr lang="zh-CN" altLang="en-US"/>
        </a:p>
      </dgm:t>
    </dgm:pt>
    <dgm:pt modelId="{4B2F4E33-FA0D-45C9-803C-2CC0271C8E37}" type="pres">
      <dgm:prSet presAssocID="{3AC1DE5D-0C7B-4F77-A8E1-863ADFF7D298}" presName="negativeSpace" presStyleCnt="0"/>
      <dgm:spPr/>
    </dgm:pt>
    <dgm:pt modelId="{1BB52BDE-442F-421C-B0F1-427936E17B4E}" type="pres">
      <dgm:prSet presAssocID="{3AC1DE5D-0C7B-4F77-A8E1-863ADFF7D298}" presName="childText" presStyleLbl="conFgAcc1" presStyleIdx="1" presStyleCnt="3">
        <dgm:presLayoutVars>
          <dgm:bulletEnabled val="1"/>
        </dgm:presLayoutVars>
      </dgm:prSet>
      <dgm:spPr/>
    </dgm:pt>
    <dgm:pt modelId="{4181A8A4-D221-487B-8F17-E170D730C7F3}" type="pres">
      <dgm:prSet presAssocID="{3DAB2A60-3F2E-4034-81A2-3EB9E57EE331}" presName="spaceBetweenRectangles" presStyleCnt="0"/>
      <dgm:spPr/>
    </dgm:pt>
    <dgm:pt modelId="{70E5C4EF-B51E-438D-A083-CA000233B185}" type="pres">
      <dgm:prSet presAssocID="{CA79CA1E-6203-4C5E-89B8-D5BC85C20887}" presName="parentLin" presStyleCnt="0"/>
      <dgm:spPr/>
    </dgm:pt>
    <dgm:pt modelId="{52AC27CC-DEA6-4698-924F-E39ED5060F9D}" type="pres">
      <dgm:prSet presAssocID="{CA79CA1E-6203-4C5E-89B8-D5BC85C20887}" presName="parentLeftMargin" presStyleLbl="node1" presStyleIdx="1" presStyleCnt="3"/>
      <dgm:spPr/>
      <dgm:t>
        <a:bodyPr/>
        <a:lstStyle/>
        <a:p>
          <a:endParaRPr lang="zh-CN" altLang="en-US"/>
        </a:p>
      </dgm:t>
    </dgm:pt>
    <dgm:pt modelId="{05B1D53B-862E-473A-8C4A-4F092E184EE5}" type="pres">
      <dgm:prSet presAssocID="{CA79CA1E-6203-4C5E-89B8-D5BC85C20887}" presName="parentText" presStyleLbl="node1" presStyleIdx="2" presStyleCnt="3">
        <dgm:presLayoutVars>
          <dgm:chMax val="0"/>
          <dgm:bulletEnabled val="1"/>
        </dgm:presLayoutVars>
      </dgm:prSet>
      <dgm:spPr/>
      <dgm:t>
        <a:bodyPr/>
        <a:lstStyle/>
        <a:p>
          <a:endParaRPr lang="zh-CN" altLang="en-US"/>
        </a:p>
      </dgm:t>
    </dgm:pt>
    <dgm:pt modelId="{37E37543-E3F7-4FB7-B815-978E6B45ADA8}" type="pres">
      <dgm:prSet presAssocID="{CA79CA1E-6203-4C5E-89B8-D5BC85C20887}" presName="negativeSpace" presStyleCnt="0"/>
      <dgm:spPr/>
    </dgm:pt>
    <dgm:pt modelId="{82C7D334-A469-4AAB-80F8-6B34A23098CC}" type="pres">
      <dgm:prSet presAssocID="{CA79CA1E-6203-4C5E-89B8-D5BC85C20887}" presName="childText" presStyleLbl="conFgAcc1" presStyleIdx="2" presStyleCnt="3">
        <dgm:presLayoutVars>
          <dgm:bulletEnabled val="1"/>
        </dgm:presLayoutVars>
      </dgm:prSet>
      <dgm:spPr/>
    </dgm:pt>
  </dgm:ptLst>
  <dgm:cxnLst>
    <dgm:cxn modelId="{2F2D337E-D5BE-46B7-809C-2956CB1FF9BC}" type="presOf" srcId="{CA79CA1E-6203-4C5E-89B8-D5BC85C20887}" destId="{52AC27CC-DEA6-4698-924F-E39ED5060F9D}" srcOrd="0" destOrd="0" presId="urn:microsoft.com/office/officeart/2005/8/layout/list1#1"/>
    <dgm:cxn modelId="{99C42502-0C96-4E87-939E-773241D1D822}" type="presOf" srcId="{E61598D1-5714-48B6-8D09-72944FE9F33B}" destId="{C709F359-301E-4C8A-A678-3A5064987B42}" srcOrd="1" destOrd="0" presId="urn:microsoft.com/office/officeart/2005/8/layout/list1#1"/>
    <dgm:cxn modelId="{0BD9185B-CCCD-4251-B3F3-1EFD81AD3711}" type="presOf" srcId="{3AC1DE5D-0C7B-4F77-A8E1-863ADFF7D298}" destId="{4F479855-378F-4D03-960B-E6F8A5F36BE8}" srcOrd="1" destOrd="0" presId="urn:microsoft.com/office/officeart/2005/8/layout/list1#1"/>
    <dgm:cxn modelId="{D7105DAC-7992-4F39-9A5C-991DA03AFC83}" type="presOf" srcId="{E61598D1-5714-48B6-8D09-72944FE9F33B}" destId="{6FFBADE6-0AA7-4D85-B7A6-2AA7C805E598}" srcOrd="0" destOrd="0" presId="urn:microsoft.com/office/officeart/2005/8/layout/list1#1"/>
    <dgm:cxn modelId="{87BAD9B3-7F0D-4D7D-A284-F9C646BA1652}" type="presOf" srcId="{94704665-A736-4D9D-8335-F52D0001726A}" destId="{1F9E5051-CCF5-4A33-A6E9-64414976A650}" srcOrd="0" destOrd="0" presId="urn:microsoft.com/office/officeart/2005/8/layout/list1#1"/>
    <dgm:cxn modelId="{FDD4248E-A4F8-4914-9FC1-67F9FDF198CB}" srcId="{94704665-A736-4D9D-8335-F52D0001726A}" destId="{CA79CA1E-6203-4C5E-89B8-D5BC85C20887}" srcOrd="2" destOrd="0" parTransId="{2E0C74A6-90CB-4972-9BFC-F8A200BA693D}" sibTransId="{AD6EB47E-6070-4E3A-8230-56564994DA6C}"/>
    <dgm:cxn modelId="{12CDDFDE-0DC9-454D-947E-579354A6853F}" type="presOf" srcId="{CA79CA1E-6203-4C5E-89B8-D5BC85C20887}" destId="{05B1D53B-862E-473A-8C4A-4F092E184EE5}" srcOrd="1" destOrd="0" presId="urn:microsoft.com/office/officeart/2005/8/layout/list1#1"/>
    <dgm:cxn modelId="{B99F2629-7A48-4225-A786-33DB37B34471}" srcId="{94704665-A736-4D9D-8335-F52D0001726A}" destId="{E61598D1-5714-48B6-8D09-72944FE9F33B}" srcOrd="0" destOrd="0" parTransId="{93B0F235-AD2E-4B57-AD3A-0FA3DCEEC602}" sibTransId="{3A1DFD91-6042-4471-98C1-87903CF1668E}"/>
    <dgm:cxn modelId="{A4E85EE0-E31B-414F-BF72-195AAB924613}" type="presOf" srcId="{3AC1DE5D-0C7B-4F77-A8E1-863ADFF7D298}" destId="{FD2A137D-8787-4399-83E3-F753DA75BC74}" srcOrd="0" destOrd="0" presId="urn:microsoft.com/office/officeart/2005/8/layout/list1#1"/>
    <dgm:cxn modelId="{E55B3D29-929C-4E77-BF3E-85FDB7FEA21C}" srcId="{94704665-A736-4D9D-8335-F52D0001726A}" destId="{3AC1DE5D-0C7B-4F77-A8E1-863ADFF7D298}" srcOrd="1" destOrd="0" parTransId="{2F56BB86-74F7-4F59-A92B-1698457E79E8}" sibTransId="{3DAB2A60-3F2E-4034-81A2-3EB9E57EE331}"/>
    <dgm:cxn modelId="{6ED7FC1A-A691-459F-A24F-9CA9E4B05282}" type="presParOf" srcId="{1F9E5051-CCF5-4A33-A6E9-64414976A650}" destId="{20EA8654-DEE7-4CDF-ACEA-95FAEC5EB7B6}" srcOrd="0" destOrd="0" presId="urn:microsoft.com/office/officeart/2005/8/layout/list1#1"/>
    <dgm:cxn modelId="{BBEA9F1A-6F56-4E17-B5B7-3252E43B11FE}" type="presParOf" srcId="{20EA8654-DEE7-4CDF-ACEA-95FAEC5EB7B6}" destId="{6FFBADE6-0AA7-4D85-B7A6-2AA7C805E598}" srcOrd="0" destOrd="0" presId="urn:microsoft.com/office/officeart/2005/8/layout/list1#1"/>
    <dgm:cxn modelId="{316FCDC8-9394-4998-BBED-4A252036AD6E}" type="presParOf" srcId="{20EA8654-DEE7-4CDF-ACEA-95FAEC5EB7B6}" destId="{C709F359-301E-4C8A-A678-3A5064987B42}" srcOrd="1" destOrd="0" presId="urn:microsoft.com/office/officeart/2005/8/layout/list1#1"/>
    <dgm:cxn modelId="{3370ADD6-A81E-4BF0-8C1B-8A83BD92EB46}" type="presParOf" srcId="{1F9E5051-CCF5-4A33-A6E9-64414976A650}" destId="{EEB85027-A905-4D19-B3BE-E5E5FCA331DE}" srcOrd="1" destOrd="0" presId="urn:microsoft.com/office/officeart/2005/8/layout/list1#1"/>
    <dgm:cxn modelId="{E92FB42B-0B79-4306-A096-5B049E11B50C}" type="presParOf" srcId="{1F9E5051-CCF5-4A33-A6E9-64414976A650}" destId="{3159482F-45E3-424C-97E7-6642D85469CE}" srcOrd="2" destOrd="0" presId="urn:microsoft.com/office/officeart/2005/8/layout/list1#1"/>
    <dgm:cxn modelId="{34E299DF-CEF7-4A1A-BDA6-B0E30DCE2A1A}" type="presParOf" srcId="{1F9E5051-CCF5-4A33-A6E9-64414976A650}" destId="{8C07274C-1018-4D57-AA5C-718010CCE74F}" srcOrd="3" destOrd="0" presId="urn:microsoft.com/office/officeart/2005/8/layout/list1#1"/>
    <dgm:cxn modelId="{B81D7DF5-9DFA-4A36-84AB-3D1FF7270639}" type="presParOf" srcId="{1F9E5051-CCF5-4A33-A6E9-64414976A650}" destId="{67A6475B-C843-4769-AFD7-BD620849CA3A}" srcOrd="4" destOrd="0" presId="urn:microsoft.com/office/officeart/2005/8/layout/list1#1"/>
    <dgm:cxn modelId="{F2387A21-4A05-4906-AAE9-1AC7BABE9868}" type="presParOf" srcId="{67A6475B-C843-4769-AFD7-BD620849CA3A}" destId="{FD2A137D-8787-4399-83E3-F753DA75BC74}" srcOrd="0" destOrd="0" presId="urn:microsoft.com/office/officeart/2005/8/layout/list1#1"/>
    <dgm:cxn modelId="{B334A592-406D-4ECA-8063-C89B5C8C251E}" type="presParOf" srcId="{67A6475B-C843-4769-AFD7-BD620849CA3A}" destId="{4F479855-378F-4D03-960B-E6F8A5F36BE8}" srcOrd="1" destOrd="0" presId="urn:microsoft.com/office/officeart/2005/8/layout/list1#1"/>
    <dgm:cxn modelId="{F0D96521-622C-47AB-AFF3-F4CF044924AD}" type="presParOf" srcId="{1F9E5051-CCF5-4A33-A6E9-64414976A650}" destId="{4B2F4E33-FA0D-45C9-803C-2CC0271C8E37}" srcOrd="5" destOrd="0" presId="urn:microsoft.com/office/officeart/2005/8/layout/list1#1"/>
    <dgm:cxn modelId="{9FE99DFF-C7AA-439C-A2F3-848CABCE81E4}" type="presParOf" srcId="{1F9E5051-CCF5-4A33-A6E9-64414976A650}" destId="{1BB52BDE-442F-421C-B0F1-427936E17B4E}" srcOrd="6" destOrd="0" presId="urn:microsoft.com/office/officeart/2005/8/layout/list1#1"/>
    <dgm:cxn modelId="{E12DF517-652A-4AA2-B663-56D38FA74225}" type="presParOf" srcId="{1F9E5051-CCF5-4A33-A6E9-64414976A650}" destId="{4181A8A4-D221-487B-8F17-E170D730C7F3}" srcOrd="7" destOrd="0" presId="urn:microsoft.com/office/officeart/2005/8/layout/list1#1"/>
    <dgm:cxn modelId="{BA0DDDD6-73C7-4C1F-A400-AD4A0DB702C6}" type="presParOf" srcId="{1F9E5051-CCF5-4A33-A6E9-64414976A650}" destId="{70E5C4EF-B51E-438D-A083-CA000233B185}" srcOrd="8" destOrd="0" presId="urn:microsoft.com/office/officeart/2005/8/layout/list1#1"/>
    <dgm:cxn modelId="{30962298-70D2-41E2-9B8A-0167E4BE607B}" type="presParOf" srcId="{70E5C4EF-B51E-438D-A083-CA000233B185}" destId="{52AC27CC-DEA6-4698-924F-E39ED5060F9D}" srcOrd="0" destOrd="0" presId="urn:microsoft.com/office/officeart/2005/8/layout/list1#1"/>
    <dgm:cxn modelId="{1A222B7D-B67A-4C3E-9C87-1250A5253EEC}" type="presParOf" srcId="{70E5C4EF-B51E-438D-A083-CA000233B185}" destId="{05B1D53B-862E-473A-8C4A-4F092E184EE5}" srcOrd="1" destOrd="0" presId="urn:microsoft.com/office/officeart/2005/8/layout/list1#1"/>
    <dgm:cxn modelId="{A75229C9-FBEC-49DA-A484-073E7FBAC728}" type="presParOf" srcId="{1F9E5051-CCF5-4A33-A6E9-64414976A650}" destId="{37E37543-E3F7-4FB7-B815-978E6B45ADA8}" srcOrd="9" destOrd="0" presId="urn:microsoft.com/office/officeart/2005/8/layout/list1#1"/>
    <dgm:cxn modelId="{B59D8263-4887-4D67-BE6C-CED54CDA2385}" type="presParOf" srcId="{1F9E5051-CCF5-4A33-A6E9-64414976A650}" destId="{82C7D334-A469-4AAB-80F8-6B34A23098CC}" srcOrd="10" destOrd="0" presId="urn:microsoft.com/office/officeart/2005/8/layout/list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4704665-A736-4D9D-8335-F52D0001726A}" type="doc">
      <dgm:prSet loTypeId="urn:microsoft.com/office/officeart/2005/8/layout/list1#1" loCatId="list" qsTypeId="urn:microsoft.com/office/officeart/2005/8/quickstyle/simple1#1" qsCatId="simple" csTypeId="urn:microsoft.com/office/officeart/2005/8/colors/colorful3#1" csCatId="colorful" phldr="1"/>
      <dgm:spPr/>
      <dgm:t>
        <a:bodyPr/>
        <a:lstStyle/>
        <a:p>
          <a:endParaRPr lang="zh-CN" altLang="en-US"/>
        </a:p>
      </dgm:t>
    </dgm:pt>
    <dgm:pt modelId="{E61598D1-5714-48B6-8D09-72944FE9F33B}">
      <dgm:prSet phldrT="[文本]" custT="1"/>
      <dgm:spPr>
        <a:solidFill>
          <a:srgbClr val="C00000"/>
        </a:solidFill>
      </dgm:spPr>
      <dgm:t>
        <a:bodyPr/>
        <a:lstStyle/>
        <a:p>
          <a:pPr algn="l"/>
          <a:r>
            <a:rPr lang="en-US" sz="2000" b="1" dirty="0" err="1" smtClean="0"/>
            <a:t>M</a:t>
          </a:r>
          <a:r>
            <a:rPr lang="en-US" altLang="zh-CN" sz="2000" b="1" dirty="0" err="1" smtClean="0"/>
            <a:t>lu</a:t>
          </a:r>
          <a:r>
            <a:rPr lang="zh-CN" altLang="en-US" sz="2000" b="1" dirty="0" smtClean="0"/>
            <a:t>平台算子</a:t>
          </a:r>
          <a:r>
            <a:rPr lang="zh-CN" altLang="en-US" sz="2000" b="1" dirty="0" smtClean="0"/>
            <a:t>优化与</a:t>
          </a:r>
          <a:r>
            <a:rPr lang="en-US" altLang="en-US" sz="2000" b="1" dirty="0" err="1" smtClean="0"/>
            <a:t>vllm</a:t>
          </a:r>
          <a:r>
            <a:rPr lang="zh-CN" altLang="en-US" sz="2000" b="1" dirty="0" smtClean="0"/>
            <a:t>优化</a:t>
          </a:r>
          <a:endParaRPr lang="zh-CN" altLang="en-US" sz="2000" b="1" dirty="0"/>
        </a:p>
      </dgm:t>
    </dgm:pt>
    <dgm:pt modelId="{93B0F235-AD2E-4B57-AD3A-0FA3DCEEC602}" type="parTrans" cxnId="{B99F2629-7A48-4225-A786-33DB37B34471}">
      <dgm:prSet/>
      <dgm:spPr/>
      <dgm:t>
        <a:bodyPr/>
        <a:lstStyle/>
        <a:p>
          <a:pPr algn="l"/>
          <a:endParaRPr lang="zh-CN" altLang="en-US" sz="1600"/>
        </a:p>
      </dgm:t>
    </dgm:pt>
    <dgm:pt modelId="{3A1DFD91-6042-4471-98C1-87903CF1668E}" type="sibTrans" cxnId="{B99F2629-7A48-4225-A786-33DB37B34471}">
      <dgm:prSet/>
      <dgm:spPr/>
      <dgm:t>
        <a:bodyPr/>
        <a:lstStyle/>
        <a:p>
          <a:pPr algn="l"/>
          <a:endParaRPr lang="zh-CN" altLang="en-US" sz="1600"/>
        </a:p>
      </dgm:t>
    </dgm:pt>
    <dgm:pt modelId="{3AC1DE5D-0C7B-4F77-A8E1-863ADFF7D298}">
      <dgm:prSet phldrT="[文本]" phldr="0" custT="1"/>
      <dgm:spPr/>
      <dgm:t>
        <a:bodyPr vert="horz" wrap="square"/>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smtClean="0"/>
            <a:t>寒武纪算子开发</a:t>
          </a:r>
          <a:r>
            <a:rPr lang="en-US" altLang="en-US" sz="2000" b="1" dirty="0" smtClean="0"/>
            <a:t>SKILL</a:t>
          </a:r>
          <a:r>
            <a:rPr lang="zh-CN" altLang="en-US" sz="2000" b="1" dirty="0" smtClean="0"/>
            <a:t>优化</a:t>
          </a:r>
          <a:endParaRPr sz="1800" dirty="0"/>
        </a:p>
      </dgm:t>
    </dgm:pt>
    <dgm:pt modelId="{2F56BB86-74F7-4F59-A92B-1698457E79E8}" type="parTrans" cxnId="{E55B3D29-929C-4E77-BF3E-85FDB7FEA21C}">
      <dgm:prSet/>
      <dgm:spPr/>
      <dgm:t>
        <a:bodyPr/>
        <a:lstStyle/>
        <a:p>
          <a:pPr algn="l"/>
          <a:endParaRPr lang="zh-CN" altLang="en-US" sz="1600"/>
        </a:p>
      </dgm:t>
    </dgm:pt>
    <dgm:pt modelId="{3DAB2A60-3F2E-4034-81A2-3EB9E57EE331}" type="sibTrans" cxnId="{E55B3D29-929C-4E77-BF3E-85FDB7FEA21C}">
      <dgm:prSet/>
      <dgm:spPr/>
      <dgm:t>
        <a:bodyPr/>
        <a:lstStyle/>
        <a:p>
          <a:pPr algn="l"/>
          <a:endParaRPr lang="zh-CN" altLang="en-US" sz="1600"/>
        </a:p>
      </dgm:t>
    </dgm:pt>
    <dgm:pt modelId="{CA79CA1E-6203-4C5E-89B8-D5BC85C20887}">
      <dgm:prSet phldrT="[文本]" phldr="0" custT="1"/>
      <dgm:spPr/>
      <dgm:t>
        <a:bodyPr/>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smtClean="0"/>
            <a:t>算子开发 </a:t>
          </a:r>
          <a:r>
            <a:rPr lang="en-US" altLang="zh-CN" sz="2000" b="1" dirty="0" smtClean="0"/>
            <a:t>Skill </a:t>
          </a:r>
          <a:r>
            <a:rPr lang="zh-CN" altLang="en-US" sz="2000" b="1" dirty="0" smtClean="0"/>
            <a:t>的开发指南</a:t>
          </a:r>
          <a:endParaRPr sz="2000" b="1" dirty="0"/>
        </a:p>
      </dgm:t>
    </dgm:pt>
    <dgm:pt modelId="{2E0C74A6-90CB-4972-9BFC-F8A200BA693D}" type="parTrans" cxnId="{FDD4248E-A4F8-4914-9FC1-67F9FDF198CB}">
      <dgm:prSet/>
      <dgm:spPr/>
      <dgm:t>
        <a:bodyPr/>
        <a:lstStyle/>
        <a:p>
          <a:pPr algn="l"/>
          <a:endParaRPr lang="zh-CN" altLang="en-US" sz="1600"/>
        </a:p>
      </dgm:t>
    </dgm:pt>
    <dgm:pt modelId="{AD6EB47E-6070-4E3A-8230-56564994DA6C}" type="sibTrans" cxnId="{FDD4248E-A4F8-4914-9FC1-67F9FDF198CB}">
      <dgm:prSet/>
      <dgm:spPr/>
      <dgm:t>
        <a:bodyPr/>
        <a:lstStyle/>
        <a:p>
          <a:pPr algn="l"/>
          <a:endParaRPr lang="zh-CN" altLang="en-US" sz="1600"/>
        </a:p>
      </dgm:t>
    </dgm:pt>
    <dgm:pt modelId="{1F9E5051-CCF5-4A33-A6E9-64414976A650}" type="pres">
      <dgm:prSet presAssocID="{94704665-A736-4D9D-8335-F52D0001726A}" presName="linear" presStyleCnt="0">
        <dgm:presLayoutVars>
          <dgm:dir/>
          <dgm:animLvl val="lvl"/>
          <dgm:resizeHandles val="exact"/>
        </dgm:presLayoutVars>
      </dgm:prSet>
      <dgm:spPr/>
      <dgm:t>
        <a:bodyPr/>
        <a:lstStyle/>
        <a:p>
          <a:endParaRPr lang="zh-CN" altLang="en-US"/>
        </a:p>
      </dgm:t>
    </dgm:pt>
    <dgm:pt modelId="{20EA8654-DEE7-4CDF-ACEA-95FAEC5EB7B6}" type="pres">
      <dgm:prSet presAssocID="{E61598D1-5714-48B6-8D09-72944FE9F33B}" presName="parentLin" presStyleCnt="0"/>
      <dgm:spPr/>
    </dgm:pt>
    <dgm:pt modelId="{6FFBADE6-0AA7-4D85-B7A6-2AA7C805E598}" type="pres">
      <dgm:prSet presAssocID="{E61598D1-5714-48B6-8D09-72944FE9F33B}" presName="parentLeftMargin" presStyleLbl="node1" presStyleIdx="0" presStyleCnt="3"/>
      <dgm:spPr/>
      <dgm:t>
        <a:bodyPr/>
        <a:lstStyle/>
        <a:p>
          <a:endParaRPr lang="zh-CN" altLang="en-US"/>
        </a:p>
      </dgm:t>
    </dgm:pt>
    <dgm:pt modelId="{C709F359-301E-4C8A-A678-3A5064987B42}" type="pres">
      <dgm:prSet presAssocID="{E61598D1-5714-48B6-8D09-72944FE9F33B}" presName="parentText" presStyleLbl="node1" presStyleIdx="0" presStyleCnt="3">
        <dgm:presLayoutVars>
          <dgm:chMax val="0"/>
          <dgm:bulletEnabled val="1"/>
        </dgm:presLayoutVars>
      </dgm:prSet>
      <dgm:spPr/>
      <dgm:t>
        <a:bodyPr/>
        <a:lstStyle/>
        <a:p>
          <a:endParaRPr lang="zh-CN" altLang="en-US"/>
        </a:p>
      </dgm:t>
    </dgm:pt>
    <dgm:pt modelId="{EEB85027-A905-4D19-B3BE-E5E5FCA331DE}" type="pres">
      <dgm:prSet presAssocID="{E61598D1-5714-48B6-8D09-72944FE9F33B}" presName="negativeSpace" presStyleCnt="0"/>
      <dgm:spPr/>
    </dgm:pt>
    <dgm:pt modelId="{3159482F-45E3-424C-97E7-6642D85469CE}" type="pres">
      <dgm:prSet presAssocID="{E61598D1-5714-48B6-8D09-72944FE9F33B}" presName="childText" presStyleLbl="conFgAcc1" presStyleIdx="0" presStyleCnt="3">
        <dgm:presLayoutVars>
          <dgm:bulletEnabled val="1"/>
        </dgm:presLayoutVars>
      </dgm:prSet>
      <dgm:spPr/>
    </dgm:pt>
    <dgm:pt modelId="{8C07274C-1018-4D57-AA5C-718010CCE74F}" type="pres">
      <dgm:prSet presAssocID="{3A1DFD91-6042-4471-98C1-87903CF1668E}" presName="spaceBetweenRectangles" presStyleCnt="0"/>
      <dgm:spPr/>
    </dgm:pt>
    <dgm:pt modelId="{67A6475B-C843-4769-AFD7-BD620849CA3A}" type="pres">
      <dgm:prSet presAssocID="{3AC1DE5D-0C7B-4F77-A8E1-863ADFF7D298}" presName="parentLin" presStyleCnt="0"/>
      <dgm:spPr/>
    </dgm:pt>
    <dgm:pt modelId="{FD2A137D-8787-4399-83E3-F753DA75BC74}" type="pres">
      <dgm:prSet presAssocID="{3AC1DE5D-0C7B-4F77-A8E1-863ADFF7D298}" presName="parentLeftMargin" presStyleLbl="node1" presStyleIdx="0" presStyleCnt="3"/>
      <dgm:spPr/>
      <dgm:t>
        <a:bodyPr/>
        <a:lstStyle/>
        <a:p>
          <a:endParaRPr lang="zh-CN" altLang="en-US"/>
        </a:p>
      </dgm:t>
    </dgm:pt>
    <dgm:pt modelId="{4F479855-378F-4D03-960B-E6F8A5F36BE8}" type="pres">
      <dgm:prSet presAssocID="{3AC1DE5D-0C7B-4F77-A8E1-863ADFF7D298}" presName="parentText" presStyleLbl="node1" presStyleIdx="1" presStyleCnt="3">
        <dgm:presLayoutVars>
          <dgm:chMax val="0"/>
          <dgm:bulletEnabled val="1"/>
        </dgm:presLayoutVars>
      </dgm:prSet>
      <dgm:spPr/>
      <dgm:t>
        <a:bodyPr/>
        <a:lstStyle/>
        <a:p>
          <a:endParaRPr lang="zh-CN" altLang="en-US"/>
        </a:p>
      </dgm:t>
    </dgm:pt>
    <dgm:pt modelId="{4B2F4E33-FA0D-45C9-803C-2CC0271C8E37}" type="pres">
      <dgm:prSet presAssocID="{3AC1DE5D-0C7B-4F77-A8E1-863ADFF7D298}" presName="negativeSpace" presStyleCnt="0"/>
      <dgm:spPr/>
    </dgm:pt>
    <dgm:pt modelId="{1BB52BDE-442F-421C-B0F1-427936E17B4E}" type="pres">
      <dgm:prSet presAssocID="{3AC1DE5D-0C7B-4F77-A8E1-863ADFF7D298}" presName="childText" presStyleLbl="conFgAcc1" presStyleIdx="1" presStyleCnt="3">
        <dgm:presLayoutVars>
          <dgm:bulletEnabled val="1"/>
        </dgm:presLayoutVars>
      </dgm:prSet>
      <dgm:spPr/>
    </dgm:pt>
    <dgm:pt modelId="{4181A8A4-D221-487B-8F17-E170D730C7F3}" type="pres">
      <dgm:prSet presAssocID="{3DAB2A60-3F2E-4034-81A2-3EB9E57EE331}" presName="spaceBetweenRectangles" presStyleCnt="0"/>
      <dgm:spPr/>
    </dgm:pt>
    <dgm:pt modelId="{70E5C4EF-B51E-438D-A083-CA000233B185}" type="pres">
      <dgm:prSet presAssocID="{CA79CA1E-6203-4C5E-89B8-D5BC85C20887}" presName="parentLin" presStyleCnt="0"/>
      <dgm:spPr/>
    </dgm:pt>
    <dgm:pt modelId="{52AC27CC-DEA6-4698-924F-E39ED5060F9D}" type="pres">
      <dgm:prSet presAssocID="{CA79CA1E-6203-4C5E-89B8-D5BC85C20887}" presName="parentLeftMargin" presStyleLbl="node1" presStyleIdx="1" presStyleCnt="3"/>
      <dgm:spPr/>
      <dgm:t>
        <a:bodyPr/>
        <a:lstStyle/>
        <a:p>
          <a:endParaRPr lang="zh-CN" altLang="en-US"/>
        </a:p>
      </dgm:t>
    </dgm:pt>
    <dgm:pt modelId="{05B1D53B-862E-473A-8C4A-4F092E184EE5}" type="pres">
      <dgm:prSet presAssocID="{CA79CA1E-6203-4C5E-89B8-D5BC85C20887}" presName="parentText" presStyleLbl="node1" presStyleIdx="2" presStyleCnt="3">
        <dgm:presLayoutVars>
          <dgm:chMax val="0"/>
          <dgm:bulletEnabled val="1"/>
        </dgm:presLayoutVars>
      </dgm:prSet>
      <dgm:spPr/>
      <dgm:t>
        <a:bodyPr/>
        <a:lstStyle/>
        <a:p>
          <a:endParaRPr lang="zh-CN" altLang="en-US"/>
        </a:p>
      </dgm:t>
    </dgm:pt>
    <dgm:pt modelId="{37E37543-E3F7-4FB7-B815-978E6B45ADA8}" type="pres">
      <dgm:prSet presAssocID="{CA79CA1E-6203-4C5E-89B8-D5BC85C20887}" presName="negativeSpace" presStyleCnt="0"/>
      <dgm:spPr/>
    </dgm:pt>
    <dgm:pt modelId="{82C7D334-A469-4AAB-80F8-6B34A23098CC}" type="pres">
      <dgm:prSet presAssocID="{CA79CA1E-6203-4C5E-89B8-D5BC85C20887}" presName="childText" presStyleLbl="conFgAcc1" presStyleIdx="2" presStyleCnt="3">
        <dgm:presLayoutVars>
          <dgm:bulletEnabled val="1"/>
        </dgm:presLayoutVars>
      </dgm:prSet>
      <dgm:spPr/>
    </dgm:pt>
  </dgm:ptLst>
  <dgm:cxnLst>
    <dgm:cxn modelId="{2F2D337E-D5BE-46B7-809C-2956CB1FF9BC}" type="presOf" srcId="{CA79CA1E-6203-4C5E-89B8-D5BC85C20887}" destId="{52AC27CC-DEA6-4698-924F-E39ED5060F9D}" srcOrd="0" destOrd="0" presId="urn:microsoft.com/office/officeart/2005/8/layout/list1#1"/>
    <dgm:cxn modelId="{99C42502-0C96-4E87-939E-773241D1D822}" type="presOf" srcId="{E61598D1-5714-48B6-8D09-72944FE9F33B}" destId="{C709F359-301E-4C8A-A678-3A5064987B42}" srcOrd="1" destOrd="0" presId="urn:microsoft.com/office/officeart/2005/8/layout/list1#1"/>
    <dgm:cxn modelId="{0BD9185B-CCCD-4251-B3F3-1EFD81AD3711}" type="presOf" srcId="{3AC1DE5D-0C7B-4F77-A8E1-863ADFF7D298}" destId="{4F479855-378F-4D03-960B-E6F8A5F36BE8}" srcOrd="1" destOrd="0" presId="urn:microsoft.com/office/officeart/2005/8/layout/list1#1"/>
    <dgm:cxn modelId="{D7105DAC-7992-4F39-9A5C-991DA03AFC83}" type="presOf" srcId="{E61598D1-5714-48B6-8D09-72944FE9F33B}" destId="{6FFBADE6-0AA7-4D85-B7A6-2AA7C805E598}" srcOrd="0" destOrd="0" presId="urn:microsoft.com/office/officeart/2005/8/layout/list1#1"/>
    <dgm:cxn modelId="{87BAD9B3-7F0D-4D7D-A284-F9C646BA1652}" type="presOf" srcId="{94704665-A736-4D9D-8335-F52D0001726A}" destId="{1F9E5051-CCF5-4A33-A6E9-64414976A650}" srcOrd="0" destOrd="0" presId="urn:microsoft.com/office/officeart/2005/8/layout/list1#1"/>
    <dgm:cxn modelId="{FDD4248E-A4F8-4914-9FC1-67F9FDF198CB}" srcId="{94704665-A736-4D9D-8335-F52D0001726A}" destId="{CA79CA1E-6203-4C5E-89B8-D5BC85C20887}" srcOrd="2" destOrd="0" parTransId="{2E0C74A6-90CB-4972-9BFC-F8A200BA693D}" sibTransId="{AD6EB47E-6070-4E3A-8230-56564994DA6C}"/>
    <dgm:cxn modelId="{12CDDFDE-0DC9-454D-947E-579354A6853F}" type="presOf" srcId="{CA79CA1E-6203-4C5E-89B8-D5BC85C20887}" destId="{05B1D53B-862E-473A-8C4A-4F092E184EE5}" srcOrd="1" destOrd="0" presId="urn:microsoft.com/office/officeart/2005/8/layout/list1#1"/>
    <dgm:cxn modelId="{B99F2629-7A48-4225-A786-33DB37B34471}" srcId="{94704665-A736-4D9D-8335-F52D0001726A}" destId="{E61598D1-5714-48B6-8D09-72944FE9F33B}" srcOrd="0" destOrd="0" parTransId="{93B0F235-AD2E-4B57-AD3A-0FA3DCEEC602}" sibTransId="{3A1DFD91-6042-4471-98C1-87903CF1668E}"/>
    <dgm:cxn modelId="{A4E85EE0-E31B-414F-BF72-195AAB924613}" type="presOf" srcId="{3AC1DE5D-0C7B-4F77-A8E1-863ADFF7D298}" destId="{FD2A137D-8787-4399-83E3-F753DA75BC74}" srcOrd="0" destOrd="0" presId="urn:microsoft.com/office/officeart/2005/8/layout/list1#1"/>
    <dgm:cxn modelId="{E55B3D29-929C-4E77-BF3E-85FDB7FEA21C}" srcId="{94704665-A736-4D9D-8335-F52D0001726A}" destId="{3AC1DE5D-0C7B-4F77-A8E1-863ADFF7D298}" srcOrd="1" destOrd="0" parTransId="{2F56BB86-74F7-4F59-A92B-1698457E79E8}" sibTransId="{3DAB2A60-3F2E-4034-81A2-3EB9E57EE331}"/>
    <dgm:cxn modelId="{6ED7FC1A-A691-459F-A24F-9CA9E4B05282}" type="presParOf" srcId="{1F9E5051-CCF5-4A33-A6E9-64414976A650}" destId="{20EA8654-DEE7-4CDF-ACEA-95FAEC5EB7B6}" srcOrd="0" destOrd="0" presId="urn:microsoft.com/office/officeart/2005/8/layout/list1#1"/>
    <dgm:cxn modelId="{BBEA9F1A-6F56-4E17-B5B7-3252E43B11FE}" type="presParOf" srcId="{20EA8654-DEE7-4CDF-ACEA-95FAEC5EB7B6}" destId="{6FFBADE6-0AA7-4D85-B7A6-2AA7C805E598}" srcOrd="0" destOrd="0" presId="urn:microsoft.com/office/officeart/2005/8/layout/list1#1"/>
    <dgm:cxn modelId="{316FCDC8-9394-4998-BBED-4A252036AD6E}" type="presParOf" srcId="{20EA8654-DEE7-4CDF-ACEA-95FAEC5EB7B6}" destId="{C709F359-301E-4C8A-A678-3A5064987B42}" srcOrd="1" destOrd="0" presId="urn:microsoft.com/office/officeart/2005/8/layout/list1#1"/>
    <dgm:cxn modelId="{3370ADD6-A81E-4BF0-8C1B-8A83BD92EB46}" type="presParOf" srcId="{1F9E5051-CCF5-4A33-A6E9-64414976A650}" destId="{EEB85027-A905-4D19-B3BE-E5E5FCA331DE}" srcOrd="1" destOrd="0" presId="urn:microsoft.com/office/officeart/2005/8/layout/list1#1"/>
    <dgm:cxn modelId="{E92FB42B-0B79-4306-A096-5B049E11B50C}" type="presParOf" srcId="{1F9E5051-CCF5-4A33-A6E9-64414976A650}" destId="{3159482F-45E3-424C-97E7-6642D85469CE}" srcOrd="2" destOrd="0" presId="urn:microsoft.com/office/officeart/2005/8/layout/list1#1"/>
    <dgm:cxn modelId="{34E299DF-CEF7-4A1A-BDA6-B0E30DCE2A1A}" type="presParOf" srcId="{1F9E5051-CCF5-4A33-A6E9-64414976A650}" destId="{8C07274C-1018-4D57-AA5C-718010CCE74F}" srcOrd="3" destOrd="0" presId="urn:microsoft.com/office/officeart/2005/8/layout/list1#1"/>
    <dgm:cxn modelId="{B81D7DF5-9DFA-4A36-84AB-3D1FF7270639}" type="presParOf" srcId="{1F9E5051-CCF5-4A33-A6E9-64414976A650}" destId="{67A6475B-C843-4769-AFD7-BD620849CA3A}" srcOrd="4" destOrd="0" presId="urn:microsoft.com/office/officeart/2005/8/layout/list1#1"/>
    <dgm:cxn modelId="{F2387A21-4A05-4906-AAE9-1AC7BABE9868}" type="presParOf" srcId="{67A6475B-C843-4769-AFD7-BD620849CA3A}" destId="{FD2A137D-8787-4399-83E3-F753DA75BC74}" srcOrd="0" destOrd="0" presId="urn:microsoft.com/office/officeart/2005/8/layout/list1#1"/>
    <dgm:cxn modelId="{B334A592-406D-4ECA-8063-C89B5C8C251E}" type="presParOf" srcId="{67A6475B-C843-4769-AFD7-BD620849CA3A}" destId="{4F479855-378F-4D03-960B-E6F8A5F36BE8}" srcOrd="1" destOrd="0" presId="urn:microsoft.com/office/officeart/2005/8/layout/list1#1"/>
    <dgm:cxn modelId="{F0D96521-622C-47AB-AFF3-F4CF044924AD}" type="presParOf" srcId="{1F9E5051-CCF5-4A33-A6E9-64414976A650}" destId="{4B2F4E33-FA0D-45C9-803C-2CC0271C8E37}" srcOrd="5" destOrd="0" presId="urn:microsoft.com/office/officeart/2005/8/layout/list1#1"/>
    <dgm:cxn modelId="{9FE99DFF-C7AA-439C-A2F3-848CABCE81E4}" type="presParOf" srcId="{1F9E5051-CCF5-4A33-A6E9-64414976A650}" destId="{1BB52BDE-442F-421C-B0F1-427936E17B4E}" srcOrd="6" destOrd="0" presId="urn:microsoft.com/office/officeart/2005/8/layout/list1#1"/>
    <dgm:cxn modelId="{E12DF517-652A-4AA2-B663-56D38FA74225}" type="presParOf" srcId="{1F9E5051-CCF5-4A33-A6E9-64414976A650}" destId="{4181A8A4-D221-487B-8F17-E170D730C7F3}" srcOrd="7" destOrd="0" presId="urn:microsoft.com/office/officeart/2005/8/layout/list1#1"/>
    <dgm:cxn modelId="{BA0DDDD6-73C7-4C1F-A400-AD4A0DB702C6}" type="presParOf" srcId="{1F9E5051-CCF5-4A33-A6E9-64414976A650}" destId="{70E5C4EF-B51E-438D-A083-CA000233B185}" srcOrd="8" destOrd="0" presId="urn:microsoft.com/office/officeart/2005/8/layout/list1#1"/>
    <dgm:cxn modelId="{30962298-70D2-41E2-9B8A-0167E4BE607B}" type="presParOf" srcId="{70E5C4EF-B51E-438D-A083-CA000233B185}" destId="{52AC27CC-DEA6-4698-924F-E39ED5060F9D}" srcOrd="0" destOrd="0" presId="urn:microsoft.com/office/officeart/2005/8/layout/list1#1"/>
    <dgm:cxn modelId="{1A222B7D-B67A-4C3E-9C87-1250A5253EEC}" type="presParOf" srcId="{70E5C4EF-B51E-438D-A083-CA000233B185}" destId="{05B1D53B-862E-473A-8C4A-4F092E184EE5}" srcOrd="1" destOrd="0" presId="urn:microsoft.com/office/officeart/2005/8/layout/list1#1"/>
    <dgm:cxn modelId="{A75229C9-FBEC-49DA-A484-073E7FBAC728}" type="presParOf" srcId="{1F9E5051-CCF5-4A33-A6E9-64414976A650}" destId="{37E37543-E3F7-4FB7-B815-978E6B45ADA8}" srcOrd="9" destOrd="0" presId="urn:microsoft.com/office/officeart/2005/8/layout/list1#1"/>
    <dgm:cxn modelId="{B59D8263-4887-4D67-BE6C-CED54CDA2385}" type="presParOf" srcId="{1F9E5051-CCF5-4A33-A6E9-64414976A650}" destId="{82C7D334-A469-4AAB-80F8-6B34A23098CC}" srcOrd="10" destOrd="0" presId="urn:microsoft.com/office/officeart/2005/8/layout/list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4704665-A736-4D9D-8335-F52D0001726A}" type="doc">
      <dgm:prSet loTypeId="urn:microsoft.com/office/officeart/2005/8/layout/list1#1" loCatId="list" qsTypeId="urn:microsoft.com/office/officeart/2005/8/quickstyle/simple1#1" qsCatId="simple" csTypeId="urn:microsoft.com/office/officeart/2005/8/colors/colorful3#1" csCatId="colorful" phldr="1"/>
      <dgm:spPr/>
      <dgm:t>
        <a:bodyPr/>
        <a:lstStyle/>
        <a:p>
          <a:endParaRPr lang="zh-CN" altLang="en-US"/>
        </a:p>
      </dgm:t>
    </dgm:pt>
    <dgm:pt modelId="{E61598D1-5714-48B6-8D09-72944FE9F33B}">
      <dgm:prSet phldrT="[文本]" custT="1"/>
      <dgm:spPr>
        <a:solidFill>
          <a:srgbClr val="C00000"/>
        </a:solidFill>
      </dgm:spPr>
      <dgm:t>
        <a:bodyPr/>
        <a:lstStyle/>
        <a:p>
          <a:pPr algn="l"/>
          <a:r>
            <a:rPr lang="en-US" sz="2000" b="1" dirty="0" err="1" smtClean="0"/>
            <a:t>M</a:t>
          </a:r>
          <a:r>
            <a:rPr lang="en-US" altLang="zh-CN" sz="2000" b="1" dirty="0" err="1" smtClean="0"/>
            <a:t>lu</a:t>
          </a:r>
          <a:r>
            <a:rPr lang="zh-CN" altLang="en-US" sz="2000" b="1" dirty="0" smtClean="0"/>
            <a:t>平台算子优化</a:t>
          </a:r>
          <a:endParaRPr lang="zh-CN" altLang="en-US" sz="2000" b="1" dirty="0"/>
        </a:p>
      </dgm:t>
    </dgm:pt>
    <dgm:pt modelId="{93B0F235-AD2E-4B57-AD3A-0FA3DCEEC602}" type="parTrans" cxnId="{B99F2629-7A48-4225-A786-33DB37B34471}">
      <dgm:prSet/>
      <dgm:spPr/>
      <dgm:t>
        <a:bodyPr/>
        <a:lstStyle/>
        <a:p>
          <a:pPr algn="l"/>
          <a:endParaRPr lang="zh-CN" altLang="en-US" sz="1600"/>
        </a:p>
      </dgm:t>
    </dgm:pt>
    <dgm:pt modelId="{3A1DFD91-6042-4471-98C1-87903CF1668E}" type="sibTrans" cxnId="{B99F2629-7A48-4225-A786-33DB37B34471}">
      <dgm:prSet/>
      <dgm:spPr/>
      <dgm:t>
        <a:bodyPr/>
        <a:lstStyle/>
        <a:p>
          <a:pPr algn="l"/>
          <a:endParaRPr lang="zh-CN" altLang="en-US" sz="1600"/>
        </a:p>
      </dgm:t>
    </dgm:pt>
    <dgm:pt modelId="{3AC1DE5D-0C7B-4F77-A8E1-863ADFF7D298}">
      <dgm:prSet phldrT="[文本]" phldr="0" custT="1"/>
      <dgm:spPr/>
      <dgm:t>
        <a:bodyPr vert="horz" wrap="square"/>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smtClean="0"/>
            <a:t>寒武纪算子开发</a:t>
          </a:r>
          <a:r>
            <a:rPr lang="en-US" altLang="en-US" sz="2000" b="1" dirty="0" smtClean="0"/>
            <a:t>SKILL</a:t>
          </a:r>
          <a:r>
            <a:rPr lang="zh-CN" altLang="en-US" sz="2000" b="1" dirty="0" smtClean="0"/>
            <a:t>优化</a:t>
          </a:r>
          <a:endParaRPr sz="1800" dirty="0"/>
        </a:p>
      </dgm:t>
    </dgm:pt>
    <dgm:pt modelId="{2F56BB86-74F7-4F59-A92B-1698457E79E8}" type="parTrans" cxnId="{E55B3D29-929C-4E77-BF3E-85FDB7FEA21C}">
      <dgm:prSet/>
      <dgm:spPr/>
      <dgm:t>
        <a:bodyPr/>
        <a:lstStyle/>
        <a:p>
          <a:pPr algn="l"/>
          <a:endParaRPr lang="zh-CN" altLang="en-US" sz="1600"/>
        </a:p>
      </dgm:t>
    </dgm:pt>
    <dgm:pt modelId="{3DAB2A60-3F2E-4034-81A2-3EB9E57EE331}" type="sibTrans" cxnId="{E55B3D29-929C-4E77-BF3E-85FDB7FEA21C}">
      <dgm:prSet/>
      <dgm:spPr/>
      <dgm:t>
        <a:bodyPr/>
        <a:lstStyle/>
        <a:p>
          <a:pPr algn="l"/>
          <a:endParaRPr lang="zh-CN" altLang="en-US" sz="1600"/>
        </a:p>
      </dgm:t>
    </dgm:pt>
    <dgm:pt modelId="{CA79CA1E-6203-4C5E-89B8-D5BC85C20887}">
      <dgm:prSet phldrT="[文本]" phldr="0" custT="1"/>
      <dgm:spPr/>
      <dgm:t>
        <a:bodyPr/>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smtClean="0"/>
            <a:t>算子开发 </a:t>
          </a:r>
          <a:r>
            <a:rPr lang="en-US" altLang="zh-CN" sz="2000" b="1" dirty="0" smtClean="0"/>
            <a:t>Skill </a:t>
          </a:r>
          <a:r>
            <a:rPr lang="zh-CN" altLang="en-US" sz="2000" b="1" dirty="0" smtClean="0"/>
            <a:t>开发指南</a:t>
          </a:r>
          <a:endParaRPr sz="2000" b="1" dirty="0"/>
        </a:p>
      </dgm:t>
    </dgm:pt>
    <dgm:pt modelId="{2E0C74A6-90CB-4972-9BFC-F8A200BA693D}" type="parTrans" cxnId="{FDD4248E-A4F8-4914-9FC1-67F9FDF198CB}">
      <dgm:prSet/>
      <dgm:spPr/>
      <dgm:t>
        <a:bodyPr/>
        <a:lstStyle/>
        <a:p>
          <a:pPr algn="l"/>
          <a:endParaRPr lang="zh-CN" altLang="en-US" sz="1600"/>
        </a:p>
      </dgm:t>
    </dgm:pt>
    <dgm:pt modelId="{AD6EB47E-6070-4E3A-8230-56564994DA6C}" type="sibTrans" cxnId="{FDD4248E-A4F8-4914-9FC1-67F9FDF198CB}">
      <dgm:prSet/>
      <dgm:spPr/>
      <dgm:t>
        <a:bodyPr/>
        <a:lstStyle/>
        <a:p>
          <a:pPr algn="l"/>
          <a:endParaRPr lang="zh-CN" altLang="en-US" sz="1600"/>
        </a:p>
      </dgm:t>
    </dgm:pt>
    <dgm:pt modelId="{1F9E5051-CCF5-4A33-A6E9-64414976A650}" type="pres">
      <dgm:prSet presAssocID="{94704665-A736-4D9D-8335-F52D0001726A}" presName="linear" presStyleCnt="0">
        <dgm:presLayoutVars>
          <dgm:dir/>
          <dgm:animLvl val="lvl"/>
          <dgm:resizeHandles val="exact"/>
        </dgm:presLayoutVars>
      </dgm:prSet>
      <dgm:spPr/>
      <dgm:t>
        <a:bodyPr/>
        <a:lstStyle/>
        <a:p>
          <a:endParaRPr lang="zh-CN" altLang="en-US"/>
        </a:p>
      </dgm:t>
    </dgm:pt>
    <dgm:pt modelId="{20EA8654-DEE7-4CDF-ACEA-95FAEC5EB7B6}" type="pres">
      <dgm:prSet presAssocID="{E61598D1-5714-48B6-8D09-72944FE9F33B}" presName="parentLin" presStyleCnt="0"/>
      <dgm:spPr/>
    </dgm:pt>
    <dgm:pt modelId="{6FFBADE6-0AA7-4D85-B7A6-2AA7C805E598}" type="pres">
      <dgm:prSet presAssocID="{E61598D1-5714-48B6-8D09-72944FE9F33B}" presName="parentLeftMargin" presStyleLbl="node1" presStyleIdx="0" presStyleCnt="3"/>
      <dgm:spPr/>
      <dgm:t>
        <a:bodyPr/>
        <a:lstStyle/>
        <a:p>
          <a:endParaRPr lang="zh-CN" altLang="en-US"/>
        </a:p>
      </dgm:t>
    </dgm:pt>
    <dgm:pt modelId="{C709F359-301E-4C8A-A678-3A5064987B42}" type="pres">
      <dgm:prSet presAssocID="{E61598D1-5714-48B6-8D09-72944FE9F33B}" presName="parentText" presStyleLbl="node1" presStyleIdx="0" presStyleCnt="3">
        <dgm:presLayoutVars>
          <dgm:chMax val="0"/>
          <dgm:bulletEnabled val="1"/>
        </dgm:presLayoutVars>
      </dgm:prSet>
      <dgm:spPr/>
      <dgm:t>
        <a:bodyPr/>
        <a:lstStyle/>
        <a:p>
          <a:endParaRPr lang="zh-CN" altLang="en-US"/>
        </a:p>
      </dgm:t>
    </dgm:pt>
    <dgm:pt modelId="{EEB85027-A905-4D19-B3BE-E5E5FCA331DE}" type="pres">
      <dgm:prSet presAssocID="{E61598D1-5714-48B6-8D09-72944FE9F33B}" presName="negativeSpace" presStyleCnt="0"/>
      <dgm:spPr/>
    </dgm:pt>
    <dgm:pt modelId="{3159482F-45E3-424C-97E7-6642D85469CE}" type="pres">
      <dgm:prSet presAssocID="{E61598D1-5714-48B6-8D09-72944FE9F33B}" presName="childText" presStyleLbl="conFgAcc1" presStyleIdx="0" presStyleCnt="3">
        <dgm:presLayoutVars>
          <dgm:bulletEnabled val="1"/>
        </dgm:presLayoutVars>
      </dgm:prSet>
      <dgm:spPr/>
    </dgm:pt>
    <dgm:pt modelId="{8C07274C-1018-4D57-AA5C-718010CCE74F}" type="pres">
      <dgm:prSet presAssocID="{3A1DFD91-6042-4471-98C1-87903CF1668E}" presName="spaceBetweenRectangles" presStyleCnt="0"/>
      <dgm:spPr/>
    </dgm:pt>
    <dgm:pt modelId="{67A6475B-C843-4769-AFD7-BD620849CA3A}" type="pres">
      <dgm:prSet presAssocID="{3AC1DE5D-0C7B-4F77-A8E1-863ADFF7D298}" presName="parentLin" presStyleCnt="0"/>
      <dgm:spPr/>
    </dgm:pt>
    <dgm:pt modelId="{FD2A137D-8787-4399-83E3-F753DA75BC74}" type="pres">
      <dgm:prSet presAssocID="{3AC1DE5D-0C7B-4F77-A8E1-863ADFF7D298}" presName="parentLeftMargin" presStyleLbl="node1" presStyleIdx="0" presStyleCnt="3"/>
      <dgm:spPr/>
      <dgm:t>
        <a:bodyPr/>
        <a:lstStyle/>
        <a:p>
          <a:endParaRPr lang="zh-CN" altLang="en-US"/>
        </a:p>
      </dgm:t>
    </dgm:pt>
    <dgm:pt modelId="{4F479855-378F-4D03-960B-E6F8A5F36BE8}" type="pres">
      <dgm:prSet presAssocID="{3AC1DE5D-0C7B-4F77-A8E1-863ADFF7D298}" presName="parentText" presStyleLbl="node1" presStyleIdx="1" presStyleCnt="3">
        <dgm:presLayoutVars>
          <dgm:chMax val="0"/>
          <dgm:bulletEnabled val="1"/>
        </dgm:presLayoutVars>
      </dgm:prSet>
      <dgm:spPr/>
      <dgm:t>
        <a:bodyPr/>
        <a:lstStyle/>
        <a:p>
          <a:endParaRPr lang="zh-CN" altLang="en-US"/>
        </a:p>
      </dgm:t>
    </dgm:pt>
    <dgm:pt modelId="{4B2F4E33-FA0D-45C9-803C-2CC0271C8E37}" type="pres">
      <dgm:prSet presAssocID="{3AC1DE5D-0C7B-4F77-A8E1-863ADFF7D298}" presName="negativeSpace" presStyleCnt="0"/>
      <dgm:spPr/>
    </dgm:pt>
    <dgm:pt modelId="{1BB52BDE-442F-421C-B0F1-427936E17B4E}" type="pres">
      <dgm:prSet presAssocID="{3AC1DE5D-0C7B-4F77-A8E1-863ADFF7D298}" presName="childText" presStyleLbl="conFgAcc1" presStyleIdx="1" presStyleCnt="3">
        <dgm:presLayoutVars>
          <dgm:bulletEnabled val="1"/>
        </dgm:presLayoutVars>
      </dgm:prSet>
      <dgm:spPr/>
    </dgm:pt>
    <dgm:pt modelId="{4181A8A4-D221-487B-8F17-E170D730C7F3}" type="pres">
      <dgm:prSet presAssocID="{3DAB2A60-3F2E-4034-81A2-3EB9E57EE331}" presName="spaceBetweenRectangles" presStyleCnt="0"/>
      <dgm:spPr/>
    </dgm:pt>
    <dgm:pt modelId="{70E5C4EF-B51E-438D-A083-CA000233B185}" type="pres">
      <dgm:prSet presAssocID="{CA79CA1E-6203-4C5E-89B8-D5BC85C20887}" presName="parentLin" presStyleCnt="0"/>
      <dgm:spPr/>
    </dgm:pt>
    <dgm:pt modelId="{52AC27CC-DEA6-4698-924F-E39ED5060F9D}" type="pres">
      <dgm:prSet presAssocID="{CA79CA1E-6203-4C5E-89B8-D5BC85C20887}" presName="parentLeftMargin" presStyleLbl="node1" presStyleIdx="1" presStyleCnt="3"/>
      <dgm:spPr/>
      <dgm:t>
        <a:bodyPr/>
        <a:lstStyle/>
        <a:p>
          <a:endParaRPr lang="zh-CN" altLang="en-US"/>
        </a:p>
      </dgm:t>
    </dgm:pt>
    <dgm:pt modelId="{05B1D53B-862E-473A-8C4A-4F092E184EE5}" type="pres">
      <dgm:prSet presAssocID="{CA79CA1E-6203-4C5E-89B8-D5BC85C20887}" presName="parentText" presStyleLbl="node1" presStyleIdx="2" presStyleCnt="3">
        <dgm:presLayoutVars>
          <dgm:chMax val="0"/>
          <dgm:bulletEnabled val="1"/>
        </dgm:presLayoutVars>
      </dgm:prSet>
      <dgm:spPr/>
      <dgm:t>
        <a:bodyPr/>
        <a:lstStyle/>
        <a:p>
          <a:endParaRPr lang="zh-CN" altLang="en-US"/>
        </a:p>
      </dgm:t>
    </dgm:pt>
    <dgm:pt modelId="{37E37543-E3F7-4FB7-B815-978E6B45ADA8}" type="pres">
      <dgm:prSet presAssocID="{CA79CA1E-6203-4C5E-89B8-D5BC85C20887}" presName="negativeSpace" presStyleCnt="0"/>
      <dgm:spPr/>
    </dgm:pt>
    <dgm:pt modelId="{82C7D334-A469-4AAB-80F8-6B34A23098CC}" type="pres">
      <dgm:prSet presAssocID="{CA79CA1E-6203-4C5E-89B8-D5BC85C20887}" presName="childText" presStyleLbl="conFgAcc1" presStyleIdx="2" presStyleCnt="3">
        <dgm:presLayoutVars>
          <dgm:bulletEnabled val="1"/>
        </dgm:presLayoutVars>
      </dgm:prSet>
      <dgm:spPr/>
    </dgm:pt>
  </dgm:ptLst>
  <dgm:cxnLst>
    <dgm:cxn modelId="{2F2D337E-D5BE-46B7-809C-2956CB1FF9BC}" type="presOf" srcId="{CA79CA1E-6203-4C5E-89B8-D5BC85C20887}" destId="{52AC27CC-DEA6-4698-924F-E39ED5060F9D}" srcOrd="0" destOrd="0" presId="urn:microsoft.com/office/officeart/2005/8/layout/list1#1"/>
    <dgm:cxn modelId="{99C42502-0C96-4E87-939E-773241D1D822}" type="presOf" srcId="{E61598D1-5714-48B6-8D09-72944FE9F33B}" destId="{C709F359-301E-4C8A-A678-3A5064987B42}" srcOrd="1" destOrd="0" presId="urn:microsoft.com/office/officeart/2005/8/layout/list1#1"/>
    <dgm:cxn modelId="{0BD9185B-CCCD-4251-B3F3-1EFD81AD3711}" type="presOf" srcId="{3AC1DE5D-0C7B-4F77-A8E1-863ADFF7D298}" destId="{4F479855-378F-4D03-960B-E6F8A5F36BE8}" srcOrd="1" destOrd="0" presId="urn:microsoft.com/office/officeart/2005/8/layout/list1#1"/>
    <dgm:cxn modelId="{D7105DAC-7992-4F39-9A5C-991DA03AFC83}" type="presOf" srcId="{E61598D1-5714-48B6-8D09-72944FE9F33B}" destId="{6FFBADE6-0AA7-4D85-B7A6-2AA7C805E598}" srcOrd="0" destOrd="0" presId="urn:microsoft.com/office/officeart/2005/8/layout/list1#1"/>
    <dgm:cxn modelId="{87BAD9B3-7F0D-4D7D-A284-F9C646BA1652}" type="presOf" srcId="{94704665-A736-4D9D-8335-F52D0001726A}" destId="{1F9E5051-CCF5-4A33-A6E9-64414976A650}" srcOrd="0" destOrd="0" presId="urn:microsoft.com/office/officeart/2005/8/layout/list1#1"/>
    <dgm:cxn modelId="{FDD4248E-A4F8-4914-9FC1-67F9FDF198CB}" srcId="{94704665-A736-4D9D-8335-F52D0001726A}" destId="{CA79CA1E-6203-4C5E-89B8-D5BC85C20887}" srcOrd="2" destOrd="0" parTransId="{2E0C74A6-90CB-4972-9BFC-F8A200BA693D}" sibTransId="{AD6EB47E-6070-4E3A-8230-56564994DA6C}"/>
    <dgm:cxn modelId="{12CDDFDE-0DC9-454D-947E-579354A6853F}" type="presOf" srcId="{CA79CA1E-6203-4C5E-89B8-D5BC85C20887}" destId="{05B1D53B-862E-473A-8C4A-4F092E184EE5}" srcOrd="1" destOrd="0" presId="urn:microsoft.com/office/officeart/2005/8/layout/list1#1"/>
    <dgm:cxn modelId="{B99F2629-7A48-4225-A786-33DB37B34471}" srcId="{94704665-A736-4D9D-8335-F52D0001726A}" destId="{E61598D1-5714-48B6-8D09-72944FE9F33B}" srcOrd="0" destOrd="0" parTransId="{93B0F235-AD2E-4B57-AD3A-0FA3DCEEC602}" sibTransId="{3A1DFD91-6042-4471-98C1-87903CF1668E}"/>
    <dgm:cxn modelId="{A4E85EE0-E31B-414F-BF72-195AAB924613}" type="presOf" srcId="{3AC1DE5D-0C7B-4F77-A8E1-863ADFF7D298}" destId="{FD2A137D-8787-4399-83E3-F753DA75BC74}" srcOrd="0" destOrd="0" presId="urn:microsoft.com/office/officeart/2005/8/layout/list1#1"/>
    <dgm:cxn modelId="{E55B3D29-929C-4E77-BF3E-85FDB7FEA21C}" srcId="{94704665-A736-4D9D-8335-F52D0001726A}" destId="{3AC1DE5D-0C7B-4F77-A8E1-863ADFF7D298}" srcOrd="1" destOrd="0" parTransId="{2F56BB86-74F7-4F59-A92B-1698457E79E8}" sibTransId="{3DAB2A60-3F2E-4034-81A2-3EB9E57EE331}"/>
    <dgm:cxn modelId="{6ED7FC1A-A691-459F-A24F-9CA9E4B05282}" type="presParOf" srcId="{1F9E5051-CCF5-4A33-A6E9-64414976A650}" destId="{20EA8654-DEE7-4CDF-ACEA-95FAEC5EB7B6}" srcOrd="0" destOrd="0" presId="urn:microsoft.com/office/officeart/2005/8/layout/list1#1"/>
    <dgm:cxn modelId="{BBEA9F1A-6F56-4E17-B5B7-3252E43B11FE}" type="presParOf" srcId="{20EA8654-DEE7-4CDF-ACEA-95FAEC5EB7B6}" destId="{6FFBADE6-0AA7-4D85-B7A6-2AA7C805E598}" srcOrd="0" destOrd="0" presId="urn:microsoft.com/office/officeart/2005/8/layout/list1#1"/>
    <dgm:cxn modelId="{316FCDC8-9394-4998-BBED-4A252036AD6E}" type="presParOf" srcId="{20EA8654-DEE7-4CDF-ACEA-95FAEC5EB7B6}" destId="{C709F359-301E-4C8A-A678-3A5064987B42}" srcOrd="1" destOrd="0" presId="urn:microsoft.com/office/officeart/2005/8/layout/list1#1"/>
    <dgm:cxn modelId="{3370ADD6-A81E-4BF0-8C1B-8A83BD92EB46}" type="presParOf" srcId="{1F9E5051-CCF5-4A33-A6E9-64414976A650}" destId="{EEB85027-A905-4D19-B3BE-E5E5FCA331DE}" srcOrd="1" destOrd="0" presId="urn:microsoft.com/office/officeart/2005/8/layout/list1#1"/>
    <dgm:cxn modelId="{E92FB42B-0B79-4306-A096-5B049E11B50C}" type="presParOf" srcId="{1F9E5051-CCF5-4A33-A6E9-64414976A650}" destId="{3159482F-45E3-424C-97E7-6642D85469CE}" srcOrd="2" destOrd="0" presId="urn:microsoft.com/office/officeart/2005/8/layout/list1#1"/>
    <dgm:cxn modelId="{34E299DF-CEF7-4A1A-BDA6-B0E30DCE2A1A}" type="presParOf" srcId="{1F9E5051-CCF5-4A33-A6E9-64414976A650}" destId="{8C07274C-1018-4D57-AA5C-718010CCE74F}" srcOrd="3" destOrd="0" presId="urn:microsoft.com/office/officeart/2005/8/layout/list1#1"/>
    <dgm:cxn modelId="{B81D7DF5-9DFA-4A36-84AB-3D1FF7270639}" type="presParOf" srcId="{1F9E5051-CCF5-4A33-A6E9-64414976A650}" destId="{67A6475B-C843-4769-AFD7-BD620849CA3A}" srcOrd="4" destOrd="0" presId="urn:microsoft.com/office/officeart/2005/8/layout/list1#1"/>
    <dgm:cxn modelId="{F2387A21-4A05-4906-AAE9-1AC7BABE9868}" type="presParOf" srcId="{67A6475B-C843-4769-AFD7-BD620849CA3A}" destId="{FD2A137D-8787-4399-83E3-F753DA75BC74}" srcOrd="0" destOrd="0" presId="urn:microsoft.com/office/officeart/2005/8/layout/list1#1"/>
    <dgm:cxn modelId="{B334A592-406D-4ECA-8063-C89B5C8C251E}" type="presParOf" srcId="{67A6475B-C843-4769-AFD7-BD620849CA3A}" destId="{4F479855-378F-4D03-960B-E6F8A5F36BE8}" srcOrd="1" destOrd="0" presId="urn:microsoft.com/office/officeart/2005/8/layout/list1#1"/>
    <dgm:cxn modelId="{F0D96521-622C-47AB-AFF3-F4CF044924AD}" type="presParOf" srcId="{1F9E5051-CCF5-4A33-A6E9-64414976A650}" destId="{4B2F4E33-FA0D-45C9-803C-2CC0271C8E37}" srcOrd="5" destOrd="0" presId="urn:microsoft.com/office/officeart/2005/8/layout/list1#1"/>
    <dgm:cxn modelId="{9FE99DFF-C7AA-439C-A2F3-848CABCE81E4}" type="presParOf" srcId="{1F9E5051-CCF5-4A33-A6E9-64414976A650}" destId="{1BB52BDE-442F-421C-B0F1-427936E17B4E}" srcOrd="6" destOrd="0" presId="urn:microsoft.com/office/officeart/2005/8/layout/list1#1"/>
    <dgm:cxn modelId="{E12DF517-652A-4AA2-B663-56D38FA74225}" type="presParOf" srcId="{1F9E5051-CCF5-4A33-A6E9-64414976A650}" destId="{4181A8A4-D221-487B-8F17-E170D730C7F3}" srcOrd="7" destOrd="0" presId="urn:microsoft.com/office/officeart/2005/8/layout/list1#1"/>
    <dgm:cxn modelId="{BA0DDDD6-73C7-4C1F-A400-AD4A0DB702C6}" type="presParOf" srcId="{1F9E5051-CCF5-4A33-A6E9-64414976A650}" destId="{70E5C4EF-B51E-438D-A083-CA000233B185}" srcOrd="8" destOrd="0" presId="urn:microsoft.com/office/officeart/2005/8/layout/list1#1"/>
    <dgm:cxn modelId="{30962298-70D2-41E2-9B8A-0167E4BE607B}" type="presParOf" srcId="{70E5C4EF-B51E-438D-A083-CA000233B185}" destId="{52AC27CC-DEA6-4698-924F-E39ED5060F9D}" srcOrd="0" destOrd="0" presId="urn:microsoft.com/office/officeart/2005/8/layout/list1#1"/>
    <dgm:cxn modelId="{1A222B7D-B67A-4C3E-9C87-1250A5253EEC}" type="presParOf" srcId="{70E5C4EF-B51E-438D-A083-CA000233B185}" destId="{05B1D53B-862E-473A-8C4A-4F092E184EE5}" srcOrd="1" destOrd="0" presId="urn:microsoft.com/office/officeart/2005/8/layout/list1#1"/>
    <dgm:cxn modelId="{A75229C9-FBEC-49DA-A484-073E7FBAC728}" type="presParOf" srcId="{1F9E5051-CCF5-4A33-A6E9-64414976A650}" destId="{37E37543-E3F7-4FB7-B815-978E6B45ADA8}" srcOrd="9" destOrd="0" presId="urn:microsoft.com/office/officeart/2005/8/layout/list1#1"/>
    <dgm:cxn modelId="{B59D8263-4887-4D67-BE6C-CED54CDA2385}" type="presParOf" srcId="{1F9E5051-CCF5-4A33-A6E9-64414976A650}" destId="{82C7D334-A469-4AAB-80F8-6B34A23098CC}" srcOrd="10" destOrd="0" presId="urn:microsoft.com/office/officeart/2005/8/layout/list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4704665-A736-4D9D-8335-F52D0001726A}" type="doc">
      <dgm:prSet loTypeId="urn:microsoft.com/office/officeart/2005/8/layout/list1#1" loCatId="list" qsTypeId="urn:microsoft.com/office/officeart/2005/8/quickstyle/simple1#1" qsCatId="simple" csTypeId="urn:microsoft.com/office/officeart/2005/8/colors/colorful3#1" csCatId="colorful" phldr="1"/>
      <dgm:spPr/>
      <dgm:t>
        <a:bodyPr/>
        <a:lstStyle/>
        <a:p>
          <a:endParaRPr lang="zh-CN" altLang="en-US"/>
        </a:p>
      </dgm:t>
    </dgm:pt>
    <dgm:pt modelId="{E61598D1-5714-48B6-8D09-72944FE9F33B}">
      <dgm:prSet phldrT="[文本]" custT="1"/>
      <dgm:spPr>
        <a:solidFill>
          <a:srgbClr val="C00000"/>
        </a:solidFill>
      </dgm:spPr>
      <dgm:t>
        <a:bodyPr/>
        <a:lstStyle/>
        <a:p>
          <a:pPr algn="l"/>
          <a:r>
            <a:rPr lang="en-US" sz="2000" b="1" dirty="0" err="1" smtClean="0"/>
            <a:t>M</a:t>
          </a:r>
          <a:r>
            <a:rPr lang="en-US" altLang="zh-CN" sz="2000" b="1" dirty="0" err="1" smtClean="0"/>
            <a:t>lu</a:t>
          </a:r>
          <a:r>
            <a:rPr lang="zh-CN" altLang="en-US" sz="2000" b="1" dirty="0" smtClean="0"/>
            <a:t>平台算子优化</a:t>
          </a:r>
          <a:endParaRPr lang="zh-CN" altLang="en-US" sz="2000" b="1" dirty="0"/>
        </a:p>
      </dgm:t>
    </dgm:pt>
    <dgm:pt modelId="{93B0F235-AD2E-4B57-AD3A-0FA3DCEEC602}" type="parTrans" cxnId="{B99F2629-7A48-4225-A786-33DB37B34471}">
      <dgm:prSet/>
      <dgm:spPr/>
      <dgm:t>
        <a:bodyPr/>
        <a:lstStyle/>
        <a:p>
          <a:pPr algn="l"/>
          <a:endParaRPr lang="zh-CN" altLang="en-US" sz="1600"/>
        </a:p>
      </dgm:t>
    </dgm:pt>
    <dgm:pt modelId="{3A1DFD91-6042-4471-98C1-87903CF1668E}" type="sibTrans" cxnId="{B99F2629-7A48-4225-A786-33DB37B34471}">
      <dgm:prSet/>
      <dgm:spPr/>
      <dgm:t>
        <a:bodyPr/>
        <a:lstStyle/>
        <a:p>
          <a:pPr algn="l"/>
          <a:endParaRPr lang="zh-CN" altLang="en-US" sz="1600"/>
        </a:p>
      </dgm:t>
    </dgm:pt>
    <dgm:pt modelId="{3AC1DE5D-0C7B-4F77-A8E1-863ADFF7D298}">
      <dgm:prSet phldrT="[文本]" phldr="0" custT="1"/>
      <dgm:spPr/>
      <dgm:t>
        <a:bodyPr vert="horz" wrap="square"/>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smtClean="0"/>
            <a:t>寒武纪算子开发</a:t>
          </a:r>
          <a:r>
            <a:rPr lang="en-US" altLang="en-US" sz="2000" b="1" dirty="0" smtClean="0"/>
            <a:t>SKILL</a:t>
          </a:r>
          <a:r>
            <a:rPr lang="zh-CN" altLang="en-US" sz="2000" b="1" dirty="0" smtClean="0"/>
            <a:t>优化</a:t>
          </a:r>
          <a:endParaRPr sz="1800" dirty="0"/>
        </a:p>
      </dgm:t>
    </dgm:pt>
    <dgm:pt modelId="{2F56BB86-74F7-4F59-A92B-1698457E79E8}" type="parTrans" cxnId="{E55B3D29-929C-4E77-BF3E-85FDB7FEA21C}">
      <dgm:prSet/>
      <dgm:spPr/>
      <dgm:t>
        <a:bodyPr/>
        <a:lstStyle/>
        <a:p>
          <a:pPr algn="l"/>
          <a:endParaRPr lang="zh-CN" altLang="en-US" sz="1600"/>
        </a:p>
      </dgm:t>
    </dgm:pt>
    <dgm:pt modelId="{3DAB2A60-3F2E-4034-81A2-3EB9E57EE331}" type="sibTrans" cxnId="{E55B3D29-929C-4E77-BF3E-85FDB7FEA21C}">
      <dgm:prSet/>
      <dgm:spPr/>
      <dgm:t>
        <a:bodyPr/>
        <a:lstStyle/>
        <a:p>
          <a:pPr algn="l"/>
          <a:endParaRPr lang="zh-CN" altLang="en-US" sz="1600"/>
        </a:p>
      </dgm:t>
    </dgm:pt>
    <dgm:pt modelId="{CA79CA1E-6203-4C5E-89B8-D5BC85C20887}">
      <dgm:prSet phldrT="[文本]" phldr="0" custT="1"/>
      <dgm:spPr/>
      <dgm:t>
        <a:bodyPr/>
        <a:lstStyle>
          <a:lvl1pPr algn="l">
            <a:defRPr sz="2300"/>
          </a:lvl1pPr>
          <a:lvl2pPr marL="171450" indent="-171450" algn="l">
            <a:defRPr sz="1700"/>
          </a:lvl2pPr>
          <a:lvl3pPr marL="342900" indent="-171450" algn="l">
            <a:defRPr sz="1700"/>
          </a:lvl3pPr>
          <a:lvl4pPr marL="514350" indent="-171450" algn="l">
            <a:defRPr sz="1700"/>
          </a:lvl4pPr>
          <a:lvl5pPr marL="685800" indent="-171450" algn="l">
            <a:defRPr sz="1700"/>
          </a:lvl5pPr>
          <a:lvl6pPr marL="857250" indent="-171450" algn="l">
            <a:defRPr sz="1700"/>
          </a:lvl6pPr>
          <a:lvl7pPr marL="1028700" indent="-171450" algn="l">
            <a:defRPr sz="1700"/>
          </a:lvl7pPr>
          <a:lvl8pPr marL="1200150" indent="-171450" algn="l">
            <a:defRPr sz="1700"/>
          </a:lvl8pPr>
          <a:lvl9pPr marL="1371600" indent="-171450" algn="l">
            <a:defRPr sz="1700"/>
          </a:lvl9pPr>
        </a:lstStyle>
        <a:p>
          <a:pPr algn="l">
            <a:lnSpc>
              <a:spcPct val="100000"/>
            </a:lnSpc>
            <a:spcBef>
              <a:spcPct val="0"/>
            </a:spcBef>
            <a:spcAft>
              <a:spcPct val="35000"/>
            </a:spcAft>
          </a:pPr>
          <a:r>
            <a:rPr lang="zh-CN" altLang="en-US" sz="2000" b="1" dirty="0" smtClean="0"/>
            <a:t>算子开发 </a:t>
          </a:r>
          <a:r>
            <a:rPr lang="en-US" altLang="zh-CN" sz="2000" b="1" dirty="0" smtClean="0"/>
            <a:t>Skill </a:t>
          </a:r>
          <a:r>
            <a:rPr lang="zh-CN" altLang="en-US" sz="2000" b="1" dirty="0" smtClean="0"/>
            <a:t>开发指南</a:t>
          </a:r>
          <a:endParaRPr sz="2000" b="1" dirty="0"/>
        </a:p>
      </dgm:t>
    </dgm:pt>
    <dgm:pt modelId="{2E0C74A6-90CB-4972-9BFC-F8A200BA693D}" type="parTrans" cxnId="{FDD4248E-A4F8-4914-9FC1-67F9FDF198CB}">
      <dgm:prSet/>
      <dgm:spPr/>
      <dgm:t>
        <a:bodyPr/>
        <a:lstStyle/>
        <a:p>
          <a:pPr algn="l"/>
          <a:endParaRPr lang="zh-CN" altLang="en-US" sz="1600"/>
        </a:p>
      </dgm:t>
    </dgm:pt>
    <dgm:pt modelId="{AD6EB47E-6070-4E3A-8230-56564994DA6C}" type="sibTrans" cxnId="{FDD4248E-A4F8-4914-9FC1-67F9FDF198CB}">
      <dgm:prSet/>
      <dgm:spPr/>
      <dgm:t>
        <a:bodyPr/>
        <a:lstStyle/>
        <a:p>
          <a:pPr algn="l"/>
          <a:endParaRPr lang="zh-CN" altLang="en-US" sz="1600"/>
        </a:p>
      </dgm:t>
    </dgm:pt>
    <dgm:pt modelId="{1F9E5051-CCF5-4A33-A6E9-64414976A650}" type="pres">
      <dgm:prSet presAssocID="{94704665-A736-4D9D-8335-F52D0001726A}" presName="linear" presStyleCnt="0">
        <dgm:presLayoutVars>
          <dgm:dir/>
          <dgm:animLvl val="lvl"/>
          <dgm:resizeHandles val="exact"/>
        </dgm:presLayoutVars>
      </dgm:prSet>
      <dgm:spPr/>
      <dgm:t>
        <a:bodyPr/>
        <a:lstStyle/>
        <a:p>
          <a:endParaRPr lang="zh-CN" altLang="en-US"/>
        </a:p>
      </dgm:t>
    </dgm:pt>
    <dgm:pt modelId="{20EA8654-DEE7-4CDF-ACEA-95FAEC5EB7B6}" type="pres">
      <dgm:prSet presAssocID="{E61598D1-5714-48B6-8D09-72944FE9F33B}" presName="parentLin" presStyleCnt="0"/>
      <dgm:spPr/>
    </dgm:pt>
    <dgm:pt modelId="{6FFBADE6-0AA7-4D85-B7A6-2AA7C805E598}" type="pres">
      <dgm:prSet presAssocID="{E61598D1-5714-48B6-8D09-72944FE9F33B}" presName="parentLeftMargin" presStyleLbl="node1" presStyleIdx="0" presStyleCnt="3"/>
      <dgm:spPr/>
      <dgm:t>
        <a:bodyPr/>
        <a:lstStyle/>
        <a:p>
          <a:endParaRPr lang="zh-CN" altLang="en-US"/>
        </a:p>
      </dgm:t>
    </dgm:pt>
    <dgm:pt modelId="{C709F359-301E-4C8A-A678-3A5064987B42}" type="pres">
      <dgm:prSet presAssocID="{E61598D1-5714-48B6-8D09-72944FE9F33B}" presName="parentText" presStyleLbl="node1" presStyleIdx="0" presStyleCnt="3">
        <dgm:presLayoutVars>
          <dgm:chMax val="0"/>
          <dgm:bulletEnabled val="1"/>
        </dgm:presLayoutVars>
      </dgm:prSet>
      <dgm:spPr/>
      <dgm:t>
        <a:bodyPr/>
        <a:lstStyle/>
        <a:p>
          <a:endParaRPr lang="zh-CN" altLang="en-US"/>
        </a:p>
      </dgm:t>
    </dgm:pt>
    <dgm:pt modelId="{EEB85027-A905-4D19-B3BE-E5E5FCA331DE}" type="pres">
      <dgm:prSet presAssocID="{E61598D1-5714-48B6-8D09-72944FE9F33B}" presName="negativeSpace" presStyleCnt="0"/>
      <dgm:spPr/>
    </dgm:pt>
    <dgm:pt modelId="{3159482F-45E3-424C-97E7-6642D85469CE}" type="pres">
      <dgm:prSet presAssocID="{E61598D1-5714-48B6-8D09-72944FE9F33B}" presName="childText" presStyleLbl="conFgAcc1" presStyleIdx="0" presStyleCnt="3">
        <dgm:presLayoutVars>
          <dgm:bulletEnabled val="1"/>
        </dgm:presLayoutVars>
      </dgm:prSet>
      <dgm:spPr/>
    </dgm:pt>
    <dgm:pt modelId="{8C07274C-1018-4D57-AA5C-718010CCE74F}" type="pres">
      <dgm:prSet presAssocID="{3A1DFD91-6042-4471-98C1-87903CF1668E}" presName="spaceBetweenRectangles" presStyleCnt="0"/>
      <dgm:spPr/>
    </dgm:pt>
    <dgm:pt modelId="{67A6475B-C843-4769-AFD7-BD620849CA3A}" type="pres">
      <dgm:prSet presAssocID="{3AC1DE5D-0C7B-4F77-A8E1-863ADFF7D298}" presName="parentLin" presStyleCnt="0"/>
      <dgm:spPr/>
    </dgm:pt>
    <dgm:pt modelId="{FD2A137D-8787-4399-83E3-F753DA75BC74}" type="pres">
      <dgm:prSet presAssocID="{3AC1DE5D-0C7B-4F77-A8E1-863ADFF7D298}" presName="parentLeftMargin" presStyleLbl="node1" presStyleIdx="0" presStyleCnt="3"/>
      <dgm:spPr/>
      <dgm:t>
        <a:bodyPr/>
        <a:lstStyle/>
        <a:p>
          <a:endParaRPr lang="zh-CN" altLang="en-US"/>
        </a:p>
      </dgm:t>
    </dgm:pt>
    <dgm:pt modelId="{4F479855-378F-4D03-960B-E6F8A5F36BE8}" type="pres">
      <dgm:prSet presAssocID="{3AC1DE5D-0C7B-4F77-A8E1-863ADFF7D298}" presName="parentText" presStyleLbl="node1" presStyleIdx="1" presStyleCnt="3">
        <dgm:presLayoutVars>
          <dgm:chMax val="0"/>
          <dgm:bulletEnabled val="1"/>
        </dgm:presLayoutVars>
      </dgm:prSet>
      <dgm:spPr/>
      <dgm:t>
        <a:bodyPr/>
        <a:lstStyle/>
        <a:p>
          <a:endParaRPr lang="zh-CN" altLang="en-US"/>
        </a:p>
      </dgm:t>
    </dgm:pt>
    <dgm:pt modelId="{4B2F4E33-FA0D-45C9-803C-2CC0271C8E37}" type="pres">
      <dgm:prSet presAssocID="{3AC1DE5D-0C7B-4F77-A8E1-863ADFF7D298}" presName="negativeSpace" presStyleCnt="0"/>
      <dgm:spPr/>
    </dgm:pt>
    <dgm:pt modelId="{1BB52BDE-442F-421C-B0F1-427936E17B4E}" type="pres">
      <dgm:prSet presAssocID="{3AC1DE5D-0C7B-4F77-A8E1-863ADFF7D298}" presName="childText" presStyleLbl="conFgAcc1" presStyleIdx="1" presStyleCnt="3">
        <dgm:presLayoutVars>
          <dgm:bulletEnabled val="1"/>
        </dgm:presLayoutVars>
      </dgm:prSet>
      <dgm:spPr/>
    </dgm:pt>
    <dgm:pt modelId="{4181A8A4-D221-487B-8F17-E170D730C7F3}" type="pres">
      <dgm:prSet presAssocID="{3DAB2A60-3F2E-4034-81A2-3EB9E57EE331}" presName="spaceBetweenRectangles" presStyleCnt="0"/>
      <dgm:spPr/>
    </dgm:pt>
    <dgm:pt modelId="{70E5C4EF-B51E-438D-A083-CA000233B185}" type="pres">
      <dgm:prSet presAssocID="{CA79CA1E-6203-4C5E-89B8-D5BC85C20887}" presName="parentLin" presStyleCnt="0"/>
      <dgm:spPr/>
    </dgm:pt>
    <dgm:pt modelId="{52AC27CC-DEA6-4698-924F-E39ED5060F9D}" type="pres">
      <dgm:prSet presAssocID="{CA79CA1E-6203-4C5E-89B8-D5BC85C20887}" presName="parentLeftMargin" presStyleLbl="node1" presStyleIdx="1" presStyleCnt="3"/>
      <dgm:spPr/>
      <dgm:t>
        <a:bodyPr/>
        <a:lstStyle/>
        <a:p>
          <a:endParaRPr lang="zh-CN" altLang="en-US"/>
        </a:p>
      </dgm:t>
    </dgm:pt>
    <dgm:pt modelId="{05B1D53B-862E-473A-8C4A-4F092E184EE5}" type="pres">
      <dgm:prSet presAssocID="{CA79CA1E-6203-4C5E-89B8-D5BC85C20887}" presName="parentText" presStyleLbl="node1" presStyleIdx="2" presStyleCnt="3">
        <dgm:presLayoutVars>
          <dgm:chMax val="0"/>
          <dgm:bulletEnabled val="1"/>
        </dgm:presLayoutVars>
      </dgm:prSet>
      <dgm:spPr/>
      <dgm:t>
        <a:bodyPr/>
        <a:lstStyle/>
        <a:p>
          <a:endParaRPr lang="zh-CN" altLang="en-US"/>
        </a:p>
      </dgm:t>
    </dgm:pt>
    <dgm:pt modelId="{37E37543-E3F7-4FB7-B815-978E6B45ADA8}" type="pres">
      <dgm:prSet presAssocID="{CA79CA1E-6203-4C5E-89B8-D5BC85C20887}" presName="negativeSpace" presStyleCnt="0"/>
      <dgm:spPr/>
    </dgm:pt>
    <dgm:pt modelId="{82C7D334-A469-4AAB-80F8-6B34A23098CC}" type="pres">
      <dgm:prSet presAssocID="{CA79CA1E-6203-4C5E-89B8-D5BC85C20887}" presName="childText" presStyleLbl="conFgAcc1" presStyleIdx="2" presStyleCnt="3">
        <dgm:presLayoutVars>
          <dgm:bulletEnabled val="1"/>
        </dgm:presLayoutVars>
      </dgm:prSet>
      <dgm:spPr/>
    </dgm:pt>
  </dgm:ptLst>
  <dgm:cxnLst>
    <dgm:cxn modelId="{2F2D337E-D5BE-46B7-809C-2956CB1FF9BC}" type="presOf" srcId="{CA79CA1E-6203-4C5E-89B8-D5BC85C20887}" destId="{52AC27CC-DEA6-4698-924F-E39ED5060F9D}" srcOrd="0" destOrd="0" presId="urn:microsoft.com/office/officeart/2005/8/layout/list1#1"/>
    <dgm:cxn modelId="{99C42502-0C96-4E87-939E-773241D1D822}" type="presOf" srcId="{E61598D1-5714-48B6-8D09-72944FE9F33B}" destId="{C709F359-301E-4C8A-A678-3A5064987B42}" srcOrd="1" destOrd="0" presId="urn:microsoft.com/office/officeart/2005/8/layout/list1#1"/>
    <dgm:cxn modelId="{0BD9185B-CCCD-4251-B3F3-1EFD81AD3711}" type="presOf" srcId="{3AC1DE5D-0C7B-4F77-A8E1-863ADFF7D298}" destId="{4F479855-378F-4D03-960B-E6F8A5F36BE8}" srcOrd="1" destOrd="0" presId="urn:microsoft.com/office/officeart/2005/8/layout/list1#1"/>
    <dgm:cxn modelId="{D7105DAC-7992-4F39-9A5C-991DA03AFC83}" type="presOf" srcId="{E61598D1-5714-48B6-8D09-72944FE9F33B}" destId="{6FFBADE6-0AA7-4D85-B7A6-2AA7C805E598}" srcOrd="0" destOrd="0" presId="urn:microsoft.com/office/officeart/2005/8/layout/list1#1"/>
    <dgm:cxn modelId="{87BAD9B3-7F0D-4D7D-A284-F9C646BA1652}" type="presOf" srcId="{94704665-A736-4D9D-8335-F52D0001726A}" destId="{1F9E5051-CCF5-4A33-A6E9-64414976A650}" srcOrd="0" destOrd="0" presId="urn:microsoft.com/office/officeart/2005/8/layout/list1#1"/>
    <dgm:cxn modelId="{FDD4248E-A4F8-4914-9FC1-67F9FDF198CB}" srcId="{94704665-A736-4D9D-8335-F52D0001726A}" destId="{CA79CA1E-6203-4C5E-89B8-D5BC85C20887}" srcOrd="2" destOrd="0" parTransId="{2E0C74A6-90CB-4972-9BFC-F8A200BA693D}" sibTransId="{AD6EB47E-6070-4E3A-8230-56564994DA6C}"/>
    <dgm:cxn modelId="{12CDDFDE-0DC9-454D-947E-579354A6853F}" type="presOf" srcId="{CA79CA1E-6203-4C5E-89B8-D5BC85C20887}" destId="{05B1D53B-862E-473A-8C4A-4F092E184EE5}" srcOrd="1" destOrd="0" presId="urn:microsoft.com/office/officeart/2005/8/layout/list1#1"/>
    <dgm:cxn modelId="{B99F2629-7A48-4225-A786-33DB37B34471}" srcId="{94704665-A736-4D9D-8335-F52D0001726A}" destId="{E61598D1-5714-48B6-8D09-72944FE9F33B}" srcOrd="0" destOrd="0" parTransId="{93B0F235-AD2E-4B57-AD3A-0FA3DCEEC602}" sibTransId="{3A1DFD91-6042-4471-98C1-87903CF1668E}"/>
    <dgm:cxn modelId="{A4E85EE0-E31B-414F-BF72-195AAB924613}" type="presOf" srcId="{3AC1DE5D-0C7B-4F77-A8E1-863ADFF7D298}" destId="{FD2A137D-8787-4399-83E3-F753DA75BC74}" srcOrd="0" destOrd="0" presId="urn:microsoft.com/office/officeart/2005/8/layout/list1#1"/>
    <dgm:cxn modelId="{E55B3D29-929C-4E77-BF3E-85FDB7FEA21C}" srcId="{94704665-A736-4D9D-8335-F52D0001726A}" destId="{3AC1DE5D-0C7B-4F77-A8E1-863ADFF7D298}" srcOrd="1" destOrd="0" parTransId="{2F56BB86-74F7-4F59-A92B-1698457E79E8}" sibTransId="{3DAB2A60-3F2E-4034-81A2-3EB9E57EE331}"/>
    <dgm:cxn modelId="{6ED7FC1A-A691-459F-A24F-9CA9E4B05282}" type="presParOf" srcId="{1F9E5051-CCF5-4A33-A6E9-64414976A650}" destId="{20EA8654-DEE7-4CDF-ACEA-95FAEC5EB7B6}" srcOrd="0" destOrd="0" presId="urn:microsoft.com/office/officeart/2005/8/layout/list1#1"/>
    <dgm:cxn modelId="{BBEA9F1A-6F56-4E17-B5B7-3252E43B11FE}" type="presParOf" srcId="{20EA8654-DEE7-4CDF-ACEA-95FAEC5EB7B6}" destId="{6FFBADE6-0AA7-4D85-B7A6-2AA7C805E598}" srcOrd="0" destOrd="0" presId="urn:microsoft.com/office/officeart/2005/8/layout/list1#1"/>
    <dgm:cxn modelId="{316FCDC8-9394-4998-BBED-4A252036AD6E}" type="presParOf" srcId="{20EA8654-DEE7-4CDF-ACEA-95FAEC5EB7B6}" destId="{C709F359-301E-4C8A-A678-3A5064987B42}" srcOrd="1" destOrd="0" presId="urn:microsoft.com/office/officeart/2005/8/layout/list1#1"/>
    <dgm:cxn modelId="{3370ADD6-A81E-4BF0-8C1B-8A83BD92EB46}" type="presParOf" srcId="{1F9E5051-CCF5-4A33-A6E9-64414976A650}" destId="{EEB85027-A905-4D19-B3BE-E5E5FCA331DE}" srcOrd="1" destOrd="0" presId="urn:microsoft.com/office/officeart/2005/8/layout/list1#1"/>
    <dgm:cxn modelId="{E92FB42B-0B79-4306-A096-5B049E11B50C}" type="presParOf" srcId="{1F9E5051-CCF5-4A33-A6E9-64414976A650}" destId="{3159482F-45E3-424C-97E7-6642D85469CE}" srcOrd="2" destOrd="0" presId="urn:microsoft.com/office/officeart/2005/8/layout/list1#1"/>
    <dgm:cxn modelId="{34E299DF-CEF7-4A1A-BDA6-B0E30DCE2A1A}" type="presParOf" srcId="{1F9E5051-CCF5-4A33-A6E9-64414976A650}" destId="{8C07274C-1018-4D57-AA5C-718010CCE74F}" srcOrd="3" destOrd="0" presId="urn:microsoft.com/office/officeart/2005/8/layout/list1#1"/>
    <dgm:cxn modelId="{B81D7DF5-9DFA-4A36-84AB-3D1FF7270639}" type="presParOf" srcId="{1F9E5051-CCF5-4A33-A6E9-64414976A650}" destId="{67A6475B-C843-4769-AFD7-BD620849CA3A}" srcOrd="4" destOrd="0" presId="urn:microsoft.com/office/officeart/2005/8/layout/list1#1"/>
    <dgm:cxn modelId="{F2387A21-4A05-4906-AAE9-1AC7BABE9868}" type="presParOf" srcId="{67A6475B-C843-4769-AFD7-BD620849CA3A}" destId="{FD2A137D-8787-4399-83E3-F753DA75BC74}" srcOrd="0" destOrd="0" presId="urn:microsoft.com/office/officeart/2005/8/layout/list1#1"/>
    <dgm:cxn modelId="{B334A592-406D-4ECA-8063-C89B5C8C251E}" type="presParOf" srcId="{67A6475B-C843-4769-AFD7-BD620849CA3A}" destId="{4F479855-378F-4D03-960B-E6F8A5F36BE8}" srcOrd="1" destOrd="0" presId="urn:microsoft.com/office/officeart/2005/8/layout/list1#1"/>
    <dgm:cxn modelId="{F0D96521-622C-47AB-AFF3-F4CF044924AD}" type="presParOf" srcId="{1F9E5051-CCF5-4A33-A6E9-64414976A650}" destId="{4B2F4E33-FA0D-45C9-803C-2CC0271C8E37}" srcOrd="5" destOrd="0" presId="urn:microsoft.com/office/officeart/2005/8/layout/list1#1"/>
    <dgm:cxn modelId="{9FE99DFF-C7AA-439C-A2F3-848CABCE81E4}" type="presParOf" srcId="{1F9E5051-CCF5-4A33-A6E9-64414976A650}" destId="{1BB52BDE-442F-421C-B0F1-427936E17B4E}" srcOrd="6" destOrd="0" presId="urn:microsoft.com/office/officeart/2005/8/layout/list1#1"/>
    <dgm:cxn modelId="{E12DF517-652A-4AA2-B663-56D38FA74225}" type="presParOf" srcId="{1F9E5051-CCF5-4A33-A6E9-64414976A650}" destId="{4181A8A4-D221-487B-8F17-E170D730C7F3}" srcOrd="7" destOrd="0" presId="urn:microsoft.com/office/officeart/2005/8/layout/list1#1"/>
    <dgm:cxn modelId="{BA0DDDD6-73C7-4C1F-A400-AD4A0DB702C6}" type="presParOf" srcId="{1F9E5051-CCF5-4A33-A6E9-64414976A650}" destId="{70E5C4EF-B51E-438D-A083-CA000233B185}" srcOrd="8" destOrd="0" presId="urn:microsoft.com/office/officeart/2005/8/layout/list1#1"/>
    <dgm:cxn modelId="{30962298-70D2-41E2-9B8A-0167E4BE607B}" type="presParOf" srcId="{70E5C4EF-B51E-438D-A083-CA000233B185}" destId="{52AC27CC-DEA6-4698-924F-E39ED5060F9D}" srcOrd="0" destOrd="0" presId="urn:microsoft.com/office/officeart/2005/8/layout/list1#1"/>
    <dgm:cxn modelId="{1A222B7D-B67A-4C3E-9C87-1250A5253EEC}" type="presParOf" srcId="{70E5C4EF-B51E-438D-A083-CA000233B185}" destId="{05B1D53B-862E-473A-8C4A-4F092E184EE5}" srcOrd="1" destOrd="0" presId="urn:microsoft.com/office/officeart/2005/8/layout/list1#1"/>
    <dgm:cxn modelId="{A75229C9-FBEC-49DA-A484-073E7FBAC728}" type="presParOf" srcId="{1F9E5051-CCF5-4A33-A6E9-64414976A650}" destId="{37E37543-E3F7-4FB7-B815-978E6B45ADA8}" srcOrd="9" destOrd="0" presId="urn:microsoft.com/office/officeart/2005/8/layout/list1#1"/>
    <dgm:cxn modelId="{B59D8263-4887-4D67-BE6C-CED54CDA2385}" type="presParOf" srcId="{1F9E5051-CCF5-4A33-A6E9-64414976A650}" destId="{82C7D334-A469-4AAB-80F8-6B34A23098CC}" srcOrd="10" destOrd="0" presId="urn:microsoft.com/office/officeart/2005/8/layout/list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59482F-45E3-424C-97E7-6642D85469CE}">
      <dsp:nvSpPr>
        <dsp:cNvPr id="0" name=""/>
        <dsp:cNvSpPr/>
      </dsp:nvSpPr>
      <dsp:spPr>
        <a:xfrm>
          <a:off x="0" y="480529"/>
          <a:ext cx="6096000" cy="7812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09F359-301E-4C8A-A678-3A5064987B42}">
      <dsp:nvSpPr>
        <dsp:cNvPr id="0" name=""/>
        <dsp:cNvSpPr/>
      </dsp:nvSpPr>
      <dsp:spPr>
        <a:xfrm>
          <a:off x="304800" y="22969"/>
          <a:ext cx="4267200" cy="915120"/>
        </a:xfrm>
        <a:prstGeom prst="roundRect">
          <a:avLst/>
        </a:prstGeom>
        <a:solidFill>
          <a:srgbClr val="C0000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90000"/>
            </a:lnSpc>
            <a:spcBef>
              <a:spcPct val="0"/>
            </a:spcBef>
            <a:spcAft>
              <a:spcPct val="35000"/>
            </a:spcAft>
          </a:pPr>
          <a:r>
            <a:rPr lang="zh-CN" altLang="en-US" sz="2000" b="1" kern="1200"/>
            <a:t>自我介绍</a:t>
          </a:r>
        </a:p>
      </dsp:txBody>
      <dsp:txXfrm>
        <a:off x="349472" y="67641"/>
        <a:ext cx="4177856" cy="825776"/>
      </dsp:txXfrm>
    </dsp:sp>
    <dsp:sp modelId="{1BB52BDE-442F-421C-B0F1-427936E17B4E}">
      <dsp:nvSpPr>
        <dsp:cNvPr id="0" name=""/>
        <dsp:cNvSpPr/>
      </dsp:nvSpPr>
      <dsp:spPr>
        <a:xfrm>
          <a:off x="0" y="1886689"/>
          <a:ext cx="6096000" cy="781200"/>
        </a:xfrm>
        <a:prstGeom prst="rect">
          <a:avLst/>
        </a:prstGeom>
        <a:solidFill>
          <a:schemeClr val="lt1">
            <a:alpha val="90000"/>
            <a:hueOff val="0"/>
            <a:satOff val="0"/>
            <a:lumOff val="0"/>
            <a:alphaOff val="0"/>
          </a:schemeClr>
        </a:solidFill>
        <a:ln w="25400" cap="flat" cmpd="sng" algn="ctr">
          <a:solidFill>
            <a:schemeClr val="accent3">
              <a:hueOff val="5625132"/>
              <a:satOff val="-8440"/>
              <a:lumOff val="-1373"/>
              <a:alphaOff val="0"/>
            </a:schemeClr>
          </a:solidFill>
          <a:prstDash val="solid"/>
        </a:ln>
        <a:effectLst/>
      </dsp:spPr>
      <dsp:style>
        <a:lnRef idx="2">
          <a:scrgbClr r="0" g="0" b="0"/>
        </a:lnRef>
        <a:fillRef idx="1">
          <a:scrgbClr r="0" g="0" b="0"/>
        </a:fillRef>
        <a:effectRef idx="0">
          <a:scrgbClr r="0" g="0" b="0"/>
        </a:effectRef>
        <a:fontRef idx="minor"/>
      </dsp:style>
    </dsp:sp>
    <dsp:sp modelId="{4F479855-378F-4D03-960B-E6F8A5F36BE8}">
      <dsp:nvSpPr>
        <dsp:cNvPr id="0" name=""/>
        <dsp:cNvSpPr/>
      </dsp:nvSpPr>
      <dsp:spPr>
        <a:xfrm>
          <a:off x="304800" y="1429129"/>
          <a:ext cx="4267200" cy="915120"/>
        </a:xfrm>
        <a:prstGeom prst="roundRect">
          <a:avLst/>
        </a:prstGeom>
        <a:solidFill>
          <a:schemeClr val="accent3">
            <a:hueOff val="5625132"/>
            <a:satOff val="-8440"/>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a:t>实习期间的工作</a:t>
          </a:r>
          <a:endParaRPr sz="1800" kern="1200" dirty="0"/>
        </a:p>
      </dsp:txBody>
      <dsp:txXfrm>
        <a:off x="349472" y="1473801"/>
        <a:ext cx="4177856" cy="825776"/>
      </dsp:txXfrm>
    </dsp:sp>
    <dsp:sp modelId="{82C7D334-A469-4AAB-80F8-6B34A23098CC}">
      <dsp:nvSpPr>
        <dsp:cNvPr id="0" name=""/>
        <dsp:cNvSpPr/>
      </dsp:nvSpPr>
      <dsp:spPr>
        <a:xfrm>
          <a:off x="0" y="3292850"/>
          <a:ext cx="6096000" cy="781200"/>
        </a:xfrm>
        <a:prstGeom prst="rect">
          <a:avLst/>
        </a:prstGeom>
        <a:solidFill>
          <a:schemeClr val="lt1">
            <a:alpha val="90000"/>
            <a:hueOff val="0"/>
            <a:satOff val="0"/>
            <a:lumOff val="0"/>
            <a:alphaOff val="0"/>
          </a:schemeClr>
        </a:solidFill>
        <a:ln w="25400" cap="flat" cmpd="sng" algn="ctr">
          <a:solidFill>
            <a:schemeClr val="accent3">
              <a:hueOff val="11250264"/>
              <a:satOff val="-16880"/>
              <a:lumOff val="-2745"/>
              <a:alphaOff val="0"/>
            </a:schemeClr>
          </a:solidFill>
          <a:prstDash val="solid"/>
        </a:ln>
        <a:effectLst/>
      </dsp:spPr>
      <dsp:style>
        <a:lnRef idx="2">
          <a:scrgbClr r="0" g="0" b="0"/>
        </a:lnRef>
        <a:fillRef idx="1">
          <a:scrgbClr r="0" g="0" b="0"/>
        </a:fillRef>
        <a:effectRef idx="0">
          <a:scrgbClr r="0" g="0" b="0"/>
        </a:effectRef>
        <a:fontRef idx="minor"/>
      </dsp:style>
    </dsp:sp>
    <dsp:sp modelId="{05B1D53B-862E-473A-8C4A-4F092E184EE5}">
      <dsp:nvSpPr>
        <dsp:cNvPr id="0" name=""/>
        <dsp:cNvSpPr/>
      </dsp:nvSpPr>
      <dsp:spPr>
        <a:xfrm>
          <a:off x="304800" y="2835290"/>
          <a:ext cx="4267200" cy="915120"/>
        </a:xfrm>
        <a:prstGeom prst="roundRect">
          <a:avLst/>
        </a:prstGeom>
        <a:solidFill>
          <a:schemeClr val="accent3">
            <a:hueOff val="11250264"/>
            <a:satOff val="-16880"/>
            <a:lumOff val="-274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00100">
            <a:lnSpc>
              <a:spcPct val="100000"/>
            </a:lnSpc>
            <a:spcBef>
              <a:spcPct val="0"/>
            </a:spcBef>
            <a:spcAft>
              <a:spcPct val="35000"/>
            </a:spcAft>
          </a:pPr>
          <a:r>
            <a:rPr lang="zh-CN" altLang="en-US" sz="1800" kern="1200" dirty="0" smtClean="0"/>
            <a:t>工作总结</a:t>
          </a:r>
          <a:r>
            <a:rPr lang="zh-CN" altLang="en-US" sz="1800" kern="1200" dirty="0"/>
            <a:t>与个人发展计划</a:t>
          </a:r>
          <a:endParaRPr sz="1800" kern="1200" dirty="0"/>
        </a:p>
      </dsp:txBody>
      <dsp:txXfrm>
        <a:off x="349472" y="2879962"/>
        <a:ext cx="4177856" cy="825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59482F-45E3-424C-97E7-6642D85469CE}">
      <dsp:nvSpPr>
        <dsp:cNvPr id="0" name=""/>
        <dsp:cNvSpPr/>
      </dsp:nvSpPr>
      <dsp:spPr>
        <a:xfrm>
          <a:off x="0" y="480529"/>
          <a:ext cx="6096000" cy="7812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09F359-301E-4C8A-A678-3A5064987B42}">
      <dsp:nvSpPr>
        <dsp:cNvPr id="0" name=""/>
        <dsp:cNvSpPr/>
      </dsp:nvSpPr>
      <dsp:spPr>
        <a:xfrm>
          <a:off x="304800" y="22969"/>
          <a:ext cx="4267200" cy="915120"/>
        </a:xfrm>
        <a:prstGeom prst="roundRect">
          <a:avLst/>
        </a:prstGeom>
        <a:solidFill>
          <a:srgbClr val="C0000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90000"/>
            </a:lnSpc>
            <a:spcBef>
              <a:spcPct val="0"/>
            </a:spcBef>
            <a:spcAft>
              <a:spcPct val="35000"/>
            </a:spcAft>
          </a:pPr>
          <a:r>
            <a:rPr lang="en-US" sz="2000" b="1" kern="1200" dirty="0" err="1" smtClean="0"/>
            <a:t>M</a:t>
          </a:r>
          <a:r>
            <a:rPr lang="en-US" altLang="zh-CN" sz="2000" b="1" kern="1200" dirty="0" err="1" smtClean="0"/>
            <a:t>lu</a:t>
          </a:r>
          <a:r>
            <a:rPr lang="zh-CN" altLang="en-US" sz="2000" b="1" kern="1200" dirty="0" smtClean="0"/>
            <a:t>平台算子</a:t>
          </a:r>
          <a:r>
            <a:rPr lang="zh-CN" altLang="en-US" sz="2000" b="1" kern="1200" dirty="0" smtClean="0"/>
            <a:t>优化与</a:t>
          </a:r>
          <a:r>
            <a:rPr lang="en-US" altLang="en-US" sz="2000" b="1" kern="1200" dirty="0" err="1" smtClean="0"/>
            <a:t>vllm</a:t>
          </a:r>
          <a:r>
            <a:rPr lang="zh-CN" altLang="en-US" sz="2000" b="1" kern="1200" dirty="0" smtClean="0"/>
            <a:t>优化</a:t>
          </a:r>
          <a:endParaRPr lang="zh-CN" altLang="en-US" sz="2000" b="1" kern="1200" dirty="0"/>
        </a:p>
      </dsp:txBody>
      <dsp:txXfrm>
        <a:off x="349472" y="67641"/>
        <a:ext cx="4177856" cy="825776"/>
      </dsp:txXfrm>
    </dsp:sp>
    <dsp:sp modelId="{1BB52BDE-442F-421C-B0F1-427936E17B4E}">
      <dsp:nvSpPr>
        <dsp:cNvPr id="0" name=""/>
        <dsp:cNvSpPr/>
      </dsp:nvSpPr>
      <dsp:spPr>
        <a:xfrm>
          <a:off x="0" y="1886689"/>
          <a:ext cx="6096000" cy="781200"/>
        </a:xfrm>
        <a:prstGeom prst="rect">
          <a:avLst/>
        </a:prstGeom>
        <a:solidFill>
          <a:schemeClr val="lt1">
            <a:alpha val="90000"/>
            <a:hueOff val="0"/>
            <a:satOff val="0"/>
            <a:lumOff val="0"/>
            <a:alphaOff val="0"/>
          </a:schemeClr>
        </a:solidFill>
        <a:ln w="25400" cap="flat" cmpd="sng" algn="ctr">
          <a:solidFill>
            <a:schemeClr val="accent3">
              <a:hueOff val="5625132"/>
              <a:satOff val="-8440"/>
              <a:lumOff val="-1373"/>
              <a:alphaOff val="0"/>
            </a:schemeClr>
          </a:solidFill>
          <a:prstDash val="solid"/>
        </a:ln>
        <a:effectLst/>
      </dsp:spPr>
      <dsp:style>
        <a:lnRef idx="2">
          <a:scrgbClr r="0" g="0" b="0"/>
        </a:lnRef>
        <a:fillRef idx="1">
          <a:scrgbClr r="0" g="0" b="0"/>
        </a:fillRef>
        <a:effectRef idx="0">
          <a:scrgbClr r="0" g="0" b="0"/>
        </a:effectRef>
        <a:fontRef idx="minor"/>
      </dsp:style>
    </dsp:sp>
    <dsp:sp modelId="{4F479855-378F-4D03-960B-E6F8A5F36BE8}">
      <dsp:nvSpPr>
        <dsp:cNvPr id="0" name=""/>
        <dsp:cNvSpPr/>
      </dsp:nvSpPr>
      <dsp:spPr>
        <a:xfrm>
          <a:off x="304800" y="1429129"/>
          <a:ext cx="4267200" cy="915120"/>
        </a:xfrm>
        <a:prstGeom prst="roundRect">
          <a:avLst/>
        </a:prstGeom>
        <a:solidFill>
          <a:schemeClr val="accent3">
            <a:hueOff val="5625132"/>
            <a:satOff val="-8440"/>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smtClean="0"/>
            <a:t>寒武纪算子开发</a:t>
          </a:r>
          <a:r>
            <a:rPr lang="en-US" altLang="en-US" sz="2000" b="1" kern="1200" dirty="0" smtClean="0"/>
            <a:t>SKILL</a:t>
          </a:r>
          <a:r>
            <a:rPr lang="zh-CN" altLang="en-US" sz="2000" b="1" kern="1200" dirty="0" smtClean="0"/>
            <a:t>优化</a:t>
          </a:r>
          <a:endParaRPr sz="1800" kern="1200" dirty="0"/>
        </a:p>
      </dsp:txBody>
      <dsp:txXfrm>
        <a:off x="349472" y="1473801"/>
        <a:ext cx="4177856" cy="825776"/>
      </dsp:txXfrm>
    </dsp:sp>
    <dsp:sp modelId="{82C7D334-A469-4AAB-80F8-6B34A23098CC}">
      <dsp:nvSpPr>
        <dsp:cNvPr id="0" name=""/>
        <dsp:cNvSpPr/>
      </dsp:nvSpPr>
      <dsp:spPr>
        <a:xfrm>
          <a:off x="0" y="3292850"/>
          <a:ext cx="6096000" cy="781200"/>
        </a:xfrm>
        <a:prstGeom prst="rect">
          <a:avLst/>
        </a:prstGeom>
        <a:solidFill>
          <a:schemeClr val="lt1">
            <a:alpha val="90000"/>
            <a:hueOff val="0"/>
            <a:satOff val="0"/>
            <a:lumOff val="0"/>
            <a:alphaOff val="0"/>
          </a:schemeClr>
        </a:solidFill>
        <a:ln w="25400" cap="flat" cmpd="sng" algn="ctr">
          <a:solidFill>
            <a:schemeClr val="accent3">
              <a:hueOff val="11250264"/>
              <a:satOff val="-16880"/>
              <a:lumOff val="-2745"/>
              <a:alphaOff val="0"/>
            </a:schemeClr>
          </a:solidFill>
          <a:prstDash val="solid"/>
        </a:ln>
        <a:effectLst/>
      </dsp:spPr>
      <dsp:style>
        <a:lnRef idx="2">
          <a:scrgbClr r="0" g="0" b="0"/>
        </a:lnRef>
        <a:fillRef idx="1">
          <a:scrgbClr r="0" g="0" b="0"/>
        </a:fillRef>
        <a:effectRef idx="0">
          <a:scrgbClr r="0" g="0" b="0"/>
        </a:effectRef>
        <a:fontRef idx="minor"/>
      </dsp:style>
    </dsp:sp>
    <dsp:sp modelId="{05B1D53B-862E-473A-8C4A-4F092E184EE5}">
      <dsp:nvSpPr>
        <dsp:cNvPr id="0" name=""/>
        <dsp:cNvSpPr/>
      </dsp:nvSpPr>
      <dsp:spPr>
        <a:xfrm>
          <a:off x="304800" y="2835290"/>
          <a:ext cx="4267200" cy="915120"/>
        </a:xfrm>
        <a:prstGeom prst="roundRect">
          <a:avLst/>
        </a:prstGeom>
        <a:solidFill>
          <a:schemeClr val="accent3">
            <a:hueOff val="11250264"/>
            <a:satOff val="-16880"/>
            <a:lumOff val="-274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smtClean="0"/>
            <a:t>算子开发 </a:t>
          </a:r>
          <a:r>
            <a:rPr lang="en-US" altLang="zh-CN" sz="2000" b="1" kern="1200" dirty="0" smtClean="0"/>
            <a:t>Skill </a:t>
          </a:r>
          <a:r>
            <a:rPr lang="zh-CN" altLang="en-US" sz="2000" b="1" kern="1200" dirty="0" smtClean="0"/>
            <a:t>的开发指南</a:t>
          </a:r>
          <a:endParaRPr sz="2000" b="1" kern="1200" dirty="0"/>
        </a:p>
      </dsp:txBody>
      <dsp:txXfrm>
        <a:off x="349472" y="2879962"/>
        <a:ext cx="4177856" cy="82577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59482F-45E3-424C-97E7-6642D85469CE}">
      <dsp:nvSpPr>
        <dsp:cNvPr id="0" name=""/>
        <dsp:cNvSpPr/>
      </dsp:nvSpPr>
      <dsp:spPr>
        <a:xfrm>
          <a:off x="0" y="480529"/>
          <a:ext cx="6096000" cy="7812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09F359-301E-4C8A-A678-3A5064987B42}">
      <dsp:nvSpPr>
        <dsp:cNvPr id="0" name=""/>
        <dsp:cNvSpPr/>
      </dsp:nvSpPr>
      <dsp:spPr>
        <a:xfrm>
          <a:off x="304800" y="22969"/>
          <a:ext cx="4267200" cy="915120"/>
        </a:xfrm>
        <a:prstGeom prst="roundRect">
          <a:avLst/>
        </a:prstGeom>
        <a:solidFill>
          <a:srgbClr val="C0000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90000"/>
            </a:lnSpc>
            <a:spcBef>
              <a:spcPct val="0"/>
            </a:spcBef>
            <a:spcAft>
              <a:spcPct val="35000"/>
            </a:spcAft>
          </a:pPr>
          <a:r>
            <a:rPr lang="en-US" sz="2000" b="1" kern="1200" dirty="0" err="1" smtClean="0"/>
            <a:t>M</a:t>
          </a:r>
          <a:r>
            <a:rPr lang="en-US" altLang="zh-CN" sz="2000" b="1" kern="1200" dirty="0" err="1" smtClean="0"/>
            <a:t>lu</a:t>
          </a:r>
          <a:r>
            <a:rPr lang="zh-CN" altLang="en-US" sz="2000" b="1" kern="1200" dirty="0" smtClean="0"/>
            <a:t>平台算子优化</a:t>
          </a:r>
          <a:endParaRPr lang="zh-CN" altLang="en-US" sz="2000" b="1" kern="1200" dirty="0"/>
        </a:p>
      </dsp:txBody>
      <dsp:txXfrm>
        <a:off x="349472" y="67641"/>
        <a:ext cx="4177856" cy="825776"/>
      </dsp:txXfrm>
    </dsp:sp>
    <dsp:sp modelId="{1BB52BDE-442F-421C-B0F1-427936E17B4E}">
      <dsp:nvSpPr>
        <dsp:cNvPr id="0" name=""/>
        <dsp:cNvSpPr/>
      </dsp:nvSpPr>
      <dsp:spPr>
        <a:xfrm>
          <a:off x="0" y="1886689"/>
          <a:ext cx="6096000" cy="781200"/>
        </a:xfrm>
        <a:prstGeom prst="rect">
          <a:avLst/>
        </a:prstGeom>
        <a:solidFill>
          <a:schemeClr val="lt1">
            <a:alpha val="90000"/>
            <a:hueOff val="0"/>
            <a:satOff val="0"/>
            <a:lumOff val="0"/>
            <a:alphaOff val="0"/>
          </a:schemeClr>
        </a:solidFill>
        <a:ln w="25400" cap="flat" cmpd="sng" algn="ctr">
          <a:solidFill>
            <a:schemeClr val="accent3">
              <a:hueOff val="5625132"/>
              <a:satOff val="-8440"/>
              <a:lumOff val="-1373"/>
              <a:alphaOff val="0"/>
            </a:schemeClr>
          </a:solidFill>
          <a:prstDash val="solid"/>
        </a:ln>
        <a:effectLst/>
      </dsp:spPr>
      <dsp:style>
        <a:lnRef idx="2">
          <a:scrgbClr r="0" g="0" b="0"/>
        </a:lnRef>
        <a:fillRef idx="1">
          <a:scrgbClr r="0" g="0" b="0"/>
        </a:fillRef>
        <a:effectRef idx="0">
          <a:scrgbClr r="0" g="0" b="0"/>
        </a:effectRef>
        <a:fontRef idx="minor"/>
      </dsp:style>
    </dsp:sp>
    <dsp:sp modelId="{4F479855-378F-4D03-960B-E6F8A5F36BE8}">
      <dsp:nvSpPr>
        <dsp:cNvPr id="0" name=""/>
        <dsp:cNvSpPr/>
      </dsp:nvSpPr>
      <dsp:spPr>
        <a:xfrm>
          <a:off x="304800" y="1429129"/>
          <a:ext cx="4267200" cy="915120"/>
        </a:xfrm>
        <a:prstGeom prst="roundRect">
          <a:avLst/>
        </a:prstGeom>
        <a:solidFill>
          <a:schemeClr val="accent3">
            <a:hueOff val="5625132"/>
            <a:satOff val="-8440"/>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smtClean="0"/>
            <a:t>寒武纪算子开发</a:t>
          </a:r>
          <a:r>
            <a:rPr lang="en-US" altLang="en-US" sz="2000" b="1" kern="1200" dirty="0" smtClean="0"/>
            <a:t>SKILL</a:t>
          </a:r>
          <a:r>
            <a:rPr lang="zh-CN" altLang="en-US" sz="2000" b="1" kern="1200" dirty="0" smtClean="0"/>
            <a:t>优化</a:t>
          </a:r>
          <a:endParaRPr sz="1800" kern="1200" dirty="0"/>
        </a:p>
      </dsp:txBody>
      <dsp:txXfrm>
        <a:off x="349472" y="1473801"/>
        <a:ext cx="4177856" cy="825776"/>
      </dsp:txXfrm>
    </dsp:sp>
    <dsp:sp modelId="{82C7D334-A469-4AAB-80F8-6B34A23098CC}">
      <dsp:nvSpPr>
        <dsp:cNvPr id="0" name=""/>
        <dsp:cNvSpPr/>
      </dsp:nvSpPr>
      <dsp:spPr>
        <a:xfrm>
          <a:off x="0" y="3292850"/>
          <a:ext cx="6096000" cy="781200"/>
        </a:xfrm>
        <a:prstGeom prst="rect">
          <a:avLst/>
        </a:prstGeom>
        <a:solidFill>
          <a:schemeClr val="lt1">
            <a:alpha val="90000"/>
            <a:hueOff val="0"/>
            <a:satOff val="0"/>
            <a:lumOff val="0"/>
            <a:alphaOff val="0"/>
          </a:schemeClr>
        </a:solidFill>
        <a:ln w="25400" cap="flat" cmpd="sng" algn="ctr">
          <a:solidFill>
            <a:schemeClr val="accent3">
              <a:hueOff val="11250264"/>
              <a:satOff val="-16880"/>
              <a:lumOff val="-2745"/>
              <a:alphaOff val="0"/>
            </a:schemeClr>
          </a:solidFill>
          <a:prstDash val="solid"/>
        </a:ln>
        <a:effectLst/>
      </dsp:spPr>
      <dsp:style>
        <a:lnRef idx="2">
          <a:scrgbClr r="0" g="0" b="0"/>
        </a:lnRef>
        <a:fillRef idx="1">
          <a:scrgbClr r="0" g="0" b="0"/>
        </a:fillRef>
        <a:effectRef idx="0">
          <a:scrgbClr r="0" g="0" b="0"/>
        </a:effectRef>
        <a:fontRef idx="minor"/>
      </dsp:style>
    </dsp:sp>
    <dsp:sp modelId="{05B1D53B-862E-473A-8C4A-4F092E184EE5}">
      <dsp:nvSpPr>
        <dsp:cNvPr id="0" name=""/>
        <dsp:cNvSpPr/>
      </dsp:nvSpPr>
      <dsp:spPr>
        <a:xfrm>
          <a:off x="304800" y="2835290"/>
          <a:ext cx="4267200" cy="915120"/>
        </a:xfrm>
        <a:prstGeom prst="roundRect">
          <a:avLst/>
        </a:prstGeom>
        <a:solidFill>
          <a:schemeClr val="accent3">
            <a:hueOff val="11250264"/>
            <a:satOff val="-16880"/>
            <a:lumOff val="-274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smtClean="0"/>
            <a:t>算子开发 </a:t>
          </a:r>
          <a:r>
            <a:rPr lang="en-US" altLang="zh-CN" sz="2000" b="1" kern="1200" dirty="0" smtClean="0"/>
            <a:t>Skill </a:t>
          </a:r>
          <a:r>
            <a:rPr lang="zh-CN" altLang="en-US" sz="2000" b="1" kern="1200" dirty="0" smtClean="0"/>
            <a:t>开发指南</a:t>
          </a:r>
          <a:endParaRPr sz="2000" b="1" kern="1200" dirty="0"/>
        </a:p>
      </dsp:txBody>
      <dsp:txXfrm>
        <a:off x="349472" y="2879962"/>
        <a:ext cx="4177856" cy="82577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59482F-45E3-424C-97E7-6642D85469CE}">
      <dsp:nvSpPr>
        <dsp:cNvPr id="0" name=""/>
        <dsp:cNvSpPr/>
      </dsp:nvSpPr>
      <dsp:spPr>
        <a:xfrm>
          <a:off x="0" y="480529"/>
          <a:ext cx="6096000" cy="7812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09F359-301E-4C8A-A678-3A5064987B42}">
      <dsp:nvSpPr>
        <dsp:cNvPr id="0" name=""/>
        <dsp:cNvSpPr/>
      </dsp:nvSpPr>
      <dsp:spPr>
        <a:xfrm>
          <a:off x="304800" y="22969"/>
          <a:ext cx="4267200" cy="915120"/>
        </a:xfrm>
        <a:prstGeom prst="roundRect">
          <a:avLst/>
        </a:prstGeom>
        <a:solidFill>
          <a:srgbClr val="C0000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90000"/>
            </a:lnSpc>
            <a:spcBef>
              <a:spcPct val="0"/>
            </a:spcBef>
            <a:spcAft>
              <a:spcPct val="35000"/>
            </a:spcAft>
          </a:pPr>
          <a:r>
            <a:rPr lang="en-US" sz="2000" b="1" kern="1200" dirty="0" err="1" smtClean="0"/>
            <a:t>M</a:t>
          </a:r>
          <a:r>
            <a:rPr lang="en-US" altLang="zh-CN" sz="2000" b="1" kern="1200" dirty="0" err="1" smtClean="0"/>
            <a:t>lu</a:t>
          </a:r>
          <a:r>
            <a:rPr lang="zh-CN" altLang="en-US" sz="2000" b="1" kern="1200" dirty="0" smtClean="0"/>
            <a:t>平台算子优化</a:t>
          </a:r>
          <a:endParaRPr lang="zh-CN" altLang="en-US" sz="2000" b="1" kern="1200" dirty="0"/>
        </a:p>
      </dsp:txBody>
      <dsp:txXfrm>
        <a:off x="349472" y="67641"/>
        <a:ext cx="4177856" cy="825776"/>
      </dsp:txXfrm>
    </dsp:sp>
    <dsp:sp modelId="{1BB52BDE-442F-421C-B0F1-427936E17B4E}">
      <dsp:nvSpPr>
        <dsp:cNvPr id="0" name=""/>
        <dsp:cNvSpPr/>
      </dsp:nvSpPr>
      <dsp:spPr>
        <a:xfrm>
          <a:off x="0" y="1886689"/>
          <a:ext cx="6096000" cy="781200"/>
        </a:xfrm>
        <a:prstGeom prst="rect">
          <a:avLst/>
        </a:prstGeom>
        <a:solidFill>
          <a:schemeClr val="lt1">
            <a:alpha val="90000"/>
            <a:hueOff val="0"/>
            <a:satOff val="0"/>
            <a:lumOff val="0"/>
            <a:alphaOff val="0"/>
          </a:schemeClr>
        </a:solidFill>
        <a:ln w="25400" cap="flat" cmpd="sng" algn="ctr">
          <a:solidFill>
            <a:schemeClr val="accent3">
              <a:hueOff val="5625132"/>
              <a:satOff val="-8440"/>
              <a:lumOff val="-1373"/>
              <a:alphaOff val="0"/>
            </a:schemeClr>
          </a:solidFill>
          <a:prstDash val="solid"/>
        </a:ln>
        <a:effectLst/>
      </dsp:spPr>
      <dsp:style>
        <a:lnRef idx="2">
          <a:scrgbClr r="0" g="0" b="0"/>
        </a:lnRef>
        <a:fillRef idx="1">
          <a:scrgbClr r="0" g="0" b="0"/>
        </a:fillRef>
        <a:effectRef idx="0">
          <a:scrgbClr r="0" g="0" b="0"/>
        </a:effectRef>
        <a:fontRef idx="minor"/>
      </dsp:style>
    </dsp:sp>
    <dsp:sp modelId="{4F479855-378F-4D03-960B-E6F8A5F36BE8}">
      <dsp:nvSpPr>
        <dsp:cNvPr id="0" name=""/>
        <dsp:cNvSpPr/>
      </dsp:nvSpPr>
      <dsp:spPr>
        <a:xfrm>
          <a:off x="304800" y="1429129"/>
          <a:ext cx="4267200" cy="915120"/>
        </a:xfrm>
        <a:prstGeom prst="roundRect">
          <a:avLst/>
        </a:prstGeom>
        <a:solidFill>
          <a:schemeClr val="accent3">
            <a:hueOff val="5625132"/>
            <a:satOff val="-8440"/>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smtClean="0"/>
            <a:t>寒武纪算子开发</a:t>
          </a:r>
          <a:r>
            <a:rPr lang="en-US" altLang="en-US" sz="2000" b="1" kern="1200" dirty="0" smtClean="0"/>
            <a:t>SKILL</a:t>
          </a:r>
          <a:r>
            <a:rPr lang="zh-CN" altLang="en-US" sz="2000" b="1" kern="1200" dirty="0" smtClean="0"/>
            <a:t>优化</a:t>
          </a:r>
          <a:endParaRPr sz="1800" kern="1200" dirty="0"/>
        </a:p>
      </dsp:txBody>
      <dsp:txXfrm>
        <a:off x="349472" y="1473801"/>
        <a:ext cx="4177856" cy="825776"/>
      </dsp:txXfrm>
    </dsp:sp>
    <dsp:sp modelId="{82C7D334-A469-4AAB-80F8-6B34A23098CC}">
      <dsp:nvSpPr>
        <dsp:cNvPr id="0" name=""/>
        <dsp:cNvSpPr/>
      </dsp:nvSpPr>
      <dsp:spPr>
        <a:xfrm>
          <a:off x="0" y="3292850"/>
          <a:ext cx="6096000" cy="781200"/>
        </a:xfrm>
        <a:prstGeom prst="rect">
          <a:avLst/>
        </a:prstGeom>
        <a:solidFill>
          <a:schemeClr val="lt1">
            <a:alpha val="90000"/>
            <a:hueOff val="0"/>
            <a:satOff val="0"/>
            <a:lumOff val="0"/>
            <a:alphaOff val="0"/>
          </a:schemeClr>
        </a:solidFill>
        <a:ln w="25400" cap="flat" cmpd="sng" algn="ctr">
          <a:solidFill>
            <a:schemeClr val="accent3">
              <a:hueOff val="11250264"/>
              <a:satOff val="-16880"/>
              <a:lumOff val="-2745"/>
              <a:alphaOff val="0"/>
            </a:schemeClr>
          </a:solidFill>
          <a:prstDash val="solid"/>
        </a:ln>
        <a:effectLst/>
      </dsp:spPr>
      <dsp:style>
        <a:lnRef idx="2">
          <a:scrgbClr r="0" g="0" b="0"/>
        </a:lnRef>
        <a:fillRef idx="1">
          <a:scrgbClr r="0" g="0" b="0"/>
        </a:fillRef>
        <a:effectRef idx="0">
          <a:scrgbClr r="0" g="0" b="0"/>
        </a:effectRef>
        <a:fontRef idx="minor"/>
      </dsp:style>
    </dsp:sp>
    <dsp:sp modelId="{05B1D53B-862E-473A-8C4A-4F092E184EE5}">
      <dsp:nvSpPr>
        <dsp:cNvPr id="0" name=""/>
        <dsp:cNvSpPr/>
      </dsp:nvSpPr>
      <dsp:spPr>
        <a:xfrm>
          <a:off x="304800" y="2835290"/>
          <a:ext cx="4267200" cy="915120"/>
        </a:xfrm>
        <a:prstGeom prst="roundRect">
          <a:avLst/>
        </a:prstGeom>
        <a:solidFill>
          <a:schemeClr val="accent3">
            <a:hueOff val="11250264"/>
            <a:satOff val="-16880"/>
            <a:lumOff val="-274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1290" tIns="0" rIns="161290" bIns="0" numCol="1" spcCol="1270" anchor="ctr" anchorCtr="0">
          <a:noAutofit/>
        </a:bodyPr>
        <a:lstStyle/>
        <a:p>
          <a:pPr lvl="0" algn="l" defTabSz="889000">
            <a:lnSpc>
              <a:spcPct val="100000"/>
            </a:lnSpc>
            <a:spcBef>
              <a:spcPct val="0"/>
            </a:spcBef>
            <a:spcAft>
              <a:spcPct val="35000"/>
            </a:spcAft>
          </a:pPr>
          <a:r>
            <a:rPr lang="zh-CN" altLang="en-US" sz="2000" b="1" kern="1200" dirty="0" smtClean="0"/>
            <a:t>算子开发 </a:t>
          </a:r>
          <a:r>
            <a:rPr lang="en-US" altLang="zh-CN" sz="2000" b="1" kern="1200" dirty="0" smtClean="0"/>
            <a:t>Skill </a:t>
          </a:r>
          <a:r>
            <a:rPr lang="zh-CN" altLang="en-US" sz="2000" b="1" kern="1200" dirty="0" smtClean="0"/>
            <a:t>开发指南</a:t>
          </a:r>
          <a:endParaRPr sz="2000" b="1" kern="1200" dirty="0"/>
        </a:p>
      </dsp:txBody>
      <dsp:txXfrm>
        <a:off x="349472" y="2879962"/>
        <a:ext cx="4177856" cy="825776"/>
      </dsp:txXfrm>
    </dsp:sp>
  </dsp:spTree>
</dsp:drawing>
</file>

<file path=ppt/diagrams/layout1.xml><?xml version="1.0" encoding="utf-8"?>
<dgm:layoutDef xmlns:dgm="http://schemas.openxmlformats.org/drawingml/2006/diagram" xmlns:a="http://schemas.openxmlformats.org/drawingml/2006/main" uniqueId="urn:microsoft.com/office/officeart/2005/8/layout/list1#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rSet qsTypeId="urn:microsoft.com/office/officeart/2005/8/quickstyle/simple5"/>
        </dgm:pt>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nodeHorzAlign" val="l"/>
          <dgm:param type="horzAlign" val="l"/>
        </dgm:alg>
      </dgm:if>
      <dgm:else name="Name2">
        <dgm:alg type="lin">
          <dgm:param type="linDir" val="fromT"/>
          <dgm:param type="vertAlign" val="mid"/>
          <dgm:param type="nodeHorzAlign" val="r"/>
          <dgm:param typ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nodeHorzAlign" val="l"/>
              <dgm:param type="horzAlign" val="l"/>
            </dgm:alg>
          </dgm:if>
          <dgm:else name="Name6">
            <dgm:alg type="lin">
              <dgm:param type="linDir" val="fromR"/>
              <dgm:param type="nodeHorzAlign" val="r"/>
              <dgm:param typ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rSet qsTypeId="urn:microsoft.com/office/officeart/2005/8/quickstyle/simple5"/>
        </dgm:pt>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nodeHorzAlign" val="l"/>
          <dgm:param type="horzAlign" val="l"/>
        </dgm:alg>
      </dgm:if>
      <dgm:else name="Name2">
        <dgm:alg type="lin">
          <dgm:param type="linDir" val="fromT"/>
          <dgm:param type="vertAlign" val="mid"/>
          <dgm:param type="nodeHorzAlign" val="r"/>
          <dgm:param typ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nodeHorzAlign" val="l"/>
              <dgm:param type="horzAlign" val="l"/>
            </dgm:alg>
          </dgm:if>
          <dgm:else name="Name6">
            <dgm:alg type="lin">
              <dgm:param type="linDir" val="fromR"/>
              <dgm:param type="nodeHorzAlign" val="r"/>
              <dgm:param typ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ist1#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rSet qsTypeId="urn:microsoft.com/office/officeart/2005/8/quickstyle/simple5"/>
        </dgm:pt>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nodeHorzAlign" val="l"/>
          <dgm:param type="horzAlign" val="l"/>
        </dgm:alg>
      </dgm:if>
      <dgm:else name="Name2">
        <dgm:alg type="lin">
          <dgm:param type="linDir" val="fromT"/>
          <dgm:param type="vertAlign" val="mid"/>
          <dgm:param type="nodeHorzAlign" val="r"/>
          <dgm:param typ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nodeHorzAlign" val="l"/>
              <dgm:param type="horzAlign" val="l"/>
            </dgm:alg>
          </dgm:if>
          <dgm:else name="Name6">
            <dgm:alg type="lin">
              <dgm:param type="linDir" val="fromR"/>
              <dgm:param type="nodeHorzAlign" val="r"/>
              <dgm:param typ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rSet qsTypeId="urn:microsoft.com/office/officeart/2005/8/quickstyle/simple5"/>
        </dgm:pt>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nodeHorzAlign" val="l"/>
          <dgm:param type="horzAlign" val="l"/>
        </dgm:alg>
      </dgm:if>
      <dgm:else name="Name2">
        <dgm:alg type="lin">
          <dgm:param type="linDir" val="fromT"/>
          <dgm:param type="vertAlign" val="mid"/>
          <dgm:param type="nodeHorzAlign" val="r"/>
          <dgm:param typ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nodeHorzAlign" val="l"/>
              <dgm:param type="horzAlign" val="l"/>
            </dgm:alg>
          </dgm:if>
          <dgm:else name="Name6">
            <dgm:alg type="lin">
              <dgm:param type="linDir" val="fromR"/>
              <dgm:param type="nodeHorzAlign" val="r"/>
              <dgm:param typ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C74FED9-3A6F-41BA-8FF6-39438EA9BD03}" type="datetimeFigureOut">
              <a:rPr lang="zh-CN" altLang="en-US" smtClean="0"/>
              <a:t>2026/9/23</a:t>
            </a:fld>
            <a:endParaRPr lang="zh-CN" altLang="en-US"/>
          </a:p>
        </p:txBody>
      </p:sp>
      <p:sp>
        <p:nvSpPr>
          <p:cNvPr id="4" name="幻灯片图像占位符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0FC9F5-C5B3-4F9C-AB2F-06E1DBE394B8}"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p:spPr>
        <p:txBody>
          <a:bodyPr/>
          <a:lstStyle/>
          <a:p>
            <a:endParaRPr lang="zh-CN" altLang="en-US" dirty="0">
              <a:ea typeface="宋体" panose="02010600030101010101" pitchFamily="2" charset="-122"/>
            </a:endParaRPr>
          </a:p>
          <a:p>
            <a:endParaRPr lang="zh-CN" altLang="en-US" dirty="0">
              <a:ea typeface="宋体" panose="02010600030101010101" pitchFamily="2" charset="-122"/>
            </a:endParaRPr>
          </a:p>
          <a:p>
            <a:r>
              <a:rPr dirty="0"/>
              <a:t>【</a:t>
            </a:r>
            <a:r>
              <a:rPr dirty="0" err="1"/>
              <a:t>优化后的汇报备注</a:t>
            </a:r>
            <a:r>
              <a:rPr dirty="0"/>
              <a:t>】</a:t>
            </a:r>
          </a:p>
          <a:p>
            <a:r>
              <a:rPr dirty="0" err="1"/>
              <a:t>各位领导、同事，大家好，我是霍子昂。</a:t>
            </a:r>
            <a:r>
              <a:rPr dirty="0" err="1" smtClean="0"/>
              <a:t>今天向大家汇报我从七月入职以来的实习工作</a:t>
            </a:r>
            <a:r>
              <a:rPr lang="zh-CN" altLang="en-US" dirty="0" smtClean="0"/>
              <a:t>。</a:t>
            </a:r>
            <a:endParaRPr dirty="0"/>
          </a:p>
        </p:txBody>
      </p:sp>
      <p:sp>
        <p:nvSpPr>
          <p:cNvPr id="35844" name="灯片编号占位符 3"/>
          <p:cNvSpPr>
            <a:spLocks noGrp="1"/>
          </p:cNvSpPr>
          <p:nvPr>
            <p:ph type="sldNum" sz="quarter" idx="5"/>
          </p:nvPr>
        </p:nvSpPr>
        <p:spPr>
          <a:noFill/>
        </p:spPr>
        <p:txBody>
          <a:bodyPr/>
          <a:lstStyle/>
          <a:p>
            <a:fld id="{70A28CE1-A9CD-4F41-A4DB-3C7991DDFF33}" type="slidenum">
              <a:rPr lang="en-US" altLang="zh-CN" smtClean="0">
                <a:solidFill>
                  <a:prstClr val="black"/>
                </a:solidFill>
                <a:ea typeface="宋体" panose="02010600030101010101" pitchFamily="2" charset="-122"/>
              </a:rPr>
              <a:t>1</a:t>
            </a:fld>
            <a:endParaRPr lang="en-US" altLang="zh-CN">
              <a:solidFill>
                <a:prstClr val="black"/>
              </a:solidFill>
              <a:ea typeface="宋体" panose="02010600030101010101"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en-US" altLang="zh-CN" dirty="0"/>
          </a:p>
          <a:p>
            <a:endParaRPr lang="en-US" altLang="zh-CN" dirty="0"/>
          </a:p>
          <a:p>
            <a:r>
              <a:rPr dirty="0"/>
              <a:t>【</a:t>
            </a:r>
            <a:r>
              <a:rPr dirty="0" err="1"/>
              <a:t>优化后的汇报备注</a:t>
            </a:r>
            <a:r>
              <a:rPr dirty="0"/>
              <a:t>】</a:t>
            </a:r>
          </a:p>
          <a:p>
            <a:r>
              <a:rPr dirty="0" err="1"/>
              <a:t>今天的汇报分为三个部分。首先做一个简短的自我介绍，然后重点汇报实习期间完成的工作，最后介绍个人收获和后续计划</a:t>
            </a:r>
            <a:r>
              <a:rPr dirty="0" smtClean="0"/>
              <a:t>。</a:t>
            </a:r>
            <a:endParaRPr dirty="0"/>
          </a:p>
        </p:txBody>
      </p:sp>
      <p:sp>
        <p:nvSpPr>
          <p:cNvPr id="4" name="灯片编号占位符 3"/>
          <p:cNvSpPr>
            <a:spLocks noGrp="1"/>
          </p:cNvSpPr>
          <p:nvPr>
            <p:ph type="sldNum" sz="quarter" idx="10"/>
          </p:nvPr>
        </p:nvSpPr>
        <p:spPr/>
        <p:txBody>
          <a:bodyPr/>
          <a:lstStyle/>
          <a:p>
            <a:pPr>
              <a:defRPr/>
            </a:pPr>
            <a:fld id="{921D937D-FF6F-4B1D-B89F-1F2DB302E420}" type="slidenum">
              <a:rPr lang="en-US" altLang="zh-CN" smtClean="0">
                <a:solidFill>
                  <a:prstClr val="black"/>
                </a:solidFill>
              </a:rPr>
              <a:t>2</a:t>
            </a:fld>
            <a:endParaRPr lang="en-US" altLang="zh-CN">
              <a:solidFill>
                <a:prstClr val="black"/>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a:p>
            <a:endParaRPr lang="zh-CN" altLang="en-US" dirty="0"/>
          </a:p>
          <a:p>
            <a:r>
              <a:rPr dirty="0"/>
              <a:t>【</a:t>
            </a:r>
            <a:r>
              <a:rPr dirty="0" err="1"/>
              <a:t>优化后的汇报备注</a:t>
            </a:r>
            <a:r>
              <a:rPr dirty="0"/>
              <a:t>】</a:t>
            </a:r>
          </a:p>
          <a:p>
            <a:r>
              <a:rPr dirty="0" err="1"/>
              <a:t>我叫霍子昂，来自西安电子科技大学，硕士专业是仪器科学与技术。今年七月一日加入智能计算平台部，实习岗位是</a:t>
            </a:r>
            <a:r>
              <a:rPr dirty="0"/>
              <a:t> AI </a:t>
            </a:r>
            <a:r>
              <a:rPr dirty="0" err="1"/>
              <a:t>加速算子开发工程师</a:t>
            </a:r>
            <a:r>
              <a:rPr dirty="0"/>
              <a:t>。</a:t>
            </a:r>
          </a:p>
          <a:p>
            <a:r>
              <a:rPr dirty="0" err="1"/>
              <a:t>实习期间，我先从基础算子开发和模型推理优化入手，熟悉平台的硬件特点与开发流程。在此基础上，进一步参与寒武纪算子开发</a:t>
            </a:r>
            <a:r>
              <a:rPr dirty="0"/>
              <a:t> Skill </a:t>
            </a:r>
            <a:r>
              <a:rPr dirty="0" err="1"/>
              <a:t>的优化，</a:t>
            </a:r>
            <a:r>
              <a:rPr dirty="0" err="1" smtClean="0"/>
              <a:t>并尝试把相关经验整理</a:t>
            </a:r>
            <a:r>
              <a:rPr lang="zh-CN" altLang="en-US" dirty="0" smtClean="0"/>
              <a:t>成一个</a:t>
            </a:r>
            <a:r>
              <a:rPr dirty="0" err="1" smtClean="0"/>
              <a:t>适用于不同平台</a:t>
            </a:r>
            <a:r>
              <a:rPr lang="zh-CN" altLang="en-US" dirty="0" smtClean="0"/>
              <a:t>算子开发</a:t>
            </a:r>
            <a:r>
              <a:rPr lang="en-US" altLang="zh-CN" dirty="0" err="1" smtClean="0"/>
              <a:t>skill</a:t>
            </a:r>
            <a:r>
              <a:rPr dirty="0" err="1" smtClean="0"/>
              <a:t>的开发方案</a:t>
            </a:r>
            <a:r>
              <a:rPr dirty="0" smtClean="0"/>
              <a:t>。</a:t>
            </a:r>
            <a:endParaRPr dirty="0"/>
          </a:p>
        </p:txBody>
      </p:sp>
      <p:sp>
        <p:nvSpPr>
          <p:cNvPr id="4" name="灯片编号占位符 3"/>
          <p:cNvSpPr>
            <a:spLocks noGrp="1"/>
          </p:cNvSpPr>
          <p:nvPr>
            <p:ph type="sldNum" sz="quarter" idx="5"/>
          </p:nvPr>
        </p:nvSpPr>
        <p:spPr/>
        <p:txBody>
          <a:bodyPr/>
          <a:lstStyle/>
          <a:p>
            <a:fld id="{2FB0F7BE-16CD-4F2A-A360-0B281A81F73F}" type="slidenum">
              <a:rPr lang="zh-CN" altLang="en-US" smtClean="0"/>
              <a:t>3</a:t>
            </a:fld>
            <a:endParaRPr lang="zh-CN" altLang="en-US"/>
          </a:p>
        </p:txBody>
      </p:sp>
    </p:spTree>
    <p:extLst>
      <p:ext uri="{BB962C8B-B14F-4D97-AF65-F5344CB8AC3E}">
        <p14:creationId xmlns:p14="http://schemas.microsoft.com/office/powerpoint/2010/main" val="25160335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en-US" altLang="zh-CN"/>
          </a:p>
          <a:p>
            <a:endParaRPr lang="en-US" altLang="zh-CN"/>
          </a:p>
          <a:p>
            <a:r>
              <a:t>【优化后的汇报备注】</a:t>
            </a:r>
          </a:p>
          <a:p>
            <a:r>
              <a:t>实习工作主要分为三项。第一项是在 MLU 平台上进行算子和模型推理优化，积累实际开发经验。第二项是针对算子开发 Skill 的效率、动态 Shape 支持和验证成本进行改进。第三项是在前面工作的基础上，整理跨平台开发指南，并在不同平台和编程模型下进行验证。下面先介绍第一项工作。</a:t>
            </a:r>
          </a:p>
        </p:txBody>
      </p:sp>
      <p:sp>
        <p:nvSpPr>
          <p:cNvPr id="4" name="灯片编号占位符 3"/>
          <p:cNvSpPr>
            <a:spLocks noGrp="1"/>
          </p:cNvSpPr>
          <p:nvPr>
            <p:ph type="sldNum" sz="quarter" idx="10"/>
          </p:nvPr>
        </p:nvSpPr>
        <p:spPr/>
        <p:txBody>
          <a:bodyPr/>
          <a:lstStyle/>
          <a:p>
            <a:pPr>
              <a:defRPr/>
            </a:pPr>
            <a:fld id="{921D937D-FF6F-4B1D-B89F-1F2DB302E420}" type="slidenum">
              <a:rPr lang="en-US" altLang="zh-CN" smtClean="0">
                <a:solidFill>
                  <a:prstClr val="black"/>
                </a:solidFill>
              </a:rPr>
              <a:t>4</a:t>
            </a:fld>
            <a:endParaRPr lang="en-US" altLang="zh-CN">
              <a:solidFill>
                <a:prstClr val="black"/>
              </a:solidFill>
            </a:endParaRPr>
          </a:p>
        </p:txBody>
      </p:sp>
    </p:spTree>
    <p:extLst>
      <p:ext uri="{BB962C8B-B14F-4D97-AF65-F5344CB8AC3E}">
        <p14:creationId xmlns:p14="http://schemas.microsoft.com/office/powerpoint/2010/main" val="30848630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我最开始做的工作是在</a:t>
            </a:r>
            <a:r>
              <a:rPr lang="en-US" altLang="zh-CN" dirty="0" smtClean="0"/>
              <a:t>mlu590</a:t>
            </a:r>
            <a:r>
              <a:rPr lang="zh-CN" altLang="en-US" dirty="0" smtClean="0"/>
              <a:t>平台上，使用</a:t>
            </a:r>
            <a:r>
              <a:rPr lang="en-US" altLang="zh-CN" dirty="0" smtClean="0"/>
              <a:t>triton</a:t>
            </a:r>
            <a:r>
              <a:rPr lang="zh-CN" altLang="en-US" dirty="0" smtClean="0"/>
              <a:t>语言进行一些算子开发，算子开发前首先了解了寒武纪卡的存储架构和实际能达到的基础性能指标，</a:t>
            </a:r>
            <a:endParaRPr dirty="0"/>
          </a:p>
          <a:p>
            <a:endParaRPr dirty="0"/>
          </a:p>
          <a:p>
            <a:r>
              <a:t>【优化后的汇报备注】</a:t>
            </a:r>
          </a:p>
          <a:p>
            <a:r>
              <a:t>最开始，我在 MLU590 平台上使用 Triton 进行算子开发。为了判断性能还有多少提升空间，我先梳理了 GDRAM、共享 SRAM，以及计算核心上的 NRAM、WRAM 等存储层次，并测试了主要数据搬运路径和计算操作的性能。</a:t>
            </a:r>
          </a:p>
          <a:p>
            <a:r>
              <a:t>表中的这些数据，是当前测试条件下实测得到的参考指标。它们的作用是帮助后续定位瓶颈：一个算子运行得慢，究竟是数据供给不足，还是计算过程没有充分利用硬件。先有这些参照，后面的优化才更有方向。</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有了上述指标之后，在开发算子的时候，就可以根据硬件性能以及算子实际达到的性能去分析它是访存瓶颈还是计算瓶颈，然后分别进行优化。如果发现计算单元的利用率不高，就可以采用下面的流水线多级缓存优化，尽可能不要让计算单元闲下来。此外还有一些其他的优化方式，比如调整分块策略，规约优化，</a:t>
            </a:r>
            <a:r>
              <a:rPr lang="en-US" altLang="zh-CN" dirty="0" smtClean="0"/>
              <a:t>Grid</a:t>
            </a:r>
            <a:r>
              <a:rPr lang="zh-CN" altLang="en-US" dirty="0" smtClean="0"/>
              <a:t>并行策略优化等，可以通过画出</a:t>
            </a:r>
            <a:r>
              <a:rPr lang="en-US" altLang="zh-CN" dirty="0" smtClean="0"/>
              <a:t>roofline</a:t>
            </a:r>
            <a:r>
              <a:rPr lang="zh-CN" altLang="en-US" dirty="0" smtClean="0"/>
              <a:t>判断优化后依然被什么因素限制。</a:t>
            </a:r>
            <a:endParaRPr dirty="0"/>
          </a:p>
          <a:p>
            <a:endParaRPr dirty="0"/>
          </a:p>
          <a:p>
            <a:r>
              <a:t>【优化后的汇报备注】</a:t>
            </a:r>
          </a:p>
          <a:p>
            <a:r>
              <a:t>有了硬件的实测指标，就可以结合算子的计算量、访存量和 Profile 结果，判断当前主要受计算还是访存限制，再选择对应的优化方法。</a:t>
            </a:r>
          </a:p>
          <a:p>
            <a:r>
              <a:t>这里以双缓冲为例。串行执行时，加载数据和计算依次进行，计算单元可能需要等待数据。采用双缓冲后，在条件允许时，可以一边计算当前数据块，一边加载下一块，减少等待时间。当然，缓冲也会占用额外的片上空间，需要结合分块大小一起调整。</a:t>
            </a:r>
          </a:p>
          <a:p>
            <a:r>
              <a:t>除此之外，我还尝试了 Tiling、归约和 Grid 并行策略等优化，并结合 Roofline 和实测结果，判断优化后的主要限制是否发生了变化。</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70504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这里举一个具体优化的例子，</a:t>
            </a:r>
            <a:r>
              <a:rPr lang="en-US" altLang="zh-CN" dirty="0" err="1" smtClean="0"/>
              <a:t>matmul</a:t>
            </a:r>
            <a:r>
              <a:rPr lang="zh-CN" altLang="en-US" dirty="0" smtClean="0"/>
              <a:t>，最开始的</a:t>
            </a:r>
            <a:r>
              <a:rPr lang="en-US" altLang="zh-CN" dirty="0" smtClean="0"/>
              <a:t>kernel</a:t>
            </a:r>
            <a:r>
              <a:rPr lang="zh-CN" altLang="en-US" dirty="0" smtClean="0"/>
              <a:t>性能只有</a:t>
            </a:r>
            <a:r>
              <a:rPr lang="en-US" altLang="zh-CN" dirty="0" smtClean="0"/>
              <a:t>12.6tflops</a:t>
            </a:r>
            <a:r>
              <a:rPr lang="zh-CN" altLang="en-US" dirty="0" smtClean="0"/>
              <a:t>，后续通过优化</a:t>
            </a:r>
            <a:r>
              <a:rPr lang="en-US" altLang="zh-CN" dirty="0" smtClean="0"/>
              <a:t>tile</a:t>
            </a:r>
            <a:r>
              <a:rPr lang="zh-CN" altLang="en-US" dirty="0" smtClean="0"/>
              <a:t>分开和多级缓冲达到了</a:t>
            </a:r>
            <a:r>
              <a:rPr lang="en-US" altLang="zh-CN" dirty="0" smtClean="0"/>
              <a:t>150.8tflops</a:t>
            </a:r>
            <a:r>
              <a:rPr lang="zh-CN" altLang="en-US" dirty="0" smtClean="0"/>
              <a:t>，达到了厂商</a:t>
            </a:r>
            <a:r>
              <a:rPr lang="en-US" altLang="zh-CN" dirty="0" err="1" smtClean="0"/>
              <a:t>gemm</a:t>
            </a:r>
            <a:r>
              <a:rPr lang="zh-CN" altLang="en-US" dirty="0" smtClean="0"/>
              <a:t>的</a:t>
            </a:r>
            <a:r>
              <a:rPr lang="en-US" altLang="zh-CN" dirty="0" smtClean="0"/>
              <a:t>68.4%</a:t>
            </a:r>
            <a:r>
              <a:rPr lang="zh-CN" altLang="en-US" dirty="0" smtClean="0"/>
              <a:t>。这时的主要差距来源就是</a:t>
            </a:r>
            <a:r>
              <a:rPr lang="en-US" altLang="zh-CN" dirty="0" smtClean="0"/>
              <a:t>triton</a:t>
            </a:r>
            <a:r>
              <a:rPr lang="zh-CN" altLang="en-US" dirty="0" smtClean="0"/>
              <a:t>和</a:t>
            </a:r>
            <a:r>
              <a:rPr lang="en-US" altLang="zh-CN" dirty="0" err="1" smtClean="0"/>
              <a:t>bangc</a:t>
            </a:r>
            <a:r>
              <a:rPr lang="en-US" altLang="zh-CN" dirty="0" smtClean="0"/>
              <a:t>  </a:t>
            </a:r>
            <a:r>
              <a:rPr lang="zh-CN" altLang="en-US" dirty="0" smtClean="0"/>
              <a:t>的差距。因为</a:t>
            </a:r>
            <a:r>
              <a:rPr lang="en-US" altLang="zh-CN" dirty="0" err="1" smtClean="0"/>
              <a:t>bangc</a:t>
            </a:r>
            <a:r>
              <a:rPr lang="zh-CN" altLang="en-US" dirty="0" smtClean="0"/>
              <a:t>可以直接调用基层指令，但是</a:t>
            </a:r>
            <a:r>
              <a:rPr lang="en-US" altLang="zh-CN" dirty="0" smtClean="0"/>
              <a:t>triton</a:t>
            </a:r>
            <a:r>
              <a:rPr lang="zh-CN" altLang="en-US" dirty="0" smtClean="0"/>
              <a:t>使用的是高层封装好的计算指令，比如</a:t>
            </a:r>
            <a:r>
              <a:rPr lang="en-US" altLang="zh-CN" dirty="0" smtClean="0"/>
              <a:t>dot</a:t>
            </a:r>
            <a:r>
              <a:rPr lang="zh-CN" altLang="en-US" dirty="0" smtClean="0"/>
              <a:t>。所以性能无法达到机制。此外也进行了一些其他算子的开发。</a:t>
            </a:r>
            <a:endParaRPr dirty="0"/>
          </a:p>
          <a:p>
            <a:endParaRPr dirty="0"/>
          </a:p>
          <a:p>
            <a:r>
              <a:t>【优化后的汇报备注】</a:t>
            </a:r>
          </a:p>
          <a:p>
            <a:r>
              <a:t>这里用 MatMul 展示一个具体结果。初始版本的性能约为 12.6 TFLOPS，后续通过调整分块和并行配置、提高数据复用，并结合多级缓冲，最终提升到 150.8 TFLOPS，达到厂商 GEMM 性能的 68.4%。</a:t>
            </a:r>
          </a:p>
          <a:p>
            <a:r>
              <a:t>这个结果说明，分块方式和流水安排对性能影响很大。与厂商实现相比仍然有差距，后续还需要结合生成代码和 Profile，进一步分析数据布局、指令利用和流水调度，不能直接把差距全部归因于编程语言。</a:t>
            </a:r>
          </a:p>
          <a:p>
            <a:r>
              <a:t>下方是其他算子的测试结果。Softmax 和 LayerNorm 分别达到 PyTorch 基线的 1.24 倍和 1.02 倍，FlashAttention 为 0.55 倍，说明不同算子的优化成熟度还有差异。</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46908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smtClean="0"/>
              <a:t>接下来做了一个基于</a:t>
            </a:r>
            <a:r>
              <a:rPr lang="en-US" altLang="zh-CN" dirty="0" err="1" smtClean="0"/>
              <a:t>nano-vllm</a:t>
            </a:r>
            <a:r>
              <a:rPr lang="zh-CN" altLang="en-US" dirty="0" smtClean="0"/>
              <a:t>的模型部署推理的优化。</a:t>
            </a:r>
            <a:r>
              <a:rPr lang="zh-CN" altLang="en-US" sz="1200" b="1" dirty="0" smtClean="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在</a:t>
            </a:r>
            <a:r>
              <a:rPr lang="en-US" altLang="zh-CN" sz="1200" b="1" dirty="0" err="1" smtClean="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mlu</a:t>
            </a:r>
            <a:r>
              <a:rPr lang="zh-CN" altLang="en-US" sz="1200" b="1" dirty="0" smtClean="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平台使用</a:t>
            </a:r>
            <a:r>
              <a:rPr lang="en-US" altLang="zh-CN" sz="1200" b="1" dirty="0" err="1" smtClean="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vllm</a:t>
            </a:r>
            <a:r>
              <a:rPr lang="zh-CN" altLang="en-US" sz="1200" b="1" dirty="0" smtClean="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进行部署推理时经常遇到下面的问题</a:t>
            </a:r>
            <a:r>
              <a:rPr lang="zh-CN" altLang="en-US" sz="1200" b="0" dirty="0" smtClean="0">
                <a:solidFill>
                  <a:schemeClr val="tx1"/>
                </a:solidFill>
                <a:latin typeface="+mn-lt"/>
                <a:ea typeface="+mn-ea"/>
                <a:cs typeface="+mn-cs"/>
              </a:rPr>
              <a:t>，首先是</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不复用前缀相同请求重复计算，复用前缀</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KV cache</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显存压力大，而且</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CPU Offload</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开销大且</a:t>
            </a:r>
            <a:r>
              <a:rPr lang="en-US" altLang="zh-CN" sz="1200" dirty="0" err="1" smtClean="0">
                <a:latin typeface="Times New Roman" panose="02020603050405020304" pitchFamily="18" charset="0"/>
                <a:ea typeface="微软雅黑" panose="020B0503020204020204" pitchFamily="34" charset="-122"/>
                <a:cs typeface="Times New Roman" panose="02020603050405020304" pitchFamily="18" charset="0"/>
              </a:rPr>
              <a:t>vllm</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不支持</a:t>
            </a:r>
            <a:r>
              <a:rPr lang="en-US" altLang="zh-CN" sz="1200" dirty="0" err="1" smtClean="0">
                <a:latin typeface="Times New Roman" panose="02020603050405020304" pitchFamily="18" charset="0"/>
                <a:ea typeface="微软雅黑" panose="020B0503020204020204" pitchFamily="34" charset="-122"/>
                <a:cs typeface="Times New Roman" panose="02020603050405020304" pitchFamily="18" charset="0"/>
              </a:rPr>
              <a:t>mlu</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平台的</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CPU Offload</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。为了解决这个问题，我做了</a:t>
            </a:r>
            <a:r>
              <a:rPr lang="en-US" altLang="zh-CN" sz="1200" dirty="0" err="1" smtClean="0">
                <a:latin typeface="Times New Roman" panose="02020603050405020304" pitchFamily="18" charset="0"/>
                <a:ea typeface="微软雅黑" panose="020B0503020204020204" pitchFamily="34" charset="-122"/>
                <a:cs typeface="Times New Roman" panose="02020603050405020304" pitchFamily="18" charset="0"/>
              </a:rPr>
              <a:t>mlu</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显存</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l1 +</a:t>
            </a:r>
            <a:r>
              <a:rPr lang="en-US" altLang="zh-CN" sz="1200" dirty="0" err="1" smtClean="0">
                <a:latin typeface="Times New Roman" panose="02020603050405020304" pitchFamily="18" charset="0"/>
                <a:ea typeface="微软雅黑" panose="020B0503020204020204" pitchFamily="34" charset="-122"/>
                <a:cs typeface="Times New Roman" panose="02020603050405020304" pitchFamily="18" charset="0"/>
              </a:rPr>
              <a:t>cpu</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内容</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l2 </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的分层</a:t>
            </a:r>
            <a:r>
              <a:rPr lang="en-US" altLang="zh-CN" sz="1200" dirty="0" err="1" smtClean="0">
                <a:latin typeface="Times New Roman" panose="02020603050405020304" pitchFamily="18" charset="0"/>
                <a:ea typeface="微软雅黑" panose="020B0503020204020204" pitchFamily="34" charset="-122"/>
                <a:cs typeface="Times New Roman" panose="02020603050405020304" pitchFamily="18" charset="0"/>
              </a:rPr>
              <a:t>kv</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 cache </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机制。目的是实现扩大 </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KV Cache </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容量，降低 相同前缀场景下的 </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TTFT</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，以及降低 </a:t>
            </a:r>
            <a:r>
              <a:rPr lang="en-US" altLang="zh-CN" sz="1200" dirty="0" smtClean="0">
                <a:latin typeface="Times New Roman" panose="02020603050405020304" pitchFamily="18" charset="0"/>
                <a:ea typeface="微软雅黑" panose="020B0503020204020204" pitchFamily="34" charset="-122"/>
                <a:cs typeface="Times New Roman" panose="02020603050405020304" pitchFamily="18" charset="0"/>
              </a:rPr>
              <a:t>CPU ↔ MLU </a:t>
            </a:r>
            <a:r>
              <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rPr>
              <a:t>数据搬运的开销。</a:t>
            </a:r>
          </a:p>
          <a:p>
            <a:endParaRPr lang="zh-CN" altLang="en-US" sz="1200" dirty="0" smtClean="0">
              <a:latin typeface="Times New Roman" panose="02020603050405020304" pitchFamily="18" charset="0"/>
              <a:ea typeface="微软雅黑" panose="020B0503020204020204" pitchFamily="34" charset="-122"/>
              <a:cs typeface="Times New Roman" panose="02020603050405020304" pitchFamily="18" charset="0"/>
            </a:endParaRPr>
          </a:p>
          <a:p>
            <a:r>
              <a:t>【优化后的汇报备注】</a:t>
            </a:r>
          </a:p>
          <a:p>
            <a:r>
              <a:t>接下来，我基于 nano-vLLM 做了模型推理优化，重点关注重复前缀场景。当多个请求具有相同前缀时，如果不复用 KV Cache，就需要重复执行这部分 Prefill。而把历史前缀一直留在显存中，又会增加显存压力。</a:t>
            </a:r>
          </a:p>
          <a:p>
            <a:r>
              <a:t>因此，我实现了 MLU 显存 L1 加 CPU 内存 L2 的分层 Prefix KV Cache。热数据优先放在 MLU，部分可复用前缀保留在 CPU，命中后再恢复使用。这里的适配工作针对项目当时使用的 MLU 软件环境和推理框架展开。</a:t>
            </a:r>
          </a:p>
          <a:p>
            <a:r>
              <a:t>目标主要是扩大可保留的前缀缓存容量，降低前缀命中时的首 Token 延迟，同时尽量压低 CPU 与 MLU 之间的数据搬运开销。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23061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smtClean="0"/>
              <a:t>项目整体架构如图。用户请求进来，会先进行一个前缀查询，如果</a:t>
            </a:r>
            <a:r>
              <a:rPr lang="en-US" altLang="zh-CN" dirty="0" smtClean="0"/>
              <a:t>l1</a:t>
            </a:r>
            <a:r>
              <a:rPr lang="zh-CN" altLang="en-US" dirty="0" smtClean="0"/>
              <a:t>命中，说明复用的</a:t>
            </a:r>
            <a:r>
              <a:rPr lang="en-US" altLang="zh-CN" dirty="0" smtClean="0"/>
              <a:t>tokens</a:t>
            </a:r>
            <a:r>
              <a:rPr lang="zh-CN" altLang="en-US" dirty="0" smtClean="0"/>
              <a:t>在</a:t>
            </a:r>
            <a:r>
              <a:rPr lang="en-US" altLang="zh-CN" dirty="0" err="1" smtClean="0"/>
              <a:t>mlu</a:t>
            </a:r>
            <a:r>
              <a:rPr lang="zh-CN" altLang="en-US" dirty="0" smtClean="0"/>
              <a:t>上，直接复用，进行后续计算即可。如果</a:t>
            </a:r>
            <a:r>
              <a:rPr lang="en-US" altLang="zh-CN" dirty="0" smtClean="0"/>
              <a:t>l2</a:t>
            </a:r>
            <a:r>
              <a:rPr lang="zh-CN" altLang="en-US" dirty="0" smtClean="0"/>
              <a:t>命中，说明此时</a:t>
            </a:r>
            <a:r>
              <a:rPr lang="en-US" altLang="zh-CN" dirty="0" err="1" smtClean="0"/>
              <a:t>kvcache</a:t>
            </a:r>
            <a:r>
              <a:rPr lang="zh-CN" altLang="en-US" dirty="0" smtClean="0"/>
              <a:t>位于</a:t>
            </a:r>
            <a:r>
              <a:rPr lang="en-US" altLang="zh-CN" dirty="0" err="1" smtClean="0"/>
              <a:t>cpu</a:t>
            </a:r>
            <a:r>
              <a:rPr lang="zh-CN" altLang="en-US" dirty="0" smtClean="0"/>
              <a:t>，需要进行一次</a:t>
            </a:r>
            <a:r>
              <a:rPr lang="en-US" altLang="zh-CN" dirty="0" err="1" smtClean="0"/>
              <a:t>cpu-mlu</a:t>
            </a:r>
            <a:r>
              <a:rPr lang="zh-CN" altLang="en-US" dirty="0" smtClean="0"/>
              <a:t>的数据搬运，然后再复用。如果均没有命中，开始计算。主要平台是 </a:t>
            </a:r>
            <a:r>
              <a:rPr lang="en-US" altLang="zh-CN" dirty="0" smtClean="0"/>
              <a:t>590</a:t>
            </a:r>
            <a:r>
              <a:rPr lang="zh-CN" altLang="en-US" dirty="0" smtClean="0"/>
              <a:t>显卡，</a:t>
            </a:r>
            <a:r>
              <a:rPr lang="en-US" altLang="zh-CN" dirty="0" smtClean="0"/>
              <a:t>qwen3 </a:t>
            </a:r>
            <a:r>
              <a:rPr lang="zh-CN" altLang="en-US" dirty="0" smtClean="0"/>
              <a:t>的</a:t>
            </a:r>
            <a:r>
              <a:rPr lang="en-US" altLang="zh-CN" dirty="0" smtClean="0"/>
              <a:t>8b</a:t>
            </a:r>
            <a:r>
              <a:rPr lang="zh-CN" altLang="en-US" dirty="0" smtClean="0"/>
              <a:t>模型，</a:t>
            </a:r>
            <a:r>
              <a:rPr lang="en-US" altLang="zh-CN" dirty="0" err="1" smtClean="0"/>
              <a:t>nano-vllm</a:t>
            </a:r>
            <a:r>
              <a:rPr lang="zh-CN" altLang="en-US" dirty="0" smtClean="0"/>
              <a:t>基础上进行修改。这个方案勇敢</a:t>
            </a:r>
            <a:r>
              <a:rPr lang="en-US" altLang="zh-CN" dirty="0" err="1" smtClean="0"/>
              <a:t>cpu</a:t>
            </a:r>
            <a:r>
              <a:rPr lang="zh-CN" altLang="en-US" dirty="0" smtClean="0"/>
              <a:t>的内存扩展，增大了</a:t>
            </a:r>
            <a:r>
              <a:rPr lang="en-US" altLang="zh-CN" dirty="0" err="1" smtClean="0"/>
              <a:t>kvcache</a:t>
            </a:r>
            <a:r>
              <a:rPr lang="zh-CN" altLang="en-US" dirty="0" smtClean="0"/>
              <a:t>的容量，现在的主要问题就成为了</a:t>
            </a:r>
            <a:r>
              <a:rPr lang="en-US" altLang="zh-CN" sz="1200" b="1" dirty="0" smtClean="0">
                <a:solidFill>
                  <a:srgbClr val="C00000"/>
                </a:solidFill>
                <a:latin typeface="微软雅黑" panose="020B0503020204020204" pitchFamily="34" charset="-122"/>
                <a:ea typeface="微软雅黑" panose="020B0503020204020204" pitchFamily="34" charset="-122"/>
                <a:sym typeface="+mn-ea"/>
              </a:rPr>
              <a:t>l2</a:t>
            </a:r>
            <a:r>
              <a:rPr lang="zh-CN" altLang="en-US" sz="1200" b="1" dirty="0" smtClean="0">
                <a:solidFill>
                  <a:srgbClr val="C00000"/>
                </a:solidFill>
                <a:latin typeface="微软雅黑" panose="020B0503020204020204" pitchFamily="34" charset="-122"/>
                <a:ea typeface="微软雅黑" panose="020B0503020204020204" pitchFamily="34" charset="-122"/>
                <a:sym typeface="+mn-ea"/>
              </a:rPr>
              <a:t>命中之后，数据如何搬运（</a:t>
            </a:r>
            <a:r>
              <a:rPr lang="en-US" altLang="zh-CN" sz="1200" b="1" dirty="0" smtClean="0">
                <a:solidFill>
                  <a:srgbClr val="C00000"/>
                </a:solidFill>
                <a:latin typeface="微软雅黑" panose="020B0503020204020204" pitchFamily="34" charset="-122"/>
                <a:ea typeface="微软雅黑" panose="020B0503020204020204" pitchFamily="34" charset="-122"/>
                <a:sym typeface="+mn-ea"/>
              </a:rPr>
              <a:t>CPU </a:t>
            </a:r>
            <a:r>
              <a:rPr lang="zh-CN" altLang="en-US" sz="1200" b="1" dirty="0" smtClean="0">
                <a:solidFill>
                  <a:srgbClr val="C00000"/>
                </a:solidFill>
                <a:latin typeface="微软雅黑" panose="020B0503020204020204" pitchFamily="34" charset="-122"/>
                <a:ea typeface="微软雅黑" panose="020B0503020204020204" pitchFamily="34" charset="-122"/>
                <a:sym typeface="+mn-ea"/>
              </a:rPr>
              <a:t>至</a:t>
            </a:r>
            <a:r>
              <a:rPr lang="en-US" altLang="zh-CN" sz="1200" b="1" dirty="0" smtClean="0">
                <a:solidFill>
                  <a:srgbClr val="C00000"/>
                </a:solidFill>
                <a:latin typeface="微软雅黑" panose="020B0503020204020204" pitchFamily="34" charset="-122"/>
                <a:ea typeface="微软雅黑" panose="020B0503020204020204" pitchFamily="34" charset="-122"/>
                <a:sym typeface="+mn-ea"/>
              </a:rPr>
              <a:t>MLU</a:t>
            </a:r>
            <a:r>
              <a:rPr lang="zh-CN" altLang="en-US" sz="1200" b="1" dirty="0" smtClean="0">
                <a:solidFill>
                  <a:srgbClr val="C00000"/>
                </a:solidFill>
                <a:latin typeface="微软雅黑" panose="020B0503020204020204" pitchFamily="34" charset="-122"/>
                <a:ea typeface="微软雅黑" panose="020B0503020204020204" pitchFamily="34" charset="-122"/>
                <a:sym typeface="+mn-ea"/>
              </a:rPr>
              <a:t>）的更快。</a:t>
            </a:r>
          </a:p>
          <a:p>
            <a:endParaRPr dirty="0"/>
          </a:p>
          <a:p>
            <a:endParaRPr dirty="0"/>
          </a:p>
          <a:p>
            <a:r>
              <a:t>【优化后的汇报备注】</a:t>
            </a:r>
          </a:p>
          <a:p>
            <a:r>
              <a:t>这页是整体处理流程。请求进入后先查询前缀缓存。如果 L1 命中，说明数据就在 MLU 上，可以直接复用。如果 L2 命中，需要把 CPU 中的 KV 恢复到 MLU，再继续计算。两级都没有命中的部分，则正常执行 Prefill。</a:t>
            </a:r>
          </a:p>
          <a:p>
            <a:r>
              <a:t>项目基于 nano-vLLM，在 80GB 的 MLU590 上运行 Qwen3-8B，基础链路采用 BF16。通过 CPU 内存扩展，可以保留更多历史前缀，但 L2 命中的收益取决于恢复速度：恢复开销越小，省下的重复计算才能越充分地转化为首 Token 延迟的下降。因此，后续优化主要围绕数据布局和搬运过程展开。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300035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smtClean="0"/>
              <a:t>为了搬运的更快，我首先进行了一个数据布局的优化，</a:t>
            </a:r>
            <a:r>
              <a:rPr lang="zh-CN" altLang="en-US" sz="1200" dirty="0" smtClean="0">
                <a:solidFill>
                  <a:schemeClr val="tx1"/>
                </a:solidFill>
                <a:latin typeface="+mn-lt"/>
                <a:ea typeface="+mn-ea"/>
                <a:cs typeface="+mn-cs"/>
              </a:rPr>
              <a:t>我搬运的基础单位是</a:t>
            </a:r>
            <a:r>
              <a:rPr lang="en-US" altLang="zh-CN" sz="1200" dirty="0" smtClean="0">
                <a:solidFill>
                  <a:schemeClr val="tx1"/>
                </a:solidFill>
                <a:latin typeface="+mn-lt"/>
                <a:ea typeface="+mn-ea"/>
                <a:cs typeface="+mn-cs"/>
              </a:rPr>
              <a:t>block</a:t>
            </a:r>
            <a:r>
              <a:rPr lang="zh-CN" altLang="en-US" sz="1200" dirty="0" smtClean="0">
                <a:solidFill>
                  <a:schemeClr val="tx1"/>
                </a:solidFill>
                <a:latin typeface="+mn-lt"/>
                <a:ea typeface="+mn-ea"/>
                <a:cs typeface="+mn-cs"/>
              </a:rPr>
              <a:t>，因为</a:t>
            </a:r>
            <a:r>
              <a:rPr lang="en-US" altLang="zh-CN" sz="1200" dirty="0" smtClean="0">
                <a:solidFill>
                  <a:schemeClr val="tx1"/>
                </a:solidFill>
                <a:latin typeface="+mn-lt"/>
                <a:ea typeface="+mn-ea"/>
                <a:cs typeface="+mn-cs"/>
              </a:rPr>
              <a:t>layer</a:t>
            </a:r>
            <a:r>
              <a:rPr lang="zh-CN" altLang="en-US" sz="1200" dirty="0" smtClean="0">
                <a:solidFill>
                  <a:schemeClr val="tx1"/>
                </a:solidFill>
                <a:latin typeface="+mn-lt"/>
                <a:ea typeface="+mn-ea"/>
                <a:cs typeface="+mn-cs"/>
              </a:rPr>
              <a:t>太长，</a:t>
            </a:r>
            <a:r>
              <a:rPr lang="en-US" altLang="zh-CN" sz="1200" dirty="0" smtClean="0">
                <a:solidFill>
                  <a:schemeClr val="tx1"/>
                </a:solidFill>
                <a:latin typeface="+mn-lt"/>
                <a:ea typeface="+mn-ea"/>
                <a:cs typeface="+mn-cs"/>
              </a:rPr>
              <a:t>tokens</a:t>
            </a:r>
            <a:r>
              <a:rPr lang="zh-CN" altLang="en-US" sz="1200" dirty="0" smtClean="0">
                <a:solidFill>
                  <a:schemeClr val="tx1"/>
                </a:solidFill>
                <a:latin typeface="+mn-lt"/>
                <a:ea typeface="+mn-ea"/>
                <a:cs typeface="+mn-cs"/>
              </a:rPr>
              <a:t>太小。</a:t>
            </a:r>
            <a:r>
              <a:rPr lang="zh-CN" altLang="en-US" dirty="0" smtClean="0"/>
              <a:t>原始</a:t>
            </a:r>
            <a:r>
              <a:rPr lang="en-US" altLang="zh-CN" dirty="0" err="1" smtClean="0"/>
              <a:t>kv</a:t>
            </a:r>
            <a:r>
              <a:rPr lang="en-US" altLang="zh-CN" dirty="0" smtClean="0"/>
              <a:t> cache</a:t>
            </a:r>
            <a:r>
              <a:rPr lang="zh-CN" altLang="en-US" dirty="0" smtClean="0"/>
              <a:t>是按照</a:t>
            </a:r>
            <a:r>
              <a:rPr lang="en-US" altLang="zh-CN" sz="1200" dirty="0" smtClean="0">
                <a:solidFill>
                  <a:schemeClr val="tx1">
                    <a:lumMod val="95000"/>
                    <a:lumOff val="5000"/>
                  </a:schemeClr>
                </a:solidFill>
                <a:latin typeface="Microsoft YaHei"/>
                <a:ea typeface="Microsoft YaHei"/>
                <a:cs typeface="Microsoft YaHei"/>
              </a:rPr>
              <a:t>Layer-Major </a:t>
            </a:r>
            <a:r>
              <a:rPr lang="zh-CN" altLang="en-US" sz="1200" dirty="0" smtClean="0">
                <a:solidFill>
                  <a:schemeClr val="tx1">
                    <a:lumMod val="95000"/>
                    <a:lumOff val="5000"/>
                  </a:schemeClr>
                </a:solidFill>
                <a:latin typeface="Microsoft YaHei"/>
                <a:ea typeface="Microsoft YaHei"/>
                <a:cs typeface="Microsoft YaHei"/>
              </a:rPr>
              <a:t>布局</a:t>
            </a:r>
            <a:r>
              <a:rPr lang="zh-CN" altLang="en-US" sz="1200" dirty="0" smtClean="0">
                <a:solidFill>
                  <a:schemeClr val="tx1"/>
                </a:solidFill>
                <a:latin typeface="+mn-lt"/>
                <a:ea typeface="+mn-ea"/>
                <a:cs typeface="+mn-cs"/>
              </a:rPr>
              <a:t>，每个</a:t>
            </a:r>
            <a:r>
              <a:rPr lang="en-US" altLang="zh-CN" sz="1200" dirty="0" smtClean="0">
                <a:solidFill>
                  <a:schemeClr val="tx1"/>
                </a:solidFill>
                <a:latin typeface="+mn-lt"/>
                <a:ea typeface="+mn-ea"/>
                <a:cs typeface="+mn-cs"/>
              </a:rPr>
              <a:t>block</a:t>
            </a:r>
            <a:r>
              <a:rPr lang="zh-CN" altLang="en-US" sz="1200" dirty="0" smtClean="0">
                <a:solidFill>
                  <a:schemeClr val="tx1"/>
                </a:solidFill>
                <a:latin typeface="+mn-lt"/>
                <a:ea typeface="+mn-ea"/>
                <a:cs typeface="+mn-cs"/>
              </a:rPr>
              <a:t>块分散到不同的</a:t>
            </a:r>
            <a:r>
              <a:rPr lang="en-US" altLang="zh-CN" sz="1200" dirty="0" smtClean="0">
                <a:solidFill>
                  <a:schemeClr val="tx1"/>
                </a:solidFill>
                <a:latin typeface="+mn-lt"/>
                <a:ea typeface="+mn-ea"/>
                <a:cs typeface="+mn-cs"/>
              </a:rPr>
              <a:t>layer</a:t>
            </a:r>
            <a:r>
              <a:rPr lang="zh-CN" altLang="en-US" sz="1200" dirty="0" smtClean="0">
                <a:solidFill>
                  <a:schemeClr val="tx1"/>
                </a:solidFill>
                <a:latin typeface="+mn-lt"/>
                <a:ea typeface="+mn-ea"/>
                <a:cs typeface="+mn-cs"/>
              </a:rPr>
              <a:t>，这会导致拷贝数据速度很慢。所以 我再传送数据前，先打包到一起，然后将整块</a:t>
            </a:r>
            <a:r>
              <a:rPr lang="en-US" altLang="zh-CN" sz="1200" dirty="0" smtClean="0">
                <a:solidFill>
                  <a:schemeClr val="tx1"/>
                </a:solidFill>
                <a:latin typeface="+mn-lt"/>
                <a:ea typeface="+mn-ea"/>
                <a:cs typeface="+mn-cs"/>
              </a:rPr>
              <a:t>block</a:t>
            </a:r>
            <a:r>
              <a:rPr lang="zh-CN" altLang="en-US" sz="1200" dirty="0" smtClean="0">
                <a:solidFill>
                  <a:schemeClr val="tx1"/>
                </a:solidFill>
                <a:latin typeface="+mn-lt"/>
                <a:ea typeface="+mn-ea"/>
                <a:cs typeface="+mn-cs"/>
              </a:rPr>
              <a:t>直接传送过去，由于内存连续，所以传送数据较快。再</a:t>
            </a:r>
            <a:r>
              <a:rPr lang="en-US" altLang="zh-CN" sz="1200" dirty="0" smtClean="0">
                <a:solidFill>
                  <a:schemeClr val="tx1"/>
                </a:solidFill>
                <a:latin typeface="+mn-lt"/>
                <a:ea typeface="+mn-ea"/>
                <a:cs typeface="+mn-cs"/>
              </a:rPr>
              <a:t>4096tokns</a:t>
            </a:r>
            <a:r>
              <a:rPr lang="zh-CN" altLang="en-US" sz="1200" dirty="0" smtClean="0">
                <a:solidFill>
                  <a:schemeClr val="tx1"/>
                </a:solidFill>
                <a:latin typeface="+mn-lt"/>
                <a:ea typeface="+mn-ea"/>
                <a:cs typeface="+mn-cs"/>
              </a:rPr>
              <a:t>下，</a:t>
            </a:r>
            <a:r>
              <a:rPr lang="en-US" altLang="zh-CN" sz="1200" dirty="0" smtClean="0">
                <a:solidFill>
                  <a:schemeClr val="tx1"/>
                </a:solidFill>
                <a:latin typeface="+mn-lt"/>
                <a:ea typeface="+mn-ea"/>
                <a:cs typeface="+mn-cs"/>
              </a:rPr>
              <a:t>store</a:t>
            </a:r>
            <a:r>
              <a:rPr lang="zh-CN" altLang="en-US" sz="1200" dirty="0" smtClean="0">
                <a:solidFill>
                  <a:schemeClr val="tx1"/>
                </a:solidFill>
                <a:latin typeface="+mn-lt"/>
                <a:ea typeface="+mn-ea"/>
                <a:cs typeface="+mn-cs"/>
              </a:rPr>
              <a:t>和</a:t>
            </a:r>
            <a:r>
              <a:rPr lang="en-US" altLang="zh-CN" sz="1200" dirty="0" smtClean="0">
                <a:solidFill>
                  <a:schemeClr val="tx1"/>
                </a:solidFill>
                <a:latin typeface="+mn-lt"/>
                <a:ea typeface="+mn-ea"/>
                <a:cs typeface="+mn-cs"/>
              </a:rPr>
              <a:t>load </a:t>
            </a:r>
            <a:r>
              <a:rPr lang="zh-CN" altLang="en-US" sz="1200" dirty="0" smtClean="0">
                <a:solidFill>
                  <a:schemeClr val="tx1"/>
                </a:solidFill>
                <a:latin typeface="+mn-lt"/>
                <a:ea typeface="+mn-ea"/>
                <a:cs typeface="+mn-cs"/>
              </a:rPr>
              <a:t>的速度都得到了大幅度的提升。</a:t>
            </a:r>
            <a:endParaRPr lang="zh-CN" altLang="en-US" sz="1200" dirty="0" smtClean="0">
              <a:solidFill>
                <a:schemeClr val="tx1">
                  <a:lumMod val="95000"/>
                  <a:lumOff val="5000"/>
                </a:schemeClr>
              </a:solidFill>
              <a:latin typeface="Microsoft YaHei"/>
              <a:ea typeface="Microsoft YaHei"/>
              <a:cs typeface="Microsoft YaHei"/>
            </a:endParaRPr>
          </a:p>
          <a:p>
            <a:endParaRPr lang="zh-CN" altLang="en-US" sz="1200" dirty="0" smtClean="0">
              <a:solidFill>
                <a:schemeClr val="tx1">
                  <a:lumMod val="95000"/>
                  <a:lumOff val="5000"/>
                </a:schemeClr>
              </a:solidFill>
              <a:latin typeface="Microsoft YaHei"/>
              <a:ea typeface="Microsoft YaHei"/>
              <a:cs typeface="Microsoft YaHei"/>
            </a:endParaRPr>
          </a:p>
          <a:p>
            <a:r>
              <a:t>【优化后的汇报备注】</a:t>
            </a:r>
          </a:p>
          <a:p>
            <a:r>
              <a:t>第一步是调整用于 CPU 缓存和搬运的数据布局。项目按 Block 管理 KV，而原来的 Layer-Major 布局，会让同一个 Block 在不同层的数据分散存放。按 Block 取数据时，就会出现跨度较大的访问和较多的数据整理开销。</a:t>
            </a:r>
          </a:p>
          <a:p>
            <a:r>
              <a:t>为此，我把 CPU 侧布局调整为 Block-Major，让一个 Block 对应的各层数据连续存放，并在 MLU 侧完成 Pack 和 Unpack，把数据整理成更适合连续传输的形式。</a:t>
            </a:r>
          </a:p>
          <a:p>
            <a:r>
              <a:t>在 4096 Token 的测试下，Store 从 307.8 毫秒降到 19.3 毫秒，Load 从 398.7 毫秒降到 29.8 毫秒。这反映的是整条存取路径的改善，包括数据整理和拷贝开销的下降。</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也做了一个传输的优化，将多个重复前缀的请求，合并到一起，这样</a:t>
            </a:r>
            <a:r>
              <a:rPr lang="en-US" altLang="zh-CN" dirty="0" err="1" smtClean="0"/>
              <a:t>cpu-mlu</a:t>
            </a:r>
            <a:r>
              <a:rPr lang="zh-CN" altLang="en-US" dirty="0" smtClean="0"/>
              <a:t>段只需加载一次即可。以及异步传输的优化，将计算与打包 异步拷贝分为两个</a:t>
            </a:r>
            <a:r>
              <a:rPr lang="en-US" altLang="zh-CN" dirty="0" smtClean="0"/>
              <a:t>stream</a:t>
            </a:r>
            <a:r>
              <a:rPr lang="zh-CN" altLang="en-US" dirty="0" smtClean="0"/>
              <a:t>，实现计算与搬运的重贴，采用</a:t>
            </a:r>
            <a:r>
              <a:rPr lang="en-US" altLang="zh-CN" dirty="0" smtClean="0"/>
              <a:t>event</a:t>
            </a:r>
            <a:r>
              <a:rPr lang="zh-CN" altLang="en-US" dirty="0" smtClean="0"/>
              <a:t>进行流之间的通信。此外 进一步做了权重量化，</a:t>
            </a:r>
            <a:r>
              <a:rPr lang="en-US" altLang="zh-CN" dirty="0" err="1" smtClean="0"/>
              <a:t>lru</a:t>
            </a:r>
            <a:r>
              <a:rPr lang="zh-CN" altLang="en-US" dirty="0" smtClean="0"/>
              <a:t>缓存管理，</a:t>
            </a:r>
            <a:r>
              <a:rPr lang="en-US" altLang="zh-CN" dirty="0" err="1" smtClean="0"/>
              <a:t>int</a:t>
            </a:r>
            <a:r>
              <a:rPr lang="en-US" altLang="zh-CN" dirty="0" smtClean="0"/>
              <a:t> </a:t>
            </a:r>
            <a:r>
              <a:rPr lang="en-US" altLang="zh-CN" dirty="0" err="1" smtClean="0"/>
              <a:t>kvcache</a:t>
            </a:r>
            <a:r>
              <a:rPr lang="zh-CN" altLang="en-US" dirty="0" smtClean="0"/>
              <a:t>量化 以及自适应异步（异步传输不一定比同步传输快，当请求比较少的时候，同步反而会快一点）的优化。</a:t>
            </a:r>
            <a:endParaRPr dirty="0"/>
          </a:p>
          <a:p>
            <a:endParaRPr dirty="0"/>
          </a:p>
          <a:p>
            <a:r>
              <a:t>【优化后的汇报备注】</a:t>
            </a:r>
          </a:p>
          <a:p>
            <a:r>
              <a:t>布局优化之后，我继续处理重复搬运和串行等待的问题。左侧是并发加载合并：多个请求同时命中相同的 CPU 前缀时，合并相同数据的加载，让它们复用恢复结果，减少重复传输。</a:t>
            </a:r>
          </a:p>
          <a:p>
            <a:r>
              <a:t>右侧是异步传输。把计算与搬运放在不同的 Stream 上，让没有依赖关系的计算和传输尽可能重叠。这里最关键的是依赖正确：Store 要等 KV 写完后再读取，后续计算也必须等 Load 和 Unpack 完成后，才能使用恢复的数据，这些顺序通过 Event 保证。</a:t>
            </a:r>
          </a:p>
          <a:p>
            <a:r>
              <a:t>此外，还进行了量化、LRU 管理和自适应传输策略的优化。异步本身有调度开销，所以对于搬运量较小、难以形成有效重叠的情况，也保留同步路径。</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279658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a:p>
            <a:endParaRPr dirty="0"/>
          </a:p>
          <a:p>
            <a:r>
              <a:t>【优化后的汇报备注】</a:t>
            </a:r>
          </a:p>
          <a:p>
            <a:r>
              <a:t>这页汇总推理优化的主要结果。首先，4096 Token 场景下的 KV Store 和 Load 分别加速约 16 倍和 13.4 倍。进一步看端到端表现，前缀命中场景的 TTFT 从 435.9 毫秒降到 107.8 毫秒，缩短约 75.3%，说明搬运优化能够转化为实际的响应速度收益。</a:t>
            </a:r>
          </a:p>
          <a:p>
            <a:r>
              <a:t>容量方面，INT8 KV 量化使相同缓存预算下的容量接近原来的两倍，这里的口径是 KV 数据容量。CPU L2 则额外扩展了可以保留的历史前缀。峰值吞吐从 2574 提升到 3118 Token 每秒，提升约 21.1%。</a:t>
            </a:r>
          </a:p>
          <a:p>
            <a:r>
              <a:t>这些结果对应本页给出的测试场景，尤其是 TTFT 收益与前缀命中情况有关，不能直接代表所有请求负载。</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06173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zh-CN" altLang="en-US" dirty="0" smtClean="0"/>
              <a:t>下面是对一个寒武纪算子开发</a:t>
            </a:r>
            <a:r>
              <a:rPr lang="en-US" altLang="zh-CN" dirty="0" smtClean="0"/>
              <a:t>skill</a:t>
            </a:r>
            <a:r>
              <a:rPr lang="zh-CN" altLang="en-US" dirty="0" smtClean="0"/>
              <a:t>进行的优化</a:t>
            </a:r>
            <a:endParaRPr lang="en-US" altLang="zh-CN" dirty="0"/>
          </a:p>
          <a:p>
            <a:endParaRPr lang="en-US" altLang="zh-CN" dirty="0"/>
          </a:p>
          <a:p>
            <a:r>
              <a:t>【优化后的汇报备注】</a:t>
            </a:r>
          </a:p>
          <a:p>
            <a:r>
              <a:t>前一部分介绍了具体算子和推理链路的优化。接下来介绍第二项工作：寒武纪算子开发 Skill 的改进。重点是减少开发过程中的重复消耗，补充动态 Shape 能力，并降低 Skill 修改后的验证成本。</a:t>
            </a:r>
          </a:p>
        </p:txBody>
      </p:sp>
      <p:sp>
        <p:nvSpPr>
          <p:cNvPr id="4" name="灯片编号占位符 3"/>
          <p:cNvSpPr>
            <a:spLocks noGrp="1"/>
          </p:cNvSpPr>
          <p:nvPr>
            <p:ph type="sldNum" sz="quarter" idx="10"/>
          </p:nvPr>
        </p:nvSpPr>
        <p:spPr/>
        <p:txBody>
          <a:bodyPr/>
          <a:lstStyle/>
          <a:p>
            <a:pPr>
              <a:defRPr/>
            </a:pPr>
            <a:fld id="{921D937D-FF6F-4B1D-B89F-1F2DB302E420}" type="slidenum">
              <a:rPr lang="en-US" altLang="zh-CN" smtClean="0">
                <a:solidFill>
                  <a:prstClr val="black"/>
                </a:solidFill>
              </a:rPr>
              <a:t>13</a:t>
            </a:fld>
            <a:endParaRPr lang="en-US" altLang="zh-CN">
              <a:solidFill>
                <a:prstClr val="black"/>
              </a:solidFill>
            </a:endParaRPr>
          </a:p>
        </p:txBody>
      </p:sp>
    </p:spTree>
    <p:extLst>
      <p:ext uri="{BB962C8B-B14F-4D97-AF65-F5344CB8AC3E}">
        <p14:creationId xmlns:p14="http://schemas.microsoft.com/office/powerpoint/2010/main" val="24783407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目前的寒武纪算子开发</a:t>
            </a:r>
            <a:r>
              <a:rPr lang="en-US" altLang="zh-CN" dirty="0" smtClean="0"/>
              <a:t>skill</a:t>
            </a:r>
            <a:r>
              <a:rPr lang="zh-CN" altLang="en-US" dirty="0" smtClean="0"/>
              <a:t>已经具备完整的开发流程，从输入需求到后面的算子优化都已经很全面。但是再使用过程中也遇到了一些问题，使用这个</a:t>
            </a:r>
            <a:r>
              <a:rPr lang="en-US" altLang="zh-CN" dirty="0" smtClean="0"/>
              <a:t>skill</a:t>
            </a:r>
            <a:r>
              <a:rPr lang="zh-CN" altLang="en-US" dirty="0" smtClean="0"/>
              <a:t>开发算子时，开发的时间比较长，</a:t>
            </a:r>
            <a:r>
              <a:rPr lang="en-US" altLang="zh-CN" dirty="0" smtClean="0"/>
              <a:t>token</a:t>
            </a:r>
            <a:r>
              <a:rPr lang="zh-CN" altLang="en-US" dirty="0" smtClean="0"/>
              <a:t>消耗比较高。而且只支持静态</a:t>
            </a:r>
            <a:r>
              <a:rPr lang="en-US" altLang="zh-CN" dirty="0" smtClean="0"/>
              <a:t>kernel</a:t>
            </a:r>
            <a:r>
              <a:rPr lang="zh-CN" altLang="en-US" dirty="0" smtClean="0"/>
              <a:t>的开发，对</a:t>
            </a:r>
            <a:r>
              <a:rPr lang="en-US" altLang="zh-CN" dirty="0" smtClean="0"/>
              <a:t>skill</a:t>
            </a:r>
            <a:r>
              <a:rPr lang="zh-CN" altLang="en-US" dirty="0" smtClean="0"/>
              <a:t>进行简单修改后验证成本很高，没有验证机制，只能冲跑一遍验证。比如 只能输入一个</a:t>
            </a:r>
            <a:r>
              <a:rPr lang="en-US" altLang="zh-CN" dirty="0" smtClean="0"/>
              <a:t>shape</a:t>
            </a:r>
            <a:r>
              <a:rPr lang="zh-CN" altLang="en-US" dirty="0" smtClean="0"/>
              <a:t>的算子，开发时间三个小时，消耗量</a:t>
            </a:r>
            <a:r>
              <a:rPr lang="en-US" altLang="zh-CN" dirty="0" smtClean="0"/>
              <a:t>200</a:t>
            </a:r>
            <a:r>
              <a:rPr lang="zh-CN" altLang="en-US" dirty="0" smtClean="0"/>
              <a:t>万</a:t>
            </a:r>
            <a:r>
              <a:rPr lang="en-US" altLang="zh-CN" dirty="0" smtClean="0"/>
              <a:t>token</a:t>
            </a:r>
            <a:r>
              <a:rPr lang="zh-CN" altLang="en-US" dirty="0" smtClean="0"/>
              <a:t>，加速比相比于厂商时</a:t>
            </a:r>
            <a:r>
              <a:rPr lang="en-US" altLang="zh-CN" dirty="0" smtClean="0"/>
              <a:t>0.87.</a:t>
            </a:r>
            <a:endParaRPr dirty="0"/>
          </a:p>
          <a:p>
            <a:endParaRPr dirty="0"/>
          </a:p>
          <a:p>
            <a:r>
              <a:t>【优化后的汇报备注】</a:t>
            </a:r>
          </a:p>
          <a:p>
            <a:r>
              <a:t>原来的 Skill 已经具备比较完整的开发流程，可以从需求输入开始，依次完成代码生成、Review 和性能优化，最终交付 Kernel。实际使用时，我主要发现了三类问题：开发时间和 Token 消耗较高，主要面向静态 Shape，以及修改 Skill 后需要付出较高的验证成本。</a:t>
            </a:r>
          </a:p>
          <a:p>
            <a:r>
              <a:t>例如，页面中的 4096 乘 8192 Softmax 案例，开发约三小时，消耗约两百万 Token，最终加速比为 0.87。这个案例说明，流程完整还不够，执行过程中的投入和最终效果也需要一起评估。下面分别介绍针对这些问题做的改进。</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针对与第一个算子开发时间长，</a:t>
            </a:r>
            <a:r>
              <a:rPr lang="en-US" altLang="zh-CN" dirty="0" smtClean="0"/>
              <a:t>token</a:t>
            </a:r>
            <a:r>
              <a:rPr lang="zh-CN" altLang="en-US" dirty="0" smtClean="0"/>
              <a:t>消耗高的问题，我分析了一下他的原始结构，一个</a:t>
            </a:r>
            <a:r>
              <a:rPr lang="en-US" altLang="zh-CN" dirty="0" smtClean="0"/>
              <a:t>main</a:t>
            </a:r>
            <a:r>
              <a:rPr lang="zh-CN" altLang="en-US" dirty="0" smtClean="0"/>
              <a:t>主流程，分别调用三个子</a:t>
            </a:r>
            <a:r>
              <a:rPr lang="en-US" altLang="zh-CN" dirty="0" smtClean="0"/>
              <a:t>skill</a:t>
            </a:r>
            <a:r>
              <a:rPr lang="zh-CN" altLang="en-US" dirty="0" smtClean="0"/>
              <a:t>进行开发，每个</a:t>
            </a:r>
            <a:r>
              <a:rPr lang="en-US" altLang="zh-CN" dirty="0" smtClean="0"/>
              <a:t>skill</a:t>
            </a:r>
            <a:r>
              <a:rPr lang="zh-CN" altLang="en-US" dirty="0" smtClean="0"/>
              <a:t>都有各自的资料库，但是不同资料库的内容大致相同，都是原语 规则 硬件信息之类的东西，这就导致当我们想要修改一些内容时，需要再每个</a:t>
            </a:r>
            <a:r>
              <a:rPr lang="en-US" altLang="zh-CN" dirty="0" smtClean="0"/>
              <a:t>skill</a:t>
            </a:r>
            <a:r>
              <a:rPr lang="zh-CN" altLang="en-US" dirty="0" smtClean="0"/>
              <a:t>中单独进行查找修改。因此做了一个</a:t>
            </a:r>
            <a:r>
              <a:rPr lang="zh-CN" altLang="en-US" b="1" dirty="0" smtClean="0">
                <a:solidFill>
                  <a:srgbClr val="FF0000"/>
                </a:solidFill>
                <a:latin typeface="Times New Roman" panose="02020603050405020304" pitchFamily="18" charset="0"/>
                <a:ea typeface="Arial" panose="020B0604020202020204"/>
                <a:cs typeface="Times New Roman" panose="02020603050405020304" pitchFamily="18" charset="0"/>
                <a:sym typeface="+mn-ea"/>
              </a:rPr>
              <a:t>将流程与资料解耦的优化，将各个</a:t>
            </a:r>
            <a:r>
              <a:rPr lang="en-US" altLang="zh-CN" b="1" dirty="0" smtClean="0">
                <a:solidFill>
                  <a:srgbClr val="FF0000"/>
                </a:solidFill>
                <a:latin typeface="Times New Roman" panose="02020603050405020304" pitchFamily="18" charset="0"/>
                <a:ea typeface="Arial" panose="020B0604020202020204"/>
                <a:cs typeface="Times New Roman" panose="02020603050405020304" pitchFamily="18" charset="0"/>
                <a:sym typeface="+mn-ea"/>
              </a:rPr>
              <a:t>skill</a:t>
            </a:r>
            <a:r>
              <a:rPr lang="zh-CN" altLang="en-US" b="1" dirty="0" smtClean="0">
                <a:solidFill>
                  <a:srgbClr val="FF0000"/>
                </a:solidFill>
                <a:latin typeface="Times New Roman" panose="02020603050405020304" pitchFamily="18" charset="0"/>
                <a:ea typeface="Arial" panose="020B0604020202020204"/>
                <a:cs typeface="Times New Roman" panose="02020603050405020304" pitchFamily="18" charset="0"/>
                <a:sym typeface="+mn-ea"/>
              </a:rPr>
              <a:t>共用的资料合并到一个共享资料库中，各个子代理按需加载共享资料。这一步方便我们后续进行优化修改。</a:t>
            </a:r>
            <a:endParaRPr dirty="0"/>
          </a:p>
          <a:p>
            <a:endParaRPr dirty="0"/>
          </a:p>
          <a:p>
            <a:r>
              <a:t>【优化后的汇报备注】</a:t>
            </a:r>
          </a:p>
          <a:p>
            <a:r>
              <a:t>首先是资料组织方式。原来的 Code-Gen、Review 和 Optimize 分别维护自己的知识库，其中很多内容是重复的，比如原语、开发规则和硬件信息。这样一来，同一份知识需要多处维护，也容易在不同阶段重复加载。</a:t>
            </a:r>
          </a:p>
          <a:p>
            <a:r>
              <a:t>我的调整是把开发流程与平台资料拆开，将共用内容整理到共享资料库，各阶段按任务需要读取对应部分。这样修改平台知识时，维护入口更集中，也为后续控制上下文加载和迁移到新平台提供了基础。这里的重点是改善组织方式，实际减少多少消耗，还需要结合后面的流程调整一起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smtClean="0"/>
              <a:t>实际使用中发现，</a:t>
            </a:r>
            <a:r>
              <a:rPr lang="en-US" altLang="zh-CN" dirty="0" smtClean="0"/>
              <a:t>skill</a:t>
            </a:r>
            <a:r>
              <a:rPr lang="zh-CN" altLang="en-US" dirty="0" smtClean="0"/>
              <a:t>在进行算子开发时，会便利所有的优化措施，穷尽所有优化，并且重复优化，只有当连续三轮无提升之后，才停止。这造成了大量时间和</a:t>
            </a:r>
            <a:r>
              <a:rPr lang="en-US" altLang="zh-CN" dirty="0" smtClean="0"/>
              <a:t>token</a:t>
            </a:r>
            <a:r>
              <a:rPr lang="zh-CN" altLang="en-US" dirty="0" smtClean="0"/>
              <a:t>的浪费。因为</a:t>
            </a:r>
            <a:r>
              <a:rPr lang="zh-CN" altLang="en-US" sz="1200" b="1" dirty="0" smtClean="0">
                <a:latin typeface="微软雅黑" panose="020B0503020204020204" pitchFamily="34" charset="-122"/>
                <a:ea typeface="微软雅黑" panose="020B0503020204020204" pitchFamily="34" charset="-122"/>
                <a:sym typeface="+mn-ea"/>
              </a:rPr>
              <a:t>有的算子不一定使用所有的优化策略，而且结束优化条件太苛刻。因此做了一个优化，先进性</a:t>
            </a:r>
            <a:r>
              <a:rPr lang="en-US" altLang="zh-CN" sz="1200" b="1" dirty="0" smtClean="0">
                <a:latin typeface="微软雅黑" panose="020B0503020204020204" pitchFamily="34" charset="-122"/>
                <a:ea typeface="微软雅黑" panose="020B0503020204020204" pitchFamily="34" charset="-122"/>
                <a:sym typeface="+mn-ea"/>
              </a:rPr>
              <a:t>profile</a:t>
            </a:r>
            <a:r>
              <a:rPr lang="zh-CN" altLang="en-US" sz="1200" b="1" dirty="0" smtClean="0">
                <a:latin typeface="微软雅黑" panose="020B0503020204020204" pitchFamily="34" charset="-122"/>
                <a:ea typeface="微软雅黑" panose="020B0503020204020204" pitchFamily="34" charset="-122"/>
                <a:sym typeface="+mn-ea"/>
              </a:rPr>
              <a:t>分析，根据算子类型和瓶颈进行优化策略的选择进行针对性优化。当然 这一步只是排除明显不适用的优化，比较保守。</a:t>
            </a:r>
            <a:endParaRPr lang="en-US" altLang="zh-CN" sz="1200" dirty="0" smtClean="0">
              <a:latin typeface="微软雅黑" panose="020B0503020204020204" pitchFamily="34" charset="-122"/>
              <a:ea typeface="微软雅黑" panose="020B0503020204020204" pitchFamily="34" charset="-122"/>
              <a:sym typeface="+mn-ea"/>
            </a:endParaRPr>
          </a:p>
          <a:p>
            <a:r>
              <a:rPr lang="zh-CN" altLang="en-US" dirty="0" smtClean="0"/>
              <a:t>，</a:t>
            </a:r>
            <a:endParaRPr dirty="0"/>
          </a:p>
          <a:p>
            <a:endParaRPr dirty="0"/>
          </a:p>
          <a:p>
            <a:r>
              <a:t>【优化后的汇报备注】</a:t>
            </a:r>
          </a:p>
          <a:p>
            <a:r>
              <a:t>第二个改进是优化策略的选择。原流程倾向于把各种优化措施逐项尝试，并在连续多轮没有提升后才结束。但不同算子的有效优化方向并不相同，完整遍历会产生不少收益很低的尝试。</a:t>
            </a:r>
          </a:p>
          <a:p>
            <a:r>
              <a:t>因此，我在选择策略之前，先结合算子类型和 Profile 信号判断主要瓶颈，再安排针对性的优化。例如，先判断当前更需要改善数据复用、并行度，还是计算与搬运的重叠。</a:t>
            </a:r>
          </a:p>
          <a:p>
            <a:r>
              <a:t>这里采取的是比较保守的筛选方式，优先排除明显不适用的策略。对于仍有可能有效的方向，继续通过实验验证，避免为了缩短开发时间而过早放弃性能空间。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50000"/>
              </a:lnSpc>
              <a:buFont typeface="Wingdings" panose="05000000000000000000" pitchFamily="2" charset="2"/>
              <a:buNone/>
            </a:pPr>
            <a:r>
              <a:rPr lang="zh-CN" altLang="en-US" dirty="0" smtClean="0"/>
              <a:t>在生成</a:t>
            </a:r>
            <a:r>
              <a:rPr lang="en-US" altLang="zh-CN" dirty="0" smtClean="0"/>
              <a:t>kernel</a:t>
            </a:r>
            <a:r>
              <a:rPr lang="zh-CN" altLang="en-US" dirty="0" smtClean="0"/>
              <a:t>阶段。</a:t>
            </a:r>
            <a:r>
              <a:rPr lang="en-US" altLang="zh-CN" dirty="0" smtClean="0"/>
              <a:t>Skill</a:t>
            </a:r>
            <a:r>
              <a:rPr lang="zh-CN" altLang="en-US" dirty="0" smtClean="0"/>
              <a:t>采用了</a:t>
            </a:r>
            <a:r>
              <a:rPr lang="en-US" altLang="zh-CN" dirty="0" smtClean="0"/>
              <a:t>7</a:t>
            </a:r>
            <a:r>
              <a:rPr lang="zh-CN" altLang="en-US" dirty="0" smtClean="0"/>
              <a:t>个子代理，十分细致安全的生成</a:t>
            </a:r>
            <a:r>
              <a:rPr lang="en-US" altLang="zh-CN" dirty="0" smtClean="0"/>
              <a:t>kernel</a:t>
            </a:r>
            <a:r>
              <a:rPr lang="zh-CN" altLang="en-US" dirty="0" smtClean="0"/>
              <a:t>，这样固然会确保生成的</a:t>
            </a:r>
            <a:r>
              <a:rPr lang="en-US" altLang="zh-CN" dirty="0" smtClean="0"/>
              <a:t>kernel</a:t>
            </a:r>
            <a:r>
              <a:rPr lang="zh-CN" altLang="en-US" dirty="0" smtClean="0"/>
              <a:t>质量较高，但是也导致每个子代理都需要加载很多重复的资料，和上下文，造成时间空间的验证浪费。而且现在大模型能力变强，这些代理各自实际复杂完成的任务较轻，因此进行一些合并，将</a:t>
            </a:r>
            <a:r>
              <a:rPr lang="zh-CN" altLang="en-US" b="1" dirty="0" smtClean="0">
                <a:solidFill>
                  <a:srgbClr val="FF0000"/>
                </a:solidFill>
                <a:latin typeface="Times New Roman" panose="02020603050405020304" pitchFamily="18" charset="0"/>
                <a:cs typeface="Times New Roman" panose="02020603050405020304" pitchFamily="18" charset="0"/>
              </a:rPr>
              <a:t>读取相同资料、任务较轻的阶段合并，减少重复调度。优化完也进行了一些测试，</a:t>
            </a:r>
            <a:r>
              <a:rPr lang="en-US" altLang="zh-CN" b="1" dirty="0" err="1" smtClean="0">
                <a:solidFill>
                  <a:srgbClr val="FF0000"/>
                </a:solidFill>
                <a:latin typeface="Times New Roman" panose="02020603050405020304" pitchFamily="18" charset="0"/>
                <a:cs typeface="Times New Roman" panose="02020603050405020304" pitchFamily="18" charset="0"/>
              </a:rPr>
              <a:t>softmax</a:t>
            </a:r>
            <a:r>
              <a:rPr lang="zh-CN" altLang="en-US" b="1" dirty="0" smtClean="0">
                <a:solidFill>
                  <a:srgbClr val="FF0000"/>
                </a:solidFill>
                <a:latin typeface="Times New Roman" panose="02020603050405020304" pitchFamily="18" charset="0"/>
                <a:cs typeface="Times New Roman" panose="02020603050405020304" pitchFamily="18" charset="0"/>
              </a:rPr>
              <a:t>消耗的</a:t>
            </a:r>
            <a:r>
              <a:rPr lang="en-US" altLang="zh-CN" b="1" dirty="0" smtClean="0">
                <a:solidFill>
                  <a:srgbClr val="FF0000"/>
                </a:solidFill>
                <a:latin typeface="Times New Roman" panose="02020603050405020304" pitchFamily="18" charset="0"/>
                <a:cs typeface="Times New Roman" panose="02020603050405020304" pitchFamily="18" charset="0"/>
              </a:rPr>
              <a:t>token</a:t>
            </a:r>
            <a:r>
              <a:rPr lang="zh-CN" altLang="en-US" b="1" dirty="0" smtClean="0">
                <a:solidFill>
                  <a:srgbClr val="FF0000"/>
                </a:solidFill>
                <a:latin typeface="Times New Roman" panose="02020603050405020304" pitchFamily="18" charset="0"/>
                <a:cs typeface="Times New Roman" panose="02020603050405020304" pitchFamily="18" charset="0"/>
              </a:rPr>
              <a:t>从</a:t>
            </a:r>
            <a:r>
              <a:rPr lang="en-US" altLang="zh-CN" b="1" dirty="0" smtClean="0">
                <a:solidFill>
                  <a:srgbClr val="FF0000"/>
                </a:solidFill>
                <a:latin typeface="Times New Roman" panose="02020603050405020304" pitchFamily="18" charset="0"/>
                <a:cs typeface="Times New Roman" panose="02020603050405020304" pitchFamily="18" charset="0"/>
              </a:rPr>
              <a:t>186</a:t>
            </a:r>
            <a:r>
              <a:rPr lang="zh-CN" altLang="en-US" b="1" dirty="0" smtClean="0">
                <a:solidFill>
                  <a:srgbClr val="FF0000"/>
                </a:solidFill>
                <a:latin typeface="Times New Roman" panose="02020603050405020304" pitchFamily="18" charset="0"/>
                <a:cs typeface="Times New Roman" panose="02020603050405020304" pitchFamily="18" charset="0"/>
              </a:rPr>
              <a:t>万降低至</a:t>
            </a:r>
            <a:r>
              <a:rPr lang="en-US" altLang="zh-CN" b="1" dirty="0" smtClean="0">
                <a:solidFill>
                  <a:srgbClr val="FF0000"/>
                </a:solidFill>
                <a:latin typeface="Times New Roman" panose="02020603050405020304" pitchFamily="18" charset="0"/>
                <a:cs typeface="Times New Roman" panose="02020603050405020304" pitchFamily="18" charset="0"/>
              </a:rPr>
              <a:t>94</a:t>
            </a:r>
            <a:r>
              <a:rPr lang="zh-CN" altLang="en-US" b="1" dirty="0" smtClean="0">
                <a:solidFill>
                  <a:srgbClr val="FF0000"/>
                </a:solidFill>
                <a:latin typeface="Times New Roman" panose="02020603050405020304" pitchFamily="18" charset="0"/>
                <a:cs typeface="Times New Roman" panose="02020603050405020304" pitchFamily="18" charset="0"/>
              </a:rPr>
              <a:t>万，</a:t>
            </a:r>
            <a:r>
              <a:rPr lang="en-US" altLang="zh-CN" b="1" dirty="0" err="1" smtClean="0">
                <a:solidFill>
                  <a:srgbClr val="FF0000"/>
                </a:solidFill>
                <a:latin typeface="Times New Roman" panose="02020603050405020304" pitchFamily="18" charset="0"/>
                <a:cs typeface="Times New Roman" panose="02020603050405020304" pitchFamily="18" charset="0"/>
              </a:rPr>
              <a:t>layernorm</a:t>
            </a:r>
            <a:r>
              <a:rPr lang="zh-CN" altLang="en-US" b="1" dirty="0" smtClean="0">
                <a:solidFill>
                  <a:srgbClr val="FF0000"/>
                </a:solidFill>
                <a:latin typeface="Times New Roman" panose="02020603050405020304" pitchFamily="18" charset="0"/>
                <a:cs typeface="Times New Roman" panose="02020603050405020304" pitchFamily="18" charset="0"/>
              </a:rPr>
              <a:t>消耗的</a:t>
            </a:r>
            <a:r>
              <a:rPr lang="en-US" altLang="zh-CN" b="1" dirty="0" smtClean="0">
                <a:solidFill>
                  <a:srgbClr val="FF0000"/>
                </a:solidFill>
                <a:latin typeface="Times New Roman" panose="02020603050405020304" pitchFamily="18" charset="0"/>
                <a:cs typeface="Times New Roman" panose="02020603050405020304" pitchFamily="18" charset="0"/>
              </a:rPr>
              <a:t>token</a:t>
            </a:r>
            <a:r>
              <a:rPr lang="zh-CN" altLang="en-US" b="1" dirty="0" smtClean="0">
                <a:solidFill>
                  <a:srgbClr val="FF0000"/>
                </a:solidFill>
                <a:latin typeface="Times New Roman" panose="02020603050405020304" pitchFamily="18" charset="0"/>
                <a:cs typeface="Times New Roman" panose="02020603050405020304" pitchFamily="18" charset="0"/>
              </a:rPr>
              <a:t>从</a:t>
            </a:r>
            <a:r>
              <a:rPr lang="en-US" altLang="zh-CN" b="1" dirty="0" smtClean="0">
                <a:solidFill>
                  <a:srgbClr val="FF0000"/>
                </a:solidFill>
                <a:latin typeface="Times New Roman" panose="02020603050405020304" pitchFamily="18" charset="0"/>
                <a:cs typeface="Times New Roman" panose="02020603050405020304" pitchFamily="18" charset="0"/>
              </a:rPr>
              <a:t>143</a:t>
            </a:r>
            <a:r>
              <a:rPr lang="zh-CN" altLang="en-US" b="1" dirty="0" smtClean="0">
                <a:solidFill>
                  <a:srgbClr val="FF0000"/>
                </a:solidFill>
                <a:latin typeface="Times New Roman" panose="02020603050405020304" pitchFamily="18" charset="0"/>
                <a:cs typeface="Times New Roman" panose="02020603050405020304" pitchFamily="18" charset="0"/>
              </a:rPr>
              <a:t>万降低至</a:t>
            </a:r>
            <a:r>
              <a:rPr lang="en-US" altLang="zh-CN" b="1" dirty="0" smtClean="0">
                <a:solidFill>
                  <a:srgbClr val="FF0000"/>
                </a:solidFill>
                <a:latin typeface="Times New Roman" panose="02020603050405020304" pitchFamily="18" charset="0"/>
                <a:cs typeface="Times New Roman" panose="02020603050405020304" pitchFamily="18" charset="0"/>
              </a:rPr>
              <a:t>80</a:t>
            </a:r>
            <a:r>
              <a:rPr lang="zh-CN" altLang="en-US" b="1" dirty="0" smtClean="0">
                <a:solidFill>
                  <a:srgbClr val="FF0000"/>
                </a:solidFill>
                <a:latin typeface="Times New Roman" panose="02020603050405020304" pitchFamily="18" charset="0"/>
                <a:cs typeface="Times New Roman" panose="02020603050405020304" pitchFamily="18" charset="0"/>
              </a:rPr>
              <a:t>万，为了进一步确认效果</a:t>
            </a:r>
            <a:r>
              <a:rPr lang="zh-CN" altLang="en-US" sz="1200" dirty="0" smtClean="0">
                <a:latin typeface="微软雅黑" panose="020B0503020204020204" pitchFamily="34" charset="-122"/>
                <a:ea typeface="微软雅黑" panose="020B0503020204020204" pitchFamily="34" charset="-122"/>
                <a:sym typeface="+mn-ea"/>
              </a:rPr>
              <a:t>进行数十种算子开发测试，新旧版本生成</a:t>
            </a:r>
            <a:r>
              <a:rPr lang="en-US" altLang="zh-CN" sz="1200" dirty="0" smtClean="0">
                <a:latin typeface="微软雅黑" panose="020B0503020204020204" pitchFamily="34" charset="-122"/>
                <a:ea typeface="微软雅黑" panose="020B0503020204020204" pitchFamily="34" charset="-122"/>
                <a:sym typeface="+mn-ea"/>
              </a:rPr>
              <a:t>kernel</a:t>
            </a:r>
            <a:r>
              <a:rPr lang="zh-CN" altLang="en-US" sz="1200" dirty="0" smtClean="0">
                <a:latin typeface="微软雅黑" panose="020B0503020204020204" pitchFamily="34" charset="-122"/>
                <a:ea typeface="微软雅黑" panose="020B0503020204020204" pitchFamily="34" charset="-122"/>
                <a:sym typeface="+mn-ea"/>
              </a:rPr>
              <a:t>近乎一致。</a:t>
            </a:r>
            <a:endParaRPr lang="en-US" altLang="zh-CN" sz="1200" dirty="0" smtClean="0">
              <a:latin typeface="微软雅黑" panose="020B0503020204020204" pitchFamily="34" charset="-122"/>
              <a:ea typeface="微软雅黑" panose="020B0503020204020204" pitchFamily="34" charset="-122"/>
              <a:sym typeface="+mn-ea"/>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b="1" dirty="0" smtClean="0">
              <a:solidFill>
                <a:srgbClr val="FF0000"/>
              </a:solidFill>
              <a:latin typeface="Times New Roman" panose="02020603050405020304" pitchFamily="18" charset="0"/>
              <a:cs typeface="Times New Roman" panose="02020603050405020304" pitchFamily="18" charset="0"/>
            </a:endParaRPr>
          </a:p>
          <a:p>
            <a:endParaRPr dirty="0"/>
          </a:p>
          <a:p>
            <a:endParaRPr dirty="0"/>
          </a:p>
          <a:p>
            <a:r>
              <a:t>【优化后的汇报备注】</a:t>
            </a:r>
          </a:p>
          <a:p>
            <a:r>
              <a:t>第三个改进是减少重复调度。原来代码生成部分拆成了七个子代理，职责很细，但不少阶段任务较轻，而且需要反复读取相同资料、传递相似的上下文。</a:t>
            </a:r>
          </a:p>
          <a:p>
            <a:r>
              <a:t>我把职责接近的阶段合并为 Design、Build 和 Verify 三个代理。Design 负责需求理解到 Kernel 设计，Build 负责代码与测试生成，Verify 负责自检和整理。这样保留了必要的检查环节，同时减少阶段间的重复交接。</a:t>
            </a:r>
          </a:p>
          <a:p>
            <a:r>
              <a:t>在示例测试中，Softmax 的 Token 消耗从 186 万降到 94 万，LayerNorm 从 143 万降到 80 万。随后又进行了数十种算子的开发测试，观察到新旧流程的产出基本一致。这支持了阶段合并的可行性，不过结论仍以已覆盖的测试范围为准。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在简单解决开发时间长和</a:t>
            </a:r>
            <a:r>
              <a:rPr lang="en-US" altLang="zh-CN" dirty="0" smtClean="0"/>
              <a:t>token</a:t>
            </a:r>
            <a:r>
              <a:rPr lang="zh-CN" altLang="en-US" dirty="0" smtClean="0"/>
              <a:t>消耗问题后，我对这个</a:t>
            </a:r>
            <a:r>
              <a:rPr lang="en-US" altLang="zh-CN" dirty="0" smtClean="0"/>
              <a:t>skill</a:t>
            </a:r>
            <a:r>
              <a:rPr lang="zh-CN" altLang="en-US" dirty="0" smtClean="0"/>
              <a:t>添加了一个动态</a:t>
            </a:r>
            <a:r>
              <a:rPr lang="en-US" altLang="zh-CN" dirty="0" smtClean="0"/>
              <a:t>shape</a:t>
            </a:r>
            <a:r>
              <a:rPr lang="zh-CN" altLang="en-US" dirty="0" smtClean="0"/>
              <a:t>开发的功能。首先分析了一下静态方案的限制，生成的</a:t>
            </a:r>
            <a:r>
              <a:rPr lang="en-US" altLang="zh-CN" dirty="0" smtClean="0"/>
              <a:t>kernel</a:t>
            </a:r>
            <a:r>
              <a:rPr lang="zh-CN" altLang="en-US" dirty="0" smtClean="0"/>
              <a:t>结构就已经不支持很多输入</a:t>
            </a:r>
            <a:r>
              <a:rPr lang="en-US" altLang="zh-CN" dirty="0" smtClean="0"/>
              <a:t>shape</a:t>
            </a:r>
            <a:r>
              <a:rPr lang="zh-CN" altLang="en-US" dirty="0" smtClean="0"/>
              <a:t>了，而且就算支持 性能也很不问题。动态的主要思路就是首先让</a:t>
            </a:r>
            <a:r>
              <a:rPr lang="en-US" altLang="zh-CN" dirty="0" smtClean="0"/>
              <a:t>kernel</a:t>
            </a:r>
            <a:r>
              <a:rPr lang="zh-CN" altLang="en-US" dirty="0" smtClean="0"/>
              <a:t>通用一点，然后让一些关键的参数进行搜索取最优，因为一个</a:t>
            </a:r>
            <a:r>
              <a:rPr lang="en-US" altLang="zh-CN" dirty="0" smtClean="0"/>
              <a:t>kernel</a:t>
            </a:r>
            <a:r>
              <a:rPr lang="zh-CN" altLang="en-US" dirty="0" smtClean="0"/>
              <a:t>肯定不可能覆盖所有的</a:t>
            </a:r>
            <a:r>
              <a:rPr lang="en-US" altLang="zh-CN" dirty="0" smtClean="0"/>
              <a:t>shape</a:t>
            </a:r>
            <a:r>
              <a:rPr lang="zh-CN" altLang="en-US" dirty="0" smtClean="0"/>
              <a:t>，最后加入</a:t>
            </a:r>
            <a:r>
              <a:rPr lang="en-US" altLang="zh-CN" dirty="0" smtClean="0"/>
              <a:t>kernel Family </a:t>
            </a:r>
            <a:r>
              <a:rPr lang="zh-CN" altLang="en-US" dirty="0" smtClean="0"/>
              <a:t>，使用不同的</a:t>
            </a:r>
            <a:r>
              <a:rPr lang="en-US" altLang="zh-CN" dirty="0" smtClean="0"/>
              <a:t>kernel</a:t>
            </a:r>
            <a:r>
              <a:rPr lang="zh-CN" altLang="en-US" dirty="0" smtClean="0"/>
              <a:t>结构覆盖不同的尺寸特征，</a:t>
            </a:r>
            <a:endParaRPr dirty="0"/>
          </a:p>
          <a:p>
            <a:endParaRPr dirty="0"/>
          </a:p>
          <a:p>
            <a:r>
              <a:t>【优化后的汇报备注】</a:t>
            </a:r>
          </a:p>
          <a:p>
            <a:r>
              <a:t>接下来是动态 Shape 开发能力。原来的静态方案通常围绕一个输入尺寸生成和优化 Kernel，循环范围、分块或输出处理可能依赖固定尺寸。换一个 Shape 后，即使能够运行，性能也可能明显下降。</a:t>
            </a:r>
          </a:p>
          <a:p>
            <a:r>
              <a:t>因此，我把动态开发分成几个层次：先让实现能够正确覆盖目标尺寸范围，再根据 Shape 和硬件约束搜索合适的参数。如果同一种结构难以兼顾不同规模，就引入多个 Kernel Family，让不同结构负责各自擅长的尺寸区域。</a:t>
            </a:r>
          </a:p>
          <a:p>
            <a:r>
              <a:t>这里的目标是同时解决适用范围和性能稳定性问题，而不是只把固定尺寸改成一个输入参数。</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567549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开发阶段就是 生成</a:t>
            </a:r>
            <a:r>
              <a:rPr lang="en-US" altLang="zh-CN" dirty="0" smtClean="0"/>
              <a:t>kernel</a:t>
            </a:r>
            <a:r>
              <a:rPr lang="zh-CN" altLang="en-US" dirty="0" smtClean="0"/>
              <a:t>的时候，会根据不同的</a:t>
            </a:r>
            <a:r>
              <a:rPr lang="en-US" altLang="zh-CN" dirty="0" smtClean="0"/>
              <a:t>shape</a:t>
            </a:r>
            <a:r>
              <a:rPr lang="zh-CN" altLang="en-US" dirty="0" smtClean="0"/>
              <a:t>生成不同的</a:t>
            </a:r>
            <a:r>
              <a:rPr lang="en-US" altLang="zh-CN" dirty="0" smtClean="0"/>
              <a:t>kernel</a:t>
            </a:r>
            <a:r>
              <a:rPr lang="zh-CN" altLang="en-US" dirty="0" smtClean="0"/>
              <a:t>，然后进行</a:t>
            </a:r>
            <a:r>
              <a:rPr lang="en-US" altLang="zh-CN" dirty="0" smtClean="0"/>
              <a:t>kernel</a:t>
            </a:r>
            <a:r>
              <a:rPr lang="zh-CN" altLang="en-US" dirty="0" smtClean="0"/>
              <a:t>结构的优化，优化策略跟原来差距不大，只是验收标准从原来的单一</a:t>
            </a:r>
            <a:r>
              <a:rPr lang="en-US" altLang="zh-CN" dirty="0" smtClean="0"/>
              <a:t>kernel</a:t>
            </a:r>
            <a:r>
              <a:rPr lang="zh-CN" altLang="en-US" dirty="0" smtClean="0"/>
              <a:t>变为多个</a:t>
            </a:r>
            <a:r>
              <a:rPr lang="en-US" altLang="zh-CN" dirty="0" smtClean="0"/>
              <a:t>shape</a:t>
            </a:r>
            <a:r>
              <a:rPr lang="zh-CN" altLang="en-US" dirty="0" smtClean="0"/>
              <a:t>池子的代表</a:t>
            </a:r>
            <a:r>
              <a:rPr lang="en-US" altLang="zh-CN" dirty="0" smtClean="0"/>
              <a:t>shape</a:t>
            </a:r>
            <a:r>
              <a:rPr lang="zh-CN" altLang="en-US" dirty="0" smtClean="0"/>
              <a:t>综合加速比，然后会进行</a:t>
            </a:r>
            <a:r>
              <a:rPr lang="en-US" altLang="zh-CN" dirty="0" err="1" smtClean="0"/>
              <a:t>config</a:t>
            </a:r>
            <a:r>
              <a:rPr lang="en-US" altLang="zh-CN" dirty="0" smtClean="0"/>
              <a:t> </a:t>
            </a:r>
            <a:r>
              <a:rPr lang="zh-CN" altLang="en-US" dirty="0" smtClean="0"/>
              <a:t>的参数便利优化，也是会现根据</a:t>
            </a:r>
            <a:r>
              <a:rPr lang="en-US" altLang="zh-CN" dirty="0" smtClean="0"/>
              <a:t>kernel</a:t>
            </a:r>
            <a:r>
              <a:rPr lang="zh-CN" altLang="en-US" dirty="0" smtClean="0"/>
              <a:t>的算子资料和硬件信息去排除一些明显不合适的配置。最后形成一个分配规则。在运行时根据输入</a:t>
            </a:r>
            <a:r>
              <a:rPr lang="en-US" altLang="zh-CN" dirty="0" smtClean="0"/>
              <a:t>shape</a:t>
            </a:r>
            <a:r>
              <a:rPr lang="zh-CN" altLang="en-US" dirty="0" smtClean="0"/>
              <a:t>选择符合规则的</a:t>
            </a:r>
            <a:r>
              <a:rPr lang="en-US" altLang="zh-CN" dirty="0" smtClean="0"/>
              <a:t>kernel</a:t>
            </a:r>
            <a:r>
              <a:rPr lang="zh-CN" altLang="en-US" dirty="0" smtClean="0"/>
              <a:t>，然后进行计算。第一次运行时有一个开销，后续会直接复用。</a:t>
            </a:r>
            <a:endParaRPr dirty="0"/>
          </a:p>
          <a:p>
            <a:endParaRPr dirty="0"/>
          </a:p>
          <a:p>
            <a:r>
              <a:t>【优化后的汇报备注】</a:t>
            </a:r>
          </a:p>
          <a:p>
            <a:r>
              <a:t>实现上分为开发阶段和运行阶段。开发时，先围绕不同尺寸特征构建候选 Kernel Family，例如小尺寸、分块或分阶段处理、整轴处理等结构，再在硬件约束内搜索配置。</a:t>
            </a:r>
          </a:p>
          <a:p>
            <a:r>
              <a:t>与静态开发相比，关键变化是验收对象从单个 Shape 扩展为目标 Shape 集合。每个候选结构和配置，都需要结合覆盖范围、正确性和性能进行评估，再形成 Dispatch 规则。</a:t>
            </a:r>
          </a:p>
          <a:p>
            <a:r>
              <a:t>运行时，根据输入 Shape 选择对应的 Family 和配置，并复用已经确定的结果。如果需要首次编译或调优，这部分开销也要与后续稳定运行的性能分开看。这样既保留了按 Shape 选择的灵活性，也避免每次执行都重新搜索。</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5237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接下来进行一些算子的实际开发的静态方案和动态方案的对比验证。加速比时相对于</a:t>
            </a:r>
            <a:r>
              <a:rPr lang="en-US" altLang="zh-CN" dirty="0" err="1" smtClean="0"/>
              <a:t>pytorch</a:t>
            </a:r>
            <a:r>
              <a:rPr lang="en-US" altLang="zh-CN" dirty="0" smtClean="0"/>
              <a:t> </a:t>
            </a:r>
            <a:r>
              <a:rPr lang="zh-CN" altLang="en-US" dirty="0" smtClean="0"/>
              <a:t>厂商的加速比，动态方案会进行</a:t>
            </a:r>
            <a:r>
              <a:rPr lang="en-US" altLang="zh-CN" dirty="0" smtClean="0"/>
              <a:t>144</a:t>
            </a:r>
            <a:r>
              <a:rPr lang="zh-CN" altLang="en-US" dirty="0" smtClean="0"/>
              <a:t>个随机</a:t>
            </a:r>
            <a:r>
              <a:rPr lang="en-US" altLang="zh-CN" dirty="0" smtClean="0"/>
              <a:t>shape</a:t>
            </a:r>
            <a:r>
              <a:rPr lang="zh-CN" altLang="en-US" dirty="0" smtClean="0"/>
              <a:t>测试。可以看到动态方案的开发时间骤升，但是动态</a:t>
            </a:r>
            <a:r>
              <a:rPr lang="en-US" altLang="zh-CN" dirty="0" smtClean="0"/>
              <a:t>shape</a:t>
            </a:r>
            <a:r>
              <a:rPr lang="zh-CN" altLang="en-US" dirty="0" smtClean="0"/>
              <a:t>的平均性能优势反而还超过了静态方案单一</a:t>
            </a:r>
            <a:r>
              <a:rPr lang="en-US" altLang="zh-CN" dirty="0" smtClean="0"/>
              <a:t>shape</a:t>
            </a:r>
            <a:r>
              <a:rPr lang="zh-CN" altLang="en-US" dirty="0" smtClean="0"/>
              <a:t>。分析时有些</a:t>
            </a:r>
            <a:r>
              <a:rPr lang="en-US" altLang="zh-CN" dirty="0" smtClean="0"/>
              <a:t>shape</a:t>
            </a:r>
            <a:r>
              <a:rPr lang="zh-CN" altLang="en-US" dirty="0" smtClean="0"/>
              <a:t>下，现有方案生成的加速比远高于</a:t>
            </a:r>
            <a:r>
              <a:rPr lang="en-US" altLang="zh-CN" dirty="0" err="1" smtClean="0"/>
              <a:t>pytorch</a:t>
            </a:r>
            <a:r>
              <a:rPr lang="zh-CN" altLang="en-US" dirty="0" smtClean="0"/>
              <a:t>，所以平均下来，动态方案加速比反而较高。</a:t>
            </a:r>
            <a:endParaRPr dirty="0"/>
          </a:p>
          <a:p>
            <a:endParaRPr dirty="0"/>
          </a:p>
          <a:p>
            <a:r>
              <a:t>【优化后的汇报备注】</a:t>
            </a:r>
          </a:p>
          <a:p>
            <a:r>
              <a:t>这页展示静态方案和动态方案的实际开发结果。首先，动态方案的开发时间明显增加，因为需要覆盖更多 Shape，还要进行结构和参数的搜索与验证。</a:t>
            </a:r>
          </a:p>
          <a:p>
            <a:r>
              <a:t>从相对 PyTorch 的加速比看，动态方案的 Softmax 略低于静态结果，LayerNorm 接近，而 RMSNorm 和 GELU 表现更好。这说明针对不同 Shape 选择实现和参数，能够在部分尺寸上带来收益。</a:t>
            </a:r>
          </a:p>
          <a:p>
            <a:r>
              <a:t>需要注意，静态方案面向单一 Shape，动态方案的结果覆盖随机测试的 144 个 Shape，两个结果的统计对象不同。因此，这组数据主要用来说明覆盖范围扩大后的性能表现和开发成本，不能据此认定动态方案在相同 Shape 上一定更快。</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接下来为</a:t>
            </a:r>
            <a:r>
              <a:rPr lang="en-US" altLang="zh-CN" dirty="0" smtClean="0"/>
              <a:t>skill</a:t>
            </a:r>
            <a:r>
              <a:rPr lang="zh-CN" altLang="en-US" dirty="0" smtClean="0"/>
              <a:t>增加了一个修改后快速验证机制。因为对于原来</a:t>
            </a:r>
            <a:r>
              <a:rPr lang="en-US" altLang="zh-CN" dirty="0" smtClean="0"/>
              <a:t>skill</a:t>
            </a:r>
            <a:r>
              <a:rPr lang="zh-CN" altLang="en-US" dirty="0" smtClean="0"/>
              <a:t>，没有修改验证机制，即使是对</a:t>
            </a:r>
            <a:r>
              <a:rPr lang="en-US" altLang="zh-CN" dirty="0" smtClean="0"/>
              <a:t>skill</a:t>
            </a:r>
            <a:r>
              <a:rPr lang="zh-CN" altLang="en-US" dirty="0" smtClean="0"/>
              <a:t>进行一个简单的修改，也需要重新跑一遍算子开发验证。现在做了两个优化，首先是一个三阶段验证机制，针对不同的修改内容，进行不同层次的验证，如果只是规则契约修改，就进行</a:t>
            </a:r>
            <a:r>
              <a:rPr lang="en-US" altLang="zh-CN" dirty="0" smtClean="0"/>
              <a:t>l1 </a:t>
            </a:r>
            <a:r>
              <a:rPr lang="zh-CN" altLang="en-US" dirty="0" smtClean="0"/>
              <a:t>静态结构验证，几分钟就可以验证完毕，如果是流程的修改，就进行</a:t>
            </a:r>
            <a:r>
              <a:rPr lang="en-US" altLang="zh-CN" dirty="0" smtClean="0"/>
              <a:t>l2</a:t>
            </a:r>
            <a:r>
              <a:rPr lang="zh-CN" altLang="en-US" dirty="0" smtClean="0"/>
              <a:t>层级的验证，如果时算子开发策略相关的修改才需要进行真实算子开发验证</a:t>
            </a:r>
            <a:endParaRPr lang="en-US" altLang="zh-CN" dirty="0" smtClean="0"/>
          </a:p>
          <a:p>
            <a:endParaRPr lang="en-US" altLang="zh-CN" dirty="0" smtClean="0"/>
          </a:p>
          <a:p>
            <a:r>
              <a:t>【优化后的汇报备注】</a:t>
            </a:r>
          </a:p>
          <a:p>
            <a:r>
              <a:t>第三类问题是 Skill 修改后的验证成本。以前即使只修改一条规则，也往往需要重新开发一个完整算子，验证时间较长。</a:t>
            </a:r>
          </a:p>
          <a:p>
            <a:r>
              <a:t>我增加了分层验证机制。L1 做静态结构检查，主要检查文档、引用和规则的一致性，通常是分钟级。L2 检查 Workflow 行为，确认阶段调用和流程执行符合预期，成本约为十分钟级。涉及代码生成或优化策略效果的修改，则进一步进入 L3，在真实硬件上开发和验证算子。</a:t>
            </a:r>
          </a:p>
          <a:p>
            <a:r>
              <a:t>选择哪一层，要看修改的实际影响，而不仅是改动了哪个文件。这样可以把低成本检查放在前面，同时保留必要的真实算子验证。</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263826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第二个优化是增加了一个中间产物复用与断点续 跑机制，原流程在开发算子时，如果因为意外停止，那么重新开始开发时，需要从头执行 或者 大模型自己去借上流程，存在不确定性。优化后，在各阶段，各子代理可以产出并识别可以复用的中间产物，当</a:t>
            </a:r>
            <a:r>
              <a:rPr lang="zh-CN" altLang="en-US" sz="1200" b="1" dirty="0" smtClean="0">
                <a:latin typeface="微软雅黑" panose="020B0503020204020204" pitchFamily="34" charset="-122"/>
                <a:ea typeface="微软雅黑" panose="020B0503020204020204" pitchFamily="34" charset="-122"/>
                <a:sym typeface="+mn-ea"/>
              </a:rPr>
              <a:t>当因为意外中断算子开发时，直接读取最近中间产物，从最近有效阶段恢复继续执行即可。当进行</a:t>
            </a:r>
            <a:r>
              <a:rPr lang="en-US" altLang="zh-CN" sz="1200" b="1" dirty="0" smtClean="0">
                <a:latin typeface="微软雅黑" panose="020B0503020204020204" pitchFamily="34" charset="-122"/>
                <a:ea typeface="微软雅黑" panose="020B0503020204020204" pitchFamily="34" charset="-122"/>
                <a:sym typeface="+mn-ea"/>
              </a:rPr>
              <a:t>l3</a:t>
            </a:r>
            <a:r>
              <a:rPr lang="zh-CN" altLang="en-US" sz="1200" b="1" dirty="0" smtClean="0">
                <a:latin typeface="微软雅黑" panose="020B0503020204020204" pitchFamily="34" charset="-122"/>
                <a:ea typeface="微软雅黑" panose="020B0503020204020204" pitchFamily="34" charset="-122"/>
                <a:sym typeface="+mn-ea"/>
              </a:rPr>
              <a:t>级别的验证时，也可以跳过前面未修改的部分，降低验证成本。</a:t>
            </a:r>
            <a:endParaRPr dirty="0"/>
          </a:p>
          <a:p>
            <a:endParaRPr dirty="0"/>
          </a:p>
          <a:p>
            <a:r>
              <a:t>【优化后的汇报备注】</a:t>
            </a:r>
          </a:p>
          <a:p>
            <a:r>
              <a:t>另一个降低验证成本的办法，是保存和复用阶段产物，也就是 Artifact。原流程中，如果执行到 Review 时意外中断，重新启动后可能需要从头执行，或者依赖模型重新梳理进度。</a:t>
            </a:r>
          </a:p>
          <a:p>
            <a:r>
              <a:t>调整后，每个阶段会输出能够被后续阶段识别的中间产物。再次执行时，先判断哪些结果仍然有效，再从最近有效的阶段继续。比如只修改 Review 规则、且上游输入和产物仍然适用时，就可以复用 Design 和 Build 的结果，从 Review 开始。</a:t>
            </a:r>
          </a:p>
          <a:p>
            <a:r>
              <a:t>这里的关键是判断产物是否有效。如果上游需求或实现发生变化，下游结果就需要重新检查，不能因为存在缓存就直接跳过。</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r>
              <a:rPr lang="zh-CN" altLang="en-US" dirty="0" smtClean="0"/>
              <a:t>下面是对一个寒武纪算子开发</a:t>
            </a:r>
            <a:r>
              <a:rPr lang="en-US" altLang="zh-CN" dirty="0" smtClean="0"/>
              <a:t>skill</a:t>
            </a:r>
            <a:r>
              <a:rPr lang="zh-CN" altLang="en-US" dirty="0" smtClean="0"/>
              <a:t>进行的优化</a:t>
            </a:r>
            <a:endParaRPr lang="en-US" altLang="zh-CN" dirty="0"/>
          </a:p>
          <a:p>
            <a:endParaRPr lang="en-US" altLang="zh-CN" dirty="0"/>
          </a:p>
          <a:p>
            <a:r>
              <a:t>【优化后的汇报备注】</a:t>
            </a:r>
          </a:p>
          <a:p>
            <a:r>
              <a:t>前一部分介绍了具体算子和推理链路的优化。接下来介绍第二项工作：寒武纪算子开发 Skill 的改进。重点是减少开发过程中的重复消耗，补充动态 Shape 能力，并降低 Skill 修改后的验证成本。</a:t>
            </a:r>
          </a:p>
        </p:txBody>
      </p:sp>
      <p:sp>
        <p:nvSpPr>
          <p:cNvPr id="4" name="灯片编号占位符 3"/>
          <p:cNvSpPr>
            <a:spLocks noGrp="1"/>
          </p:cNvSpPr>
          <p:nvPr>
            <p:ph type="sldNum" sz="quarter" idx="10"/>
          </p:nvPr>
        </p:nvSpPr>
        <p:spPr/>
        <p:txBody>
          <a:bodyPr/>
          <a:lstStyle/>
          <a:p>
            <a:pPr>
              <a:defRPr/>
            </a:pPr>
            <a:fld id="{921D937D-FF6F-4B1D-B89F-1F2DB302E420}" type="slidenum">
              <a:rPr lang="en-US" altLang="zh-CN" smtClean="0">
                <a:solidFill>
                  <a:prstClr val="black"/>
                </a:solidFill>
              </a:rPr>
              <a:t>23</a:t>
            </a:fld>
            <a:endParaRPr lang="en-US" altLang="zh-CN">
              <a:solidFill>
                <a:prstClr val="black"/>
              </a:solidFill>
            </a:endParaRPr>
          </a:p>
        </p:txBody>
      </p:sp>
    </p:spTree>
    <p:extLst>
      <p:ext uri="{BB962C8B-B14F-4D97-AF65-F5344CB8AC3E}">
        <p14:creationId xmlns:p14="http://schemas.microsoft.com/office/powerpoint/2010/main" val="42438983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242424"/>
                </a:solidFill>
                <a:latin typeface="Arial" panose="020B0604020202020204"/>
                <a:ea typeface="Arial" panose="020B0604020202020204"/>
                <a:cs typeface="Arial" panose="020B0604020202020204"/>
              </a:defRPr>
            </a:pPr>
            <a:r>
              <a:rPr lang="zh-CN" altLang="en-US" dirty="0" smtClean="0">
                <a:solidFill>
                  <a:srgbClr val="242424"/>
                </a:solidFill>
                <a:latin typeface="Arial" panose="020B0604020202020204"/>
                <a:ea typeface="Arial" panose="020B0604020202020204"/>
                <a:cs typeface="Arial" panose="020B0604020202020204"/>
              </a:rPr>
              <a:t>首先对目前</a:t>
            </a:r>
            <a:r>
              <a:rPr lang="en-US" altLang="zh-CN" dirty="0" smtClean="0">
                <a:solidFill>
                  <a:srgbClr val="242424"/>
                </a:solidFill>
                <a:latin typeface="Arial" panose="020B0604020202020204"/>
                <a:ea typeface="Arial" panose="020B0604020202020204"/>
                <a:cs typeface="Arial" panose="020B0604020202020204"/>
              </a:rPr>
              <a:t>skill</a:t>
            </a:r>
            <a:r>
              <a:rPr lang="zh-CN" altLang="en-US" dirty="0" smtClean="0">
                <a:solidFill>
                  <a:srgbClr val="242424"/>
                </a:solidFill>
                <a:latin typeface="Arial" panose="020B0604020202020204"/>
                <a:ea typeface="Arial" panose="020B0604020202020204"/>
                <a:cs typeface="Arial" panose="020B0604020202020204"/>
              </a:rPr>
              <a:t>的结构进行分析，算子</a:t>
            </a:r>
            <a:r>
              <a:rPr lang="zh-CN" altLang="en-US" dirty="0">
                <a:solidFill>
                  <a:srgbClr val="242424"/>
                </a:solidFill>
                <a:latin typeface="Arial" panose="020B0604020202020204"/>
                <a:ea typeface="Arial" panose="020B0604020202020204"/>
                <a:cs typeface="Arial" panose="020B0604020202020204"/>
              </a:rPr>
              <a:t>的开发流程具有通用性</a:t>
            </a:r>
            <a:r>
              <a:rPr lang="zh-CN" altLang="en-US" dirty="0" smtClean="0">
                <a:solidFill>
                  <a:srgbClr val="242424"/>
                </a:solidFill>
                <a:latin typeface="Arial" panose="020B0604020202020204"/>
                <a:ea typeface="Arial" panose="020B0604020202020204"/>
                <a:cs typeface="Arial" panose="020B0604020202020204"/>
              </a:rPr>
              <a:t>，都是从需求分析 代码生成 性能分析 再到优化。但是由于硬件</a:t>
            </a:r>
            <a:r>
              <a:rPr lang="zh-CN" altLang="en-US" dirty="0">
                <a:solidFill>
                  <a:srgbClr val="242424"/>
                </a:solidFill>
                <a:latin typeface="Arial" panose="020B0604020202020204"/>
                <a:ea typeface="Arial" panose="020B0604020202020204"/>
                <a:cs typeface="Arial" panose="020B0604020202020204"/>
              </a:rPr>
              <a:t>架构的差异和原</a:t>
            </a:r>
            <a:r>
              <a:rPr lang="en-US" altLang="zh-CN" dirty="0">
                <a:solidFill>
                  <a:srgbClr val="242424"/>
                </a:solidFill>
                <a:latin typeface="Arial" panose="020B0604020202020204"/>
                <a:ea typeface="Arial" panose="020B0604020202020204"/>
                <a:cs typeface="Arial" panose="020B0604020202020204"/>
              </a:rPr>
              <a:t>skill</a:t>
            </a:r>
            <a:r>
              <a:rPr lang="zh-CN" altLang="en-US" dirty="0" smtClean="0">
                <a:solidFill>
                  <a:srgbClr val="242424"/>
                </a:solidFill>
                <a:latin typeface="Arial" panose="020B0604020202020204"/>
                <a:ea typeface="Arial" panose="020B0604020202020204"/>
                <a:cs typeface="Arial" panose="020B0604020202020204"/>
              </a:rPr>
              <a:t>流程</a:t>
            </a:r>
            <a:r>
              <a:rPr lang="zh-CN" altLang="en-US" sz="1600" b="1" dirty="0" smtClean="0">
                <a:solidFill>
                  <a:schemeClr val="tx1">
                    <a:lumMod val="95000"/>
                    <a:lumOff val="5000"/>
                  </a:schemeClr>
                </a:solidFill>
                <a:latin typeface="Times New Roman" panose="02020603050405020304" pitchFamily="18" charset="0"/>
                <a:cs typeface="Times New Roman" panose="02020603050405020304" pitchFamily="18" charset="0"/>
              </a:rPr>
              <a:t>平台资料分散在整个开发流程中</a:t>
            </a:r>
            <a:r>
              <a:rPr lang="zh-CN" altLang="en-US" dirty="0" smtClean="0">
                <a:solidFill>
                  <a:srgbClr val="242424"/>
                </a:solidFill>
                <a:latin typeface="Arial" panose="020B0604020202020204"/>
                <a:ea typeface="Arial" panose="020B0604020202020204"/>
                <a:cs typeface="Arial" panose="020B0604020202020204"/>
              </a:rPr>
              <a:t>，导致平台资料替换困难。复用这个框架会出现 </a:t>
            </a:r>
            <a:r>
              <a:rPr lang="zh-CN" altLang="en-US" sz="1600" b="1" dirty="0" smtClean="0">
                <a:solidFill>
                  <a:srgbClr val="C00000"/>
                </a:solidFill>
                <a:latin typeface="Times New Roman" panose="02020603050405020304" pitchFamily="18" charset="0"/>
                <a:ea typeface="Arial" panose="020B0604020202020204"/>
                <a:cs typeface="Times New Roman" panose="02020603050405020304" pitchFamily="18" charset="0"/>
              </a:rPr>
              <a:t>新</a:t>
            </a:r>
            <a:r>
              <a:rPr lang="zh-CN" altLang="en-US" sz="1600" b="1" dirty="0" smtClean="0">
                <a:solidFill>
                  <a:srgbClr val="C00000"/>
                </a:solidFill>
                <a:latin typeface="Times New Roman" panose="02020603050405020304" pitchFamily="18" charset="0"/>
                <a:cs typeface="Times New Roman" panose="02020603050405020304" pitchFamily="18" charset="0"/>
              </a:rPr>
              <a:t>平台</a:t>
            </a:r>
            <a:r>
              <a:rPr lang="en-US" altLang="zh-CN" sz="1600" b="1" dirty="0" err="1" smtClean="0">
                <a:solidFill>
                  <a:srgbClr val="C00000"/>
                </a:solidFill>
                <a:latin typeface="Times New Roman" panose="02020603050405020304" pitchFamily="18" charset="0"/>
                <a:cs typeface="Times New Roman" panose="02020603050405020304" pitchFamily="18" charset="0"/>
              </a:rPr>
              <a:t>skil</a:t>
            </a:r>
            <a:r>
              <a:rPr lang="zh-CN" altLang="en-US" sz="1600" b="1" dirty="0" smtClean="0">
                <a:solidFill>
                  <a:srgbClr val="C00000"/>
                </a:solidFill>
                <a:latin typeface="Times New Roman" panose="02020603050405020304" pitchFamily="18" charset="0"/>
                <a:cs typeface="Times New Roman" panose="02020603050405020304" pitchFamily="18" charset="0"/>
              </a:rPr>
              <a:t>开发时需要多个模块大范围修改，替换成本高。因此做一个优化，将可复用的开发流程 与 需要进行替换的平台资料</a:t>
            </a:r>
            <a:r>
              <a:rPr lang="zh-CN" altLang="en-US" sz="1575" b="0" baseline="0" dirty="0">
                <a:solidFill>
                  <a:srgbClr val="242424"/>
                </a:solidFill>
                <a:latin typeface="Arial" panose="020B0604020202020204"/>
                <a:cs typeface="Arial" panose="020B0604020202020204"/>
              </a:rPr>
              <a:t> </a:t>
            </a:r>
            <a:r>
              <a:rPr lang="zh-CN" altLang="en-US" sz="1575" b="0" baseline="0" dirty="0" smtClean="0">
                <a:solidFill>
                  <a:srgbClr val="242424"/>
                </a:solidFill>
                <a:latin typeface="Arial" panose="020B0604020202020204"/>
                <a:cs typeface="Arial" panose="020B0604020202020204"/>
              </a:rPr>
              <a:t>进行解耦。</a:t>
            </a:r>
            <a:endParaRPr lang="zh-CN" altLang="en-US" sz="1600" b="1" dirty="0" smtClean="0">
              <a:solidFill>
                <a:srgbClr val="C00000"/>
              </a:solidFill>
              <a:latin typeface="Times New Roman" panose="02020603050405020304" pitchFamily="18" charset="0"/>
              <a:cs typeface="Times New Roman" panose="02020603050405020304" pitchFamily="18" charset="0"/>
            </a:endParaRPr>
          </a:p>
          <a:p>
            <a:endParaRPr lang="zh-CN" altLang="en-US" sz="1600" b="1" dirty="0" smtClean="0">
              <a:solidFill>
                <a:srgbClr val="C00000"/>
              </a:solidFill>
              <a:latin typeface="Times New Roman" panose="02020603050405020304" pitchFamily="18" charset="0"/>
              <a:cs typeface="Times New Roman" panose="02020603050405020304" pitchFamily="18" charset="0"/>
            </a:endParaRPr>
          </a:p>
          <a:p>
            <a:r>
              <a:t>【优化后的汇报备注】</a:t>
            </a:r>
          </a:p>
          <a:p>
            <a:r>
              <a:t>跨平台开发首先要分清共性和差异。算子开发通常都需要经过需求分析、代码生成、正确性验证、性能分析和迭代优化，这部分流程具有较强的通用性。差异主要集中在硬件架构、编程模型，以及工具链和开发环境上。</a:t>
            </a:r>
          </a:p>
          <a:p>
            <a:r>
              <a:t>原来的结构把这些平台信息分散在整个流程中，迁移时就需要逐个模块查找和修改，容易遗漏，也会增加维护成本。</a:t>
            </a:r>
          </a:p>
          <a:p>
            <a:r>
              <a:t>因此，我进一步把通用流程和平台资料解耦。Workflow、阶段产物和验证机制尽量复用，平台资料则集中管理和替换。这样，新平台适配时需要调整的范围会更加清楚。</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7182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然后开始进行新平台</a:t>
            </a:r>
            <a:r>
              <a:rPr lang="en-US" altLang="zh-CN" dirty="0" smtClean="0"/>
              <a:t>skill</a:t>
            </a:r>
            <a:r>
              <a:rPr lang="zh-CN" altLang="en-US" dirty="0" smtClean="0"/>
              <a:t>的开发。首先时</a:t>
            </a:r>
            <a:r>
              <a:rPr lang="en-US" altLang="zh-CN" dirty="0" smtClean="0"/>
              <a:t>workflow</a:t>
            </a:r>
            <a:r>
              <a:rPr lang="zh-CN" altLang="en-US" dirty="0" smtClean="0"/>
              <a:t>。通用流程不变，但是需要补充平台信息限制，修改必要的阶段契约，以及真实硬件验证和复测流程文档。第二部分进行平台资料库的修改，结构不变，但是内容几乎需要全部修改，需要补充新平台的硬件架构  编程环境 算子画像 性能分析 优化方法 支持原语等。这些信息主要可以通过这几个方式获取。最终组合成为新平台算子开发</a:t>
            </a:r>
            <a:r>
              <a:rPr lang="en-US" altLang="zh-CN" dirty="0" smtClean="0"/>
              <a:t>skill</a:t>
            </a:r>
            <a:r>
              <a:rPr lang="zh-CN" altLang="en-US" dirty="0" smtClean="0"/>
              <a:t>。</a:t>
            </a:r>
            <a:endParaRPr dirty="0"/>
          </a:p>
          <a:p>
            <a:endParaRPr dirty="0"/>
          </a:p>
          <a:p>
            <a:r>
              <a:t>【优化后的汇报备注】</a:t>
            </a:r>
          </a:p>
          <a:p>
            <a:r>
              <a:t>按照这个划分，开发新平台 Skill 主要处理两部分。上半部分是 Workflow，保留整体开发顺序，根据新平台补充必要的限制，调整相关阶段的输入输出约定，并通过真实硬件验证流程能否正常执行。</a:t>
            </a:r>
          </a:p>
          <a:p>
            <a:r>
              <a:t>下半部分是平台资料库。目录结构可以沿用，但硬件架构、编程环境、支持原语、性能分析方法和优化案例等内容，需要按新平台重新整理。资料主要来自官方文档、环境检测、Microbenchmark 和实际开发经验。</a:t>
            </a:r>
          </a:p>
          <a:p>
            <a:r>
              <a:t>最终，把通用流程与平台资料组合起来，再用真实算子验证。这个指南希望减少重复搭建流程的成本，但平台知识本身仍然需要扎实地收集和测试。</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nSpc>
                <a:spcPct val="150000"/>
              </a:lnSpc>
              <a:buFont typeface="Wingdings" panose="05000000000000000000" pitchFamily="2" charset="2"/>
              <a:buNone/>
              <a:defRPr sz="1500" b="0">
                <a:solidFill>
                  <a:srgbClr val="242424"/>
                </a:solidFill>
                <a:latin typeface="Arial" panose="020B0604020202020204"/>
                <a:ea typeface="Arial" panose="020B0604020202020204"/>
                <a:cs typeface="Arial" panose="020B0604020202020204"/>
              </a:defRPr>
            </a:pPr>
            <a:r>
              <a:rPr lang="zh-CN" altLang="en-US" dirty="0" smtClean="0"/>
              <a:t>目前是实现了三个算子开发</a:t>
            </a:r>
            <a:r>
              <a:rPr lang="en-US" altLang="zh-CN" dirty="0" smtClean="0"/>
              <a:t>skill</a:t>
            </a:r>
            <a:r>
              <a:rPr lang="zh-CN" altLang="en-US" dirty="0" smtClean="0"/>
              <a:t>。加上原来优化后的一共是四个。分别为为寒武纪</a:t>
            </a:r>
            <a:r>
              <a:rPr lang="en-US" altLang="zh-CN" dirty="0" err="1" smtClean="0"/>
              <a:t>MLU+Triton</a:t>
            </a:r>
            <a:r>
              <a:rPr lang="zh-CN" altLang="en-US" dirty="0" smtClean="0"/>
              <a:t>、寒武纪</a:t>
            </a:r>
            <a:r>
              <a:rPr lang="en-US" altLang="zh-CN" dirty="0" smtClean="0"/>
              <a:t>MLU+BANG C</a:t>
            </a:r>
            <a:r>
              <a:rPr lang="zh-CN" altLang="en-US" dirty="0" smtClean="0"/>
              <a:t>、</a:t>
            </a:r>
            <a:r>
              <a:rPr lang="en-US" altLang="zh-CN" dirty="0" smtClean="0"/>
              <a:t>NVIDIA </a:t>
            </a:r>
            <a:r>
              <a:rPr lang="en-US" altLang="zh-CN" dirty="0" err="1" smtClean="0"/>
              <a:t>GPU+Triton</a:t>
            </a:r>
            <a:r>
              <a:rPr lang="zh-CN" altLang="en-US" dirty="0" smtClean="0"/>
              <a:t>、</a:t>
            </a:r>
            <a:r>
              <a:rPr lang="en-US" altLang="zh-CN" dirty="0" smtClean="0"/>
              <a:t>NVIDIA GPU+CUDA C</a:t>
            </a:r>
            <a:r>
              <a:rPr lang="zh-CN" altLang="en-US" dirty="0" smtClean="0"/>
              <a:t>。进行一些算子开发的测试。</a:t>
            </a:r>
            <a:r>
              <a:rPr dirty="0" smtClean="0"/>
              <a:t>测试配置：</a:t>
            </a:r>
            <a:r>
              <a:rPr lang="en-US" dirty="0" smtClean="0"/>
              <a:t>L</a:t>
            </a:r>
            <a:r>
              <a:rPr dirty="0" smtClean="0"/>
              <a:t>ayerNorm、Softmax、MatMul；FP16</a:t>
            </a:r>
            <a:r>
              <a:rPr dirty="0"/>
              <a:t>计算、FP32累加；</a:t>
            </a:r>
            <a:r>
              <a:rPr dirty="0" smtClean="0"/>
              <a:t>指标相对PyTorch加速比。性能（LayerNorm/</a:t>
            </a:r>
            <a:r>
              <a:rPr dirty="0" err="1" smtClean="0"/>
              <a:t>Softmax</a:t>
            </a:r>
            <a:r>
              <a:rPr dirty="0" smtClean="0"/>
              <a:t>/MatMul）：MLU Triton=1.00/1.23/0.45倍，BANG C=0.01/0.05/0.33倍，GPU Triton=1.43/1.06/0.53倍，CUDA C=1.45/1.06/0.33倍。</a:t>
            </a:r>
            <a:r>
              <a:rPr lang="en-US" altLang="zh-CN" sz="1200" dirty="0" smtClean="0">
                <a:solidFill>
                  <a:srgbClr val="242424"/>
                </a:solidFill>
                <a:latin typeface="Times New Roman" panose="02020603050405020304" pitchFamily="18" charset="0"/>
                <a:cs typeface="Times New Roman" panose="02020603050405020304" pitchFamily="18" charset="0"/>
              </a:rPr>
              <a:t>Skill</a:t>
            </a:r>
            <a:r>
              <a:rPr lang="zh-CN" altLang="en-US" sz="1200" dirty="0" smtClean="0">
                <a:solidFill>
                  <a:srgbClr val="242424"/>
                </a:solidFill>
                <a:latin typeface="Times New Roman" panose="02020603050405020304" pitchFamily="18" charset="0"/>
                <a:cs typeface="Times New Roman" panose="02020603050405020304" pitchFamily="18" charset="0"/>
              </a:rPr>
              <a:t>开发的简单算子基本可以比平官方算子，但是</a:t>
            </a:r>
            <a:r>
              <a:rPr lang="en-US" altLang="zh-CN" sz="1200" dirty="0" err="1" smtClean="0">
                <a:solidFill>
                  <a:srgbClr val="242424"/>
                </a:solidFill>
                <a:latin typeface="Times New Roman" panose="02020603050405020304" pitchFamily="18" charset="0"/>
                <a:cs typeface="Times New Roman" panose="02020603050405020304" pitchFamily="18" charset="0"/>
              </a:rPr>
              <a:t>bangc</a:t>
            </a:r>
            <a:r>
              <a:rPr lang="zh-CN" altLang="en-US" sz="1200" dirty="0" smtClean="0">
                <a:solidFill>
                  <a:srgbClr val="242424"/>
                </a:solidFill>
                <a:latin typeface="Times New Roman" panose="02020603050405020304" pitchFamily="18" charset="0"/>
                <a:cs typeface="Times New Roman" panose="02020603050405020304" pitchFamily="18" charset="0"/>
              </a:rPr>
              <a:t>平台目前还待优化，优化效果一般。</a:t>
            </a:r>
            <a:endParaRPr dirty="0" smtClean="0"/>
          </a:p>
          <a:p>
            <a:endParaRPr dirty="0"/>
          </a:p>
          <a:p>
            <a:endParaRPr dirty="0"/>
          </a:p>
          <a:p>
            <a:r>
              <a:t>【优化后的汇报备注】</a:t>
            </a:r>
          </a:p>
          <a:p>
            <a:r>
              <a:t>目前，在原有 MLU Triton Skill 的基础上，又开发和验证了 BANG C、GPU Triton 和 CUDA C 三类 Skill。这里使用 LayerNorm、Softmax 和 MatMul，在各自平台上与对应的 PyTorch 基线比较。</a:t>
            </a:r>
          </a:p>
          <a:p>
            <a:r>
              <a:t>结果看，MLU Triton 的 LayerNorm 和 Softmax 分别为 1.00 倍和 1.23 倍。GPU Triton 与 CUDA C 的 LayerNorm 达到约 1.4 倍，Softmax 都为 1.06 倍。说明在已测试的部分简单算子上，生成结果可以达到或超过基线。</a:t>
            </a:r>
          </a:p>
          <a:p>
            <a:r>
              <a:t>不足也很明显：MatMul 在四类 Skill 下都低于基线，BANG C 的三个算子也仍有较大差距。因此，当前结果验证了跨平台流程能够运行，但高性能生成能力还不均衡。各列对应不同平台的相对加速比，也不能直接用来比较不同硬件的绝对性能。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smtClean="0"/>
              <a:t>开发耗时从需求输入到通过验证，单位小时：</a:t>
            </a:r>
            <a:r>
              <a:rPr lang="en-US" altLang="zh-CN" dirty="0" smtClean="0"/>
              <a:t>MLU</a:t>
            </a:r>
            <a:r>
              <a:rPr lang="zh-CN" altLang="en-US" dirty="0" smtClean="0"/>
              <a:t> </a:t>
            </a:r>
            <a:r>
              <a:rPr lang="en-US" altLang="zh-CN" dirty="0" smtClean="0"/>
              <a:t>Triton=1.0/1.2/1.8</a:t>
            </a:r>
            <a:r>
              <a:rPr lang="zh-CN" altLang="en-US" dirty="0" smtClean="0"/>
              <a:t>，</a:t>
            </a:r>
            <a:r>
              <a:rPr lang="en-US" altLang="zh-CN" dirty="0" smtClean="0"/>
              <a:t>BANG C=3.5/3.2/4.0</a:t>
            </a:r>
            <a:r>
              <a:rPr lang="zh-CN" altLang="en-US" dirty="0" smtClean="0"/>
              <a:t>，</a:t>
            </a:r>
            <a:r>
              <a:rPr lang="en-US" altLang="zh-CN" dirty="0" smtClean="0"/>
              <a:t>GPU Triton=0.8/1.0/1.6</a:t>
            </a:r>
            <a:r>
              <a:rPr lang="zh-CN" altLang="en-US" dirty="0" smtClean="0"/>
              <a:t>，</a:t>
            </a:r>
            <a:r>
              <a:rPr lang="en-US" altLang="zh-CN" dirty="0" smtClean="0"/>
              <a:t>CUDA C=0.7/0.9/1.5</a:t>
            </a:r>
            <a:r>
              <a:rPr lang="zh-CN" altLang="en-US" dirty="0" smtClean="0"/>
              <a:t>。</a:t>
            </a:r>
            <a:r>
              <a:rPr lang="zh-CN" altLang="en-US" sz="1200" dirty="0" smtClean="0">
                <a:solidFill>
                  <a:srgbClr val="242424"/>
                </a:solidFill>
                <a:latin typeface="Times New Roman" panose="02020603050405020304" pitchFamily="18" charset="0"/>
                <a:cs typeface="Times New Roman" panose="02020603050405020304" pitchFamily="18" charset="0"/>
              </a:rPr>
              <a:t>算子开发平均时间</a:t>
            </a:r>
            <a:r>
              <a:rPr lang="en-US" altLang="zh-CN" sz="1200" dirty="0" smtClean="0">
                <a:solidFill>
                  <a:srgbClr val="242424"/>
                </a:solidFill>
                <a:latin typeface="Times New Roman" panose="02020603050405020304" pitchFamily="18" charset="0"/>
                <a:cs typeface="Times New Roman" panose="02020603050405020304" pitchFamily="18" charset="0"/>
              </a:rPr>
              <a:t>2h</a:t>
            </a:r>
            <a:r>
              <a:rPr lang="zh-CN" altLang="en-US" sz="1200" dirty="0" smtClean="0">
                <a:solidFill>
                  <a:srgbClr val="242424"/>
                </a:solidFill>
                <a:latin typeface="Times New Roman" panose="02020603050405020304" pitchFamily="18" charset="0"/>
                <a:cs typeface="Times New Roman" panose="02020603050405020304" pitchFamily="18" charset="0"/>
              </a:rPr>
              <a:t>；除了</a:t>
            </a:r>
            <a:r>
              <a:rPr lang="en-US" altLang="zh-CN" sz="1200" dirty="0" err="1" smtClean="0">
                <a:solidFill>
                  <a:srgbClr val="242424"/>
                </a:solidFill>
                <a:latin typeface="Times New Roman" panose="02020603050405020304" pitchFamily="18" charset="0"/>
                <a:cs typeface="Times New Roman" panose="02020603050405020304" pitchFamily="18" charset="0"/>
              </a:rPr>
              <a:t>bangc</a:t>
            </a:r>
            <a:r>
              <a:rPr lang="zh-CN" altLang="en-US" sz="1200" dirty="0" smtClean="0">
                <a:solidFill>
                  <a:srgbClr val="242424"/>
                </a:solidFill>
                <a:latin typeface="Times New Roman" panose="02020603050405020304" pitchFamily="18" charset="0"/>
                <a:cs typeface="Times New Roman" panose="02020603050405020304" pitchFamily="18" charset="0"/>
              </a:rPr>
              <a:t>外，平均开发时间</a:t>
            </a:r>
            <a:r>
              <a:rPr lang="en-US" altLang="zh-CN" sz="1200" dirty="0" smtClean="0">
                <a:solidFill>
                  <a:srgbClr val="242424"/>
                </a:solidFill>
                <a:latin typeface="Times New Roman" panose="02020603050405020304" pitchFamily="18" charset="0"/>
                <a:cs typeface="Times New Roman" panose="02020603050405020304" pitchFamily="18" charset="0"/>
              </a:rPr>
              <a:t>1.4h</a:t>
            </a:r>
            <a:r>
              <a:rPr lang="zh-CN" altLang="en-US" sz="1200" dirty="0" smtClean="0">
                <a:solidFill>
                  <a:srgbClr val="242424"/>
                </a:solidFill>
                <a:latin typeface="Times New Roman" panose="02020603050405020304" pitchFamily="18" charset="0"/>
                <a:cs typeface="Times New Roman" panose="02020603050405020304" pitchFamily="18" charset="0"/>
              </a:rPr>
              <a:t>。</a:t>
            </a:r>
          </a:p>
          <a:p>
            <a:endParaRPr lang="zh-CN" altLang="en-US" dirty="0" smtClean="0"/>
          </a:p>
          <a:p>
            <a:endParaRPr dirty="0"/>
          </a:p>
          <a:p>
            <a:endParaRPr dirty="0"/>
          </a:p>
          <a:p>
            <a:r>
              <a:t>【优化后的汇报备注】</a:t>
            </a:r>
          </a:p>
          <a:p>
            <a:r>
              <a:t>这一页再从开发成本看多平台结果。这里的耗时是从需求输入到通过验证的完整开发时间，不是 Kernel 的执行时间。</a:t>
            </a:r>
          </a:p>
          <a:p>
            <a:r>
              <a:t>从图中可以看到，BANG C 的三个案例需要约 3.2 到 4 小时，明显长于其他方案。其余平台的这些案例大致在 0.7 到 1.8 小时之间。结合上一页的性能结果，BANG C 同时存在开发时间较长、产出性能偏低的问题，应当优先分析具体失败和反复迭代的环节，并补充更有针对性的开发资料与案例。</a:t>
            </a:r>
          </a:p>
          <a:p>
            <a:r>
              <a:t>这组结果也提醒我，评价 Skill 时要同时关注最终正确性、性能和开发投入，单独缩短开发时间并不够。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smtClean="0"/>
              <a:t>至此我的基本工作内容基本汇报完毕，接下来是我的一些工作总结。</a:t>
            </a:r>
            <a:r>
              <a:rPr lang="zh-CN" altLang="en-US" sz="1200" dirty="0" smtClean="0">
                <a:latin typeface="Times New Roman" panose="02020603050405020304" pitchFamily="18" charset="0"/>
                <a:cs typeface="Times New Roman" panose="02020603050405020304" pitchFamily="18" charset="0"/>
              </a:rPr>
              <a:t>在海康威视智能计算平台部的实习过程中，我收获了很多，在实际项目中形成了从问题定位、方案设计、实验验证到总结沉淀的完整工作思路。实习过程中得到许多了来自</a:t>
            </a:r>
            <a:r>
              <a:rPr lang="en-US" altLang="zh-CN" sz="1200" dirty="0" smtClean="0">
                <a:latin typeface="Times New Roman" panose="02020603050405020304" pitchFamily="18" charset="0"/>
                <a:cs typeface="Times New Roman" panose="02020603050405020304" pitchFamily="18" charset="0"/>
              </a:rPr>
              <a:t>leader</a:t>
            </a:r>
            <a:r>
              <a:rPr lang="zh-CN" altLang="en-US" sz="1200" dirty="0" smtClean="0">
                <a:latin typeface="Times New Roman" panose="02020603050405020304" pitchFamily="18" charset="0"/>
                <a:cs typeface="Times New Roman" panose="02020603050405020304" pitchFamily="18" charset="0"/>
              </a:rPr>
              <a:t>和同事在技术方案、工作方法和生活等方面的指导让我受益匪浅，实习过程中我清晰的认识到了自己的优势和不足，许多事情以前是知其然不知其所以然，现在更关注事务和方法更底层的东西，与此同时也在不断提升自己的工作方式与能力。后续我将持续补足基础与工程能力，提升独立承担项目的能力，加强技术汇报与团队协作能力，继续深耕高性能计算方向，同时保持对新平台、新工具和新技术的学习。</a:t>
            </a:r>
            <a:endParaRPr dirty="0"/>
          </a:p>
          <a:p>
            <a:endParaRPr dirty="0"/>
          </a:p>
          <a:p>
            <a:r>
              <a:t>【优化后的汇报备注】</a:t>
            </a:r>
          </a:p>
          <a:p>
            <a:r>
              <a:t>以上是这段时间的主要工作。对我来说，实习中一个很重要的收获，是逐步形成了从问题定位、方案设计，到实验验证和总结沉淀的完整工作思路。以前我更关注功能是否实现、结果有没有提升，现在会进一步追问原因是什么、实验是否支持判断，以及方案在什么条件下适用。</a:t>
            </a:r>
          </a:p>
          <a:p>
            <a:r>
              <a:t>同时，非常感谢主管、带教和同事在技术方案、工作方法以及生活上给予的帮助。与大家交流的过程，也让我更清楚地认识到，研发工作需要把问题讲明白，及时沟通，并让自己的结果方便他人理解和复用。</a:t>
            </a:r>
          </a:p>
          <a:p>
            <a:r>
              <a:t>后续我会继续补足基础和工程能力，提高独立承担项目的能力，也会加强汇报表达、任务规划与团队协作。方向上继续深耕高性能计算，同时保持对新平台和新工具的学习。</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260674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a:p>
          <a:p>
            <a:endParaRPr lang="zh-CN" altLang="en-US"/>
          </a:p>
          <a:p>
            <a:r>
              <a:t>【优化后的汇报备注】</a:t>
            </a:r>
          </a:p>
          <a:p>
            <a:r>
              <a:t>我的汇报到这里结束。感谢各位领导和同事这段时间的指导与帮助，也感谢大家的聆听。欢迎大家提出问题和建议，谢谢。</a:t>
            </a:r>
          </a:p>
        </p:txBody>
      </p:sp>
      <p:sp>
        <p:nvSpPr>
          <p:cNvPr id="4" name="灯片编号占位符 3"/>
          <p:cNvSpPr>
            <a:spLocks noGrp="1"/>
          </p:cNvSpPr>
          <p:nvPr>
            <p:ph type="sldNum" sz="quarter" idx="10"/>
          </p:nvPr>
        </p:nvSpPr>
        <p:spPr/>
        <p:txBody>
          <a:bodyPr/>
          <a:lstStyle/>
          <a:p>
            <a:pPr>
              <a:defRPr/>
            </a:pPr>
            <a:fld id="{921D937D-FF6F-4B1D-B89F-1F2DB302E420}" type="slidenum">
              <a:rPr lang="en-US" altLang="zh-CN" smtClean="0">
                <a:solidFill>
                  <a:prstClr val="black"/>
                </a:solidFill>
              </a:rPr>
              <a:t>29</a:t>
            </a:fld>
            <a:endParaRPr lang="en-US" altLang="zh-CN">
              <a:solidFill>
                <a:prstClr val="black"/>
              </a:solidFil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5" descr="C:\Documents and Settings\DingQi\桌面\封面1.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a:ln w="9525">
            <a:noFill/>
            <a:miter lim="800000"/>
            <a:headEnd/>
            <a:tailEnd/>
          </a:ln>
        </p:spPr>
      </p:pic>
      <p:sp>
        <p:nvSpPr>
          <p:cNvPr id="5" name="Rectangle 5"/>
          <p:cNvSpPr>
            <a:spLocks noChangeArrowheads="1"/>
          </p:cNvSpPr>
          <p:nvPr/>
        </p:nvSpPr>
        <p:spPr bwMode="auto">
          <a:xfrm>
            <a:off x="3887788" y="981075"/>
            <a:ext cx="3924300" cy="360363"/>
          </a:xfrm>
          <a:prstGeom prst="rect">
            <a:avLst/>
          </a:prstGeom>
          <a:noFill/>
          <a:ln w="9525">
            <a:noFill/>
            <a:miter lim="800000"/>
          </a:ln>
          <a:effectLst/>
        </p:spPr>
        <p:txBody>
          <a:bodyPr/>
          <a:lstStyle/>
          <a:p>
            <a:pPr fontAlgn="base">
              <a:spcBef>
                <a:spcPct val="0"/>
              </a:spcBef>
              <a:spcAft>
                <a:spcPct val="0"/>
              </a:spcAft>
              <a:defRPr/>
            </a:pPr>
            <a:endParaRPr lang="zh-CN" altLang="zh-CN">
              <a:solidFill>
                <a:srgbClr val="000000"/>
              </a:solidFill>
              <a:ea typeface="宋体" panose="02010600030101010101" pitchFamily="2" charset="-122"/>
            </a:endParaRPr>
          </a:p>
        </p:txBody>
      </p:sp>
      <p:sp>
        <p:nvSpPr>
          <p:cNvPr id="11267" name="Rectangle 3"/>
          <p:cNvSpPr>
            <a:spLocks noGrp="1" noChangeArrowheads="1"/>
          </p:cNvSpPr>
          <p:nvPr>
            <p:ph type="ctrTitle" hasCustomPrompt="1"/>
          </p:nvPr>
        </p:nvSpPr>
        <p:spPr>
          <a:xfrm>
            <a:off x="684213" y="4437063"/>
            <a:ext cx="7415212" cy="792162"/>
          </a:xfrm>
        </p:spPr>
        <p:txBody>
          <a:bodyPr/>
          <a:lstStyle>
            <a:lvl1pPr algn="ctr">
              <a:defRPr sz="2400">
                <a:latin typeface="黑体" panose="02010609060101010101" pitchFamily="2" charset="-122"/>
              </a:defRPr>
            </a:lvl1pPr>
          </a:lstStyle>
          <a:p>
            <a:r>
              <a:rPr lang="zh-CN" altLang="en-US"/>
              <a:t>海康威视</a:t>
            </a:r>
            <a:r>
              <a:rPr lang="en-US" altLang="zh-CN"/>
              <a:t>-</a:t>
            </a:r>
            <a:r>
              <a:rPr lang="zh-CN" altLang="en-US"/>
              <a:t>致力于人人轻松享有安全的品质生活</a:t>
            </a:r>
          </a:p>
        </p:txBody>
      </p:sp>
      <p:sp>
        <p:nvSpPr>
          <p:cNvPr id="11268" name="Rectangle 4"/>
          <p:cNvSpPr>
            <a:spLocks noGrp="1" noChangeArrowheads="1"/>
          </p:cNvSpPr>
          <p:nvPr>
            <p:ph type="subTitle" idx="1" hasCustomPrompt="1"/>
          </p:nvPr>
        </p:nvSpPr>
        <p:spPr>
          <a:xfrm>
            <a:off x="1258888" y="5373688"/>
            <a:ext cx="6192837" cy="647700"/>
          </a:xfrm>
        </p:spPr>
        <p:txBody>
          <a:bodyPr/>
          <a:lstStyle>
            <a:lvl1pPr marL="0" indent="0" algn="ctr">
              <a:buFont typeface="Wingdings" panose="05000000000000000000" pitchFamily="2" charset="2"/>
              <a:buNone/>
              <a:defRPr sz="1500">
                <a:solidFill>
                  <a:srgbClr val="FF0000"/>
                </a:solidFill>
                <a:ea typeface="黑体" panose="02010609060101010101" pitchFamily="2" charset="-122"/>
              </a:defRPr>
            </a:lvl1pPr>
          </a:lstStyle>
          <a:p>
            <a:r>
              <a:rPr lang="zh-CN" altLang="en-US"/>
              <a:t>提示：此为企业简介素材稿，实际使用时，务必根据受众进行修改！</a:t>
            </a:r>
          </a:p>
        </p:txBody>
      </p:sp>
      <p:sp>
        <p:nvSpPr>
          <p:cNvPr id="2" name="日期占位符 1"/>
          <p:cNvSpPr>
            <a:spLocks noGrp="1"/>
          </p:cNvSpPr>
          <p:nvPr>
            <p:ph type="dt" sz="half" idx="10"/>
          </p:nvPr>
        </p:nvSpPr>
        <p:spPr/>
        <p:txBody>
          <a:bodyPr/>
          <a:lstStyle/>
          <a:p>
            <a:fld id="{7B7923FC-8156-43F9-8D53-A85EF7664CDB}" type="datetime1">
              <a:rPr lang="zh-CN" altLang="en-US" smtClean="0"/>
              <a:t>2026/9/23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3621AC1-4C4D-435F-BACF-B518BC126F02}" type="slidenum">
              <a:rPr lang="zh-CN" altLang="en-US" smtClean="0"/>
              <a:t>‹#›</a:t>
            </a:fld>
            <a:endParaRPr lang="zh-CN" alt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单击此处编辑母版标题样式</a:t>
            </a:r>
          </a:p>
        </p:txBody>
      </p:sp>
      <p:sp>
        <p:nvSpPr>
          <p:cNvPr id="3" name="内容占位符 2"/>
          <p:cNvSpPr>
            <a:spLocks noGrp="1"/>
          </p:cNvSpPr>
          <p:nvPr>
            <p:ph idx="1"/>
          </p:nvPr>
        </p:nvSpPr>
        <p:spPr>
          <a:xfrm>
            <a:off x="401638" y="1125538"/>
            <a:ext cx="8418512" cy="5039766"/>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C197A1B9-4E6D-43F0-BB1F-BDFC26FE77FD}" type="datetime1">
              <a:rPr lang="zh-CN" altLang="en-US" smtClean="0"/>
              <a:t>2026/9/23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3621AC1-4C4D-435F-BACF-B518BC126F02}" type="slidenum">
              <a:rPr lang="zh-CN" altLang="en-US" smtClean="0"/>
              <a:t>‹#›</a:t>
            </a:fld>
            <a:endParaRPr lang="zh-CN"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0E29EAC0-EE8D-413D-A21B-0D2A72478F42}"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01638" y="1125538"/>
            <a:ext cx="4132262" cy="53276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86300" y="1125538"/>
            <a:ext cx="4133850" cy="53276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D3F1968E-894F-4211-B0BF-63EE4DA3F7B9}"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457200" y="1124744"/>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764506"/>
            <a:ext cx="4040188" cy="476083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124744"/>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1764506"/>
            <a:ext cx="4041775" cy="476083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49A7CA4D-2171-408E-A939-F36EE516B6AF}"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
        <p:nvSpPr>
          <p:cNvPr id="8" name="标题 7"/>
          <p:cNvSpPr>
            <a:spLocks noGrp="1"/>
          </p:cNvSpPr>
          <p:nvPr>
            <p:ph type="title"/>
          </p:nvPr>
        </p:nvSpPr>
        <p:spPr/>
        <p:txBody>
          <a:bodyPr/>
          <a:lstStyle/>
          <a:p>
            <a:r>
              <a:rPr lang="zh-CN" altLang="en-US"/>
              <a:t>单击此处编辑母版标题样式</a:t>
            </a: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4D9DD1D4-B7E5-4098-8F5C-EB7642E9FDEF}"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625AE5E8-78B1-4C3B-BC84-D093E810BF5A}"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640483DA-DF80-4B08-ACB7-D0B629795B5C}" type="slidenum">
              <a:rPr lang="en-US" altLang="zh-CN" smtClean="0">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5B201915-0E22-43AE-BDDF-AED20E46C431}"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02960EE9-FF42-4359-8489-CF7EF7090110}"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715125" y="333375"/>
            <a:ext cx="2105025" cy="611981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95288" y="333375"/>
            <a:ext cx="6167437" cy="611981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6"/>
          <p:cNvSpPr>
            <a:spLocks noGrp="1" noChangeArrowheads="1"/>
          </p:cNvSpPr>
          <p:nvPr>
            <p:ph type="sldNum" sz="quarter" idx="10"/>
          </p:nvPr>
        </p:nvSpPr>
        <p:spPr>
          <a:xfrm>
            <a:off x="8256588" y="6570663"/>
            <a:ext cx="801687" cy="144462"/>
          </a:xfrm>
          <a:prstGeom prst="rect">
            <a:avLst/>
          </a:prstGeom>
        </p:spPr>
        <p:txBody>
          <a:bodyPr/>
          <a:lstStyle>
            <a:lvl1pPr>
              <a:defRPr/>
            </a:lvl1pPr>
          </a:lstStyle>
          <a:p>
            <a:pPr fontAlgn="base">
              <a:spcBef>
                <a:spcPct val="0"/>
              </a:spcBef>
              <a:spcAft>
                <a:spcPct val="0"/>
              </a:spcAft>
              <a:defRPr/>
            </a:pPr>
            <a:fld id="{9BC52341-E375-4B05-82D0-BA6978ED3076}" type="slidenum">
              <a:rPr lang="en-US" altLang="zh-CN">
                <a:solidFill>
                  <a:srgbClr val="000000"/>
                </a:solidFill>
                <a:ea typeface="宋体" panose="02010600030101010101" pitchFamily="2" charset="-122"/>
              </a:rPr>
              <a:t>‹#›</a:t>
            </a:fld>
            <a:endParaRPr lang="en-US" altLang="zh-CN">
              <a:solidFill>
                <a:srgbClr val="000000"/>
              </a:solidFill>
              <a:ea typeface="宋体" panose="02010600030101010101" pitchFamily="2" charset="-122"/>
            </a:endParaRPr>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2050" name="Picture 19" descr="内页"/>
          <p:cNvPicPr>
            <a:picLocks noChangeAspect="1" noChangeArrowheads="1"/>
          </p:cNvPicPr>
          <p:nvPr userDrawn="1"/>
        </p:nvPicPr>
        <p:blipFill>
          <a:blip r:embed="rId13" cstate="print"/>
          <a:srcRect/>
          <a:stretch>
            <a:fillRect/>
          </a:stretch>
        </p:blipFill>
        <p:spPr bwMode="auto">
          <a:xfrm>
            <a:off x="0" y="0"/>
            <a:ext cx="9144000" cy="6858000"/>
          </a:xfrm>
          <a:prstGeom prst="rect">
            <a:avLst/>
          </a:prstGeom>
          <a:noFill/>
          <a:ln w="9525">
            <a:noFill/>
            <a:miter lim="800000"/>
            <a:headEnd/>
            <a:tailEnd/>
          </a:ln>
        </p:spPr>
      </p:pic>
      <p:sp>
        <p:nvSpPr>
          <p:cNvPr id="2051" name="Rectangle 3"/>
          <p:cNvSpPr>
            <a:spLocks noGrp="1" noChangeArrowheads="1"/>
          </p:cNvSpPr>
          <p:nvPr>
            <p:ph type="title"/>
          </p:nvPr>
        </p:nvSpPr>
        <p:spPr bwMode="auto">
          <a:xfrm>
            <a:off x="395288" y="333375"/>
            <a:ext cx="6840537" cy="503238"/>
          </a:xfrm>
          <a:prstGeom prst="rect">
            <a:avLst/>
          </a:prstGeom>
          <a:noFill/>
          <a:ln w="9525">
            <a:noFill/>
            <a:miter lim="800000"/>
          </a:ln>
        </p:spPr>
        <p:txBody>
          <a:bodyPr vert="horz" wrap="square" lIns="91440" tIns="45720" rIns="91440" bIns="45720" numCol="1" anchor="ctr" anchorCtr="0" compatLnSpc="1"/>
          <a:lstStyle/>
          <a:p>
            <a:pPr lvl="0"/>
            <a:r>
              <a:rPr lang="zh-CN" altLang="en-US" dirty="0"/>
              <a:t>单击此处编辑母版标题样式</a:t>
            </a:r>
          </a:p>
        </p:txBody>
      </p:sp>
      <p:sp>
        <p:nvSpPr>
          <p:cNvPr id="2052" name="Rectangle 4"/>
          <p:cNvSpPr>
            <a:spLocks noGrp="1" noChangeArrowheads="1"/>
          </p:cNvSpPr>
          <p:nvPr>
            <p:ph type="body" idx="1"/>
          </p:nvPr>
        </p:nvSpPr>
        <p:spPr bwMode="auto">
          <a:xfrm>
            <a:off x="401638" y="1125538"/>
            <a:ext cx="8418512" cy="5327650"/>
          </a:xfrm>
          <a:prstGeom prst="rect">
            <a:avLst/>
          </a:prstGeom>
          <a:noFill/>
          <a:ln w="9525">
            <a:noFill/>
            <a:miter lim="800000"/>
          </a:ln>
        </p:spPr>
        <p:txBody>
          <a:bodyPr vert="horz" wrap="square" lIns="91440" tIns="45720" rIns="91440" bIns="45720" numCol="1" anchor="t" anchorCtr="0" compatLnSpc="1"/>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2" name="日期占位符 1"/>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D7A1EF-842F-4A72-983F-63E0B489E96B}" type="datetime1">
              <a:rPr lang="zh-CN" altLang="en-US" smtClean="0"/>
              <a:t>2026/9/23</a:t>
            </a:fld>
            <a:endParaRPr lang="zh-CN" altLang="en-US"/>
          </a:p>
        </p:txBody>
      </p:sp>
      <p:sp>
        <p:nvSpPr>
          <p:cNvPr id="3" name="页脚占位符 2"/>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4" name="灯片编号占位符 3"/>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3621AC1-4C4D-435F-BACF-B518BC126F02}"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hf hdr="0" ftr="0" dt="0"/>
  <p:txStyles>
    <p:titleStyle>
      <a:lvl1pPr algn="l" rtl="0" eaLnBrk="0" fontAlgn="base" hangingPunct="0">
        <a:spcBef>
          <a:spcPct val="0"/>
        </a:spcBef>
        <a:spcAft>
          <a:spcPct val="0"/>
        </a:spcAft>
        <a:defRPr sz="2600" b="1">
          <a:solidFill>
            <a:schemeClr val="tx1"/>
          </a:solidFill>
          <a:latin typeface="+mj-lt"/>
          <a:ea typeface="+mj-ea"/>
          <a:cs typeface="+mj-cs"/>
        </a:defRPr>
      </a:lvl1pPr>
      <a:lvl2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2pPr>
      <a:lvl3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3pPr>
      <a:lvl4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4pPr>
      <a:lvl5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5pPr>
      <a:lvl6pPr marL="4572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6pPr>
      <a:lvl7pPr marL="9144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7pPr>
      <a:lvl8pPr marL="13716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8pPr>
      <a:lvl9pPr marL="18288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9pPr>
    </p:titleStyle>
    <p:bodyStyle>
      <a:lvl1pPr marL="342900" indent="-342900" algn="l" rtl="0" eaLnBrk="0" fontAlgn="base" hangingPunct="0">
        <a:lnSpc>
          <a:spcPct val="120000"/>
        </a:lnSpc>
        <a:spcBef>
          <a:spcPct val="20000"/>
        </a:spcBef>
        <a:spcAft>
          <a:spcPct val="0"/>
        </a:spcAft>
        <a:buClr>
          <a:srgbClr val="FF0000"/>
        </a:buClr>
        <a:buFont typeface="Wingdings" panose="05000000000000000000" pitchFamily="2" charset="2"/>
        <a:buChar char="n"/>
        <a:defRPr sz="2600">
          <a:solidFill>
            <a:schemeClr val="tx1"/>
          </a:solidFill>
          <a:latin typeface="+mn-lt"/>
          <a:ea typeface="+mn-ea"/>
          <a:cs typeface="+mn-cs"/>
        </a:defRPr>
      </a:lvl1pPr>
      <a:lvl2pPr marL="742950" indent="-285750" algn="l" rtl="0" eaLnBrk="0" fontAlgn="base" hangingPunct="0">
        <a:lnSpc>
          <a:spcPct val="120000"/>
        </a:lnSpc>
        <a:spcBef>
          <a:spcPct val="20000"/>
        </a:spcBef>
        <a:spcAft>
          <a:spcPct val="0"/>
        </a:spcAft>
        <a:buClr>
          <a:srgbClr val="FF0000"/>
        </a:buClr>
        <a:buFont typeface="Wingdings" panose="05000000000000000000" pitchFamily="2" charset="2"/>
        <a:buChar char="p"/>
        <a:defRPr sz="2200">
          <a:solidFill>
            <a:schemeClr val="tx1"/>
          </a:solidFill>
          <a:latin typeface="+mn-lt"/>
          <a:ea typeface="+mn-ea"/>
        </a:defRPr>
      </a:lvl2pPr>
      <a:lvl3pPr marL="1143000" indent="-228600" algn="l" rtl="0" eaLnBrk="0" fontAlgn="base" hangingPunct="0">
        <a:lnSpc>
          <a:spcPct val="120000"/>
        </a:lnSpc>
        <a:spcBef>
          <a:spcPct val="20000"/>
        </a:spcBef>
        <a:spcAft>
          <a:spcPct val="0"/>
        </a:spcAft>
        <a:buClr>
          <a:srgbClr val="FF0000"/>
        </a:buClr>
        <a:buFont typeface="Wingdings" panose="05000000000000000000" pitchFamily="2" charset="2"/>
        <a:buChar char="Ø"/>
        <a:defRPr sz="2400">
          <a:solidFill>
            <a:schemeClr val="tx1"/>
          </a:solidFill>
          <a:latin typeface="+mn-lt"/>
          <a:ea typeface="+mn-ea"/>
        </a:defRPr>
      </a:lvl3pPr>
      <a:lvl4pPr marL="1600200" indent="-228600" algn="l" rtl="0" eaLnBrk="0" fontAlgn="base" hangingPunct="0">
        <a:lnSpc>
          <a:spcPct val="120000"/>
        </a:lnSpc>
        <a:spcBef>
          <a:spcPct val="20000"/>
        </a:spcBef>
        <a:spcAft>
          <a:spcPct val="0"/>
        </a:spcAft>
        <a:buClr>
          <a:srgbClr val="FF0000"/>
        </a:buClr>
        <a:buFont typeface="Wingdings" panose="05000000000000000000" pitchFamily="2" charset="2"/>
        <a:buChar char="§"/>
        <a:defRPr sz="1600">
          <a:solidFill>
            <a:schemeClr val="tx1"/>
          </a:solidFill>
          <a:latin typeface="+mn-lt"/>
          <a:ea typeface="+mn-ea"/>
        </a:defRPr>
      </a:lvl4pPr>
      <a:lvl5pPr marL="2057400" indent="-228600" algn="l" rtl="0" eaLnBrk="0" fontAlgn="base" hangingPunct="0">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5pPr>
      <a:lvl6pPr marL="25146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6pPr>
      <a:lvl7pPr marL="29718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7pPr>
      <a:lvl8pPr marL="34290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8pPr>
      <a:lvl9pPr marL="38862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comments" Target="../comments/commen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comments" Target="../comments/commen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tags" Target="../tags/tag6.xml"/><Relationship Id="rId7" Type="http://schemas.openxmlformats.org/officeDocument/2006/relationships/comments" Target="../comments/comment3.xml"/><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chart" Target="../charts/chart1.xml"/><Relationship Id="rId5" Type="http://schemas.openxmlformats.org/officeDocument/2006/relationships/notesSlide" Target="../notesSlides/notesSlide7.xml"/><Relationship Id="rId4"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5.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comments" Target="../comments/comment6.xml"/></Relationships>
</file>

<file path=ppt/slides/_rels/slide11.xml.rels><?xml version="1.0" encoding="UTF-8" standalone="yes"?>
<Relationships xmlns="http://schemas.openxmlformats.org/package/2006/relationships"><Relationship Id="rId3" Type="http://schemas.openxmlformats.org/officeDocument/2006/relationships/comments" Target="../comments/commen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11.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xml"/><Relationship Id="rId1" Type="http://schemas.openxmlformats.org/officeDocument/2006/relationships/tags" Target="../tags/tag12.xml"/><Relationship Id="rId5" Type="http://schemas.openxmlformats.org/officeDocument/2006/relationships/comments" Target="../comments/comment8.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omments" Target="../comments/comment9.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标题 3"/>
          <p:cNvSpPr>
            <a:spLocks noGrp="1"/>
          </p:cNvSpPr>
          <p:nvPr>
            <p:ph type="ctrTitle"/>
          </p:nvPr>
        </p:nvSpPr>
        <p:spPr>
          <a:xfrm>
            <a:off x="792460" y="4509046"/>
            <a:ext cx="7415213" cy="792162"/>
          </a:xfrm>
        </p:spPr>
        <p:txBody>
          <a:bodyPr/>
          <a:lstStyle/>
          <a:p>
            <a:pPr>
              <a:defRPr/>
            </a:pPr>
            <a:r>
              <a:rPr lang="zh-CN" altLang="en-US" sz="2800" dirty="0">
                <a:latin typeface="+mn-ea"/>
                <a:ea typeface="+mn-ea"/>
              </a:rPr>
              <a:t>实习工作总结</a:t>
            </a:r>
            <a:endParaRPr lang="zh-CN" altLang="en-US" sz="2000" dirty="0">
              <a:solidFill>
                <a:schemeClr val="tx1"/>
              </a:solidFill>
              <a:latin typeface="+mn-ea"/>
              <a:ea typeface="+mn-ea"/>
            </a:endParaRPr>
          </a:p>
        </p:txBody>
      </p:sp>
      <p:sp>
        <p:nvSpPr>
          <p:cNvPr id="4099" name="副标题 4"/>
          <p:cNvSpPr>
            <a:spLocks noGrp="1"/>
          </p:cNvSpPr>
          <p:nvPr>
            <p:ph type="subTitle" idx="1"/>
          </p:nvPr>
        </p:nvSpPr>
        <p:spPr>
          <a:xfrm>
            <a:off x="1403648" y="5445596"/>
            <a:ext cx="6192837" cy="647700"/>
          </a:xfrm>
        </p:spPr>
        <p:txBody>
          <a:bodyPr/>
          <a:lstStyle/>
          <a:p>
            <a:pPr>
              <a:defRPr/>
            </a:pPr>
            <a:r>
              <a:rPr lang="zh-CN" altLang="en-US" sz="1800" dirty="0">
                <a:solidFill>
                  <a:schemeClr val="tx1"/>
                </a:solidFill>
                <a:latin typeface="+mn-ea"/>
                <a:ea typeface="+mn-ea"/>
              </a:rPr>
              <a:t>霍子昂</a:t>
            </a:r>
            <a:endParaRPr lang="en-US" altLang="zh-CN" sz="1800" dirty="0">
              <a:solidFill>
                <a:schemeClr val="tx1"/>
              </a:solidFill>
              <a:latin typeface="+mn-ea"/>
              <a:ea typeface="+mn-ea"/>
            </a:endParaRPr>
          </a:p>
          <a:p>
            <a:pPr>
              <a:defRPr/>
            </a:pPr>
            <a:r>
              <a:rPr lang="en-US" altLang="zh-CN" sz="1800" dirty="0">
                <a:solidFill>
                  <a:schemeClr val="tx1"/>
                </a:solidFill>
                <a:latin typeface="+mn-ea"/>
                <a:ea typeface="+mn-ea"/>
              </a:rPr>
              <a:t>2026/09/23</a:t>
            </a:r>
            <a:endParaRPr lang="en-US" altLang="zh-CN" sz="1800" dirty="0">
              <a:solidFill>
                <a:schemeClr val="tx1"/>
              </a:solidFill>
              <a:latin typeface="+mn-ea"/>
            </a:endParaRPr>
          </a:p>
        </p:txBody>
      </p:sp>
    </p:spTree>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目录</a:t>
            </a:r>
          </a:p>
        </p:txBody>
      </p:sp>
      <p:graphicFrame>
        <p:nvGraphicFramePr>
          <p:cNvPr id="7" name="图示 6"/>
          <p:cNvGraphicFramePr/>
          <p:nvPr>
            <p:extLst>
              <p:ext uri="{D42A27DB-BD31-4B8C-83A1-F6EECF244321}">
                <p14:modId xmlns:p14="http://schemas.microsoft.com/office/powerpoint/2010/main" val="304932643"/>
              </p:ext>
            </p:extLst>
          </p:nvPr>
        </p:nvGraphicFramePr>
        <p:xfrm>
          <a:off x="1763688" y="1556792"/>
          <a:ext cx="6096000" cy="40970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灯片编号占位符 2"/>
          <p:cNvSpPr>
            <a:spLocks noGrp="1"/>
          </p:cNvSpPr>
          <p:nvPr>
            <p:ph type="sldNum" sz="quarter" idx="12"/>
          </p:nvPr>
        </p:nvSpPr>
        <p:spPr/>
        <p:txBody>
          <a:bodyPr/>
          <a:lstStyle/>
          <a:p>
            <a:fld id="{03621AC1-4C4D-435F-BACF-B518BC126F02}" type="slidenum">
              <a:rPr lang="zh-CN" altLang="en-US" smtClean="0"/>
              <a:t>2</a:t>
            </a:fld>
            <a:endParaRPr lang="zh-CN" altLang="en-US"/>
          </a:p>
        </p:txBody>
      </p:sp>
    </p:spTree>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自我介绍</a:t>
            </a:r>
          </a:p>
        </p:txBody>
      </p:sp>
      <p:sp>
        <p:nvSpPr>
          <p:cNvPr id="3" name="灯片编号占位符 2"/>
          <p:cNvSpPr>
            <a:spLocks noGrp="1"/>
          </p:cNvSpPr>
          <p:nvPr>
            <p:ph type="sldNum" sz="quarter" idx="12"/>
          </p:nvPr>
        </p:nvSpPr>
        <p:spPr/>
        <p:txBody>
          <a:bodyPr/>
          <a:lstStyle/>
          <a:p>
            <a:fld id="{03621AC1-4C4D-435F-BACF-B518BC126F02}" type="slidenum">
              <a:rPr lang="zh-CN" altLang="en-US" smtClean="0"/>
              <a:t>3</a:t>
            </a:fld>
            <a:endParaRPr lang="zh-CN" altLang="en-US" dirty="0"/>
          </a:p>
        </p:txBody>
      </p:sp>
      <p:sp>
        <p:nvSpPr>
          <p:cNvPr id="4" name="圆角矩形 11">
            <a:extLst>
              <a:ext uri="{FF2B5EF4-FFF2-40B4-BE49-F238E27FC236}">
                <a16:creationId xmlns:a16="http://schemas.microsoft.com/office/drawing/2014/main" id="{DA896F4A-0068-D103-72AA-7FA67378030C}"/>
              </a:ext>
            </a:extLst>
          </p:cNvPr>
          <p:cNvSpPr/>
          <p:nvPr/>
        </p:nvSpPr>
        <p:spPr bwMode="auto">
          <a:xfrm>
            <a:off x="251520" y="1268760"/>
            <a:ext cx="8640960" cy="4753999"/>
          </a:xfrm>
          <a:prstGeom prst="roundRect">
            <a:avLst>
              <a:gd name="adj" fmla="val 2523"/>
            </a:avLst>
          </a:prstGeom>
          <a:solidFill>
            <a:srgbClr val="FFFFFF"/>
          </a:solidFill>
          <a:ln w="19050" cap="flat" cmpd="sng" algn="ctr">
            <a:solidFill>
              <a:schemeClr val="bg1">
                <a:lumMod val="65000"/>
              </a:schemeClr>
            </a:solidFill>
            <a:prstDash val="dash"/>
            <a:round/>
            <a:headEnd type="none" w="med" len="med"/>
            <a:tailEnd type="none" w="med" len="med"/>
          </a:ln>
          <a:effectLst/>
        </p:spPr>
        <p:txBody>
          <a:bodyPr vert="horz" wrap="square" lIns="91440" tIns="45720" rIns="91440" bIns="45720" numCol="1" rtlCol="0"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fontAlgn="base">
              <a:lnSpc>
                <a:spcPct val="200000"/>
              </a:lnSpc>
              <a:spcBef>
                <a:spcPct val="0"/>
              </a:spcBef>
              <a:spcAft>
                <a:spcPct val="0"/>
              </a:spcAft>
            </a:pPr>
            <a:endParaRPr lang="zh-CN" altLang="en-US" b="1" dirty="0">
              <a:latin typeface="微软雅黑" panose="020B0503020204020204" charset="-122"/>
              <a:ea typeface="微软雅黑" panose="020B0503020204020204" charset="-122"/>
            </a:endParaRPr>
          </a:p>
          <a:p>
            <a:pPr algn="just" fontAlgn="base">
              <a:lnSpc>
                <a:spcPct val="200000"/>
              </a:lnSpc>
              <a:spcBef>
                <a:spcPct val="0"/>
              </a:spcBef>
              <a:spcAft>
                <a:spcPct val="0"/>
              </a:spcAft>
            </a:pPr>
            <a:endParaRPr lang="zh-CN" altLang="en-US" b="1" dirty="0">
              <a:latin typeface="微软雅黑" panose="020B0503020204020204" charset="-122"/>
              <a:ea typeface="微软雅黑" panose="020B0503020204020204" charset="-122"/>
            </a:endParaRPr>
          </a:p>
        </p:txBody>
      </p:sp>
      <p:sp>
        <p:nvSpPr>
          <p:cNvPr id="5" name="TextBox 8">
            <a:extLst>
              <a:ext uri="{FF2B5EF4-FFF2-40B4-BE49-F238E27FC236}">
                <a16:creationId xmlns:a16="http://schemas.microsoft.com/office/drawing/2014/main" id="{A167FD64-DFF6-F181-6F80-BEDAD53ACF49}"/>
              </a:ext>
            </a:extLst>
          </p:cNvPr>
          <p:cNvSpPr txBox="1"/>
          <p:nvPr/>
        </p:nvSpPr>
        <p:spPr>
          <a:xfrm>
            <a:off x="2350039" y="1628800"/>
            <a:ext cx="2808312" cy="1800200"/>
          </a:xfrm>
          <a:prstGeom prst="rect">
            <a:avLst/>
          </a:prstGeom>
          <a:noFill/>
        </p:spPr>
        <p:txBody>
          <a:bodyPr wrap="square" rtlCol="0">
            <a:noAutofit/>
          </a:bodyPr>
          <a:lstStyle/>
          <a:p>
            <a:pPr marL="342900" indent="-342900">
              <a:lnSpc>
                <a:spcPct val="150000"/>
              </a:lnSpc>
              <a:buClr>
                <a:schemeClr val="tx2">
                  <a:lumMod val="75000"/>
                </a:schemeClr>
              </a:buClr>
              <a:buFont typeface="Wingdings" panose="05000000000000000000" pitchFamily="2" charset="2"/>
              <a:buChar char="n"/>
            </a:pPr>
            <a:r>
              <a:rPr lang="zh-CN" altLang="en-US" b="1" dirty="0">
                <a:latin typeface="微软雅黑" panose="020B0503020204020204" charset="-122"/>
                <a:ea typeface="微软雅黑" panose="020B0503020204020204" charset="-122"/>
              </a:rPr>
              <a:t>基本信息</a:t>
            </a:r>
            <a:endParaRPr lang="en-US" altLang="zh-CN" b="1" dirty="0">
              <a:latin typeface="微软雅黑" panose="020B0503020204020204" charset="-122"/>
              <a:ea typeface="微软雅黑" panose="020B0503020204020204" charset="-122"/>
            </a:endParaRPr>
          </a:p>
          <a:p>
            <a:pPr>
              <a:lnSpc>
                <a:spcPct val="150000"/>
              </a:lnSpc>
            </a:pPr>
            <a:r>
              <a:rPr lang="zh-CN" altLang="en-US" sz="1400" b="1" dirty="0">
                <a:latin typeface="微软雅黑" panose="020B0503020204020204" charset="-122"/>
                <a:ea typeface="微软雅黑" panose="020B0503020204020204" charset="-122"/>
              </a:rPr>
              <a:t>姓名：</a:t>
            </a:r>
            <a:r>
              <a:rPr lang="zh-CN" altLang="en-US" sz="1400" dirty="0">
                <a:latin typeface="微软雅黑" panose="020B0503020204020204" charset="-122"/>
                <a:ea typeface="微软雅黑" panose="020B0503020204020204" charset="-122"/>
              </a:rPr>
              <a:t>霍子昂</a:t>
            </a:r>
            <a:endParaRPr lang="en-US" altLang="zh-CN" sz="1400" dirty="0">
              <a:latin typeface="微软雅黑" panose="020B0503020204020204" charset="-122"/>
              <a:ea typeface="微软雅黑" panose="020B0503020204020204" charset="-122"/>
            </a:endParaRPr>
          </a:p>
          <a:p>
            <a:pPr>
              <a:lnSpc>
                <a:spcPct val="150000"/>
              </a:lnSpc>
            </a:pPr>
            <a:r>
              <a:rPr lang="zh-CN" altLang="en-US" sz="1400" b="1" dirty="0">
                <a:latin typeface="微软雅黑" panose="020B0503020204020204" charset="-122"/>
                <a:ea typeface="微软雅黑" panose="020B0503020204020204" charset="-122"/>
                <a:sym typeface="+mn-ea"/>
              </a:rPr>
              <a:t>学历：</a:t>
            </a:r>
            <a:r>
              <a:rPr lang="zh-CN" altLang="en-US" sz="1400" dirty="0">
                <a:latin typeface="微软雅黑" panose="020B0503020204020204" charset="-122"/>
                <a:ea typeface="微软雅黑" panose="020B0503020204020204" charset="-122"/>
                <a:sym typeface="+mn-ea"/>
              </a:rPr>
              <a:t>硕士</a:t>
            </a:r>
            <a:endParaRPr lang="en-US" altLang="zh-CN" sz="1400" dirty="0">
              <a:latin typeface="微软雅黑" panose="020B0503020204020204" charset="-122"/>
              <a:ea typeface="微软雅黑" panose="020B0503020204020204" charset="-122"/>
              <a:sym typeface="+mn-ea"/>
            </a:endParaRPr>
          </a:p>
          <a:p>
            <a:pPr>
              <a:lnSpc>
                <a:spcPct val="150000"/>
              </a:lnSpc>
            </a:pPr>
            <a:r>
              <a:rPr lang="zh-CN" altLang="en-US" sz="1400" b="1" dirty="0">
                <a:latin typeface="微软雅黑" panose="020B0503020204020204" charset="-122"/>
                <a:ea typeface="微软雅黑" panose="020B0503020204020204" charset="-122"/>
              </a:rPr>
              <a:t>专业：</a:t>
            </a:r>
            <a:r>
              <a:rPr lang="zh-CN" altLang="en-US" sz="1400" dirty="0">
                <a:latin typeface="微软雅黑" panose="020B0503020204020204" charset="-122"/>
                <a:ea typeface="微软雅黑" panose="020B0503020204020204" charset="-122"/>
              </a:rPr>
              <a:t>仪器科学与技术</a:t>
            </a:r>
            <a:endParaRPr lang="en-US" altLang="zh-CN" sz="1400" dirty="0">
              <a:latin typeface="微软雅黑" panose="020B0503020204020204" charset="-122"/>
              <a:ea typeface="微软雅黑" panose="020B0503020204020204" charset="-122"/>
            </a:endParaRPr>
          </a:p>
          <a:p>
            <a:pPr>
              <a:lnSpc>
                <a:spcPct val="150000"/>
              </a:lnSpc>
            </a:pPr>
            <a:r>
              <a:rPr lang="zh-CN" altLang="en-US" sz="1400" b="1" dirty="0">
                <a:latin typeface="微软雅黑" panose="020B0503020204020204" charset="-122"/>
                <a:ea typeface="微软雅黑" panose="020B0503020204020204" charset="-122"/>
              </a:rPr>
              <a:t>毕业院校：</a:t>
            </a:r>
            <a:r>
              <a:rPr lang="zh-CN" altLang="en-US" sz="1400" dirty="0">
                <a:latin typeface="微软雅黑" panose="020B0503020204020204" charset="-122"/>
                <a:ea typeface="微软雅黑" panose="020B0503020204020204" charset="-122"/>
              </a:rPr>
              <a:t>西安电子科技大学</a:t>
            </a:r>
          </a:p>
        </p:txBody>
      </p:sp>
      <p:pic>
        <p:nvPicPr>
          <p:cNvPr id="10" name="图片 9">
            <a:extLst>
              <a:ext uri="{FF2B5EF4-FFF2-40B4-BE49-F238E27FC236}">
                <a16:creationId xmlns:a16="http://schemas.microsoft.com/office/drawing/2014/main" id="{0B0DFD4E-5312-6920-A7D6-840480AF0F06}"/>
              </a:ext>
            </a:extLst>
          </p:cNvPr>
          <p:cNvPicPr>
            <a:picLocks noChangeAspect="1"/>
          </p:cNvPicPr>
          <p:nvPr/>
        </p:nvPicPr>
        <p:blipFill>
          <a:blip r:embed="rId3"/>
          <a:stretch>
            <a:fillRect/>
          </a:stretch>
        </p:blipFill>
        <p:spPr>
          <a:xfrm>
            <a:off x="467544" y="1484784"/>
            <a:ext cx="1666471" cy="1944216"/>
          </a:xfrm>
          <a:prstGeom prst="rect">
            <a:avLst/>
          </a:prstGeom>
        </p:spPr>
      </p:pic>
      <p:sp>
        <p:nvSpPr>
          <p:cNvPr id="11" name="TextBox 8">
            <a:extLst>
              <a:ext uri="{FF2B5EF4-FFF2-40B4-BE49-F238E27FC236}">
                <a16:creationId xmlns:a16="http://schemas.microsoft.com/office/drawing/2014/main" id="{A333532B-19AC-9AC1-1D89-BA139EAD511B}"/>
              </a:ext>
            </a:extLst>
          </p:cNvPr>
          <p:cNvSpPr txBox="1"/>
          <p:nvPr/>
        </p:nvSpPr>
        <p:spPr>
          <a:xfrm>
            <a:off x="5158352" y="1628800"/>
            <a:ext cx="3590112" cy="1800199"/>
          </a:xfrm>
          <a:prstGeom prst="rect">
            <a:avLst/>
          </a:prstGeom>
          <a:noFill/>
        </p:spPr>
        <p:txBody>
          <a:bodyPr wrap="square" rtlCol="0">
            <a:noAutofit/>
          </a:bodyPr>
          <a:lstStyle/>
          <a:p>
            <a:pPr marL="285750" indent="-285750">
              <a:lnSpc>
                <a:spcPct val="150000"/>
              </a:lnSpc>
              <a:buClr>
                <a:schemeClr val="tx2">
                  <a:lumMod val="75000"/>
                </a:schemeClr>
              </a:buClr>
              <a:buFont typeface="Wingdings" panose="05000000000000000000" pitchFamily="2" charset="2"/>
              <a:buChar char="n"/>
            </a:pPr>
            <a:r>
              <a:rPr lang="zh-CN" altLang="en-US" b="1" dirty="0">
                <a:latin typeface="微软雅黑" panose="020B0503020204020204" charset="-122"/>
                <a:ea typeface="微软雅黑" panose="020B0503020204020204" charset="-122"/>
              </a:rPr>
              <a:t>实习信息</a:t>
            </a:r>
            <a:endParaRPr lang="en-US" altLang="zh-CN" b="1" dirty="0">
              <a:latin typeface="微软雅黑" panose="020B0503020204020204" charset="-122"/>
              <a:ea typeface="微软雅黑" panose="020B0503020204020204" charset="-122"/>
            </a:endParaRPr>
          </a:p>
          <a:p>
            <a:pPr>
              <a:lnSpc>
                <a:spcPct val="150000"/>
              </a:lnSpc>
            </a:pPr>
            <a:r>
              <a:rPr lang="zh-CN" altLang="en-US" sz="1400" b="1" dirty="0">
                <a:latin typeface="微软雅黑" panose="020B0503020204020204" charset="-122"/>
                <a:ea typeface="微软雅黑" panose="020B0503020204020204" charset="-122"/>
              </a:rPr>
              <a:t>实习部门：</a:t>
            </a:r>
            <a:r>
              <a:rPr lang="zh-CN" altLang="en-US" sz="1400" dirty="0">
                <a:latin typeface="微软雅黑" panose="020B0503020204020204" charset="-122"/>
                <a:ea typeface="微软雅黑" panose="020B0503020204020204" charset="-122"/>
              </a:rPr>
              <a:t>智能计算平台部</a:t>
            </a:r>
            <a:r>
              <a:rPr lang="en-US" altLang="zh-CN" sz="1400" dirty="0">
                <a:latin typeface="微软雅黑" panose="020B0503020204020204" charset="-122"/>
                <a:ea typeface="微软雅黑" panose="020B0503020204020204" charset="-122"/>
              </a:rPr>
              <a:t>\</a:t>
            </a:r>
            <a:r>
              <a:rPr lang="zh-CN" altLang="en-US" sz="1400" dirty="0">
                <a:latin typeface="微软雅黑" panose="020B0503020204020204" charset="-122"/>
                <a:ea typeface="微软雅黑" panose="020B0503020204020204" charset="-122"/>
              </a:rPr>
              <a:t>并行计算平台组</a:t>
            </a:r>
            <a:r>
              <a:rPr lang="en-US" altLang="zh-CN" sz="1400" dirty="0">
                <a:latin typeface="微软雅黑" panose="020B0503020204020204" charset="-122"/>
                <a:ea typeface="微软雅黑" panose="020B0503020204020204" charset="-122"/>
              </a:rPr>
              <a:t>\</a:t>
            </a:r>
            <a:r>
              <a:rPr lang="zh-CN" altLang="en-US" sz="1400" dirty="0">
                <a:latin typeface="微软雅黑" panose="020B0503020204020204" charset="-122"/>
                <a:ea typeface="微软雅黑" panose="020B0503020204020204" charset="-122"/>
              </a:rPr>
              <a:t>并行计算平台</a:t>
            </a:r>
            <a:r>
              <a:rPr lang="en-US" altLang="zh-CN" sz="1400" dirty="0">
                <a:latin typeface="微软雅黑" panose="020B0503020204020204" charset="-122"/>
                <a:ea typeface="微软雅黑" panose="020B0503020204020204" charset="-122"/>
              </a:rPr>
              <a:t>2</a:t>
            </a:r>
            <a:r>
              <a:rPr lang="zh-CN" altLang="en-US" sz="1400" dirty="0">
                <a:latin typeface="微软雅黑" panose="020B0503020204020204" charset="-122"/>
                <a:ea typeface="微软雅黑" panose="020B0503020204020204" charset="-122"/>
              </a:rPr>
              <a:t>组</a:t>
            </a:r>
            <a:endParaRPr lang="en-US" altLang="zh-CN" sz="1400" dirty="0">
              <a:latin typeface="微软雅黑" panose="020B0503020204020204" charset="-122"/>
              <a:ea typeface="微软雅黑" panose="020B0503020204020204" charset="-122"/>
            </a:endParaRPr>
          </a:p>
          <a:p>
            <a:pPr>
              <a:lnSpc>
                <a:spcPct val="150000"/>
              </a:lnSpc>
            </a:pPr>
            <a:r>
              <a:rPr lang="zh-CN" altLang="en-US" sz="1400" b="1" dirty="0">
                <a:latin typeface="微软雅黑" panose="020B0503020204020204" charset="-122"/>
                <a:ea typeface="微软雅黑" panose="020B0503020204020204" charset="-122"/>
                <a:sym typeface="+mn-ea"/>
              </a:rPr>
              <a:t>实习岗位：</a:t>
            </a:r>
            <a:r>
              <a:rPr lang="en-US" altLang="zh-CN" sz="1400" dirty="0">
                <a:latin typeface="微软雅黑" panose="020B0503020204020204" charset="-122"/>
                <a:ea typeface="微软雅黑" panose="020B0503020204020204" charset="-122"/>
                <a:sym typeface="+mn-ea"/>
              </a:rPr>
              <a:t>AI</a:t>
            </a:r>
            <a:r>
              <a:rPr lang="zh-CN" altLang="en-US" sz="1400" dirty="0">
                <a:latin typeface="微软雅黑" panose="020B0503020204020204" charset="-122"/>
                <a:ea typeface="微软雅黑" panose="020B0503020204020204" charset="-122"/>
                <a:sym typeface="+mn-ea"/>
              </a:rPr>
              <a:t>加</a:t>
            </a:r>
            <a:r>
              <a:rPr lang="zh-CN" altLang="en-US" sz="1400" dirty="0" smtClean="0">
                <a:latin typeface="微软雅黑" panose="020B0503020204020204" charset="-122"/>
                <a:ea typeface="微软雅黑" panose="020B0503020204020204" charset="-122"/>
                <a:sym typeface="+mn-ea"/>
              </a:rPr>
              <a:t>速算法工程师</a:t>
            </a:r>
            <a:endParaRPr lang="zh-CN" altLang="en-US" sz="1400" dirty="0">
              <a:latin typeface="微软雅黑" panose="020B0503020204020204" charset="-122"/>
              <a:ea typeface="微软雅黑" panose="020B0503020204020204" charset="-122"/>
            </a:endParaRPr>
          </a:p>
          <a:p>
            <a:pPr>
              <a:lnSpc>
                <a:spcPct val="150000"/>
              </a:lnSpc>
            </a:pPr>
            <a:r>
              <a:rPr lang="zh-CN" altLang="en-US" sz="1400" b="1" dirty="0">
                <a:latin typeface="微软雅黑" panose="020B0503020204020204" charset="-122"/>
                <a:ea typeface="微软雅黑" panose="020B0503020204020204" charset="-122"/>
              </a:rPr>
              <a:t>实习时间：</a:t>
            </a:r>
            <a:r>
              <a:rPr lang="en-US" altLang="zh-CN" sz="1400" dirty="0">
                <a:latin typeface="微软雅黑" panose="020B0503020204020204" charset="-122"/>
                <a:ea typeface="微软雅黑" panose="020B0503020204020204" charset="-122"/>
              </a:rPr>
              <a:t>2026</a:t>
            </a:r>
            <a:r>
              <a:rPr lang="zh-CN" altLang="en-US" sz="1400" dirty="0">
                <a:latin typeface="微软雅黑" panose="020B0503020204020204" charset="-122"/>
                <a:ea typeface="微软雅黑" panose="020B0503020204020204" charset="-122"/>
              </a:rPr>
              <a:t>年</a:t>
            </a:r>
            <a:r>
              <a:rPr lang="en-US" altLang="zh-CN" sz="1400" dirty="0">
                <a:latin typeface="微软雅黑" panose="020B0503020204020204" charset="-122"/>
                <a:ea typeface="微软雅黑" panose="020B0503020204020204" charset="-122"/>
              </a:rPr>
              <a:t>7</a:t>
            </a:r>
            <a:r>
              <a:rPr lang="zh-CN" altLang="en-US" sz="1400" dirty="0">
                <a:latin typeface="微软雅黑" panose="020B0503020204020204" charset="-122"/>
                <a:ea typeface="微软雅黑" panose="020B0503020204020204" charset="-122"/>
              </a:rPr>
              <a:t>月</a:t>
            </a:r>
            <a:r>
              <a:rPr lang="en-US" altLang="zh-CN" sz="1400" dirty="0">
                <a:latin typeface="微软雅黑" panose="020B0503020204020204" charset="-122"/>
                <a:ea typeface="微软雅黑" panose="020B0503020204020204" charset="-122"/>
              </a:rPr>
              <a:t>1</a:t>
            </a:r>
            <a:r>
              <a:rPr lang="zh-CN" altLang="en-US" sz="1400" dirty="0">
                <a:latin typeface="微软雅黑" panose="020B0503020204020204" charset="-122"/>
                <a:ea typeface="微软雅黑" panose="020B0503020204020204" charset="-122"/>
              </a:rPr>
              <a:t>日</a:t>
            </a:r>
            <a:r>
              <a:rPr lang="en-US" altLang="zh-CN" sz="1400" dirty="0">
                <a:latin typeface="微软雅黑" panose="020B0503020204020204" charset="-122"/>
                <a:ea typeface="微软雅黑" panose="020B0503020204020204" charset="-122"/>
              </a:rPr>
              <a:t>—</a:t>
            </a:r>
            <a:r>
              <a:rPr lang="zh-CN" altLang="en-US" sz="1400" dirty="0">
                <a:latin typeface="微软雅黑" panose="020B0503020204020204" charset="-122"/>
                <a:ea typeface="微软雅黑" panose="020B0503020204020204" charset="-122"/>
              </a:rPr>
              <a:t>至今</a:t>
            </a:r>
          </a:p>
          <a:p>
            <a:pPr>
              <a:lnSpc>
                <a:spcPct val="150000"/>
              </a:lnSpc>
            </a:pPr>
            <a:endParaRPr lang="zh-CN" altLang="en-US" sz="1400" dirty="0">
              <a:latin typeface="微软雅黑" panose="020B0503020204020204" charset="-122"/>
              <a:ea typeface="微软雅黑" panose="020B0503020204020204" charset="-122"/>
            </a:endParaRPr>
          </a:p>
        </p:txBody>
      </p:sp>
      <p:sp>
        <p:nvSpPr>
          <p:cNvPr id="12" name="TextBox 8">
            <a:extLst>
              <a:ext uri="{FF2B5EF4-FFF2-40B4-BE49-F238E27FC236}">
                <a16:creationId xmlns:a16="http://schemas.microsoft.com/office/drawing/2014/main" id="{40A51E59-2B0E-FF4B-C877-4BB47CB72D61}"/>
              </a:ext>
            </a:extLst>
          </p:cNvPr>
          <p:cNvSpPr txBox="1"/>
          <p:nvPr/>
        </p:nvSpPr>
        <p:spPr>
          <a:xfrm>
            <a:off x="395288" y="3620045"/>
            <a:ext cx="8353176" cy="1299086"/>
          </a:xfrm>
          <a:prstGeom prst="rect">
            <a:avLst/>
          </a:prstGeom>
          <a:noFill/>
        </p:spPr>
        <p:txBody>
          <a:bodyPr wrap="square" rtlCol="0">
            <a:noAutofit/>
          </a:bodyPr>
          <a:lstStyle/>
          <a:p>
            <a:pPr marL="342900" indent="-342900">
              <a:lnSpc>
                <a:spcPct val="150000"/>
              </a:lnSpc>
              <a:buClr>
                <a:schemeClr val="tx2">
                  <a:lumMod val="75000"/>
                </a:schemeClr>
              </a:buClr>
              <a:buFont typeface="Wingdings" panose="05000000000000000000" pitchFamily="2" charset="2"/>
              <a:buChar char="n"/>
            </a:pPr>
            <a:r>
              <a:rPr lang="zh-CN" altLang="en-US" b="1" dirty="0">
                <a:latin typeface="微软雅黑" panose="020B0503020204020204" charset="-122"/>
                <a:ea typeface="微软雅黑" panose="020B0503020204020204" charset="-122"/>
              </a:rPr>
              <a:t>工作内容</a:t>
            </a:r>
            <a:endParaRPr lang="en-US" altLang="zh-CN" b="1" dirty="0">
              <a:latin typeface="微软雅黑" panose="020B0503020204020204" charset="-122"/>
              <a:ea typeface="微软雅黑" panose="020B0503020204020204" charset="-122"/>
            </a:endParaRPr>
          </a:p>
          <a:p>
            <a:pPr>
              <a:lnSpc>
                <a:spcPct val="150000"/>
              </a:lnSpc>
            </a:pPr>
            <a:r>
              <a:rPr lang="zh-CN" altLang="en-US" sz="1400" dirty="0">
                <a:latin typeface="微软雅黑" panose="020B0503020204020204" charset="-122"/>
                <a:ea typeface="微软雅黑" panose="020B0503020204020204" charset="-122"/>
              </a:rPr>
              <a:t>进行基础算子开发与模型推理简单优化；进行寒武纪算子开发 </a:t>
            </a:r>
            <a:r>
              <a:rPr lang="en-US" altLang="zh-CN" sz="1400" dirty="0">
                <a:latin typeface="微软雅黑" panose="020B0503020204020204" charset="-122"/>
                <a:ea typeface="微软雅黑" panose="020B0503020204020204" charset="-122"/>
              </a:rPr>
              <a:t>Skill </a:t>
            </a:r>
            <a:r>
              <a:rPr lang="zh-CN" altLang="en-US" sz="1400" dirty="0">
                <a:latin typeface="微软雅黑" panose="020B0503020204020204" charset="-122"/>
                <a:ea typeface="微软雅黑" panose="020B0503020204020204" charset="-122"/>
              </a:rPr>
              <a:t>的优化</a:t>
            </a:r>
            <a:r>
              <a:rPr lang="zh-CN" altLang="en-US" sz="1400" dirty="0" smtClean="0">
                <a:latin typeface="微软雅黑" panose="020B0503020204020204" charset="-122"/>
                <a:ea typeface="微软雅黑" panose="020B0503020204020204" charset="-122"/>
              </a:rPr>
              <a:t>；</a:t>
            </a:r>
            <a:r>
              <a:rPr lang="zh-CN" altLang="en-US" sz="1400" dirty="0">
                <a:latin typeface="微软雅黑" panose="020B0503020204020204" charset="-122"/>
                <a:ea typeface="微软雅黑" panose="020B0503020204020204" charset="-122"/>
              </a:rPr>
              <a:t>设计</a:t>
            </a:r>
            <a:r>
              <a:rPr lang="zh-CN" altLang="en-US" sz="1400" dirty="0" smtClean="0">
                <a:latin typeface="微软雅黑" panose="020B0503020204020204" charset="-122"/>
                <a:ea typeface="微软雅黑" panose="020B0503020204020204" charset="-122"/>
              </a:rPr>
              <a:t>一</a:t>
            </a:r>
            <a:r>
              <a:rPr lang="zh-CN" altLang="en-US" sz="1400" dirty="0">
                <a:latin typeface="微软雅黑" panose="020B0503020204020204" charset="-122"/>
                <a:ea typeface="微软雅黑" panose="020B0503020204020204" charset="-122"/>
              </a:rPr>
              <a:t>个开发算子 </a:t>
            </a:r>
            <a:r>
              <a:rPr lang="en-US" altLang="zh-CN" sz="1400" dirty="0">
                <a:latin typeface="微软雅黑" panose="020B0503020204020204" charset="-122"/>
                <a:ea typeface="微软雅黑" panose="020B0503020204020204" charset="-122"/>
              </a:rPr>
              <a:t>Skill </a:t>
            </a:r>
            <a:r>
              <a:rPr lang="zh-CN" altLang="en-US" sz="1400" dirty="0">
                <a:latin typeface="微软雅黑" panose="020B0503020204020204" charset="-122"/>
                <a:ea typeface="微软雅黑" panose="020B0503020204020204" charset="-122"/>
              </a:rPr>
              <a:t>的开发</a:t>
            </a:r>
            <a:r>
              <a:rPr lang="zh-CN" altLang="en-US" sz="1400" dirty="0" smtClean="0">
                <a:latin typeface="微软雅黑" panose="020B0503020204020204" charset="-122"/>
                <a:ea typeface="微软雅黑" panose="020B0503020204020204" charset="-122"/>
              </a:rPr>
              <a:t>方案。</a:t>
            </a:r>
            <a:endParaRPr lang="zh-CN" altLang="en-US" sz="1400" dirty="0">
              <a:latin typeface="微软雅黑" panose="020B0503020204020204" charset="-122"/>
              <a:ea typeface="微软雅黑" panose="020B0503020204020204" charset="-122"/>
            </a:endParaRPr>
          </a:p>
        </p:txBody>
      </p:sp>
      <p:sp>
        <p:nvSpPr>
          <p:cNvPr id="13" name="TextBox 8">
            <a:extLst>
              <a:ext uri="{FF2B5EF4-FFF2-40B4-BE49-F238E27FC236}">
                <a16:creationId xmlns:a16="http://schemas.microsoft.com/office/drawing/2014/main" id="{26CDB2B1-F96C-95D0-C4D0-0DFAD5739A98}"/>
              </a:ext>
            </a:extLst>
          </p:cNvPr>
          <p:cNvSpPr txBox="1"/>
          <p:nvPr/>
        </p:nvSpPr>
        <p:spPr>
          <a:xfrm>
            <a:off x="395288" y="4723673"/>
            <a:ext cx="8353176" cy="1299086"/>
          </a:xfrm>
          <a:prstGeom prst="rect">
            <a:avLst/>
          </a:prstGeom>
          <a:noFill/>
        </p:spPr>
        <p:txBody>
          <a:bodyPr wrap="square" rtlCol="0">
            <a:noAutofit/>
          </a:bodyPr>
          <a:lstStyle/>
          <a:p>
            <a:pPr marL="342900" indent="-342900">
              <a:lnSpc>
                <a:spcPct val="150000"/>
              </a:lnSpc>
              <a:buClr>
                <a:schemeClr val="tx2">
                  <a:lumMod val="75000"/>
                </a:schemeClr>
              </a:buClr>
              <a:buFont typeface="Wingdings" panose="05000000000000000000" pitchFamily="2" charset="2"/>
              <a:buChar char="n"/>
            </a:pPr>
            <a:r>
              <a:rPr lang="zh-CN" altLang="en-US" b="1" dirty="0">
                <a:latin typeface="微软雅黑" panose="020B0503020204020204" charset="-122"/>
                <a:ea typeface="微软雅黑" panose="020B0503020204020204" charset="-122"/>
              </a:rPr>
              <a:t>工作进展</a:t>
            </a:r>
            <a:endParaRPr lang="en-US" altLang="zh-CN" b="1" dirty="0">
              <a:latin typeface="微软雅黑" panose="020B0503020204020204" charset="-122"/>
              <a:ea typeface="微软雅黑" panose="020B0503020204020204" charset="-122"/>
            </a:endParaRPr>
          </a:p>
          <a:p>
            <a:pPr>
              <a:lnSpc>
                <a:spcPct val="150000"/>
              </a:lnSpc>
            </a:pPr>
            <a:r>
              <a:rPr lang="zh-CN" altLang="en-US" sz="1400" dirty="0" smtClean="0">
                <a:latin typeface="Times New Roman" panose="02020603050405020304" pitchFamily="18" charset="0"/>
                <a:cs typeface="Times New Roman" panose="02020603050405020304" pitchFamily="18" charset="0"/>
              </a:rPr>
              <a:t>完成了一些简单算子的开发优化和</a:t>
            </a:r>
            <a:r>
              <a:rPr lang="en-US" altLang="zh-CN" sz="1400" dirty="0" err="1" smtClean="0">
                <a:latin typeface="Times New Roman" panose="02020603050405020304" pitchFamily="18" charset="0"/>
                <a:cs typeface="Times New Roman" panose="02020603050405020304" pitchFamily="18" charset="0"/>
              </a:rPr>
              <a:t>mlu</a:t>
            </a:r>
            <a:r>
              <a:rPr lang="zh-CN" altLang="en-US" sz="1400" dirty="0" smtClean="0">
                <a:latin typeface="Times New Roman" panose="02020603050405020304" pitchFamily="18" charset="0"/>
                <a:cs typeface="Times New Roman" panose="02020603050405020304" pitchFamily="18" charset="0"/>
              </a:rPr>
              <a:t>平台的</a:t>
            </a:r>
            <a:r>
              <a:rPr lang="en-US" altLang="zh-CN" sz="1400" dirty="0" err="1" smtClean="0">
                <a:latin typeface="Times New Roman" panose="02020603050405020304" pitchFamily="18" charset="0"/>
                <a:cs typeface="Times New Roman" panose="02020603050405020304" pitchFamily="18" charset="0"/>
              </a:rPr>
              <a:t>cpu</a:t>
            </a:r>
            <a:r>
              <a:rPr lang="en-US" altLang="zh-CN" sz="1400" dirty="0" smtClean="0">
                <a:latin typeface="Times New Roman" panose="02020603050405020304" pitchFamily="18" charset="0"/>
                <a:cs typeface="Times New Roman" panose="02020603050405020304" pitchFamily="18" charset="0"/>
              </a:rPr>
              <a:t>-offload kc cache</a:t>
            </a:r>
            <a:r>
              <a:rPr lang="zh-CN" altLang="en-US" sz="1400" dirty="0" smtClean="0">
                <a:latin typeface="Times New Roman" panose="02020603050405020304" pitchFamily="18" charset="0"/>
                <a:cs typeface="Times New Roman" panose="02020603050405020304" pitchFamily="18" charset="0"/>
              </a:rPr>
              <a:t>；</a:t>
            </a:r>
            <a:r>
              <a:rPr lang="zh-CN" altLang="en-US" sz="1400" dirty="0" smtClean="0">
                <a:latin typeface="微软雅黑" panose="020B0503020204020204" charset="-122"/>
                <a:ea typeface="微软雅黑" panose="020B0503020204020204" charset="-122"/>
              </a:rPr>
              <a:t>完成</a:t>
            </a:r>
            <a:r>
              <a:rPr lang="zh-CN" altLang="en-US" sz="1400" dirty="0">
                <a:latin typeface="微软雅黑" panose="020B0503020204020204" charset="-122"/>
                <a:ea typeface="微软雅黑" panose="020B0503020204020204" charset="-122"/>
              </a:rPr>
              <a:t>算子 </a:t>
            </a:r>
            <a:r>
              <a:rPr lang="en-US" altLang="zh-CN" sz="1400" dirty="0">
                <a:latin typeface="微软雅黑" panose="020B0503020204020204" charset="-122"/>
                <a:ea typeface="微软雅黑" panose="020B0503020204020204" charset="-122"/>
              </a:rPr>
              <a:t>Skill </a:t>
            </a:r>
            <a:r>
              <a:rPr lang="zh-CN" altLang="en-US" sz="1400" dirty="0">
                <a:latin typeface="微软雅黑" panose="020B0503020204020204" charset="-122"/>
                <a:ea typeface="微软雅黑" panose="020B0503020204020204" charset="-122"/>
              </a:rPr>
              <a:t>架构优化与动态 </a:t>
            </a:r>
            <a:r>
              <a:rPr lang="en-US" altLang="zh-CN" sz="1400" dirty="0">
                <a:latin typeface="微软雅黑" panose="020B0503020204020204" charset="-122"/>
                <a:ea typeface="微软雅黑" panose="020B0503020204020204" charset="-122"/>
              </a:rPr>
              <a:t>Shape </a:t>
            </a:r>
            <a:r>
              <a:rPr lang="zh-CN" altLang="en-US" sz="1400" dirty="0">
                <a:latin typeface="微软雅黑" panose="020B0503020204020204" charset="-122"/>
                <a:ea typeface="微软雅黑" panose="020B0503020204020204" charset="-122"/>
              </a:rPr>
              <a:t>算子</a:t>
            </a:r>
            <a:r>
              <a:rPr lang="zh-CN" altLang="en-US" sz="1400" dirty="0" smtClean="0">
                <a:latin typeface="微软雅黑" panose="020B0503020204020204" charset="-122"/>
                <a:ea typeface="微软雅黑" panose="020B0503020204020204" charset="-122"/>
              </a:rPr>
              <a:t>开发</a:t>
            </a:r>
            <a:r>
              <a:rPr lang="zh-CN" altLang="en-US" sz="1400" dirty="0">
                <a:latin typeface="微软雅黑" panose="020B0503020204020204" charset="-122"/>
                <a:ea typeface="微软雅黑" panose="020B0503020204020204" charset="-122"/>
              </a:rPr>
              <a:t>优化</a:t>
            </a:r>
            <a:r>
              <a:rPr lang="zh-CN" altLang="en-US" sz="1400" dirty="0" smtClean="0">
                <a:latin typeface="微软雅黑" panose="020B0503020204020204" charset="-122"/>
                <a:ea typeface="微软雅黑" panose="020B0503020204020204" charset="-122"/>
              </a:rPr>
              <a:t>；根据算子开发</a:t>
            </a:r>
            <a:r>
              <a:rPr lang="en-US" altLang="zh-CN" sz="1400" dirty="0" smtClean="0">
                <a:latin typeface="微软雅黑" panose="020B0503020204020204" charset="-122"/>
                <a:ea typeface="微软雅黑" panose="020B0503020204020204" charset="-122"/>
              </a:rPr>
              <a:t>skill</a:t>
            </a:r>
            <a:r>
              <a:rPr lang="zh-CN" altLang="en-US" sz="1400" dirty="0" smtClean="0">
                <a:latin typeface="微软雅黑" panose="020B0503020204020204" charset="-122"/>
                <a:ea typeface="微软雅黑" panose="020B0503020204020204" charset="-122"/>
              </a:rPr>
              <a:t>的开发方案进行了多平台算子开发</a:t>
            </a:r>
            <a:r>
              <a:rPr lang="en-US" altLang="zh-CN" sz="1400" dirty="0" smtClean="0">
                <a:latin typeface="微软雅黑" panose="020B0503020204020204" charset="-122"/>
                <a:ea typeface="微软雅黑" panose="020B0503020204020204" charset="-122"/>
              </a:rPr>
              <a:t>skill</a:t>
            </a:r>
            <a:r>
              <a:rPr lang="zh-CN" altLang="en-US" sz="1400" dirty="0" smtClean="0">
                <a:latin typeface="微软雅黑" panose="020B0503020204020204" charset="-122"/>
                <a:ea typeface="微软雅黑" panose="020B0503020204020204" charset="-122"/>
              </a:rPr>
              <a:t>的设计。</a:t>
            </a:r>
            <a:endParaRPr lang="zh-CN" altLang="en-US" sz="1400" dirty="0">
              <a:latin typeface="微软雅黑" panose="020B0503020204020204" charset="-122"/>
              <a:ea typeface="微软雅黑" panose="020B0503020204020204" charset="-122"/>
            </a:endParaRPr>
          </a:p>
          <a:p>
            <a:pPr>
              <a:lnSpc>
                <a:spcPct val="150000"/>
              </a:lnSpc>
            </a:pPr>
            <a:endParaRPr lang="zh-CN" altLang="en-US" sz="1400" dirty="0">
              <a:latin typeface="微软雅黑" panose="020B0503020204020204" charset="-122"/>
              <a:ea typeface="微软雅黑" panose="020B0503020204020204" charset="-122"/>
            </a:endParaRPr>
          </a:p>
          <a:p>
            <a:pPr>
              <a:lnSpc>
                <a:spcPct val="150000"/>
              </a:lnSpc>
            </a:pPr>
            <a:endParaRPr lang="en-US" altLang="zh-CN" sz="1400" dirty="0">
              <a:latin typeface="微软雅黑" panose="020B0503020204020204" charset="-122"/>
              <a:ea typeface="微软雅黑" panose="020B0503020204020204" charset="-122"/>
            </a:endParaRPr>
          </a:p>
        </p:txBody>
      </p:sp>
    </p:spTree>
    <p:extLst>
      <p:ext uri="{BB962C8B-B14F-4D97-AF65-F5344CB8AC3E}">
        <p14:creationId xmlns:p14="http://schemas.microsoft.com/office/powerpoint/2010/main" val="877980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目录</a:t>
            </a:r>
          </a:p>
        </p:txBody>
      </p:sp>
      <p:graphicFrame>
        <p:nvGraphicFramePr>
          <p:cNvPr id="7" name="图示 6"/>
          <p:cNvGraphicFramePr/>
          <p:nvPr>
            <p:extLst>
              <p:ext uri="{D42A27DB-BD31-4B8C-83A1-F6EECF244321}">
                <p14:modId xmlns:p14="http://schemas.microsoft.com/office/powerpoint/2010/main" val="3147061713"/>
              </p:ext>
            </p:extLst>
          </p:nvPr>
        </p:nvGraphicFramePr>
        <p:xfrm>
          <a:off x="1763688" y="1556792"/>
          <a:ext cx="6096000" cy="40970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灯片编号占位符 2"/>
          <p:cNvSpPr>
            <a:spLocks noGrp="1"/>
          </p:cNvSpPr>
          <p:nvPr>
            <p:ph type="sldNum" sz="quarter" idx="12"/>
          </p:nvPr>
        </p:nvSpPr>
        <p:spPr/>
        <p:txBody>
          <a:bodyPr/>
          <a:lstStyle/>
          <a:p>
            <a:fld id="{03621AC1-4C4D-435F-BACF-B518BC126F02}" type="slidenum">
              <a:rPr lang="zh-CN" altLang="en-US" smtClean="0"/>
              <a:t>4</a:t>
            </a:fld>
            <a:endParaRPr lang="zh-CN" altLang="en-US"/>
          </a:p>
        </p:txBody>
      </p:sp>
    </p:spTree>
    <p:extLst>
      <p:ext uri="{BB962C8B-B14F-4D97-AF65-F5344CB8AC3E}">
        <p14:creationId xmlns:p14="http://schemas.microsoft.com/office/powerpoint/2010/main" val="3782755510"/>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5</a:t>
            </a:fld>
            <a:endParaRPr lang="zh-CN" altLang="en-US"/>
          </a:p>
        </p:txBody>
      </p:sp>
      <p:sp>
        <p:nvSpPr>
          <p:cNvPr id="84" name="text_103_原始 Skill 已具备完整开发流程"/>
          <p:cNvSpPr>
            <a:spLocks noGrp="1"/>
          </p:cNvSpPr>
          <p:nvPr/>
        </p:nvSpPr>
        <p:spPr>
          <a:xfrm>
            <a:off x="602043" y="1210386"/>
            <a:ext cx="1305661"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lang="zh-CN" altLang="en-US" sz="2000" b="1"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算子优化</a:t>
            </a:r>
            <a:endParaRPr sz="2000" b="1"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85"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pic>
        <p:nvPicPr>
          <p:cNvPr id="162" name="图片 161"/>
          <p:cNvPicPr>
            <a:picLocks noChangeAspect="1"/>
          </p:cNvPicPr>
          <p:nvPr/>
        </p:nvPicPr>
        <p:blipFill>
          <a:blip r:embed="rId4"/>
          <a:srcRect l="5443" t="24548" r="85167" b="60680"/>
          <a:stretch>
            <a:fillRect/>
          </a:stretch>
        </p:blipFill>
        <p:spPr>
          <a:xfrm>
            <a:off x="1089261" y="2592493"/>
            <a:ext cx="1787721" cy="1583068"/>
          </a:xfrm>
          <a:prstGeom prst="rect">
            <a:avLst/>
          </a:prstGeom>
        </p:spPr>
      </p:pic>
      <p:sp>
        <p:nvSpPr>
          <p:cNvPr id="31" name="s2-obj20"/>
          <p:cNvSpPr>
            <a:spLocks noGrp="1"/>
          </p:cNvSpPr>
          <p:nvPr/>
        </p:nvSpPr>
        <p:spPr>
          <a:xfrm>
            <a:off x="5416048" y="2142391"/>
            <a:ext cx="1819778" cy="428281"/>
          </a:xfrm>
          <a:prstGeom prst="roundRect">
            <a:avLst>
              <a:gd name="adj" fmla="val 15686"/>
            </a:avLst>
          </a:prstGeom>
          <a:noFill/>
          <a:ln w="9525">
            <a:solidFill>
              <a:srgbClr val="002060"/>
            </a:solidFill>
          </a:ln>
        </p:spPr>
      </p:sp>
      <p:sp>
        <p:nvSpPr>
          <p:cNvPr id="32" name="s2-obj21"/>
          <p:cNvSpPr>
            <a:spLocks noGrp="1"/>
          </p:cNvSpPr>
          <p:nvPr/>
        </p:nvSpPr>
        <p:spPr>
          <a:xfrm>
            <a:off x="5430632" y="2143324"/>
            <a:ext cx="1819777" cy="428625"/>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GDRAM</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(80GB)</a:t>
            </a:r>
          </a:p>
        </p:txBody>
      </p:sp>
      <p:sp>
        <p:nvSpPr>
          <p:cNvPr id="37" name="s2-obj26"/>
          <p:cNvSpPr>
            <a:spLocks noGrp="1"/>
          </p:cNvSpPr>
          <p:nvPr/>
        </p:nvSpPr>
        <p:spPr>
          <a:xfrm>
            <a:off x="6520767" y="2562562"/>
            <a:ext cx="648072" cy="238125"/>
          </a:xfrm>
          <a:prstGeom prst="rect">
            <a:avLst/>
          </a:prstGeom>
          <a:noFill/>
          <a:ln w="0">
            <a:noFill/>
          </a:ln>
        </p:spPr>
        <p:txBody>
          <a:bodyPr wrap="none" lIns="0" tIns="0" rIns="0" bIns="0" anchor="ctr">
            <a:noAutofit/>
          </a:bodyPr>
          <a:lstStyle/>
          <a:p>
            <a:pPr algn="l">
              <a:defRPr sz="1350"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sz="10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IO-DMA</a:t>
            </a:r>
          </a:p>
        </p:txBody>
      </p:sp>
      <p:graphicFrame>
        <p:nvGraphicFramePr>
          <p:cNvPr id="63" name="表格 62"/>
          <p:cNvGraphicFramePr/>
          <p:nvPr>
            <p:custDataLst>
              <p:tags r:id="rId1"/>
            </p:custDataLst>
            <p:extLst>
              <p:ext uri="{D42A27DB-BD31-4B8C-83A1-F6EECF244321}">
                <p14:modId xmlns:p14="http://schemas.microsoft.com/office/powerpoint/2010/main" val="1963573452"/>
              </p:ext>
            </p:extLst>
          </p:nvPr>
        </p:nvGraphicFramePr>
        <p:xfrm>
          <a:off x="1023403" y="5259580"/>
          <a:ext cx="6943968" cy="1097280"/>
        </p:xfrm>
        <a:graphic>
          <a:graphicData uri="http://schemas.openxmlformats.org/drawingml/2006/table">
            <a:tbl>
              <a:tblPr firstRow="1" bandRow="1">
                <a:tableStyleId>{5940675A-B579-460E-94D1-54222C63F5DA}</a:tableStyleId>
              </a:tblPr>
              <a:tblGrid>
                <a:gridCol w="1091654">
                  <a:extLst>
                    <a:ext uri="{9D8B030D-6E8A-4147-A177-3AD203B41FA5}">
                      <a16:colId xmlns:a16="http://schemas.microsoft.com/office/drawing/2014/main" val="20000"/>
                    </a:ext>
                  </a:extLst>
                </a:gridCol>
                <a:gridCol w="1751924">
                  <a:extLst>
                    <a:ext uri="{9D8B030D-6E8A-4147-A177-3AD203B41FA5}">
                      <a16:colId xmlns:a16="http://schemas.microsoft.com/office/drawing/2014/main" val="20001"/>
                    </a:ext>
                  </a:extLst>
                </a:gridCol>
                <a:gridCol w="2016224">
                  <a:extLst>
                    <a:ext uri="{9D8B030D-6E8A-4147-A177-3AD203B41FA5}">
                      <a16:colId xmlns:a16="http://schemas.microsoft.com/office/drawing/2014/main" val="20002"/>
                    </a:ext>
                  </a:extLst>
                </a:gridCol>
                <a:gridCol w="2084166">
                  <a:extLst>
                    <a:ext uri="{9D8B030D-6E8A-4147-A177-3AD203B41FA5}">
                      <a16:colId xmlns:a16="http://schemas.microsoft.com/office/drawing/2014/main" val="20003"/>
                    </a:ext>
                  </a:extLst>
                </a:gridCol>
              </a:tblGrid>
              <a:tr h="262872">
                <a:tc>
                  <a:txBody>
                    <a:bodyPr/>
                    <a:lstStyle/>
                    <a:p>
                      <a:pPr algn="ctr">
                        <a:buNone/>
                      </a:pPr>
                      <a:r>
                        <a:rPr lang="zh-CN" altLang="en-US" sz="1200" b="1" dirty="0">
                          <a:latin typeface="Times New Roman" panose="02020603050405020304" pitchFamily="18" charset="0"/>
                          <a:ea typeface="+mn-ea"/>
                          <a:cs typeface="Times New Roman" panose="02020603050405020304" pitchFamily="18" charset="0"/>
                        </a:rPr>
                        <a:t>传输带宽</a:t>
                      </a:r>
                    </a:p>
                  </a:txBody>
                  <a:tcPr>
                    <a:lnL w="12700" cap="flat" cmpd="sng" algn="ctr">
                      <a:solidFill>
                        <a:schemeClr val="tx1"/>
                      </a:solidFill>
                      <a:prstDash val="solid"/>
                      <a:round/>
                      <a:headEnd type="none" w="med" len="med"/>
                      <a:tailEnd type="none" w="med" len="med"/>
                    </a:lnL>
                  </a:tcPr>
                </a:tc>
                <a:tc>
                  <a:txBody>
                    <a:bodyPr/>
                    <a:lstStyle/>
                    <a:p>
                      <a:pPr algn="ctr">
                        <a:buNone/>
                      </a:pPr>
                      <a:r>
                        <a:rPr lang="en-US" altLang="zh-CN" sz="1200" b="1" dirty="0">
                          <a:latin typeface="Times New Roman" panose="02020603050405020304" pitchFamily="18" charset="0"/>
                          <a:ea typeface="+mn-ea"/>
                          <a:cs typeface="Times New Roman" panose="02020603050405020304" pitchFamily="18" charset="0"/>
                        </a:rPr>
                        <a:t>GDRAM-&gt;SRAM</a:t>
                      </a:r>
                    </a:p>
                  </a:txBody>
                  <a:tcPr/>
                </a:tc>
                <a:tc>
                  <a:txBody>
                    <a:bodyPr/>
                    <a:lstStyle/>
                    <a:p>
                      <a:pPr algn="ctr">
                        <a:buNone/>
                      </a:pPr>
                      <a:r>
                        <a:rPr lang="en-US" altLang="zh-CN" sz="1200" b="1" dirty="0">
                          <a:latin typeface="Times New Roman" panose="02020603050405020304" pitchFamily="18" charset="0"/>
                          <a:ea typeface="+mn-ea"/>
                          <a:cs typeface="Times New Roman" panose="02020603050405020304" pitchFamily="18" charset="0"/>
                        </a:rPr>
                        <a:t>SRAM-&gt;NRAM</a:t>
                      </a:r>
                    </a:p>
                  </a:txBody>
                  <a:tcPr/>
                </a:tc>
                <a:tc>
                  <a:txBody>
                    <a:bodyPr/>
                    <a:lstStyle/>
                    <a:p>
                      <a:pPr algn="ctr">
                        <a:buNone/>
                      </a:pPr>
                      <a:r>
                        <a:rPr lang="en-US" altLang="zh-CN" sz="1200" b="1" dirty="0">
                          <a:latin typeface="Times New Roman" panose="02020603050405020304" pitchFamily="18" charset="0"/>
                          <a:ea typeface="+mn-ea"/>
                          <a:cs typeface="Times New Roman" panose="02020603050405020304" pitchFamily="18" charset="0"/>
                        </a:rPr>
                        <a:t>SRAM-&gt;WRAM</a:t>
                      </a:r>
                    </a:p>
                  </a:txBody>
                  <a:tcPr/>
                </a:tc>
                <a:extLst>
                  <a:ext uri="{0D108BD9-81ED-4DB2-BD59-A6C34878D82A}">
                    <a16:rowId xmlns:a16="http://schemas.microsoft.com/office/drawing/2014/main" val="10000"/>
                  </a:ext>
                </a:extLst>
              </a:tr>
              <a:tr h="209425">
                <a:tc>
                  <a:txBody>
                    <a:bodyPr/>
                    <a:lstStyle/>
                    <a:p>
                      <a:pPr algn="ctr">
                        <a:buNone/>
                      </a:pPr>
                      <a:r>
                        <a:rPr lang="zh-CN" altLang="en-US" sz="1200" b="1" dirty="0">
                          <a:latin typeface="Times New Roman" panose="02020603050405020304" pitchFamily="18" charset="0"/>
                          <a:ea typeface="+mn-ea"/>
                          <a:cs typeface="Times New Roman" panose="02020603050405020304" pitchFamily="18" charset="0"/>
                        </a:rPr>
                        <a:t>性能</a:t>
                      </a:r>
                    </a:p>
                  </a:txBody>
                  <a:tcPr>
                    <a:lnL w="12700" cap="flat" cmpd="sng" algn="ctr">
                      <a:solidFill>
                        <a:schemeClr val="tx1"/>
                      </a:solidFill>
                      <a:prstDash val="solid"/>
                      <a:round/>
                      <a:headEnd type="none" w="med" len="med"/>
                      <a:tailEnd type="none" w="med" len="med"/>
                    </a:lnL>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1.83TB/s</a:t>
                      </a:r>
                    </a:p>
                  </a:txBody>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699GB/s</a:t>
                      </a:r>
                    </a:p>
                  </a:txBody>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668GB/s</a:t>
                      </a:r>
                    </a:p>
                  </a:txBody>
                  <a:tcPr/>
                </a:tc>
                <a:extLst>
                  <a:ext uri="{0D108BD9-81ED-4DB2-BD59-A6C34878D82A}">
                    <a16:rowId xmlns:a16="http://schemas.microsoft.com/office/drawing/2014/main" val="10001"/>
                  </a:ext>
                </a:extLst>
              </a:tr>
              <a:tr h="209425">
                <a:tc>
                  <a:txBody>
                    <a:bodyPr/>
                    <a:lstStyle/>
                    <a:p>
                      <a:pPr algn="ctr">
                        <a:buNone/>
                      </a:pPr>
                      <a:r>
                        <a:rPr lang="zh-CN" altLang="en-US" sz="1200" b="1" dirty="0">
                          <a:latin typeface="Times New Roman" panose="02020603050405020304" pitchFamily="18" charset="0"/>
                          <a:ea typeface="+mn-ea"/>
                          <a:cs typeface="Times New Roman" panose="02020603050405020304" pitchFamily="18" charset="0"/>
                        </a:rPr>
                        <a:t>计算单元</a:t>
                      </a:r>
                    </a:p>
                  </a:txBody>
                  <a:tcPr>
                    <a:lnL w="12700" cap="flat" cmpd="sng" algn="ctr">
                      <a:solidFill>
                        <a:schemeClr val="tx1"/>
                      </a:solidFill>
                      <a:prstDash val="solid"/>
                      <a:round/>
                      <a:headEnd type="none" w="med" len="med"/>
                      <a:tailEnd type="none" w="med" len="med"/>
                    </a:lnL>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TFU</a:t>
                      </a:r>
                    </a:p>
                  </a:txBody>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add/</a:t>
                      </a:r>
                      <a:r>
                        <a:rPr lang="en-US" altLang="zh-CN" sz="1200" dirty="0" err="1">
                          <a:latin typeface="Times New Roman" panose="02020603050405020304" pitchFamily="18" charset="0"/>
                          <a:ea typeface="+mn-ea"/>
                          <a:cs typeface="Times New Roman" panose="02020603050405020304" pitchFamily="18" charset="0"/>
                        </a:rPr>
                        <a:t>mul</a:t>
                      </a:r>
                      <a:endParaRPr lang="en-US" altLang="zh-CN" sz="1200" dirty="0">
                        <a:latin typeface="Times New Roman" panose="02020603050405020304" pitchFamily="18" charset="0"/>
                        <a:ea typeface="+mn-ea"/>
                        <a:cs typeface="Times New Roman" panose="02020603050405020304" pitchFamily="18" charset="0"/>
                      </a:endParaRPr>
                    </a:p>
                  </a:txBody>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exp</a:t>
                      </a:r>
                    </a:p>
                  </a:txBody>
                  <a:tcPr/>
                </a:tc>
                <a:extLst>
                  <a:ext uri="{0D108BD9-81ED-4DB2-BD59-A6C34878D82A}">
                    <a16:rowId xmlns:a16="http://schemas.microsoft.com/office/drawing/2014/main" val="10002"/>
                  </a:ext>
                </a:extLst>
              </a:tr>
              <a:tr h="209425">
                <a:tc>
                  <a:txBody>
                    <a:bodyPr/>
                    <a:lstStyle/>
                    <a:p>
                      <a:pPr algn="ctr">
                        <a:buNone/>
                      </a:pPr>
                      <a:r>
                        <a:rPr lang="zh-CN" altLang="en-US" sz="1200" b="1" dirty="0">
                          <a:latin typeface="Times New Roman" panose="02020603050405020304" pitchFamily="18" charset="0"/>
                          <a:ea typeface="+mn-ea"/>
                          <a:cs typeface="Times New Roman" panose="02020603050405020304" pitchFamily="18" charset="0"/>
                        </a:rPr>
                        <a:t>性能</a:t>
                      </a:r>
                    </a:p>
                  </a:txBody>
                  <a:tcPr>
                    <a:lnL w="12700" cap="flat" cmpd="sng" algn="ctr">
                      <a:solidFill>
                        <a:schemeClr val="tx1"/>
                      </a:solidFill>
                      <a:prstDash val="solid"/>
                      <a:round/>
                      <a:headEnd type="none" w="med" len="med"/>
                      <a:tailEnd type="none" w="med" len="med"/>
                    </a:lnL>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6.76TFLOPS</a:t>
                      </a:r>
                    </a:p>
                  </a:txBody>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96GOPS</a:t>
                      </a:r>
                    </a:p>
                  </a:txBody>
                  <a:tcPr/>
                </a:tc>
                <a:tc>
                  <a:txBody>
                    <a:bodyPr/>
                    <a:lstStyle/>
                    <a:p>
                      <a:pPr algn="ctr">
                        <a:buNone/>
                      </a:pPr>
                      <a:r>
                        <a:rPr lang="en-US" altLang="zh-CN" sz="1200" dirty="0">
                          <a:latin typeface="Times New Roman" panose="02020603050405020304" pitchFamily="18" charset="0"/>
                          <a:ea typeface="+mn-ea"/>
                          <a:cs typeface="Times New Roman" panose="02020603050405020304" pitchFamily="18" charset="0"/>
                        </a:rPr>
                        <a:t>58GOPS</a:t>
                      </a:r>
                    </a:p>
                  </a:txBody>
                  <a:tcPr/>
                </a:tc>
                <a:extLst>
                  <a:ext uri="{0D108BD9-81ED-4DB2-BD59-A6C34878D82A}">
                    <a16:rowId xmlns:a16="http://schemas.microsoft.com/office/drawing/2014/main" val="10003"/>
                  </a:ext>
                </a:extLst>
              </a:tr>
            </a:tbl>
          </a:graphicData>
        </a:graphic>
      </p:graphicFrame>
      <p:sp>
        <p:nvSpPr>
          <p:cNvPr id="38" name="矩形 37"/>
          <p:cNvSpPr/>
          <p:nvPr/>
        </p:nvSpPr>
        <p:spPr>
          <a:xfrm>
            <a:off x="535263" y="1799789"/>
            <a:ext cx="2802370"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dirty="0">
                <a:solidFill>
                  <a:schemeClr val="tx1">
                    <a:lumMod val="95000"/>
                    <a:lumOff val="5000"/>
                  </a:schemeClr>
                </a:solidFill>
                <a:latin typeface="Times New Roman" panose="02020603050405020304" pitchFamily="18" charset="0"/>
                <a:cs typeface="Times New Roman" panose="02020603050405020304" pitchFamily="18" charset="0"/>
              </a:rPr>
              <a:t>平台：寒武纪</a:t>
            </a:r>
            <a:r>
              <a:rPr lang="en-US" altLang="zh-CN" sz="1600" dirty="0" err="1">
                <a:solidFill>
                  <a:schemeClr val="tx1">
                    <a:lumMod val="95000"/>
                    <a:lumOff val="5000"/>
                  </a:schemeClr>
                </a:solidFill>
                <a:latin typeface="Times New Roman" panose="02020603050405020304" pitchFamily="18" charset="0"/>
                <a:cs typeface="Times New Roman" panose="02020603050405020304" pitchFamily="18" charset="0"/>
              </a:rPr>
              <a:t>MLU+triton</a:t>
            </a:r>
            <a:endParaRPr lang="en-US" altLang="zh-CN" sz="16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46" name="矩形 45"/>
          <p:cNvSpPr/>
          <p:nvPr/>
        </p:nvSpPr>
        <p:spPr>
          <a:xfrm>
            <a:off x="564399" y="4767423"/>
            <a:ext cx="1293944"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n-ea"/>
                <a:cs typeface="Times New Roman" panose="02020603050405020304" pitchFamily="18" charset="0"/>
              </a:rPr>
              <a:t>实测性能</a:t>
            </a:r>
            <a:endParaRPr lang="en-US" altLang="zh-CN" sz="1600" b="1" dirty="0">
              <a:solidFill>
                <a:schemeClr val="tx1">
                  <a:lumMod val="95000"/>
                  <a:lumOff val="5000"/>
                </a:schemeClr>
              </a:solidFill>
              <a:latin typeface="+mn-ea"/>
              <a:cs typeface="Times New Roman" panose="02020603050405020304" pitchFamily="18" charset="0"/>
            </a:endParaRPr>
          </a:p>
        </p:txBody>
      </p:sp>
      <p:sp>
        <p:nvSpPr>
          <p:cNvPr id="47" name="矩形 46"/>
          <p:cNvSpPr/>
          <p:nvPr/>
        </p:nvSpPr>
        <p:spPr>
          <a:xfrm>
            <a:off x="4019786" y="1799789"/>
            <a:ext cx="1499128"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n-ea"/>
                <a:cs typeface="Times New Roman" panose="02020603050405020304" pitchFamily="18" charset="0"/>
              </a:rPr>
              <a:t>存储架构：</a:t>
            </a:r>
            <a:endParaRPr lang="en-US" altLang="zh-CN" sz="1600" b="1" dirty="0">
              <a:solidFill>
                <a:schemeClr val="tx1">
                  <a:lumMod val="95000"/>
                  <a:lumOff val="5000"/>
                </a:schemeClr>
              </a:solidFill>
              <a:latin typeface="+mn-ea"/>
              <a:cs typeface="Times New Roman" panose="02020603050405020304" pitchFamily="18" charset="0"/>
            </a:endParaRPr>
          </a:p>
        </p:txBody>
      </p:sp>
      <p:sp>
        <p:nvSpPr>
          <p:cNvPr id="3" name="s2-obj20">
            <a:extLst>
              <a:ext uri="{FF2B5EF4-FFF2-40B4-BE49-F238E27FC236}">
                <a16:creationId xmlns:a16="http://schemas.microsoft.com/office/drawing/2014/main" id="{E0FB5F9D-605F-B74E-4F0C-A0293E6254BD}"/>
              </a:ext>
            </a:extLst>
          </p:cNvPr>
          <p:cNvSpPr>
            <a:spLocks noGrp="1"/>
          </p:cNvSpPr>
          <p:nvPr/>
        </p:nvSpPr>
        <p:spPr>
          <a:xfrm>
            <a:off x="5416048" y="2825314"/>
            <a:ext cx="1819778" cy="428281"/>
          </a:xfrm>
          <a:prstGeom prst="roundRect">
            <a:avLst>
              <a:gd name="adj" fmla="val 15686"/>
            </a:avLst>
          </a:prstGeom>
          <a:noFill/>
          <a:ln w="9525">
            <a:solidFill>
              <a:srgbClr val="002060"/>
            </a:solidFill>
          </a:ln>
        </p:spPr>
      </p:sp>
      <p:sp>
        <p:nvSpPr>
          <p:cNvPr id="4" name="s2-obj21">
            <a:extLst>
              <a:ext uri="{FF2B5EF4-FFF2-40B4-BE49-F238E27FC236}">
                <a16:creationId xmlns:a16="http://schemas.microsoft.com/office/drawing/2014/main" id="{62212806-46BB-D687-88FC-6716B1F511BE}"/>
              </a:ext>
            </a:extLst>
          </p:cNvPr>
          <p:cNvSpPr>
            <a:spLocks noGrp="1"/>
          </p:cNvSpPr>
          <p:nvPr/>
        </p:nvSpPr>
        <p:spPr>
          <a:xfrm>
            <a:off x="5416049" y="2814975"/>
            <a:ext cx="1819777" cy="428625"/>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Cluster SRAM</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(2 MiB / Cluster)</a:t>
            </a:r>
          </a:p>
        </p:txBody>
      </p:sp>
      <p:cxnSp>
        <p:nvCxnSpPr>
          <p:cNvPr id="6" name="直接箭头连接符 5">
            <a:extLst>
              <a:ext uri="{FF2B5EF4-FFF2-40B4-BE49-F238E27FC236}">
                <a16:creationId xmlns:a16="http://schemas.microsoft.com/office/drawing/2014/main" id="{5180B66C-BA0C-36CC-195F-E7684255543A}"/>
              </a:ext>
            </a:extLst>
          </p:cNvPr>
          <p:cNvCxnSpPr>
            <a:stCxn id="31" idx="2"/>
            <a:endCxn id="4" idx="0"/>
          </p:cNvCxnSpPr>
          <p:nvPr/>
        </p:nvCxnSpPr>
        <p:spPr>
          <a:xfrm>
            <a:off x="6325937" y="2570672"/>
            <a:ext cx="1" cy="244303"/>
          </a:xfrm>
          <a:prstGeom prst="straightConnector1">
            <a:avLst/>
          </a:prstGeom>
          <a:ln w="127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s2-obj20">
            <a:extLst>
              <a:ext uri="{FF2B5EF4-FFF2-40B4-BE49-F238E27FC236}">
                <a16:creationId xmlns:a16="http://schemas.microsoft.com/office/drawing/2014/main" id="{1F4F21F4-1AC0-BD63-3E27-3A4BF433DF99}"/>
              </a:ext>
            </a:extLst>
          </p:cNvPr>
          <p:cNvSpPr>
            <a:spLocks noGrp="1"/>
          </p:cNvSpPr>
          <p:nvPr/>
        </p:nvSpPr>
        <p:spPr>
          <a:xfrm>
            <a:off x="5007962" y="3579286"/>
            <a:ext cx="1184406" cy="428281"/>
          </a:xfrm>
          <a:prstGeom prst="roundRect">
            <a:avLst>
              <a:gd name="adj" fmla="val 15686"/>
            </a:avLst>
          </a:prstGeom>
          <a:noFill/>
          <a:ln w="9525">
            <a:solidFill>
              <a:srgbClr val="002060"/>
            </a:solidFill>
          </a:ln>
        </p:spPr>
      </p:sp>
      <p:sp>
        <p:nvSpPr>
          <p:cNvPr id="8" name="s2-obj21">
            <a:extLst>
              <a:ext uri="{FF2B5EF4-FFF2-40B4-BE49-F238E27FC236}">
                <a16:creationId xmlns:a16="http://schemas.microsoft.com/office/drawing/2014/main" id="{741AC722-3A41-6861-6289-2F08360ED1E3}"/>
              </a:ext>
            </a:extLst>
          </p:cNvPr>
          <p:cNvSpPr>
            <a:spLocks noGrp="1"/>
          </p:cNvSpPr>
          <p:nvPr/>
        </p:nvSpPr>
        <p:spPr>
          <a:xfrm>
            <a:off x="4994563" y="3566007"/>
            <a:ext cx="1211204" cy="428625"/>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NRAM</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(512 KiB / Core)</a:t>
            </a:r>
          </a:p>
        </p:txBody>
      </p:sp>
      <p:sp>
        <p:nvSpPr>
          <p:cNvPr id="9" name="s2-obj20">
            <a:extLst>
              <a:ext uri="{FF2B5EF4-FFF2-40B4-BE49-F238E27FC236}">
                <a16:creationId xmlns:a16="http://schemas.microsoft.com/office/drawing/2014/main" id="{50371339-5BD9-FDC6-48D4-017B0B42E1E4}"/>
              </a:ext>
            </a:extLst>
          </p:cNvPr>
          <p:cNvSpPr>
            <a:spLocks noGrp="1"/>
          </p:cNvSpPr>
          <p:nvPr/>
        </p:nvSpPr>
        <p:spPr>
          <a:xfrm>
            <a:off x="6522230" y="3579250"/>
            <a:ext cx="1184406" cy="428281"/>
          </a:xfrm>
          <a:prstGeom prst="roundRect">
            <a:avLst>
              <a:gd name="adj" fmla="val 15686"/>
            </a:avLst>
          </a:prstGeom>
          <a:noFill/>
          <a:ln w="9525">
            <a:solidFill>
              <a:srgbClr val="002060"/>
            </a:solidFill>
          </a:ln>
        </p:spPr>
      </p:sp>
      <p:sp>
        <p:nvSpPr>
          <p:cNvPr id="10" name="s2-obj21">
            <a:extLst>
              <a:ext uri="{FF2B5EF4-FFF2-40B4-BE49-F238E27FC236}">
                <a16:creationId xmlns:a16="http://schemas.microsoft.com/office/drawing/2014/main" id="{9B026721-2D81-7BB7-0399-82E0B624B811}"/>
              </a:ext>
            </a:extLst>
          </p:cNvPr>
          <p:cNvSpPr>
            <a:spLocks noGrp="1"/>
          </p:cNvSpPr>
          <p:nvPr/>
        </p:nvSpPr>
        <p:spPr>
          <a:xfrm>
            <a:off x="6508831" y="3565971"/>
            <a:ext cx="1211204" cy="428625"/>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WRAM</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(512 KiB / Core)</a:t>
            </a:r>
          </a:p>
        </p:txBody>
      </p:sp>
      <p:cxnSp>
        <p:nvCxnSpPr>
          <p:cNvPr id="14" name="直接箭头连接符 13">
            <a:extLst>
              <a:ext uri="{FF2B5EF4-FFF2-40B4-BE49-F238E27FC236}">
                <a16:creationId xmlns:a16="http://schemas.microsoft.com/office/drawing/2014/main" id="{36AE6D97-68FB-E487-415E-32140E43142D}"/>
              </a:ext>
            </a:extLst>
          </p:cNvPr>
          <p:cNvCxnSpPr>
            <a:cxnSpLocks/>
            <a:stCxn id="8" idx="0"/>
          </p:cNvCxnSpPr>
          <p:nvPr/>
        </p:nvCxnSpPr>
        <p:spPr>
          <a:xfrm flipV="1">
            <a:off x="5600165" y="3253595"/>
            <a:ext cx="0" cy="312412"/>
          </a:xfrm>
          <a:prstGeom prst="straightConnector1">
            <a:avLst/>
          </a:prstGeom>
          <a:ln w="12700">
            <a:solidFill>
              <a:schemeClr val="tx1">
                <a:lumMod val="95000"/>
                <a:lumOff val="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AB4F67DC-214A-D641-9363-D9CF76547166}"/>
              </a:ext>
            </a:extLst>
          </p:cNvPr>
          <p:cNvCxnSpPr>
            <a:cxnSpLocks/>
            <a:stCxn id="10" idx="0"/>
          </p:cNvCxnSpPr>
          <p:nvPr/>
        </p:nvCxnSpPr>
        <p:spPr>
          <a:xfrm flipV="1">
            <a:off x="7114433" y="3250309"/>
            <a:ext cx="0" cy="315662"/>
          </a:xfrm>
          <a:prstGeom prst="straightConnector1">
            <a:avLst/>
          </a:prstGeom>
          <a:ln w="12700">
            <a:solidFill>
              <a:schemeClr val="tx1">
                <a:lumMod val="95000"/>
                <a:lumOff val="5000"/>
              </a:schemeClr>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9" name="s2-obj20">
            <a:extLst>
              <a:ext uri="{FF2B5EF4-FFF2-40B4-BE49-F238E27FC236}">
                <a16:creationId xmlns:a16="http://schemas.microsoft.com/office/drawing/2014/main" id="{3EF89145-9300-EADE-9A0A-3455F655C1B1}"/>
              </a:ext>
            </a:extLst>
          </p:cNvPr>
          <p:cNvSpPr>
            <a:spLocks noGrp="1"/>
          </p:cNvSpPr>
          <p:nvPr/>
        </p:nvSpPr>
        <p:spPr>
          <a:xfrm>
            <a:off x="5416047" y="4315054"/>
            <a:ext cx="1819778" cy="347688"/>
          </a:xfrm>
          <a:prstGeom prst="roundRect">
            <a:avLst>
              <a:gd name="adj" fmla="val 15686"/>
            </a:avLst>
          </a:prstGeom>
          <a:noFill/>
          <a:ln w="9525">
            <a:solidFill>
              <a:srgbClr val="002060"/>
            </a:solidFill>
          </a:ln>
        </p:spPr>
      </p:sp>
      <p:sp>
        <p:nvSpPr>
          <p:cNvPr id="20" name="s2-obj21">
            <a:extLst>
              <a:ext uri="{FF2B5EF4-FFF2-40B4-BE49-F238E27FC236}">
                <a16:creationId xmlns:a16="http://schemas.microsoft.com/office/drawing/2014/main" id="{1BF8A020-2EB4-9822-3F59-A326BBFF7F1C}"/>
              </a:ext>
            </a:extLst>
          </p:cNvPr>
          <p:cNvSpPr>
            <a:spLocks noGrp="1"/>
          </p:cNvSpPr>
          <p:nvPr/>
        </p:nvSpPr>
        <p:spPr>
          <a:xfrm>
            <a:off x="5416048" y="4304714"/>
            <a:ext cx="1819777" cy="358027"/>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TFU / </a:t>
            </a:r>
            <a:r>
              <a:rPr lang="zh-CN" alt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计算单元</a:t>
            </a:r>
          </a:p>
        </p:txBody>
      </p:sp>
      <p:cxnSp>
        <p:nvCxnSpPr>
          <p:cNvPr id="21" name="直接箭头连接符 20">
            <a:extLst>
              <a:ext uri="{FF2B5EF4-FFF2-40B4-BE49-F238E27FC236}">
                <a16:creationId xmlns:a16="http://schemas.microsoft.com/office/drawing/2014/main" id="{EE4F4B99-CDCB-62E4-2807-A40563BAB8F1}"/>
              </a:ext>
            </a:extLst>
          </p:cNvPr>
          <p:cNvCxnSpPr>
            <a:cxnSpLocks/>
          </p:cNvCxnSpPr>
          <p:nvPr/>
        </p:nvCxnSpPr>
        <p:spPr>
          <a:xfrm flipV="1">
            <a:off x="5600814" y="4002641"/>
            <a:ext cx="0" cy="312412"/>
          </a:xfrm>
          <a:prstGeom prst="straightConnector1">
            <a:avLst/>
          </a:prstGeom>
          <a:ln w="12700">
            <a:solidFill>
              <a:schemeClr val="tx1">
                <a:lumMod val="95000"/>
                <a:lumOff val="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B2B5F525-99CE-FAF0-4642-77BC6F14358A}"/>
              </a:ext>
            </a:extLst>
          </p:cNvPr>
          <p:cNvCxnSpPr>
            <a:cxnSpLocks/>
          </p:cNvCxnSpPr>
          <p:nvPr/>
        </p:nvCxnSpPr>
        <p:spPr>
          <a:xfrm flipV="1">
            <a:off x="7115082" y="3999355"/>
            <a:ext cx="0" cy="315662"/>
          </a:xfrm>
          <a:prstGeom prst="straightConnector1">
            <a:avLst/>
          </a:prstGeom>
          <a:ln w="12700">
            <a:solidFill>
              <a:schemeClr val="tx1">
                <a:lumMod val="95000"/>
                <a:lumOff val="5000"/>
              </a:schemeClr>
            </a:solidFill>
            <a:headEnd type="triangle"/>
            <a:tailEnd type="non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灯片编号占位符 26"/>
          <p:cNvSpPr>
            <a:spLocks noGrp="1"/>
          </p:cNvSpPr>
          <p:nvPr>
            <p:ph type="sldNum" sz="quarter" idx="12"/>
          </p:nvPr>
        </p:nvSpPr>
        <p:spPr/>
        <p:txBody>
          <a:bodyPr/>
          <a:lstStyle/>
          <a:p>
            <a:fld id="{03621AC1-4C4D-435F-BACF-B518BC126F02}" type="slidenum">
              <a:rPr lang="zh-CN" altLang="en-US" smtClean="0"/>
              <a:t>6</a:t>
            </a:fld>
            <a:endParaRPr lang="zh-CN" altLang="en-US"/>
          </a:p>
        </p:txBody>
      </p:sp>
      <p:sp>
        <p:nvSpPr>
          <p:cNvPr id="84" name="text_103_原始 Skill 已具备完整开发流程"/>
          <p:cNvSpPr>
            <a:spLocks noGrp="1"/>
          </p:cNvSpPr>
          <p:nvPr/>
        </p:nvSpPr>
        <p:spPr>
          <a:xfrm>
            <a:off x="602043" y="1210386"/>
            <a:ext cx="1737709"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lang="zh-CN" altLang="en-US" sz="2000" b="1" dirty="0">
                <a:solidFill>
                  <a:srgbClr val="000000"/>
                </a:solidFill>
                <a:latin typeface="+mn-ea"/>
                <a:cs typeface="Times New Roman" panose="02020603050405020304" pitchFamily="18" charset="0"/>
              </a:rPr>
              <a:t>算子优化方式</a:t>
            </a:r>
            <a:endParaRPr sz="2000" b="1" dirty="0">
              <a:solidFill>
                <a:srgbClr val="000000"/>
              </a:solidFill>
              <a:latin typeface="+mn-ea"/>
              <a:cs typeface="Times New Roman" panose="02020603050405020304" pitchFamily="18" charset="0"/>
            </a:endParaRPr>
          </a:p>
        </p:txBody>
      </p:sp>
      <p:sp>
        <p:nvSpPr>
          <p:cNvPr id="85"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33" name="标题 1">
            <a:extLst>
              <a:ext uri="{FF2B5EF4-FFF2-40B4-BE49-F238E27FC236}">
                <a16:creationId xmlns:a16="http://schemas.microsoft.com/office/drawing/2014/main" id="{B41CD613-0062-B166-B047-2EF0F1CE3106}"/>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2" name="矩形 1">
            <a:extLst>
              <a:ext uri="{FF2B5EF4-FFF2-40B4-BE49-F238E27FC236}">
                <a16:creationId xmlns:a16="http://schemas.microsoft.com/office/drawing/2014/main" id="{A642FBC4-5985-CD3A-FDD5-88BC9AD936B5}"/>
              </a:ext>
            </a:extLst>
          </p:cNvPr>
          <p:cNvSpPr/>
          <p:nvPr>
            <p:custDataLst>
              <p:tags r:id="rId1"/>
            </p:custDataLst>
          </p:nvPr>
        </p:nvSpPr>
        <p:spPr>
          <a:xfrm>
            <a:off x="179512" y="3270727"/>
            <a:ext cx="5616624" cy="3038593"/>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7" name="矩形 6">
            <a:extLst>
              <a:ext uri="{FF2B5EF4-FFF2-40B4-BE49-F238E27FC236}">
                <a16:creationId xmlns:a16="http://schemas.microsoft.com/office/drawing/2014/main" id="{3BC3DD22-14F9-B0B2-6396-E2DEC4BF3933}"/>
              </a:ext>
            </a:extLst>
          </p:cNvPr>
          <p:cNvSpPr/>
          <p:nvPr/>
        </p:nvSpPr>
        <p:spPr>
          <a:xfrm>
            <a:off x="1928091" y="3078158"/>
            <a:ext cx="1944514" cy="4070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tx1">
                    <a:lumMod val="75000"/>
                    <a:lumOff val="25000"/>
                  </a:schemeClr>
                </a:solidFill>
                <a:latin typeface="Times New Roman" panose="02020603050405020304" pitchFamily="18" charset="0"/>
                <a:ea typeface="微软雅黑" panose="020B0503020204020204" charset="-122"/>
                <a:cs typeface="Times New Roman" panose="02020603050405020304" pitchFamily="18" charset="0"/>
              </a:rPr>
              <a:t>例：二级缓存优化</a:t>
            </a:r>
          </a:p>
        </p:txBody>
      </p:sp>
      <p:sp>
        <p:nvSpPr>
          <p:cNvPr id="31" name="矩形 30">
            <a:extLst>
              <a:ext uri="{FF2B5EF4-FFF2-40B4-BE49-F238E27FC236}">
                <a16:creationId xmlns:a16="http://schemas.microsoft.com/office/drawing/2014/main" id="{CBE7B036-C860-7323-B545-B8B09143B83C}"/>
              </a:ext>
            </a:extLst>
          </p:cNvPr>
          <p:cNvSpPr/>
          <p:nvPr>
            <p:custDataLst>
              <p:tags r:id="rId2"/>
            </p:custDataLst>
          </p:nvPr>
        </p:nvSpPr>
        <p:spPr>
          <a:xfrm>
            <a:off x="5940152" y="2081725"/>
            <a:ext cx="2808312" cy="4227595"/>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34" name="矩形 33">
            <a:extLst>
              <a:ext uri="{FF2B5EF4-FFF2-40B4-BE49-F238E27FC236}">
                <a16:creationId xmlns:a16="http://schemas.microsoft.com/office/drawing/2014/main" id="{E0A4B5B7-DFC4-AA6E-6BBB-10AF086C4B1D}"/>
              </a:ext>
            </a:extLst>
          </p:cNvPr>
          <p:cNvSpPr/>
          <p:nvPr/>
        </p:nvSpPr>
        <p:spPr>
          <a:xfrm>
            <a:off x="6372051" y="1888027"/>
            <a:ext cx="1944514" cy="4070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tx1">
                    <a:lumMod val="75000"/>
                    <a:lumOff val="25000"/>
                  </a:schemeClr>
                </a:solidFill>
                <a:latin typeface="Times New Roman" panose="02020603050405020304" pitchFamily="18" charset="0"/>
                <a:ea typeface="微软雅黑" panose="020B0503020204020204" charset="-122"/>
                <a:cs typeface="Times New Roman" panose="02020603050405020304" pitchFamily="18" charset="0"/>
              </a:rPr>
              <a:t>其他优化方式</a:t>
            </a:r>
          </a:p>
        </p:txBody>
      </p:sp>
      <p:sp>
        <p:nvSpPr>
          <p:cNvPr id="35" name="s2-obj88">
            <a:extLst>
              <a:ext uri="{FF2B5EF4-FFF2-40B4-BE49-F238E27FC236}">
                <a16:creationId xmlns:a16="http://schemas.microsoft.com/office/drawing/2014/main" id="{9D656A7E-790C-2445-54B0-B7FB0F550E42}"/>
              </a:ext>
            </a:extLst>
          </p:cNvPr>
          <p:cNvSpPr>
            <a:spLocks noGrp="1"/>
          </p:cNvSpPr>
          <p:nvPr/>
        </p:nvSpPr>
        <p:spPr>
          <a:xfrm>
            <a:off x="395288" y="3515296"/>
            <a:ext cx="5200650" cy="2356886"/>
          </a:xfrm>
          <a:prstGeom prst="roundRect">
            <a:avLst>
              <a:gd name="adj" fmla="val 4520"/>
            </a:avLst>
          </a:prstGeom>
          <a:gradFill>
            <a:gsLst>
              <a:gs pos="0">
                <a:srgbClr val="F3F8FE"/>
              </a:gs>
              <a:gs pos="100000">
                <a:srgbClr val="FAFCFF"/>
              </a:gs>
            </a:gsLst>
            <a:lin ang="5400000"/>
          </a:gradFill>
          <a:ln w="0">
            <a:noFill/>
          </a:ln>
        </p:spPr>
      </p:sp>
      <p:sp>
        <p:nvSpPr>
          <p:cNvPr id="37" name="s2-obj91">
            <a:extLst>
              <a:ext uri="{FF2B5EF4-FFF2-40B4-BE49-F238E27FC236}">
                <a16:creationId xmlns:a16="http://schemas.microsoft.com/office/drawing/2014/main" id="{66B458E5-3E2E-B7FF-B7B0-1EC384870714}"/>
              </a:ext>
            </a:extLst>
          </p:cNvPr>
          <p:cNvSpPr>
            <a:spLocks noGrp="1"/>
          </p:cNvSpPr>
          <p:nvPr/>
        </p:nvSpPr>
        <p:spPr>
          <a:xfrm>
            <a:off x="549908" y="3661762"/>
            <a:ext cx="1357796" cy="314325"/>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p"/>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ST1: </a:t>
            </a:r>
            <a:r>
              <a:rPr sz="1400" b="1" dirty="0" err="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串行执行</a:t>
            </a:r>
            <a:endParaRPr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9" name="s2-obj92">
            <a:extLst>
              <a:ext uri="{FF2B5EF4-FFF2-40B4-BE49-F238E27FC236}">
                <a16:creationId xmlns:a16="http://schemas.microsoft.com/office/drawing/2014/main" id="{83CF50B0-BD47-A7D0-0BBB-24C8939635A6}"/>
              </a:ext>
            </a:extLst>
          </p:cNvPr>
          <p:cNvSpPr>
            <a:spLocks noGrp="1"/>
          </p:cNvSpPr>
          <p:nvPr/>
        </p:nvSpPr>
        <p:spPr>
          <a:xfrm>
            <a:off x="544826" y="4645256"/>
            <a:ext cx="1938942" cy="314325"/>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p"/>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sz="1400" b="1" dirty="0">
                <a:solidFill>
                  <a:schemeClr val="tx1">
                    <a:lumMod val="95000"/>
                    <a:lumOff val="5000"/>
                  </a:schemeClr>
                </a:solidFill>
                <a:latin typeface="Times New Roman" panose="02020603050405020304" pitchFamily="18" charset="0"/>
                <a:cs typeface="Times New Roman" panose="02020603050405020304" pitchFamily="18" charset="0"/>
              </a:rPr>
              <a:t>ST2: </a:t>
            </a:r>
            <a:r>
              <a:rPr sz="1400" b="1" dirty="0" err="1">
                <a:solidFill>
                  <a:schemeClr val="tx1">
                    <a:lumMod val="95000"/>
                    <a:lumOff val="5000"/>
                  </a:schemeClr>
                </a:solidFill>
                <a:latin typeface="Times New Roman" panose="02020603050405020304" pitchFamily="18" charset="0"/>
                <a:cs typeface="Times New Roman" panose="02020603050405020304" pitchFamily="18" charset="0"/>
              </a:rPr>
              <a:t>双缓冲（重叠</a:t>
            </a:r>
            <a:r>
              <a:rPr sz="1400" b="1" dirty="0">
                <a:solidFill>
                  <a:schemeClr val="tx1">
                    <a:lumMod val="95000"/>
                    <a:lumOff val="5000"/>
                  </a:schemeClr>
                </a:solidFill>
                <a:latin typeface="Times New Roman" panose="02020603050405020304" pitchFamily="18" charset="0"/>
                <a:cs typeface="Times New Roman" panose="02020603050405020304" pitchFamily="18" charset="0"/>
              </a:rPr>
              <a:t>）</a:t>
            </a:r>
          </a:p>
        </p:txBody>
      </p:sp>
      <p:sp>
        <p:nvSpPr>
          <p:cNvPr id="40" name="s2-obj93">
            <a:extLst>
              <a:ext uri="{FF2B5EF4-FFF2-40B4-BE49-F238E27FC236}">
                <a16:creationId xmlns:a16="http://schemas.microsoft.com/office/drawing/2014/main" id="{7B69BC3B-BD0F-D0C6-2E93-19B9574B0753}"/>
              </a:ext>
            </a:extLst>
          </p:cNvPr>
          <p:cNvSpPr>
            <a:spLocks noGrp="1"/>
          </p:cNvSpPr>
          <p:nvPr/>
        </p:nvSpPr>
        <p:spPr>
          <a:xfrm>
            <a:off x="1236860" y="4069459"/>
            <a:ext cx="958627" cy="276225"/>
          </a:xfrm>
          <a:prstGeom prst="roundRect">
            <a:avLst>
              <a:gd name="adj" fmla="val 27586"/>
            </a:avLst>
          </a:prstGeom>
          <a:solidFill>
            <a:schemeClr val="accent1">
              <a:lumMod val="60000"/>
              <a:lumOff val="40000"/>
            </a:schemeClr>
          </a:solidFill>
          <a:ln w="0">
            <a:noFill/>
          </a:ln>
        </p:spPr>
      </p:sp>
      <p:sp>
        <p:nvSpPr>
          <p:cNvPr id="41" name="s2-obj94">
            <a:extLst>
              <a:ext uri="{FF2B5EF4-FFF2-40B4-BE49-F238E27FC236}">
                <a16:creationId xmlns:a16="http://schemas.microsoft.com/office/drawing/2014/main" id="{377BAAD5-5699-94BC-810B-08999170F030}"/>
              </a:ext>
            </a:extLst>
          </p:cNvPr>
          <p:cNvSpPr>
            <a:spLocks noGrp="1"/>
          </p:cNvSpPr>
          <p:nvPr/>
        </p:nvSpPr>
        <p:spPr>
          <a:xfrm>
            <a:off x="1284354" y="4098034"/>
            <a:ext cx="834933" cy="219075"/>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Load</a:t>
            </a:r>
          </a:p>
        </p:txBody>
      </p:sp>
      <p:sp>
        <p:nvSpPr>
          <p:cNvPr id="42" name="s2-obj95">
            <a:extLst>
              <a:ext uri="{FF2B5EF4-FFF2-40B4-BE49-F238E27FC236}">
                <a16:creationId xmlns:a16="http://schemas.microsoft.com/office/drawing/2014/main" id="{AF36AA0B-15B4-EA37-C4F6-60CDBF4734C1}"/>
              </a:ext>
            </a:extLst>
          </p:cNvPr>
          <p:cNvSpPr>
            <a:spLocks noGrp="1"/>
          </p:cNvSpPr>
          <p:nvPr/>
        </p:nvSpPr>
        <p:spPr>
          <a:xfrm>
            <a:off x="2195487" y="4069459"/>
            <a:ext cx="958627" cy="276225"/>
          </a:xfrm>
          <a:prstGeom prst="roundRect">
            <a:avLst>
              <a:gd name="adj" fmla="val 27586"/>
            </a:avLst>
          </a:prstGeom>
          <a:solidFill>
            <a:schemeClr val="accent3">
              <a:lumMod val="40000"/>
              <a:lumOff val="60000"/>
            </a:schemeClr>
          </a:solidFill>
          <a:ln w="0">
            <a:noFill/>
          </a:ln>
        </p:spPr>
      </p:sp>
      <p:sp>
        <p:nvSpPr>
          <p:cNvPr id="43" name="s2-obj96">
            <a:extLst>
              <a:ext uri="{FF2B5EF4-FFF2-40B4-BE49-F238E27FC236}">
                <a16:creationId xmlns:a16="http://schemas.microsoft.com/office/drawing/2014/main" id="{976772CD-577A-EE99-3881-5916B3B8C2C3}"/>
              </a:ext>
            </a:extLst>
          </p:cNvPr>
          <p:cNvSpPr>
            <a:spLocks noGrp="1"/>
          </p:cNvSpPr>
          <p:nvPr/>
        </p:nvSpPr>
        <p:spPr>
          <a:xfrm>
            <a:off x="2242981" y="4098034"/>
            <a:ext cx="834933" cy="219075"/>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Compute</a:t>
            </a:r>
          </a:p>
        </p:txBody>
      </p:sp>
      <p:sp>
        <p:nvSpPr>
          <p:cNvPr id="44" name="s2-obj97">
            <a:extLst>
              <a:ext uri="{FF2B5EF4-FFF2-40B4-BE49-F238E27FC236}">
                <a16:creationId xmlns:a16="http://schemas.microsoft.com/office/drawing/2014/main" id="{625478D2-A0B7-88D5-53A6-FB902049E1DD}"/>
              </a:ext>
            </a:extLst>
          </p:cNvPr>
          <p:cNvSpPr>
            <a:spLocks noGrp="1"/>
          </p:cNvSpPr>
          <p:nvPr/>
        </p:nvSpPr>
        <p:spPr>
          <a:xfrm>
            <a:off x="3141513" y="4069459"/>
            <a:ext cx="958627" cy="276225"/>
          </a:xfrm>
          <a:prstGeom prst="roundRect">
            <a:avLst>
              <a:gd name="adj" fmla="val 27586"/>
            </a:avLst>
          </a:prstGeom>
          <a:solidFill>
            <a:schemeClr val="accent1">
              <a:lumMod val="60000"/>
              <a:lumOff val="40000"/>
            </a:schemeClr>
          </a:solidFill>
          <a:ln w="0">
            <a:noFill/>
          </a:ln>
        </p:spPr>
      </p:sp>
      <p:sp>
        <p:nvSpPr>
          <p:cNvPr id="45" name="s2-obj98">
            <a:extLst>
              <a:ext uri="{FF2B5EF4-FFF2-40B4-BE49-F238E27FC236}">
                <a16:creationId xmlns:a16="http://schemas.microsoft.com/office/drawing/2014/main" id="{340F64E8-7F74-C390-5253-52B882F933DF}"/>
              </a:ext>
            </a:extLst>
          </p:cNvPr>
          <p:cNvSpPr>
            <a:spLocks noGrp="1"/>
          </p:cNvSpPr>
          <p:nvPr/>
        </p:nvSpPr>
        <p:spPr>
          <a:xfrm>
            <a:off x="3189007" y="4098034"/>
            <a:ext cx="834933" cy="219075"/>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Load</a:t>
            </a:r>
          </a:p>
        </p:txBody>
      </p:sp>
      <p:sp>
        <p:nvSpPr>
          <p:cNvPr id="52" name="s2-obj99">
            <a:extLst>
              <a:ext uri="{FF2B5EF4-FFF2-40B4-BE49-F238E27FC236}">
                <a16:creationId xmlns:a16="http://schemas.microsoft.com/office/drawing/2014/main" id="{0D3A35AE-32C8-CA7C-89D6-CE943FDEDA6F}"/>
              </a:ext>
            </a:extLst>
          </p:cNvPr>
          <p:cNvSpPr>
            <a:spLocks noGrp="1"/>
          </p:cNvSpPr>
          <p:nvPr/>
        </p:nvSpPr>
        <p:spPr>
          <a:xfrm>
            <a:off x="4091657" y="4069459"/>
            <a:ext cx="958627" cy="276225"/>
          </a:xfrm>
          <a:prstGeom prst="roundRect">
            <a:avLst>
              <a:gd name="adj" fmla="val 27586"/>
            </a:avLst>
          </a:prstGeom>
          <a:solidFill>
            <a:schemeClr val="accent3">
              <a:lumMod val="40000"/>
              <a:lumOff val="60000"/>
            </a:schemeClr>
          </a:solidFill>
          <a:ln w="0">
            <a:noFill/>
          </a:ln>
        </p:spPr>
      </p:sp>
      <p:sp>
        <p:nvSpPr>
          <p:cNvPr id="53" name="s2-obj100">
            <a:extLst>
              <a:ext uri="{FF2B5EF4-FFF2-40B4-BE49-F238E27FC236}">
                <a16:creationId xmlns:a16="http://schemas.microsoft.com/office/drawing/2014/main" id="{D6A78F79-BC24-E29A-3EB5-4D0ECD140AE3}"/>
              </a:ext>
            </a:extLst>
          </p:cNvPr>
          <p:cNvSpPr>
            <a:spLocks noGrp="1"/>
          </p:cNvSpPr>
          <p:nvPr/>
        </p:nvSpPr>
        <p:spPr>
          <a:xfrm>
            <a:off x="4139151" y="4098034"/>
            <a:ext cx="834933" cy="219075"/>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Compute</a:t>
            </a:r>
          </a:p>
        </p:txBody>
      </p:sp>
      <p:sp>
        <p:nvSpPr>
          <p:cNvPr id="63" name="s2-obj104">
            <a:extLst>
              <a:ext uri="{FF2B5EF4-FFF2-40B4-BE49-F238E27FC236}">
                <a16:creationId xmlns:a16="http://schemas.microsoft.com/office/drawing/2014/main" id="{133502BC-3318-25B7-B327-1D6754DCC872}"/>
              </a:ext>
            </a:extLst>
          </p:cNvPr>
          <p:cNvSpPr>
            <a:spLocks noGrp="1"/>
          </p:cNvSpPr>
          <p:nvPr/>
        </p:nvSpPr>
        <p:spPr>
          <a:xfrm>
            <a:off x="1239688" y="5053551"/>
            <a:ext cx="957600" cy="266700"/>
          </a:xfrm>
          <a:prstGeom prst="roundRect">
            <a:avLst>
              <a:gd name="adj" fmla="val 28571"/>
            </a:avLst>
          </a:prstGeom>
          <a:solidFill>
            <a:schemeClr val="accent1">
              <a:lumMod val="60000"/>
              <a:lumOff val="40000"/>
            </a:schemeClr>
          </a:solidFill>
          <a:ln w="0">
            <a:noFill/>
          </a:ln>
        </p:spPr>
      </p:sp>
      <p:sp>
        <p:nvSpPr>
          <p:cNvPr id="66" name="s2-obj105">
            <a:extLst>
              <a:ext uri="{FF2B5EF4-FFF2-40B4-BE49-F238E27FC236}">
                <a16:creationId xmlns:a16="http://schemas.microsoft.com/office/drawing/2014/main" id="{0BDC2B9F-DB4A-5D92-E789-1E7410D40839}"/>
              </a:ext>
            </a:extLst>
          </p:cNvPr>
          <p:cNvSpPr>
            <a:spLocks noGrp="1"/>
          </p:cNvSpPr>
          <p:nvPr/>
        </p:nvSpPr>
        <p:spPr>
          <a:xfrm>
            <a:off x="1278451" y="5082126"/>
            <a:ext cx="955632" cy="209550"/>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Load 0</a:t>
            </a:r>
          </a:p>
        </p:txBody>
      </p:sp>
      <p:sp>
        <p:nvSpPr>
          <p:cNvPr id="69" name="s2-obj108">
            <a:extLst>
              <a:ext uri="{FF2B5EF4-FFF2-40B4-BE49-F238E27FC236}">
                <a16:creationId xmlns:a16="http://schemas.microsoft.com/office/drawing/2014/main" id="{F7724CE9-21BD-C562-835C-C67ACE3C0FC7}"/>
              </a:ext>
            </a:extLst>
          </p:cNvPr>
          <p:cNvSpPr>
            <a:spLocks noGrp="1"/>
          </p:cNvSpPr>
          <p:nvPr/>
        </p:nvSpPr>
        <p:spPr>
          <a:xfrm>
            <a:off x="2204217" y="5317407"/>
            <a:ext cx="957600" cy="266700"/>
          </a:xfrm>
          <a:prstGeom prst="roundRect">
            <a:avLst>
              <a:gd name="adj" fmla="val 28571"/>
            </a:avLst>
          </a:prstGeom>
          <a:solidFill>
            <a:schemeClr val="accent1">
              <a:lumMod val="60000"/>
              <a:lumOff val="40000"/>
            </a:schemeClr>
          </a:solidFill>
          <a:ln w="0">
            <a:noFill/>
          </a:ln>
        </p:spPr>
      </p:sp>
      <p:sp>
        <p:nvSpPr>
          <p:cNvPr id="70" name="s2-obj109">
            <a:extLst>
              <a:ext uri="{FF2B5EF4-FFF2-40B4-BE49-F238E27FC236}">
                <a16:creationId xmlns:a16="http://schemas.microsoft.com/office/drawing/2014/main" id="{D16788B6-322C-AEFC-D69F-6F407507C924}"/>
              </a:ext>
            </a:extLst>
          </p:cNvPr>
          <p:cNvSpPr>
            <a:spLocks noGrp="1"/>
          </p:cNvSpPr>
          <p:nvPr/>
        </p:nvSpPr>
        <p:spPr>
          <a:xfrm>
            <a:off x="2242981" y="5345982"/>
            <a:ext cx="905335" cy="209550"/>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Load 1</a:t>
            </a:r>
          </a:p>
        </p:txBody>
      </p:sp>
      <p:sp>
        <p:nvSpPr>
          <p:cNvPr id="71" name="s2-obj110">
            <a:extLst>
              <a:ext uri="{FF2B5EF4-FFF2-40B4-BE49-F238E27FC236}">
                <a16:creationId xmlns:a16="http://schemas.microsoft.com/office/drawing/2014/main" id="{7F516D7B-E113-9657-1ABB-E15A0F0CB5E1}"/>
              </a:ext>
            </a:extLst>
          </p:cNvPr>
          <p:cNvSpPr>
            <a:spLocks noGrp="1"/>
          </p:cNvSpPr>
          <p:nvPr/>
        </p:nvSpPr>
        <p:spPr>
          <a:xfrm>
            <a:off x="3565307" y="5322540"/>
            <a:ext cx="1373151" cy="266700"/>
          </a:xfrm>
          <a:prstGeom prst="roundRect">
            <a:avLst>
              <a:gd name="adj" fmla="val 28571"/>
            </a:avLst>
          </a:prstGeom>
          <a:solidFill>
            <a:schemeClr val="accent3">
              <a:lumMod val="40000"/>
              <a:lumOff val="60000"/>
            </a:schemeClr>
          </a:solidFill>
          <a:ln w="0">
            <a:noFill/>
          </a:ln>
        </p:spPr>
      </p:sp>
      <p:sp>
        <p:nvSpPr>
          <p:cNvPr id="72" name="s2-obj111">
            <a:extLst>
              <a:ext uri="{FF2B5EF4-FFF2-40B4-BE49-F238E27FC236}">
                <a16:creationId xmlns:a16="http://schemas.microsoft.com/office/drawing/2014/main" id="{BCB4F41D-E2B7-127B-35E3-DFBA5404E2E0}"/>
              </a:ext>
            </a:extLst>
          </p:cNvPr>
          <p:cNvSpPr>
            <a:spLocks noGrp="1"/>
          </p:cNvSpPr>
          <p:nvPr/>
        </p:nvSpPr>
        <p:spPr>
          <a:xfrm>
            <a:off x="3565309" y="5343906"/>
            <a:ext cx="1373150" cy="209550"/>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Compute 1</a:t>
            </a:r>
          </a:p>
        </p:txBody>
      </p:sp>
      <p:sp>
        <p:nvSpPr>
          <p:cNvPr id="73" name="s2-obj108">
            <a:extLst>
              <a:ext uri="{FF2B5EF4-FFF2-40B4-BE49-F238E27FC236}">
                <a16:creationId xmlns:a16="http://schemas.microsoft.com/office/drawing/2014/main" id="{433318DB-F650-49D0-2224-A787A5B43DA1}"/>
              </a:ext>
            </a:extLst>
          </p:cNvPr>
          <p:cNvSpPr>
            <a:spLocks noGrp="1"/>
          </p:cNvSpPr>
          <p:nvPr/>
        </p:nvSpPr>
        <p:spPr>
          <a:xfrm>
            <a:off x="3565977" y="5055474"/>
            <a:ext cx="957600" cy="266700"/>
          </a:xfrm>
          <a:prstGeom prst="roundRect">
            <a:avLst>
              <a:gd name="adj" fmla="val 28571"/>
            </a:avLst>
          </a:prstGeom>
          <a:solidFill>
            <a:schemeClr val="accent1">
              <a:lumMod val="60000"/>
              <a:lumOff val="40000"/>
            </a:schemeClr>
          </a:solidFill>
          <a:ln w="0">
            <a:noFill/>
          </a:ln>
        </p:spPr>
      </p:sp>
      <p:sp>
        <p:nvSpPr>
          <p:cNvPr id="74" name="s2-obj109">
            <a:extLst>
              <a:ext uri="{FF2B5EF4-FFF2-40B4-BE49-F238E27FC236}">
                <a16:creationId xmlns:a16="http://schemas.microsoft.com/office/drawing/2014/main" id="{54EEC8A1-913D-B8E1-7C8D-22BFCAC16C36}"/>
              </a:ext>
            </a:extLst>
          </p:cNvPr>
          <p:cNvSpPr>
            <a:spLocks noGrp="1"/>
          </p:cNvSpPr>
          <p:nvPr/>
        </p:nvSpPr>
        <p:spPr>
          <a:xfrm>
            <a:off x="3604741" y="5084049"/>
            <a:ext cx="905335" cy="209550"/>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Load </a:t>
            </a:r>
            <a:r>
              <a:rPr lang="en-US" sz="1200" b="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0</a:t>
            </a:r>
          </a:p>
        </p:txBody>
      </p:sp>
      <p:sp>
        <p:nvSpPr>
          <p:cNvPr id="75" name="s2-obj110">
            <a:extLst>
              <a:ext uri="{FF2B5EF4-FFF2-40B4-BE49-F238E27FC236}">
                <a16:creationId xmlns:a16="http://schemas.microsoft.com/office/drawing/2014/main" id="{234D2E64-6EB2-6FC6-FBA7-FC124919A69C}"/>
              </a:ext>
            </a:extLst>
          </p:cNvPr>
          <p:cNvSpPr>
            <a:spLocks noGrp="1"/>
          </p:cNvSpPr>
          <p:nvPr/>
        </p:nvSpPr>
        <p:spPr>
          <a:xfrm>
            <a:off x="2197288" y="5052921"/>
            <a:ext cx="1373151" cy="266700"/>
          </a:xfrm>
          <a:prstGeom prst="roundRect">
            <a:avLst>
              <a:gd name="adj" fmla="val 28571"/>
            </a:avLst>
          </a:prstGeom>
          <a:solidFill>
            <a:schemeClr val="accent3">
              <a:lumMod val="40000"/>
              <a:lumOff val="60000"/>
            </a:schemeClr>
          </a:solidFill>
          <a:ln w="0">
            <a:noFill/>
          </a:ln>
        </p:spPr>
      </p:sp>
      <p:sp>
        <p:nvSpPr>
          <p:cNvPr id="76" name="s2-obj111">
            <a:extLst>
              <a:ext uri="{FF2B5EF4-FFF2-40B4-BE49-F238E27FC236}">
                <a16:creationId xmlns:a16="http://schemas.microsoft.com/office/drawing/2014/main" id="{13621C31-2D02-1FD7-694A-78D8B0FEE76F}"/>
              </a:ext>
            </a:extLst>
          </p:cNvPr>
          <p:cNvSpPr>
            <a:spLocks noGrp="1"/>
          </p:cNvSpPr>
          <p:nvPr/>
        </p:nvSpPr>
        <p:spPr>
          <a:xfrm>
            <a:off x="2197290" y="5074287"/>
            <a:ext cx="1373150" cy="209550"/>
          </a:xfrm>
          <a:prstGeom prst="rect">
            <a:avLst/>
          </a:prstGeom>
          <a:noFill/>
          <a:ln w="0">
            <a:noFill/>
          </a:ln>
        </p:spPr>
        <p:txBody>
          <a:bodyPr wrap="none" lIns="0" tIns="0" rIns="0" bIns="0" anchor="ctr">
            <a:noAutofit/>
          </a:bodyPr>
          <a:lstStyle/>
          <a:p>
            <a:pPr algn="ctr">
              <a:defRPr sz="1200"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Compute 1</a:t>
            </a:r>
          </a:p>
        </p:txBody>
      </p:sp>
      <p:sp>
        <p:nvSpPr>
          <p:cNvPr id="79" name="文本框 78">
            <a:extLst>
              <a:ext uri="{FF2B5EF4-FFF2-40B4-BE49-F238E27FC236}">
                <a16:creationId xmlns:a16="http://schemas.microsoft.com/office/drawing/2014/main" id="{47C593BF-DF3F-973D-8B84-4E32FEB8F3AD}"/>
              </a:ext>
            </a:extLst>
          </p:cNvPr>
          <p:cNvSpPr txBox="1"/>
          <p:nvPr/>
        </p:nvSpPr>
        <p:spPr>
          <a:xfrm>
            <a:off x="731816" y="2259334"/>
            <a:ext cx="4800154" cy="738664"/>
          </a:xfrm>
          <a:prstGeom prst="rect">
            <a:avLst/>
          </a:prstGeom>
          <a:noFill/>
        </p:spPr>
        <p:txBody>
          <a:bodyPr wrap="square" rtlCol="0">
            <a:spAutoFit/>
          </a:bodyPr>
          <a:lstStyle/>
          <a:p>
            <a:pPr>
              <a:lnSpc>
                <a:spcPct val="150000"/>
              </a:lnSpc>
            </a:pPr>
            <a:r>
              <a:rPr lang="zh-CN" altLang="en-US" sz="1400" dirty="0"/>
              <a:t>根据硬件</a:t>
            </a:r>
            <a:r>
              <a:rPr lang="zh-CN" altLang="en-US" sz="1400" dirty="0" smtClean="0"/>
              <a:t>性能</a:t>
            </a:r>
            <a:r>
              <a:rPr lang="zh-CN" altLang="en-US" sz="1400" dirty="0"/>
              <a:t>数据</a:t>
            </a:r>
            <a:r>
              <a:rPr lang="zh-CN" altLang="en-US" sz="1400" dirty="0" smtClean="0"/>
              <a:t>与</a:t>
            </a:r>
            <a:r>
              <a:rPr lang="zh-CN" altLang="en-US" sz="1400" dirty="0"/>
              <a:t>算子的实际性能对比分析算子是访存瓶颈还是计算</a:t>
            </a:r>
            <a:r>
              <a:rPr lang="zh-CN" altLang="en-US" sz="1400" dirty="0" smtClean="0"/>
              <a:t>瓶颈，然后</a:t>
            </a:r>
            <a:r>
              <a:rPr lang="zh-CN" altLang="en-US" sz="1400" dirty="0"/>
              <a:t>选择</a:t>
            </a:r>
            <a:r>
              <a:rPr lang="zh-CN" altLang="en-US" sz="1400" dirty="0" smtClean="0"/>
              <a:t>优化方式。</a:t>
            </a:r>
            <a:endParaRPr lang="zh-CN" altLang="en-US" sz="1400" dirty="0"/>
          </a:p>
        </p:txBody>
      </p:sp>
      <p:sp>
        <p:nvSpPr>
          <p:cNvPr id="94" name="s2-obj21">
            <a:extLst>
              <a:ext uri="{FF2B5EF4-FFF2-40B4-BE49-F238E27FC236}">
                <a16:creationId xmlns:a16="http://schemas.microsoft.com/office/drawing/2014/main" id="{D7DEEB7E-7EEF-73CF-0F24-537138F1EFC3}"/>
              </a:ext>
            </a:extLst>
          </p:cNvPr>
          <p:cNvSpPr>
            <a:spLocks noGrp="1"/>
          </p:cNvSpPr>
          <p:nvPr/>
        </p:nvSpPr>
        <p:spPr>
          <a:xfrm>
            <a:off x="6525652" y="2818673"/>
            <a:ext cx="1643944" cy="452054"/>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T</a:t>
            </a:r>
            <a:r>
              <a:rPr lang="en-US" altLang="zh-CN"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iling</a:t>
            </a:r>
            <a:endParaRPr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分块策略</a:t>
            </a:r>
            <a:endParaRPr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95" name="s2-obj20">
            <a:extLst>
              <a:ext uri="{FF2B5EF4-FFF2-40B4-BE49-F238E27FC236}">
                <a16:creationId xmlns:a16="http://schemas.microsoft.com/office/drawing/2014/main" id="{1BC0A7F9-DC94-7F22-1487-242EA4730A18}"/>
              </a:ext>
            </a:extLst>
          </p:cNvPr>
          <p:cNvSpPr>
            <a:spLocks noGrp="1"/>
          </p:cNvSpPr>
          <p:nvPr/>
        </p:nvSpPr>
        <p:spPr>
          <a:xfrm>
            <a:off x="6529686" y="2818672"/>
            <a:ext cx="1639909" cy="475483"/>
          </a:xfrm>
          <a:prstGeom prst="roundRect">
            <a:avLst>
              <a:gd name="adj" fmla="val 8248"/>
            </a:avLst>
          </a:prstGeom>
          <a:noFill/>
          <a:ln w="9525">
            <a:solidFill>
              <a:srgbClr val="002060"/>
            </a:solidFill>
          </a:ln>
        </p:spPr>
      </p:sp>
      <p:sp>
        <p:nvSpPr>
          <p:cNvPr id="96" name="s2-obj21">
            <a:extLst>
              <a:ext uri="{FF2B5EF4-FFF2-40B4-BE49-F238E27FC236}">
                <a16:creationId xmlns:a16="http://schemas.microsoft.com/office/drawing/2014/main" id="{B723BEAF-9FCF-AC3A-6555-6E843B65529B}"/>
              </a:ext>
            </a:extLst>
          </p:cNvPr>
          <p:cNvSpPr>
            <a:spLocks noGrp="1"/>
          </p:cNvSpPr>
          <p:nvPr/>
        </p:nvSpPr>
        <p:spPr>
          <a:xfrm>
            <a:off x="6521460" y="3610314"/>
            <a:ext cx="1643944" cy="452054"/>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Reduction</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归约优化</a:t>
            </a:r>
          </a:p>
        </p:txBody>
      </p:sp>
      <p:sp>
        <p:nvSpPr>
          <p:cNvPr id="97" name="s2-obj20">
            <a:extLst>
              <a:ext uri="{FF2B5EF4-FFF2-40B4-BE49-F238E27FC236}">
                <a16:creationId xmlns:a16="http://schemas.microsoft.com/office/drawing/2014/main" id="{20EB6085-8BEF-A29B-005B-3C1F391B09D4}"/>
              </a:ext>
            </a:extLst>
          </p:cNvPr>
          <p:cNvSpPr>
            <a:spLocks noGrp="1"/>
          </p:cNvSpPr>
          <p:nvPr/>
        </p:nvSpPr>
        <p:spPr>
          <a:xfrm>
            <a:off x="6525494" y="3610313"/>
            <a:ext cx="1639909" cy="475483"/>
          </a:xfrm>
          <a:prstGeom prst="roundRect">
            <a:avLst>
              <a:gd name="adj" fmla="val 8248"/>
            </a:avLst>
          </a:prstGeom>
          <a:noFill/>
          <a:ln w="9525">
            <a:solidFill>
              <a:srgbClr val="002060"/>
            </a:solidFill>
          </a:ln>
        </p:spPr>
      </p:sp>
      <p:sp>
        <p:nvSpPr>
          <p:cNvPr id="98" name="s2-obj21">
            <a:extLst>
              <a:ext uri="{FF2B5EF4-FFF2-40B4-BE49-F238E27FC236}">
                <a16:creationId xmlns:a16="http://schemas.microsoft.com/office/drawing/2014/main" id="{5E0EE420-9D28-255A-B793-6443DB6E5E22}"/>
              </a:ext>
            </a:extLst>
          </p:cNvPr>
          <p:cNvSpPr>
            <a:spLocks noGrp="1"/>
          </p:cNvSpPr>
          <p:nvPr/>
        </p:nvSpPr>
        <p:spPr>
          <a:xfrm>
            <a:off x="6516416" y="4401955"/>
            <a:ext cx="1643944" cy="452054"/>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Grid</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并行策略</a:t>
            </a:r>
          </a:p>
        </p:txBody>
      </p:sp>
      <p:sp>
        <p:nvSpPr>
          <p:cNvPr id="99" name="s2-obj20">
            <a:extLst>
              <a:ext uri="{FF2B5EF4-FFF2-40B4-BE49-F238E27FC236}">
                <a16:creationId xmlns:a16="http://schemas.microsoft.com/office/drawing/2014/main" id="{8A82912A-E603-C49A-DE1D-AE2AA0040420}"/>
              </a:ext>
            </a:extLst>
          </p:cNvPr>
          <p:cNvSpPr>
            <a:spLocks noGrp="1"/>
          </p:cNvSpPr>
          <p:nvPr/>
        </p:nvSpPr>
        <p:spPr>
          <a:xfrm>
            <a:off x="6520450" y="4401954"/>
            <a:ext cx="1639909" cy="475483"/>
          </a:xfrm>
          <a:prstGeom prst="roundRect">
            <a:avLst>
              <a:gd name="adj" fmla="val 8248"/>
            </a:avLst>
          </a:prstGeom>
          <a:noFill/>
          <a:ln w="9525">
            <a:solidFill>
              <a:srgbClr val="002060"/>
            </a:solidFill>
          </a:ln>
        </p:spPr>
      </p:sp>
      <p:sp>
        <p:nvSpPr>
          <p:cNvPr id="100" name="s2-obj21">
            <a:extLst>
              <a:ext uri="{FF2B5EF4-FFF2-40B4-BE49-F238E27FC236}">
                <a16:creationId xmlns:a16="http://schemas.microsoft.com/office/drawing/2014/main" id="{A2058F22-87CD-917D-CA3C-BCC8BBB79D3F}"/>
              </a:ext>
            </a:extLst>
          </p:cNvPr>
          <p:cNvSpPr>
            <a:spLocks noGrp="1"/>
          </p:cNvSpPr>
          <p:nvPr/>
        </p:nvSpPr>
        <p:spPr>
          <a:xfrm>
            <a:off x="6512382" y="5217025"/>
            <a:ext cx="1643944" cy="452054"/>
          </a:xfrm>
          <a:prstGeom prst="rect">
            <a:avLst/>
          </a:prstGeom>
          <a:noFill/>
          <a:ln w="0">
            <a:noFill/>
          </a:ln>
        </p:spPr>
        <p:txBody>
          <a:bodyPr wrap="none" lIns="0" tIns="0" rIns="0" bIns="0" anchor="ctr">
            <a:noAutofit/>
          </a:bodyPr>
          <a:lstStyle/>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Roofline</a:t>
            </a:r>
          </a:p>
          <a:p>
            <a:pPr algn="ctr">
              <a:defRPr sz="1385" b="1">
                <a:solidFill>
                  <a:srgbClr val="102545"/>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分析瓶颈</a:t>
            </a:r>
          </a:p>
        </p:txBody>
      </p:sp>
      <p:sp>
        <p:nvSpPr>
          <p:cNvPr id="101" name="s2-obj20">
            <a:extLst>
              <a:ext uri="{FF2B5EF4-FFF2-40B4-BE49-F238E27FC236}">
                <a16:creationId xmlns:a16="http://schemas.microsoft.com/office/drawing/2014/main" id="{96AC6EF8-B50C-C086-3B6F-2BD915FF36D7}"/>
              </a:ext>
            </a:extLst>
          </p:cNvPr>
          <p:cNvSpPr>
            <a:spLocks noGrp="1"/>
          </p:cNvSpPr>
          <p:nvPr/>
        </p:nvSpPr>
        <p:spPr>
          <a:xfrm>
            <a:off x="6516416" y="5217024"/>
            <a:ext cx="1639909" cy="475483"/>
          </a:xfrm>
          <a:prstGeom prst="roundRect">
            <a:avLst>
              <a:gd name="adj" fmla="val 8248"/>
            </a:avLst>
          </a:prstGeom>
          <a:noFill/>
          <a:ln w="9525">
            <a:solidFill>
              <a:srgbClr val="002060"/>
            </a:solidFill>
          </a:ln>
        </p:spPr>
      </p:sp>
      <p:sp>
        <p:nvSpPr>
          <p:cNvPr id="46" name="矩形 45"/>
          <p:cNvSpPr/>
          <p:nvPr/>
        </p:nvSpPr>
        <p:spPr>
          <a:xfrm>
            <a:off x="535263" y="1799789"/>
            <a:ext cx="1293944"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dirty="0" smtClean="0">
                <a:solidFill>
                  <a:schemeClr val="tx1">
                    <a:lumMod val="95000"/>
                    <a:lumOff val="5000"/>
                  </a:schemeClr>
                </a:solidFill>
                <a:latin typeface="Times New Roman" panose="02020603050405020304" pitchFamily="18" charset="0"/>
                <a:cs typeface="Times New Roman" panose="02020603050405020304" pitchFamily="18" charset="0"/>
              </a:rPr>
              <a:t>判断瓶颈</a:t>
            </a:r>
            <a:endParaRPr lang="zh-CN" altLang="en-US" sz="16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60407741"/>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灯片编号占位符 26"/>
          <p:cNvSpPr>
            <a:spLocks noGrp="1"/>
          </p:cNvSpPr>
          <p:nvPr>
            <p:ph type="sldNum" sz="quarter" idx="12"/>
          </p:nvPr>
        </p:nvSpPr>
        <p:spPr/>
        <p:txBody>
          <a:bodyPr/>
          <a:lstStyle/>
          <a:p>
            <a:fld id="{03621AC1-4C4D-435F-BACF-B518BC126F02}" type="slidenum">
              <a:rPr lang="zh-CN" altLang="en-US" smtClean="0"/>
              <a:t>7</a:t>
            </a:fld>
            <a:endParaRPr lang="zh-CN" altLang="en-US"/>
          </a:p>
        </p:txBody>
      </p:sp>
      <p:sp>
        <p:nvSpPr>
          <p:cNvPr id="84"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lang="zh-CN" altLang="en-US" sz="2000" b="1"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算子优化</a:t>
            </a:r>
            <a:endParaRPr sz="2000" b="1"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85"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6" name="标题 1">
            <a:extLst>
              <a:ext uri="{FF2B5EF4-FFF2-40B4-BE49-F238E27FC236}">
                <a16:creationId xmlns:a16="http://schemas.microsoft.com/office/drawing/2014/main" id="{D8201DD8-CE54-88EE-E104-2F4E7178416C}"/>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2" name="矩形 1">
            <a:extLst>
              <a:ext uri="{FF2B5EF4-FFF2-40B4-BE49-F238E27FC236}">
                <a16:creationId xmlns:a16="http://schemas.microsoft.com/office/drawing/2014/main" id="{19760C3B-8B46-42F3-C0AF-18821FC376C2}"/>
              </a:ext>
            </a:extLst>
          </p:cNvPr>
          <p:cNvSpPr/>
          <p:nvPr>
            <p:custDataLst>
              <p:tags r:id="rId1"/>
            </p:custDataLst>
          </p:nvPr>
        </p:nvSpPr>
        <p:spPr>
          <a:xfrm>
            <a:off x="535262" y="2060848"/>
            <a:ext cx="8141193" cy="269163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4" name="矩形 3">
            <a:extLst>
              <a:ext uri="{FF2B5EF4-FFF2-40B4-BE49-F238E27FC236}">
                <a16:creationId xmlns:a16="http://schemas.microsoft.com/office/drawing/2014/main" id="{3542126C-9AF0-9A9D-C428-06C3AF428E29}"/>
              </a:ext>
            </a:extLst>
          </p:cNvPr>
          <p:cNvSpPr/>
          <p:nvPr/>
        </p:nvSpPr>
        <p:spPr>
          <a:xfrm>
            <a:off x="2875207" y="1857330"/>
            <a:ext cx="3240360" cy="4070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tx1">
                    <a:lumMod val="75000"/>
                    <a:lumOff val="25000"/>
                  </a:schemeClr>
                </a:solidFill>
                <a:latin typeface="Times New Roman" panose="02020603050405020304" pitchFamily="18" charset="0"/>
                <a:ea typeface="微软雅黑" panose="020B0503020204020204" charset="-122"/>
                <a:cs typeface="Times New Roman" panose="02020603050405020304" pitchFamily="18" charset="0"/>
              </a:rPr>
              <a:t>例：</a:t>
            </a:r>
            <a:r>
              <a:rPr lang="en-US" altLang="zh-CN" sz="1600" b="1" dirty="0" err="1">
                <a:solidFill>
                  <a:schemeClr val="tx1">
                    <a:lumMod val="75000"/>
                    <a:lumOff val="25000"/>
                  </a:schemeClr>
                </a:solidFill>
                <a:latin typeface="Times New Roman" panose="02020603050405020304" pitchFamily="18" charset="0"/>
                <a:ea typeface="微软雅黑" panose="020B0503020204020204" charset="-122"/>
                <a:cs typeface="Times New Roman" panose="02020603050405020304" pitchFamily="18" charset="0"/>
              </a:rPr>
              <a:t>MatMul</a:t>
            </a:r>
            <a:r>
              <a:rPr lang="zh-CN" altLang="en-US" sz="1600" b="1" dirty="0">
                <a:solidFill>
                  <a:schemeClr val="tx1">
                    <a:lumMod val="75000"/>
                    <a:lumOff val="25000"/>
                  </a:schemeClr>
                </a:solidFill>
                <a:latin typeface="Times New Roman" panose="02020603050405020304" pitchFamily="18" charset="0"/>
                <a:ea typeface="微软雅黑" panose="020B0503020204020204" charset="-122"/>
                <a:cs typeface="Times New Roman" panose="02020603050405020304" pitchFamily="18" charset="0"/>
              </a:rPr>
              <a:t>：分块与流水优化</a:t>
            </a:r>
          </a:p>
        </p:txBody>
      </p:sp>
      <p:sp>
        <p:nvSpPr>
          <p:cNvPr id="35" name="s2-obj91">
            <a:extLst>
              <a:ext uri="{FF2B5EF4-FFF2-40B4-BE49-F238E27FC236}">
                <a16:creationId xmlns:a16="http://schemas.microsoft.com/office/drawing/2014/main" id="{B5CA967F-37AC-6632-DFCA-2A257BA9492F}"/>
              </a:ext>
            </a:extLst>
          </p:cNvPr>
          <p:cNvSpPr>
            <a:spLocks noGrp="1"/>
          </p:cNvSpPr>
          <p:nvPr/>
        </p:nvSpPr>
        <p:spPr>
          <a:xfrm>
            <a:off x="5527226" y="3086872"/>
            <a:ext cx="2715818" cy="289261"/>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p"/>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达到厂商 </a:t>
            </a:r>
            <a:r>
              <a:rPr lang="en-US" altLang="zh-CN"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GEMM </a:t>
            </a: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的 </a:t>
            </a:r>
            <a:r>
              <a:rPr lang="en-US" altLang="zh-CN"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68.4</a:t>
            </a:r>
            <a:r>
              <a:rPr lang="en-US" altLang="zh-CN" sz="1400" b="1" dirty="0" smtClean="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4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a:t>
            </a:r>
          </a:p>
        </p:txBody>
      </p:sp>
      <p:sp>
        <p:nvSpPr>
          <p:cNvPr id="36" name="文本框 35">
            <a:extLst>
              <a:ext uri="{FF2B5EF4-FFF2-40B4-BE49-F238E27FC236}">
                <a16:creationId xmlns:a16="http://schemas.microsoft.com/office/drawing/2014/main" id="{D4D26DD5-0E0C-3F4D-C78D-773003FAB473}"/>
              </a:ext>
            </a:extLst>
          </p:cNvPr>
          <p:cNvSpPr txBox="1"/>
          <p:nvPr/>
        </p:nvSpPr>
        <p:spPr>
          <a:xfrm>
            <a:off x="5436096" y="3429000"/>
            <a:ext cx="2880320" cy="700192"/>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zh-CN" altLang="en-US" sz="1400" dirty="0">
                <a:latin typeface="微软雅黑" panose="020B0503020204020204" pitchFamily="34" charset="-122"/>
                <a:ea typeface="微软雅黑" panose="020B0503020204020204" pitchFamily="34" charset="-122"/>
                <a:sym typeface="+mn-ea"/>
              </a:rPr>
              <a:t>扩大有效 </a:t>
            </a:r>
            <a:r>
              <a:rPr lang="en-US" altLang="zh-CN" sz="1400" dirty="0">
                <a:latin typeface="微软雅黑" panose="020B0503020204020204" pitchFamily="34" charset="-122"/>
                <a:ea typeface="微软雅黑" panose="020B0503020204020204" pitchFamily="34" charset="-122"/>
                <a:sym typeface="+mn-ea"/>
              </a:rPr>
              <a:t>Tile</a:t>
            </a:r>
            <a:r>
              <a:rPr lang="zh-CN" altLang="en-US" sz="1400" dirty="0">
                <a:latin typeface="微软雅黑" panose="020B0503020204020204" pitchFamily="34" charset="-122"/>
                <a:ea typeface="微软雅黑" panose="020B0503020204020204" pitchFamily="34" charset="-122"/>
                <a:sym typeface="+mn-ea"/>
              </a:rPr>
              <a:t>，提高数据复用；</a:t>
            </a:r>
            <a:endParaRPr lang="en-US" altLang="zh-CN" sz="1400" dirty="0">
              <a:latin typeface="微软雅黑" panose="020B0503020204020204" pitchFamily="34" charset="-122"/>
              <a:ea typeface="微软雅黑" panose="020B0503020204020204" pitchFamily="34" charset="-122"/>
              <a:sym typeface="+mn-ea"/>
            </a:endParaRPr>
          </a:p>
          <a:p>
            <a:pPr marL="285750" indent="-285750">
              <a:lnSpc>
                <a:spcPct val="150000"/>
              </a:lnSpc>
              <a:buFont typeface="Wingdings" panose="05000000000000000000" pitchFamily="2" charset="2"/>
              <a:buChar char="Ø"/>
            </a:pPr>
            <a:r>
              <a:rPr lang="zh-CN" altLang="en-US" sz="1400" b="1" dirty="0">
                <a:latin typeface="微软雅黑" panose="020B0503020204020204" pitchFamily="34" charset="-122"/>
                <a:ea typeface="微软雅黑" panose="020B0503020204020204" pitchFamily="34" charset="-122"/>
                <a:sym typeface="+mn-ea"/>
              </a:rPr>
              <a:t>双缓冲提高计算单元利用率</a:t>
            </a:r>
            <a:r>
              <a:rPr lang="zh-CN" altLang="en-US" sz="1400" dirty="0">
                <a:latin typeface="微软雅黑" panose="020B0503020204020204" pitchFamily="34" charset="-122"/>
                <a:ea typeface="微软雅黑" panose="020B0503020204020204" pitchFamily="34" charset="-122"/>
                <a:sym typeface="+mn-ea"/>
              </a:rPr>
              <a:t>。</a:t>
            </a:r>
            <a:endParaRPr lang="en-US" altLang="zh-CN" sz="1400" dirty="0">
              <a:latin typeface="微软雅黑" panose="020B0503020204020204" pitchFamily="34" charset="-122"/>
              <a:ea typeface="微软雅黑" panose="020B0503020204020204" pitchFamily="34" charset="-122"/>
              <a:sym typeface="+mn-ea"/>
            </a:endParaRPr>
          </a:p>
        </p:txBody>
      </p:sp>
      <p:graphicFrame>
        <p:nvGraphicFramePr>
          <p:cNvPr id="39" name="Chart">
            <a:extLst>
              <a:ext uri="{FF2B5EF4-FFF2-40B4-BE49-F238E27FC236}">
                <a16:creationId xmlns:a16="http://schemas.microsoft.com/office/drawing/2014/main" id="{BFF9160A-5871-FD3D-0E0F-8CC30A1212CF}"/>
              </a:ext>
            </a:extLst>
          </p:cNvPr>
          <p:cNvGraphicFramePr/>
          <p:nvPr>
            <p:extLst>
              <p:ext uri="{D42A27DB-BD31-4B8C-83A1-F6EECF244321}">
                <p14:modId xmlns:p14="http://schemas.microsoft.com/office/powerpoint/2010/main" val="3802630328"/>
              </p:ext>
            </p:extLst>
          </p:nvPr>
        </p:nvGraphicFramePr>
        <p:xfrm>
          <a:off x="683568" y="2362587"/>
          <a:ext cx="4251201" cy="2176665"/>
        </p:xfrm>
        <a:graphic>
          <a:graphicData uri="http://schemas.openxmlformats.org/drawingml/2006/chart">
            <c:chart xmlns:c="http://schemas.openxmlformats.org/drawingml/2006/chart" xmlns:r="http://schemas.openxmlformats.org/officeDocument/2006/relationships" r:id="rId6"/>
          </a:graphicData>
        </a:graphic>
      </p:graphicFrame>
      <p:sp>
        <p:nvSpPr>
          <p:cNvPr id="40" name="s3-obj12">
            <a:extLst>
              <a:ext uri="{FF2B5EF4-FFF2-40B4-BE49-F238E27FC236}">
                <a16:creationId xmlns:a16="http://schemas.microsoft.com/office/drawing/2014/main" id="{2F9EF4D5-9114-EB87-307F-9F4AAAF5A959}"/>
              </a:ext>
            </a:extLst>
          </p:cNvPr>
          <p:cNvSpPr>
            <a:spLocks noGrp="1"/>
          </p:cNvSpPr>
          <p:nvPr/>
        </p:nvSpPr>
        <p:spPr>
          <a:xfrm>
            <a:off x="4345603" y="2277387"/>
            <a:ext cx="876300" cy="219075"/>
          </a:xfrm>
          <a:prstGeom prst="rect">
            <a:avLst/>
          </a:prstGeom>
          <a:noFill/>
          <a:ln w="0">
            <a:noFill/>
          </a:ln>
        </p:spPr>
        <p:txBody>
          <a:bodyPr wrap="none" lIns="0" tIns="0" rIns="0" bIns="0" anchor="ctr">
            <a:noAutofit/>
          </a:bodyPr>
          <a:lstStyle/>
          <a:p>
            <a:pPr algn="l">
              <a:defRPr sz="1050" b="0">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TFLOPS</a:t>
            </a:r>
          </a:p>
        </p:txBody>
      </p:sp>
      <p:sp>
        <p:nvSpPr>
          <p:cNvPr id="41" name="s3-obj15">
            <a:extLst>
              <a:ext uri="{FF2B5EF4-FFF2-40B4-BE49-F238E27FC236}">
                <a16:creationId xmlns:a16="http://schemas.microsoft.com/office/drawing/2014/main" id="{549D1409-A123-B11F-A218-7316E4DF32C8}"/>
              </a:ext>
            </a:extLst>
          </p:cNvPr>
          <p:cNvSpPr>
            <a:spLocks noGrp="1"/>
          </p:cNvSpPr>
          <p:nvPr/>
        </p:nvSpPr>
        <p:spPr>
          <a:xfrm>
            <a:off x="1313932" y="4380779"/>
            <a:ext cx="688953" cy="376555"/>
          </a:xfrm>
          <a:prstGeom prst="rect">
            <a:avLst/>
          </a:prstGeom>
          <a:noFill/>
          <a:ln w="0">
            <a:noFill/>
          </a:ln>
        </p:spPr>
        <p:txBody>
          <a:bodyPr wrap="none" lIns="0" tIns="0" rIns="0" bIns="0" anchor="ctr">
            <a:noAutofit/>
          </a:bodyPr>
          <a:lstStyle/>
          <a:p>
            <a:pPr algn="l">
              <a:defRPr sz="1545" b="0">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基础基线</a:t>
            </a:r>
            <a:endParaRPr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2" name="s3-obj15">
            <a:extLst>
              <a:ext uri="{FF2B5EF4-FFF2-40B4-BE49-F238E27FC236}">
                <a16:creationId xmlns:a16="http://schemas.microsoft.com/office/drawing/2014/main" id="{4D133BBE-7D9B-6976-1308-A4E99E35194D}"/>
              </a:ext>
            </a:extLst>
          </p:cNvPr>
          <p:cNvSpPr>
            <a:spLocks noGrp="1"/>
          </p:cNvSpPr>
          <p:nvPr/>
        </p:nvSpPr>
        <p:spPr>
          <a:xfrm>
            <a:off x="3136130" y="4380779"/>
            <a:ext cx="711697" cy="376555"/>
          </a:xfrm>
          <a:prstGeom prst="rect">
            <a:avLst/>
          </a:prstGeom>
          <a:noFill/>
          <a:ln w="0">
            <a:noFill/>
          </a:ln>
        </p:spPr>
        <p:txBody>
          <a:bodyPr wrap="none" lIns="0" tIns="0" rIns="0" bIns="0" anchor="ctr">
            <a:noAutofit/>
          </a:bodyPr>
          <a:lstStyle/>
          <a:p>
            <a:pPr algn="l">
              <a:defRPr sz="1545" b="0">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多级缓冲</a:t>
            </a:r>
            <a:endParaRPr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3" name="s3-obj15">
            <a:extLst>
              <a:ext uri="{FF2B5EF4-FFF2-40B4-BE49-F238E27FC236}">
                <a16:creationId xmlns:a16="http://schemas.microsoft.com/office/drawing/2014/main" id="{88DED69F-BA87-B972-F749-7DB4CE31B3BC}"/>
              </a:ext>
            </a:extLst>
          </p:cNvPr>
          <p:cNvSpPr>
            <a:spLocks noGrp="1"/>
          </p:cNvSpPr>
          <p:nvPr/>
        </p:nvSpPr>
        <p:spPr>
          <a:xfrm>
            <a:off x="2229594" y="4380779"/>
            <a:ext cx="758230" cy="376555"/>
          </a:xfrm>
          <a:prstGeom prst="rect">
            <a:avLst/>
          </a:prstGeom>
          <a:noFill/>
          <a:ln w="0">
            <a:noFill/>
          </a:ln>
        </p:spPr>
        <p:txBody>
          <a:bodyPr wrap="none" lIns="0" tIns="0" rIns="0" bIns="0" anchor="ctr">
            <a:noAutofit/>
          </a:bodyPr>
          <a:lstStyle/>
          <a:p>
            <a:pPr algn="l">
              <a:defRPr sz="1545" b="0">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en-US" altLang="zh-CN" sz="120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T</a:t>
            </a:r>
            <a:r>
              <a:rPr lang="en-US" altLang="zh-CN"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ile/Grid</a:t>
            </a:r>
            <a:endParaRPr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4" name="s3-obj15">
            <a:extLst>
              <a:ext uri="{FF2B5EF4-FFF2-40B4-BE49-F238E27FC236}">
                <a16:creationId xmlns:a16="http://schemas.microsoft.com/office/drawing/2014/main" id="{3DCC68FC-4404-EF9F-2E7E-9AAC20E4DFED}"/>
              </a:ext>
            </a:extLst>
          </p:cNvPr>
          <p:cNvSpPr>
            <a:spLocks noGrp="1"/>
          </p:cNvSpPr>
          <p:nvPr/>
        </p:nvSpPr>
        <p:spPr>
          <a:xfrm>
            <a:off x="4010792" y="4380779"/>
            <a:ext cx="711696" cy="376555"/>
          </a:xfrm>
          <a:prstGeom prst="rect">
            <a:avLst/>
          </a:prstGeom>
          <a:noFill/>
          <a:ln w="0">
            <a:noFill/>
          </a:ln>
        </p:spPr>
        <p:txBody>
          <a:bodyPr wrap="none" lIns="0" tIns="0" rIns="0" bIns="0" anchor="ctr">
            <a:noAutofit/>
          </a:bodyPr>
          <a:lstStyle/>
          <a:p>
            <a:pPr algn="l">
              <a:defRPr sz="1545" b="0">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 官方算子</a:t>
            </a:r>
            <a:endParaRPr sz="1200" b="0"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5" name="矩形 44">
            <a:extLst>
              <a:ext uri="{FF2B5EF4-FFF2-40B4-BE49-F238E27FC236}">
                <a16:creationId xmlns:a16="http://schemas.microsoft.com/office/drawing/2014/main" id="{4F38CE49-5C99-017A-76A6-82BA9AF44B23}"/>
              </a:ext>
            </a:extLst>
          </p:cNvPr>
          <p:cNvSpPr/>
          <p:nvPr>
            <p:custDataLst>
              <p:tags r:id="rId2"/>
            </p:custDataLst>
          </p:nvPr>
        </p:nvSpPr>
        <p:spPr>
          <a:xfrm>
            <a:off x="535262" y="5048427"/>
            <a:ext cx="8141193" cy="1247385"/>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46" name="矩形 45">
            <a:extLst>
              <a:ext uri="{FF2B5EF4-FFF2-40B4-BE49-F238E27FC236}">
                <a16:creationId xmlns:a16="http://schemas.microsoft.com/office/drawing/2014/main" id="{C4040030-FE2B-9AF9-DC2E-72482F71933B}"/>
              </a:ext>
            </a:extLst>
          </p:cNvPr>
          <p:cNvSpPr/>
          <p:nvPr/>
        </p:nvSpPr>
        <p:spPr>
          <a:xfrm>
            <a:off x="3548188" y="4850706"/>
            <a:ext cx="2047623" cy="4070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tx1">
                    <a:lumMod val="75000"/>
                    <a:lumOff val="25000"/>
                  </a:schemeClr>
                </a:solidFill>
                <a:latin typeface="Times New Roman" panose="02020603050405020304" pitchFamily="18" charset="0"/>
                <a:ea typeface="微软雅黑" panose="020B0503020204020204" charset="-122"/>
                <a:cs typeface="Times New Roman" panose="02020603050405020304" pitchFamily="18" charset="0"/>
              </a:rPr>
              <a:t>其他算子</a:t>
            </a:r>
          </a:p>
        </p:txBody>
      </p:sp>
      <p:graphicFrame>
        <p:nvGraphicFramePr>
          <p:cNvPr id="47" name="表格 46">
            <a:extLst>
              <a:ext uri="{FF2B5EF4-FFF2-40B4-BE49-F238E27FC236}">
                <a16:creationId xmlns:a16="http://schemas.microsoft.com/office/drawing/2014/main" id="{C668DB09-D99A-A723-1025-D1DAE971115C}"/>
              </a:ext>
            </a:extLst>
          </p:cNvPr>
          <p:cNvGraphicFramePr/>
          <p:nvPr>
            <p:custDataLst>
              <p:tags r:id="rId3"/>
            </p:custDataLst>
            <p:extLst>
              <p:ext uri="{D42A27DB-BD31-4B8C-83A1-F6EECF244321}">
                <p14:modId xmlns:p14="http://schemas.microsoft.com/office/powerpoint/2010/main" val="2078319780"/>
              </p:ext>
            </p:extLst>
          </p:nvPr>
        </p:nvGraphicFramePr>
        <p:xfrm>
          <a:off x="1511598" y="5362571"/>
          <a:ext cx="6120804" cy="691922"/>
        </p:xfrm>
        <a:graphic>
          <a:graphicData uri="http://schemas.openxmlformats.org/drawingml/2006/table">
            <a:tbl>
              <a:tblPr firstRow="1" bandRow="1">
                <a:tableStyleId>{5940675A-B579-460E-94D1-54222C63F5DA}</a:tableStyleId>
              </a:tblPr>
              <a:tblGrid>
                <a:gridCol w="1648105">
                  <a:extLst>
                    <a:ext uri="{9D8B030D-6E8A-4147-A177-3AD203B41FA5}">
                      <a16:colId xmlns:a16="http://schemas.microsoft.com/office/drawing/2014/main" val="20000"/>
                    </a:ext>
                  </a:extLst>
                </a:gridCol>
                <a:gridCol w="1255494">
                  <a:extLst>
                    <a:ext uri="{9D8B030D-6E8A-4147-A177-3AD203B41FA5}">
                      <a16:colId xmlns:a16="http://schemas.microsoft.com/office/drawing/2014/main" val="20001"/>
                    </a:ext>
                  </a:extLst>
                </a:gridCol>
                <a:gridCol w="1177026">
                  <a:extLst>
                    <a:ext uri="{9D8B030D-6E8A-4147-A177-3AD203B41FA5}">
                      <a16:colId xmlns:a16="http://schemas.microsoft.com/office/drawing/2014/main" val="20002"/>
                    </a:ext>
                  </a:extLst>
                </a:gridCol>
                <a:gridCol w="2040179">
                  <a:extLst>
                    <a:ext uri="{9D8B030D-6E8A-4147-A177-3AD203B41FA5}">
                      <a16:colId xmlns:a16="http://schemas.microsoft.com/office/drawing/2014/main" val="20003"/>
                    </a:ext>
                  </a:extLst>
                </a:gridCol>
              </a:tblGrid>
              <a:tr h="348365">
                <a:tc>
                  <a:txBody>
                    <a:bodyPr/>
                    <a:lstStyle/>
                    <a:p>
                      <a:pPr algn="ctr">
                        <a:buNone/>
                      </a:pPr>
                      <a:r>
                        <a:rPr lang="zh-CN" altLang="en-US" sz="1400" dirty="0">
                          <a:latin typeface="Times New Roman" panose="02020603050405020304" pitchFamily="18" charset="0"/>
                          <a:ea typeface="微软雅黑" panose="020B0503020204020204" pitchFamily="34" charset="-122"/>
                          <a:cs typeface="Times New Roman" panose="02020603050405020304" pitchFamily="18" charset="0"/>
                        </a:rPr>
                        <a:t>手写算子</a:t>
                      </a:r>
                    </a:p>
                  </a:txBody>
                  <a:tcPr/>
                </a:tc>
                <a:tc>
                  <a:txBody>
                    <a:bodyPr/>
                    <a:lstStyle/>
                    <a:p>
                      <a:pPr algn="ctr">
                        <a:buNone/>
                      </a:pPr>
                      <a:r>
                        <a:rPr lang="en-US" altLang="zh-CN" sz="1400" dirty="0" err="1">
                          <a:latin typeface="Times New Roman" panose="02020603050405020304" pitchFamily="18" charset="0"/>
                          <a:ea typeface="微软雅黑" panose="020B0503020204020204" pitchFamily="34" charset="-122"/>
                          <a:cs typeface="Times New Roman" panose="02020603050405020304" pitchFamily="18" charset="0"/>
                        </a:rPr>
                        <a:t>softmax</a:t>
                      </a:r>
                      <a:endParaRPr lang="en-US" altLang="zh-CN" sz="1400" dirty="0">
                        <a:latin typeface="Times New Roman" panose="02020603050405020304" pitchFamily="18" charset="0"/>
                        <a:ea typeface="微软雅黑" panose="020B0503020204020204" pitchFamily="34" charset="-122"/>
                        <a:cs typeface="Times New Roman" panose="02020603050405020304" pitchFamily="18" charset="0"/>
                      </a:endParaRPr>
                    </a:p>
                  </a:txBody>
                  <a:tcPr/>
                </a:tc>
                <a:tc>
                  <a:txBody>
                    <a:bodyPr/>
                    <a:lstStyle/>
                    <a:p>
                      <a:pPr algn="ctr">
                        <a:buNone/>
                      </a:pPr>
                      <a:r>
                        <a:rPr lang="en-US" altLang="zh-CN" sz="1400" dirty="0" err="1">
                          <a:latin typeface="Times New Roman" panose="02020603050405020304" pitchFamily="18" charset="0"/>
                          <a:ea typeface="微软雅黑" panose="020B0503020204020204" pitchFamily="34" charset="-122"/>
                          <a:cs typeface="Times New Roman" panose="02020603050405020304" pitchFamily="18" charset="0"/>
                        </a:rPr>
                        <a:t>layernorm</a:t>
                      </a:r>
                      <a:endParaRPr lang="en-US" altLang="zh-CN" sz="1400" dirty="0">
                        <a:latin typeface="Times New Roman" panose="02020603050405020304" pitchFamily="18" charset="0"/>
                        <a:ea typeface="微软雅黑" panose="020B0503020204020204" pitchFamily="34" charset="-122"/>
                        <a:cs typeface="Times New Roman" panose="02020603050405020304" pitchFamily="18" charset="0"/>
                      </a:endParaRPr>
                    </a:p>
                  </a:txBody>
                  <a:tcPr/>
                </a:tc>
                <a:tc>
                  <a:txBody>
                    <a:bodyPr/>
                    <a:lstStyle/>
                    <a:p>
                      <a:pPr algn="ctr">
                        <a:buNone/>
                      </a:pPr>
                      <a:r>
                        <a:rPr lang="en-US" altLang="zh-CN" sz="1400" dirty="0" err="1">
                          <a:latin typeface="Times New Roman" panose="02020603050405020304" pitchFamily="18" charset="0"/>
                          <a:ea typeface="微软雅黑" panose="020B0503020204020204" pitchFamily="34" charset="-122"/>
                          <a:cs typeface="Times New Roman" panose="02020603050405020304" pitchFamily="18" charset="0"/>
                        </a:rPr>
                        <a:t>flashattention</a:t>
                      </a:r>
                      <a:endParaRPr lang="en-US" altLang="zh-CN" sz="1400" dirty="0">
                        <a:latin typeface="Times New Roman" panose="02020603050405020304" pitchFamily="18" charset="0"/>
                        <a:ea typeface="微软雅黑" panose="020B0503020204020204" pitchFamily="34" charset="-122"/>
                        <a:cs typeface="Times New Roman" panose="02020603050405020304" pitchFamily="18" charset="0"/>
                      </a:endParaRPr>
                    </a:p>
                  </a:txBody>
                  <a:tcPr/>
                </a:tc>
                <a:extLst>
                  <a:ext uri="{0D108BD9-81ED-4DB2-BD59-A6C34878D82A}">
                    <a16:rowId xmlns:a16="http://schemas.microsoft.com/office/drawing/2014/main" val="10000"/>
                  </a:ext>
                </a:extLst>
              </a:tr>
              <a:tr h="343557">
                <a:tc>
                  <a:txBody>
                    <a:bodyPr/>
                    <a:lstStyle/>
                    <a:p>
                      <a:pPr algn="ctr">
                        <a:buNone/>
                      </a:pPr>
                      <a:r>
                        <a:rPr lang="zh-CN" altLang="en-US" sz="1400" dirty="0">
                          <a:latin typeface="Times New Roman" panose="02020603050405020304" pitchFamily="18" charset="0"/>
                          <a:ea typeface="微软雅黑" panose="020B0503020204020204" pitchFamily="34" charset="-122"/>
                          <a:cs typeface="Times New Roman" panose="02020603050405020304" pitchFamily="18" charset="0"/>
                        </a:rPr>
                        <a:t>相比于</a:t>
                      </a:r>
                      <a:r>
                        <a:rPr lang="en-US" altLang="zh-CN" sz="1400" dirty="0" err="1">
                          <a:latin typeface="Times New Roman" panose="02020603050405020304" pitchFamily="18" charset="0"/>
                          <a:ea typeface="微软雅黑" panose="020B0503020204020204" pitchFamily="34" charset="-122"/>
                          <a:cs typeface="Times New Roman" panose="02020603050405020304" pitchFamily="18" charset="0"/>
                        </a:rPr>
                        <a:t>pytorch</a:t>
                      </a:r>
                      <a:endParaRPr lang="zh-CN" altLang="en-US" sz="1400" dirty="0">
                        <a:latin typeface="Times New Roman" panose="02020603050405020304" pitchFamily="18" charset="0"/>
                        <a:ea typeface="微软雅黑" panose="020B0503020204020204" pitchFamily="34" charset="-122"/>
                        <a:cs typeface="Times New Roman" panose="02020603050405020304" pitchFamily="18" charset="0"/>
                      </a:endParaRPr>
                    </a:p>
                  </a:txBody>
                  <a:tcPr/>
                </a:tc>
                <a:tc>
                  <a:txBody>
                    <a:bodyPr/>
                    <a:lstStyle/>
                    <a:p>
                      <a:pPr algn="ctr">
                        <a:buNone/>
                      </a:pPr>
                      <a:r>
                        <a:rPr lang="en-US" altLang="zh-CN" sz="1400" dirty="0" smtClean="0">
                          <a:latin typeface="Times New Roman" panose="02020603050405020304" pitchFamily="18" charset="0"/>
                          <a:ea typeface="微软雅黑" panose="020B0503020204020204" pitchFamily="34" charset="-122"/>
                          <a:cs typeface="Times New Roman" panose="02020603050405020304" pitchFamily="18" charset="0"/>
                        </a:rPr>
                        <a:t>1.24x</a:t>
                      </a:r>
                      <a:endParaRPr lang="en-US" altLang="zh-CN" sz="1400" dirty="0">
                        <a:latin typeface="Times New Roman" panose="02020603050405020304" pitchFamily="18" charset="0"/>
                        <a:ea typeface="微软雅黑" panose="020B0503020204020204" pitchFamily="34" charset="-122"/>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smtClean="0">
                          <a:latin typeface="Times New Roman" panose="02020603050405020304" pitchFamily="18" charset="0"/>
                          <a:ea typeface="微软雅黑" panose="020B0503020204020204" pitchFamily="34" charset="-122"/>
                          <a:cs typeface="Times New Roman" panose="02020603050405020304" pitchFamily="18" charset="0"/>
                        </a:rPr>
                        <a:t>1.02x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smtClean="0">
                          <a:latin typeface="Times New Roman" panose="02020603050405020304" pitchFamily="18" charset="0"/>
                          <a:ea typeface="微软雅黑" panose="020B0503020204020204" pitchFamily="34" charset="-122"/>
                          <a:cs typeface="Times New Roman" panose="02020603050405020304" pitchFamily="18" charset="0"/>
                        </a:rPr>
                        <a:t>0.55x</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526812936"/>
      </p:ext>
    </p:extLst>
  </p:cSld>
  <p:clrMapOvr>
    <a:masterClrMapping/>
  </p:clrMapOvr>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lang="en-US" altLang="zh-CN" sz="2000" b="1" dirty="0">
                <a:solidFill>
                  <a:srgbClr val="000000"/>
                </a:solidFill>
                <a:latin typeface="Times New Roman" panose="02020603050405020304" pitchFamily="18" charset="0"/>
                <a:cs typeface="Times New Roman" panose="02020603050405020304" pitchFamily="18" charset="0"/>
              </a:rPr>
              <a:t>Nano-</a:t>
            </a:r>
            <a:r>
              <a:rPr lang="en-US" altLang="zh-CN" sz="2000" b="1" dirty="0" err="1">
                <a:solidFill>
                  <a:srgbClr val="000000"/>
                </a:solidFill>
                <a:latin typeface="Times New Roman" panose="02020603050405020304" pitchFamily="18" charset="0"/>
                <a:cs typeface="Times New Roman" panose="02020603050405020304" pitchFamily="18" charset="0"/>
              </a:rPr>
              <a:t>vllm</a:t>
            </a:r>
            <a:r>
              <a:rPr lang="zh-CN" altLang="en-US" sz="2000" b="1" dirty="0">
                <a:solidFill>
                  <a:srgbClr val="000000"/>
                </a:solidFill>
                <a:latin typeface="Times New Roman" panose="02020603050405020304" pitchFamily="18" charset="0"/>
                <a:cs typeface="Times New Roman" panose="02020603050405020304" pitchFamily="18" charset="0"/>
              </a:rPr>
              <a:t>模型部署推理优化</a:t>
            </a:r>
            <a:endParaRPr lang="en-US" altLang="zh-CN" sz="2000" b="1" dirty="0">
              <a:solidFill>
                <a:srgbClr val="000000"/>
              </a:solidFill>
              <a:latin typeface="Times New Roman" panose="02020603050405020304" pitchFamily="18" charset="0"/>
              <a:cs typeface="Times New Roman" panose="02020603050405020304" pitchFamily="18" charset="0"/>
            </a:endParaRPr>
          </a:p>
        </p:txBody>
      </p:sp>
      <p:sp>
        <p:nvSpPr>
          <p:cNvPr id="3"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119" name="p1-o10">
            <a:extLst>
              <a:ext uri="{FF2B5EF4-FFF2-40B4-BE49-F238E27FC236}">
                <a16:creationId xmlns:a16="http://schemas.microsoft.com/office/drawing/2014/main" id="{EC6DF907-4B79-470C-923F-AEF0B55C8835}"/>
              </a:ext>
            </a:extLst>
          </p:cNvPr>
          <p:cNvSpPr>
            <a:spLocks noGrp="1"/>
          </p:cNvSpPr>
          <p:nvPr/>
        </p:nvSpPr>
        <p:spPr>
          <a:xfrm>
            <a:off x="535263" y="1979105"/>
            <a:ext cx="3924300" cy="323850"/>
          </a:xfrm>
          <a:prstGeom prst="rect">
            <a:avLst/>
          </a:prstGeom>
          <a:noFill/>
          <a:ln w="0">
            <a:noFill/>
          </a:ln>
        </p:spPr>
        <p:txBody>
          <a:bodyPr wrap="none" lIns="0" tIns="0" rIns="0" bIns="0" anchor="ctr">
            <a:noAutofit/>
          </a:bodyPr>
          <a:lstStyle/>
          <a:p>
            <a:pPr algn="l">
              <a:defRPr sz="1575" b="1">
                <a:solidFill>
                  <a:srgbClr val="FFFFFF"/>
                </a:solidFill>
                <a:latin typeface="Microsoft YaHei"/>
                <a:ea typeface="Microsoft YaHei"/>
                <a:cs typeface="Microsoft YaHei"/>
              </a:defRPr>
            </a:pPr>
            <a:endParaRPr sz="1575" b="1" dirty="0">
              <a:solidFill>
                <a:schemeClr val="tx1">
                  <a:lumMod val="95000"/>
                  <a:lumOff val="5000"/>
                </a:schemeClr>
              </a:solidFill>
              <a:latin typeface="Microsoft YaHei"/>
              <a:ea typeface="Microsoft YaHei"/>
              <a:cs typeface="Microsoft YaHei"/>
            </a:endParaRPr>
          </a:p>
        </p:txBody>
      </p:sp>
      <p:sp>
        <p:nvSpPr>
          <p:cNvPr id="142" name="text_103_原始 Skill 已具备完整开发流程"/>
          <p:cNvSpPr>
            <a:spLocks noGrp="1"/>
          </p:cNvSpPr>
          <p:nvPr/>
        </p:nvSpPr>
        <p:spPr>
          <a:xfrm>
            <a:off x="96969" y="6142956"/>
            <a:ext cx="7786688"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endParaRPr lang="en-US" altLang="zh-CN" sz="2100" b="1" dirty="0">
              <a:solidFill>
                <a:srgbClr val="000000"/>
              </a:solidFill>
              <a:latin typeface="Times New Roman" panose="02020603050405020304" pitchFamily="18" charset="0"/>
              <a:cs typeface="Times New Roman" panose="02020603050405020304" pitchFamily="18" charset="0"/>
            </a:endParaRPr>
          </a:p>
        </p:txBody>
      </p:sp>
      <p:sp>
        <p:nvSpPr>
          <p:cNvPr id="4" name="灯片编号占位符 3">
            <a:extLst>
              <a:ext uri="{FF2B5EF4-FFF2-40B4-BE49-F238E27FC236}">
                <a16:creationId xmlns:a16="http://schemas.microsoft.com/office/drawing/2014/main" id="{7DD8B97E-795B-482C-9908-D05B155E8BF3}"/>
              </a:ext>
            </a:extLst>
          </p:cNvPr>
          <p:cNvSpPr>
            <a:spLocks noGrp="1"/>
          </p:cNvSpPr>
          <p:nvPr>
            <p:ph type="sldNum" sz="quarter" idx="12"/>
          </p:nvPr>
        </p:nvSpPr>
        <p:spPr/>
        <p:txBody>
          <a:bodyPr/>
          <a:lstStyle/>
          <a:p>
            <a:fld id="{03621AC1-4C4D-435F-BACF-B518BC126F02}" type="slidenum">
              <a:rPr lang="zh-CN" altLang="en-US" smtClean="0"/>
              <a:t>8</a:t>
            </a:fld>
            <a:endParaRPr lang="zh-CN" altLang="en-US" dirty="0"/>
          </a:p>
        </p:txBody>
      </p:sp>
      <p:sp>
        <p:nvSpPr>
          <p:cNvPr id="7" name="标题 1">
            <a:extLst>
              <a:ext uri="{FF2B5EF4-FFF2-40B4-BE49-F238E27FC236}">
                <a16:creationId xmlns:a16="http://schemas.microsoft.com/office/drawing/2014/main" id="{01D86DDB-9950-83F4-8EBF-DFEA86B897B8}"/>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2" name="s2-obj91">
            <a:extLst>
              <a:ext uri="{FF2B5EF4-FFF2-40B4-BE49-F238E27FC236}">
                <a16:creationId xmlns:a16="http://schemas.microsoft.com/office/drawing/2014/main" id="{B535BCF3-67FB-1BA8-E6B1-630F6BFE4C82}"/>
              </a:ext>
            </a:extLst>
          </p:cNvPr>
          <p:cNvSpPr>
            <a:spLocks noGrp="1"/>
          </p:cNvSpPr>
          <p:nvPr/>
        </p:nvSpPr>
        <p:spPr>
          <a:xfrm>
            <a:off x="580866" y="2018891"/>
            <a:ext cx="6179419" cy="289261"/>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n"/>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6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背景：在</a:t>
            </a:r>
            <a:r>
              <a:rPr lang="en-US" altLang="zh-CN" sz="1600" b="1" dirty="0" err="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mlu</a:t>
            </a:r>
            <a:r>
              <a:rPr lang="zh-CN" altLang="en-US" sz="16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平台使用</a:t>
            </a:r>
            <a:r>
              <a:rPr lang="en-US" altLang="zh-CN" sz="1600" b="1" dirty="0" err="1">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vllm</a:t>
            </a:r>
            <a:r>
              <a:rPr lang="zh-CN" altLang="en-US" sz="16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进行部署推理时经常遇到下面的问题</a:t>
            </a:r>
          </a:p>
        </p:txBody>
      </p:sp>
      <p:sp>
        <p:nvSpPr>
          <p:cNvPr id="5" name="文本框 4">
            <a:extLst>
              <a:ext uri="{FF2B5EF4-FFF2-40B4-BE49-F238E27FC236}">
                <a16:creationId xmlns:a16="http://schemas.microsoft.com/office/drawing/2014/main" id="{AC4E60FF-D49C-8D8C-8A4B-E0546E95E4AB}"/>
              </a:ext>
            </a:extLst>
          </p:cNvPr>
          <p:cNvSpPr txBox="1"/>
          <p:nvPr/>
        </p:nvSpPr>
        <p:spPr>
          <a:xfrm>
            <a:off x="535262" y="2308829"/>
            <a:ext cx="5620914" cy="1200329"/>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不复用前缀</a:t>
            </a:r>
            <a:r>
              <a:rPr lang="en-US" altLang="zh-CN" sz="1600" dirty="0" err="1" smtClean="0">
                <a:latin typeface="Times New Roman" panose="02020603050405020304" pitchFamily="18" charset="0"/>
                <a:ea typeface="微软雅黑" panose="020B0503020204020204" pitchFamily="34" charset="-122"/>
                <a:cs typeface="Times New Roman" panose="02020603050405020304" pitchFamily="18" charset="0"/>
              </a:rPr>
              <a:t>kvcache</a:t>
            </a: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相同</a:t>
            </a: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请求重复</a:t>
            </a: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计算；</a:t>
            </a:r>
            <a:endParaRPr lang="zh-CN" altLang="en-US" sz="1600" dirty="0">
              <a:latin typeface="Times New Roman" panose="02020603050405020304" pitchFamily="18" charset="0"/>
              <a:ea typeface="微软雅黑" panose="020B0503020204020204" pitchFamily="34" charset="-122"/>
              <a:cs typeface="Times New Roman" panose="02020603050405020304" pitchFamily="18" charset="0"/>
            </a:endParaRPr>
          </a:p>
          <a:p>
            <a:pPr marL="285750" indent="-285750">
              <a:lnSpc>
                <a:spcPct val="150000"/>
              </a:lnSpc>
              <a:buFont typeface="Wingdings" panose="05000000000000000000" pitchFamily="2" charset="2"/>
              <a:buChar char="Ø"/>
            </a:pP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复用前缀</a:t>
            </a:r>
            <a:r>
              <a:rPr lang="en-US" altLang="zh-CN" sz="1600" dirty="0" smtClean="0">
                <a:latin typeface="Times New Roman" panose="02020603050405020304" pitchFamily="18" charset="0"/>
                <a:ea typeface="微软雅黑" panose="020B0503020204020204" pitchFamily="34" charset="-122"/>
                <a:cs typeface="Times New Roman" panose="02020603050405020304" pitchFamily="18" charset="0"/>
              </a:rPr>
              <a:t>KV cache</a:t>
            </a: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，显存压力大；</a:t>
            </a:r>
            <a:endParaRPr lang="zh-CN" altLang="en-US" sz="1600" dirty="0">
              <a:latin typeface="Times New Roman" panose="02020603050405020304" pitchFamily="18" charset="0"/>
              <a:ea typeface="微软雅黑" panose="020B0503020204020204" pitchFamily="34" charset="-122"/>
              <a:cs typeface="Times New Roman" panose="02020603050405020304" pitchFamily="18" charset="0"/>
            </a:endParaRPr>
          </a:p>
          <a:p>
            <a:pPr marL="285750" indent="-285750">
              <a:lnSpc>
                <a:spcPct val="150000"/>
              </a:lnSpc>
              <a:buFont typeface="Wingdings" panose="05000000000000000000" pitchFamily="2" charset="2"/>
              <a:buChar char="Ø"/>
            </a:pPr>
            <a:r>
              <a:rPr lang="en-US" altLang="zh-CN" sz="1600" dirty="0" err="1">
                <a:latin typeface="Times New Roman" panose="02020603050405020304" pitchFamily="18" charset="0"/>
                <a:ea typeface="微软雅黑" panose="020B0503020204020204" pitchFamily="34" charset="-122"/>
                <a:cs typeface="Times New Roman" panose="02020603050405020304" pitchFamily="18" charset="0"/>
              </a:rPr>
              <a:t>vllm</a:t>
            </a:r>
            <a:r>
              <a:rPr lang="en-US" altLang="zh-CN" sz="1600" dirty="0">
                <a:latin typeface="Times New Roman" panose="02020603050405020304" pitchFamily="18" charset="0"/>
                <a:ea typeface="微软雅黑" panose="020B0503020204020204" pitchFamily="34" charset="-122"/>
                <a:cs typeface="Times New Roman" panose="02020603050405020304" pitchFamily="18" charset="0"/>
              </a:rPr>
              <a:t> </a:t>
            </a: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的</a:t>
            </a:r>
            <a:r>
              <a:rPr lang="en-US" altLang="zh-CN" sz="1600" dirty="0" smtClean="0">
                <a:latin typeface="Times New Roman" panose="02020603050405020304" pitchFamily="18" charset="0"/>
                <a:ea typeface="微软雅黑" panose="020B0503020204020204" pitchFamily="34" charset="-122"/>
                <a:cs typeface="Times New Roman" panose="02020603050405020304" pitchFamily="18" charset="0"/>
              </a:rPr>
              <a:t>CPU Offload</a:t>
            </a: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不支持</a:t>
            </a:r>
            <a:r>
              <a:rPr lang="en-US" altLang="zh-CN" sz="1600" dirty="0" err="1" smtClean="0">
                <a:latin typeface="Times New Roman" panose="02020603050405020304" pitchFamily="18" charset="0"/>
                <a:ea typeface="微软雅黑" panose="020B0503020204020204" pitchFamily="34" charset="-122"/>
                <a:cs typeface="Times New Roman" panose="02020603050405020304" pitchFamily="18" charset="0"/>
              </a:rPr>
              <a:t>mlu</a:t>
            </a:r>
            <a:r>
              <a:rPr lang="zh-CN" altLang="en-US" sz="1600" dirty="0" smtClean="0">
                <a:latin typeface="Times New Roman" panose="02020603050405020304" pitchFamily="18" charset="0"/>
                <a:ea typeface="微软雅黑" panose="020B0503020204020204" pitchFamily="34" charset="-122"/>
                <a:cs typeface="Times New Roman" panose="02020603050405020304" pitchFamily="18" charset="0"/>
              </a:rPr>
              <a:t>平台。</a:t>
            </a:r>
            <a:endParaRPr lang="zh-CN" altLang="en-US" sz="1600" dirty="0">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6" name="s2-obj91">
            <a:extLst>
              <a:ext uri="{FF2B5EF4-FFF2-40B4-BE49-F238E27FC236}">
                <a16:creationId xmlns:a16="http://schemas.microsoft.com/office/drawing/2014/main" id="{F961C543-DC66-969A-A1A8-AC0D2E9DC85B}"/>
              </a:ext>
            </a:extLst>
          </p:cNvPr>
          <p:cNvSpPr>
            <a:spLocks noGrp="1"/>
          </p:cNvSpPr>
          <p:nvPr/>
        </p:nvSpPr>
        <p:spPr>
          <a:xfrm>
            <a:off x="580866" y="3633432"/>
            <a:ext cx="6179419" cy="289261"/>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n"/>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600" b="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解决方法：</a:t>
            </a:r>
            <a:r>
              <a:rPr lang="en-US" altLang="zh-CN" sz="1600" b="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MLU L1 + CPU L2 </a:t>
            </a:r>
            <a:r>
              <a:rPr lang="zh-CN" altLang="en-US" sz="1600" b="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分层 </a:t>
            </a:r>
            <a:r>
              <a:rPr lang="en-US" altLang="zh-CN" sz="1600" b="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Prefix KV Cache</a:t>
            </a:r>
          </a:p>
        </p:txBody>
      </p:sp>
      <p:sp>
        <p:nvSpPr>
          <p:cNvPr id="8" name="s2-obj91">
            <a:extLst>
              <a:ext uri="{FF2B5EF4-FFF2-40B4-BE49-F238E27FC236}">
                <a16:creationId xmlns:a16="http://schemas.microsoft.com/office/drawing/2014/main" id="{F549C993-99A7-4464-7DD2-06621FC476CF}"/>
              </a:ext>
            </a:extLst>
          </p:cNvPr>
          <p:cNvSpPr>
            <a:spLocks noGrp="1"/>
          </p:cNvSpPr>
          <p:nvPr/>
        </p:nvSpPr>
        <p:spPr>
          <a:xfrm>
            <a:off x="580866" y="4174916"/>
            <a:ext cx="6179419" cy="289261"/>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n"/>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6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项目目标</a:t>
            </a:r>
          </a:p>
        </p:txBody>
      </p:sp>
      <p:sp>
        <p:nvSpPr>
          <p:cNvPr id="9" name="文本框 8">
            <a:extLst>
              <a:ext uri="{FF2B5EF4-FFF2-40B4-BE49-F238E27FC236}">
                <a16:creationId xmlns:a16="http://schemas.microsoft.com/office/drawing/2014/main" id="{69E6D71B-16CB-82B0-81C2-CA308B8E37BF}"/>
              </a:ext>
            </a:extLst>
          </p:cNvPr>
          <p:cNvSpPr txBox="1"/>
          <p:nvPr/>
        </p:nvSpPr>
        <p:spPr>
          <a:xfrm>
            <a:off x="535263" y="4464854"/>
            <a:ext cx="4800154" cy="1156407"/>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扩大 </a:t>
            </a:r>
            <a:r>
              <a:rPr lang="en-US" altLang="zh-CN" sz="1600" dirty="0">
                <a:latin typeface="Times New Roman" panose="02020603050405020304" pitchFamily="18" charset="0"/>
                <a:ea typeface="微软雅黑" panose="020B0503020204020204" pitchFamily="34" charset="-122"/>
                <a:cs typeface="Times New Roman" panose="02020603050405020304" pitchFamily="18" charset="0"/>
              </a:rPr>
              <a:t>KV Cache </a:t>
            </a: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容量；</a:t>
            </a:r>
          </a:p>
          <a:p>
            <a:pPr marL="285750" indent="-285750">
              <a:lnSpc>
                <a:spcPct val="150000"/>
              </a:lnSpc>
              <a:buFont typeface="Wingdings" panose="05000000000000000000" pitchFamily="2" charset="2"/>
              <a:buChar char="Ø"/>
            </a:pP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降低 </a:t>
            </a:r>
            <a:r>
              <a:rPr lang="en-US" altLang="zh-CN" sz="1600" dirty="0">
                <a:latin typeface="Times New Roman" panose="02020603050405020304" pitchFamily="18" charset="0"/>
                <a:ea typeface="微软雅黑" panose="020B0503020204020204" pitchFamily="34" charset="-122"/>
                <a:cs typeface="Times New Roman" panose="02020603050405020304" pitchFamily="18" charset="0"/>
              </a:rPr>
              <a:t>Prefix HIT </a:t>
            </a: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场景 </a:t>
            </a:r>
            <a:r>
              <a:rPr lang="en-US" altLang="zh-CN" sz="1600" dirty="0">
                <a:latin typeface="Times New Roman" panose="02020603050405020304" pitchFamily="18" charset="0"/>
                <a:ea typeface="微软雅黑" panose="020B0503020204020204" pitchFamily="34" charset="-122"/>
                <a:cs typeface="Times New Roman" panose="02020603050405020304" pitchFamily="18" charset="0"/>
              </a:rPr>
              <a:t>TTFT</a:t>
            </a: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a:t>
            </a:r>
          </a:p>
          <a:p>
            <a:pPr marL="285750" indent="-285750">
              <a:lnSpc>
                <a:spcPct val="150000"/>
              </a:lnSpc>
              <a:buFont typeface="Wingdings" panose="05000000000000000000" pitchFamily="2" charset="2"/>
              <a:buChar char="Ø"/>
            </a:pP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降低 </a:t>
            </a:r>
            <a:r>
              <a:rPr lang="en-US" altLang="zh-CN" sz="1600" dirty="0">
                <a:latin typeface="Times New Roman" panose="02020603050405020304" pitchFamily="18" charset="0"/>
                <a:ea typeface="微软雅黑" panose="020B0503020204020204" pitchFamily="34" charset="-122"/>
                <a:cs typeface="Times New Roman" panose="02020603050405020304" pitchFamily="18" charset="0"/>
              </a:rPr>
              <a:t>CPU </a:t>
            </a:r>
            <a:r>
              <a:rPr lang="en-US" altLang="zh-CN" sz="1600" dirty="0" smtClean="0">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1600" dirty="0">
                <a:latin typeface="Times New Roman" panose="02020603050405020304" pitchFamily="18" charset="0"/>
                <a:ea typeface="微软雅黑" panose="020B0503020204020204" pitchFamily="34" charset="-122"/>
                <a:cs typeface="Times New Roman" panose="02020603050405020304" pitchFamily="18" charset="0"/>
              </a:rPr>
              <a:t>MLU </a:t>
            </a:r>
            <a:r>
              <a:rPr lang="zh-CN" altLang="en-US" sz="1600" dirty="0">
                <a:latin typeface="Times New Roman" panose="02020603050405020304" pitchFamily="18" charset="0"/>
                <a:ea typeface="微软雅黑" panose="020B0503020204020204" pitchFamily="34" charset="-122"/>
                <a:cs typeface="Times New Roman" panose="02020603050405020304" pitchFamily="18" charset="0"/>
              </a:rPr>
              <a:t>搬运开销。</a:t>
            </a:r>
          </a:p>
        </p:txBody>
      </p:sp>
    </p:spTree>
    <p:extLst>
      <p:ext uri="{BB962C8B-B14F-4D97-AF65-F5344CB8AC3E}">
        <p14:creationId xmlns:p14="http://schemas.microsoft.com/office/powerpoint/2010/main" val="1963429519"/>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text_103_原始 Skill 已具备完整开发流程"/>
          <p:cNvSpPr>
            <a:spLocks noGrp="1"/>
          </p:cNvSpPr>
          <p:nvPr/>
        </p:nvSpPr>
        <p:spPr>
          <a:xfrm>
            <a:off x="602043" y="1210386"/>
            <a:ext cx="5453452"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lang="en-US" altLang="zh-CN" sz="2000" b="1" dirty="0">
                <a:solidFill>
                  <a:srgbClr val="000000"/>
                </a:solidFill>
                <a:latin typeface="Times New Roman" panose="02020603050405020304" pitchFamily="18" charset="0"/>
                <a:cs typeface="Times New Roman" panose="02020603050405020304" pitchFamily="18" charset="0"/>
              </a:rPr>
              <a:t>MLU L1 + CPU L2 </a:t>
            </a:r>
            <a:r>
              <a:rPr lang="zh-CN" altLang="en-US" sz="2000" b="1" dirty="0">
                <a:solidFill>
                  <a:srgbClr val="000000"/>
                </a:solidFill>
                <a:latin typeface="Times New Roman" panose="02020603050405020304" pitchFamily="18" charset="0"/>
                <a:cs typeface="Times New Roman" panose="02020603050405020304" pitchFamily="18" charset="0"/>
              </a:rPr>
              <a:t>分层 </a:t>
            </a:r>
            <a:r>
              <a:rPr lang="en-US" altLang="zh-CN" sz="2000" b="1" dirty="0">
                <a:solidFill>
                  <a:srgbClr val="000000"/>
                </a:solidFill>
                <a:latin typeface="Times New Roman" panose="02020603050405020304" pitchFamily="18" charset="0"/>
                <a:cs typeface="Times New Roman" panose="02020603050405020304" pitchFamily="18" charset="0"/>
              </a:rPr>
              <a:t>Prefix KV Cache</a:t>
            </a:r>
          </a:p>
        </p:txBody>
      </p:sp>
      <p:sp>
        <p:nvSpPr>
          <p:cNvPr id="3"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13" name="text_258_Main"/>
          <p:cNvSpPr>
            <a:spLocks noGrp="1"/>
          </p:cNvSpPr>
          <p:nvPr/>
        </p:nvSpPr>
        <p:spPr>
          <a:xfrm>
            <a:off x="3392640" y="2161992"/>
            <a:ext cx="2231777" cy="375000"/>
          </a:xfrm>
          <a:prstGeom prst="rect">
            <a:avLst/>
          </a:prstGeom>
          <a:noFill/>
          <a:ln w="19050">
            <a:solidFill>
              <a:srgbClr val="C00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4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用户请求</a:t>
            </a:r>
            <a:endParaRPr sz="14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4" name="text_258_Main"/>
          <p:cNvSpPr>
            <a:spLocks noGrp="1"/>
          </p:cNvSpPr>
          <p:nvPr/>
        </p:nvSpPr>
        <p:spPr>
          <a:xfrm>
            <a:off x="3392639" y="2765746"/>
            <a:ext cx="2231777" cy="375000"/>
          </a:xfrm>
          <a:prstGeom prst="rect">
            <a:avLst/>
          </a:prstGeom>
          <a:noFill/>
          <a:ln w="19050">
            <a:solidFill>
              <a:srgbClr val="C00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400" dirty="0">
                <a:solidFill>
                  <a:srgbClr val="000000"/>
                </a:solidFill>
                <a:latin typeface="Times New Roman" panose="02020603050405020304" pitchFamily="18" charset="0"/>
                <a:cs typeface="Times New Roman" panose="02020603050405020304" pitchFamily="18" charset="0"/>
              </a:rPr>
              <a:t>两级</a:t>
            </a:r>
            <a:r>
              <a:rPr lang="en-US" altLang="zh-CN" sz="1400" dirty="0">
                <a:solidFill>
                  <a:srgbClr val="000000"/>
                </a:solidFill>
                <a:latin typeface="Times New Roman" panose="02020603050405020304" pitchFamily="18" charset="0"/>
                <a:cs typeface="Times New Roman" panose="02020603050405020304" pitchFamily="18" charset="0"/>
              </a:rPr>
              <a:t>Prefix</a:t>
            </a:r>
            <a:r>
              <a:rPr lang="zh-CN" altLang="en-US" sz="1400" dirty="0">
                <a:solidFill>
                  <a:srgbClr val="000000"/>
                </a:solidFill>
                <a:latin typeface="Times New Roman" panose="02020603050405020304" pitchFamily="18" charset="0"/>
                <a:cs typeface="Times New Roman" panose="02020603050405020304" pitchFamily="18" charset="0"/>
              </a:rPr>
              <a:t>查询</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15" name="text_258_Main"/>
          <p:cNvSpPr>
            <a:spLocks noGrp="1"/>
          </p:cNvSpPr>
          <p:nvPr/>
        </p:nvSpPr>
        <p:spPr>
          <a:xfrm>
            <a:off x="768718" y="3595146"/>
            <a:ext cx="2231777" cy="375000"/>
          </a:xfrm>
          <a:prstGeom prst="rect">
            <a:avLst/>
          </a:prstGeom>
          <a:noFill/>
          <a:ln w="19050">
            <a:solidFill>
              <a:srgbClr val="6699FF"/>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en-US" sz="1400" dirty="0">
                <a:solidFill>
                  <a:srgbClr val="000000"/>
                </a:solidFill>
                <a:latin typeface="Times New Roman" panose="02020603050405020304" pitchFamily="18" charset="0"/>
                <a:cs typeface="Times New Roman" panose="02020603050405020304" pitchFamily="18" charset="0"/>
              </a:rPr>
              <a:t>L1</a:t>
            </a:r>
            <a:r>
              <a:rPr lang="zh-CN" altLang="en-US" sz="1400" dirty="0">
                <a:solidFill>
                  <a:srgbClr val="000000"/>
                </a:solidFill>
                <a:latin typeface="Times New Roman" panose="02020603050405020304" pitchFamily="18" charset="0"/>
                <a:cs typeface="Times New Roman" panose="02020603050405020304" pitchFamily="18" charset="0"/>
              </a:rPr>
              <a:t>命中（</a:t>
            </a:r>
            <a:r>
              <a:rPr lang="en-US" altLang="zh-CN" sz="1400" dirty="0">
                <a:solidFill>
                  <a:srgbClr val="000000"/>
                </a:solidFill>
                <a:latin typeface="Times New Roman" panose="02020603050405020304" pitchFamily="18" charset="0"/>
                <a:cs typeface="Times New Roman" panose="02020603050405020304" pitchFamily="18" charset="0"/>
              </a:rPr>
              <a:t>MLU</a:t>
            </a:r>
            <a:r>
              <a:rPr lang="zh-CN" altLang="en-US" sz="1400" dirty="0">
                <a:solidFill>
                  <a:srgbClr val="000000"/>
                </a:solidFill>
                <a:latin typeface="Times New Roman" panose="02020603050405020304" pitchFamily="18" charset="0"/>
                <a:cs typeface="Times New Roman" panose="02020603050405020304" pitchFamily="18" charset="0"/>
              </a:rPr>
              <a:t>）</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16" name="text_258_Main"/>
          <p:cNvSpPr>
            <a:spLocks noGrp="1"/>
          </p:cNvSpPr>
          <p:nvPr/>
        </p:nvSpPr>
        <p:spPr>
          <a:xfrm>
            <a:off x="768717" y="4315226"/>
            <a:ext cx="2231777" cy="375000"/>
          </a:xfrm>
          <a:prstGeom prst="rect">
            <a:avLst/>
          </a:prstGeom>
          <a:noFill/>
          <a:ln w="19050">
            <a:solidFill>
              <a:srgbClr val="6699FF"/>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400" dirty="0">
                <a:solidFill>
                  <a:srgbClr val="000000"/>
                </a:solidFill>
                <a:latin typeface="Times New Roman" panose="02020603050405020304" pitchFamily="18" charset="0"/>
                <a:cs typeface="Times New Roman" panose="02020603050405020304" pitchFamily="18" charset="0"/>
              </a:rPr>
              <a:t>复用</a:t>
            </a:r>
            <a:r>
              <a:rPr lang="en-US" altLang="zh-CN" sz="1400" dirty="0">
                <a:solidFill>
                  <a:srgbClr val="000000"/>
                </a:solidFill>
                <a:latin typeface="Times New Roman" panose="02020603050405020304" pitchFamily="18" charset="0"/>
                <a:cs typeface="Times New Roman" panose="02020603050405020304" pitchFamily="18" charset="0"/>
              </a:rPr>
              <a:t>KV Cache</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17" name="text_258_Main"/>
          <p:cNvSpPr>
            <a:spLocks noGrp="1"/>
          </p:cNvSpPr>
          <p:nvPr/>
        </p:nvSpPr>
        <p:spPr>
          <a:xfrm>
            <a:off x="3392639" y="3565226"/>
            <a:ext cx="2231777" cy="375000"/>
          </a:xfrm>
          <a:prstGeom prst="rect">
            <a:avLst/>
          </a:prstGeom>
          <a:noFill/>
          <a:ln w="19050">
            <a:solidFill>
              <a:srgbClr val="FFC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en-US" sz="1400" dirty="0">
                <a:solidFill>
                  <a:srgbClr val="000000"/>
                </a:solidFill>
                <a:latin typeface="Times New Roman" panose="02020603050405020304" pitchFamily="18" charset="0"/>
                <a:cs typeface="Times New Roman" panose="02020603050405020304" pitchFamily="18" charset="0"/>
              </a:rPr>
              <a:t>L2</a:t>
            </a:r>
            <a:r>
              <a:rPr lang="zh-CN" altLang="en-US" sz="1400" dirty="0">
                <a:solidFill>
                  <a:srgbClr val="000000"/>
                </a:solidFill>
                <a:latin typeface="Times New Roman" panose="02020603050405020304" pitchFamily="18" charset="0"/>
                <a:cs typeface="Times New Roman" panose="02020603050405020304" pitchFamily="18" charset="0"/>
              </a:rPr>
              <a:t>命中（</a:t>
            </a:r>
            <a:r>
              <a:rPr lang="en-US" altLang="zh-CN" sz="1400" dirty="0">
                <a:solidFill>
                  <a:srgbClr val="000000"/>
                </a:solidFill>
                <a:latin typeface="Times New Roman" panose="02020603050405020304" pitchFamily="18" charset="0"/>
                <a:cs typeface="Times New Roman" panose="02020603050405020304" pitchFamily="18" charset="0"/>
              </a:rPr>
              <a:t>CPU</a:t>
            </a:r>
            <a:r>
              <a:rPr lang="zh-CN" altLang="en-US" sz="1400" dirty="0">
                <a:solidFill>
                  <a:srgbClr val="000000"/>
                </a:solidFill>
                <a:latin typeface="Times New Roman" panose="02020603050405020304" pitchFamily="18" charset="0"/>
                <a:cs typeface="Times New Roman" panose="02020603050405020304" pitchFamily="18" charset="0"/>
              </a:rPr>
              <a:t>）</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18" name="text_258_Main"/>
          <p:cNvSpPr>
            <a:spLocks noGrp="1"/>
          </p:cNvSpPr>
          <p:nvPr/>
        </p:nvSpPr>
        <p:spPr>
          <a:xfrm>
            <a:off x="3392639" y="4315226"/>
            <a:ext cx="2231777" cy="375000"/>
          </a:xfrm>
          <a:prstGeom prst="rect">
            <a:avLst/>
          </a:prstGeom>
          <a:noFill/>
          <a:ln w="19050">
            <a:solidFill>
              <a:srgbClr val="FFC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400" dirty="0">
                <a:solidFill>
                  <a:srgbClr val="000000"/>
                </a:solidFill>
                <a:latin typeface="Times New Roman" panose="02020603050405020304" pitchFamily="18" charset="0"/>
                <a:cs typeface="Times New Roman" panose="02020603050405020304" pitchFamily="18" charset="0"/>
              </a:rPr>
              <a:t>搬运</a:t>
            </a:r>
            <a:r>
              <a:rPr lang="en-US" altLang="zh-CN" sz="1400" dirty="0">
                <a:solidFill>
                  <a:srgbClr val="000000"/>
                </a:solidFill>
                <a:latin typeface="Times New Roman" panose="02020603050405020304" pitchFamily="18" charset="0"/>
                <a:cs typeface="Times New Roman" panose="02020603050405020304" pitchFamily="18" charset="0"/>
              </a:rPr>
              <a:t>+</a:t>
            </a:r>
            <a:r>
              <a:rPr lang="zh-CN" altLang="en-US" sz="1400" dirty="0">
                <a:solidFill>
                  <a:srgbClr val="000000"/>
                </a:solidFill>
                <a:latin typeface="Times New Roman" panose="02020603050405020304" pitchFamily="18" charset="0"/>
                <a:cs typeface="Times New Roman" panose="02020603050405020304" pitchFamily="18" charset="0"/>
              </a:rPr>
              <a:t>复用</a:t>
            </a:r>
            <a:r>
              <a:rPr lang="en-US" altLang="zh-CN" sz="1400" dirty="0">
                <a:solidFill>
                  <a:srgbClr val="000000"/>
                </a:solidFill>
                <a:latin typeface="Times New Roman" panose="02020603050405020304" pitchFamily="18" charset="0"/>
                <a:cs typeface="Times New Roman" panose="02020603050405020304" pitchFamily="18" charset="0"/>
              </a:rPr>
              <a:t>KV Cache</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19" name="text_258_Main"/>
          <p:cNvSpPr>
            <a:spLocks noGrp="1"/>
          </p:cNvSpPr>
          <p:nvPr/>
        </p:nvSpPr>
        <p:spPr>
          <a:xfrm>
            <a:off x="6068637" y="3595146"/>
            <a:ext cx="2231777" cy="375000"/>
          </a:xfrm>
          <a:prstGeom prst="rect">
            <a:avLst/>
          </a:prstGeom>
          <a:noFill/>
          <a:ln w="19050">
            <a:solidFill>
              <a:srgbClr val="7030A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400" dirty="0">
                <a:solidFill>
                  <a:srgbClr val="000000"/>
                </a:solidFill>
                <a:latin typeface="Times New Roman" panose="02020603050405020304" pitchFamily="18" charset="0"/>
                <a:cs typeface="Times New Roman" panose="02020603050405020304" pitchFamily="18" charset="0"/>
              </a:rPr>
              <a:t>均未命中</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20" name="text_258_Main"/>
          <p:cNvSpPr>
            <a:spLocks noGrp="1"/>
          </p:cNvSpPr>
          <p:nvPr/>
        </p:nvSpPr>
        <p:spPr>
          <a:xfrm>
            <a:off x="6068637" y="4312783"/>
            <a:ext cx="2231777" cy="375000"/>
          </a:xfrm>
          <a:prstGeom prst="rect">
            <a:avLst/>
          </a:prstGeom>
          <a:noFill/>
          <a:ln w="19050">
            <a:solidFill>
              <a:srgbClr val="7030A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en-US" sz="1400" dirty="0">
                <a:solidFill>
                  <a:srgbClr val="000000"/>
                </a:solidFill>
                <a:latin typeface="Times New Roman" panose="02020603050405020304" pitchFamily="18" charset="0"/>
                <a:cs typeface="Times New Roman" panose="02020603050405020304" pitchFamily="18" charset="0"/>
              </a:rPr>
              <a:t>P</a:t>
            </a:r>
            <a:r>
              <a:rPr lang="en-US" altLang="zh-CN" sz="1400" dirty="0">
                <a:solidFill>
                  <a:srgbClr val="000000"/>
                </a:solidFill>
                <a:latin typeface="Times New Roman" panose="02020603050405020304" pitchFamily="18" charset="0"/>
                <a:cs typeface="Times New Roman" panose="02020603050405020304" pitchFamily="18" charset="0"/>
              </a:rPr>
              <a:t>refill</a:t>
            </a:r>
            <a:r>
              <a:rPr lang="zh-CN" altLang="en-US" sz="1400" dirty="0">
                <a:solidFill>
                  <a:srgbClr val="000000"/>
                </a:solidFill>
                <a:latin typeface="Times New Roman" panose="02020603050405020304" pitchFamily="18" charset="0"/>
                <a:cs typeface="Times New Roman" panose="02020603050405020304" pitchFamily="18" charset="0"/>
              </a:rPr>
              <a:t>计算</a:t>
            </a:r>
            <a:endParaRPr sz="1400" dirty="0">
              <a:solidFill>
                <a:srgbClr val="000000"/>
              </a:solidFill>
              <a:latin typeface="Times New Roman" panose="02020603050405020304" pitchFamily="18" charset="0"/>
              <a:cs typeface="Times New Roman" panose="02020603050405020304" pitchFamily="18" charset="0"/>
            </a:endParaRPr>
          </a:p>
        </p:txBody>
      </p:sp>
      <p:sp>
        <p:nvSpPr>
          <p:cNvPr id="22" name="text_258_Main"/>
          <p:cNvSpPr>
            <a:spLocks noGrp="1"/>
          </p:cNvSpPr>
          <p:nvPr/>
        </p:nvSpPr>
        <p:spPr>
          <a:xfrm>
            <a:off x="3392639" y="5067509"/>
            <a:ext cx="2231777" cy="375000"/>
          </a:xfrm>
          <a:prstGeom prst="rect">
            <a:avLst/>
          </a:prstGeom>
          <a:noFill/>
          <a:ln w="19050">
            <a:solidFill>
              <a:srgbClr val="C00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400" dirty="0">
                <a:solidFill>
                  <a:srgbClr val="000000"/>
                </a:solidFill>
                <a:latin typeface="Times New Roman" panose="02020603050405020304" pitchFamily="18" charset="0"/>
                <a:cs typeface="Times New Roman" panose="02020603050405020304" pitchFamily="18" charset="0"/>
              </a:rPr>
              <a:t>后续计算</a:t>
            </a:r>
            <a:endParaRPr sz="1400" dirty="0">
              <a:solidFill>
                <a:srgbClr val="000000"/>
              </a:solidFill>
              <a:latin typeface="Times New Roman" panose="02020603050405020304" pitchFamily="18" charset="0"/>
              <a:cs typeface="Times New Roman" panose="02020603050405020304" pitchFamily="18" charset="0"/>
            </a:endParaRPr>
          </a:p>
        </p:txBody>
      </p:sp>
      <p:cxnSp>
        <p:nvCxnSpPr>
          <p:cNvPr id="5" name="直接箭头连接符 4"/>
          <p:cNvCxnSpPr>
            <a:stCxn id="13" idx="2"/>
            <a:endCxn id="14" idx="0"/>
          </p:cNvCxnSpPr>
          <p:nvPr/>
        </p:nvCxnSpPr>
        <p:spPr>
          <a:xfrm flipH="1">
            <a:off x="4508528" y="2536992"/>
            <a:ext cx="1" cy="228754"/>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p:cNvCxnSpPr>
            <a:stCxn id="14" idx="2"/>
            <a:endCxn id="17" idx="0"/>
          </p:cNvCxnSpPr>
          <p:nvPr/>
        </p:nvCxnSpPr>
        <p:spPr>
          <a:xfrm>
            <a:off x="4508528" y="3140746"/>
            <a:ext cx="0" cy="42448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肘形连接符 22"/>
          <p:cNvCxnSpPr>
            <a:stCxn id="14" idx="2"/>
            <a:endCxn id="15" idx="0"/>
          </p:cNvCxnSpPr>
          <p:nvPr/>
        </p:nvCxnSpPr>
        <p:spPr>
          <a:xfrm rot="5400000">
            <a:off x="2969368" y="2055986"/>
            <a:ext cx="454400" cy="2623921"/>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肘形连接符 26"/>
          <p:cNvCxnSpPr>
            <a:stCxn id="14" idx="2"/>
            <a:endCxn id="19" idx="0"/>
          </p:cNvCxnSpPr>
          <p:nvPr/>
        </p:nvCxnSpPr>
        <p:spPr>
          <a:xfrm rot="16200000" flipH="1">
            <a:off x="5619327" y="2029947"/>
            <a:ext cx="454400" cy="2675998"/>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5" idx="2"/>
            <a:endCxn id="16" idx="0"/>
          </p:cNvCxnSpPr>
          <p:nvPr/>
        </p:nvCxnSpPr>
        <p:spPr>
          <a:xfrm flipH="1">
            <a:off x="1884606" y="3970146"/>
            <a:ext cx="1" cy="345080"/>
          </a:xfrm>
          <a:prstGeom prst="straightConnector1">
            <a:avLst/>
          </a:prstGeom>
          <a:ln w="19050">
            <a:solidFill>
              <a:srgbClr val="6699FF"/>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a:stCxn id="17" idx="2"/>
            <a:endCxn id="18" idx="0"/>
          </p:cNvCxnSpPr>
          <p:nvPr/>
        </p:nvCxnSpPr>
        <p:spPr>
          <a:xfrm>
            <a:off x="4508528" y="3940226"/>
            <a:ext cx="0" cy="375000"/>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p:cNvCxnSpPr>
            <a:stCxn id="19" idx="2"/>
            <a:endCxn id="20" idx="0"/>
          </p:cNvCxnSpPr>
          <p:nvPr/>
        </p:nvCxnSpPr>
        <p:spPr>
          <a:xfrm>
            <a:off x="7184526" y="3970146"/>
            <a:ext cx="0" cy="342637"/>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a:stCxn id="18" idx="2"/>
            <a:endCxn id="22" idx="0"/>
          </p:cNvCxnSpPr>
          <p:nvPr/>
        </p:nvCxnSpPr>
        <p:spPr>
          <a:xfrm>
            <a:off x="4508528" y="4690226"/>
            <a:ext cx="0" cy="377283"/>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肘形连接符 37"/>
          <p:cNvCxnSpPr>
            <a:stCxn id="16" idx="2"/>
            <a:endCxn id="22" idx="0"/>
          </p:cNvCxnSpPr>
          <p:nvPr/>
        </p:nvCxnSpPr>
        <p:spPr>
          <a:xfrm rot="16200000" flipH="1">
            <a:off x="3007926" y="3566906"/>
            <a:ext cx="377283" cy="2623922"/>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肘形连接符 41"/>
          <p:cNvCxnSpPr>
            <a:stCxn id="20" idx="2"/>
            <a:endCxn id="22" idx="0"/>
          </p:cNvCxnSpPr>
          <p:nvPr/>
        </p:nvCxnSpPr>
        <p:spPr>
          <a:xfrm rot="5400000">
            <a:off x="5656664" y="3539647"/>
            <a:ext cx="379726" cy="2675998"/>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3" name="文本框 95"/>
          <p:cNvSpPr txBox="1"/>
          <p:nvPr/>
        </p:nvSpPr>
        <p:spPr>
          <a:xfrm>
            <a:off x="2701033" y="5790873"/>
            <a:ext cx="1440160" cy="37683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ctr">
              <a:lnSpc>
                <a:spcPct val="150000"/>
              </a:lnSpc>
              <a:buFont typeface="Wingdings" panose="05000000000000000000" pitchFamily="2" charset="2"/>
              <a:buChar char="Ø"/>
            </a:pPr>
            <a:r>
              <a:rPr lang="en-US" altLang="zh-CN" sz="1400" b="1" dirty="0">
                <a:latin typeface="Times New Roman" panose="02020603050405020304" pitchFamily="18" charset="0"/>
                <a:ea typeface="微软雅黑" panose="020B0503020204020204" pitchFamily="34" charset="-122"/>
                <a:cs typeface="Times New Roman" panose="02020603050405020304" pitchFamily="18" charset="0"/>
                <a:sym typeface="+mn-ea"/>
              </a:rPr>
              <a:t>Qwen3-8B</a:t>
            </a:r>
            <a:endParaRPr lang="zh-CN" altLang="en-US" sz="1400" b="1" dirty="0">
              <a:latin typeface="Times New Roman" panose="02020603050405020304" pitchFamily="18" charset="0"/>
              <a:ea typeface="微软雅黑" panose="020B0503020204020204" pitchFamily="34" charset="-122"/>
              <a:cs typeface="Times New Roman" panose="02020603050405020304" pitchFamily="18" charset="0"/>
              <a:sym typeface="+mn-ea"/>
            </a:endParaRPr>
          </a:p>
        </p:txBody>
      </p:sp>
      <p:sp>
        <p:nvSpPr>
          <p:cNvPr id="54" name="文本框 95"/>
          <p:cNvSpPr txBox="1"/>
          <p:nvPr/>
        </p:nvSpPr>
        <p:spPr>
          <a:xfrm>
            <a:off x="4125004" y="5790873"/>
            <a:ext cx="1512168" cy="37683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ctr">
              <a:lnSpc>
                <a:spcPct val="150000"/>
              </a:lnSpc>
              <a:buFont typeface="Wingdings" panose="05000000000000000000" pitchFamily="2" charset="2"/>
              <a:buChar char="Ø"/>
            </a:pPr>
            <a:r>
              <a:rPr lang="en-US" altLang="zh-CN" sz="1400" b="1" dirty="0">
                <a:latin typeface="Times New Roman" panose="02020603050405020304" pitchFamily="18" charset="0"/>
                <a:ea typeface="微软雅黑" panose="020B0503020204020204" pitchFamily="34" charset="-122"/>
                <a:cs typeface="Times New Roman" panose="02020603050405020304" pitchFamily="18" charset="0"/>
                <a:sym typeface="+mn-ea"/>
              </a:rPr>
              <a:t>Nano-</a:t>
            </a:r>
            <a:r>
              <a:rPr lang="en-US" altLang="zh-CN" sz="1400" b="1" dirty="0" err="1">
                <a:latin typeface="Times New Roman" panose="02020603050405020304" pitchFamily="18" charset="0"/>
                <a:ea typeface="微软雅黑" panose="020B0503020204020204" pitchFamily="34" charset="-122"/>
                <a:cs typeface="Times New Roman" panose="02020603050405020304" pitchFamily="18" charset="0"/>
                <a:sym typeface="+mn-ea"/>
              </a:rPr>
              <a:t>vllm</a:t>
            </a:r>
            <a:endParaRPr lang="zh-CN" altLang="en-US" sz="1400" b="1" dirty="0">
              <a:latin typeface="Times New Roman" panose="02020603050405020304" pitchFamily="18" charset="0"/>
              <a:ea typeface="微软雅黑" panose="020B0503020204020204" pitchFamily="34" charset="-122"/>
              <a:cs typeface="Times New Roman" panose="02020603050405020304" pitchFamily="18" charset="0"/>
              <a:sym typeface="+mn-ea"/>
            </a:endParaRPr>
          </a:p>
        </p:txBody>
      </p:sp>
      <p:sp>
        <p:nvSpPr>
          <p:cNvPr id="55" name="文本框 95"/>
          <p:cNvSpPr txBox="1"/>
          <p:nvPr/>
        </p:nvSpPr>
        <p:spPr>
          <a:xfrm>
            <a:off x="412478" y="6338253"/>
            <a:ext cx="7692517" cy="33855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n"/>
            </a:pPr>
            <a:r>
              <a:rPr lang="zh-CN" altLang="en-US" sz="1600" b="1" dirty="0" smtClean="0">
                <a:solidFill>
                  <a:srgbClr val="C00000"/>
                </a:solidFill>
                <a:latin typeface="微软雅黑" panose="020B0503020204020204" pitchFamily="34" charset="-122"/>
                <a:ea typeface="微软雅黑" panose="020B0503020204020204" pitchFamily="34" charset="-122"/>
                <a:sym typeface="+mn-ea"/>
              </a:rPr>
              <a:t>主要问题：</a:t>
            </a:r>
            <a:r>
              <a:rPr lang="en-US" altLang="zh-CN" sz="1600" b="1" dirty="0">
                <a:solidFill>
                  <a:srgbClr val="C00000"/>
                </a:solidFill>
                <a:latin typeface="微软雅黑" panose="020B0503020204020204" pitchFamily="34" charset="-122"/>
                <a:ea typeface="微软雅黑" panose="020B0503020204020204" pitchFamily="34" charset="-122"/>
                <a:sym typeface="+mn-ea"/>
              </a:rPr>
              <a:t>l2</a:t>
            </a:r>
            <a:r>
              <a:rPr lang="zh-CN" altLang="en-US" sz="1600" b="1" dirty="0">
                <a:solidFill>
                  <a:srgbClr val="C00000"/>
                </a:solidFill>
                <a:latin typeface="微软雅黑" panose="020B0503020204020204" pitchFamily="34" charset="-122"/>
                <a:ea typeface="微软雅黑" panose="020B0503020204020204" pitchFamily="34" charset="-122"/>
                <a:sym typeface="+mn-ea"/>
              </a:rPr>
              <a:t>命中之后，数据如何搬运（</a:t>
            </a:r>
            <a:r>
              <a:rPr lang="en-US" altLang="zh-CN" sz="1600" b="1" dirty="0">
                <a:solidFill>
                  <a:srgbClr val="C00000"/>
                </a:solidFill>
                <a:latin typeface="微软雅黑" panose="020B0503020204020204" pitchFamily="34" charset="-122"/>
                <a:ea typeface="微软雅黑" panose="020B0503020204020204" pitchFamily="34" charset="-122"/>
                <a:sym typeface="+mn-ea"/>
              </a:rPr>
              <a:t>CPU </a:t>
            </a:r>
            <a:r>
              <a:rPr lang="zh-CN" altLang="en-US" sz="1600" b="1" dirty="0">
                <a:solidFill>
                  <a:srgbClr val="C00000"/>
                </a:solidFill>
                <a:latin typeface="微软雅黑" panose="020B0503020204020204" pitchFamily="34" charset="-122"/>
                <a:ea typeface="微软雅黑" panose="020B0503020204020204" pitchFamily="34" charset="-122"/>
                <a:sym typeface="+mn-ea"/>
              </a:rPr>
              <a:t>至</a:t>
            </a:r>
            <a:r>
              <a:rPr lang="en-US" altLang="zh-CN" sz="1600" b="1" dirty="0">
                <a:solidFill>
                  <a:srgbClr val="C00000"/>
                </a:solidFill>
                <a:latin typeface="微软雅黑" panose="020B0503020204020204" pitchFamily="34" charset="-122"/>
                <a:ea typeface="微软雅黑" panose="020B0503020204020204" pitchFamily="34" charset="-122"/>
                <a:sym typeface="+mn-ea"/>
              </a:rPr>
              <a:t>MLU</a:t>
            </a:r>
            <a:r>
              <a:rPr lang="zh-CN" altLang="en-US" sz="1600" b="1" dirty="0">
                <a:solidFill>
                  <a:srgbClr val="C00000"/>
                </a:solidFill>
                <a:latin typeface="微软雅黑" panose="020B0503020204020204" pitchFamily="34" charset="-122"/>
                <a:ea typeface="微软雅黑" panose="020B0503020204020204" pitchFamily="34" charset="-122"/>
                <a:sym typeface="+mn-ea"/>
              </a:rPr>
              <a:t>）的更快。</a:t>
            </a:r>
          </a:p>
        </p:txBody>
      </p:sp>
      <p:sp>
        <p:nvSpPr>
          <p:cNvPr id="56" name="矩形 55"/>
          <p:cNvSpPr/>
          <p:nvPr/>
        </p:nvSpPr>
        <p:spPr>
          <a:xfrm>
            <a:off x="412478" y="1719172"/>
            <a:ext cx="1704313"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smtClean="0">
                <a:solidFill>
                  <a:schemeClr val="tx1">
                    <a:lumMod val="95000"/>
                    <a:lumOff val="5000"/>
                  </a:schemeClr>
                </a:solidFill>
                <a:latin typeface="Microsoft YaHei"/>
                <a:ea typeface="Microsoft YaHei"/>
                <a:cs typeface="Microsoft YaHei"/>
              </a:rPr>
              <a:t>项目整体方案</a:t>
            </a:r>
            <a:endParaRPr lang="zh-CN" altLang="en-US" sz="1600" b="1" dirty="0">
              <a:solidFill>
                <a:schemeClr val="tx1">
                  <a:lumMod val="95000"/>
                  <a:lumOff val="5000"/>
                </a:schemeClr>
              </a:solidFill>
              <a:latin typeface="Microsoft YaHei"/>
              <a:ea typeface="Microsoft YaHei"/>
              <a:cs typeface="Microsoft YaHei"/>
            </a:endParaRPr>
          </a:p>
        </p:txBody>
      </p:sp>
      <p:sp>
        <p:nvSpPr>
          <p:cNvPr id="57" name="矩形 56"/>
          <p:cNvSpPr/>
          <p:nvPr/>
        </p:nvSpPr>
        <p:spPr>
          <a:xfrm>
            <a:off x="412478" y="5387786"/>
            <a:ext cx="1171159" cy="338554"/>
          </a:xfrm>
          <a:prstGeom prst="rect">
            <a:avLst/>
          </a:prstGeom>
        </p:spPr>
        <p:txBody>
          <a:bodyPr wrap="squar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icrosoft YaHei"/>
                <a:ea typeface="Microsoft YaHei"/>
                <a:cs typeface="Microsoft YaHei"/>
              </a:rPr>
              <a:t>平台</a:t>
            </a:r>
          </a:p>
        </p:txBody>
      </p:sp>
      <p:sp>
        <p:nvSpPr>
          <p:cNvPr id="4" name="灯片编号占位符 3">
            <a:extLst>
              <a:ext uri="{FF2B5EF4-FFF2-40B4-BE49-F238E27FC236}">
                <a16:creationId xmlns:a16="http://schemas.microsoft.com/office/drawing/2014/main" id="{C587429D-0A7C-2703-530A-07A6F0ED62A8}"/>
              </a:ext>
            </a:extLst>
          </p:cNvPr>
          <p:cNvSpPr>
            <a:spLocks noGrp="1"/>
          </p:cNvSpPr>
          <p:nvPr>
            <p:ph type="sldNum" sz="quarter" idx="12"/>
          </p:nvPr>
        </p:nvSpPr>
        <p:spPr/>
        <p:txBody>
          <a:bodyPr/>
          <a:lstStyle/>
          <a:p>
            <a:fld id="{03621AC1-4C4D-435F-BACF-B518BC126F02}" type="slidenum">
              <a:rPr lang="zh-CN" altLang="en-US" smtClean="0"/>
              <a:t>9</a:t>
            </a:fld>
            <a:endParaRPr lang="zh-CN" altLang="en-US"/>
          </a:p>
        </p:txBody>
      </p:sp>
      <p:sp>
        <p:nvSpPr>
          <p:cNvPr id="9" name="标题 1">
            <a:extLst>
              <a:ext uri="{FF2B5EF4-FFF2-40B4-BE49-F238E27FC236}">
                <a16:creationId xmlns:a16="http://schemas.microsoft.com/office/drawing/2014/main" id="{25DE0C5C-FA41-DEA9-F67E-7FCFED75B4AE}"/>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10" name="文本框 95">
            <a:extLst>
              <a:ext uri="{FF2B5EF4-FFF2-40B4-BE49-F238E27FC236}">
                <a16:creationId xmlns:a16="http://schemas.microsoft.com/office/drawing/2014/main" id="{59105B29-FAFC-08D9-FC56-62611ACC16F7}"/>
              </a:ext>
            </a:extLst>
          </p:cNvPr>
          <p:cNvSpPr txBox="1"/>
          <p:nvPr/>
        </p:nvSpPr>
        <p:spPr>
          <a:xfrm>
            <a:off x="768717" y="5792708"/>
            <a:ext cx="1948505" cy="377283"/>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ctr">
              <a:lnSpc>
                <a:spcPct val="150000"/>
              </a:lnSpc>
              <a:buFont typeface="Wingdings" panose="05000000000000000000" pitchFamily="2" charset="2"/>
              <a:buChar char="Ø"/>
            </a:pPr>
            <a:r>
              <a:rPr lang="en-US" altLang="zh-CN" sz="1400" b="1" dirty="0">
                <a:latin typeface="Times New Roman" panose="02020603050405020304" pitchFamily="18" charset="0"/>
                <a:ea typeface="微软雅黑" panose="020B0503020204020204" pitchFamily="34" charset="-122"/>
                <a:cs typeface="Times New Roman" panose="02020603050405020304" pitchFamily="18" charset="0"/>
                <a:sym typeface="+mn-ea"/>
              </a:rPr>
              <a:t>MLU590</a:t>
            </a:r>
            <a:r>
              <a:rPr lang="zh-CN" altLang="en-US" sz="1400" b="1" dirty="0">
                <a:latin typeface="Times New Roman" panose="02020603050405020304" pitchFamily="18" charset="0"/>
                <a:ea typeface="微软雅黑" panose="020B0503020204020204" pitchFamily="34" charset="-122"/>
                <a:cs typeface="Times New Roman" panose="02020603050405020304" pitchFamily="18" charset="0"/>
                <a:sym typeface="+mn-ea"/>
              </a:rPr>
              <a:t>（</a:t>
            </a:r>
            <a:r>
              <a:rPr lang="en-US" altLang="zh-CN" sz="1400" b="1" dirty="0">
                <a:latin typeface="Times New Roman" panose="02020603050405020304" pitchFamily="18" charset="0"/>
                <a:ea typeface="微软雅黑" panose="020B0503020204020204" pitchFamily="34" charset="-122"/>
                <a:cs typeface="Times New Roman" panose="02020603050405020304" pitchFamily="18" charset="0"/>
                <a:sym typeface="+mn-ea"/>
              </a:rPr>
              <a:t>80GB)</a:t>
            </a:r>
            <a:endParaRPr lang="zh-CN" altLang="en-US" sz="1400" b="1" dirty="0">
              <a:latin typeface="Times New Roman" panose="02020603050405020304" pitchFamily="18" charset="0"/>
              <a:ea typeface="微软雅黑" panose="020B0503020204020204" pitchFamily="34" charset="-122"/>
              <a:cs typeface="Times New Roman" panose="02020603050405020304" pitchFamily="18" charset="0"/>
              <a:sym typeface="+mn-ea"/>
            </a:endParaRPr>
          </a:p>
        </p:txBody>
      </p:sp>
      <p:sp>
        <p:nvSpPr>
          <p:cNvPr id="11" name="文本框 95">
            <a:extLst>
              <a:ext uri="{FF2B5EF4-FFF2-40B4-BE49-F238E27FC236}">
                <a16:creationId xmlns:a16="http://schemas.microsoft.com/office/drawing/2014/main" id="{87F97E79-C02F-4424-A7F0-AF9D056BAD10}"/>
              </a:ext>
            </a:extLst>
          </p:cNvPr>
          <p:cNvSpPr txBox="1"/>
          <p:nvPr/>
        </p:nvSpPr>
        <p:spPr>
          <a:xfrm>
            <a:off x="5620982" y="5781066"/>
            <a:ext cx="1080120" cy="37683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ctr">
              <a:lnSpc>
                <a:spcPct val="150000"/>
              </a:lnSpc>
              <a:buFont typeface="Wingdings" panose="05000000000000000000" pitchFamily="2" charset="2"/>
              <a:buChar char="Ø"/>
            </a:pPr>
            <a:r>
              <a:rPr lang="en-US" altLang="zh-CN" sz="1400" b="1" dirty="0">
                <a:latin typeface="Times New Roman" panose="02020603050405020304" pitchFamily="18" charset="0"/>
                <a:ea typeface="微软雅黑" panose="020B0503020204020204" pitchFamily="34" charset="-122"/>
                <a:cs typeface="Times New Roman" panose="02020603050405020304" pitchFamily="18" charset="0"/>
                <a:sym typeface="+mn-ea"/>
              </a:rPr>
              <a:t>BF16</a:t>
            </a:r>
            <a:endParaRPr lang="zh-CN" altLang="en-US" sz="1400" b="1" dirty="0">
              <a:latin typeface="Times New Roman" panose="02020603050405020304" pitchFamily="18" charset="0"/>
              <a:ea typeface="微软雅黑" panose="020B0503020204020204" pitchFamily="34" charset="-122"/>
              <a:cs typeface="Times New Roman" panose="02020603050405020304" pitchFamily="18" charset="0"/>
              <a:sym typeface="+mn-ea"/>
            </a:endParaRPr>
          </a:p>
        </p:txBody>
      </p:sp>
    </p:spTree>
    <p:extLst>
      <p:ext uri="{BB962C8B-B14F-4D97-AF65-F5344CB8AC3E}">
        <p14:creationId xmlns:p14="http://schemas.microsoft.com/office/powerpoint/2010/main" val="338987992"/>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灯片编号占位符 26"/>
          <p:cNvSpPr>
            <a:spLocks noGrp="1"/>
          </p:cNvSpPr>
          <p:nvPr>
            <p:ph type="sldNum" sz="quarter" idx="12"/>
          </p:nvPr>
        </p:nvSpPr>
        <p:spPr/>
        <p:txBody>
          <a:bodyPr/>
          <a:lstStyle/>
          <a:p>
            <a:fld id="{03621AC1-4C4D-435F-BACF-B518BC126F02}" type="slidenum">
              <a:rPr lang="zh-CN" altLang="en-US" smtClean="0"/>
              <a:t>10</a:t>
            </a:fld>
            <a:endParaRPr lang="zh-CN" altLang="en-US"/>
          </a:p>
        </p:txBody>
      </p:sp>
      <p:sp>
        <p:nvSpPr>
          <p:cNvPr id="84"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en-US" altLang="zh-CN" sz="2000" b="1" dirty="0" err="1">
                <a:solidFill>
                  <a:srgbClr val="000000"/>
                </a:solidFill>
                <a:latin typeface="Times New Roman" panose="02020603050405020304" pitchFamily="18" charset="0"/>
                <a:cs typeface="Times New Roman" panose="02020603050405020304" pitchFamily="18" charset="0"/>
              </a:rPr>
              <a:t>vllm</a:t>
            </a:r>
            <a:r>
              <a:rPr lang="zh-CN" altLang="en-US" sz="2000" b="1" dirty="0">
                <a:solidFill>
                  <a:srgbClr val="000000"/>
                </a:solidFill>
                <a:latin typeface="Times New Roman" panose="02020603050405020304" pitchFamily="18" charset="0"/>
                <a:cs typeface="Times New Roman" panose="02020603050405020304" pitchFamily="18" charset="0"/>
              </a:rPr>
              <a:t>优化：数据布局优化</a:t>
            </a:r>
          </a:p>
        </p:txBody>
      </p:sp>
      <p:sp>
        <p:nvSpPr>
          <p:cNvPr id="3"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11" name="p1-o12">
            <a:extLst>
              <a:ext uri="{FF2B5EF4-FFF2-40B4-BE49-F238E27FC236}">
                <a16:creationId xmlns:a16="http://schemas.microsoft.com/office/drawing/2014/main" id="{855DABC6-57FD-4B78-87AA-97BCD04ABD72}"/>
              </a:ext>
            </a:extLst>
          </p:cNvPr>
          <p:cNvSpPr>
            <a:spLocks noGrp="1"/>
          </p:cNvSpPr>
          <p:nvPr/>
        </p:nvSpPr>
        <p:spPr>
          <a:xfrm>
            <a:off x="4719638" y="1615700"/>
            <a:ext cx="4152900" cy="390525"/>
          </a:xfrm>
          <a:prstGeom prst="roundRect">
            <a:avLst>
              <a:gd name="adj" fmla="val 9756"/>
            </a:avLst>
          </a:prstGeom>
          <a:noFill/>
          <a:ln w="0">
            <a:noFill/>
          </a:ln>
        </p:spPr>
      </p:sp>
      <p:sp>
        <p:nvSpPr>
          <p:cNvPr id="15" name="p1-o16">
            <a:extLst>
              <a:ext uri="{FF2B5EF4-FFF2-40B4-BE49-F238E27FC236}">
                <a16:creationId xmlns:a16="http://schemas.microsoft.com/office/drawing/2014/main" id="{15E14EBD-FDD8-45BC-B0DB-304428A57C9C}"/>
              </a:ext>
            </a:extLst>
          </p:cNvPr>
          <p:cNvSpPr>
            <a:spLocks noGrp="1"/>
          </p:cNvSpPr>
          <p:nvPr/>
        </p:nvSpPr>
        <p:spPr>
          <a:xfrm>
            <a:off x="1495018" y="2221152"/>
            <a:ext cx="390525" cy="209550"/>
          </a:xfrm>
          <a:prstGeom prst="rect">
            <a:avLst/>
          </a:prstGeom>
          <a:noFill/>
          <a:ln w="0">
            <a:noFill/>
          </a:ln>
        </p:spPr>
        <p:txBody>
          <a:bodyPr wrap="none" lIns="0" tIns="0" rIns="0" bIns="0" anchor="ctr">
            <a:noAutofit/>
          </a:bodyPr>
          <a:lstStyle/>
          <a:p>
            <a:pPr algn="ctr">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B0</a:t>
            </a:r>
          </a:p>
        </p:txBody>
      </p:sp>
      <p:sp>
        <p:nvSpPr>
          <p:cNvPr id="16" name="p1-o17">
            <a:extLst>
              <a:ext uri="{FF2B5EF4-FFF2-40B4-BE49-F238E27FC236}">
                <a16:creationId xmlns:a16="http://schemas.microsoft.com/office/drawing/2014/main" id="{09C5E940-D81A-4F88-83EE-BA26F974F36B}"/>
              </a:ext>
            </a:extLst>
          </p:cNvPr>
          <p:cNvSpPr>
            <a:spLocks noGrp="1"/>
          </p:cNvSpPr>
          <p:nvPr/>
        </p:nvSpPr>
        <p:spPr>
          <a:xfrm>
            <a:off x="1904593" y="2221152"/>
            <a:ext cx="390525" cy="209550"/>
          </a:xfrm>
          <a:prstGeom prst="rect">
            <a:avLst/>
          </a:prstGeom>
          <a:noFill/>
          <a:ln w="0">
            <a:noFill/>
          </a:ln>
        </p:spPr>
        <p:txBody>
          <a:bodyPr wrap="none" lIns="0" tIns="0" rIns="0" bIns="0" anchor="ctr">
            <a:noAutofit/>
          </a:bodyPr>
          <a:lstStyle/>
          <a:p>
            <a:pPr algn="ctr">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B1</a:t>
            </a:r>
          </a:p>
        </p:txBody>
      </p:sp>
      <p:sp>
        <p:nvSpPr>
          <p:cNvPr id="17" name="p1-o18">
            <a:extLst>
              <a:ext uri="{FF2B5EF4-FFF2-40B4-BE49-F238E27FC236}">
                <a16:creationId xmlns:a16="http://schemas.microsoft.com/office/drawing/2014/main" id="{0A65A0F5-3BC3-4DFB-8C9E-43082125C900}"/>
              </a:ext>
            </a:extLst>
          </p:cNvPr>
          <p:cNvSpPr>
            <a:spLocks noGrp="1"/>
          </p:cNvSpPr>
          <p:nvPr/>
        </p:nvSpPr>
        <p:spPr>
          <a:xfrm>
            <a:off x="2314168" y="2221152"/>
            <a:ext cx="390525" cy="209550"/>
          </a:xfrm>
          <a:prstGeom prst="rect">
            <a:avLst/>
          </a:prstGeom>
          <a:noFill/>
          <a:ln w="0">
            <a:noFill/>
          </a:ln>
        </p:spPr>
        <p:txBody>
          <a:bodyPr wrap="none" lIns="0" tIns="0" rIns="0" bIns="0" anchor="ctr">
            <a:noAutofit/>
          </a:bodyPr>
          <a:lstStyle/>
          <a:p>
            <a:pPr algn="ctr">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B2</a:t>
            </a:r>
          </a:p>
        </p:txBody>
      </p:sp>
      <p:sp>
        <p:nvSpPr>
          <p:cNvPr id="18" name="p1-o19">
            <a:extLst>
              <a:ext uri="{FF2B5EF4-FFF2-40B4-BE49-F238E27FC236}">
                <a16:creationId xmlns:a16="http://schemas.microsoft.com/office/drawing/2014/main" id="{5E8AD4B6-E8A1-4FD7-8C0F-4D54EE61660C}"/>
              </a:ext>
            </a:extLst>
          </p:cNvPr>
          <p:cNvSpPr>
            <a:spLocks noGrp="1"/>
          </p:cNvSpPr>
          <p:nvPr/>
        </p:nvSpPr>
        <p:spPr>
          <a:xfrm>
            <a:off x="2723743" y="2221152"/>
            <a:ext cx="390525" cy="209550"/>
          </a:xfrm>
          <a:prstGeom prst="rect">
            <a:avLst/>
          </a:prstGeom>
          <a:noFill/>
          <a:ln w="0">
            <a:noFill/>
          </a:ln>
        </p:spPr>
        <p:txBody>
          <a:bodyPr wrap="none" lIns="0" tIns="0" rIns="0" bIns="0" anchor="ctr">
            <a:noAutofit/>
          </a:bodyPr>
          <a:lstStyle/>
          <a:p>
            <a:pPr algn="ctr">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B3</a:t>
            </a:r>
          </a:p>
        </p:txBody>
      </p:sp>
      <p:sp>
        <p:nvSpPr>
          <p:cNvPr id="19" name="p1-o20">
            <a:extLst>
              <a:ext uri="{FF2B5EF4-FFF2-40B4-BE49-F238E27FC236}">
                <a16:creationId xmlns:a16="http://schemas.microsoft.com/office/drawing/2014/main" id="{814A316E-B712-463A-8738-5A73A24366A1}"/>
              </a:ext>
            </a:extLst>
          </p:cNvPr>
          <p:cNvSpPr>
            <a:spLocks noGrp="1"/>
          </p:cNvSpPr>
          <p:nvPr/>
        </p:nvSpPr>
        <p:spPr>
          <a:xfrm>
            <a:off x="875893" y="2545002"/>
            <a:ext cx="638175" cy="276225"/>
          </a:xfrm>
          <a:prstGeom prst="rect">
            <a:avLst/>
          </a:prstGeom>
          <a:noFill/>
          <a:ln w="0">
            <a:noFill/>
          </a:ln>
        </p:spPr>
        <p:txBody>
          <a:bodyPr wrap="none" lIns="0" tIns="0" rIns="0" bIns="0" anchor="ctr">
            <a:noAutofit/>
          </a:bodyPr>
          <a:lstStyle/>
          <a:p>
            <a:pPr algn="l">
              <a:defRPr sz="1125" b="0">
                <a:solidFill>
                  <a:srgbClr val="0B2344"/>
                </a:solidFill>
                <a:latin typeface="Microsoft YaHei"/>
                <a:ea typeface="Microsoft YaHei"/>
                <a:cs typeface="Microsoft YaHei"/>
              </a:defRPr>
            </a:pPr>
            <a:r>
              <a:rPr sz="1200" b="0"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Layer 0</a:t>
            </a:r>
          </a:p>
        </p:txBody>
      </p:sp>
      <p:sp>
        <p:nvSpPr>
          <p:cNvPr id="20" name="p1-o21">
            <a:extLst>
              <a:ext uri="{FF2B5EF4-FFF2-40B4-BE49-F238E27FC236}">
                <a16:creationId xmlns:a16="http://schemas.microsoft.com/office/drawing/2014/main" id="{DE193F3A-CD7D-4539-AE58-E7E2F9A693AF}"/>
              </a:ext>
            </a:extLst>
          </p:cNvPr>
          <p:cNvSpPr>
            <a:spLocks noGrp="1"/>
          </p:cNvSpPr>
          <p:nvPr/>
        </p:nvSpPr>
        <p:spPr>
          <a:xfrm>
            <a:off x="1504543" y="2564052"/>
            <a:ext cx="333375" cy="247650"/>
          </a:xfrm>
          <a:prstGeom prst="rect">
            <a:avLst/>
          </a:prstGeom>
          <a:solidFill>
            <a:srgbClr val="91B3E8"/>
          </a:solidFill>
          <a:ln w="9525">
            <a:solidFill>
              <a:srgbClr val="6E92C5"/>
            </a:solidFill>
          </a:ln>
        </p:spPr>
      </p:sp>
      <p:sp>
        <p:nvSpPr>
          <p:cNvPr id="21" name="p1-o22">
            <a:extLst>
              <a:ext uri="{FF2B5EF4-FFF2-40B4-BE49-F238E27FC236}">
                <a16:creationId xmlns:a16="http://schemas.microsoft.com/office/drawing/2014/main" id="{66EED0C9-15DE-46A5-AD0E-8E80CE9E8A7F}"/>
              </a:ext>
            </a:extLst>
          </p:cNvPr>
          <p:cNvSpPr>
            <a:spLocks noGrp="1"/>
          </p:cNvSpPr>
          <p:nvPr/>
        </p:nvSpPr>
        <p:spPr>
          <a:xfrm>
            <a:off x="1504543" y="248785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1B3E8"/>
              </a:gs>
            </a:gsLst>
            <a:lin ang="0"/>
          </a:gradFill>
          <a:ln w="9525">
            <a:solidFill>
              <a:srgbClr val="6E92C5"/>
            </a:solidFill>
          </a:ln>
        </p:spPr>
      </p:sp>
      <p:sp>
        <p:nvSpPr>
          <p:cNvPr id="22" name="p1-o23">
            <a:extLst>
              <a:ext uri="{FF2B5EF4-FFF2-40B4-BE49-F238E27FC236}">
                <a16:creationId xmlns:a16="http://schemas.microsoft.com/office/drawing/2014/main" id="{8DC9E26B-6D9F-4CBA-A792-2C8EDB133258}"/>
              </a:ext>
            </a:extLst>
          </p:cNvPr>
          <p:cNvSpPr>
            <a:spLocks noGrp="1"/>
          </p:cNvSpPr>
          <p:nvPr/>
        </p:nvSpPr>
        <p:spPr>
          <a:xfrm>
            <a:off x="1837918" y="248785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23" name="p1-o24">
            <a:extLst>
              <a:ext uri="{FF2B5EF4-FFF2-40B4-BE49-F238E27FC236}">
                <a16:creationId xmlns:a16="http://schemas.microsoft.com/office/drawing/2014/main" id="{518A2E24-6627-449D-B71F-DE3FA5C96EBE}"/>
              </a:ext>
            </a:extLst>
          </p:cNvPr>
          <p:cNvSpPr>
            <a:spLocks noGrp="1"/>
          </p:cNvSpPr>
          <p:nvPr/>
        </p:nvSpPr>
        <p:spPr>
          <a:xfrm>
            <a:off x="1914118" y="2564052"/>
            <a:ext cx="333375" cy="247650"/>
          </a:xfrm>
          <a:prstGeom prst="rect">
            <a:avLst/>
          </a:prstGeom>
          <a:solidFill>
            <a:srgbClr val="E8B0BD"/>
          </a:solidFill>
          <a:ln w="9525">
            <a:solidFill>
              <a:srgbClr val="6E92C5"/>
            </a:solidFill>
          </a:ln>
        </p:spPr>
      </p:sp>
      <p:sp>
        <p:nvSpPr>
          <p:cNvPr id="24" name="p1-o25">
            <a:extLst>
              <a:ext uri="{FF2B5EF4-FFF2-40B4-BE49-F238E27FC236}">
                <a16:creationId xmlns:a16="http://schemas.microsoft.com/office/drawing/2014/main" id="{87FE4B25-0D84-41D6-B008-7B66ED608B21}"/>
              </a:ext>
            </a:extLst>
          </p:cNvPr>
          <p:cNvSpPr>
            <a:spLocks noGrp="1"/>
          </p:cNvSpPr>
          <p:nvPr/>
        </p:nvSpPr>
        <p:spPr>
          <a:xfrm>
            <a:off x="1914118" y="248785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E8B0BD"/>
              </a:gs>
            </a:gsLst>
            <a:lin ang="0"/>
          </a:gradFill>
          <a:ln w="9525">
            <a:solidFill>
              <a:srgbClr val="6E92C5"/>
            </a:solidFill>
          </a:ln>
        </p:spPr>
      </p:sp>
      <p:sp>
        <p:nvSpPr>
          <p:cNvPr id="25" name="p1-o26">
            <a:extLst>
              <a:ext uri="{FF2B5EF4-FFF2-40B4-BE49-F238E27FC236}">
                <a16:creationId xmlns:a16="http://schemas.microsoft.com/office/drawing/2014/main" id="{7151574E-E273-431F-817A-29660AD8ADE7}"/>
              </a:ext>
            </a:extLst>
          </p:cNvPr>
          <p:cNvSpPr>
            <a:spLocks noGrp="1"/>
          </p:cNvSpPr>
          <p:nvPr/>
        </p:nvSpPr>
        <p:spPr>
          <a:xfrm>
            <a:off x="2247493" y="248785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26" name="p1-o27">
            <a:extLst>
              <a:ext uri="{FF2B5EF4-FFF2-40B4-BE49-F238E27FC236}">
                <a16:creationId xmlns:a16="http://schemas.microsoft.com/office/drawing/2014/main" id="{CF1CA771-ED23-4FA0-BB5F-FA679D33DE85}"/>
              </a:ext>
            </a:extLst>
          </p:cNvPr>
          <p:cNvSpPr>
            <a:spLocks noGrp="1"/>
          </p:cNvSpPr>
          <p:nvPr/>
        </p:nvSpPr>
        <p:spPr>
          <a:xfrm>
            <a:off x="2323693" y="2564052"/>
            <a:ext cx="333375" cy="247650"/>
          </a:xfrm>
          <a:prstGeom prst="rect">
            <a:avLst/>
          </a:prstGeom>
          <a:solidFill>
            <a:srgbClr val="F4DBA6"/>
          </a:solidFill>
          <a:ln w="9525">
            <a:solidFill>
              <a:srgbClr val="6E92C5"/>
            </a:solidFill>
          </a:ln>
        </p:spPr>
      </p:sp>
      <p:sp>
        <p:nvSpPr>
          <p:cNvPr id="28" name="p1-o28">
            <a:extLst>
              <a:ext uri="{FF2B5EF4-FFF2-40B4-BE49-F238E27FC236}">
                <a16:creationId xmlns:a16="http://schemas.microsoft.com/office/drawing/2014/main" id="{4F2F27EE-3A44-41D2-9D99-A7B87CFA7FD6}"/>
              </a:ext>
            </a:extLst>
          </p:cNvPr>
          <p:cNvSpPr>
            <a:spLocks noGrp="1"/>
          </p:cNvSpPr>
          <p:nvPr/>
        </p:nvSpPr>
        <p:spPr>
          <a:xfrm>
            <a:off x="2323693" y="248785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F4DBA6"/>
              </a:gs>
            </a:gsLst>
            <a:lin ang="0"/>
          </a:gradFill>
          <a:ln w="9525">
            <a:solidFill>
              <a:srgbClr val="6E92C5"/>
            </a:solidFill>
          </a:ln>
        </p:spPr>
      </p:sp>
      <p:sp>
        <p:nvSpPr>
          <p:cNvPr id="29" name="p1-o29">
            <a:extLst>
              <a:ext uri="{FF2B5EF4-FFF2-40B4-BE49-F238E27FC236}">
                <a16:creationId xmlns:a16="http://schemas.microsoft.com/office/drawing/2014/main" id="{30D0EC86-9C5F-4CEC-9762-7C9AB820F262}"/>
              </a:ext>
            </a:extLst>
          </p:cNvPr>
          <p:cNvSpPr>
            <a:spLocks noGrp="1"/>
          </p:cNvSpPr>
          <p:nvPr/>
        </p:nvSpPr>
        <p:spPr>
          <a:xfrm>
            <a:off x="2657068" y="248785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30" name="p1-o30">
            <a:extLst>
              <a:ext uri="{FF2B5EF4-FFF2-40B4-BE49-F238E27FC236}">
                <a16:creationId xmlns:a16="http://schemas.microsoft.com/office/drawing/2014/main" id="{F6153B51-3210-45DB-B5BA-3B7275099E91}"/>
              </a:ext>
            </a:extLst>
          </p:cNvPr>
          <p:cNvSpPr>
            <a:spLocks noGrp="1"/>
          </p:cNvSpPr>
          <p:nvPr/>
        </p:nvSpPr>
        <p:spPr>
          <a:xfrm>
            <a:off x="2733268" y="2564052"/>
            <a:ext cx="333375" cy="247650"/>
          </a:xfrm>
          <a:prstGeom prst="rect">
            <a:avLst/>
          </a:prstGeom>
          <a:solidFill>
            <a:srgbClr val="9BD3BC"/>
          </a:solidFill>
          <a:ln w="9525">
            <a:solidFill>
              <a:srgbClr val="6E92C5"/>
            </a:solidFill>
          </a:ln>
        </p:spPr>
      </p:sp>
      <p:sp>
        <p:nvSpPr>
          <p:cNvPr id="31" name="p1-o31">
            <a:extLst>
              <a:ext uri="{FF2B5EF4-FFF2-40B4-BE49-F238E27FC236}">
                <a16:creationId xmlns:a16="http://schemas.microsoft.com/office/drawing/2014/main" id="{0AD8BC29-B02C-4021-A32A-26346ECF685C}"/>
              </a:ext>
            </a:extLst>
          </p:cNvPr>
          <p:cNvSpPr>
            <a:spLocks noGrp="1"/>
          </p:cNvSpPr>
          <p:nvPr/>
        </p:nvSpPr>
        <p:spPr>
          <a:xfrm>
            <a:off x="2733268" y="248785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BD3BC"/>
              </a:gs>
            </a:gsLst>
            <a:lin ang="0"/>
          </a:gradFill>
          <a:ln w="9525">
            <a:solidFill>
              <a:srgbClr val="6E92C5"/>
            </a:solidFill>
          </a:ln>
        </p:spPr>
      </p:sp>
      <p:sp>
        <p:nvSpPr>
          <p:cNvPr id="32" name="p1-o32">
            <a:extLst>
              <a:ext uri="{FF2B5EF4-FFF2-40B4-BE49-F238E27FC236}">
                <a16:creationId xmlns:a16="http://schemas.microsoft.com/office/drawing/2014/main" id="{ED84A948-B09E-4BD1-B7B7-588F5F44D153}"/>
              </a:ext>
            </a:extLst>
          </p:cNvPr>
          <p:cNvSpPr>
            <a:spLocks noGrp="1"/>
          </p:cNvSpPr>
          <p:nvPr/>
        </p:nvSpPr>
        <p:spPr>
          <a:xfrm>
            <a:off x="3066643" y="248785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33" name="p1-o33">
            <a:extLst>
              <a:ext uri="{FF2B5EF4-FFF2-40B4-BE49-F238E27FC236}">
                <a16:creationId xmlns:a16="http://schemas.microsoft.com/office/drawing/2014/main" id="{FD0078AA-42CB-4D17-BA5D-086D4925503F}"/>
              </a:ext>
            </a:extLst>
          </p:cNvPr>
          <p:cNvSpPr>
            <a:spLocks noGrp="1"/>
          </p:cNvSpPr>
          <p:nvPr/>
        </p:nvSpPr>
        <p:spPr>
          <a:xfrm>
            <a:off x="875893" y="2954577"/>
            <a:ext cx="638175" cy="276225"/>
          </a:xfrm>
          <a:prstGeom prst="rect">
            <a:avLst/>
          </a:prstGeom>
          <a:noFill/>
          <a:ln w="0">
            <a:noFill/>
          </a:ln>
        </p:spPr>
        <p:txBody>
          <a:bodyPr wrap="none" lIns="0" tIns="0" rIns="0" bIns="0" anchor="ctr">
            <a:noAutofit/>
          </a:bodyPr>
          <a:lstStyle/>
          <a:p>
            <a:pPr algn="l">
              <a:defRPr sz="1125" b="0">
                <a:solidFill>
                  <a:srgbClr val="0B2344"/>
                </a:solidFill>
                <a:latin typeface="Microsoft YaHei"/>
                <a:ea typeface="Microsoft YaHei"/>
                <a:cs typeface="Microsoft YaHei"/>
              </a:defRPr>
            </a:pPr>
            <a:r>
              <a:rPr sz="1200" b="0"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Layer 1</a:t>
            </a:r>
          </a:p>
        </p:txBody>
      </p:sp>
      <p:sp>
        <p:nvSpPr>
          <p:cNvPr id="34" name="p1-o34">
            <a:extLst>
              <a:ext uri="{FF2B5EF4-FFF2-40B4-BE49-F238E27FC236}">
                <a16:creationId xmlns:a16="http://schemas.microsoft.com/office/drawing/2014/main" id="{B1E6FF50-D103-4CF0-9893-7086FA6FFA73}"/>
              </a:ext>
            </a:extLst>
          </p:cNvPr>
          <p:cNvSpPr>
            <a:spLocks noGrp="1"/>
          </p:cNvSpPr>
          <p:nvPr/>
        </p:nvSpPr>
        <p:spPr>
          <a:xfrm>
            <a:off x="1504543" y="2973627"/>
            <a:ext cx="333375" cy="247650"/>
          </a:xfrm>
          <a:prstGeom prst="rect">
            <a:avLst/>
          </a:prstGeom>
          <a:solidFill>
            <a:srgbClr val="91B3E8"/>
          </a:solidFill>
          <a:ln w="9525">
            <a:solidFill>
              <a:srgbClr val="6E92C5"/>
            </a:solidFill>
          </a:ln>
        </p:spPr>
      </p:sp>
      <p:sp>
        <p:nvSpPr>
          <p:cNvPr id="35" name="p1-o35">
            <a:extLst>
              <a:ext uri="{FF2B5EF4-FFF2-40B4-BE49-F238E27FC236}">
                <a16:creationId xmlns:a16="http://schemas.microsoft.com/office/drawing/2014/main" id="{25637F6D-0CDC-476E-984E-DD4CDD6C46ED}"/>
              </a:ext>
            </a:extLst>
          </p:cNvPr>
          <p:cNvSpPr>
            <a:spLocks noGrp="1"/>
          </p:cNvSpPr>
          <p:nvPr/>
        </p:nvSpPr>
        <p:spPr>
          <a:xfrm>
            <a:off x="1504543" y="28974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1B3E8"/>
              </a:gs>
            </a:gsLst>
            <a:lin ang="0"/>
          </a:gradFill>
          <a:ln w="9525">
            <a:solidFill>
              <a:srgbClr val="6E92C5"/>
            </a:solidFill>
          </a:ln>
        </p:spPr>
      </p:sp>
      <p:sp>
        <p:nvSpPr>
          <p:cNvPr id="36" name="p1-o36">
            <a:extLst>
              <a:ext uri="{FF2B5EF4-FFF2-40B4-BE49-F238E27FC236}">
                <a16:creationId xmlns:a16="http://schemas.microsoft.com/office/drawing/2014/main" id="{64C930E5-36DE-48E9-BD0F-65CE26C729F9}"/>
              </a:ext>
            </a:extLst>
          </p:cNvPr>
          <p:cNvSpPr>
            <a:spLocks noGrp="1"/>
          </p:cNvSpPr>
          <p:nvPr/>
        </p:nvSpPr>
        <p:spPr>
          <a:xfrm>
            <a:off x="1837918" y="28974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37" name="p1-o37">
            <a:extLst>
              <a:ext uri="{FF2B5EF4-FFF2-40B4-BE49-F238E27FC236}">
                <a16:creationId xmlns:a16="http://schemas.microsoft.com/office/drawing/2014/main" id="{EC87B774-33A8-4983-A6EE-DF1B34D2DCD5}"/>
              </a:ext>
            </a:extLst>
          </p:cNvPr>
          <p:cNvSpPr>
            <a:spLocks noGrp="1"/>
          </p:cNvSpPr>
          <p:nvPr/>
        </p:nvSpPr>
        <p:spPr>
          <a:xfrm>
            <a:off x="1914118" y="2973627"/>
            <a:ext cx="333375" cy="247650"/>
          </a:xfrm>
          <a:prstGeom prst="rect">
            <a:avLst/>
          </a:prstGeom>
          <a:solidFill>
            <a:srgbClr val="E8B0BD"/>
          </a:solidFill>
          <a:ln w="9525">
            <a:solidFill>
              <a:srgbClr val="6E92C5"/>
            </a:solidFill>
          </a:ln>
        </p:spPr>
      </p:sp>
      <p:sp>
        <p:nvSpPr>
          <p:cNvPr id="38" name="p1-o38">
            <a:extLst>
              <a:ext uri="{FF2B5EF4-FFF2-40B4-BE49-F238E27FC236}">
                <a16:creationId xmlns:a16="http://schemas.microsoft.com/office/drawing/2014/main" id="{59DC0022-060C-46DD-9D51-0C525A002A7C}"/>
              </a:ext>
            </a:extLst>
          </p:cNvPr>
          <p:cNvSpPr>
            <a:spLocks noGrp="1"/>
          </p:cNvSpPr>
          <p:nvPr/>
        </p:nvSpPr>
        <p:spPr>
          <a:xfrm>
            <a:off x="1914118" y="28974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E8B0BD"/>
              </a:gs>
            </a:gsLst>
            <a:lin ang="0"/>
          </a:gradFill>
          <a:ln w="9525">
            <a:solidFill>
              <a:srgbClr val="6E92C5"/>
            </a:solidFill>
          </a:ln>
        </p:spPr>
      </p:sp>
      <p:sp>
        <p:nvSpPr>
          <p:cNvPr id="39" name="p1-o39">
            <a:extLst>
              <a:ext uri="{FF2B5EF4-FFF2-40B4-BE49-F238E27FC236}">
                <a16:creationId xmlns:a16="http://schemas.microsoft.com/office/drawing/2014/main" id="{FC8BCEC8-3460-4169-B2F2-5AA6426E19C9}"/>
              </a:ext>
            </a:extLst>
          </p:cNvPr>
          <p:cNvSpPr>
            <a:spLocks noGrp="1"/>
          </p:cNvSpPr>
          <p:nvPr/>
        </p:nvSpPr>
        <p:spPr>
          <a:xfrm>
            <a:off x="2247493" y="28974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40" name="p1-o40">
            <a:extLst>
              <a:ext uri="{FF2B5EF4-FFF2-40B4-BE49-F238E27FC236}">
                <a16:creationId xmlns:a16="http://schemas.microsoft.com/office/drawing/2014/main" id="{345E199B-8691-4BB9-8D68-EBE0AFEF2813}"/>
              </a:ext>
            </a:extLst>
          </p:cNvPr>
          <p:cNvSpPr>
            <a:spLocks noGrp="1"/>
          </p:cNvSpPr>
          <p:nvPr/>
        </p:nvSpPr>
        <p:spPr>
          <a:xfrm>
            <a:off x="2323693" y="2973627"/>
            <a:ext cx="333375" cy="247650"/>
          </a:xfrm>
          <a:prstGeom prst="rect">
            <a:avLst/>
          </a:prstGeom>
          <a:solidFill>
            <a:srgbClr val="F4DBA6"/>
          </a:solidFill>
          <a:ln w="9525">
            <a:solidFill>
              <a:srgbClr val="6E92C5"/>
            </a:solidFill>
          </a:ln>
        </p:spPr>
      </p:sp>
      <p:sp>
        <p:nvSpPr>
          <p:cNvPr id="41" name="p1-o41">
            <a:extLst>
              <a:ext uri="{FF2B5EF4-FFF2-40B4-BE49-F238E27FC236}">
                <a16:creationId xmlns:a16="http://schemas.microsoft.com/office/drawing/2014/main" id="{92AE0008-CF81-4513-A8F8-1C5CA6256C7C}"/>
              </a:ext>
            </a:extLst>
          </p:cNvPr>
          <p:cNvSpPr>
            <a:spLocks noGrp="1"/>
          </p:cNvSpPr>
          <p:nvPr/>
        </p:nvSpPr>
        <p:spPr>
          <a:xfrm>
            <a:off x="2323693" y="28974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F4DBA6"/>
              </a:gs>
            </a:gsLst>
            <a:lin ang="0"/>
          </a:gradFill>
          <a:ln w="9525">
            <a:solidFill>
              <a:srgbClr val="6E92C5"/>
            </a:solidFill>
          </a:ln>
        </p:spPr>
      </p:sp>
      <p:sp>
        <p:nvSpPr>
          <p:cNvPr id="42" name="p1-o42">
            <a:extLst>
              <a:ext uri="{FF2B5EF4-FFF2-40B4-BE49-F238E27FC236}">
                <a16:creationId xmlns:a16="http://schemas.microsoft.com/office/drawing/2014/main" id="{3C25B64D-9DD6-46C1-B453-E171F7761575}"/>
              </a:ext>
            </a:extLst>
          </p:cNvPr>
          <p:cNvSpPr>
            <a:spLocks noGrp="1"/>
          </p:cNvSpPr>
          <p:nvPr/>
        </p:nvSpPr>
        <p:spPr>
          <a:xfrm>
            <a:off x="2657068" y="28974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43" name="p1-o43">
            <a:extLst>
              <a:ext uri="{FF2B5EF4-FFF2-40B4-BE49-F238E27FC236}">
                <a16:creationId xmlns:a16="http://schemas.microsoft.com/office/drawing/2014/main" id="{DEA3EB39-8D10-4339-A1FA-4B09955962A2}"/>
              </a:ext>
            </a:extLst>
          </p:cNvPr>
          <p:cNvSpPr>
            <a:spLocks noGrp="1"/>
          </p:cNvSpPr>
          <p:nvPr/>
        </p:nvSpPr>
        <p:spPr>
          <a:xfrm>
            <a:off x="2733268" y="2973627"/>
            <a:ext cx="333375" cy="247650"/>
          </a:xfrm>
          <a:prstGeom prst="rect">
            <a:avLst/>
          </a:prstGeom>
          <a:solidFill>
            <a:srgbClr val="9BD3BC"/>
          </a:solidFill>
          <a:ln w="9525">
            <a:solidFill>
              <a:srgbClr val="6E92C5"/>
            </a:solidFill>
          </a:ln>
        </p:spPr>
      </p:sp>
      <p:sp>
        <p:nvSpPr>
          <p:cNvPr id="44" name="p1-o44">
            <a:extLst>
              <a:ext uri="{FF2B5EF4-FFF2-40B4-BE49-F238E27FC236}">
                <a16:creationId xmlns:a16="http://schemas.microsoft.com/office/drawing/2014/main" id="{A9DB7369-16B4-48D0-BF18-BAC7BA73C3AE}"/>
              </a:ext>
            </a:extLst>
          </p:cNvPr>
          <p:cNvSpPr>
            <a:spLocks noGrp="1"/>
          </p:cNvSpPr>
          <p:nvPr/>
        </p:nvSpPr>
        <p:spPr>
          <a:xfrm>
            <a:off x="2733268" y="28974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BD3BC"/>
              </a:gs>
            </a:gsLst>
            <a:lin ang="0"/>
          </a:gradFill>
          <a:ln w="9525">
            <a:solidFill>
              <a:srgbClr val="6E92C5"/>
            </a:solidFill>
          </a:ln>
        </p:spPr>
      </p:sp>
      <p:sp>
        <p:nvSpPr>
          <p:cNvPr id="45" name="p1-o45">
            <a:extLst>
              <a:ext uri="{FF2B5EF4-FFF2-40B4-BE49-F238E27FC236}">
                <a16:creationId xmlns:a16="http://schemas.microsoft.com/office/drawing/2014/main" id="{5798CC4C-7FD0-4EB7-A85A-421C01613A51}"/>
              </a:ext>
            </a:extLst>
          </p:cNvPr>
          <p:cNvSpPr>
            <a:spLocks noGrp="1"/>
          </p:cNvSpPr>
          <p:nvPr/>
        </p:nvSpPr>
        <p:spPr>
          <a:xfrm>
            <a:off x="3066643" y="28974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46" name="p1-o46">
            <a:extLst>
              <a:ext uri="{FF2B5EF4-FFF2-40B4-BE49-F238E27FC236}">
                <a16:creationId xmlns:a16="http://schemas.microsoft.com/office/drawing/2014/main" id="{9EACCEDE-B239-4083-B1BE-9425784D7B61}"/>
              </a:ext>
            </a:extLst>
          </p:cNvPr>
          <p:cNvSpPr>
            <a:spLocks noGrp="1"/>
          </p:cNvSpPr>
          <p:nvPr/>
        </p:nvSpPr>
        <p:spPr>
          <a:xfrm>
            <a:off x="875893" y="3364152"/>
            <a:ext cx="638175" cy="276225"/>
          </a:xfrm>
          <a:prstGeom prst="rect">
            <a:avLst/>
          </a:prstGeom>
          <a:noFill/>
          <a:ln w="0">
            <a:noFill/>
          </a:ln>
        </p:spPr>
        <p:txBody>
          <a:bodyPr wrap="none" lIns="0" tIns="0" rIns="0" bIns="0" anchor="ctr">
            <a:noAutofit/>
          </a:bodyPr>
          <a:lstStyle/>
          <a:p>
            <a:pPr algn="l">
              <a:defRPr sz="112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Layer 2</a:t>
            </a:r>
          </a:p>
        </p:txBody>
      </p:sp>
      <p:sp>
        <p:nvSpPr>
          <p:cNvPr id="47" name="p1-o47">
            <a:extLst>
              <a:ext uri="{FF2B5EF4-FFF2-40B4-BE49-F238E27FC236}">
                <a16:creationId xmlns:a16="http://schemas.microsoft.com/office/drawing/2014/main" id="{20B5F5F9-456B-44E6-B6B3-AA0A0667D6A3}"/>
              </a:ext>
            </a:extLst>
          </p:cNvPr>
          <p:cNvSpPr>
            <a:spLocks noGrp="1"/>
          </p:cNvSpPr>
          <p:nvPr/>
        </p:nvSpPr>
        <p:spPr>
          <a:xfrm>
            <a:off x="1504543" y="3383202"/>
            <a:ext cx="333375" cy="247650"/>
          </a:xfrm>
          <a:prstGeom prst="rect">
            <a:avLst/>
          </a:prstGeom>
          <a:solidFill>
            <a:srgbClr val="91B3E8"/>
          </a:solidFill>
          <a:ln w="9525">
            <a:solidFill>
              <a:srgbClr val="6E92C5"/>
            </a:solidFill>
          </a:ln>
        </p:spPr>
      </p:sp>
      <p:sp>
        <p:nvSpPr>
          <p:cNvPr id="48" name="p1-o48">
            <a:extLst>
              <a:ext uri="{FF2B5EF4-FFF2-40B4-BE49-F238E27FC236}">
                <a16:creationId xmlns:a16="http://schemas.microsoft.com/office/drawing/2014/main" id="{13EF6D77-95D5-4EF7-8D71-865A5535134D}"/>
              </a:ext>
            </a:extLst>
          </p:cNvPr>
          <p:cNvSpPr>
            <a:spLocks noGrp="1"/>
          </p:cNvSpPr>
          <p:nvPr/>
        </p:nvSpPr>
        <p:spPr>
          <a:xfrm>
            <a:off x="1504543" y="330700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1B3E8"/>
              </a:gs>
            </a:gsLst>
            <a:lin ang="0"/>
          </a:gradFill>
          <a:ln w="9525">
            <a:solidFill>
              <a:srgbClr val="6E92C5"/>
            </a:solidFill>
          </a:ln>
        </p:spPr>
      </p:sp>
      <p:sp>
        <p:nvSpPr>
          <p:cNvPr id="49" name="p1-o49">
            <a:extLst>
              <a:ext uri="{FF2B5EF4-FFF2-40B4-BE49-F238E27FC236}">
                <a16:creationId xmlns:a16="http://schemas.microsoft.com/office/drawing/2014/main" id="{9B3A8CDD-78BA-4DFF-8697-34939380D6C0}"/>
              </a:ext>
            </a:extLst>
          </p:cNvPr>
          <p:cNvSpPr>
            <a:spLocks noGrp="1"/>
          </p:cNvSpPr>
          <p:nvPr/>
        </p:nvSpPr>
        <p:spPr>
          <a:xfrm>
            <a:off x="1837918" y="330700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50" name="p1-o50">
            <a:extLst>
              <a:ext uri="{FF2B5EF4-FFF2-40B4-BE49-F238E27FC236}">
                <a16:creationId xmlns:a16="http://schemas.microsoft.com/office/drawing/2014/main" id="{13C6988A-88F7-4319-9110-F3CBF84B5796}"/>
              </a:ext>
            </a:extLst>
          </p:cNvPr>
          <p:cNvSpPr>
            <a:spLocks noGrp="1"/>
          </p:cNvSpPr>
          <p:nvPr/>
        </p:nvSpPr>
        <p:spPr>
          <a:xfrm>
            <a:off x="1914118" y="3383202"/>
            <a:ext cx="333375" cy="247650"/>
          </a:xfrm>
          <a:prstGeom prst="rect">
            <a:avLst/>
          </a:prstGeom>
          <a:solidFill>
            <a:srgbClr val="E8B0BD"/>
          </a:solidFill>
          <a:ln w="9525">
            <a:solidFill>
              <a:srgbClr val="6E92C5"/>
            </a:solidFill>
          </a:ln>
        </p:spPr>
      </p:sp>
      <p:sp>
        <p:nvSpPr>
          <p:cNvPr id="51" name="p1-o51">
            <a:extLst>
              <a:ext uri="{FF2B5EF4-FFF2-40B4-BE49-F238E27FC236}">
                <a16:creationId xmlns:a16="http://schemas.microsoft.com/office/drawing/2014/main" id="{40E77750-7AE6-44F0-A2AB-B1FC3980332A}"/>
              </a:ext>
            </a:extLst>
          </p:cNvPr>
          <p:cNvSpPr>
            <a:spLocks noGrp="1"/>
          </p:cNvSpPr>
          <p:nvPr/>
        </p:nvSpPr>
        <p:spPr>
          <a:xfrm>
            <a:off x="1914118" y="330700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E8B0BD"/>
              </a:gs>
            </a:gsLst>
            <a:lin ang="0"/>
          </a:gradFill>
          <a:ln w="9525">
            <a:solidFill>
              <a:srgbClr val="6E92C5"/>
            </a:solidFill>
          </a:ln>
        </p:spPr>
      </p:sp>
      <p:sp>
        <p:nvSpPr>
          <p:cNvPr id="52" name="p1-o52">
            <a:extLst>
              <a:ext uri="{FF2B5EF4-FFF2-40B4-BE49-F238E27FC236}">
                <a16:creationId xmlns:a16="http://schemas.microsoft.com/office/drawing/2014/main" id="{F1732320-C93E-40D4-8E71-8FD857C93CCE}"/>
              </a:ext>
            </a:extLst>
          </p:cNvPr>
          <p:cNvSpPr>
            <a:spLocks noGrp="1"/>
          </p:cNvSpPr>
          <p:nvPr/>
        </p:nvSpPr>
        <p:spPr>
          <a:xfrm>
            <a:off x="2247493" y="330700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53" name="p1-o53">
            <a:extLst>
              <a:ext uri="{FF2B5EF4-FFF2-40B4-BE49-F238E27FC236}">
                <a16:creationId xmlns:a16="http://schemas.microsoft.com/office/drawing/2014/main" id="{99FD732A-BC77-4B70-8E1D-5F97E6770042}"/>
              </a:ext>
            </a:extLst>
          </p:cNvPr>
          <p:cNvSpPr>
            <a:spLocks noGrp="1"/>
          </p:cNvSpPr>
          <p:nvPr/>
        </p:nvSpPr>
        <p:spPr>
          <a:xfrm>
            <a:off x="2323693" y="3383202"/>
            <a:ext cx="333375" cy="247650"/>
          </a:xfrm>
          <a:prstGeom prst="rect">
            <a:avLst/>
          </a:prstGeom>
          <a:solidFill>
            <a:srgbClr val="F4DBA6"/>
          </a:solidFill>
          <a:ln w="9525">
            <a:solidFill>
              <a:srgbClr val="6E92C5"/>
            </a:solidFill>
          </a:ln>
        </p:spPr>
      </p:sp>
      <p:sp>
        <p:nvSpPr>
          <p:cNvPr id="54" name="p1-o54">
            <a:extLst>
              <a:ext uri="{FF2B5EF4-FFF2-40B4-BE49-F238E27FC236}">
                <a16:creationId xmlns:a16="http://schemas.microsoft.com/office/drawing/2014/main" id="{3253C6B9-78AA-45F5-AF19-BEB19E284958}"/>
              </a:ext>
            </a:extLst>
          </p:cNvPr>
          <p:cNvSpPr>
            <a:spLocks noGrp="1"/>
          </p:cNvSpPr>
          <p:nvPr/>
        </p:nvSpPr>
        <p:spPr>
          <a:xfrm>
            <a:off x="2323693" y="330700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F4DBA6"/>
              </a:gs>
            </a:gsLst>
            <a:lin ang="0"/>
          </a:gradFill>
          <a:ln w="9525">
            <a:solidFill>
              <a:srgbClr val="6E92C5"/>
            </a:solidFill>
          </a:ln>
        </p:spPr>
      </p:sp>
      <p:sp>
        <p:nvSpPr>
          <p:cNvPr id="55" name="p1-o55">
            <a:extLst>
              <a:ext uri="{FF2B5EF4-FFF2-40B4-BE49-F238E27FC236}">
                <a16:creationId xmlns:a16="http://schemas.microsoft.com/office/drawing/2014/main" id="{717BA5FB-140A-42B4-ACD8-5D6AE048E7B5}"/>
              </a:ext>
            </a:extLst>
          </p:cNvPr>
          <p:cNvSpPr>
            <a:spLocks noGrp="1"/>
          </p:cNvSpPr>
          <p:nvPr/>
        </p:nvSpPr>
        <p:spPr>
          <a:xfrm>
            <a:off x="2657068" y="330700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56" name="p1-o56">
            <a:extLst>
              <a:ext uri="{FF2B5EF4-FFF2-40B4-BE49-F238E27FC236}">
                <a16:creationId xmlns:a16="http://schemas.microsoft.com/office/drawing/2014/main" id="{32B30107-FB93-402C-A698-E62CDBA44FAF}"/>
              </a:ext>
            </a:extLst>
          </p:cNvPr>
          <p:cNvSpPr>
            <a:spLocks noGrp="1"/>
          </p:cNvSpPr>
          <p:nvPr/>
        </p:nvSpPr>
        <p:spPr>
          <a:xfrm>
            <a:off x="2733268" y="3383202"/>
            <a:ext cx="333375" cy="247650"/>
          </a:xfrm>
          <a:prstGeom prst="rect">
            <a:avLst/>
          </a:prstGeom>
          <a:solidFill>
            <a:srgbClr val="9BD3BC"/>
          </a:solidFill>
          <a:ln w="9525">
            <a:solidFill>
              <a:srgbClr val="6E92C5"/>
            </a:solidFill>
          </a:ln>
        </p:spPr>
      </p:sp>
      <p:sp>
        <p:nvSpPr>
          <p:cNvPr id="57" name="p1-o57">
            <a:extLst>
              <a:ext uri="{FF2B5EF4-FFF2-40B4-BE49-F238E27FC236}">
                <a16:creationId xmlns:a16="http://schemas.microsoft.com/office/drawing/2014/main" id="{BA1F3BA4-732F-4C2B-8DD7-1ADAAB946A2B}"/>
              </a:ext>
            </a:extLst>
          </p:cNvPr>
          <p:cNvSpPr>
            <a:spLocks noGrp="1"/>
          </p:cNvSpPr>
          <p:nvPr/>
        </p:nvSpPr>
        <p:spPr>
          <a:xfrm>
            <a:off x="2733268" y="3307002"/>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BD3BC"/>
              </a:gs>
            </a:gsLst>
            <a:lin ang="0"/>
          </a:gradFill>
          <a:ln w="9525">
            <a:solidFill>
              <a:srgbClr val="6E92C5"/>
            </a:solidFill>
          </a:ln>
        </p:spPr>
      </p:sp>
      <p:sp>
        <p:nvSpPr>
          <p:cNvPr id="58" name="p1-o58">
            <a:extLst>
              <a:ext uri="{FF2B5EF4-FFF2-40B4-BE49-F238E27FC236}">
                <a16:creationId xmlns:a16="http://schemas.microsoft.com/office/drawing/2014/main" id="{0385CA09-F6D9-4B6E-B585-41997C2466CB}"/>
              </a:ext>
            </a:extLst>
          </p:cNvPr>
          <p:cNvSpPr>
            <a:spLocks noGrp="1"/>
          </p:cNvSpPr>
          <p:nvPr/>
        </p:nvSpPr>
        <p:spPr>
          <a:xfrm>
            <a:off x="3066643" y="3307002"/>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59" name="p1-o59">
            <a:extLst>
              <a:ext uri="{FF2B5EF4-FFF2-40B4-BE49-F238E27FC236}">
                <a16:creationId xmlns:a16="http://schemas.microsoft.com/office/drawing/2014/main" id="{9BF5CA74-0FFB-4FD3-9327-0D9C29095F3D}"/>
              </a:ext>
            </a:extLst>
          </p:cNvPr>
          <p:cNvSpPr>
            <a:spLocks noGrp="1"/>
          </p:cNvSpPr>
          <p:nvPr/>
        </p:nvSpPr>
        <p:spPr>
          <a:xfrm>
            <a:off x="875893" y="3983277"/>
            <a:ext cx="638175" cy="276225"/>
          </a:xfrm>
          <a:prstGeom prst="rect">
            <a:avLst/>
          </a:prstGeom>
          <a:noFill/>
          <a:ln w="0">
            <a:noFill/>
          </a:ln>
        </p:spPr>
        <p:txBody>
          <a:bodyPr wrap="none" lIns="0" tIns="0" rIns="0" bIns="0" anchor="ctr">
            <a:noAutofit/>
          </a:bodyPr>
          <a:lstStyle/>
          <a:p>
            <a:pPr algn="l">
              <a:defRPr sz="112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Layer 35</a:t>
            </a:r>
          </a:p>
        </p:txBody>
      </p:sp>
      <p:sp>
        <p:nvSpPr>
          <p:cNvPr id="60" name="p1-o60">
            <a:extLst>
              <a:ext uri="{FF2B5EF4-FFF2-40B4-BE49-F238E27FC236}">
                <a16:creationId xmlns:a16="http://schemas.microsoft.com/office/drawing/2014/main" id="{D4A6CC37-2DCE-46D7-A603-DDF40926BB32}"/>
              </a:ext>
            </a:extLst>
          </p:cNvPr>
          <p:cNvSpPr>
            <a:spLocks noGrp="1"/>
          </p:cNvSpPr>
          <p:nvPr/>
        </p:nvSpPr>
        <p:spPr>
          <a:xfrm>
            <a:off x="1504543" y="4002327"/>
            <a:ext cx="333375" cy="247650"/>
          </a:xfrm>
          <a:prstGeom prst="rect">
            <a:avLst/>
          </a:prstGeom>
          <a:solidFill>
            <a:srgbClr val="91B3E8"/>
          </a:solidFill>
          <a:ln w="9525">
            <a:solidFill>
              <a:srgbClr val="6E92C5"/>
            </a:solidFill>
          </a:ln>
        </p:spPr>
      </p:sp>
      <p:sp>
        <p:nvSpPr>
          <p:cNvPr id="61" name="p1-o61">
            <a:extLst>
              <a:ext uri="{FF2B5EF4-FFF2-40B4-BE49-F238E27FC236}">
                <a16:creationId xmlns:a16="http://schemas.microsoft.com/office/drawing/2014/main" id="{AFF05E0F-0B38-4718-BF82-1BCB5727B74F}"/>
              </a:ext>
            </a:extLst>
          </p:cNvPr>
          <p:cNvSpPr>
            <a:spLocks noGrp="1"/>
          </p:cNvSpPr>
          <p:nvPr/>
        </p:nvSpPr>
        <p:spPr>
          <a:xfrm>
            <a:off x="1504543" y="39261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1B3E8"/>
              </a:gs>
            </a:gsLst>
            <a:lin ang="0"/>
          </a:gradFill>
          <a:ln w="9525">
            <a:solidFill>
              <a:srgbClr val="6E92C5"/>
            </a:solidFill>
          </a:ln>
        </p:spPr>
      </p:sp>
      <p:sp>
        <p:nvSpPr>
          <p:cNvPr id="62" name="p1-o62">
            <a:extLst>
              <a:ext uri="{FF2B5EF4-FFF2-40B4-BE49-F238E27FC236}">
                <a16:creationId xmlns:a16="http://schemas.microsoft.com/office/drawing/2014/main" id="{E92305B7-E1E4-443D-9DF2-9CC987631AF6}"/>
              </a:ext>
            </a:extLst>
          </p:cNvPr>
          <p:cNvSpPr>
            <a:spLocks noGrp="1"/>
          </p:cNvSpPr>
          <p:nvPr/>
        </p:nvSpPr>
        <p:spPr>
          <a:xfrm>
            <a:off x="1837918" y="39261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63" name="p1-o63">
            <a:extLst>
              <a:ext uri="{FF2B5EF4-FFF2-40B4-BE49-F238E27FC236}">
                <a16:creationId xmlns:a16="http://schemas.microsoft.com/office/drawing/2014/main" id="{E6D5A1B6-11F3-4495-ABCB-4658F538936E}"/>
              </a:ext>
            </a:extLst>
          </p:cNvPr>
          <p:cNvSpPr>
            <a:spLocks noGrp="1"/>
          </p:cNvSpPr>
          <p:nvPr/>
        </p:nvSpPr>
        <p:spPr>
          <a:xfrm>
            <a:off x="1914118" y="4002327"/>
            <a:ext cx="333375" cy="247650"/>
          </a:xfrm>
          <a:prstGeom prst="rect">
            <a:avLst/>
          </a:prstGeom>
          <a:solidFill>
            <a:srgbClr val="E8B0BD"/>
          </a:solidFill>
          <a:ln w="9525">
            <a:solidFill>
              <a:srgbClr val="6E92C5"/>
            </a:solidFill>
          </a:ln>
        </p:spPr>
      </p:sp>
      <p:sp>
        <p:nvSpPr>
          <p:cNvPr id="64" name="p1-o64">
            <a:extLst>
              <a:ext uri="{FF2B5EF4-FFF2-40B4-BE49-F238E27FC236}">
                <a16:creationId xmlns:a16="http://schemas.microsoft.com/office/drawing/2014/main" id="{79D0BC08-2344-43DD-8754-12205F0E8AF4}"/>
              </a:ext>
            </a:extLst>
          </p:cNvPr>
          <p:cNvSpPr>
            <a:spLocks noGrp="1"/>
          </p:cNvSpPr>
          <p:nvPr/>
        </p:nvSpPr>
        <p:spPr>
          <a:xfrm>
            <a:off x="1914118" y="39261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E8B0BD"/>
              </a:gs>
            </a:gsLst>
            <a:lin ang="0"/>
          </a:gradFill>
          <a:ln w="9525">
            <a:solidFill>
              <a:srgbClr val="6E92C5"/>
            </a:solidFill>
          </a:ln>
        </p:spPr>
      </p:sp>
      <p:sp>
        <p:nvSpPr>
          <p:cNvPr id="65" name="p1-o65">
            <a:extLst>
              <a:ext uri="{FF2B5EF4-FFF2-40B4-BE49-F238E27FC236}">
                <a16:creationId xmlns:a16="http://schemas.microsoft.com/office/drawing/2014/main" id="{5C1B1D48-A36F-4088-9BD7-B9E9ACC80F4B}"/>
              </a:ext>
            </a:extLst>
          </p:cNvPr>
          <p:cNvSpPr>
            <a:spLocks noGrp="1"/>
          </p:cNvSpPr>
          <p:nvPr/>
        </p:nvSpPr>
        <p:spPr>
          <a:xfrm>
            <a:off x="2247493" y="39261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66" name="p1-o66">
            <a:extLst>
              <a:ext uri="{FF2B5EF4-FFF2-40B4-BE49-F238E27FC236}">
                <a16:creationId xmlns:a16="http://schemas.microsoft.com/office/drawing/2014/main" id="{5696F80F-3D28-4A42-9BD3-70CBB083718E}"/>
              </a:ext>
            </a:extLst>
          </p:cNvPr>
          <p:cNvSpPr>
            <a:spLocks noGrp="1"/>
          </p:cNvSpPr>
          <p:nvPr/>
        </p:nvSpPr>
        <p:spPr>
          <a:xfrm>
            <a:off x="2323693" y="4002327"/>
            <a:ext cx="333375" cy="247650"/>
          </a:xfrm>
          <a:prstGeom prst="rect">
            <a:avLst/>
          </a:prstGeom>
          <a:solidFill>
            <a:srgbClr val="F4DBA6"/>
          </a:solidFill>
          <a:ln w="9525">
            <a:solidFill>
              <a:srgbClr val="6E92C5"/>
            </a:solidFill>
          </a:ln>
        </p:spPr>
      </p:sp>
      <p:sp>
        <p:nvSpPr>
          <p:cNvPr id="67" name="p1-o67">
            <a:extLst>
              <a:ext uri="{FF2B5EF4-FFF2-40B4-BE49-F238E27FC236}">
                <a16:creationId xmlns:a16="http://schemas.microsoft.com/office/drawing/2014/main" id="{6E776905-5C80-4669-998B-1EFE59564AC0}"/>
              </a:ext>
            </a:extLst>
          </p:cNvPr>
          <p:cNvSpPr>
            <a:spLocks noGrp="1"/>
          </p:cNvSpPr>
          <p:nvPr/>
        </p:nvSpPr>
        <p:spPr>
          <a:xfrm>
            <a:off x="2323693" y="39261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F4DBA6"/>
              </a:gs>
            </a:gsLst>
            <a:lin ang="0"/>
          </a:gradFill>
          <a:ln w="9525">
            <a:solidFill>
              <a:srgbClr val="6E92C5"/>
            </a:solidFill>
          </a:ln>
        </p:spPr>
      </p:sp>
      <p:sp>
        <p:nvSpPr>
          <p:cNvPr id="68" name="p1-o68">
            <a:extLst>
              <a:ext uri="{FF2B5EF4-FFF2-40B4-BE49-F238E27FC236}">
                <a16:creationId xmlns:a16="http://schemas.microsoft.com/office/drawing/2014/main" id="{3CA7A712-DDBD-467F-9B6A-4DB88023ED39}"/>
              </a:ext>
            </a:extLst>
          </p:cNvPr>
          <p:cNvSpPr>
            <a:spLocks noGrp="1"/>
          </p:cNvSpPr>
          <p:nvPr/>
        </p:nvSpPr>
        <p:spPr>
          <a:xfrm>
            <a:off x="2657068" y="39261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69" name="p1-o69">
            <a:extLst>
              <a:ext uri="{FF2B5EF4-FFF2-40B4-BE49-F238E27FC236}">
                <a16:creationId xmlns:a16="http://schemas.microsoft.com/office/drawing/2014/main" id="{6E3DDF40-FF78-4ED5-BEE8-6E8322F387AE}"/>
              </a:ext>
            </a:extLst>
          </p:cNvPr>
          <p:cNvSpPr>
            <a:spLocks noGrp="1"/>
          </p:cNvSpPr>
          <p:nvPr/>
        </p:nvSpPr>
        <p:spPr>
          <a:xfrm>
            <a:off x="2733268" y="4002327"/>
            <a:ext cx="333375" cy="247650"/>
          </a:xfrm>
          <a:prstGeom prst="rect">
            <a:avLst/>
          </a:prstGeom>
          <a:solidFill>
            <a:srgbClr val="9BD3BC"/>
          </a:solidFill>
          <a:ln w="9525">
            <a:solidFill>
              <a:srgbClr val="6E92C5"/>
            </a:solidFill>
          </a:ln>
        </p:spPr>
      </p:sp>
      <p:sp>
        <p:nvSpPr>
          <p:cNvPr id="70" name="p1-o70">
            <a:extLst>
              <a:ext uri="{FF2B5EF4-FFF2-40B4-BE49-F238E27FC236}">
                <a16:creationId xmlns:a16="http://schemas.microsoft.com/office/drawing/2014/main" id="{1CB1DB81-591A-4340-B52A-921CA53F29CA}"/>
              </a:ext>
            </a:extLst>
          </p:cNvPr>
          <p:cNvSpPr>
            <a:spLocks noGrp="1"/>
          </p:cNvSpPr>
          <p:nvPr/>
        </p:nvSpPr>
        <p:spPr>
          <a:xfrm>
            <a:off x="2733268" y="3926127"/>
            <a:ext cx="419100" cy="76200"/>
          </a:xfrm>
          <a:custGeom>
            <a:avLst/>
            <a:gdLst/>
            <a:ahLst/>
            <a:cxnLst/>
            <a:rect l="0" t="0" r="0" b="0"/>
            <a:pathLst>
              <a:path w="419100" h="76200">
                <a:moveTo>
                  <a:pt x="0" y="76200"/>
                </a:moveTo>
                <a:lnTo>
                  <a:pt x="85725" y="0"/>
                </a:lnTo>
                <a:lnTo>
                  <a:pt x="419100" y="0"/>
                </a:lnTo>
                <a:lnTo>
                  <a:pt x="333375" y="76200"/>
                </a:lnTo>
                <a:close/>
              </a:path>
            </a:pathLst>
          </a:custGeom>
          <a:gradFill>
            <a:gsLst>
              <a:gs pos="0">
                <a:srgbClr val="F3F7FD"/>
              </a:gs>
              <a:gs pos="100000">
                <a:srgbClr val="9BD3BC"/>
              </a:gs>
            </a:gsLst>
            <a:lin ang="0"/>
          </a:gradFill>
          <a:ln w="9525">
            <a:solidFill>
              <a:srgbClr val="6E92C5"/>
            </a:solidFill>
          </a:ln>
        </p:spPr>
      </p:sp>
      <p:sp>
        <p:nvSpPr>
          <p:cNvPr id="71" name="p1-o71">
            <a:extLst>
              <a:ext uri="{FF2B5EF4-FFF2-40B4-BE49-F238E27FC236}">
                <a16:creationId xmlns:a16="http://schemas.microsoft.com/office/drawing/2014/main" id="{AD402BDE-606A-4C41-8877-B45A2D20C28E}"/>
              </a:ext>
            </a:extLst>
          </p:cNvPr>
          <p:cNvSpPr>
            <a:spLocks noGrp="1"/>
          </p:cNvSpPr>
          <p:nvPr/>
        </p:nvSpPr>
        <p:spPr>
          <a:xfrm>
            <a:off x="3066643" y="3926127"/>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72" name="p1-o72">
            <a:extLst>
              <a:ext uri="{FF2B5EF4-FFF2-40B4-BE49-F238E27FC236}">
                <a16:creationId xmlns:a16="http://schemas.microsoft.com/office/drawing/2014/main" id="{E62B23C0-E40B-4218-9312-C868BE1E6D3E}"/>
              </a:ext>
            </a:extLst>
          </p:cNvPr>
          <p:cNvSpPr>
            <a:spLocks noGrp="1"/>
          </p:cNvSpPr>
          <p:nvPr/>
        </p:nvSpPr>
        <p:spPr>
          <a:xfrm>
            <a:off x="1085443" y="3621327"/>
            <a:ext cx="285750" cy="247650"/>
          </a:xfrm>
          <a:prstGeom prst="rect">
            <a:avLst/>
          </a:prstGeom>
          <a:noFill/>
          <a:ln w="0">
            <a:noFill/>
          </a:ln>
        </p:spPr>
        <p:txBody>
          <a:bodyPr wrap="none" lIns="0" tIns="0" rIns="0" bIns="0" anchor="ctr">
            <a:noAutofit/>
          </a:bodyPr>
          <a:lstStyle/>
          <a:p>
            <a:pPr algn="l">
              <a:defRPr sz="150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p>
        </p:txBody>
      </p:sp>
      <p:sp>
        <p:nvSpPr>
          <p:cNvPr id="73" name="p1-o73">
            <a:extLst>
              <a:ext uri="{FF2B5EF4-FFF2-40B4-BE49-F238E27FC236}">
                <a16:creationId xmlns:a16="http://schemas.microsoft.com/office/drawing/2014/main" id="{B816DC74-E8CD-43D6-A8C9-8D2EF3C99C3F}"/>
              </a:ext>
            </a:extLst>
          </p:cNvPr>
          <p:cNvSpPr>
            <a:spLocks noGrp="1"/>
          </p:cNvSpPr>
          <p:nvPr/>
        </p:nvSpPr>
        <p:spPr>
          <a:xfrm>
            <a:off x="2161768" y="3640377"/>
            <a:ext cx="571500" cy="219075"/>
          </a:xfrm>
          <a:prstGeom prst="rect">
            <a:avLst/>
          </a:prstGeom>
          <a:noFill/>
          <a:ln w="0">
            <a:noFill/>
          </a:ln>
        </p:spPr>
        <p:txBody>
          <a:bodyPr wrap="none" lIns="0" tIns="0" rIns="0" bIns="0" anchor="ctr">
            <a:noAutofit/>
          </a:bodyPr>
          <a:lstStyle/>
          <a:p>
            <a:pPr algn="l">
              <a:defRPr sz="1414" b="0">
                <a:solidFill>
                  <a:srgbClr val="0B2344"/>
                </a:solidFill>
                <a:latin typeface="Microsoft YaHei"/>
                <a:ea typeface="Microsoft YaHei"/>
                <a:cs typeface="Microsoft YaHei"/>
              </a:defRPr>
            </a:pPr>
            <a:r>
              <a:rPr sz="1414" b="0">
                <a:solidFill>
                  <a:srgbClr val="0B2344"/>
                </a:solidFill>
                <a:latin typeface="Microsoft YaHei"/>
                <a:ea typeface="Microsoft YaHei"/>
                <a:cs typeface="Microsoft YaHei"/>
              </a:rPr>
              <a:t>…</a:t>
            </a:r>
          </a:p>
        </p:txBody>
      </p:sp>
      <p:sp>
        <p:nvSpPr>
          <p:cNvPr id="91" name="p1-o89">
            <a:extLst>
              <a:ext uri="{FF2B5EF4-FFF2-40B4-BE49-F238E27FC236}">
                <a16:creationId xmlns:a16="http://schemas.microsoft.com/office/drawing/2014/main" id="{7D9636A5-4F1B-46D9-BE42-8CA49A16404B}"/>
              </a:ext>
            </a:extLst>
          </p:cNvPr>
          <p:cNvSpPr>
            <a:spLocks noGrp="1"/>
          </p:cNvSpPr>
          <p:nvPr/>
        </p:nvSpPr>
        <p:spPr>
          <a:xfrm>
            <a:off x="5082584" y="2230280"/>
            <a:ext cx="314325" cy="209550"/>
          </a:xfrm>
          <a:prstGeom prst="rect">
            <a:avLst/>
          </a:prstGeom>
          <a:noFill/>
          <a:ln w="0">
            <a:noFill/>
          </a:ln>
        </p:spPr>
        <p:txBody>
          <a:bodyPr wrap="none" lIns="0" tIns="0" rIns="0" bIns="0" anchor="ctr">
            <a:noAutofit/>
          </a:bodyPr>
          <a:lstStyle/>
          <a:p>
            <a:pPr algn="ctr">
              <a:defRPr sz="97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L0</a:t>
            </a:r>
          </a:p>
        </p:txBody>
      </p:sp>
      <p:sp>
        <p:nvSpPr>
          <p:cNvPr id="92" name="p1-o90">
            <a:extLst>
              <a:ext uri="{FF2B5EF4-FFF2-40B4-BE49-F238E27FC236}">
                <a16:creationId xmlns:a16="http://schemas.microsoft.com/office/drawing/2014/main" id="{06C03460-6094-42F3-8AA1-2EEDEABA7ABA}"/>
              </a:ext>
            </a:extLst>
          </p:cNvPr>
          <p:cNvSpPr>
            <a:spLocks noGrp="1"/>
          </p:cNvSpPr>
          <p:nvPr/>
        </p:nvSpPr>
        <p:spPr>
          <a:xfrm>
            <a:off x="5425484" y="2230280"/>
            <a:ext cx="314325" cy="209550"/>
          </a:xfrm>
          <a:prstGeom prst="rect">
            <a:avLst/>
          </a:prstGeom>
          <a:noFill/>
          <a:ln w="0">
            <a:noFill/>
          </a:ln>
        </p:spPr>
        <p:txBody>
          <a:bodyPr wrap="none" lIns="0" tIns="0" rIns="0" bIns="0" anchor="ctr">
            <a:noAutofit/>
          </a:bodyPr>
          <a:lstStyle/>
          <a:p>
            <a:pPr algn="ctr">
              <a:defRPr sz="97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L1</a:t>
            </a:r>
          </a:p>
        </p:txBody>
      </p:sp>
      <p:sp>
        <p:nvSpPr>
          <p:cNvPr id="93" name="p1-o91">
            <a:extLst>
              <a:ext uri="{FF2B5EF4-FFF2-40B4-BE49-F238E27FC236}">
                <a16:creationId xmlns:a16="http://schemas.microsoft.com/office/drawing/2014/main" id="{C9F509DD-54E7-4435-80C5-65ECA70106AB}"/>
              </a:ext>
            </a:extLst>
          </p:cNvPr>
          <p:cNvSpPr>
            <a:spLocks noGrp="1"/>
          </p:cNvSpPr>
          <p:nvPr/>
        </p:nvSpPr>
        <p:spPr>
          <a:xfrm>
            <a:off x="5768384" y="2230280"/>
            <a:ext cx="314325" cy="209550"/>
          </a:xfrm>
          <a:prstGeom prst="rect">
            <a:avLst/>
          </a:prstGeom>
          <a:noFill/>
          <a:ln w="0">
            <a:noFill/>
          </a:ln>
        </p:spPr>
        <p:txBody>
          <a:bodyPr wrap="none" lIns="0" tIns="0" rIns="0" bIns="0" anchor="ctr">
            <a:noAutofit/>
          </a:bodyPr>
          <a:lstStyle/>
          <a:p>
            <a:pPr algn="ctr">
              <a:defRPr sz="97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L2</a:t>
            </a:r>
          </a:p>
        </p:txBody>
      </p:sp>
      <p:sp>
        <p:nvSpPr>
          <p:cNvPr id="94" name="p1-o92">
            <a:extLst>
              <a:ext uri="{FF2B5EF4-FFF2-40B4-BE49-F238E27FC236}">
                <a16:creationId xmlns:a16="http://schemas.microsoft.com/office/drawing/2014/main" id="{17B3E5C4-EDB8-4893-8D8F-DFA5AB961BCE}"/>
              </a:ext>
            </a:extLst>
          </p:cNvPr>
          <p:cNvSpPr>
            <a:spLocks noGrp="1"/>
          </p:cNvSpPr>
          <p:nvPr/>
        </p:nvSpPr>
        <p:spPr>
          <a:xfrm>
            <a:off x="6111284" y="2230280"/>
            <a:ext cx="314325" cy="209550"/>
          </a:xfrm>
          <a:prstGeom prst="rect">
            <a:avLst/>
          </a:prstGeom>
          <a:noFill/>
          <a:ln w="0">
            <a:noFill/>
          </a:ln>
        </p:spPr>
        <p:txBody>
          <a:bodyPr wrap="none" lIns="0" tIns="0" rIns="0" bIns="0" anchor="ctr">
            <a:noAutofit/>
          </a:bodyPr>
          <a:lstStyle/>
          <a:p>
            <a:pPr algn="ctr">
              <a:defRPr sz="97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L3</a:t>
            </a:r>
          </a:p>
        </p:txBody>
      </p:sp>
      <p:sp>
        <p:nvSpPr>
          <p:cNvPr id="95" name="p1-o93">
            <a:extLst>
              <a:ext uri="{FF2B5EF4-FFF2-40B4-BE49-F238E27FC236}">
                <a16:creationId xmlns:a16="http://schemas.microsoft.com/office/drawing/2014/main" id="{8E59E40D-165F-428E-B2C0-EB8AB3C855BA}"/>
              </a:ext>
            </a:extLst>
          </p:cNvPr>
          <p:cNvSpPr>
            <a:spLocks noGrp="1"/>
          </p:cNvSpPr>
          <p:nvPr/>
        </p:nvSpPr>
        <p:spPr>
          <a:xfrm>
            <a:off x="6454184" y="2230280"/>
            <a:ext cx="314325" cy="209550"/>
          </a:xfrm>
          <a:prstGeom prst="rect">
            <a:avLst/>
          </a:prstGeom>
          <a:noFill/>
          <a:ln w="0">
            <a:noFill/>
          </a:ln>
        </p:spPr>
        <p:txBody>
          <a:bodyPr wrap="none" lIns="0" tIns="0" rIns="0" bIns="0" anchor="ctr">
            <a:noAutofit/>
          </a:bodyPr>
          <a:lstStyle/>
          <a:p>
            <a:pPr algn="ctr">
              <a:defRPr sz="97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p>
        </p:txBody>
      </p:sp>
      <p:sp>
        <p:nvSpPr>
          <p:cNvPr id="96" name="p1-o94">
            <a:extLst>
              <a:ext uri="{FF2B5EF4-FFF2-40B4-BE49-F238E27FC236}">
                <a16:creationId xmlns:a16="http://schemas.microsoft.com/office/drawing/2014/main" id="{32EE5D12-D39B-4A72-A28D-59CC1C911398}"/>
              </a:ext>
            </a:extLst>
          </p:cNvPr>
          <p:cNvSpPr>
            <a:spLocks noGrp="1"/>
          </p:cNvSpPr>
          <p:nvPr/>
        </p:nvSpPr>
        <p:spPr>
          <a:xfrm>
            <a:off x="6797084" y="2230280"/>
            <a:ext cx="314325" cy="209550"/>
          </a:xfrm>
          <a:prstGeom prst="rect">
            <a:avLst/>
          </a:prstGeom>
          <a:noFill/>
          <a:ln w="0">
            <a:noFill/>
          </a:ln>
        </p:spPr>
        <p:txBody>
          <a:bodyPr wrap="none" lIns="0" tIns="0" rIns="0" bIns="0" anchor="ctr">
            <a:noAutofit/>
          </a:bodyPr>
          <a:lstStyle/>
          <a:p>
            <a:pPr algn="ctr">
              <a:defRPr sz="975"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L35</a:t>
            </a:r>
          </a:p>
        </p:txBody>
      </p:sp>
      <p:sp>
        <p:nvSpPr>
          <p:cNvPr id="97" name="p1-o95">
            <a:extLst>
              <a:ext uri="{FF2B5EF4-FFF2-40B4-BE49-F238E27FC236}">
                <a16:creationId xmlns:a16="http://schemas.microsoft.com/office/drawing/2014/main" id="{0921011E-1BA7-419F-AF00-F7BDB5EE27AF}"/>
              </a:ext>
            </a:extLst>
          </p:cNvPr>
          <p:cNvSpPr>
            <a:spLocks noGrp="1"/>
          </p:cNvSpPr>
          <p:nvPr/>
        </p:nvSpPr>
        <p:spPr>
          <a:xfrm>
            <a:off x="4549184" y="2554130"/>
            <a:ext cx="581025" cy="276225"/>
          </a:xfrm>
          <a:prstGeom prst="rect">
            <a:avLst/>
          </a:prstGeom>
          <a:noFill/>
          <a:ln w="0">
            <a:noFill/>
          </a:ln>
        </p:spPr>
        <p:txBody>
          <a:bodyPr wrap="none" lIns="0" tIns="0" rIns="0" bIns="0" anchor="ctr">
            <a:noAutofit/>
          </a:bodyPr>
          <a:lstStyle/>
          <a:p>
            <a:pPr algn="l">
              <a:defRPr sz="1050" b="0">
                <a:solidFill>
                  <a:srgbClr val="0B2344"/>
                </a:solidFill>
                <a:latin typeface="Microsoft YaHei"/>
                <a:ea typeface="Microsoft YaHei"/>
                <a:cs typeface="Microsoft YaHei"/>
              </a:defRPr>
            </a:pPr>
            <a:r>
              <a:rPr sz="1200" b="0"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Block 0</a:t>
            </a:r>
          </a:p>
        </p:txBody>
      </p:sp>
      <p:sp>
        <p:nvSpPr>
          <p:cNvPr id="98" name="p1-o96">
            <a:extLst>
              <a:ext uri="{FF2B5EF4-FFF2-40B4-BE49-F238E27FC236}">
                <a16:creationId xmlns:a16="http://schemas.microsoft.com/office/drawing/2014/main" id="{A90BEA3E-07FD-4844-BCDA-30A0A7E0D019}"/>
              </a:ext>
            </a:extLst>
          </p:cNvPr>
          <p:cNvSpPr>
            <a:spLocks noGrp="1"/>
          </p:cNvSpPr>
          <p:nvPr/>
        </p:nvSpPr>
        <p:spPr>
          <a:xfrm>
            <a:off x="5149259" y="2573180"/>
            <a:ext cx="276225" cy="247650"/>
          </a:xfrm>
          <a:prstGeom prst="rect">
            <a:avLst/>
          </a:prstGeom>
          <a:solidFill>
            <a:srgbClr val="91B3E8"/>
          </a:solidFill>
          <a:ln w="9525">
            <a:solidFill>
              <a:srgbClr val="6E92C5"/>
            </a:solidFill>
          </a:ln>
        </p:spPr>
      </p:sp>
      <p:sp>
        <p:nvSpPr>
          <p:cNvPr id="99" name="p1-o97">
            <a:extLst>
              <a:ext uri="{FF2B5EF4-FFF2-40B4-BE49-F238E27FC236}">
                <a16:creationId xmlns:a16="http://schemas.microsoft.com/office/drawing/2014/main" id="{D75728C7-E22D-4126-B151-EE0B9CFCB98A}"/>
              </a:ext>
            </a:extLst>
          </p:cNvPr>
          <p:cNvSpPr>
            <a:spLocks noGrp="1"/>
          </p:cNvSpPr>
          <p:nvPr/>
        </p:nvSpPr>
        <p:spPr>
          <a:xfrm>
            <a:off x="5149259" y="249698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1B3E8"/>
              </a:gs>
            </a:gsLst>
            <a:lin ang="0"/>
          </a:gradFill>
          <a:ln w="9525">
            <a:solidFill>
              <a:srgbClr val="6E92C5"/>
            </a:solidFill>
          </a:ln>
        </p:spPr>
      </p:sp>
      <p:sp>
        <p:nvSpPr>
          <p:cNvPr id="100" name="p1-o98">
            <a:extLst>
              <a:ext uri="{FF2B5EF4-FFF2-40B4-BE49-F238E27FC236}">
                <a16:creationId xmlns:a16="http://schemas.microsoft.com/office/drawing/2014/main" id="{8BBBB948-DEA5-4760-9FB0-972C1D0C8954}"/>
              </a:ext>
            </a:extLst>
          </p:cNvPr>
          <p:cNvSpPr>
            <a:spLocks noGrp="1"/>
          </p:cNvSpPr>
          <p:nvPr/>
        </p:nvSpPr>
        <p:spPr>
          <a:xfrm>
            <a:off x="5425484" y="249698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101" name="p1-o99">
            <a:extLst>
              <a:ext uri="{FF2B5EF4-FFF2-40B4-BE49-F238E27FC236}">
                <a16:creationId xmlns:a16="http://schemas.microsoft.com/office/drawing/2014/main" id="{0C10A0C0-FC94-4061-8679-AAB116712820}"/>
              </a:ext>
            </a:extLst>
          </p:cNvPr>
          <p:cNvSpPr>
            <a:spLocks noGrp="1"/>
          </p:cNvSpPr>
          <p:nvPr/>
        </p:nvSpPr>
        <p:spPr>
          <a:xfrm>
            <a:off x="5492159" y="2573180"/>
            <a:ext cx="276225" cy="247650"/>
          </a:xfrm>
          <a:prstGeom prst="rect">
            <a:avLst/>
          </a:prstGeom>
          <a:solidFill>
            <a:srgbClr val="E8B0BD"/>
          </a:solidFill>
          <a:ln w="9525">
            <a:solidFill>
              <a:srgbClr val="6E92C5"/>
            </a:solidFill>
          </a:ln>
        </p:spPr>
      </p:sp>
      <p:sp>
        <p:nvSpPr>
          <p:cNvPr id="102" name="p1-o100">
            <a:extLst>
              <a:ext uri="{FF2B5EF4-FFF2-40B4-BE49-F238E27FC236}">
                <a16:creationId xmlns:a16="http://schemas.microsoft.com/office/drawing/2014/main" id="{A64E88BB-8504-4E06-83B8-08580B8BE182}"/>
              </a:ext>
            </a:extLst>
          </p:cNvPr>
          <p:cNvSpPr>
            <a:spLocks noGrp="1"/>
          </p:cNvSpPr>
          <p:nvPr/>
        </p:nvSpPr>
        <p:spPr>
          <a:xfrm>
            <a:off x="5492159" y="249698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E8B0BD"/>
              </a:gs>
            </a:gsLst>
            <a:lin ang="0"/>
          </a:gradFill>
          <a:ln w="9525">
            <a:solidFill>
              <a:srgbClr val="6E92C5"/>
            </a:solidFill>
          </a:ln>
        </p:spPr>
      </p:sp>
      <p:sp>
        <p:nvSpPr>
          <p:cNvPr id="103" name="p1-o101">
            <a:extLst>
              <a:ext uri="{FF2B5EF4-FFF2-40B4-BE49-F238E27FC236}">
                <a16:creationId xmlns:a16="http://schemas.microsoft.com/office/drawing/2014/main" id="{DC21C182-BF06-491C-BBF7-3703E9DB104E}"/>
              </a:ext>
            </a:extLst>
          </p:cNvPr>
          <p:cNvSpPr>
            <a:spLocks noGrp="1"/>
          </p:cNvSpPr>
          <p:nvPr/>
        </p:nvSpPr>
        <p:spPr>
          <a:xfrm>
            <a:off x="5768384" y="249698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104" name="p1-o102">
            <a:extLst>
              <a:ext uri="{FF2B5EF4-FFF2-40B4-BE49-F238E27FC236}">
                <a16:creationId xmlns:a16="http://schemas.microsoft.com/office/drawing/2014/main" id="{AC0D91E8-098F-4437-A10A-E52A0945655F}"/>
              </a:ext>
            </a:extLst>
          </p:cNvPr>
          <p:cNvSpPr>
            <a:spLocks noGrp="1"/>
          </p:cNvSpPr>
          <p:nvPr/>
        </p:nvSpPr>
        <p:spPr>
          <a:xfrm>
            <a:off x="5835059" y="2573180"/>
            <a:ext cx="276225" cy="247650"/>
          </a:xfrm>
          <a:prstGeom prst="rect">
            <a:avLst/>
          </a:prstGeom>
          <a:solidFill>
            <a:srgbClr val="F4DBA6"/>
          </a:solidFill>
          <a:ln w="9525">
            <a:solidFill>
              <a:srgbClr val="6E92C5"/>
            </a:solidFill>
          </a:ln>
        </p:spPr>
      </p:sp>
      <p:sp>
        <p:nvSpPr>
          <p:cNvPr id="105" name="p1-o103">
            <a:extLst>
              <a:ext uri="{FF2B5EF4-FFF2-40B4-BE49-F238E27FC236}">
                <a16:creationId xmlns:a16="http://schemas.microsoft.com/office/drawing/2014/main" id="{356623BD-3F68-4F8D-ADCF-6AC4CD5ABFF6}"/>
              </a:ext>
            </a:extLst>
          </p:cNvPr>
          <p:cNvSpPr>
            <a:spLocks noGrp="1"/>
          </p:cNvSpPr>
          <p:nvPr/>
        </p:nvSpPr>
        <p:spPr>
          <a:xfrm>
            <a:off x="5835059" y="249698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F4DBA6"/>
              </a:gs>
            </a:gsLst>
            <a:lin ang="0"/>
          </a:gradFill>
          <a:ln w="9525">
            <a:solidFill>
              <a:srgbClr val="6E92C5"/>
            </a:solidFill>
          </a:ln>
        </p:spPr>
      </p:sp>
      <p:sp>
        <p:nvSpPr>
          <p:cNvPr id="106" name="p1-o104">
            <a:extLst>
              <a:ext uri="{FF2B5EF4-FFF2-40B4-BE49-F238E27FC236}">
                <a16:creationId xmlns:a16="http://schemas.microsoft.com/office/drawing/2014/main" id="{0FEE7319-A973-4C20-AC32-DF38DAFF644B}"/>
              </a:ext>
            </a:extLst>
          </p:cNvPr>
          <p:cNvSpPr>
            <a:spLocks noGrp="1"/>
          </p:cNvSpPr>
          <p:nvPr/>
        </p:nvSpPr>
        <p:spPr>
          <a:xfrm>
            <a:off x="6111284" y="249698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107" name="p1-o105">
            <a:extLst>
              <a:ext uri="{FF2B5EF4-FFF2-40B4-BE49-F238E27FC236}">
                <a16:creationId xmlns:a16="http://schemas.microsoft.com/office/drawing/2014/main" id="{97984A1C-D47B-4ECF-8192-80B6744AB8E0}"/>
              </a:ext>
            </a:extLst>
          </p:cNvPr>
          <p:cNvSpPr>
            <a:spLocks noGrp="1"/>
          </p:cNvSpPr>
          <p:nvPr/>
        </p:nvSpPr>
        <p:spPr>
          <a:xfrm>
            <a:off x="6177959" y="2573180"/>
            <a:ext cx="276225" cy="247650"/>
          </a:xfrm>
          <a:prstGeom prst="rect">
            <a:avLst/>
          </a:prstGeom>
          <a:solidFill>
            <a:srgbClr val="9BD3BC"/>
          </a:solidFill>
          <a:ln w="9525">
            <a:solidFill>
              <a:srgbClr val="6E92C5"/>
            </a:solidFill>
          </a:ln>
        </p:spPr>
      </p:sp>
      <p:sp>
        <p:nvSpPr>
          <p:cNvPr id="108" name="p1-o106">
            <a:extLst>
              <a:ext uri="{FF2B5EF4-FFF2-40B4-BE49-F238E27FC236}">
                <a16:creationId xmlns:a16="http://schemas.microsoft.com/office/drawing/2014/main" id="{35A018E9-3F10-4671-827D-A066C7DC19C5}"/>
              </a:ext>
            </a:extLst>
          </p:cNvPr>
          <p:cNvSpPr>
            <a:spLocks noGrp="1"/>
          </p:cNvSpPr>
          <p:nvPr/>
        </p:nvSpPr>
        <p:spPr>
          <a:xfrm>
            <a:off x="6177959" y="249698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BD3BC"/>
              </a:gs>
            </a:gsLst>
            <a:lin ang="0"/>
          </a:gradFill>
          <a:ln w="9525">
            <a:solidFill>
              <a:srgbClr val="6E92C5"/>
            </a:solidFill>
          </a:ln>
        </p:spPr>
      </p:sp>
      <p:sp>
        <p:nvSpPr>
          <p:cNvPr id="109" name="p1-o107">
            <a:extLst>
              <a:ext uri="{FF2B5EF4-FFF2-40B4-BE49-F238E27FC236}">
                <a16:creationId xmlns:a16="http://schemas.microsoft.com/office/drawing/2014/main" id="{66B9FC1D-E336-4E7E-A4BA-B2C3F88B22AD}"/>
              </a:ext>
            </a:extLst>
          </p:cNvPr>
          <p:cNvSpPr>
            <a:spLocks noGrp="1"/>
          </p:cNvSpPr>
          <p:nvPr/>
        </p:nvSpPr>
        <p:spPr>
          <a:xfrm>
            <a:off x="6454184" y="249698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110" name="p1-o108">
            <a:extLst>
              <a:ext uri="{FF2B5EF4-FFF2-40B4-BE49-F238E27FC236}">
                <a16:creationId xmlns:a16="http://schemas.microsoft.com/office/drawing/2014/main" id="{06E99393-04F3-4C1A-A3E3-7A119574B540}"/>
              </a:ext>
            </a:extLst>
          </p:cNvPr>
          <p:cNvSpPr>
            <a:spLocks noGrp="1"/>
          </p:cNvSpPr>
          <p:nvPr/>
        </p:nvSpPr>
        <p:spPr>
          <a:xfrm>
            <a:off x="6520859" y="2573180"/>
            <a:ext cx="276225" cy="247650"/>
          </a:xfrm>
          <a:prstGeom prst="rect">
            <a:avLst/>
          </a:prstGeom>
          <a:solidFill>
            <a:srgbClr val="D6D8DC"/>
          </a:solidFill>
          <a:ln w="9525">
            <a:solidFill>
              <a:srgbClr val="6E92C5"/>
            </a:solidFill>
          </a:ln>
        </p:spPr>
      </p:sp>
      <p:sp>
        <p:nvSpPr>
          <p:cNvPr id="111" name="p1-o109">
            <a:extLst>
              <a:ext uri="{FF2B5EF4-FFF2-40B4-BE49-F238E27FC236}">
                <a16:creationId xmlns:a16="http://schemas.microsoft.com/office/drawing/2014/main" id="{1F68196D-BAD5-462A-A26A-3276449D064B}"/>
              </a:ext>
            </a:extLst>
          </p:cNvPr>
          <p:cNvSpPr>
            <a:spLocks noGrp="1"/>
          </p:cNvSpPr>
          <p:nvPr/>
        </p:nvSpPr>
        <p:spPr>
          <a:xfrm>
            <a:off x="6520859" y="249698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D6D8DC"/>
              </a:gs>
            </a:gsLst>
            <a:lin ang="0"/>
          </a:gradFill>
          <a:ln w="9525">
            <a:solidFill>
              <a:srgbClr val="6E92C5"/>
            </a:solidFill>
          </a:ln>
        </p:spPr>
      </p:sp>
      <p:sp>
        <p:nvSpPr>
          <p:cNvPr id="112" name="p1-o110">
            <a:extLst>
              <a:ext uri="{FF2B5EF4-FFF2-40B4-BE49-F238E27FC236}">
                <a16:creationId xmlns:a16="http://schemas.microsoft.com/office/drawing/2014/main" id="{DEDD55C1-3AEA-40C5-BB62-7C4A6660B6AC}"/>
              </a:ext>
            </a:extLst>
          </p:cNvPr>
          <p:cNvSpPr>
            <a:spLocks noGrp="1"/>
          </p:cNvSpPr>
          <p:nvPr/>
        </p:nvSpPr>
        <p:spPr>
          <a:xfrm>
            <a:off x="6797084" y="249698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D6D8DC"/>
          </a:solidFill>
          <a:ln w="9525">
            <a:solidFill>
              <a:srgbClr val="6E92C5"/>
            </a:solidFill>
          </a:ln>
        </p:spPr>
      </p:sp>
      <p:sp>
        <p:nvSpPr>
          <p:cNvPr id="113" name="p1-o111">
            <a:extLst>
              <a:ext uri="{FF2B5EF4-FFF2-40B4-BE49-F238E27FC236}">
                <a16:creationId xmlns:a16="http://schemas.microsoft.com/office/drawing/2014/main" id="{8260231B-A631-483B-905A-B220C079E0C0}"/>
              </a:ext>
            </a:extLst>
          </p:cNvPr>
          <p:cNvSpPr>
            <a:spLocks noGrp="1"/>
          </p:cNvSpPr>
          <p:nvPr/>
        </p:nvSpPr>
        <p:spPr>
          <a:xfrm>
            <a:off x="6863759" y="2573180"/>
            <a:ext cx="276225" cy="247650"/>
          </a:xfrm>
          <a:prstGeom prst="rect">
            <a:avLst/>
          </a:prstGeom>
          <a:solidFill>
            <a:srgbClr val="B6A5DD"/>
          </a:solidFill>
          <a:ln w="9525">
            <a:solidFill>
              <a:srgbClr val="6E92C5"/>
            </a:solidFill>
          </a:ln>
        </p:spPr>
      </p:sp>
      <p:sp>
        <p:nvSpPr>
          <p:cNvPr id="114" name="p1-o112">
            <a:extLst>
              <a:ext uri="{FF2B5EF4-FFF2-40B4-BE49-F238E27FC236}">
                <a16:creationId xmlns:a16="http://schemas.microsoft.com/office/drawing/2014/main" id="{6C316A43-0402-41D6-9E0C-74A6375A9502}"/>
              </a:ext>
            </a:extLst>
          </p:cNvPr>
          <p:cNvSpPr>
            <a:spLocks noGrp="1"/>
          </p:cNvSpPr>
          <p:nvPr/>
        </p:nvSpPr>
        <p:spPr>
          <a:xfrm>
            <a:off x="6863759" y="249698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B6A5DD"/>
              </a:gs>
            </a:gsLst>
            <a:lin ang="0"/>
          </a:gradFill>
          <a:ln w="9525">
            <a:solidFill>
              <a:srgbClr val="6E92C5"/>
            </a:solidFill>
          </a:ln>
        </p:spPr>
      </p:sp>
      <p:sp>
        <p:nvSpPr>
          <p:cNvPr id="115" name="p1-o113">
            <a:extLst>
              <a:ext uri="{FF2B5EF4-FFF2-40B4-BE49-F238E27FC236}">
                <a16:creationId xmlns:a16="http://schemas.microsoft.com/office/drawing/2014/main" id="{2F5009AA-5CD6-410B-93E0-9465D311DA3A}"/>
              </a:ext>
            </a:extLst>
          </p:cNvPr>
          <p:cNvSpPr>
            <a:spLocks noGrp="1"/>
          </p:cNvSpPr>
          <p:nvPr/>
        </p:nvSpPr>
        <p:spPr>
          <a:xfrm>
            <a:off x="7139984" y="249698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B6A5DD"/>
          </a:solidFill>
          <a:ln w="9525">
            <a:solidFill>
              <a:srgbClr val="6E92C5"/>
            </a:solidFill>
          </a:ln>
        </p:spPr>
      </p:sp>
      <p:sp>
        <p:nvSpPr>
          <p:cNvPr id="116" name="p1-o114">
            <a:extLst>
              <a:ext uri="{FF2B5EF4-FFF2-40B4-BE49-F238E27FC236}">
                <a16:creationId xmlns:a16="http://schemas.microsoft.com/office/drawing/2014/main" id="{A8F3A586-74FD-452F-ACCC-CE57B00BD946}"/>
              </a:ext>
            </a:extLst>
          </p:cNvPr>
          <p:cNvSpPr>
            <a:spLocks noGrp="1"/>
          </p:cNvSpPr>
          <p:nvPr/>
        </p:nvSpPr>
        <p:spPr>
          <a:xfrm>
            <a:off x="4549184" y="2963705"/>
            <a:ext cx="581025" cy="276225"/>
          </a:xfrm>
          <a:prstGeom prst="rect">
            <a:avLst/>
          </a:prstGeom>
          <a:noFill/>
          <a:ln w="0">
            <a:noFill/>
          </a:ln>
        </p:spPr>
        <p:txBody>
          <a:bodyPr wrap="none" lIns="0" tIns="0" rIns="0" bIns="0" anchor="ctr">
            <a:noAutofit/>
          </a:bodyPr>
          <a:lstStyle/>
          <a:p>
            <a:pPr algn="l">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Block 1</a:t>
            </a:r>
          </a:p>
        </p:txBody>
      </p:sp>
      <p:sp>
        <p:nvSpPr>
          <p:cNvPr id="117" name="p1-o115">
            <a:extLst>
              <a:ext uri="{FF2B5EF4-FFF2-40B4-BE49-F238E27FC236}">
                <a16:creationId xmlns:a16="http://schemas.microsoft.com/office/drawing/2014/main" id="{CC70E2C8-42B6-4C39-8CCB-3848560155CF}"/>
              </a:ext>
            </a:extLst>
          </p:cNvPr>
          <p:cNvSpPr>
            <a:spLocks noGrp="1"/>
          </p:cNvSpPr>
          <p:nvPr/>
        </p:nvSpPr>
        <p:spPr>
          <a:xfrm>
            <a:off x="5149259" y="2982755"/>
            <a:ext cx="276225" cy="247650"/>
          </a:xfrm>
          <a:prstGeom prst="rect">
            <a:avLst/>
          </a:prstGeom>
          <a:solidFill>
            <a:srgbClr val="91B3E8"/>
          </a:solidFill>
          <a:ln w="9525">
            <a:solidFill>
              <a:srgbClr val="6E92C5"/>
            </a:solidFill>
          </a:ln>
        </p:spPr>
      </p:sp>
      <p:sp>
        <p:nvSpPr>
          <p:cNvPr id="118" name="p1-o116">
            <a:extLst>
              <a:ext uri="{FF2B5EF4-FFF2-40B4-BE49-F238E27FC236}">
                <a16:creationId xmlns:a16="http://schemas.microsoft.com/office/drawing/2014/main" id="{D04C1D07-8ED4-49FE-9FC9-A37C98708DC7}"/>
              </a:ext>
            </a:extLst>
          </p:cNvPr>
          <p:cNvSpPr>
            <a:spLocks noGrp="1"/>
          </p:cNvSpPr>
          <p:nvPr/>
        </p:nvSpPr>
        <p:spPr>
          <a:xfrm>
            <a:off x="5149259" y="29065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1B3E8"/>
              </a:gs>
            </a:gsLst>
            <a:lin ang="0"/>
          </a:gradFill>
          <a:ln w="9525">
            <a:solidFill>
              <a:srgbClr val="6E92C5"/>
            </a:solidFill>
          </a:ln>
        </p:spPr>
      </p:sp>
      <p:sp>
        <p:nvSpPr>
          <p:cNvPr id="119" name="p1-o117">
            <a:extLst>
              <a:ext uri="{FF2B5EF4-FFF2-40B4-BE49-F238E27FC236}">
                <a16:creationId xmlns:a16="http://schemas.microsoft.com/office/drawing/2014/main" id="{09BDABB0-4497-4E0E-A693-A3325CBB9632}"/>
              </a:ext>
            </a:extLst>
          </p:cNvPr>
          <p:cNvSpPr>
            <a:spLocks noGrp="1"/>
          </p:cNvSpPr>
          <p:nvPr/>
        </p:nvSpPr>
        <p:spPr>
          <a:xfrm>
            <a:off x="5425484" y="29065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120" name="p1-o118">
            <a:extLst>
              <a:ext uri="{FF2B5EF4-FFF2-40B4-BE49-F238E27FC236}">
                <a16:creationId xmlns:a16="http://schemas.microsoft.com/office/drawing/2014/main" id="{F5FCB6E1-6F48-4298-AFCB-6B4F791DFF90}"/>
              </a:ext>
            </a:extLst>
          </p:cNvPr>
          <p:cNvSpPr>
            <a:spLocks noGrp="1"/>
          </p:cNvSpPr>
          <p:nvPr/>
        </p:nvSpPr>
        <p:spPr>
          <a:xfrm>
            <a:off x="5492159" y="2982755"/>
            <a:ext cx="276225" cy="247650"/>
          </a:xfrm>
          <a:prstGeom prst="rect">
            <a:avLst/>
          </a:prstGeom>
          <a:solidFill>
            <a:srgbClr val="E8B0BD"/>
          </a:solidFill>
          <a:ln w="9525">
            <a:solidFill>
              <a:srgbClr val="6E92C5"/>
            </a:solidFill>
          </a:ln>
        </p:spPr>
      </p:sp>
      <p:sp>
        <p:nvSpPr>
          <p:cNvPr id="121" name="p1-o119">
            <a:extLst>
              <a:ext uri="{FF2B5EF4-FFF2-40B4-BE49-F238E27FC236}">
                <a16:creationId xmlns:a16="http://schemas.microsoft.com/office/drawing/2014/main" id="{E8ACE956-EF21-4E7C-99B7-A90AF4EC17F0}"/>
              </a:ext>
            </a:extLst>
          </p:cNvPr>
          <p:cNvSpPr>
            <a:spLocks noGrp="1"/>
          </p:cNvSpPr>
          <p:nvPr/>
        </p:nvSpPr>
        <p:spPr>
          <a:xfrm>
            <a:off x="5492159" y="29065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E8B0BD"/>
              </a:gs>
            </a:gsLst>
            <a:lin ang="0"/>
          </a:gradFill>
          <a:ln w="9525">
            <a:solidFill>
              <a:srgbClr val="6E92C5"/>
            </a:solidFill>
          </a:ln>
        </p:spPr>
      </p:sp>
      <p:sp>
        <p:nvSpPr>
          <p:cNvPr id="122" name="p1-o120">
            <a:extLst>
              <a:ext uri="{FF2B5EF4-FFF2-40B4-BE49-F238E27FC236}">
                <a16:creationId xmlns:a16="http://schemas.microsoft.com/office/drawing/2014/main" id="{6E958E62-548C-43D6-B5C8-7813AA58709D}"/>
              </a:ext>
            </a:extLst>
          </p:cNvPr>
          <p:cNvSpPr>
            <a:spLocks noGrp="1"/>
          </p:cNvSpPr>
          <p:nvPr/>
        </p:nvSpPr>
        <p:spPr>
          <a:xfrm>
            <a:off x="5768384" y="29065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123" name="p1-o121">
            <a:extLst>
              <a:ext uri="{FF2B5EF4-FFF2-40B4-BE49-F238E27FC236}">
                <a16:creationId xmlns:a16="http://schemas.microsoft.com/office/drawing/2014/main" id="{BB31CFB6-FA29-4BDF-8804-F9802190FC86}"/>
              </a:ext>
            </a:extLst>
          </p:cNvPr>
          <p:cNvSpPr>
            <a:spLocks noGrp="1"/>
          </p:cNvSpPr>
          <p:nvPr/>
        </p:nvSpPr>
        <p:spPr>
          <a:xfrm>
            <a:off x="5835059" y="2982755"/>
            <a:ext cx="276225" cy="247650"/>
          </a:xfrm>
          <a:prstGeom prst="rect">
            <a:avLst/>
          </a:prstGeom>
          <a:solidFill>
            <a:srgbClr val="F4DBA6"/>
          </a:solidFill>
          <a:ln w="9525">
            <a:solidFill>
              <a:srgbClr val="6E92C5"/>
            </a:solidFill>
          </a:ln>
        </p:spPr>
      </p:sp>
      <p:sp>
        <p:nvSpPr>
          <p:cNvPr id="124" name="p1-o122">
            <a:extLst>
              <a:ext uri="{FF2B5EF4-FFF2-40B4-BE49-F238E27FC236}">
                <a16:creationId xmlns:a16="http://schemas.microsoft.com/office/drawing/2014/main" id="{8C8E37EC-E1EB-4535-A8AF-F66D826AF61C}"/>
              </a:ext>
            </a:extLst>
          </p:cNvPr>
          <p:cNvSpPr>
            <a:spLocks noGrp="1"/>
          </p:cNvSpPr>
          <p:nvPr/>
        </p:nvSpPr>
        <p:spPr>
          <a:xfrm>
            <a:off x="5835059" y="29065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F4DBA6"/>
              </a:gs>
            </a:gsLst>
            <a:lin ang="0"/>
          </a:gradFill>
          <a:ln w="9525">
            <a:solidFill>
              <a:srgbClr val="6E92C5"/>
            </a:solidFill>
          </a:ln>
        </p:spPr>
      </p:sp>
      <p:sp>
        <p:nvSpPr>
          <p:cNvPr id="125" name="p1-o123">
            <a:extLst>
              <a:ext uri="{FF2B5EF4-FFF2-40B4-BE49-F238E27FC236}">
                <a16:creationId xmlns:a16="http://schemas.microsoft.com/office/drawing/2014/main" id="{42A9BDDE-C4F4-48FB-B145-11EF920E1F50}"/>
              </a:ext>
            </a:extLst>
          </p:cNvPr>
          <p:cNvSpPr>
            <a:spLocks noGrp="1"/>
          </p:cNvSpPr>
          <p:nvPr/>
        </p:nvSpPr>
        <p:spPr>
          <a:xfrm>
            <a:off x="6111284" y="29065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126" name="p1-o124">
            <a:extLst>
              <a:ext uri="{FF2B5EF4-FFF2-40B4-BE49-F238E27FC236}">
                <a16:creationId xmlns:a16="http://schemas.microsoft.com/office/drawing/2014/main" id="{102BC98D-F6D2-4241-9C34-CE080CFA91CC}"/>
              </a:ext>
            </a:extLst>
          </p:cNvPr>
          <p:cNvSpPr>
            <a:spLocks noGrp="1"/>
          </p:cNvSpPr>
          <p:nvPr/>
        </p:nvSpPr>
        <p:spPr>
          <a:xfrm>
            <a:off x="6177959" y="2982755"/>
            <a:ext cx="276225" cy="247650"/>
          </a:xfrm>
          <a:prstGeom prst="rect">
            <a:avLst/>
          </a:prstGeom>
          <a:solidFill>
            <a:srgbClr val="9BD3BC"/>
          </a:solidFill>
          <a:ln w="9525">
            <a:solidFill>
              <a:srgbClr val="6E92C5"/>
            </a:solidFill>
          </a:ln>
        </p:spPr>
      </p:sp>
      <p:sp>
        <p:nvSpPr>
          <p:cNvPr id="127" name="p1-o125">
            <a:extLst>
              <a:ext uri="{FF2B5EF4-FFF2-40B4-BE49-F238E27FC236}">
                <a16:creationId xmlns:a16="http://schemas.microsoft.com/office/drawing/2014/main" id="{DDD96B48-FC2A-4F9A-AE14-E00249BDEFB5}"/>
              </a:ext>
            </a:extLst>
          </p:cNvPr>
          <p:cNvSpPr>
            <a:spLocks noGrp="1"/>
          </p:cNvSpPr>
          <p:nvPr/>
        </p:nvSpPr>
        <p:spPr>
          <a:xfrm>
            <a:off x="6177959" y="29065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BD3BC"/>
              </a:gs>
            </a:gsLst>
            <a:lin ang="0"/>
          </a:gradFill>
          <a:ln w="9525">
            <a:solidFill>
              <a:srgbClr val="6E92C5"/>
            </a:solidFill>
          </a:ln>
        </p:spPr>
      </p:sp>
      <p:sp>
        <p:nvSpPr>
          <p:cNvPr id="128" name="p1-o126">
            <a:extLst>
              <a:ext uri="{FF2B5EF4-FFF2-40B4-BE49-F238E27FC236}">
                <a16:creationId xmlns:a16="http://schemas.microsoft.com/office/drawing/2014/main" id="{04A5793B-3A30-473F-B5D0-B0589A6B663C}"/>
              </a:ext>
            </a:extLst>
          </p:cNvPr>
          <p:cNvSpPr>
            <a:spLocks noGrp="1"/>
          </p:cNvSpPr>
          <p:nvPr/>
        </p:nvSpPr>
        <p:spPr>
          <a:xfrm>
            <a:off x="6454184" y="29065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129" name="p1-o127">
            <a:extLst>
              <a:ext uri="{FF2B5EF4-FFF2-40B4-BE49-F238E27FC236}">
                <a16:creationId xmlns:a16="http://schemas.microsoft.com/office/drawing/2014/main" id="{ED0081B7-9BF9-43ED-8D26-A6375D16C19C}"/>
              </a:ext>
            </a:extLst>
          </p:cNvPr>
          <p:cNvSpPr>
            <a:spLocks noGrp="1"/>
          </p:cNvSpPr>
          <p:nvPr/>
        </p:nvSpPr>
        <p:spPr>
          <a:xfrm>
            <a:off x="6520859" y="2982755"/>
            <a:ext cx="276225" cy="247650"/>
          </a:xfrm>
          <a:prstGeom prst="rect">
            <a:avLst/>
          </a:prstGeom>
          <a:solidFill>
            <a:srgbClr val="D6D8DC"/>
          </a:solidFill>
          <a:ln w="9525">
            <a:solidFill>
              <a:srgbClr val="6E92C5"/>
            </a:solidFill>
          </a:ln>
        </p:spPr>
      </p:sp>
      <p:sp>
        <p:nvSpPr>
          <p:cNvPr id="130" name="p1-o128">
            <a:extLst>
              <a:ext uri="{FF2B5EF4-FFF2-40B4-BE49-F238E27FC236}">
                <a16:creationId xmlns:a16="http://schemas.microsoft.com/office/drawing/2014/main" id="{25188399-867C-46D3-B47D-6403278CA185}"/>
              </a:ext>
            </a:extLst>
          </p:cNvPr>
          <p:cNvSpPr>
            <a:spLocks noGrp="1"/>
          </p:cNvSpPr>
          <p:nvPr/>
        </p:nvSpPr>
        <p:spPr>
          <a:xfrm>
            <a:off x="6520859" y="29065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D6D8DC"/>
              </a:gs>
            </a:gsLst>
            <a:lin ang="0"/>
          </a:gradFill>
          <a:ln w="9525">
            <a:solidFill>
              <a:srgbClr val="6E92C5"/>
            </a:solidFill>
          </a:ln>
        </p:spPr>
      </p:sp>
      <p:sp>
        <p:nvSpPr>
          <p:cNvPr id="131" name="p1-o129">
            <a:extLst>
              <a:ext uri="{FF2B5EF4-FFF2-40B4-BE49-F238E27FC236}">
                <a16:creationId xmlns:a16="http://schemas.microsoft.com/office/drawing/2014/main" id="{C045A0CE-81DE-4617-BA28-78AEAD409B81}"/>
              </a:ext>
            </a:extLst>
          </p:cNvPr>
          <p:cNvSpPr>
            <a:spLocks noGrp="1"/>
          </p:cNvSpPr>
          <p:nvPr/>
        </p:nvSpPr>
        <p:spPr>
          <a:xfrm>
            <a:off x="6797084" y="29065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D6D8DC"/>
          </a:solidFill>
          <a:ln w="9525">
            <a:solidFill>
              <a:srgbClr val="6E92C5"/>
            </a:solidFill>
          </a:ln>
        </p:spPr>
      </p:sp>
      <p:sp>
        <p:nvSpPr>
          <p:cNvPr id="132" name="p1-o130">
            <a:extLst>
              <a:ext uri="{FF2B5EF4-FFF2-40B4-BE49-F238E27FC236}">
                <a16:creationId xmlns:a16="http://schemas.microsoft.com/office/drawing/2014/main" id="{00CDD4B6-7815-4AAB-A9E9-0A8F1A57BDFF}"/>
              </a:ext>
            </a:extLst>
          </p:cNvPr>
          <p:cNvSpPr>
            <a:spLocks noGrp="1"/>
          </p:cNvSpPr>
          <p:nvPr/>
        </p:nvSpPr>
        <p:spPr>
          <a:xfrm>
            <a:off x="6863759" y="2982755"/>
            <a:ext cx="276225" cy="247650"/>
          </a:xfrm>
          <a:prstGeom prst="rect">
            <a:avLst/>
          </a:prstGeom>
          <a:solidFill>
            <a:srgbClr val="B6A5DD"/>
          </a:solidFill>
          <a:ln w="9525">
            <a:solidFill>
              <a:srgbClr val="6E92C5"/>
            </a:solidFill>
          </a:ln>
        </p:spPr>
      </p:sp>
      <p:sp>
        <p:nvSpPr>
          <p:cNvPr id="133" name="p1-o131">
            <a:extLst>
              <a:ext uri="{FF2B5EF4-FFF2-40B4-BE49-F238E27FC236}">
                <a16:creationId xmlns:a16="http://schemas.microsoft.com/office/drawing/2014/main" id="{BD9E219D-65F5-4C78-B8C5-08FE0539D511}"/>
              </a:ext>
            </a:extLst>
          </p:cNvPr>
          <p:cNvSpPr>
            <a:spLocks noGrp="1"/>
          </p:cNvSpPr>
          <p:nvPr/>
        </p:nvSpPr>
        <p:spPr>
          <a:xfrm>
            <a:off x="6863759" y="29065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B6A5DD"/>
              </a:gs>
            </a:gsLst>
            <a:lin ang="0"/>
          </a:gradFill>
          <a:ln w="9525">
            <a:solidFill>
              <a:srgbClr val="6E92C5"/>
            </a:solidFill>
          </a:ln>
        </p:spPr>
      </p:sp>
      <p:sp>
        <p:nvSpPr>
          <p:cNvPr id="134" name="p1-o132">
            <a:extLst>
              <a:ext uri="{FF2B5EF4-FFF2-40B4-BE49-F238E27FC236}">
                <a16:creationId xmlns:a16="http://schemas.microsoft.com/office/drawing/2014/main" id="{0CC9B09D-F998-4AE6-95FE-815FE8F74C9D}"/>
              </a:ext>
            </a:extLst>
          </p:cNvPr>
          <p:cNvSpPr>
            <a:spLocks noGrp="1"/>
          </p:cNvSpPr>
          <p:nvPr/>
        </p:nvSpPr>
        <p:spPr>
          <a:xfrm>
            <a:off x="7139984" y="29065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B6A5DD"/>
          </a:solidFill>
          <a:ln w="9525">
            <a:solidFill>
              <a:srgbClr val="6E92C5"/>
            </a:solidFill>
          </a:ln>
        </p:spPr>
      </p:sp>
      <p:sp>
        <p:nvSpPr>
          <p:cNvPr id="135" name="p1-o133">
            <a:extLst>
              <a:ext uri="{FF2B5EF4-FFF2-40B4-BE49-F238E27FC236}">
                <a16:creationId xmlns:a16="http://schemas.microsoft.com/office/drawing/2014/main" id="{A3530CBD-B50A-4274-9B45-2D8794F45E4E}"/>
              </a:ext>
            </a:extLst>
          </p:cNvPr>
          <p:cNvSpPr>
            <a:spLocks noGrp="1"/>
          </p:cNvSpPr>
          <p:nvPr/>
        </p:nvSpPr>
        <p:spPr>
          <a:xfrm>
            <a:off x="4549184" y="3373280"/>
            <a:ext cx="581025" cy="276225"/>
          </a:xfrm>
          <a:prstGeom prst="rect">
            <a:avLst/>
          </a:prstGeom>
          <a:noFill/>
          <a:ln w="0">
            <a:noFill/>
          </a:ln>
        </p:spPr>
        <p:txBody>
          <a:bodyPr wrap="none" lIns="0" tIns="0" rIns="0" bIns="0" anchor="ctr">
            <a:noAutofit/>
          </a:bodyPr>
          <a:lstStyle/>
          <a:p>
            <a:pPr algn="l">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Block 2</a:t>
            </a:r>
          </a:p>
        </p:txBody>
      </p:sp>
      <p:sp>
        <p:nvSpPr>
          <p:cNvPr id="136" name="p1-o134">
            <a:extLst>
              <a:ext uri="{FF2B5EF4-FFF2-40B4-BE49-F238E27FC236}">
                <a16:creationId xmlns:a16="http://schemas.microsoft.com/office/drawing/2014/main" id="{0447AC3F-AEAC-47F7-8223-B9BD6F3C5781}"/>
              </a:ext>
            </a:extLst>
          </p:cNvPr>
          <p:cNvSpPr>
            <a:spLocks noGrp="1"/>
          </p:cNvSpPr>
          <p:nvPr/>
        </p:nvSpPr>
        <p:spPr>
          <a:xfrm>
            <a:off x="5149259" y="3392330"/>
            <a:ext cx="276225" cy="247650"/>
          </a:xfrm>
          <a:prstGeom prst="rect">
            <a:avLst/>
          </a:prstGeom>
          <a:solidFill>
            <a:srgbClr val="91B3E8"/>
          </a:solidFill>
          <a:ln w="9525">
            <a:solidFill>
              <a:srgbClr val="6E92C5"/>
            </a:solidFill>
          </a:ln>
        </p:spPr>
      </p:sp>
      <p:sp>
        <p:nvSpPr>
          <p:cNvPr id="137" name="p1-o135">
            <a:extLst>
              <a:ext uri="{FF2B5EF4-FFF2-40B4-BE49-F238E27FC236}">
                <a16:creationId xmlns:a16="http://schemas.microsoft.com/office/drawing/2014/main" id="{7FB0BD0E-9986-423A-9793-D485486DD29F}"/>
              </a:ext>
            </a:extLst>
          </p:cNvPr>
          <p:cNvSpPr>
            <a:spLocks noGrp="1"/>
          </p:cNvSpPr>
          <p:nvPr/>
        </p:nvSpPr>
        <p:spPr>
          <a:xfrm>
            <a:off x="5149259" y="331613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1B3E8"/>
              </a:gs>
            </a:gsLst>
            <a:lin ang="0"/>
          </a:gradFill>
          <a:ln w="9525">
            <a:solidFill>
              <a:srgbClr val="6E92C5"/>
            </a:solidFill>
          </a:ln>
        </p:spPr>
      </p:sp>
      <p:sp>
        <p:nvSpPr>
          <p:cNvPr id="138" name="p1-o136">
            <a:extLst>
              <a:ext uri="{FF2B5EF4-FFF2-40B4-BE49-F238E27FC236}">
                <a16:creationId xmlns:a16="http://schemas.microsoft.com/office/drawing/2014/main" id="{C6B2C097-871A-4C6F-A31F-77526086E068}"/>
              </a:ext>
            </a:extLst>
          </p:cNvPr>
          <p:cNvSpPr>
            <a:spLocks noGrp="1"/>
          </p:cNvSpPr>
          <p:nvPr/>
        </p:nvSpPr>
        <p:spPr>
          <a:xfrm>
            <a:off x="5425484" y="331613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139" name="p1-o137">
            <a:extLst>
              <a:ext uri="{FF2B5EF4-FFF2-40B4-BE49-F238E27FC236}">
                <a16:creationId xmlns:a16="http://schemas.microsoft.com/office/drawing/2014/main" id="{1B558610-1AE5-4123-99D3-BBADB290E8C2}"/>
              </a:ext>
            </a:extLst>
          </p:cNvPr>
          <p:cNvSpPr>
            <a:spLocks noGrp="1"/>
          </p:cNvSpPr>
          <p:nvPr/>
        </p:nvSpPr>
        <p:spPr>
          <a:xfrm>
            <a:off x="5492159" y="3392330"/>
            <a:ext cx="276225" cy="247650"/>
          </a:xfrm>
          <a:prstGeom prst="rect">
            <a:avLst/>
          </a:prstGeom>
          <a:solidFill>
            <a:srgbClr val="E8B0BD"/>
          </a:solidFill>
          <a:ln w="9525">
            <a:solidFill>
              <a:srgbClr val="6E92C5"/>
            </a:solidFill>
          </a:ln>
        </p:spPr>
      </p:sp>
      <p:sp>
        <p:nvSpPr>
          <p:cNvPr id="140" name="p1-o138">
            <a:extLst>
              <a:ext uri="{FF2B5EF4-FFF2-40B4-BE49-F238E27FC236}">
                <a16:creationId xmlns:a16="http://schemas.microsoft.com/office/drawing/2014/main" id="{87680F92-DD8F-4708-B7A1-2DC45FE1EBB0}"/>
              </a:ext>
            </a:extLst>
          </p:cNvPr>
          <p:cNvSpPr>
            <a:spLocks noGrp="1"/>
          </p:cNvSpPr>
          <p:nvPr/>
        </p:nvSpPr>
        <p:spPr>
          <a:xfrm>
            <a:off x="5492159" y="331613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E8B0BD"/>
              </a:gs>
            </a:gsLst>
            <a:lin ang="0"/>
          </a:gradFill>
          <a:ln w="9525">
            <a:solidFill>
              <a:srgbClr val="6E92C5"/>
            </a:solidFill>
          </a:ln>
        </p:spPr>
      </p:sp>
      <p:sp>
        <p:nvSpPr>
          <p:cNvPr id="141" name="p1-o139">
            <a:extLst>
              <a:ext uri="{FF2B5EF4-FFF2-40B4-BE49-F238E27FC236}">
                <a16:creationId xmlns:a16="http://schemas.microsoft.com/office/drawing/2014/main" id="{397E941C-0786-43DB-A7AD-18A25380AC91}"/>
              </a:ext>
            </a:extLst>
          </p:cNvPr>
          <p:cNvSpPr>
            <a:spLocks noGrp="1"/>
          </p:cNvSpPr>
          <p:nvPr/>
        </p:nvSpPr>
        <p:spPr>
          <a:xfrm>
            <a:off x="5768384" y="331613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142" name="p1-o140">
            <a:extLst>
              <a:ext uri="{FF2B5EF4-FFF2-40B4-BE49-F238E27FC236}">
                <a16:creationId xmlns:a16="http://schemas.microsoft.com/office/drawing/2014/main" id="{E3A3DC2B-173A-4930-B84C-B35D1683D8F6}"/>
              </a:ext>
            </a:extLst>
          </p:cNvPr>
          <p:cNvSpPr>
            <a:spLocks noGrp="1"/>
          </p:cNvSpPr>
          <p:nvPr/>
        </p:nvSpPr>
        <p:spPr>
          <a:xfrm>
            <a:off x="5835059" y="3392330"/>
            <a:ext cx="276225" cy="247650"/>
          </a:xfrm>
          <a:prstGeom prst="rect">
            <a:avLst/>
          </a:prstGeom>
          <a:solidFill>
            <a:srgbClr val="F4DBA6"/>
          </a:solidFill>
          <a:ln w="9525">
            <a:solidFill>
              <a:srgbClr val="6E92C5"/>
            </a:solidFill>
          </a:ln>
        </p:spPr>
      </p:sp>
      <p:sp>
        <p:nvSpPr>
          <p:cNvPr id="143" name="p1-o141">
            <a:extLst>
              <a:ext uri="{FF2B5EF4-FFF2-40B4-BE49-F238E27FC236}">
                <a16:creationId xmlns:a16="http://schemas.microsoft.com/office/drawing/2014/main" id="{7A56A08B-9B9F-47A0-87FB-5CC819F706EB}"/>
              </a:ext>
            </a:extLst>
          </p:cNvPr>
          <p:cNvSpPr>
            <a:spLocks noGrp="1"/>
          </p:cNvSpPr>
          <p:nvPr/>
        </p:nvSpPr>
        <p:spPr>
          <a:xfrm>
            <a:off x="5835059" y="331613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F4DBA6"/>
              </a:gs>
            </a:gsLst>
            <a:lin ang="0"/>
          </a:gradFill>
          <a:ln w="9525">
            <a:solidFill>
              <a:srgbClr val="6E92C5"/>
            </a:solidFill>
          </a:ln>
        </p:spPr>
      </p:sp>
      <p:sp>
        <p:nvSpPr>
          <p:cNvPr id="144" name="p1-o142">
            <a:extLst>
              <a:ext uri="{FF2B5EF4-FFF2-40B4-BE49-F238E27FC236}">
                <a16:creationId xmlns:a16="http://schemas.microsoft.com/office/drawing/2014/main" id="{1BED07A1-E6ED-4D28-ACE5-CAB1E3D85E99}"/>
              </a:ext>
            </a:extLst>
          </p:cNvPr>
          <p:cNvSpPr>
            <a:spLocks noGrp="1"/>
          </p:cNvSpPr>
          <p:nvPr/>
        </p:nvSpPr>
        <p:spPr>
          <a:xfrm>
            <a:off x="6111284" y="331613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145" name="p1-o143">
            <a:extLst>
              <a:ext uri="{FF2B5EF4-FFF2-40B4-BE49-F238E27FC236}">
                <a16:creationId xmlns:a16="http://schemas.microsoft.com/office/drawing/2014/main" id="{00D51F77-4D5F-4DA1-A849-9D2E75866027}"/>
              </a:ext>
            </a:extLst>
          </p:cNvPr>
          <p:cNvSpPr>
            <a:spLocks noGrp="1"/>
          </p:cNvSpPr>
          <p:nvPr/>
        </p:nvSpPr>
        <p:spPr>
          <a:xfrm>
            <a:off x="6177959" y="3392330"/>
            <a:ext cx="276225" cy="247650"/>
          </a:xfrm>
          <a:prstGeom prst="rect">
            <a:avLst/>
          </a:prstGeom>
          <a:solidFill>
            <a:srgbClr val="9BD3BC"/>
          </a:solidFill>
          <a:ln w="9525">
            <a:solidFill>
              <a:srgbClr val="6E92C5"/>
            </a:solidFill>
          </a:ln>
        </p:spPr>
      </p:sp>
      <p:sp>
        <p:nvSpPr>
          <p:cNvPr id="146" name="p1-o144">
            <a:extLst>
              <a:ext uri="{FF2B5EF4-FFF2-40B4-BE49-F238E27FC236}">
                <a16:creationId xmlns:a16="http://schemas.microsoft.com/office/drawing/2014/main" id="{D636F30D-38E9-4CDB-BACE-D9E56433A7B8}"/>
              </a:ext>
            </a:extLst>
          </p:cNvPr>
          <p:cNvSpPr>
            <a:spLocks noGrp="1"/>
          </p:cNvSpPr>
          <p:nvPr/>
        </p:nvSpPr>
        <p:spPr>
          <a:xfrm>
            <a:off x="6177959" y="331613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BD3BC"/>
              </a:gs>
            </a:gsLst>
            <a:lin ang="0"/>
          </a:gradFill>
          <a:ln w="9525">
            <a:solidFill>
              <a:srgbClr val="6E92C5"/>
            </a:solidFill>
          </a:ln>
        </p:spPr>
      </p:sp>
      <p:sp>
        <p:nvSpPr>
          <p:cNvPr id="147" name="p1-o145">
            <a:extLst>
              <a:ext uri="{FF2B5EF4-FFF2-40B4-BE49-F238E27FC236}">
                <a16:creationId xmlns:a16="http://schemas.microsoft.com/office/drawing/2014/main" id="{7978E932-426D-4DF5-BC45-DE4DBFF60977}"/>
              </a:ext>
            </a:extLst>
          </p:cNvPr>
          <p:cNvSpPr>
            <a:spLocks noGrp="1"/>
          </p:cNvSpPr>
          <p:nvPr/>
        </p:nvSpPr>
        <p:spPr>
          <a:xfrm>
            <a:off x="6454184" y="331613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148" name="p1-o146">
            <a:extLst>
              <a:ext uri="{FF2B5EF4-FFF2-40B4-BE49-F238E27FC236}">
                <a16:creationId xmlns:a16="http://schemas.microsoft.com/office/drawing/2014/main" id="{140A55A9-10C3-47BA-B106-FF482F21DFB0}"/>
              </a:ext>
            </a:extLst>
          </p:cNvPr>
          <p:cNvSpPr>
            <a:spLocks noGrp="1"/>
          </p:cNvSpPr>
          <p:nvPr/>
        </p:nvSpPr>
        <p:spPr>
          <a:xfrm>
            <a:off x="6520859" y="3392330"/>
            <a:ext cx="276225" cy="247650"/>
          </a:xfrm>
          <a:prstGeom prst="rect">
            <a:avLst/>
          </a:prstGeom>
          <a:solidFill>
            <a:srgbClr val="D6D8DC"/>
          </a:solidFill>
          <a:ln w="9525">
            <a:solidFill>
              <a:srgbClr val="6E92C5"/>
            </a:solidFill>
          </a:ln>
        </p:spPr>
      </p:sp>
      <p:sp>
        <p:nvSpPr>
          <p:cNvPr id="149" name="p1-o147">
            <a:extLst>
              <a:ext uri="{FF2B5EF4-FFF2-40B4-BE49-F238E27FC236}">
                <a16:creationId xmlns:a16="http://schemas.microsoft.com/office/drawing/2014/main" id="{F55D0287-CA50-4C88-8CEC-5667CA07952A}"/>
              </a:ext>
            </a:extLst>
          </p:cNvPr>
          <p:cNvSpPr>
            <a:spLocks noGrp="1"/>
          </p:cNvSpPr>
          <p:nvPr/>
        </p:nvSpPr>
        <p:spPr>
          <a:xfrm>
            <a:off x="6520859" y="331613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D6D8DC"/>
              </a:gs>
            </a:gsLst>
            <a:lin ang="0"/>
          </a:gradFill>
          <a:ln w="9525">
            <a:solidFill>
              <a:srgbClr val="6E92C5"/>
            </a:solidFill>
          </a:ln>
        </p:spPr>
      </p:sp>
      <p:sp>
        <p:nvSpPr>
          <p:cNvPr id="150" name="p1-o148">
            <a:extLst>
              <a:ext uri="{FF2B5EF4-FFF2-40B4-BE49-F238E27FC236}">
                <a16:creationId xmlns:a16="http://schemas.microsoft.com/office/drawing/2014/main" id="{47BBD14B-01D1-49AA-A227-38EC2ACF3CA2}"/>
              </a:ext>
            </a:extLst>
          </p:cNvPr>
          <p:cNvSpPr>
            <a:spLocks noGrp="1"/>
          </p:cNvSpPr>
          <p:nvPr/>
        </p:nvSpPr>
        <p:spPr>
          <a:xfrm>
            <a:off x="6797084" y="331613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D6D8DC"/>
          </a:solidFill>
          <a:ln w="9525">
            <a:solidFill>
              <a:srgbClr val="6E92C5"/>
            </a:solidFill>
          </a:ln>
        </p:spPr>
      </p:sp>
      <p:sp>
        <p:nvSpPr>
          <p:cNvPr id="151" name="p1-o149">
            <a:extLst>
              <a:ext uri="{FF2B5EF4-FFF2-40B4-BE49-F238E27FC236}">
                <a16:creationId xmlns:a16="http://schemas.microsoft.com/office/drawing/2014/main" id="{DC27278A-CE7F-496F-A004-7445243111E6}"/>
              </a:ext>
            </a:extLst>
          </p:cNvPr>
          <p:cNvSpPr>
            <a:spLocks noGrp="1"/>
          </p:cNvSpPr>
          <p:nvPr/>
        </p:nvSpPr>
        <p:spPr>
          <a:xfrm>
            <a:off x="6863759" y="3392330"/>
            <a:ext cx="276225" cy="247650"/>
          </a:xfrm>
          <a:prstGeom prst="rect">
            <a:avLst/>
          </a:prstGeom>
          <a:solidFill>
            <a:srgbClr val="B6A5DD"/>
          </a:solidFill>
          <a:ln w="9525">
            <a:solidFill>
              <a:srgbClr val="6E92C5"/>
            </a:solidFill>
          </a:ln>
        </p:spPr>
      </p:sp>
      <p:sp>
        <p:nvSpPr>
          <p:cNvPr id="152" name="p1-o150">
            <a:extLst>
              <a:ext uri="{FF2B5EF4-FFF2-40B4-BE49-F238E27FC236}">
                <a16:creationId xmlns:a16="http://schemas.microsoft.com/office/drawing/2014/main" id="{144F9115-E878-4A83-B0FF-5DCB5A3912AF}"/>
              </a:ext>
            </a:extLst>
          </p:cNvPr>
          <p:cNvSpPr>
            <a:spLocks noGrp="1"/>
          </p:cNvSpPr>
          <p:nvPr/>
        </p:nvSpPr>
        <p:spPr>
          <a:xfrm>
            <a:off x="6863759" y="3316130"/>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B6A5DD"/>
              </a:gs>
            </a:gsLst>
            <a:lin ang="0"/>
          </a:gradFill>
          <a:ln w="9525">
            <a:solidFill>
              <a:srgbClr val="6E92C5"/>
            </a:solidFill>
          </a:ln>
        </p:spPr>
      </p:sp>
      <p:sp>
        <p:nvSpPr>
          <p:cNvPr id="153" name="p1-o151">
            <a:extLst>
              <a:ext uri="{FF2B5EF4-FFF2-40B4-BE49-F238E27FC236}">
                <a16:creationId xmlns:a16="http://schemas.microsoft.com/office/drawing/2014/main" id="{FC417FDB-D352-4A14-BBEE-5DEBC3160226}"/>
              </a:ext>
            </a:extLst>
          </p:cNvPr>
          <p:cNvSpPr>
            <a:spLocks noGrp="1"/>
          </p:cNvSpPr>
          <p:nvPr/>
        </p:nvSpPr>
        <p:spPr>
          <a:xfrm>
            <a:off x="7139984" y="3316130"/>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B6A5DD"/>
          </a:solidFill>
          <a:ln w="9525">
            <a:solidFill>
              <a:srgbClr val="6E92C5"/>
            </a:solidFill>
          </a:ln>
        </p:spPr>
      </p:sp>
      <p:sp>
        <p:nvSpPr>
          <p:cNvPr id="154" name="p1-o152">
            <a:extLst>
              <a:ext uri="{FF2B5EF4-FFF2-40B4-BE49-F238E27FC236}">
                <a16:creationId xmlns:a16="http://schemas.microsoft.com/office/drawing/2014/main" id="{933F62DB-DBD5-4E8D-82E4-B0D7134DB528}"/>
              </a:ext>
            </a:extLst>
          </p:cNvPr>
          <p:cNvSpPr>
            <a:spLocks noGrp="1"/>
          </p:cNvSpPr>
          <p:nvPr/>
        </p:nvSpPr>
        <p:spPr>
          <a:xfrm>
            <a:off x="4549184" y="3992405"/>
            <a:ext cx="581025" cy="276225"/>
          </a:xfrm>
          <a:prstGeom prst="rect">
            <a:avLst/>
          </a:prstGeom>
          <a:noFill/>
          <a:ln w="0">
            <a:noFill/>
          </a:ln>
        </p:spPr>
        <p:txBody>
          <a:bodyPr wrap="none" lIns="0" tIns="0" rIns="0" bIns="0" anchor="ctr">
            <a:noAutofit/>
          </a:bodyPr>
          <a:lstStyle/>
          <a:p>
            <a:pPr algn="l">
              <a:defRPr sz="105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Block N</a:t>
            </a:r>
          </a:p>
        </p:txBody>
      </p:sp>
      <p:sp>
        <p:nvSpPr>
          <p:cNvPr id="155" name="p1-o153">
            <a:extLst>
              <a:ext uri="{FF2B5EF4-FFF2-40B4-BE49-F238E27FC236}">
                <a16:creationId xmlns:a16="http://schemas.microsoft.com/office/drawing/2014/main" id="{A53EB45D-1BD8-4D10-A2D1-F3395BDB160D}"/>
              </a:ext>
            </a:extLst>
          </p:cNvPr>
          <p:cNvSpPr>
            <a:spLocks noGrp="1"/>
          </p:cNvSpPr>
          <p:nvPr/>
        </p:nvSpPr>
        <p:spPr>
          <a:xfrm>
            <a:off x="5149259" y="4011455"/>
            <a:ext cx="276225" cy="247650"/>
          </a:xfrm>
          <a:prstGeom prst="rect">
            <a:avLst/>
          </a:prstGeom>
          <a:solidFill>
            <a:srgbClr val="91B3E8"/>
          </a:solidFill>
          <a:ln w="9525">
            <a:solidFill>
              <a:srgbClr val="6E92C5"/>
            </a:solidFill>
          </a:ln>
        </p:spPr>
      </p:sp>
      <p:sp>
        <p:nvSpPr>
          <p:cNvPr id="156" name="p1-o154">
            <a:extLst>
              <a:ext uri="{FF2B5EF4-FFF2-40B4-BE49-F238E27FC236}">
                <a16:creationId xmlns:a16="http://schemas.microsoft.com/office/drawing/2014/main" id="{A733F767-600B-4D63-8BDA-BEB880B5F7DA}"/>
              </a:ext>
            </a:extLst>
          </p:cNvPr>
          <p:cNvSpPr>
            <a:spLocks noGrp="1"/>
          </p:cNvSpPr>
          <p:nvPr/>
        </p:nvSpPr>
        <p:spPr>
          <a:xfrm>
            <a:off x="5149259" y="39352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1B3E8"/>
              </a:gs>
            </a:gsLst>
            <a:lin ang="0"/>
          </a:gradFill>
          <a:ln w="9525">
            <a:solidFill>
              <a:srgbClr val="6E92C5"/>
            </a:solidFill>
          </a:ln>
        </p:spPr>
      </p:sp>
      <p:sp>
        <p:nvSpPr>
          <p:cNvPr id="157" name="p1-o155">
            <a:extLst>
              <a:ext uri="{FF2B5EF4-FFF2-40B4-BE49-F238E27FC236}">
                <a16:creationId xmlns:a16="http://schemas.microsoft.com/office/drawing/2014/main" id="{1DF3B814-26F5-4AF8-AF63-DD377DD153DA}"/>
              </a:ext>
            </a:extLst>
          </p:cNvPr>
          <p:cNvSpPr>
            <a:spLocks noGrp="1"/>
          </p:cNvSpPr>
          <p:nvPr/>
        </p:nvSpPr>
        <p:spPr>
          <a:xfrm>
            <a:off x="5425484" y="39352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1B3E8"/>
          </a:solidFill>
          <a:ln w="9525">
            <a:solidFill>
              <a:srgbClr val="6E92C5"/>
            </a:solidFill>
          </a:ln>
        </p:spPr>
      </p:sp>
      <p:sp>
        <p:nvSpPr>
          <p:cNvPr id="158" name="p1-o156">
            <a:extLst>
              <a:ext uri="{FF2B5EF4-FFF2-40B4-BE49-F238E27FC236}">
                <a16:creationId xmlns:a16="http://schemas.microsoft.com/office/drawing/2014/main" id="{2E3FFFC9-03BC-4C78-A4FF-3D93C4FA1BE6}"/>
              </a:ext>
            </a:extLst>
          </p:cNvPr>
          <p:cNvSpPr>
            <a:spLocks noGrp="1"/>
          </p:cNvSpPr>
          <p:nvPr/>
        </p:nvSpPr>
        <p:spPr>
          <a:xfrm>
            <a:off x="5492159" y="4011455"/>
            <a:ext cx="276225" cy="247650"/>
          </a:xfrm>
          <a:prstGeom prst="rect">
            <a:avLst/>
          </a:prstGeom>
          <a:solidFill>
            <a:srgbClr val="E8B0BD"/>
          </a:solidFill>
          <a:ln w="9525">
            <a:solidFill>
              <a:srgbClr val="6E92C5"/>
            </a:solidFill>
          </a:ln>
        </p:spPr>
      </p:sp>
      <p:sp>
        <p:nvSpPr>
          <p:cNvPr id="159" name="p1-o157">
            <a:extLst>
              <a:ext uri="{FF2B5EF4-FFF2-40B4-BE49-F238E27FC236}">
                <a16:creationId xmlns:a16="http://schemas.microsoft.com/office/drawing/2014/main" id="{EB0A9029-8D13-4A7F-80A2-2C4933EAC4D6}"/>
              </a:ext>
            </a:extLst>
          </p:cNvPr>
          <p:cNvSpPr>
            <a:spLocks noGrp="1"/>
          </p:cNvSpPr>
          <p:nvPr/>
        </p:nvSpPr>
        <p:spPr>
          <a:xfrm>
            <a:off x="5492159" y="39352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E8B0BD"/>
              </a:gs>
            </a:gsLst>
            <a:lin ang="0"/>
          </a:gradFill>
          <a:ln w="9525">
            <a:solidFill>
              <a:srgbClr val="6E92C5"/>
            </a:solidFill>
          </a:ln>
        </p:spPr>
      </p:sp>
      <p:sp>
        <p:nvSpPr>
          <p:cNvPr id="160" name="p1-o158">
            <a:extLst>
              <a:ext uri="{FF2B5EF4-FFF2-40B4-BE49-F238E27FC236}">
                <a16:creationId xmlns:a16="http://schemas.microsoft.com/office/drawing/2014/main" id="{F39365E6-0313-4431-A300-CDDB2B531713}"/>
              </a:ext>
            </a:extLst>
          </p:cNvPr>
          <p:cNvSpPr>
            <a:spLocks noGrp="1"/>
          </p:cNvSpPr>
          <p:nvPr/>
        </p:nvSpPr>
        <p:spPr>
          <a:xfrm>
            <a:off x="5768384" y="39352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E8B0BD"/>
          </a:solidFill>
          <a:ln w="9525">
            <a:solidFill>
              <a:srgbClr val="6E92C5"/>
            </a:solidFill>
          </a:ln>
        </p:spPr>
      </p:sp>
      <p:sp>
        <p:nvSpPr>
          <p:cNvPr id="161" name="p1-o159">
            <a:extLst>
              <a:ext uri="{FF2B5EF4-FFF2-40B4-BE49-F238E27FC236}">
                <a16:creationId xmlns:a16="http://schemas.microsoft.com/office/drawing/2014/main" id="{3FD91405-7B8B-4732-B99D-014C0BF2B373}"/>
              </a:ext>
            </a:extLst>
          </p:cNvPr>
          <p:cNvSpPr>
            <a:spLocks noGrp="1"/>
          </p:cNvSpPr>
          <p:nvPr/>
        </p:nvSpPr>
        <p:spPr>
          <a:xfrm>
            <a:off x="5835059" y="4011455"/>
            <a:ext cx="276225" cy="247650"/>
          </a:xfrm>
          <a:prstGeom prst="rect">
            <a:avLst/>
          </a:prstGeom>
          <a:solidFill>
            <a:srgbClr val="F4DBA6"/>
          </a:solidFill>
          <a:ln w="9525">
            <a:solidFill>
              <a:srgbClr val="6E92C5"/>
            </a:solidFill>
          </a:ln>
        </p:spPr>
      </p:sp>
      <p:sp>
        <p:nvSpPr>
          <p:cNvPr id="162" name="p1-o160">
            <a:extLst>
              <a:ext uri="{FF2B5EF4-FFF2-40B4-BE49-F238E27FC236}">
                <a16:creationId xmlns:a16="http://schemas.microsoft.com/office/drawing/2014/main" id="{481DFA2B-C452-407B-B4D5-268ED87252A5}"/>
              </a:ext>
            </a:extLst>
          </p:cNvPr>
          <p:cNvSpPr>
            <a:spLocks noGrp="1"/>
          </p:cNvSpPr>
          <p:nvPr/>
        </p:nvSpPr>
        <p:spPr>
          <a:xfrm>
            <a:off x="5835059" y="39352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F4DBA6"/>
              </a:gs>
            </a:gsLst>
            <a:lin ang="0"/>
          </a:gradFill>
          <a:ln w="9525">
            <a:solidFill>
              <a:srgbClr val="6E92C5"/>
            </a:solidFill>
          </a:ln>
        </p:spPr>
      </p:sp>
      <p:sp>
        <p:nvSpPr>
          <p:cNvPr id="163" name="p1-o161">
            <a:extLst>
              <a:ext uri="{FF2B5EF4-FFF2-40B4-BE49-F238E27FC236}">
                <a16:creationId xmlns:a16="http://schemas.microsoft.com/office/drawing/2014/main" id="{B994D8C4-D89A-4F84-A6FB-3A65F7848FC0}"/>
              </a:ext>
            </a:extLst>
          </p:cNvPr>
          <p:cNvSpPr>
            <a:spLocks noGrp="1"/>
          </p:cNvSpPr>
          <p:nvPr/>
        </p:nvSpPr>
        <p:spPr>
          <a:xfrm>
            <a:off x="6111284" y="39352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F4DBA6"/>
          </a:solidFill>
          <a:ln w="9525">
            <a:solidFill>
              <a:srgbClr val="6E92C5"/>
            </a:solidFill>
          </a:ln>
        </p:spPr>
      </p:sp>
      <p:sp>
        <p:nvSpPr>
          <p:cNvPr id="164" name="p1-o162">
            <a:extLst>
              <a:ext uri="{FF2B5EF4-FFF2-40B4-BE49-F238E27FC236}">
                <a16:creationId xmlns:a16="http://schemas.microsoft.com/office/drawing/2014/main" id="{7351C591-DB76-45CE-BFD2-AF04F4F4E255}"/>
              </a:ext>
            </a:extLst>
          </p:cNvPr>
          <p:cNvSpPr>
            <a:spLocks noGrp="1"/>
          </p:cNvSpPr>
          <p:nvPr/>
        </p:nvSpPr>
        <p:spPr>
          <a:xfrm>
            <a:off x="6177959" y="4011455"/>
            <a:ext cx="276225" cy="247650"/>
          </a:xfrm>
          <a:prstGeom prst="rect">
            <a:avLst/>
          </a:prstGeom>
          <a:solidFill>
            <a:srgbClr val="9BD3BC"/>
          </a:solidFill>
          <a:ln w="9525">
            <a:solidFill>
              <a:srgbClr val="6E92C5"/>
            </a:solidFill>
          </a:ln>
        </p:spPr>
      </p:sp>
      <p:sp>
        <p:nvSpPr>
          <p:cNvPr id="165" name="p1-o163">
            <a:extLst>
              <a:ext uri="{FF2B5EF4-FFF2-40B4-BE49-F238E27FC236}">
                <a16:creationId xmlns:a16="http://schemas.microsoft.com/office/drawing/2014/main" id="{FFB4B579-39DC-4EDF-BF17-921C2CC6B88E}"/>
              </a:ext>
            </a:extLst>
          </p:cNvPr>
          <p:cNvSpPr>
            <a:spLocks noGrp="1"/>
          </p:cNvSpPr>
          <p:nvPr/>
        </p:nvSpPr>
        <p:spPr>
          <a:xfrm>
            <a:off x="6177959" y="39352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9BD3BC"/>
              </a:gs>
            </a:gsLst>
            <a:lin ang="0"/>
          </a:gradFill>
          <a:ln w="9525">
            <a:solidFill>
              <a:srgbClr val="6E92C5"/>
            </a:solidFill>
          </a:ln>
        </p:spPr>
      </p:sp>
      <p:sp>
        <p:nvSpPr>
          <p:cNvPr id="166" name="p1-o164">
            <a:extLst>
              <a:ext uri="{FF2B5EF4-FFF2-40B4-BE49-F238E27FC236}">
                <a16:creationId xmlns:a16="http://schemas.microsoft.com/office/drawing/2014/main" id="{B48D5BB3-DDFA-440E-9014-D2CF5B0FABEF}"/>
              </a:ext>
            </a:extLst>
          </p:cNvPr>
          <p:cNvSpPr>
            <a:spLocks noGrp="1"/>
          </p:cNvSpPr>
          <p:nvPr/>
        </p:nvSpPr>
        <p:spPr>
          <a:xfrm>
            <a:off x="6454184" y="39352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9BD3BC"/>
          </a:solidFill>
          <a:ln w="9525">
            <a:solidFill>
              <a:srgbClr val="6E92C5"/>
            </a:solidFill>
          </a:ln>
        </p:spPr>
      </p:sp>
      <p:sp>
        <p:nvSpPr>
          <p:cNvPr id="167" name="p1-o165">
            <a:extLst>
              <a:ext uri="{FF2B5EF4-FFF2-40B4-BE49-F238E27FC236}">
                <a16:creationId xmlns:a16="http://schemas.microsoft.com/office/drawing/2014/main" id="{ED1C02F7-DBA2-4418-9453-6708669481B0}"/>
              </a:ext>
            </a:extLst>
          </p:cNvPr>
          <p:cNvSpPr>
            <a:spLocks noGrp="1"/>
          </p:cNvSpPr>
          <p:nvPr/>
        </p:nvSpPr>
        <p:spPr>
          <a:xfrm>
            <a:off x="6520859" y="4011455"/>
            <a:ext cx="276225" cy="247650"/>
          </a:xfrm>
          <a:prstGeom prst="rect">
            <a:avLst/>
          </a:prstGeom>
          <a:solidFill>
            <a:srgbClr val="D6D8DC"/>
          </a:solidFill>
          <a:ln w="9525">
            <a:solidFill>
              <a:srgbClr val="6E92C5"/>
            </a:solidFill>
          </a:ln>
        </p:spPr>
      </p:sp>
      <p:sp>
        <p:nvSpPr>
          <p:cNvPr id="168" name="p1-o166">
            <a:extLst>
              <a:ext uri="{FF2B5EF4-FFF2-40B4-BE49-F238E27FC236}">
                <a16:creationId xmlns:a16="http://schemas.microsoft.com/office/drawing/2014/main" id="{FEC0D7EF-9676-4500-BC55-9F305916EC65}"/>
              </a:ext>
            </a:extLst>
          </p:cNvPr>
          <p:cNvSpPr>
            <a:spLocks noGrp="1"/>
          </p:cNvSpPr>
          <p:nvPr/>
        </p:nvSpPr>
        <p:spPr>
          <a:xfrm>
            <a:off x="6520859" y="39352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D6D8DC"/>
              </a:gs>
            </a:gsLst>
            <a:lin ang="0"/>
          </a:gradFill>
          <a:ln w="9525">
            <a:solidFill>
              <a:srgbClr val="6E92C5"/>
            </a:solidFill>
          </a:ln>
        </p:spPr>
      </p:sp>
      <p:sp>
        <p:nvSpPr>
          <p:cNvPr id="169" name="p1-o167">
            <a:extLst>
              <a:ext uri="{FF2B5EF4-FFF2-40B4-BE49-F238E27FC236}">
                <a16:creationId xmlns:a16="http://schemas.microsoft.com/office/drawing/2014/main" id="{9E0CE4FA-1A2E-4BE9-9DA7-B355BD2B70BF}"/>
              </a:ext>
            </a:extLst>
          </p:cNvPr>
          <p:cNvSpPr>
            <a:spLocks noGrp="1"/>
          </p:cNvSpPr>
          <p:nvPr/>
        </p:nvSpPr>
        <p:spPr>
          <a:xfrm>
            <a:off x="6797084" y="39352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D6D8DC"/>
          </a:solidFill>
          <a:ln w="9525">
            <a:solidFill>
              <a:srgbClr val="6E92C5"/>
            </a:solidFill>
          </a:ln>
        </p:spPr>
      </p:sp>
      <p:sp>
        <p:nvSpPr>
          <p:cNvPr id="170" name="p1-o168">
            <a:extLst>
              <a:ext uri="{FF2B5EF4-FFF2-40B4-BE49-F238E27FC236}">
                <a16:creationId xmlns:a16="http://schemas.microsoft.com/office/drawing/2014/main" id="{D3A0851E-D901-4B2A-BAA6-5CA9A43FC8F8}"/>
              </a:ext>
            </a:extLst>
          </p:cNvPr>
          <p:cNvSpPr>
            <a:spLocks noGrp="1"/>
          </p:cNvSpPr>
          <p:nvPr/>
        </p:nvSpPr>
        <p:spPr>
          <a:xfrm>
            <a:off x="6863759" y="4011455"/>
            <a:ext cx="276225" cy="247650"/>
          </a:xfrm>
          <a:prstGeom prst="rect">
            <a:avLst/>
          </a:prstGeom>
          <a:solidFill>
            <a:srgbClr val="B6A5DD"/>
          </a:solidFill>
          <a:ln w="9525">
            <a:solidFill>
              <a:srgbClr val="6E92C5"/>
            </a:solidFill>
          </a:ln>
        </p:spPr>
      </p:sp>
      <p:sp>
        <p:nvSpPr>
          <p:cNvPr id="171" name="p1-o169">
            <a:extLst>
              <a:ext uri="{FF2B5EF4-FFF2-40B4-BE49-F238E27FC236}">
                <a16:creationId xmlns:a16="http://schemas.microsoft.com/office/drawing/2014/main" id="{5A2A4327-18A6-4E55-8D9B-F545FCE36AB1}"/>
              </a:ext>
            </a:extLst>
          </p:cNvPr>
          <p:cNvSpPr>
            <a:spLocks noGrp="1"/>
          </p:cNvSpPr>
          <p:nvPr/>
        </p:nvSpPr>
        <p:spPr>
          <a:xfrm>
            <a:off x="6863759" y="3935255"/>
            <a:ext cx="361950" cy="76200"/>
          </a:xfrm>
          <a:custGeom>
            <a:avLst/>
            <a:gdLst/>
            <a:ahLst/>
            <a:cxnLst/>
            <a:rect l="0" t="0" r="0" b="0"/>
            <a:pathLst>
              <a:path w="361950" h="76200">
                <a:moveTo>
                  <a:pt x="0" y="76200"/>
                </a:moveTo>
                <a:lnTo>
                  <a:pt x="85725" y="0"/>
                </a:lnTo>
                <a:lnTo>
                  <a:pt x="361950" y="0"/>
                </a:lnTo>
                <a:lnTo>
                  <a:pt x="276225" y="76200"/>
                </a:lnTo>
                <a:close/>
              </a:path>
            </a:pathLst>
          </a:custGeom>
          <a:gradFill>
            <a:gsLst>
              <a:gs pos="0">
                <a:srgbClr val="F3F7FD"/>
              </a:gs>
              <a:gs pos="100000">
                <a:srgbClr val="B6A5DD"/>
              </a:gs>
            </a:gsLst>
            <a:lin ang="0"/>
          </a:gradFill>
          <a:ln w="9525">
            <a:solidFill>
              <a:srgbClr val="6E92C5"/>
            </a:solidFill>
          </a:ln>
        </p:spPr>
      </p:sp>
      <p:sp>
        <p:nvSpPr>
          <p:cNvPr id="172" name="p1-o170">
            <a:extLst>
              <a:ext uri="{FF2B5EF4-FFF2-40B4-BE49-F238E27FC236}">
                <a16:creationId xmlns:a16="http://schemas.microsoft.com/office/drawing/2014/main" id="{9BD05B28-765B-4C4B-B6CA-77CE397B2B6E}"/>
              </a:ext>
            </a:extLst>
          </p:cNvPr>
          <p:cNvSpPr>
            <a:spLocks noGrp="1"/>
          </p:cNvSpPr>
          <p:nvPr/>
        </p:nvSpPr>
        <p:spPr>
          <a:xfrm>
            <a:off x="7139984" y="3935255"/>
            <a:ext cx="85725" cy="323850"/>
          </a:xfrm>
          <a:custGeom>
            <a:avLst/>
            <a:gdLst/>
            <a:ahLst/>
            <a:cxnLst/>
            <a:rect l="0" t="0" r="0" b="0"/>
            <a:pathLst>
              <a:path w="85725" h="323850">
                <a:moveTo>
                  <a:pt x="0" y="76200"/>
                </a:moveTo>
                <a:lnTo>
                  <a:pt x="85725" y="0"/>
                </a:lnTo>
                <a:lnTo>
                  <a:pt x="85725" y="247650"/>
                </a:lnTo>
                <a:lnTo>
                  <a:pt x="0" y="323850"/>
                </a:lnTo>
                <a:close/>
              </a:path>
            </a:pathLst>
          </a:custGeom>
          <a:solidFill>
            <a:srgbClr val="B6A5DD"/>
          </a:solidFill>
          <a:ln w="9525">
            <a:solidFill>
              <a:srgbClr val="6E92C5"/>
            </a:solidFill>
          </a:ln>
        </p:spPr>
      </p:sp>
      <p:sp>
        <p:nvSpPr>
          <p:cNvPr id="173" name="p1-o171">
            <a:extLst>
              <a:ext uri="{FF2B5EF4-FFF2-40B4-BE49-F238E27FC236}">
                <a16:creationId xmlns:a16="http://schemas.microsoft.com/office/drawing/2014/main" id="{B70A626A-2432-4284-AC8A-C8BE589F7569}"/>
              </a:ext>
            </a:extLst>
          </p:cNvPr>
          <p:cNvSpPr>
            <a:spLocks noGrp="1"/>
          </p:cNvSpPr>
          <p:nvPr/>
        </p:nvSpPr>
        <p:spPr>
          <a:xfrm>
            <a:off x="4768259" y="3630455"/>
            <a:ext cx="276225" cy="238125"/>
          </a:xfrm>
          <a:prstGeom prst="rect">
            <a:avLst/>
          </a:prstGeom>
          <a:noFill/>
          <a:ln w="0">
            <a:noFill/>
          </a:ln>
        </p:spPr>
        <p:txBody>
          <a:bodyPr wrap="none" lIns="0" tIns="0" rIns="0" bIns="0" anchor="ctr">
            <a:noAutofit/>
          </a:bodyPr>
          <a:lstStyle/>
          <a:p>
            <a:pPr algn="l">
              <a:defRPr sz="1500" b="0">
                <a:solidFill>
                  <a:srgbClr val="0B2344"/>
                </a:solidFill>
                <a:latin typeface="Microsoft YaHei"/>
                <a:ea typeface="Microsoft YaHei"/>
                <a:cs typeface="Microsoft YaHei"/>
              </a:defRPr>
            </a:pPr>
            <a:r>
              <a:rPr sz="1200" b="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p>
        </p:txBody>
      </p:sp>
      <p:sp>
        <p:nvSpPr>
          <p:cNvPr id="174" name="p1-o172">
            <a:extLst>
              <a:ext uri="{FF2B5EF4-FFF2-40B4-BE49-F238E27FC236}">
                <a16:creationId xmlns:a16="http://schemas.microsoft.com/office/drawing/2014/main" id="{3C58E084-86EF-40F4-AF2E-D6F8BC52C6DD}"/>
              </a:ext>
            </a:extLst>
          </p:cNvPr>
          <p:cNvSpPr>
            <a:spLocks noGrp="1"/>
          </p:cNvSpPr>
          <p:nvPr/>
        </p:nvSpPr>
        <p:spPr>
          <a:xfrm>
            <a:off x="6130334" y="3649505"/>
            <a:ext cx="466725" cy="219075"/>
          </a:xfrm>
          <a:prstGeom prst="rect">
            <a:avLst/>
          </a:prstGeom>
          <a:noFill/>
          <a:ln w="0">
            <a:noFill/>
          </a:ln>
        </p:spPr>
        <p:txBody>
          <a:bodyPr wrap="none" lIns="0" tIns="0" rIns="0" bIns="0" anchor="ctr">
            <a:noAutofit/>
          </a:bodyPr>
          <a:lstStyle/>
          <a:p>
            <a:pPr algn="l">
              <a:defRPr sz="1414" b="0">
                <a:solidFill>
                  <a:srgbClr val="0B2344"/>
                </a:solidFill>
                <a:latin typeface="Microsoft YaHei"/>
                <a:ea typeface="Microsoft YaHei"/>
                <a:cs typeface="Microsoft YaHei"/>
              </a:defRPr>
            </a:pPr>
            <a:r>
              <a:rPr sz="1414" b="0">
                <a:solidFill>
                  <a:srgbClr val="0B2344"/>
                </a:solidFill>
                <a:latin typeface="Microsoft YaHei"/>
                <a:ea typeface="Microsoft YaHei"/>
                <a:cs typeface="Microsoft YaHei"/>
              </a:rPr>
              <a:t>…</a:t>
            </a:r>
          </a:p>
        </p:txBody>
      </p:sp>
      <p:sp>
        <p:nvSpPr>
          <p:cNvPr id="176" name="p1-o174">
            <a:extLst>
              <a:ext uri="{FF2B5EF4-FFF2-40B4-BE49-F238E27FC236}">
                <a16:creationId xmlns:a16="http://schemas.microsoft.com/office/drawing/2014/main" id="{C7F65515-1B0B-4BFB-8F34-3F149657CC0B}"/>
              </a:ext>
            </a:extLst>
          </p:cNvPr>
          <p:cNvSpPr>
            <a:spLocks noGrp="1"/>
          </p:cNvSpPr>
          <p:nvPr/>
        </p:nvSpPr>
        <p:spPr>
          <a:xfrm>
            <a:off x="7765275" y="2109348"/>
            <a:ext cx="952500" cy="2466975"/>
          </a:xfrm>
          <a:prstGeom prst="rect">
            <a:avLst/>
          </a:prstGeom>
          <a:noFill/>
          <a:ln w="0">
            <a:noFill/>
          </a:ln>
        </p:spPr>
        <p:txBody>
          <a:bodyPr wrap="none" lIns="0" tIns="0" rIns="0" bIns="0" anchor="ctr">
            <a:noAutofit/>
          </a:bodyPr>
          <a:lstStyle/>
          <a:p>
            <a:endParaRPr/>
          </a:p>
        </p:txBody>
      </p:sp>
      <p:sp>
        <p:nvSpPr>
          <p:cNvPr id="177" name="p1-o175">
            <a:extLst>
              <a:ext uri="{FF2B5EF4-FFF2-40B4-BE49-F238E27FC236}">
                <a16:creationId xmlns:a16="http://schemas.microsoft.com/office/drawing/2014/main" id="{8C699DB8-FE85-4E11-99C9-0B24645EC793}"/>
              </a:ext>
            </a:extLst>
          </p:cNvPr>
          <p:cNvSpPr>
            <a:spLocks noGrp="1"/>
          </p:cNvSpPr>
          <p:nvPr/>
        </p:nvSpPr>
        <p:spPr>
          <a:xfrm>
            <a:off x="7774800" y="2166498"/>
            <a:ext cx="933450" cy="400050"/>
          </a:xfrm>
          <a:prstGeom prst="rect">
            <a:avLst/>
          </a:prstGeom>
          <a:noFill/>
          <a:ln w="0">
            <a:noFill/>
          </a:ln>
        </p:spPr>
        <p:txBody>
          <a:bodyPr wrap="none" lIns="0" tIns="0" rIns="0" bIns="0" anchor="ctr">
            <a:noAutofit/>
          </a:bodyPr>
          <a:lstStyle/>
          <a:p>
            <a:pPr algn="ctr">
              <a:defRPr sz="1125" b="1">
                <a:solidFill>
                  <a:srgbClr val="0B2344"/>
                </a:solidFill>
                <a:latin typeface="Microsoft YaHei"/>
                <a:ea typeface="Microsoft YaHei"/>
                <a:cs typeface="Microsoft YaHei"/>
              </a:defRPr>
            </a:pPr>
            <a:r>
              <a:rPr sz="1200" b="1" dirty="0" err="1">
                <a:solidFill>
                  <a:srgbClr val="0B2344"/>
                </a:solidFill>
                <a:latin typeface="Times New Roman" panose="02020603050405020304" pitchFamily="18" charset="0"/>
                <a:ea typeface="Microsoft YaHei"/>
                <a:cs typeface="Times New Roman" panose="02020603050405020304" pitchFamily="18" charset="0"/>
              </a:rPr>
              <a:t>恢复</a:t>
            </a:r>
            <a:r>
              <a:rPr sz="1200" b="1" dirty="0">
                <a:solidFill>
                  <a:srgbClr val="0B2344"/>
                </a:solidFill>
                <a:latin typeface="Times New Roman" panose="02020603050405020304" pitchFamily="18" charset="0"/>
                <a:ea typeface="Microsoft YaHei"/>
                <a:cs typeface="Times New Roman" panose="02020603050405020304" pitchFamily="18" charset="0"/>
              </a:rPr>
              <a:t> Block 0</a:t>
            </a:r>
          </a:p>
          <a:p>
            <a:pPr algn="ctr">
              <a:defRPr sz="1125" b="1">
                <a:solidFill>
                  <a:srgbClr val="0B2344"/>
                </a:solidFill>
                <a:latin typeface="Microsoft YaHei"/>
                <a:ea typeface="Microsoft YaHei"/>
                <a:cs typeface="Microsoft YaHei"/>
              </a:defRPr>
            </a:pPr>
            <a:r>
              <a:rPr sz="1200" b="1" dirty="0" err="1">
                <a:solidFill>
                  <a:srgbClr val="0B2344"/>
                </a:solidFill>
                <a:latin typeface="Times New Roman" panose="02020603050405020304" pitchFamily="18" charset="0"/>
                <a:ea typeface="Microsoft YaHei"/>
                <a:cs typeface="Times New Roman" panose="02020603050405020304" pitchFamily="18" charset="0"/>
              </a:rPr>
              <a:t>只需连续读取</a:t>
            </a:r>
            <a:endParaRPr sz="1200" b="1" dirty="0">
              <a:solidFill>
                <a:srgbClr val="0B2344"/>
              </a:solidFill>
              <a:latin typeface="Times New Roman" panose="02020603050405020304" pitchFamily="18" charset="0"/>
              <a:ea typeface="Microsoft YaHei"/>
              <a:cs typeface="Times New Roman" panose="02020603050405020304" pitchFamily="18" charset="0"/>
            </a:endParaRPr>
          </a:p>
        </p:txBody>
      </p:sp>
      <p:sp>
        <p:nvSpPr>
          <p:cNvPr id="178" name="p1-o176">
            <a:extLst>
              <a:ext uri="{FF2B5EF4-FFF2-40B4-BE49-F238E27FC236}">
                <a16:creationId xmlns:a16="http://schemas.microsoft.com/office/drawing/2014/main" id="{EC3C1966-42C1-474E-A36C-88E66D427452}"/>
              </a:ext>
            </a:extLst>
          </p:cNvPr>
          <p:cNvSpPr>
            <a:spLocks noGrp="1"/>
          </p:cNvSpPr>
          <p:nvPr/>
        </p:nvSpPr>
        <p:spPr>
          <a:xfrm>
            <a:off x="7908150" y="2671323"/>
            <a:ext cx="676275" cy="228600"/>
          </a:xfrm>
          <a:prstGeom prst="roundRect">
            <a:avLst>
              <a:gd name="adj" fmla="val 25000"/>
            </a:avLst>
          </a:prstGeom>
          <a:solidFill>
            <a:srgbClr val="91B3E8"/>
          </a:solidFill>
          <a:ln w="9525">
            <a:solidFill>
              <a:srgbClr val="ABC0DF"/>
            </a:solidFill>
          </a:ln>
        </p:spPr>
      </p:sp>
      <p:sp>
        <p:nvSpPr>
          <p:cNvPr id="179" name="p1-o177">
            <a:extLst>
              <a:ext uri="{FF2B5EF4-FFF2-40B4-BE49-F238E27FC236}">
                <a16:creationId xmlns:a16="http://schemas.microsoft.com/office/drawing/2014/main" id="{6BBAA1BD-C3FA-401C-AFD2-03BA5A7CCE4C}"/>
              </a:ext>
            </a:extLst>
          </p:cNvPr>
          <p:cNvSpPr>
            <a:spLocks noGrp="1"/>
          </p:cNvSpPr>
          <p:nvPr/>
        </p:nvSpPr>
        <p:spPr>
          <a:xfrm>
            <a:off x="7974825" y="2699898"/>
            <a:ext cx="542925" cy="171450"/>
          </a:xfrm>
          <a:prstGeom prst="rect">
            <a:avLst/>
          </a:prstGeom>
          <a:noFill/>
          <a:ln w="0">
            <a:noFill/>
          </a:ln>
        </p:spPr>
        <p:txBody>
          <a:bodyPr wrap="none" lIns="0" tIns="0" rIns="0" bIns="0" anchor="ctr">
            <a:noAutofit/>
          </a:bodyPr>
          <a:lstStyle/>
          <a:p>
            <a:pPr algn="ctr">
              <a:defRPr sz="975" b="1">
                <a:solidFill>
                  <a:srgbClr val="0B2344"/>
                </a:solidFill>
                <a:latin typeface="Microsoft YaHei"/>
                <a:ea typeface="Microsoft YaHei"/>
                <a:cs typeface="Microsoft YaHei"/>
              </a:defRPr>
            </a:pPr>
            <a:r>
              <a:rPr sz="1000" b="1">
                <a:solidFill>
                  <a:srgbClr val="0B2344"/>
                </a:solidFill>
                <a:latin typeface="Times New Roman" panose="02020603050405020304" pitchFamily="18" charset="0"/>
                <a:ea typeface="Microsoft YaHei"/>
                <a:cs typeface="Times New Roman" panose="02020603050405020304" pitchFamily="18" charset="0"/>
              </a:rPr>
              <a:t>L0</a:t>
            </a:r>
          </a:p>
        </p:txBody>
      </p:sp>
      <p:sp>
        <p:nvSpPr>
          <p:cNvPr id="180" name="p1-o178">
            <a:extLst>
              <a:ext uri="{FF2B5EF4-FFF2-40B4-BE49-F238E27FC236}">
                <a16:creationId xmlns:a16="http://schemas.microsoft.com/office/drawing/2014/main" id="{702486F7-CD8D-4BB3-8F71-708299E8CB14}"/>
              </a:ext>
            </a:extLst>
          </p:cNvPr>
          <p:cNvSpPr>
            <a:spLocks noGrp="1"/>
          </p:cNvSpPr>
          <p:nvPr/>
        </p:nvSpPr>
        <p:spPr>
          <a:xfrm>
            <a:off x="7908150" y="2957073"/>
            <a:ext cx="676275" cy="228600"/>
          </a:xfrm>
          <a:prstGeom prst="roundRect">
            <a:avLst>
              <a:gd name="adj" fmla="val 25000"/>
            </a:avLst>
          </a:prstGeom>
          <a:solidFill>
            <a:srgbClr val="E8B0BD"/>
          </a:solidFill>
          <a:ln w="9525">
            <a:solidFill>
              <a:srgbClr val="ABC0DF"/>
            </a:solidFill>
          </a:ln>
        </p:spPr>
      </p:sp>
      <p:sp>
        <p:nvSpPr>
          <p:cNvPr id="181" name="p1-o179">
            <a:extLst>
              <a:ext uri="{FF2B5EF4-FFF2-40B4-BE49-F238E27FC236}">
                <a16:creationId xmlns:a16="http://schemas.microsoft.com/office/drawing/2014/main" id="{D3EA3C31-6B2D-4E35-8601-A4F6962A3A6F}"/>
              </a:ext>
            </a:extLst>
          </p:cNvPr>
          <p:cNvSpPr>
            <a:spLocks noGrp="1"/>
          </p:cNvSpPr>
          <p:nvPr/>
        </p:nvSpPr>
        <p:spPr>
          <a:xfrm>
            <a:off x="7974825" y="2985648"/>
            <a:ext cx="542925" cy="171450"/>
          </a:xfrm>
          <a:prstGeom prst="rect">
            <a:avLst/>
          </a:prstGeom>
          <a:noFill/>
          <a:ln w="0">
            <a:noFill/>
          </a:ln>
        </p:spPr>
        <p:txBody>
          <a:bodyPr wrap="none" lIns="0" tIns="0" rIns="0" bIns="0" anchor="ctr">
            <a:noAutofit/>
          </a:bodyPr>
          <a:lstStyle/>
          <a:p>
            <a:pPr algn="ctr">
              <a:defRPr sz="975" b="1">
                <a:solidFill>
                  <a:srgbClr val="0B2344"/>
                </a:solidFill>
                <a:latin typeface="Microsoft YaHei"/>
                <a:ea typeface="Microsoft YaHei"/>
                <a:cs typeface="Microsoft YaHei"/>
              </a:defRPr>
            </a:pPr>
            <a:r>
              <a:rPr sz="1000" b="1">
                <a:solidFill>
                  <a:srgbClr val="0B2344"/>
                </a:solidFill>
                <a:latin typeface="Times New Roman" panose="02020603050405020304" pitchFamily="18" charset="0"/>
                <a:ea typeface="Microsoft YaHei"/>
                <a:cs typeface="Times New Roman" panose="02020603050405020304" pitchFamily="18" charset="0"/>
              </a:rPr>
              <a:t>L1</a:t>
            </a:r>
          </a:p>
        </p:txBody>
      </p:sp>
      <p:sp>
        <p:nvSpPr>
          <p:cNvPr id="182" name="p1-o180">
            <a:extLst>
              <a:ext uri="{FF2B5EF4-FFF2-40B4-BE49-F238E27FC236}">
                <a16:creationId xmlns:a16="http://schemas.microsoft.com/office/drawing/2014/main" id="{5CE9D316-3DE5-4749-804A-F48D187EDCE3}"/>
              </a:ext>
            </a:extLst>
          </p:cNvPr>
          <p:cNvSpPr>
            <a:spLocks noGrp="1"/>
          </p:cNvSpPr>
          <p:nvPr/>
        </p:nvSpPr>
        <p:spPr>
          <a:xfrm>
            <a:off x="7908150" y="3242823"/>
            <a:ext cx="676275" cy="228600"/>
          </a:xfrm>
          <a:prstGeom prst="roundRect">
            <a:avLst>
              <a:gd name="adj" fmla="val 25000"/>
            </a:avLst>
          </a:prstGeom>
          <a:solidFill>
            <a:srgbClr val="F4DBA6"/>
          </a:solidFill>
          <a:ln w="9525">
            <a:solidFill>
              <a:srgbClr val="ABC0DF"/>
            </a:solidFill>
          </a:ln>
        </p:spPr>
      </p:sp>
      <p:sp>
        <p:nvSpPr>
          <p:cNvPr id="183" name="p1-o181">
            <a:extLst>
              <a:ext uri="{FF2B5EF4-FFF2-40B4-BE49-F238E27FC236}">
                <a16:creationId xmlns:a16="http://schemas.microsoft.com/office/drawing/2014/main" id="{2227547C-BA1A-41C4-AE58-007C2A19AC63}"/>
              </a:ext>
            </a:extLst>
          </p:cNvPr>
          <p:cNvSpPr>
            <a:spLocks noGrp="1"/>
          </p:cNvSpPr>
          <p:nvPr/>
        </p:nvSpPr>
        <p:spPr>
          <a:xfrm>
            <a:off x="7974825" y="3271398"/>
            <a:ext cx="542925" cy="171450"/>
          </a:xfrm>
          <a:prstGeom prst="rect">
            <a:avLst/>
          </a:prstGeom>
          <a:noFill/>
          <a:ln w="0">
            <a:noFill/>
          </a:ln>
        </p:spPr>
        <p:txBody>
          <a:bodyPr wrap="none" lIns="0" tIns="0" rIns="0" bIns="0" anchor="ctr">
            <a:noAutofit/>
          </a:bodyPr>
          <a:lstStyle/>
          <a:p>
            <a:pPr algn="ctr">
              <a:defRPr sz="975" b="1">
                <a:solidFill>
                  <a:srgbClr val="0B2344"/>
                </a:solidFill>
                <a:latin typeface="Microsoft YaHei"/>
                <a:ea typeface="Microsoft YaHei"/>
                <a:cs typeface="Microsoft YaHei"/>
              </a:defRPr>
            </a:pPr>
            <a:r>
              <a:rPr sz="1000" b="1">
                <a:solidFill>
                  <a:srgbClr val="0B2344"/>
                </a:solidFill>
                <a:latin typeface="Times New Roman" panose="02020603050405020304" pitchFamily="18" charset="0"/>
                <a:ea typeface="Microsoft YaHei"/>
                <a:cs typeface="Times New Roman" panose="02020603050405020304" pitchFamily="18" charset="0"/>
              </a:rPr>
              <a:t>L2</a:t>
            </a:r>
          </a:p>
        </p:txBody>
      </p:sp>
      <p:sp>
        <p:nvSpPr>
          <p:cNvPr id="184" name="p1-o182">
            <a:extLst>
              <a:ext uri="{FF2B5EF4-FFF2-40B4-BE49-F238E27FC236}">
                <a16:creationId xmlns:a16="http://schemas.microsoft.com/office/drawing/2014/main" id="{B7700855-F722-451B-867A-3D0C6AAF0CE5}"/>
              </a:ext>
            </a:extLst>
          </p:cNvPr>
          <p:cNvSpPr>
            <a:spLocks noGrp="1"/>
          </p:cNvSpPr>
          <p:nvPr/>
        </p:nvSpPr>
        <p:spPr>
          <a:xfrm>
            <a:off x="7908150" y="3528573"/>
            <a:ext cx="676275" cy="228600"/>
          </a:xfrm>
          <a:prstGeom prst="roundRect">
            <a:avLst>
              <a:gd name="adj" fmla="val 25000"/>
            </a:avLst>
          </a:prstGeom>
          <a:solidFill>
            <a:srgbClr val="9BD3BC"/>
          </a:solidFill>
          <a:ln w="9525">
            <a:solidFill>
              <a:srgbClr val="ABC0DF"/>
            </a:solidFill>
          </a:ln>
        </p:spPr>
      </p:sp>
      <p:sp>
        <p:nvSpPr>
          <p:cNvPr id="185" name="p1-o183">
            <a:extLst>
              <a:ext uri="{FF2B5EF4-FFF2-40B4-BE49-F238E27FC236}">
                <a16:creationId xmlns:a16="http://schemas.microsoft.com/office/drawing/2014/main" id="{6B9E0A08-13DA-406B-B1AB-C32277822461}"/>
              </a:ext>
            </a:extLst>
          </p:cNvPr>
          <p:cNvSpPr>
            <a:spLocks noGrp="1"/>
          </p:cNvSpPr>
          <p:nvPr/>
        </p:nvSpPr>
        <p:spPr>
          <a:xfrm>
            <a:off x="7974825" y="3557148"/>
            <a:ext cx="542925" cy="171450"/>
          </a:xfrm>
          <a:prstGeom prst="rect">
            <a:avLst/>
          </a:prstGeom>
          <a:noFill/>
          <a:ln w="0">
            <a:noFill/>
          </a:ln>
        </p:spPr>
        <p:txBody>
          <a:bodyPr wrap="none" lIns="0" tIns="0" rIns="0" bIns="0" anchor="ctr">
            <a:noAutofit/>
          </a:bodyPr>
          <a:lstStyle/>
          <a:p>
            <a:pPr algn="ctr">
              <a:defRPr sz="975" b="1">
                <a:solidFill>
                  <a:srgbClr val="0B2344"/>
                </a:solidFill>
                <a:latin typeface="Microsoft YaHei"/>
                <a:ea typeface="Microsoft YaHei"/>
                <a:cs typeface="Microsoft YaHei"/>
              </a:defRPr>
            </a:pPr>
            <a:r>
              <a:rPr sz="1000" b="1">
                <a:solidFill>
                  <a:srgbClr val="0B2344"/>
                </a:solidFill>
                <a:latin typeface="Times New Roman" panose="02020603050405020304" pitchFamily="18" charset="0"/>
                <a:ea typeface="Microsoft YaHei"/>
                <a:cs typeface="Times New Roman" panose="02020603050405020304" pitchFamily="18" charset="0"/>
              </a:rPr>
              <a:t>…</a:t>
            </a:r>
          </a:p>
        </p:txBody>
      </p:sp>
      <p:sp>
        <p:nvSpPr>
          <p:cNvPr id="186" name="p1-o184">
            <a:extLst>
              <a:ext uri="{FF2B5EF4-FFF2-40B4-BE49-F238E27FC236}">
                <a16:creationId xmlns:a16="http://schemas.microsoft.com/office/drawing/2014/main" id="{D93DB4F5-8DE4-4A03-9B28-7DD14DB068F0}"/>
              </a:ext>
            </a:extLst>
          </p:cNvPr>
          <p:cNvSpPr>
            <a:spLocks noGrp="1"/>
          </p:cNvSpPr>
          <p:nvPr/>
        </p:nvSpPr>
        <p:spPr>
          <a:xfrm>
            <a:off x="7908150" y="3814323"/>
            <a:ext cx="676275" cy="228600"/>
          </a:xfrm>
          <a:prstGeom prst="roundRect">
            <a:avLst>
              <a:gd name="adj" fmla="val 25000"/>
            </a:avLst>
          </a:prstGeom>
          <a:solidFill>
            <a:srgbClr val="B6A5DD"/>
          </a:solidFill>
          <a:ln w="9525">
            <a:solidFill>
              <a:srgbClr val="ABC0DF"/>
            </a:solidFill>
          </a:ln>
        </p:spPr>
      </p:sp>
      <p:sp>
        <p:nvSpPr>
          <p:cNvPr id="187" name="p1-o185">
            <a:extLst>
              <a:ext uri="{FF2B5EF4-FFF2-40B4-BE49-F238E27FC236}">
                <a16:creationId xmlns:a16="http://schemas.microsoft.com/office/drawing/2014/main" id="{808D2724-A210-4A60-9C1A-4F95154BD4AA}"/>
              </a:ext>
            </a:extLst>
          </p:cNvPr>
          <p:cNvSpPr>
            <a:spLocks noGrp="1"/>
          </p:cNvSpPr>
          <p:nvPr/>
        </p:nvSpPr>
        <p:spPr>
          <a:xfrm>
            <a:off x="7974825" y="3842898"/>
            <a:ext cx="542925" cy="171450"/>
          </a:xfrm>
          <a:prstGeom prst="rect">
            <a:avLst/>
          </a:prstGeom>
          <a:noFill/>
          <a:ln w="0">
            <a:noFill/>
          </a:ln>
        </p:spPr>
        <p:txBody>
          <a:bodyPr wrap="none" lIns="0" tIns="0" rIns="0" bIns="0" anchor="ctr">
            <a:noAutofit/>
          </a:bodyPr>
          <a:lstStyle/>
          <a:p>
            <a:pPr algn="ctr">
              <a:defRPr sz="975" b="1">
                <a:solidFill>
                  <a:srgbClr val="0B2344"/>
                </a:solidFill>
                <a:latin typeface="Microsoft YaHei"/>
                <a:ea typeface="Microsoft YaHei"/>
                <a:cs typeface="Microsoft YaHei"/>
              </a:defRPr>
            </a:pPr>
            <a:r>
              <a:rPr sz="1000" b="1">
                <a:solidFill>
                  <a:srgbClr val="0B2344"/>
                </a:solidFill>
                <a:latin typeface="Times New Roman" panose="02020603050405020304" pitchFamily="18" charset="0"/>
                <a:ea typeface="Microsoft YaHei"/>
                <a:cs typeface="Times New Roman" panose="02020603050405020304" pitchFamily="18" charset="0"/>
              </a:rPr>
              <a:t>L35</a:t>
            </a:r>
          </a:p>
        </p:txBody>
      </p:sp>
      <p:sp>
        <p:nvSpPr>
          <p:cNvPr id="188" name="p1-line186">
            <a:extLst>
              <a:ext uri="{FF2B5EF4-FFF2-40B4-BE49-F238E27FC236}">
                <a16:creationId xmlns:a16="http://schemas.microsoft.com/office/drawing/2014/main" id="{ECE90CA4-46F6-4E64-9A51-CDE94F3205B6}"/>
              </a:ext>
            </a:extLst>
          </p:cNvPr>
          <p:cNvSpPr>
            <a:spLocks noGrp="1"/>
          </p:cNvSpPr>
          <p:nvPr/>
        </p:nvSpPr>
        <p:spPr>
          <a:xfrm>
            <a:off x="7793850" y="2766573"/>
            <a:ext cx="9525" cy="1247775"/>
          </a:xfrm>
          <a:custGeom>
            <a:avLst/>
            <a:gdLst/>
            <a:ahLst/>
            <a:cxnLst/>
            <a:rect l="0" t="0" r="0" b="0"/>
            <a:pathLst>
              <a:path w="9525" h="1247775">
                <a:moveTo>
                  <a:pt x="0" y="0"/>
                </a:moveTo>
                <a:lnTo>
                  <a:pt x="0" y="1247775"/>
                </a:lnTo>
              </a:path>
            </a:pathLst>
          </a:custGeom>
          <a:noFill/>
          <a:ln w="12383">
            <a:solidFill>
              <a:srgbClr val="DB0019"/>
            </a:solidFill>
            <a:prstDash val="solid"/>
          </a:ln>
        </p:spPr>
      </p:sp>
      <p:sp>
        <p:nvSpPr>
          <p:cNvPr id="189" name="p1-o187">
            <a:extLst>
              <a:ext uri="{FF2B5EF4-FFF2-40B4-BE49-F238E27FC236}">
                <a16:creationId xmlns:a16="http://schemas.microsoft.com/office/drawing/2014/main" id="{0FED93B7-C5B4-476A-9617-04B1CCB9954D}"/>
              </a:ext>
            </a:extLst>
          </p:cNvPr>
          <p:cNvSpPr>
            <a:spLocks noGrp="1"/>
          </p:cNvSpPr>
          <p:nvPr/>
        </p:nvSpPr>
        <p:spPr>
          <a:xfrm>
            <a:off x="7760513" y="3947673"/>
            <a:ext cx="66675" cy="66675"/>
          </a:xfrm>
          <a:custGeom>
            <a:avLst/>
            <a:gdLst/>
            <a:ahLst/>
            <a:cxnLst/>
            <a:rect l="0" t="0" r="0" b="0"/>
            <a:pathLst>
              <a:path w="66675" h="66675">
                <a:moveTo>
                  <a:pt x="33338" y="66675"/>
                </a:moveTo>
                <a:lnTo>
                  <a:pt x="66675" y="0"/>
                </a:lnTo>
                <a:lnTo>
                  <a:pt x="0" y="0"/>
                </a:lnTo>
                <a:close/>
              </a:path>
            </a:pathLst>
          </a:custGeom>
          <a:solidFill>
            <a:srgbClr val="DB0019"/>
          </a:solidFill>
          <a:ln w="9525">
            <a:noFill/>
          </a:ln>
        </p:spPr>
      </p:sp>
      <p:sp>
        <p:nvSpPr>
          <p:cNvPr id="190" name="p1-o188">
            <a:extLst>
              <a:ext uri="{FF2B5EF4-FFF2-40B4-BE49-F238E27FC236}">
                <a16:creationId xmlns:a16="http://schemas.microsoft.com/office/drawing/2014/main" id="{5087ECF4-946D-4C4B-9E1D-4DB2AABC7BA2}"/>
              </a:ext>
            </a:extLst>
          </p:cNvPr>
          <p:cNvSpPr>
            <a:spLocks noGrp="1"/>
          </p:cNvSpPr>
          <p:nvPr/>
        </p:nvSpPr>
        <p:spPr>
          <a:xfrm>
            <a:off x="7765275" y="4242948"/>
            <a:ext cx="952500" cy="257175"/>
          </a:xfrm>
          <a:prstGeom prst="rect">
            <a:avLst/>
          </a:prstGeom>
          <a:noFill/>
          <a:ln w="0">
            <a:noFill/>
          </a:ln>
        </p:spPr>
        <p:txBody>
          <a:bodyPr wrap="none" lIns="0" tIns="0" rIns="0" bIns="0" anchor="ctr">
            <a:noAutofit/>
          </a:bodyPr>
          <a:lstStyle/>
          <a:p>
            <a:pPr algn="ctr">
              <a:defRPr sz="1275" b="1">
                <a:solidFill>
                  <a:srgbClr val="DB0019"/>
                </a:solidFill>
                <a:latin typeface="Microsoft YaHei"/>
                <a:ea typeface="Microsoft YaHei"/>
                <a:cs typeface="Microsoft YaHei"/>
              </a:defRPr>
            </a:pPr>
            <a:r>
              <a:rPr sz="1400" b="1" dirty="0" err="1">
                <a:solidFill>
                  <a:srgbClr val="C00000"/>
                </a:solidFill>
                <a:latin typeface="Microsoft YaHei"/>
                <a:ea typeface="Microsoft YaHei"/>
                <a:cs typeface="Microsoft YaHei"/>
              </a:rPr>
              <a:t>一次传输</a:t>
            </a:r>
            <a:endParaRPr sz="1400" b="1" dirty="0">
              <a:solidFill>
                <a:srgbClr val="C00000"/>
              </a:solidFill>
              <a:latin typeface="Microsoft YaHei"/>
              <a:ea typeface="Microsoft YaHei"/>
              <a:cs typeface="Microsoft YaHei"/>
            </a:endParaRPr>
          </a:p>
        </p:txBody>
      </p:sp>
      <p:sp>
        <p:nvSpPr>
          <p:cNvPr id="193" name="p1-o191">
            <a:extLst>
              <a:ext uri="{FF2B5EF4-FFF2-40B4-BE49-F238E27FC236}">
                <a16:creationId xmlns:a16="http://schemas.microsoft.com/office/drawing/2014/main" id="{5FF42957-A542-47CF-9EC8-8C4398822989}"/>
              </a:ext>
            </a:extLst>
          </p:cNvPr>
          <p:cNvSpPr>
            <a:spLocks noGrp="1"/>
          </p:cNvSpPr>
          <p:nvPr/>
        </p:nvSpPr>
        <p:spPr>
          <a:xfrm>
            <a:off x="833152" y="4437112"/>
            <a:ext cx="2802743" cy="720080"/>
          </a:xfrm>
          <a:prstGeom prst="rect">
            <a:avLst/>
          </a:prstGeom>
          <a:noFill/>
          <a:ln w="0">
            <a:noFill/>
          </a:ln>
        </p:spPr>
        <p:txBody>
          <a:bodyPr wrap="none" lIns="0" tIns="0" rIns="0" bIns="0" anchor="ctr">
            <a:noAutofit/>
          </a:bodyPr>
          <a:lstStyle/>
          <a:p>
            <a:pPr marL="171450" indent="-171450" algn="l">
              <a:lnSpc>
                <a:spcPct val="150000"/>
              </a:lnSpc>
              <a:buFont typeface="Wingdings" panose="05000000000000000000" pitchFamily="2" charset="2"/>
              <a:buChar char="Ø"/>
              <a:defRPr sz="1125" b="0">
                <a:solidFill>
                  <a:srgbClr val="4C6180"/>
                </a:solidFill>
                <a:latin typeface="Microsoft YaHei"/>
                <a:ea typeface="Microsoft YaHei"/>
                <a:cs typeface="Microsoft YaHei"/>
              </a:defRPr>
            </a:pPr>
            <a:r>
              <a:rPr sz="1400" b="1" dirty="0">
                <a:solidFill>
                  <a:srgbClr val="C00000"/>
                </a:solidFill>
                <a:latin typeface="Times New Roman" panose="02020603050405020304" pitchFamily="18" charset="0"/>
                <a:ea typeface="Microsoft YaHei"/>
                <a:cs typeface="Times New Roman" panose="02020603050405020304" pitchFamily="18" charset="0"/>
              </a:rPr>
              <a:t>按 Layer </a:t>
            </a:r>
            <a:r>
              <a:rPr sz="1400" b="1" dirty="0" err="1">
                <a:solidFill>
                  <a:srgbClr val="C00000"/>
                </a:solidFill>
                <a:latin typeface="Times New Roman" panose="02020603050405020304" pitchFamily="18" charset="0"/>
                <a:ea typeface="Microsoft YaHei"/>
                <a:cs typeface="Times New Roman" panose="02020603050405020304" pitchFamily="18" charset="0"/>
              </a:rPr>
              <a:t>分散，</a:t>
            </a:r>
            <a:r>
              <a:rPr sz="1400" b="1" dirty="0" err="1" smtClean="0">
                <a:solidFill>
                  <a:srgbClr val="C00000"/>
                </a:solidFill>
                <a:latin typeface="Times New Roman" panose="02020603050405020304" pitchFamily="18" charset="0"/>
                <a:ea typeface="Microsoft YaHei"/>
                <a:cs typeface="Times New Roman" panose="02020603050405020304" pitchFamily="18" charset="0"/>
              </a:rPr>
              <a:t>访问</a:t>
            </a:r>
            <a:r>
              <a:rPr lang="zh-CN" altLang="en-US" sz="1400" b="1" dirty="0" smtClean="0">
                <a:solidFill>
                  <a:srgbClr val="C00000"/>
                </a:solidFill>
                <a:latin typeface="Times New Roman" panose="02020603050405020304" pitchFamily="18" charset="0"/>
                <a:ea typeface="Microsoft YaHei"/>
                <a:cs typeface="Times New Roman" panose="02020603050405020304" pitchFamily="18" charset="0"/>
              </a:rPr>
              <a:t>跨度</a:t>
            </a:r>
            <a:r>
              <a:rPr sz="1400" b="1" dirty="0" smtClean="0">
                <a:solidFill>
                  <a:srgbClr val="C00000"/>
                </a:solidFill>
                <a:latin typeface="Times New Roman" panose="02020603050405020304" pitchFamily="18" charset="0"/>
                <a:ea typeface="Microsoft YaHei"/>
                <a:cs typeface="Times New Roman" panose="02020603050405020304" pitchFamily="18" charset="0"/>
              </a:rPr>
              <a:t>大</a:t>
            </a:r>
            <a:r>
              <a:rPr lang="zh-CN" altLang="en-US" sz="1400" b="1" dirty="0">
                <a:solidFill>
                  <a:srgbClr val="C00000"/>
                </a:solidFill>
                <a:latin typeface="Times New Roman" panose="02020603050405020304" pitchFamily="18" charset="0"/>
                <a:ea typeface="Microsoft YaHei"/>
                <a:cs typeface="Times New Roman" panose="02020603050405020304" pitchFamily="18" charset="0"/>
              </a:rPr>
              <a:t>；</a:t>
            </a:r>
            <a:endParaRPr lang="en-US" sz="1400" b="1" dirty="0">
              <a:solidFill>
                <a:srgbClr val="C00000"/>
              </a:solidFill>
              <a:latin typeface="Times New Roman" panose="02020603050405020304" pitchFamily="18" charset="0"/>
              <a:ea typeface="Microsoft YaHei"/>
              <a:cs typeface="Times New Roman" panose="02020603050405020304" pitchFamily="18" charset="0"/>
            </a:endParaRPr>
          </a:p>
          <a:p>
            <a:pPr marL="171450" indent="-171450" algn="l">
              <a:lnSpc>
                <a:spcPct val="150000"/>
              </a:lnSpc>
              <a:buFont typeface="Wingdings" panose="05000000000000000000" pitchFamily="2" charset="2"/>
              <a:buChar char="Ø"/>
              <a:defRPr sz="1125" b="0">
                <a:solidFill>
                  <a:srgbClr val="4C6180"/>
                </a:solidFill>
                <a:latin typeface="Microsoft YaHei"/>
                <a:ea typeface="Microsoft YaHei"/>
                <a:cs typeface="Microsoft YaHei"/>
              </a:defRPr>
            </a:pPr>
            <a:r>
              <a:rPr lang="en-US" sz="1400" b="1" dirty="0">
                <a:solidFill>
                  <a:srgbClr val="C00000"/>
                </a:solidFill>
                <a:latin typeface="Times New Roman" panose="02020603050405020304" pitchFamily="18" charset="0"/>
                <a:ea typeface="Microsoft YaHei"/>
                <a:cs typeface="Times New Roman" panose="02020603050405020304" pitchFamily="18" charset="0"/>
              </a:rPr>
              <a:t>MLU</a:t>
            </a:r>
            <a:r>
              <a:rPr lang="zh-CN" altLang="en-US" sz="1400" b="1" dirty="0">
                <a:solidFill>
                  <a:srgbClr val="C00000"/>
                </a:solidFill>
                <a:latin typeface="Times New Roman" panose="02020603050405020304" pitchFamily="18" charset="0"/>
                <a:ea typeface="Microsoft YaHei"/>
                <a:cs typeface="Times New Roman" panose="02020603050405020304" pitchFamily="18" charset="0"/>
              </a:rPr>
              <a:t>与</a:t>
            </a:r>
            <a:r>
              <a:rPr lang="en-US" altLang="zh-CN" sz="1400" b="1" dirty="0" err="1">
                <a:solidFill>
                  <a:srgbClr val="C00000"/>
                </a:solidFill>
                <a:latin typeface="Times New Roman" panose="02020603050405020304" pitchFamily="18" charset="0"/>
                <a:ea typeface="Microsoft YaHei"/>
                <a:cs typeface="Times New Roman" panose="02020603050405020304" pitchFamily="18" charset="0"/>
              </a:rPr>
              <a:t>cpu</a:t>
            </a:r>
            <a:r>
              <a:rPr lang="zh-CN" altLang="en-US" sz="1400" b="1" dirty="0">
                <a:solidFill>
                  <a:srgbClr val="C00000"/>
                </a:solidFill>
                <a:latin typeface="Times New Roman" panose="02020603050405020304" pitchFamily="18" charset="0"/>
                <a:ea typeface="Microsoft YaHei"/>
                <a:cs typeface="Times New Roman" panose="02020603050405020304" pitchFamily="18" charset="0"/>
              </a:rPr>
              <a:t>拷贝数据慢</a:t>
            </a:r>
            <a:endParaRPr sz="1400" b="1" dirty="0">
              <a:solidFill>
                <a:srgbClr val="C00000"/>
              </a:solidFill>
              <a:latin typeface="Times New Roman" panose="02020603050405020304" pitchFamily="18" charset="0"/>
              <a:ea typeface="Microsoft YaHei"/>
              <a:cs typeface="Times New Roman" panose="02020603050405020304" pitchFamily="18" charset="0"/>
            </a:endParaRPr>
          </a:p>
        </p:txBody>
      </p:sp>
      <p:sp>
        <p:nvSpPr>
          <p:cNvPr id="194" name="p1-o192">
            <a:extLst>
              <a:ext uri="{FF2B5EF4-FFF2-40B4-BE49-F238E27FC236}">
                <a16:creationId xmlns:a16="http://schemas.microsoft.com/office/drawing/2014/main" id="{86C2F083-B522-48A6-92BB-91F80DCEBF65}"/>
              </a:ext>
            </a:extLst>
          </p:cNvPr>
          <p:cNvSpPr>
            <a:spLocks noGrp="1"/>
          </p:cNvSpPr>
          <p:nvPr/>
        </p:nvSpPr>
        <p:spPr>
          <a:xfrm>
            <a:off x="4449171" y="4492155"/>
            <a:ext cx="2638425" cy="257175"/>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Ø"/>
              <a:defRPr sz="1125" b="0">
                <a:solidFill>
                  <a:srgbClr val="4C6180"/>
                </a:solidFill>
                <a:latin typeface="Microsoft YaHei"/>
                <a:ea typeface="Microsoft YaHei"/>
                <a:cs typeface="Microsoft YaHei"/>
              </a:defRPr>
            </a:pPr>
            <a:r>
              <a:rPr sz="1400" b="1" dirty="0">
                <a:solidFill>
                  <a:srgbClr val="C00000"/>
                </a:solidFill>
                <a:latin typeface="Microsoft YaHei"/>
                <a:ea typeface="Microsoft YaHei"/>
                <a:cs typeface="Microsoft YaHei"/>
              </a:rPr>
              <a:t>按</a:t>
            </a:r>
            <a:r>
              <a:rPr sz="1400" b="0" dirty="0">
                <a:solidFill>
                  <a:schemeClr val="tx1">
                    <a:lumMod val="95000"/>
                    <a:lumOff val="5000"/>
                  </a:schemeClr>
                </a:solidFill>
                <a:latin typeface="Microsoft YaHei"/>
                <a:ea typeface="Microsoft YaHei"/>
                <a:cs typeface="Microsoft YaHei"/>
              </a:rPr>
              <a:t> </a:t>
            </a:r>
            <a:r>
              <a:rPr sz="1400" b="1" dirty="0">
                <a:solidFill>
                  <a:srgbClr val="C00000"/>
                </a:solidFill>
                <a:latin typeface="Microsoft YaHei"/>
                <a:ea typeface="Microsoft YaHei"/>
                <a:cs typeface="Microsoft YaHei"/>
              </a:rPr>
              <a:t>Block</a:t>
            </a:r>
            <a:r>
              <a:rPr lang="en-US" sz="1400" b="1" dirty="0">
                <a:solidFill>
                  <a:srgbClr val="C00000"/>
                </a:solidFill>
                <a:latin typeface="Microsoft YaHei"/>
                <a:ea typeface="Microsoft YaHei"/>
                <a:cs typeface="Microsoft YaHei"/>
              </a:rPr>
              <a:t> </a:t>
            </a:r>
            <a:r>
              <a:rPr lang="zh-CN" altLang="en-US" sz="1400" b="1" dirty="0">
                <a:solidFill>
                  <a:srgbClr val="C00000"/>
                </a:solidFill>
                <a:latin typeface="Microsoft YaHei"/>
                <a:ea typeface="Microsoft YaHei"/>
                <a:cs typeface="Microsoft YaHei"/>
              </a:rPr>
              <a:t>搬运，</a:t>
            </a:r>
            <a:r>
              <a:rPr lang="en-US" altLang="zh-CN" sz="1400" b="1" dirty="0">
                <a:solidFill>
                  <a:srgbClr val="C00000"/>
                </a:solidFill>
                <a:latin typeface="Microsoft YaHei"/>
                <a:ea typeface="Microsoft YaHei"/>
                <a:cs typeface="Microsoft YaHei"/>
              </a:rPr>
              <a:t>Block</a:t>
            </a:r>
            <a:r>
              <a:rPr lang="zh-CN" altLang="en-US" sz="1400" b="1" dirty="0">
                <a:solidFill>
                  <a:srgbClr val="C00000"/>
                </a:solidFill>
                <a:latin typeface="Microsoft YaHei"/>
                <a:ea typeface="Microsoft YaHei"/>
                <a:cs typeface="Microsoft YaHei"/>
              </a:rPr>
              <a:t>内部数据连续</a:t>
            </a:r>
            <a:r>
              <a:rPr lang="en-US" sz="1400" b="1" dirty="0">
                <a:solidFill>
                  <a:srgbClr val="C00000"/>
                </a:solidFill>
                <a:latin typeface="Microsoft YaHei"/>
                <a:ea typeface="Microsoft YaHei"/>
                <a:cs typeface="Microsoft YaHei"/>
              </a:rPr>
              <a:t> </a:t>
            </a:r>
            <a:endParaRPr sz="1400" b="1" dirty="0">
              <a:solidFill>
                <a:srgbClr val="C00000"/>
              </a:solidFill>
              <a:latin typeface="Microsoft YaHei"/>
              <a:ea typeface="Microsoft YaHei"/>
              <a:cs typeface="Microsoft YaHei"/>
            </a:endParaRPr>
          </a:p>
        </p:txBody>
      </p:sp>
      <p:sp>
        <p:nvSpPr>
          <p:cNvPr id="197" name="p1-o195">
            <a:extLst>
              <a:ext uri="{FF2B5EF4-FFF2-40B4-BE49-F238E27FC236}">
                <a16:creationId xmlns:a16="http://schemas.microsoft.com/office/drawing/2014/main" id="{152B28C0-1370-442B-92CD-0115F80D5B74}"/>
              </a:ext>
            </a:extLst>
          </p:cNvPr>
          <p:cNvSpPr>
            <a:spLocks noGrp="1"/>
          </p:cNvSpPr>
          <p:nvPr/>
        </p:nvSpPr>
        <p:spPr>
          <a:xfrm>
            <a:off x="347663" y="5873375"/>
            <a:ext cx="4029075" cy="428625"/>
          </a:xfrm>
          <a:prstGeom prst="rect">
            <a:avLst/>
          </a:prstGeom>
          <a:noFill/>
          <a:ln w="0">
            <a:noFill/>
          </a:ln>
        </p:spPr>
        <p:txBody>
          <a:bodyPr wrap="none" lIns="0" tIns="0" rIns="0" bIns="0" anchor="ctr">
            <a:noAutofit/>
          </a:bodyPr>
          <a:lstStyle/>
          <a:p>
            <a:pPr algn="ctr">
              <a:defRPr sz="1500" b="1">
                <a:solidFill>
                  <a:srgbClr val="0B2344"/>
                </a:solidFill>
                <a:latin typeface="Microsoft YaHei"/>
                <a:ea typeface="Microsoft YaHei"/>
                <a:cs typeface="Microsoft YaHei"/>
              </a:defRPr>
            </a:pPr>
            <a:endParaRPr sz="1500" b="1" dirty="0">
              <a:solidFill>
                <a:srgbClr val="0B2344"/>
              </a:solidFill>
              <a:latin typeface="Microsoft YaHei"/>
              <a:ea typeface="Microsoft YaHei"/>
              <a:cs typeface="Microsoft YaHei"/>
            </a:endParaRPr>
          </a:p>
        </p:txBody>
      </p:sp>
      <p:sp>
        <p:nvSpPr>
          <p:cNvPr id="200" name="矩形 199"/>
          <p:cNvSpPr/>
          <p:nvPr/>
        </p:nvSpPr>
        <p:spPr>
          <a:xfrm>
            <a:off x="448124" y="1764593"/>
            <a:ext cx="3011594"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dirty="0">
                <a:solidFill>
                  <a:schemeClr val="tx1">
                    <a:lumMod val="95000"/>
                    <a:lumOff val="5000"/>
                  </a:schemeClr>
                </a:solidFill>
                <a:latin typeface="Microsoft YaHei"/>
                <a:ea typeface="Microsoft YaHei"/>
                <a:cs typeface="Microsoft YaHei"/>
              </a:rPr>
              <a:t>优化前：</a:t>
            </a:r>
            <a:r>
              <a:rPr lang="en-US" altLang="zh-CN" sz="1600" dirty="0">
                <a:solidFill>
                  <a:schemeClr val="tx1">
                    <a:lumMod val="95000"/>
                    <a:lumOff val="5000"/>
                  </a:schemeClr>
                </a:solidFill>
                <a:latin typeface="Microsoft YaHei"/>
                <a:ea typeface="Microsoft YaHei"/>
                <a:cs typeface="Microsoft YaHei"/>
              </a:rPr>
              <a:t>Layer-Major </a:t>
            </a:r>
            <a:r>
              <a:rPr lang="zh-CN" altLang="en-US" sz="1600" dirty="0">
                <a:solidFill>
                  <a:schemeClr val="tx1">
                    <a:lumMod val="95000"/>
                    <a:lumOff val="5000"/>
                  </a:schemeClr>
                </a:solidFill>
                <a:latin typeface="Microsoft YaHei"/>
                <a:ea typeface="Microsoft YaHei"/>
                <a:cs typeface="Microsoft YaHei"/>
              </a:rPr>
              <a:t>布局</a:t>
            </a:r>
          </a:p>
        </p:txBody>
      </p:sp>
      <p:sp>
        <p:nvSpPr>
          <p:cNvPr id="201" name="矩形 200"/>
          <p:cNvSpPr/>
          <p:nvPr/>
        </p:nvSpPr>
        <p:spPr>
          <a:xfrm>
            <a:off x="4528608" y="1764593"/>
            <a:ext cx="3211743" cy="338554"/>
          </a:xfrm>
          <a:prstGeom prst="rect">
            <a:avLst/>
          </a:prstGeom>
        </p:spPr>
        <p:txBody>
          <a:bodyPr wrap="squar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icrosoft YaHei"/>
                <a:ea typeface="Microsoft YaHei"/>
                <a:cs typeface="Microsoft YaHei"/>
              </a:rPr>
              <a:t>优化后：</a:t>
            </a:r>
            <a:r>
              <a:rPr lang="en-US" altLang="zh-CN" sz="1600" b="1" dirty="0">
                <a:solidFill>
                  <a:schemeClr val="tx1">
                    <a:lumMod val="95000"/>
                    <a:lumOff val="5000"/>
                  </a:schemeClr>
                </a:solidFill>
                <a:latin typeface="Microsoft YaHei"/>
                <a:ea typeface="Microsoft YaHei"/>
                <a:cs typeface="Microsoft YaHei"/>
              </a:rPr>
              <a:t>Block-Major </a:t>
            </a:r>
            <a:r>
              <a:rPr lang="zh-CN" altLang="en-US" sz="1600" b="1" dirty="0">
                <a:solidFill>
                  <a:schemeClr val="tx1">
                    <a:lumMod val="95000"/>
                    <a:lumOff val="5000"/>
                  </a:schemeClr>
                </a:solidFill>
                <a:latin typeface="Microsoft YaHei"/>
                <a:ea typeface="Microsoft YaHei"/>
                <a:cs typeface="Microsoft YaHei"/>
              </a:rPr>
              <a:t>布局</a:t>
            </a:r>
          </a:p>
        </p:txBody>
      </p:sp>
      <p:sp>
        <p:nvSpPr>
          <p:cNvPr id="202" name="矩形 201"/>
          <p:cNvSpPr/>
          <p:nvPr/>
        </p:nvSpPr>
        <p:spPr>
          <a:xfrm>
            <a:off x="448124" y="5300663"/>
            <a:ext cx="3373744"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icrosoft YaHei"/>
                <a:ea typeface="Microsoft YaHei"/>
                <a:cs typeface="Microsoft YaHei"/>
              </a:rPr>
              <a:t>搬运性能提升（</a:t>
            </a:r>
            <a:r>
              <a:rPr lang="en-US" altLang="zh-CN" sz="1600" b="1" dirty="0">
                <a:solidFill>
                  <a:schemeClr val="tx1">
                    <a:lumMod val="95000"/>
                    <a:lumOff val="5000"/>
                  </a:schemeClr>
                </a:solidFill>
                <a:latin typeface="Microsoft YaHei"/>
                <a:ea typeface="Microsoft YaHei"/>
                <a:cs typeface="Microsoft YaHei"/>
              </a:rPr>
              <a:t>4096 tokens</a:t>
            </a:r>
            <a:r>
              <a:rPr lang="zh-CN" altLang="en-US" sz="1600" b="1" dirty="0">
                <a:solidFill>
                  <a:schemeClr val="tx1">
                    <a:lumMod val="95000"/>
                    <a:lumOff val="5000"/>
                  </a:schemeClr>
                </a:solidFill>
                <a:latin typeface="Microsoft YaHei"/>
                <a:ea typeface="Microsoft YaHei"/>
                <a:cs typeface="Microsoft YaHei"/>
              </a:rPr>
              <a:t>）</a:t>
            </a:r>
          </a:p>
        </p:txBody>
      </p:sp>
      <p:sp>
        <p:nvSpPr>
          <p:cNvPr id="203" name="文本框 95"/>
          <p:cNvSpPr txBox="1"/>
          <p:nvPr/>
        </p:nvSpPr>
        <p:spPr>
          <a:xfrm>
            <a:off x="477322" y="5628070"/>
            <a:ext cx="4385630" cy="73866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nSpc>
                <a:spcPct val="150000"/>
              </a:lnSpc>
              <a:buFont typeface="Wingdings" panose="05000000000000000000" pitchFamily="2" charset="2"/>
              <a:buChar char="Ø"/>
            </a:pPr>
            <a:r>
              <a:rPr lang="en-US" altLang="zh-CN"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Store(</a:t>
            </a:r>
            <a:r>
              <a:rPr lang="en-US" altLang="zh-CN" sz="1400" b="1" dirty="0" err="1"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mlu</a:t>
            </a:r>
            <a:r>
              <a:rPr lang="en-US" altLang="zh-CN"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 -&gt; </a:t>
            </a:r>
            <a:r>
              <a:rPr lang="en-US" altLang="zh-CN" sz="1400" b="1" dirty="0" err="1"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cpu</a:t>
            </a:r>
            <a:r>
              <a:rPr lang="en-US" altLang="zh-CN"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r>
              <a:rPr lang="zh-CN" altLang="en-US"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307.8 </a:t>
            </a:r>
            <a:r>
              <a:rPr lang="en-US" altLang="zh-CN" sz="1400" b="1"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ms</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 → 19.3 </a:t>
            </a:r>
            <a:r>
              <a:rPr lang="en-US" altLang="zh-CN" sz="1400" b="1"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ms</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  </a:t>
            </a:r>
            <a:r>
              <a:rPr lang="zh-CN" altLang="en-US"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16.0×</a:t>
            </a:r>
            <a:r>
              <a:rPr lang="zh-CN" altLang="en-US"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endPar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endParaRPr>
          </a:p>
          <a:p>
            <a:pPr marL="285750" indent="-285750">
              <a:lnSpc>
                <a:spcPct val="150000"/>
              </a:lnSpc>
              <a:buFont typeface="Wingdings" panose="05000000000000000000" pitchFamily="2" charset="2"/>
              <a:buChar char="Ø"/>
            </a:pPr>
            <a:r>
              <a:rPr lang="en-US" altLang="zh-CN"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Load(</a:t>
            </a:r>
            <a:r>
              <a:rPr lang="en-US" altLang="zh-CN" sz="1400" b="1" dirty="0" err="1"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cpu</a:t>
            </a:r>
            <a:r>
              <a:rPr lang="en-US" altLang="zh-CN"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 -&gt; </a:t>
            </a:r>
            <a:r>
              <a:rPr lang="en-US" altLang="zh-CN" sz="1400" b="1" dirty="0" err="1"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mlu</a:t>
            </a:r>
            <a:r>
              <a:rPr lang="en-US" altLang="zh-CN"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r>
              <a:rPr lang="zh-CN" altLang="en-US" sz="1400" b="1" dirty="0" smtClean="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398.7 </a:t>
            </a:r>
            <a:r>
              <a:rPr lang="en-US" altLang="zh-CN" sz="1400" b="1"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ms</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 → 29.8 </a:t>
            </a:r>
            <a:r>
              <a:rPr lang="en-US" altLang="zh-CN" sz="1400" b="1"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ms</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  </a:t>
            </a:r>
            <a:r>
              <a:rPr lang="zh-CN" altLang="en-US"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r>
              <a:rPr lang="en-US" altLang="zh-CN"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13.4×</a:t>
            </a:r>
            <a:r>
              <a:rPr lang="zh-CN" altLang="en-US" sz="1400" b="1"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t>
            </a:r>
          </a:p>
        </p:txBody>
      </p:sp>
      <p:sp>
        <p:nvSpPr>
          <p:cNvPr id="6" name="标题 1">
            <a:extLst>
              <a:ext uri="{FF2B5EF4-FFF2-40B4-BE49-F238E27FC236}">
                <a16:creationId xmlns:a16="http://schemas.microsoft.com/office/drawing/2014/main" id="{37F71DDC-ADAF-FEBD-35B4-0D3FC8547EDD}"/>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191" name="矩形 190"/>
          <p:cNvSpPr/>
          <p:nvPr>
            <p:custDataLst>
              <p:tags r:id="rId1"/>
            </p:custDataLst>
          </p:nvPr>
        </p:nvSpPr>
        <p:spPr>
          <a:xfrm>
            <a:off x="7682909" y="2103147"/>
            <a:ext cx="1281579" cy="247317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Tree>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灯片编号占位符 26"/>
          <p:cNvSpPr>
            <a:spLocks noGrp="1"/>
          </p:cNvSpPr>
          <p:nvPr>
            <p:ph type="sldNum" sz="quarter" idx="12"/>
          </p:nvPr>
        </p:nvSpPr>
        <p:spPr/>
        <p:txBody>
          <a:bodyPr/>
          <a:lstStyle/>
          <a:p>
            <a:fld id="{03621AC1-4C4D-435F-BACF-B518BC126F02}" type="slidenum">
              <a:rPr lang="zh-CN" altLang="en-US" smtClean="0">
                <a:latin typeface="Times New Roman" panose="02020603050405020304" pitchFamily="18" charset="0"/>
                <a:cs typeface="Times New Roman" panose="02020603050405020304" pitchFamily="18" charset="0"/>
              </a:rPr>
              <a:t>11</a:t>
            </a:fld>
            <a:endParaRPr lang="zh-CN" altLang="en-US">
              <a:latin typeface="Times New Roman" panose="02020603050405020304" pitchFamily="18" charset="0"/>
              <a:cs typeface="Times New Roman" panose="02020603050405020304" pitchFamily="18" charset="0"/>
            </a:endParaRPr>
          </a:p>
        </p:txBody>
      </p:sp>
      <p:sp>
        <p:nvSpPr>
          <p:cNvPr id="3"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7"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en-US" altLang="zh-CN" sz="2000" dirty="0" err="1">
                <a:solidFill>
                  <a:srgbClr val="000000"/>
                </a:solidFill>
                <a:latin typeface="Times New Roman" panose="02020603050405020304" pitchFamily="18" charset="0"/>
                <a:cs typeface="Times New Roman" panose="02020603050405020304" pitchFamily="18" charset="0"/>
              </a:rPr>
              <a:t>vllm</a:t>
            </a:r>
            <a:r>
              <a:rPr lang="zh-CN" altLang="en-US" sz="2000" dirty="0">
                <a:solidFill>
                  <a:srgbClr val="000000"/>
                </a:solidFill>
                <a:latin typeface="Times New Roman" panose="02020603050405020304" pitchFamily="18" charset="0"/>
                <a:cs typeface="Times New Roman" panose="02020603050405020304" pitchFamily="18" charset="0"/>
              </a:rPr>
              <a:t>优化</a:t>
            </a:r>
            <a:r>
              <a:rPr lang="zh-CN" altLang="en-US" sz="2000" dirty="0" smtClean="0">
                <a:solidFill>
                  <a:srgbClr val="000000"/>
                </a:solidFill>
                <a:latin typeface="Times New Roman" panose="02020603050405020304" pitchFamily="18" charset="0"/>
                <a:cs typeface="Times New Roman" panose="02020603050405020304" pitchFamily="18" charset="0"/>
              </a:rPr>
              <a:t>：重复搬运与异步优化</a:t>
            </a:r>
            <a:endParaRPr lang="zh-CN" altLang="en-US" sz="2000" dirty="0">
              <a:solidFill>
                <a:srgbClr val="000000"/>
              </a:solidFill>
              <a:latin typeface="Times New Roman" panose="02020603050405020304" pitchFamily="18" charset="0"/>
              <a:cs typeface="Times New Roman" panose="02020603050405020304" pitchFamily="18" charset="0"/>
            </a:endParaRPr>
          </a:p>
        </p:txBody>
      </p:sp>
      <p:sp>
        <p:nvSpPr>
          <p:cNvPr id="102" name="p2-o13">
            <a:extLst>
              <a:ext uri="{FF2B5EF4-FFF2-40B4-BE49-F238E27FC236}">
                <a16:creationId xmlns:a16="http://schemas.microsoft.com/office/drawing/2014/main" id="{574AFAF5-803A-48DC-8075-E7572422E98F}"/>
              </a:ext>
            </a:extLst>
          </p:cNvPr>
          <p:cNvSpPr>
            <a:spLocks noGrp="1"/>
          </p:cNvSpPr>
          <p:nvPr/>
        </p:nvSpPr>
        <p:spPr>
          <a:xfrm>
            <a:off x="537807" y="2265788"/>
            <a:ext cx="952500" cy="257175"/>
          </a:xfrm>
          <a:prstGeom prst="rect">
            <a:avLst/>
          </a:prstGeom>
          <a:noFill/>
          <a:ln w="0">
            <a:noFill/>
          </a:ln>
        </p:spPr>
        <p:txBody>
          <a:bodyPr wrap="none" lIns="0" tIns="0" rIns="0" bIns="0" anchor="ctr">
            <a:noAutofit/>
          </a:bodyPr>
          <a:lstStyle/>
          <a:p>
            <a:pPr algn="ctr">
              <a:defRPr sz="127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请求 A</a:t>
            </a:r>
          </a:p>
        </p:txBody>
      </p:sp>
      <p:sp>
        <p:nvSpPr>
          <p:cNvPr id="103" name="p2-o14">
            <a:extLst>
              <a:ext uri="{FF2B5EF4-FFF2-40B4-BE49-F238E27FC236}">
                <a16:creationId xmlns:a16="http://schemas.microsoft.com/office/drawing/2014/main" id="{8BD59702-EC7F-40F1-8064-A6648D4E05AF}"/>
              </a:ext>
            </a:extLst>
          </p:cNvPr>
          <p:cNvSpPr>
            <a:spLocks noGrp="1"/>
          </p:cNvSpPr>
          <p:nvPr/>
        </p:nvSpPr>
        <p:spPr>
          <a:xfrm>
            <a:off x="537807" y="2580113"/>
            <a:ext cx="952500" cy="438150"/>
          </a:xfrm>
          <a:prstGeom prst="roundRect">
            <a:avLst>
              <a:gd name="adj" fmla="val 13043"/>
            </a:avLst>
          </a:prstGeom>
          <a:solidFill>
            <a:schemeClr val="accent1">
              <a:lumMod val="40000"/>
              <a:lumOff val="60000"/>
            </a:schemeClr>
          </a:solidFill>
          <a:ln w="9525">
            <a:solidFill>
              <a:srgbClr val="B5D4FC"/>
            </a:solidFill>
          </a:ln>
        </p:spPr>
      </p:sp>
      <p:sp>
        <p:nvSpPr>
          <p:cNvPr id="104" name="p2-o15">
            <a:extLst>
              <a:ext uri="{FF2B5EF4-FFF2-40B4-BE49-F238E27FC236}">
                <a16:creationId xmlns:a16="http://schemas.microsoft.com/office/drawing/2014/main" id="{876E202C-FF13-480B-AD30-2F6A39C3D000}"/>
              </a:ext>
            </a:extLst>
          </p:cNvPr>
          <p:cNvSpPr>
            <a:spLocks noGrp="1"/>
          </p:cNvSpPr>
          <p:nvPr/>
        </p:nvSpPr>
        <p:spPr>
          <a:xfrm>
            <a:off x="604482" y="2608688"/>
            <a:ext cx="819150" cy="381000"/>
          </a:xfrm>
          <a:prstGeom prst="rect">
            <a:avLst/>
          </a:prstGeom>
          <a:noFill/>
          <a:ln w="0">
            <a:noFill/>
          </a:ln>
        </p:spPr>
        <p:txBody>
          <a:bodyPr wrap="none" lIns="0" tIns="0" rIns="0" bIns="0" anchor="ctr">
            <a:noAutofit/>
          </a:bodyPr>
          <a:lstStyle/>
          <a:p>
            <a:pPr algn="ctr">
              <a:defRPr sz="135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Prefix X</a:t>
            </a:r>
          </a:p>
        </p:txBody>
      </p:sp>
      <p:sp>
        <p:nvSpPr>
          <p:cNvPr id="105" name="p2-line16">
            <a:extLst>
              <a:ext uri="{FF2B5EF4-FFF2-40B4-BE49-F238E27FC236}">
                <a16:creationId xmlns:a16="http://schemas.microsoft.com/office/drawing/2014/main" id="{0C61B55D-83B3-4B69-883A-B20DBECACB83}"/>
              </a:ext>
            </a:extLst>
          </p:cNvPr>
          <p:cNvSpPr>
            <a:spLocks noGrp="1"/>
          </p:cNvSpPr>
          <p:nvPr/>
        </p:nvSpPr>
        <p:spPr>
          <a:xfrm>
            <a:off x="1014057" y="3027788"/>
            <a:ext cx="9525" cy="219075"/>
          </a:xfrm>
          <a:custGeom>
            <a:avLst/>
            <a:gdLst/>
            <a:ahLst/>
            <a:cxnLst/>
            <a:rect l="0" t="0" r="0" b="0"/>
            <a:pathLst>
              <a:path w="9525" h="219075">
                <a:moveTo>
                  <a:pt x="0" y="0"/>
                </a:moveTo>
                <a:lnTo>
                  <a:pt x="0" y="219075"/>
                </a:lnTo>
              </a:path>
            </a:pathLst>
          </a:custGeom>
          <a:noFill/>
          <a:ln w="14288">
            <a:solidFill>
              <a:srgbClr val="0B2344"/>
            </a:solidFill>
            <a:prstDash val="solid"/>
          </a:ln>
        </p:spPr>
      </p:sp>
      <p:sp>
        <p:nvSpPr>
          <p:cNvPr id="106" name="p2-o17">
            <a:extLst>
              <a:ext uri="{FF2B5EF4-FFF2-40B4-BE49-F238E27FC236}">
                <a16:creationId xmlns:a16="http://schemas.microsoft.com/office/drawing/2014/main" id="{3AB397B3-0AD4-4EE3-AC01-00E41070A405}"/>
              </a:ext>
            </a:extLst>
          </p:cNvPr>
          <p:cNvSpPr>
            <a:spLocks noGrp="1"/>
          </p:cNvSpPr>
          <p:nvPr/>
        </p:nvSpPr>
        <p:spPr>
          <a:xfrm>
            <a:off x="1890357" y="2265788"/>
            <a:ext cx="952500" cy="257175"/>
          </a:xfrm>
          <a:prstGeom prst="rect">
            <a:avLst/>
          </a:prstGeom>
          <a:noFill/>
          <a:ln w="0">
            <a:noFill/>
          </a:ln>
        </p:spPr>
        <p:txBody>
          <a:bodyPr wrap="none" lIns="0" tIns="0" rIns="0" bIns="0" anchor="ctr">
            <a:noAutofit/>
          </a:bodyPr>
          <a:lstStyle/>
          <a:p>
            <a:pPr algn="ctr">
              <a:defRPr sz="127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请求 B</a:t>
            </a:r>
          </a:p>
        </p:txBody>
      </p:sp>
      <p:sp>
        <p:nvSpPr>
          <p:cNvPr id="107" name="p2-o18">
            <a:extLst>
              <a:ext uri="{FF2B5EF4-FFF2-40B4-BE49-F238E27FC236}">
                <a16:creationId xmlns:a16="http://schemas.microsoft.com/office/drawing/2014/main" id="{0810015D-7224-4467-854D-99087B967067}"/>
              </a:ext>
            </a:extLst>
          </p:cNvPr>
          <p:cNvSpPr>
            <a:spLocks noGrp="1"/>
          </p:cNvSpPr>
          <p:nvPr/>
        </p:nvSpPr>
        <p:spPr>
          <a:xfrm>
            <a:off x="1890357" y="2580113"/>
            <a:ext cx="952500" cy="438150"/>
          </a:xfrm>
          <a:prstGeom prst="roundRect">
            <a:avLst>
              <a:gd name="adj" fmla="val 13043"/>
            </a:avLst>
          </a:prstGeom>
          <a:solidFill>
            <a:schemeClr val="accent1">
              <a:lumMod val="40000"/>
              <a:lumOff val="60000"/>
            </a:schemeClr>
          </a:solidFill>
          <a:ln w="9525">
            <a:solidFill>
              <a:srgbClr val="B5D4FC"/>
            </a:solidFill>
          </a:ln>
        </p:spPr>
      </p:sp>
      <p:sp>
        <p:nvSpPr>
          <p:cNvPr id="108" name="p2-o19">
            <a:extLst>
              <a:ext uri="{FF2B5EF4-FFF2-40B4-BE49-F238E27FC236}">
                <a16:creationId xmlns:a16="http://schemas.microsoft.com/office/drawing/2014/main" id="{2F0946A1-8A6A-4951-A4C1-FBB3E1DA9734}"/>
              </a:ext>
            </a:extLst>
          </p:cNvPr>
          <p:cNvSpPr>
            <a:spLocks noGrp="1"/>
          </p:cNvSpPr>
          <p:nvPr/>
        </p:nvSpPr>
        <p:spPr>
          <a:xfrm>
            <a:off x="1957032" y="2608688"/>
            <a:ext cx="819150" cy="381000"/>
          </a:xfrm>
          <a:prstGeom prst="rect">
            <a:avLst/>
          </a:prstGeom>
          <a:noFill/>
          <a:ln w="0">
            <a:noFill/>
          </a:ln>
        </p:spPr>
        <p:txBody>
          <a:bodyPr wrap="none" lIns="0" tIns="0" rIns="0" bIns="0" anchor="ctr">
            <a:noAutofit/>
          </a:bodyPr>
          <a:lstStyle/>
          <a:p>
            <a:pPr algn="ctr">
              <a:defRPr sz="135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Prefix X</a:t>
            </a:r>
          </a:p>
        </p:txBody>
      </p:sp>
      <p:sp>
        <p:nvSpPr>
          <p:cNvPr id="109" name="p2-line20">
            <a:extLst>
              <a:ext uri="{FF2B5EF4-FFF2-40B4-BE49-F238E27FC236}">
                <a16:creationId xmlns:a16="http://schemas.microsoft.com/office/drawing/2014/main" id="{FBC3491B-1141-49CC-9C75-5EEFBD00FE63}"/>
              </a:ext>
            </a:extLst>
          </p:cNvPr>
          <p:cNvSpPr>
            <a:spLocks noGrp="1"/>
          </p:cNvSpPr>
          <p:nvPr/>
        </p:nvSpPr>
        <p:spPr>
          <a:xfrm>
            <a:off x="2366607" y="3027788"/>
            <a:ext cx="9525" cy="219075"/>
          </a:xfrm>
          <a:custGeom>
            <a:avLst/>
            <a:gdLst/>
            <a:ahLst/>
            <a:cxnLst/>
            <a:rect l="0" t="0" r="0" b="0"/>
            <a:pathLst>
              <a:path w="9525" h="219075">
                <a:moveTo>
                  <a:pt x="0" y="0"/>
                </a:moveTo>
                <a:lnTo>
                  <a:pt x="0" y="219075"/>
                </a:lnTo>
              </a:path>
            </a:pathLst>
          </a:custGeom>
          <a:noFill/>
          <a:ln w="14288">
            <a:solidFill>
              <a:srgbClr val="0B2344"/>
            </a:solidFill>
            <a:prstDash val="solid"/>
          </a:ln>
        </p:spPr>
      </p:sp>
      <p:sp>
        <p:nvSpPr>
          <p:cNvPr id="110" name="p2-o21">
            <a:extLst>
              <a:ext uri="{FF2B5EF4-FFF2-40B4-BE49-F238E27FC236}">
                <a16:creationId xmlns:a16="http://schemas.microsoft.com/office/drawing/2014/main" id="{FC5A3B77-DF4A-42DD-9294-295501BE046A}"/>
              </a:ext>
            </a:extLst>
          </p:cNvPr>
          <p:cNvSpPr>
            <a:spLocks noGrp="1"/>
          </p:cNvSpPr>
          <p:nvPr/>
        </p:nvSpPr>
        <p:spPr>
          <a:xfrm>
            <a:off x="3242907" y="2265788"/>
            <a:ext cx="952500" cy="257175"/>
          </a:xfrm>
          <a:prstGeom prst="rect">
            <a:avLst/>
          </a:prstGeom>
          <a:noFill/>
          <a:ln w="0">
            <a:noFill/>
          </a:ln>
        </p:spPr>
        <p:txBody>
          <a:bodyPr wrap="none" lIns="0" tIns="0" rIns="0" bIns="0" anchor="ctr">
            <a:noAutofit/>
          </a:bodyPr>
          <a:lstStyle/>
          <a:p>
            <a:pPr algn="ctr">
              <a:defRPr sz="127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请求 C</a:t>
            </a:r>
          </a:p>
        </p:txBody>
      </p:sp>
      <p:sp>
        <p:nvSpPr>
          <p:cNvPr id="111" name="p2-o22">
            <a:extLst>
              <a:ext uri="{FF2B5EF4-FFF2-40B4-BE49-F238E27FC236}">
                <a16:creationId xmlns:a16="http://schemas.microsoft.com/office/drawing/2014/main" id="{8B4B8C14-79CC-4BF6-A5E7-EBDB7F3E22D2}"/>
              </a:ext>
            </a:extLst>
          </p:cNvPr>
          <p:cNvSpPr>
            <a:spLocks noGrp="1"/>
          </p:cNvSpPr>
          <p:nvPr/>
        </p:nvSpPr>
        <p:spPr>
          <a:xfrm>
            <a:off x="3242907" y="2580113"/>
            <a:ext cx="952500" cy="438150"/>
          </a:xfrm>
          <a:prstGeom prst="roundRect">
            <a:avLst>
              <a:gd name="adj" fmla="val 13043"/>
            </a:avLst>
          </a:prstGeom>
          <a:solidFill>
            <a:schemeClr val="accent1">
              <a:lumMod val="40000"/>
              <a:lumOff val="60000"/>
            </a:schemeClr>
          </a:solidFill>
          <a:ln w="9525">
            <a:solidFill>
              <a:srgbClr val="B5D4FC"/>
            </a:solidFill>
          </a:ln>
        </p:spPr>
      </p:sp>
      <p:sp>
        <p:nvSpPr>
          <p:cNvPr id="112" name="p2-o23">
            <a:extLst>
              <a:ext uri="{FF2B5EF4-FFF2-40B4-BE49-F238E27FC236}">
                <a16:creationId xmlns:a16="http://schemas.microsoft.com/office/drawing/2014/main" id="{885E5B92-0C56-4C7A-BF32-9DDA5EA6C2F6}"/>
              </a:ext>
            </a:extLst>
          </p:cNvPr>
          <p:cNvSpPr>
            <a:spLocks noGrp="1"/>
          </p:cNvSpPr>
          <p:nvPr/>
        </p:nvSpPr>
        <p:spPr>
          <a:xfrm>
            <a:off x="3309582" y="2608688"/>
            <a:ext cx="819150" cy="381000"/>
          </a:xfrm>
          <a:prstGeom prst="rect">
            <a:avLst/>
          </a:prstGeom>
          <a:noFill/>
          <a:ln w="0">
            <a:noFill/>
          </a:ln>
        </p:spPr>
        <p:txBody>
          <a:bodyPr wrap="none" lIns="0" tIns="0" rIns="0" bIns="0" anchor="ctr">
            <a:noAutofit/>
          </a:bodyPr>
          <a:lstStyle/>
          <a:p>
            <a:pPr algn="ctr">
              <a:defRPr sz="135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Prefix X</a:t>
            </a:r>
          </a:p>
        </p:txBody>
      </p:sp>
      <p:sp>
        <p:nvSpPr>
          <p:cNvPr id="113" name="p2-line24">
            <a:extLst>
              <a:ext uri="{FF2B5EF4-FFF2-40B4-BE49-F238E27FC236}">
                <a16:creationId xmlns:a16="http://schemas.microsoft.com/office/drawing/2014/main" id="{87588044-C0DB-4BAC-A5A3-E4BA7F2228AC}"/>
              </a:ext>
            </a:extLst>
          </p:cNvPr>
          <p:cNvSpPr>
            <a:spLocks noGrp="1"/>
          </p:cNvSpPr>
          <p:nvPr/>
        </p:nvSpPr>
        <p:spPr>
          <a:xfrm>
            <a:off x="3719157" y="3027788"/>
            <a:ext cx="9525" cy="219075"/>
          </a:xfrm>
          <a:custGeom>
            <a:avLst/>
            <a:gdLst/>
            <a:ahLst/>
            <a:cxnLst/>
            <a:rect l="0" t="0" r="0" b="0"/>
            <a:pathLst>
              <a:path w="9525" h="219075">
                <a:moveTo>
                  <a:pt x="0" y="0"/>
                </a:moveTo>
                <a:lnTo>
                  <a:pt x="0" y="219075"/>
                </a:lnTo>
              </a:path>
            </a:pathLst>
          </a:custGeom>
          <a:noFill/>
          <a:ln w="14288">
            <a:solidFill>
              <a:srgbClr val="0B2344"/>
            </a:solidFill>
            <a:prstDash val="solid"/>
          </a:ln>
        </p:spPr>
      </p:sp>
      <p:sp>
        <p:nvSpPr>
          <p:cNvPr id="114" name="p2-line25">
            <a:extLst>
              <a:ext uri="{FF2B5EF4-FFF2-40B4-BE49-F238E27FC236}">
                <a16:creationId xmlns:a16="http://schemas.microsoft.com/office/drawing/2014/main" id="{72831835-07F3-4989-B8E7-AE13AA416B35}"/>
              </a:ext>
            </a:extLst>
          </p:cNvPr>
          <p:cNvSpPr>
            <a:spLocks noGrp="1"/>
          </p:cNvSpPr>
          <p:nvPr/>
        </p:nvSpPr>
        <p:spPr>
          <a:xfrm>
            <a:off x="1014057" y="3246863"/>
            <a:ext cx="2705100" cy="9525"/>
          </a:xfrm>
          <a:custGeom>
            <a:avLst/>
            <a:gdLst/>
            <a:ahLst/>
            <a:cxnLst/>
            <a:rect l="0" t="0" r="0" b="0"/>
            <a:pathLst>
              <a:path w="2705100" h="9525">
                <a:moveTo>
                  <a:pt x="0" y="0"/>
                </a:moveTo>
                <a:lnTo>
                  <a:pt x="2705100" y="0"/>
                </a:lnTo>
              </a:path>
            </a:pathLst>
          </a:custGeom>
          <a:noFill/>
          <a:ln w="14288">
            <a:solidFill>
              <a:srgbClr val="0B2344"/>
            </a:solidFill>
            <a:prstDash val="solid"/>
          </a:ln>
        </p:spPr>
      </p:sp>
      <p:sp>
        <p:nvSpPr>
          <p:cNvPr id="115" name="p2-line26">
            <a:extLst>
              <a:ext uri="{FF2B5EF4-FFF2-40B4-BE49-F238E27FC236}">
                <a16:creationId xmlns:a16="http://schemas.microsoft.com/office/drawing/2014/main" id="{7FE29B23-25AB-43B2-8F3A-5281B1581E38}"/>
              </a:ext>
            </a:extLst>
          </p:cNvPr>
          <p:cNvSpPr>
            <a:spLocks noGrp="1"/>
          </p:cNvSpPr>
          <p:nvPr/>
        </p:nvSpPr>
        <p:spPr>
          <a:xfrm>
            <a:off x="2366251" y="3248305"/>
            <a:ext cx="9525" cy="190500"/>
          </a:xfrm>
          <a:custGeom>
            <a:avLst/>
            <a:gdLst/>
            <a:ahLst/>
            <a:cxnLst/>
            <a:rect l="0" t="0" r="0" b="0"/>
            <a:pathLst>
              <a:path w="9525" h="190500">
                <a:moveTo>
                  <a:pt x="0" y="0"/>
                </a:moveTo>
                <a:lnTo>
                  <a:pt x="0" y="190500"/>
                </a:lnTo>
              </a:path>
            </a:pathLst>
          </a:custGeom>
          <a:noFill/>
          <a:ln w="14288">
            <a:solidFill>
              <a:srgbClr val="0B2344"/>
            </a:solidFill>
            <a:prstDash val="solid"/>
          </a:ln>
        </p:spPr>
      </p:sp>
      <p:sp>
        <p:nvSpPr>
          <p:cNvPr id="116" name="p2-o27">
            <a:extLst>
              <a:ext uri="{FF2B5EF4-FFF2-40B4-BE49-F238E27FC236}">
                <a16:creationId xmlns:a16="http://schemas.microsoft.com/office/drawing/2014/main" id="{3EB0CC34-B0C7-4B67-A39A-28666D108F6D}"/>
              </a:ext>
            </a:extLst>
          </p:cNvPr>
          <p:cNvSpPr>
            <a:spLocks noGrp="1"/>
          </p:cNvSpPr>
          <p:nvPr/>
        </p:nvSpPr>
        <p:spPr>
          <a:xfrm>
            <a:off x="2333270" y="3389738"/>
            <a:ext cx="66675" cy="66675"/>
          </a:xfrm>
          <a:custGeom>
            <a:avLst/>
            <a:gdLst/>
            <a:ahLst/>
            <a:cxnLst/>
            <a:rect l="0" t="0" r="0" b="0"/>
            <a:pathLst>
              <a:path w="66675" h="66675">
                <a:moveTo>
                  <a:pt x="33338" y="66675"/>
                </a:moveTo>
                <a:lnTo>
                  <a:pt x="66675" y="0"/>
                </a:lnTo>
                <a:lnTo>
                  <a:pt x="0" y="0"/>
                </a:lnTo>
                <a:close/>
              </a:path>
            </a:pathLst>
          </a:custGeom>
          <a:solidFill>
            <a:srgbClr val="0B2344"/>
          </a:solidFill>
          <a:ln w="9525">
            <a:noFill/>
          </a:ln>
        </p:spPr>
      </p:sp>
      <p:sp>
        <p:nvSpPr>
          <p:cNvPr id="117" name="p2-o28">
            <a:extLst>
              <a:ext uri="{FF2B5EF4-FFF2-40B4-BE49-F238E27FC236}">
                <a16:creationId xmlns:a16="http://schemas.microsoft.com/office/drawing/2014/main" id="{7B3A2A48-343A-4624-8869-F9FA339AA2F2}"/>
              </a:ext>
            </a:extLst>
          </p:cNvPr>
          <p:cNvSpPr>
            <a:spLocks noGrp="1"/>
          </p:cNvSpPr>
          <p:nvPr/>
        </p:nvSpPr>
        <p:spPr>
          <a:xfrm>
            <a:off x="1337907" y="3456413"/>
            <a:ext cx="2076450" cy="466725"/>
          </a:xfrm>
          <a:prstGeom prst="roundRect">
            <a:avLst>
              <a:gd name="adj" fmla="val 9524"/>
            </a:avLst>
          </a:prstGeom>
          <a:solidFill>
            <a:schemeClr val="accent2">
              <a:lumMod val="20000"/>
              <a:lumOff val="80000"/>
            </a:schemeClr>
          </a:solidFill>
          <a:ln w="9525">
            <a:solidFill>
              <a:srgbClr val="F0B9C3"/>
            </a:solidFill>
          </a:ln>
        </p:spPr>
      </p:sp>
      <p:sp>
        <p:nvSpPr>
          <p:cNvPr id="118" name="p2-o29">
            <a:extLst>
              <a:ext uri="{FF2B5EF4-FFF2-40B4-BE49-F238E27FC236}">
                <a16:creationId xmlns:a16="http://schemas.microsoft.com/office/drawing/2014/main" id="{629AD605-0DF5-4B98-9ECB-6BFDB980373C}"/>
              </a:ext>
            </a:extLst>
          </p:cNvPr>
          <p:cNvSpPr>
            <a:spLocks noGrp="1"/>
          </p:cNvSpPr>
          <p:nvPr/>
        </p:nvSpPr>
        <p:spPr>
          <a:xfrm>
            <a:off x="1404582" y="3484989"/>
            <a:ext cx="1943100" cy="400050"/>
          </a:xfrm>
          <a:prstGeom prst="rect">
            <a:avLst/>
          </a:prstGeom>
          <a:noFill/>
          <a:ln w="0">
            <a:noFill/>
          </a:ln>
        </p:spPr>
        <p:txBody>
          <a:bodyPr wrap="none" lIns="0" tIns="0" rIns="0" bIns="0" anchor="ctr">
            <a:noAutofit/>
          </a:bodyPr>
          <a:lstStyle/>
          <a:p>
            <a:pPr algn="ctr">
              <a:defRPr sz="1500" b="1">
                <a:solidFill>
                  <a:srgbClr val="0B2344"/>
                </a:solidFill>
                <a:latin typeface="Microsoft YaHei"/>
                <a:ea typeface="Microsoft YaHei"/>
                <a:cs typeface="Microsoft YaHei"/>
              </a:defRPr>
            </a:pPr>
            <a:r>
              <a:rPr sz="1200"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合并</a:t>
            </a:r>
            <a:endParaRPr sz="1200"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endParaRPr>
          </a:p>
        </p:txBody>
      </p:sp>
      <p:sp>
        <p:nvSpPr>
          <p:cNvPr id="119" name="p2-line30">
            <a:extLst>
              <a:ext uri="{FF2B5EF4-FFF2-40B4-BE49-F238E27FC236}">
                <a16:creationId xmlns:a16="http://schemas.microsoft.com/office/drawing/2014/main" id="{823F0354-24CF-44BB-B778-27762FEDC554}"/>
              </a:ext>
            </a:extLst>
          </p:cNvPr>
          <p:cNvSpPr>
            <a:spLocks noGrp="1"/>
          </p:cNvSpPr>
          <p:nvPr/>
        </p:nvSpPr>
        <p:spPr>
          <a:xfrm>
            <a:off x="2375064" y="3926976"/>
            <a:ext cx="45719" cy="329537"/>
          </a:xfrm>
          <a:custGeom>
            <a:avLst/>
            <a:gdLst/>
            <a:ahLst/>
            <a:cxnLst/>
            <a:rect l="0" t="0" r="0" b="0"/>
            <a:pathLst>
              <a:path w="9525" h="209550">
                <a:moveTo>
                  <a:pt x="0" y="0"/>
                </a:moveTo>
                <a:lnTo>
                  <a:pt x="0" y="209550"/>
                </a:lnTo>
              </a:path>
            </a:pathLst>
          </a:custGeom>
          <a:noFill/>
          <a:ln w="19050">
            <a:solidFill>
              <a:srgbClr val="DB0019"/>
            </a:solidFill>
            <a:prstDash val="solid"/>
          </a:ln>
        </p:spPr>
      </p:sp>
      <p:sp>
        <p:nvSpPr>
          <p:cNvPr id="120" name="p2-o31">
            <a:extLst>
              <a:ext uri="{FF2B5EF4-FFF2-40B4-BE49-F238E27FC236}">
                <a16:creationId xmlns:a16="http://schemas.microsoft.com/office/drawing/2014/main" id="{658A7408-C4BA-40FC-A048-A0C90FC402C5}"/>
              </a:ext>
            </a:extLst>
          </p:cNvPr>
          <p:cNvSpPr>
            <a:spLocks noGrp="1"/>
          </p:cNvSpPr>
          <p:nvPr/>
        </p:nvSpPr>
        <p:spPr>
          <a:xfrm>
            <a:off x="2341726" y="4221088"/>
            <a:ext cx="66675" cy="66675"/>
          </a:xfrm>
          <a:custGeom>
            <a:avLst/>
            <a:gdLst/>
            <a:ahLst/>
            <a:cxnLst/>
            <a:rect l="0" t="0" r="0" b="0"/>
            <a:pathLst>
              <a:path w="66675" h="66675">
                <a:moveTo>
                  <a:pt x="33338" y="66675"/>
                </a:moveTo>
                <a:lnTo>
                  <a:pt x="66675" y="0"/>
                </a:lnTo>
                <a:lnTo>
                  <a:pt x="0" y="0"/>
                </a:lnTo>
                <a:close/>
              </a:path>
            </a:pathLst>
          </a:custGeom>
          <a:solidFill>
            <a:srgbClr val="DB0019"/>
          </a:solidFill>
          <a:ln w="9525">
            <a:noFill/>
          </a:ln>
        </p:spPr>
      </p:sp>
      <p:sp>
        <p:nvSpPr>
          <p:cNvPr id="121" name="p2-o32">
            <a:extLst>
              <a:ext uri="{FF2B5EF4-FFF2-40B4-BE49-F238E27FC236}">
                <a16:creationId xmlns:a16="http://schemas.microsoft.com/office/drawing/2014/main" id="{BFF5D3FB-DDD0-44EC-8530-C5BC59ACBD5F}"/>
              </a:ext>
            </a:extLst>
          </p:cNvPr>
          <p:cNvSpPr>
            <a:spLocks noGrp="1"/>
          </p:cNvSpPr>
          <p:nvPr/>
        </p:nvSpPr>
        <p:spPr>
          <a:xfrm>
            <a:off x="1337907" y="4294613"/>
            <a:ext cx="2076450" cy="466725"/>
          </a:xfrm>
          <a:prstGeom prst="roundRect">
            <a:avLst>
              <a:gd name="adj" fmla="val 12245"/>
            </a:avLst>
          </a:prstGeom>
          <a:solidFill>
            <a:schemeClr val="accent2">
              <a:lumMod val="20000"/>
              <a:lumOff val="80000"/>
            </a:schemeClr>
          </a:solidFill>
          <a:ln w="9525">
            <a:solidFill>
              <a:srgbClr val="F0B9C3"/>
            </a:solidFill>
          </a:ln>
        </p:spPr>
      </p:sp>
      <p:sp>
        <p:nvSpPr>
          <p:cNvPr id="122" name="p2-o33">
            <a:extLst>
              <a:ext uri="{FF2B5EF4-FFF2-40B4-BE49-F238E27FC236}">
                <a16:creationId xmlns:a16="http://schemas.microsoft.com/office/drawing/2014/main" id="{5BD4D20C-3FF1-42D9-8B51-8516E11E37C6}"/>
              </a:ext>
            </a:extLst>
          </p:cNvPr>
          <p:cNvSpPr>
            <a:spLocks noGrp="1"/>
          </p:cNvSpPr>
          <p:nvPr/>
        </p:nvSpPr>
        <p:spPr>
          <a:xfrm>
            <a:off x="1404582" y="4323188"/>
            <a:ext cx="1943100" cy="409575"/>
          </a:xfrm>
          <a:prstGeom prst="rect">
            <a:avLst/>
          </a:prstGeom>
          <a:noFill/>
          <a:ln w="0">
            <a:noFill/>
          </a:ln>
        </p:spPr>
        <p:txBody>
          <a:bodyPr wrap="none" lIns="0" tIns="0" rIns="0" bIns="0" anchor="ctr">
            <a:noAutofit/>
          </a:bodyPr>
          <a:lstStyle/>
          <a:p>
            <a:pPr algn="ctr">
              <a:defRPr sz="1373" b="1">
                <a:solidFill>
                  <a:srgbClr val="0B2344"/>
                </a:solidFill>
                <a:latin typeface="Microsoft YaHei"/>
                <a:ea typeface="Microsoft YaHei"/>
                <a:cs typeface="Microsoft YaHei"/>
              </a:defRPr>
            </a:pPr>
            <a:r>
              <a:rPr sz="1200"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CPU → </a:t>
            </a:r>
            <a:r>
              <a:rPr sz="1200"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MLU：加载一次</a:t>
            </a:r>
            <a:endParaRPr sz="1200"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endParaRPr>
          </a:p>
        </p:txBody>
      </p:sp>
      <p:sp>
        <p:nvSpPr>
          <p:cNvPr id="123" name="p2-line34">
            <a:extLst>
              <a:ext uri="{FF2B5EF4-FFF2-40B4-BE49-F238E27FC236}">
                <a16:creationId xmlns:a16="http://schemas.microsoft.com/office/drawing/2014/main" id="{1733B483-315E-479D-8325-C362F962E72B}"/>
              </a:ext>
            </a:extLst>
          </p:cNvPr>
          <p:cNvSpPr>
            <a:spLocks noGrp="1"/>
          </p:cNvSpPr>
          <p:nvPr/>
        </p:nvSpPr>
        <p:spPr>
          <a:xfrm>
            <a:off x="2376132" y="4770863"/>
            <a:ext cx="9525" cy="123825"/>
          </a:xfrm>
          <a:custGeom>
            <a:avLst/>
            <a:gdLst/>
            <a:ahLst/>
            <a:cxnLst/>
            <a:rect l="0" t="0" r="0" b="0"/>
            <a:pathLst>
              <a:path w="9525" h="123825">
                <a:moveTo>
                  <a:pt x="0" y="0"/>
                </a:moveTo>
                <a:lnTo>
                  <a:pt x="0" y="123825"/>
                </a:lnTo>
              </a:path>
            </a:pathLst>
          </a:custGeom>
          <a:noFill/>
          <a:ln w="14288">
            <a:solidFill>
              <a:schemeClr val="tx1">
                <a:lumMod val="95000"/>
                <a:lumOff val="5000"/>
              </a:schemeClr>
            </a:solidFill>
            <a:prstDash val="solid"/>
          </a:ln>
        </p:spPr>
      </p:sp>
      <p:sp>
        <p:nvSpPr>
          <p:cNvPr id="124" name="p2-line35">
            <a:extLst>
              <a:ext uri="{FF2B5EF4-FFF2-40B4-BE49-F238E27FC236}">
                <a16:creationId xmlns:a16="http://schemas.microsoft.com/office/drawing/2014/main" id="{9A5C1152-C8CD-4111-BD01-52B6C8FFD647}"/>
              </a:ext>
            </a:extLst>
          </p:cNvPr>
          <p:cNvSpPr>
            <a:spLocks noGrp="1"/>
          </p:cNvSpPr>
          <p:nvPr/>
        </p:nvSpPr>
        <p:spPr>
          <a:xfrm>
            <a:off x="1002151" y="4883779"/>
            <a:ext cx="2705100" cy="9525"/>
          </a:xfrm>
          <a:custGeom>
            <a:avLst/>
            <a:gdLst/>
            <a:ahLst/>
            <a:cxnLst/>
            <a:rect l="0" t="0" r="0" b="0"/>
            <a:pathLst>
              <a:path w="2705100" h="9525">
                <a:moveTo>
                  <a:pt x="0" y="0"/>
                </a:moveTo>
                <a:lnTo>
                  <a:pt x="2705100" y="0"/>
                </a:lnTo>
              </a:path>
            </a:pathLst>
          </a:custGeom>
          <a:noFill/>
          <a:ln w="14288">
            <a:solidFill>
              <a:schemeClr val="tx1">
                <a:lumMod val="95000"/>
                <a:lumOff val="5000"/>
              </a:schemeClr>
            </a:solidFill>
            <a:prstDash val="solid"/>
          </a:ln>
        </p:spPr>
      </p:sp>
      <p:sp>
        <p:nvSpPr>
          <p:cNvPr id="125" name="p2-line36">
            <a:extLst>
              <a:ext uri="{FF2B5EF4-FFF2-40B4-BE49-F238E27FC236}">
                <a16:creationId xmlns:a16="http://schemas.microsoft.com/office/drawing/2014/main" id="{53A7C061-4068-42BD-A260-80F9D1930076}"/>
              </a:ext>
            </a:extLst>
          </p:cNvPr>
          <p:cNvSpPr>
            <a:spLocks noGrp="1"/>
          </p:cNvSpPr>
          <p:nvPr/>
        </p:nvSpPr>
        <p:spPr>
          <a:xfrm>
            <a:off x="1002151" y="4883779"/>
            <a:ext cx="9525" cy="123825"/>
          </a:xfrm>
          <a:custGeom>
            <a:avLst/>
            <a:gdLst/>
            <a:ahLst/>
            <a:cxnLst/>
            <a:rect l="0" t="0" r="0" b="0"/>
            <a:pathLst>
              <a:path w="9525" h="123825">
                <a:moveTo>
                  <a:pt x="0" y="0"/>
                </a:moveTo>
                <a:lnTo>
                  <a:pt x="0" y="123825"/>
                </a:lnTo>
              </a:path>
            </a:pathLst>
          </a:custGeom>
          <a:noFill/>
          <a:ln w="14288">
            <a:solidFill>
              <a:schemeClr val="tx1">
                <a:lumMod val="95000"/>
                <a:lumOff val="5000"/>
              </a:schemeClr>
            </a:solidFill>
            <a:prstDash val="solid"/>
          </a:ln>
        </p:spPr>
      </p:sp>
      <p:sp>
        <p:nvSpPr>
          <p:cNvPr id="126" name="p2-o37">
            <a:extLst>
              <a:ext uri="{FF2B5EF4-FFF2-40B4-BE49-F238E27FC236}">
                <a16:creationId xmlns:a16="http://schemas.microsoft.com/office/drawing/2014/main" id="{F864170A-F260-4FA2-87DD-4208CFF95F5C}"/>
              </a:ext>
            </a:extLst>
          </p:cNvPr>
          <p:cNvSpPr>
            <a:spLocks noGrp="1"/>
          </p:cNvSpPr>
          <p:nvPr/>
        </p:nvSpPr>
        <p:spPr>
          <a:xfrm>
            <a:off x="968814" y="4940929"/>
            <a:ext cx="66675" cy="66675"/>
          </a:xfrm>
          <a:custGeom>
            <a:avLst/>
            <a:gdLst/>
            <a:ahLst/>
            <a:cxnLst/>
            <a:rect l="0" t="0" r="0" b="0"/>
            <a:pathLst>
              <a:path w="66675" h="66675">
                <a:moveTo>
                  <a:pt x="33338" y="66675"/>
                </a:moveTo>
                <a:lnTo>
                  <a:pt x="66675" y="0"/>
                </a:lnTo>
                <a:lnTo>
                  <a:pt x="0" y="0"/>
                </a:lnTo>
                <a:close/>
              </a:path>
            </a:pathLst>
          </a:custGeom>
          <a:solidFill>
            <a:srgbClr val="0B2344"/>
          </a:solidFill>
          <a:ln w="9525">
            <a:solidFill>
              <a:schemeClr val="tx1">
                <a:lumMod val="95000"/>
                <a:lumOff val="5000"/>
              </a:schemeClr>
            </a:solidFill>
          </a:ln>
        </p:spPr>
      </p:sp>
      <p:sp>
        <p:nvSpPr>
          <p:cNvPr id="127" name="p2-o38">
            <a:extLst>
              <a:ext uri="{FF2B5EF4-FFF2-40B4-BE49-F238E27FC236}">
                <a16:creationId xmlns:a16="http://schemas.microsoft.com/office/drawing/2014/main" id="{24A28214-A504-4F5E-BB9B-FA5238452F6A}"/>
              </a:ext>
            </a:extLst>
          </p:cNvPr>
          <p:cNvSpPr>
            <a:spLocks noGrp="1"/>
          </p:cNvSpPr>
          <p:nvPr/>
        </p:nvSpPr>
        <p:spPr>
          <a:xfrm>
            <a:off x="567949" y="5029677"/>
            <a:ext cx="952500" cy="228600"/>
          </a:xfrm>
          <a:prstGeom prst="rect">
            <a:avLst/>
          </a:prstGeom>
          <a:noFill/>
          <a:ln w="0">
            <a:noFill/>
          </a:ln>
        </p:spPr>
        <p:txBody>
          <a:bodyPr wrap="none" lIns="0" tIns="0" rIns="0" bIns="0" anchor="ctr">
            <a:noAutofit/>
          </a:bodyPr>
          <a:lstStyle/>
          <a:p>
            <a:pPr algn="ctr">
              <a:defRPr sz="1275" b="1">
                <a:solidFill>
                  <a:srgbClr val="0B2344"/>
                </a:solidFill>
                <a:latin typeface="Microsoft YaHei"/>
                <a:ea typeface="Microsoft YaHei"/>
                <a:cs typeface="Microsoft YaHei"/>
              </a:defRPr>
            </a:pPr>
            <a:r>
              <a:rPr sz="1275"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A </a:t>
            </a:r>
            <a:r>
              <a:rPr sz="1275"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复用</a:t>
            </a:r>
            <a:endParaRPr sz="1275"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endParaRPr>
          </a:p>
        </p:txBody>
      </p:sp>
      <p:sp>
        <p:nvSpPr>
          <p:cNvPr id="128" name="p2-line39">
            <a:extLst>
              <a:ext uri="{FF2B5EF4-FFF2-40B4-BE49-F238E27FC236}">
                <a16:creationId xmlns:a16="http://schemas.microsoft.com/office/drawing/2014/main" id="{C9789553-6CBA-4D03-ADCD-5B9DFC09A91D}"/>
              </a:ext>
            </a:extLst>
          </p:cNvPr>
          <p:cNvSpPr>
            <a:spLocks noGrp="1"/>
          </p:cNvSpPr>
          <p:nvPr/>
        </p:nvSpPr>
        <p:spPr>
          <a:xfrm>
            <a:off x="2366516" y="4888541"/>
            <a:ext cx="9525" cy="123825"/>
          </a:xfrm>
          <a:custGeom>
            <a:avLst/>
            <a:gdLst/>
            <a:ahLst/>
            <a:cxnLst/>
            <a:rect l="0" t="0" r="0" b="0"/>
            <a:pathLst>
              <a:path w="9525" h="123825">
                <a:moveTo>
                  <a:pt x="0" y="0"/>
                </a:moveTo>
                <a:lnTo>
                  <a:pt x="0" y="123825"/>
                </a:lnTo>
              </a:path>
            </a:pathLst>
          </a:custGeom>
          <a:noFill/>
          <a:ln w="14288">
            <a:solidFill>
              <a:schemeClr val="tx1">
                <a:lumMod val="95000"/>
                <a:lumOff val="5000"/>
              </a:schemeClr>
            </a:solidFill>
            <a:prstDash val="solid"/>
          </a:ln>
        </p:spPr>
      </p:sp>
      <p:sp>
        <p:nvSpPr>
          <p:cNvPr id="129" name="p2-o40">
            <a:extLst>
              <a:ext uri="{FF2B5EF4-FFF2-40B4-BE49-F238E27FC236}">
                <a16:creationId xmlns:a16="http://schemas.microsoft.com/office/drawing/2014/main" id="{3FA7902B-726E-44A8-830C-80473502F411}"/>
              </a:ext>
            </a:extLst>
          </p:cNvPr>
          <p:cNvSpPr>
            <a:spLocks noGrp="1"/>
          </p:cNvSpPr>
          <p:nvPr/>
        </p:nvSpPr>
        <p:spPr>
          <a:xfrm>
            <a:off x="2333179" y="4945691"/>
            <a:ext cx="66675" cy="66675"/>
          </a:xfrm>
          <a:custGeom>
            <a:avLst/>
            <a:gdLst/>
            <a:ahLst/>
            <a:cxnLst/>
            <a:rect l="0" t="0" r="0" b="0"/>
            <a:pathLst>
              <a:path w="66675" h="66675">
                <a:moveTo>
                  <a:pt x="33338" y="66675"/>
                </a:moveTo>
                <a:lnTo>
                  <a:pt x="66675" y="0"/>
                </a:lnTo>
                <a:lnTo>
                  <a:pt x="0" y="0"/>
                </a:lnTo>
                <a:close/>
              </a:path>
            </a:pathLst>
          </a:custGeom>
          <a:solidFill>
            <a:srgbClr val="0B2344"/>
          </a:solidFill>
          <a:ln w="9525">
            <a:solidFill>
              <a:schemeClr val="tx1">
                <a:lumMod val="95000"/>
                <a:lumOff val="5000"/>
              </a:schemeClr>
            </a:solidFill>
          </a:ln>
        </p:spPr>
      </p:sp>
      <p:sp>
        <p:nvSpPr>
          <p:cNvPr id="130" name="p2-o41">
            <a:extLst>
              <a:ext uri="{FF2B5EF4-FFF2-40B4-BE49-F238E27FC236}">
                <a16:creationId xmlns:a16="http://schemas.microsoft.com/office/drawing/2014/main" id="{06B15916-F014-4189-AE7F-F1B2D7066819}"/>
              </a:ext>
            </a:extLst>
          </p:cNvPr>
          <p:cNvSpPr>
            <a:spLocks noGrp="1"/>
          </p:cNvSpPr>
          <p:nvPr/>
        </p:nvSpPr>
        <p:spPr>
          <a:xfrm>
            <a:off x="1878451" y="5026654"/>
            <a:ext cx="952500" cy="228600"/>
          </a:xfrm>
          <a:prstGeom prst="rect">
            <a:avLst/>
          </a:prstGeom>
          <a:noFill/>
          <a:ln w="0">
            <a:noFill/>
          </a:ln>
        </p:spPr>
        <p:txBody>
          <a:bodyPr wrap="none" lIns="0" tIns="0" rIns="0" bIns="0" anchor="ctr">
            <a:noAutofit/>
          </a:bodyPr>
          <a:lstStyle/>
          <a:p>
            <a:pPr algn="ctr">
              <a:defRPr sz="1275" b="1">
                <a:solidFill>
                  <a:srgbClr val="0B2344"/>
                </a:solidFill>
                <a:latin typeface="Microsoft YaHei"/>
                <a:ea typeface="Microsoft YaHei"/>
                <a:cs typeface="Microsoft YaHei"/>
              </a:defRPr>
            </a:pPr>
            <a:r>
              <a:rPr sz="1275"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rPr>
              <a:t>B </a:t>
            </a:r>
            <a:r>
              <a:rPr sz="1275" dirty="0" err="1">
                <a:solidFill>
                  <a:schemeClr val="tx1">
                    <a:lumMod val="95000"/>
                    <a:lumOff val="5000"/>
                  </a:schemeClr>
                </a:solidFill>
                <a:latin typeface="Times New Roman" panose="02020603050405020304" pitchFamily="18" charset="0"/>
                <a:ea typeface="Microsoft YaHei"/>
                <a:cs typeface="Times New Roman" panose="02020603050405020304" pitchFamily="18" charset="0"/>
              </a:rPr>
              <a:t>复用</a:t>
            </a:r>
            <a:endParaRPr sz="1275" dirty="0">
              <a:solidFill>
                <a:schemeClr val="tx1">
                  <a:lumMod val="95000"/>
                  <a:lumOff val="5000"/>
                </a:schemeClr>
              </a:solidFill>
              <a:latin typeface="Times New Roman" panose="02020603050405020304" pitchFamily="18" charset="0"/>
              <a:ea typeface="Microsoft YaHei"/>
              <a:cs typeface="Times New Roman" panose="02020603050405020304" pitchFamily="18" charset="0"/>
            </a:endParaRPr>
          </a:p>
        </p:txBody>
      </p:sp>
      <p:sp>
        <p:nvSpPr>
          <p:cNvPr id="131" name="p2-line42">
            <a:extLst>
              <a:ext uri="{FF2B5EF4-FFF2-40B4-BE49-F238E27FC236}">
                <a16:creationId xmlns:a16="http://schemas.microsoft.com/office/drawing/2014/main" id="{74CD4301-D179-464F-A013-40AEF6AC452C}"/>
              </a:ext>
            </a:extLst>
          </p:cNvPr>
          <p:cNvSpPr>
            <a:spLocks noGrp="1"/>
          </p:cNvSpPr>
          <p:nvPr/>
        </p:nvSpPr>
        <p:spPr>
          <a:xfrm>
            <a:off x="3707251" y="4883779"/>
            <a:ext cx="9525" cy="123825"/>
          </a:xfrm>
          <a:custGeom>
            <a:avLst/>
            <a:gdLst/>
            <a:ahLst/>
            <a:cxnLst/>
            <a:rect l="0" t="0" r="0" b="0"/>
            <a:pathLst>
              <a:path w="9525" h="123825">
                <a:moveTo>
                  <a:pt x="0" y="0"/>
                </a:moveTo>
                <a:lnTo>
                  <a:pt x="0" y="123825"/>
                </a:lnTo>
              </a:path>
            </a:pathLst>
          </a:custGeom>
          <a:noFill/>
          <a:ln w="14288">
            <a:solidFill>
              <a:schemeClr val="tx1">
                <a:lumMod val="95000"/>
                <a:lumOff val="5000"/>
              </a:schemeClr>
            </a:solidFill>
            <a:prstDash val="solid"/>
          </a:ln>
        </p:spPr>
      </p:sp>
      <p:sp>
        <p:nvSpPr>
          <p:cNvPr id="132" name="p2-o43">
            <a:extLst>
              <a:ext uri="{FF2B5EF4-FFF2-40B4-BE49-F238E27FC236}">
                <a16:creationId xmlns:a16="http://schemas.microsoft.com/office/drawing/2014/main" id="{22A1DADA-4FE4-4F60-BE52-A2A0D263CE17}"/>
              </a:ext>
            </a:extLst>
          </p:cNvPr>
          <p:cNvSpPr>
            <a:spLocks noGrp="1"/>
          </p:cNvSpPr>
          <p:nvPr/>
        </p:nvSpPr>
        <p:spPr>
          <a:xfrm>
            <a:off x="3673914" y="4940929"/>
            <a:ext cx="66675" cy="66675"/>
          </a:xfrm>
          <a:custGeom>
            <a:avLst/>
            <a:gdLst/>
            <a:ahLst/>
            <a:cxnLst/>
            <a:rect l="0" t="0" r="0" b="0"/>
            <a:pathLst>
              <a:path w="66675" h="66675">
                <a:moveTo>
                  <a:pt x="33338" y="66675"/>
                </a:moveTo>
                <a:lnTo>
                  <a:pt x="66675" y="0"/>
                </a:lnTo>
                <a:lnTo>
                  <a:pt x="0" y="0"/>
                </a:lnTo>
                <a:close/>
              </a:path>
            </a:pathLst>
          </a:custGeom>
          <a:solidFill>
            <a:srgbClr val="0B2344"/>
          </a:solidFill>
          <a:ln w="9525">
            <a:solidFill>
              <a:schemeClr val="tx1">
                <a:lumMod val="95000"/>
                <a:lumOff val="5000"/>
              </a:schemeClr>
            </a:solidFill>
          </a:ln>
        </p:spPr>
      </p:sp>
      <p:sp>
        <p:nvSpPr>
          <p:cNvPr id="133" name="p2-o44">
            <a:extLst>
              <a:ext uri="{FF2B5EF4-FFF2-40B4-BE49-F238E27FC236}">
                <a16:creationId xmlns:a16="http://schemas.microsoft.com/office/drawing/2014/main" id="{B1E24232-C937-4FF7-BDC2-00BBF85B8B1B}"/>
              </a:ext>
            </a:extLst>
          </p:cNvPr>
          <p:cNvSpPr>
            <a:spLocks noGrp="1"/>
          </p:cNvSpPr>
          <p:nvPr/>
        </p:nvSpPr>
        <p:spPr>
          <a:xfrm>
            <a:off x="3231001" y="5026654"/>
            <a:ext cx="952500" cy="228600"/>
          </a:xfrm>
          <a:prstGeom prst="rect">
            <a:avLst/>
          </a:prstGeom>
          <a:noFill/>
          <a:ln w="0">
            <a:noFill/>
          </a:ln>
        </p:spPr>
        <p:txBody>
          <a:bodyPr wrap="none" lIns="0" tIns="0" rIns="0" bIns="0" anchor="ctr">
            <a:noAutofit/>
          </a:bodyPr>
          <a:lstStyle/>
          <a:p>
            <a:pPr algn="ctr">
              <a:defRPr sz="1275" b="1">
                <a:solidFill>
                  <a:srgbClr val="0B2344"/>
                </a:solidFill>
                <a:latin typeface="Microsoft YaHei"/>
                <a:ea typeface="Microsoft YaHei"/>
                <a:cs typeface="Microsoft YaHei"/>
              </a:defRPr>
            </a:pPr>
            <a:r>
              <a:rPr sz="1275">
                <a:solidFill>
                  <a:schemeClr val="tx1">
                    <a:lumMod val="95000"/>
                    <a:lumOff val="5000"/>
                  </a:schemeClr>
                </a:solidFill>
                <a:latin typeface="Times New Roman" panose="02020603050405020304" pitchFamily="18" charset="0"/>
                <a:ea typeface="Microsoft YaHei"/>
                <a:cs typeface="Times New Roman" panose="02020603050405020304" pitchFamily="18" charset="0"/>
              </a:rPr>
              <a:t>C 复用</a:t>
            </a:r>
          </a:p>
        </p:txBody>
      </p:sp>
      <p:sp>
        <p:nvSpPr>
          <p:cNvPr id="136" name="p2-o46">
            <a:extLst>
              <a:ext uri="{FF2B5EF4-FFF2-40B4-BE49-F238E27FC236}">
                <a16:creationId xmlns:a16="http://schemas.microsoft.com/office/drawing/2014/main" id="{FAE9C0E6-BC9A-475B-BD1F-B40D8816B3EB}"/>
              </a:ext>
            </a:extLst>
          </p:cNvPr>
          <p:cNvSpPr>
            <a:spLocks noGrp="1"/>
          </p:cNvSpPr>
          <p:nvPr/>
        </p:nvSpPr>
        <p:spPr>
          <a:xfrm>
            <a:off x="4762371" y="2561063"/>
            <a:ext cx="790575" cy="809625"/>
          </a:xfrm>
          <a:prstGeom prst="roundRect">
            <a:avLst>
              <a:gd name="adj" fmla="val 7229"/>
            </a:avLst>
          </a:prstGeom>
          <a:solidFill>
            <a:schemeClr val="accent2">
              <a:lumMod val="20000"/>
              <a:lumOff val="80000"/>
            </a:schemeClr>
          </a:solidFill>
          <a:ln w="9525">
            <a:solidFill>
              <a:srgbClr val="F0BBC5"/>
            </a:solidFill>
          </a:ln>
        </p:spPr>
      </p:sp>
      <p:sp>
        <p:nvSpPr>
          <p:cNvPr id="137" name="p2-o47">
            <a:extLst>
              <a:ext uri="{FF2B5EF4-FFF2-40B4-BE49-F238E27FC236}">
                <a16:creationId xmlns:a16="http://schemas.microsoft.com/office/drawing/2014/main" id="{FD320BB9-D18D-4F1F-AA93-EF45772E8C93}"/>
              </a:ext>
            </a:extLst>
          </p:cNvPr>
          <p:cNvSpPr>
            <a:spLocks noGrp="1"/>
          </p:cNvSpPr>
          <p:nvPr/>
        </p:nvSpPr>
        <p:spPr>
          <a:xfrm>
            <a:off x="4829046" y="2589638"/>
            <a:ext cx="657225" cy="752475"/>
          </a:xfrm>
          <a:prstGeom prst="rect">
            <a:avLst/>
          </a:prstGeom>
          <a:noFill/>
          <a:ln w="0">
            <a:noFill/>
          </a:ln>
        </p:spPr>
        <p:txBody>
          <a:bodyPr wrap="none" lIns="0" tIns="0" rIns="0" bIns="0" anchor="ctr">
            <a:noAutofit/>
          </a:bodyPr>
          <a:lstStyle/>
          <a:p>
            <a:pPr algn="ctr">
              <a:defRPr sz="1088" b="1">
                <a:solidFill>
                  <a:srgbClr val="DB0019"/>
                </a:solidFill>
                <a:latin typeface="Microsoft YaHei"/>
                <a:ea typeface="Microsoft YaHei"/>
                <a:cs typeface="Microsoft YaHei"/>
              </a:defRPr>
            </a:pPr>
            <a:r>
              <a:rPr sz="1200" dirty="0">
                <a:solidFill>
                  <a:srgbClr val="C00000"/>
                </a:solidFill>
                <a:latin typeface="Times New Roman" panose="02020603050405020304" pitchFamily="18" charset="0"/>
                <a:cs typeface="Times New Roman" panose="02020603050405020304" pitchFamily="18" charset="0"/>
              </a:rPr>
              <a:t>Compute</a:t>
            </a:r>
          </a:p>
          <a:p>
            <a:pPr algn="ctr">
              <a:defRPr sz="1088" b="1">
                <a:solidFill>
                  <a:srgbClr val="DB0019"/>
                </a:solidFill>
                <a:latin typeface="Microsoft YaHei"/>
                <a:ea typeface="Microsoft YaHei"/>
                <a:cs typeface="Microsoft YaHei"/>
              </a:defRPr>
            </a:pPr>
            <a:r>
              <a:rPr sz="1200" dirty="0">
                <a:solidFill>
                  <a:srgbClr val="C00000"/>
                </a:solidFill>
                <a:latin typeface="Times New Roman" panose="02020603050405020304" pitchFamily="18" charset="0"/>
                <a:cs typeface="Times New Roman" panose="02020603050405020304" pitchFamily="18" charset="0"/>
              </a:rPr>
              <a:t>Stream</a:t>
            </a:r>
          </a:p>
          <a:p>
            <a:pPr algn="ctr">
              <a:defRPr sz="1088" b="1">
                <a:solidFill>
                  <a:srgbClr val="DB0019"/>
                </a:solidFill>
                <a:latin typeface="Microsoft YaHei"/>
                <a:ea typeface="Microsoft YaHei"/>
                <a:cs typeface="Microsoft YaHei"/>
              </a:defRPr>
            </a:pPr>
            <a:r>
              <a:rPr lang="zh-CN" altLang="en-US" sz="1200" dirty="0">
                <a:solidFill>
                  <a:srgbClr val="C00000"/>
                </a:solidFill>
                <a:latin typeface="Times New Roman" panose="02020603050405020304" pitchFamily="18" charset="0"/>
                <a:cs typeface="Times New Roman" panose="02020603050405020304" pitchFamily="18" charset="0"/>
              </a:rPr>
              <a:t>计算</a:t>
            </a:r>
            <a:r>
              <a:rPr sz="1200" dirty="0">
                <a:solidFill>
                  <a:srgbClr val="C00000"/>
                </a:solidFill>
                <a:latin typeface="Times New Roman" panose="02020603050405020304" pitchFamily="18" charset="0"/>
                <a:cs typeface="Times New Roman" panose="02020603050405020304" pitchFamily="18" charset="0"/>
              </a:rPr>
              <a:t>流</a:t>
            </a:r>
          </a:p>
        </p:txBody>
      </p:sp>
      <p:sp>
        <p:nvSpPr>
          <p:cNvPr id="138" name="p2-o48">
            <a:extLst>
              <a:ext uri="{FF2B5EF4-FFF2-40B4-BE49-F238E27FC236}">
                <a16:creationId xmlns:a16="http://schemas.microsoft.com/office/drawing/2014/main" id="{2EA76F4E-9486-4329-8CCE-D6E3ECEC8D5A}"/>
              </a:ext>
            </a:extLst>
          </p:cNvPr>
          <p:cNvSpPr>
            <a:spLocks noGrp="1"/>
          </p:cNvSpPr>
          <p:nvPr/>
        </p:nvSpPr>
        <p:spPr>
          <a:xfrm>
            <a:off x="4762371" y="4142213"/>
            <a:ext cx="790575" cy="847725"/>
          </a:xfrm>
          <a:prstGeom prst="roundRect">
            <a:avLst>
              <a:gd name="adj" fmla="val 7229"/>
            </a:avLst>
          </a:prstGeom>
          <a:solidFill>
            <a:schemeClr val="accent1">
              <a:lumMod val="40000"/>
              <a:lumOff val="60000"/>
            </a:schemeClr>
          </a:solidFill>
          <a:ln w="9525">
            <a:solidFill>
              <a:srgbClr val="B8D7FB"/>
            </a:solidFill>
          </a:ln>
        </p:spPr>
      </p:sp>
      <p:sp>
        <p:nvSpPr>
          <p:cNvPr id="139" name="p2-o49">
            <a:extLst>
              <a:ext uri="{FF2B5EF4-FFF2-40B4-BE49-F238E27FC236}">
                <a16:creationId xmlns:a16="http://schemas.microsoft.com/office/drawing/2014/main" id="{2949F96D-0142-4905-83FB-0BE29309714F}"/>
              </a:ext>
            </a:extLst>
          </p:cNvPr>
          <p:cNvSpPr>
            <a:spLocks noGrp="1"/>
          </p:cNvSpPr>
          <p:nvPr/>
        </p:nvSpPr>
        <p:spPr>
          <a:xfrm>
            <a:off x="4829046" y="4170788"/>
            <a:ext cx="657225" cy="790575"/>
          </a:xfrm>
          <a:prstGeom prst="rect">
            <a:avLst/>
          </a:prstGeom>
          <a:noFill/>
          <a:ln w="0">
            <a:noFill/>
          </a:ln>
        </p:spPr>
        <p:txBody>
          <a:bodyPr wrap="none" lIns="0" tIns="0" rIns="0" bIns="0" anchor="ctr">
            <a:noAutofit/>
          </a:bodyPr>
          <a:lstStyle/>
          <a:p>
            <a:pPr algn="ctr">
              <a:defRPr sz="120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Transfer</a:t>
            </a:r>
          </a:p>
          <a:p>
            <a:pPr algn="ctr">
              <a:defRPr sz="120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Stream</a:t>
            </a:r>
          </a:p>
          <a:p>
            <a:pPr algn="ctr">
              <a:defRPr sz="120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传输流</a:t>
            </a:r>
          </a:p>
        </p:txBody>
      </p:sp>
      <p:sp>
        <p:nvSpPr>
          <p:cNvPr id="140" name="p2-line50">
            <a:extLst>
              <a:ext uri="{FF2B5EF4-FFF2-40B4-BE49-F238E27FC236}">
                <a16:creationId xmlns:a16="http://schemas.microsoft.com/office/drawing/2014/main" id="{92AF1107-F55E-4CA1-8A52-7619FF1EABAD}"/>
              </a:ext>
            </a:extLst>
          </p:cNvPr>
          <p:cNvSpPr>
            <a:spLocks noGrp="1"/>
          </p:cNvSpPr>
          <p:nvPr/>
        </p:nvSpPr>
        <p:spPr>
          <a:xfrm>
            <a:off x="5626485" y="3342113"/>
            <a:ext cx="3009900" cy="9525"/>
          </a:xfrm>
          <a:custGeom>
            <a:avLst/>
            <a:gdLst/>
            <a:ahLst/>
            <a:cxnLst/>
            <a:rect l="0" t="0" r="0" b="0"/>
            <a:pathLst>
              <a:path w="3009900" h="9525">
                <a:moveTo>
                  <a:pt x="0" y="0"/>
                </a:moveTo>
                <a:lnTo>
                  <a:pt x="3009900" y="0"/>
                </a:lnTo>
              </a:path>
            </a:pathLst>
          </a:custGeom>
          <a:noFill/>
          <a:ln w="14288">
            <a:solidFill>
              <a:srgbClr val="0B2344"/>
            </a:solidFill>
            <a:prstDash val="solid"/>
          </a:ln>
        </p:spPr>
      </p:sp>
      <p:sp>
        <p:nvSpPr>
          <p:cNvPr id="141" name="p2-o51">
            <a:extLst>
              <a:ext uri="{FF2B5EF4-FFF2-40B4-BE49-F238E27FC236}">
                <a16:creationId xmlns:a16="http://schemas.microsoft.com/office/drawing/2014/main" id="{06346EED-0EE5-42FC-A62D-CC78E3239E38}"/>
              </a:ext>
            </a:extLst>
          </p:cNvPr>
          <p:cNvSpPr>
            <a:spLocks noGrp="1"/>
          </p:cNvSpPr>
          <p:nvPr/>
        </p:nvSpPr>
        <p:spPr>
          <a:xfrm>
            <a:off x="8569710" y="3308776"/>
            <a:ext cx="66675" cy="66675"/>
          </a:xfrm>
          <a:custGeom>
            <a:avLst/>
            <a:gdLst/>
            <a:ahLst/>
            <a:cxnLst/>
            <a:rect l="0" t="0" r="0" b="0"/>
            <a:pathLst>
              <a:path w="66675" h="66675">
                <a:moveTo>
                  <a:pt x="66675" y="33338"/>
                </a:moveTo>
                <a:lnTo>
                  <a:pt x="0" y="0"/>
                </a:lnTo>
                <a:lnTo>
                  <a:pt x="0" y="66675"/>
                </a:lnTo>
                <a:close/>
              </a:path>
            </a:pathLst>
          </a:custGeom>
          <a:solidFill>
            <a:srgbClr val="0B2344"/>
          </a:solidFill>
          <a:ln w="9525">
            <a:noFill/>
          </a:ln>
        </p:spPr>
      </p:sp>
      <p:sp>
        <p:nvSpPr>
          <p:cNvPr id="142" name="p2-line52">
            <a:extLst>
              <a:ext uri="{FF2B5EF4-FFF2-40B4-BE49-F238E27FC236}">
                <a16:creationId xmlns:a16="http://schemas.microsoft.com/office/drawing/2014/main" id="{E27A7C4F-85FD-4D1D-A75C-7BFE15ED61E4}"/>
              </a:ext>
            </a:extLst>
          </p:cNvPr>
          <p:cNvSpPr>
            <a:spLocks noGrp="1"/>
          </p:cNvSpPr>
          <p:nvPr/>
        </p:nvSpPr>
        <p:spPr>
          <a:xfrm>
            <a:off x="5620190" y="4922229"/>
            <a:ext cx="3009900" cy="9525"/>
          </a:xfrm>
          <a:custGeom>
            <a:avLst/>
            <a:gdLst/>
            <a:ahLst/>
            <a:cxnLst/>
            <a:rect l="0" t="0" r="0" b="0"/>
            <a:pathLst>
              <a:path w="3009900" h="9525">
                <a:moveTo>
                  <a:pt x="0" y="0"/>
                </a:moveTo>
                <a:lnTo>
                  <a:pt x="3009900" y="0"/>
                </a:lnTo>
              </a:path>
            </a:pathLst>
          </a:custGeom>
          <a:noFill/>
          <a:ln w="14288">
            <a:solidFill>
              <a:srgbClr val="0B2344"/>
            </a:solidFill>
            <a:prstDash val="solid"/>
          </a:ln>
        </p:spPr>
      </p:sp>
      <p:sp>
        <p:nvSpPr>
          <p:cNvPr id="143" name="p2-o53">
            <a:extLst>
              <a:ext uri="{FF2B5EF4-FFF2-40B4-BE49-F238E27FC236}">
                <a16:creationId xmlns:a16="http://schemas.microsoft.com/office/drawing/2014/main" id="{FBBE38BE-F070-4C40-8CB2-E158869AC85C}"/>
              </a:ext>
            </a:extLst>
          </p:cNvPr>
          <p:cNvSpPr>
            <a:spLocks noGrp="1"/>
          </p:cNvSpPr>
          <p:nvPr/>
        </p:nvSpPr>
        <p:spPr>
          <a:xfrm>
            <a:off x="8563415" y="4888892"/>
            <a:ext cx="66675" cy="66675"/>
          </a:xfrm>
          <a:custGeom>
            <a:avLst/>
            <a:gdLst/>
            <a:ahLst/>
            <a:cxnLst/>
            <a:rect l="0" t="0" r="0" b="0"/>
            <a:pathLst>
              <a:path w="66675" h="66675">
                <a:moveTo>
                  <a:pt x="66675" y="33338"/>
                </a:moveTo>
                <a:lnTo>
                  <a:pt x="0" y="0"/>
                </a:lnTo>
                <a:lnTo>
                  <a:pt x="0" y="66675"/>
                </a:lnTo>
                <a:close/>
              </a:path>
            </a:pathLst>
          </a:custGeom>
          <a:solidFill>
            <a:srgbClr val="0B2344"/>
          </a:solidFill>
          <a:ln w="9525">
            <a:noFill/>
          </a:ln>
        </p:spPr>
      </p:sp>
      <p:sp>
        <p:nvSpPr>
          <p:cNvPr id="144" name="p2-o54">
            <a:extLst>
              <a:ext uri="{FF2B5EF4-FFF2-40B4-BE49-F238E27FC236}">
                <a16:creationId xmlns:a16="http://schemas.microsoft.com/office/drawing/2014/main" id="{99DC0221-27A7-4C7D-9557-2BB6D8FBAA4B}"/>
              </a:ext>
            </a:extLst>
          </p:cNvPr>
          <p:cNvSpPr>
            <a:spLocks noGrp="1"/>
          </p:cNvSpPr>
          <p:nvPr/>
        </p:nvSpPr>
        <p:spPr>
          <a:xfrm>
            <a:off x="5705346" y="2732513"/>
            <a:ext cx="962025" cy="514350"/>
          </a:xfrm>
          <a:prstGeom prst="roundRect">
            <a:avLst>
              <a:gd name="adj" fmla="val 11111"/>
            </a:avLst>
          </a:prstGeom>
          <a:solidFill>
            <a:schemeClr val="accent2">
              <a:lumMod val="20000"/>
              <a:lumOff val="80000"/>
            </a:schemeClr>
          </a:solidFill>
          <a:ln w="9525">
            <a:solidFill>
              <a:srgbClr val="EEA5B2"/>
            </a:solidFill>
          </a:ln>
        </p:spPr>
      </p:sp>
      <p:sp>
        <p:nvSpPr>
          <p:cNvPr id="145" name="p2-o55">
            <a:extLst>
              <a:ext uri="{FF2B5EF4-FFF2-40B4-BE49-F238E27FC236}">
                <a16:creationId xmlns:a16="http://schemas.microsoft.com/office/drawing/2014/main" id="{7F4EE351-F436-44B4-8049-78C044E21CB7}"/>
              </a:ext>
            </a:extLst>
          </p:cNvPr>
          <p:cNvSpPr>
            <a:spLocks noGrp="1"/>
          </p:cNvSpPr>
          <p:nvPr/>
        </p:nvSpPr>
        <p:spPr>
          <a:xfrm>
            <a:off x="5772021" y="2761088"/>
            <a:ext cx="828675" cy="457200"/>
          </a:xfrm>
          <a:prstGeom prst="rect">
            <a:avLst/>
          </a:prstGeom>
          <a:noFill/>
          <a:ln w="0">
            <a:noFill/>
          </a:ln>
        </p:spPr>
        <p:txBody>
          <a:bodyPr wrap="none" lIns="0" tIns="0" rIns="0" bIns="0" anchor="ctr">
            <a:noAutofit/>
          </a:bodyPr>
          <a:lstStyle/>
          <a:p>
            <a:pPr algn="ctr">
              <a:defRPr sz="120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Prefill /</a:t>
            </a:r>
          </a:p>
          <a:p>
            <a:pPr algn="ctr">
              <a:defRPr sz="1200"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Attention</a:t>
            </a:r>
          </a:p>
        </p:txBody>
      </p:sp>
      <p:sp>
        <p:nvSpPr>
          <p:cNvPr id="146" name="p2-o56">
            <a:extLst>
              <a:ext uri="{FF2B5EF4-FFF2-40B4-BE49-F238E27FC236}">
                <a16:creationId xmlns:a16="http://schemas.microsoft.com/office/drawing/2014/main" id="{26039121-F6B1-4266-908D-DF24B015FC7B}"/>
              </a:ext>
            </a:extLst>
          </p:cNvPr>
          <p:cNvSpPr>
            <a:spLocks noGrp="1"/>
          </p:cNvSpPr>
          <p:nvPr/>
        </p:nvSpPr>
        <p:spPr>
          <a:xfrm>
            <a:off x="6848346" y="2732513"/>
            <a:ext cx="742950" cy="514350"/>
          </a:xfrm>
          <a:prstGeom prst="roundRect">
            <a:avLst>
              <a:gd name="adj" fmla="val 11111"/>
            </a:avLst>
          </a:prstGeom>
          <a:solidFill>
            <a:schemeClr val="accent2">
              <a:lumMod val="20000"/>
              <a:lumOff val="80000"/>
            </a:schemeClr>
          </a:solidFill>
          <a:ln w="9525">
            <a:solidFill>
              <a:srgbClr val="EEA5B2"/>
            </a:solidFill>
          </a:ln>
        </p:spPr>
      </p:sp>
      <p:sp>
        <p:nvSpPr>
          <p:cNvPr id="147" name="p2-o57">
            <a:extLst>
              <a:ext uri="{FF2B5EF4-FFF2-40B4-BE49-F238E27FC236}">
                <a16:creationId xmlns:a16="http://schemas.microsoft.com/office/drawing/2014/main" id="{F98BC231-61AF-4C89-AEF3-5E9E62245767}"/>
              </a:ext>
            </a:extLst>
          </p:cNvPr>
          <p:cNvSpPr>
            <a:spLocks noGrp="1"/>
          </p:cNvSpPr>
          <p:nvPr/>
        </p:nvSpPr>
        <p:spPr>
          <a:xfrm>
            <a:off x="6915021" y="2761088"/>
            <a:ext cx="609600" cy="457200"/>
          </a:xfrm>
          <a:prstGeom prst="rect">
            <a:avLst/>
          </a:prstGeom>
          <a:noFill/>
          <a:ln w="0">
            <a:noFill/>
          </a:ln>
        </p:spPr>
        <p:txBody>
          <a:bodyPr wrap="none" lIns="0" tIns="0" rIns="0" bIns="0" anchor="ctr">
            <a:noAutofit/>
          </a:bodyPr>
          <a:lstStyle/>
          <a:p>
            <a:pPr algn="ctr">
              <a:defRPr sz="969" b="1">
                <a:solidFill>
                  <a:srgbClr val="0B2344"/>
                </a:solidFill>
                <a:latin typeface="Microsoft YaHei"/>
                <a:ea typeface="Microsoft YaHei"/>
                <a:cs typeface="Microsoft YaHei"/>
              </a:defRPr>
            </a:pPr>
            <a:r>
              <a:rPr sz="1200" dirty="0">
                <a:solidFill>
                  <a:schemeClr val="tx1">
                    <a:lumMod val="95000"/>
                    <a:lumOff val="5000"/>
                  </a:schemeClr>
                </a:solidFill>
                <a:latin typeface="Times New Roman" panose="02020603050405020304" pitchFamily="18" charset="0"/>
                <a:cs typeface="Times New Roman" panose="02020603050405020304" pitchFamily="18" charset="0"/>
              </a:rPr>
              <a:t>Attention</a:t>
            </a:r>
          </a:p>
        </p:txBody>
      </p:sp>
      <p:sp>
        <p:nvSpPr>
          <p:cNvPr id="148" name="p2-o58">
            <a:extLst>
              <a:ext uri="{FF2B5EF4-FFF2-40B4-BE49-F238E27FC236}">
                <a16:creationId xmlns:a16="http://schemas.microsoft.com/office/drawing/2014/main" id="{8E85D25A-2DEC-4DFE-A87B-E203950626E7}"/>
              </a:ext>
            </a:extLst>
          </p:cNvPr>
          <p:cNvSpPr>
            <a:spLocks noGrp="1"/>
          </p:cNvSpPr>
          <p:nvPr/>
        </p:nvSpPr>
        <p:spPr>
          <a:xfrm>
            <a:off x="7800846" y="2732513"/>
            <a:ext cx="742950" cy="514350"/>
          </a:xfrm>
          <a:prstGeom prst="roundRect">
            <a:avLst>
              <a:gd name="adj" fmla="val 11111"/>
            </a:avLst>
          </a:prstGeom>
          <a:solidFill>
            <a:schemeClr val="accent2">
              <a:lumMod val="20000"/>
              <a:lumOff val="80000"/>
            </a:schemeClr>
          </a:solidFill>
          <a:ln w="9525">
            <a:solidFill>
              <a:srgbClr val="EEA5B2"/>
            </a:solidFill>
          </a:ln>
        </p:spPr>
      </p:sp>
      <p:sp>
        <p:nvSpPr>
          <p:cNvPr id="149" name="p2-o59">
            <a:extLst>
              <a:ext uri="{FF2B5EF4-FFF2-40B4-BE49-F238E27FC236}">
                <a16:creationId xmlns:a16="http://schemas.microsoft.com/office/drawing/2014/main" id="{7FC3CD52-D4BE-4D5A-BB54-C8047868836A}"/>
              </a:ext>
            </a:extLst>
          </p:cNvPr>
          <p:cNvSpPr>
            <a:spLocks noGrp="1"/>
          </p:cNvSpPr>
          <p:nvPr/>
        </p:nvSpPr>
        <p:spPr>
          <a:xfrm>
            <a:off x="7867521" y="2761088"/>
            <a:ext cx="609600" cy="457200"/>
          </a:xfrm>
          <a:prstGeom prst="rect">
            <a:avLst/>
          </a:prstGeom>
          <a:noFill/>
          <a:ln w="0">
            <a:noFill/>
          </a:ln>
        </p:spPr>
        <p:txBody>
          <a:bodyPr wrap="none" lIns="0" tIns="0" rIns="0" bIns="0" anchor="ctr">
            <a:noAutofit/>
          </a:bodyPr>
          <a:lstStyle/>
          <a:p>
            <a:pPr algn="ctr">
              <a:defRPr sz="969"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Attention</a:t>
            </a:r>
          </a:p>
        </p:txBody>
      </p:sp>
      <p:sp>
        <p:nvSpPr>
          <p:cNvPr id="150" name="p2-o60">
            <a:extLst>
              <a:ext uri="{FF2B5EF4-FFF2-40B4-BE49-F238E27FC236}">
                <a16:creationId xmlns:a16="http://schemas.microsoft.com/office/drawing/2014/main" id="{9394C46B-75F1-4494-AC54-0085208BAD3C}"/>
              </a:ext>
            </a:extLst>
          </p:cNvPr>
          <p:cNvSpPr>
            <a:spLocks noGrp="1"/>
          </p:cNvSpPr>
          <p:nvPr/>
        </p:nvSpPr>
        <p:spPr>
          <a:xfrm>
            <a:off x="5705346" y="4408913"/>
            <a:ext cx="581025" cy="428625"/>
          </a:xfrm>
          <a:prstGeom prst="roundRect">
            <a:avLst>
              <a:gd name="adj" fmla="val 13333"/>
            </a:avLst>
          </a:prstGeom>
          <a:solidFill>
            <a:schemeClr val="accent1">
              <a:lumMod val="40000"/>
              <a:lumOff val="60000"/>
            </a:schemeClr>
          </a:solidFill>
          <a:ln w="9525">
            <a:solidFill>
              <a:srgbClr val="AACDF8"/>
            </a:solidFill>
          </a:ln>
        </p:spPr>
      </p:sp>
      <p:sp>
        <p:nvSpPr>
          <p:cNvPr id="151" name="p2-o61">
            <a:extLst>
              <a:ext uri="{FF2B5EF4-FFF2-40B4-BE49-F238E27FC236}">
                <a16:creationId xmlns:a16="http://schemas.microsoft.com/office/drawing/2014/main" id="{A10A583A-5D26-49D6-AB33-237D5A82C542}"/>
              </a:ext>
            </a:extLst>
          </p:cNvPr>
          <p:cNvSpPr>
            <a:spLocks noGrp="1"/>
          </p:cNvSpPr>
          <p:nvPr/>
        </p:nvSpPr>
        <p:spPr>
          <a:xfrm>
            <a:off x="5772021" y="4437488"/>
            <a:ext cx="447675" cy="371475"/>
          </a:xfrm>
          <a:prstGeom prst="rect">
            <a:avLst/>
          </a:prstGeom>
          <a:noFill/>
          <a:ln w="0">
            <a:noFill/>
          </a:ln>
        </p:spPr>
        <p:txBody>
          <a:bodyPr wrap="none" lIns="0" tIns="0" rIns="0" bIns="0" anchor="ctr">
            <a:noAutofit/>
          </a:bodyPr>
          <a:lstStyle/>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Pack</a:t>
            </a:r>
          </a:p>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MLU</a:t>
            </a:r>
          </a:p>
        </p:txBody>
      </p:sp>
      <p:sp>
        <p:nvSpPr>
          <p:cNvPr id="152" name="p2-o62">
            <a:extLst>
              <a:ext uri="{FF2B5EF4-FFF2-40B4-BE49-F238E27FC236}">
                <a16:creationId xmlns:a16="http://schemas.microsoft.com/office/drawing/2014/main" id="{A1DFDF96-123C-4B56-A656-F25E93A82B03}"/>
              </a:ext>
            </a:extLst>
          </p:cNvPr>
          <p:cNvSpPr>
            <a:spLocks noGrp="1"/>
          </p:cNvSpPr>
          <p:nvPr/>
        </p:nvSpPr>
        <p:spPr>
          <a:xfrm>
            <a:off x="6286371" y="4408913"/>
            <a:ext cx="619125" cy="428625"/>
          </a:xfrm>
          <a:prstGeom prst="roundRect">
            <a:avLst>
              <a:gd name="adj" fmla="val 13333"/>
            </a:avLst>
          </a:prstGeom>
          <a:solidFill>
            <a:schemeClr val="accent1">
              <a:lumMod val="40000"/>
              <a:lumOff val="60000"/>
            </a:schemeClr>
          </a:solidFill>
          <a:ln w="9525">
            <a:solidFill>
              <a:srgbClr val="AACDF8"/>
            </a:solidFill>
          </a:ln>
        </p:spPr>
      </p:sp>
      <p:sp>
        <p:nvSpPr>
          <p:cNvPr id="153" name="p2-o63">
            <a:extLst>
              <a:ext uri="{FF2B5EF4-FFF2-40B4-BE49-F238E27FC236}">
                <a16:creationId xmlns:a16="http://schemas.microsoft.com/office/drawing/2014/main" id="{79DC62D2-ABBC-4452-8CCB-6AB9875091EB}"/>
              </a:ext>
            </a:extLst>
          </p:cNvPr>
          <p:cNvSpPr>
            <a:spLocks noGrp="1"/>
          </p:cNvSpPr>
          <p:nvPr/>
        </p:nvSpPr>
        <p:spPr>
          <a:xfrm>
            <a:off x="6353046" y="4437488"/>
            <a:ext cx="485775" cy="371475"/>
          </a:xfrm>
          <a:prstGeom prst="rect">
            <a:avLst/>
          </a:prstGeom>
          <a:noFill/>
          <a:ln w="0">
            <a:noFill/>
          </a:ln>
        </p:spPr>
        <p:txBody>
          <a:bodyPr wrap="none" lIns="0" tIns="0" rIns="0" bIns="0" anchor="ctr">
            <a:noAutofit/>
          </a:bodyPr>
          <a:lstStyle/>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D2H</a:t>
            </a:r>
          </a:p>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异步</a:t>
            </a:r>
          </a:p>
        </p:txBody>
      </p:sp>
      <p:sp>
        <p:nvSpPr>
          <p:cNvPr id="154" name="p2-o64">
            <a:extLst>
              <a:ext uri="{FF2B5EF4-FFF2-40B4-BE49-F238E27FC236}">
                <a16:creationId xmlns:a16="http://schemas.microsoft.com/office/drawing/2014/main" id="{124FE86F-FF30-4448-A438-D2D5375FF4E9}"/>
              </a:ext>
            </a:extLst>
          </p:cNvPr>
          <p:cNvSpPr>
            <a:spLocks noGrp="1"/>
          </p:cNvSpPr>
          <p:nvPr/>
        </p:nvSpPr>
        <p:spPr>
          <a:xfrm>
            <a:off x="7162671" y="4408913"/>
            <a:ext cx="628650" cy="428625"/>
          </a:xfrm>
          <a:prstGeom prst="roundRect">
            <a:avLst>
              <a:gd name="adj" fmla="val 13333"/>
            </a:avLst>
          </a:prstGeom>
          <a:solidFill>
            <a:schemeClr val="accent1">
              <a:lumMod val="40000"/>
              <a:lumOff val="60000"/>
            </a:schemeClr>
          </a:solidFill>
          <a:ln w="9525">
            <a:solidFill>
              <a:srgbClr val="AACDF8"/>
            </a:solidFill>
          </a:ln>
        </p:spPr>
      </p:sp>
      <p:sp>
        <p:nvSpPr>
          <p:cNvPr id="155" name="p2-o65">
            <a:extLst>
              <a:ext uri="{FF2B5EF4-FFF2-40B4-BE49-F238E27FC236}">
                <a16:creationId xmlns:a16="http://schemas.microsoft.com/office/drawing/2014/main" id="{FA307D9D-D182-4A90-8AC3-572A8ADFBEED}"/>
              </a:ext>
            </a:extLst>
          </p:cNvPr>
          <p:cNvSpPr>
            <a:spLocks noGrp="1"/>
          </p:cNvSpPr>
          <p:nvPr/>
        </p:nvSpPr>
        <p:spPr>
          <a:xfrm>
            <a:off x="7229346" y="4437488"/>
            <a:ext cx="495300" cy="371475"/>
          </a:xfrm>
          <a:prstGeom prst="rect">
            <a:avLst/>
          </a:prstGeom>
          <a:noFill/>
          <a:ln w="0">
            <a:noFill/>
          </a:ln>
        </p:spPr>
        <p:txBody>
          <a:bodyPr wrap="none" lIns="0" tIns="0" rIns="0" bIns="0" anchor="ctr">
            <a:noAutofit/>
          </a:bodyPr>
          <a:lstStyle/>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H2D</a:t>
            </a:r>
          </a:p>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异步</a:t>
            </a:r>
          </a:p>
        </p:txBody>
      </p:sp>
      <p:sp>
        <p:nvSpPr>
          <p:cNvPr id="156" name="p2-o66">
            <a:extLst>
              <a:ext uri="{FF2B5EF4-FFF2-40B4-BE49-F238E27FC236}">
                <a16:creationId xmlns:a16="http://schemas.microsoft.com/office/drawing/2014/main" id="{C22FD0F9-51E6-41B3-B6E6-FC90F13893D6}"/>
              </a:ext>
            </a:extLst>
          </p:cNvPr>
          <p:cNvSpPr>
            <a:spLocks noGrp="1"/>
          </p:cNvSpPr>
          <p:nvPr/>
        </p:nvSpPr>
        <p:spPr>
          <a:xfrm>
            <a:off x="7791321" y="4408913"/>
            <a:ext cx="733425" cy="428625"/>
          </a:xfrm>
          <a:prstGeom prst="roundRect">
            <a:avLst>
              <a:gd name="adj" fmla="val 13333"/>
            </a:avLst>
          </a:prstGeom>
          <a:solidFill>
            <a:schemeClr val="accent1">
              <a:lumMod val="40000"/>
              <a:lumOff val="60000"/>
            </a:schemeClr>
          </a:solidFill>
          <a:ln w="9525">
            <a:solidFill>
              <a:srgbClr val="AACDF8"/>
            </a:solidFill>
          </a:ln>
        </p:spPr>
      </p:sp>
      <p:sp>
        <p:nvSpPr>
          <p:cNvPr id="157" name="p2-o67">
            <a:extLst>
              <a:ext uri="{FF2B5EF4-FFF2-40B4-BE49-F238E27FC236}">
                <a16:creationId xmlns:a16="http://schemas.microsoft.com/office/drawing/2014/main" id="{1C3F0311-272E-40C2-B618-2EE36735B07C}"/>
              </a:ext>
            </a:extLst>
          </p:cNvPr>
          <p:cNvSpPr>
            <a:spLocks noGrp="1"/>
          </p:cNvSpPr>
          <p:nvPr/>
        </p:nvSpPr>
        <p:spPr>
          <a:xfrm>
            <a:off x="7857996" y="4437488"/>
            <a:ext cx="600075" cy="371475"/>
          </a:xfrm>
          <a:prstGeom prst="rect">
            <a:avLst/>
          </a:prstGeom>
          <a:noFill/>
          <a:ln w="0">
            <a:noFill/>
          </a:ln>
        </p:spPr>
        <p:txBody>
          <a:bodyPr wrap="none" lIns="0" tIns="0" rIns="0" bIns="0" anchor="ctr">
            <a:noAutofit/>
          </a:bodyPr>
          <a:lstStyle/>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Unpack</a:t>
            </a:r>
          </a:p>
          <a:p>
            <a:pPr algn="ctr">
              <a:defRPr sz="1125" b="1">
                <a:solidFill>
                  <a:srgbClr val="0B2344"/>
                </a:solidFill>
                <a:latin typeface="Microsoft YaHei"/>
                <a:ea typeface="Microsoft YaHei"/>
                <a:cs typeface="Microsoft YaHei"/>
              </a:defRPr>
            </a:pPr>
            <a:r>
              <a:rPr sz="1200">
                <a:solidFill>
                  <a:schemeClr val="tx1">
                    <a:lumMod val="95000"/>
                    <a:lumOff val="5000"/>
                  </a:schemeClr>
                </a:solidFill>
                <a:latin typeface="Times New Roman" panose="02020603050405020304" pitchFamily="18" charset="0"/>
                <a:cs typeface="Times New Roman" panose="02020603050405020304" pitchFamily="18" charset="0"/>
              </a:rPr>
              <a:t>MLU</a:t>
            </a:r>
          </a:p>
        </p:txBody>
      </p:sp>
      <p:sp>
        <p:nvSpPr>
          <p:cNvPr id="158" name="p2-line68">
            <a:extLst>
              <a:ext uri="{FF2B5EF4-FFF2-40B4-BE49-F238E27FC236}">
                <a16:creationId xmlns:a16="http://schemas.microsoft.com/office/drawing/2014/main" id="{CA429F53-B0D6-4B84-BEE8-33545F63A3AA}"/>
              </a:ext>
            </a:extLst>
          </p:cNvPr>
          <p:cNvSpPr>
            <a:spLocks noGrp="1"/>
          </p:cNvSpPr>
          <p:nvPr/>
        </p:nvSpPr>
        <p:spPr>
          <a:xfrm>
            <a:off x="5999614" y="3261045"/>
            <a:ext cx="9525" cy="1133475"/>
          </a:xfrm>
          <a:custGeom>
            <a:avLst/>
            <a:gdLst/>
            <a:ahLst/>
            <a:cxnLst/>
            <a:rect l="0" t="0" r="0" b="0"/>
            <a:pathLst>
              <a:path w="9525" h="1133475">
                <a:moveTo>
                  <a:pt x="0" y="0"/>
                </a:moveTo>
                <a:lnTo>
                  <a:pt x="0" y="1133475"/>
                </a:lnTo>
              </a:path>
            </a:pathLst>
          </a:custGeom>
          <a:noFill/>
          <a:ln w="11430">
            <a:solidFill>
              <a:srgbClr val="DB0019"/>
            </a:solidFill>
            <a:prstDash val="dash"/>
          </a:ln>
        </p:spPr>
      </p:sp>
      <p:sp>
        <p:nvSpPr>
          <p:cNvPr id="159" name="p2-o69">
            <a:extLst>
              <a:ext uri="{FF2B5EF4-FFF2-40B4-BE49-F238E27FC236}">
                <a16:creationId xmlns:a16="http://schemas.microsoft.com/office/drawing/2014/main" id="{BFD1B2D0-ECB8-45A8-BCB7-CA800A059A98}"/>
              </a:ext>
            </a:extLst>
          </p:cNvPr>
          <p:cNvSpPr>
            <a:spLocks noGrp="1"/>
          </p:cNvSpPr>
          <p:nvPr/>
        </p:nvSpPr>
        <p:spPr>
          <a:xfrm>
            <a:off x="5966276" y="4341764"/>
            <a:ext cx="66675" cy="66675"/>
          </a:xfrm>
          <a:custGeom>
            <a:avLst/>
            <a:gdLst/>
            <a:ahLst/>
            <a:cxnLst/>
            <a:rect l="0" t="0" r="0" b="0"/>
            <a:pathLst>
              <a:path w="66675" h="66675">
                <a:moveTo>
                  <a:pt x="33338" y="66675"/>
                </a:moveTo>
                <a:lnTo>
                  <a:pt x="66675" y="0"/>
                </a:lnTo>
                <a:lnTo>
                  <a:pt x="0" y="0"/>
                </a:lnTo>
                <a:close/>
              </a:path>
            </a:pathLst>
          </a:custGeom>
          <a:solidFill>
            <a:srgbClr val="DB0019"/>
          </a:solidFill>
          <a:ln w="9525">
            <a:noFill/>
          </a:ln>
        </p:spPr>
      </p:sp>
      <p:sp>
        <p:nvSpPr>
          <p:cNvPr id="162" name="p2-o72">
            <a:extLst>
              <a:ext uri="{FF2B5EF4-FFF2-40B4-BE49-F238E27FC236}">
                <a16:creationId xmlns:a16="http://schemas.microsoft.com/office/drawing/2014/main" id="{0180BCD7-CC01-45FC-8FD3-04993827285E}"/>
              </a:ext>
            </a:extLst>
          </p:cNvPr>
          <p:cNvSpPr>
            <a:spLocks noGrp="1"/>
          </p:cNvSpPr>
          <p:nvPr/>
        </p:nvSpPr>
        <p:spPr>
          <a:xfrm>
            <a:off x="6058398" y="3355386"/>
            <a:ext cx="1257300" cy="428625"/>
          </a:xfrm>
          <a:prstGeom prst="rect">
            <a:avLst/>
          </a:prstGeom>
          <a:noFill/>
          <a:ln w="0">
            <a:noFill/>
          </a:ln>
        </p:spPr>
        <p:txBody>
          <a:bodyPr wrap="none" lIns="0" tIns="0" rIns="0" bIns="0" anchor="ctr">
            <a:noAutofit/>
          </a:bodyPr>
          <a:lstStyle/>
          <a:p>
            <a:pPr algn="l">
              <a:defRPr sz="1050" b="0">
                <a:solidFill>
                  <a:srgbClr val="0B2344"/>
                </a:solidFill>
                <a:latin typeface="Microsoft YaHei"/>
                <a:ea typeface="Microsoft YaHei"/>
                <a:cs typeface="Microsoft YaHei"/>
              </a:defRPr>
            </a:pPr>
            <a:r>
              <a:rPr sz="1100" dirty="0" err="1">
                <a:solidFill>
                  <a:schemeClr val="tx1">
                    <a:lumMod val="95000"/>
                    <a:lumOff val="5000"/>
                  </a:schemeClr>
                </a:solidFill>
                <a:latin typeface="Times New Roman" panose="02020603050405020304" pitchFamily="18" charset="0"/>
                <a:cs typeface="Times New Roman" panose="02020603050405020304" pitchFamily="18" charset="0"/>
              </a:rPr>
              <a:t>记录</a:t>
            </a:r>
            <a:r>
              <a:rPr sz="1100" dirty="0">
                <a:solidFill>
                  <a:schemeClr val="tx1">
                    <a:lumMod val="95000"/>
                    <a:lumOff val="5000"/>
                  </a:schemeClr>
                </a:solidFill>
                <a:latin typeface="Times New Roman" panose="02020603050405020304" pitchFamily="18" charset="0"/>
                <a:cs typeface="Times New Roman" panose="02020603050405020304" pitchFamily="18" charset="0"/>
              </a:rPr>
              <a:t> Event</a:t>
            </a:r>
          </a:p>
          <a:p>
            <a:pPr algn="l">
              <a:defRPr sz="1050" b="0">
                <a:solidFill>
                  <a:srgbClr val="0B2344"/>
                </a:solidFill>
                <a:latin typeface="Microsoft YaHei"/>
                <a:ea typeface="Microsoft YaHei"/>
                <a:cs typeface="Microsoft YaHei"/>
              </a:defRPr>
            </a:pPr>
            <a:r>
              <a:rPr sz="1100" dirty="0">
                <a:solidFill>
                  <a:schemeClr val="tx1">
                    <a:lumMod val="95000"/>
                    <a:lumOff val="5000"/>
                  </a:schemeClr>
                </a:solidFill>
                <a:latin typeface="Times New Roman" panose="02020603050405020304" pitchFamily="18" charset="0"/>
                <a:cs typeface="Times New Roman" panose="02020603050405020304" pitchFamily="18" charset="0"/>
              </a:rPr>
              <a:t>KV </a:t>
            </a:r>
            <a:r>
              <a:rPr sz="1100" dirty="0" err="1">
                <a:solidFill>
                  <a:schemeClr val="tx1">
                    <a:lumMod val="95000"/>
                    <a:lumOff val="5000"/>
                  </a:schemeClr>
                </a:solidFill>
                <a:latin typeface="Times New Roman" panose="02020603050405020304" pitchFamily="18" charset="0"/>
                <a:cs typeface="Times New Roman" panose="02020603050405020304" pitchFamily="18" charset="0"/>
              </a:rPr>
              <a:t>写完成</a:t>
            </a:r>
            <a:endParaRPr sz="11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63" name="p2-o73">
            <a:extLst>
              <a:ext uri="{FF2B5EF4-FFF2-40B4-BE49-F238E27FC236}">
                <a16:creationId xmlns:a16="http://schemas.microsoft.com/office/drawing/2014/main" id="{54451D6F-4FEC-4998-B25D-D1D62450C5CB}"/>
              </a:ext>
            </a:extLst>
          </p:cNvPr>
          <p:cNvSpPr>
            <a:spLocks noGrp="1"/>
          </p:cNvSpPr>
          <p:nvPr/>
        </p:nvSpPr>
        <p:spPr>
          <a:xfrm>
            <a:off x="8228073" y="3363053"/>
            <a:ext cx="733425" cy="428625"/>
          </a:xfrm>
          <a:prstGeom prst="rect">
            <a:avLst/>
          </a:prstGeom>
          <a:noFill/>
          <a:ln w="0">
            <a:noFill/>
          </a:ln>
        </p:spPr>
        <p:txBody>
          <a:bodyPr wrap="none" lIns="0" tIns="0" rIns="0" bIns="0" anchor="ctr">
            <a:noAutofit/>
          </a:bodyPr>
          <a:lstStyle/>
          <a:p>
            <a:pPr algn="l">
              <a:defRPr sz="900" b="0">
                <a:solidFill>
                  <a:srgbClr val="0B2344"/>
                </a:solidFill>
                <a:latin typeface="Microsoft YaHei"/>
                <a:ea typeface="Microsoft YaHei"/>
                <a:cs typeface="Microsoft YaHei"/>
              </a:defRPr>
            </a:pPr>
            <a:r>
              <a:rPr sz="1100" dirty="0" err="1">
                <a:solidFill>
                  <a:schemeClr val="tx1">
                    <a:lumMod val="95000"/>
                    <a:lumOff val="5000"/>
                  </a:schemeClr>
                </a:solidFill>
                <a:latin typeface="Times New Roman" panose="02020603050405020304" pitchFamily="18" charset="0"/>
                <a:cs typeface="Times New Roman" panose="02020603050405020304" pitchFamily="18" charset="0"/>
              </a:rPr>
              <a:t>等待</a:t>
            </a:r>
            <a:r>
              <a:rPr sz="1100" dirty="0">
                <a:solidFill>
                  <a:schemeClr val="tx1">
                    <a:lumMod val="95000"/>
                    <a:lumOff val="5000"/>
                  </a:schemeClr>
                </a:solidFill>
                <a:latin typeface="Times New Roman" panose="02020603050405020304" pitchFamily="18" charset="0"/>
                <a:cs typeface="Times New Roman" panose="02020603050405020304" pitchFamily="18" charset="0"/>
              </a:rPr>
              <a:t> Event</a:t>
            </a:r>
          </a:p>
          <a:p>
            <a:pPr algn="l">
              <a:defRPr sz="900" b="0">
                <a:solidFill>
                  <a:srgbClr val="0B2344"/>
                </a:solidFill>
                <a:latin typeface="Microsoft YaHei"/>
                <a:ea typeface="Microsoft YaHei"/>
                <a:cs typeface="Microsoft YaHei"/>
              </a:defRPr>
            </a:pPr>
            <a:r>
              <a:rPr sz="1100" dirty="0">
                <a:solidFill>
                  <a:schemeClr val="tx1">
                    <a:lumMod val="95000"/>
                    <a:lumOff val="5000"/>
                  </a:schemeClr>
                </a:solidFill>
                <a:latin typeface="Times New Roman" panose="02020603050405020304" pitchFamily="18" charset="0"/>
                <a:cs typeface="Times New Roman" panose="02020603050405020304" pitchFamily="18" charset="0"/>
              </a:rPr>
              <a:t>KV </a:t>
            </a:r>
            <a:r>
              <a:rPr sz="1100" dirty="0" err="1">
                <a:solidFill>
                  <a:schemeClr val="tx1">
                    <a:lumMod val="95000"/>
                    <a:lumOff val="5000"/>
                  </a:schemeClr>
                </a:solidFill>
                <a:latin typeface="Times New Roman" panose="02020603050405020304" pitchFamily="18" charset="0"/>
                <a:cs typeface="Times New Roman" panose="02020603050405020304" pitchFamily="18" charset="0"/>
              </a:rPr>
              <a:t>加载完成</a:t>
            </a:r>
            <a:endParaRPr sz="1100"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164" name="p2-line74">
            <a:extLst>
              <a:ext uri="{FF2B5EF4-FFF2-40B4-BE49-F238E27FC236}">
                <a16:creationId xmlns:a16="http://schemas.microsoft.com/office/drawing/2014/main" id="{098D17B9-69CB-45E1-9A92-C47316DB6118}"/>
              </a:ext>
            </a:extLst>
          </p:cNvPr>
          <p:cNvSpPr>
            <a:spLocks noGrp="1"/>
          </p:cNvSpPr>
          <p:nvPr/>
        </p:nvSpPr>
        <p:spPr>
          <a:xfrm>
            <a:off x="6582880" y="4205331"/>
            <a:ext cx="1114425" cy="9525"/>
          </a:xfrm>
          <a:custGeom>
            <a:avLst/>
            <a:gdLst/>
            <a:ahLst/>
            <a:cxnLst/>
            <a:rect l="0" t="0" r="0" b="0"/>
            <a:pathLst>
              <a:path w="1114425" h="9525">
                <a:moveTo>
                  <a:pt x="0" y="0"/>
                </a:moveTo>
                <a:lnTo>
                  <a:pt x="1114425" y="0"/>
                </a:lnTo>
              </a:path>
            </a:pathLst>
          </a:custGeom>
          <a:noFill/>
          <a:ln w="9525">
            <a:solidFill>
              <a:srgbClr val="DB0019"/>
            </a:solidFill>
            <a:prstDash val="dash"/>
          </a:ln>
        </p:spPr>
      </p:sp>
      <p:sp>
        <p:nvSpPr>
          <p:cNvPr id="165" name="p2-o75">
            <a:extLst>
              <a:ext uri="{FF2B5EF4-FFF2-40B4-BE49-F238E27FC236}">
                <a16:creationId xmlns:a16="http://schemas.microsoft.com/office/drawing/2014/main" id="{347C2D89-E041-4F18-AE83-AE3D8D2C5B9B}"/>
              </a:ext>
            </a:extLst>
          </p:cNvPr>
          <p:cNvSpPr>
            <a:spLocks noGrp="1"/>
          </p:cNvSpPr>
          <p:nvPr/>
        </p:nvSpPr>
        <p:spPr>
          <a:xfrm>
            <a:off x="7630630" y="4171994"/>
            <a:ext cx="66675" cy="66675"/>
          </a:xfrm>
          <a:custGeom>
            <a:avLst/>
            <a:gdLst/>
            <a:ahLst/>
            <a:cxnLst/>
            <a:rect l="0" t="0" r="0" b="0"/>
            <a:pathLst>
              <a:path w="66675" h="66675">
                <a:moveTo>
                  <a:pt x="66675" y="33338"/>
                </a:moveTo>
                <a:lnTo>
                  <a:pt x="0" y="0"/>
                </a:lnTo>
                <a:lnTo>
                  <a:pt x="0" y="66675"/>
                </a:lnTo>
                <a:close/>
              </a:path>
            </a:pathLst>
          </a:custGeom>
          <a:solidFill>
            <a:srgbClr val="DB0019"/>
          </a:solidFill>
          <a:ln w="9525">
            <a:noFill/>
          </a:ln>
        </p:spPr>
      </p:sp>
      <p:sp>
        <p:nvSpPr>
          <p:cNvPr id="166" name="p2-line76">
            <a:extLst>
              <a:ext uri="{FF2B5EF4-FFF2-40B4-BE49-F238E27FC236}">
                <a16:creationId xmlns:a16="http://schemas.microsoft.com/office/drawing/2014/main" id="{667F52FB-461F-4979-8323-D605691C0525}"/>
              </a:ext>
            </a:extLst>
          </p:cNvPr>
          <p:cNvSpPr>
            <a:spLocks noGrp="1"/>
          </p:cNvSpPr>
          <p:nvPr/>
        </p:nvSpPr>
        <p:spPr>
          <a:xfrm>
            <a:off x="6582880" y="4205331"/>
            <a:ext cx="1114425" cy="9525"/>
          </a:xfrm>
          <a:custGeom>
            <a:avLst/>
            <a:gdLst/>
            <a:ahLst/>
            <a:cxnLst/>
            <a:rect l="0" t="0" r="0" b="0"/>
            <a:pathLst>
              <a:path w="1114425" h="9525">
                <a:moveTo>
                  <a:pt x="1114425" y="0"/>
                </a:moveTo>
                <a:lnTo>
                  <a:pt x="0" y="0"/>
                </a:lnTo>
              </a:path>
            </a:pathLst>
          </a:custGeom>
          <a:noFill/>
          <a:ln w="9525">
            <a:solidFill>
              <a:srgbClr val="DB0019"/>
            </a:solidFill>
            <a:prstDash val="dash"/>
          </a:ln>
        </p:spPr>
      </p:sp>
      <p:sp>
        <p:nvSpPr>
          <p:cNvPr id="167" name="p2-o77">
            <a:extLst>
              <a:ext uri="{FF2B5EF4-FFF2-40B4-BE49-F238E27FC236}">
                <a16:creationId xmlns:a16="http://schemas.microsoft.com/office/drawing/2014/main" id="{0B891769-2A82-4DFC-BE8C-1D573FAD3034}"/>
              </a:ext>
            </a:extLst>
          </p:cNvPr>
          <p:cNvSpPr>
            <a:spLocks noGrp="1"/>
          </p:cNvSpPr>
          <p:nvPr/>
        </p:nvSpPr>
        <p:spPr>
          <a:xfrm>
            <a:off x="6582880" y="4171994"/>
            <a:ext cx="66675" cy="66675"/>
          </a:xfrm>
          <a:custGeom>
            <a:avLst/>
            <a:gdLst/>
            <a:ahLst/>
            <a:cxnLst/>
            <a:rect l="0" t="0" r="0" b="0"/>
            <a:pathLst>
              <a:path w="66675" h="66675">
                <a:moveTo>
                  <a:pt x="0" y="33338"/>
                </a:moveTo>
                <a:lnTo>
                  <a:pt x="66675" y="66675"/>
                </a:lnTo>
                <a:lnTo>
                  <a:pt x="66675" y="0"/>
                </a:lnTo>
                <a:close/>
              </a:path>
            </a:pathLst>
          </a:custGeom>
          <a:solidFill>
            <a:srgbClr val="DB0019"/>
          </a:solidFill>
          <a:ln w="9525">
            <a:noFill/>
          </a:ln>
        </p:spPr>
      </p:sp>
      <p:sp>
        <p:nvSpPr>
          <p:cNvPr id="168" name="p2-o78">
            <a:extLst>
              <a:ext uri="{FF2B5EF4-FFF2-40B4-BE49-F238E27FC236}">
                <a16:creationId xmlns:a16="http://schemas.microsoft.com/office/drawing/2014/main" id="{4CB51C7D-EC5E-4B03-8B31-74E91CDD2675}"/>
              </a:ext>
            </a:extLst>
          </p:cNvPr>
          <p:cNvSpPr>
            <a:spLocks noGrp="1"/>
          </p:cNvSpPr>
          <p:nvPr/>
        </p:nvSpPr>
        <p:spPr>
          <a:xfrm>
            <a:off x="6525730" y="3944949"/>
            <a:ext cx="1219200" cy="209550"/>
          </a:xfrm>
          <a:prstGeom prst="rect">
            <a:avLst/>
          </a:prstGeom>
          <a:noFill/>
          <a:ln w="0">
            <a:noFill/>
          </a:ln>
        </p:spPr>
        <p:txBody>
          <a:bodyPr wrap="none" lIns="0" tIns="0" rIns="0" bIns="0" anchor="ctr">
            <a:noAutofit/>
          </a:bodyPr>
          <a:lstStyle/>
          <a:p>
            <a:pPr algn="ctr">
              <a:defRPr sz="1050" b="1">
                <a:solidFill>
                  <a:srgbClr val="DB0019"/>
                </a:solidFill>
                <a:latin typeface="Microsoft YaHei"/>
                <a:ea typeface="Microsoft YaHei"/>
                <a:cs typeface="Microsoft YaHei"/>
              </a:defRPr>
            </a:pPr>
            <a:r>
              <a:rPr sz="1100" dirty="0" err="1">
                <a:solidFill>
                  <a:srgbClr val="C00000"/>
                </a:solidFill>
                <a:latin typeface="Times New Roman" panose="02020603050405020304" pitchFamily="18" charset="0"/>
                <a:cs typeface="Times New Roman" panose="02020603050405020304" pitchFamily="18" charset="0"/>
              </a:rPr>
              <a:t>计算</a:t>
            </a:r>
            <a:r>
              <a:rPr sz="1100" dirty="0">
                <a:solidFill>
                  <a:srgbClr val="C00000"/>
                </a:solidFill>
                <a:latin typeface="Times New Roman" panose="02020603050405020304" pitchFamily="18" charset="0"/>
                <a:cs typeface="Times New Roman" panose="02020603050405020304" pitchFamily="18" charset="0"/>
              </a:rPr>
              <a:t> / </a:t>
            </a:r>
            <a:r>
              <a:rPr sz="1100" dirty="0" err="1">
                <a:solidFill>
                  <a:srgbClr val="C00000"/>
                </a:solidFill>
                <a:latin typeface="Times New Roman" panose="02020603050405020304" pitchFamily="18" charset="0"/>
                <a:cs typeface="Times New Roman" panose="02020603050405020304" pitchFamily="18" charset="0"/>
              </a:rPr>
              <a:t>搬运重叠</a:t>
            </a:r>
            <a:endParaRPr sz="1100" dirty="0">
              <a:solidFill>
                <a:srgbClr val="C00000"/>
              </a:solidFill>
              <a:latin typeface="Times New Roman" panose="02020603050405020304" pitchFamily="18" charset="0"/>
              <a:cs typeface="Times New Roman" panose="02020603050405020304" pitchFamily="18" charset="0"/>
            </a:endParaRPr>
          </a:p>
        </p:txBody>
      </p:sp>
      <p:sp>
        <p:nvSpPr>
          <p:cNvPr id="183" name="p2-o95">
            <a:extLst>
              <a:ext uri="{FF2B5EF4-FFF2-40B4-BE49-F238E27FC236}">
                <a16:creationId xmlns:a16="http://schemas.microsoft.com/office/drawing/2014/main" id="{51052867-14AA-48B9-B471-8A7A62EDCA45}"/>
              </a:ext>
            </a:extLst>
          </p:cNvPr>
          <p:cNvSpPr>
            <a:spLocks noGrp="1"/>
          </p:cNvSpPr>
          <p:nvPr/>
        </p:nvSpPr>
        <p:spPr>
          <a:xfrm>
            <a:off x="6905441" y="5980538"/>
            <a:ext cx="1876425" cy="257175"/>
          </a:xfrm>
          <a:prstGeom prst="rect">
            <a:avLst/>
          </a:prstGeom>
          <a:noFill/>
          <a:ln w="0">
            <a:noFill/>
          </a:ln>
        </p:spPr>
        <p:txBody>
          <a:bodyPr wrap="none" lIns="0" tIns="0" rIns="0" bIns="0" anchor="ctr">
            <a:noAutofit/>
          </a:bodyPr>
          <a:lstStyle/>
          <a:p>
            <a:pPr algn="ctr">
              <a:defRPr sz="1425" b="1">
                <a:solidFill>
                  <a:srgbClr val="5B3CCC"/>
                </a:solidFill>
                <a:latin typeface="Microsoft YaHei"/>
                <a:ea typeface="Microsoft YaHei"/>
                <a:cs typeface="Microsoft YaHei"/>
              </a:defRPr>
            </a:pPr>
            <a:endParaRPr sz="1425" b="1" dirty="0">
              <a:solidFill>
                <a:srgbClr val="5B3CCC"/>
              </a:solidFill>
              <a:latin typeface="Microsoft YaHei"/>
              <a:ea typeface="Microsoft YaHei"/>
              <a:cs typeface="Microsoft YaHei"/>
            </a:endParaRPr>
          </a:p>
        </p:txBody>
      </p:sp>
      <p:sp>
        <p:nvSpPr>
          <p:cNvPr id="186" name="文本框 95"/>
          <p:cNvSpPr txBox="1"/>
          <p:nvPr/>
        </p:nvSpPr>
        <p:spPr>
          <a:xfrm>
            <a:off x="1027953" y="6021288"/>
            <a:ext cx="1371726"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权重量化</a:t>
            </a:r>
          </a:p>
        </p:txBody>
      </p:sp>
      <p:sp>
        <p:nvSpPr>
          <p:cNvPr id="187" name="文本框 95"/>
          <p:cNvSpPr txBox="1"/>
          <p:nvPr/>
        </p:nvSpPr>
        <p:spPr>
          <a:xfrm>
            <a:off x="2611593" y="6021288"/>
            <a:ext cx="1801480"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en-US" altLang="zh-CN"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LRU </a:t>
            </a: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缓存管理</a:t>
            </a:r>
          </a:p>
        </p:txBody>
      </p:sp>
      <p:sp>
        <p:nvSpPr>
          <p:cNvPr id="188" name="文本框 95"/>
          <p:cNvSpPr txBox="1"/>
          <p:nvPr/>
        </p:nvSpPr>
        <p:spPr>
          <a:xfrm>
            <a:off x="4624987" y="6021288"/>
            <a:ext cx="1811385"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en-US" altLang="zh-CN"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INT8 KV </a:t>
            </a: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量化</a:t>
            </a:r>
          </a:p>
        </p:txBody>
      </p:sp>
      <p:sp>
        <p:nvSpPr>
          <p:cNvPr id="189" name="文本框 95"/>
          <p:cNvSpPr txBox="1"/>
          <p:nvPr/>
        </p:nvSpPr>
        <p:spPr>
          <a:xfrm>
            <a:off x="6648285" y="6021288"/>
            <a:ext cx="1752671"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自适应异步</a:t>
            </a:r>
          </a:p>
        </p:txBody>
      </p:sp>
      <p:sp>
        <p:nvSpPr>
          <p:cNvPr id="190" name="矩形 189"/>
          <p:cNvSpPr/>
          <p:nvPr/>
        </p:nvSpPr>
        <p:spPr>
          <a:xfrm>
            <a:off x="535263" y="1799789"/>
            <a:ext cx="1704313"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icrosoft YaHei"/>
                <a:ea typeface="Microsoft YaHei"/>
                <a:cs typeface="Microsoft YaHei"/>
              </a:rPr>
              <a:t>并发加载合并</a:t>
            </a:r>
          </a:p>
        </p:txBody>
      </p:sp>
      <p:sp>
        <p:nvSpPr>
          <p:cNvPr id="191" name="矩形 190"/>
          <p:cNvSpPr/>
          <p:nvPr/>
        </p:nvSpPr>
        <p:spPr>
          <a:xfrm>
            <a:off x="4686703" y="1806549"/>
            <a:ext cx="1293944"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smtClean="0">
                <a:solidFill>
                  <a:schemeClr val="tx1">
                    <a:lumMod val="95000"/>
                    <a:lumOff val="5000"/>
                  </a:schemeClr>
                </a:solidFill>
                <a:latin typeface="Microsoft YaHei"/>
                <a:ea typeface="Microsoft YaHei"/>
                <a:cs typeface="Microsoft YaHei"/>
              </a:rPr>
              <a:t>异步传输</a:t>
            </a:r>
            <a:endParaRPr lang="zh-CN" altLang="en-US" sz="1600" b="1" dirty="0">
              <a:solidFill>
                <a:schemeClr val="tx1">
                  <a:lumMod val="95000"/>
                  <a:lumOff val="5000"/>
                </a:schemeClr>
              </a:solidFill>
              <a:latin typeface="Microsoft YaHei"/>
              <a:ea typeface="Microsoft YaHei"/>
              <a:cs typeface="Microsoft YaHei"/>
            </a:endParaRPr>
          </a:p>
        </p:txBody>
      </p:sp>
      <p:sp>
        <p:nvSpPr>
          <p:cNvPr id="192" name="矩形 191"/>
          <p:cNvSpPr/>
          <p:nvPr/>
        </p:nvSpPr>
        <p:spPr>
          <a:xfrm>
            <a:off x="530209" y="5561438"/>
            <a:ext cx="1293944" cy="338554"/>
          </a:xfrm>
          <a:prstGeom prst="rect">
            <a:avLst/>
          </a:prstGeom>
        </p:spPr>
        <p:txBody>
          <a:bodyPr wrap="none">
            <a:spAutoFit/>
          </a:bodyPr>
          <a:lstStyle/>
          <a:p>
            <a:pPr marL="285750" indent="-285750">
              <a:buFont typeface="Wingdings" panose="05000000000000000000" pitchFamily="2" charset="2"/>
              <a:buChar char="n"/>
              <a:defRPr sz="1800" b="1">
                <a:solidFill>
                  <a:srgbClr val="D7000F"/>
                </a:solidFill>
                <a:latin typeface="Arial" panose="020B0604020202020204"/>
                <a:ea typeface="Arial" panose="020B0604020202020204"/>
                <a:cs typeface="Arial" panose="020B0604020202020204"/>
              </a:defRPr>
            </a:pPr>
            <a:r>
              <a:rPr lang="zh-CN" altLang="en-US" sz="1600" b="1" dirty="0">
                <a:solidFill>
                  <a:schemeClr val="tx1">
                    <a:lumMod val="95000"/>
                    <a:lumOff val="5000"/>
                  </a:schemeClr>
                </a:solidFill>
                <a:latin typeface="Microsoft YaHei"/>
                <a:ea typeface="Microsoft YaHei"/>
                <a:cs typeface="Microsoft YaHei"/>
              </a:rPr>
              <a:t>其他优化</a:t>
            </a:r>
          </a:p>
        </p:txBody>
      </p:sp>
      <p:sp>
        <p:nvSpPr>
          <p:cNvPr id="8" name="标题 1">
            <a:extLst>
              <a:ext uri="{FF2B5EF4-FFF2-40B4-BE49-F238E27FC236}">
                <a16:creationId xmlns:a16="http://schemas.microsoft.com/office/drawing/2014/main" id="{6E699FFD-44EB-B7B1-40FB-8EEE4A798757}"/>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
        <p:nvSpPr>
          <p:cNvPr id="2" name="p2-line68">
            <a:extLst>
              <a:ext uri="{FF2B5EF4-FFF2-40B4-BE49-F238E27FC236}">
                <a16:creationId xmlns:a16="http://schemas.microsoft.com/office/drawing/2014/main" id="{A86A39CA-E8E2-A877-9136-AF7FA0099DBA}"/>
              </a:ext>
            </a:extLst>
          </p:cNvPr>
          <p:cNvSpPr>
            <a:spLocks noGrp="1"/>
          </p:cNvSpPr>
          <p:nvPr/>
        </p:nvSpPr>
        <p:spPr>
          <a:xfrm>
            <a:off x="8177310" y="3255606"/>
            <a:ext cx="9525" cy="1133475"/>
          </a:xfrm>
          <a:custGeom>
            <a:avLst/>
            <a:gdLst/>
            <a:ahLst/>
            <a:cxnLst/>
            <a:rect l="0" t="0" r="0" b="0"/>
            <a:pathLst>
              <a:path w="9525" h="1133475">
                <a:moveTo>
                  <a:pt x="0" y="0"/>
                </a:moveTo>
                <a:lnTo>
                  <a:pt x="0" y="1133475"/>
                </a:lnTo>
              </a:path>
            </a:pathLst>
          </a:custGeom>
          <a:noFill/>
          <a:ln w="11430">
            <a:solidFill>
              <a:srgbClr val="DB0019"/>
            </a:solidFill>
            <a:prstDash val="dash"/>
          </a:ln>
        </p:spPr>
      </p:sp>
      <p:sp>
        <p:nvSpPr>
          <p:cNvPr id="4" name="p2-o69">
            <a:extLst>
              <a:ext uri="{FF2B5EF4-FFF2-40B4-BE49-F238E27FC236}">
                <a16:creationId xmlns:a16="http://schemas.microsoft.com/office/drawing/2014/main" id="{AAF44DED-149E-9973-2DA6-D822D533E64C}"/>
              </a:ext>
            </a:extLst>
          </p:cNvPr>
          <p:cNvSpPr>
            <a:spLocks noGrp="1"/>
          </p:cNvSpPr>
          <p:nvPr/>
        </p:nvSpPr>
        <p:spPr>
          <a:xfrm>
            <a:off x="8143972" y="4336325"/>
            <a:ext cx="66675" cy="66675"/>
          </a:xfrm>
          <a:custGeom>
            <a:avLst/>
            <a:gdLst/>
            <a:ahLst/>
            <a:cxnLst/>
            <a:rect l="0" t="0" r="0" b="0"/>
            <a:pathLst>
              <a:path w="66675" h="66675">
                <a:moveTo>
                  <a:pt x="33338" y="66675"/>
                </a:moveTo>
                <a:lnTo>
                  <a:pt x="66675" y="0"/>
                </a:lnTo>
                <a:lnTo>
                  <a:pt x="0" y="0"/>
                </a:lnTo>
                <a:close/>
              </a:path>
            </a:pathLst>
          </a:custGeom>
          <a:solidFill>
            <a:srgbClr val="DB0019"/>
          </a:solidFill>
          <a:ln w="9525">
            <a:noFill/>
          </a:ln>
        </p:spPr>
      </p:sp>
    </p:spTree>
    <p:extLst>
      <p:ext uri="{BB962C8B-B14F-4D97-AF65-F5344CB8AC3E}">
        <p14:creationId xmlns:p14="http://schemas.microsoft.com/office/powerpoint/2010/main" val="614401304"/>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灯片编号占位符 26"/>
          <p:cNvSpPr>
            <a:spLocks noGrp="1"/>
          </p:cNvSpPr>
          <p:nvPr>
            <p:ph type="sldNum" sz="quarter" idx="12"/>
          </p:nvPr>
        </p:nvSpPr>
        <p:spPr/>
        <p:txBody>
          <a:bodyPr/>
          <a:lstStyle/>
          <a:p>
            <a:fld id="{03621AC1-4C4D-435F-BACF-B518BC126F02}" type="slidenum">
              <a:rPr lang="zh-CN" altLang="en-US" smtClean="0">
                <a:latin typeface="Times New Roman" panose="02020603050405020304" pitchFamily="18" charset="0"/>
                <a:cs typeface="Times New Roman" panose="02020603050405020304" pitchFamily="18" charset="0"/>
              </a:rPr>
              <a:t>12</a:t>
            </a:fld>
            <a:endParaRPr lang="zh-CN" altLang="en-US">
              <a:latin typeface="Times New Roman" panose="02020603050405020304" pitchFamily="18" charset="0"/>
              <a:cs typeface="Times New Roman" panose="02020603050405020304" pitchFamily="18" charset="0"/>
            </a:endParaRPr>
          </a:p>
        </p:txBody>
      </p:sp>
      <p:sp>
        <p:nvSpPr>
          <p:cNvPr id="3"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7" name="text_103_原始 Skill 已具备完整开发流程"/>
          <p:cNvSpPr>
            <a:spLocks noGrp="1"/>
          </p:cNvSpPr>
          <p:nvPr/>
        </p:nvSpPr>
        <p:spPr>
          <a:xfrm>
            <a:off x="602043" y="1210386"/>
            <a:ext cx="2961845"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en-US" altLang="zh-CN" sz="2000" dirty="0" err="1">
                <a:solidFill>
                  <a:srgbClr val="000000"/>
                </a:solidFill>
                <a:latin typeface="Times New Roman" panose="02020603050405020304" pitchFamily="18" charset="0"/>
                <a:cs typeface="Times New Roman" panose="02020603050405020304" pitchFamily="18" charset="0"/>
              </a:rPr>
              <a:t>vllm</a:t>
            </a:r>
            <a:r>
              <a:rPr lang="zh-CN" altLang="en-US" sz="2000" dirty="0">
                <a:solidFill>
                  <a:srgbClr val="000000"/>
                </a:solidFill>
                <a:latin typeface="Times New Roman" panose="02020603050405020304" pitchFamily="18" charset="0"/>
                <a:cs typeface="Times New Roman" panose="02020603050405020304" pitchFamily="18" charset="0"/>
              </a:rPr>
              <a:t>优化：实验结果</a:t>
            </a:r>
          </a:p>
        </p:txBody>
      </p:sp>
      <p:graphicFrame>
        <p:nvGraphicFramePr>
          <p:cNvPr id="86" name="表格 85"/>
          <p:cNvGraphicFramePr/>
          <p:nvPr>
            <p:extLst>
              <p:ext uri="{D42A27DB-BD31-4B8C-83A1-F6EECF244321}">
                <p14:modId xmlns:p14="http://schemas.microsoft.com/office/powerpoint/2010/main" val="2173014453"/>
              </p:ext>
            </p:extLst>
          </p:nvPr>
        </p:nvGraphicFramePr>
        <p:xfrm>
          <a:off x="276225" y="1876425"/>
          <a:ext cx="8591550" cy="4000500"/>
        </p:xfrm>
        <a:graphic>
          <a:graphicData uri="http://schemas.openxmlformats.org/drawingml/2006/table">
            <a:tbl>
              <a:tblPr/>
              <a:tblGrid>
                <a:gridCol w="2809875">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gridCol w="2352675">
                  <a:extLst>
                    <a:ext uri="{9D8B030D-6E8A-4147-A177-3AD203B41FA5}">
                      <a16:colId xmlns:a16="http://schemas.microsoft.com/office/drawing/2014/main" val="20003"/>
                    </a:ext>
                  </a:extLst>
                </a:gridCol>
              </a:tblGrid>
              <a:tr h="523875">
                <a:tc>
                  <a:txBody>
                    <a:bodyPr/>
                    <a:lstStyle/>
                    <a:p>
                      <a:pPr algn="ctr"/>
                      <a:r>
                        <a:rPr sz="1600" b="1" dirty="0" err="1">
                          <a:solidFill>
                            <a:schemeClr val="tx1"/>
                          </a:solidFill>
                          <a:latin typeface="Microsoft YaHei"/>
                          <a:ea typeface="Microsoft YaHei"/>
                          <a:cs typeface="Microsoft YaHei"/>
                        </a:rPr>
                        <a:t>指标</a:t>
                      </a:r>
                      <a:endParaRPr sz="1600" b="1" dirty="0">
                        <a:solidFill>
                          <a:schemeClr val="tx1"/>
                        </a:solidFill>
                        <a:latin typeface="Microsoft YaHei"/>
                        <a:ea typeface="Microsoft YaHei"/>
                        <a:cs typeface="Microsoft YaHei"/>
                      </a:endParaRPr>
                    </a:p>
                  </a:txBody>
                  <a:tcPr anchor="ctr">
                    <a:solidFill>
                      <a:schemeClr val="accent1">
                        <a:lumMod val="20000"/>
                        <a:lumOff val="80000"/>
                      </a:schemeClr>
                    </a:solidFill>
                  </a:tcPr>
                </a:tc>
                <a:tc>
                  <a:txBody>
                    <a:bodyPr/>
                    <a:lstStyle/>
                    <a:p>
                      <a:pPr algn="ctr"/>
                      <a:r>
                        <a:rPr sz="1600" b="1" dirty="0" err="1">
                          <a:solidFill>
                            <a:schemeClr val="tx1"/>
                          </a:solidFill>
                          <a:latin typeface="Microsoft YaHei"/>
                          <a:ea typeface="Microsoft YaHei"/>
                          <a:cs typeface="Microsoft YaHei"/>
                        </a:rPr>
                        <a:t>优化前</a:t>
                      </a:r>
                      <a:endParaRPr sz="1600" b="1" dirty="0">
                        <a:solidFill>
                          <a:schemeClr val="tx1"/>
                        </a:solidFill>
                        <a:latin typeface="Microsoft YaHei"/>
                        <a:ea typeface="Microsoft YaHei"/>
                        <a:cs typeface="Microsoft YaHei"/>
                      </a:endParaRPr>
                    </a:p>
                  </a:txBody>
                  <a:tcPr anchor="ctr">
                    <a:solidFill>
                      <a:schemeClr val="accent1">
                        <a:lumMod val="20000"/>
                        <a:lumOff val="80000"/>
                      </a:schemeClr>
                    </a:solidFill>
                  </a:tcPr>
                </a:tc>
                <a:tc>
                  <a:txBody>
                    <a:bodyPr/>
                    <a:lstStyle/>
                    <a:p>
                      <a:pPr algn="ctr"/>
                      <a:r>
                        <a:rPr sz="1600" b="1" dirty="0" err="1">
                          <a:solidFill>
                            <a:schemeClr val="tx1"/>
                          </a:solidFill>
                          <a:latin typeface="Microsoft YaHei"/>
                          <a:ea typeface="Microsoft YaHei"/>
                          <a:cs typeface="Microsoft YaHei"/>
                        </a:rPr>
                        <a:t>优化后</a:t>
                      </a:r>
                      <a:endParaRPr sz="1600" b="1" dirty="0">
                        <a:solidFill>
                          <a:schemeClr val="tx1"/>
                        </a:solidFill>
                        <a:latin typeface="Microsoft YaHei"/>
                        <a:ea typeface="Microsoft YaHei"/>
                        <a:cs typeface="Microsoft YaHei"/>
                      </a:endParaRPr>
                    </a:p>
                  </a:txBody>
                  <a:tcPr anchor="ctr">
                    <a:solidFill>
                      <a:schemeClr val="accent1">
                        <a:lumMod val="20000"/>
                        <a:lumOff val="80000"/>
                      </a:schemeClr>
                    </a:solidFill>
                  </a:tcPr>
                </a:tc>
                <a:tc>
                  <a:txBody>
                    <a:bodyPr/>
                    <a:lstStyle/>
                    <a:p>
                      <a:pPr algn="ctr"/>
                      <a:r>
                        <a:rPr sz="1600" b="1" dirty="0" err="1">
                          <a:solidFill>
                            <a:schemeClr val="tx1"/>
                          </a:solidFill>
                          <a:latin typeface="Microsoft YaHei"/>
                          <a:ea typeface="Microsoft YaHei"/>
                          <a:cs typeface="Microsoft YaHei"/>
                        </a:rPr>
                        <a:t>变化</a:t>
                      </a:r>
                      <a:r>
                        <a:rPr sz="1600" b="1" dirty="0">
                          <a:solidFill>
                            <a:schemeClr val="tx1"/>
                          </a:solidFill>
                          <a:latin typeface="Microsoft YaHei"/>
                          <a:ea typeface="Microsoft YaHei"/>
                          <a:cs typeface="Microsoft YaHei"/>
                        </a:rPr>
                        <a:t> / </a:t>
                      </a:r>
                      <a:r>
                        <a:rPr sz="1600" b="1" dirty="0" err="1">
                          <a:solidFill>
                            <a:schemeClr val="tx1"/>
                          </a:solidFill>
                          <a:latin typeface="Microsoft YaHei"/>
                          <a:ea typeface="Microsoft YaHei"/>
                          <a:cs typeface="Microsoft YaHei"/>
                        </a:rPr>
                        <a:t>说明</a:t>
                      </a:r>
                      <a:endParaRPr sz="1600" b="1" dirty="0">
                        <a:solidFill>
                          <a:schemeClr val="tx1"/>
                        </a:solidFill>
                        <a:latin typeface="Microsoft YaHei"/>
                        <a:ea typeface="Microsoft YaHei"/>
                        <a:cs typeface="Microsoft YaHei"/>
                      </a:endParaRPr>
                    </a:p>
                  </a:txBody>
                  <a:tcPr anchor="ctr">
                    <a:solidFill>
                      <a:schemeClr val="accent1">
                        <a:lumMod val="20000"/>
                        <a:lumOff val="80000"/>
                      </a:schemeClr>
                    </a:solidFill>
                  </a:tcPr>
                </a:tc>
                <a:extLst>
                  <a:ext uri="{0D108BD9-81ED-4DB2-BD59-A6C34878D82A}">
                    <a16:rowId xmlns:a16="http://schemas.microsoft.com/office/drawing/2014/main" val="10000"/>
                  </a:ext>
                </a:extLst>
              </a:tr>
              <a:tr h="695325">
                <a:tc>
                  <a:txBody>
                    <a:bodyPr/>
                    <a:lstStyle/>
                    <a:p>
                      <a:pPr algn="ctr"/>
                      <a:r>
                        <a:rPr sz="1600" b="0" dirty="0">
                          <a:solidFill>
                            <a:srgbClr val="0B2344"/>
                          </a:solidFill>
                          <a:latin typeface="Times New Roman" panose="02020603050405020304" pitchFamily="18" charset="0"/>
                          <a:ea typeface="Microsoft YaHei"/>
                          <a:cs typeface="Times New Roman" panose="02020603050405020304" pitchFamily="18" charset="0"/>
                        </a:rPr>
                        <a:t>KV Store </a:t>
                      </a:r>
                      <a:r>
                        <a:rPr sz="1600" b="0" dirty="0" err="1">
                          <a:solidFill>
                            <a:srgbClr val="0B2344"/>
                          </a:solidFill>
                          <a:latin typeface="Times New Roman" panose="02020603050405020304" pitchFamily="18" charset="0"/>
                          <a:ea typeface="Microsoft YaHei"/>
                          <a:cs typeface="Times New Roman" panose="02020603050405020304" pitchFamily="18" charset="0"/>
                        </a:rPr>
                        <a:t>耗时</a:t>
                      </a:r>
                      <a:endParaRPr sz="1600" b="0" dirty="0">
                        <a:solidFill>
                          <a:srgbClr val="0B2344"/>
                        </a:solidFill>
                        <a:latin typeface="Times New Roman" panose="02020603050405020304" pitchFamily="18" charset="0"/>
                        <a:ea typeface="Microsoft YaHei"/>
                        <a:cs typeface="Times New Roman" panose="02020603050405020304" pitchFamily="18" charset="0"/>
                      </a:endParaRPr>
                    </a:p>
                  </a:txBody>
                  <a:tcPr anchor="ctr">
                    <a:solidFill>
                      <a:srgbClr val="FFFFFF"/>
                    </a:solidFill>
                  </a:tcPr>
                </a:tc>
                <a:tc>
                  <a:txBody>
                    <a:bodyPr/>
                    <a:lstStyle/>
                    <a:p>
                      <a:pPr algn="ctr"/>
                      <a:r>
                        <a:rPr sz="1600" b="0">
                          <a:solidFill>
                            <a:srgbClr val="0B2344"/>
                          </a:solidFill>
                          <a:latin typeface="Times New Roman" panose="02020603050405020304" pitchFamily="18" charset="0"/>
                          <a:ea typeface="Microsoft YaHei"/>
                          <a:cs typeface="Times New Roman" panose="02020603050405020304" pitchFamily="18" charset="0"/>
                        </a:rPr>
                        <a:t>307.8 ms</a:t>
                      </a:r>
                    </a:p>
                  </a:txBody>
                  <a:tcPr anchor="ctr">
                    <a:solidFill>
                      <a:srgbClr val="FFFFFF"/>
                    </a:solidFill>
                  </a:tcPr>
                </a:tc>
                <a:tc>
                  <a:txBody>
                    <a:bodyPr/>
                    <a:lstStyle/>
                    <a:p>
                      <a:pPr algn="ctr"/>
                      <a:r>
                        <a:rPr sz="1600" b="0">
                          <a:solidFill>
                            <a:srgbClr val="DB0019"/>
                          </a:solidFill>
                          <a:latin typeface="Times New Roman" panose="02020603050405020304" pitchFamily="18" charset="0"/>
                          <a:ea typeface="Microsoft YaHei"/>
                          <a:cs typeface="Times New Roman" panose="02020603050405020304" pitchFamily="18" charset="0"/>
                        </a:rPr>
                        <a:t>19.3 ms</a:t>
                      </a:r>
                    </a:p>
                  </a:txBody>
                  <a:tcPr anchor="ctr">
                    <a:solidFill>
                      <a:srgbClr val="FFFFFF"/>
                    </a:solidFill>
                  </a:tcPr>
                </a:tc>
                <a:tc>
                  <a:txBody>
                    <a:bodyPr/>
                    <a:lstStyle/>
                    <a:p>
                      <a:pPr algn="ctr"/>
                      <a:r>
                        <a:rPr sz="1600" b="0">
                          <a:solidFill>
                            <a:srgbClr val="DB0019"/>
                          </a:solidFill>
                          <a:latin typeface="Times New Roman" panose="02020603050405020304" pitchFamily="18" charset="0"/>
                          <a:ea typeface="Microsoft YaHei"/>
                          <a:cs typeface="Times New Roman" panose="02020603050405020304" pitchFamily="18" charset="0"/>
                        </a:rPr>
                        <a:t>加速 16.0×</a:t>
                      </a:r>
                    </a:p>
                  </a:txBody>
                  <a:tcPr anchor="ctr">
                    <a:solidFill>
                      <a:srgbClr val="FFFFFF"/>
                    </a:solidFill>
                  </a:tcPr>
                </a:tc>
                <a:extLst>
                  <a:ext uri="{0D108BD9-81ED-4DB2-BD59-A6C34878D82A}">
                    <a16:rowId xmlns:a16="http://schemas.microsoft.com/office/drawing/2014/main" val="10001"/>
                  </a:ext>
                </a:extLst>
              </a:tr>
              <a:tr h="695325">
                <a:tc>
                  <a:txBody>
                    <a:bodyPr/>
                    <a:lstStyle/>
                    <a:p>
                      <a:pPr algn="ctr"/>
                      <a:r>
                        <a:rPr sz="1600" b="0" dirty="0">
                          <a:solidFill>
                            <a:srgbClr val="0B2344"/>
                          </a:solidFill>
                          <a:latin typeface="Times New Roman" panose="02020603050405020304" pitchFamily="18" charset="0"/>
                          <a:ea typeface="Microsoft YaHei"/>
                          <a:cs typeface="Times New Roman" panose="02020603050405020304" pitchFamily="18" charset="0"/>
                        </a:rPr>
                        <a:t>KV Load </a:t>
                      </a:r>
                      <a:r>
                        <a:rPr sz="1600" b="0" dirty="0" err="1">
                          <a:solidFill>
                            <a:srgbClr val="0B2344"/>
                          </a:solidFill>
                          <a:latin typeface="Times New Roman" panose="02020603050405020304" pitchFamily="18" charset="0"/>
                          <a:ea typeface="Microsoft YaHei"/>
                          <a:cs typeface="Times New Roman" panose="02020603050405020304" pitchFamily="18" charset="0"/>
                        </a:rPr>
                        <a:t>耗时</a:t>
                      </a:r>
                      <a:endParaRPr sz="1600" b="0" dirty="0">
                        <a:solidFill>
                          <a:srgbClr val="0B2344"/>
                        </a:solidFill>
                        <a:latin typeface="Times New Roman" panose="02020603050405020304" pitchFamily="18" charset="0"/>
                        <a:ea typeface="Microsoft YaHei"/>
                        <a:cs typeface="Times New Roman" panose="02020603050405020304" pitchFamily="18" charset="0"/>
                      </a:endParaRPr>
                    </a:p>
                  </a:txBody>
                  <a:tcPr anchor="ctr">
                    <a:solidFill>
                      <a:srgbClr val="F5F8FC"/>
                    </a:solidFill>
                  </a:tcPr>
                </a:tc>
                <a:tc>
                  <a:txBody>
                    <a:bodyPr/>
                    <a:lstStyle/>
                    <a:p>
                      <a:pPr algn="ctr"/>
                      <a:r>
                        <a:rPr sz="1600" b="0" dirty="0">
                          <a:solidFill>
                            <a:srgbClr val="0B2344"/>
                          </a:solidFill>
                          <a:latin typeface="Times New Roman" panose="02020603050405020304" pitchFamily="18" charset="0"/>
                          <a:ea typeface="Microsoft YaHei"/>
                          <a:cs typeface="Times New Roman" panose="02020603050405020304" pitchFamily="18" charset="0"/>
                        </a:rPr>
                        <a:t>398.7 </a:t>
                      </a:r>
                      <a:r>
                        <a:rPr sz="1600" b="0" dirty="0" err="1">
                          <a:solidFill>
                            <a:srgbClr val="0B2344"/>
                          </a:solidFill>
                          <a:latin typeface="Times New Roman" panose="02020603050405020304" pitchFamily="18" charset="0"/>
                          <a:ea typeface="Microsoft YaHei"/>
                          <a:cs typeface="Times New Roman" panose="02020603050405020304" pitchFamily="18" charset="0"/>
                        </a:rPr>
                        <a:t>ms</a:t>
                      </a:r>
                      <a:endParaRPr sz="1600" b="0" dirty="0">
                        <a:solidFill>
                          <a:srgbClr val="0B2344"/>
                        </a:solidFill>
                        <a:latin typeface="Times New Roman" panose="02020603050405020304" pitchFamily="18" charset="0"/>
                        <a:ea typeface="Microsoft YaHei"/>
                        <a:cs typeface="Times New Roman" panose="02020603050405020304" pitchFamily="18" charset="0"/>
                      </a:endParaRPr>
                    </a:p>
                  </a:txBody>
                  <a:tcPr anchor="ctr">
                    <a:solidFill>
                      <a:srgbClr val="F5F8FC"/>
                    </a:solidFill>
                  </a:tcPr>
                </a:tc>
                <a:tc>
                  <a:txBody>
                    <a:bodyPr/>
                    <a:lstStyle/>
                    <a:p>
                      <a:pPr algn="ctr"/>
                      <a:r>
                        <a:rPr sz="1600" b="0" dirty="0">
                          <a:solidFill>
                            <a:srgbClr val="DB0019"/>
                          </a:solidFill>
                          <a:latin typeface="Times New Roman" panose="02020603050405020304" pitchFamily="18" charset="0"/>
                          <a:ea typeface="Microsoft YaHei"/>
                          <a:cs typeface="Times New Roman" panose="02020603050405020304" pitchFamily="18" charset="0"/>
                        </a:rPr>
                        <a:t>29.8 </a:t>
                      </a:r>
                      <a:r>
                        <a:rPr sz="1600" b="0" dirty="0" err="1">
                          <a:solidFill>
                            <a:srgbClr val="DB0019"/>
                          </a:solidFill>
                          <a:latin typeface="Times New Roman" panose="02020603050405020304" pitchFamily="18" charset="0"/>
                          <a:ea typeface="Microsoft YaHei"/>
                          <a:cs typeface="Times New Roman" panose="02020603050405020304" pitchFamily="18" charset="0"/>
                        </a:rPr>
                        <a:t>ms</a:t>
                      </a:r>
                      <a:endParaRPr sz="1600" b="0" dirty="0">
                        <a:solidFill>
                          <a:srgbClr val="DB0019"/>
                        </a:solidFill>
                        <a:latin typeface="Times New Roman" panose="02020603050405020304" pitchFamily="18" charset="0"/>
                        <a:ea typeface="Microsoft YaHei"/>
                        <a:cs typeface="Times New Roman" panose="02020603050405020304" pitchFamily="18" charset="0"/>
                      </a:endParaRPr>
                    </a:p>
                  </a:txBody>
                  <a:tcPr anchor="ctr">
                    <a:solidFill>
                      <a:srgbClr val="F5F8FC"/>
                    </a:solidFill>
                  </a:tcPr>
                </a:tc>
                <a:tc>
                  <a:txBody>
                    <a:bodyPr/>
                    <a:lstStyle/>
                    <a:p>
                      <a:pPr algn="ctr"/>
                      <a:r>
                        <a:rPr sz="1600" b="0">
                          <a:solidFill>
                            <a:srgbClr val="DB0019"/>
                          </a:solidFill>
                          <a:latin typeface="Times New Roman" panose="02020603050405020304" pitchFamily="18" charset="0"/>
                          <a:ea typeface="Microsoft YaHei"/>
                          <a:cs typeface="Times New Roman" panose="02020603050405020304" pitchFamily="18" charset="0"/>
                        </a:rPr>
                        <a:t>加速 13.4×</a:t>
                      </a:r>
                    </a:p>
                  </a:txBody>
                  <a:tcPr anchor="ctr">
                    <a:solidFill>
                      <a:srgbClr val="F5F8FC"/>
                    </a:solidFill>
                  </a:tcPr>
                </a:tc>
                <a:extLst>
                  <a:ext uri="{0D108BD9-81ED-4DB2-BD59-A6C34878D82A}">
                    <a16:rowId xmlns:a16="http://schemas.microsoft.com/office/drawing/2014/main" val="10002"/>
                  </a:ext>
                </a:extLst>
              </a:tr>
              <a:tr h="695325">
                <a:tc>
                  <a:txBody>
                    <a:bodyPr/>
                    <a:lstStyle/>
                    <a:p>
                      <a:pPr algn="ctr"/>
                      <a:r>
                        <a:rPr sz="1600" b="0">
                          <a:solidFill>
                            <a:srgbClr val="0B2344"/>
                          </a:solidFill>
                          <a:latin typeface="Times New Roman" panose="02020603050405020304" pitchFamily="18" charset="0"/>
                          <a:ea typeface="Microsoft YaHei"/>
                          <a:cs typeface="Times New Roman" panose="02020603050405020304" pitchFamily="18" charset="0"/>
                        </a:rPr>
                        <a:t>Prefix </a:t>
                      </a:r>
                      <a:r>
                        <a:rPr lang="en-US" sz="1600" b="0" smtClean="0">
                          <a:solidFill>
                            <a:srgbClr val="0B2344"/>
                          </a:solidFill>
                          <a:latin typeface="Times New Roman" panose="02020603050405020304" pitchFamily="18" charset="0"/>
                          <a:ea typeface="Microsoft YaHei"/>
                          <a:cs typeface="Times New Roman" panose="02020603050405020304" pitchFamily="18" charset="0"/>
                        </a:rPr>
                        <a:t>CPU </a:t>
                      </a:r>
                      <a:r>
                        <a:rPr sz="1600" b="0" smtClean="0">
                          <a:solidFill>
                            <a:srgbClr val="0B2344"/>
                          </a:solidFill>
                          <a:latin typeface="Times New Roman" panose="02020603050405020304" pitchFamily="18" charset="0"/>
                          <a:ea typeface="Microsoft YaHei"/>
                          <a:cs typeface="Times New Roman" panose="02020603050405020304" pitchFamily="18" charset="0"/>
                        </a:rPr>
                        <a:t>HIT </a:t>
                      </a:r>
                      <a:r>
                        <a:rPr sz="1600" b="0" dirty="0" err="1">
                          <a:solidFill>
                            <a:srgbClr val="0B2344"/>
                          </a:solidFill>
                          <a:latin typeface="Times New Roman" panose="02020603050405020304" pitchFamily="18" charset="0"/>
                          <a:ea typeface="Microsoft YaHei"/>
                          <a:cs typeface="Times New Roman" panose="02020603050405020304" pitchFamily="18" charset="0"/>
                        </a:rPr>
                        <a:t>场景</a:t>
                      </a:r>
                      <a:r>
                        <a:rPr sz="1600" b="0" dirty="0">
                          <a:solidFill>
                            <a:srgbClr val="0B2344"/>
                          </a:solidFill>
                          <a:latin typeface="Times New Roman" panose="02020603050405020304" pitchFamily="18" charset="0"/>
                          <a:ea typeface="Microsoft YaHei"/>
                          <a:cs typeface="Times New Roman" panose="02020603050405020304" pitchFamily="18" charset="0"/>
                        </a:rPr>
                        <a:t> TTFT</a:t>
                      </a:r>
                    </a:p>
                  </a:txBody>
                  <a:tcPr anchor="ctr">
                    <a:solidFill>
                      <a:srgbClr val="FFFFFF"/>
                    </a:solidFill>
                  </a:tcPr>
                </a:tc>
                <a:tc>
                  <a:txBody>
                    <a:bodyPr/>
                    <a:lstStyle/>
                    <a:p>
                      <a:pPr algn="ctr"/>
                      <a:r>
                        <a:rPr sz="1600" b="0" dirty="0">
                          <a:solidFill>
                            <a:srgbClr val="0B2344"/>
                          </a:solidFill>
                          <a:latin typeface="Times New Roman" panose="02020603050405020304" pitchFamily="18" charset="0"/>
                          <a:ea typeface="Microsoft YaHei"/>
                          <a:cs typeface="Times New Roman" panose="02020603050405020304" pitchFamily="18" charset="0"/>
                        </a:rPr>
                        <a:t>435.9 </a:t>
                      </a:r>
                      <a:r>
                        <a:rPr sz="1600" b="0" dirty="0" err="1">
                          <a:solidFill>
                            <a:srgbClr val="0B2344"/>
                          </a:solidFill>
                          <a:latin typeface="Times New Roman" panose="02020603050405020304" pitchFamily="18" charset="0"/>
                          <a:ea typeface="Microsoft YaHei"/>
                          <a:cs typeface="Times New Roman" panose="02020603050405020304" pitchFamily="18" charset="0"/>
                        </a:rPr>
                        <a:t>ms</a:t>
                      </a:r>
                      <a:endParaRPr sz="1600" b="0" dirty="0">
                        <a:solidFill>
                          <a:srgbClr val="0B2344"/>
                        </a:solidFill>
                        <a:latin typeface="Times New Roman" panose="02020603050405020304" pitchFamily="18" charset="0"/>
                        <a:ea typeface="Microsoft YaHei"/>
                        <a:cs typeface="Times New Roman" panose="02020603050405020304" pitchFamily="18" charset="0"/>
                      </a:endParaRPr>
                    </a:p>
                  </a:txBody>
                  <a:tcPr anchor="ctr">
                    <a:solidFill>
                      <a:srgbClr val="FFFFFF"/>
                    </a:solidFill>
                  </a:tcPr>
                </a:tc>
                <a:tc>
                  <a:txBody>
                    <a:bodyPr/>
                    <a:lstStyle/>
                    <a:p>
                      <a:pPr algn="ctr"/>
                      <a:r>
                        <a:rPr sz="1600" b="0" dirty="0">
                          <a:solidFill>
                            <a:srgbClr val="DB0019"/>
                          </a:solidFill>
                          <a:latin typeface="Times New Roman" panose="02020603050405020304" pitchFamily="18" charset="0"/>
                          <a:ea typeface="Microsoft YaHei"/>
                          <a:cs typeface="Times New Roman" panose="02020603050405020304" pitchFamily="18" charset="0"/>
                        </a:rPr>
                        <a:t>107.8 </a:t>
                      </a:r>
                      <a:r>
                        <a:rPr sz="1600" b="0" dirty="0" err="1">
                          <a:solidFill>
                            <a:srgbClr val="DB0019"/>
                          </a:solidFill>
                          <a:latin typeface="Times New Roman" panose="02020603050405020304" pitchFamily="18" charset="0"/>
                          <a:ea typeface="Microsoft YaHei"/>
                          <a:cs typeface="Times New Roman" panose="02020603050405020304" pitchFamily="18" charset="0"/>
                        </a:rPr>
                        <a:t>ms</a:t>
                      </a:r>
                      <a:endParaRPr sz="1600" b="0" dirty="0">
                        <a:solidFill>
                          <a:srgbClr val="DB0019"/>
                        </a:solidFill>
                        <a:latin typeface="Times New Roman" panose="02020603050405020304" pitchFamily="18" charset="0"/>
                        <a:ea typeface="Microsoft YaHei"/>
                        <a:cs typeface="Times New Roman" panose="02020603050405020304" pitchFamily="18" charset="0"/>
                      </a:endParaRPr>
                    </a:p>
                  </a:txBody>
                  <a:tcPr anchor="ctr">
                    <a:solidFill>
                      <a:srgbClr val="FFFFFF"/>
                    </a:solidFill>
                  </a:tcPr>
                </a:tc>
                <a:tc>
                  <a:txBody>
                    <a:bodyPr/>
                    <a:lstStyle/>
                    <a:p>
                      <a:pPr algn="ctr"/>
                      <a:r>
                        <a:rPr sz="1600" b="0">
                          <a:solidFill>
                            <a:srgbClr val="DB0019"/>
                          </a:solidFill>
                          <a:latin typeface="Times New Roman" panose="02020603050405020304" pitchFamily="18" charset="0"/>
                          <a:ea typeface="Microsoft YaHei"/>
                          <a:cs typeface="Times New Roman" panose="02020603050405020304" pitchFamily="18" charset="0"/>
                        </a:rPr>
                        <a:t>缩短 75.3%</a:t>
                      </a:r>
                    </a:p>
                  </a:txBody>
                  <a:tcPr anchor="ctr">
                    <a:solidFill>
                      <a:srgbClr val="FFFFFF"/>
                    </a:solidFill>
                  </a:tcPr>
                </a:tc>
                <a:extLst>
                  <a:ext uri="{0D108BD9-81ED-4DB2-BD59-A6C34878D82A}">
                    <a16:rowId xmlns:a16="http://schemas.microsoft.com/office/drawing/2014/main" val="10003"/>
                  </a:ext>
                </a:extLst>
              </a:tr>
              <a:tr h="695325">
                <a:tc>
                  <a:txBody>
                    <a:bodyPr/>
                    <a:lstStyle/>
                    <a:p>
                      <a:pPr algn="ctr"/>
                      <a:r>
                        <a:rPr sz="1600" b="0">
                          <a:solidFill>
                            <a:srgbClr val="0B2344"/>
                          </a:solidFill>
                          <a:latin typeface="Times New Roman" panose="02020603050405020304" pitchFamily="18" charset="0"/>
                          <a:ea typeface="Microsoft YaHei"/>
                          <a:cs typeface="Times New Roman" panose="02020603050405020304" pitchFamily="18" charset="0"/>
                        </a:rPr>
                        <a:t>KV Cache 容量</a:t>
                      </a:r>
                    </a:p>
                  </a:txBody>
                  <a:tcPr anchor="ctr">
                    <a:solidFill>
                      <a:srgbClr val="F5F8FC"/>
                    </a:solidFill>
                  </a:tcPr>
                </a:tc>
                <a:tc>
                  <a:txBody>
                    <a:bodyPr/>
                    <a:lstStyle/>
                    <a:p>
                      <a:pPr algn="ctr"/>
                      <a:r>
                        <a:rPr sz="1600" b="0">
                          <a:solidFill>
                            <a:srgbClr val="0B2344"/>
                          </a:solidFill>
                          <a:latin typeface="Times New Roman" panose="02020603050405020304" pitchFamily="18" charset="0"/>
                          <a:ea typeface="Microsoft YaHei"/>
                          <a:cs typeface="Times New Roman" panose="02020603050405020304" pitchFamily="18" charset="0"/>
                        </a:rPr>
                        <a:t>1×（基准）</a:t>
                      </a:r>
                    </a:p>
                  </a:txBody>
                  <a:tcPr anchor="ctr">
                    <a:solidFill>
                      <a:srgbClr val="F5F8FC"/>
                    </a:solidFill>
                  </a:tcPr>
                </a:tc>
                <a:tc>
                  <a:txBody>
                    <a:bodyPr/>
                    <a:lstStyle/>
                    <a:p>
                      <a:pPr algn="ctr"/>
                      <a:r>
                        <a:rPr sz="1600" b="0" dirty="0">
                          <a:solidFill>
                            <a:srgbClr val="DB0019"/>
                          </a:solidFill>
                          <a:latin typeface="Times New Roman" panose="02020603050405020304" pitchFamily="18" charset="0"/>
                          <a:ea typeface="Microsoft YaHei"/>
                          <a:cs typeface="Times New Roman" panose="02020603050405020304" pitchFamily="18" charset="0"/>
                        </a:rPr>
                        <a:t>约 2×</a:t>
                      </a:r>
                    </a:p>
                  </a:txBody>
                  <a:tcPr anchor="ctr">
                    <a:solidFill>
                      <a:srgbClr val="F5F8FC"/>
                    </a:solidFill>
                  </a:tcPr>
                </a:tc>
                <a:tc>
                  <a:txBody>
                    <a:bodyPr/>
                    <a:lstStyle/>
                    <a:p>
                      <a:pPr algn="ctr"/>
                      <a:r>
                        <a:rPr sz="1600" b="0" dirty="0">
                          <a:solidFill>
                            <a:srgbClr val="DB0019"/>
                          </a:solidFill>
                          <a:latin typeface="Times New Roman" panose="02020603050405020304" pitchFamily="18" charset="0"/>
                          <a:ea typeface="Microsoft YaHei"/>
                          <a:cs typeface="Times New Roman" panose="02020603050405020304" pitchFamily="18" charset="0"/>
                        </a:rPr>
                        <a:t>INT8 KV </a:t>
                      </a:r>
                      <a:r>
                        <a:rPr sz="1600" b="0" dirty="0" err="1">
                          <a:solidFill>
                            <a:srgbClr val="DB0019"/>
                          </a:solidFill>
                          <a:latin typeface="Times New Roman" panose="02020603050405020304" pitchFamily="18" charset="0"/>
                          <a:ea typeface="Microsoft YaHei"/>
                          <a:cs typeface="Times New Roman" panose="02020603050405020304" pitchFamily="18" charset="0"/>
                        </a:rPr>
                        <a:t>量化</a:t>
                      </a:r>
                      <a:endParaRPr sz="1600" b="0" dirty="0">
                        <a:solidFill>
                          <a:srgbClr val="DB0019"/>
                        </a:solidFill>
                        <a:latin typeface="Times New Roman" panose="02020603050405020304" pitchFamily="18" charset="0"/>
                        <a:ea typeface="Microsoft YaHei"/>
                        <a:cs typeface="Times New Roman" panose="02020603050405020304" pitchFamily="18" charset="0"/>
                      </a:endParaRPr>
                    </a:p>
                  </a:txBody>
                  <a:tcPr anchor="ctr">
                    <a:solidFill>
                      <a:srgbClr val="F5F8FC"/>
                    </a:solidFill>
                  </a:tcPr>
                </a:tc>
                <a:extLst>
                  <a:ext uri="{0D108BD9-81ED-4DB2-BD59-A6C34878D82A}">
                    <a16:rowId xmlns:a16="http://schemas.microsoft.com/office/drawing/2014/main" val="10004"/>
                  </a:ext>
                </a:extLst>
              </a:tr>
              <a:tr h="695325">
                <a:tc>
                  <a:txBody>
                    <a:bodyPr/>
                    <a:lstStyle/>
                    <a:p>
                      <a:pPr algn="ctr"/>
                      <a:r>
                        <a:rPr sz="1600" b="0" dirty="0" err="1">
                          <a:solidFill>
                            <a:srgbClr val="0B2344"/>
                          </a:solidFill>
                          <a:latin typeface="Times New Roman" panose="02020603050405020304" pitchFamily="18" charset="0"/>
                          <a:ea typeface="Microsoft YaHei"/>
                          <a:cs typeface="Times New Roman" panose="02020603050405020304" pitchFamily="18" charset="0"/>
                        </a:rPr>
                        <a:t>峰值吞吐</a:t>
                      </a:r>
                      <a:endParaRPr sz="1600" b="0" dirty="0">
                        <a:solidFill>
                          <a:srgbClr val="0B2344"/>
                        </a:solidFill>
                        <a:latin typeface="Times New Roman" panose="02020603050405020304" pitchFamily="18" charset="0"/>
                        <a:ea typeface="Microsoft YaHei"/>
                        <a:cs typeface="Times New Roman" panose="02020603050405020304" pitchFamily="18" charset="0"/>
                      </a:endParaRPr>
                    </a:p>
                  </a:txBody>
                  <a:tcPr anchor="ctr">
                    <a:solidFill>
                      <a:srgbClr val="FFFFFF"/>
                    </a:solidFill>
                  </a:tcPr>
                </a:tc>
                <a:tc>
                  <a:txBody>
                    <a:bodyPr/>
                    <a:lstStyle/>
                    <a:p>
                      <a:pPr algn="ctr"/>
                      <a:r>
                        <a:rPr lang="en-US" sz="1600" b="0" dirty="0" smtClean="0">
                          <a:solidFill>
                            <a:srgbClr val="0B2344"/>
                          </a:solidFill>
                          <a:latin typeface="Times New Roman" panose="02020603050405020304" pitchFamily="18" charset="0"/>
                          <a:ea typeface="Microsoft YaHei"/>
                          <a:cs typeface="Times New Roman" panose="02020603050405020304" pitchFamily="18" charset="0"/>
                        </a:rPr>
                        <a:t>2574 </a:t>
                      </a:r>
                      <a:r>
                        <a:rPr lang="en-US" altLang="zh-CN" sz="1600" b="0" dirty="0" err="1" smtClean="0">
                          <a:solidFill>
                            <a:srgbClr val="0B2344"/>
                          </a:solidFill>
                          <a:latin typeface="Times New Roman" panose="02020603050405020304" pitchFamily="18" charset="0"/>
                          <a:ea typeface="Microsoft YaHei"/>
                          <a:cs typeface="Times New Roman" panose="02020603050405020304" pitchFamily="18" charset="0"/>
                        </a:rPr>
                        <a:t>tok</a:t>
                      </a:r>
                      <a:r>
                        <a:rPr lang="en-US" altLang="zh-CN" sz="1600" b="0" dirty="0" smtClean="0">
                          <a:solidFill>
                            <a:srgbClr val="0B2344"/>
                          </a:solidFill>
                          <a:latin typeface="Times New Roman" panose="02020603050405020304" pitchFamily="18" charset="0"/>
                          <a:ea typeface="Microsoft YaHei"/>
                          <a:cs typeface="Times New Roman" panose="02020603050405020304" pitchFamily="18" charset="0"/>
                        </a:rPr>
                        <a:t>/s</a:t>
                      </a:r>
                      <a:endParaRPr sz="1600" b="0" dirty="0">
                        <a:solidFill>
                          <a:srgbClr val="0B2344"/>
                        </a:solidFill>
                        <a:latin typeface="Times New Roman" panose="02020603050405020304" pitchFamily="18" charset="0"/>
                        <a:ea typeface="Microsoft YaHei"/>
                        <a:cs typeface="Times New Roman" panose="02020603050405020304" pitchFamily="18" charset="0"/>
                      </a:endParaRPr>
                    </a:p>
                  </a:txBody>
                  <a:tcPr anchor="ctr">
                    <a:solidFill>
                      <a:srgbClr val="FFFFFF"/>
                    </a:solidFill>
                  </a:tcPr>
                </a:tc>
                <a:tc>
                  <a:txBody>
                    <a:bodyPr/>
                    <a:lstStyle/>
                    <a:p>
                      <a:pPr algn="ctr"/>
                      <a:r>
                        <a:rPr lang="en-US" sz="1600" b="0" dirty="0" smtClean="0">
                          <a:solidFill>
                            <a:srgbClr val="DB0019"/>
                          </a:solidFill>
                          <a:latin typeface="Times New Roman" panose="02020603050405020304" pitchFamily="18" charset="0"/>
                          <a:ea typeface="Microsoft YaHei"/>
                          <a:cs typeface="Times New Roman" panose="02020603050405020304" pitchFamily="18" charset="0"/>
                        </a:rPr>
                        <a:t>3118</a:t>
                      </a:r>
                      <a:r>
                        <a:rPr sz="1600" b="0" dirty="0" smtClean="0">
                          <a:solidFill>
                            <a:srgbClr val="DB0019"/>
                          </a:solidFill>
                          <a:latin typeface="Times New Roman" panose="02020603050405020304" pitchFamily="18" charset="0"/>
                          <a:ea typeface="Microsoft YaHei"/>
                          <a:cs typeface="Times New Roman" panose="02020603050405020304" pitchFamily="18" charset="0"/>
                        </a:rPr>
                        <a:t> </a:t>
                      </a:r>
                      <a:r>
                        <a:rPr sz="1600" b="0" dirty="0" err="1">
                          <a:solidFill>
                            <a:srgbClr val="DB0019"/>
                          </a:solidFill>
                          <a:latin typeface="Times New Roman" panose="02020603050405020304" pitchFamily="18" charset="0"/>
                          <a:ea typeface="Microsoft YaHei"/>
                          <a:cs typeface="Times New Roman" panose="02020603050405020304" pitchFamily="18" charset="0"/>
                        </a:rPr>
                        <a:t>tok</a:t>
                      </a:r>
                      <a:r>
                        <a:rPr sz="1600" b="0" dirty="0">
                          <a:solidFill>
                            <a:srgbClr val="DB0019"/>
                          </a:solidFill>
                          <a:latin typeface="Times New Roman" panose="02020603050405020304" pitchFamily="18" charset="0"/>
                          <a:ea typeface="Microsoft YaHei"/>
                          <a:cs typeface="Times New Roman" panose="02020603050405020304" pitchFamily="18" charset="0"/>
                        </a:rPr>
                        <a:t>/s</a:t>
                      </a:r>
                    </a:p>
                  </a:txBody>
                  <a:tcPr anchor="ctr">
                    <a:solidFill>
                      <a:srgbClr val="FFFFFF"/>
                    </a:solidFill>
                  </a:tcPr>
                </a:tc>
                <a:tc>
                  <a:txBody>
                    <a:bodyPr/>
                    <a:lstStyle/>
                    <a:p>
                      <a:pPr algn="ctr"/>
                      <a:r>
                        <a:rPr sz="1600" b="0" dirty="0" err="1">
                          <a:solidFill>
                            <a:srgbClr val="DB0019"/>
                          </a:solidFill>
                          <a:latin typeface="Times New Roman" panose="02020603050405020304" pitchFamily="18" charset="0"/>
                          <a:ea typeface="Microsoft YaHei"/>
                          <a:cs typeface="Times New Roman" panose="02020603050405020304" pitchFamily="18" charset="0"/>
                        </a:rPr>
                        <a:t>优化后峰值</a:t>
                      </a:r>
                      <a:endParaRPr sz="1600" b="0" dirty="0">
                        <a:solidFill>
                          <a:srgbClr val="DB0019"/>
                        </a:solidFill>
                        <a:latin typeface="Times New Roman" panose="02020603050405020304" pitchFamily="18" charset="0"/>
                        <a:ea typeface="Microsoft YaHei"/>
                        <a:cs typeface="Times New Roman" panose="02020603050405020304" pitchFamily="18" charset="0"/>
                      </a:endParaRPr>
                    </a:p>
                  </a:txBody>
                  <a:tcPr anchor="ctr">
                    <a:solidFill>
                      <a:srgbClr val="FFFFFF"/>
                    </a:solidFill>
                  </a:tcPr>
                </a:tc>
                <a:extLst>
                  <a:ext uri="{0D108BD9-81ED-4DB2-BD59-A6C34878D82A}">
                    <a16:rowId xmlns:a16="http://schemas.microsoft.com/office/drawing/2014/main" val="10005"/>
                  </a:ext>
                </a:extLst>
              </a:tr>
            </a:tbl>
          </a:graphicData>
        </a:graphic>
      </p:graphicFrame>
      <p:sp>
        <p:nvSpPr>
          <p:cNvPr id="87" name="文本框 95"/>
          <p:cNvSpPr txBox="1"/>
          <p:nvPr/>
        </p:nvSpPr>
        <p:spPr>
          <a:xfrm>
            <a:off x="179512" y="5991567"/>
            <a:ext cx="3950786"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charset="0"/>
              <a:buChar char="p"/>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耗时指标测试条件：</a:t>
            </a:r>
            <a:r>
              <a:rPr lang="en-US" altLang="zh-CN" sz="1500" dirty="0">
                <a:solidFill>
                  <a:schemeClr val="tx1">
                    <a:lumMod val="95000"/>
                    <a:lumOff val="5000"/>
                  </a:schemeClr>
                </a:solidFill>
                <a:latin typeface="微软雅黑" panose="020B0503020204020204" pitchFamily="34" charset="-122"/>
                <a:ea typeface="微软雅黑" panose="020B0503020204020204" pitchFamily="34" charset="-122"/>
                <a:sym typeface="+mn-ea"/>
              </a:rPr>
              <a:t>4096 tokens</a:t>
            </a:r>
          </a:p>
        </p:txBody>
      </p:sp>
      <p:sp>
        <p:nvSpPr>
          <p:cNvPr id="6" name="标题 1">
            <a:extLst>
              <a:ext uri="{FF2B5EF4-FFF2-40B4-BE49-F238E27FC236}">
                <a16:creationId xmlns:a16="http://schemas.microsoft.com/office/drawing/2014/main" id="{5D289166-8634-5165-77F3-9656C34FA3E1}"/>
              </a:ext>
            </a:extLst>
          </p:cNvPr>
          <p:cNvSpPr>
            <a:spLocks noGrp="1"/>
          </p:cNvSpPr>
          <p:nvPr>
            <p:ph type="title"/>
          </p:nvPr>
        </p:nvSpPr>
        <p:spPr>
          <a:xfrm>
            <a:off x="395288" y="333375"/>
            <a:ext cx="6840537" cy="503238"/>
          </a:xfrm>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实习任务一</a:t>
            </a:r>
            <a:r>
              <a:rPr dirty="0">
                <a:solidFill>
                  <a:srgbClr val="000000"/>
                </a:solidFill>
                <a:latin typeface="Times New Roman" panose="02020603050405020304" pitchFamily="18" charset="0"/>
                <a:ea typeface="+mn-ea"/>
                <a:cs typeface="Times New Roman" panose="02020603050405020304" pitchFamily="18" charset="0"/>
              </a:rPr>
              <a:t>：</a:t>
            </a:r>
            <a:r>
              <a:rPr lang="en-US" dirty="0" err="1">
                <a:solidFill>
                  <a:srgbClr val="000000"/>
                </a:solidFill>
                <a:latin typeface="Times New Roman" panose="02020603050405020304" pitchFamily="18" charset="0"/>
                <a:ea typeface="+mn-ea"/>
                <a:cs typeface="Times New Roman" panose="02020603050405020304" pitchFamily="18" charset="0"/>
              </a:rPr>
              <a:t>M</a:t>
            </a:r>
            <a:r>
              <a:rPr lang="en-US" altLang="zh-CN" dirty="0" err="1">
                <a:solidFill>
                  <a:srgbClr val="000000"/>
                </a:solidFill>
                <a:latin typeface="Times New Roman" panose="02020603050405020304" pitchFamily="18" charset="0"/>
                <a:ea typeface="+mn-ea"/>
                <a:cs typeface="Times New Roman" panose="02020603050405020304" pitchFamily="18" charset="0"/>
              </a:rPr>
              <a:t>lu</a:t>
            </a:r>
            <a:r>
              <a:rPr lang="zh-CN" altLang="en-US" dirty="0">
                <a:solidFill>
                  <a:srgbClr val="000000"/>
                </a:solidFill>
                <a:latin typeface="Times New Roman" panose="02020603050405020304" pitchFamily="18" charset="0"/>
                <a:ea typeface="+mn-ea"/>
                <a:cs typeface="Times New Roman" panose="02020603050405020304" pitchFamily="18" charset="0"/>
              </a:rPr>
              <a:t>平台算子优化与</a:t>
            </a:r>
            <a:r>
              <a:rPr lang="en-US" altLang="zh-CN" dirty="0" err="1">
                <a:solidFill>
                  <a:srgbClr val="000000"/>
                </a:solidFill>
                <a:latin typeface="Times New Roman" panose="02020603050405020304" pitchFamily="18" charset="0"/>
                <a:ea typeface="+mn-ea"/>
                <a:cs typeface="Times New Roman" panose="02020603050405020304" pitchFamily="18" charset="0"/>
              </a:rPr>
              <a:t>vllm</a:t>
            </a:r>
            <a:r>
              <a:rPr lang="zh-CN" altLang="en-US" dirty="0">
                <a:solidFill>
                  <a:srgbClr val="000000"/>
                </a:solidFill>
                <a:latin typeface="Times New Roman" panose="02020603050405020304" pitchFamily="18" charset="0"/>
                <a:ea typeface="+mn-ea"/>
                <a:cs typeface="Times New Roman" panose="02020603050405020304" pitchFamily="18" charset="0"/>
              </a:rPr>
              <a:t>优化</a:t>
            </a:r>
            <a:endParaRPr dirty="0">
              <a:solidFill>
                <a:srgbClr val="000000"/>
              </a:solidFill>
              <a:latin typeface="Times New Roman" panose="02020603050405020304" pitchFamily="18" charset="0"/>
              <a:ea typeface="+mn-ea"/>
              <a:cs typeface="Times New Roman" panose="02020603050405020304" pitchFamily="18" charset="0"/>
            </a:endParaRPr>
          </a:p>
        </p:txBody>
      </p:sp>
    </p:spTree>
    <p:extLst>
      <p:ext uri="{BB962C8B-B14F-4D97-AF65-F5344CB8AC3E}">
        <p14:creationId xmlns:p14="http://schemas.microsoft.com/office/powerpoint/2010/main" val="2002017733"/>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目录</a:t>
            </a:r>
          </a:p>
        </p:txBody>
      </p:sp>
      <p:graphicFrame>
        <p:nvGraphicFramePr>
          <p:cNvPr id="7" name="图示 6"/>
          <p:cNvGraphicFramePr/>
          <p:nvPr>
            <p:extLst>
              <p:ext uri="{D42A27DB-BD31-4B8C-83A1-F6EECF244321}">
                <p14:modId xmlns:p14="http://schemas.microsoft.com/office/powerpoint/2010/main" val="3965993426"/>
              </p:ext>
            </p:extLst>
          </p:nvPr>
        </p:nvGraphicFramePr>
        <p:xfrm>
          <a:off x="1763688" y="1556792"/>
          <a:ext cx="6096000" cy="40970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灯片编号占位符 2"/>
          <p:cNvSpPr>
            <a:spLocks noGrp="1"/>
          </p:cNvSpPr>
          <p:nvPr>
            <p:ph type="sldNum" sz="quarter" idx="12"/>
          </p:nvPr>
        </p:nvSpPr>
        <p:spPr/>
        <p:txBody>
          <a:bodyPr/>
          <a:lstStyle/>
          <a:p>
            <a:fld id="{03621AC1-4C4D-435F-BACF-B518BC126F02}" type="slidenum">
              <a:rPr lang="zh-CN" altLang="en-US" smtClean="0"/>
              <a:t>13</a:t>
            </a:fld>
            <a:endParaRPr lang="zh-CN" altLang="en-US"/>
          </a:p>
        </p:txBody>
      </p:sp>
    </p:spTree>
    <p:extLst>
      <p:ext uri="{BB962C8B-B14F-4D97-AF65-F5344CB8AC3E}">
        <p14:creationId xmlns:p14="http://schemas.microsoft.com/office/powerpoint/2010/main" val="1051676829"/>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83" name="矩形 82"/>
          <p:cNvSpPr/>
          <p:nvPr/>
        </p:nvSpPr>
        <p:spPr>
          <a:xfrm>
            <a:off x="1510903" y="6597079"/>
            <a:ext cx="6589489" cy="219291"/>
          </a:xfrm>
          <a:prstGeom prst="rect">
            <a:avLst/>
          </a:prstGeom>
        </p:spPr>
        <p:txBody>
          <a:bodyPr wrap="square">
            <a:spAutoFit/>
          </a:bodyPr>
          <a:lstStyle/>
          <a:p>
            <a:r>
              <a:rPr lang="en-US" altLang="zh-CN" sz="825" dirty="0">
                <a:solidFill>
                  <a:schemeClr val="tx1">
                    <a:lumMod val="65000"/>
                    <a:lumOff val="35000"/>
                  </a:schemeClr>
                </a:solidFill>
                <a:latin typeface="Times New Roman" panose="02020603050405020304" pitchFamily="18" charset="0"/>
                <a:cs typeface="Times New Roman" panose="02020603050405020304" pitchFamily="18" charset="0"/>
              </a:rPr>
              <a:t>Hong, D. B.; Imani, A.; Ahmed, I. “From Anatomy to Smells: An Empirical Study of SKILL.md in Agent Skills.” arXiv:2607.01456, 2026.</a:t>
            </a: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14</a:t>
            </a:fld>
            <a:endParaRPr lang="zh-CN" altLang="en-US"/>
          </a:p>
        </p:txBody>
      </p:sp>
      <p:sp>
        <p:nvSpPr>
          <p:cNvPr id="84"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sz="2100" b="1" dirty="0" err="1">
                <a:solidFill>
                  <a:srgbClr val="000000"/>
                </a:solidFill>
                <a:latin typeface="Times New Roman" panose="02020603050405020304" pitchFamily="18" charset="0"/>
                <a:cs typeface="Times New Roman" panose="02020603050405020304" pitchFamily="18" charset="0"/>
              </a:rPr>
              <a:t>原始</a:t>
            </a:r>
            <a:r>
              <a:rPr sz="2100" b="1" dirty="0">
                <a:solidFill>
                  <a:srgbClr val="000000"/>
                </a:solidFill>
                <a:latin typeface="Times New Roman" panose="02020603050405020304" pitchFamily="18" charset="0"/>
                <a:cs typeface="Times New Roman" panose="02020603050405020304" pitchFamily="18" charset="0"/>
              </a:rPr>
              <a:t> Skill </a:t>
            </a:r>
            <a:r>
              <a:rPr sz="2100" b="1" dirty="0" err="1">
                <a:solidFill>
                  <a:srgbClr val="000000"/>
                </a:solidFill>
                <a:latin typeface="+mn-ea"/>
                <a:cs typeface="Times New Roman" panose="02020603050405020304" pitchFamily="18" charset="0"/>
              </a:rPr>
              <a:t>已具备完整开发流程</a:t>
            </a:r>
            <a:endParaRPr sz="2100" b="1" dirty="0">
              <a:solidFill>
                <a:srgbClr val="000000"/>
              </a:solidFill>
              <a:latin typeface="+mn-ea"/>
              <a:cs typeface="Times New Roman" panose="02020603050405020304" pitchFamily="18" charset="0"/>
            </a:endParaRPr>
          </a:p>
        </p:txBody>
      </p:sp>
      <p:sp>
        <p:nvSpPr>
          <p:cNvPr id="85"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86" name="object_105"/>
          <p:cNvSpPr>
            <a:spLocks noGrp="1"/>
          </p:cNvSpPr>
          <p:nvPr/>
        </p:nvSpPr>
        <p:spPr>
          <a:xfrm>
            <a:off x="559926" y="1883730"/>
            <a:ext cx="1214438" cy="400050"/>
          </a:xfrm>
          <a:prstGeom prst="rect">
            <a:avLst/>
          </a:prstGeom>
          <a:solidFill>
            <a:srgbClr val="FFFFFF"/>
          </a:solidFill>
          <a:ln w="17145">
            <a:solidFill>
              <a:schemeClr val="tx1">
                <a:lumMod val="95000"/>
                <a:lumOff val="5000"/>
              </a:schemeClr>
            </a:solidFill>
          </a:ln>
        </p:spPr>
      </p:sp>
      <p:sp>
        <p:nvSpPr>
          <p:cNvPr id="87" name="text_107_需求输入"/>
          <p:cNvSpPr>
            <a:spLocks noGrp="1"/>
          </p:cNvSpPr>
          <p:nvPr/>
        </p:nvSpPr>
        <p:spPr>
          <a:xfrm>
            <a:off x="609932" y="1919448"/>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sz="1240" b="1" dirty="0" err="1">
                <a:solidFill>
                  <a:srgbClr val="000000"/>
                </a:solidFill>
                <a:latin typeface="Times New Roman" panose="02020603050405020304" pitchFamily="18" charset="0"/>
                <a:cs typeface="Times New Roman" panose="02020603050405020304" pitchFamily="18" charset="0"/>
              </a:rPr>
              <a:t>需求输入</a:t>
            </a:r>
            <a:endParaRPr sz="1240" b="1" dirty="0">
              <a:solidFill>
                <a:srgbClr val="000000"/>
              </a:solidFill>
              <a:latin typeface="Times New Roman" panose="02020603050405020304" pitchFamily="18" charset="0"/>
              <a:cs typeface="Times New Roman" panose="02020603050405020304" pitchFamily="18" charset="0"/>
            </a:endParaRPr>
          </a:p>
        </p:txBody>
      </p:sp>
      <p:sp>
        <p:nvSpPr>
          <p:cNvPr id="90" name="object_110"/>
          <p:cNvSpPr>
            <a:spLocks noGrp="1"/>
          </p:cNvSpPr>
          <p:nvPr/>
        </p:nvSpPr>
        <p:spPr>
          <a:xfrm>
            <a:off x="1938670" y="1883730"/>
            <a:ext cx="1214438" cy="400050"/>
          </a:xfrm>
          <a:prstGeom prst="rect">
            <a:avLst/>
          </a:prstGeom>
          <a:solidFill>
            <a:srgbClr val="FFFFFF"/>
          </a:solidFill>
          <a:ln w="17145">
            <a:solidFill>
              <a:schemeClr val="tx1">
                <a:lumMod val="95000"/>
                <a:lumOff val="5000"/>
              </a:schemeClr>
            </a:solidFill>
          </a:ln>
        </p:spPr>
      </p:sp>
      <p:sp>
        <p:nvSpPr>
          <p:cNvPr id="91" name="text_112_Main"/>
          <p:cNvSpPr>
            <a:spLocks noGrp="1"/>
          </p:cNvSpPr>
          <p:nvPr/>
        </p:nvSpPr>
        <p:spPr>
          <a:xfrm>
            <a:off x="1988676" y="1919448"/>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sz="1240" b="1">
                <a:solidFill>
                  <a:srgbClr val="000000"/>
                </a:solidFill>
                <a:latin typeface="Times New Roman" panose="02020603050405020304" pitchFamily="18" charset="0"/>
                <a:cs typeface="Times New Roman" panose="02020603050405020304" pitchFamily="18" charset="0"/>
              </a:rPr>
              <a:t>Main</a:t>
            </a:r>
          </a:p>
        </p:txBody>
      </p:sp>
      <p:sp>
        <p:nvSpPr>
          <p:cNvPr id="94" name="object_115"/>
          <p:cNvSpPr>
            <a:spLocks noGrp="1"/>
          </p:cNvSpPr>
          <p:nvPr/>
        </p:nvSpPr>
        <p:spPr>
          <a:xfrm>
            <a:off x="3317413" y="1883730"/>
            <a:ext cx="1214438" cy="400050"/>
          </a:xfrm>
          <a:prstGeom prst="rect">
            <a:avLst/>
          </a:prstGeom>
          <a:solidFill>
            <a:srgbClr val="FFFFFF"/>
          </a:solidFill>
          <a:ln w="17145">
            <a:solidFill>
              <a:schemeClr val="tx1">
                <a:lumMod val="95000"/>
                <a:lumOff val="5000"/>
              </a:schemeClr>
            </a:solidFill>
          </a:ln>
        </p:spPr>
      </p:sp>
      <p:sp>
        <p:nvSpPr>
          <p:cNvPr id="95" name="text_117_Code-Gen"/>
          <p:cNvSpPr>
            <a:spLocks noGrp="1"/>
          </p:cNvSpPr>
          <p:nvPr/>
        </p:nvSpPr>
        <p:spPr>
          <a:xfrm>
            <a:off x="3367420" y="1919448"/>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sz="1240" b="1">
                <a:solidFill>
                  <a:srgbClr val="000000"/>
                </a:solidFill>
                <a:latin typeface="Times New Roman" panose="02020603050405020304" pitchFamily="18" charset="0"/>
                <a:cs typeface="Times New Roman" panose="02020603050405020304" pitchFamily="18" charset="0"/>
              </a:rPr>
              <a:t>Code-Gen</a:t>
            </a:r>
          </a:p>
        </p:txBody>
      </p:sp>
      <p:sp>
        <p:nvSpPr>
          <p:cNvPr id="98" name="object_120"/>
          <p:cNvSpPr>
            <a:spLocks noGrp="1"/>
          </p:cNvSpPr>
          <p:nvPr/>
        </p:nvSpPr>
        <p:spPr>
          <a:xfrm>
            <a:off x="4696157" y="1883730"/>
            <a:ext cx="1214438" cy="400050"/>
          </a:xfrm>
          <a:prstGeom prst="rect">
            <a:avLst/>
          </a:prstGeom>
          <a:solidFill>
            <a:srgbClr val="FFFFFF"/>
          </a:solidFill>
          <a:ln w="17145">
            <a:solidFill>
              <a:schemeClr val="tx1">
                <a:lumMod val="95000"/>
                <a:lumOff val="5000"/>
              </a:schemeClr>
            </a:solidFill>
          </a:ln>
        </p:spPr>
      </p:sp>
      <p:sp>
        <p:nvSpPr>
          <p:cNvPr id="99" name="text_122_Code-Review"/>
          <p:cNvSpPr>
            <a:spLocks noGrp="1"/>
          </p:cNvSpPr>
          <p:nvPr/>
        </p:nvSpPr>
        <p:spPr>
          <a:xfrm>
            <a:off x="4746164" y="1919448"/>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sz="1240" b="1">
                <a:solidFill>
                  <a:srgbClr val="000000"/>
                </a:solidFill>
                <a:latin typeface="Times New Roman" panose="02020603050405020304" pitchFamily="18" charset="0"/>
                <a:cs typeface="Times New Roman" panose="02020603050405020304" pitchFamily="18" charset="0"/>
              </a:rPr>
              <a:t>Code-Review</a:t>
            </a:r>
          </a:p>
        </p:txBody>
      </p:sp>
      <p:sp>
        <p:nvSpPr>
          <p:cNvPr id="102" name="object_125"/>
          <p:cNvSpPr>
            <a:spLocks noGrp="1"/>
          </p:cNvSpPr>
          <p:nvPr/>
        </p:nvSpPr>
        <p:spPr>
          <a:xfrm>
            <a:off x="6074901" y="1883730"/>
            <a:ext cx="1214438" cy="400050"/>
          </a:xfrm>
          <a:prstGeom prst="rect">
            <a:avLst/>
          </a:prstGeom>
          <a:solidFill>
            <a:srgbClr val="FFFFFF"/>
          </a:solidFill>
          <a:ln w="17145">
            <a:solidFill>
              <a:schemeClr val="tx1">
                <a:lumMod val="95000"/>
                <a:lumOff val="5000"/>
              </a:schemeClr>
            </a:solidFill>
          </a:ln>
        </p:spPr>
      </p:sp>
      <p:sp>
        <p:nvSpPr>
          <p:cNvPr id="103" name="text_127_Optimize"/>
          <p:cNvSpPr>
            <a:spLocks noGrp="1"/>
          </p:cNvSpPr>
          <p:nvPr/>
        </p:nvSpPr>
        <p:spPr>
          <a:xfrm>
            <a:off x="6124907" y="1919448"/>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sz="1240" b="1" dirty="0">
                <a:solidFill>
                  <a:srgbClr val="000000"/>
                </a:solidFill>
                <a:latin typeface="Times New Roman" panose="02020603050405020304" pitchFamily="18" charset="0"/>
                <a:cs typeface="Times New Roman" panose="02020603050405020304" pitchFamily="18" charset="0"/>
              </a:rPr>
              <a:t>Optimize</a:t>
            </a:r>
          </a:p>
        </p:txBody>
      </p:sp>
      <p:sp>
        <p:nvSpPr>
          <p:cNvPr id="106" name="object_130"/>
          <p:cNvSpPr>
            <a:spLocks noGrp="1"/>
          </p:cNvSpPr>
          <p:nvPr/>
        </p:nvSpPr>
        <p:spPr>
          <a:xfrm>
            <a:off x="7453645" y="1883730"/>
            <a:ext cx="1214438" cy="400050"/>
          </a:xfrm>
          <a:prstGeom prst="rect">
            <a:avLst/>
          </a:prstGeom>
          <a:solidFill>
            <a:srgbClr val="FFFFFF"/>
          </a:solidFill>
          <a:ln w="17145">
            <a:solidFill>
              <a:schemeClr val="tx1">
                <a:lumMod val="95000"/>
                <a:lumOff val="5000"/>
              </a:schemeClr>
            </a:solidFill>
          </a:ln>
        </p:spPr>
      </p:sp>
      <p:sp>
        <p:nvSpPr>
          <p:cNvPr id="107" name="text_132_Kernel 交付"/>
          <p:cNvSpPr>
            <a:spLocks noGrp="1"/>
          </p:cNvSpPr>
          <p:nvPr/>
        </p:nvSpPr>
        <p:spPr>
          <a:xfrm>
            <a:off x="7503651" y="1919448"/>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sz="1240" b="1" dirty="0">
                <a:solidFill>
                  <a:srgbClr val="000000"/>
                </a:solidFill>
                <a:latin typeface="Times New Roman" panose="02020603050405020304" pitchFamily="18" charset="0"/>
                <a:cs typeface="Times New Roman" panose="02020603050405020304" pitchFamily="18" charset="0"/>
              </a:rPr>
              <a:t>Kernel </a:t>
            </a:r>
            <a:r>
              <a:rPr sz="1240" b="1" dirty="0" err="1">
                <a:solidFill>
                  <a:srgbClr val="000000"/>
                </a:solidFill>
                <a:latin typeface="Times New Roman" panose="02020603050405020304" pitchFamily="18" charset="0"/>
                <a:cs typeface="Times New Roman" panose="02020603050405020304" pitchFamily="18" charset="0"/>
              </a:rPr>
              <a:t>交付</a:t>
            </a:r>
            <a:endParaRPr sz="1240" b="1" dirty="0">
              <a:solidFill>
                <a:srgbClr val="000000"/>
              </a:solidFill>
              <a:latin typeface="Times New Roman" panose="02020603050405020304" pitchFamily="18" charset="0"/>
              <a:cs typeface="Times New Roman" panose="02020603050405020304" pitchFamily="18" charset="0"/>
            </a:endParaRPr>
          </a:p>
        </p:txBody>
      </p:sp>
      <p:sp>
        <p:nvSpPr>
          <p:cNvPr id="108" name="text_137_实际使用中的核心问题"/>
          <p:cNvSpPr>
            <a:spLocks noGrp="1"/>
          </p:cNvSpPr>
          <p:nvPr/>
        </p:nvSpPr>
        <p:spPr>
          <a:xfrm>
            <a:off x="616331" y="2689244"/>
            <a:ext cx="3443288" cy="300038"/>
          </a:xfrm>
          <a:prstGeom prst="rect">
            <a:avLst/>
          </a:prstGeom>
          <a:noFill/>
          <a:ln w="9525">
            <a:noFill/>
          </a:ln>
        </p:spPr>
        <p:txBody>
          <a:bodyPr wrap="none" lIns="0" tIns="0" rIns="0" bIns="0" anchor="ctr">
            <a:noAutofit/>
          </a:bodyPr>
          <a:lstStyle/>
          <a:p>
            <a:pPr algn="l">
              <a:defRPr sz="2100" b="1">
                <a:solidFill>
                  <a:srgbClr val="000000"/>
                </a:solidFill>
                <a:latin typeface="Arial" panose="020B0604020202020204"/>
                <a:ea typeface="Arial" panose="020B0604020202020204"/>
                <a:cs typeface="Arial" panose="020B0604020202020204"/>
              </a:defRPr>
            </a:pPr>
            <a:r>
              <a:rPr sz="2100" b="1" dirty="0" err="1">
                <a:solidFill>
                  <a:srgbClr val="000000"/>
                </a:solidFill>
                <a:latin typeface="Times New Roman" panose="02020603050405020304" pitchFamily="18" charset="0"/>
                <a:cs typeface="Times New Roman" panose="02020603050405020304" pitchFamily="18" charset="0"/>
              </a:rPr>
              <a:t>使用中</a:t>
            </a:r>
            <a:r>
              <a:rPr lang="zh-CN" altLang="en-US" sz="2100" b="1" dirty="0">
                <a:solidFill>
                  <a:srgbClr val="000000"/>
                </a:solidFill>
                <a:latin typeface="Times New Roman" panose="02020603050405020304" pitchFamily="18" charset="0"/>
                <a:cs typeface="Times New Roman" panose="02020603050405020304" pitchFamily="18" charset="0"/>
              </a:rPr>
              <a:t>遇到的</a:t>
            </a:r>
            <a:r>
              <a:rPr sz="2100" b="1" dirty="0" err="1">
                <a:solidFill>
                  <a:srgbClr val="000000"/>
                </a:solidFill>
                <a:latin typeface="Times New Roman" panose="02020603050405020304" pitchFamily="18" charset="0"/>
                <a:cs typeface="Times New Roman" panose="02020603050405020304" pitchFamily="18" charset="0"/>
              </a:rPr>
              <a:t>问题</a:t>
            </a:r>
            <a:endParaRPr sz="2100" b="1" dirty="0">
              <a:solidFill>
                <a:srgbClr val="000000"/>
              </a:solidFill>
              <a:latin typeface="Times New Roman" panose="02020603050405020304" pitchFamily="18" charset="0"/>
              <a:cs typeface="Times New Roman" panose="02020603050405020304" pitchFamily="18" charset="0"/>
            </a:endParaRPr>
          </a:p>
        </p:txBody>
      </p:sp>
      <p:sp>
        <p:nvSpPr>
          <p:cNvPr id="109" name="connector_138"/>
          <p:cNvSpPr>
            <a:spLocks noGrp="1"/>
          </p:cNvSpPr>
          <p:nvPr/>
        </p:nvSpPr>
        <p:spPr>
          <a:xfrm>
            <a:off x="602043" y="3025001"/>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121" name="object_125"/>
          <p:cNvSpPr>
            <a:spLocks noGrp="1"/>
          </p:cNvSpPr>
          <p:nvPr/>
        </p:nvSpPr>
        <p:spPr>
          <a:xfrm>
            <a:off x="1016902" y="3426814"/>
            <a:ext cx="6085433" cy="400050"/>
          </a:xfrm>
          <a:prstGeom prst="rect">
            <a:avLst/>
          </a:prstGeom>
          <a:solidFill>
            <a:srgbClr val="FFFFFF"/>
          </a:solidFill>
          <a:ln w="17145">
            <a:solidFill>
              <a:srgbClr val="D7000F"/>
            </a:solidFill>
          </a:ln>
        </p:spPr>
      </p:sp>
      <p:sp>
        <p:nvSpPr>
          <p:cNvPr id="122" name="text_127_Optimize"/>
          <p:cNvSpPr>
            <a:spLocks noGrp="1"/>
          </p:cNvSpPr>
          <p:nvPr/>
        </p:nvSpPr>
        <p:spPr>
          <a:xfrm>
            <a:off x="3496982" y="3476821"/>
            <a:ext cx="1114425" cy="328613"/>
          </a:xfrm>
          <a:prstGeom prst="rect">
            <a:avLst/>
          </a:prstGeom>
          <a:noFill/>
          <a:ln w="9525">
            <a:noFill/>
          </a:ln>
        </p:spPr>
        <p:txBody>
          <a:bodyPr wrap="none" lIns="0" tIns="0" rIns="0" bIns="0" anchor="ctr">
            <a:noAutofit/>
          </a:bodyPr>
          <a:lstStyle/>
          <a:p>
            <a:pPr algn="ctr">
              <a:defRPr sz="1650" b="1">
                <a:solidFill>
                  <a:srgbClr val="000000"/>
                </a:solidFill>
                <a:latin typeface="Arial" panose="020B0604020202020204"/>
                <a:ea typeface="Arial" panose="020B0604020202020204"/>
                <a:cs typeface="Arial" panose="020B0604020202020204"/>
              </a:defRPr>
            </a:pPr>
            <a:r>
              <a:rPr lang="zh-CN" altLang="en-US" sz="1240" b="1" dirty="0">
                <a:solidFill>
                  <a:srgbClr val="000000"/>
                </a:solidFill>
                <a:latin typeface="Times New Roman" panose="02020603050405020304" pitchFamily="18" charset="0"/>
                <a:cs typeface="Times New Roman" panose="02020603050405020304" pitchFamily="18" charset="0"/>
              </a:rPr>
              <a:t>例子：输入 </a:t>
            </a:r>
            <a:r>
              <a:rPr lang="en-US" altLang="zh-CN" sz="1240" b="1" dirty="0">
                <a:solidFill>
                  <a:srgbClr val="FF0000"/>
                </a:solidFill>
                <a:latin typeface="Times New Roman" panose="02020603050405020304" pitchFamily="18" charset="0"/>
                <a:cs typeface="Times New Roman" panose="02020603050405020304" pitchFamily="18" charset="0"/>
              </a:rPr>
              <a:t>4096*8192</a:t>
            </a:r>
            <a:r>
              <a:rPr lang="zh-CN" altLang="en-US" sz="1240" b="1" dirty="0">
                <a:solidFill>
                  <a:srgbClr val="000000"/>
                </a:solidFill>
                <a:latin typeface="Times New Roman" panose="02020603050405020304" pitchFamily="18" charset="0"/>
                <a:cs typeface="Times New Roman" panose="02020603050405020304" pitchFamily="18" charset="0"/>
              </a:rPr>
              <a:t>的</a:t>
            </a:r>
            <a:r>
              <a:rPr lang="en-US" altLang="zh-CN" sz="1240" b="1" dirty="0" err="1">
                <a:solidFill>
                  <a:srgbClr val="000000"/>
                </a:solidFill>
                <a:latin typeface="Times New Roman" panose="02020603050405020304" pitchFamily="18" charset="0"/>
                <a:cs typeface="Times New Roman" panose="02020603050405020304" pitchFamily="18" charset="0"/>
              </a:rPr>
              <a:t>softmax</a:t>
            </a:r>
            <a:r>
              <a:rPr lang="zh-CN" altLang="en-US" sz="1240" b="1" dirty="0">
                <a:solidFill>
                  <a:srgbClr val="000000"/>
                </a:solidFill>
                <a:latin typeface="Times New Roman" panose="02020603050405020304" pitchFamily="18" charset="0"/>
                <a:cs typeface="Times New Roman" panose="02020603050405020304" pitchFamily="18" charset="0"/>
              </a:rPr>
              <a:t>算子，开发时间</a:t>
            </a:r>
            <a:r>
              <a:rPr lang="zh-CN" altLang="en-US" sz="1240" b="1" dirty="0">
                <a:solidFill>
                  <a:srgbClr val="FF0000"/>
                </a:solidFill>
                <a:latin typeface="Times New Roman" panose="02020603050405020304" pitchFamily="18" charset="0"/>
                <a:cs typeface="Times New Roman" panose="02020603050405020304" pitchFamily="18" charset="0"/>
              </a:rPr>
              <a:t>三小时</a:t>
            </a:r>
            <a:r>
              <a:rPr lang="zh-CN" altLang="en-US" sz="1240" b="1" dirty="0">
                <a:solidFill>
                  <a:srgbClr val="000000"/>
                </a:solidFill>
                <a:latin typeface="Times New Roman" panose="02020603050405020304" pitchFamily="18" charset="0"/>
                <a:cs typeface="Times New Roman" panose="02020603050405020304" pitchFamily="18" charset="0"/>
              </a:rPr>
              <a:t>，消耗</a:t>
            </a:r>
            <a:r>
              <a:rPr lang="en-US" altLang="zh-CN" sz="1240" b="1" dirty="0">
                <a:solidFill>
                  <a:srgbClr val="FF0000"/>
                </a:solidFill>
                <a:latin typeface="Times New Roman" panose="02020603050405020304" pitchFamily="18" charset="0"/>
                <a:cs typeface="Times New Roman" panose="02020603050405020304" pitchFamily="18" charset="0"/>
              </a:rPr>
              <a:t>200</a:t>
            </a:r>
            <a:r>
              <a:rPr lang="zh-CN" altLang="en-US" sz="1240" b="1" dirty="0">
                <a:solidFill>
                  <a:srgbClr val="FF0000"/>
                </a:solidFill>
                <a:latin typeface="Times New Roman" panose="02020603050405020304" pitchFamily="18" charset="0"/>
                <a:cs typeface="Times New Roman" panose="02020603050405020304" pitchFamily="18" charset="0"/>
              </a:rPr>
              <a:t>万</a:t>
            </a:r>
            <a:r>
              <a:rPr lang="en-US" altLang="zh-CN" sz="1240" b="1" dirty="0">
                <a:solidFill>
                  <a:srgbClr val="FF0000"/>
                </a:solidFill>
                <a:latin typeface="Times New Roman" panose="02020603050405020304" pitchFamily="18" charset="0"/>
                <a:cs typeface="Times New Roman" panose="02020603050405020304" pitchFamily="18" charset="0"/>
              </a:rPr>
              <a:t>token</a:t>
            </a:r>
            <a:r>
              <a:rPr lang="zh-CN" altLang="en-US" sz="1240" b="1" dirty="0">
                <a:solidFill>
                  <a:srgbClr val="000000"/>
                </a:solidFill>
                <a:latin typeface="Times New Roman" panose="02020603050405020304" pitchFamily="18" charset="0"/>
                <a:cs typeface="Times New Roman" panose="02020603050405020304" pitchFamily="18" charset="0"/>
              </a:rPr>
              <a:t>，加速比</a:t>
            </a:r>
            <a:r>
              <a:rPr lang="en-US" altLang="zh-CN" sz="1240" b="1" dirty="0">
                <a:solidFill>
                  <a:srgbClr val="000000"/>
                </a:solidFill>
                <a:latin typeface="Times New Roman" panose="02020603050405020304" pitchFamily="18" charset="0"/>
                <a:cs typeface="Times New Roman" panose="02020603050405020304" pitchFamily="18" charset="0"/>
              </a:rPr>
              <a:t>0.87</a:t>
            </a:r>
            <a:endParaRPr sz="1240" b="1" dirty="0">
              <a:solidFill>
                <a:srgbClr val="000000"/>
              </a:solidFill>
              <a:latin typeface="Times New Roman" panose="02020603050405020304" pitchFamily="18" charset="0"/>
              <a:cs typeface="Times New Roman" panose="02020603050405020304" pitchFamily="18" charset="0"/>
            </a:endParaRPr>
          </a:p>
        </p:txBody>
      </p:sp>
      <p:cxnSp>
        <p:nvCxnSpPr>
          <p:cNvPr id="130" name="直接箭头连接符 129"/>
          <p:cNvCxnSpPr>
            <a:stCxn id="86" idx="3"/>
            <a:endCxn id="90" idx="1"/>
          </p:cNvCxnSpPr>
          <p:nvPr/>
        </p:nvCxnSpPr>
        <p:spPr>
          <a:xfrm>
            <a:off x="1774364" y="2083755"/>
            <a:ext cx="164306" cy="0"/>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p:cNvCxnSpPr/>
          <p:nvPr/>
        </p:nvCxnSpPr>
        <p:spPr>
          <a:xfrm>
            <a:off x="3163436" y="2088774"/>
            <a:ext cx="164306" cy="0"/>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直接箭头连接符 132"/>
          <p:cNvCxnSpPr/>
          <p:nvPr/>
        </p:nvCxnSpPr>
        <p:spPr>
          <a:xfrm>
            <a:off x="4531851" y="2083755"/>
            <a:ext cx="164306" cy="0"/>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直接箭头连接符 133"/>
          <p:cNvCxnSpPr/>
          <p:nvPr/>
        </p:nvCxnSpPr>
        <p:spPr>
          <a:xfrm>
            <a:off x="5910595" y="2088774"/>
            <a:ext cx="164306" cy="0"/>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7289339" y="2088774"/>
            <a:ext cx="164306" cy="0"/>
          </a:xfrm>
          <a:prstGeom prst="straightConnector1">
            <a:avLst/>
          </a:prstGeom>
          <a:ln w="190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 name="文本框 95"/>
          <p:cNvSpPr txBox="1"/>
          <p:nvPr/>
        </p:nvSpPr>
        <p:spPr>
          <a:xfrm>
            <a:off x="616331" y="4215843"/>
            <a:ext cx="2417003"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开发算子时间长</a:t>
            </a:r>
          </a:p>
        </p:txBody>
      </p:sp>
      <p:sp>
        <p:nvSpPr>
          <p:cNvPr id="37" name="文本框 95"/>
          <p:cNvSpPr txBox="1"/>
          <p:nvPr/>
        </p:nvSpPr>
        <p:spPr>
          <a:xfrm>
            <a:off x="627916" y="4677455"/>
            <a:ext cx="2417003"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en-US" altLang="zh-CN"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Token</a:t>
            </a: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消耗高</a:t>
            </a:r>
          </a:p>
        </p:txBody>
      </p:sp>
      <p:sp>
        <p:nvSpPr>
          <p:cNvPr id="38" name="文本框 95"/>
          <p:cNvSpPr txBox="1"/>
          <p:nvPr/>
        </p:nvSpPr>
        <p:spPr>
          <a:xfrm>
            <a:off x="627916" y="5168856"/>
            <a:ext cx="2417003"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只支持</a:t>
            </a:r>
            <a:r>
              <a:rPr lang="zh-CN" altLang="en-US"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静态</a:t>
            </a:r>
            <a:r>
              <a:rPr lang="en-US" altLang="zh-CN"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shape</a:t>
            </a:r>
            <a:endParaRPr lang="en-US" altLang="zh-CN" sz="1500" b="1" dirty="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9" name="文本框 95"/>
          <p:cNvSpPr txBox="1"/>
          <p:nvPr/>
        </p:nvSpPr>
        <p:spPr>
          <a:xfrm>
            <a:off x="616331" y="5656907"/>
            <a:ext cx="2417003"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修改后验证成本高</a:t>
            </a:r>
          </a:p>
        </p:txBody>
      </p:sp>
    </p:spTree>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54"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一、算子开发时间长</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&amp;Token</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消耗高</a:t>
            </a:r>
            <a:endParaRPr lang="zh-CN" altLang="en-US" sz="1575" b="1" dirty="0">
              <a:solidFill>
                <a:srgbClr val="000000"/>
              </a:solidFill>
              <a:latin typeface="Times New Roman" panose="02020603050405020304" pitchFamily="18" charset="0"/>
              <a:cs typeface="Times New Roman" panose="02020603050405020304" pitchFamily="18" charset="0"/>
            </a:endParaRPr>
          </a:p>
        </p:txBody>
      </p:sp>
      <p:sp>
        <p:nvSpPr>
          <p:cNvPr id="140" name="text_258_Main"/>
          <p:cNvSpPr>
            <a:spLocks noGrp="1"/>
          </p:cNvSpPr>
          <p:nvPr/>
        </p:nvSpPr>
        <p:spPr>
          <a:xfrm>
            <a:off x="1871298" y="2366058"/>
            <a:ext cx="1126976" cy="375000"/>
          </a:xfrm>
          <a:prstGeom prst="rect">
            <a:avLst/>
          </a:prstGeom>
          <a:noFill/>
          <a:ln w="19050">
            <a:solidFill>
              <a:schemeClr val="tx1"/>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sz="1500" b="1" dirty="0">
                <a:solidFill>
                  <a:srgbClr val="000000"/>
                </a:solidFill>
                <a:latin typeface="Times New Roman" panose="02020603050405020304" pitchFamily="18" charset="0"/>
                <a:cs typeface="Times New Roman" panose="02020603050405020304" pitchFamily="18" charset="0"/>
              </a:rPr>
              <a:t>Main</a:t>
            </a:r>
          </a:p>
        </p:txBody>
      </p:sp>
      <p:sp>
        <p:nvSpPr>
          <p:cNvPr id="142" name="text_258_Main"/>
          <p:cNvSpPr>
            <a:spLocks noGrp="1"/>
          </p:cNvSpPr>
          <p:nvPr/>
        </p:nvSpPr>
        <p:spPr>
          <a:xfrm>
            <a:off x="563739" y="2963456"/>
            <a:ext cx="1115888" cy="375000"/>
          </a:xfrm>
          <a:prstGeom prst="rect">
            <a:avLst/>
          </a:prstGeom>
          <a:noFill/>
          <a:ln w="19050">
            <a:solidFill>
              <a:schemeClr val="tx1"/>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en-US" sz="1500" b="1" dirty="0">
                <a:solidFill>
                  <a:srgbClr val="000000"/>
                </a:solidFill>
                <a:latin typeface="Times New Roman" panose="02020603050405020304" pitchFamily="18" charset="0"/>
                <a:cs typeface="Times New Roman" panose="02020603050405020304" pitchFamily="18" charset="0"/>
              </a:rPr>
              <a:t>Code-Gen</a:t>
            </a:r>
          </a:p>
        </p:txBody>
      </p:sp>
      <p:sp>
        <p:nvSpPr>
          <p:cNvPr id="143" name="text_258_Main"/>
          <p:cNvSpPr>
            <a:spLocks noGrp="1"/>
          </p:cNvSpPr>
          <p:nvPr/>
        </p:nvSpPr>
        <p:spPr>
          <a:xfrm>
            <a:off x="1871298" y="2976025"/>
            <a:ext cx="1126976" cy="375000"/>
          </a:xfrm>
          <a:prstGeom prst="rect">
            <a:avLst/>
          </a:prstGeom>
          <a:noFill/>
          <a:ln w="19050">
            <a:solidFill>
              <a:schemeClr val="tx1"/>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en-US" sz="1500" dirty="0">
                <a:solidFill>
                  <a:srgbClr val="000000"/>
                </a:solidFill>
                <a:latin typeface="Times New Roman" panose="02020603050405020304" pitchFamily="18" charset="0"/>
                <a:cs typeface="Times New Roman" panose="02020603050405020304" pitchFamily="18" charset="0"/>
              </a:rPr>
              <a:t>Review</a:t>
            </a:r>
          </a:p>
        </p:txBody>
      </p:sp>
      <p:sp>
        <p:nvSpPr>
          <p:cNvPr id="144" name="text_258_Main"/>
          <p:cNvSpPr>
            <a:spLocks noGrp="1"/>
          </p:cNvSpPr>
          <p:nvPr/>
        </p:nvSpPr>
        <p:spPr>
          <a:xfrm>
            <a:off x="3298063" y="2976025"/>
            <a:ext cx="1212944" cy="375000"/>
          </a:xfrm>
          <a:prstGeom prst="rect">
            <a:avLst/>
          </a:prstGeom>
          <a:noFill/>
          <a:ln w="19050">
            <a:solidFill>
              <a:schemeClr val="tx1"/>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en-US" sz="1500" b="1" dirty="0">
                <a:solidFill>
                  <a:srgbClr val="000000"/>
                </a:solidFill>
                <a:latin typeface="Times New Roman" panose="02020603050405020304" pitchFamily="18" charset="0"/>
                <a:cs typeface="Times New Roman" panose="02020603050405020304" pitchFamily="18" charset="0"/>
              </a:rPr>
              <a:t>Optimize</a:t>
            </a:r>
            <a:endParaRPr sz="1500" b="1" dirty="0">
              <a:solidFill>
                <a:srgbClr val="000000"/>
              </a:solidFill>
              <a:latin typeface="Times New Roman" panose="02020603050405020304" pitchFamily="18" charset="0"/>
              <a:cs typeface="Times New Roman" panose="02020603050405020304" pitchFamily="18" charset="0"/>
            </a:endParaRPr>
          </a:p>
        </p:txBody>
      </p:sp>
      <p:sp>
        <p:nvSpPr>
          <p:cNvPr id="146" name="text_268_hardware / profiler"/>
          <p:cNvSpPr>
            <a:spLocks noGrp="1"/>
          </p:cNvSpPr>
          <p:nvPr/>
        </p:nvSpPr>
        <p:spPr>
          <a:xfrm>
            <a:off x="3328840" y="3509632"/>
            <a:ext cx="1314383" cy="693509"/>
          </a:xfrm>
          <a:prstGeom prst="rect">
            <a:avLst/>
          </a:prstGeom>
          <a:solidFill>
            <a:schemeClr val="bg1">
              <a:lumMod val="85000"/>
            </a:schemeClr>
          </a:solidFill>
          <a:ln w="9525">
            <a:noFill/>
          </a:ln>
        </p:spPr>
        <p:txBody>
          <a:bodyPr wrap="none" lIns="0" tIns="0" rIns="0" bIns="0" anchor="ctr">
            <a:noAutofit/>
          </a:bodyPr>
          <a:lstStyle/>
          <a:p>
            <a:pPr algn="ctr">
              <a:lnSpc>
                <a:spcPct val="150000"/>
              </a:lnSpc>
              <a:defRPr sz="1090" b="0">
                <a:solidFill>
                  <a:srgbClr val="242424"/>
                </a:solidFill>
                <a:latin typeface="Arial" panose="020B0604020202020204"/>
                <a:ea typeface="Arial" panose="020B0604020202020204"/>
                <a:cs typeface="Arial" panose="020B0604020202020204"/>
              </a:defRPr>
            </a:pPr>
            <a:r>
              <a:rPr lang="zh-CN" altLang="en-US" sz="1500" b="1" dirty="0" smtClean="0">
                <a:solidFill>
                  <a:srgbClr val="242424"/>
                </a:solidFill>
                <a:latin typeface="Times New Roman" panose="02020603050405020304" pitchFamily="18" charset="0"/>
                <a:cs typeface="Times New Roman" panose="02020603050405020304" pitchFamily="18" charset="0"/>
              </a:rPr>
              <a:t>原语</a:t>
            </a:r>
            <a:r>
              <a:rPr lang="en-US" altLang="zh-CN" sz="1500" b="1" dirty="0" smtClean="0">
                <a:solidFill>
                  <a:srgbClr val="242424"/>
                </a:solidFill>
                <a:latin typeface="Times New Roman" panose="02020603050405020304" pitchFamily="18" charset="0"/>
                <a:cs typeface="Times New Roman" panose="02020603050405020304" pitchFamily="18" charset="0"/>
              </a:rPr>
              <a:t>/</a:t>
            </a:r>
            <a:r>
              <a:rPr lang="zh-CN" altLang="en-US" sz="1500" b="1" dirty="0" smtClean="0">
                <a:solidFill>
                  <a:srgbClr val="242424"/>
                </a:solidFill>
                <a:latin typeface="Times New Roman" panose="02020603050405020304" pitchFamily="18" charset="0"/>
                <a:cs typeface="Times New Roman" panose="02020603050405020304" pitchFamily="18" charset="0"/>
              </a:rPr>
              <a:t>规则</a:t>
            </a:r>
            <a:endParaRPr lang="en-US" altLang="zh-CN" sz="1500" b="1" dirty="0" smtClean="0">
              <a:solidFill>
                <a:srgbClr val="242424"/>
              </a:solidFill>
              <a:latin typeface="Times New Roman" panose="02020603050405020304" pitchFamily="18" charset="0"/>
              <a:cs typeface="Times New Roman" panose="02020603050405020304" pitchFamily="18" charset="0"/>
            </a:endParaRPr>
          </a:p>
          <a:p>
            <a:pPr algn="ctr">
              <a:lnSpc>
                <a:spcPct val="150000"/>
              </a:lnSpc>
              <a:defRPr sz="1090" b="0">
                <a:solidFill>
                  <a:srgbClr val="242424"/>
                </a:solidFill>
                <a:latin typeface="Arial" panose="020B0604020202020204"/>
                <a:ea typeface="Arial" panose="020B0604020202020204"/>
                <a:cs typeface="Arial" panose="020B0604020202020204"/>
              </a:defRPr>
            </a:pPr>
            <a:r>
              <a:rPr lang="zh-CN" altLang="en-US" sz="1500" b="1" dirty="0" smtClean="0">
                <a:solidFill>
                  <a:srgbClr val="242424"/>
                </a:solidFill>
                <a:latin typeface="Times New Roman" panose="02020603050405020304" pitchFamily="18" charset="0"/>
                <a:cs typeface="Times New Roman" panose="02020603050405020304" pitchFamily="18" charset="0"/>
              </a:rPr>
              <a:t>硬件信息</a:t>
            </a:r>
            <a:endParaRPr sz="1500" b="1" dirty="0">
              <a:solidFill>
                <a:srgbClr val="242424"/>
              </a:solidFill>
              <a:latin typeface="Times New Roman" panose="02020603050405020304" pitchFamily="18" charset="0"/>
              <a:cs typeface="Times New Roman" panose="02020603050405020304" pitchFamily="18" charset="0"/>
            </a:endParaRPr>
          </a:p>
        </p:txBody>
      </p:sp>
      <p:sp>
        <p:nvSpPr>
          <p:cNvPr id="157" name="文本框 95"/>
          <p:cNvSpPr txBox="1"/>
          <p:nvPr/>
        </p:nvSpPr>
        <p:spPr>
          <a:xfrm>
            <a:off x="350168" y="6070248"/>
            <a:ext cx="8290437" cy="369332"/>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b="1" dirty="0">
                <a:solidFill>
                  <a:srgbClr val="FF0000"/>
                </a:solidFill>
                <a:latin typeface="Times New Roman" panose="02020603050405020304" pitchFamily="18" charset="0"/>
                <a:ea typeface="Arial" panose="020B0604020202020204"/>
                <a:cs typeface="Times New Roman" panose="02020603050405020304" pitchFamily="18" charset="0"/>
                <a:sym typeface="+mn-ea"/>
              </a:rPr>
              <a:t>优化①：将流程与资料解耦，各个子代理按需加载共享</a:t>
            </a:r>
            <a:r>
              <a:rPr lang="zh-CN" altLang="en-US" b="1" dirty="0" smtClean="0">
                <a:solidFill>
                  <a:srgbClr val="FF0000"/>
                </a:solidFill>
                <a:latin typeface="Times New Roman" panose="02020603050405020304" pitchFamily="18" charset="0"/>
                <a:ea typeface="Arial" panose="020B0604020202020204"/>
                <a:cs typeface="Times New Roman" panose="02020603050405020304" pitchFamily="18" charset="0"/>
                <a:sym typeface="+mn-ea"/>
              </a:rPr>
              <a:t>参考资料，方便后续修改</a:t>
            </a:r>
            <a:endParaRPr lang="zh-CN" altLang="en-US" b="1" dirty="0">
              <a:solidFill>
                <a:srgbClr val="FF0000"/>
              </a:solidFill>
              <a:latin typeface="Times New Roman" panose="02020603050405020304" pitchFamily="18" charset="0"/>
              <a:ea typeface="Arial" panose="020B0604020202020204"/>
              <a:cs typeface="Times New Roman" panose="02020603050405020304" pitchFamily="18" charset="0"/>
              <a:sym typeface="+mn-ea"/>
            </a:endParaRPr>
          </a:p>
        </p:txBody>
      </p:sp>
      <p:cxnSp>
        <p:nvCxnSpPr>
          <p:cNvPr id="23" name="直接箭头连接符 22"/>
          <p:cNvCxnSpPr>
            <a:stCxn id="140" idx="2"/>
            <a:endCxn id="143" idx="0"/>
          </p:cNvCxnSpPr>
          <p:nvPr/>
        </p:nvCxnSpPr>
        <p:spPr>
          <a:xfrm>
            <a:off x="2434786" y="2741058"/>
            <a:ext cx="0" cy="2349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肘形连接符 27"/>
          <p:cNvCxnSpPr>
            <a:stCxn id="140" idx="2"/>
            <a:endCxn id="142" idx="0"/>
          </p:cNvCxnSpPr>
          <p:nvPr/>
        </p:nvCxnSpPr>
        <p:spPr>
          <a:xfrm rot="5400000">
            <a:off x="1667036" y="2195706"/>
            <a:ext cx="222398" cy="131310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肘形连接符 29"/>
          <p:cNvCxnSpPr>
            <a:stCxn id="140" idx="2"/>
            <a:endCxn id="144" idx="0"/>
          </p:cNvCxnSpPr>
          <p:nvPr/>
        </p:nvCxnSpPr>
        <p:spPr>
          <a:xfrm rot="16200000" flipH="1">
            <a:off x="3052177" y="2123666"/>
            <a:ext cx="234967" cy="146974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535263" y="1799789"/>
            <a:ext cx="4203395"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smtClean="0">
                <a:solidFill>
                  <a:schemeClr val="tx1">
                    <a:lumMod val="95000"/>
                    <a:lumOff val="5000"/>
                  </a:schemeClr>
                </a:solidFill>
                <a:latin typeface="Microsoft YaHei"/>
                <a:ea typeface="Microsoft YaHei"/>
                <a:cs typeface="Microsoft YaHei"/>
              </a:rPr>
              <a:t>原始结构：每个子</a:t>
            </a:r>
            <a:r>
              <a:rPr lang="en-US" altLang="zh-CN" b="1" dirty="0" smtClean="0">
                <a:solidFill>
                  <a:schemeClr val="tx1">
                    <a:lumMod val="95000"/>
                    <a:lumOff val="5000"/>
                  </a:schemeClr>
                </a:solidFill>
                <a:latin typeface="Microsoft YaHei"/>
                <a:ea typeface="Microsoft YaHei"/>
                <a:cs typeface="Microsoft YaHei"/>
              </a:rPr>
              <a:t>Skill</a:t>
            </a:r>
            <a:r>
              <a:rPr lang="zh-CN" altLang="en-US" b="1" dirty="0" smtClean="0">
                <a:solidFill>
                  <a:schemeClr val="tx1">
                    <a:lumMod val="95000"/>
                    <a:lumOff val="5000"/>
                  </a:schemeClr>
                </a:solidFill>
                <a:latin typeface="Microsoft YaHei"/>
                <a:ea typeface="Microsoft YaHei"/>
                <a:cs typeface="Microsoft YaHei"/>
              </a:rPr>
              <a:t>有各自的知识库</a:t>
            </a:r>
            <a:endParaRPr lang="zh-CN" altLang="en-US" b="1" dirty="0">
              <a:solidFill>
                <a:schemeClr val="tx1">
                  <a:lumMod val="95000"/>
                  <a:lumOff val="5000"/>
                </a:schemeClr>
              </a:solidFill>
              <a:latin typeface="Microsoft YaHei"/>
              <a:ea typeface="Microsoft YaHei"/>
              <a:cs typeface="Microsoft YaHei"/>
            </a:endParaRPr>
          </a:p>
        </p:txBody>
      </p:sp>
      <p:sp>
        <p:nvSpPr>
          <p:cNvPr id="3" name="灯片编号占位符 2">
            <a:extLst>
              <a:ext uri="{FF2B5EF4-FFF2-40B4-BE49-F238E27FC236}">
                <a16:creationId xmlns:a16="http://schemas.microsoft.com/office/drawing/2014/main" id="{A0D98E37-13DA-32AA-6A48-CC937E7D8B5F}"/>
              </a:ext>
            </a:extLst>
          </p:cNvPr>
          <p:cNvSpPr>
            <a:spLocks noGrp="1"/>
          </p:cNvSpPr>
          <p:nvPr>
            <p:ph type="sldNum" sz="quarter" idx="12"/>
          </p:nvPr>
        </p:nvSpPr>
        <p:spPr/>
        <p:txBody>
          <a:bodyPr/>
          <a:lstStyle/>
          <a:p>
            <a:fld id="{03621AC1-4C4D-435F-BACF-B518BC126F02}" type="slidenum">
              <a:rPr lang="zh-CN" altLang="en-US" smtClean="0"/>
              <a:t>15</a:t>
            </a:fld>
            <a:endParaRPr lang="zh-CN" altLang="en-US"/>
          </a:p>
        </p:txBody>
      </p:sp>
      <p:sp>
        <p:nvSpPr>
          <p:cNvPr id="37" name="文本框 95"/>
          <p:cNvSpPr txBox="1"/>
          <p:nvPr/>
        </p:nvSpPr>
        <p:spPr>
          <a:xfrm>
            <a:off x="770341" y="4645747"/>
            <a:ext cx="4044478"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同类</a:t>
            </a:r>
            <a:r>
              <a:rPr lang="zh-CN" altLang="en-US"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平台</a:t>
            </a: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资料</a:t>
            </a:r>
            <a:r>
              <a:rPr lang="zh-CN" altLang="en-US"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在</a:t>
            </a:r>
            <a:r>
              <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rPr>
              <a:t>多个子代理中重复维护</a:t>
            </a:r>
          </a:p>
        </p:txBody>
      </p:sp>
      <p:sp>
        <p:nvSpPr>
          <p:cNvPr id="38" name="文本框 95"/>
          <p:cNvSpPr txBox="1"/>
          <p:nvPr/>
        </p:nvSpPr>
        <p:spPr>
          <a:xfrm>
            <a:off x="781926" y="5107359"/>
            <a:ext cx="3241405" cy="3231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pitchFamily="2" charset="2"/>
              <a:buChar char="Ø"/>
            </a:pPr>
            <a:r>
              <a:rPr lang="zh-CN" altLang="en-US"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修改资料时需要多处进行修改</a:t>
            </a:r>
            <a:endParaRPr lang="zh-CN" altLang="en-US" sz="1500" b="1" dirty="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62" name="text_268_hardware / profiler"/>
          <p:cNvSpPr>
            <a:spLocks noGrp="1"/>
          </p:cNvSpPr>
          <p:nvPr/>
        </p:nvSpPr>
        <p:spPr>
          <a:xfrm>
            <a:off x="1793674" y="3520853"/>
            <a:ext cx="1314383" cy="693509"/>
          </a:xfrm>
          <a:prstGeom prst="rect">
            <a:avLst/>
          </a:prstGeom>
          <a:solidFill>
            <a:schemeClr val="bg1">
              <a:lumMod val="85000"/>
            </a:schemeClr>
          </a:solidFill>
          <a:ln w="9525">
            <a:noFill/>
          </a:ln>
        </p:spPr>
        <p:txBody>
          <a:bodyPr wrap="none" lIns="0" tIns="0" rIns="0" bIns="0" anchor="ctr">
            <a:noAutofit/>
          </a:bodyPr>
          <a:lstStyle/>
          <a:p>
            <a:pPr algn="ctr">
              <a:lnSpc>
                <a:spcPct val="150000"/>
              </a:lnSpc>
              <a:defRPr sz="1090" b="0">
                <a:solidFill>
                  <a:srgbClr val="242424"/>
                </a:solidFill>
                <a:latin typeface="Arial" panose="020B0604020202020204"/>
                <a:ea typeface="Arial" panose="020B0604020202020204"/>
                <a:cs typeface="Arial" panose="020B0604020202020204"/>
              </a:defRPr>
            </a:pPr>
            <a:r>
              <a:rPr lang="zh-CN" altLang="en-US" sz="1500" b="1" dirty="0" smtClean="0">
                <a:solidFill>
                  <a:srgbClr val="242424"/>
                </a:solidFill>
                <a:latin typeface="Times New Roman" panose="02020603050405020304" pitchFamily="18" charset="0"/>
                <a:cs typeface="Times New Roman" panose="02020603050405020304" pitchFamily="18" charset="0"/>
              </a:rPr>
              <a:t>原语</a:t>
            </a:r>
            <a:r>
              <a:rPr lang="en-US" altLang="zh-CN" sz="1500" b="1" dirty="0" smtClean="0">
                <a:solidFill>
                  <a:srgbClr val="242424"/>
                </a:solidFill>
                <a:latin typeface="Times New Roman" panose="02020603050405020304" pitchFamily="18" charset="0"/>
                <a:cs typeface="Times New Roman" panose="02020603050405020304" pitchFamily="18" charset="0"/>
              </a:rPr>
              <a:t>/</a:t>
            </a:r>
            <a:r>
              <a:rPr lang="zh-CN" altLang="en-US" sz="1500" b="1" dirty="0" smtClean="0">
                <a:solidFill>
                  <a:srgbClr val="242424"/>
                </a:solidFill>
                <a:latin typeface="Times New Roman" panose="02020603050405020304" pitchFamily="18" charset="0"/>
                <a:cs typeface="Times New Roman" panose="02020603050405020304" pitchFamily="18" charset="0"/>
              </a:rPr>
              <a:t>规则</a:t>
            </a:r>
            <a:endParaRPr lang="en-US" altLang="zh-CN" sz="1500" b="1" dirty="0" smtClean="0">
              <a:solidFill>
                <a:srgbClr val="242424"/>
              </a:solidFill>
              <a:latin typeface="Times New Roman" panose="02020603050405020304" pitchFamily="18" charset="0"/>
              <a:cs typeface="Times New Roman" panose="02020603050405020304" pitchFamily="18" charset="0"/>
            </a:endParaRPr>
          </a:p>
          <a:p>
            <a:pPr algn="ctr">
              <a:lnSpc>
                <a:spcPct val="150000"/>
              </a:lnSpc>
              <a:defRPr sz="1090" b="0">
                <a:solidFill>
                  <a:srgbClr val="242424"/>
                </a:solidFill>
                <a:latin typeface="Arial" panose="020B0604020202020204"/>
                <a:ea typeface="Arial" panose="020B0604020202020204"/>
                <a:cs typeface="Arial" panose="020B0604020202020204"/>
              </a:defRPr>
            </a:pPr>
            <a:r>
              <a:rPr lang="zh-CN" altLang="en-US" sz="1500" b="1" dirty="0" smtClean="0">
                <a:solidFill>
                  <a:srgbClr val="242424"/>
                </a:solidFill>
                <a:latin typeface="Times New Roman" panose="02020603050405020304" pitchFamily="18" charset="0"/>
                <a:cs typeface="Times New Roman" panose="02020603050405020304" pitchFamily="18" charset="0"/>
              </a:rPr>
              <a:t>硬件信息</a:t>
            </a:r>
            <a:endParaRPr sz="1500" b="1" dirty="0">
              <a:solidFill>
                <a:srgbClr val="242424"/>
              </a:solidFill>
              <a:latin typeface="Times New Roman" panose="02020603050405020304" pitchFamily="18" charset="0"/>
              <a:cs typeface="Times New Roman" panose="02020603050405020304" pitchFamily="18" charset="0"/>
            </a:endParaRPr>
          </a:p>
        </p:txBody>
      </p:sp>
      <p:sp>
        <p:nvSpPr>
          <p:cNvPr id="63" name="text_268_hardware / profiler"/>
          <p:cNvSpPr>
            <a:spLocks noGrp="1"/>
          </p:cNvSpPr>
          <p:nvPr/>
        </p:nvSpPr>
        <p:spPr>
          <a:xfrm>
            <a:off x="365244" y="3532841"/>
            <a:ext cx="1314383" cy="693509"/>
          </a:xfrm>
          <a:prstGeom prst="rect">
            <a:avLst/>
          </a:prstGeom>
          <a:solidFill>
            <a:schemeClr val="bg1">
              <a:lumMod val="85000"/>
            </a:schemeClr>
          </a:solidFill>
          <a:ln w="9525">
            <a:noFill/>
          </a:ln>
        </p:spPr>
        <p:txBody>
          <a:bodyPr wrap="none" lIns="0" tIns="0" rIns="0" bIns="0" anchor="ctr">
            <a:noAutofit/>
          </a:bodyPr>
          <a:lstStyle/>
          <a:p>
            <a:pPr algn="ctr">
              <a:lnSpc>
                <a:spcPct val="150000"/>
              </a:lnSpc>
              <a:defRPr sz="1090" b="0">
                <a:solidFill>
                  <a:srgbClr val="242424"/>
                </a:solidFill>
                <a:latin typeface="Arial" panose="020B0604020202020204"/>
                <a:ea typeface="Arial" panose="020B0604020202020204"/>
                <a:cs typeface="Arial" panose="020B0604020202020204"/>
              </a:defRPr>
            </a:pPr>
            <a:r>
              <a:rPr lang="zh-CN" altLang="en-US" sz="1500" b="1" dirty="0" smtClean="0">
                <a:solidFill>
                  <a:srgbClr val="242424"/>
                </a:solidFill>
                <a:latin typeface="Times New Roman" panose="02020603050405020304" pitchFamily="18" charset="0"/>
                <a:cs typeface="Times New Roman" panose="02020603050405020304" pitchFamily="18" charset="0"/>
              </a:rPr>
              <a:t>原语</a:t>
            </a:r>
            <a:r>
              <a:rPr lang="en-US" altLang="zh-CN" sz="1500" b="1" dirty="0" smtClean="0">
                <a:solidFill>
                  <a:srgbClr val="242424"/>
                </a:solidFill>
                <a:latin typeface="Times New Roman" panose="02020603050405020304" pitchFamily="18" charset="0"/>
                <a:cs typeface="Times New Roman" panose="02020603050405020304" pitchFamily="18" charset="0"/>
              </a:rPr>
              <a:t>/</a:t>
            </a:r>
            <a:r>
              <a:rPr lang="zh-CN" altLang="en-US" sz="1500" b="1" dirty="0" smtClean="0">
                <a:solidFill>
                  <a:srgbClr val="242424"/>
                </a:solidFill>
                <a:latin typeface="Times New Roman" panose="02020603050405020304" pitchFamily="18" charset="0"/>
                <a:cs typeface="Times New Roman" panose="02020603050405020304" pitchFamily="18" charset="0"/>
              </a:rPr>
              <a:t>规则</a:t>
            </a:r>
            <a:endParaRPr lang="en-US" altLang="zh-CN" sz="1500" b="1" dirty="0" smtClean="0">
              <a:solidFill>
                <a:srgbClr val="242424"/>
              </a:solidFill>
              <a:latin typeface="Times New Roman" panose="02020603050405020304" pitchFamily="18" charset="0"/>
              <a:cs typeface="Times New Roman" panose="02020603050405020304" pitchFamily="18" charset="0"/>
            </a:endParaRPr>
          </a:p>
          <a:p>
            <a:pPr algn="ctr">
              <a:lnSpc>
                <a:spcPct val="150000"/>
              </a:lnSpc>
              <a:defRPr sz="1090" b="0">
                <a:solidFill>
                  <a:srgbClr val="242424"/>
                </a:solidFill>
                <a:latin typeface="Arial" panose="020B0604020202020204"/>
                <a:ea typeface="Arial" panose="020B0604020202020204"/>
                <a:cs typeface="Arial" panose="020B0604020202020204"/>
              </a:defRPr>
            </a:pPr>
            <a:r>
              <a:rPr lang="zh-CN" altLang="en-US" sz="1500" b="1" dirty="0" smtClean="0">
                <a:solidFill>
                  <a:srgbClr val="242424"/>
                </a:solidFill>
                <a:latin typeface="Times New Roman" panose="02020603050405020304" pitchFamily="18" charset="0"/>
                <a:cs typeface="Times New Roman" panose="02020603050405020304" pitchFamily="18" charset="0"/>
              </a:rPr>
              <a:t>硬件信息</a:t>
            </a:r>
            <a:endParaRPr sz="1500" b="1" dirty="0">
              <a:solidFill>
                <a:srgbClr val="242424"/>
              </a:solidFill>
              <a:latin typeface="Times New Roman" panose="02020603050405020304" pitchFamily="18" charset="0"/>
              <a:cs typeface="Times New Roman" panose="02020603050405020304" pitchFamily="18" charset="0"/>
            </a:endParaRPr>
          </a:p>
        </p:txBody>
      </p:sp>
      <p:sp>
        <p:nvSpPr>
          <p:cNvPr id="64" name="优化后：共享资料按需加载">
            <a:extLst>
              <a:ext uri="{FF2B5EF4-FFF2-40B4-BE49-F238E27FC236}">
                <a16:creationId xmlns:a16="http://schemas.microsoft.com/office/drawing/2014/main" id="{EB3A5A53-EC86-4060-B016-60F6BC3195BB}"/>
              </a:ext>
            </a:extLst>
          </p:cNvPr>
          <p:cNvSpPr>
            <a:spLocks noGrp="1"/>
          </p:cNvSpPr>
          <p:nvPr/>
        </p:nvSpPr>
        <p:spPr>
          <a:xfrm>
            <a:off x="4956935" y="2106695"/>
            <a:ext cx="3714750" cy="285750"/>
          </a:xfrm>
          <a:prstGeom prst="rect">
            <a:avLst/>
          </a:prstGeom>
          <a:noFill/>
          <a:ln w="0">
            <a:noFill/>
          </a:ln>
        </p:spPr>
        <p:txBody>
          <a:bodyPr wrap="square" lIns="0" tIns="0" rIns="0" bIns="0" anchor="ctr">
            <a:noAutofit/>
          </a:bodyPr>
          <a:lstStyle/>
          <a:p>
            <a:pPr algn="l">
              <a:lnSpc>
                <a:spcPct val="112000"/>
              </a:lnSpc>
              <a:buNone/>
              <a:defRPr sz="1800" b="1">
                <a:solidFill>
                  <a:srgbClr val="004B9D"/>
                </a:solidFill>
                <a:latin typeface="Microsoft YaHei"/>
                <a:ea typeface="Microsoft YaHei"/>
                <a:cs typeface="Microsoft YaHei"/>
              </a:defRPr>
            </a:pPr>
            <a:r>
              <a:rPr sz="1800" b="1" dirty="0" err="1">
                <a:solidFill>
                  <a:srgbClr val="004B9D"/>
                </a:solidFill>
                <a:latin typeface="Microsoft YaHei"/>
                <a:ea typeface="Microsoft YaHei"/>
                <a:cs typeface="Microsoft YaHei"/>
              </a:rPr>
              <a:t>优化后：共享资料按需加载</a:t>
            </a:r>
            <a:endParaRPr sz="1800" b="1" dirty="0">
              <a:solidFill>
                <a:srgbClr val="004B9D"/>
              </a:solidFill>
              <a:latin typeface="Microsoft YaHei"/>
              <a:ea typeface="Microsoft YaHei"/>
              <a:cs typeface="Microsoft YaHei"/>
            </a:endParaRPr>
          </a:p>
        </p:txBody>
      </p:sp>
      <p:sp>
        <p:nvSpPr>
          <p:cNvPr id="65" name="Code-Gen">
            <a:extLst>
              <a:ext uri="{FF2B5EF4-FFF2-40B4-BE49-F238E27FC236}">
                <a16:creationId xmlns:a16="http://schemas.microsoft.com/office/drawing/2014/main" id="{DCF45275-C93E-4018-A14D-CAA7B975A05B}"/>
              </a:ext>
            </a:extLst>
          </p:cNvPr>
          <p:cNvSpPr>
            <a:spLocks noGrp="1"/>
          </p:cNvSpPr>
          <p:nvPr/>
        </p:nvSpPr>
        <p:spPr>
          <a:xfrm>
            <a:off x="4956935" y="2748602"/>
            <a:ext cx="1171575" cy="447675"/>
          </a:xfrm>
          <a:prstGeom prst="rect">
            <a:avLst/>
          </a:prstGeom>
          <a:solidFill>
            <a:srgbClr val="FFFFFF"/>
          </a:solidFill>
          <a:ln w="19050">
            <a:solidFill>
              <a:schemeClr val="tx1">
                <a:lumMod val="95000"/>
                <a:lumOff val="5000"/>
              </a:schemeClr>
            </a:solidFill>
          </a:ln>
        </p:spPr>
        <p:txBody>
          <a:bodyPr wrap="square" lIns="76200" tIns="47625" rIns="76200" bIns="47625" anchor="ctr">
            <a:noAutofit/>
          </a:bodyPr>
          <a:lstStyle/>
          <a:p>
            <a:pPr algn="ctr">
              <a:lnSpc>
                <a:spcPct val="105000"/>
              </a:lnSpc>
              <a:buNone/>
              <a:defRPr sz="1400" b="0">
                <a:solidFill>
                  <a:srgbClr val="242424"/>
                </a:solidFill>
                <a:latin typeface="Microsoft YaHei"/>
                <a:ea typeface="Microsoft YaHei"/>
                <a:cs typeface="Microsoft YaHei"/>
              </a:defRPr>
            </a:pPr>
            <a:r>
              <a:rPr sz="1400" b="0" dirty="0">
                <a:solidFill>
                  <a:srgbClr val="242424"/>
                </a:solidFill>
                <a:latin typeface="Times New Roman" panose="02020603050405020304" pitchFamily="18" charset="0"/>
                <a:ea typeface="Arial"/>
                <a:cs typeface="Times New Roman" panose="02020603050405020304" pitchFamily="18" charset="0"/>
              </a:rPr>
              <a:t>Code-Gen</a:t>
            </a:r>
          </a:p>
        </p:txBody>
      </p:sp>
      <p:sp>
        <p:nvSpPr>
          <p:cNvPr id="66" name="Review">
            <a:extLst>
              <a:ext uri="{FF2B5EF4-FFF2-40B4-BE49-F238E27FC236}">
                <a16:creationId xmlns:a16="http://schemas.microsoft.com/office/drawing/2014/main" id="{F5256712-3CC7-4920-940A-AE8781E81CA7}"/>
              </a:ext>
            </a:extLst>
          </p:cNvPr>
          <p:cNvSpPr>
            <a:spLocks noGrp="1"/>
          </p:cNvSpPr>
          <p:nvPr/>
        </p:nvSpPr>
        <p:spPr>
          <a:xfrm>
            <a:off x="6242810" y="2748602"/>
            <a:ext cx="1171575" cy="447675"/>
          </a:xfrm>
          <a:prstGeom prst="rect">
            <a:avLst/>
          </a:prstGeom>
          <a:solidFill>
            <a:srgbClr val="FFFFFF"/>
          </a:solidFill>
          <a:ln w="19050">
            <a:solidFill>
              <a:schemeClr val="tx1">
                <a:lumMod val="95000"/>
                <a:lumOff val="5000"/>
              </a:schemeClr>
            </a:solidFill>
          </a:ln>
        </p:spPr>
        <p:txBody>
          <a:bodyPr wrap="square" lIns="76200" tIns="47625" rIns="76200" bIns="47625" anchor="ctr">
            <a:noAutofit/>
          </a:bodyPr>
          <a:lstStyle/>
          <a:p>
            <a:pPr algn="ctr">
              <a:lnSpc>
                <a:spcPct val="105000"/>
              </a:lnSpc>
              <a:buNone/>
              <a:defRPr sz="1400" b="0">
                <a:solidFill>
                  <a:srgbClr val="242424"/>
                </a:solidFill>
                <a:latin typeface="Microsoft YaHei"/>
                <a:ea typeface="Microsoft YaHei"/>
                <a:cs typeface="Microsoft YaHei"/>
              </a:defRPr>
            </a:pPr>
            <a:r>
              <a:rPr sz="1400" b="0" dirty="0">
                <a:solidFill>
                  <a:srgbClr val="242424"/>
                </a:solidFill>
                <a:latin typeface="Times New Roman" panose="02020603050405020304" pitchFamily="18" charset="0"/>
                <a:ea typeface="Arial"/>
                <a:cs typeface="Times New Roman" panose="02020603050405020304" pitchFamily="18" charset="0"/>
              </a:rPr>
              <a:t>Review</a:t>
            </a:r>
          </a:p>
        </p:txBody>
      </p:sp>
      <p:sp>
        <p:nvSpPr>
          <p:cNvPr id="67" name="Optimize">
            <a:extLst>
              <a:ext uri="{FF2B5EF4-FFF2-40B4-BE49-F238E27FC236}">
                <a16:creationId xmlns:a16="http://schemas.microsoft.com/office/drawing/2014/main" id="{E8F28D1C-B523-4266-9837-5F6E91E4EC27}"/>
              </a:ext>
            </a:extLst>
          </p:cNvPr>
          <p:cNvSpPr>
            <a:spLocks noGrp="1"/>
          </p:cNvSpPr>
          <p:nvPr/>
        </p:nvSpPr>
        <p:spPr>
          <a:xfrm>
            <a:off x="7528685" y="2748602"/>
            <a:ext cx="1171575" cy="447675"/>
          </a:xfrm>
          <a:prstGeom prst="rect">
            <a:avLst/>
          </a:prstGeom>
          <a:solidFill>
            <a:srgbClr val="FFFFFF"/>
          </a:solidFill>
          <a:ln w="19050">
            <a:solidFill>
              <a:schemeClr val="tx1">
                <a:lumMod val="95000"/>
                <a:lumOff val="5000"/>
              </a:schemeClr>
            </a:solidFill>
          </a:ln>
        </p:spPr>
        <p:txBody>
          <a:bodyPr wrap="square" lIns="76200" tIns="47625" rIns="76200" bIns="47625" anchor="ctr">
            <a:noAutofit/>
          </a:bodyPr>
          <a:lstStyle/>
          <a:p>
            <a:pPr algn="ctr">
              <a:lnSpc>
                <a:spcPct val="105000"/>
              </a:lnSpc>
              <a:buNone/>
              <a:defRPr sz="1400" b="0">
                <a:solidFill>
                  <a:srgbClr val="242424"/>
                </a:solidFill>
                <a:latin typeface="Microsoft YaHei"/>
                <a:ea typeface="Microsoft YaHei"/>
                <a:cs typeface="Microsoft YaHei"/>
              </a:defRPr>
            </a:pPr>
            <a:r>
              <a:rPr sz="1400" b="0">
                <a:solidFill>
                  <a:srgbClr val="242424"/>
                </a:solidFill>
                <a:latin typeface="Times New Roman" panose="02020603050405020304" pitchFamily="18" charset="0"/>
                <a:ea typeface="Arial"/>
                <a:cs typeface="Times New Roman" panose="02020603050405020304" pitchFamily="18" charset="0"/>
              </a:rPr>
              <a:t>Optimize</a:t>
            </a:r>
          </a:p>
        </p:txBody>
      </p:sp>
      <p:sp>
        <p:nvSpPr>
          <p:cNvPr id="68" name="共享平台资料库&#10;primitive · rules · hardware">
            <a:extLst>
              <a:ext uri="{FF2B5EF4-FFF2-40B4-BE49-F238E27FC236}">
                <a16:creationId xmlns:a16="http://schemas.microsoft.com/office/drawing/2014/main" id="{FC8D26AB-25B9-460F-A8B7-7025C133ED9A}"/>
              </a:ext>
            </a:extLst>
          </p:cNvPr>
          <p:cNvSpPr>
            <a:spLocks noGrp="1"/>
          </p:cNvSpPr>
          <p:nvPr/>
        </p:nvSpPr>
        <p:spPr>
          <a:xfrm>
            <a:off x="4956935" y="3910652"/>
            <a:ext cx="3743325" cy="800100"/>
          </a:xfrm>
          <a:prstGeom prst="rect">
            <a:avLst/>
          </a:prstGeom>
          <a:solidFill>
            <a:srgbClr val="EDF3FA"/>
          </a:solidFill>
          <a:ln w="19050">
            <a:solidFill>
              <a:schemeClr val="tx1">
                <a:lumMod val="95000"/>
                <a:lumOff val="5000"/>
              </a:schemeClr>
            </a:solidFill>
          </a:ln>
        </p:spPr>
        <p:txBody>
          <a:bodyPr wrap="square" lIns="76200" tIns="47625" rIns="76200" bIns="47625" anchor="ctr">
            <a:noAutofit/>
          </a:bodyPr>
          <a:lstStyle/>
          <a:p>
            <a:pPr algn="ctr">
              <a:lnSpc>
                <a:spcPct val="105000"/>
              </a:lnSpc>
              <a:buNone/>
              <a:defRPr sz="1600" b="0">
                <a:solidFill>
                  <a:srgbClr val="004B9D"/>
                </a:solidFill>
                <a:latin typeface="Microsoft YaHei"/>
                <a:ea typeface="Microsoft YaHei"/>
                <a:cs typeface="Microsoft YaHei"/>
              </a:defRPr>
            </a:pPr>
            <a:r>
              <a:rPr sz="1600" b="0" dirty="0" err="1">
                <a:solidFill>
                  <a:schemeClr val="tx1">
                    <a:lumMod val="95000"/>
                    <a:lumOff val="5000"/>
                  </a:schemeClr>
                </a:solidFill>
                <a:latin typeface="Times New Roman" panose="02020603050405020304" pitchFamily="18" charset="0"/>
                <a:cs typeface="Times New Roman" panose="02020603050405020304" pitchFamily="18" charset="0"/>
              </a:rPr>
              <a:t>共享平台资料库</a:t>
            </a:r>
            <a:endParaRPr sz="1600" b="0" dirty="0">
              <a:solidFill>
                <a:schemeClr val="tx1">
                  <a:lumMod val="95000"/>
                  <a:lumOff val="5000"/>
                </a:schemeClr>
              </a:solidFill>
              <a:latin typeface="Times New Roman" panose="02020603050405020304" pitchFamily="18" charset="0"/>
              <a:cs typeface="Times New Roman" panose="02020603050405020304" pitchFamily="18" charset="0"/>
            </a:endParaRPr>
          </a:p>
          <a:p>
            <a:pPr algn="ctr">
              <a:lnSpc>
                <a:spcPct val="105000"/>
              </a:lnSpc>
              <a:buNone/>
              <a:defRPr sz="1600" b="0">
                <a:solidFill>
                  <a:srgbClr val="004B9D"/>
                </a:solidFill>
                <a:latin typeface="Microsoft YaHei"/>
                <a:ea typeface="Microsoft YaHei"/>
                <a:cs typeface="Microsoft YaHei"/>
              </a:defRPr>
            </a:pPr>
            <a:r>
              <a:rPr sz="1600" b="0" dirty="0">
                <a:solidFill>
                  <a:schemeClr val="tx1">
                    <a:lumMod val="95000"/>
                    <a:lumOff val="5000"/>
                  </a:schemeClr>
                </a:solidFill>
                <a:latin typeface="Times New Roman" panose="02020603050405020304" pitchFamily="18" charset="0"/>
                <a:cs typeface="Times New Roman" panose="02020603050405020304" pitchFamily="18" charset="0"/>
              </a:rPr>
              <a:t>primitive · rules · hardware · profiler</a:t>
            </a:r>
          </a:p>
        </p:txBody>
      </p:sp>
      <p:cxnSp>
        <p:nvCxnSpPr>
          <p:cNvPr id="69" name="肘形连接符 68"/>
          <p:cNvCxnSpPr>
            <a:stCxn id="65" idx="2"/>
            <a:endCxn id="68" idx="0"/>
          </p:cNvCxnSpPr>
          <p:nvPr/>
        </p:nvCxnSpPr>
        <p:spPr>
          <a:xfrm>
            <a:off x="5542723" y="3196277"/>
            <a:ext cx="1285875" cy="714375"/>
          </a:xfrm>
          <a:prstGeom prst="bentConnector4">
            <a:avLst>
              <a:gd name="adj1" fmla="val 0"/>
              <a:gd name="adj2" fmla="val 50000"/>
            </a:avLst>
          </a:prstGeom>
          <a:ln w="19050">
            <a:solidFill>
              <a:schemeClr val="tx1">
                <a:lumMod val="95000"/>
                <a:lumOff val="5000"/>
              </a:schemeClr>
            </a:solidFill>
            <a:prstDash val="solid"/>
            <a:tailEnd type="triangle" w="sm" len="sm"/>
          </a:ln>
        </p:spPr>
      </p:cxnSp>
      <p:cxnSp>
        <p:nvCxnSpPr>
          <p:cNvPr id="70" name="直接箭头连接符 69"/>
          <p:cNvCxnSpPr>
            <a:stCxn id="66" idx="2"/>
            <a:endCxn id="68" idx="0"/>
          </p:cNvCxnSpPr>
          <p:nvPr/>
        </p:nvCxnSpPr>
        <p:spPr>
          <a:xfrm>
            <a:off x="6828598" y="3196277"/>
            <a:ext cx="0" cy="714375"/>
          </a:xfrm>
          <a:prstGeom prst="straightConnector1">
            <a:avLst/>
          </a:prstGeom>
          <a:ln w="19050">
            <a:solidFill>
              <a:schemeClr val="tx1">
                <a:lumMod val="95000"/>
                <a:lumOff val="5000"/>
              </a:schemeClr>
            </a:solidFill>
            <a:prstDash val="solid"/>
            <a:tailEnd type="triangle" w="sm" len="sm"/>
          </a:ln>
        </p:spPr>
      </p:cxnSp>
      <p:cxnSp>
        <p:nvCxnSpPr>
          <p:cNvPr id="71" name="肘形连接符 70"/>
          <p:cNvCxnSpPr>
            <a:stCxn id="67" idx="2"/>
            <a:endCxn id="68" idx="0"/>
          </p:cNvCxnSpPr>
          <p:nvPr/>
        </p:nvCxnSpPr>
        <p:spPr>
          <a:xfrm flipH="1">
            <a:off x="6828598" y="3196277"/>
            <a:ext cx="1285875" cy="714375"/>
          </a:xfrm>
          <a:prstGeom prst="bentConnector4">
            <a:avLst>
              <a:gd name="adj1" fmla="val 0"/>
              <a:gd name="adj2" fmla="val 50000"/>
            </a:avLst>
          </a:prstGeom>
          <a:ln w="19050">
            <a:solidFill>
              <a:schemeClr val="tx1">
                <a:lumMod val="95000"/>
                <a:lumOff val="5000"/>
              </a:schemeClr>
            </a:solidFill>
            <a:prstDash val="solid"/>
            <a:tailEnd type="triangle" w="sm" len="sm"/>
          </a:ln>
        </p:spPr>
      </p:cxnSp>
      <p:sp>
        <p:nvSpPr>
          <p:cNvPr id="73" name="矩形 72"/>
          <p:cNvSpPr/>
          <p:nvPr>
            <p:custDataLst>
              <p:tags r:id="rId1"/>
            </p:custDataLst>
          </p:nvPr>
        </p:nvSpPr>
        <p:spPr>
          <a:xfrm>
            <a:off x="4729043" y="1926524"/>
            <a:ext cx="4235445" cy="3042388"/>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Tree>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16</a:t>
            </a:fld>
            <a:endParaRPr lang="zh-CN" altLang="en-US"/>
          </a:p>
        </p:txBody>
      </p:sp>
      <p:sp>
        <p:nvSpPr>
          <p:cNvPr id="54"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一、算子开发时间长</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&amp;Token</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消耗高</a:t>
            </a:r>
            <a:endParaRPr lang="zh-CN" altLang="en-US" sz="1575" b="1" dirty="0">
              <a:solidFill>
                <a:srgbClr val="000000"/>
              </a:solidFill>
              <a:latin typeface="Times New Roman" panose="02020603050405020304" pitchFamily="18" charset="0"/>
              <a:cs typeface="Times New Roman" panose="02020603050405020304" pitchFamily="18" charset="0"/>
            </a:endParaRPr>
          </a:p>
        </p:txBody>
      </p:sp>
      <p:sp>
        <p:nvSpPr>
          <p:cNvPr id="13" name="text_171_上下文重复"/>
          <p:cNvSpPr>
            <a:spLocks noGrp="1"/>
          </p:cNvSpPr>
          <p:nvPr/>
        </p:nvSpPr>
        <p:spPr>
          <a:xfrm>
            <a:off x="6355111" y="1797490"/>
            <a:ext cx="1178719" cy="221456"/>
          </a:xfrm>
          <a:prstGeom prst="rect">
            <a:avLst/>
          </a:prstGeom>
          <a:noFill/>
          <a:ln w="9525">
            <a:noFill/>
          </a:ln>
        </p:spPr>
        <p:txBody>
          <a:bodyPr wrap="none" lIns="0" tIns="0" rIns="0" bIns="0" anchor="ctr">
            <a:noAutofit/>
          </a:bodyPr>
          <a:lstStyle/>
          <a:p>
            <a:pPr>
              <a:defRPr sz="1800" b="1">
                <a:solidFill>
                  <a:srgbClr val="D7000F"/>
                </a:solidFill>
                <a:latin typeface="Arial" panose="020B0604020202020204"/>
                <a:ea typeface="Arial" panose="020B0604020202020204"/>
                <a:cs typeface="Arial" panose="020B0604020202020204"/>
              </a:defRPr>
            </a:pPr>
            <a:endParaRPr lang="zh-CN" altLang="en-US" b="1" dirty="0">
              <a:solidFill>
                <a:srgbClr val="D7000F"/>
              </a:solidFill>
              <a:latin typeface="Times New Roman" panose="02020603050405020304" pitchFamily="18" charset="0"/>
              <a:cs typeface="Times New Roman" panose="02020603050405020304" pitchFamily="18" charset="0"/>
            </a:endParaRPr>
          </a:p>
        </p:txBody>
      </p:sp>
      <p:sp>
        <p:nvSpPr>
          <p:cNvPr id="52" name="text_171_上下文重复"/>
          <p:cNvSpPr>
            <a:spLocks noGrp="1"/>
          </p:cNvSpPr>
          <p:nvPr/>
        </p:nvSpPr>
        <p:spPr>
          <a:xfrm>
            <a:off x="526927" y="6176938"/>
            <a:ext cx="1178719" cy="221456"/>
          </a:xfrm>
          <a:prstGeom prst="rect">
            <a:avLst/>
          </a:prstGeom>
          <a:noFill/>
          <a:ln w="9525">
            <a:noFill/>
          </a:ln>
        </p:spPr>
        <p:txBody>
          <a:bodyPr wrap="none" lIns="0" tIns="0" rIns="0" bIns="0" anchor="ctr">
            <a:no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latin typeface="Times New Roman" panose="02020603050405020304" pitchFamily="18" charset="0"/>
                <a:cs typeface="Times New Roman" panose="02020603050405020304" pitchFamily="18" charset="0"/>
              </a:rPr>
              <a:t>优化②：依据算子类型与 </a:t>
            </a:r>
            <a:r>
              <a:rPr lang="en-US" altLang="zh-CN" b="1" dirty="0">
                <a:latin typeface="Times New Roman" panose="02020603050405020304" pitchFamily="18" charset="0"/>
                <a:cs typeface="Times New Roman" panose="02020603050405020304" pitchFamily="18" charset="0"/>
              </a:rPr>
              <a:t>Profile </a:t>
            </a:r>
            <a:r>
              <a:rPr lang="zh-CN" altLang="en-US" b="1" dirty="0">
                <a:latin typeface="Times New Roman" panose="02020603050405020304" pitchFamily="18" charset="0"/>
                <a:cs typeface="Times New Roman" panose="02020603050405020304" pitchFamily="18" charset="0"/>
              </a:rPr>
              <a:t>信号筛选策略，减少</a:t>
            </a:r>
            <a:r>
              <a:rPr lang="zh-CN" altLang="en-US" b="1" dirty="0" smtClean="0">
                <a:latin typeface="Times New Roman" panose="02020603050405020304" pitchFamily="18" charset="0"/>
                <a:cs typeface="Times New Roman" panose="02020603050405020304" pitchFamily="18" charset="0"/>
              </a:rPr>
              <a:t>无效</a:t>
            </a:r>
            <a:r>
              <a:rPr lang="zh-CN" altLang="en-US" b="1" dirty="0">
                <a:latin typeface="Times New Roman" panose="02020603050405020304" pitchFamily="18" charset="0"/>
                <a:cs typeface="Times New Roman" panose="02020603050405020304" pitchFamily="18" charset="0"/>
              </a:rPr>
              <a:t>优化</a:t>
            </a:r>
          </a:p>
        </p:txBody>
      </p:sp>
      <p:sp>
        <p:nvSpPr>
          <p:cNvPr id="103" name="文本框 95"/>
          <p:cNvSpPr txBox="1"/>
          <p:nvPr/>
        </p:nvSpPr>
        <p:spPr>
          <a:xfrm>
            <a:off x="4837319" y="1965584"/>
            <a:ext cx="3767130" cy="126188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Wingdings" panose="05000000000000000000" charset="0"/>
              <a:buChar char="p"/>
            </a:pPr>
            <a:r>
              <a:rPr lang="zh-CN" altLang="en-US" sz="2000" b="1" dirty="0">
                <a:latin typeface="微软雅黑" panose="020B0503020204020204" pitchFamily="34" charset="-122"/>
                <a:ea typeface="微软雅黑" panose="020B0503020204020204" pitchFamily="34" charset="-122"/>
                <a:sym typeface="+mn-ea"/>
              </a:rPr>
              <a:t>缺点</a:t>
            </a:r>
            <a:r>
              <a:rPr lang="zh-CN" altLang="en-US" sz="2000" b="1" dirty="0" smtClean="0">
                <a:latin typeface="微软雅黑" panose="020B0503020204020204" pitchFamily="34" charset="-122"/>
                <a:ea typeface="微软雅黑" panose="020B0503020204020204" pitchFamily="34" charset="-122"/>
                <a:sym typeface="+mn-ea"/>
              </a:rPr>
              <a:t>：</a:t>
            </a:r>
            <a:endParaRPr lang="en-US" altLang="zh-CN" sz="2000" b="1" dirty="0" smtClean="0">
              <a:latin typeface="微软雅黑" panose="020B0503020204020204" pitchFamily="34" charset="-122"/>
              <a:ea typeface="微软雅黑" panose="020B0503020204020204" pitchFamily="34" charset="-122"/>
              <a:sym typeface="+mn-ea"/>
            </a:endParaRPr>
          </a:p>
          <a:p>
            <a:pPr algn="l"/>
            <a:endParaRPr lang="en-US" altLang="zh-CN" sz="1400" b="1" dirty="0" smtClean="0">
              <a:solidFill>
                <a:srgbClr val="004B9D"/>
              </a:solidFill>
              <a:latin typeface="微软雅黑" panose="020B0503020204020204" pitchFamily="34" charset="-122"/>
              <a:ea typeface="微软雅黑" panose="020B0503020204020204" pitchFamily="34" charset="-122"/>
              <a:sym typeface="+mn-ea"/>
            </a:endParaRPr>
          </a:p>
          <a:p>
            <a:pPr marL="285750" indent="-285750" algn="l">
              <a:lnSpc>
                <a:spcPct val="150000"/>
              </a:lnSpc>
              <a:buFont typeface="Wingdings" panose="05000000000000000000" pitchFamily="2" charset="2"/>
              <a:buChar char="Ø"/>
            </a:pPr>
            <a:r>
              <a:rPr lang="zh-CN" altLang="en-US" sz="1400" b="1" dirty="0" smtClean="0">
                <a:latin typeface="微软雅黑" panose="020B0503020204020204" pitchFamily="34" charset="-122"/>
                <a:ea typeface="微软雅黑" panose="020B0503020204020204" pitchFamily="34" charset="-122"/>
                <a:sym typeface="+mn-ea"/>
              </a:rPr>
              <a:t>有的算子不一定</a:t>
            </a:r>
            <a:r>
              <a:rPr lang="zh-CN" altLang="en-US" sz="1400" b="1" dirty="0">
                <a:latin typeface="微软雅黑" panose="020B0503020204020204" pitchFamily="34" charset="-122"/>
                <a:ea typeface="微软雅黑" panose="020B0503020204020204" pitchFamily="34" charset="-122"/>
                <a:sym typeface="+mn-ea"/>
              </a:rPr>
              <a:t>适用</a:t>
            </a:r>
            <a:r>
              <a:rPr lang="zh-CN" altLang="en-US" sz="1400" b="1" dirty="0" smtClean="0">
                <a:latin typeface="微软雅黑" panose="020B0503020204020204" pitchFamily="34" charset="-122"/>
                <a:ea typeface="微软雅黑" panose="020B0503020204020204" pitchFamily="34" charset="-122"/>
                <a:sym typeface="+mn-ea"/>
              </a:rPr>
              <a:t>所有</a:t>
            </a:r>
            <a:r>
              <a:rPr lang="zh-CN" altLang="en-US" sz="1400" b="1" dirty="0">
                <a:latin typeface="微软雅黑" panose="020B0503020204020204" pitchFamily="34" charset="-122"/>
                <a:ea typeface="微软雅黑" panose="020B0503020204020204" pitchFamily="34" charset="-122"/>
                <a:sym typeface="+mn-ea"/>
              </a:rPr>
              <a:t>的优化策略</a:t>
            </a:r>
            <a:endParaRPr lang="en-US" altLang="zh-CN" sz="1400" dirty="0">
              <a:latin typeface="微软雅黑" panose="020B0503020204020204" pitchFamily="34" charset="-122"/>
              <a:ea typeface="微软雅黑" panose="020B0503020204020204" pitchFamily="34" charset="-122"/>
              <a:sym typeface="+mn-ea"/>
            </a:endParaRPr>
          </a:p>
          <a:p>
            <a:pPr marL="285750" indent="-285750" algn="l">
              <a:lnSpc>
                <a:spcPct val="150000"/>
              </a:lnSpc>
              <a:buFont typeface="Wingdings" panose="05000000000000000000" pitchFamily="2" charset="2"/>
              <a:buChar char="Ø"/>
            </a:pPr>
            <a:r>
              <a:rPr lang="zh-CN" altLang="en-US" sz="1400" b="1" dirty="0">
                <a:latin typeface="微软雅黑" panose="020B0503020204020204" pitchFamily="34" charset="-122"/>
                <a:ea typeface="微软雅黑" panose="020B0503020204020204" pitchFamily="34" charset="-122"/>
                <a:sym typeface="+mn-ea"/>
              </a:rPr>
              <a:t>结束优化条件太苛刻。</a:t>
            </a:r>
            <a:endParaRPr lang="en-US" altLang="zh-CN" sz="1400" dirty="0">
              <a:latin typeface="微软雅黑" panose="020B0503020204020204" pitchFamily="34" charset="-122"/>
              <a:ea typeface="微软雅黑" panose="020B0503020204020204" pitchFamily="34" charset="-122"/>
              <a:sym typeface="+mn-ea"/>
            </a:endParaRPr>
          </a:p>
        </p:txBody>
      </p:sp>
      <p:sp>
        <p:nvSpPr>
          <p:cNvPr id="105" name="矩形 104"/>
          <p:cNvSpPr/>
          <p:nvPr/>
        </p:nvSpPr>
        <p:spPr>
          <a:xfrm>
            <a:off x="5635243" y="3755667"/>
            <a:ext cx="1821552" cy="276999"/>
          </a:xfrm>
          <a:prstGeom prst="rect">
            <a:avLst/>
          </a:prstGeom>
          <a:ln w="19050">
            <a:solidFill>
              <a:schemeClr val="accent1"/>
            </a:solidFill>
          </a:ln>
        </p:spPr>
        <p:txBody>
          <a:bodyPr wrap="square">
            <a:spAutoFit/>
          </a:bodyPr>
          <a:lstStyle/>
          <a:p>
            <a:pPr algn="ctr">
              <a:defRPr sz="1350" b="1">
                <a:solidFill>
                  <a:srgbClr val="000000"/>
                </a:solidFill>
                <a:latin typeface="Arial" panose="020B0604020202020204"/>
                <a:ea typeface="Arial" panose="020B0604020202020204"/>
                <a:cs typeface="Arial" panose="020B0604020202020204"/>
              </a:defRPr>
            </a:pPr>
            <a:r>
              <a:rPr lang="zh-CN" altLang="en-US" sz="1200" b="1" dirty="0">
                <a:solidFill>
                  <a:srgbClr val="000000"/>
                </a:solidFill>
                <a:latin typeface="Times New Roman" panose="02020603050405020304" pitchFamily="18" charset="0"/>
                <a:cs typeface="Times New Roman" panose="02020603050405020304" pitchFamily="18" charset="0"/>
              </a:rPr>
              <a:t>性能分析</a:t>
            </a:r>
          </a:p>
        </p:txBody>
      </p:sp>
      <p:sp>
        <p:nvSpPr>
          <p:cNvPr id="106" name="矩形 105"/>
          <p:cNvSpPr/>
          <p:nvPr/>
        </p:nvSpPr>
        <p:spPr>
          <a:xfrm>
            <a:off x="5635243" y="4261650"/>
            <a:ext cx="1821552" cy="276999"/>
          </a:xfrm>
          <a:prstGeom prst="rect">
            <a:avLst/>
          </a:prstGeom>
          <a:ln w="19050">
            <a:solidFill>
              <a:schemeClr val="accent1"/>
            </a:solidFill>
          </a:ln>
        </p:spPr>
        <p:txBody>
          <a:bodyPr wrap="square">
            <a:spAutoFit/>
          </a:bodyPr>
          <a:lstStyle/>
          <a:p>
            <a:pPr algn="ctr">
              <a:defRPr sz="1350" b="1">
                <a:solidFill>
                  <a:srgbClr val="000000"/>
                </a:solidFill>
                <a:latin typeface="Arial" panose="020B0604020202020204"/>
                <a:ea typeface="Arial" panose="020B0604020202020204"/>
                <a:cs typeface="Arial" panose="020B0604020202020204"/>
              </a:defRPr>
            </a:pPr>
            <a:r>
              <a:rPr lang="zh-CN" altLang="en-US" sz="1200" b="1" dirty="0">
                <a:solidFill>
                  <a:srgbClr val="000000"/>
                </a:solidFill>
                <a:latin typeface="Times New Roman" panose="02020603050405020304" pitchFamily="18" charset="0"/>
                <a:cs typeface="Times New Roman" panose="02020603050405020304" pitchFamily="18" charset="0"/>
              </a:rPr>
              <a:t>算子分类与瓶颈分析</a:t>
            </a:r>
          </a:p>
        </p:txBody>
      </p:sp>
      <p:sp>
        <p:nvSpPr>
          <p:cNvPr id="107" name="矩形 106"/>
          <p:cNvSpPr/>
          <p:nvPr/>
        </p:nvSpPr>
        <p:spPr>
          <a:xfrm>
            <a:off x="5635243" y="4786671"/>
            <a:ext cx="1821552" cy="276999"/>
          </a:xfrm>
          <a:prstGeom prst="rect">
            <a:avLst/>
          </a:prstGeom>
          <a:ln w="19050">
            <a:solidFill>
              <a:schemeClr val="accent1"/>
            </a:solidFill>
          </a:ln>
        </p:spPr>
        <p:txBody>
          <a:bodyPr wrap="square">
            <a:spAutoFit/>
          </a:bodyPr>
          <a:lstStyle/>
          <a:p>
            <a:pPr algn="ctr">
              <a:defRPr sz="1350" b="1">
                <a:solidFill>
                  <a:srgbClr val="000000"/>
                </a:solidFill>
                <a:latin typeface="Arial" panose="020B0604020202020204"/>
                <a:ea typeface="Arial" panose="020B0604020202020204"/>
                <a:cs typeface="Arial" panose="020B0604020202020204"/>
              </a:defRPr>
            </a:pPr>
            <a:r>
              <a:rPr lang="zh-CN" altLang="en-US" sz="1200" b="1" dirty="0">
                <a:solidFill>
                  <a:srgbClr val="000000"/>
                </a:solidFill>
                <a:latin typeface="Times New Roman" panose="02020603050405020304" pitchFamily="18" charset="0"/>
                <a:cs typeface="Times New Roman" panose="02020603050405020304" pitchFamily="18" charset="0"/>
              </a:rPr>
              <a:t>优化策略选择</a:t>
            </a:r>
          </a:p>
        </p:txBody>
      </p:sp>
      <p:sp>
        <p:nvSpPr>
          <p:cNvPr id="108" name="矩形 107"/>
          <p:cNvSpPr/>
          <p:nvPr/>
        </p:nvSpPr>
        <p:spPr>
          <a:xfrm>
            <a:off x="5638283" y="5319862"/>
            <a:ext cx="1821552" cy="276999"/>
          </a:xfrm>
          <a:prstGeom prst="rect">
            <a:avLst/>
          </a:prstGeom>
          <a:ln w="19050">
            <a:solidFill>
              <a:schemeClr val="accent1"/>
            </a:solidFill>
          </a:ln>
        </p:spPr>
        <p:txBody>
          <a:bodyPr wrap="square">
            <a:spAutoFit/>
          </a:bodyPr>
          <a:lstStyle/>
          <a:p>
            <a:pPr algn="ctr">
              <a:defRPr sz="1350" b="1">
                <a:solidFill>
                  <a:srgbClr val="000000"/>
                </a:solidFill>
                <a:latin typeface="Arial" panose="020B0604020202020204"/>
                <a:ea typeface="Arial" panose="020B0604020202020204"/>
                <a:cs typeface="Arial" panose="020B0604020202020204"/>
              </a:defRPr>
            </a:pPr>
            <a:r>
              <a:rPr lang="zh-CN" altLang="en-US" sz="1200" b="1" dirty="0">
                <a:solidFill>
                  <a:srgbClr val="000000"/>
                </a:solidFill>
                <a:latin typeface="Times New Roman" panose="02020603050405020304" pitchFamily="18" charset="0"/>
                <a:cs typeface="Times New Roman" panose="02020603050405020304" pitchFamily="18" charset="0"/>
              </a:rPr>
              <a:t>针对性优化</a:t>
            </a:r>
          </a:p>
        </p:txBody>
      </p:sp>
      <p:cxnSp>
        <p:nvCxnSpPr>
          <p:cNvPr id="29" name="直接箭头连接符 28"/>
          <p:cNvCxnSpPr>
            <a:stCxn id="105" idx="2"/>
            <a:endCxn id="106" idx="0"/>
          </p:cNvCxnSpPr>
          <p:nvPr/>
        </p:nvCxnSpPr>
        <p:spPr>
          <a:xfrm>
            <a:off x="6546019" y="4032666"/>
            <a:ext cx="0" cy="228984"/>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a:stCxn id="106" idx="2"/>
            <a:endCxn id="107" idx="0"/>
          </p:cNvCxnSpPr>
          <p:nvPr/>
        </p:nvCxnSpPr>
        <p:spPr>
          <a:xfrm>
            <a:off x="6546019" y="4538649"/>
            <a:ext cx="0" cy="24802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p:cNvCxnSpPr>
            <a:stCxn id="107" idx="2"/>
            <a:endCxn id="108" idx="0"/>
          </p:cNvCxnSpPr>
          <p:nvPr/>
        </p:nvCxnSpPr>
        <p:spPr>
          <a:xfrm>
            <a:off x="6546019" y="5063670"/>
            <a:ext cx="3040" cy="2561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18" name="文本框 95"/>
          <p:cNvSpPr txBox="1"/>
          <p:nvPr/>
        </p:nvSpPr>
        <p:spPr>
          <a:xfrm>
            <a:off x="4837318" y="3309355"/>
            <a:ext cx="5110923" cy="400110"/>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Wingdings" panose="05000000000000000000" charset="0"/>
              <a:buChar char="p"/>
            </a:pPr>
            <a:r>
              <a:rPr lang="zh-CN" altLang="en-US" sz="2000" b="1" dirty="0">
                <a:solidFill>
                  <a:schemeClr val="tx2"/>
                </a:solidFill>
                <a:latin typeface="微软雅黑" panose="020B0503020204020204" pitchFamily="34" charset="-122"/>
                <a:ea typeface="微软雅黑" panose="020B0503020204020204" pitchFamily="34" charset="-122"/>
                <a:sym typeface="+mn-ea"/>
              </a:rPr>
              <a:t>优化：</a:t>
            </a:r>
            <a:endParaRPr lang="en-US" altLang="zh-CN" sz="2000" b="1" dirty="0">
              <a:solidFill>
                <a:schemeClr val="tx2"/>
              </a:solidFill>
              <a:latin typeface="微软雅黑" panose="020B0503020204020204" pitchFamily="34" charset="-122"/>
              <a:ea typeface="微软雅黑" panose="020B0503020204020204" pitchFamily="34" charset="-122"/>
              <a:sym typeface="+mn-ea"/>
            </a:endParaRPr>
          </a:p>
        </p:txBody>
      </p:sp>
      <p:sp>
        <p:nvSpPr>
          <p:cNvPr id="119" name="矩形 118"/>
          <p:cNvSpPr/>
          <p:nvPr>
            <p:custDataLst>
              <p:tags r:id="rId1"/>
            </p:custDataLst>
          </p:nvPr>
        </p:nvSpPr>
        <p:spPr>
          <a:xfrm>
            <a:off x="4729043" y="3300798"/>
            <a:ext cx="3786307" cy="2535295"/>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49" name="优化前：逐项执行">
            <a:extLst>
              <a:ext uri="{FF2B5EF4-FFF2-40B4-BE49-F238E27FC236}">
                <a16:creationId xmlns:a16="http://schemas.microsoft.com/office/drawing/2014/main" id="{1131D0B5-22C6-4ABE-B12E-497ACB9B6E70}"/>
              </a:ext>
            </a:extLst>
          </p:cNvPr>
          <p:cNvSpPr>
            <a:spLocks noGrp="1"/>
          </p:cNvSpPr>
          <p:nvPr/>
        </p:nvSpPr>
        <p:spPr>
          <a:xfrm>
            <a:off x="533400" y="1971675"/>
            <a:ext cx="3966592" cy="285750"/>
          </a:xfrm>
          <a:prstGeom prst="rect">
            <a:avLst/>
          </a:prstGeom>
          <a:noFill/>
          <a:ln w="0">
            <a:noFill/>
          </a:ln>
        </p:spPr>
        <p:txBody>
          <a:bodyPr wrap="square" lIns="0" tIns="0" rIns="0" bIns="0" anchor="ctr">
            <a:noAutofit/>
          </a:bodyPr>
          <a:lstStyle/>
          <a:p>
            <a:pPr algn="l">
              <a:lnSpc>
                <a:spcPct val="112000"/>
              </a:lnSpc>
              <a:buNone/>
              <a:defRPr sz="1800" b="1">
                <a:solidFill>
                  <a:srgbClr val="004B9D"/>
                </a:solidFill>
                <a:latin typeface="Microsoft YaHei"/>
                <a:ea typeface="Microsoft YaHei"/>
                <a:cs typeface="Microsoft YaHei"/>
              </a:defRPr>
            </a:pPr>
            <a:r>
              <a:rPr lang="zh-CN" altLang="en-US" sz="1800" b="1" dirty="0" smtClean="0">
                <a:solidFill>
                  <a:schemeClr val="tx1">
                    <a:lumMod val="95000"/>
                    <a:lumOff val="5000"/>
                  </a:schemeClr>
                </a:solidFill>
                <a:latin typeface="Microsoft YaHei"/>
                <a:ea typeface="Microsoft YaHei"/>
                <a:cs typeface="Microsoft YaHei"/>
              </a:rPr>
              <a:t>原始算子优化结构：便利所有优化措施</a:t>
            </a:r>
            <a:endParaRPr sz="1800" b="1" dirty="0">
              <a:solidFill>
                <a:schemeClr val="tx1">
                  <a:lumMod val="95000"/>
                  <a:lumOff val="5000"/>
                </a:schemeClr>
              </a:solidFill>
              <a:latin typeface="Microsoft YaHei"/>
              <a:ea typeface="Microsoft YaHei"/>
              <a:cs typeface="Microsoft YaHei"/>
            </a:endParaRPr>
          </a:p>
        </p:txBody>
      </p:sp>
      <p:sp>
        <p:nvSpPr>
          <p:cNvPr id="50" name="正确的 Kernel">
            <a:extLst>
              <a:ext uri="{FF2B5EF4-FFF2-40B4-BE49-F238E27FC236}">
                <a16:creationId xmlns:a16="http://schemas.microsoft.com/office/drawing/2014/main" id="{263703A6-7E45-49B4-BF77-4BF4EF141A83}"/>
              </a:ext>
            </a:extLst>
          </p:cNvPr>
          <p:cNvSpPr>
            <a:spLocks noGrp="1"/>
          </p:cNvSpPr>
          <p:nvPr/>
        </p:nvSpPr>
        <p:spPr>
          <a:xfrm>
            <a:off x="838200" y="2466975"/>
            <a:ext cx="3048000" cy="419100"/>
          </a:xfrm>
          <a:prstGeom prst="rect">
            <a:avLst/>
          </a:prstGeom>
          <a:solidFill>
            <a:srgbClr val="FFFFFF"/>
          </a:solidFill>
          <a:ln w="12700">
            <a:solidFill>
              <a:schemeClr val="tx1">
                <a:lumMod val="95000"/>
                <a:lumOff val="5000"/>
              </a:schemeClr>
            </a:solidFill>
          </a:ln>
        </p:spPr>
        <p:txBody>
          <a:bodyPr wrap="square" lIns="76200" tIns="47625" rIns="76200" bIns="47625" anchor="ctr">
            <a:noAutofit/>
          </a:bodyPr>
          <a:lstStyle/>
          <a:p>
            <a:pPr algn="ctr">
              <a:lnSpc>
                <a:spcPct val="105000"/>
              </a:lnSpc>
              <a:buNone/>
              <a:defRPr sz="1600" b="0">
                <a:solidFill>
                  <a:srgbClr val="242424"/>
                </a:solidFill>
                <a:latin typeface="Microsoft YaHei"/>
                <a:ea typeface="Microsoft YaHei"/>
                <a:cs typeface="Microsoft YaHei"/>
              </a:defRPr>
            </a:pPr>
            <a:r>
              <a:rPr sz="1600" b="0">
                <a:solidFill>
                  <a:srgbClr val="242424"/>
                </a:solidFill>
                <a:latin typeface="Times New Roman" panose="02020603050405020304" pitchFamily="18" charset="0"/>
                <a:cs typeface="Times New Roman" panose="02020603050405020304" pitchFamily="18" charset="0"/>
              </a:rPr>
              <a:t>正确的 Kernel</a:t>
            </a:r>
          </a:p>
        </p:txBody>
      </p:sp>
      <p:sp>
        <p:nvSpPr>
          <p:cNvPr id="51" name="基础配置 / Retiling / Reduce&#10;Grid / Conf">
            <a:extLst>
              <a:ext uri="{FF2B5EF4-FFF2-40B4-BE49-F238E27FC236}">
                <a16:creationId xmlns:a16="http://schemas.microsoft.com/office/drawing/2014/main" id="{ADB7D8EA-89B4-4F76-B742-8D7FB3E0F3A2}"/>
              </a:ext>
            </a:extLst>
          </p:cNvPr>
          <p:cNvSpPr>
            <a:spLocks noGrp="1"/>
          </p:cNvSpPr>
          <p:nvPr/>
        </p:nvSpPr>
        <p:spPr>
          <a:xfrm>
            <a:off x="838200" y="3162300"/>
            <a:ext cx="3048000" cy="638175"/>
          </a:xfrm>
          <a:prstGeom prst="rect">
            <a:avLst/>
          </a:prstGeom>
          <a:solidFill>
            <a:srgbClr val="FFFFFF"/>
          </a:solidFill>
          <a:ln w="12700">
            <a:solidFill>
              <a:schemeClr val="tx1">
                <a:lumMod val="95000"/>
                <a:lumOff val="5000"/>
              </a:schemeClr>
            </a:solidFill>
          </a:ln>
        </p:spPr>
        <p:txBody>
          <a:bodyPr wrap="square" lIns="76200" tIns="47625" rIns="76200" bIns="47625" anchor="ctr">
            <a:noAutofit/>
          </a:bodyPr>
          <a:lstStyle/>
          <a:p>
            <a:pPr algn="ctr">
              <a:lnSpc>
                <a:spcPct val="105000"/>
              </a:lnSpc>
              <a:buNone/>
              <a:defRPr sz="1400" b="0">
                <a:solidFill>
                  <a:srgbClr val="242424"/>
                </a:solidFill>
                <a:latin typeface="Microsoft YaHei"/>
                <a:ea typeface="Microsoft YaHei"/>
                <a:cs typeface="Microsoft YaHei"/>
              </a:defRPr>
            </a:pPr>
            <a:r>
              <a:rPr sz="1400" b="0" dirty="0" err="1">
                <a:solidFill>
                  <a:srgbClr val="242424"/>
                </a:solidFill>
                <a:latin typeface="Times New Roman" panose="02020603050405020304" pitchFamily="18" charset="0"/>
                <a:cs typeface="Times New Roman" panose="02020603050405020304" pitchFamily="18" charset="0"/>
              </a:rPr>
              <a:t>基础配置</a:t>
            </a:r>
            <a:r>
              <a:rPr sz="1400" b="0" dirty="0">
                <a:solidFill>
                  <a:srgbClr val="242424"/>
                </a:solidFill>
                <a:latin typeface="Times New Roman" panose="02020603050405020304" pitchFamily="18" charset="0"/>
                <a:cs typeface="Times New Roman" panose="02020603050405020304" pitchFamily="18" charset="0"/>
              </a:rPr>
              <a:t> / Retiling / Reduce</a:t>
            </a:r>
          </a:p>
          <a:p>
            <a:pPr algn="ctr">
              <a:lnSpc>
                <a:spcPct val="105000"/>
              </a:lnSpc>
              <a:buNone/>
              <a:defRPr sz="1400" b="0">
                <a:solidFill>
                  <a:srgbClr val="242424"/>
                </a:solidFill>
                <a:latin typeface="Microsoft YaHei"/>
                <a:ea typeface="Microsoft YaHei"/>
                <a:cs typeface="Microsoft YaHei"/>
              </a:defRPr>
            </a:pPr>
            <a:r>
              <a:rPr sz="1400" b="0" dirty="0">
                <a:solidFill>
                  <a:srgbClr val="242424"/>
                </a:solidFill>
                <a:latin typeface="Times New Roman" panose="02020603050405020304" pitchFamily="18" charset="0"/>
                <a:cs typeface="Times New Roman" panose="02020603050405020304" pitchFamily="18" charset="0"/>
              </a:rPr>
              <a:t>Grid / </a:t>
            </a:r>
            <a:r>
              <a:rPr sz="1400" b="0" dirty="0" err="1">
                <a:solidFill>
                  <a:srgbClr val="242424"/>
                </a:solidFill>
                <a:latin typeface="Times New Roman" panose="02020603050405020304" pitchFamily="18" charset="0"/>
                <a:cs typeface="Times New Roman" panose="02020603050405020304" pitchFamily="18" charset="0"/>
              </a:rPr>
              <a:t>Config</a:t>
            </a:r>
            <a:endParaRPr sz="1400" b="0" dirty="0">
              <a:solidFill>
                <a:srgbClr val="242424"/>
              </a:solidFill>
              <a:latin typeface="Times New Roman" panose="02020603050405020304" pitchFamily="18" charset="0"/>
              <a:cs typeface="Times New Roman" panose="02020603050405020304" pitchFamily="18" charset="0"/>
            </a:endParaRPr>
          </a:p>
        </p:txBody>
      </p:sp>
      <p:sp>
        <p:nvSpPr>
          <p:cNvPr id="53" name="深度优化&#10;内存 / 指令 / 流水">
            <a:extLst>
              <a:ext uri="{FF2B5EF4-FFF2-40B4-BE49-F238E27FC236}">
                <a16:creationId xmlns:a16="http://schemas.microsoft.com/office/drawing/2014/main" id="{11BEE42B-C7AA-4616-92C2-BDFD1003A2FA}"/>
              </a:ext>
            </a:extLst>
          </p:cNvPr>
          <p:cNvSpPr>
            <a:spLocks noGrp="1"/>
          </p:cNvSpPr>
          <p:nvPr/>
        </p:nvSpPr>
        <p:spPr>
          <a:xfrm>
            <a:off x="838200" y="4076700"/>
            <a:ext cx="3048000" cy="590550"/>
          </a:xfrm>
          <a:prstGeom prst="rect">
            <a:avLst/>
          </a:prstGeom>
          <a:solidFill>
            <a:srgbClr val="FFFFFF"/>
          </a:solidFill>
          <a:ln w="12700">
            <a:solidFill>
              <a:schemeClr val="tx1">
                <a:lumMod val="95000"/>
                <a:lumOff val="5000"/>
              </a:schemeClr>
            </a:solidFill>
          </a:ln>
        </p:spPr>
        <p:txBody>
          <a:bodyPr wrap="square" lIns="76200" tIns="47625" rIns="76200" bIns="47625" anchor="ctr">
            <a:noAutofit/>
          </a:bodyPr>
          <a:lstStyle/>
          <a:p>
            <a:pPr algn="ctr">
              <a:lnSpc>
                <a:spcPct val="105000"/>
              </a:lnSpc>
              <a:buNone/>
              <a:defRPr sz="1400" b="0">
                <a:solidFill>
                  <a:srgbClr val="242424"/>
                </a:solidFill>
                <a:latin typeface="Microsoft YaHei"/>
                <a:ea typeface="Microsoft YaHei"/>
                <a:cs typeface="Microsoft YaHei"/>
              </a:defRPr>
            </a:pPr>
            <a:r>
              <a:rPr sz="1400" b="0">
                <a:solidFill>
                  <a:srgbClr val="242424"/>
                </a:solidFill>
                <a:latin typeface="Times New Roman" panose="02020603050405020304" pitchFamily="18" charset="0"/>
                <a:cs typeface="Times New Roman" panose="02020603050405020304" pitchFamily="18" charset="0"/>
              </a:rPr>
              <a:t>深度优化</a:t>
            </a:r>
          </a:p>
          <a:p>
            <a:pPr algn="ctr">
              <a:lnSpc>
                <a:spcPct val="105000"/>
              </a:lnSpc>
              <a:buNone/>
              <a:defRPr sz="1400" b="0">
                <a:solidFill>
                  <a:srgbClr val="242424"/>
                </a:solidFill>
                <a:latin typeface="Microsoft YaHei"/>
                <a:ea typeface="Microsoft YaHei"/>
                <a:cs typeface="Microsoft YaHei"/>
              </a:defRPr>
            </a:pPr>
            <a:r>
              <a:rPr sz="1400" b="0">
                <a:solidFill>
                  <a:srgbClr val="242424"/>
                </a:solidFill>
                <a:latin typeface="Times New Roman" panose="02020603050405020304" pitchFamily="18" charset="0"/>
                <a:cs typeface="Times New Roman" panose="02020603050405020304" pitchFamily="18" charset="0"/>
              </a:rPr>
              <a:t>内存 / 指令 / 流水</a:t>
            </a:r>
          </a:p>
        </p:txBody>
      </p:sp>
      <p:sp>
        <p:nvSpPr>
          <p:cNvPr id="55" name="连续 3 轮无提升&#10;且 Profile 无新建议后结束">
            <a:extLst>
              <a:ext uri="{FF2B5EF4-FFF2-40B4-BE49-F238E27FC236}">
                <a16:creationId xmlns:a16="http://schemas.microsoft.com/office/drawing/2014/main" id="{12AE757C-7E81-4CAE-ADFE-A75B0E2169BF}"/>
              </a:ext>
            </a:extLst>
          </p:cNvPr>
          <p:cNvSpPr>
            <a:spLocks noGrp="1"/>
          </p:cNvSpPr>
          <p:nvPr/>
        </p:nvSpPr>
        <p:spPr>
          <a:xfrm>
            <a:off x="838200" y="4943475"/>
            <a:ext cx="3048000" cy="581025"/>
          </a:xfrm>
          <a:prstGeom prst="rect">
            <a:avLst/>
          </a:prstGeom>
          <a:solidFill>
            <a:srgbClr val="FFFFFF"/>
          </a:solidFill>
          <a:ln w="12700">
            <a:solidFill>
              <a:schemeClr val="tx1">
                <a:lumMod val="95000"/>
                <a:lumOff val="5000"/>
              </a:schemeClr>
            </a:solidFill>
          </a:ln>
        </p:spPr>
        <p:txBody>
          <a:bodyPr wrap="square" lIns="76200" tIns="47625" rIns="76200" bIns="47625" anchor="ctr">
            <a:noAutofit/>
          </a:bodyPr>
          <a:lstStyle/>
          <a:p>
            <a:pPr algn="ctr">
              <a:lnSpc>
                <a:spcPct val="105000"/>
              </a:lnSpc>
              <a:buNone/>
              <a:defRPr sz="1400" b="0">
                <a:solidFill>
                  <a:srgbClr val="242424"/>
                </a:solidFill>
                <a:latin typeface="Microsoft YaHei"/>
                <a:ea typeface="Microsoft YaHei"/>
                <a:cs typeface="Microsoft YaHei"/>
              </a:defRPr>
            </a:pPr>
            <a:r>
              <a:rPr sz="1400" b="0">
                <a:solidFill>
                  <a:srgbClr val="242424"/>
                </a:solidFill>
                <a:latin typeface="Times New Roman" panose="02020603050405020304" pitchFamily="18" charset="0"/>
                <a:cs typeface="Times New Roman" panose="02020603050405020304" pitchFamily="18" charset="0"/>
              </a:rPr>
              <a:t>连续 3 轮无提升</a:t>
            </a:r>
          </a:p>
          <a:p>
            <a:pPr algn="ctr">
              <a:lnSpc>
                <a:spcPct val="105000"/>
              </a:lnSpc>
              <a:buNone/>
              <a:defRPr sz="1400" b="0">
                <a:solidFill>
                  <a:srgbClr val="242424"/>
                </a:solidFill>
                <a:latin typeface="Microsoft YaHei"/>
                <a:ea typeface="Microsoft YaHei"/>
                <a:cs typeface="Microsoft YaHei"/>
              </a:defRPr>
            </a:pPr>
            <a:r>
              <a:rPr sz="1400" b="0">
                <a:solidFill>
                  <a:srgbClr val="242424"/>
                </a:solidFill>
                <a:latin typeface="Times New Roman" panose="02020603050405020304" pitchFamily="18" charset="0"/>
                <a:cs typeface="Times New Roman" panose="02020603050405020304" pitchFamily="18" charset="0"/>
              </a:rPr>
              <a:t>且 Profile 无新建议后结束</a:t>
            </a:r>
          </a:p>
        </p:txBody>
      </p:sp>
      <p:cxnSp>
        <p:nvCxnSpPr>
          <p:cNvPr id="57" name="直接箭头连接符 56"/>
          <p:cNvCxnSpPr>
            <a:stCxn id="50" idx="2"/>
            <a:endCxn id="51" idx="0"/>
          </p:cNvCxnSpPr>
          <p:nvPr/>
        </p:nvCxnSpPr>
        <p:spPr>
          <a:xfrm>
            <a:off x="2362200" y="2886075"/>
            <a:ext cx="0" cy="276225"/>
          </a:xfrm>
          <a:prstGeom prst="straightConnector1">
            <a:avLst/>
          </a:prstGeom>
          <a:ln w="12700">
            <a:solidFill>
              <a:schemeClr val="tx1">
                <a:lumMod val="95000"/>
                <a:lumOff val="5000"/>
              </a:schemeClr>
            </a:solidFill>
            <a:prstDash val="solid"/>
            <a:tailEnd type="triangle" w="sm" len="sm"/>
          </a:ln>
        </p:spPr>
      </p:cxnSp>
      <p:cxnSp>
        <p:nvCxnSpPr>
          <p:cNvPr id="58" name="直接箭头连接符 57"/>
          <p:cNvCxnSpPr>
            <a:stCxn id="51" idx="2"/>
            <a:endCxn id="53" idx="0"/>
          </p:cNvCxnSpPr>
          <p:nvPr/>
        </p:nvCxnSpPr>
        <p:spPr>
          <a:xfrm>
            <a:off x="2362200" y="3800475"/>
            <a:ext cx="0" cy="276225"/>
          </a:xfrm>
          <a:prstGeom prst="straightConnector1">
            <a:avLst/>
          </a:prstGeom>
          <a:ln w="12700">
            <a:solidFill>
              <a:schemeClr val="tx1">
                <a:lumMod val="95000"/>
                <a:lumOff val="5000"/>
              </a:schemeClr>
            </a:solidFill>
            <a:prstDash val="solid"/>
            <a:tailEnd type="triangle" w="sm" len="sm"/>
          </a:ln>
        </p:spPr>
      </p:cxnSp>
      <p:cxnSp>
        <p:nvCxnSpPr>
          <p:cNvPr id="59" name="直接箭头连接符 58"/>
          <p:cNvCxnSpPr>
            <a:stCxn id="53" idx="2"/>
            <a:endCxn id="55" idx="0"/>
          </p:cNvCxnSpPr>
          <p:nvPr/>
        </p:nvCxnSpPr>
        <p:spPr>
          <a:xfrm>
            <a:off x="2362200" y="4667250"/>
            <a:ext cx="0" cy="276225"/>
          </a:xfrm>
          <a:prstGeom prst="straightConnector1">
            <a:avLst/>
          </a:prstGeom>
          <a:ln w="12700">
            <a:solidFill>
              <a:schemeClr val="tx1">
                <a:lumMod val="95000"/>
                <a:lumOff val="5000"/>
              </a:schemeClr>
            </a:solidFill>
            <a:prstDash val="solid"/>
            <a:tailEnd type="triangle" w="sm" len="sm"/>
          </a:ln>
        </p:spPr>
      </p:cxnSp>
    </p:spTree>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17</a:t>
            </a:fld>
            <a:endParaRPr lang="zh-CN" altLang="en-US"/>
          </a:p>
        </p:txBody>
      </p:sp>
      <p:sp>
        <p:nvSpPr>
          <p:cNvPr id="53" name="text_171_上下文重复"/>
          <p:cNvSpPr>
            <a:spLocks noGrp="1"/>
          </p:cNvSpPr>
          <p:nvPr/>
        </p:nvSpPr>
        <p:spPr>
          <a:xfrm>
            <a:off x="602043" y="6242641"/>
            <a:ext cx="6633782" cy="443868"/>
          </a:xfrm>
          <a:prstGeom prst="rect">
            <a:avLst/>
          </a:prstGeom>
          <a:noFill/>
          <a:ln w="9525">
            <a:noFill/>
          </a:ln>
        </p:spPr>
        <p:txBody>
          <a:bodyPr wrap="none" lIns="0" tIns="0" rIns="0" bIns="0" anchor="ctr">
            <a:no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solidFill>
                  <a:srgbClr val="FF0000"/>
                </a:solidFill>
                <a:latin typeface="Times New Roman" panose="02020603050405020304" pitchFamily="18" charset="0"/>
                <a:cs typeface="Times New Roman" panose="02020603050405020304" pitchFamily="18" charset="0"/>
              </a:rPr>
              <a:t>优化③：合并读取相同资料、任务较轻</a:t>
            </a:r>
            <a:r>
              <a:rPr lang="zh-CN" altLang="en-US" b="1" dirty="0" smtClean="0">
                <a:solidFill>
                  <a:srgbClr val="FF0000"/>
                </a:solidFill>
                <a:latin typeface="Times New Roman" panose="02020603050405020304" pitchFamily="18" charset="0"/>
                <a:cs typeface="Times New Roman" panose="02020603050405020304" pitchFamily="18" charset="0"/>
              </a:rPr>
              <a:t>的子代理</a:t>
            </a:r>
            <a:endParaRPr lang="zh-CN" altLang="en-US" b="1" dirty="0">
              <a:solidFill>
                <a:srgbClr val="FF0000"/>
              </a:solidFill>
              <a:latin typeface="Times New Roman" panose="02020603050405020304" pitchFamily="18" charset="0"/>
              <a:cs typeface="Times New Roman" panose="02020603050405020304" pitchFamily="18" charset="0"/>
            </a:endParaRPr>
          </a:p>
        </p:txBody>
      </p:sp>
      <p:sp>
        <p:nvSpPr>
          <p:cNvPr id="54"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一、算子开发时间长</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&amp;Token</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消耗高</a:t>
            </a:r>
            <a:endParaRPr lang="zh-CN" altLang="en-US" sz="1575" b="1" dirty="0">
              <a:solidFill>
                <a:srgbClr val="000000"/>
              </a:solidFill>
              <a:latin typeface="Times New Roman" panose="02020603050405020304" pitchFamily="18" charset="0"/>
              <a:cs typeface="Times New Roman" panose="02020603050405020304" pitchFamily="18" charset="0"/>
            </a:endParaRPr>
          </a:p>
        </p:txBody>
      </p:sp>
      <p:sp>
        <p:nvSpPr>
          <p:cNvPr id="14" name="矩形: 圆角 36"/>
          <p:cNvSpPr/>
          <p:nvPr/>
        </p:nvSpPr>
        <p:spPr>
          <a:xfrm>
            <a:off x="733729" y="5029934"/>
            <a:ext cx="1490408" cy="436330"/>
          </a:xfrm>
          <a:prstGeom prst="roundRect">
            <a:avLst/>
          </a:prstGeom>
          <a:solidFill>
            <a:schemeClr val="bg1">
              <a:lumMod val="95000"/>
            </a:schemeClr>
          </a:solidFill>
          <a:ln w="28575">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15" name="矩形: 圆角 36"/>
          <p:cNvSpPr/>
          <p:nvPr/>
        </p:nvSpPr>
        <p:spPr>
          <a:xfrm>
            <a:off x="733729" y="4094104"/>
            <a:ext cx="1490408" cy="856583"/>
          </a:xfrm>
          <a:prstGeom prst="roundRect">
            <a:avLst/>
          </a:prstGeom>
          <a:solidFill>
            <a:schemeClr val="bg1">
              <a:lumMod val="95000"/>
            </a:schemeClr>
          </a:solidFill>
          <a:ln w="28575">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16" name="矩形: 圆角 36"/>
          <p:cNvSpPr/>
          <p:nvPr/>
        </p:nvSpPr>
        <p:spPr>
          <a:xfrm>
            <a:off x="733729" y="2138400"/>
            <a:ext cx="1490408" cy="1877683"/>
          </a:xfrm>
          <a:prstGeom prst="roundRect">
            <a:avLst>
              <a:gd name="adj" fmla="val 8426"/>
            </a:avLst>
          </a:prstGeom>
          <a:solidFill>
            <a:schemeClr val="bg1">
              <a:lumMod val="95000"/>
            </a:schemeClr>
          </a:solidFill>
          <a:ln w="28575">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17" name="object_444"/>
          <p:cNvSpPr>
            <a:spLocks noGrp="1"/>
          </p:cNvSpPr>
          <p:nvPr/>
        </p:nvSpPr>
        <p:spPr>
          <a:xfrm>
            <a:off x="895399" y="2251577"/>
            <a:ext cx="1207294" cy="342900"/>
          </a:xfrm>
          <a:prstGeom prst="rect">
            <a:avLst/>
          </a:prstGeom>
          <a:solidFill>
            <a:srgbClr val="F2F2F2"/>
          </a:solidFill>
          <a:ln w="9525">
            <a:noFill/>
          </a:ln>
        </p:spPr>
      </p:sp>
      <p:sp>
        <p:nvSpPr>
          <p:cNvPr id="18" name="text_446_1. 需求理解"/>
          <p:cNvSpPr>
            <a:spLocks noGrp="1"/>
          </p:cNvSpPr>
          <p:nvPr/>
        </p:nvSpPr>
        <p:spPr>
          <a:xfrm>
            <a:off x="945405" y="2301583"/>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a:solidFill>
                  <a:srgbClr val="000000"/>
                </a:solidFill>
                <a:latin typeface="Times New Roman" panose="02020603050405020304" pitchFamily="18" charset="0"/>
                <a:cs typeface="Times New Roman" panose="02020603050405020304" pitchFamily="18" charset="0"/>
              </a:rPr>
              <a:t>1. 需求理解</a:t>
            </a:r>
          </a:p>
        </p:txBody>
      </p:sp>
      <p:sp>
        <p:nvSpPr>
          <p:cNvPr id="20" name="connector_449"/>
          <p:cNvSpPr>
            <a:spLocks noGrp="1"/>
          </p:cNvSpPr>
          <p:nvPr/>
        </p:nvSpPr>
        <p:spPr>
          <a:xfrm>
            <a:off x="1343532" y="2608765"/>
            <a:ext cx="14288" cy="92869"/>
          </a:xfrm>
          <a:custGeom>
            <a:avLst/>
            <a:gdLst/>
            <a:ahLst/>
            <a:cxnLst/>
            <a:rect l="0" t="0" r="0" b="0"/>
            <a:pathLst>
              <a:path w="19050" h="123825">
                <a:moveTo>
                  <a:pt x="9525" y="9525"/>
                </a:moveTo>
                <a:lnTo>
                  <a:pt x="9525" y="114300"/>
                </a:lnTo>
              </a:path>
            </a:pathLst>
          </a:custGeom>
          <a:noFill/>
          <a:ln w="19050">
            <a:solidFill>
              <a:srgbClr val="D7000F"/>
            </a:solidFill>
          </a:ln>
        </p:spPr>
      </p:sp>
      <p:sp>
        <p:nvSpPr>
          <p:cNvPr id="21" name="connector_450"/>
          <p:cNvSpPr>
            <a:spLocks noGrp="1"/>
          </p:cNvSpPr>
          <p:nvPr/>
        </p:nvSpPr>
        <p:spPr>
          <a:xfrm>
            <a:off x="1319558" y="2643461"/>
            <a:ext cx="62236" cy="58172"/>
          </a:xfrm>
          <a:custGeom>
            <a:avLst/>
            <a:gdLst/>
            <a:ahLst/>
            <a:cxnLst/>
            <a:rect l="0" t="0" r="0" b="0"/>
            <a:pathLst>
              <a:path w="82981" h="77563">
                <a:moveTo>
                  <a:pt x="9525" y="9525"/>
                </a:moveTo>
                <a:lnTo>
                  <a:pt x="41491" y="68038"/>
                </a:lnTo>
                <a:lnTo>
                  <a:pt x="73456" y="9525"/>
                </a:lnTo>
              </a:path>
            </a:pathLst>
          </a:custGeom>
          <a:noFill/>
          <a:ln w="19050">
            <a:solidFill>
              <a:srgbClr val="D7000F"/>
            </a:solidFill>
          </a:ln>
        </p:spPr>
      </p:sp>
      <p:sp>
        <p:nvSpPr>
          <p:cNvPr id="22" name="object_451"/>
          <p:cNvSpPr>
            <a:spLocks noGrp="1"/>
          </p:cNvSpPr>
          <p:nvPr/>
        </p:nvSpPr>
        <p:spPr>
          <a:xfrm>
            <a:off x="895399" y="2715921"/>
            <a:ext cx="1207294" cy="342900"/>
          </a:xfrm>
          <a:prstGeom prst="rect">
            <a:avLst/>
          </a:prstGeom>
          <a:solidFill>
            <a:srgbClr val="F2F2F2"/>
          </a:solidFill>
          <a:ln w="9525">
            <a:noFill/>
          </a:ln>
        </p:spPr>
      </p:sp>
      <p:sp>
        <p:nvSpPr>
          <p:cNvPr id="23" name="text_453_2. 语义分析"/>
          <p:cNvSpPr>
            <a:spLocks noGrp="1"/>
          </p:cNvSpPr>
          <p:nvPr/>
        </p:nvSpPr>
        <p:spPr>
          <a:xfrm>
            <a:off x="945405" y="2730064"/>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dirty="0">
                <a:solidFill>
                  <a:srgbClr val="000000"/>
                </a:solidFill>
                <a:latin typeface="Times New Roman" panose="02020603050405020304" pitchFamily="18" charset="0"/>
                <a:cs typeface="Times New Roman" panose="02020603050405020304" pitchFamily="18" charset="0"/>
              </a:rPr>
              <a:t>2. </a:t>
            </a:r>
            <a:r>
              <a:rPr sz="1125" b="1" dirty="0" err="1">
                <a:solidFill>
                  <a:srgbClr val="000000"/>
                </a:solidFill>
                <a:latin typeface="Times New Roman" panose="02020603050405020304" pitchFamily="18" charset="0"/>
                <a:cs typeface="Times New Roman" panose="02020603050405020304" pitchFamily="18" charset="0"/>
              </a:rPr>
              <a:t>语义分析</a:t>
            </a:r>
            <a:endParaRPr sz="1125" b="1" dirty="0">
              <a:solidFill>
                <a:srgbClr val="000000"/>
              </a:solidFill>
              <a:latin typeface="Times New Roman" panose="02020603050405020304" pitchFamily="18" charset="0"/>
              <a:cs typeface="Times New Roman" panose="02020603050405020304" pitchFamily="18" charset="0"/>
            </a:endParaRPr>
          </a:p>
        </p:txBody>
      </p:sp>
      <p:sp>
        <p:nvSpPr>
          <p:cNvPr id="25" name="connector_456"/>
          <p:cNvSpPr>
            <a:spLocks noGrp="1"/>
          </p:cNvSpPr>
          <p:nvPr/>
        </p:nvSpPr>
        <p:spPr>
          <a:xfrm>
            <a:off x="1343532" y="3073108"/>
            <a:ext cx="14288" cy="92869"/>
          </a:xfrm>
          <a:custGeom>
            <a:avLst/>
            <a:gdLst/>
            <a:ahLst/>
            <a:cxnLst/>
            <a:rect l="0" t="0" r="0" b="0"/>
            <a:pathLst>
              <a:path w="19050" h="123825">
                <a:moveTo>
                  <a:pt x="9525" y="9525"/>
                </a:moveTo>
                <a:lnTo>
                  <a:pt x="9525" y="114300"/>
                </a:lnTo>
              </a:path>
            </a:pathLst>
          </a:custGeom>
          <a:noFill/>
          <a:ln w="19050">
            <a:solidFill>
              <a:srgbClr val="D7000F"/>
            </a:solidFill>
          </a:ln>
        </p:spPr>
      </p:sp>
      <p:sp>
        <p:nvSpPr>
          <p:cNvPr id="26" name="connector_457"/>
          <p:cNvSpPr>
            <a:spLocks noGrp="1"/>
          </p:cNvSpPr>
          <p:nvPr/>
        </p:nvSpPr>
        <p:spPr>
          <a:xfrm>
            <a:off x="1319558" y="3107805"/>
            <a:ext cx="62236" cy="58172"/>
          </a:xfrm>
          <a:custGeom>
            <a:avLst/>
            <a:gdLst/>
            <a:ahLst/>
            <a:cxnLst/>
            <a:rect l="0" t="0" r="0" b="0"/>
            <a:pathLst>
              <a:path w="82981" h="77563">
                <a:moveTo>
                  <a:pt x="9525" y="9525"/>
                </a:moveTo>
                <a:lnTo>
                  <a:pt x="41491" y="68038"/>
                </a:lnTo>
                <a:lnTo>
                  <a:pt x="73456" y="9525"/>
                </a:lnTo>
              </a:path>
            </a:pathLst>
          </a:custGeom>
          <a:noFill/>
          <a:ln w="19050">
            <a:solidFill>
              <a:srgbClr val="D7000F"/>
            </a:solidFill>
          </a:ln>
        </p:spPr>
      </p:sp>
      <p:sp>
        <p:nvSpPr>
          <p:cNvPr id="28" name="object_458"/>
          <p:cNvSpPr>
            <a:spLocks noGrp="1"/>
          </p:cNvSpPr>
          <p:nvPr/>
        </p:nvSpPr>
        <p:spPr>
          <a:xfrm>
            <a:off x="895399" y="3180264"/>
            <a:ext cx="1207294" cy="342900"/>
          </a:xfrm>
          <a:prstGeom prst="rect">
            <a:avLst/>
          </a:prstGeom>
          <a:solidFill>
            <a:srgbClr val="F2F2F2"/>
          </a:solidFill>
          <a:ln w="9525">
            <a:noFill/>
          </a:ln>
        </p:spPr>
      </p:sp>
      <p:sp>
        <p:nvSpPr>
          <p:cNvPr id="29" name="text_460_3. Mapping 设计"/>
          <p:cNvSpPr>
            <a:spLocks noGrp="1"/>
          </p:cNvSpPr>
          <p:nvPr/>
        </p:nvSpPr>
        <p:spPr>
          <a:xfrm>
            <a:off x="945405" y="3158874"/>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dirty="0">
                <a:solidFill>
                  <a:srgbClr val="000000"/>
                </a:solidFill>
                <a:latin typeface="Times New Roman" panose="02020603050405020304" pitchFamily="18" charset="0"/>
                <a:cs typeface="Times New Roman" panose="02020603050405020304" pitchFamily="18" charset="0"/>
              </a:rPr>
              <a:t>3. </a:t>
            </a:r>
            <a:r>
              <a:rPr lang="zh-CN" altLang="en-US" sz="1125" b="1" dirty="0" smtClean="0">
                <a:solidFill>
                  <a:srgbClr val="000000"/>
                </a:solidFill>
                <a:latin typeface="Times New Roman" panose="02020603050405020304" pitchFamily="18" charset="0"/>
                <a:cs typeface="Times New Roman" panose="02020603050405020304" pitchFamily="18" charset="0"/>
              </a:rPr>
              <a:t>轴设计</a:t>
            </a:r>
            <a:r>
              <a:rPr sz="1125" b="1" dirty="0" err="1" smtClean="0">
                <a:solidFill>
                  <a:srgbClr val="000000"/>
                </a:solidFill>
                <a:latin typeface="Times New Roman" panose="02020603050405020304" pitchFamily="18" charset="0"/>
                <a:cs typeface="Times New Roman" panose="02020603050405020304" pitchFamily="18" charset="0"/>
              </a:rPr>
              <a:t>设计</a:t>
            </a:r>
            <a:endParaRPr sz="1125" b="1" dirty="0">
              <a:solidFill>
                <a:srgbClr val="000000"/>
              </a:solidFill>
              <a:latin typeface="Times New Roman" panose="02020603050405020304" pitchFamily="18" charset="0"/>
              <a:cs typeface="Times New Roman" panose="02020603050405020304" pitchFamily="18" charset="0"/>
            </a:endParaRPr>
          </a:p>
        </p:txBody>
      </p:sp>
      <p:sp>
        <p:nvSpPr>
          <p:cNvPr id="31" name="connector_463"/>
          <p:cNvSpPr>
            <a:spLocks noGrp="1"/>
          </p:cNvSpPr>
          <p:nvPr/>
        </p:nvSpPr>
        <p:spPr>
          <a:xfrm>
            <a:off x="1343532" y="3537452"/>
            <a:ext cx="14288" cy="92869"/>
          </a:xfrm>
          <a:custGeom>
            <a:avLst/>
            <a:gdLst/>
            <a:ahLst/>
            <a:cxnLst/>
            <a:rect l="0" t="0" r="0" b="0"/>
            <a:pathLst>
              <a:path w="19050" h="123825">
                <a:moveTo>
                  <a:pt x="9525" y="9525"/>
                </a:moveTo>
                <a:lnTo>
                  <a:pt x="9525" y="114300"/>
                </a:lnTo>
              </a:path>
            </a:pathLst>
          </a:custGeom>
          <a:noFill/>
          <a:ln w="19050">
            <a:solidFill>
              <a:srgbClr val="D7000F"/>
            </a:solidFill>
          </a:ln>
        </p:spPr>
      </p:sp>
      <p:sp>
        <p:nvSpPr>
          <p:cNvPr id="32" name="connector_464"/>
          <p:cNvSpPr>
            <a:spLocks noGrp="1"/>
          </p:cNvSpPr>
          <p:nvPr/>
        </p:nvSpPr>
        <p:spPr>
          <a:xfrm>
            <a:off x="1319558" y="3572149"/>
            <a:ext cx="62236" cy="58172"/>
          </a:xfrm>
          <a:custGeom>
            <a:avLst/>
            <a:gdLst/>
            <a:ahLst/>
            <a:cxnLst/>
            <a:rect l="0" t="0" r="0" b="0"/>
            <a:pathLst>
              <a:path w="82981" h="77563">
                <a:moveTo>
                  <a:pt x="9525" y="9525"/>
                </a:moveTo>
                <a:lnTo>
                  <a:pt x="41491" y="68038"/>
                </a:lnTo>
                <a:lnTo>
                  <a:pt x="73456" y="9525"/>
                </a:lnTo>
              </a:path>
            </a:pathLst>
          </a:custGeom>
          <a:noFill/>
          <a:ln w="19050">
            <a:solidFill>
              <a:srgbClr val="D7000F"/>
            </a:solidFill>
          </a:ln>
        </p:spPr>
      </p:sp>
      <p:sp>
        <p:nvSpPr>
          <p:cNvPr id="33" name="object_465"/>
          <p:cNvSpPr>
            <a:spLocks noGrp="1"/>
          </p:cNvSpPr>
          <p:nvPr/>
        </p:nvSpPr>
        <p:spPr>
          <a:xfrm>
            <a:off x="895399" y="3644608"/>
            <a:ext cx="1207294" cy="342900"/>
          </a:xfrm>
          <a:prstGeom prst="rect">
            <a:avLst/>
          </a:prstGeom>
          <a:solidFill>
            <a:srgbClr val="F2F2F2"/>
          </a:solidFill>
          <a:ln w="9525">
            <a:noFill/>
          </a:ln>
        </p:spPr>
      </p:sp>
      <p:sp>
        <p:nvSpPr>
          <p:cNvPr id="34" name="text_467_4. Kernel 设计"/>
          <p:cNvSpPr>
            <a:spLocks noGrp="1"/>
          </p:cNvSpPr>
          <p:nvPr/>
        </p:nvSpPr>
        <p:spPr>
          <a:xfrm>
            <a:off x="950033" y="3634365"/>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dirty="0">
                <a:solidFill>
                  <a:srgbClr val="000000"/>
                </a:solidFill>
                <a:latin typeface="Times New Roman" panose="02020603050405020304" pitchFamily="18" charset="0"/>
                <a:cs typeface="Times New Roman" panose="02020603050405020304" pitchFamily="18" charset="0"/>
              </a:rPr>
              <a:t>4. Kernel </a:t>
            </a:r>
            <a:r>
              <a:rPr sz="1125" b="1" dirty="0" err="1">
                <a:solidFill>
                  <a:srgbClr val="000000"/>
                </a:solidFill>
                <a:latin typeface="Times New Roman" panose="02020603050405020304" pitchFamily="18" charset="0"/>
                <a:cs typeface="Times New Roman" panose="02020603050405020304" pitchFamily="18" charset="0"/>
              </a:rPr>
              <a:t>设计</a:t>
            </a:r>
            <a:endParaRPr sz="1125" b="1" dirty="0">
              <a:solidFill>
                <a:srgbClr val="000000"/>
              </a:solidFill>
              <a:latin typeface="Times New Roman" panose="02020603050405020304" pitchFamily="18" charset="0"/>
              <a:cs typeface="Times New Roman" panose="02020603050405020304" pitchFamily="18" charset="0"/>
            </a:endParaRPr>
          </a:p>
        </p:txBody>
      </p:sp>
      <p:sp>
        <p:nvSpPr>
          <p:cNvPr id="36" name="connector_470"/>
          <p:cNvSpPr>
            <a:spLocks noGrp="1"/>
          </p:cNvSpPr>
          <p:nvPr/>
        </p:nvSpPr>
        <p:spPr>
          <a:xfrm>
            <a:off x="1343532" y="4001796"/>
            <a:ext cx="14288" cy="92869"/>
          </a:xfrm>
          <a:custGeom>
            <a:avLst/>
            <a:gdLst/>
            <a:ahLst/>
            <a:cxnLst/>
            <a:rect l="0" t="0" r="0" b="0"/>
            <a:pathLst>
              <a:path w="19050" h="123825">
                <a:moveTo>
                  <a:pt x="9525" y="9525"/>
                </a:moveTo>
                <a:lnTo>
                  <a:pt x="9525" y="114300"/>
                </a:lnTo>
              </a:path>
            </a:pathLst>
          </a:custGeom>
          <a:noFill/>
          <a:ln w="19050">
            <a:solidFill>
              <a:srgbClr val="D7000F"/>
            </a:solidFill>
          </a:ln>
        </p:spPr>
      </p:sp>
      <p:sp>
        <p:nvSpPr>
          <p:cNvPr id="37" name="connector_471"/>
          <p:cNvSpPr>
            <a:spLocks noGrp="1"/>
          </p:cNvSpPr>
          <p:nvPr/>
        </p:nvSpPr>
        <p:spPr>
          <a:xfrm>
            <a:off x="1319558" y="4036493"/>
            <a:ext cx="62236" cy="58172"/>
          </a:xfrm>
          <a:custGeom>
            <a:avLst/>
            <a:gdLst/>
            <a:ahLst/>
            <a:cxnLst/>
            <a:rect l="0" t="0" r="0" b="0"/>
            <a:pathLst>
              <a:path w="82981" h="77563">
                <a:moveTo>
                  <a:pt x="9525" y="9525"/>
                </a:moveTo>
                <a:lnTo>
                  <a:pt x="41491" y="68038"/>
                </a:lnTo>
                <a:lnTo>
                  <a:pt x="73456" y="9525"/>
                </a:lnTo>
              </a:path>
            </a:pathLst>
          </a:custGeom>
          <a:noFill/>
          <a:ln w="19050">
            <a:solidFill>
              <a:srgbClr val="D7000F"/>
            </a:solidFill>
          </a:ln>
        </p:spPr>
      </p:sp>
      <p:sp>
        <p:nvSpPr>
          <p:cNvPr id="38" name="object_472"/>
          <p:cNvSpPr>
            <a:spLocks noGrp="1"/>
          </p:cNvSpPr>
          <p:nvPr/>
        </p:nvSpPr>
        <p:spPr>
          <a:xfrm>
            <a:off x="895399" y="4138982"/>
            <a:ext cx="1207294" cy="342900"/>
          </a:xfrm>
          <a:prstGeom prst="rect">
            <a:avLst/>
          </a:prstGeom>
          <a:solidFill>
            <a:srgbClr val="F2F2F2"/>
          </a:solidFill>
          <a:ln w="9525">
            <a:noFill/>
          </a:ln>
        </p:spPr>
      </p:sp>
      <p:sp>
        <p:nvSpPr>
          <p:cNvPr id="39" name="text_474_5. 代码生成"/>
          <p:cNvSpPr>
            <a:spLocks noGrp="1"/>
          </p:cNvSpPr>
          <p:nvPr/>
        </p:nvSpPr>
        <p:spPr>
          <a:xfrm>
            <a:off x="945405" y="4188988"/>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a:solidFill>
                  <a:srgbClr val="000000"/>
                </a:solidFill>
                <a:latin typeface="Times New Roman" panose="02020603050405020304" pitchFamily="18" charset="0"/>
                <a:cs typeface="Times New Roman" panose="02020603050405020304" pitchFamily="18" charset="0"/>
              </a:rPr>
              <a:t>5. 代码生成</a:t>
            </a:r>
          </a:p>
        </p:txBody>
      </p:sp>
      <p:sp>
        <p:nvSpPr>
          <p:cNvPr id="43" name="connector_477"/>
          <p:cNvSpPr>
            <a:spLocks noGrp="1"/>
          </p:cNvSpPr>
          <p:nvPr/>
        </p:nvSpPr>
        <p:spPr>
          <a:xfrm>
            <a:off x="1343532" y="4479763"/>
            <a:ext cx="14288" cy="92869"/>
          </a:xfrm>
          <a:custGeom>
            <a:avLst/>
            <a:gdLst/>
            <a:ahLst/>
            <a:cxnLst/>
            <a:rect l="0" t="0" r="0" b="0"/>
            <a:pathLst>
              <a:path w="19050" h="123825">
                <a:moveTo>
                  <a:pt x="9525" y="9525"/>
                </a:moveTo>
                <a:lnTo>
                  <a:pt x="9525" y="114300"/>
                </a:lnTo>
              </a:path>
            </a:pathLst>
          </a:custGeom>
          <a:noFill/>
          <a:ln w="19050">
            <a:solidFill>
              <a:srgbClr val="D7000F"/>
            </a:solidFill>
          </a:ln>
        </p:spPr>
      </p:sp>
      <p:sp>
        <p:nvSpPr>
          <p:cNvPr id="44" name="connector_478"/>
          <p:cNvSpPr>
            <a:spLocks noGrp="1"/>
          </p:cNvSpPr>
          <p:nvPr/>
        </p:nvSpPr>
        <p:spPr>
          <a:xfrm>
            <a:off x="1319558" y="4514459"/>
            <a:ext cx="62236" cy="58172"/>
          </a:xfrm>
          <a:custGeom>
            <a:avLst/>
            <a:gdLst/>
            <a:ahLst/>
            <a:cxnLst/>
            <a:rect l="0" t="0" r="0" b="0"/>
            <a:pathLst>
              <a:path w="82981" h="77563">
                <a:moveTo>
                  <a:pt x="9525" y="9525"/>
                </a:moveTo>
                <a:lnTo>
                  <a:pt x="41491" y="68038"/>
                </a:lnTo>
                <a:lnTo>
                  <a:pt x="73456" y="9525"/>
                </a:lnTo>
              </a:path>
            </a:pathLst>
          </a:custGeom>
          <a:noFill/>
          <a:ln w="19050">
            <a:solidFill>
              <a:srgbClr val="D7000F"/>
            </a:solidFill>
          </a:ln>
        </p:spPr>
      </p:sp>
      <p:sp>
        <p:nvSpPr>
          <p:cNvPr id="45" name="object_479"/>
          <p:cNvSpPr>
            <a:spLocks noGrp="1"/>
          </p:cNvSpPr>
          <p:nvPr/>
        </p:nvSpPr>
        <p:spPr>
          <a:xfrm>
            <a:off x="895399" y="4586919"/>
            <a:ext cx="1207294" cy="342900"/>
          </a:xfrm>
          <a:prstGeom prst="rect">
            <a:avLst/>
          </a:prstGeom>
          <a:solidFill>
            <a:srgbClr val="F2F2F2"/>
          </a:solidFill>
          <a:ln w="9525">
            <a:noFill/>
          </a:ln>
        </p:spPr>
      </p:sp>
      <p:sp>
        <p:nvSpPr>
          <p:cNvPr id="48" name="text_481_6. 测试生成"/>
          <p:cNvSpPr>
            <a:spLocks noGrp="1"/>
          </p:cNvSpPr>
          <p:nvPr/>
        </p:nvSpPr>
        <p:spPr>
          <a:xfrm>
            <a:off x="945405" y="4636925"/>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a:solidFill>
                  <a:srgbClr val="000000"/>
                </a:solidFill>
                <a:latin typeface="Times New Roman" panose="02020603050405020304" pitchFamily="18" charset="0"/>
                <a:cs typeface="Times New Roman" panose="02020603050405020304" pitchFamily="18" charset="0"/>
              </a:rPr>
              <a:t>6. 测试生成</a:t>
            </a:r>
          </a:p>
        </p:txBody>
      </p:sp>
      <p:sp>
        <p:nvSpPr>
          <p:cNvPr id="50" name="connector_484"/>
          <p:cNvSpPr>
            <a:spLocks noGrp="1"/>
          </p:cNvSpPr>
          <p:nvPr/>
        </p:nvSpPr>
        <p:spPr>
          <a:xfrm>
            <a:off x="1343532" y="4930483"/>
            <a:ext cx="14288" cy="92869"/>
          </a:xfrm>
          <a:custGeom>
            <a:avLst/>
            <a:gdLst/>
            <a:ahLst/>
            <a:cxnLst/>
            <a:rect l="0" t="0" r="0" b="0"/>
            <a:pathLst>
              <a:path w="19050" h="123825">
                <a:moveTo>
                  <a:pt x="9525" y="9525"/>
                </a:moveTo>
                <a:lnTo>
                  <a:pt x="9525" y="114300"/>
                </a:lnTo>
              </a:path>
            </a:pathLst>
          </a:custGeom>
          <a:noFill/>
          <a:ln w="19050">
            <a:solidFill>
              <a:srgbClr val="D7000F"/>
            </a:solidFill>
          </a:ln>
        </p:spPr>
      </p:sp>
      <p:sp>
        <p:nvSpPr>
          <p:cNvPr id="51" name="connector_485"/>
          <p:cNvSpPr>
            <a:spLocks noGrp="1"/>
          </p:cNvSpPr>
          <p:nvPr/>
        </p:nvSpPr>
        <p:spPr>
          <a:xfrm>
            <a:off x="1319558" y="4965180"/>
            <a:ext cx="62236" cy="58172"/>
          </a:xfrm>
          <a:custGeom>
            <a:avLst/>
            <a:gdLst/>
            <a:ahLst/>
            <a:cxnLst/>
            <a:rect l="0" t="0" r="0" b="0"/>
            <a:pathLst>
              <a:path w="82981" h="77563">
                <a:moveTo>
                  <a:pt x="9525" y="9525"/>
                </a:moveTo>
                <a:lnTo>
                  <a:pt x="41491" y="68038"/>
                </a:lnTo>
                <a:lnTo>
                  <a:pt x="73456" y="9525"/>
                </a:lnTo>
              </a:path>
            </a:pathLst>
          </a:custGeom>
          <a:noFill/>
          <a:ln w="19050">
            <a:solidFill>
              <a:srgbClr val="D7000F"/>
            </a:solidFill>
          </a:ln>
        </p:spPr>
      </p:sp>
      <p:sp>
        <p:nvSpPr>
          <p:cNvPr id="55" name="object_486"/>
          <p:cNvSpPr>
            <a:spLocks noGrp="1"/>
          </p:cNvSpPr>
          <p:nvPr/>
        </p:nvSpPr>
        <p:spPr>
          <a:xfrm>
            <a:off x="895399" y="5051927"/>
            <a:ext cx="1207294" cy="342900"/>
          </a:xfrm>
          <a:prstGeom prst="rect">
            <a:avLst/>
          </a:prstGeom>
          <a:solidFill>
            <a:srgbClr val="F2F2F2"/>
          </a:solidFill>
          <a:ln w="9525">
            <a:noFill/>
          </a:ln>
        </p:spPr>
      </p:sp>
      <p:sp>
        <p:nvSpPr>
          <p:cNvPr id="57" name="text_488_7. 自检与整理"/>
          <p:cNvSpPr>
            <a:spLocks noGrp="1"/>
          </p:cNvSpPr>
          <p:nvPr/>
        </p:nvSpPr>
        <p:spPr>
          <a:xfrm>
            <a:off x="945405" y="5123364"/>
            <a:ext cx="1107281" cy="228600"/>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r>
              <a:rPr sz="1125" b="1" dirty="0">
                <a:solidFill>
                  <a:srgbClr val="000000"/>
                </a:solidFill>
                <a:latin typeface="Times New Roman" panose="02020603050405020304" pitchFamily="18" charset="0"/>
                <a:cs typeface="Times New Roman" panose="02020603050405020304" pitchFamily="18" charset="0"/>
              </a:rPr>
              <a:t>7. </a:t>
            </a:r>
            <a:r>
              <a:rPr sz="1125" b="1" dirty="0" err="1">
                <a:solidFill>
                  <a:srgbClr val="000000"/>
                </a:solidFill>
                <a:latin typeface="Times New Roman" panose="02020603050405020304" pitchFamily="18" charset="0"/>
                <a:cs typeface="Times New Roman" panose="02020603050405020304" pitchFamily="18" charset="0"/>
              </a:rPr>
              <a:t>自检与整理</a:t>
            </a:r>
            <a:endParaRPr sz="1125" b="1" dirty="0">
              <a:solidFill>
                <a:srgbClr val="000000"/>
              </a:solidFill>
              <a:latin typeface="Times New Roman" panose="02020603050405020304" pitchFamily="18" charset="0"/>
              <a:cs typeface="Times New Roman" panose="02020603050405020304" pitchFamily="18" charset="0"/>
            </a:endParaRPr>
          </a:p>
        </p:txBody>
      </p:sp>
      <p:sp>
        <p:nvSpPr>
          <p:cNvPr id="59" name="object_500"/>
          <p:cNvSpPr>
            <a:spLocks noGrp="1"/>
          </p:cNvSpPr>
          <p:nvPr/>
        </p:nvSpPr>
        <p:spPr>
          <a:xfrm>
            <a:off x="2633914" y="2551614"/>
            <a:ext cx="2350294" cy="380711"/>
          </a:xfrm>
          <a:prstGeom prst="rect">
            <a:avLst/>
          </a:prstGeom>
          <a:solidFill>
            <a:srgbClr val="FFFFFF"/>
          </a:solidFill>
          <a:ln w="19050">
            <a:solidFill>
              <a:schemeClr val="tx1"/>
            </a:solidFill>
          </a:ln>
        </p:spPr>
      </p:sp>
      <p:sp>
        <p:nvSpPr>
          <p:cNvPr id="60" name="text_502_Design Agent  步骤 1–4"/>
          <p:cNvSpPr>
            <a:spLocks noGrp="1"/>
          </p:cNvSpPr>
          <p:nvPr/>
        </p:nvSpPr>
        <p:spPr>
          <a:xfrm>
            <a:off x="2712496" y="2594476"/>
            <a:ext cx="2193131" cy="214313"/>
          </a:xfrm>
          <a:prstGeom prst="rect">
            <a:avLst/>
          </a:prstGeom>
          <a:noFill/>
          <a:ln w="9525">
            <a:noFill/>
          </a:ln>
        </p:spPr>
        <p:txBody>
          <a:bodyPr wrap="none" lIns="0" tIns="0" rIns="0" bIns="0" anchor="ctr">
            <a:noAutofit/>
          </a:bodyPr>
          <a:lstStyle/>
          <a:p>
            <a:pPr algn="ctr">
              <a:defRPr sz="1650" b="1">
                <a:solidFill>
                  <a:srgbClr val="D7000F"/>
                </a:solidFill>
                <a:latin typeface="Arial" panose="020B0604020202020204"/>
                <a:ea typeface="Arial" panose="020B0604020202020204"/>
                <a:cs typeface="Arial" panose="020B0604020202020204"/>
              </a:defRPr>
            </a:pPr>
            <a:r>
              <a:rPr sz="1240" b="1" dirty="0">
                <a:solidFill>
                  <a:schemeClr val="tx1">
                    <a:lumMod val="95000"/>
                    <a:lumOff val="5000"/>
                  </a:schemeClr>
                </a:solidFill>
                <a:latin typeface="Times New Roman" panose="02020603050405020304" pitchFamily="18" charset="0"/>
                <a:cs typeface="Times New Roman" panose="02020603050405020304" pitchFamily="18" charset="0"/>
              </a:rPr>
              <a:t>Design Agent  </a:t>
            </a:r>
            <a:r>
              <a:rPr sz="1240" b="1" dirty="0" err="1">
                <a:solidFill>
                  <a:schemeClr val="tx1">
                    <a:lumMod val="95000"/>
                    <a:lumOff val="5000"/>
                  </a:schemeClr>
                </a:solidFill>
                <a:latin typeface="Times New Roman" panose="02020603050405020304" pitchFamily="18" charset="0"/>
                <a:cs typeface="Times New Roman" panose="02020603050405020304" pitchFamily="18" charset="0"/>
              </a:rPr>
              <a:t>步骤</a:t>
            </a:r>
            <a:r>
              <a:rPr sz="1240" b="1" dirty="0">
                <a:solidFill>
                  <a:schemeClr val="tx1">
                    <a:lumMod val="95000"/>
                    <a:lumOff val="5000"/>
                  </a:schemeClr>
                </a:solidFill>
                <a:latin typeface="Times New Roman" panose="02020603050405020304" pitchFamily="18" charset="0"/>
                <a:cs typeface="Times New Roman" panose="02020603050405020304" pitchFamily="18" charset="0"/>
              </a:rPr>
              <a:t> 1–4</a:t>
            </a:r>
          </a:p>
        </p:txBody>
      </p:sp>
      <p:sp>
        <p:nvSpPr>
          <p:cNvPr id="65" name="object_509"/>
          <p:cNvSpPr>
            <a:spLocks noGrp="1"/>
          </p:cNvSpPr>
          <p:nvPr/>
        </p:nvSpPr>
        <p:spPr>
          <a:xfrm>
            <a:off x="2633914" y="3437439"/>
            <a:ext cx="2350294" cy="392906"/>
          </a:xfrm>
          <a:prstGeom prst="rect">
            <a:avLst/>
          </a:prstGeom>
          <a:solidFill>
            <a:srgbClr val="FFFFFF"/>
          </a:solidFill>
          <a:ln w="19050">
            <a:solidFill>
              <a:schemeClr val="tx1"/>
            </a:solidFill>
          </a:ln>
        </p:spPr>
      </p:sp>
      <p:sp>
        <p:nvSpPr>
          <p:cNvPr id="66" name="text_511_Build Agent  步骤 5–6"/>
          <p:cNvSpPr>
            <a:spLocks noGrp="1"/>
          </p:cNvSpPr>
          <p:nvPr/>
        </p:nvSpPr>
        <p:spPr>
          <a:xfrm>
            <a:off x="2712496" y="3480301"/>
            <a:ext cx="2193131" cy="214313"/>
          </a:xfrm>
          <a:prstGeom prst="rect">
            <a:avLst/>
          </a:prstGeom>
          <a:noFill/>
          <a:ln w="9525">
            <a:noFill/>
          </a:ln>
        </p:spPr>
        <p:txBody>
          <a:bodyPr wrap="none" lIns="0" tIns="0" rIns="0" bIns="0" anchor="ctr">
            <a:noAutofit/>
          </a:bodyPr>
          <a:lstStyle/>
          <a:p>
            <a:pPr algn="ctr">
              <a:defRPr sz="1650" b="1">
                <a:solidFill>
                  <a:srgbClr val="D7000F"/>
                </a:solidFill>
                <a:latin typeface="Arial" panose="020B0604020202020204"/>
                <a:ea typeface="Arial" panose="020B0604020202020204"/>
                <a:cs typeface="Arial" panose="020B0604020202020204"/>
              </a:defRPr>
            </a:pPr>
            <a:r>
              <a:rPr sz="1240" b="1" dirty="0">
                <a:solidFill>
                  <a:schemeClr val="tx1">
                    <a:lumMod val="95000"/>
                    <a:lumOff val="5000"/>
                  </a:schemeClr>
                </a:solidFill>
                <a:latin typeface="Times New Roman" panose="02020603050405020304" pitchFamily="18" charset="0"/>
                <a:cs typeface="Times New Roman" panose="02020603050405020304" pitchFamily="18" charset="0"/>
              </a:rPr>
              <a:t>Build Agent  </a:t>
            </a:r>
            <a:r>
              <a:rPr sz="1240" b="1" dirty="0" err="1">
                <a:solidFill>
                  <a:schemeClr val="tx1">
                    <a:lumMod val="95000"/>
                    <a:lumOff val="5000"/>
                  </a:schemeClr>
                </a:solidFill>
                <a:latin typeface="Times New Roman" panose="02020603050405020304" pitchFamily="18" charset="0"/>
                <a:cs typeface="Times New Roman" panose="02020603050405020304" pitchFamily="18" charset="0"/>
              </a:rPr>
              <a:t>步骤</a:t>
            </a:r>
            <a:r>
              <a:rPr sz="1240" b="1" dirty="0">
                <a:solidFill>
                  <a:schemeClr val="tx1">
                    <a:lumMod val="95000"/>
                    <a:lumOff val="5000"/>
                  </a:schemeClr>
                </a:solidFill>
                <a:latin typeface="Times New Roman" panose="02020603050405020304" pitchFamily="18" charset="0"/>
                <a:cs typeface="Times New Roman" panose="02020603050405020304" pitchFamily="18" charset="0"/>
              </a:rPr>
              <a:t> 5–6</a:t>
            </a:r>
          </a:p>
        </p:txBody>
      </p:sp>
      <p:sp>
        <p:nvSpPr>
          <p:cNvPr id="71" name="object_518"/>
          <p:cNvSpPr>
            <a:spLocks noGrp="1"/>
          </p:cNvSpPr>
          <p:nvPr/>
        </p:nvSpPr>
        <p:spPr>
          <a:xfrm>
            <a:off x="2633914" y="4323264"/>
            <a:ext cx="2350294" cy="406173"/>
          </a:xfrm>
          <a:prstGeom prst="rect">
            <a:avLst/>
          </a:prstGeom>
          <a:solidFill>
            <a:srgbClr val="FFFFFF"/>
          </a:solidFill>
          <a:ln w="19050">
            <a:solidFill>
              <a:schemeClr val="tx1"/>
            </a:solidFill>
          </a:ln>
        </p:spPr>
      </p:sp>
      <p:sp>
        <p:nvSpPr>
          <p:cNvPr id="72" name="text_520_Verify Agent  步骤 7"/>
          <p:cNvSpPr>
            <a:spLocks noGrp="1"/>
          </p:cNvSpPr>
          <p:nvPr/>
        </p:nvSpPr>
        <p:spPr>
          <a:xfrm>
            <a:off x="2712496" y="4366126"/>
            <a:ext cx="2193131" cy="214313"/>
          </a:xfrm>
          <a:prstGeom prst="rect">
            <a:avLst/>
          </a:prstGeom>
          <a:noFill/>
          <a:ln w="9525">
            <a:noFill/>
          </a:ln>
        </p:spPr>
        <p:txBody>
          <a:bodyPr wrap="none" lIns="0" tIns="0" rIns="0" bIns="0" anchor="ctr">
            <a:noAutofit/>
          </a:bodyPr>
          <a:lstStyle/>
          <a:p>
            <a:pPr algn="ctr">
              <a:defRPr sz="1650" b="1">
                <a:solidFill>
                  <a:srgbClr val="D7000F"/>
                </a:solidFill>
                <a:latin typeface="Arial" panose="020B0604020202020204"/>
                <a:ea typeface="Arial" panose="020B0604020202020204"/>
                <a:cs typeface="Arial" panose="020B0604020202020204"/>
              </a:defRPr>
            </a:pPr>
            <a:r>
              <a:rPr sz="1240" b="1" dirty="0">
                <a:solidFill>
                  <a:schemeClr val="tx1">
                    <a:lumMod val="95000"/>
                    <a:lumOff val="5000"/>
                  </a:schemeClr>
                </a:solidFill>
                <a:latin typeface="Times New Roman" panose="02020603050405020304" pitchFamily="18" charset="0"/>
                <a:cs typeface="Times New Roman" panose="02020603050405020304" pitchFamily="18" charset="0"/>
              </a:rPr>
              <a:t>Verify Agent  </a:t>
            </a:r>
            <a:r>
              <a:rPr sz="1240" b="1" dirty="0" err="1">
                <a:solidFill>
                  <a:schemeClr val="tx1">
                    <a:lumMod val="95000"/>
                    <a:lumOff val="5000"/>
                  </a:schemeClr>
                </a:solidFill>
                <a:latin typeface="Times New Roman" panose="02020603050405020304" pitchFamily="18" charset="0"/>
                <a:cs typeface="Times New Roman" panose="02020603050405020304" pitchFamily="18" charset="0"/>
              </a:rPr>
              <a:t>步骤</a:t>
            </a:r>
            <a:r>
              <a:rPr sz="1240" b="1" dirty="0">
                <a:solidFill>
                  <a:schemeClr val="tx1">
                    <a:lumMod val="95000"/>
                    <a:lumOff val="5000"/>
                  </a:schemeClr>
                </a:solidFill>
                <a:latin typeface="Times New Roman" panose="02020603050405020304" pitchFamily="18" charset="0"/>
                <a:cs typeface="Times New Roman" panose="02020603050405020304" pitchFamily="18" charset="0"/>
              </a:rPr>
              <a:t> 7</a:t>
            </a:r>
          </a:p>
        </p:txBody>
      </p:sp>
      <p:cxnSp>
        <p:nvCxnSpPr>
          <p:cNvPr id="4" name="直接箭头连接符 3"/>
          <p:cNvCxnSpPr>
            <a:stCxn id="59" idx="2"/>
            <a:endCxn id="65" idx="0"/>
          </p:cNvCxnSpPr>
          <p:nvPr/>
        </p:nvCxnSpPr>
        <p:spPr>
          <a:xfrm>
            <a:off x="3809061" y="2932325"/>
            <a:ext cx="0" cy="505114"/>
          </a:xfrm>
          <a:prstGeom prst="straightConnector1">
            <a:avLst/>
          </a:prstGeom>
          <a:ln w="571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3809061" y="3818150"/>
            <a:ext cx="0" cy="505114"/>
          </a:xfrm>
          <a:prstGeom prst="straightConnector1">
            <a:avLst/>
          </a:prstGeom>
          <a:ln w="571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a:endCxn id="59" idx="1"/>
          </p:cNvCxnSpPr>
          <p:nvPr/>
        </p:nvCxnSpPr>
        <p:spPr>
          <a:xfrm flipV="1">
            <a:off x="2194557" y="2741970"/>
            <a:ext cx="439357" cy="413815"/>
          </a:xfrm>
          <a:prstGeom prst="straightConnector1">
            <a:avLst/>
          </a:prstGeom>
          <a:ln w="38100">
            <a:tailEnd type="triangle"/>
          </a:ln>
        </p:spPr>
        <p:style>
          <a:lnRef idx="3">
            <a:schemeClr val="accent1"/>
          </a:lnRef>
          <a:fillRef idx="0">
            <a:schemeClr val="accent1"/>
          </a:fillRef>
          <a:effectRef idx="2">
            <a:schemeClr val="accent1"/>
          </a:effectRef>
          <a:fontRef idx="minor">
            <a:schemeClr val="tx1"/>
          </a:fontRef>
        </p:style>
      </p:cxnSp>
      <p:cxnSp>
        <p:nvCxnSpPr>
          <p:cNvPr id="78" name="直接箭头连接符 77"/>
          <p:cNvCxnSpPr>
            <a:endCxn id="65" idx="1"/>
          </p:cNvCxnSpPr>
          <p:nvPr/>
        </p:nvCxnSpPr>
        <p:spPr>
          <a:xfrm flipV="1">
            <a:off x="2224137" y="3633892"/>
            <a:ext cx="409777" cy="894759"/>
          </a:xfrm>
          <a:prstGeom prst="straightConnector1">
            <a:avLst/>
          </a:prstGeom>
          <a:ln w="38100">
            <a:tailEnd type="triangle"/>
          </a:ln>
        </p:spPr>
        <p:style>
          <a:lnRef idx="3">
            <a:schemeClr val="accent1"/>
          </a:lnRef>
          <a:fillRef idx="0">
            <a:schemeClr val="accent1"/>
          </a:fillRef>
          <a:effectRef idx="2">
            <a:schemeClr val="accent1"/>
          </a:effectRef>
          <a:fontRef idx="minor">
            <a:schemeClr val="tx1"/>
          </a:fontRef>
        </p:style>
      </p:cxnSp>
      <p:cxnSp>
        <p:nvCxnSpPr>
          <p:cNvPr id="79" name="直接箭头连接符 78"/>
          <p:cNvCxnSpPr>
            <a:endCxn id="71" idx="1"/>
          </p:cNvCxnSpPr>
          <p:nvPr/>
        </p:nvCxnSpPr>
        <p:spPr>
          <a:xfrm flipV="1">
            <a:off x="2224137" y="4526351"/>
            <a:ext cx="409777" cy="769859"/>
          </a:xfrm>
          <a:prstGeom prst="straightConnector1">
            <a:avLst/>
          </a:prstGeom>
          <a:ln w="38100">
            <a:tailEnd type="triangle"/>
          </a:ln>
        </p:spPr>
        <p:style>
          <a:lnRef idx="3">
            <a:schemeClr val="accent1"/>
          </a:lnRef>
          <a:fillRef idx="0">
            <a:schemeClr val="accent1"/>
          </a:fillRef>
          <a:effectRef idx="2">
            <a:schemeClr val="accent1"/>
          </a:effectRef>
          <a:fontRef idx="minor">
            <a:schemeClr val="tx1"/>
          </a:fontRef>
        </p:style>
      </p:cxnSp>
      <p:graphicFrame>
        <p:nvGraphicFramePr>
          <p:cNvPr id="84" name="表格 83"/>
          <p:cNvGraphicFramePr>
            <a:graphicFrameLocks noGrp="1"/>
          </p:cNvGraphicFramePr>
          <p:nvPr>
            <p:extLst>
              <p:ext uri="{D42A27DB-BD31-4B8C-83A1-F6EECF244321}">
                <p14:modId xmlns:p14="http://schemas.microsoft.com/office/powerpoint/2010/main" val="3806434614"/>
              </p:ext>
            </p:extLst>
          </p:nvPr>
        </p:nvGraphicFramePr>
        <p:xfrm>
          <a:off x="5220072" y="2446267"/>
          <a:ext cx="3463443" cy="913781"/>
        </p:xfrm>
        <a:graphic>
          <a:graphicData uri="http://schemas.openxmlformats.org/drawingml/2006/table">
            <a:tbl>
              <a:tblPr firstRow="1" bandRow="1">
                <a:tableStyleId>{5C22544A-7EE6-4342-B048-85BDC9FD1C3A}</a:tableStyleId>
              </a:tblPr>
              <a:tblGrid>
                <a:gridCol w="1154481">
                  <a:extLst>
                    <a:ext uri="{9D8B030D-6E8A-4147-A177-3AD203B41FA5}">
                      <a16:colId xmlns:a16="http://schemas.microsoft.com/office/drawing/2014/main" val="20000"/>
                    </a:ext>
                  </a:extLst>
                </a:gridCol>
                <a:gridCol w="1154481">
                  <a:extLst>
                    <a:ext uri="{9D8B030D-6E8A-4147-A177-3AD203B41FA5}">
                      <a16:colId xmlns:a16="http://schemas.microsoft.com/office/drawing/2014/main" val="20001"/>
                    </a:ext>
                  </a:extLst>
                </a:gridCol>
                <a:gridCol w="1154481">
                  <a:extLst>
                    <a:ext uri="{9D8B030D-6E8A-4147-A177-3AD203B41FA5}">
                      <a16:colId xmlns:a16="http://schemas.microsoft.com/office/drawing/2014/main" val="20002"/>
                    </a:ext>
                  </a:extLst>
                </a:gridCol>
              </a:tblGrid>
              <a:tr h="334661">
                <a:tc>
                  <a:txBody>
                    <a:bodyPr/>
                    <a:lstStyle/>
                    <a:p>
                      <a:pPr algn="ctr"/>
                      <a:endParaRPr lang="zh-CN" altLang="en-US" sz="1300" dirty="0"/>
                    </a:p>
                  </a:txBody>
                  <a:tcPr/>
                </a:tc>
                <a:tc>
                  <a:txBody>
                    <a:bodyPr/>
                    <a:lstStyle/>
                    <a:p>
                      <a:pPr algn="ctr"/>
                      <a:r>
                        <a:rPr lang="zh-CN" altLang="en-US" sz="1300" dirty="0" smtClean="0"/>
                        <a:t>优化前消耗</a:t>
                      </a:r>
                      <a:endParaRPr lang="zh-CN" altLang="en-US" sz="1300" dirty="0"/>
                    </a:p>
                  </a:txBody>
                  <a:tcPr/>
                </a:tc>
                <a:tc>
                  <a:txBody>
                    <a:bodyPr/>
                    <a:lstStyle/>
                    <a:p>
                      <a:pPr algn="ctr"/>
                      <a:r>
                        <a:rPr lang="zh-CN" altLang="en-US" sz="1300" dirty="0" smtClean="0"/>
                        <a:t>优化后消耗</a:t>
                      </a:r>
                      <a:endParaRPr lang="zh-CN" altLang="en-US" sz="1300" dirty="0"/>
                    </a:p>
                  </a:txBody>
                  <a:tcPr/>
                </a:tc>
                <a:extLst>
                  <a:ext uri="{0D108BD9-81ED-4DB2-BD59-A6C34878D82A}">
                    <a16:rowId xmlns:a16="http://schemas.microsoft.com/office/drawing/2014/main" val="10000"/>
                  </a:ext>
                </a:extLst>
              </a:tr>
              <a:tr h="267792">
                <a:tc>
                  <a:txBody>
                    <a:bodyPr/>
                    <a:lstStyle/>
                    <a:p>
                      <a:pPr algn="ctr"/>
                      <a:r>
                        <a:rPr lang="en-US" altLang="zh-CN" sz="1300" dirty="0" err="1"/>
                        <a:t>softmax</a:t>
                      </a:r>
                      <a:endParaRPr lang="zh-CN" altLang="en-US" sz="1300" dirty="0"/>
                    </a:p>
                  </a:txBody>
                  <a:tcPr/>
                </a:tc>
                <a:tc>
                  <a:txBody>
                    <a:bodyPr/>
                    <a:lstStyle/>
                    <a:p>
                      <a:pPr algn="ctr"/>
                      <a:r>
                        <a:rPr lang="en-US" altLang="zh-CN" sz="1300" dirty="0" smtClean="0"/>
                        <a:t>186</a:t>
                      </a:r>
                      <a:r>
                        <a:rPr lang="zh-CN" altLang="en-US" sz="1300" dirty="0" smtClean="0"/>
                        <a:t>万</a:t>
                      </a:r>
                      <a:endParaRPr lang="zh-CN" altLang="en-US" sz="1300" dirty="0"/>
                    </a:p>
                  </a:txBody>
                  <a:tcPr/>
                </a:tc>
                <a:tc>
                  <a:txBody>
                    <a:bodyPr/>
                    <a:lstStyle/>
                    <a:p>
                      <a:pPr algn="ctr"/>
                      <a:r>
                        <a:rPr lang="en-US" altLang="zh-CN" sz="1300" dirty="0" smtClean="0"/>
                        <a:t>94</a:t>
                      </a:r>
                      <a:r>
                        <a:rPr lang="zh-CN" altLang="en-US" sz="1300" dirty="0" smtClean="0"/>
                        <a:t>万</a:t>
                      </a:r>
                      <a:endParaRPr lang="zh-CN" altLang="en-US" sz="1300" dirty="0"/>
                    </a:p>
                  </a:txBody>
                  <a:tcPr/>
                </a:tc>
                <a:extLst>
                  <a:ext uri="{0D108BD9-81ED-4DB2-BD59-A6C34878D82A}">
                    <a16:rowId xmlns:a16="http://schemas.microsoft.com/office/drawing/2014/main" val="10001"/>
                  </a:ext>
                </a:extLst>
              </a:tr>
              <a:tr h="267792">
                <a:tc>
                  <a:txBody>
                    <a:bodyPr/>
                    <a:lstStyle/>
                    <a:p>
                      <a:pPr algn="ctr"/>
                      <a:r>
                        <a:rPr lang="en-US" altLang="zh-CN" sz="1300" dirty="0" err="1"/>
                        <a:t>layernorm</a:t>
                      </a:r>
                      <a:endParaRPr lang="zh-CN" altLang="en-US" sz="1300" dirty="0"/>
                    </a:p>
                  </a:txBody>
                  <a:tcPr/>
                </a:tc>
                <a:tc>
                  <a:txBody>
                    <a:bodyPr/>
                    <a:lstStyle/>
                    <a:p>
                      <a:pPr algn="ctr"/>
                      <a:r>
                        <a:rPr lang="en-US" altLang="zh-CN" sz="1300" dirty="0" smtClean="0"/>
                        <a:t>143</a:t>
                      </a:r>
                      <a:r>
                        <a:rPr lang="zh-CN" altLang="en-US" sz="1300" dirty="0" smtClean="0"/>
                        <a:t>万</a:t>
                      </a:r>
                      <a:endParaRPr lang="zh-CN" altLang="en-US" sz="1300" dirty="0"/>
                    </a:p>
                  </a:txBody>
                  <a:tcPr/>
                </a:tc>
                <a:tc>
                  <a:txBody>
                    <a:bodyPr/>
                    <a:lstStyle/>
                    <a:p>
                      <a:pPr algn="ctr"/>
                      <a:r>
                        <a:rPr lang="en-US" altLang="zh-CN" sz="1300" dirty="0"/>
                        <a:t>80</a:t>
                      </a:r>
                      <a:r>
                        <a:rPr lang="zh-CN" altLang="en-US" sz="1300" dirty="0"/>
                        <a:t>万</a:t>
                      </a:r>
                    </a:p>
                  </a:txBody>
                  <a:tcPr/>
                </a:tc>
                <a:extLst>
                  <a:ext uri="{0D108BD9-81ED-4DB2-BD59-A6C34878D82A}">
                    <a16:rowId xmlns:a16="http://schemas.microsoft.com/office/drawing/2014/main" val="10002"/>
                  </a:ext>
                </a:extLst>
              </a:tr>
            </a:tbl>
          </a:graphicData>
        </a:graphic>
      </p:graphicFrame>
      <p:sp>
        <p:nvSpPr>
          <p:cNvPr id="85" name="文本框 95"/>
          <p:cNvSpPr txBox="1"/>
          <p:nvPr/>
        </p:nvSpPr>
        <p:spPr>
          <a:xfrm>
            <a:off x="5220073" y="3712301"/>
            <a:ext cx="3685562" cy="1815882"/>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Wingdings" panose="05000000000000000000" charset="0"/>
              <a:buChar char="p"/>
            </a:pPr>
            <a:r>
              <a:rPr lang="zh-CN" altLang="en-US" sz="1400" b="1" dirty="0" smtClean="0">
                <a:latin typeface="微软雅黑" panose="020B0503020204020204" pitchFamily="34" charset="-122"/>
                <a:ea typeface="微软雅黑" panose="020B0503020204020204" pitchFamily="34" charset="-122"/>
                <a:sym typeface="+mn-ea"/>
              </a:rPr>
              <a:t>正确性分析：</a:t>
            </a:r>
            <a:endParaRPr lang="en-US" altLang="zh-CN" sz="1400" b="1" dirty="0" smtClean="0">
              <a:latin typeface="微软雅黑" panose="020B0503020204020204" pitchFamily="34" charset="-122"/>
              <a:ea typeface="微软雅黑" panose="020B0503020204020204" pitchFamily="34" charset="-122"/>
              <a:sym typeface="+mn-ea"/>
            </a:endParaRPr>
          </a:p>
          <a:p>
            <a:pPr marL="285750" indent="-285750" algn="l">
              <a:buFont typeface="Wingdings" panose="05000000000000000000" charset="0"/>
              <a:buChar char="p"/>
            </a:pPr>
            <a:endParaRPr lang="en-US" altLang="zh-CN" sz="1400" b="1" dirty="0">
              <a:solidFill>
                <a:srgbClr val="004B9D"/>
              </a:solidFill>
              <a:latin typeface="微软雅黑" panose="020B0503020204020204" pitchFamily="34" charset="-122"/>
              <a:ea typeface="微软雅黑" panose="020B0503020204020204" pitchFamily="34" charset="-122"/>
              <a:sym typeface="+mn-ea"/>
            </a:endParaRPr>
          </a:p>
          <a:p>
            <a:pPr marL="285750" indent="-285750" algn="l">
              <a:lnSpc>
                <a:spcPct val="150000"/>
              </a:lnSpc>
              <a:buFont typeface="Wingdings" panose="05000000000000000000" pitchFamily="2" charset="2"/>
              <a:buChar char="Ø"/>
            </a:pPr>
            <a:r>
              <a:rPr lang="zh-CN" altLang="en-US" sz="1400" b="1" dirty="0">
                <a:latin typeface="微软雅黑" panose="020B0503020204020204" pitchFamily="34" charset="-122"/>
                <a:ea typeface="微软雅黑" panose="020B0503020204020204" pitchFamily="34" charset="-122"/>
                <a:sym typeface="+mn-ea"/>
              </a:rPr>
              <a:t>理论上：</a:t>
            </a:r>
            <a:r>
              <a:rPr lang="zh-CN" altLang="en-US" sz="1400" dirty="0">
                <a:latin typeface="微软雅黑" panose="020B0503020204020204" pitchFamily="34" charset="-122"/>
                <a:ea typeface="微软雅黑" panose="020B0503020204020204" pitchFamily="34" charset="-122"/>
                <a:sym typeface="+mn-ea"/>
              </a:rPr>
              <a:t> 大模型能力变强</a:t>
            </a:r>
            <a:r>
              <a:rPr lang="zh-CN" altLang="en-US" sz="1400" dirty="0" smtClean="0">
                <a:latin typeface="微软雅黑" panose="020B0503020204020204" pitchFamily="34" charset="-122"/>
                <a:ea typeface="微软雅黑" panose="020B0503020204020204" pitchFamily="34" charset="-122"/>
                <a:sym typeface="+mn-ea"/>
              </a:rPr>
              <a:t>，原阶段</a:t>
            </a:r>
            <a:r>
              <a:rPr lang="zh-CN" altLang="en-US" sz="1400" dirty="0">
                <a:latin typeface="微软雅黑" panose="020B0503020204020204" pitchFamily="34" charset="-122"/>
                <a:ea typeface="微软雅黑" panose="020B0503020204020204" pitchFamily="34" charset="-122"/>
                <a:sym typeface="+mn-ea"/>
              </a:rPr>
              <a:t>任务</a:t>
            </a:r>
            <a:endParaRPr lang="en-US" altLang="zh-CN" sz="1400" dirty="0">
              <a:latin typeface="微软雅黑" panose="020B0503020204020204" pitchFamily="34" charset="-122"/>
              <a:ea typeface="微软雅黑" panose="020B0503020204020204" pitchFamily="34" charset="-122"/>
              <a:sym typeface="+mn-ea"/>
            </a:endParaRPr>
          </a:p>
          <a:p>
            <a:pPr algn="l">
              <a:lnSpc>
                <a:spcPct val="150000"/>
              </a:lnSpc>
            </a:pPr>
            <a:r>
              <a:rPr lang="zh-CN" altLang="en-US" sz="1400" dirty="0">
                <a:latin typeface="微软雅黑" panose="020B0503020204020204" pitchFamily="34" charset="-122"/>
                <a:ea typeface="微软雅黑" panose="020B0503020204020204" pitchFamily="34" charset="-122"/>
                <a:sym typeface="+mn-ea"/>
              </a:rPr>
              <a:t>不重且选择融合的都是高度重叠的阶段；</a:t>
            </a:r>
            <a:endParaRPr lang="en-US" altLang="zh-CN" sz="1400" dirty="0">
              <a:latin typeface="微软雅黑" panose="020B0503020204020204" pitchFamily="34" charset="-122"/>
              <a:ea typeface="微软雅黑" panose="020B0503020204020204" pitchFamily="34" charset="-122"/>
              <a:sym typeface="+mn-ea"/>
            </a:endParaRPr>
          </a:p>
          <a:p>
            <a:pPr marL="285750" indent="-285750" algn="l">
              <a:lnSpc>
                <a:spcPct val="150000"/>
              </a:lnSpc>
              <a:buFont typeface="Wingdings" panose="05000000000000000000" pitchFamily="2" charset="2"/>
              <a:buChar char="Ø"/>
            </a:pPr>
            <a:r>
              <a:rPr lang="zh-CN" altLang="en-US" sz="1400" b="1" dirty="0">
                <a:latin typeface="微软雅黑" panose="020B0503020204020204" pitchFamily="34" charset="-122"/>
                <a:ea typeface="微软雅黑" panose="020B0503020204020204" pitchFamily="34" charset="-122"/>
                <a:sym typeface="+mn-ea"/>
              </a:rPr>
              <a:t>实际测试： </a:t>
            </a:r>
            <a:r>
              <a:rPr lang="zh-CN" altLang="en-US" sz="1400" dirty="0">
                <a:latin typeface="微软雅黑" panose="020B0503020204020204" pitchFamily="34" charset="-122"/>
                <a:ea typeface="微软雅黑" panose="020B0503020204020204" pitchFamily="34" charset="-122"/>
                <a:sym typeface="+mn-ea"/>
              </a:rPr>
              <a:t>进行数十种算子开发测试，</a:t>
            </a:r>
            <a:endParaRPr lang="en-US" altLang="zh-CN" sz="1400" dirty="0">
              <a:latin typeface="微软雅黑" panose="020B0503020204020204" pitchFamily="34" charset="-122"/>
              <a:ea typeface="微软雅黑" panose="020B0503020204020204" pitchFamily="34" charset="-122"/>
              <a:sym typeface="+mn-ea"/>
            </a:endParaRPr>
          </a:p>
          <a:p>
            <a:pPr algn="l">
              <a:lnSpc>
                <a:spcPct val="150000"/>
              </a:lnSpc>
            </a:pPr>
            <a:r>
              <a:rPr lang="zh-CN" altLang="en-US" sz="1400" dirty="0">
                <a:latin typeface="微软雅黑" panose="020B0503020204020204" pitchFamily="34" charset="-122"/>
                <a:ea typeface="微软雅黑" panose="020B0503020204020204" pitchFamily="34" charset="-122"/>
                <a:sym typeface="+mn-ea"/>
              </a:rPr>
              <a:t>新旧版本生成近乎一致。</a:t>
            </a:r>
            <a:endParaRPr lang="en-US" altLang="zh-CN" sz="1400" dirty="0">
              <a:latin typeface="微软雅黑" panose="020B0503020204020204" pitchFamily="34" charset="-122"/>
              <a:ea typeface="微软雅黑" panose="020B0503020204020204" pitchFamily="34" charset="-122"/>
              <a:sym typeface="+mn-ea"/>
            </a:endParaRPr>
          </a:p>
        </p:txBody>
      </p:sp>
      <p:sp>
        <p:nvSpPr>
          <p:cNvPr id="58" name="矩形 57"/>
          <p:cNvSpPr/>
          <p:nvPr/>
        </p:nvSpPr>
        <p:spPr>
          <a:xfrm>
            <a:off x="535263" y="1726247"/>
            <a:ext cx="2289601"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smtClean="0">
                <a:solidFill>
                  <a:schemeClr val="tx1">
                    <a:lumMod val="95000"/>
                    <a:lumOff val="5000"/>
                  </a:schemeClr>
                </a:solidFill>
                <a:latin typeface="Microsoft YaHei"/>
                <a:ea typeface="Microsoft YaHei"/>
                <a:cs typeface="Microsoft YaHei"/>
              </a:rPr>
              <a:t>原本</a:t>
            </a:r>
            <a:r>
              <a:rPr lang="en-US" altLang="zh-CN" b="1" dirty="0" smtClean="0">
                <a:solidFill>
                  <a:schemeClr val="tx1">
                    <a:lumMod val="95000"/>
                    <a:lumOff val="5000"/>
                  </a:schemeClr>
                </a:solidFill>
                <a:latin typeface="Microsoft YaHei"/>
                <a:ea typeface="Microsoft YaHei"/>
                <a:cs typeface="Microsoft YaHei"/>
              </a:rPr>
              <a:t>kernel</a:t>
            </a:r>
            <a:r>
              <a:rPr lang="zh-CN" altLang="en-US" b="1" dirty="0" smtClean="0">
                <a:solidFill>
                  <a:schemeClr val="tx1">
                    <a:lumMod val="95000"/>
                    <a:lumOff val="5000"/>
                  </a:schemeClr>
                </a:solidFill>
                <a:latin typeface="Microsoft YaHei"/>
                <a:ea typeface="Microsoft YaHei"/>
                <a:cs typeface="Microsoft YaHei"/>
              </a:rPr>
              <a:t>生成结构</a:t>
            </a:r>
            <a:endParaRPr lang="zh-CN" altLang="en-US" b="1" dirty="0">
              <a:solidFill>
                <a:schemeClr val="tx1">
                  <a:lumMod val="95000"/>
                  <a:lumOff val="5000"/>
                </a:schemeClr>
              </a:solidFill>
              <a:latin typeface="Microsoft YaHei"/>
              <a:ea typeface="Microsoft YaHei"/>
              <a:cs typeface="Microsoft YaHei"/>
            </a:endParaRPr>
          </a:p>
        </p:txBody>
      </p:sp>
      <p:sp>
        <p:nvSpPr>
          <p:cNvPr id="61" name="文本框 95"/>
          <p:cNvSpPr txBox="1"/>
          <p:nvPr/>
        </p:nvSpPr>
        <p:spPr>
          <a:xfrm>
            <a:off x="5220072" y="2120241"/>
            <a:ext cx="3685562" cy="523220"/>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a:buFont typeface="Wingdings" panose="05000000000000000000" charset="0"/>
              <a:buChar char="p"/>
            </a:pPr>
            <a:r>
              <a:rPr lang="zh-CN" altLang="en-US" sz="1400" b="1" dirty="0">
                <a:latin typeface="微软雅黑" panose="020B0503020204020204" pitchFamily="34" charset="-122"/>
                <a:ea typeface="微软雅黑" panose="020B0503020204020204" pitchFamily="34" charset="-122"/>
                <a:sym typeface="+mn-ea"/>
              </a:rPr>
              <a:t>结果：</a:t>
            </a:r>
            <a:endParaRPr lang="en-US" altLang="zh-CN" sz="1400" b="1" dirty="0">
              <a:latin typeface="微软雅黑" panose="020B0503020204020204" pitchFamily="34" charset="-122"/>
              <a:ea typeface="微软雅黑" panose="020B0503020204020204" pitchFamily="34" charset="-122"/>
              <a:sym typeface="+mn-ea"/>
            </a:endParaRPr>
          </a:p>
          <a:p>
            <a:pPr algn="l"/>
            <a:endParaRPr lang="en-US" altLang="zh-CN" sz="1400" b="1" dirty="0">
              <a:solidFill>
                <a:srgbClr val="004B9D"/>
              </a:solidFill>
              <a:latin typeface="微软雅黑" panose="020B0503020204020204" pitchFamily="34" charset="-122"/>
              <a:ea typeface="微软雅黑" panose="020B0503020204020204" pitchFamily="34" charset="-122"/>
              <a:sym typeface="+mn-ea"/>
            </a:endParaRPr>
          </a:p>
        </p:txBody>
      </p:sp>
      <p:sp>
        <p:nvSpPr>
          <p:cNvPr id="52" name="文本框 95"/>
          <p:cNvSpPr txBox="1"/>
          <p:nvPr/>
        </p:nvSpPr>
        <p:spPr>
          <a:xfrm>
            <a:off x="733729" y="5525093"/>
            <a:ext cx="3406223" cy="784830"/>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nSpc>
                <a:spcPct val="150000"/>
              </a:lnSpc>
              <a:buFont typeface="Wingdings" panose="05000000000000000000" pitchFamily="2" charset="2"/>
              <a:buChar char="Ø"/>
            </a:pPr>
            <a:r>
              <a:rPr lang="zh-CN" altLang="en-US"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每个子代理重复加载许多资料</a:t>
            </a:r>
            <a:endParaRPr lang="en-US" altLang="zh-CN"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endParaRPr>
          </a:p>
          <a:p>
            <a:pPr marL="285750" indent="-285750">
              <a:lnSpc>
                <a:spcPct val="150000"/>
              </a:lnSpc>
              <a:buFont typeface="Wingdings" panose="05000000000000000000" pitchFamily="2" charset="2"/>
              <a:buChar char="Ø"/>
            </a:pPr>
            <a:r>
              <a:rPr lang="zh-CN" altLang="en-US"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每个子代理各自任务较轻</a:t>
            </a:r>
            <a:endParaRPr lang="en-US" altLang="zh-CN" sz="1500"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64" name="文本框 95"/>
          <p:cNvSpPr txBox="1"/>
          <p:nvPr/>
        </p:nvSpPr>
        <p:spPr>
          <a:xfrm>
            <a:off x="2976900" y="1723995"/>
            <a:ext cx="5110923" cy="400110"/>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charset="0"/>
              <a:buChar char="p"/>
            </a:pPr>
            <a:r>
              <a:rPr lang="zh-CN" altLang="en-US" sz="2000" b="1" dirty="0" smtClean="0">
                <a:solidFill>
                  <a:schemeClr val="tx2"/>
                </a:solidFill>
                <a:latin typeface="微软雅黑" panose="020B0503020204020204" pitchFamily="34" charset="-122"/>
                <a:ea typeface="微软雅黑" panose="020B0503020204020204" pitchFamily="34" charset="-122"/>
                <a:sym typeface="+mn-ea"/>
              </a:rPr>
              <a:t>优化</a:t>
            </a:r>
            <a:r>
              <a:rPr lang="zh-CN" altLang="en-US" sz="2000" b="1" dirty="0">
                <a:solidFill>
                  <a:schemeClr val="tx2"/>
                </a:solidFill>
                <a:latin typeface="Microsoft YaHei"/>
                <a:ea typeface="Microsoft YaHei"/>
                <a:cs typeface="Microsoft YaHei"/>
              </a:rPr>
              <a:t>合并</a:t>
            </a:r>
            <a:r>
              <a:rPr lang="zh-CN" altLang="en-US" sz="2000" b="1" dirty="0" smtClean="0">
                <a:solidFill>
                  <a:schemeClr val="tx2"/>
                </a:solidFill>
                <a:latin typeface="微软雅黑" panose="020B0503020204020204" pitchFamily="34" charset="-122"/>
                <a:ea typeface="微软雅黑" panose="020B0503020204020204" pitchFamily="34" charset="-122"/>
                <a:sym typeface="+mn-ea"/>
              </a:rPr>
              <a:t>：</a:t>
            </a:r>
            <a:endParaRPr lang="en-US" altLang="zh-CN" sz="2000" b="1" dirty="0">
              <a:solidFill>
                <a:schemeClr val="tx2"/>
              </a:solidFill>
              <a:latin typeface="微软雅黑" panose="020B0503020204020204" pitchFamily="34" charset="-122"/>
              <a:ea typeface="微软雅黑" panose="020B0503020204020204" pitchFamily="34" charset="-122"/>
              <a:sym typeface="+mn-ea"/>
            </a:endParaRPr>
          </a:p>
        </p:txBody>
      </p:sp>
      <p:sp>
        <p:nvSpPr>
          <p:cNvPr id="67" name="矩形 66"/>
          <p:cNvSpPr/>
          <p:nvPr>
            <p:custDataLst>
              <p:tags r:id="rId1"/>
            </p:custDataLst>
          </p:nvPr>
        </p:nvSpPr>
        <p:spPr>
          <a:xfrm>
            <a:off x="5151588" y="2128567"/>
            <a:ext cx="3786307" cy="33965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62" name="相对 PyTorch 加速比；每个算子开发完成后随机测试 144 个 S">
            <a:extLst>
              <a:ext uri="{FF2B5EF4-FFF2-40B4-BE49-F238E27FC236}">
                <a16:creationId xmlns:a16="http://schemas.microsoft.com/office/drawing/2014/main" id="{0083EDA1-2D0D-49E5-BA69-AFB60404D1F1}"/>
              </a:ext>
            </a:extLst>
          </p:cNvPr>
          <p:cNvSpPr>
            <a:spLocks noGrp="1"/>
          </p:cNvSpPr>
          <p:nvPr/>
        </p:nvSpPr>
        <p:spPr>
          <a:xfrm>
            <a:off x="5329325" y="3379860"/>
            <a:ext cx="3354190" cy="293390"/>
          </a:xfrm>
          <a:prstGeom prst="rect">
            <a:avLst/>
          </a:prstGeom>
          <a:noFill/>
          <a:ln w="0">
            <a:noFill/>
          </a:ln>
        </p:spPr>
        <p:txBody>
          <a:bodyPr wrap="square" lIns="0" tIns="0" rIns="0" bIns="0" anchor="ctr">
            <a:noAutofit/>
          </a:bodyPr>
          <a:lstStyle/>
          <a:p>
            <a:pPr algn="l">
              <a:lnSpc>
                <a:spcPct val="112000"/>
              </a:lnSpc>
              <a:buNone/>
              <a:defRPr sz="1200" b="0">
                <a:solidFill>
                  <a:srgbClr val="666666"/>
                </a:solidFill>
                <a:latin typeface="Microsoft YaHei"/>
                <a:ea typeface="Microsoft YaHei"/>
                <a:cs typeface="Microsoft YaHei"/>
              </a:defRPr>
            </a:pPr>
            <a:r>
              <a:rPr lang="zh-CN" altLang="en-US" sz="1200" b="0" dirty="0" smtClean="0">
                <a:solidFill>
                  <a:srgbClr val="666666"/>
                </a:solidFill>
                <a:latin typeface="Microsoft YaHei"/>
                <a:ea typeface="Microsoft YaHei"/>
                <a:cs typeface="Microsoft YaHei"/>
              </a:rPr>
              <a:t>消耗单位是</a:t>
            </a:r>
            <a:r>
              <a:rPr lang="en-US" altLang="zh-CN" sz="1200" b="0" dirty="0" smtClean="0">
                <a:solidFill>
                  <a:srgbClr val="666666"/>
                </a:solidFill>
                <a:latin typeface="Microsoft YaHei"/>
                <a:ea typeface="Microsoft YaHei"/>
                <a:cs typeface="Microsoft YaHei"/>
              </a:rPr>
              <a:t>token</a:t>
            </a:r>
            <a:endParaRPr sz="1200" b="0" dirty="0">
              <a:solidFill>
                <a:srgbClr val="666666"/>
              </a:solidFill>
              <a:latin typeface="Microsoft YaHei"/>
              <a:ea typeface="Microsoft YaHei"/>
              <a:cs typeface="Microsoft YaHei"/>
            </a:endParaRPr>
          </a:p>
        </p:txBody>
      </p:sp>
    </p:spTree>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16">
            <a:extLst>
              <a:ext uri="{FF2B5EF4-FFF2-40B4-BE49-F238E27FC236}">
                <a16:creationId xmlns:a16="http://schemas.microsoft.com/office/drawing/2014/main" id="{1BFC3F45-21B0-486A-A6EA-B18ABEC086AE}"/>
              </a:ext>
            </a:extLst>
          </p:cNvPr>
          <p:cNvSpPr>
            <a:spLocks noGrp="1"/>
          </p:cNvSpPr>
          <p:nvPr/>
        </p:nvSpPr>
        <p:spPr>
          <a:xfrm>
            <a:off x="8305800" y="6477000"/>
            <a:ext cx="304800" cy="228600"/>
          </a:xfrm>
          <a:prstGeom prst="rect">
            <a:avLst/>
          </a:prstGeom>
          <a:noFill/>
          <a:ln w="0">
            <a:noFill/>
          </a:ln>
        </p:spPr>
        <p:txBody>
          <a:bodyPr wrap="square" lIns="0" tIns="0" rIns="0" bIns="0" anchor="ctr">
            <a:noAutofit/>
          </a:bodyPr>
          <a:lstStyle/>
          <a:p>
            <a:pPr algn="r">
              <a:lnSpc>
                <a:spcPct val="112000"/>
              </a:lnSpc>
              <a:buNone/>
              <a:defRPr sz="1000" b="0">
                <a:solidFill>
                  <a:srgbClr val="666666"/>
                </a:solidFill>
                <a:latin typeface="Microsoft YaHei"/>
                <a:ea typeface="Microsoft YaHei"/>
                <a:cs typeface="Microsoft YaHei"/>
              </a:defRPr>
            </a:pPr>
            <a:r>
              <a:rPr sz="1000" b="0">
                <a:solidFill>
                  <a:srgbClr val="666666"/>
                </a:solidFill>
                <a:latin typeface="Arial"/>
                <a:ea typeface="Arial"/>
                <a:cs typeface="Arial"/>
              </a:rPr>
              <a:t>16</a:t>
            </a:r>
          </a:p>
        </p:txBody>
      </p:sp>
      <p:sp>
        <p:nvSpPr>
          <p:cNvPr id="5" name="静态方案的限制">
            <a:extLst>
              <a:ext uri="{FF2B5EF4-FFF2-40B4-BE49-F238E27FC236}">
                <a16:creationId xmlns:a16="http://schemas.microsoft.com/office/drawing/2014/main" id="{7655C965-E21E-4392-A575-11AACB1DE1C7}"/>
              </a:ext>
            </a:extLst>
          </p:cNvPr>
          <p:cNvSpPr>
            <a:spLocks noGrp="1"/>
          </p:cNvSpPr>
          <p:nvPr/>
        </p:nvSpPr>
        <p:spPr>
          <a:xfrm>
            <a:off x="533400" y="2076450"/>
            <a:ext cx="3695700" cy="285750"/>
          </a:xfrm>
          <a:prstGeom prst="rect">
            <a:avLst/>
          </a:prstGeom>
          <a:noFill/>
          <a:ln w="0">
            <a:noFill/>
          </a:ln>
        </p:spPr>
        <p:txBody>
          <a:bodyPr wrap="square" lIns="0" tIns="0" rIns="0" bIns="0" anchor="ctr">
            <a:noAutofit/>
          </a:bodyPr>
          <a:lstStyle/>
          <a:p>
            <a:pPr algn="l">
              <a:lnSpc>
                <a:spcPct val="112000"/>
              </a:lnSpc>
              <a:buNone/>
              <a:defRPr sz="1800" b="1">
                <a:solidFill>
                  <a:srgbClr val="004B9D"/>
                </a:solidFill>
                <a:latin typeface="Microsoft YaHei"/>
                <a:ea typeface="Microsoft YaHei"/>
                <a:cs typeface="Microsoft YaHei"/>
              </a:defRPr>
            </a:pPr>
            <a:r>
              <a:rPr sz="1800" b="1" dirty="0" err="1">
                <a:solidFill>
                  <a:schemeClr val="tx1">
                    <a:lumMod val="95000"/>
                    <a:lumOff val="5000"/>
                  </a:schemeClr>
                </a:solidFill>
                <a:latin typeface="Microsoft YaHei"/>
                <a:ea typeface="Microsoft YaHei"/>
                <a:cs typeface="Microsoft YaHei"/>
              </a:rPr>
              <a:t>静态方案的限制</a:t>
            </a:r>
            <a:endParaRPr sz="1800" b="1" dirty="0">
              <a:solidFill>
                <a:schemeClr val="tx1">
                  <a:lumMod val="95000"/>
                  <a:lumOff val="5000"/>
                </a:schemeClr>
              </a:solidFill>
              <a:latin typeface="Microsoft YaHei"/>
              <a:ea typeface="Microsoft YaHei"/>
              <a:cs typeface="Microsoft YaHei"/>
            </a:endParaRPr>
          </a:p>
        </p:txBody>
      </p:sp>
      <p:sp>
        <p:nvSpPr>
          <p:cNvPr id="6" name="动态开发目标">
            <a:extLst>
              <a:ext uri="{FF2B5EF4-FFF2-40B4-BE49-F238E27FC236}">
                <a16:creationId xmlns:a16="http://schemas.microsoft.com/office/drawing/2014/main" id="{C8FC1A8D-CB76-4B35-8E6B-7C7C9C188729}"/>
              </a:ext>
            </a:extLst>
          </p:cNvPr>
          <p:cNvSpPr>
            <a:spLocks noGrp="1"/>
          </p:cNvSpPr>
          <p:nvPr/>
        </p:nvSpPr>
        <p:spPr>
          <a:xfrm>
            <a:off x="4933950" y="2076450"/>
            <a:ext cx="3676650" cy="285750"/>
          </a:xfrm>
          <a:prstGeom prst="rect">
            <a:avLst/>
          </a:prstGeom>
          <a:noFill/>
          <a:ln w="0">
            <a:noFill/>
          </a:ln>
        </p:spPr>
        <p:txBody>
          <a:bodyPr wrap="square" lIns="0" tIns="0" rIns="0" bIns="0" anchor="ctr">
            <a:noAutofit/>
          </a:bodyPr>
          <a:lstStyle/>
          <a:p>
            <a:pPr algn="l">
              <a:lnSpc>
                <a:spcPct val="112000"/>
              </a:lnSpc>
              <a:buNone/>
              <a:defRPr sz="1800" b="1">
                <a:solidFill>
                  <a:srgbClr val="004B9D"/>
                </a:solidFill>
                <a:latin typeface="Microsoft YaHei"/>
                <a:ea typeface="Microsoft YaHei"/>
                <a:cs typeface="Microsoft YaHei"/>
              </a:defRPr>
            </a:pPr>
            <a:r>
              <a:rPr sz="1800" b="1" dirty="0" err="1">
                <a:solidFill>
                  <a:schemeClr val="tx2"/>
                </a:solidFill>
                <a:latin typeface="Microsoft YaHei"/>
                <a:ea typeface="Microsoft YaHei"/>
                <a:cs typeface="Microsoft YaHei"/>
              </a:rPr>
              <a:t>动态开发目标</a:t>
            </a:r>
            <a:endParaRPr sz="1800" b="1" dirty="0">
              <a:solidFill>
                <a:schemeClr val="tx2"/>
              </a:solidFill>
              <a:latin typeface="Microsoft YaHei"/>
              <a:ea typeface="Microsoft YaHei"/>
              <a:cs typeface="Microsoft YaHei"/>
            </a:endParaRPr>
          </a:p>
        </p:txBody>
      </p:sp>
      <p:sp>
        <p:nvSpPr>
          <p:cNvPr id="7" name="尺寸约束写入 Kernel 结构">
            <a:extLst>
              <a:ext uri="{FF2B5EF4-FFF2-40B4-BE49-F238E27FC236}">
                <a16:creationId xmlns:a16="http://schemas.microsoft.com/office/drawing/2014/main" id="{B35E0F83-389B-4AED-B79B-091E53874EBD}"/>
              </a:ext>
            </a:extLst>
          </p:cNvPr>
          <p:cNvSpPr>
            <a:spLocks noGrp="1"/>
          </p:cNvSpPr>
          <p:nvPr/>
        </p:nvSpPr>
        <p:spPr>
          <a:xfrm>
            <a:off x="533400" y="2724150"/>
            <a:ext cx="3695700" cy="333375"/>
          </a:xfrm>
          <a:prstGeom prst="rect">
            <a:avLst/>
          </a:prstGeom>
          <a:noFill/>
          <a:ln w="0">
            <a:noFill/>
          </a:ln>
        </p:spPr>
        <p:txBody>
          <a:bodyPr wrap="square" lIns="0" tIns="0" rIns="0" bIns="0" anchor="ctr">
            <a:noAutofit/>
          </a:bodyPr>
          <a:lstStyle/>
          <a:p>
            <a:pPr algn="l">
              <a:lnSpc>
                <a:spcPct val="112000"/>
              </a:lnSpc>
              <a:buNone/>
              <a:defRPr sz="1800" b="1">
                <a:solidFill>
                  <a:srgbClr val="242424"/>
                </a:solidFill>
                <a:latin typeface="Microsoft YaHei"/>
                <a:ea typeface="Microsoft YaHei"/>
                <a:cs typeface="Microsoft YaHei"/>
              </a:defRPr>
            </a:pPr>
            <a:r>
              <a:rPr sz="1800" b="1" dirty="0" smtClean="0">
                <a:solidFill>
                  <a:srgbClr val="242424"/>
                </a:solidFill>
                <a:latin typeface="Arial"/>
                <a:ea typeface="Arial"/>
                <a:cs typeface="Arial"/>
              </a:rPr>
              <a:t>Kernel </a:t>
            </a:r>
            <a:r>
              <a:rPr sz="1800" b="1" dirty="0" smtClean="0">
                <a:solidFill>
                  <a:srgbClr val="242424"/>
                </a:solidFill>
                <a:latin typeface="Microsoft YaHei"/>
                <a:ea typeface="Microsoft YaHei"/>
                <a:cs typeface="Microsoft YaHei"/>
              </a:rPr>
              <a:t>结构</a:t>
            </a:r>
            <a:r>
              <a:rPr lang="zh-CN" altLang="en-US" sz="1800" b="1" dirty="0" smtClean="0">
                <a:solidFill>
                  <a:srgbClr val="242424"/>
                </a:solidFill>
                <a:latin typeface="Microsoft YaHei"/>
                <a:ea typeface="Microsoft YaHei"/>
                <a:cs typeface="Microsoft YaHei"/>
              </a:rPr>
              <a:t>限制输入</a:t>
            </a:r>
            <a:r>
              <a:rPr lang="en-US" altLang="zh-CN" b="1" dirty="0">
                <a:solidFill>
                  <a:srgbClr val="242424"/>
                </a:solidFill>
                <a:latin typeface="Microsoft YaHei"/>
                <a:ea typeface="Microsoft YaHei"/>
                <a:cs typeface="Microsoft YaHei"/>
              </a:rPr>
              <a:t>shape</a:t>
            </a:r>
            <a:endParaRPr sz="1800" b="1" dirty="0">
              <a:solidFill>
                <a:srgbClr val="242424"/>
              </a:solidFill>
              <a:latin typeface="Microsoft YaHei"/>
              <a:ea typeface="Microsoft YaHei"/>
              <a:cs typeface="Microsoft YaHei"/>
            </a:endParaRPr>
          </a:p>
        </p:txBody>
      </p:sp>
      <p:sp>
        <p:nvSpPr>
          <p:cNvPr id="8" name="循环范围或输出大小固定，&#10;难以直接覆盖其他输入尺寸。">
            <a:extLst>
              <a:ext uri="{FF2B5EF4-FFF2-40B4-BE49-F238E27FC236}">
                <a16:creationId xmlns:a16="http://schemas.microsoft.com/office/drawing/2014/main" id="{92D2FAB2-4EBE-4E8C-9F7B-A12350D59051}"/>
              </a:ext>
            </a:extLst>
          </p:cNvPr>
          <p:cNvSpPr>
            <a:spLocks noGrp="1"/>
          </p:cNvSpPr>
          <p:nvPr/>
        </p:nvSpPr>
        <p:spPr>
          <a:xfrm>
            <a:off x="533400" y="3209925"/>
            <a:ext cx="3695700" cy="714375"/>
          </a:xfrm>
          <a:prstGeom prst="rect">
            <a:avLst/>
          </a:prstGeom>
          <a:noFill/>
          <a:ln w="0">
            <a:noFill/>
          </a:ln>
        </p:spPr>
        <p:txBody>
          <a:bodyPr wrap="square" lIns="0" tIns="0" rIns="0" bIns="0" anchor="ctr">
            <a:noAutofit/>
          </a:bodyPr>
          <a:lstStyle/>
          <a:p>
            <a:pPr algn="l">
              <a:lnSpc>
                <a:spcPct val="112000"/>
              </a:lnSpc>
              <a:buNone/>
              <a:defRPr sz="1600" b="0">
                <a:solidFill>
                  <a:srgbClr val="242424"/>
                </a:solidFill>
                <a:latin typeface="Microsoft YaHei"/>
                <a:ea typeface="Microsoft YaHei"/>
                <a:cs typeface="Microsoft YaHei"/>
              </a:defRPr>
            </a:pPr>
            <a:r>
              <a:rPr sz="1600" b="0">
                <a:solidFill>
                  <a:srgbClr val="242424"/>
                </a:solidFill>
                <a:latin typeface="Microsoft YaHei"/>
                <a:ea typeface="Microsoft YaHei"/>
                <a:cs typeface="Microsoft YaHei"/>
              </a:rPr>
              <a:t>循环范围或输出大小固定，</a:t>
            </a:r>
          </a:p>
          <a:p>
            <a:pPr algn="l">
              <a:lnSpc>
                <a:spcPct val="112000"/>
              </a:lnSpc>
              <a:buNone/>
              <a:defRPr sz="1600" b="0">
                <a:solidFill>
                  <a:srgbClr val="242424"/>
                </a:solidFill>
                <a:latin typeface="Microsoft YaHei"/>
                <a:ea typeface="Microsoft YaHei"/>
                <a:cs typeface="Microsoft YaHei"/>
              </a:defRPr>
            </a:pPr>
            <a:r>
              <a:rPr sz="1600" b="0">
                <a:solidFill>
                  <a:srgbClr val="242424"/>
                </a:solidFill>
                <a:latin typeface="Microsoft YaHei"/>
                <a:ea typeface="Microsoft YaHei"/>
                <a:cs typeface="Microsoft YaHei"/>
              </a:rPr>
              <a:t>难以直接覆盖其他输入尺寸。</a:t>
            </a:r>
          </a:p>
        </p:txBody>
      </p:sp>
      <p:sp>
        <p:nvSpPr>
          <p:cNvPr id="9" name="跨 Shape 性能不稳定">
            <a:extLst>
              <a:ext uri="{FF2B5EF4-FFF2-40B4-BE49-F238E27FC236}">
                <a16:creationId xmlns:a16="http://schemas.microsoft.com/office/drawing/2014/main" id="{FBBC875F-23E4-4EC8-B991-FE695ED5457C}"/>
              </a:ext>
            </a:extLst>
          </p:cNvPr>
          <p:cNvSpPr>
            <a:spLocks noGrp="1"/>
          </p:cNvSpPr>
          <p:nvPr/>
        </p:nvSpPr>
        <p:spPr>
          <a:xfrm>
            <a:off x="533400" y="4448175"/>
            <a:ext cx="3695700" cy="333375"/>
          </a:xfrm>
          <a:prstGeom prst="rect">
            <a:avLst/>
          </a:prstGeom>
          <a:noFill/>
          <a:ln w="0">
            <a:noFill/>
          </a:ln>
        </p:spPr>
        <p:txBody>
          <a:bodyPr wrap="square" lIns="0" tIns="0" rIns="0" bIns="0" anchor="ctr">
            <a:noAutofit/>
          </a:bodyPr>
          <a:lstStyle/>
          <a:p>
            <a:pPr algn="l">
              <a:lnSpc>
                <a:spcPct val="112000"/>
              </a:lnSpc>
              <a:buNone/>
              <a:defRPr sz="1800" b="1">
                <a:solidFill>
                  <a:srgbClr val="242424"/>
                </a:solidFill>
                <a:latin typeface="Microsoft YaHei"/>
                <a:ea typeface="Microsoft YaHei"/>
                <a:cs typeface="Microsoft YaHei"/>
              </a:defRPr>
            </a:pPr>
            <a:r>
              <a:rPr sz="1800" b="1" dirty="0">
                <a:solidFill>
                  <a:srgbClr val="242424"/>
                </a:solidFill>
                <a:latin typeface="Microsoft YaHei"/>
                <a:ea typeface="Microsoft YaHei"/>
                <a:cs typeface="Microsoft YaHei"/>
              </a:rPr>
              <a:t>跨 </a:t>
            </a:r>
            <a:r>
              <a:rPr sz="1800" b="1" dirty="0">
                <a:solidFill>
                  <a:srgbClr val="242424"/>
                </a:solidFill>
                <a:latin typeface="Arial"/>
                <a:ea typeface="Arial"/>
                <a:cs typeface="Arial"/>
              </a:rPr>
              <a:t>Shape </a:t>
            </a:r>
            <a:r>
              <a:rPr sz="1800" b="1" dirty="0" err="1">
                <a:solidFill>
                  <a:srgbClr val="242424"/>
                </a:solidFill>
                <a:latin typeface="Microsoft YaHei"/>
                <a:ea typeface="Microsoft YaHei"/>
                <a:cs typeface="Microsoft YaHei"/>
              </a:rPr>
              <a:t>性能不稳定</a:t>
            </a:r>
            <a:endParaRPr sz="1800" b="1" dirty="0">
              <a:solidFill>
                <a:srgbClr val="242424"/>
              </a:solidFill>
              <a:latin typeface="Microsoft YaHei"/>
              <a:ea typeface="Microsoft YaHei"/>
              <a:cs typeface="Microsoft YaHei"/>
            </a:endParaRPr>
          </a:p>
        </p:txBody>
      </p:sp>
      <p:sp>
        <p:nvSpPr>
          <p:cNvPr id="10" name="同一静态配置应用到其他 Shape，&#10;性能可能明显下降。">
            <a:extLst>
              <a:ext uri="{FF2B5EF4-FFF2-40B4-BE49-F238E27FC236}">
                <a16:creationId xmlns:a16="http://schemas.microsoft.com/office/drawing/2014/main" id="{21D4A803-8D14-46EE-BE93-28EC05F08FEB}"/>
              </a:ext>
            </a:extLst>
          </p:cNvPr>
          <p:cNvSpPr>
            <a:spLocks noGrp="1"/>
          </p:cNvSpPr>
          <p:nvPr/>
        </p:nvSpPr>
        <p:spPr>
          <a:xfrm>
            <a:off x="533400" y="4933950"/>
            <a:ext cx="3695700" cy="714375"/>
          </a:xfrm>
          <a:prstGeom prst="rect">
            <a:avLst/>
          </a:prstGeom>
          <a:noFill/>
          <a:ln w="0">
            <a:noFill/>
          </a:ln>
        </p:spPr>
        <p:txBody>
          <a:bodyPr wrap="square" lIns="0" tIns="0" rIns="0" bIns="0" anchor="ctr">
            <a:noAutofit/>
          </a:bodyPr>
          <a:lstStyle/>
          <a:p>
            <a:pPr algn="l">
              <a:lnSpc>
                <a:spcPct val="112000"/>
              </a:lnSpc>
              <a:buNone/>
              <a:defRPr sz="1600" b="0">
                <a:solidFill>
                  <a:srgbClr val="242424"/>
                </a:solidFill>
                <a:latin typeface="Microsoft YaHei"/>
                <a:ea typeface="Microsoft YaHei"/>
                <a:cs typeface="Microsoft YaHei"/>
              </a:defRPr>
            </a:pPr>
            <a:r>
              <a:rPr sz="1600" b="0">
                <a:solidFill>
                  <a:srgbClr val="242424"/>
                </a:solidFill>
                <a:latin typeface="Microsoft YaHei"/>
                <a:ea typeface="Microsoft YaHei"/>
                <a:cs typeface="Microsoft YaHei"/>
              </a:rPr>
              <a:t>同一静态配置应用到其他 </a:t>
            </a:r>
            <a:r>
              <a:rPr sz="1600" b="0">
                <a:solidFill>
                  <a:srgbClr val="242424"/>
                </a:solidFill>
                <a:latin typeface="Arial"/>
                <a:ea typeface="Arial"/>
                <a:cs typeface="Arial"/>
              </a:rPr>
              <a:t>Shape</a:t>
            </a:r>
            <a:r>
              <a:rPr sz="1600" b="0">
                <a:solidFill>
                  <a:srgbClr val="242424"/>
                </a:solidFill>
                <a:latin typeface="Microsoft YaHei"/>
                <a:ea typeface="Microsoft YaHei"/>
                <a:cs typeface="Microsoft YaHei"/>
              </a:rPr>
              <a:t>，</a:t>
            </a:r>
          </a:p>
          <a:p>
            <a:pPr algn="l">
              <a:lnSpc>
                <a:spcPct val="112000"/>
              </a:lnSpc>
              <a:buNone/>
              <a:defRPr sz="1600" b="0">
                <a:solidFill>
                  <a:srgbClr val="242424"/>
                </a:solidFill>
                <a:latin typeface="Microsoft YaHei"/>
                <a:ea typeface="Microsoft YaHei"/>
                <a:cs typeface="Microsoft YaHei"/>
              </a:defRPr>
            </a:pPr>
            <a:r>
              <a:rPr sz="1600" b="0">
                <a:solidFill>
                  <a:srgbClr val="242424"/>
                </a:solidFill>
                <a:latin typeface="Microsoft YaHei"/>
                <a:ea typeface="Microsoft YaHei"/>
                <a:cs typeface="Microsoft YaHei"/>
              </a:rPr>
              <a:t>性能可能明显下降。</a:t>
            </a:r>
          </a:p>
        </p:txBody>
      </p:sp>
      <p:sp>
        <p:nvSpPr>
          <p:cNvPr id="11" name="01">
            <a:extLst>
              <a:ext uri="{FF2B5EF4-FFF2-40B4-BE49-F238E27FC236}">
                <a16:creationId xmlns:a16="http://schemas.microsoft.com/office/drawing/2014/main" id="{DD1D34DE-7B10-4F52-8495-B6494E4BB2D6}"/>
              </a:ext>
            </a:extLst>
          </p:cNvPr>
          <p:cNvSpPr>
            <a:spLocks noGrp="1"/>
          </p:cNvSpPr>
          <p:nvPr/>
        </p:nvSpPr>
        <p:spPr>
          <a:xfrm>
            <a:off x="4933950" y="2714625"/>
            <a:ext cx="466725" cy="333375"/>
          </a:xfrm>
          <a:prstGeom prst="rect">
            <a:avLst/>
          </a:prstGeom>
          <a:noFill/>
          <a:ln w="0">
            <a:noFill/>
          </a:ln>
        </p:spPr>
        <p:txBody>
          <a:bodyPr wrap="square" lIns="0" tIns="0" rIns="0" bIns="0" anchor="ctr">
            <a:noAutofit/>
          </a:bodyPr>
          <a:lstStyle/>
          <a:p>
            <a:pPr algn="l">
              <a:lnSpc>
                <a:spcPct val="112000"/>
              </a:lnSpc>
              <a:buNone/>
              <a:defRPr sz="2000" b="1">
                <a:solidFill>
                  <a:srgbClr val="004B9D"/>
                </a:solidFill>
                <a:latin typeface="Microsoft YaHei"/>
                <a:ea typeface="Microsoft YaHei"/>
                <a:cs typeface="Microsoft YaHei"/>
              </a:defRPr>
            </a:pPr>
            <a:r>
              <a:rPr sz="2000" b="1">
                <a:solidFill>
                  <a:schemeClr val="tx1">
                    <a:lumMod val="95000"/>
                    <a:lumOff val="5000"/>
                  </a:schemeClr>
                </a:solidFill>
                <a:latin typeface="Arial"/>
                <a:ea typeface="Arial"/>
                <a:cs typeface="Arial"/>
              </a:rPr>
              <a:t>01</a:t>
            </a:r>
          </a:p>
        </p:txBody>
      </p:sp>
      <p:sp>
        <p:nvSpPr>
          <p:cNvPr id="12" name="动态 Kernel">
            <a:extLst>
              <a:ext uri="{FF2B5EF4-FFF2-40B4-BE49-F238E27FC236}">
                <a16:creationId xmlns:a16="http://schemas.microsoft.com/office/drawing/2014/main" id="{D346B445-272A-431B-9DA1-1F5BD34B4032}"/>
              </a:ext>
            </a:extLst>
          </p:cNvPr>
          <p:cNvSpPr>
            <a:spLocks noGrp="1"/>
          </p:cNvSpPr>
          <p:nvPr/>
        </p:nvSpPr>
        <p:spPr>
          <a:xfrm>
            <a:off x="5562600" y="2714625"/>
            <a:ext cx="3048000" cy="333375"/>
          </a:xfrm>
          <a:prstGeom prst="rect">
            <a:avLst/>
          </a:prstGeom>
          <a:noFill/>
          <a:ln w="0">
            <a:noFill/>
          </a:ln>
        </p:spPr>
        <p:txBody>
          <a:bodyPr wrap="square" lIns="0" tIns="0" rIns="0" bIns="0" anchor="ctr">
            <a:noAutofit/>
          </a:bodyPr>
          <a:lstStyle/>
          <a:p>
            <a:pPr algn="l">
              <a:lnSpc>
                <a:spcPct val="112000"/>
              </a:lnSpc>
              <a:buNone/>
              <a:defRPr sz="1800" b="1">
                <a:solidFill>
                  <a:srgbClr val="242424"/>
                </a:solidFill>
                <a:latin typeface="Microsoft YaHei"/>
                <a:ea typeface="Microsoft YaHei"/>
                <a:cs typeface="Microsoft YaHei"/>
              </a:defRPr>
            </a:pPr>
            <a:r>
              <a:rPr sz="1800" b="1">
                <a:solidFill>
                  <a:srgbClr val="242424"/>
                </a:solidFill>
                <a:latin typeface="Microsoft YaHei"/>
                <a:ea typeface="Microsoft YaHei"/>
                <a:cs typeface="Microsoft YaHei"/>
              </a:rPr>
              <a:t>动态 </a:t>
            </a:r>
            <a:r>
              <a:rPr sz="1800" b="1">
                <a:solidFill>
                  <a:srgbClr val="242424"/>
                </a:solidFill>
                <a:latin typeface="Arial"/>
                <a:ea typeface="Arial"/>
                <a:cs typeface="Arial"/>
              </a:rPr>
              <a:t>Kernel</a:t>
            </a:r>
          </a:p>
        </p:txBody>
      </p:sp>
      <p:sp>
        <p:nvSpPr>
          <p:cNvPr id="13" name="让实现支持目标 Shape 范围">
            <a:extLst>
              <a:ext uri="{FF2B5EF4-FFF2-40B4-BE49-F238E27FC236}">
                <a16:creationId xmlns:a16="http://schemas.microsoft.com/office/drawing/2014/main" id="{B17DCEB0-1B86-44E8-A5EF-DFF58AC5E62B}"/>
              </a:ext>
            </a:extLst>
          </p:cNvPr>
          <p:cNvSpPr>
            <a:spLocks noGrp="1"/>
          </p:cNvSpPr>
          <p:nvPr/>
        </p:nvSpPr>
        <p:spPr>
          <a:xfrm>
            <a:off x="5562600" y="3124200"/>
            <a:ext cx="3048000" cy="400050"/>
          </a:xfrm>
          <a:prstGeom prst="rect">
            <a:avLst/>
          </a:prstGeom>
          <a:noFill/>
          <a:ln w="0">
            <a:noFill/>
          </a:ln>
        </p:spPr>
        <p:txBody>
          <a:bodyPr wrap="square" lIns="0" tIns="0" rIns="0" bIns="0" anchor="ctr">
            <a:noAutofit/>
          </a:bodyPr>
          <a:lstStyle/>
          <a:p>
            <a:pPr algn="l">
              <a:lnSpc>
                <a:spcPct val="112000"/>
              </a:lnSpc>
              <a:buNone/>
              <a:defRPr sz="1400" b="0">
                <a:solidFill>
                  <a:srgbClr val="666666"/>
                </a:solidFill>
                <a:latin typeface="Microsoft YaHei"/>
                <a:ea typeface="Microsoft YaHei"/>
                <a:cs typeface="Microsoft YaHei"/>
              </a:defRPr>
            </a:pPr>
            <a:r>
              <a:rPr sz="1400" b="0" dirty="0" err="1" smtClean="0">
                <a:solidFill>
                  <a:srgbClr val="666666"/>
                </a:solidFill>
                <a:latin typeface="Microsoft YaHei"/>
                <a:ea typeface="Microsoft YaHei"/>
                <a:cs typeface="Microsoft YaHei"/>
              </a:rPr>
              <a:t>目标</a:t>
            </a:r>
            <a:r>
              <a:rPr sz="1400" b="0" dirty="0" smtClean="0">
                <a:solidFill>
                  <a:srgbClr val="666666"/>
                </a:solidFill>
                <a:latin typeface="Microsoft YaHei"/>
                <a:ea typeface="Microsoft YaHei"/>
                <a:cs typeface="Microsoft YaHei"/>
              </a:rPr>
              <a:t> </a:t>
            </a:r>
            <a:r>
              <a:rPr sz="1400" b="0" dirty="0">
                <a:solidFill>
                  <a:srgbClr val="666666"/>
                </a:solidFill>
                <a:latin typeface="Arial"/>
                <a:ea typeface="Arial"/>
                <a:cs typeface="Arial"/>
              </a:rPr>
              <a:t>Shape </a:t>
            </a:r>
            <a:r>
              <a:rPr sz="1400" b="0" dirty="0" err="1" smtClean="0">
                <a:solidFill>
                  <a:srgbClr val="666666"/>
                </a:solidFill>
                <a:latin typeface="Microsoft YaHei"/>
                <a:ea typeface="Microsoft YaHei"/>
                <a:cs typeface="Microsoft YaHei"/>
              </a:rPr>
              <a:t>范围</a:t>
            </a:r>
            <a:r>
              <a:rPr lang="zh-CN" altLang="en-US" sz="1400" b="0" dirty="0" smtClean="0">
                <a:solidFill>
                  <a:srgbClr val="666666"/>
                </a:solidFill>
                <a:latin typeface="Microsoft YaHei"/>
                <a:ea typeface="Microsoft YaHei"/>
                <a:cs typeface="Microsoft YaHei"/>
              </a:rPr>
              <a:t>平均最优</a:t>
            </a:r>
            <a:endParaRPr sz="1400" b="0" dirty="0">
              <a:solidFill>
                <a:srgbClr val="666666"/>
              </a:solidFill>
              <a:latin typeface="Microsoft YaHei"/>
              <a:ea typeface="Microsoft YaHei"/>
              <a:cs typeface="Microsoft YaHei"/>
            </a:endParaRPr>
          </a:p>
        </p:txBody>
      </p:sp>
      <p:sp>
        <p:nvSpPr>
          <p:cNvPr id="14" name="02">
            <a:extLst>
              <a:ext uri="{FF2B5EF4-FFF2-40B4-BE49-F238E27FC236}">
                <a16:creationId xmlns:a16="http://schemas.microsoft.com/office/drawing/2014/main" id="{B3A63680-716B-4C32-8B27-38775182F93B}"/>
              </a:ext>
            </a:extLst>
          </p:cNvPr>
          <p:cNvSpPr>
            <a:spLocks noGrp="1"/>
          </p:cNvSpPr>
          <p:nvPr/>
        </p:nvSpPr>
        <p:spPr>
          <a:xfrm>
            <a:off x="4933950" y="3743325"/>
            <a:ext cx="466725" cy="333375"/>
          </a:xfrm>
          <a:prstGeom prst="rect">
            <a:avLst/>
          </a:prstGeom>
          <a:noFill/>
          <a:ln w="0">
            <a:noFill/>
          </a:ln>
        </p:spPr>
        <p:txBody>
          <a:bodyPr wrap="square" lIns="0" tIns="0" rIns="0" bIns="0" anchor="ctr">
            <a:noAutofit/>
          </a:bodyPr>
          <a:lstStyle/>
          <a:p>
            <a:pPr algn="l">
              <a:lnSpc>
                <a:spcPct val="112000"/>
              </a:lnSpc>
              <a:buNone/>
              <a:defRPr sz="2000" b="1">
                <a:solidFill>
                  <a:srgbClr val="004B9D"/>
                </a:solidFill>
                <a:latin typeface="Microsoft YaHei"/>
                <a:ea typeface="Microsoft YaHei"/>
                <a:cs typeface="Microsoft YaHei"/>
              </a:defRPr>
            </a:pPr>
            <a:r>
              <a:rPr sz="2000" b="1">
                <a:solidFill>
                  <a:schemeClr val="tx1">
                    <a:lumMod val="95000"/>
                    <a:lumOff val="5000"/>
                  </a:schemeClr>
                </a:solidFill>
                <a:latin typeface="Arial"/>
                <a:ea typeface="Arial"/>
                <a:cs typeface="Arial"/>
              </a:rPr>
              <a:t>02</a:t>
            </a:r>
          </a:p>
        </p:txBody>
      </p:sp>
      <p:sp>
        <p:nvSpPr>
          <p:cNvPr id="15" name="自动化参数搜索">
            <a:extLst>
              <a:ext uri="{FF2B5EF4-FFF2-40B4-BE49-F238E27FC236}">
                <a16:creationId xmlns:a16="http://schemas.microsoft.com/office/drawing/2014/main" id="{82B8CC44-A841-4549-8E88-F53D75E64419}"/>
              </a:ext>
            </a:extLst>
          </p:cNvPr>
          <p:cNvSpPr>
            <a:spLocks noGrp="1"/>
          </p:cNvSpPr>
          <p:nvPr/>
        </p:nvSpPr>
        <p:spPr>
          <a:xfrm>
            <a:off x="5562600" y="3743325"/>
            <a:ext cx="3048000" cy="333375"/>
          </a:xfrm>
          <a:prstGeom prst="rect">
            <a:avLst/>
          </a:prstGeom>
          <a:noFill/>
          <a:ln w="0">
            <a:noFill/>
          </a:ln>
        </p:spPr>
        <p:txBody>
          <a:bodyPr wrap="square" lIns="0" tIns="0" rIns="0" bIns="0" anchor="ctr">
            <a:noAutofit/>
          </a:bodyPr>
          <a:lstStyle/>
          <a:p>
            <a:pPr algn="l">
              <a:lnSpc>
                <a:spcPct val="112000"/>
              </a:lnSpc>
              <a:buNone/>
              <a:defRPr sz="1800" b="1">
                <a:solidFill>
                  <a:srgbClr val="242424"/>
                </a:solidFill>
                <a:latin typeface="Microsoft YaHei"/>
                <a:ea typeface="Microsoft YaHei"/>
                <a:cs typeface="Microsoft YaHei"/>
              </a:defRPr>
            </a:pPr>
            <a:r>
              <a:rPr sz="1800" b="1">
                <a:solidFill>
                  <a:srgbClr val="242424"/>
                </a:solidFill>
                <a:latin typeface="Microsoft YaHei"/>
                <a:ea typeface="Microsoft YaHei"/>
                <a:cs typeface="Microsoft YaHei"/>
              </a:rPr>
              <a:t>自动化参数搜索</a:t>
            </a:r>
          </a:p>
        </p:txBody>
      </p:sp>
      <p:sp>
        <p:nvSpPr>
          <p:cNvPr id="16" name="依据 Shape 与硬件约束选择配置">
            <a:extLst>
              <a:ext uri="{FF2B5EF4-FFF2-40B4-BE49-F238E27FC236}">
                <a16:creationId xmlns:a16="http://schemas.microsoft.com/office/drawing/2014/main" id="{4B72E4C0-34DF-4E4E-9C86-CA5287953BE3}"/>
              </a:ext>
            </a:extLst>
          </p:cNvPr>
          <p:cNvSpPr>
            <a:spLocks noGrp="1"/>
          </p:cNvSpPr>
          <p:nvPr/>
        </p:nvSpPr>
        <p:spPr>
          <a:xfrm>
            <a:off x="5562600" y="4152900"/>
            <a:ext cx="3048000" cy="400050"/>
          </a:xfrm>
          <a:prstGeom prst="rect">
            <a:avLst/>
          </a:prstGeom>
          <a:noFill/>
          <a:ln w="0">
            <a:noFill/>
          </a:ln>
        </p:spPr>
        <p:txBody>
          <a:bodyPr wrap="square" lIns="0" tIns="0" rIns="0" bIns="0" anchor="ctr">
            <a:noAutofit/>
          </a:bodyPr>
          <a:lstStyle/>
          <a:p>
            <a:pPr algn="l">
              <a:lnSpc>
                <a:spcPct val="112000"/>
              </a:lnSpc>
              <a:buNone/>
              <a:defRPr sz="1400" b="0">
                <a:solidFill>
                  <a:srgbClr val="666666"/>
                </a:solidFill>
                <a:latin typeface="Microsoft YaHei"/>
                <a:ea typeface="Microsoft YaHei"/>
                <a:cs typeface="Microsoft YaHei"/>
              </a:defRPr>
            </a:pPr>
            <a:r>
              <a:rPr lang="zh-CN" altLang="en-US" sz="1400" dirty="0" smtClean="0">
                <a:solidFill>
                  <a:srgbClr val="666666"/>
                </a:solidFill>
                <a:latin typeface="Microsoft YaHei"/>
                <a:ea typeface="Microsoft YaHei"/>
                <a:cs typeface="Arial"/>
              </a:rPr>
              <a:t>划分</a:t>
            </a:r>
            <a:r>
              <a:rPr lang="en-US" altLang="zh-CN" sz="1400" dirty="0" smtClean="0">
                <a:solidFill>
                  <a:srgbClr val="666666"/>
                </a:solidFill>
                <a:latin typeface="Microsoft YaHei"/>
                <a:ea typeface="Microsoft YaHei"/>
                <a:cs typeface="Arial"/>
              </a:rPr>
              <a:t>shape</a:t>
            </a:r>
            <a:r>
              <a:rPr lang="zh-CN" altLang="en-US" sz="1400" dirty="0" smtClean="0">
                <a:solidFill>
                  <a:srgbClr val="666666"/>
                </a:solidFill>
                <a:latin typeface="Microsoft YaHei"/>
                <a:ea typeface="Microsoft YaHei"/>
                <a:cs typeface="Arial"/>
              </a:rPr>
              <a:t>池与关键参数</a:t>
            </a:r>
            <a:endParaRPr lang="en-US" altLang="zh-CN" sz="1400" dirty="0" smtClean="0">
              <a:solidFill>
                <a:srgbClr val="666666"/>
              </a:solidFill>
              <a:latin typeface="Microsoft YaHei"/>
              <a:ea typeface="Microsoft YaHei"/>
              <a:cs typeface="Arial"/>
            </a:endParaRPr>
          </a:p>
          <a:p>
            <a:pPr algn="l">
              <a:lnSpc>
                <a:spcPct val="112000"/>
              </a:lnSpc>
              <a:buNone/>
              <a:defRPr sz="1400" b="0">
                <a:solidFill>
                  <a:srgbClr val="666666"/>
                </a:solidFill>
                <a:latin typeface="Microsoft YaHei"/>
                <a:ea typeface="Microsoft YaHei"/>
                <a:cs typeface="Microsoft YaHei"/>
              </a:defRPr>
            </a:pPr>
            <a:r>
              <a:rPr lang="zh-CN" altLang="en-US" sz="1400" b="0" dirty="0">
                <a:solidFill>
                  <a:srgbClr val="666666"/>
                </a:solidFill>
                <a:latin typeface="Microsoft YaHei"/>
                <a:ea typeface="Microsoft YaHei"/>
                <a:cs typeface="Arial"/>
              </a:rPr>
              <a:t>根据</a:t>
            </a:r>
            <a:r>
              <a:rPr sz="1400" b="0" dirty="0" smtClean="0">
                <a:solidFill>
                  <a:srgbClr val="666666"/>
                </a:solidFill>
                <a:latin typeface="Arial"/>
                <a:ea typeface="Arial"/>
                <a:cs typeface="Arial"/>
              </a:rPr>
              <a:t>Shape</a:t>
            </a:r>
            <a:r>
              <a:rPr lang="zh-CN" altLang="en-US" sz="1400" b="0" dirty="0" smtClean="0">
                <a:solidFill>
                  <a:srgbClr val="666666"/>
                </a:solidFill>
                <a:latin typeface="Arial"/>
                <a:ea typeface="Arial"/>
                <a:cs typeface="Arial"/>
              </a:rPr>
              <a:t>范围</a:t>
            </a:r>
            <a:r>
              <a:rPr sz="1400" b="0" dirty="0" smtClean="0">
                <a:solidFill>
                  <a:srgbClr val="666666"/>
                </a:solidFill>
                <a:latin typeface="Arial"/>
                <a:ea typeface="Arial"/>
                <a:cs typeface="Arial"/>
              </a:rPr>
              <a:t> </a:t>
            </a:r>
            <a:r>
              <a:rPr sz="1400" b="0" dirty="0" err="1">
                <a:solidFill>
                  <a:srgbClr val="666666"/>
                </a:solidFill>
                <a:latin typeface="Microsoft YaHei"/>
                <a:ea typeface="Microsoft YaHei"/>
                <a:cs typeface="Microsoft YaHei"/>
              </a:rPr>
              <a:t>与硬件约束选择配置</a:t>
            </a:r>
            <a:endParaRPr sz="1400" b="0" dirty="0">
              <a:solidFill>
                <a:srgbClr val="666666"/>
              </a:solidFill>
              <a:latin typeface="Microsoft YaHei"/>
              <a:ea typeface="Microsoft YaHei"/>
              <a:cs typeface="Microsoft YaHei"/>
            </a:endParaRPr>
          </a:p>
        </p:txBody>
      </p:sp>
      <p:sp>
        <p:nvSpPr>
          <p:cNvPr id="17" name="03">
            <a:extLst>
              <a:ext uri="{FF2B5EF4-FFF2-40B4-BE49-F238E27FC236}">
                <a16:creationId xmlns:a16="http://schemas.microsoft.com/office/drawing/2014/main" id="{B85A6361-6959-4CB7-B311-2B4B4A8AAE6C}"/>
              </a:ext>
            </a:extLst>
          </p:cNvPr>
          <p:cNvSpPr>
            <a:spLocks noGrp="1"/>
          </p:cNvSpPr>
          <p:nvPr/>
        </p:nvSpPr>
        <p:spPr>
          <a:xfrm>
            <a:off x="4933950" y="4772025"/>
            <a:ext cx="466725" cy="333375"/>
          </a:xfrm>
          <a:prstGeom prst="rect">
            <a:avLst/>
          </a:prstGeom>
          <a:noFill/>
          <a:ln w="0">
            <a:noFill/>
          </a:ln>
        </p:spPr>
        <p:txBody>
          <a:bodyPr wrap="square" lIns="0" tIns="0" rIns="0" bIns="0" anchor="ctr">
            <a:noAutofit/>
          </a:bodyPr>
          <a:lstStyle/>
          <a:p>
            <a:pPr algn="l">
              <a:lnSpc>
                <a:spcPct val="112000"/>
              </a:lnSpc>
              <a:buNone/>
              <a:defRPr sz="2000" b="1">
                <a:solidFill>
                  <a:srgbClr val="004B9D"/>
                </a:solidFill>
                <a:latin typeface="Microsoft YaHei"/>
                <a:ea typeface="Microsoft YaHei"/>
                <a:cs typeface="Microsoft YaHei"/>
              </a:defRPr>
            </a:pPr>
            <a:r>
              <a:rPr sz="2000" b="1" dirty="0">
                <a:solidFill>
                  <a:schemeClr val="tx1">
                    <a:lumMod val="95000"/>
                    <a:lumOff val="5000"/>
                  </a:schemeClr>
                </a:solidFill>
                <a:latin typeface="Arial"/>
                <a:ea typeface="Arial"/>
                <a:cs typeface="Arial"/>
              </a:rPr>
              <a:t>03</a:t>
            </a:r>
          </a:p>
        </p:txBody>
      </p:sp>
      <p:sp>
        <p:nvSpPr>
          <p:cNvPr id="18" name="多 Kernel Family">
            <a:extLst>
              <a:ext uri="{FF2B5EF4-FFF2-40B4-BE49-F238E27FC236}">
                <a16:creationId xmlns:a16="http://schemas.microsoft.com/office/drawing/2014/main" id="{73193C7C-90C3-42F6-84E1-5CAA65E37036}"/>
              </a:ext>
            </a:extLst>
          </p:cNvPr>
          <p:cNvSpPr>
            <a:spLocks noGrp="1"/>
          </p:cNvSpPr>
          <p:nvPr/>
        </p:nvSpPr>
        <p:spPr>
          <a:xfrm>
            <a:off x="5562600" y="4772025"/>
            <a:ext cx="3048000" cy="333375"/>
          </a:xfrm>
          <a:prstGeom prst="rect">
            <a:avLst/>
          </a:prstGeom>
          <a:noFill/>
          <a:ln w="0">
            <a:noFill/>
          </a:ln>
        </p:spPr>
        <p:txBody>
          <a:bodyPr wrap="square" lIns="0" tIns="0" rIns="0" bIns="0" anchor="ctr">
            <a:noAutofit/>
          </a:bodyPr>
          <a:lstStyle/>
          <a:p>
            <a:pPr algn="l">
              <a:lnSpc>
                <a:spcPct val="112000"/>
              </a:lnSpc>
              <a:buNone/>
              <a:defRPr sz="1800" b="1">
                <a:solidFill>
                  <a:srgbClr val="242424"/>
                </a:solidFill>
                <a:latin typeface="Microsoft YaHei"/>
                <a:ea typeface="Microsoft YaHei"/>
                <a:cs typeface="Microsoft YaHei"/>
              </a:defRPr>
            </a:pPr>
            <a:r>
              <a:rPr sz="1800" b="1" dirty="0">
                <a:solidFill>
                  <a:srgbClr val="242424"/>
                </a:solidFill>
                <a:latin typeface="Microsoft YaHei"/>
                <a:ea typeface="Microsoft YaHei"/>
                <a:cs typeface="Microsoft YaHei"/>
              </a:rPr>
              <a:t>多 </a:t>
            </a:r>
            <a:r>
              <a:rPr sz="1800" b="1" dirty="0">
                <a:solidFill>
                  <a:srgbClr val="242424"/>
                </a:solidFill>
                <a:latin typeface="Arial"/>
                <a:ea typeface="Arial"/>
                <a:cs typeface="Arial"/>
              </a:rPr>
              <a:t>Kernel Family</a:t>
            </a:r>
          </a:p>
        </p:txBody>
      </p:sp>
      <p:sp>
        <p:nvSpPr>
          <p:cNvPr id="19" name="使用不同结构覆盖不同尺寸特征">
            <a:extLst>
              <a:ext uri="{FF2B5EF4-FFF2-40B4-BE49-F238E27FC236}">
                <a16:creationId xmlns:a16="http://schemas.microsoft.com/office/drawing/2014/main" id="{319C3B22-D72E-467E-9A61-35609E4ACE70}"/>
              </a:ext>
            </a:extLst>
          </p:cNvPr>
          <p:cNvSpPr>
            <a:spLocks noGrp="1"/>
          </p:cNvSpPr>
          <p:nvPr/>
        </p:nvSpPr>
        <p:spPr>
          <a:xfrm>
            <a:off x="5562600" y="5181600"/>
            <a:ext cx="3048000" cy="400050"/>
          </a:xfrm>
          <a:prstGeom prst="rect">
            <a:avLst/>
          </a:prstGeom>
          <a:noFill/>
          <a:ln w="0">
            <a:noFill/>
          </a:ln>
        </p:spPr>
        <p:txBody>
          <a:bodyPr wrap="square" lIns="0" tIns="0" rIns="0" bIns="0" anchor="ctr">
            <a:noAutofit/>
          </a:bodyPr>
          <a:lstStyle/>
          <a:p>
            <a:pPr algn="l">
              <a:lnSpc>
                <a:spcPct val="112000"/>
              </a:lnSpc>
              <a:buNone/>
              <a:defRPr sz="1400" b="0">
                <a:solidFill>
                  <a:srgbClr val="666666"/>
                </a:solidFill>
                <a:latin typeface="Microsoft YaHei"/>
                <a:ea typeface="Microsoft YaHei"/>
                <a:cs typeface="Microsoft YaHei"/>
              </a:defRPr>
            </a:pPr>
            <a:r>
              <a:rPr sz="1400" b="0" dirty="0" err="1">
                <a:solidFill>
                  <a:srgbClr val="666666"/>
                </a:solidFill>
                <a:latin typeface="Microsoft YaHei"/>
                <a:ea typeface="Microsoft YaHei"/>
                <a:cs typeface="Microsoft YaHei"/>
              </a:rPr>
              <a:t>使用不同结构覆盖不同尺寸特征</a:t>
            </a:r>
            <a:endParaRPr sz="1400" b="0" dirty="0">
              <a:solidFill>
                <a:srgbClr val="666666"/>
              </a:solidFill>
              <a:latin typeface="Microsoft YaHei"/>
              <a:ea typeface="Microsoft YaHei"/>
              <a:cs typeface="Microsoft YaHei"/>
            </a:endParaRPr>
          </a:p>
        </p:txBody>
      </p:sp>
      <p:sp>
        <p:nvSpPr>
          <p:cNvPr id="23"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二、动态</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shape</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开发功能</a:t>
            </a:r>
          </a:p>
        </p:txBody>
      </p:sp>
      <p:sp>
        <p:nvSpPr>
          <p:cNvPr id="24" name="标题 1"/>
          <p:cNvSpPr txBox="1">
            <a:spLocks/>
          </p:cNvSpPr>
          <p:nvPr/>
        </p:nvSpPr>
        <p:spPr>
          <a:xfrm>
            <a:off x="395288" y="333375"/>
            <a:ext cx="6840537" cy="503238"/>
          </a:xfrm>
          <a:prstGeom prst="rect">
            <a:avLst/>
          </a:prstGeom>
        </p:spPr>
        <p:txBody>
          <a:bodyPr vert="horz" wrap="none" lIns="0" tIns="0" rIns="0" bIns="0" numCol="1" anchor="ctr" anchorCtr="0" compatLnSpc="1">
            <a:noAutofit/>
          </a:bodyPr>
          <a:lstStyle>
            <a:lvl1pPr algn="l" rtl="0" eaLnBrk="0" fontAlgn="base" hangingPunct="0">
              <a:spcBef>
                <a:spcPct val="0"/>
              </a:spcBef>
              <a:spcAft>
                <a:spcPct val="0"/>
              </a:spcAft>
              <a:defRPr sz="2600" b="1">
                <a:solidFill>
                  <a:schemeClr val="tx1"/>
                </a:solidFill>
                <a:latin typeface="+mj-lt"/>
                <a:ea typeface="+mj-ea"/>
                <a:cs typeface="+mj-cs"/>
              </a:defRPr>
            </a:lvl1pPr>
            <a:lvl2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2pPr>
            <a:lvl3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3pPr>
            <a:lvl4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4pPr>
            <a:lvl5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5pPr>
            <a:lvl6pPr marL="4572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6pPr>
            <a:lvl7pPr marL="9144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7pPr>
            <a:lvl8pPr marL="13716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8pPr>
            <a:lvl9pPr marL="18288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9pPr>
          </a:lstStyle>
          <a:p>
            <a:pPr>
              <a:defRPr sz="2600" b="1">
                <a:solidFill>
                  <a:srgbClr val="000000"/>
                </a:solidFill>
                <a:latin typeface="Arial" panose="020B0604020202020204"/>
                <a:ea typeface="Arial" panose="020B0604020202020204"/>
                <a:cs typeface="Arial" panose="020B0604020202020204"/>
              </a:defRPr>
            </a:pPr>
            <a:r>
              <a:rPr lang="zh-CN" altLang="en-US" kern="0" smtClean="0">
                <a:solidFill>
                  <a:srgbClr val="000000"/>
                </a:solidFill>
                <a:latin typeface="Times New Roman" panose="02020603050405020304" pitchFamily="18" charset="0"/>
                <a:ea typeface="+mn-ea"/>
                <a:cs typeface="Times New Roman" panose="02020603050405020304" pitchFamily="18" charset="0"/>
              </a:rPr>
              <a:t>实习任务二</a:t>
            </a:r>
            <a:r>
              <a:rPr lang="zh-CN" altLang="en-US" sz="1950" kern="0" smtClean="0">
                <a:solidFill>
                  <a:srgbClr val="000000"/>
                </a:solidFill>
                <a:latin typeface="Times New Roman" panose="02020603050405020304" pitchFamily="18" charset="0"/>
                <a:ea typeface="+mn-ea"/>
                <a:cs typeface="Times New Roman" panose="02020603050405020304" pitchFamily="18" charset="0"/>
              </a:rPr>
              <a:t>：</a:t>
            </a:r>
            <a:r>
              <a:rPr lang="zh-CN" altLang="en-US" kern="0" smtClean="0">
                <a:solidFill>
                  <a:srgbClr val="000000"/>
                </a:solidFill>
                <a:latin typeface="Times New Roman" panose="02020603050405020304" pitchFamily="18" charset="0"/>
                <a:ea typeface="+mn-ea"/>
                <a:cs typeface="Times New Roman" panose="02020603050405020304" pitchFamily="18" charset="0"/>
              </a:rPr>
              <a:t>寒武纪算子开发</a:t>
            </a:r>
            <a:r>
              <a:rPr lang="en-US" altLang="zh-CN" kern="0" smtClean="0">
                <a:solidFill>
                  <a:srgbClr val="000000"/>
                </a:solidFill>
                <a:latin typeface="Times New Roman" panose="02020603050405020304" pitchFamily="18" charset="0"/>
                <a:ea typeface="+mn-ea"/>
                <a:cs typeface="Times New Roman" panose="02020603050405020304" pitchFamily="18" charset="0"/>
              </a:rPr>
              <a:t>SKILL</a:t>
            </a:r>
            <a:r>
              <a:rPr lang="zh-CN" altLang="en-US" kern="0" smtClean="0">
                <a:solidFill>
                  <a:srgbClr val="000000"/>
                </a:solidFill>
                <a:latin typeface="Times New Roman" panose="02020603050405020304" pitchFamily="18" charset="0"/>
                <a:ea typeface="+mn-ea"/>
                <a:cs typeface="Times New Roman" panose="02020603050405020304" pitchFamily="18" charset="0"/>
              </a:rPr>
              <a:t>优化</a:t>
            </a:r>
            <a:endParaRPr lang="zh-CN" altLang="en-US" sz="1950" kern="0" dirty="0">
              <a:solidFill>
                <a:srgbClr val="000000"/>
              </a:solidFill>
              <a:latin typeface="Times New Roman" panose="02020603050405020304" pitchFamily="18" charset="0"/>
              <a:ea typeface="+mn-ea"/>
              <a:cs typeface="Times New Roman" panose="02020603050405020304" pitchFamily="18" charset="0"/>
            </a:endParaRPr>
          </a:p>
        </p:txBody>
      </p:sp>
      <p:sp>
        <p:nvSpPr>
          <p:cNvPr id="21"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Tree>
    <p:extLst>
      <p:ext uri="{BB962C8B-B14F-4D97-AF65-F5344CB8AC3E}">
        <p14:creationId xmlns:p14="http://schemas.microsoft.com/office/powerpoint/2010/main" val="3983038715"/>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19</a:t>
            </a:fld>
            <a:endParaRPr lang="zh-CN" altLang="en-US"/>
          </a:p>
        </p:txBody>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二、动态</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shape</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开发功能</a:t>
            </a:r>
          </a:p>
        </p:txBody>
      </p:sp>
      <p:sp>
        <p:nvSpPr>
          <p:cNvPr id="17"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20" name="矩形 19"/>
          <p:cNvSpPr/>
          <p:nvPr/>
        </p:nvSpPr>
        <p:spPr>
          <a:xfrm>
            <a:off x="535263" y="4785137"/>
            <a:ext cx="1107996"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运行阶段</a:t>
            </a:r>
          </a:p>
        </p:txBody>
      </p:sp>
      <p:sp>
        <p:nvSpPr>
          <p:cNvPr id="70" name="text_258_Main"/>
          <p:cNvSpPr>
            <a:spLocks noGrp="1"/>
          </p:cNvSpPr>
          <p:nvPr/>
        </p:nvSpPr>
        <p:spPr>
          <a:xfrm>
            <a:off x="602042" y="5609467"/>
            <a:ext cx="1537371" cy="503621"/>
          </a:xfrm>
          <a:prstGeom prst="rect">
            <a:avLst/>
          </a:prstGeom>
          <a:noFill/>
          <a:ln w="19050">
            <a:solidFill>
              <a:srgbClr val="C00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500" b="1" dirty="0">
                <a:solidFill>
                  <a:srgbClr val="000000"/>
                </a:solidFill>
                <a:latin typeface="Times New Roman" panose="02020603050405020304" pitchFamily="18" charset="0"/>
                <a:cs typeface="Times New Roman" panose="02020603050405020304" pitchFamily="18" charset="0"/>
              </a:rPr>
              <a:t>输入</a:t>
            </a:r>
            <a:r>
              <a:rPr lang="en-US" altLang="zh-CN" sz="1500" b="1" dirty="0">
                <a:solidFill>
                  <a:srgbClr val="000000"/>
                </a:solidFill>
                <a:latin typeface="Times New Roman" panose="02020603050405020304" pitchFamily="18" charset="0"/>
                <a:cs typeface="Times New Roman" panose="02020603050405020304" pitchFamily="18" charset="0"/>
              </a:rPr>
              <a:t>shape</a:t>
            </a:r>
            <a:endParaRPr sz="1500" b="1" dirty="0">
              <a:solidFill>
                <a:srgbClr val="000000"/>
              </a:solidFill>
              <a:latin typeface="Times New Roman" panose="02020603050405020304" pitchFamily="18" charset="0"/>
              <a:cs typeface="Times New Roman" panose="02020603050405020304" pitchFamily="18" charset="0"/>
            </a:endParaRPr>
          </a:p>
        </p:txBody>
      </p:sp>
      <p:sp>
        <p:nvSpPr>
          <p:cNvPr id="73" name="text_258_Main"/>
          <p:cNvSpPr>
            <a:spLocks noGrp="1"/>
          </p:cNvSpPr>
          <p:nvPr/>
        </p:nvSpPr>
        <p:spPr>
          <a:xfrm>
            <a:off x="2500519" y="5613577"/>
            <a:ext cx="1567425" cy="499512"/>
          </a:xfrm>
          <a:prstGeom prst="rect">
            <a:avLst/>
          </a:prstGeom>
          <a:noFill/>
          <a:ln w="19050">
            <a:solidFill>
              <a:srgbClr val="C00000"/>
            </a:solid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en-US" altLang="zh-CN" sz="1600" b="1" dirty="0">
                <a:solidFill>
                  <a:srgbClr val="000000"/>
                </a:solidFill>
                <a:latin typeface="Times New Roman" panose="02020603050405020304" pitchFamily="18" charset="0"/>
                <a:cs typeface="Times New Roman" panose="02020603050405020304" pitchFamily="18" charset="0"/>
              </a:rPr>
              <a:t>Dispatch</a:t>
            </a:r>
            <a:endParaRPr lang="zh-CN" altLang="en-US" sz="1600" b="1" dirty="0">
              <a:solidFill>
                <a:srgbClr val="000000"/>
              </a:solidFill>
              <a:latin typeface="Times New Roman" panose="02020603050405020304" pitchFamily="18" charset="0"/>
              <a:cs typeface="Times New Roman" panose="02020603050405020304" pitchFamily="18" charset="0"/>
            </a:endParaRPr>
          </a:p>
        </p:txBody>
      </p:sp>
      <p:sp>
        <p:nvSpPr>
          <p:cNvPr id="74" name="text_258_Main"/>
          <p:cNvSpPr>
            <a:spLocks noGrp="1"/>
          </p:cNvSpPr>
          <p:nvPr/>
        </p:nvSpPr>
        <p:spPr>
          <a:xfrm>
            <a:off x="4452555" y="5609467"/>
            <a:ext cx="1831284" cy="503893"/>
          </a:xfrm>
          <a:prstGeom prst="rect">
            <a:avLst/>
          </a:prstGeom>
          <a:noFill/>
          <a:ln w="19050">
            <a:solidFill>
              <a:srgbClr val="C00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500" b="1" dirty="0">
                <a:solidFill>
                  <a:srgbClr val="000000"/>
                </a:solidFill>
                <a:latin typeface="Times New Roman" panose="02020603050405020304" pitchFamily="18" charset="0"/>
                <a:cs typeface="Times New Roman" panose="02020603050405020304" pitchFamily="18" charset="0"/>
              </a:rPr>
              <a:t>选择</a:t>
            </a:r>
            <a:r>
              <a:rPr lang="en-US" altLang="zh-CN" sz="1500" b="1" dirty="0" smtClean="0">
                <a:solidFill>
                  <a:srgbClr val="000000"/>
                </a:solidFill>
                <a:latin typeface="Times New Roman" panose="02020603050405020304" pitchFamily="18" charset="0"/>
                <a:cs typeface="Times New Roman" panose="02020603050405020304" pitchFamily="18" charset="0"/>
              </a:rPr>
              <a:t>kernel</a:t>
            </a:r>
            <a:r>
              <a:rPr lang="zh-CN" altLang="en-US" sz="1500" b="1" dirty="0" smtClean="0">
                <a:solidFill>
                  <a:srgbClr val="000000"/>
                </a:solidFill>
                <a:latin typeface="Times New Roman" panose="02020603050405020304" pitchFamily="18" charset="0"/>
                <a:cs typeface="Times New Roman" panose="02020603050405020304" pitchFamily="18" charset="0"/>
              </a:rPr>
              <a:t>与配置</a:t>
            </a:r>
            <a:endParaRPr sz="1500" b="1" dirty="0">
              <a:solidFill>
                <a:srgbClr val="000000"/>
              </a:solidFill>
              <a:latin typeface="Times New Roman" panose="02020603050405020304" pitchFamily="18" charset="0"/>
              <a:cs typeface="Times New Roman" panose="02020603050405020304" pitchFamily="18" charset="0"/>
            </a:endParaRPr>
          </a:p>
        </p:txBody>
      </p:sp>
      <p:sp>
        <p:nvSpPr>
          <p:cNvPr id="75" name="text_258_Main"/>
          <p:cNvSpPr>
            <a:spLocks noGrp="1"/>
          </p:cNvSpPr>
          <p:nvPr/>
        </p:nvSpPr>
        <p:spPr>
          <a:xfrm>
            <a:off x="6656697" y="5613577"/>
            <a:ext cx="1831284" cy="499511"/>
          </a:xfrm>
          <a:prstGeom prst="rect">
            <a:avLst/>
          </a:prstGeom>
          <a:noFill/>
          <a:ln w="19050">
            <a:solidFill>
              <a:srgbClr val="C00000"/>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500" b="1" dirty="0">
                <a:solidFill>
                  <a:srgbClr val="000000"/>
                </a:solidFill>
                <a:latin typeface="Times New Roman" panose="02020603050405020304" pitchFamily="18" charset="0"/>
                <a:cs typeface="Times New Roman" panose="02020603050405020304" pitchFamily="18" charset="0"/>
              </a:rPr>
              <a:t>计算</a:t>
            </a:r>
            <a:endParaRPr sz="1500" b="1" dirty="0">
              <a:solidFill>
                <a:srgbClr val="000000"/>
              </a:solidFill>
              <a:latin typeface="Times New Roman" panose="02020603050405020304" pitchFamily="18" charset="0"/>
              <a:cs typeface="Times New Roman" panose="02020603050405020304" pitchFamily="18" charset="0"/>
            </a:endParaRPr>
          </a:p>
        </p:txBody>
      </p:sp>
      <p:cxnSp>
        <p:nvCxnSpPr>
          <p:cNvPr id="5" name="直接箭头连接符 4"/>
          <p:cNvCxnSpPr/>
          <p:nvPr/>
        </p:nvCxnSpPr>
        <p:spPr>
          <a:xfrm>
            <a:off x="2151166" y="5847520"/>
            <a:ext cx="361105" cy="4109"/>
          </a:xfrm>
          <a:prstGeom prst="straightConnector1">
            <a:avLst/>
          </a:prstGeom>
          <a:ln w="19050">
            <a:solidFill>
              <a:srgbClr val="D7000F"/>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079697" y="5854093"/>
            <a:ext cx="361105" cy="4109"/>
          </a:xfrm>
          <a:prstGeom prst="straightConnector1">
            <a:avLst/>
          </a:prstGeom>
          <a:ln w="19050">
            <a:solidFill>
              <a:srgbClr val="D7000F"/>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6295592" y="5822043"/>
            <a:ext cx="361105" cy="4109"/>
          </a:xfrm>
          <a:prstGeom prst="straightConnector1">
            <a:avLst/>
          </a:prstGeom>
          <a:ln w="19050">
            <a:solidFill>
              <a:srgbClr val="D7000F"/>
            </a:solidFill>
            <a:tailEnd type="triangle"/>
          </a:ln>
        </p:spPr>
        <p:style>
          <a:lnRef idx="1">
            <a:schemeClr val="accent1"/>
          </a:lnRef>
          <a:fillRef idx="0">
            <a:schemeClr val="accent1"/>
          </a:fillRef>
          <a:effectRef idx="0">
            <a:schemeClr val="accent1"/>
          </a:effectRef>
          <a:fontRef idx="minor">
            <a:schemeClr val="tx1"/>
          </a:fontRef>
        </p:style>
      </p:cxnSp>
      <p:sp>
        <p:nvSpPr>
          <p:cNvPr id="52" name="text_258_Main"/>
          <p:cNvSpPr>
            <a:spLocks noGrp="1"/>
          </p:cNvSpPr>
          <p:nvPr/>
        </p:nvSpPr>
        <p:spPr>
          <a:xfrm>
            <a:off x="664718" y="2488137"/>
            <a:ext cx="2168429" cy="470222"/>
          </a:xfrm>
          <a:prstGeom prst="rect">
            <a:avLst/>
          </a:prstGeom>
          <a:noFill/>
          <a:ln w="19050">
            <a:solidFill>
              <a:schemeClr val="tx1"/>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500" b="1" dirty="0">
                <a:solidFill>
                  <a:srgbClr val="000000"/>
                </a:solidFill>
                <a:latin typeface="Times New Roman" panose="02020603050405020304" pitchFamily="18" charset="0"/>
                <a:cs typeface="Times New Roman" panose="02020603050405020304" pitchFamily="18" charset="0"/>
              </a:rPr>
              <a:t>构建</a:t>
            </a:r>
            <a:r>
              <a:rPr lang="en-US" altLang="zh-CN" sz="1500" b="1" dirty="0">
                <a:solidFill>
                  <a:srgbClr val="000000"/>
                </a:solidFill>
                <a:latin typeface="Times New Roman" panose="02020603050405020304" pitchFamily="18" charset="0"/>
                <a:cs typeface="Times New Roman" panose="02020603050405020304" pitchFamily="18" charset="0"/>
              </a:rPr>
              <a:t>Kernel Family</a:t>
            </a:r>
            <a:endParaRPr sz="1500" b="1" dirty="0">
              <a:solidFill>
                <a:srgbClr val="000000"/>
              </a:solidFill>
              <a:latin typeface="Times New Roman" panose="02020603050405020304" pitchFamily="18" charset="0"/>
              <a:cs typeface="Times New Roman" panose="02020603050405020304" pitchFamily="18" charset="0"/>
            </a:endParaRPr>
          </a:p>
        </p:txBody>
      </p:sp>
      <p:sp>
        <p:nvSpPr>
          <p:cNvPr id="54" name="text_258_Main"/>
          <p:cNvSpPr>
            <a:spLocks noGrp="1"/>
          </p:cNvSpPr>
          <p:nvPr/>
        </p:nvSpPr>
        <p:spPr>
          <a:xfrm>
            <a:off x="3442510" y="2489305"/>
            <a:ext cx="2168429" cy="470222"/>
          </a:xfrm>
          <a:prstGeom prst="rect">
            <a:avLst/>
          </a:prstGeom>
          <a:noFill/>
          <a:ln w="19050">
            <a:solidFill>
              <a:schemeClr val="tx1"/>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500" b="1" dirty="0">
                <a:solidFill>
                  <a:srgbClr val="000000"/>
                </a:solidFill>
                <a:latin typeface="Times New Roman" panose="02020603050405020304" pitchFamily="18" charset="0"/>
                <a:cs typeface="Times New Roman" panose="02020603050405020304" pitchFamily="18" charset="0"/>
              </a:rPr>
              <a:t>搜索与验证候选配置</a:t>
            </a:r>
            <a:endParaRPr sz="1500" b="1" dirty="0">
              <a:solidFill>
                <a:srgbClr val="000000"/>
              </a:solidFill>
              <a:latin typeface="Times New Roman" panose="02020603050405020304" pitchFamily="18" charset="0"/>
              <a:cs typeface="Times New Roman" panose="02020603050405020304" pitchFamily="18" charset="0"/>
            </a:endParaRPr>
          </a:p>
        </p:txBody>
      </p:sp>
      <p:sp>
        <p:nvSpPr>
          <p:cNvPr id="55" name="text_258_Main"/>
          <p:cNvSpPr>
            <a:spLocks noGrp="1"/>
          </p:cNvSpPr>
          <p:nvPr/>
        </p:nvSpPr>
        <p:spPr>
          <a:xfrm>
            <a:off x="6220302" y="2488137"/>
            <a:ext cx="2168429" cy="470222"/>
          </a:xfrm>
          <a:prstGeom prst="rect">
            <a:avLst/>
          </a:prstGeom>
          <a:noFill/>
          <a:ln w="19050">
            <a:solidFill>
              <a:schemeClr val="tx1">
                <a:lumMod val="95000"/>
                <a:lumOff val="5000"/>
              </a:schemeClr>
            </a:solidFill>
          </a:ln>
        </p:spPr>
        <p:txBody>
          <a:bodyPr wrap="none" lIns="0" tIns="0" rIns="0" bIns="0" anchor="ctr">
            <a:noAutofit/>
          </a:bodyPr>
          <a:lstStyle/>
          <a:p>
            <a:pPr algn="ctr">
              <a:defRPr sz="1500" b="1">
                <a:solidFill>
                  <a:srgbClr val="000000"/>
                </a:solidFill>
                <a:latin typeface="Arial" panose="020B0604020202020204"/>
                <a:ea typeface="Arial" panose="020B0604020202020204"/>
                <a:cs typeface="Arial" panose="020B0604020202020204"/>
              </a:defRPr>
            </a:pPr>
            <a:r>
              <a:rPr lang="zh-CN" altLang="en-US" sz="1500" b="1" dirty="0">
                <a:solidFill>
                  <a:srgbClr val="000000"/>
                </a:solidFill>
                <a:latin typeface="Times New Roman" panose="02020603050405020304" pitchFamily="18" charset="0"/>
                <a:cs typeface="Times New Roman" panose="02020603050405020304" pitchFamily="18" charset="0"/>
              </a:rPr>
              <a:t>形成 </a:t>
            </a:r>
            <a:r>
              <a:rPr lang="en-US" altLang="zh-CN" sz="1500" b="1" dirty="0">
                <a:solidFill>
                  <a:srgbClr val="000000"/>
                </a:solidFill>
                <a:latin typeface="Times New Roman" panose="02020603050405020304" pitchFamily="18" charset="0"/>
                <a:cs typeface="Times New Roman" panose="02020603050405020304" pitchFamily="18" charset="0"/>
              </a:rPr>
              <a:t>Dispatch </a:t>
            </a:r>
            <a:r>
              <a:rPr lang="zh-CN" altLang="en-US" sz="1500" b="1" dirty="0">
                <a:solidFill>
                  <a:srgbClr val="000000"/>
                </a:solidFill>
                <a:latin typeface="Times New Roman" panose="02020603050405020304" pitchFamily="18" charset="0"/>
                <a:cs typeface="Times New Roman" panose="02020603050405020304" pitchFamily="18" charset="0"/>
              </a:rPr>
              <a:t>规则</a:t>
            </a:r>
          </a:p>
        </p:txBody>
      </p:sp>
      <p:sp>
        <p:nvSpPr>
          <p:cNvPr id="57" name="object_516"/>
          <p:cNvSpPr>
            <a:spLocks noGrp="1"/>
          </p:cNvSpPr>
          <p:nvPr/>
        </p:nvSpPr>
        <p:spPr>
          <a:xfrm>
            <a:off x="595211" y="3511360"/>
            <a:ext cx="735806" cy="621506"/>
          </a:xfrm>
          <a:prstGeom prst="rect">
            <a:avLst/>
          </a:prstGeom>
          <a:solidFill>
            <a:srgbClr val="FFFFFF"/>
          </a:solidFill>
          <a:ln w="19050">
            <a:solidFill>
              <a:schemeClr val="tx1"/>
            </a:solidFill>
          </a:ln>
        </p:spPr>
      </p:sp>
      <p:sp>
        <p:nvSpPr>
          <p:cNvPr id="58" name="text_518_Family A"/>
          <p:cNvSpPr>
            <a:spLocks noGrp="1"/>
          </p:cNvSpPr>
          <p:nvPr/>
        </p:nvSpPr>
        <p:spPr>
          <a:xfrm>
            <a:off x="645217" y="3547078"/>
            <a:ext cx="635794" cy="214313"/>
          </a:xfrm>
          <a:prstGeom prst="rect">
            <a:avLst/>
          </a:prstGeom>
          <a:noFill/>
          <a:ln w="9525">
            <a:noFill/>
          </a:ln>
        </p:spPr>
        <p:txBody>
          <a:bodyPr wrap="none" lIns="0" tIns="0" rIns="0" bIns="0" anchor="ctr">
            <a:noAutofit/>
          </a:bodyPr>
          <a:lstStyle/>
          <a:p>
            <a:pPr algn="ctr">
              <a:defRPr sz="1200" b="1">
                <a:solidFill>
                  <a:srgbClr val="000000"/>
                </a:solidFill>
                <a:latin typeface="Arial" panose="020B0604020202020204"/>
                <a:ea typeface="Arial" panose="020B0604020202020204"/>
                <a:cs typeface="Arial" panose="020B0604020202020204"/>
              </a:defRPr>
            </a:pPr>
            <a:r>
              <a:rPr lang="en-US" sz="1200" b="1" dirty="0">
                <a:solidFill>
                  <a:srgbClr val="000000"/>
                </a:solidFill>
                <a:latin typeface="Times New Roman" panose="02020603050405020304" pitchFamily="18" charset="0"/>
                <a:cs typeface="Times New Roman" panose="02020603050405020304" pitchFamily="18" charset="0"/>
              </a:rPr>
              <a:t>Kernel</a:t>
            </a:r>
            <a:r>
              <a:rPr sz="1200" b="1" dirty="0" smtClean="0">
                <a:solidFill>
                  <a:srgbClr val="000000"/>
                </a:solidFill>
                <a:latin typeface="Times New Roman" panose="02020603050405020304" pitchFamily="18" charset="0"/>
                <a:cs typeface="Times New Roman" panose="02020603050405020304" pitchFamily="18" charset="0"/>
              </a:rPr>
              <a:t> </a:t>
            </a:r>
            <a:r>
              <a:rPr sz="1200" b="1" dirty="0">
                <a:solidFill>
                  <a:srgbClr val="000000"/>
                </a:solidFill>
                <a:latin typeface="Times New Roman" panose="02020603050405020304" pitchFamily="18" charset="0"/>
                <a:cs typeface="Times New Roman" panose="02020603050405020304" pitchFamily="18" charset="0"/>
              </a:rPr>
              <a:t>A</a:t>
            </a:r>
          </a:p>
        </p:txBody>
      </p:sp>
      <p:sp>
        <p:nvSpPr>
          <p:cNvPr id="59" name="text_520_小尺寸优化"/>
          <p:cNvSpPr>
            <a:spLocks noGrp="1"/>
          </p:cNvSpPr>
          <p:nvPr/>
        </p:nvSpPr>
        <p:spPr>
          <a:xfrm>
            <a:off x="652361" y="3897123"/>
            <a:ext cx="621506" cy="192881"/>
          </a:xfrm>
          <a:prstGeom prst="rect">
            <a:avLst/>
          </a:prstGeom>
          <a:noFill/>
          <a:ln w="9525">
            <a:noFill/>
          </a:ln>
        </p:spPr>
        <p:txBody>
          <a:bodyPr wrap="none" lIns="0" tIns="0" rIns="0" bIns="0" anchor="ctr">
            <a:noAutofit/>
          </a:bodyPr>
          <a:lstStyle/>
          <a:p>
            <a:pPr algn="ctr">
              <a:defRPr sz="1050" b="0">
                <a:solidFill>
                  <a:srgbClr val="242424"/>
                </a:solidFill>
                <a:latin typeface="Arial" panose="020B0604020202020204"/>
                <a:ea typeface="Arial" panose="020B0604020202020204"/>
                <a:cs typeface="Arial" panose="020B0604020202020204"/>
              </a:defRPr>
            </a:pPr>
            <a:r>
              <a:rPr sz="950" dirty="0" err="1" smtClean="0">
                <a:solidFill>
                  <a:srgbClr val="242424"/>
                </a:solidFill>
                <a:latin typeface="Times New Roman" panose="02020603050405020304" pitchFamily="18" charset="0"/>
                <a:cs typeface="Times New Roman" panose="02020603050405020304" pitchFamily="18" charset="0"/>
              </a:rPr>
              <a:t>小尺寸</a:t>
            </a:r>
            <a:endParaRPr sz="950" dirty="0">
              <a:solidFill>
                <a:srgbClr val="242424"/>
              </a:solidFill>
              <a:latin typeface="Times New Roman" panose="02020603050405020304" pitchFamily="18" charset="0"/>
              <a:cs typeface="Times New Roman" panose="02020603050405020304" pitchFamily="18" charset="0"/>
            </a:endParaRPr>
          </a:p>
        </p:txBody>
      </p:sp>
      <p:sp>
        <p:nvSpPr>
          <p:cNvPr id="60" name="connector_521"/>
          <p:cNvSpPr>
            <a:spLocks noGrp="1"/>
          </p:cNvSpPr>
          <p:nvPr/>
        </p:nvSpPr>
        <p:spPr>
          <a:xfrm>
            <a:off x="952398" y="3304192"/>
            <a:ext cx="14288" cy="192881"/>
          </a:xfrm>
          <a:custGeom>
            <a:avLst/>
            <a:gdLst/>
            <a:ahLst/>
            <a:cxnLst/>
            <a:rect l="0" t="0" r="0" b="0"/>
            <a:pathLst>
              <a:path w="19050" h="257175">
                <a:moveTo>
                  <a:pt x="9525" y="9525"/>
                </a:moveTo>
                <a:lnTo>
                  <a:pt x="9525" y="247650"/>
                </a:lnTo>
              </a:path>
            </a:pathLst>
          </a:custGeom>
          <a:noFill/>
          <a:ln w="16193">
            <a:solidFill>
              <a:schemeClr val="tx1"/>
            </a:solidFill>
          </a:ln>
        </p:spPr>
      </p:sp>
      <p:sp>
        <p:nvSpPr>
          <p:cNvPr id="61" name="object_522"/>
          <p:cNvSpPr>
            <a:spLocks noGrp="1"/>
          </p:cNvSpPr>
          <p:nvPr/>
        </p:nvSpPr>
        <p:spPr>
          <a:xfrm>
            <a:off x="1388167" y="3511360"/>
            <a:ext cx="735806" cy="621506"/>
          </a:xfrm>
          <a:prstGeom prst="rect">
            <a:avLst/>
          </a:prstGeom>
          <a:solidFill>
            <a:srgbClr val="FFFFFF"/>
          </a:solidFill>
          <a:ln w="19050">
            <a:solidFill>
              <a:schemeClr val="tx1"/>
            </a:solidFill>
          </a:ln>
        </p:spPr>
      </p:sp>
      <p:sp>
        <p:nvSpPr>
          <p:cNvPr id="62" name="text_524_Family B"/>
          <p:cNvSpPr>
            <a:spLocks noGrp="1"/>
          </p:cNvSpPr>
          <p:nvPr/>
        </p:nvSpPr>
        <p:spPr>
          <a:xfrm>
            <a:off x="1438173" y="3547078"/>
            <a:ext cx="635794" cy="214313"/>
          </a:xfrm>
          <a:prstGeom prst="rect">
            <a:avLst/>
          </a:prstGeom>
          <a:noFill/>
          <a:ln w="9525">
            <a:noFill/>
          </a:ln>
        </p:spPr>
        <p:txBody>
          <a:bodyPr wrap="none" lIns="0" tIns="0" rIns="0" bIns="0" anchor="ctr">
            <a:noAutofit/>
          </a:bodyPr>
          <a:lstStyle/>
          <a:p>
            <a:pPr algn="ctr">
              <a:defRPr sz="1200" b="1">
                <a:solidFill>
                  <a:srgbClr val="000000"/>
                </a:solidFill>
                <a:latin typeface="Arial" panose="020B0604020202020204"/>
                <a:ea typeface="Arial" panose="020B0604020202020204"/>
                <a:cs typeface="Arial" panose="020B0604020202020204"/>
              </a:defRPr>
            </a:pPr>
            <a:r>
              <a:rPr lang="en-US" sz="1200" b="1" dirty="0">
                <a:solidFill>
                  <a:srgbClr val="000000"/>
                </a:solidFill>
                <a:latin typeface="Times New Roman" panose="02020603050405020304" pitchFamily="18" charset="0"/>
                <a:cs typeface="Times New Roman" panose="02020603050405020304" pitchFamily="18" charset="0"/>
              </a:rPr>
              <a:t>Kernel</a:t>
            </a:r>
            <a:r>
              <a:rPr sz="1200" b="1" dirty="0" smtClean="0">
                <a:solidFill>
                  <a:srgbClr val="000000"/>
                </a:solidFill>
                <a:latin typeface="Times New Roman" panose="02020603050405020304" pitchFamily="18" charset="0"/>
                <a:cs typeface="Times New Roman" panose="02020603050405020304" pitchFamily="18" charset="0"/>
              </a:rPr>
              <a:t> </a:t>
            </a:r>
            <a:r>
              <a:rPr sz="1200" b="1" dirty="0">
                <a:solidFill>
                  <a:srgbClr val="000000"/>
                </a:solidFill>
                <a:latin typeface="Times New Roman" panose="02020603050405020304" pitchFamily="18" charset="0"/>
                <a:cs typeface="Times New Roman" panose="02020603050405020304" pitchFamily="18" charset="0"/>
              </a:rPr>
              <a:t>B</a:t>
            </a:r>
          </a:p>
        </p:txBody>
      </p:sp>
      <p:sp>
        <p:nvSpPr>
          <p:cNvPr id="66" name="text_526_分块 / 分阶段"/>
          <p:cNvSpPr>
            <a:spLocks noGrp="1"/>
          </p:cNvSpPr>
          <p:nvPr/>
        </p:nvSpPr>
        <p:spPr>
          <a:xfrm>
            <a:off x="1445317" y="3897123"/>
            <a:ext cx="621506" cy="192881"/>
          </a:xfrm>
          <a:prstGeom prst="rect">
            <a:avLst/>
          </a:prstGeom>
          <a:noFill/>
          <a:ln w="9525">
            <a:noFill/>
          </a:ln>
        </p:spPr>
        <p:txBody>
          <a:bodyPr wrap="none" lIns="0" tIns="0" rIns="0" bIns="0" anchor="ctr">
            <a:noAutofit/>
          </a:bodyPr>
          <a:lstStyle/>
          <a:p>
            <a:pPr algn="ctr">
              <a:defRPr sz="1050" b="0">
                <a:solidFill>
                  <a:srgbClr val="242424"/>
                </a:solidFill>
                <a:latin typeface="Arial" panose="020B0604020202020204"/>
                <a:ea typeface="Arial" panose="020B0604020202020204"/>
                <a:cs typeface="Arial" panose="020B0604020202020204"/>
              </a:defRPr>
            </a:pPr>
            <a:r>
              <a:rPr lang="zh-CN" altLang="en-US" sz="950" dirty="0" smtClean="0">
                <a:solidFill>
                  <a:srgbClr val="242424"/>
                </a:solidFill>
                <a:latin typeface="Times New Roman" panose="02020603050405020304" pitchFamily="18" charset="0"/>
                <a:cs typeface="Times New Roman" panose="02020603050405020304" pitchFamily="18" charset="0"/>
              </a:rPr>
              <a:t>边界情况</a:t>
            </a:r>
            <a:endParaRPr sz="950" dirty="0">
              <a:solidFill>
                <a:srgbClr val="242424"/>
              </a:solidFill>
              <a:latin typeface="Times New Roman" panose="02020603050405020304" pitchFamily="18" charset="0"/>
              <a:cs typeface="Times New Roman" panose="02020603050405020304" pitchFamily="18" charset="0"/>
            </a:endParaRPr>
          </a:p>
        </p:txBody>
      </p:sp>
      <p:sp>
        <p:nvSpPr>
          <p:cNvPr id="67" name="object_528"/>
          <p:cNvSpPr>
            <a:spLocks noGrp="1"/>
          </p:cNvSpPr>
          <p:nvPr/>
        </p:nvSpPr>
        <p:spPr>
          <a:xfrm>
            <a:off x="2181124" y="3511360"/>
            <a:ext cx="735806" cy="621506"/>
          </a:xfrm>
          <a:prstGeom prst="rect">
            <a:avLst/>
          </a:prstGeom>
          <a:solidFill>
            <a:srgbClr val="FFFFFF"/>
          </a:solidFill>
          <a:ln w="19050">
            <a:solidFill>
              <a:schemeClr val="tx1"/>
            </a:solidFill>
          </a:ln>
        </p:spPr>
      </p:sp>
      <p:sp>
        <p:nvSpPr>
          <p:cNvPr id="68" name="text_530_Family C"/>
          <p:cNvSpPr>
            <a:spLocks noGrp="1"/>
          </p:cNvSpPr>
          <p:nvPr/>
        </p:nvSpPr>
        <p:spPr>
          <a:xfrm>
            <a:off x="2231130" y="3547078"/>
            <a:ext cx="635794" cy="214313"/>
          </a:xfrm>
          <a:prstGeom prst="rect">
            <a:avLst/>
          </a:prstGeom>
          <a:noFill/>
          <a:ln w="9525">
            <a:noFill/>
          </a:ln>
        </p:spPr>
        <p:txBody>
          <a:bodyPr wrap="none" lIns="0" tIns="0" rIns="0" bIns="0" anchor="ctr">
            <a:noAutofit/>
          </a:bodyPr>
          <a:lstStyle/>
          <a:p>
            <a:pPr algn="ctr">
              <a:defRPr sz="1200" b="1">
                <a:solidFill>
                  <a:srgbClr val="000000"/>
                </a:solidFill>
                <a:latin typeface="Arial" panose="020B0604020202020204"/>
                <a:ea typeface="Arial" panose="020B0604020202020204"/>
                <a:cs typeface="Arial" panose="020B0604020202020204"/>
              </a:defRPr>
            </a:pPr>
            <a:r>
              <a:rPr lang="en-US" sz="1200" b="1" dirty="0">
                <a:solidFill>
                  <a:srgbClr val="000000"/>
                </a:solidFill>
                <a:latin typeface="Times New Roman" panose="02020603050405020304" pitchFamily="18" charset="0"/>
                <a:cs typeface="Times New Roman" panose="02020603050405020304" pitchFamily="18" charset="0"/>
              </a:rPr>
              <a:t>Kernel</a:t>
            </a:r>
            <a:r>
              <a:rPr sz="1200" b="1" dirty="0" smtClean="0">
                <a:solidFill>
                  <a:srgbClr val="000000"/>
                </a:solidFill>
                <a:latin typeface="Times New Roman" panose="02020603050405020304" pitchFamily="18" charset="0"/>
                <a:cs typeface="Times New Roman" panose="02020603050405020304" pitchFamily="18" charset="0"/>
              </a:rPr>
              <a:t> </a:t>
            </a:r>
            <a:r>
              <a:rPr sz="1200" b="1" dirty="0">
                <a:solidFill>
                  <a:srgbClr val="000000"/>
                </a:solidFill>
                <a:latin typeface="Times New Roman" panose="02020603050405020304" pitchFamily="18" charset="0"/>
                <a:cs typeface="Times New Roman" panose="02020603050405020304" pitchFamily="18" charset="0"/>
              </a:rPr>
              <a:t>C</a:t>
            </a:r>
          </a:p>
        </p:txBody>
      </p:sp>
      <p:sp>
        <p:nvSpPr>
          <p:cNvPr id="69" name="text_532_整轴结构"/>
          <p:cNvSpPr>
            <a:spLocks noGrp="1"/>
          </p:cNvSpPr>
          <p:nvPr/>
        </p:nvSpPr>
        <p:spPr>
          <a:xfrm>
            <a:off x="2238274" y="3897123"/>
            <a:ext cx="621506" cy="192881"/>
          </a:xfrm>
          <a:prstGeom prst="rect">
            <a:avLst/>
          </a:prstGeom>
          <a:noFill/>
          <a:ln w="9525">
            <a:noFill/>
          </a:ln>
        </p:spPr>
        <p:txBody>
          <a:bodyPr wrap="none" lIns="0" tIns="0" rIns="0" bIns="0" anchor="ctr">
            <a:noAutofit/>
          </a:bodyPr>
          <a:lstStyle/>
          <a:p>
            <a:pPr algn="ctr">
              <a:defRPr sz="1050" b="0">
                <a:solidFill>
                  <a:srgbClr val="242424"/>
                </a:solidFill>
                <a:latin typeface="Arial" panose="020B0604020202020204"/>
                <a:ea typeface="Arial" panose="020B0604020202020204"/>
                <a:cs typeface="Arial" panose="020B0604020202020204"/>
              </a:defRPr>
            </a:pPr>
            <a:r>
              <a:rPr lang="zh-CN" altLang="en-US" sz="950" dirty="0" smtClean="0">
                <a:solidFill>
                  <a:srgbClr val="242424"/>
                </a:solidFill>
                <a:latin typeface="Times New Roman" panose="02020603050405020304" pitchFamily="18" charset="0"/>
                <a:cs typeface="Times New Roman" panose="02020603050405020304" pitchFamily="18" charset="0"/>
              </a:rPr>
              <a:t>大尺寸</a:t>
            </a:r>
            <a:endParaRPr sz="950" dirty="0">
              <a:solidFill>
                <a:srgbClr val="242424"/>
              </a:solidFill>
              <a:latin typeface="Times New Roman" panose="02020603050405020304" pitchFamily="18" charset="0"/>
              <a:cs typeface="Times New Roman" panose="02020603050405020304" pitchFamily="18" charset="0"/>
            </a:endParaRPr>
          </a:p>
        </p:txBody>
      </p:sp>
      <p:sp>
        <p:nvSpPr>
          <p:cNvPr id="71" name="connector_533"/>
          <p:cNvSpPr>
            <a:spLocks noGrp="1"/>
          </p:cNvSpPr>
          <p:nvPr/>
        </p:nvSpPr>
        <p:spPr>
          <a:xfrm>
            <a:off x="2538310" y="3304192"/>
            <a:ext cx="14288" cy="192881"/>
          </a:xfrm>
          <a:custGeom>
            <a:avLst/>
            <a:gdLst/>
            <a:ahLst/>
            <a:cxnLst/>
            <a:rect l="0" t="0" r="0" b="0"/>
            <a:pathLst>
              <a:path w="19050" h="257175">
                <a:moveTo>
                  <a:pt x="9525" y="9525"/>
                </a:moveTo>
                <a:lnTo>
                  <a:pt x="9525" y="247650"/>
                </a:lnTo>
              </a:path>
            </a:pathLst>
          </a:custGeom>
          <a:noFill/>
          <a:ln w="16193">
            <a:solidFill>
              <a:schemeClr val="tx1"/>
            </a:solidFill>
          </a:ln>
        </p:spPr>
      </p:sp>
      <p:sp>
        <p:nvSpPr>
          <p:cNvPr id="72" name="connector_534"/>
          <p:cNvSpPr>
            <a:spLocks noGrp="1"/>
          </p:cNvSpPr>
          <p:nvPr/>
        </p:nvSpPr>
        <p:spPr>
          <a:xfrm>
            <a:off x="952398" y="3304191"/>
            <a:ext cx="1600200" cy="14288"/>
          </a:xfrm>
          <a:custGeom>
            <a:avLst/>
            <a:gdLst/>
            <a:ahLst/>
            <a:cxnLst/>
            <a:rect l="0" t="0" r="0" b="0"/>
            <a:pathLst>
              <a:path w="2133600" h="19050">
                <a:moveTo>
                  <a:pt x="9525" y="9525"/>
                </a:moveTo>
                <a:lnTo>
                  <a:pt x="2124075" y="9525"/>
                </a:lnTo>
              </a:path>
            </a:pathLst>
          </a:custGeom>
          <a:noFill/>
          <a:ln w="16193">
            <a:solidFill>
              <a:schemeClr val="tx1"/>
            </a:solidFill>
          </a:ln>
        </p:spPr>
      </p:sp>
      <p:cxnSp>
        <p:nvCxnSpPr>
          <p:cNvPr id="4" name="直接箭头连接符 3"/>
          <p:cNvCxnSpPr>
            <a:stCxn id="52" idx="2"/>
            <a:endCxn id="61" idx="0"/>
          </p:cNvCxnSpPr>
          <p:nvPr/>
        </p:nvCxnSpPr>
        <p:spPr>
          <a:xfrm>
            <a:off x="1748933" y="2958359"/>
            <a:ext cx="7137" cy="5530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a:stCxn id="52" idx="3"/>
            <a:endCxn id="54" idx="1"/>
          </p:cNvCxnSpPr>
          <p:nvPr/>
        </p:nvCxnSpPr>
        <p:spPr>
          <a:xfrm>
            <a:off x="2833147" y="2723248"/>
            <a:ext cx="609363" cy="1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a:stCxn id="54" idx="3"/>
            <a:endCxn id="55" idx="1"/>
          </p:cNvCxnSpPr>
          <p:nvPr/>
        </p:nvCxnSpPr>
        <p:spPr>
          <a:xfrm flipV="1">
            <a:off x="5610939" y="2723248"/>
            <a:ext cx="609363" cy="1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535263" y="1799789"/>
            <a:ext cx="1107996"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开发阶段</a:t>
            </a:r>
          </a:p>
        </p:txBody>
      </p:sp>
      <p:sp>
        <p:nvSpPr>
          <p:cNvPr id="80" name="text_545_确定不同输入对应的执行组合"/>
          <p:cNvSpPr>
            <a:spLocks noGrp="1"/>
          </p:cNvSpPr>
          <p:nvPr/>
        </p:nvSpPr>
        <p:spPr>
          <a:xfrm>
            <a:off x="3416230" y="3045913"/>
            <a:ext cx="2486025" cy="235744"/>
          </a:xfrm>
          <a:prstGeom prst="rect">
            <a:avLst/>
          </a:prstGeom>
          <a:noFill/>
          <a:ln w="9525">
            <a:noFill/>
          </a:ln>
        </p:spPr>
        <p:txBody>
          <a:bodyPr wrap="none" lIns="0" tIns="0" rIns="0" bIns="0" anchor="ctr">
            <a:noAutofit/>
          </a:bodyPr>
          <a:lstStyle/>
          <a:p>
            <a:pPr algn="l">
              <a:defRPr sz="1575"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mn-ea"/>
                <a:cs typeface="Times New Roman" panose="02020603050405020304" pitchFamily="18" charset="0"/>
              </a:rPr>
              <a:t>按照硬件参数去设置配置范围</a:t>
            </a:r>
            <a:endParaRPr sz="1200" dirty="0">
              <a:solidFill>
                <a:srgbClr val="242424"/>
              </a:solidFill>
              <a:latin typeface="+mn-ea"/>
              <a:cs typeface="Times New Roman" panose="02020603050405020304" pitchFamily="18" charset="0"/>
            </a:endParaRPr>
          </a:p>
        </p:txBody>
      </p:sp>
      <p:sp>
        <p:nvSpPr>
          <p:cNvPr id="81" name="object_546"/>
          <p:cNvSpPr>
            <a:spLocks noGrp="1"/>
          </p:cNvSpPr>
          <p:nvPr/>
        </p:nvSpPr>
        <p:spPr>
          <a:xfrm>
            <a:off x="4109994" y="3435952"/>
            <a:ext cx="714375" cy="314325"/>
          </a:xfrm>
          <a:prstGeom prst="rect">
            <a:avLst/>
          </a:prstGeom>
          <a:solidFill>
            <a:srgbClr val="F2F2F2"/>
          </a:solidFill>
          <a:ln w="9525">
            <a:noFill/>
          </a:ln>
        </p:spPr>
      </p:sp>
      <p:sp>
        <p:nvSpPr>
          <p:cNvPr id="82" name="text_548_Family"/>
          <p:cNvSpPr>
            <a:spLocks noGrp="1"/>
          </p:cNvSpPr>
          <p:nvPr/>
        </p:nvSpPr>
        <p:spPr>
          <a:xfrm>
            <a:off x="4145712" y="3485958"/>
            <a:ext cx="642938" cy="214313"/>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sz="1180" b="1" dirty="0">
                <a:solidFill>
                  <a:srgbClr val="000000"/>
                </a:solidFill>
                <a:latin typeface="Times New Roman" panose="02020603050405020304" pitchFamily="18" charset="0"/>
                <a:cs typeface="Times New Roman" panose="02020603050405020304" pitchFamily="18" charset="0"/>
              </a:rPr>
              <a:t>Family</a:t>
            </a:r>
          </a:p>
        </p:txBody>
      </p:sp>
      <p:sp>
        <p:nvSpPr>
          <p:cNvPr id="84" name="text_552_×"/>
          <p:cNvSpPr>
            <a:spLocks noGrp="1"/>
          </p:cNvSpPr>
          <p:nvPr/>
        </p:nvSpPr>
        <p:spPr>
          <a:xfrm>
            <a:off x="4324306" y="3743133"/>
            <a:ext cx="228600" cy="171450"/>
          </a:xfrm>
          <a:prstGeom prst="rect">
            <a:avLst/>
          </a:prstGeom>
          <a:noFill/>
          <a:ln w="9525">
            <a:noFill/>
          </a:ln>
        </p:spPr>
        <p:txBody>
          <a:bodyPr wrap="none" lIns="0" tIns="0" rIns="0" bIns="0" anchor="ctr">
            <a:noAutofit/>
          </a:bodyPr>
          <a:lstStyle/>
          <a:p>
            <a:pPr algn="ctr">
              <a:defRPr sz="1425" b="1">
                <a:solidFill>
                  <a:srgbClr val="D7000F"/>
                </a:solidFill>
                <a:latin typeface="Arial" panose="020B0604020202020204"/>
                <a:ea typeface="Arial" panose="020B0604020202020204"/>
                <a:cs typeface="Arial" panose="020B0604020202020204"/>
              </a:defRPr>
            </a:pPr>
            <a:r>
              <a:rPr sz="1070" b="1">
                <a:solidFill>
                  <a:srgbClr val="D7000F"/>
                </a:solidFill>
                <a:latin typeface="Times New Roman" panose="02020603050405020304" pitchFamily="18" charset="0"/>
                <a:cs typeface="Times New Roman" panose="02020603050405020304" pitchFamily="18" charset="0"/>
              </a:rPr>
              <a:t>×</a:t>
            </a:r>
          </a:p>
        </p:txBody>
      </p:sp>
      <p:sp>
        <p:nvSpPr>
          <p:cNvPr id="85" name="object_553"/>
          <p:cNvSpPr>
            <a:spLocks noGrp="1"/>
          </p:cNvSpPr>
          <p:nvPr/>
        </p:nvSpPr>
        <p:spPr>
          <a:xfrm>
            <a:off x="4109994" y="3914583"/>
            <a:ext cx="714375" cy="314325"/>
          </a:xfrm>
          <a:prstGeom prst="rect">
            <a:avLst/>
          </a:prstGeom>
          <a:solidFill>
            <a:srgbClr val="F2F2F2"/>
          </a:solidFill>
          <a:ln w="9525">
            <a:noFill/>
          </a:ln>
        </p:spPr>
      </p:sp>
      <p:sp>
        <p:nvSpPr>
          <p:cNvPr id="86" name="text_555_Config"/>
          <p:cNvSpPr>
            <a:spLocks noGrp="1"/>
          </p:cNvSpPr>
          <p:nvPr/>
        </p:nvSpPr>
        <p:spPr>
          <a:xfrm>
            <a:off x="4145712" y="3964589"/>
            <a:ext cx="642938" cy="214313"/>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sz="1180" b="1">
                <a:solidFill>
                  <a:srgbClr val="000000"/>
                </a:solidFill>
                <a:latin typeface="Times New Roman" panose="02020603050405020304" pitchFamily="18" charset="0"/>
                <a:cs typeface="Times New Roman" panose="02020603050405020304" pitchFamily="18" charset="0"/>
              </a:rPr>
              <a:t>Config</a:t>
            </a:r>
          </a:p>
        </p:txBody>
      </p:sp>
      <p:sp>
        <p:nvSpPr>
          <p:cNvPr id="87" name="text_559_×"/>
          <p:cNvSpPr>
            <a:spLocks noGrp="1"/>
          </p:cNvSpPr>
          <p:nvPr/>
        </p:nvSpPr>
        <p:spPr>
          <a:xfrm>
            <a:off x="4324306" y="4221764"/>
            <a:ext cx="228600" cy="171450"/>
          </a:xfrm>
          <a:prstGeom prst="rect">
            <a:avLst/>
          </a:prstGeom>
          <a:noFill/>
          <a:ln w="9525">
            <a:noFill/>
          </a:ln>
        </p:spPr>
        <p:txBody>
          <a:bodyPr wrap="none" lIns="0" tIns="0" rIns="0" bIns="0" anchor="ctr">
            <a:noAutofit/>
          </a:bodyPr>
          <a:lstStyle/>
          <a:p>
            <a:pPr algn="ctr">
              <a:defRPr sz="1425" b="1">
                <a:solidFill>
                  <a:srgbClr val="D7000F"/>
                </a:solidFill>
                <a:latin typeface="Arial" panose="020B0604020202020204"/>
                <a:ea typeface="Arial" panose="020B0604020202020204"/>
                <a:cs typeface="Arial" panose="020B0604020202020204"/>
              </a:defRPr>
            </a:pPr>
            <a:r>
              <a:rPr sz="1070" b="1">
                <a:solidFill>
                  <a:srgbClr val="D7000F"/>
                </a:solidFill>
                <a:latin typeface="Times New Roman" panose="02020603050405020304" pitchFamily="18" charset="0"/>
                <a:cs typeface="Times New Roman" panose="02020603050405020304" pitchFamily="18" charset="0"/>
              </a:rPr>
              <a:t>×</a:t>
            </a:r>
          </a:p>
        </p:txBody>
      </p:sp>
      <p:sp>
        <p:nvSpPr>
          <p:cNvPr id="88" name="object_560"/>
          <p:cNvSpPr>
            <a:spLocks noGrp="1"/>
          </p:cNvSpPr>
          <p:nvPr/>
        </p:nvSpPr>
        <p:spPr>
          <a:xfrm>
            <a:off x="4109994" y="4393214"/>
            <a:ext cx="714375" cy="314325"/>
          </a:xfrm>
          <a:prstGeom prst="rect">
            <a:avLst/>
          </a:prstGeom>
          <a:solidFill>
            <a:srgbClr val="F2F2F2"/>
          </a:solidFill>
          <a:ln w="9525">
            <a:noFill/>
          </a:ln>
        </p:spPr>
      </p:sp>
      <p:sp>
        <p:nvSpPr>
          <p:cNvPr id="89" name="text_562_Shape"/>
          <p:cNvSpPr>
            <a:spLocks noGrp="1"/>
          </p:cNvSpPr>
          <p:nvPr/>
        </p:nvSpPr>
        <p:spPr>
          <a:xfrm>
            <a:off x="4145712" y="4443220"/>
            <a:ext cx="642938" cy="214313"/>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sz="1180" b="1">
                <a:solidFill>
                  <a:srgbClr val="000000"/>
                </a:solidFill>
                <a:latin typeface="Times New Roman" panose="02020603050405020304" pitchFamily="18" charset="0"/>
                <a:cs typeface="Times New Roman" panose="02020603050405020304" pitchFamily="18" charset="0"/>
              </a:rPr>
              <a:t>Shape</a:t>
            </a:r>
          </a:p>
        </p:txBody>
      </p:sp>
      <p:sp>
        <p:nvSpPr>
          <p:cNvPr id="90" name="记录适用的 Family 与配置&#10;生成运行时选择规则">
            <a:extLst>
              <a:ext uri="{FF2B5EF4-FFF2-40B4-BE49-F238E27FC236}">
                <a16:creationId xmlns:a16="http://schemas.microsoft.com/office/drawing/2014/main" id="{B7953F5B-5335-4932-8CDC-B24078F3D7F7}"/>
              </a:ext>
            </a:extLst>
          </p:cNvPr>
          <p:cNvSpPr>
            <a:spLocks noGrp="1"/>
          </p:cNvSpPr>
          <p:nvPr/>
        </p:nvSpPr>
        <p:spPr>
          <a:xfrm>
            <a:off x="5997864" y="3683601"/>
            <a:ext cx="2894615" cy="866775"/>
          </a:xfrm>
          <a:prstGeom prst="rect">
            <a:avLst/>
          </a:prstGeom>
          <a:noFill/>
          <a:ln w="0">
            <a:noFill/>
          </a:ln>
        </p:spPr>
        <p:txBody>
          <a:bodyPr wrap="square" lIns="0" tIns="0" rIns="0" bIns="0" anchor="ctr">
            <a:noAutofit/>
          </a:bodyPr>
          <a:lstStyle/>
          <a:p>
            <a:pPr>
              <a:lnSpc>
                <a:spcPct val="112000"/>
              </a:lnSpc>
              <a:defRPr sz="1400" b="0">
                <a:solidFill>
                  <a:srgbClr val="242424"/>
                </a:solidFill>
                <a:latin typeface="Microsoft YaHei"/>
                <a:ea typeface="Microsoft YaHei"/>
                <a:cs typeface="Microsoft YaHei"/>
              </a:defRPr>
            </a:pPr>
            <a:r>
              <a:rPr lang="zh-CN" altLang="en-US" dirty="0"/>
              <a:t>关键变化是验收对象从</a:t>
            </a:r>
            <a:r>
              <a:rPr lang="zh-CN" altLang="en-US" dirty="0" smtClean="0"/>
              <a:t>单个 </a:t>
            </a:r>
            <a:r>
              <a:rPr lang="en-US" altLang="zh-CN" dirty="0" smtClean="0"/>
              <a:t>Shape </a:t>
            </a:r>
            <a:r>
              <a:rPr lang="zh-CN" altLang="en-US" dirty="0" smtClean="0"/>
              <a:t>扩展为目标 </a:t>
            </a:r>
            <a:r>
              <a:rPr lang="en-US" altLang="zh-CN" dirty="0" smtClean="0"/>
              <a:t>Shape </a:t>
            </a:r>
            <a:r>
              <a:rPr lang="zh-CN" altLang="en-US" dirty="0" smtClean="0"/>
              <a:t>加速比集合</a:t>
            </a:r>
            <a:endParaRPr lang="en-US" altLang="zh-CN" dirty="0" smtClean="0"/>
          </a:p>
        </p:txBody>
      </p:sp>
      <p:sp>
        <p:nvSpPr>
          <p:cNvPr id="3" name="矩形 2"/>
          <p:cNvSpPr/>
          <p:nvPr/>
        </p:nvSpPr>
        <p:spPr>
          <a:xfrm>
            <a:off x="6381765" y="2977974"/>
            <a:ext cx="4572000" cy="506036"/>
          </a:xfrm>
          <a:prstGeom prst="rect">
            <a:avLst/>
          </a:prstGeom>
        </p:spPr>
        <p:txBody>
          <a:bodyPr>
            <a:spAutoFit/>
          </a:bodyPr>
          <a:lstStyle/>
          <a:p>
            <a:pPr>
              <a:lnSpc>
                <a:spcPct val="112000"/>
              </a:lnSpc>
              <a:defRPr sz="1400" b="0">
                <a:solidFill>
                  <a:srgbClr val="242424"/>
                </a:solidFill>
                <a:latin typeface="Microsoft YaHei"/>
                <a:ea typeface="Microsoft YaHei"/>
                <a:cs typeface="Microsoft YaHei"/>
              </a:defRPr>
            </a:pPr>
            <a:r>
              <a:rPr lang="zh-CN" altLang="en-US" sz="1200" dirty="0">
                <a:solidFill>
                  <a:srgbClr val="242424"/>
                </a:solidFill>
                <a:latin typeface="Microsoft YaHei"/>
                <a:ea typeface="Microsoft YaHei"/>
                <a:cs typeface="Microsoft YaHei"/>
              </a:rPr>
              <a:t>记录适用的 </a:t>
            </a:r>
            <a:r>
              <a:rPr lang="en-US" altLang="zh-CN" sz="1200" dirty="0">
                <a:solidFill>
                  <a:srgbClr val="242424"/>
                </a:solidFill>
                <a:latin typeface="Microsoft YaHei"/>
                <a:ea typeface="Microsoft YaHei"/>
                <a:cs typeface="Microsoft YaHei"/>
              </a:rPr>
              <a:t>shape</a:t>
            </a:r>
            <a:r>
              <a:rPr lang="zh-CN" altLang="en-US" sz="1200" dirty="0">
                <a:solidFill>
                  <a:srgbClr val="242424"/>
                </a:solidFill>
                <a:latin typeface="Microsoft YaHei"/>
                <a:ea typeface="Microsoft YaHei"/>
                <a:cs typeface="Microsoft YaHei"/>
              </a:rPr>
              <a:t>与配置</a:t>
            </a:r>
          </a:p>
          <a:p>
            <a:pPr>
              <a:lnSpc>
                <a:spcPct val="112000"/>
              </a:lnSpc>
              <a:defRPr sz="1400" b="0">
                <a:solidFill>
                  <a:srgbClr val="242424"/>
                </a:solidFill>
                <a:latin typeface="Microsoft YaHei"/>
                <a:ea typeface="Microsoft YaHei"/>
                <a:cs typeface="Microsoft YaHei"/>
              </a:defRPr>
            </a:pPr>
            <a:r>
              <a:rPr lang="zh-CN" altLang="en-US" sz="1200" dirty="0">
                <a:solidFill>
                  <a:srgbClr val="242424"/>
                </a:solidFill>
                <a:latin typeface="Microsoft YaHei"/>
                <a:ea typeface="Microsoft YaHei"/>
                <a:cs typeface="Microsoft YaHei"/>
              </a:rPr>
              <a:t>生成运行</a:t>
            </a:r>
            <a:r>
              <a:rPr lang="zh-CN" altLang="en-US" sz="1200" dirty="0" smtClean="0">
                <a:solidFill>
                  <a:srgbClr val="242424"/>
                </a:solidFill>
                <a:latin typeface="Microsoft YaHei"/>
                <a:ea typeface="Microsoft YaHei"/>
                <a:cs typeface="Microsoft YaHei"/>
              </a:rPr>
              <a:t>时的选择</a:t>
            </a:r>
            <a:r>
              <a:rPr lang="zh-CN" altLang="en-US" sz="1200" dirty="0">
                <a:solidFill>
                  <a:srgbClr val="242424"/>
                </a:solidFill>
                <a:latin typeface="Microsoft YaHei"/>
                <a:ea typeface="Microsoft YaHei"/>
                <a:cs typeface="Microsoft YaHei"/>
              </a:rPr>
              <a:t>规则</a:t>
            </a:r>
          </a:p>
        </p:txBody>
      </p:sp>
    </p:spTree>
    <p:extLst>
      <p:ext uri="{BB962C8B-B14F-4D97-AF65-F5344CB8AC3E}">
        <p14:creationId xmlns:p14="http://schemas.microsoft.com/office/powerpoint/2010/main" val="2729684422"/>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20</a:t>
            </a:fld>
            <a:endParaRPr lang="zh-CN" altLang="en-US"/>
          </a:p>
        </p:txBody>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二、动态</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shape</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开发功能</a:t>
            </a:r>
          </a:p>
        </p:txBody>
      </p:sp>
      <p:sp>
        <p:nvSpPr>
          <p:cNvPr id="10"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graphicFrame>
        <p:nvGraphicFramePr>
          <p:cNvPr id="11" name="表格 10"/>
          <p:cNvGraphicFramePr/>
          <p:nvPr>
            <p:extLst>
              <p:ext uri="{D42A27DB-BD31-4B8C-83A1-F6EECF244321}">
                <p14:modId xmlns:p14="http://schemas.microsoft.com/office/powerpoint/2010/main" val="103244857"/>
              </p:ext>
            </p:extLst>
          </p:nvPr>
        </p:nvGraphicFramePr>
        <p:xfrm>
          <a:off x="533400" y="2038350"/>
          <a:ext cx="8077200" cy="2743200"/>
        </p:xfrm>
        <a:graphic>
          <a:graphicData uri="http://schemas.openxmlformats.org/drawingml/2006/table">
            <a:tbl>
              <a:tblPr/>
              <a:tblGrid>
                <a:gridCol w="1905000">
                  <a:extLst>
                    <a:ext uri="{9D8B030D-6E8A-4147-A177-3AD203B41FA5}">
                      <a16:colId xmlns:a16="http://schemas.microsoft.com/office/drawing/2014/main" val="20000"/>
                    </a:ext>
                  </a:extLst>
                </a:gridCol>
                <a:gridCol w="1543050">
                  <a:extLst>
                    <a:ext uri="{9D8B030D-6E8A-4147-A177-3AD203B41FA5}">
                      <a16:colId xmlns:a16="http://schemas.microsoft.com/office/drawing/2014/main" val="20001"/>
                    </a:ext>
                  </a:extLst>
                </a:gridCol>
                <a:gridCol w="1543050">
                  <a:extLst>
                    <a:ext uri="{9D8B030D-6E8A-4147-A177-3AD203B41FA5}">
                      <a16:colId xmlns:a16="http://schemas.microsoft.com/office/drawing/2014/main" val="20002"/>
                    </a:ext>
                  </a:extLst>
                </a:gridCol>
                <a:gridCol w="1543050">
                  <a:extLst>
                    <a:ext uri="{9D8B030D-6E8A-4147-A177-3AD203B41FA5}">
                      <a16:colId xmlns:a16="http://schemas.microsoft.com/office/drawing/2014/main" val="20003"/>
                    </a:ext>
                  </a:extLst>
                </a:gridCol>
                <a:gridCol w="1543050">
                  <a:extLst>
                    <a:ext uri="{9D8B030D-6E8A-4147-A177-3AD203B41FA5}">
                      <a16:colId xmlns:a16="http://schemas.microsoft.com/office/drawing/2014/main" val="20004"/>
                    </a:ext>
                  </a:extLst>
                </a:gridCol>
              </a:tblGrid>
              <a:tr h="457200">
                <a:tc rowSpan="2">
                  <a:txBody>
                    <a:bodyPr/>
                    <a:lstStyle/>
                    <a:p>
                      <a:pPr algn="ctr"/>
                      <a:r>
                        <a:rPr sz="1600" b="1" dirty="0" err="1">
                          <a:solidFill>
                            <a:srgbClr val="242424"/>
                          </a:solidFill>
                          <a:latin typeface="Microsoft YaHei"/>
                          <a:ea typeface="Microsoft YaHei"/>
                          <a:cs typeface="Microsoft YaHei"/>
                        </a:rPr>
                        <a:t>算子</a:t>
                      </a:r>
                      <a:endParaRPr sz="1600" b="1" dirty="0">
                        <a:solidFill>
                          <a:srgbClr val="242424"/>
                        </a:solidFill>
                        <a:latin typeface="Microsoft YaHei"/>
                        <a:ea typeface="Microsoft YaHei"/>
                        <a:cs typeface="Microsoft YaHei"/>
                      </a:endParaRPr>
                    </a:p>
                  </a:txBody>
                  <a:tcPr marL="95250" marR="95250" marT="47625" marB="47625" anchor="ctr">
                    <a:solidFill>
                      <a:schemeClr val="accent1">
                        <a:lumMod val="60000"/>
                        <a:lumOff val="40000"/>
                      </a:schemeClr>
                    </a:solidFill>
                  </a:tcPr>
                </a:tc>
                <a:tc gridSpan="2">
                  <a:txBody>
                    <a:bodyPr/>
                    <a:lstStyle/>
                    <a:p>
                      <a:pPr algn="ctr"/>
                      <a:r>
                        <a:rPr sz="1600" b="1">
                          <a:solidFill>
                            <a:srgbClr val="242424"/>
                          </a:solidFill>
                          <a:latin typeface="Microsoft YaHei"/>
                          <a:ea typeface="Microsoft YaHei"/>
                          <a:cs typeface="Microsoft YaHei"/>
                        </a:rPr>
                        <a:t>静态方案</a:t>
                      </a:r>
                    </a:p>
                  </a:txBody>
                  <a:tcPr marL="95250" marR="95250" marT="47625" marB="47625" anchor="ctr">
                    <a:solidFill>
                      <a:schemeClr val="accent1">
                        <a:lumMod val="60000"/>
                        <a:lumOff val="40000"/>
                      </a:schemeClr>
                    </a:solidFill>
                  </a:tcPr>
                </a:tc>
                <a:tc hMerge="1">
                  <a:txBody>
                    <a:bodyPr/>
                    <a:lstStyle/>
                    <a:p>
                      <a:endParaRPr/>
                    </a:p>
                  </a:txBody>
                  <a:tcPr marL="95250" marR="95250" marT="47625" marB="47625" anchor="ctr">
                    <a:solidFill>
                      <a:srgbClr val="EDF3FA"/>
                    </a:solidFill>
                  </a:tcPr>
                </a:tc>
                <a:tc gridSpan="2">
                  <a:txBody>
                    <a:bodyPr/>
                    <a:lstStyle/>
                    <a:p>
                      <a:pPr algn="ctr"/>
                      <a:r>
                        <a:rPr sz="1600" b="1">
                          <a:solidFill>
                            <a:srgbClr val="242424"/>
                          </a:solidFill>
                          <a:latin typeface="Microsoft YaHei"/>
                          <a:ea typeface="Microsoft YaHei"/>
                          <a:cs typeface="Microsoft YaHei"/>
                        </a:rPr>
                        <a:t>动态方案</a:t>
                      </a:r>
                    </a:p>
                  </a:txBody>
                  <a:tcPr marL="95250" marR="95250" marT="47625" marB="47625" anchor="ctr">
                    <a:solidFill>
                      <a:schemeClr val="accent1">
                        <a:lumMod val="60000"/>
                        <a:lumOff val="40000"/>
                      </a:schemeClr>
                    </a:solidFill>
                  </a:tcPr>
                </a:tc>
                <a:tc hMerge="1">
                  <a:txBody>
                    <a:bodyPr/>
                    <a:lstStyle/>
                    <a:p>
                      <a:endParaRPr/>
                    </a:p>
                  </a:txBody>
                  <a:tcPr marL="95250" marR="95250" marT="47625" marB="47625" anchor="ctr">
                    <a:solidFill>
                      <a:srgbClr val="EDF3FA"/>
                    </a:solidFill>
                  </a:tcPr>
                </a:tc>
                <a:extLst>
                  <a:ext uri="{0D108BD9-81ED-4DB2-BD59-A6C34878D82A}">
                    <a16:rowId xmlns:a16="http://schemas.microsoft.com/office/drawing/2014/main" val="10000"/>
                  </a:ext>
                </a:extLst>
              </a:tr>
              <a:tr h="457200">
                <a:tc vMerge="1">
                  <a:txBody>
                    <a:bodyPr/>
                    <a:lstStyle/>
                    <a:p>
                      <a:endParaRPr/>
                    </a:p>
                  </a:txBody>
                  <a:tcPr marL="95250" marR="95250" marT="47625" marB="47625" anchor="ctr">
                    <a:solidFill>
                      <a:srgbClr val="EDF3FA"/>
                    </a:solidFill>
                  </a:tcPr>
                </a:tc>
                <a:tc>
                  <a:txBody>
                    <a:bodyPr/>
                    <a:lstStyle/>
                    <a:p>
                      <a:pPr algn="ctr"/>
                      <a:r>
                        <a:rPr sz="1600" b="1">
                          <a:solidFill>
                            <a:srgbClr val="242424"/>
                          </a:solidFill>
                          <a:latin typeface="Microsoft YaHei"/>
                          <a:ea typeface="Microsoft YaHei"/>
                          <a:cs typeface="Microsoft YaHei"/>
                        </a:rPr>
                        <a:t>加速比</a:t>
                      </a:r>
                    </a:p>
                  </a:txBody>
                  <a:tcPr marL="95250" marR="95250" marT="47625" marB="47625" anchor="ctr">
                    <a:solidFill>
                      <a:schemeClr val="accent1">
                        <a:lumMod val="60000"/>
                        <a:lumOff val="40000"/>
                      </a:schemeClr>
                    </a:solidFill>
                  </a:tcPr>
                </a:tc>
                <a:tc>
                  <a:txBody>
                    <a:bodyPr/>
                    <a:lstStyle/>
                    <a:p>
                      <a:pPr algn="ctr"/>
                      <a:r>
                        <a:rPr sz="1600" b="1">
                          <a:solidFill>
                            <a:srgbClr val="242424"/>
                          </a:solidFill>
                          <a:latin typeface="Microsoft YaHei"/>
                          <a:ea typeface="Microsoft YaHei"/>
                          <a:cs typeface="Microsoft YaHei"/>
                        </a:rPr>
                        <a:t>耗时（</a:t>
                      </a:r>
                      <a:r>
                        <a:rPr sz="1600" b="1">
                          <a:solidFill>
                            <a:srgbClr val="242424"/>
                          </a:solidFill>
                          <a:latin typeface="Arial"/>
                          <a:ea typeface="Arial"/>
                          <a:cs typeface="Arial"/>
                        </a:rPr>
                        <a:t>h</a:t>
                      </a:r>
                      <a:r>
                        <a:rPr sz="1600" b="1">
                          <a:solidFill>
                            <a:srgbClr val="242424"/>
                          </a:solidFill>
                          <a:latin typeface="Microsoft YaHei"/>
                          <a:ea typeface="Microsoft YaHei"/>
                          <a:cs typeface="Microsoft YaHei"/>
                        </a:rPr>
                        <a:t>）</a:t>
                      </a:r>
                    </a:p>
                  </a:txBody>
                  <a:tcPr marL="95250" marR="95250" marT="47625" marB="47625" anchor="ctr">
                    <a:solidFill>
                      <a:schemeClr val="accent1">
                        <a:lumMod val="60000"/>
                        <a:lumOff val="40000"/>
                      </a:schemeClr>
                    </a:solidFill>
                  </a:tcPr>
                </a:tc>
                <a:tc>
                  <a:txBody>
                    <a:bodyPr/>
                    <a:lstStyle/>
                    <a:p>
                      <a:pPr algn="ctr"/>
                      <a:r>
                        <a:rPr sz="1600" b="1">
                          <a:solidFill>
                            <a:srgbClr val="242424"/>
                          </a:solidFill>
                          <a:latin typeface="Microsoft YaHei"/>
                          <a:ea typeface="Microsoft YaHei"/>
                          <a:cs typeface="Microsoft YaHei"/>
                        </a:rPr>
                        <a:t>加速比</a:t>
                      </a:r>
                    </a:p>
                  </a:txBody>
                  <a:tcPr marL="95250" marR="95250" marT="47625" marB="47625" anchor="ctr">
                    <a:solidFill>
                      <a:schemeClr val="accent1">
                        <a:lumMod val="60000"/>
                        <a:lumOff val="40000"/>
                      </a:schemeClr>
                    </a:solidFill>
                  </a:tcPr>
                </a:tc>
                <a:tc>
                  <a:txBody>
                    <a:bodyPr/>
                    <a:lstStyle/>
                    <a:p>
                      <a:pPr algn="ctr"/>
                      <a:r>
                        <a:rPr sz="1600" b="1" dirty="0" err="1">
                          <a:solidFill>
                            <a:srgbClr val="242424"/>
                          </a:solidFill>
                          <a:latin typeface="Microsoft YaHei"/>
                          <a:ea typeface="Microsoft YaHei"/>
                          <a:cs typeface="Microsoft YaHei"/>
                        </a:rPr>
                        <a:t>耗时（</a:t>
                      </a:r>
                      <a:r>
                        <a:rPr sz="1600" b="1" dirty="0" err="1">
                          <a:solidFill>
                            <a:srgbClr val="242424"/>
                          </a:solidFill>
                          <a:latin typeface="Arial"/>
                          <a:ea typeface="Arial"/>
                          <a:cs typeface="Arial"/>
                        </a:rPr>
                        <a:t>h</a:t>
                      </a:r>
                      <a:r>
                        <a:rPr sz="1600" b="1" dirty="0">
                          <a:solidFill>
                            <a:srgbClr val="242424"/>
                          </a:solidFill>
                          <a:latin typeface="Microsoft YaHei"/>
                          <a:ea typeface="Microsoft YaHei"/>
                          <a:cs typeface="Microsoft YaHei"/>
                        </a:rPr>
                        <a:t>）</a:t>
                      </a:r>
                    </a:p>
                  </a:txBody>
                  <a:tcPr marL="95250" marR="95250" marT="47625" marB="47625" anchor="ctr">
                    <a:solidFill>
                      <a:schemeClr val="accent1">
                        <a:lumMod val="60000"/>
                        <a:lumOff val="40000"/>
                      </a:schemeClr>
                    </a:solidFill>
                  </a:tcPr>
                </a:tc>
                <a:extLst>
                  <a:ext uri="{0D108BD9-81ED-4DB2-BD59-A6C34878D82A}">
                    <a16:rowId xmlns:a16="http://schemas.microsoft.com/office/drawing/2014/main" val="10001"/>
                  </a:ext>
                </a:extLst>
              </a:tr>
              <a:tr h="457200">
                <a:tc>
                  <a:txBody>
                    <a:bodyPr/>
                    <a:lstStyle/>
                    <a:p>
                      <a:pPr algn="ctr"/>
                      <a:r>
                        <a:rPr sz="1600" b="0" dirty="0" err="1">
                          <a:solidFill>
                            <a:srgbClr val="242424"/>
                          </a:solidFill>
                          <a:latin typeface="Arial"/>
                          <a:ea typeface="Arial"/>
                          <a:cs typeface="Arial"/>
                        </a:rPr>
                        <a:t>Softmax</a:t>
                      </a:r>
                      <a:endParaRPr sz="1600" b="0" dirty="0">
                        <a:solidFill>
                          <a:srgbClr val="242424"/>
                        </a:solidFill>
                        <a:latin typeface="Arial"/>
                        <a:ea typeface="Arial"/>
                        <a:cs typeface="Arial"/>
                      </a:endParaRP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1.230×</a:t>
                      </a: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2.0</a:t>
                      </a: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1.182×</a:t>
                      </a: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5.0</a:t>
                      </a:r>
                    </a:p>
                  </a:txBody>
                  <a:tcPr marL="95250" marR="95250" marT="47625" marB="47625" anchor="ctr">
                    <a:solidFill>
                      <a:srgbClr val="FAFAFA"/>
                    </a:solidFill>
                  </a:tcPr>
                </a:tc>
                <a:extLst>
                  <a:ext uri="{0D108BD9-81ED-4DB2-BD59-A6C34878D82A}">
                    <a16:rowId xmlns:a16="http://schemas.microsoft.com/office/drawing/2014/main" val="10002"/>
                  </a:ext>
                </a:extLst>
              </a:tr>
              <a:tr h="457200">
                <a:tc>
                  <a:txBody>
                    <a:bodyPr/>
                    <a:lstStyle/>
                    <a:p>
                      <a:pPr algn="ctr"/>
                      <a:r>
                        <a:rPr sz="1600" b="0">
                          <a:solidFill>
                            <a:srgbClr val="242424"/>
                          </a:solidFill>
                          <a:latin typeface="Arial"/>
                          <a:ea typeface="Arial"/>
                          <a:cs typeface="Arial"/>
                        </a:rPr>
                        <a:t>LayerNorm</a:t>
                      </a:r>
                    </a:p>
                  </a:txBody>
                  <a:tcPr marL="95250" marR="95250" marT="47625" marB="47625" anchor="ctr">
                    <a:solidFill>
                      <a:srgbClr val="FFFFFF"/>
                    </a:solidFill>
                  </a:tcPr>
                </a:tc>
                <a:tc>
                  <a:txBody>
                    <a:bodyPr/>
                    <a:lstStyle/>
                    <a:p>
                      <a:pPr algn="ctr"/>
                      <a:r>
                        <a:rPr sz="1600" b="0">
                          <a:solidFill>
                            <a:srgbClr val="242424"/>
                          </a:solidFill>
                          <a:latin typeface="Arial"/>
                          <a:ea typeface="Arial"/>
                          <a:cs typeface="Arial"/>
                        </a:rPr>
                        <a:t>1.000×</a:t>
                      </a:r>
                    </a:p>
                  </a:txBody>
                  <a:tcPr marL="95250" marR="95250" marT="47625" marB="47625" anchor="ctr">
                    <a:solidFill>
                      <a:srgbClr val="FFFFFF"/>
                    </a:solidFill>
                  </a:tcPr>
                </a:tc>
                <a:tc>
                  <a:txBody>
                    <a:bodyPr/>
                    <a:lstStyle/>
                    <a:p>
                      <a:pPr algn="ctr"/>
                      <a:r>
                        <a:rPr sz="1600" b="0">
                          <a:solidFill>
                            <a:srgbClr val="242424"/>
                          </a:solidFill>
                          <a:latin typeface="Arial"/>
                          <a:ea typeface="Arial"/>
                          <a:cs typeface="Arial"/>
                        </a:rPr>
                        <a:t>1.2</a:t>
                      </a:r>
                    </a:p>
                  </a:txBody>
                  <a:tcPr marL="95250" marR="95250" marT="47625" marB="47625" anchor="ctr">
                    <a:solidFill>
                      <a:srgbClr val="FFFFFF"/>
                    </a:solidFill>
                  </a:tcPr>
                </a:tc>
                <a:tc>
                  <a:txBody>
                    <a:bodyPr/>
                    <a:lstStyle/>
                    <a:p>
                      <a:pPr algn="ctr"/>
                      <a:r>
                        <a:rPr sz="1600" b="0">
                          <a:solidFill>
                            <a:srgbClr val="242424"/>
                          </a:solidFill>
                          <a:latin typeface="Arial"/>
                          <a:ea typeface="Arial"/>
                          <a:cs typeface="Arial"/>
                        </a:rPr>
                        <a:t>1.020×</a:t>
                      </a:r>
                    </a:p>
                  </a:txBody>
                  <a:tcPr marL="95250" marR="95250" marT="47625" marB="47625" anchor="ctr">
                    <a:solidFill>
                      <a:srgbClr val="FFFFFF"/>
                    </a:solidFill>
                  </a:tcPr>
                </a:tc>
                <a:tc>
                  <a:txBody>
                    <a:bodyPr/>
                    <a:lstStyle/>
                    <a:p>
                      <a:pPr algn="ctr"/>
                      <a:r>
                        <a:rPr sz="1600" b="0">
                          <a:solidFill>
                            <a:srgbClr val="242424"/>
                          </a:solidFill>
                          <a:latin typeface="Arial"/>
                          <a:ea typeface="Arial"/>
                          <a:cs typeface="Arial"/>
                        </a:rPr>
                        <a:t>4.5</a:t>
                      </a:r>
                    </a:p>
                  </a:txBody>
                  <a:tcPr marL="95250" marR="95250" marT="47625" marB="47625" anchor="ctr">
                    <a:solidFill>
                      <a:srgbClr val="FFFFFF"/>
                    </a:solidFill>
                  </a:tcPr>
                </a:tc>
                <a:extLst>
                  <a:ext uri="{0D108BD9-81ED-4DB2-BD59-A6C34878D82A}">
                    <a16:rowId xmlns:a16="http://schemas.microsoft.com/office/drawing/2014/main" val="10003"/>
                  </a:ext>
                </a:extLst>
              </a:tr>
              <a:tr h="457200">
                <a:tc>
                  <a:txBody>
                    <a:bodyPr/>
                    <a:lstStyle/>
                    <a:p>
                      <a:pPr algn="ctr"/>
                      <a:r>
                        <a:rPr sz="1600" b="0">
                          <a:solidFill>
                            <a:srgbClr val="242424"/>
                          </a:solidFill>
                          <a:latin typeface="Arial"/>
                          <a:ea typeface="Arial"/>
                          <a:cs typeface="Arial"/>
                        </a:rPr>
                        <a:t>RMSNorm</a:t>
                      </a: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0.960×</a:t>
                      </a: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1.8</a:t>
                      </a:r>
                    </a:p>
                  </a:txBody>
                  <a:tcPr marL="95250" marR="95250" marT="47625" marB="47625" anchor="ctr">
                    <a:solidFill>
                      <a:srgbClr val="FAFAFA"/>
                    </a:solidFill>
                  </a:tcPr>
                </a:tc>
                <a:tc>
                  <a:txBody>
                    <a:bodyPr/>
                    <a:lstStyle/>
                    <a:p>
                      <a:pPr algn="ctr"/>
                      <a:r>
                        <a:rPr sz="1600" b="1" dirty="0" smtClean="0">
                          <a:solidFill>
                            <a:srgbClr val="004B9D"/>
                          </a:solidFill>
                          <a:latin typeface="Arial"/>
                          <a:ea typeface="Arial"/>
                          <a:cs typeface="Arial"/>
                        </a:rPr>
                        <a:t>1.</a:t>
                      </a:r>
                      <a:r>
                        <a:rPr lang="en-US" sz="1600" b="1" dirty="0" smtClean="0">
                          <a:solidFill>
                            <a:srgbClr val="004B9D"/>
                          </a:solidFill>
                          <a:latin typeface="Arial"/>
                          <a:ea typeface="Arial"/>
                          <a:cs typeface="Arial"/>
                        </a:rPr>
                        <a:t>21</a:t>
                      </a:r>
                      <a:r>
                        <a:rPr sz="1600" b="1" dirty="0" smtClean="0">
                          <a:solidFill>
                            <a:srgbClr val="004B9D"/>
                          </a:solidFill>
                          <a:latin typeface="Arial"/>
                          <a:ea typeface="Arial"/>
                          <a:cs typeface="Arial"/>
                        </a:rPr>
                        <a:t>0</a:t>
                      </a:r>
                      <a:r>
                        <a:rPr sz="1600" b="1" dirty="0">
                          <a:solidFill>
                            <a:srgbClr val="004B9D"/>
                          </a:solidFill>
                          <a:latin typeface="Arial"/>
                          <a:ea typeface="Arial"/>
                          <a:cs typeface="Arial"/>
                        </a:rPr>
                        <a:t>×</a:t>
                      </a:r>
                    </a:p>
                  </a:txBody>
                  <a:tcPr marL="95250" marR="95250" marT="47625" marB="47625" anchor="ctr">
                    <a:solidFill>
                      <a:srgbClr val="FAFAFA"/>
                    </a:solidFill>
                  </a:tcPr>
                </a:tc>
                <a:tc>
                  <a:txBody>
                    <a:bodyPr/>
                    <a:lstStyle/>
                    <a:p>
                      <a:pPr algn="ctr"/>
                      <a:r>
                        <a:rPr sz="1600" b="0">
                          <a:solidFill>
                            <a:srgbClr val="242424"/>
                          </a:solidFill>
                          <a:latin typeface="Arial"/>
                          <a:ea typeface="Arial"/>
                          <a:cs typeface="Arial"/>
                        </a:rPr>
                        <a:t>3.9</a:t>
                      </a:r>
                    </a:p>
                  </a:txBody>
                  <a:tcPr marL="95250" marR="95250" marT="47625" marB="47625" anchor="ctr">
                    <a:solidFill>
                      <a:srgbClr val="FAFAFA"/>
                    </a:solidFill>
                  </a:tcPr>
                </a:tc>
                <a:extLst>
                  <a:ext uri="{0D108BD9-81ED-4DB2-BD59-A6C34878D82A}">
                    <a16:rowId xmlns:a16="http://schemas.microsoft.com/office/drawing/2014/main" val="10004"/>
                  </a:ext>
                </a:extLst>
              </a:tr>
              <a:tr h="457200">
                <a:tc>
                  <a:txBody>
                    <a:bodyPr/>
                    <a:lstStyle/>
                    <a:p>
                      <a:pPr algn="ctr"/>
                      <a:r>
                        <a:rPr sz="1600" b="0" dirty="0">
                          <a:solidFill>
                            <a:srgbClr val="242424"/>
                          </a:solidFill>
                          <a:latin typeface="Arial"/>
                          <a:ea typeface="Arial"/>
                          <a:cs typeface="Arial"/>
                        </a:rPr>
                        <a:t>GELU</a:t>
                      </a:r>
                    </a:p>
                  </a:txBody>
                  <a:tcPr marL="95250" marR="95250" marT="47625" marB="47625" anchor="ctr">
                    <a:solidFill>
                      <a:srgbClr val="FFFFFF"/>
                    </a:solidFill>
                  </a:tcPr>
                </a:tc>
                <a:tc>
                  <a:txBody>
                    <a:bodyPr/>
                    <a:lstStyle/>
                    <a:p>
                      <a:pPr algn="ctr"/>
                      <a:r>
                        <a:rPr sz="1600" b="0">
                          <a:solidFill>
                            <a:srgbClr val="242424"/>
                          </a:solidFill>
                          <a:latin typeface="Arial"/>
                          <a:ea typeface="Arial"/>
                          <a:cs typeface="Arial"/>
                        </a:rPr>
                        <a:t>1.150×</a:t>
                      </a:r>
                    </a:p>
                  </a:txBody>
                  <a:tcPr marL="95250" marR="95250" marT="47625" marB="47625" anchor="ctr">
                    <a:solidFill>
                      <a:srgbClr val="FFFFFF"/>
                    </a:solidFill>
                  </a:tcPr>
                </a:tc>
                <a:tc>
                  <a:txBody>
                    <a:bodyPr/>
                    <a:lstStyle/>
                    <a:p>
                      <a:pPr algn="ctr"/>
                      <a:r>
                        <a:rPr sz="1600" b="0">
                          <a:solidFill>
                            <a:srgbClr val="242424"/>
                          </a:solidFill>
                          <a:latin typeface="Arial"/>
                          <a:ea typeface="Arial"/>
                          <a:cs typeface="Arial"/>
                        </a:rPr>
                        <a:t>1.6</a:t>
                      </a:r>
                    </a:p>
                  </a:txBody>
                  <a:tcPr marL="95250" marR="95250" marT="47625" marB="47625" anchor="ctr">
                    <a:solidFill>
                      <a:srgbClr val="FFFFFF"/>
                    </a:solidFill>
                  </a:tcPr>
                </a:tc>
                <a:tc>
                  <a:txBody>
                    <a:bodyPr/>
                    <a:lstStyle/>
                    <a:p>
                      <a:pPr algn="ctr"/>
                      <a:r>
                        <a:rPr sz="1600" b="1" dirty="0" smtClean="0">
                          <a:solidFill>
                            <a:srgbClr val="004B9D"/>
                          </a:solidFill>
                          <a:latin typeface="Arial"/>
                          <a:ea typeface="Arial"/>
                          <a:cs typeface="Arial"/>
                        </a:rPr>
                        <a:t>1.</a:t>
                      </a:r>
                      <a:r>
                        <a:rPr lang="en-US" sz="1600" b="1" dirty="0" smtClean="0">
                          <a:solidFill>
                            <a:srgbClr val="004B9D"/>
                          </a:solidFill>
                          <a:latin typeface="Arial"/>
                          <a:ea typeface="Arial"/>
                          <a:cs typeface="Arial"/>
                        </a:rPr>
                        <a:t>3</a:t>
                      </a:r>
                      <a:r>
                        <a:rPr sz="1600" b="1" dirty="0" smtClean="0">
                          <a:solidFill>
                            <a:srgbClr val="004B9D"/>
                          </a:solidFill>
                          <a:latin typeface="Arial"/>
                          <a:ea typeface="Arial"/>
                          <a:cs typeface="Arial"/>
                        </a:rPr>
                        <a:t>90</a:t>
                      </a:r>
                      <a:r>
                        <a:rPr sz="1600" b="1" dirty="0">
                          <a:solidFill>
                            <a:srgbClr val="004B9D"/>
                          </a:solidFill>
                          <a:latin typeface="Arial"/>
                          <a:ea typeface="Arial"/>
                          <a:cs typeface="Arial"/>
                        </a:rPr>
                        <a:t>×</a:t>
                      </a:r>
                    </a:p>
                  </a:txBody>
                  <a:tcPr marL="95250" marR="95250" marT="47625" marB="47625" anchor="ctr">
                    <a:solidFill>
                      <a:srgbClr val="FFFFFF"/>
                    </a:solidFill>
                  </a:tcPr>
                </a:tc>
                <a:tc>
                  <a:txBody>
                    <a:bodyPr/>
                    <a:lstStyle/>
                    <a:p>
                      <a:pPr algn="ctr"/>
                      <a:r>
                        <a:rPr sz="1600" b="0" dirty="0">
                          <a:solidFill>
                            <a:srgbClr val="242424"/>
                          </a:solidFill>
                          <a:latin typeface="Arial"/>
                          <a:ea typeface="Arial"/>
                          <a:cs typeface="Arial"/>
                        </a:rPr>
                        <a:t>4.0</a:t>
                      </a:r>
                    </a:p>
                  </a:txBody>
                  <a:tcPr marL="95250" marR="95250" marT="47625" marB="47625" anchor="ctr">
                    <a:solidFill>
                      <a:srgbClr val="FFFFFF"/>
                    </a:solidFill>
                  </a:tcPr>
                </a:tc>
                <a:extLst>
                  <a:ext uri="{0D108BD9-81ED-4DB2-BD59-A6C34878D82A}">
                    <a16:rowId xmlns:a16="http://schemas.microsoft.com/office/drawing/2014/main" val="10005"/>
                  </a:ext>
                </a:extLst>
              </a:tr>
            </a:tbl>
          </a:graphicData>
        </a:graphic>
      </p:graphicFrame>
      <p:sp>
        <p:nvSpPr>
          <p:cNvPr id="12" name="文本框 95"/>
          <p:cNvSpPr txBox="1"/>
          <p:nvPr/>
        </p:nvSpPr>
        <p:spPr>
          <a:xfrm>
            <a:off x="564803" y="5563245"/>
            <a:ext cx="4161214" cy="72327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endParaRPr lang="en-US" altLang="zh-CN" sz="1400" b="1" dirty="0" smtClean="0">
              <a:solidFill>
                <a:srgbClr val="004B9D"/>
              </a:solidFill>
              <a:latin typeface="微软雅黑" panose="020B0503020204020204" pitchFamily="34" charset="-122"/>
              <a:ea typeface="微软雅黑" panose="020B0503020204020204" pitchFamily="34" charset="-122"/>
              <a:sym typeface="+mn-ea"/>
            </a:endParaRPr>
          </a:p>
          <a:p>
            <a:pPr marL="285750" indent="-285750">
              <a:lnSpc>
                <a:spcPct val="150000"/>
              </a:lnSpc>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sym typeface="+mn-ea"/>
              </a:rPr>
              <a:t>开发时间提升</a:t>
            </a:r>
            <a:endParaRPr lang="en-US" altLang="zh-CN" b="1" dirty="0">
              <a:latin typeface="微软雅黑" panose="020B0503020204020204" pitchFamily="34" charset="-122"/>
              <a:ea typeface="微软雅黑" panose="020B0503020204020204" pitchFamily="34" charset="-122"/>
              <a:sym typeface="+mn-ea"/>
            </a:endParaRPr>
          </a:p>
        </p:txBody>
      </p:sp>
      <p:sp>
        <p:nvSpPr>
          <p:cNvPr id="13" name="相对 PyTorch 加速比；每个算子开发完成后随机测试 144 个 S">
            <a:extLst>
              <a:ext uri="{FF2B5EF4-FFF2-40B4-BE49-F238E27FC236}">
                <a16:creationId xmlns:a16="http://schemas.microsoft.com/office/drawing/2014/main" id="{0083EDA1-2D0D-49E5-BA69-AFB60404D1F1}"/>
              </a:ext>
            </a:extLst>
          </p:cNvPr>
          <p:cNvSpPr>
            <a:spLocks noGrp="1"/>
          </p:cNvSpPr>
          <p:nvPr/>
        </p:nvSpPr>
        <p:spPr>
          <a:xfrm>
            <a:off x="567172" y="4965055"/>
            <a:ext cx="5516996" cy="293390"/>
          </a:xfrm>
          <a:prstGeom prst="rect">
            <a:avLst/>
          </a:prstGeom>
          <a:noFill/>
          <a:ln w="0">
            <a:noFill/>
          </a:ln>
        </p:spPr>
        <p:txBody>
          <a:bodyPr wrap="square" lIns="0" tIns="0" rIns="0" bIns="0" anchor="ctr">
            <a:noAutofit/>
          </a:bodyPr>
          <a:lstStyle/>
          <a:p>
            <a:pPr algn="l">
              <a:lnSpc>
                <a:spcPct val="112000"/>
              </a:lnSpc>
              <a:buNone/>
              <a:defRPr sz="1200" b="0">
                <a:solidFill>
                  <a:srgbClr val="666666"/>
                </a:solidFill>
                <a:latin typeface="Microsoft YaHei"/>
                <a:ea typeface="Microsoft YaHei"/>
                <a:cs typeface="Microsoft YaHei"/>
              </a:defRPr>
            </a:pPr>
            <a:r>
              <a:rPr sz="1200" b="0" dirty="0" err="1">
                <a:solidFill>
                  <a:srgbClr val="666666"/>
                </a:solidFill>
                <a:latin typeface="Microsoft YaHei"/>
                <a:ea typeface="Microsoft YaHei"/>
                <a:cs typeface="Microsoft YaHei"/>
              </a:rPr>
              <a:t>相对</a:t>
            </a:r>
            <a:r>
              <a:rPr sz="1200" b="0" dirty="0">
                <a:solidFill>
                  <a:srgbClr val="666666"/>
                </a:solidFill>
                <a:latin typeface="Microsoft YaHei"/>
                <a:ea typeface="Microsoft YaHei"/>
                <a:cs typeface="Microsoft YaHei"/>
              </a:rPr>
              <a:t> </a:t>
            </a:r>
            <a:r>
              <a:rPr sz="1200" b="0" dirty="0" err="1">
                <a:solidFill>
                  <a:srgbClr val="666666"/>
                </a:solidFill>
                <a:latin typeface="Arial"/>
                <a:ea typeface="Arial"/>
                <a:cs typeface="Arial"/>
              </a:rPr>
              <a:t>PyTorch</a:t>
            </a:r>
            <a:r>
              <a:rPr sz="1200" b="0" dirty="0">
                <a:solidFill>
                  <a:srgbClr val="666666"/>
                </a:solidFill>
                <a:latin typeface="Arial"/>
                <a:ea typeface="Arial"/>
                <a:cs typeface="Arial"/>
              </a:rPr>
              <a:t> </a:t>
            </a:r>
            <a:r>
              <a:rPr sz="1200" b="0" dirty="0" err="1">
                <a:solidFill>
                  <a:srgbClr val="666666"/>
                </a:solidFill>
                <a:latin typeface="Microsoft YaHei"/>
                <a:ea typeface="Microsoft YaHei"/>
                <a:cs typeface="Microsoft YaHei"/>
              </a:rPr>
              <a:t>加速比</a:t>
            </a:r>
            <a:r>
              <a:rPr sz="1200" b="0" dirty="0" smtClean="0">
                <a:solidFill>
                  <a:srgbClr val="666666"/>
                </a:solidFill>
                <a:latin typeface="Microsoft YaHei"/>
                <a:ea typeface="Microsoft YaHei"/>
                <a:cs typeface="Microsoft YaHei"/>
              </a:rPr>
              <a:t>；</a:t>
            </a:r>
            <a:r>
              <a:rPr lang="zh-CN" altLang="en-US" sz="1200" b="0" dirty="0" smtClean="0">
                <a:solidFill>
                  <a:srgbClr val="666666"/>
                </a:solidFill>
                <a:latin typeface="Microsoft YaHei"/>
                <a:ea typeface="Microsoft YaHei"/>
                <a:cs typeface="Microsoft YaHei"/>
              </a:rPr>
              <a:t>动态方案</a:t>
            </a:r>
            <a:r>
              <a:rPr sz="1200" b="0" dirty="0" err="1" smtClean="0">
                <a:solidFill>
                  <a:srgbClr val="666666"/>
                </a:solidFill>
                <a:latin typeface="Microsoft YaHei"/>
                <a:ea typeface="Microsoft YaHei"/>
                <a:cs typeface="Microsoft YaHei"/>
              </a:rPr>
              <a:t>每个算子开发完成后随机测试</a:t>
            </a:r>
            <a:r>
              <a:rPr sz="1200" b="0" dirty="0" smtClean="0">
                <a:solidFill>
                  <a:srgbClr val="666666"/>
                </a:solidFill>
                <a:latin typeface="Microsoft YaHei"/>
                <a:ea typeface="Microsoft YaHei"/>
                <a:cs typeface="Microsoft YaHei"/>
              </a:rPr>
              <a:t> </a:t>
            </a:r>
            <a:r>
              <a:rPr sz="1200" b="0" dirty="0">
                <a:solidFill>
                  <a:srgbClr val="666666"/>
                </a:solidFill>
                <a:latin typeface="Arial"/>
                <a:ea typeface="Arial"/>
                <a:cs typeface="Arial"/>
              </a:rPr>
              <a:t>144 </a:t>
            </a:r>
            <a:r>
              <a:rPr sz="1200" b="0" dirty="0">
                <a:solidFill>
                  <a:srgbClr val="666666"/>
                </a:solidFill>
                <a:latin typeface="Microsoft YaHei"/>
                <a:ea typeface="Microsoft YaHei"/>
                <a:cs typeface="Microsoft YaHei"/>
              </a:rPr>
              <a:t>个 </a:t>
            </a:r>
            <a:r>
              <a:rPr sz="1200" b="0" dirty="0">
                <a:solidFill>
                  <a:srgbClr val="666666"/>
                </a:solidFill>
                <a:latin typeface="Arial"/>
                <a:ea typeface="Arial"/>
                <a:cs typeface="Arial"/>
              </a:rPr>
              <a:t>Shape</a:t>
            </a:r>
            <a:r>
              <a:rPr sz="1200" b="0" dirty="0">
                <a:solidFill>
                  <a:srgbClr val="666666"/>
                </a:solidFill>
                <a:latin typeface="Microsoft YaHei"/>
                <a:ea typeface="Microsoft YaHei"/>
                <a:cs typeface="Microsoft YaHei"/>
              </a:rPr>
              <a:t>。</a:t>
            </a:r>
          </a:p>
        </p:txBody>
      </p:sp>
      <p:sp>
        <p:nvSpPr>
          <p:cNvPr id="14" name="静态方案面向单一 Shape，动态方案面向目标 Shape 范围。">
            <a:extLst>
              <a:ext uri="{FF2B5EF4-FFF2-40B4-BE49-F238E27FC236}">
                <a16:creationId xmlns:a16="http://schemas.microsoft.com/office/drawing/2014/main" id="{B845302E-6E5B-4DA0-B669-B2EB6A8D04D6}"/>
              </a:ext>
            </a:extLst>
          </p:cNvPr>
          <p:cNvSpPr>
            <a:spLocks noGrp="1"/>
          </p:cNvSpPr>
          <p:nvPr/>
        </p:nvSpPr>
        <p:spPr>
          <a:xfrm>
            <a:off x="567173" y="5269855"/>
            <a:ext cx="4686672" cy="293390"/>
          </a:xfrm>
          <a:prstGeom prst="rect">
            <a:avLst/>
          </a:prstGeom>
          <a:noFill/>
          <a:ln w="0">
            <a:noFill/>
          </a:ln>
        </p:spPr>
        <p:txBody>
          <a:bodyPr wrap="square" lIns="0" tIns="0" rIns="0" bIns="0" anchor="ctr">
            <a:noAutofit/>
          </a:bodyPr>
          <a:lstStyle/>
          <a:p>
            <a:pPr algn="l">
              <a:lnSpc>
                <a:spcPct val="112000"/>
              </a:lnSpc>
              <a:buNone/>
              <a:defRPr sz="1200" b="0">
                <a:solidFill>
                  <a:srgbClr val="666666"/>
                </a:solidFill>
                <a:latin typeface="Microsoft YaHei"/>
                <a:ea typeface="Microsoft YaHei"/>
                <a:cs typeface="Microsoft YaHei"/>
              </a:defRPr>
            </a:pPr>
            <a:r>
              <a:rPr sz="1200" b="0" dirty="0" err="1">
                <a:solidFill>
                  <a:srgbClr val="666666"/>
                </a:solidFill>
                <a:latin typeface="Microsoft YaHei"/>
                <a:ea typeface="Microsoft YaHei"/>
                <a:cs typeface="Microsoft YaHei"/>
              </a:rPr>
              <a:t>静态方案面向单一</a:t>
            </a:r>
            <a:r>
              <a:rPr sz="1200" b="0" dirty="0">
                <a:solidFill>
                  <a:srgbClr val="666666"/>
                </a:solidFill>
                <a:latin typeface="Microsoft YaHei"/>
                <a:ea typeface="Microsoft YaHei"/>
                <a:cs typeface="Microsoft YaHei"/>
              </a:rPr>
              <a:t> </a:t>
            </a:r>
            <a:r>
              <a:rPr sz="1200" b="0" dirty="0" err="1">
                <a:solidFill>
                  <a:srgbClr val="666666"/>
                </a:solidFill>
                <a:latin typeface="Arial"/>
                <a:ea typeface="Arial"/>
                <a:cs typeface="Arial"/>
              </a:rPr>
              <a:t>Shape</a:t>
            </a:r>
            <a:r>
              <a:rPr sz="1200" b="0" dirty="0" err="1">
                <a:solidFill>
                  <a:srgbClr val="666666"/>
                </a:solidFill>
                <a:latin typeface="Microsoft YaHei"/>
                <a:ea typeface="Microsoft YaHei"/>
                <a:cs typeface="Microsoft YaHei"/>
              </a:rPr>
              <a:t>，动态方案面向目标</a:t>
            </a:r>
            <a:r>
              <a:rPr sz="1200" b="0" dirty="0">
                <a:solidFill>
                  <a:srgbClr val="666666"/>
                </a:solidFill>
                <a:latin typeface="Microsoft YaHei"/>
                <a:ea typeface="Microsoft YaHei"/>
                <a:cs typeface="Microsoft YaHei"/>
              </a:rPr>
              <a:t> </a:t>
            </a:r>
            <a:r>
              <a:rPr sz="1200" b="0" dirty="0">
                <a:solidFill>
                  <a:srgbClr val="666666"/>
                </a:solidFill>
                <a:latin typeface="Arial"/>
                <a:ea typeface="Arial"/>
                <a:cs typeface="Arial"/>
              </a:rPr>
              <a:t>Shape </a:t>
            </a:r>
            <a:r>
              <a:rPr sz="1200" b="0" dirty="0" err="1">
                <a:solidFill>
                  <a:srgbClr val="666666"/>
                </a:solidFill>
                <a:latin typeface="Microsoft YaHei"/>
                <a:ea typeface="Microsoft YaHei"/>
                <a:cs typeface="Microsoft YaHei"/>
              </a:rPr>
              <a:t>范围</a:t>
            </a:r>
            <a:r>
              <a:rPr sz="1200" b="0" dirty="0">
                <a:solidFill>
                  <a:srgbClr val="666666"/>
                </a:solidFill>
                <a:latin typeface="Microsoft YaHei"/>
                <a:ea typeface="Microsoft YaHei"/>
                <a:cs typeface="Microsoft YaHei"/>
              </a:rPr>
              <a:t>。</a:t>
            </a:r>
          </a:p>
        </p:txBody>
      </p:sp>
      <p:sp>
        <p:nvSpPr>
          <p:cNvPr id="3" name="矩形 2"/>
          <p:cNvSpPr/>
          <p:nvPr/>
        </p:nvSpPr>
        <p:spPr>
          <a:xfrm>
            <a:off x="2953586" y="5771883"/>
            <a:ext cx="5526360" cy="507831"/>
          </a:xfrm>
          <a:prstGeom prst="rect">
            <a:avLst/>
          </a:prstGeom>
        </p:spPr>
        <p:txBody>
          <a:bodyPr wrap="square">
            <a:spAutoFit/>
          </a:bodyPr>
          <a:lstStyle/>
          <a:p>
            <a:pPr marL="285750" indent="-285750">
              <a:lnSpc>
                <a:spcPct val="150000"/>
              </a:lnSpc>
              <a:buFont typeface="Wingdings" panose="05000000000000000000" pitchFamily="2" charset="2"/>
              <a:buChar char="Ø"/>
            </a:pPr>
            <a:r>
              <a:rPr lang="zh-CN" altLang="en-US" b="1" dirty="0">
                <a:latin typeface="微软雅黑" panose="020B0503020204020204" pitchFamily="34" charset="-122"/>
                <a:ea typeface="微软雅黑" panose="020B0503020204020204" pitchFamily="34" charset="-122"/>
                <a:sym typeface="+mn-ea"/>
              </a:rPr>
              <a:t>动态</a:t>
            </a:r>
            <a:r>
              <a:rPr lang="en-US" altLang="zh-CN" b="1" dirty="0">
                <a:latin typeface="微软雅黑" panose="020B0503020204020204" pitchFamily="34" charset="-122"/>
                <a:ea typeface="微软雅黑" panose="020B0503020204020204" pitchFamily="34" charset="-122"/>
                <a:sym typeface="+mn-ea"/>
              </a:rPr>
              <a:t>shape</a:t>
            </a:r>
            <a:r>
              <a:rPr lang="zh-CN" altLang="en-US" b="1" dirty="0">
                <a:latin typeface="微软雅黑" panose="020B0503020204020204" pitchFamily="34" charset="-122"/>
                <a:ea typeface="微软雅黑" panose="020B0503020204020204" pitchFamily="34" charset="-122"/>
                <a:sym typeface="+mn-ea"/>
              </a:rPr>
              <a:t>的平均性能反而超过了静态</a:t>
            </a:r>
            <a:r>
              <a:rPr lang="en-US" altLang="zh-CN" b="1" dirty="0">
                <a:latin typeface="微软雅黑" panose="020B0503020204020204" pitchFamily="34" charset="-122"/>
                <a:ea typeface="微软雅黑" panose="020B0503020204020204" pitchFamily="34" charset="-122"/>
                <a:sym typeface="+mn-ea"/>
              </a:rPr>
              <a:t>shape</a:t>
            </a:r>
            <a:r>
              <a:rPr lang="zh-CN" altLang="en-US" b="1" dirty="0">
                <a:latin typeface="微软雅黑" panose="020B0503020204020204" pitchFamily="34" charset="-122"/>
                <a:ea typeface="微软雅黑" panose="020B0503020204020204" pitchFamily="34" charset="-122"/>
                <a:sym typeface="+mn-ea"/>
              </a:rPr>
              <a:t>。</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83" name="矩形 82"/>
          <p:cNvSpPr/>
          <p:nvPr/>
        </p:nvSpPr>
        <p:spPr>
          <a:xfrm>
            <a:off x="1510903" y="6597079"/>
            <a:ext cx="6589489" cy="219291"/>
          </a:xfrm>
          <a:prstGeom prst="rect">
            <a:avLst/>
          </a:prstGeom>
        </p:spPr>
        <p:txBody>
          <a:bodyPr wrap="square">
            <a:spAutoFit/>
          </a:bodyPr>
          <a:lstStyle/>
          <a:p>
            <a:r>
              <a:rPr lang="en-US" altLang="zh-CN" sz="825" dirty="0">
                <a:solidFill>
                  <a:schemeClr val="tx1">
                    <a:lumMod val="65000"/>
                    <a:lumOff val="35000"/>
                  </a:schemeClr>
                </a:solidFill>
                <a:latin typeface="Times New Roman" panose="02020603050405020304" pitchFamily="18" charset="0"/>
                <a:cs typeface="Times New Roman" panose="02020603050405020304" pitchFamily="18" charset="0"/>
              </a:rPr>
              <a:t>Hong, D. B.; Imani, A.; Ahmed, I. “From Anatomy to Smells: An Empirical Study of SKILL.md in Agent Skills.” arXiv:2607.01456, 2026.</a:t>
            </a: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21</a:t>
            </a:fld>
            <a:endParaRPr lang="zh-CN" altLang="en-US"/>
          </a:p>
        </p:txBody>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三、</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Skill</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修改后验证成本高</a:t>
            </a:r>
            <a:endParaRPr lang="zh-CN" altLang="en-US" sz="1575" b="1" dirty="0">
              <a:solidFill>
                <a:srgbClr val="000000"/>
              </a:solidFill>
              <a:latin typeface="Times New Roman" panose="02020603050405020304" pitchFamily="18" charset="0"/>
              <a:cs typeface="Times New Roman" panose="02020603050405020304" pitchFamily="18" charset="0"/>
            </a:endParaRPr>
          </a:p>
        </p:txBody>
      </p:sp>
      <p:sp>
        <p:nvSpPr>
          <p:cNvPr id="38"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39" name="矩形 38"/>
          <p:cNvSpPr/>
          <p:nvPr/>
        </p:nvSpPr>
        <p:spPr>
          <a:xfrm>
            <a:off x="535263" y="1799789"/>
            <a:ext cx="8430513"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solidFill>
                  <a:srgbClr val="FF0000"/>
                </a:solidFill>
                <a:latin typeface="Times New Roman" panose="02020603050405020304" pitchFamily="18" charset="0"/>
                <a:cs typeface="Times New Roman" panose="02020603050405020304" pitchFamily="18" charset="0"/>
              </a:rPr>
              <a:t>原</a:t>
            </a:r>
            <a:r>
              <a:rPr lang="en-US" altLang="zh-CN" b="1" dirty="0">
                <a:solidFill>
                  <a:srgbClr val="FF0000"/>
                </a:solidFill>
                <a:latin typeface="Times New Roman" panose="02020603050405020304" pitchFamily="18" charset="0"/>
                <a:cs typeface="Times New Roman" panose="02020603050405020304" pitchFamily="18" charset="0"/>
              </a:rPr>
              <a:t>Skill</a:t>
            </a:r>
            <a:r>
              <a:rPr lang="zh-CN" altLang="en-US" b="1" dirty="0">
                <a:solidFill>
                  <a:srgbClr val="FF0000"/>
                </a:solidFill>
                <a:latin typeface="Times New Roman" panose="02020603050405020304" pitchFamily="18" charset="0"/>
                <a:cs typeface="Times New Roman" panose="02020603050405020304" pitchFamily="18" charset="0"/>
              </a:rPr>
              <a:t>没有修改验证机制：</a:t>
            </a:r>
            <a:r>
              <a:rPr lang="zh-CN" altLang="en-US" b="1" dirty="0">
                <a:solidFill>
                  <a:srgbClr val="242424"/>
                </a:solidFill>
                <a:latin typeface="Times New Roman" panose="02020603050405020304" pitchFamily="18" charset="0"/>
                <a:cs typeface="Times New Roman" panose="02020603050405020304" pitchFamily="18" charset="0"/>
              </a:rPr>
              <a:t>对</a:t>
            </a:r>
            <a:r>
              <a:rPr lang="en-US" altLang="zh-CN" b="1" dirty="0">
                <a:solidFill>
                  <a:srgbClr val="242424"/>
                </a:solidFill>
                <a:latin typeface="Times New Roman" panose="02020603050405020304" pitchFamily="18" charset="0"/>
                <a:cs typeface="Times New Roman" panose="02020603050405020304" pitchFamily="18" charset="0"/>
              </a:rPr>
              <a:t>skill</a:t>
            </a:r>
            <a:r>
              <a:rPr lang="zh-CN" altLang="en-US" b="1" dirty="0">
                <a:solidFill>
                  <a:srgbClr val="242424"/>
                </a:solidFill>
                <a:latin typeface="Times New Roman" panose="02020603050405020304" pitchFamily="18" charset="0"/>
                <a:cs typeface="Times New Roman" panose="02020603050405020304" pitchFamily="18" charset="0"/>
              </a:rPr>
              <a:t>进行简单修改后，需要重新跑一遍算子开发验证</a:t>
            </a:r>
          </a:p>
        </p:txBody>
      </p:sp>
      <p:sp>
        <p:nvSpPr>
          <p:cNvPr id="75" name="矩形 74"/>
          <p:cNvSpPr/>
          <p:nvPr/>
        </p:nvSpPr>
        <p:spPr>
          <a:xfrm>
            <a:off x="535263" y="2745561"/>
            <a:ext cx="3185487"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优化①：建立三阶段验证机制</a:t>
            </a:r>
          </a:p>
        </p:txBody>
      </p:sp>
      <p:graphicFrame>
        <p:nvGraphicFramePr>
          <p:cNvPr id="76" name="表格 75"/>
          <p:cNvGraphicFramePr/>
          <p:nvPr>
            <p:extLst>
              <p:ext uri="{D42A27DB-BD31-4B8C-83A1-F6EECF244321}">
                <p14:modId xmlns:p14="http://schemas.microsoft.com/office/powerpoint/2010/main" val="4174119209"/>
              </p:ext>
            </p:extLst>
          </p:nvPr>
        </p:nvGraphicFramePr>
        <p:xfrm>
          <a:off x="1043608" y="3401999"/>
          <a:ext cx="7166804" cy="2426516"/>
        </p:xfrm>
        <a:graphic>
          <a:graphicData uri="http://schemas.openxmlformats.org/drawingml/2006/table">
            <a:tbl>
              <a:tblPr/>
              <a:tblGrid>
                <a:gridCol w="887399">
                  <a:extLst>
                    <a:ext uri="{9D8B030D-6E8A-4147-A177-3AD203B41FA5}">
                      <a16:colId xmlns:a16="http://schemas.microsoft.com/office/drawing/2014/main" val="20000"/>
                    </a:ext>
                  </a:extLst>
                </a:gridCol>
                <a:gridCol w="4098939">
                  <a:extLst>
                    <a:ext uri="{9D8B030D-6E8A-4147-A177-3AD203B41FA5}">
                      <a16:colId xmlns:a16="http://schemas.microsoft.com/office/drawing/2014/main" val="20001"/>
                    </a:ext>
                  </a:extLst>
                </a:gridCol>
                <a:gridCol w="2180466">
                  <a:extLst>
                    <a:ext uri="{9D8B030D-6E8A-4147-A177-3AD203B41FA5}">
                      <a16:colId xmlns:a16="http://schemas.microsoft.com/office/drawing/2014/main" val="20002"/>
                    </a:ext>
                  </a:extLst>
                </a:gridCol>
              </a:tblGrid>
              <a:tr h="606629">
                <a:tc>
                  <a:txBody>
                    <a:bodyPr/>
                    <a:lstStyle/>
                    <a:p>
                      <a:pPr algn="ctr"/>
                      <a:r>
                        <a:rPr sz="1400" b="1" dirty="0" err="1">
                          <a:solidFill>
                            <a:srgbClr val="242424"/>
                          </a:solidFill>
                          <a:latin typeface="Microsoft YaHei"/>
                          <a:ea typeface="Microsoft YaHei"/>
                          <a:cs typeface="Microsoft YaHei"/>
                        </a:rPr>
                        <a:t>层级</a:t>
                      </a:r>
                      <a:endParaRPr sz="1400" b="1" dirty="0">
                        <a:solidFill>
                          <a:srgbClr val="242424"/>
                        </a:solidFill>
                        <a:latin typeface="Microsoft YaHei"/>
                        <a:ea typeface="Microsoft YaHei"/>
                        <a:cs typeface="Microsoft YaHei"/>
                      </a:endParaRPr>
                    </a:p>
                  </a:txBody>
                  <a:tcPr marL="95250" marR="95250" marT="47625" marB="47625" anchor="ctr">
                    <a:solidFill>
                      <a:srgbClr val="EDF3FA"/>
                    </a:solidFill>
                  </a:tcPr>
                </a:tc>
                <a:tc>
                  <a:txBody>
                    <a:bodyPr/>
                    <a:lstStyle/>
                    <a:p>
                      <a:pPr algn="ctr"/>
                      <a:r>
                        <a:rPr sz="1500" b="1" dirty="0" err="1">
                          <a:solidFill>
                            <a:srgbClr val="242424"/>
                          </a:solidFill>
                          <a:latin typeface="Microsoft YaHei"/>
                          <a:ea typeface="Microsoft YaHei"/>
                          <a:cs typeface="Microsoft YaHei"/>
                        </a:rPr>
                        <a:t>验证内容与成本</a:t>
                      </a:r>
                      <a:endParaRPr sz="1500" b="1" dirty="0">
                        <a:solidFill>
                          <a:srgbClr val="242424"/>
                        </a:solidFill>
                        <a:latin typeface="Microsoft YaHei"/>
                        <a:ea typeface="Microsoft YaHei"/>
                        <a:cs typeface="Microsoft YaHei"/>
                      </a:endParaRPr>
                    </a:p>
                  </a:txBody>
                  <a:tcPr marL="95250" marR="95250" marT="47625" marB="47625" anchor="ctr">
                    <a:solidFill>
                      <a:srgbClr val="EDF3FA"/>
                    </a:solidFill>
                  </a:tcPr>
                </a:tc>
                <a:tc>
                  <a:txBody>
                    <a:bodyPr/>
                    <a:lstStyle/>
                    <a:p>
                      <a:pPr algn="ctr"/>
                      <a:r>
                        <a:rPr lang="zh-CN" altLang="en-US" sz="1500" b="1" dirty="0">
                          <a:solidFill>
                            <a:srgbClr val="242424"/>
                          </a:solidFill>
                          <a:latin typeface="Microsoft YaHei"/>
                          <a:ea typeface="Microsoft YaHei"/>
                          <a:cs typeface="Microsoft YaHei"/>
                        </a:rPr>
                        <a:t>成本</a:t>
                      </a:r>
                      <a:endParaRPr sz="1500" b="1" dirty="0">
                        <a:solidFill>
                          <a:srgbClr val="242424"/>
                        </a:solidFill>
                        <a:latin typeface="Microsoft YaHei"/>
                        <a:ea typeface="Microsoft YaHei"/>
                        <a:cs typeface="Microsoft YaHei"/>
                      </a:endParaRPr>
                    </a:p>
                  </a:txBody>
                  <a:tcPr marL="95250" marR="95250" marT="47625" marB="47625" anchor="ctr">
                    <a:solidFill>
                      <a:srgbClr val="EDF3FA"/>
                    </a:solidFill>
                  </a:tcPr>
                </a:tc>
                <a:extLst>
                  <a:ext uri="{0D108BD9-81ED-4DB2-BD59-A6C34878D82A}">
                    <a16:rowId xmlns:a16="http://schemas.microsoft.com/office/drawing/2014/main" val="10000"/>
                  </a:ext>
                </a:extLst>
              </a:tr>
              <a:tr h="606629">
                <a:tc>
                  <a:txBody>
                    <a:bodyPr/>
                    <a:lstStyle/>
                    <a:p>
                      <a:pPr algn="ctr"/>
                      <a:r>
                        <a:rPr sz="1500" b="1">
                          <a:solidFill>
                            <a:srgbClr val="004B9D"/>
                          </a:solidFill>
                          <a:latin typeface="Arial"/>
                          <a:ea typeface="Arial"/>
                          <a:cs typeface="Arial"/>
                        </a:rPr>
                        <a:t>L1</a:t>
                      </a:r>
                    </a:p>
                  </a:txBody>
                  <a:tcPr marL="95250" marR="95250" marT="47625" marB="47625" anchor="ctr">
                    <a:solidFill>
                      <a:srgbClr val="FFFFFF"/>
                    </a:solidFill>
                  </a:tcPr>
                </a:tc>
                <a:tc>
                  <a:txBody>
                    <a:bodyPr/>
                    <a:lstStyle/>
                    <a:p>
                      <a:pPr algn="ctr"/>
                      <a:r>
                        <a:rPr sz="1500" b="0" dirty="0" err="1">
                          <a:solidFill>
                            <a:srgbClr val="242424"/>
                          </a:solidFill>
                          <a:latin typeface="Microsoft YaHei"/>
                          <a:ea typeface="Microsoft YaHei"/>
                          <a:cs typeface="Microsoft YaHei"/>
                        </a:rPr>
                        <a:t>静态结构验证</a:t>
                      </a:r>
                      <a:endParaRPr sz="1500" b="0" dirty="0">
                        <a:solidFill>
                          <a:srgbClr val="242424"/>
                        </a:solidFill>
                        <a:latin typeface="Microsoft YaHei"/>
                        <a:ea typeface="Microsoft YaHei"/>
                        <a:cs typeface="Microsoft YaHei"/>
                      </a:endParaRPr>
                    </a:p>
                    <a:p>
                      <a:pPr algn="ctr"/>
                      <a:r>
                        <a:rPr lang="en-US" altLang="zh-CN" sz="1500" b="0" dirty="0">
                          <a:solidFill>
                            <a:srgbClr val="242424"/>
                          </a:solidFill>
                          <a:latin typeface="Microsoft YaHei"/>
                          <a:ea typeface="Microsoft YaHei"/>
                          <a:cs typeface="Microsoft YaHei"/>
                        </a:rPr>
                        <a:t>Markdown </a:t>
                      </a:r>
                      <a:r>
                        <a:rPr lang="zh-CN" altLang="en-US" sz="1500" b="0" dirty="0">
                          <a:solidFill>
                            <a:srgbClr val="242424"/>
                          </a:solidFill>
                          <a:latin typeface="Microsoft YaHei"/>
                          <a:ea typeface="Microsoft YaHei"/>
                          <a:cs typeface="Microsoft YaHei"/>
                        </a:rPr>
                        <a:t>规则，平台说明更新</a:t>
                      </a:r>
                    </a:p>
                  </a:txBody>
                  <a:tcPr marL="95250" marR="95250" marT="47625" marB="47625" anchor="ctr">
                    <a:solidFill>
                      <a:srgbClr val="FFFFFF"/>
                    </a:solidFill>
                  </a:tcPr>
                </a:tc>
                <a:tc>
                  <a:txBody>
                    <a:bodyPr/>
                    <a:lstStyle/>
                    <a:p>
                      <a:pPr algn="ctr"/>
                      <a:r>
                        <a:rPr lang="zh-CN" altLang="en-US" sz="1500" b="1" dirty="0">
                          <a:solidFill>
                            <a:srgbClr val="004B9D"/>
                          </a:solidFill>
                          <a:latin typeface="Arial"/>
                          <a:ea typeface="Arial"/>
                          <a:cs typeface="Arial"/>
                        </a:rPr>
                        <a:t>分钟级</a:t>
                      </a:r>
                      <a:endParaRPr sz="1500" b="1" dirty="0">
                        <a:solidFill>
                          <a:srgbClr val="004B9D"/>
                        </a:solidFill>
                        <a:latin typeface="Arial"/>
                        <a:ea typeface="Arial"/>
                        <a:cs typeface="Arial"/>
                      </a:endParaRPr>
                    </a:p>
                  </a:txBody>
                  <a:tcPr marL="95250" marR="95250" marT="47625" marB="47625" anchor="ctr">
                    <a:solidFill>
                      <a:srgbClr val="FFFFFF"/>
                    </a:solidFill>
                  </a:tcPr>
                </a:tc>
                <a:extLst>
                  <a:ext uri="{0D108BD9-81ED-4DB2-BD59-A6C34878D82A}">
                    <a16:rowId xmlns:a16="http://schemas.microsoft.com/office/drawing/2014/main" val="10001"/>
                  </a:ext>
                </a:extLst>
              </a:tr>
              <a:tr h="606629">
                <a:tc>
                  <a:txBody>
                    <a:bodyPr/>
                    <a:lstStyle/>
                    <a:p>
                      <a:pPr algn="ctr"/>
                      <a:r>
                        <a:rPr sz="1500" b="1">
                          <a:solidFill>
                            <a:srgbClr val="004B9D"/>
                          </a:solidFill>
                          <a:latin typeface="Arial"/>
                          <a:ea typeface="Arial"/>
                          <a:cs typeface="Arial"/>
                        </a:rPr>
                        <a:t>L2</a:t>
                      </a:r>
                    </a:p>
                  </a:txBody>
                  <a:tcPr marL="95250" marR="95250" marT="47625" marB="47625" anchor="ctr">
                    <a:solidFill>
                      <a:srgbClr val="FAFAFA"/>
                    </a:solidFill>
                  </a:tcPr>
                </a:tc>
                <a:tc>
                  <a:txBody>
                    <a:bodyPr/>
                    <a:lstStyle/>
                    <a:p>
                      <a:pPr algn="ctr"/>
                      <a:r>
                        <a:rPr sz="1500" b="0" dirty="0">
                          <a:solidFill>
                            <a:srgbClr val="242424"/>
                          </a:solidFill>
                          <a:latin typeface="Arial"/>
                          <a:ea typeface="Arial"/>
                          <a:cs typeface="Arial"/>
                        </a:rPr>
                        <a:t>Workflow </a:t>
                      </a:r>
                      <a:r>
                        <a:rPr sz="1500" b="0" dirty="0" err="1">
                          <a:solidFill>
                            <a:srgbClr val="242424"/>
                          </a:solidFill>
                          <a:latin typeface="Microsoft YaHei"/>
                          <a:ea typeface="Microsoft YaHei"/>
                          <a:cs typeface="Microsoft YaHei"/>
                        </a:rPr>
                        <a:t>行为验证</a:t>
                      </a:r>
                      <a:endParaRPr sz="1500" b="0" dirty="0">
                        <a:solidFill>
                          <a:srgbClr val="242424"/>
                        </a:solidFill>
                        <a:latin typeface="Microsoft YaHei"/>
                        <a:ea typeface="Microsoft YaHei"/>
                        <a:cs typeface="Microsoft YaHei"/>
                      </a:endParaRPr>
                    </a:p>
                    <a:p>
                      <a:pPr algn="ctr"/>
                      <a:r>
                        <a:rPr lang="zh-CN" altLang="en-US" sz="1500" b="0" dirty="0" smtClean="0">
                          <a:solidFill>
                            <a:srgbClr val="242424"/>
                          </a:solidFill>
                          <a:latin typeface="Microsoft YaHei"/>
                          <a:ea typeface="Microsoft YaHei"/>
                          <a:cs typeface="Microsoft YaHei"/>
                        </a:rPr>
                        <a:t>阶段调用</a:t>
                      </a:r>
                      <a:r>
                        <a:rPr sz="1500" b="0" dirty="0" smtClean="0">
                          <a:solidFill>
                            <a:srgbClr val="242424"/>
                          </a:solidFill>
                          <a:latin typeface="Microsoft YaHei"/>
                          <a:ea typeface="Microsoft YaHei"/>
                          <a:cs typeface="Microsoft YaHei"/>
                        </a:rPr>
                        <a:t>，</a:t>
                      </a:r>
                      <a:r>
                        <a:rPr sz="1500" b="0" dirty="0" err="1">
                          <a:solidFill>
                            <a:srgbClr val="242424"/>
                          </a:solidFill>
                          <a:latin typeface="Microsoft YaHei"/>
                          <a:ea typeface="Microsoft YaHei"/>
                          <a:cs typeface="Microsoft YaHei"/>
                        </a:rPr>
                        <a:t>检查流程是否按预期工作</a:t>
                      </a:r>
                      <a:endParaRPr sz="1500" b="0" dirty="0">
                        <a:solidFill>
                          <a:srgbClr val="242424"/>
                        </a:solidFill>
                        <a:latin typeface="Microsoft YaHei"/>
                        <a:ea typeface="Microsoft YaHei"/>
                        <a:cs typeface="Microsoft YaHei"/>
                      </a:endParaRPr>
                    </a:p>
                  </a:txBody>
                  <a:tcPr marL="95250" marR="95250" marT="47625" marB="47625" anchor="ctr">
                    <a:solidFill>
                      <a:srgbClr val="FAFAFA"/>
                    </a:solidFill>
                  </a:tcPr>
                </a:tc>
                <a:tc>
                  <a:txBody>
                    <a:bodyPr/>
                    <a:lstStyle/>
                    <a:p>
                      <a:pPr algn="ctr"/>
                      <a:r>
                        <a:rPr lang="zh-CN" altLang="en-US" sz="1500" b="1" dirty="0">
                          <a:solidFill>
                            <a:srgbClr val="004B9D"/>
                          </a:solidFill>
                          <a:latin typeface="Arial"/>
                          <a:ea typeface="Arial"/>
                          <a:cs typeface="Arial"/>
                        </a:rPr>
                        <a:t>十分钟级</a:t>
                      </a:r>
                      <a:endParaRPr sz="1500" b="1" dirty="0">
                        <a:solidFill>
                          <a:srgbClr val="004B9D"/>
                        </a:solidFill>
                        <a:latin typeface="Arial"/>
                        <a:ea typeface="Arial"/>
                        <a:cs typeface="Arial"/>
                      </a:endParaRPr>
                    </a:p>
                  </a:txBody>
                  <a:tcPr marL="95250" marR="95250" marT="47625" marB="47625" anchor="ctr">
                    <a:solidFill>
                      <a:srgbClr val="FAFAFA"/>
                    </a:solidFill>
                  </a:tcPr>
                </a:tc>
                <a:extLst>
                  <a:ext uri="{0D108BD9-81ED-4DB2-BD59-A6C34878D82A}">
                    <a16:rowId xmlns:a16="http://schemas.microsoft.com/office/drawing/2014/main" val="10002"/>
                  </a:ext>
                </a:extLst>
              </a:tr>
              <a:tr h="606629">
                <a:tc>
                  <a:txBody>
                    <a:bodyPr/>
                    <a:lstStyle/>
                    <a:p>
                      <a:pPr algn="ctr"/>
                      <a:r>
                        <a:rPr sz="1500" b="1" dirty="0">
                          <a:solidFill>
                            <a:srgbClr val="004B9D"/>
                          </a:solidFill>
                          <a:latin typeface="Arial"/>
                          <a:ea typeface="Arial"/>
                          <a:cs typeface="Arial"/>
                        </a:rPr>
                        <a:t>L3</a:t>
                      </a:r>
                    </a:p>
                  </a:txBody>
                  <a:tcPr marL="95250" marR="95250" marT="47625" marB="47625" anchor="ctr">
                    <a:solidFill>
                      <a:srgbClr val="FFFFFF"/>
                    </a:solidFill>
                  </a:tcPr>
                </a:tc>
                <a:tc>
                  <a:txBody>
                    <a:bodyPr/>
                    <a:lstStyle/>
                    <a:p>
                      <a:pPr algn="ctr"/>
                      <a:r>
                        <a:rPr sz="1500" b="0" dirty="0" err="1">
                          <a:solidFill>
                            <a:srgbClr val="242424"/>
                          </a:solidFill>
                          <a:latin typeface="Microsoft YaHei"/>
                          <a:ea typeface="Microsoft YaHei"/>
                          <a:cs typeface="Microsoft YaHei"/>
                        </a:rPr>
                        <a:t>真实算子开发验证</a:t>
                      </a:r>
                      <a:endParaRPr sz="1500" b="0" dirty="0">
                        <a:solidFill>
                          <a:srgbClr val="242424"/>
                        </a:solidFill>
                        <a:latin typeface="Microsoft YaHei"/>
                        <a:ea typeface="Microsoft YaHei"/>
                        <a:cs typeface="Microsoft YaHei"/>
                      </a:endParaRPr>
                    </a:p>
                    <a:p>
                      <a:pPr algn="ctr"/>
                      <a:r>
                        <a:rPr lang="zh-CN" altLang="en-US" sz="1500" b="0" dirty="0" smtClean="0">
                          <a:solidFill>
                            <a:srgbClr val="242424"/>
                          </a:solidFill>
                          <a:latin typeface="Microsoft YaHei"/>
                          <a:ea typeface="Microsoft YaHei"/>
                          <a:cs typeface="Microsoft YaHei"/>
                        </a:rPr>
                        <a:t>代码生成</a:t>
                      </a:r>
                      <a:r>
                        <a:rPr sz="1500" b="0" dirty="0" smtClean="0">
                          <a:solidFill>
                            <a:srgbClr val="242424"/>
                          </a:solidFill>
                          <a:latin typeface="Microsoft YaHei"/>
                          <a:ea typeface="Microsoft YaHei"/>
                          <a:cs typeface="Microsoft YaHei"/>
                        </a:rPr>
                        <a:t>，</a:t>
                      </a:r>
                      <a:r>
                        <a:rPr sz="1500" b="0" dirty="0" err="1">
                          <a:solidFill>
                            <a:srgbClr val="242424"/>
                          </a:solidFill>
                          <a:latin typeface="Microsoft YaHei"/>
                          <a:ea typeface="Microsoft YaHei"/>
                          <a:cs typeface="Microsoft YaHei"/>
                        </a:rPr>
                        <a:t>验证算子开发策略相关修改</a:t>
                      </a:r>
                      <a:endParaRPr sz="1500" b="0" dirty="0">
                        <a:solidFill>
                          <a:srgbClr val="242424"/>
                        </a:solidFill>
                        <a:latin typeface="Microsoft YaHei"/>
                        <a:ea typeface="Microsoft YaHei"/>
                        <a:cs typeface="Microsoft YaHei"/>
                      </a:endParaRPr>
                    </a:p>
                  </a:txBody>
                  <a:tcPr marL="95250" marR="95250" marT="47625" marB="47625" anchor="ctr">
                    <a:solidFill>
                      <a:srgbClr val="FFFFFF"/>
                    </a:solidFill>
                  </a:tcPr>
                </a:tc>
                <a:tc>
                  <a:txBody>
                    <a:bodyPr/>
                    <a:lstStyle/>
                    <a:p>
                      <a:pPr algn="ctr"/>
                      <a:r>
                        <a:rPr lang="zh-CN" altLang="en-US" sz="1500" b="1" dirty="0">
                          <a:solidFill>
                            <a:srgbClr val="004B9D"/>
                          </a:solidFill>
                          <a:latin typeface="Arial"/>
                          <a:ea typeface="Arial"/>
                          <a:cs typeface="Arial"/>
                        </a:rPr>
                        <a:t>小时级</a:t>
                      </a:r>
                      <a:endParaRPr sz="1500" b="1" dirty="0">
                        <a:solidFill>
                          <a:srgbClr val="004B9D"/>
                        </a:solidFill>
                        <a:latin typeface="Arial"/>
                        <a:ea typeface="Arial"/>
                        <a:cs typeface="Arial"/>
                      </a:endParaRPr>
                    </a:p>
                  </a:txBody>
                  <a:tcPr marL="95250" marR="95250" marT="47625" marB="47625"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62532190"/>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panose="020B0604020202020204"/>
                <a:ea typeface="Arial" panose="020B0604020202020204"/>
                <a:cs typeface="Arial" panose="020B0604020202020204"/>
              </a:defRPr>
            </a:pPr>
            <a:r>
              <a:rPr lang="zh-CN" altLang="en-US" dirty="0">
                <a:latin typeface="Times New Roman" panose="02020603050405020304" pitchFamily="18" charset="0"/>
                <a:ea typeface="+mn-ea"/>
                <a:cs typeface="Times New Roman" panose="02020603050405020304" pitchFamily="18" charset="0"/>
              </a:rPr>
              <a:t>实习任务二</a:t>
            </a:r>
            <a:r>
              <a:rPr sz="1950" dirty="0">
                <a:solidFill>
                  <a:srgbClr val="000000"/>
                </a:solidFill>
                <a:latin typeface="Times New Roman" panose="02020603050405020304" pitchFamily="18" charset="0"/>
                <a:ea typeface="+mn-ea"/>
                <a:cs typeface="Times New Roman" panose="02020603050405020304" pitchFamily="18" charset="0"/>
              </a:rPr>
              <a:t>：</a:t>
            </a:r>
            <a:r>
              <a:rPr lang="zh-CN" altLang="en-US" dirty="0">
                <a:latin typeface="Times New Roman" panose="02020603050405020304" pitchFamily="18" charset="0"/>
                <a:ea typeface="+mn-ea"/>
                <a:cs typeface="Times New Roman" panose="02020603050405020304" pitchFamily="18" charset="0"/>
              </a:rPr>
              <a:t>寒武纪算子开发</a:t>
            </a:r>
            <a:r>
              <a:rPr lang="en-US" altLang="zh-CN" dirty="0">
                <a:latin typeface="Times New Roman" panose="02020603050405020304" pitchFamily="18" charset="0"/>
                <a:ea typeface="+mn-ea"/>
                <a:cs typeface="Times New Roman" panose="02020603050405020304" pitchFamily="18" charset="0"/>
              </a:rPr>
              <a:t>SKILL</a:t>
            </a:r>
            <a:r>
              <a:rPr lang="zh-CN" altLang="en-US" dirty="0">
                <a:latin typeface="Times New Roman" panose="02020603050405020304" pitchFamily="18" charset="0"/>
                <a:ea typeface="+mn-ea"/>
                <a:cs typeface="Times New Roman" panose="02020603050405020304" pitchFamily="18" charset="0"/>
              </a:rPr>
              <a:t>优化</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27" name="灯片编号占位符 26"/>
          <p:cNvSpPr>
            <a:spLocks noGrp="1"/>
          </p:cNvSpPr>
          <p:nvPr>
            <p:ph type="sldNum" sz="quarter" idx="12"/>
          </p:nvPr>
        </p:nvSpPr>
        <p:spPr/>
        <p:txBody>
          <a:bodyPr/>
          <a:lstStyle/>
          <a:p>
            <a:fld id="{03621AC1-4C4D-435F-BACF-B518BC126F02}" type="slidenum">
              <a:rPr lang="zh-CN" altLang="en-US" smtClean="0"/>
              <a:t>22</a:t>
            </a:fld>
            <a:endParaRPr lang="zh-CN" altLang="en-US"/>
          </a:p>
        </p:txBody>
      </p:sp>
      <p:sp>
        <p:nvSpPr>
          <p:cNvPr id="56"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三、</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Skill</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修改后验证成本高</a:t>
            </a:r>
            <a:endParaRPr lang="zh-CN" altLang="en-US" sz="1575" b="1" dirty="0">
              <a:solidFill>
                <a:srgbClr val="000000"/>
              </a:solidFill>
              <a:latin typeface="Times New Roman" panose="02020603050405020304" pitchFamily="18" charset="0"/>
              <a:cs typeface="Times New Roman" panose="02020603050405020304" pitchFamily="18" charset="0"/>
            </a:endParaRPr>
          </a:p>
        </p:txBody>
      </p:sp>
      <p:sp>
        <p:nvSpPr>
          <p:cNvPr id="14" name="text_3991_原流程"/>
          <p:cNvSpPr>
            <a:spLocks noGrp="1"/>
          </p:cNvSpPr>
          <p:nvPr/>
        </p:nvSpPr>
        <p:spPr>
          <a:xfrm>
            <a:off x="4246202" y="1349529"/>
            <a:ext cx="592931" cy="214313"/>
          </a:xfrm>
          <a:prstGeom prst="rect">
            <a:avLst/>
          </a:prstGeom>
          <a:noFill/>
          <a:ln w="9525">
            <a:noFill/>
          </a:ln>
        </p:spPr>
        <p:txBody>
          <a:bodyPr wrap="none" lIns="0" tIns="0" rIns="0" bIns="0" anchor="ctr">
            <a:noAutofit/>
          </a:bodyPr>
          <a:lstStyle/>
          <a:p>
            <a:pPr algn="l">
              <a:defRPr sz="1500" b="1">
                <a:solidFill>
                  <a:srgbClr val="000000"/>
                </a:solidFill>
                <a:latin typeface="Arial" panose="020B0604020202020204"/>
                <a:ea typeface="Arial" panose="020B0604020202020204"/>
                <a:cs typeface="Arial" panose="020B0604020202020204"/>
              </a:defRPr>
            </a:pPr>
            <a:endParaRPr sz="1125" b="1" dirty="0">
              <a:solidFill>
                <a:srgbClr val="000000"/>
              </a:solidFill>
              <a:latin typeface="Times New Roman" panose="02020603050405020304" pitchFamily="18" charset="0"/>
              <a:cs typeface="Times New Roman" panose="02020603050405020304" pitchFamily="18" charset="0"/>
            </a:endParaRPr>
          </a:p>
        </p:txBody>
      </p:sp>
      <p:sp>
        <p:nvSpPr>
          <p:cNvPr id="15" name="text_3993_复用后"/>
          <p:cNvSpPr>
            <a:spLocks noGrp="1"/>
          </p:cNvSpPr>
          <p:nvPr/>
        </p:nvSpPr>
        <p:spPr>
          <a:xfrm>
            <a:off x="597013" y="3879633"/>
            <a:ext cx="592931" cy="214313"/>
          </a:xfrm>
          <a:prstGeom prst="rect">
            <a:avLst/>
          </a:prstGeom>
          <a:noFill/>
          <a:ln w="9525">
            <a:noFill/>
          </a:ln>
        </p:spPr>
        <p:txBody>
          <a:bodyPr wrap="none" lIns="0" tIns="0" rIns="0" bIns="0" anchor="ctr">
            <a:noAutofit/>
          </a:bodyPr>
          <a:lstStyle/>
          <a:p>
            <a:pPr algn="l">
              <a:defRPr sz="1500" b="1">
                <a:solidFill>
                  <a:srgbClr val="D7000F"/>
                </a:solidFill>
                <a:latin typeface="Arial" panose="020B0604020202020204"/>
                <a:ea typeface="Arial" panose="020B0604020202020204"/>
                <a:cs typeface="Arial" panose="020B0604020202020204"/>
              </a:defRPr>
            </a:pPr>
            <a:r>
              <a:rPr lang="zh-CN" altLang="en-US" b="1" dirty="0">
                <a:solidFill>
                  <a:schemeClr val="tx1">
                    <a:lumMod val="95000"/>
                    <a:lumOff val="5000"/>
                  </a:schemeClr>
                </a:solidFill>
                <a:latin typeface="微软雅黑" panose="020B0503020204020204" pitchFamily="34" charset="-122"/>
                <a:ea typeface="微软雅黑" panose="020B0503020204020204" pitchFamily="34" charset="-122"/>
              </a:rPr>
              <a:t>优化</a:t>
            </a:r>
            <a:r>
              <a:rPr b="1" dirty="0">
                <a:solidFill>
                  <a:schemeClr val="tx1">
                    <a:lumMod val="95000"/>
                    <a:lumOff val="5000"/>
                  </a:schemeClr>
                </a:solidFill>
                <a:latin typeface="微软雅黑" panose="020B0503020204020204" pitchFamily="34" charset="-122"/>
                <a:ea typeface="微软雅黑" panose="020B0503020204020204" pitchFamily="34" charset="-122"/>
              </a:rPr>
              <a:t>后</a:t>
            </a:r>
          </a:p>
        </p:txBody>
      </p:sp>
      <p:sp>
        <p:nvSpPr>
          <p:cNvPr id="35" name="object_4017"/>
          <p:cNvSpPr>
            <a:spLocks noGrp="1"/>
          </p:cNvSpPr>
          <p:nvPr/>
        </p:nvSpPr>
        <p:spPr>
          <a:xfrm>
            <a:off x="4589680" y="3790952"/>
            <a:ext cx="1311291" cy="366792"/>
          </a:xfrm>
          <a:prstGeom prst="rect">
            <a:avLst/>
          </a:prstGeom>
          <a:solidFill>
            <a:srgbClr val="F2F2F2"/>
          </a:solidFill>
          <a:ln w="17145">
            <a:solidFill>
              <a:schemeClr val="tx1"/>
            </a:solidFill>
          </a:ln>
        </p:spPr>
      </p:sp>
      <p:sp>
        <p:nvSpPr>
          <p:cNvPr id="36" name="text_4019_Review 重试"/>
          <p:cNvSpPr>
            <a:spLocks noGrp="1"/>
          </p:cNvSpPr>
          <p:nvPr/>
        </p:nvSpPr>
        <p:spPr>
          <a:xfrm>
            <a:off x="4589680" y="3798736"/>
            <a:ext cx="1333293" cy="359007"/>
          </a:xfrm>
          <a:prstGeom prst="rect">
            <a:avLst/>
          </a:prstGeom>
          <a:noFill/>
          <a:ln w="9525">
            <a:noFill/>
          </a:ln>
        </p:spPr>
        <p:txBody>
          <a:bodyPr wrap="none" lIns="0" tIns="0" rIns="0" bIns="0" anchor="ctr">
            <a:noAutofit/>
          </a:bodyPr>
          <a:lstStyle/>
          <a:p>
            <a:pPr algn="ctr">
              <a:defRPr sz="1315" b="1">
                <a:solidFill>
                  <a:srgbClr val="000000"/>
                </a:solidFill>
                <a:latin typeface="Arial" panose="020B0604020202020204"/>
                <a:ea typeface="Arial" panose="020B0604020202020204"/>
                <a:cs typeface="Arial" panose="020B0604020202020204"/>
              </a:defRPr>
            </a:pPr>
            <a:r>
              <a:rPr sz="1600" b="1" dirty="0">
                <a:solidFill>
                  <a:srgbClr val="000000"/>
                </a:solidFill>
                <a:latin typeface="Times New Roman" panose="02020603050405020304" pitchFamily="18" charset="0"/>
                <a:cs typeface="Times New Roman" panose="02020603050405020304" pitchFamily="18" charset="0"/>
              </a:rPr>
              <a:t>Review </a:t>
            </a:r>
            <a:r>
              <a:rPr sz="1600" b="1" dirty="0" err="1">
                <a:solidFill>
                  <a:srgbClr val="000000"/>
                </a:solidFill>
                <a:latin typeface="Times New Roman" panose="02020603050405020304" pitchFamily="18" charset="0"/>
                <a:cs typeface="Times New Roman" panose="02020603050405020304" pitchFamily="18" charset="0"/>
              </a:rPr>
              <a:t>重试</a:t>
            </a:r>
            <a:endParaRPr sz="1600" b="1" dirty="0">
              <a:solidFill>
                <a:srgbClr val="000000"/>
              </a:solidFill>
              <a:latin typeface="Times New Roman" panose="02020603050405020304" pitchFamily="18" charset="0"/>
              <a:cs typeface="Times New Roman" panose="02020603050405020304" pitchFamily="18" charset="0"/>
            </a:endParaRPr>
          </a:p>
        </p:txBody>
      </p:sp>
      <p:sp>
        <p:nvSpPr>
          <p:cNvPr id="39" name="text_4025_恢复 Artifact"/>
          <p:cNvSpPr>
            <a:spLocks noGrp="1"/>
          </p:cNvSpPr>
          <p:nvPr/>
        </p:nvSpPr>
        <p:spPr>
          <a:xfrm>
            <a:off x="6291600" y="3901065"/>
            <a:ext cx="942975" cy="171450"/>
          </a:xfrm>
          <a:prstGeom prst="rect">
            <a:avLst/>
          </a:prstGeom>
          <a:noFill/>
          <a:ln w="9525">
            <a:noFill/>
          </a:ln>
        </p:spPr>
        <p:txBody>
          <a:bodyPr wrap="none" lIns="0" tIns="0" rIns="0" bIns="0" anchor="ctr">
            <a:noAutofit/>
          </a:bodyPr>
          <a:lstStyle/>
          <a:p>
            <a:pPr>
              <a:defRPr sz="1275" b="1">
                <a:solidFill>
                  <a:srgbClr val="D7000F"/>
                </a:solidFill>
                <a:latin typeface="Arial" panose="020B0604020202020204"/>
                <a:ea typeface="Arial" panose="020B0604020202020204"/>
                <a:cs typeface="Arial" panose="020B0604020202020204"/>
              </a:defRPr>
            </a:pPr>
            <a:r>
              <a:rPr sz="1600" b="1" dirty="0" err="1">
                <a:solidFill>
                  <a:schemeClr val="tx1">
                    <a:lumMod val="95000"/>
                    <a:lumOff val="5000"/>
                  </a:schemeClr>
                </a:solidFill>
                <a:latin typeface="微软雅黑" panose="020B0503020204020204" pitchFamily="34" charset="-122"/>
                <a:ea typeface="微软雅黑" panose="020B0503020204020204" pitchFamily="34" charset="-122"/>
              </a:rPr>
              <a:t>恢复</a:t>
            </a:r>
            <a:r>
              <a:rPr sz="1600" b="1" dirty="0">
                <a:solidFill>
                  <a:schemeClr val="tx1">
                    <a:lumMod val="95000"/>
                    <a:lumOff val="5000"/>
                  </a:schemeClr>
                </a:solidFill>
                <a:latin typeface="Times New Roman" panose="02020603050405020304" pitchFamily="18" charset="0"/>
                <a:cs typeface="Times New Roman" panose="02020603050405020304" pitchFamily="18" charset="0"/>
              </a:rPr>
              <a:t> </a:t>
            </a:r>
            <a:r>
              <a:rPr sz="1600" b="1" dirty="0">
                <a:solidFill>
                  <a:schemeClr val="tx1">
                    <a:lumMod val="95000"/>
                    <a:lumOff val="5000"/>
                  </a:schemeClr>
                </a:solidFill>
                <a:latin typeface="微软雅黑" panose="020B0503020204020204" pitchFamily="34" charset="-122"/>
                <a:ea typeface="微软雅黑" panose="020B0503020204020204" pitchFamily="34" charset="-122"/>
              </a:rPr>
              <a:t>Artifact</a:t>
            </a:r>
            <a:r>
              <a:rPr lang="zh-CN" altLang="en-US" sz="1600" b="1" dirty="0">
                <a:solidFill>
                  <a:schemeClr val="tx1">
                    <a:lumMod val="95000"/>
                    <a:lumOff val="5000"/>
                  </a:schemeClr>
                </a:solidFill>
                <a:latin typeface="微软雅黑" panose="020B0503020204020204" pitchFamily="34" charset="-122"/>
                <a:ea typeface="微软雅黑" panose="020B0503020204020204" pitchFamily="34" charset="-122"/>
              </a:rPr>
              <a:t>继续执行</a:t>
            </a:r>
          </a:p>
        </p:txBody>
      </p:sp>
      <p:sp>
        <p:nvSpPr>
          <p:cNvPr id="46" name="object_4017"/>
          <p:cNvSpPr>
            <a:spLocks noGrp="1"/>
          </p:cNvSpPr>
          <p:nvPr/>
        </p:nvSpPr>
        <p:spPr>
          <a:xfrm>
            <a:off x="2991909" y="3796339"/>
            <a:ext cx="1311291" cy="366792"/>
          </a:xfrm>
          <a:prstGeom prst="rect">
            <a:avLst/>
          </a:prstGeom>
          <a:solidFill>
            <a:srgbClr val="F2F2F2"/>
          </a:solidFill>
          <a:ln w="17145">
            <a:solidFill>
              <a:schemeClr val="tx1"/>
            </a:solidFill>
          </a:ln>
        </p:spPr>
      </p:sp>
      <p:sp>
        <p:nvSpPr>
          <p:cNvPr id="47" name="text_4019_Review 重试"/>
          <p:cNvSpPr>
            <a:spLocks noGrp="1"/>
          </p:cNvSpPr>
          <p:nvPr/>
        </p:nvSpPr>
        <p:spPr>
          <a:xfrm>
            <a:off x="2991910" y="3804123"/>
            <a:ext cx="1282002" cy="359007"/>
          </a:xfrm>
          <a:prstGeom prst="rect">
            <a:avLst/>
          </a:prstGeom>
          <a:noFill/>
          <a:ln w="9525">
            <a:noFill/>
          </a:ln>
        </p:spPr>
        <p:txBody>
          <a:bodyPr wrap="none" lIns="0" tIns="0" rIns="0" bIns="0" anchor="ctr">
            <a:noAutofit/>
          </a:bodyPr>
          <a:lstStyle/>
          <a:p>
            <a:pPr algn="ctr">
              <a:defRPr sz="1315" b="1">
                <a:solidFill>
                  <a:srgbClr val="000000"/>
                </a:solidFill>
                <a:latin typeface="Arial" panose="020B0604020202020204"/>
                <a:ea typeface="Arial" panose="020B0604020202020204"/>
                <a:cs typeface="Arial" panose="020B0604020202020204"/>
              </a:defRPr>
            </a:pPr>
            <a:r>
              <a:rPr lang="en-US" altLang="zh-CN" sz="1600" b="1" dirty="0">
                <a:solidFill>
                  <a:srgbClr val="000000"/>
                </a:solidFill>
                <a:latin typeface="Times New Roman" panose="02020603050405020304" pitchFamily="18" charset="0"/>
                <a:cs typeface="Times New Roman" panose="02020603050405020304" pitchFamily="18" charset="0"/>
              </a:rPr>
              <a:t>Build </a:t>
            </a:r>
            <a:r>
              <a:rPr lang="zh-CN" altLang="en-US" sz="1600" b="1" dirty="0">
                <a:solidFill>
                  <a:srgbClr val="000000"/>
                </a:solidFill>
                <a:latin typeface="Times New Roman" panose="02020603050405020304" pitchFamily="18" charset="0"/>
                <a:cs typeface="Times New Roman" panose="02020603050405020304" pitchFamily="18" charset="0"/>
              </a:rPr>
              <a:t>缓存</a:t>
            </a:r>
          </a:p>
        </p:txBody>
      </p:sp>
      <p:sp>
        <p:nvSpPr>
          <p:cNvPr id="48" name="object_4017"/>
          <p:cNvSpPr>
            <a:spLocks noGrp="1"/>
          </p:cNvSpPr>
          <p:nvPr/>
        </p:nvSpPr>
        <p:spPr>
          <a:xfrm>
            <a:off x="1400610" y="3786323"/>
            <a:ext cx="1311291" cy="366792"/>
          </a:xfrm>
          <a:prstGeom prst="rect">
            <a:avLst/>
          </a:prstGeom>
          <a:solidFill>
            <a:srgbClr val="F2F2F2"/>
          </a:solidFill>
          <a:ln w="17145">
            <a:solidFill>
              <a:schemeClr val="tx1"/>
            </a:solidFill>
          </a:ln>
        </p:spPr>
      </p:sp>
      <p:sp>
        <p:nvSpPr>
          <p:cNvPr id="49" name="text_4019_Review 重试"/>
          <p:cNvSpPr>
            <a:spLocks noGrp="1"/>
          </p:cNvSpPr>
          <p:nvPr/>
        </p:nvSpPr>
        <p:spPr>
          <a:xfrm>
            <a:off x="1400611" y="3794107"/>
            <a:ext cx="1282002" cy="359007"/>
          </a:xfrm>
          <a:prstGeom prst="rect">
            <a:avLst/>
          </a:prstGeom>
          <a:noFill/>
          <a:ln w="9525">
            <a:noFill/>
          </a:ln>
        </p:spPr>
        <p:txBody>
          <a:bodyPr wrap="none" lIns="0" tIns="0" rIns="0" bIns="0" anchor="ctr">
            <a:noAutofit/>
          </a:bodyPr>
          <a:lstStyle/>
          <a:p>
            <a:pPr algn="ctr">
              <a:defRPr sz="1315" b="1">
                <a:solidFill>
                  <a:srgbClr val="000000"/>
                </a:solidFill>
                <a:latin typeface="Arial" panose="020B0604020202020204"/>
                <a:ea typeface="Arial" panose="020B0604020202020204"/>
                <a:cs typeface="Arial" panose="020B0604020202020204"/>
              </a:defRPr>
            </a:pPr>
            <a:r>
              <a:rPr lang="en-US" altLang="zh-CN" sz="1600" b="1" dirty="0">
                <a:solidFill>
                  <a:srgbClr val="000000"/>
                </a:solidFill>
                <a:latin typeface="Times New Roman" panose="02020603050405020304" pitchFamily="18" charset="0"/>
                <a:cs typeface="Times New Roman" panose="02020603050405020304" pitchFamily="18" charset="0"/>
              </a:rPr>
              <a:t>Design </a:t>
            </a:r>
            <a:r>
              <a:rPr lang="zh-CN" altLang="en-US" sz="1600" b="1" dirty="0">
                <a:solidFill>
                  <a:srgbClr val="000000"/>
                </a:solidFill>
                <a:latin typeface="Times New Roman" panose="02020603050405020304" pitchFamily="18" charset="0"/>
                <a:cs typeface="Times New Roman" panose="02020603050405020304" pitchFamily="18" charset="0"/>
              </a:rPr>
              <a:t>缓存</a:t>
            </a:r>
          </a:p>
        </p:txBody>
      </p:sp>
      <p:cxnSp>
        <p:nvCxnSpPr>
          <p:cNvPr id="4" name="直接箭头连接符 3"/>
          <p:cNvCxnSpPr>
            <a:stCxn id="48" idx="3"/>
            <a:endCxn id="46" idx="1"/>
          </p:cNvCxnSpPr>
          <p:nvPr/>
        </p:nvCxnSpPr>
        <p:spPr>
          <a:xfrm>
            <a:off x="2711901" y="3969719"/>
            <a:ext cx="280008" cy="1001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p:cNvCxnSpPr/>
          <p:nvPr/>
        </p:nvCxnSpPr>
        <p:spPr>
          <a:xfrm>
            <a:off x="4325202" y="3973610"/>
            <a:ext cx="280008" cy="1001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text_3993_复用后"/>
          <p:cNvSpPr>
            <a:spLocks noGrp="1"/>
          </p:cNvSpPr>
          <p:nvPr/>
        </p:nvSpPr>
        <p:spPr>
          <a:xfrm>
            <a:off x="575011" y="2763403"/>
            <a:ext cx="592931" cy="214313"/>
          </a:xfrm>
          <a:prstGeom prst="rect">
            <a:avLst/>
          </a:prstGeom>
          <a:noFill/>
          <a:ln w="9525">
            <a:noFill/>
          </a:ln>
        </p:spPr>
        <p:txBody>
          <a:bodyPr wrap="none" lIns="0" tIns="0" rIns="0" bIns="0" anchor="ctr">
            <a:noAutofit/>
          </a:bodyPr>
          <a:lstStyle/>
          <a:p>
            <a:pPr>
              <a:defRPr sz="1500" b="1">
                <a:solidFill>
                  <a:srgbClr val="000000"/>
                </a:solidFill>
                <a:latin typeface="Arial" panose="020B0604020202020204"/>
                <a:ea typeface="Arial" panose="020B0604020202020204"/>
                <a:cs typeface="Arial" panose="020B0604020202020204"/>
              </a:defRPr>
            </a:pPr>
            <a:r>
              <a:rPr lang="zh-CN" altLang="en-US" sz="1600" b="1" dirty="0">
                <a:solidFill>
                  <a:srgbClr val="FF0000"/>
                </a:solidFill>
                <a:latin typeface="Times New Roman" panose="02020603050405020304" pitchFamily="18" charset="0"/>
                <a:cs typeface="Times New Roman" panose="02020603050405020304" pitchFamily="18" charset="0"/>
              </a:rPr>
              <a:t>原流程</a:t>
            </a:r>
          </a:p>
        </p:txBody>
      </p:sp>
      <p:sp>
        <p:nvSpPr>
          <p:cNvPr id="57" name="object_4017"/>
          <p:cNvSpPr>
            <a:spLocks noGrp="1"/>
          </p:cNvSpPr>
          <p:nvPr/>
        </p:nvSpPr>
        <p:spPr>
          <a:xfrm>
            <a:off x="4567678" y="2674722"/>
            <a:ext cx="1311291" cy="366792"/>
          </a:xfrm>
          <a:prstGeom prst="rect">
            <a:avLst/>
          </a:prstGeom>
          <a:solidFill>
            <a:srgbClr val="F2F2F2"/>
          </a:solidFill>
          <a:ln w="17145">
            <a:solidFill>
              <a:schemeClr val="tx1"/>
            </a:solidFill>
          </a:ln>
        </p:spPr>
      </p:sp>
      <p:sp>
        <p:nvSpPr>
          <p:cNvPr id="58" name="text_4019_Review 重试"/>
          <p:cNvSpPr>
            <a:spLocks noGrp="1"/>
          </p:cNvSpPr>
          <p:nvPr/>
        </p:nvSpPr>
        <p:spPr>
          <a:xfrm>
            <a:off x="4567679" y="2682506"/>
            <a:ext cx="1311290" cy="359007"/>
          </a:xfrm>
          <a:prstGeom prst="rect">
            <a:avLst/>
          </a:prstGeom>
          <a:noFill/>
          <a:ln w="9525">
            <a:noFill/>
          </a:ln>
        </p:spPr>
        <p:txBody>
          <a:bodyPr wrap="none" lIns="0" tIns="0" rIns="0" bIns="0" anchor="ctr">
            <a:noAutofit/>
          </a:bodyPr>
          <a:lstStyle/>
          <a:p>
            <a:pPr algn="ctr">
              <a:defRPr sz="1315" b="1">
                <a:solidFill>
                  <a:srgbClr val="000000"/>
                </a:solidFill>
                <a:latin typeface="Arial" panose="020B0604020202020204"/>
                <a:ea typeface="Arial" panose="020B0604020202020204"/>
                <a:cs typeface="Arial" panose="020B0604020202020204"/>
              </a:defRPr>
            </a:pPr>
            <a:r>
              <a:rPr lang="en-US" altLang="zh-CN" sz="1600" b="1" dirty="0">
                <a:solidFill>
                  <a:srgbClr val="000000"/>
                </a:solidFill>
                <a:latin typeface="Times New Roman" panose="02020603050405020304" pitchFamily="18" charset="0"/>
                <a:cs typeface="Times New Roman" panose="02020603050405020304" pitchFamily="18" charset="0"/>
              </a:rPr>
              <a:t>Review ×</a:t>
            </a:r>
          </a:p>
        </p:txBody>
      </p:sp>
      <p:sp>
        <p:nvSpPr>
          <p:cNvPr id="59" name="text_4025_恢复 Artifact"/>
          <p:cNvSpPr>
            <a:spLocks noGrp="1"/>
          </p:cNvSpPr>
          <p:nvPr/>
        </p:nvSpPr>
        <p:spPr>
          <a:xfrm>
            <a:off x="6269598" y="2784835"/>
            <a:ext cx="942975" cy="171450"/>
          </a:xfrm>
          <a:prstGeom prst="rect">
            <a:avLst/>
          </a:prstGeom>
          <a:noFill/>
          <a:ln w="9525">
            <a:noFill/>
          </a:ln>
        </p:spPr>
        <p:txBody>
          <a:bodyPr wrap="none" lIns="0" tIns="0" rIns="0" bIns="0" anchor="ctr">
            <a:noAutofit/>
          </a:bodyPr>
          <a:lstStyle/>
          <a:p>
            <a:pPr>
              <a:defRPr sz="1275" b="0">
                <a:solidFill>
                  <a:srgbClr val="242424"/>
                </a:solidFill>
                <a:latin typeface="Arial" panose="020B0604020202020204"/>
                <a:ea typeface="Arial" panose="020B0604020202020204"/>
                <a:cs typeface="Arial" panose="020B0604020202020204"/>
              </a:defRPr>
            </a:pPr>
            <a:r>
              <a:rPr lang="zh-CN" altLang="en-US" sz="1600" b="1" dirty="0">
                <a:solidFill>
                  <a:srgbClr val="FF0000"/>
                </a:solidFill>
                <a:latin typeface="Times New Roman" panose="02020603050405020304" pitchFamily="18" charset="0"/>
                <a:cs typeface="Times New Roman" panose="02020603050405020304" pitchFamily="18" charset="0"/>
              </a:rPr>
              <a:t>意外</a:t>
            </a:r>
            <a:r>
              <a:rPr lang="zh-CN" altLang="en-US" sz="1600" b="1" dirty="0" smtClean="0">
                <a:solidFill>
                  <a:srgbClr val="FF0000"/>
                </a:solidFill>
                <a:latin typeface="Times New Roman" panose="02020603050405020304" pitchFamily="18" charset="0"/>
                <a:cs typeface="Times New Roman" panose="02020603050405020304" pitchFamily="18" charset="0"/>
              </a:rPr>
              <a:t>停止可能需要</a:t>
            </a:r>
            <a:r>
              <a:rPr lang="zh-CN" altLang="en-US" sz="1600" b="1" dirty="0">
                <a:solidFill>
                  <a:srgbClr val="FF0000"/>
                </a:solidFill>
                <a:latin typeface="Times New Roman" panose="02020603050405020304" pitchFamily="18" charset="0"/>
                <a:cs typeface="Times New Roman" panose="02020603050405020304" pitchFamily="18" charset="0"/>
              </a:rPr>
              <a:t>从头执行</a:t>
            </a:r>
          </a:p>
        </p:txBody>
      </p:sp>
      <p:sp>
        <p:nvSpPr>
          <p:cNvPr id="61" name="text_4019_Review 重试"/>
          <p:cNvSpPr>
            <a:spLocks noGrp="1"/>
          </p:cNvSpPr>
          <p:nvPr/>
        </p:nvSpPr>
        <p:spPr>
          <a:xfrm>
            <a:off x="2969907" y="2687893"/>
            <a:ext cx="1333292" cy="359007"/>
          </a:xfrm>
          <a:prstGeom prst="rect">
            <a:avLst/>
          </a:prstGeom>
          <a:noFill/>
          <a:ln w="9525">
            <a:solidFill>
              <a:schemeClr val="tx1"/>
            </a:solidFill>
          </a:ln>
        </p:spPr>
        <p:txBody>
          <a:bodyPr wrap="none" lIns="0" tIns="0" rIns="0" bIns="0" anchor="ctr">
            <a:noAutofit/>
          </a:bodyPr>
          <a:lstStyle/>
          <a:p>
            <a:pPr algn="ctr">
              <a:defRPr sz="1315" b="1">
                <a:solidFill>
                  <a:srgbClr val="000000"/>
                </a:solidFill>
                <a:latin typeface="Arial" panose="020B0604020202020204"/>
                <a:ea typeface="Arial" panose="020B0604020202020204"/>
                <a:cs typeface="Arial" panose="020B0604020202020204"/>
              </a:defRPr>
            </a:pPr>
            <a:r>
              <a:rPr lang="en-US" altLang="zh-CN" sz="1600" b="1" dirty="0">
                <a:solidFill>
                  <a:srgbClr val="000000"/>
                </a:solidFill>
                <a:latin typeface="Times New Roman" panose="02020603050405020304" pitchFamily="18" charset="0"/>
                <a:cs typeface="Times New Roman" panose="02020603050405020304" pitchFamily="18" charset="0"/>
              </a:rPr>
              <a:t>Build ✓</a:t>
            </a:r>
          </a:p>
        </p:txBody>
      </p:sp>
      <p:sp>
        <p:nvSpPr>
          <p:cNvPr id="62" name="object_4017"/>
          <p:cNvSpPr>
            <a:spLocks noGrp="1"/>
          </p:cNvSpPr>
          <p:nvPr/>
        </p:nvSpPr>
        <p:spPr>
          <a:xfrm>
            <a:off x="1378608" y="2670093"/>
            <a:ext cx="1311291" cy="366792"/>
          </a:xfrm>
          <a:prstGeom prst="rect">
            <a:avLst/>
          </a:prstGeom>
          <a:solidFill>
            <a:srgbClr val="F2F2F2"/>
          </a:solidFill>
          <a:ln w="17145">
            <a:solidFill>
              <a:schemeClr val="tx1"/>
            </a:solidFill>
          </a:ln>
        </p:spPr>
      </p:sp>
      <p:sp>
        <p:nvSpPr>
          <p:cNvPr id="63" name="text_4019_Review 重试"/>
          <p:cNvSpPr>
            <a:spLocks noGrp="1"/>
          </p:cNvSpPr>
          <p:nvPr/>
        </p:nvSpPr>
        <p:spPr>
          <a:xfrm>
            <a:off x="1378608" y="2677877"/>
            <a:ext cx="1333293" cy="359007"/>
          </a:xfrm>
          <a:prstGeom prst="rect">
            <a:avLst/>
          </a:prstGeom>
          <a:noFill/>
          <a:ln w="9525">
            <a:noFill/>
          </a:ln>
        </p:spPr>
        <p:txBody>
          <a:bodyPr wrap="none" lIns="0" tIns="0" rIns="0" bIns="0" anchor="ctr">
            <a:noAutofit/>
          </a:bodyPr>
          <a:lstStyle/>
          <a:p>
            <a:pPr algn="ctr">
              <a:defRPr sz="1315" b="1">
                <a:solidFill>
                  <a:srgbClr val="000000"/>
                </a:solidFill>
                <a:latin typeface="Arial" panose="020B0604020202020204"/>
                <a:ea typeface="Arial" panose="020B0604020202020204"/>
                <a:cs typeface="Arial" panose="020B0604020202020204"/>
              </a:defRPr>
            </a:pPr>
            <a:r>
              <a:rPr lang="en-US" altLang="zh-CN" sz="1600" b="1" dirty="0">
                <a:solidFill>
                  <a:srgbClr val="000000"/>
                </a:solidFill>
                <a:latin typeface="Times New Roman" panose="02020603050405020304" pitchFamily="18" charset="0"/>
                <a:cs typeface="Times New Roman" panose="02020603050405020304" pitchFamily="18" charset="0"/>
              </a:rPr>
              <a:t>Design ✓</a:t>
            </a:r>
          </a:p>
        </p:txBody>
      </p:sp>
      <p:cxnSp>
        <p:nvCxnSpPr>
          <p:cNvPr id="64" name="直接箭头连接符 63"/>
          <p:cNvCxnSpPr>
            <a:stCxn id="62" idx="3"/>
          </p:cNvCxnSpPr>
          <p:nvPr/>
        </p:nvCxnSpPr>
        <p:spPr>
          <a:xfrm>
            <a:off x="2689899" y="2853489"/>
            <a:ext cx="280008" cy="1001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a:off x="4303200" y="2857380"/>
            <a:ext cx="280008" cy="1001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文本框 95"/>
          <p:cNvSpPr txBox="1"/>
          <p:nvPr/>
        </p:nvSpPr>
        <p:spPr>
          <a:xfrm>
            <a:off x="527749" y="5068817"/>
            <a:ext cx="6949963" cy="369332"/>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Wingdings" panose="05000000000000000000" charset="0"/>
              <a:buChar char="p"/>
            </a:pPr>
            <a:r>
              <a:rPr lang="zh-CN" altLang="en-US" b="1" dirty="0">
                <a:solidFill>
                  <a:schemeClr val="tx1">
                    <a:lumMod val="95000"/>
                    <a:lumOff val="5000"/>
                  </a:schemeClr>
                </a:solidFill>
                <a:latin typeface="微软雅黑" panose="020B0503020204020204" pitchFamily="34" charset="-122"/>
                <a:ea typeface="微软雅黑" panose="020B0503020204020204" pitchFamily="34" charset="-122"/>
                <a:sym typeface="+mn-ea"/>
              </a:rPr>
              <a:t>思路</a:t>
            </a:r>
            <a:r>
              <a:rPr lang="zh-CN" altLang="en-US" b="1" dirty="0" smtClean="0">
                <a:solidFill>
                  <a:schemeClr val="tx1">
                    <a:lumMod val="95000"/>
                    <a:lumOff val="5000"/>
                  </a:schemeClr>
                </a:solidFill>
                <a:latin typeface="微软雅黑" panose="020B0503020204020204" pitchFamily="34" charset="-122"/>
                <a:ea typeface="微软雅黑" panose="020B0503020204020204" pitchFamily="34" charset="-122"/>
                <a:sym typeface="+mn-ea"/>
              </a:rPr>
              <a:t>：</a:t>
            </a:r>
            <a:r>
              <a:rPr lang="zh-CN" altLang="en-US" sz="1600" b="1" dirty="0">
                <a:solidFill>
                  <a:srgbClr val="242424"/>
                </a:solidFill>
                <a:latin typeface="Times New Roman" panose="02020603050405020304" pitchFamily="18" charset="0"/>
                <a:cs typeface="Times New Roman" panose="02020603050405020304" pitchFamily="18" charset="0"/>
                <a:sym typeface="+mn-ea"/>
              </a:rPr>
              <a:t>各</a:t>
            </a:r>
            <a:r>
              <a:rPr lang="zh-CN" altLang="en-US" sz="1600" b="1" dirty="0" smtClean="0">
                <a:solidFill>
                  <a:srgbClr val="242424"/>
                </a:solidFill>
                <a:latin typeface="Times New Roman" panose="02020603050405020304" pitchFamily="18" charset="0"/>
                <a:cs typeface="Times New Roman" panose="02020603050405020304" pitchFamily="18" charset="0"/>
              </a:rPr>
              <a:t>阶段，各子</a:t>
            </a:r>
            <a:r>
              <a:rPr lang="zh-CN" altLang="en-US" sz="1600" b="1" dirty="0">
                <a:solidFill>
                  <a:srgbClr val="242424"/>
                </a:solidFill>
                <a:latin typeface="Times New Roman" panose="02020603050405020304" pitchFamily="18" charset="0"/>
                <a:cs typeface="Times New Roman" panose="02020603050405020304" pitchFamily="18" charset="0"/>
              </a:rPr>
              <a:t>代理</a:t>
            </a:r>
            <a:r>
              <a:rPr lang="zh-CN" altLang="en-US" sz="1600" b="1" dirty="0" smtClean="0">
                <a:solidFill>
                  <a:srgbClr val="242424"/>
                </a:solidFill>
                <a:latin typeface="Times New Roman" panose="02020603050405020304" pitchFamily="18" charset="0"/>
                <a:cs typeface="Times New Roman" panose="02020603050405020304" pitchFamily="18" charset="0"/>
              </a:rPr>
              <a:t>，产出</a:t>
            </a:r>
            <a:r>
              <a:rPr lang="zh-CN" altLang="en-US" sz="1600" b="1" dirty="0">
                <a:solidFill>
                  <a:srgbClr val="242424"/>
                </a:solidFill>
                <a:latin typeface="Times New Roman" panose="02020603050405020304" pitchFamily="18" charset="0"/>
                <a:cs typeface="Times New Roman" panose="02020603050405020304" pitchFamily="18" charset="0"/>
              </a:rPr>
              <a:t>并识别可以复用的</a:t>
            </a:r>
            <a:r>
              <a:rPr lang="en-US" altLang="zh-CN" sz="1600" b="1" dirty="0">
                <a:solidFill>
                  <a:srgbClr val="242424"/>
                </a:solidFill>
                <a:latin typeface="Times New Roman" panose="02020603050405020304" pitchFamily="18" charset="0"/>
                <a:cs typeface="Times New Roman" panose="02020603050405020304" pitchFamily="18" charset="0"/>
              </a:rPr>
              <a:t>Artifact</a:t>
            </a:r>
            <a:r>
              <a:rPr lang="zh-CN" altLang="en-US" sz="1600" b="1" dirty="0">
                <a:solidFill>
                  <a:srgbClr val="242424"/>
                </a:solidFill>
                <a:latin typeface="Times New Roman" panose="02020603050405020304" pitchFamily="18" charset="0"/>
                <a:cs typeface="Times New Roman" panose="02020603050405020304" pitchFamily="18" charset="0"/>
              </a:rPr>
              <a:t>。</a:t>
            </a:r>
          </a:p>
        </p:txBody>
      </p:sp>
      <p:sp>
        <p:nvSpPr>
          <p:cNvPr id="70" name="文本框 95"/>
          <p:cNvSpPr txBox="1"/>
          <p:nvPr/>
        </p:nvSpPr>
        <p:spPr>
          <a:xfrm>
            <a:off x="552084" y="5416718"/>
            <a:ext cx="6283861" cy="553998"/>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endParaRPr lang="en-US" altLang="zh-CN" sz="600" b="1" dirty="0">
              <a:solidFill>
                <a:srgbClr val="004B9D"/>
              </a:solidFill>
              <a:latin typeface="微软雅黑" panose="020B0503020204020204" pitchFamily="34" charset="-122"/>
              <a:ea typeface="微软雅黑" panose="020B0503020204020204" pitchFamily="34" charset="-122"/>
              <a:sym typeface="+mn-ea"/>
            </a:endParaRPr>
          </a:p>
          <a:p>
            <a:pPr marL="285750" indent="-285750">
              <a:lnSpc>
                <a:spcPct val="150000"/>
              </a:lnSpc>
              <a:buFont typeface="Wingdings" panose="05000000000000000000" pitchFamily="2" charset="2"/>
              <a:buChar char="Ø"/>
            </a:pPr>
            <a:r>
              <a:rPr lang="zh-CN" altLang="en-US" sz="1600" b="1" dirty="0">
                <a:latin typeface="微软雅黑" panose="020B0503020204020204" pitchFamily="34" charset="-122"/>
                <a:ea typeface="微软雅黑" panose="020B0503020204020204" pitchFamily="34" charset="-122"/>
                <a:sym typeface="+mn-ea"/>
              </a:rPr>
              <a:t>当因为意外中断算子开发时：从最近有效阶段恢复。</a:t>
            </a:r>
          </a:p>
        </p:txBody>
      </p:sp>
      <p:sp>
        <p:nvSpPr>
          <p:cNvPr id="71" name="文本框 95"/>
          <p:cNvSpPr txBox="1"/>
          <p:nvPr/>
        </p:nvSpPr>
        <p:spPr>
          <a:xfrm>
            <a:off x="569736" y="5857819"/>
            <a:ext cx="7602663" cy="553998"/>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endParaRPr lang="en-US" altLang="zh-CN" sz="600" b="1" dirty="0">
              <a:solidFill>
                <a:srgbClr val="004B9D"/>
              </a:solidFill>
              <a:latin typeface="微软雅黑" panose="020B0503020204020204" pitchFamily="34" charset="-122"/>
              <a:ea typeface="微软雅黑" panose="020B0503020204020204" pitchFamily="34" charset="-122"/>
              <a:sym typeface="+mn-ea"/>
            </a:endParaRPr>
          </a:p>
          <a:p>
            <a:pPr marL="285750" indent="-285750">
              <a:lnSpc>
                <a:spcPct val="150000"/>
              </a:lnSpc>
              <a:buFont typeface="Wingdings" panose="05000000000000000000" pitchFamily="2" charset="2"/>
              <a:buChar char="Ø"/>
            </a:pPr>
            <a:r>
              <a:rPr lang="zh-CN" altLang="en-US" sz="1600" b="1" dirty="0">
                <a:latin typeface="微软雅黑" panose="020B0503020204020204" pitchFamily="34" charset="-122"/>
                <a:ea typeface="微软雅黑" panose="020B0503020204020204" pitchFamily="34" charset="-122"/>
                <a:sym typeface="+mn-ea"/>
              </a:rPr>
              <a:t>当进行修改验证时：如果仅修改 </a:t>
            </a:r>
            <a:r>
              <a:rPr lang="en-US" altLang="zh-CN" sz="1600" b="1" dirty="0">
                <a:latin typeface="微软雅黑" panose="020B0503020204020204" pitchFamily="34" charset="-122"/>
                <a:ea typeface="微软雅黑" panose="020B0503020204020204" pitchFamily="34" charset="-122"/>
                <a:sym typeface="+mn-ea"/>
              </a:rPr>
              <a:t>Review Rule</a:t>
            </a:r>
            <a:r>
              <a:rPr lang="zh-CN" altLang="en-US" sz="1600" b="1" dirty="0">
                <a:latin typeface="微软雅黑" panose="020B0503020204020204" pitchFamily="34" charset="-122"/>
                <a:ea typeface="微软雅黑" panose="020B0503020204020204" pitchFamily="34" charset="-122"/>
                <a:sym typeface="+mn-ea"/>
              </a:rPr>
              <a:t>，就从</a:t>
            </a:r>
            <a:r>
              <a:rPr lang="en-US" altLang="zh-CN" sz="1600" b="1" dirty="0" smtClean="0">
                <a:latin typeface="微软雅黑" panose="020B0503020204020204" pitchFamily="34" charset="-122"/>
                <a:ea typeface="微软雅黑" panose="020B0503020204020204" pitchFamily="34" charset="-122"/>
                <a:sym typeface="+mn-ea"/>
              </a:rPr>
              <a:t>Review</a:t>
            </a:r>
            <a:r>
              <a:rPr lang="zh-CN" altLang="en-US" sz="1600" b="1" dirty="0" smtClean="0">
                <a:latin typeface="微软雅黑" panose="020B0503020204020204" pitchFamily="34" charset="-122"/>
                <a:ea typeface="微软雅黑" panose="020B0503020204020204" pitchFamily="34" charset="-122"/>
                <a:sym typeface="+mn-ea"/>
              </a:rPr>
              <a:t>开始验证即可。</a:t>
            </a:r>
            <a:endParaRPr lang="zh-CN" altLang="en-US" sz="1600" b="1" dirty="0">
              <a:latin typeface="微软雅黑" panose="020B0503020204020204" pitchFamily="34" charset="-122"/>
              <a:ea typeface="微软雅黑" panose="020B0503020204020204" pitchFamily="34" charset="-122"/>
              <a:sym typeface="+mn-ea"/>
            </a:endParaRPr>
          </a:p>
        </p:txBody>
      </p:sp>
      <p:sp>
        <p:nvSpPr>
          <p:cNvPr id="33" name="矩形 32"/>
          <p:cNvSpPr/>
          <p:nvPr>
            <p:custDataLst>
              <p:tags r:id="rId1"/>
            </p:custDataLst>
          </p:nvPr>
        </p:nvSpPr>
        <p:spPr>
          <a:xfrm>
            <a:off x="277385" y="2273085"/>
            <a:ext cx="8530563" cy="2410098"/>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31"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34" name="矩形 33"/>
          <p:cNvSpPr/>
          <p:nvPr/>
        </p:nvSpPr>
        <p:spPr>
          <a:xfrm>
            <a:off x="535263" y="1799789"/>
            <a:ext cx="4083169" cy="369332"/>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zh-CN" altLang="en-US"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优化②：中间产物复用与断点续跑机制</a:t>
            </a:r>
          </a:p>
        </p:txBody>
      </p:sp>
    </p:spTree>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目录</a:t>
            </a:r>
          </a:p>
        </p:txBody>
      </p:sp>
      <p:graphicFrame>
        <p:nvGraphicFramePr>
          <p:cNvPr id="7" name="图示 6"/>
          <p:cNvGraphicFramePr/>
          <p:nvPr>
            <p:extLst/>
          </p:nvPr>
        </p:nvGraphicFramePr>
        <p:xfrm>
          <a:off x="1763688" y="1556792"/>
          <a:ext cx="6096000" cy="40970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灯片编号占位符 2"/>
          <p:cNvSpPr>
            <a:spLocks noGrp="1"/>
          </p:cNvSpPr>
          <p:nvPr>
            <p:ph type="sldNum" sz="quarter" idx="12"/>
          </p:nvPr>
        </p:nvSpPr>
        <p:spPr/>
        <p:txBody>
          <a:bodyPr/>
          <a:lstStyle/>
          <a:p>
            <a:fld id="{03621AC1-4C4D-435F-BACF-B518BC126F02}" type="slidenum">
              <a:rPr lang="zh-CN" altLang="en-US" smtClean="0"/>
              <a:t>23</a:t>
            </a:fld>
            <a:endParaRPr lang="zh-CN" altLang="en-US"/>
          </a:p>
        </p:txBody>
      </p:sp>
    </p:spTree>
    <p:extLst>
      <p:ext uri="{BB962C8B-B14F-4D97-AF65-F5344CB8AC3E}">
        <p14:creationId xmlns:p14="http://schemas.microsoft.com/office/powerpoint/2010/main" val="1052468758"/>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矩形 218"/>
          <p:cNvSpPr/>
          <p:nvPr/>
        </p:nvSpPr>
        <p:spPr>
          <a:xfrm>
            <a:off x="638754" y="3576873"/>
            <a:ext cx="3816936" cy="1170107"/>
          </a:xfrm>
          <a:prstGeom prst="rect">
            <a:avLst/>
          </a:prstGeom>
          <a:solidFill>
            <a:schemeClr val="bg1">
              <a:lumMod val="95000"/>
            </a:schemeClr>
          </a:solidFill>
          <a:ln w="127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218" name="矩形 217"/>
          <p:cNvSpPr/>
          <p:nvPr/>
        </p:nvSpPr>
        <p:spPr>
          <a:xfrm>
            <a:off x="638754" y="2374767"/>
            <a:ext cx="3849359" cy="719608"/>
          </a:xfrm>
          <a:prstGeom prst="rect">
            <a:avLst/>
          </a:prstGeom>
          <a:solidFill>
            <a:schemeClr val="bg1">
              <a:lumMod val="95000"/>
            </a:schemeClr>
          </a:solidFill>
          <a:ln w="127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7" name="text_3011_通用方法与平台知识"/>
          <p:cNvSpPr>
            <a:spLocks noGrp="1"/>
          </p:cNvSpPr>
          <p:nvPr/>
        </p:nvSpPr>
        <p:spPr>
          <a:xfrm>
            <a:off x="5070800" y="1210386"/>
            <a:ext cx="2228850" cy="300038"/>
          </a:xfrm>
          <a:prstGeom prst="rect">
            <a:avLst/>
          </a:prstGeom>
          <a:noFill/>
          <a:ln w="9525">
            <a:noFill/>
          </a:ln>
        </p:spPr>
        <p:txBody>
          <a:bodyPr wrap="none" lIns="0" tIns="0" rIns="0" bIns="0" anchor="ctr">
            <a:noAutofit/>
          </a:bodyPr>
          <a:lstStyle/>
          <a:p>
            <a:pPr algn="l">
              <a:defRPr sz="1875"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跨平台结构优化</a:t>
            </a:r>
            <a:endParaRPr sz="2100" b="1" dirty="0">
              <a:solidFill>
                <a:srgbClr val="000000"/>
              </a:solidFill>
              <a:latin typeface="Times New Roman" panose="02020603050405020304" pitchFamily="18" charset="0"/>
              <a:ea typeface="Arial" panose="020B0604020202020204"/>
              <a:cs typeface="Times New Roman" panose="02020603050405020304" pitchFamily="18" charset="0"/>
            </a:endParaRPr>
          </a:p>
        </p:txBody>
      </p:sp>
      <p:sp>
        <p:nvSpPr>
          <p:cNvPr id="8" name="connector_3012"/>
          <p:cNvSpPr>
            <a:spLocks noGrp="1"/>
          </p:cNvSpPr>
          <p:nvPr/>
        </p:nvSpPr>
        <p:spPr>
          <a:xfrm>
            <a:off x="5054784" y="1557337"/>
            <a:ext cx="1557338" cy="14288"/>
          </a:xfrm>
          <a:custGeom>
            <a:avLst/>
            <a:gdLst/>
            <a:ahLst/>
            <a:cxnLst/>
            <a:rect l="0" t="0" r="0" b="0"/>
            <a:pathLst>
              <a:path w="2076450" h="19050">
                <a:moveTo>
                  <a:pt x="9525" y="9525"/>
                </a:moveTo>
                <a:lnTo>
                  <a:pt x="2066925" y="9525"/>
                </a:lnTo>
              </a:path>
            </a:pathLst>
          </a:custGeom>
          <a:noFill/>
          <a:ln w="16193">
            <a:solidFill>
              <a:srgbClr val="C00000"/>
            </a:solidFill>
          </a:ln>
        </p:spPr>
      </p:sp>
      <p:sp>
        <p:nvSpPr>
          <p:cNvPr id="190" name="object_3500"/>
          <p:cNvSpPr>
            <a:spLocks noGrp="1"/>
          </p:cNvSpPr>
          <p:nvPr/>
        </p:nvSpPr>
        <p:spPr>
          <a:xfrm>
            <a:off x="936035" y="2490553"/>
            <a:ext cx="722045" cy="214313"/>
          </a:xfrm>
          <a:prstGeom prst="rect">
            <a:avLst/>
          </a:prstGeom>
          <a:solidFill>
            <a:srgbClr val="F2F2F2"/>
          </a:solidFill>
          <a:ln w="17145">
            <a:solidFill>
              <a:schemeClr val="tx1"/>
            </a:solidFill>
          </a:ln>
        </p:spPr>
      </p:sp>
      <p:sp>
        <p:nvSpPr>
          <p:cNvPr id="193" name="object_3500"/>
          <p:cNvSpPr>
            <a:spLocks noGrp="1"/>
          </p:cNvSpPr>
          <p:nvPr/>
        </p:nvSpPr>
        <p:spPr>
          <a:xfrm>
            <a:off x="2094582" y="2490553"/>
            <a:ext cx="722045" cy="214313"/>
          </a:xfrm>
          <a:prstGeom prst="rect">
            <a:avLst/>
          </a:prstGeom>
          <a:solidFill>
            <a:srgbClr val="F2F2F2"/>
          </a:solidFill>
          <a:ln w="17145">
            <a:solidFill>
              <a:schemeClr val="tx1"/>
            </a:solidFill>
          </a:ln>
        </p:spPr>
      </p:sp>
      <p:sp>
        <p:nvSpPr>
          <p:cNvPr id="195" name="object_3500"/>
          <p:cNvSpPr>
            <a:spLocks noGrp="1"/>
          </p:cNvSpPr>
          <p:nvPr/>
        </p:nvSpPr>
        <p:spPr>
          <a:xfrm>
            <a:off x="3253129" y="2490553"/>
            <a:ext cx="861250" cy="214313"/>
          </a:xfrm>
          <a:prstGeom prst="rect">
            <a:avLst/>
          </a:prstGeom>
          <a:solidFill>
            <a:srgbClr val="F2F2F2"/>
          </a:solidFill>
          <a:ln w="17145">
            <a:solidFill>
              <a:schemeClr val="tx1"/>
            </a:solidFill>
          </a:ln>
        </p:spPr>
      </p:sp>
      <p:sp>
        <p:nvSpPr>
          <p:cNvPr id="197" name="object_3500"/>
          <p:cNvSpPr>
            <a:spLocks noGrp="1"/>
          </p:cNvSpPr>
          <p:nvPr/>
        </p:nvSpPr>
        <p:spPr>
          <a:xfrm>
            <a:off x="1692382" y="2819655"/>
            <a:ext cx="722045" cy="214313"/>
          </a:xfrm>
          <a:prstGeom prst="rect">
            <a:avLst/>
          </a:prstGeom>
          <a:solidFill>
            <a:srgbClr val="F2F2F2"/>
          </a:solidFill>
          <a:ln w="17145">
            <a:solidFill>
              <a:schemeClr val="tx1"/>
            </a:solidFill>
          </a:ln>
        </p:spPr>
      </p:sp>
      <p:sp>
        <p:nvSpPr>
          <p:cNvPr id="199" name="object_3500"/>
          <p:cNvSpPr>
            <a:spLocks noGrp="1"/>
          </p:cNvSpPr>
          <p:nvPr/>
        </p:nvSpPr>
        <p:spPr>
          <a:xfrm>
            <a:off x="2778191" y="2819027"/>
            <a:ext cx="722045" cy="214313"/>
          </a:xfrm>
          <a:prstGeom prst="rect">
            <a:avLst/>
          </a:prstGeom>
          <a:solidFill>
            <a:srgbClr val="F2F2F2"/>
          </a:solidFill>
          <a:ln w="17145">
            <a:solidFill>
              <a:schemeClr val="tx1"/>
            </a:solidFill>
          </a:ln>
        </p:spPr>
      </p:sp>
      <p:sp>
        <p:nvSpPr>
          <p:cNvPr id="212" name="text_3145_硬件架构"/>
          <p:cNvSpPr>
            <a:spLocks noGrp="1"/>
          </p:cNvSpPr>
          <p:nvPr/>
        </p:nvSpPr>
        <p:spPr>
          <a:xfrm>
            <a:off x="778470" y="3668751"/>
            <a:ext cx="2443163" cy="200025"/>
          </a:xfrm>
          <a:prstGeom prst="rect">
            <a:avLst/>
          </a:prstGeom>
          <a:noFill/>
          <a:ln w="9525">
            <a:noFill/>
          </a:ln>
        </p:spPr>
        <p:txBody>
          <a:bodyPr wrap="none" lIns="0" tIns="0" rIns="0" bIns="0" anchor="ctr">
            <a:noAutofit/>
          </a:bodyPr>
          <a:lstStyle/>
          <a:p>
            <a:pPr marL="285750" indent="-285750" algn="l">
              <a:buFont typeface="Wingdings" panose="05000000000000000000" pitchFamily="2" charset="2"/>
              <a:buChar char="p"/>
              <a:defRPr sz="1725" b="1">
                <a:solidFill>
                  <a:srgbClr val="D7000F"/>
                </a:solidFill>
                <a:latin typeface="Arial" panose="020B0604020202020204"/>
                <a:ea typeface="Arial" panose="020B0604020202020204"/>
                <a:cs typeface="Arial" panose="020B0604020202020204"/>
              </a:defRPr>
            </a:pPr>
            <a:r>
              <a:rPr lang="zh-CN" altLang="en-US" sz="1200" b="1" dirty="0">
                <a:solidFill>
                  <a:schemeClr val="tx1">
                    <a:lumMod val="95000"/>
                    <a:lumOff val="5000"/>
                  </a:schemeClr>
                </a:solidFill>
                <a:latin typeface="Times New Roman" panose="02020603050405020304" pitchFamily="18" charset="0"/>
                <a:cs typeface="Times New Roman" panose="02020603050405020304" pitchFamily="18" charset="0"/>
              </a:rPr>
              <a:t>平台专属资料差异大</a:t>
            </a:r>
            <a:endParaRPr sz="1200" b="1"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213" name="text_3147_计算单元、存储层次、并行结构"/>
          <p:cNvSpPr>
            <a:spLocks noGrp="1"/>
          </p:cNvSpPr>
          <p:nvPr/>
        </p:nvSpPr>
        <p:spPr>
          <a:xfrm>
            <a:off x="1059847" y="4015277"/>
            <a:ext cx="904769" cy="212544"/>
          </a:xfrm>
          <a:prstGeom prst="rect">
            <a:avLst/>
          </a:prstGeom>
          <a:noFill/>
          <a:ln w="9525">
            <a:noFill/>
          </a:ln>
        </p:spPr>
        <p:txBody>
          <a:bodyPr wrap="none" lIns="0" tIns="0" rIns="0" bIns="0" anchor="ctr">
            <a:noAutofit/>
          </a:bodyPr>
          <a:lstStyle/>
          <a:p>
            <a:pPr marL="171450" indent="-171450" algn="l">
              <a:buFont typeface="Wingdings" panose="05000000000000000000" pitchFamily="2" charset="2"/>
              <a:buChar char="Ø"/>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硬件架构</a:t>
            </a:r>
            <a:endParaRPr sz="1200" dirty="0">
              <a:solidFill>
                <a:srgbClr val="242424"/>
              </a:solidFill>
              <a:latin typeface="Times New Roman" panose="02020603050405020304" pitchFamily="18" charset="0"/>
              <a:cs typeface="Times New Roman" panose="02020603050405020304" pitchFamily="18" charset="0"/>
            </a:endParaRPr>
          </a:p>
        </p:txBody>
      </p:sp>
      <p:sp>
        <p:nvSpPr>
          <p:cNvPr id="215" name="text_3145_硬件架构"/>
          <p:cNvSpPr>
            <a:spLocks noGrp="1"/>
          </p:cNvSpPr>
          <p:nvPr/>
        </p:nvSpPr>
        <p:spPr>
          <a:xfrm>
            <a:off x="778470" y="4372587"/>
            <a:ext cx="2443163" cy="200025"/>
          </a:xfrm>
          <a:prstGeom prst="rect">
            <a:avLst/>
          </a:prstGeom>
          <a:noFill/>
          <a:ln w="9525">
            <a:noFill/>
          </a:ln>
        </p:spPr>
        <p:txBody>
          <a:bodyPr wrap="none" lIns="0" tIns="0" rIns="0" bIns="0" anchor="ctr">
            <a:noAutofit/>
          </a:bodyPr>
          <a:lstStyle/>
          <a:p>
            <a:pPr marL="285750" indent="-285750" algn="l">
              <a:buFont typeface="Wingdings" panose="05000000000000000000" pitchFamily="2" charset="2"/>
              <a:buChar char="p"/>
              <a:defRPr sz="1725" b="1">
                <a:solidFill>
                  <a:srgbClr val="D7000F"/>
                </a:solidFill>
                <a:latin typeface="Arial" panose="020B0604020202020204"/>
                <a:ea typeface="Arial" panose="020B0604020202020204"/>
                <a:cs typeface="Arial" panose="020B0604020202020204"/>
              </a:defRPr>
            </a:pPr>
            <a:r>
              <a:rPr lang="zh-CN" altLang="en-US" sz="1200" b="1" dirty="0" smtClean="0">
                <a:solidFill>
                  <a:schemeClr val="tx1">
                    <a:lumMod val="95000"/>
                    <a:lumOff val="5000"/>
                  </a:schemeClr>
                </a:solidFill>
                <a:latin typeface="Times New Roman" panose="02020603050405020304" pitchFamily="18" charset="0"/>
                <a:cs typeface="Times New Roman" panose="02020603050405020304" pitchFamily="18" charset="0"/>
              </a:rPr>
              <a:t>平台资料分散</a:t>
            </a:r>
            <a:r>
              <a:rPr lang="zh-CN" altLang="en-US" sz="1200" b="1" dirty="0">
                <a:solidFill>
                  <a:schemeClr val="tx1">
                    <a:lumMod val="95000"/>
                    <a:lumOff val="5000"/>
                  </a:schemeClr>
                </a:solidFill>
                <a:latin typeface="Times New Roman" panose="02020603050405020304" pitchFamily="18" charset="0"/>
                <a:cs typeface="Times New Roman" panose="02020603050405020304" pitchFamily="18" charset="0"/>
              </a:rPr>
              <a:t>在整个开发流程中</a:t>
            </a:r>
            <a:endParaRPr sz="1200" b="1"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60" name="矩形 59"/>
          <p:cNvSpPr/>
          <p:nvPr/>
        </p:nvSpPr>
        <p:spPr>
          <a:xfrm>
            <a:off x="1388061" y="6597107"/>
            <a:ext cx="6599967" cy="219291"/>
          </a:xfrm>
          <a:prstGeom prst="rect">
            <a:avLst/>
          </a:prstGeom>
        </p:spPr>
        <p:txBody>
          <a:bodyPr wrap="square">
            <a:spAutoFit/>
          </a:bodyPr>
          <a:lstStyle/>
          <a:p>
            <a:r>
              <a:rPr lang="en-US" altLang="zh-CN" sz="825" dirty="0">
                <a:solidFill>
                  <a:schemeClr val="tx1">
                    <a:lumMod val="65000"/>
                    <a:lumOff val="35000"/>
                  </a:schemeClr>
                </a:solidFill>
                <a:latin typeface="Times New Roman" panose="02020603050405020304" pitchFamily="18" charset="0"/>
                <a:cs typeface="Times New Roman" panose="02020603050405020304" pitchFamily="18" charset="0"/>
              </a:rPr>
              <a:t>Yang, J., Jimenez, C. E., </a:t>
            </a:r>
            <a:r>
              <a:rPr lang="en-US" altLang="zh-CN" sz="825" dirty="0" err="1">
                <a:solidFill>
                  <a:schemeClr val="tx1">
                    <a:lumMod val="65000"/>
                    <a:lumOff val="35000"/>
                  </a:schemeClr>
                </a:solidFill>
                <a:latin typeface="Times New Roman" panose="02020603050405020304" pitchFamily="18" charset="0"/>
                <a:cs typeface="Times New Roman" panose="02020603050405020304" pitchFamily="18" charset="0"/>
              </a:rPr>
              <a:t>Wettig</a:t>
            </a:r>
            <a:r>
              <a:rPr lang="en-US" altLang="zh-CN" sz="825" dirty="0">
                <a:solidFill>
                  <a:schemeClr val="tx1">
                    <a:lumMod val="65000"/>
                    <a:lumOff val="35000"/>
                  </a:schemeClr>
                </a:solidFill>
                <a:latin typeface="Times New Roman" panose="02020603050405020304" pitchFamily="18" charset="0"/>
                <a:cs typeface="Times New Roman" panose="02020603050405020304" pitchFamily="18" charset="0"/>
              </a:rPr>
              <a:t>, A., et al. SWE-agent: Agent-Computer Interfaces Enable Automated Software Engineering. arXiv:2405.15793, 2024.</a:t>
            </a:r>
          </a:p>
        </p:txBody>
      </p:sp>
      <p:sp>
        <p:nvSpPr>
          <p:cNvPr id="3" name="灯片编号占位符 2"/>
          <p:cNvSpPr>
            <a:spLocks noGrp="1"/>
          </p:cNvSpPr>
          <p:nvPr>
            <p:ph type="sldNum" sz="quarter" idx="12"/>
          </p:nvPr>
        </p:nvSpPr>
        <p:spPr/>
        <p:txBody>
          <a:bodyPr/>
          <a:lstStyle/>
          <a:p>
            <a:fld id="{03621AC1-4C4D-435F-BACF-B518BC126F02}" type="slidenum">
              <a:rPr lang="zh-CN" altLang="en-US" smtClean="0"/>
              <a:t>24</a:t>
            </a:fld>
            <a:endParaRPr lang="zh-CN" altLang="en-US"/>
          </a:p>
        </p:txBody>
      </p:sp>
      <p:sp>
        <p:nvSpPr>
          <p:cNvPr id="61"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C00000"/>
            </a:solidFill>
          </a:ln>
        </p:spPr>
      </p:sp>
      <p:sp>
        <p:nvSpPr>
          <p:cNvPr id="62"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目前</a:t>
            </a:r>
            <a:r>
              <a:rPr lang="en-US" altLang="zh-CN" sz="2100" b="1" dirty="0">
                <a:solidFill>
                  <a:srgbClr val="000000"/>
                </a:solidFill>
                <a:latin typeface="Times New Roman" panose="02020603050405020304" pitchFamily="18" charset="0"/>
                <a:ea typeface="Arial" panose="020B0604020202020204"/>
                <a:cs typeface="Times New Roman" panose="02020603050405020304" pitchFamily="18" charset="0"/>
              </a:rPr>
              <a:t>Skill</a:t>
            </a:r>
            <a:r>
              <a:rPr lang="zh-CN" altLang="en-US" sz="2100" b="1" dirty="0">
                <a:solidFill>
                  <a:srgbClr val="000000"/>
                </a:solidFill>
                <a:latin typeface="Times New Roman" panose="02020603050405020304" pitchFamily="18" charset="0"/>
                <a:ea typeface="Arial" panose="020B0604020202020204"/>
                <a:cs typeface="Times New Roman" panose="02020603050405020304" pitchFamily="18" charset="0"/>
              </a:rPr>
              <a:t>结构分析</a:t>
            </a:r>
          </a:p>
        </p:txBody>
      </p:sp>
      <p:sp>
        <p:nvSpPr>
          <p:cNvPr id="63" name="标题 1"/>
          <p:cNvSpPr txBox="1"/>
          <p:nvPr/>
        </p:nvSpPr>
        <p:spPr bwMode="auto">
          <a:xfrm>
            <a:off x="395288" y="333375"/>
            <a:ext cx="6840537" cy="503238"/>
          </a:xfrm>
          <a:prstGeom prst="rect">
            <a:avLst/>
          </a:prstGeom>
          <a:noFill/>
          <a:ln w="9525">
            <a:noFill/>
            <a:miter lim="800000"/>
          </a:ln>
        </p:spPr>
        <p:txBody>
          <a:bodyPr vert="horz" wrap="none" lIns="0" tIns="0" rIns="0" bIns="0" numCol="1" anchor="ctr" anchorCtr="0" compatLnSpc="1">
            <a:noAutofit/>
          </a:bodyPr>
          <a:lstStyle>
            <a:lvl1pPr algn="l" rtl="0" eaLnBrk="0" fontAlgn="base" hangingPunct="0">
              <a:spcBef>
                <a:spcPct val="0"/>
              </a:spcBef>
              <a:spcAft>
                <a:spcPct val="0"/>
              </a:spcAft>
              <a:defRPr sz="2600" b="1">
                <a:solidFill>
                  <a:schemeClr val="tx1"/>
                </a:solidFill>
                <a:latin typeface="+mj-lt"/>
                <a:ea typeface="+mj-ea"/>
                <a:cs typeface="+mj-cs"/>
              </a:defRPr>
            </a:lvl1pPr>
            <a:lvl2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2pPr>
            <a:lvl3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3pPr>
            <a:lvl4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4pPr>
            <a:lvl5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5pPr>
            <a:lvl6pPr marL="4572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6pPr>
            <a:lvl7pPr marL="9144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7pPr>
            <a:lvl8pPr marL="13716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8pPr>
            <a:lvl9pPr marL="18288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9pPr>
          </a:lstStyle>
          <a:p>
            <a:pPr>
              <a:defRPr sz="2600" b="1">
                <a:solidFill>
                  <a:srgbClr val="000000"/>
                </a:solidFill>
                <a:latin typeface="Arial" panose="020B0604020202020204"/>
                <a:ea typeface="Arial" panose="020B0604020202020204"/>
                <a:cs typeface="Arial" panose="020B0604020202020204"/>
              </a:defRPr>
            </a:pPr>
            <a:r>
              <a:rPr lang="zh-CN" altLang="en-US" kern="0" dirty="0">
                <a:solidFill>
                  <a:srgbClr val="000000"/>
                </a:solidFill>
                <a:latin typeface="Times New Roman" panose="02020603050405020304" pitchFamily="18" charset="0"/>
                <a:ea typeface="+mn-ea"/>
                <a:cs typeface="Times New Roman" panose="02020603050405020304" pitchFamily="18" charset="0"/>
              </a:rPr>
              <a:t>实习任务三： 算子开发 </a:t>
            </a:r>
            <a:r>
              <a:rPr lang="en-US" altLang="zh-CN" kern="0" dirty="0">
                <a:solidFill>
                  <a:srgbClr val="000000"/>
                </a:solidFill>
                <a:latin typeface="Times New Roman" panose="02020603050405020304" pitchFamily="18" charset="0"/>
                <a:ea typeface="+mn-ea"/>
                <a:cs typeface="Times New Roman" panose="02020603050405020304" pitchFamily="18" charset="0"/>
              </a:rPr>
              <a:t>Skill </a:t>
            </a:r>
            <a:r>
              <a:rPr lang="zh-CN" altLang="en-US" kern="0" dirty="0">
                <a:solidFill>
                  <a:srgbClr val="000000"/>
                </a:solidFill>
                <a:latin typeface="Times New Roman" panose="02020603050405020304" pitchFamily="18" charset="0"/>
                <a:ea typeface="+mn-ea"/>
                <a:cs typeface="Times New Roman" panose="02020603050405020304" pitchFamily="18" charset="0"/>
              </a:rPr>
              <a:t>指南</a:t>
            </a:r>
            <a:endParaRPr lang="zh-CN" altLang="en-US" sz="1950" kern="0" dirty="0">
              <a:solidFill>
                <a:srgbClr val="000000"/>
              </a:solidFill>
              <a:latin typeface="Times New Roman" panose="02020603050405020304" pitchFamily="18" charset="0"/>
              <a:ea typeface="+mn-ea"/>
              <a:cs typeface="Times New Roman" panose="02020603050405020304" pitchFamily="18" charset="0"/>
            </a:endParaRPr>
          </a:p>
        </p:txBody>
      </p:sp>
      <p:sp>
        <p:nvSpPr>
          <p:cNvPr id="9" name="加号 8"/>
          <p:cNvSpPr/>
          <p:nvPr/>
        </p:nvSpPr>
        <p:spPr>
          <a:xfrm>
            <a:off x="6580857" y="3913134"/>
            <a:ext cx="260489" cy="201590"/>
          </a:xfrm>
          <a:prstGeom prst="math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矩形 74"/>
          <p:cNvSpPr/>
          <p:nvPr>
            <p:custDataLst>
              <p:tags r:id="rId1"/>
            </p:custDataLst>
          </p:nvPr>
        </p:nvSpPr>
        <p:spPr>
          <a:xfrm>
            <a:off x="459648" y="1876175"/>
            <a:ext cx="4189610" cy="4217121"/>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76" name="矩形 75"/>
          <p:cNvSpPr/>
          <p:nvPr>
            <p:custDataLst>
              <p:tags r:id="rId2"/>
            </p:custDataLst>
          </p:nvPr>
        </p:nvSpPr>
        <p:spPr>
          <a:xfrm>
            <a:off x="4982272" y="1876174"/>
            <a:ext cx="3510962" cy="4217121"/>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2" name="text_3147_计算单元、存储层次、并行结构">
            <a:extLst>
              <a:ext uri="{FF2B5EF4-FFF2-40B4-BE49-F238E27FC236}">
                <a16:creationId xmlns:a16="http://schemas.microsoft.com/office/drawing/2014/main" id="{8747286A-9CA2-991D-DAED-32D3A527EDBD}"/>
              </a:ext>
            </a:extLst>
          </p:cNvPr>
          <p:cNvSpPr>
            <a:spLocks noGrp="1"/>
          </p:cNvSpPr>
          <p:nvPr/>
        </p:nvSpPr>
        <p:spPr>
          <a:xfrm>
            <a:off x="1980591" y="4015277"/>
            <a:ext cx="1028145" cy="212544"/>
          </a:xfrm>
          <a:prstGeom prst="rect">
            <a:avLst/>
          </a:prstGeom>
          <a:noFill/>
          <a:ln w="9525">
            <a:noFill/>
          </a:ln>
        </p:spPr>
        <p:txBody>
          <a:bodyPr wrap="none" lIns="0" tIns="0" rIns="0" bIns="0" anchor="ctr">
            <a:noAutofit/>
          </a:bodyPr>
          <a:lstStyle/>
          <a:p>
            <a:pPr marL="171450" indent="-171450" algn="l">
              <a:buFont typeface="Wingdings" panose="05000000000000000000" pitchFamily="2" charset="2"/>
              <a:buChar char="Ø"/>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编程模型</a:t>
            </a:r>
            <a:endParaRPr sz="1200" dirty="0">
              <a:solidFill>
                <a:srgbClr val="242424"/>
              </a:solidFill>
              <a:latin typeface="Times New Roman" panose="02020603050405020304" pitchFamily="18" charset="0"/>
              <a:cs typeface="Times New Roman" panose="02020603050405020304" pitchFamily="18" charset="0"/>
            </a:endParaRPr>
          </a:p>
        </p:txBody>
      </p:sp>
      <p:sp>
        <p:nvSpPr>
          <p:cNvPr id="4" name="text_3147_计算单元、存储层次、并行结构">
            <a:extLst>
              <a:ext uri="{FF2B5EF4-FFF2-40B4-BE49-F238E27FC236}">
                <a16:creationId xmlns:a16="http://schemas.microsoft.com/office/drawing/2014/main" id="{47D34922-6250-847F-FF7A-ECE0F9A4D988}"/>
              </a:ext>
            </a:extLst>
          </p:cNvPr>
          <p:cNvSpPr>
            <a:spLocks noGrp="1"/>
          </p:cNvSpPr>
          <p:nvPr/>
        </p:nvSpPr>
        <p:spPr>
          <a:xfrm>
            <a:off x="2918254" y="4015277"/>
            <a:ext cx="1301417" cy="212544"/>
          </a:xfrm>
          <a:prstGeom prst="rect">
            <a:avLst/>
          </a:prstGeom>
          <a:noFill/>
          <a:ln w="9525">
            <a:noFill/>
          </a:ln>
        </p:spPr>
        <p:txBody>
          <a:bodyPr wrap="none" lIns="0" tIns="0" rIns="0" bIns="0" anchor="ctr">
            <a:noAutofit/>
          </a:bodyPr>
          <a:lstStyle/>
          <a:p>
            <a:pPr marL="171450" indent="-171450" algn="l">
              <a:buFont typeface="Wingdings" panose="05000000000000000000" pitchFamily="2" charset="2"/>
              <a:buChar char="Ø"/>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工具链与环境</a:t>
            </a:r>
            <a:endParaRPr sz="1200" dirty="0">
              <a:solidFill>
                <a:srgbClr val="242424"/>
              </a:solidFill>
              <a:latin typeface="Times New Roman" panose="02020603050405020304" pitchFamily="18" charset="0"/>
              <a:cs typeface="Times New Roman" panose="02020603050405020304" pitchFamily="18" charset="0"/>
            </a:endParaRPr>
          </a:p>
        </p:txBody>
      </p:sp>
      <p:sp>
        <p:nvSpPr>
          <p:cNvPr id="6" name="矩形 5">
            <a:extLst>
              <a:ext uri="{FF2B5EF4-FFF2-40B4-BE49-F238E27FC236}">
                <a16:creationId xmlns:a16="http://schemas.microsoft.com/office/drawing/2014/main" id="{296078D8-CF5E-1D3E-5626-18E72ACB27B6}"/>
              </a:ext>
            </a:extLst>
          </p:cNvPr>
          <p:cNvSpPr/>
          <p:nvPr/>
        </p:nvSpPr>
        <p:spPr>
          <a:xfrm>
            <a:off x="653850" y="5152798"/>
            <a:ext cx="3816936" cy="540803"/>
          </a:xfrm>
          <a:prstGeom prst="rect">
            <a:avLst/>
          </a:prstGeom>
          <a:solidFill>
            <a:schemeClr val="bg1">
              <a:lumMod val="95000"/>
            </a:schemeClr>
          </a:solidFill>
          <a:ln w="127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5" name="text_3145_硬件架构">
            <a:extLst>
              <a:ext uri="{FF2B5EF4-FFF2-40B4-BE49-F238E27FC236}">
                <a16:creationId xmlns:a16="http://schemas.microsoft.com/office/drawing/2014/main" id="{60052A4E-6013-4196-561E-B9F6FF710B2F}"/>
              </a:ext>
            </a:extLst>
          </p:cNvPr>
          <p:cNvSpPr>
            <a:spLocks noGrp="1"/>
          </p:cNvSpPr>
          <p:nvPr/>
        </p:nvSpPr>
        <p:spPr>
          <a:xfrm>
            <a:off x="879044" y="5285494"/>
            <a:ext cx="3350817" cy="294179"/>
          </a:xfrm>
          <a:prstGeom prst="rect">
            <a:avLst/>
          </a:prstGeom>
          <a:noFill/>
          <a:ln w="9525">
            <a:noFill/>
          </a:ln>
        </p:spPr>
        <p:txBody>
          <a:bodyPr wrap="none" lIns="0" tIns="0" rIns="0" bIns="0" anchor="ctr">
            <a:noAutofit/>
          </a:bodyPr>
          <a:lstStyle/>
          <a:p>
            <a:pPr marL="285750" indent="-285750" algn="l">
              <a:buFont typeface="Wingdings" panose="05000000000000000000" pitchFamily="2" charset="2"/>
              <a:buChar char="p"/>
              <a:defRPr sz="1725" b="1">
                <a:solidFill>
                  <a:srgbClr val="D7000F"/>
                </a:solidFill>
                <a:latin typeface="Arial" panose="020B0604020202020204"/>
                <a:ea typeface="Arial" panose="020B0604020202020204"/>
                <a:cs typeface="Arial" panose="020B0604020202020204"/>
              </a:defRPr>
            </a:pPr>
            <a:r>
              <a:rPr lang="zh-CN" altLang="en-US" sz="1200" b="1" dirty="0">
                <a:solidFill>
                  <a:srgbClr val="C00000"/>
                </a:solidFill>
                <a:latin typeface="Times New Roman" panose="02020603050405020304" pitchFamily="18" charset="0"/>
                <a:cs typeface="Times New Roman" panose="02020603050405020304" pitchFamily="18" charset="0"/>
              </a:rPr>
              <a:t>跨平台需要多个模块大范围修改，替换成本高</a:t>
            </a:r>
          </a:p>
        </p:txBody>
      </p:sp>
      <p:cxnSp>
        <p:nvCxnSpPr>
          <p:cNvPr id="26" name="直接箭头连接符 25">
            <a:extLst>
              <a:ext uri="{FF2B5EF4-FFF2-40B4-BE49-F238E27FC236}">
                <a16:creationId xmlns:a16="http://schemas.microsoft.com/office/drawing/2014/main" id="{EF9CC937-843B-B118-C925-8890D2955F9D}"/>
              </a:ext>
            </a:extLst>
          </p:cNvPr>
          <p:cNvCxnSpPr>
            <a:stCxn id="190" idx="3"/>
            <a:endCxn id="193" idx="1"/>
          </p:cNvCxnSpPr>
          <p:nvPr/>
        </p:nvCxnSpPr>
        <p:spPr>
          <a:xfrm>
            <a:off x="1658080" y="2597710"/>
            <a:ext cx="436502" cy="0"/>
          </a:xfrm>
          <a:prstGeom prst="straightConnector1">
            <a:avLst/>
          </a:prstGeom>
          <a:ln w="1270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8DA40A30-E313-1AE1-AC5B-5D9E42574D28}"/>
              </a:ext>
            </a:extLst>
          </p:cNvPr>
          <p:cNvCxnSpPr>
            <a:cxnSpLocks/>
            <a:stCxn id="193" idx="3"/>
            <a:endCxn id="195" idx="1"/>
          </p:cNvCxnSpPr>
          <p:nvPr/>
        </p:nvCxnSpPr>
        <p:spPr>
          <a:xfrm>
            <a:off x="2816627" y="2597710"/>
            <a:ext cx="436502" cy="0"/>
          </a:xfrm>
          <a:prstGeom prst="straightConnector1">
            <a:avLst/>
          </a:prstGeom>
          <a:ln w="1270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321F6129-A60D-43FB-9583-33B98D3E5B94}"/>
              </a:ext>
            </a:extLst>
          </p:cNvPr>
          <p:cNvCxnSpPr>
            <a:cxnSpLocks/>
          </p:cNvCxnSpPr>
          <p:nvPr/>
        </p:nvCxnSpPr>
        <p:spPr>
          <a:xfrm>
            <a:off x="4132162" y="2596070"/>
            <a:ext cx="129224" cy="0"/>
          </a:xfrm>
          <a:prstGeom prst="straightConnector1">
            <a:avLst/>
          </a:prstGeom>
          <a:ln w="1270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6AB54266-0631-228E-4CF3-6E4D1E49ADF9}"/>
              </a:ext>
            </a:extLst>
          </p:cNvPr>
          <p:cNvCxnSpPr>
            <a:stCxn id="197" idx="1"/>
          </p:cNvCxnSpPr>
          <p:nvPr/>
        </p:nvCxnSpPr>
        <p:spPr>
          <a:xfrm flipH="1" flipV="1">
            <a:off x="1547664" y="2926811"/>
            <a:ext cx="144718" cy="1"/>
          </a:xfrm>
          <a:prstGeom prst="straightConnector1">
            <a:avLst/>
          </a:prstGeom>
          <a:ln w="12700">
            <a:solidFill>
              <a:schemeClr val="accent1">
                <a:lumMod val="50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4" name="直接箭头连接符 33">
            <a:extLst>
              <a:ext uri="{FF2B5EF4-FFF2-40B4-BE49-F238E27FC236}">
                <a16:creationId xmlns:a16="http://schemas.microsoft.com/office/drawing/2014/main" id="{E4890C9E-4369-9DDD-12B1-7F1C88927B16}"/>
              </a:ext>
            </a:extLst>
          </p:cNvPr>
          <p:cNvCxnSpPr>
            <a:stCxn id="197" idx="3"/>
            <a:endCxn id="199" idx="1"/>
          </p:cNvCxnSpPr>
          <p:nvPr/>
        </p:nvCxnSpPr>
        <p:spPr>
          <a:xfrm flipV="1">
            <a:off x="2414427" y="2926184"/>
            <a:ext cx="363764" cy="628"/>
          </a:xfrm>
          <a:prstGeom prst="straightConnector1">
            <a:avLst/>
          </a:prstGeom>
          <a:ln w="1270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27DCB32A-8CDC-E3DA-5188-AFB347335F38}"/>
              </a:ext>
            </a:extLst>
          </p:cNvPr>
          <p:cNvSpPr txBox="1"/>
          <p:nvPr/>
        </p:nvSpPr>
        <p:spPr>
          <a:xfrm>
            <a:off x="899592" y="2457572"/>
            <a:ext cx="806995" cy="276999"/>
          </a:xfrm>
          <a:prstGeom prst="rect">
            <a:avLst/>
          </a:prstGeom>
          <a:noFill/>
        </p:spPr>
        <p:txBody>
          <a:bodyPr wrap="square" rtlCol="0">
            <a:spAutoFit/>
          </a:bodyPr>
          <a:lstStyle/>
          <a:p>
            <a:r>
              <a:rPr lang="zh-CN" altLang="en-US" sz="1200" dirty="0"/>
              <a:t>需求分析</a:t>
            </a:r>
          </a:p>
        </p:txBody>
      </p:sp>
      <p:sp>
        <p:nvSpPr>
          <p:cNvPr id="37" name="文本框 36">
            <a:extLst>
              <a:ext uri="{FF2B5EF4-FFF2-40B4-BE49-F238E27FC236}">
                <a16:creationId xmlns:a16="http://schemas.microsoft.com/office/drawing/2014/main" id="{D7283C95-30B4-F768-BA93-AAF986B2F8DB}"/>
              </a:ext>
            </a:extLst>
          </p:cNvPr>
          <p:cNvSpPr txBox="1"/>
          <p:nvPr/>
        </p:nvSpPr>
        <p:spPr>
          <a:xfrm>
            <a:off x="2070554" y="2461464"/>
            <a:ext cx="806995" cy="276999"/>
          </a:xfrm>
          <a:prstGeom prst="rect">
            <a:avLst/>
          </a:prstGeom>
          <a:noFill/>
        </p:spPr>
        <p:txBody>
          <a:bodyPr wrap="square" rtlCol="0">
            <a:spAutoFit/>
          </a:bodyPr>
          <a:lstStyle/>
          <a:p>
            <a:r>
              <a:rPr lang="zh-CN" altLang="en-US" sz="1200" dirty="0"/>
              <a:t>代码生成</a:t>
            </a:r>
          </a:p>
        </p:txBody>
      </p:sp>
      <p:sp>
        <p:nvSpPr>
          <p:cNvPr id="38" name="文本框 37">
            <a:extLst>
              <a:ext uri="{FF2B5EF4-FFF2-40B4-BE49-F238E27FC236}">
                <a16:creationId xmlns:a16="http://schemas.microsoft.com/office/drawing/2014/main" id="{47426C91-DAF5-3AF7-025A-94E4F8CCF63D}"/>
              </a:ext>
            </a:extLst>
          </p:cNvPr>
          <p:cNvSpPr txBox="1"/>
          <p:nvPr/>
        </p:nvSpPr>
        <p:spPr>
          <a:xfrm>
            <a:off x="3210563" y="2462553"/>
            <a:ext cx="987499" cy="276999"/>
          </a:xfrm>
          <a:prstGeom prst="rect">
            <a:avLst/>
          </a:prstGeom>
          <a:noFill/>
        </p:spPr>
        <p:txBody>
          <a:bodyPr wrap="square" rtlCol="0">
            <a:spAutoFit/>
          </a:bodyPr>
          <a:lstStyle/>
          <a:p>
            <a:r>
              <a:rPr lang="zh-CN" altLang="en-US" sz="1200" dirty="0"/>
              <a:t>正确性验证</a:t>
            </a:r>
          </a:p>
        </p:txBody>
      </p:sp>
      <p:sp>
        <p:nvSpPr>
          <p:cNvPr id="42" name="文本框 41">
            <a:extLst>
              <a:ext uri="{FF2B5EF4-FFF2-40B4-BE49-F238E27FC236}">
                <a16:creationId xmlns:a16="http://schemas.microsoft.com/office/drawing/2014/main" id="{11F00CA7-DAC5-F1FA-B81C-184479152CD5}"/>
              </a:ext>
            </a:extLst>
          </p:cNvPr>
          <p:cNvSpPr txBox="1"/>
          <p:nvPr/>
        </p:nvSpPr>
        <p:spPr>
          <a:xfrm>
            <a:off x="1654705" y="2784273"/>
            <a:ext cx="806995" cy="276999"/>
          </a:xfrm>
          <a:prstGeom prst="rect">
            <a:avLst/>
          </a:prstGeom>
          <a:noFill/>
        </p:spPr>
        <p:txBody>
          <a:bodyPr wrap="square" rtlCol="0">
            <a:spAutoFit/>
          </a:bodyPr>
          <a:lstStyle/>
          <a:p>
            <a:r>
              <a:rPr lang="zh-CN" altLang="en-US" sz="1200" dirty="0"/>
              <a:t>性能分析</a:t>
            </a:r>
          </a:p>
        </p:txBody>
      </p:sp>
      <p:sp>
        <p:nvSpPr>
          <p:cNvPr id="43" name="文本框 42">
            <a:extLst>
              <a:ext uri="{FF2B5EF4-FFF2-40B4-BE49-F238E27FC236}">
                <a16:creationId xmlns:a16="http://schemas.microsoft.com/office/drawing/2014/main" id="{DC4A95E1-233C-D67C-5188-1EC51DFBED2F}"/>
              </a:ext>
            </a:extLst>
          </p:cNvPr>
          <p:cNvSpPr txBox="1"/>
          <p:nvPr/>
        </p:nvSpPr>
        <p:spPr>
          <a:xfrm>
            <a:off x="2747132" y="2787020"/>
            <a:ext cx="806995" cy="276999"/>
          </a:xfrm>
          <a:prstGeom prst="rect">
            <a:avLst/>
          </a:prstGeom>
          <a:noFill/>
        </p:spPr>
        <p:txBody>
          <a:bodyPr wrap="square" rtlCol="0">
            <a:spAutoFit/>
          </a:bodyPr>
          <a:lstStyle/>
          <a:p>
            <a:r>
              <a:rPr lang="zh-CN" altLang="en-US" sz="1200" dirty="0"/>
              <a:t>迭代优化</a:t>
            </a:r>
          </a:p>
        </p:txBody>
      </p:sp>
      <p:sp>
        <p:nvSpPr>
          <p:cNvPr id="44" name="矩形 43">
            <a:extLst>
              <a:ext uri="{FF2B5EF4-FFF2-40B4-BE49-F238E27FC236}">
                <a16:creationId xmlns:a16="http://schemas.microsoft.com/office/drawing/2014/main" id="{CF6FA1E9-7797-86BB-C3C4-DE0DB74907E4}"/>
              </a:ext>
            </a:extLst>
          </p:cNvPr>
          <p:cNvSpPr/>
          <p:nvPr/>
        </p:nvSpPr>
        <p:spPr>
          <a:xfrm>
            <a:off x="5090192" y="2080994"/>
            <a:ext cx="3290798" cy="1587757"/>
          </a:xfrm>
          <a:prstGeom prst="rect">
            <a:avLst/>
          </a:prstGeom>
          <a:solidFill>
            <a:schemeClr val="bg1">
              <a:lumMod val="95000"/>
            </a:schemeClr>
          </a:solidFill>
          <a:ln w="127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45" name="s2-obj91">
            <a:extLst>
              <a:ext uri="{FF2B5EF4-FFF2-40B4-BE49-F238E27FC236}">
                <a16:creationId xmlns:a16="http://schemas.microsoft.com/office/drawing/2014/main" id="{D7EBDC76-2127-4F59-A506-54C453C026FC}"/>
              </a:ext>
            </a:extLst>
          </p:cNvPr>
          <p:cNvSpPr>
            <a:spLocks noGrp="1"/>
          </p:cNvSpPr>
          <p:nvPr/>
        </p:nvSpPr>
        <p:spPr>
          <a:xfrm>
            <a:off x="5228092" y="2131038"/>
            <a:ext cx="1693073" cy="289261"/>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p"/>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通用开发流程</a:t>
            </a:r>
          </a:p>
        </p:txBody>
      </p:sp>
      <p:sp>
        <p:nvSpPr>
          <p:cNvPr id="46" name="文本框 45">
            <a:extLst>
              <a:ext uri="{FF2B5EF4-FFF2-40B4-BE49-F238E27FC236}">
                <a16:creationId xmlns:a16="http://schemas.microsoft.com/office/drawing/2014/main" id="{2B242F71-B01C-835A-6645-976EECEF85D7}"/>
              </a:ext>
            </a:extLst>
          </p:cNvPr>
          <p:cNvSpPr txBox="1"/>
          <p:nvPr/>
        </p:nvSpPr>
        <p:spPr>
          <a:xfrm>
            <a:off x="5200952" y="2376230"/>
            <a:ext cx="1693073" cy="1167371"/>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en-US" altLang="zh-CN" sz="1200" dirty="0">
                <a:latin typeface="Times New Roman" panose="02020603050405020304" pitchFamily="18" charset="0"/>
                <a:cs typeface="Times New Roman" panose="02020603050405020304" pitchFamily="18" charset="0"/>
              </a:rPr>
              <a:t>Workflow</a:t>
            </a:r>
            <a:r>
              <a:rPr lang="zh-CN" altLang="en-US" sz="1200" dirty="0">
                <a:latin typeface="Times New Roman" panose="02020603050405020304" pitchFamily="18" charset="0"/>
                <a:cs typeface="Times New Roman" panose="02020603050405020304" pitchFamily="18" charset="0"/>
              </a:rPr>
              <a:t>；</a:t>
            </a:r>
            <a:endParaRPr lang="en-US" altLang="zh-CN" sz="1200" dirty="0">
              <a:latin typeface="Times New Roman" panose="02020603050405020304" pitchFamily="18" charset="0"/>
              <a:cs typeface="Times New Roman" panose="02020603050405020304" pitchFamily="18" charset="0"/>
            </a:endParaRPr>
          </a:p>
          <a:p>
            <a:pPr marL="285750" indent="-285750">
              <a:lnSpc>
                <a:spcPct val="150000"/>
              </a:lnSpc>
              <a:buFont typeface="Wingdings" panose="05000000000000000000" pitchFamily="2" charset="2"/>
              <a:buChar char="Ø"/>
            </a:pPr>
            <a:r>
              <a:rPr lang="zh-CN" altLang="en-US" sz="1200" dirty="0">
                <a:latin typeface="Times New Roman" panose="02020603050405020304" pitchFamily="18" charset="0"/>
                <a:cs typeface="Times New Roman" panose="02020603050405020304" pitchFamily="18" charset="0"/>
              </a:rPr>
              <a:t>阶段产物；</a:t>
            </a:r>
          </a:p>
          <a:p>
            <a:pPr marL="285750" indent="-285750">
              <a:lnSpc>
                <a:spcPct val="150000"/>
              </a:lnSpc>
              <a:buFont typeface="Wingdings" panose="05000000000000000000" pitchFamily="2" charset="2"/>
              <a:buChar char="Ø"/>
            </a:pPr>
            <a:r>
              <a:rPr lang="zh-CN" altLang="en-US" sz="1200" dirty="0">
                <a:latin typeface="Times New Roman" panose="02020603050405020304" pitchFamily="18" charset="0"/>
                <a:cs typeface="Times New Roman" panose="02020603050405020304" pitchFamily="18" charset="0"/>
              </a:rPr>
              <a:t>验证机制；</a:t>
            </a:r>
          </a:p>
          <a:p>
            <a:pPr marL="285750" indent="-285750">
              <a:lnSpc>
                <a:spcPct val="150000"/>
              </a:lnSpc>
              <a:buFont typeface="Wingdings" panose="05000000000000000000" pitchFamily="2" charset="2"/>
              <a:buChar char="Ø"/>
            </a:pPr>
            <a:r>
              <a:rPr lang="en-US" altLang="zh-CN" sz="1200" dirty="0">
                <a:latin typeface="Times New Roman" panose="02020603050405020304" pitchFamily="18" charset="0"/>
                <a:cs typeface="Times New Roman" panose="02020603050405020304" pitchFamily="18" charset="0"/>
              </a:rPr>
              <a:t>Agent </a:t>
            </a:r>
            <a:r>
              <a:rPr lang="zh-CN" altLang="en-US" sz="1200" dirty="0">
                <a:latin typeface="Times New Roman" panose="02020603050405020304" pitchFamily="18" charset="0"/>
                <a:cs typeface="Times New Roman" panose="02020603050405020304" pitchFamily="18" charset="0"/>
              </a:rPr>
              <a:t>协作。</a:t>
            </a:r>
          </a:p>
        </p:txBody>
      </p:sp>
      <p:sp>
        <p:nvSpPr>
          <p:cNvPr id="156" name="Rectangle 1"/>
          <p:cNvSpPr>
            <a:spLocks noChangeArrowheads="1"/>
          </p:cNvSpPr>
          <p:nvPr/>
        </p:nvSpPr>
        <p:spPr bwMode="auto">
          <a:xfrm>
            <a:off x="6711102" y="2700591"/>
            <a:ext cx="697640" cy="253916"/>
          </a:xfrm>
          <a:prstGeom prst="rect">
            <a:avLst/>
          </a:prstGeom>
          <a:noFill/>
          <a:ln w="12700">
            <a:solidFill>
              <a:srgbClr val="D7000F"/>
            </a:solidFill>
            <a:prstDash val="sysDash"/>
            <a:miter lim="800000"/>
          </a:ln>
          <a:effectLst>
            <a:outerShdw dist="35921" dir="2700000" algn="ctr" rotWithShape="0">
              <a:schemeClr val="bg2"/>
            </a:outerShdw>
          </a:effectLst>
          <a:extLst>
            <a:ext uri="{909E8E84-426E-40DD-AFC4-6F175D3DCCD1}">
              <a14:hiddenFill xmlns:a14="http://schemas.microsoft.com/office/drawing/2010/main">
                <a:solidFill>
                  <a:schemeClr val="accent1"/>
                </a:solidFill>
              </a14:hiddenFill>
            </a:ext>
          </a:extLst>
        </p:spPr>
        <p:txBody>
          <a:bodyPr vert="horz" wrap="square" lIns="68580" tIns="34290" rIns="68580" bIns="34290" numCol="1" anchor="ctr" anchorCtr="0" compatLnSpc="1">
            <a:spAutoFit/>
          </a:bodyPr>
          <a:lstStyle/>
          <a:p>
            <a:pPr algn="ctr" eaLnBrk="0" fontAlgn="base" hangingPunct="0">
              <a:spcBef>
                <a:spcPct val="0"/>
              </a:spcBef>
              <a:spcAft>
                <a:spcPct val="0"/>
              </a:spcAft>
            </a:pPr>
            <a:r>
              <a:rPr lang="zh-CN" altLang="en-US" sz="1200" dirty="0">
                <a:solidFill>
                  <a:srgbClr val="C00000"/>
                </a:solidFill>
                <a:latin typeface="Times New Roman" panose="02020603050405020304" pitchFamily="18" charset="0"/>
                <a:cs typeface="Times New Roman" panose="02020603050405020304" pitchFamily="18" charset="0"/>
              </a:rPr>
              <a:t>可复用</a:t>
            </a:r>
          </a:p>
        </p:txBody>
      </p:sp>
      <p:sp>
        <p:nvSpPr>
          <p:cNvPr id="47" name="Rectangle 1">
            <a:extLst>
              <a:ext uri="{FF2B5EF4-FFF2-40B4-BE49-F238E27FC236}">
                <a16:creationId xmlns:a16="http://schemas.microsoft.com/office/drawing/2014/main" id="{10A094A4-F410-9612-ADB9-7FADFC2D987B}"/>
              </a:ext>
            </a:extLst>
          </p:cNvPr>
          <p:cNvSpPr>
            <a:spLocks noChangeArrowheads="1"/>
          </p:cNvSpPr>
          <p:nvPr/>
        </p:nvSpPr>
        <p:spPr bwMode="auto">
          <a:xfrm>
            <a:off x="6921165" y="3874592"/>
            <a:ext cx="891196" cy="253916"/>
          </a:xfrm>
          <a:prstGeom prst="rect">
            <a:avLst/>
          </a:prstGeom>
          <a:noFill/>
          <a:ln w="12700">
            <a:solidFill>
              <a:srgbClr val="D7000F"/>
            </a:solidFill>
            <a:prstDash val="sysDash"/>
            <a:miter lim="800000"/>
          </a:ln>
          <a:effectLst>
            <a:outerShdw dist="35921" dir="2700000" algn="ctr" rotWithShape="0">
              <a:schemeClr val="bg2"/>
            </a:outerShdw>
          </a:effectLst>
          <a:extLst>
            <a:ext uri="{909E8E84-426E-40DD-AFC4-6F175D3DCCD1}">
              <a14:hiddenFill xmlns:a14="http://schemas.microsoft.com/office/drawing/2010/main">
                <a:solidFill>
                  <a:schemeClr val="accent1"/>
                </a:solidFill>
              </a14:hiddenFill>
            </a:ext>
          </a:extLst>
        </p:spPr>
        <p:txBody>
          <a:bodyPr vert="horz" wrap="square" lIns="68580" tIns="34290" rIns="68580" bIns="34290" numCol="1" anchor="ctr" anchorCtr="0" compatLnSpc="1">
            <a:spAutoFit/>
          </a:bodyPr>
          <a:lstStyle/>
          <a:p>
            <a:pPr algn="ctr" eaLnBrk="0" fontAlgn="base" hangingPunct="0">
              <a:spcBef>
                <a:spcPct val="0"/>
              </a:spcBef>
              <a:spcAft>
                <a:spcPct val="0"/>
              </a:spcAft>
            </a:pPr>
            <a:r>
              <a:rPr lang="zh-CN" altLang="en-US" sz="1200" dirty="0">
                <a:solidFill>
                  <a:srgbClr val="C00000"/>
                </a:solidFill>
                <a:latin typeface="Times New Roman" panose="02020603050405020304" pitchFamily="18" charset="0"/>
                <a:cs typeface="Times New Roman" panose="02020603050405020304" pitchFamily="18" charset="0"/>
              </a:rPr>
              <a:t>进行解耦</a:t>
            </a:r>
          </a:p>
        </p:txBody>
      </p:sp>
      <p:sp>
        <p:nvSpPr>
          <p:cNvPr id="48" name="矩形 47">
            <a:extLst>
              <a:ext uri="{FF2B5EF4-FFF2-40B4-BE49-F238E27FC236}">
                <a16:creationId xmlns:a16="http://schemas.microsoft.com/office/drawing/2014/main" id="{0E009C75-1089-7C99-5678-681E83B8F219}"/>
              </a:ext>
            </a:extLst>
          </p:cNvPr>
          <p:cNvSpPr/>
          <p:nvPr/>
        </p:nvSpPr>
        <p:spPr>
          <a:xfrm>
            <a:off x="5096368" y="4327309"/>
            <a:ext cx="3290798" cy="1587757"/>
          </a:xfrm>
          <a:prstGeom prst="rect">
            <a:avLst/>
          </a:prstGeom>
          <a:solidFill>
            <a:schemeClr val="bg1">
              <a:lumMod val="95000"/>
            </a:schemeClr>
          </a:solidFill>
          <a:ln w="127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49" name="s2-obj91">
            <a:extLst>
              <a:ext uri="{FF2B5EF4-FFF2-40B4-BE49-F238E27FC236}">
                <a16:creationId xmlns:a16="http://schemas.microsoft.com/office/drawing/2014/main" id="{1FE0B5D4-0348-5196-4FCD-552F91C7BCF6}"/>
              </a:ext>
            </a:extLst>
          </p:cNvPr>
          <p:cNvSpPr>
            <a:spLocks noGrp="1"/>
          </p:cNvSpPr>
          <p:nvPr/>
        </p:nvSpPr>
        <p:spPr>
          <a:xfrm>
            <a:off x="5234268" y="4377353"/>
            <a:ext cx="1693073" cy="289261"/>
          </a:xfrm>
          <a:prstGeom prst="rect">
            <a:avLst/>
          </a:prstGeom>
          <a:noFill/>
          <a:ln w="0">
            <a:noFill/>
          </a:ln>
        </p:spPr>
        <p:txBody>
          <a:bodyPr wrap="none" lIns="0" tIns="0" rIns="0" bIns="0" anchor="ctr">
            <a:noAutofit/>
          </a:bodyPr>
          <a:lstStyle/>
          <a:p>
            <a:pPr marL="285750" indent="-285750" algn="l">
              <a:buFont typeface="Wingdings" panose="05000000000000000000" pitchFamily="2" charset="2"/>
              <a:buChar char="p"/>
              <a:defRPr sz="1275" b="1">
                <a:solidFill>
                  <a:srgbClr val="092853"/>
                </a:solidFill>
                <a:latin typeface="微软雅黑" panose="020B0503020204020204" pitchFamily="34" charset="-122"/>
                <a:ea typeface="微软雅黑" panose="020B0503020204020204" pitchFamily="34" charset="-122"/>
                <a:cs typeface="微软雅黑" panose="020B0503020204020204" pitchFamily="34" charset="-122"/>
              </a:defRPr>
            </a:pPr>
            <a:r>
              <a:rPr lang="zh-CN" altLang="en-US" sz="1200" b="1" dirty="0">
                <a:solidFill>
                  <a:schemeClr val="tx1">
                    <a:lumMod val="95000"/>
                    <a:lumOff val="5000"/>
                  </a:schemeClr>
                </a:solidFill>
                <a:latin typeface="Times New Roman" panose="02020603050405020304" pitchFamily="18" charset="0"/>
                <a:ea typeface="微软雅黑" panose="020B0503020204020204" pitchFamily="34" charset="-122"/>
                <a:cs typeface="Times New Roman" panose="02020603050405020304" pitchFamily="18" charset="0"/>
              </a:rPr>
              <a:t>平台资料</a:t>
            </a:r>
          </a:p>
        </p:txBody>
      </p:sp>
      <p:sp>
        <p:nvSpPr>
          <p:cNvPr id="50" name="文本框 49">
            <a:extLst>
              <a:ext uri="{FF2B5EF4-FFF2-40B4-BE49-F238E27FC236}">
                <a16:creationId xmlns:a16="http://schemas.microsoft.com/office/drawing/2014/main" id="{68510A77-0CE7-30C7-4E65-401F212EC3A5}"/>
              </a:ext>
            </a:extLst>
          </p:cNvPr>
          <p:cNvSpPr txBox="1"/>
          <p:nvPr/>
        </p:nvSpPr>
        <p:spPr>
          <a:xfrm>
            <a:off x="5207128" y="4622545"/>
            <a:ext cx="2173184" cy="1167371"/>
          </a:xfrm>
          <a:prstGeom prst="rect">
            <a:avLst/>
          </a:prstGeom>
          <a:noFill/>
        </p:spPr>
        <p:txBody>
          <a:bodyPr wrap="square" rtlCol="0">
            <a:spAutoFit/>
          </a:bodyPr>
          <a:lstStyle/>
          <a:p>
            <a:pPr marL="285750" indent="-285750">
              <a:lnSpc>
                <a:spcPct val="150000"/>
              </a:lnSpc>
              <a:buFont typeface="Wingdings" panose="05000000000000000000" pitchFamily="2" charset="2"/>
              <a:buChar char="Ø"/>
            </a:pPr>
            <a:r>
              <a:rPr lang="zh-CN" altLang="en-US" sz="1200" dirty="0"/>
              <a:t>硬件架构；</a:t>
            </a:r>
            <a:endParaRPr lang="en-US" altLang="zh-CN" sz="1200" dirty="0"/>
          </a:p>
          <a:p>
            <a:pPr marL="285750" indent="-285750">
              <a:lnSpc>
                <a:spcPct val="150000"/>
              </a:lnSpc>
              <a:buFont typeface="Wingdings" panose="05000000000000000000" pitchFamily="2" charset="2"/>
              <a:buChar char="Ø"/>
            </a:pPr>
            <a:r>
              <a:rPr lang="zh-CN" altLang="en-US" sz="1200" dirty="0"/>
              <a:t>编程模型；</a:t>
            </a:r>
          </a:p>
          <a:p>
            <a:pPr marL="285750" indent="-285750">
              <a:lnSpc>
                <a:spcPct val="150000"/>
              </a:lnSpc>
              <a:buFont typeface="Wingdings" panose="05000000000000000000" pitchFamily="2" charset="2"/>
              <a:buChar char="Ø"/>
            </a:pPr>
            <a:r>
              <a:rPr lang="zh-CN" altLang="en-US" sz="1200" dirty="0"/>
              <a:t>开发环境与工具链；</a:t>
            </a:r>
          </a:p>
          <a:p>
            <a:pPr marL="285750" indent="-285750">
              <a:lnSpc>
                <a:spcPct val="150000"/>
              </a:lnSpc>
              <a:buFont typeface="Wingdings" panose="05000000000000000000" pitchFamily="2" charset="2"/>
              <a:buChar char="Ø"/>
            </a:pPr>
            <a:r>
              <a:rPr lang="zh-CN" altLang="en-US" sz="1200" dirty="0"/>
              <a:t>优化方法及高性能案例。</a:t>
            </a:r>
          </a:p>
        </p:txBody>
      </p:sp>
      <p:sp>
        <p:nvSpPr>
          <p:cNvPr id="51" name="Rectangle 1">
            <a:extLst>
              <a:ext uri="{FF2B5EF4-FFF2-40B4-BE49-F238E27FC236}">
                <a16:creationId xmlns:a16="http://schemas.microsoft.com/office/drawing/2014/main" id="{41C52B34-1CB1-32F9-449C-FC1931EB4DD1}"/>
              </a:ext>
            </a:extLst>
          </p:cNvPr>
          <p:cNvSpPr>
            <a:spLocks noChangeArrowheads="1"/>
          </p:cNvSpPr>
          <p:nvPr/>
        </p:nvSpPr>
        <p:spPr bwMode="auto">
          <a:xfrm>
            <a:off x="7123507" y="4865000"/>
            <a:ext cx="807050" cy="253916"/>
          </a:xfrm>
          <a:prstGeom prst="rect">
            <a:avLst/>
          </a:prstGeom>
          <a:noFill/>
          <a:ln w="12700">
            <a:solidFill>
              <a:srgbClr val="D7000F"/>
            </a:solidFill>
            <a:prstDash val="sysDash"/>
            <a:miter lim="800000"/>
          </a:ln>
          <a:effectLst>
            <a:outerShdw dist="35921" dir="2700000" algn="ctr" rotWithShape="0">
              <a:schemeClr val="bg2"/>
            </a:outerShdw>
          </a:effectLst>
          <a:extLst>
            <a:ext uri="{909E8E84-426E-40DD-AFC4-6F175D3DCCD1}">
              <a14:hiddenFill xmlns:a14="http://schemas.microsoft.com/office/drawing/2010/main">
                <a:solidFill>
                  <a:schemeClr val="accent1"/>
                </a:solidFill>
              </a14:hiddenFill>
            </a:ext>
          </a:extLst>
        </p:spPr>
        <p:txBody>
          <a:bodyPr vert="horz" wrap="square" lIns="68580" tIns="34290" rIns="68580" bIns="34290" numCol="1" anchor="ctr" anchorCtr="0" compatLnSpc="1">
            <a:spAutoFit/>
          </a:bodyPr>
          <a:lstStyle/>
          <a:p>
            <a:pPr algn="ctr" eaLnBrk="0" fontAlgn="base" hangingPunct="0">
              <a:spcBef>
                <a:spcPct val="0"/>
              </a:spcBef>
              <a:spcAft>
                <a:spcPct val="0"/>
              </a:spcAft>
            </a:pPr>
            <a:r>
              <a:rPr lang="zh-CN" altLang="en-US" sz="1200" dirty="0">
                <a:solidFill>
                  <a:srgbClr val="C00000"/>
                </a:solidFill>
                <a:latin typeface="Times New Roman" panose="02020603050405020304" pitchFamily="18" charset="0"/>
                <a:cs typeface="Times New Roman" panose="02020603050405020304" pitchFamily="18" charset="0"/>
              </a:rPr>
              <a:t>进行替换</a:t>
            </a:r>
          </a:p>
        </p:txBody>
      </p:sp>
      <p:sp>
        <p:nvSpPr>
          <p:cNvPr id="52" name="Rectangle 1">
            <a:extLst>
              <a:ext uri="{FF2B5EF4-FFF2-40B4-BE49-F238E27FC236}">
                <a16:creationId xmlns:a16="http://schemas.microsoft.com/office/drawing/2014/main" id="{C1597471-4A01-7D3D-39DA-8B11B20400E0}"/>
              </a:ext>
            </a:extLst>
          </p:cNvPr>
          <p:cNvSpPr>
            <a:spLocks noChangeArrowheads="1"/>
          </p:cNvSpPr>
          <p:nvPr/>
        </p:nvSpPr>
        <p:spPr bwMode="auto">
          <a:xfrm>
            <a:off x="2414427" y="2059034"/>
            <a:ext cx="2016224" cy="253916"/>
          </a:xfrm>
          <a:prstGeom prst="rect">
            <a:avLst/>
          </a:prstGeom>
          <a:noFill/>
          <a:ln w="12700">
            <a:solidFill>
              <a:srgbClr val="D7000F"/>
            </a:solidFill>
            <a:prstDash val="sysDash"/>
            <a:miter lim="800000"/>
          </a:ln>
          <a:effectLst>
            <a:outerShdw dist="35921" dir="2700000" algn="ctr" rotWithShape="0">
              <a:schemeClr val="bg2"/>
            </a:outerShdw>
          </a:effectLst>
          <a:extLst>
            <a:ext uri="{909E8E84-426E-40DD-AFC4-6F175D3DCCD1}">
              <a14:hiddenFill xmlns:a14="http://schemas.microsoft.com/office/drawing/2010/main">
                <a:solidFill>
                  <a:schemeClr val="accent1"/>
                </a:solidFill>
              </a14:hiddenFill>
            </a:ext>
          </a:extLst>
        </p:spPr>
        <p:txBody>
          <a:bodyPr vert="horz" wrap="square" lIns="68580" tIns="34290" rIns="68580" bIns="34290" numCol="1" anchor="ctr" anchorCtr="0" compatLnSpc="1">
            <a:spAutoFit/>
          </a:bodyPr>
          <a:lstStyle/>
          <a:p>
            <a:pPr algn="ctr" eaLnBrk="0" fontAlgn="base" hangingPunct="0">
              <a:spcBef>
                <a:spcPct val="0"/>
              </a:spcBef>
              <a:spcAft>
                <a:spcPct val="0"/>
              </a:spcAft>
            </a:pPr>
            <a:r>
              <a:rPr lang="zh-CN" altLang="en-US" sz="1200" dirty="0">
                <a:solidFill>
                  <a:srgbClr val="C00000"/>
                </a:solidFill>
                <a:latin typeface="Times New Roman" panose="02020603050405020304" pitchFamily="18" charset="0"/>
                <a:cs typeface="Times New Roman" panose="02020603050405020304" pitchFamily="18" charset="0"/>
              </a:rPr>
              <a:t>算子的开发流程具有通用性</a:t>
            </a:r>
          </a:p>
        </p:txBody>
      </p:sp>
      <p:sp>
        <p:nvSpPr>
          <p:cNvPr id="53" name="Rectangle 1">
            <a:extLst>
              <a:ext uri="{FF2B5EF4-FFF2-40B4-BE49-F238E27FC236}">
                <a16:creationId xmlns:a16="http://schemas.microsoft.com/office/drawing/2014/main" id="{96F7944B-E395-47FE-5B1D-354A57BEC9B5}"/>
              </a:ext>
            </a:extLst>
          </p:cNvPr>
          <p:cNvSpPr>
            <a:spLocks noChangeArrowheads="1"/>
          </p:cNvSpPr>
          <p:nvPr/>
        </p:nvSpPr>
        <p:spPr bwMode="auto">
          <a:xfrm>
            <a:off x="2984232" y="3281127"/>
            <a:ext cx="1440160" cy="253916"/>
          </a:xfrm>
          <a:prstGeom prst="rect">
            <a:avLst/>
          </a:prstGeom>
          <a:noFill/>
          <a:ln w="12700">
            <a:solidFill>
              <a:srgbClr val="D7000F"/>
            </a:solidFill>
            <a:prstDash val="sysDash"/>
            <a:miter lim="800000"/>
          </a:ln>
          <a:effectLst>
            <a:outerShdw dist="35921" dir="2700000" algn="ctr" rotWithShape="0">
              <a:schemeClr val="bg2"/>
            </a:outerShdw>
          </a:effectLst>
          <a:extLst>
            <a:ext uri="{909E8E84-426E-40DD-AFC4-6F175D3DCCD1}">
              <a14:hiddenFill xmlns:a14="http://schemas.microsoft.com/office/drawing/2010/main">
                <a:solidFill>
                  <a:schemeClr val="accent1"/>
                </a:solidFill>
              </a14:hiddenFill>
            </a:ext>
          </a:extLst>
        </p:spPr>
        <p:txBody>
          <a:bodyPr vert="horz" wrap="square" lIns="68580" tIns="34290" rIns="68580" bIns="34290" numCol="1" anchor="ctr" anchorCtr="0" compatLnSpc="1">
            <a:spAutoFit/>
          </a:bodyPr>
          <a:lstStyle/>
          <a:p>
            <a:pPr algn="ctr" eaLnBrk="0" fontAlgn="base" hangingPunct="0">
              <a:spcBef>
                <a:spcPct val="0"/>
              </a:spcBef>
              <a:spcAft>
                <a:spcPct val="0"/>
              </a:spcAft>
            </a:pPr>
            <a:r>
              <a:rPr lang="zh-CN" altLang="en-US" sz="1200" dirty="0">
                <a:solidFill>
                  <a:srgbClr val="C00000"/>
                </a:solidFill>
                <a:latin typeface="Times New Roman" panose="02020603050405020304" pitchFamily="18" charset="0"/>
                <a:cs typeface="Times New Roman" panose="02020603050405020304" pitchFamily="18" charset="0"/>
              </a:rPr>
              <a:t>平台资料替换困难</a:t>
            </a:r>
          </a:p>
        </p:txBody>
      </p:sp>
    </p:spTree>
    <p:extLst>
      <p:ext uri="{BB962C8B-B14F-4D97-AF65-F5344CB8AC3E}">
        <p14:creationId xmlns:p14="http://schemas.microsoft.com/office/powerpoint/2010/main" val="26234685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矩形: 圆角 46"/>
          <p:cNvSpPr/>
          <p:nvPr/>
        </p:nvSpPr>
        <p:spPr>
          <a:xfrm>
            <a:off x="557212" y="2649765"/>
            <a:ext cx="7358063" cy="551401"/>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6" name="connector_3203"/>
          <p:cNvSpPr>
            <a:spLocks noGrp="1"/>
          </p:cNvSpPr>
          <p:nvPr/>
        </p:nvSpPr>
        <p:spPr>
          <a:xfrm>
            <a:off x="542925" y="2193131"/>
            <a:ext cx="1585913" cy="14288"/>
          </a:xfrm>
          <a:custGeom>
            <a:avLst/>
            <a:gdLst/>
            <a:ahLst/>
            <a:cxnLst/>
            <a:rect l="0" t="0" r="0" b="0"/>
            <a:pathLst>
              <a:path w="2114550" h="19050">
                <a:moveTo>
                  <a:pt x="9525" y="9525"/>
                </a:moveTo>
                <a:lnTo>
                  <a:pt x="2105025" y="9525"/>
                </a:lnTo>
              </a:path>
            </a:pathLst>
          </a:custGeom>
          <a:noFill/>
          <a:ln w="16193">
            <a:solidFill>
              <a:schemeClr val="tx1"/>
            </a:solidFill>
          </a:ln>
        </p:spPr>
      </p:sp>
      <p:sp>
        <p:nvSpPr>
          <p:cNvPr id="30" name="connector_3245"/>
          <p:cNvSpPr>
            <a:spLocks noGrp="1"/>
          </p:cNvSpPr>
          <p:nvPr/>
        </p:nvSpPr>
        <p:spPr>
          <a:xfrm>
            <a:off x="542925" y="3842760"/>
            <a:ext cx="1585913" cy="14288"/>
          </a:xfrm>
          <a:custGeom>
            <a:avLst/>
            <a:gdLst/>
            <a:ahLst/>
            <a:cxnLst/>
            <a:rect l="0" t="0" r="0" b="0"/>
            <a:pathLst>
              <a:path w="2114550" h="19050">
                <a:moveTo>
                  <a:pt x="9525" y="9525"/>
                </a:moveTo>
                <a:lnTo>
                  <a:pt x="2105025" y="9525"/>
                </a:lnTo>
              </a:path>
            </a:pathLst>
          </a:custGeom>
          <a:noFill/>
          <a:ln w="16193">
            <a:solidFill>
              <a:schemeClr val="tx1"/>
            </a:solidFill>
          </a:ln>
        </p:spPr>
      </p:sp>
      <p:sp>
        <p:nvSpPr>
          <p:cNvPr id="141" name="object_3354"/>
          <p:cNvSpPr>
            <a:spLocks noGrp="1"/>
          </p:cNvSpPr>
          <p:nvPr/>
        </p:nvSpPr>
        <p:spPr>
          <a:xfrm>
            <a:off x="2448903" y="2794264"/>
            <a:ext cx="1168385" cy="247130"/>
          </a:xfrm>
          <a:prstGeom prst="rect">
            <a:avLst/>
          </a:prstGeom>
          <a:solidFill>
            <a:srgbClr val="FFFFFF"/>
          </a:solidFill>
          <a:ln w="17145">
            <a:solidFill>
              <a:schemeClr val="tx1"/>
            </a:solidFill>
          </a:ln>
        </p:spPr>
      </p:sp>
      <p:sp>
        <p:nvSpPr>
          <p:cNvPr id="142" name="text_3356_Workflow"/>
          <p:cNvSpPr>
            <a:spLocks noGrp="1"/>
          </p:cNvSpPr>
          <p:nvPr/>
        </p:nvSpPr>
        <p:spPr>
          <a:xfrm>
            <a:off x="564357" y="2314575"/>
            <a:ext cx="1407319" cy="178594"/>
          </a:xfrm>
          <a:prstGeom prst="rect">
            <a:avLst/>
          </a:prstGeom>
          <a:noFill/>
          <a:ln w="9525">
            <a:noFill/>
          </a:ln>
        </p:spPr>
        <p:txBody>
          <a:bodyPr wrap="none" lIns="0" tIns="0" rIns="0" bIns="0" anchor="ctr">
            <a:noAutofit/>
          </a:bodyPr>
          <a:lstStyle/>
          <a:p>
            <a:pPr algn="ctr">
              <a:defRPr sz="1350" b="1">
                <a:solidFill>
                  <a:srgbClr val="000000"/>
                </a:solidFill>
                <a:latin typeface="Arial" panose="020B0604020202020204"/>
                <a:ea typeface="Arial" panose="020B0604020202020204"/>
                <a:cs typeface="Arial" panose="020B0604020202020204"/>
              </a:defRPr>
            </a:pPr>
            <a:r>
              <a:rPr lang="zh-CN" altLang="en-US" sz="1015" b="1" dirty="0">
                <a:solidFill>
                  <a:srgbClr val="000000"/>
                </a:solidFill>
                <a:latin typeface="Times New Roman" panose="02020603050405020304" pitchFamily="18" charset="0"/>
                <a:cs typeface="Times New Roman" panose="02020603050405020304" pitchFamily="18" charset="0"/>
              </a:rPr>
              <a:t>通用流程保持不变</a:t>
            </a:r>
            <a:endParaRPr sz="1015" b="1" dirty="0">
              <a:solidFill>
                <a:srgbClr val="000000"/>
              </a:solidFill>
              <a:latin typeface="Times New Roman" panose="02020603050405020304" pitchFamily="18" charset="0"/>
              <a:cs typeface="Times New Roman" panose="02020603050405020304" pitchFamily="18" charset="0"/>
            </a:endParaRPr>
          </a:p>
        </p:txBody>
      </p:sp>
      <p:sp>
        <p:nvSpPr>
          <p:cNvPr id="143" name="object_3500"/>
          <p:cNvSpPr>
            <a:spLocks noGrp="1"/>
          </p:cNvSpPr>
          <p:nvPr/>
        </p:nvSpPr>
        <p:spPr>
          <a:xfrm>
            <a:off x="2409392" y="2307431"/>
            <a:ext cx="722045" cy="214313"/>
          </a:xfrm>
          <a:prstGeom prst="rect">
            <a:avLst/>
          </a:prstGeom>
          <a:solidFill>
            <a:srgbClr val="F2F2F2"/>
          </a:solidFill>
          <a:ln w="17145">
            <a:solidFill>
              <a:schemeClr val="tx1"/>
            </a:solidFill>
          </a:ln>
        </p:spPr>
      </p:sp>
      <p:sp>
        <p:nvSpPr>
          <p:cNvPr id="144" name="text_3502_官方资料"/>
          <p:cNvSpPr>
            <a:spLocks noGrp="1"/>
          </p:cNvSpPr>
          <p:nvPr/>
        </p:nvSpPr>
        <p:spPr>
          <a:xfrm>
            <a:off x="2466542" y="2322207"/>
            <a:ext cx="607745" cy="178594"/>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zh-CN" altLang="en-US" sz="1180" dirty="0">
                <a:solidFill>
                  <a:srgbClr val="000000"/>
                </a:solidFill>
                <a:latin typeface="+mn-ea"/>
                <a:cs typeface="Times New Roman" panose="02020603050405020304" pitchFamily="18" charset="0"/>
              </a:rPr>
              <a:t>需求</a:t>
            </a:r>
            <a:r>
              <a:rPr lang="zh-CN" altLang="en-US" sz="1180" dirty="0">
                <a:solidFill>
                  <a:srgbClr val="000000"/>
                </a:solidFill>
                <a:latin typeface="Times New Roman" panose="02020603050405020304" pitchFamily="18" charset="0"/>
                <a:cs typeface="Times New Roman" panose="02020603050405020304" pitchFamily="18" charset="0"/>
              </a:rPr>
              <a:t>分析</a:t>
            </a:r>
            <a:endParaRPr sz="1180" dirty="0">
              <a:solidFill>
                <a:srgbClr val="000000"/>
              </a:solidFill>
              <a:latin typeface="Times New Roman" panose="02020603050405020304" pitchFamily="18" charset="0"/>
              <a:cs typeface="Times New Roman" panose="02020603050405020304" pitchFamily="18" charset="0"/>
            </a:endParaRPr>
          </a:p>
        </p:txBody>
      </p:sp>
      <p:sp>
        <p:nvSpPr>
          <p:cNvPr id="145" name="object_3500"/>
          <p:cNvSpPr>
            <a:spLocks noGrp="1"/>
          </p:cNvSpPr>
          <p:nvPr/>
        </p:nvSpPr>
        <p:spPr>
          <a:xfrm>
            <a:off x="3295437" y="2306943"/>
            <a:ext cx="722045" cy="214313"/>
          </a:xfrm>
          <a:prstGeom prst="rect">
            <a:avLst/>
          </a:prstGeom>
          <a:solidFill>
            <a:srgbClr val="F2F2F2"/>
          </a:solidFill>
          <a:ln w="17145">
            <a:solidFill>
              <a:schemeClr val="tx1"/>
            </a:solidFill>
          </a:ln>
        </p:spPr>
      </p:sp>
      <p:sp>
        <p:nvSpPr>
          <p:cNvPr id="146" name="text_3502_官方资料"/>
          <p:cNvSpPr>
            <a:spLocks noGrp="1"/>
          </p:cNvSpPr>
          <p:nvPr/>
        </p:nvSpPr>
        <p:spPr>
          <a:xfrm>
            <a:off x="3352587" y="2321719"/>
            <a:ext cx="607745" cy="178594"/>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zh-CN" altLang="en-US" sz="1180" b="1" dirty="0">
                <a:solidFill>
                  <a:srgbClr val="000000"/>
                </a:solidFill>
                <a:latin typeface="Times New Roman" panose="02020603050405020304" pitchFamily="18" charset="0"/>
                <a:cs typeface="Times New Roman" panose="02020603050405020304" pitchFamily="18" charset="0"/>
              </a:rPr>
              <a:t>代码生成</a:t>
            </a:r>
            <a:endParaRPr sz="1180" b="1" dirty="0">
              <a:solidFill>
                <a:srgbClr val="000000"/>
              </a:solidFill>
              <a:latin typeface="Times New Roman" panose="02020603050405020304" pitchFamily="18" charset="0"/>
              <a:cs typeface="Times New Roman" panose="02020603050405020304" pitchFamily="18" charset="0"/>
            </a:endParaRPr>
          </a:p>
        </p:txBody>
      </p:sp>
      <p:sp>
        <p:nvSpPr>
          <p:cNvPr id="147" name="object_3500"/>
          <p:cNvSpPr>
            <a:spLocks noGrp="1"/>
          </p:cNvSpPr>
          <p:nvPr/>
        </p:nvSpPr>
        <p:spPr>
          <a:xfrm>
            <a:off x="4188837" y="2306943"/>
            <a:ext cx="772981" cy="214313"/>
          </a:xfrm>
          <a:prstGeom prst="rect">
            <a:avLst/>
          </a:prstGeom>
          <a:solidFill>
            <a:srgbClr val="F2F2F2"/>
          </a:solidFill>
          <a:ln w="17145">
            <a:solidFill>
              <a:schemeClr val="tx1"/>
            </a:solidFill>
          </a:ln>
        </p:spPr>
      </p:sp>
      <p:sp>
        <p:nvSpPr>
          <p:cNvPr id="148" name="text_3502_官方资料"/>
          <p:cNvSpPr>
            <a:spLocks noGrp="1"/>
          </p:cNvSpPr>
          <p:nvPr/>
        </p:nvSpPr>
        <p:spPr>
          <a:xfrm>
            <a:off x="4264750" y="2321719"/>
            <a:ext cx="607745" cy="178594"/>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zh-CN" altLang="en-US" sz="1180" b="1" dirty="0">
                <a:solidFill>
                  <a:srgbClr val="000000"/>
                </a:solidFill>
                <a:latin typeface="Times New Roman" panose="02020603050405020304" pitchFamily="18" charset="0"/>
                <a:cs typeface="Times New Roman" panose="02020603050405020304" pitchFamily="18" charset="0"/>
              </a:rPr>
              <a:t>正确性验证</a:t>
            </a:r>
            <a:endParaRPr sz="1180" b="1" dirty="0">
              <a:solidFill>
                <a:srgbClr val="000000"/>
              </a:solidFill>
              <a:latin typeface="Times New Roman" panose="02020603050405020304" pitchFamily="18" charset="0"/>
              <a:cs typeface="Times New Roman" panose="02020603050405020304" pitchFamily="18" charset="0"/>
            </a:endParaRPr>
          </a:p>
        </p:txBody>
      </p:sp>
      <p:sp>
        <p:nvSpPr>
          <p:cNvPr id="149" name="object_3500"/>
          <p:cNvSpPr>
            <a:spLocks noGrp="1"/>
          </p:cNvSpPr>
          <p:nvPr/>
        </p:nvSpPr>
        <p:spPr>
          <a:xfrm>
            <a:off x="5135830" y="2307262"/>
            <a:ext cx="722045" cy="214313"/>
          </a:xfrm>
          <a:prstGeom prst="rect">
            <a:avLst/>
          </a:prstGeom>
          <a:solidFill>
            <a:srgbClr val="F2F2F2"/>
          </a:solidFill>
          <a:ln w="17145">
            <a:solidFill>
              <a:schemeClr val="tx1"/>
            </a:solidFill>
          </a:ln>
        </p:spPr>
      </p:sp>
      <p:sp>
        <p:nvSpPr>
          <p:cNvPr id="150" name="text_3502_官方资料"/>
          <p:cNvSpPr>
            <a:spLocks noGrp="1"/>
          </p:cNvSpPr>
          <p:nvPr/>
        </p:nvSpPr>
        <p:spPr>
          <a:xfrm>
            <a:off x="5192980" y="2322039"/>
            <a:ext cx="607745" cy="178594"/>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zh-CN" altLang="en-US" sz="1180" b="1" dirty="0">
                <a:solidFill>
                  <a:srgbClr val="000000"/>
                </a:solidFill>
                <a:latin typeface="Times New Roman" panose="02020603050405020304" pitchFamily="18" charset="0"/>
                <a:cs typeface="Times New Roman" panose="02020603050405020304" pitchFamily="18" charset="0"/>
              </a:rPr>
              <a:t>性能分析</a:t>
            </a:r>
            <a:endParaRPr sz="1180" b="1" dirty="0">
              <a:solidFill>
                <a:srgbClr val="000000"/>
              </a:solidFill>
              <a:latin typeface="Times New Roman" panose="02020603050405020304" pitchFamily="18" charset="0"/>
              <a:cs typeface="Times New Roman" panose="02020603050405020304" pitchFamily="18" charset="0"/>
            </a:endParaRPr>
          </a:p>
        </p:txBody>
      </p:sp>
      <p:sp>
        <p:nvSpPr>
          <p:cNvPr id="151" name="object_3500"/>
          <p:cNvSpPr>
            <a:spLocks noGrp="1"/>
          </p:cNvSpPr>
          <p:nvPr/>
        </p:nvSpPr>
        <p:spPr>
          <a:xfrm>
            <a:off x="6043543" y="2306943"/>
            <a:ext cx="722045" cy="214313"/>
          </a:xfrm>
          <a:prstGeom prst="rect">
            <a:avLst/>
          </a:prstGeom>
          <a:solidFill>
            <a:srgbClr val="F2F2F2"/>
          </a:solidFill>
          <a:ln w="17145">
            <a:solidFill>
              <a:schemeClr val="tx1"/>
            </a:solidFill>
          </a:ln>
        </p:spPr>
      </p:sp>
      <p:sp>
        <p:nvSpPr>
          <p:cNvPr id="152" name="text_3502_官方资料"/>
          <p:cNvSpPr>
            <a:spLocks noGrp="1"/>
          </p:cNvSpPr>
          <p:nvPr/>
        </p:nvSpPr>
        <p:spPr>
          <a:xfrm>
            <a:off x="6100693" y="2321719"/>
            <a:ext cx="607745" cy="178594"/>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zh-CN" altLang="en-US" sz="1180" b="1" dirty="0">
                <a:solidFill>
                  <a:srgbClr val="000000"/>
                </a:solidFill>
                <a:latin typeface="Times New Roman" panose="02020603050405020304" pitchFamily="18" charset="0"/>
                <a:cs typeface="Times New Roman" panose="02020603050405020304" pitchFamily="18" charset="0"/>
              </a:rPr>
              <a:t>迭代优化</a:t>
            </a:r>
            <a:endParaRPr sz="1180" b="1" dirty="0">
              <a:solidFill>
                <a:srgbClr val="000000"/>
              </a:solidFill>
              <a:latin typeface="Times New Roman" panose="02020603050405020304" pitchFamily="18" charset="0"/>
              <a:cs typeface="Times New Roman" panose="02020603050405020304" pitchFamily="18" charset="0"/>
            </a:endParaRPr>
          </a:p>
        </p:txBody>
      </p:sp>
      <p:sp>
        <p:nvSpPr>
          <p:cNvPr id="159" name="object_3354"/>
          <p:cNvSpPr>
            <a:spLocks noGrp="1"/>
          </p:cNvSpPr>
          <p:nvPr/>
        </p:nvSpPr>
        <p:spPr>
          <a:xfrm>
            <a:off x="3757380" y="2794264"/>
            <a:ext cx="1168385" cy="247130"/>
          </a:xfrm>
          <a:prstGeom prst="rect">
            <a:avLst/>
          </a:prstGeom>
          <a:solidFill>
            <a:srgbClr val="FFFFFF"/>
          </a:solidFill>
          <a:ln w="17145">
            <a:solidFill>
              <a:schemeClr val="tx1"/>
            </a:solidFill>
          </a:ln>
        </p:spPr>
      </p:sp>
      <p:sp>
        <p:nvSpPr>
          <p:cNvPr id="161" name="object_3354"/>
          <p:cNvSpPr>
            <a:spLocks noGrp="1"/>
          </p:cNvSpPr>
          <p:nvPr/>
        </p:nvSpPr>
        <p:spPr>
          <a:xfrm>
            <a:off x="5094802" y="2793572"/>
            <a:ext cx="1168385" cy="247130"/>
          </a:xfrm>
          <a:prstGeom prst="rect">
            <a:avLst/>
          </a:prstGeom>
          <a:solidFill>
            <a:srgbClr val="FFFFFF"/>
          </a:solidFill>
          <a:ln w="17145">
            <a:solidFill>
              <a:schemeClr val="tx1"/>
            </a:solidFill>
          </a:ln>
        </p:spPr>
      </p:sp>
      <p:sp>
        <p:nvSpPr>
          <p:cNvPr id="163" name="object_3354"/>
          <p:cNvSpPr>
            <a:spLocks noGrp="1"/>
          </p:cNvSpPr>
          <p:nvPr/>
        </p:nvSpPr>
        <p:spPr>
          <a:xfrm>
            <a:off x="6483547" y="2793572"/>
            <a:ext cx="1168385" cy="247130"/>
          </a:xfrm>
          <a:prstGeom prst="rect">
            <a:avLst/>
          </a:prstGeom>
          <a:solidFill>
            <a:srgbClr val="FFFFFF"/>
          </a:solidFill>
          <a:ln w="17145">
            <a:solidFill>
              <a:schemeClr val="tx1"/>
            </a:solidFill>
          </a:ln>
        </p:spPr>
      </p:sp>
      <p:sp>
        <p:nvSpPr>
          <p:cNvPr id="177" name="object_3500"/>
          <p:cNvSpPr>
            <a:spLocks noGrp="1"/>
          </p:cNvSpPr>
          <p:nvPr/>
        </p:nvSpPr>
        <p:spPr>
          <a:xfrm>
            <a:off x="6933021" y="2314087"/>
            <a:ext cx="722045" cy="214313"/>
          </a:xfrm>
          <a:prstGeom prst="rect">
            <a:avLst/>
          </a:prstGeom>
          <a:solidFill>
            <a:srgbClr val="F2F2F2"/>
          </a:solidFill>
          <a:ln w="17145">
            <a:solidFill>
              <a:schemeClr val="tx1"/>
            </a:solidFill>
          </a:ln>
        </p:spPr>
      </p:sp>
      <p:sp>
        <p:nvSpPr>
          <p:cNvPr id="178" name="text_3502_官方资料"/>
          <p:cNvSpPr>
            <a:spLocks noGrp="1"/>
          </p:cNvSpPr>
          <p:nvPr/>
        </p:nvSpPr>
        <p:spPr>
          <a:xfrm>
            <a:off x="6990171" y="2328863"/>
            <a:ext cx="607745" cy="178594"/>
          </a:xfrm>
          <a:prstGeom prst="rect">
            <a:avLst/>
          </a:prstGeom>
          <a:noFill/>
          <a:ln w="9525">
            <a:noFill/>
          </a:ln>
        </p:spPr>
        <p:txBody>
          <a:bodyPr wrap="none" lIns="0" tIns="0" rIns="0" bIns="0" anchor="ctr">
            <a:noAutofit/>
          </a:bodyPr>
          <a:lstStyle/>
          <a:p>
            <a:pPr algn="ctr">
              <a:defRPr sz="1575" b="1">
                <a:solidFill>
                  <a:srgbClr val="000000"/>
                </a:solidFill>
                <a:latin typeface="Arial" panose="020B0604020202020204"/>
                <a:ea typeface="Arial" panose="020B0604020202020204"/>
                <a:cs typeface="Arial" panose="020B0604020202020204"/>
              </a:defRPr>
            </a:pPr>
            <a:r>
              <a:rPr lang="zh-CN" altLang="en-US" sz="1180" b="1" dirty="0">
                <a:solidFill>
                  <a:srgbClr val="000000"/>
                </a:solidFill>
                <a:latin typeface="Times New Roman" panose="02020603050405020304" pitchFamily="18" charset="0"/>
                <a:cs typeface="Times New Roman" panose="02020603050405020304" pitchFamily="18" charset="0"/>
              </a:rPr>
              <a:t>交付输出</a:t>
            </a:r>
            <a:endParaRPr sz="1180" b="1" dirty="0">
              <a:solidFill>
                <a:srgbClr val="000000"/>
              </a:solidFill>
              <a:latin typeface="Times New Roman" panose="02020603050405020304" pitchFamily="18" charset="0"/>
              <a:cs typeface="Times New Roman" panose="02020603050405020304" pitchFamily="18" charset="0"/>
            </a:endParaRPr>
          </a:p>
        </p:txBody>
      </p:sp>
      <p:sp>
        <p:nvSpPr>
          <p:cNvPr id="182" name="connector_3499"/>
          <p:cNvSpPr>
            <a:spLocks noGrp="1"/>
          </p:cNvSpPr>
          <p:nvPr/>
        </p:nvSpPr>
        <p:spPr>
          <a:xfrm>
            <a:off x="510508" y="5491216"/>
            <a:ext cx="1557338" cy="14288"/>
          </a:xfrm>
          <a:custGeom>
            <a:avLst/>
            <a:gdLst/>
            <a:ahLst/>
            <a:cxnLst/>
            <a:rect l="0" t="0" r="0" b="0"/>
            <a:pathLst>
              <a:path w="2076450" h="19050">
                <a:moveTo>
                  <a:pt x="9525" y="9525"/>
                </a:moveTo>
                <a:lnTo>
                  <a:pt x="2066925" y="9525"/>
                </a:lnTo>
              </a:path>
            </a:pathLst>
          </a:custGeom>
          <a:noFill/>
          <a:ln w="16193">
            <a:solidFill>
              <a:schemeClr val="tx1"/>
            </a:solidFill>
          </a:ln>
        </p:spPr>
      </p:sp>
      <p:sp>
        <p:nvSpPr>
          <p:cNvPr id="183" name="object_3500"/>
          <p:cNvSpPr>
            <a:spLocks noGrp="1"/>
          </p:cNvSpPr>
          <p:nvPr/>
        </p:nvSpPr>
        <p:spPr>
          <a:xfrm>
            <a:off x="531940" y="5591228"/>
            <a:ext cx="1850231" cy="414338"/>
          </a:xfrm>
          <a:prstGeom prst="rect">
            <a:avLst/>
          </a:prstGeom>
          <a:solidFill>
            <a:srgbClr val="F2F2F2"/>
          </a:solidFill>
          <a:ln w="17145">
            <a:solidFill>
              <a:schemeClr val="tx1"/>
            </a:solidFill>
          </a:ln>
        </p:spPr>
      </p:sp>
      <p:sp>
        <p:nvSpPr>
          <p:cNvPr id="186" name="connector_3505"/>
          <p:cNvSpPr>
            <a:spLocks noGrp="1"/>
          </p:cNvSpPr>
          <p:nvPr/>
        </p:nvSpPr>
        <p:spPr>
          <a:xfrm>
            <a:off x="2396459" y="5791253"/>
            <a:ext cx="150019" cy="14288"/>
          </a:xfrm>
          <a:custGeom>
            <a:avLst/>
            <a:gdLst/>
            <a:ahLst/>
            <a:cxnLst/>
            <a:rect l="0" t="0" r="0" b="0"/>
            <a:pathLst>
              <a:path w="200025" h="19050">
                <a:moveTo>
                  <a:pt x="9525" y="9525"/>
                </a:moveTo>
                <a:lnTo>
                  <a:pt x="190500" y="9525"/>
                </a:lnTo>
              </a:path>
            </a:pathLst>
          </a:custGeom>
          <a:noFill/>
          <a:ln w="19050">
            <a:solidFill>
              <a:schemeClr val="tx1"/>
            </a:solidFill>
          </a:ln>
        </p:spPr>
      </p:sp>
      <p:sp>
        <p:nvSpPr>
          <p:cNvPr id="187" name="connector_3506"/>
          <p:cNvSpPr>
            <a:spLocks noGrp="1"/>
          </p:cNvSpPr>
          <p:nvPr/>
        </p:nvSpPr>
        <p:spPr>
          <a:xfrm>
            <a:off x="2488306" y="5767279"/>
            <a:ext cx="58172" cy="62236"/>
          </a:xfrm>
          <a:custGeom>
            <a:avLst/>
            <a:gdLst/>
            <a:ahLst/>
            <a:cxnLst/>
            <a:rect l="0" t="0" r="0" b="0"/>
            <a:pathLst>
              <a:path w="77563" h="82981">
                <a:moveTo>
                  <a:pt x="9525" y="73456"/>
                </a:moveTo>
                <a:lnTo>
                  <a:pt x="68038" y="41491"/>
                </a:lnTo>
                <a:lnTo>
                  <a:pt x="9525" y="9525"/>
                </a:lnTo>
              </a:path>
            </a:pathLst>
          </a:custGeom>
          <a:noFill/>
          <a:ln w="19050">
            <a:solidFill>
              <a:schemeClr val="tx1"/>
            </a:solidFill>
          </a:ln>
        </p:spPr>
      </p:sp>
      <p:sp>
        <p:nvSpPr>
          <p:cNvPr id="188" name="object_3507"/>
          <p:cNvSpPr>
            <a:spLocks noGrp="1"/>
          </p:cNvSpPr>
          <p:nvPr/>
        </p:nvSpPr>
        <p:spPr>
          <a:xfrm>
            <a:off x="2567909" y="5591228"/>
            <a:ext cx="1850231" cy="414338"/>
          </a:xfrm>
          <a:prstGeom prst="rect">
            <a:avLst/>
          </a:prstGeom>
          <a:solidFill>
            <a:srgbClr val="F2F2F2"/>
          </a:solidFill>
          <a:ln w="17145">
            <a:solidFill>
              <a:schemeClr val="tx1"/>
            </a:solidFill>
          </a:ln>
        </p:spPr>
      </p:sp>
      <p:sp>
        <p:nvSpPr>
          <p:cNvPr id="191" name="connector_3512"/>
          <p:cNvSpPr>
            <a:spLocks noGrp="1"/>
          </p:cNvSpPr>
          <p:nvPr/>
        </p:nvSpPr>
        <p:spPr>
          <a:xfrm>
            <a:off x="4432428" y="5791253"/>
            <a:ext cx="150019" cy="14288"/>
          </a:xfrm>
          <a:custGeom>
            <a:avLst/>
            <a:gdLst/>
            <a:ahLst/>
            <a:cxnLst/>
            <a:rect l="0" t="0" r="0" b="0"/>
            <a:pathLst>
              <a:path w="200025" h="19050">
                <a:moveTo>
                  <a:pt x="9525" y="9525"/>
                </a:moveTo>
                <a:lnTo>
                  <a:pt x="190500" y="9525"/>
                </a:lnTo>
              </a:path>
            </a:pathLst>
          </a:custGeom>
          <a:noFill/>
          <a:ln w="19050">
            <a:solidFill>
              <a:schemeClr val="tx1"/>
            </a:solidFill>
          </a:ln>
        </p:spPr>
      </p:sp>
      <p:sp>
        <p:nvSpPr>
          <p:cNvPr id="192" name="connector_3513"/>
          <p:cNvSpPr>
            <a:spLocks noGrp="1"/>
          </p:cNvSpPr>
          <p:nvPr/>
        </p:nvSpPr>
        <p:spPr>
          <a:xfrm>
            <a:off x="4524274" y="5767279"/>
            <a:ext cx="58172" cy="62236"/>
          </a:xfrm>
          <a:custGeom>
            <a:avLst/>
            <a:gdLst/>
            <a:ahLst/>
            <a:cxnLst/>
            <a:rect l="0" t="0" r="0" b="0"/>
            <a:pathLst>
              <a:path w="77563" h="82981">
                <a:moveTo>
                  <a:pt x="9525" y="73456"/>
                </a:moveTo>
                <a:lnTo>
                  <a:pt x="68038" y="41491"/>
                </a:lnTo>
                <a:lnTo>
                  <a:pt x="9525" y="9525"/>
                </a:lnTo>
              </a:path>
            </a:pathLst>
          </a:custGeom>
          <a:noFill/>
          <a:ln w="19050">
            <a:solidFill>
              <a:schemeClr val="tx1"/>
            </a:solidFill>
          </a:ln>
        </p:spPr>
      </p:sp>
      <p:sp>
        <p:nvSpPr>
          <p:cNvPr id="193" name="object_3514"/>
          <p:cNvSpPr>
            <a:spLocks noGrp="1"/>
          </p:cNvSpPr>
          <p:nvPr/>
        </p:nvSpPr>
        <p:spPr>
          <a:xfrm>
            <a:off x="4603878" y="5591228"/>
            <a:ext cx="1850231" cy="414338"/>
          </a:xfrm>
          <a:prstGeom prst="rect">
            <a:avLst/>
          </a:prstGeom>
          <a:solidFill>
            <a:srgbClr val="F2F2F2"/>
          </a:solidFill>
          <a:ln w="17145">
            <a:solidFill>
              <a:schemeClr val="tx1"/>
            </a:solidFill>
          </a:ln>
        </p:spPr>
      </p:sp>
      <p:sp>
        <p:nvSpPr>
          <p:cNvPr id="196" name="connector_3519"/>
          <p:cNvSpPr>
            <a:spLocks noGrp="1"/>
          </p:cNvSpPr>
          <p:nvPr/>
        </p:nvSpPr>
        <p:spPr>
          <a:xfrm>
            <a:off x="6468396" y="5791253"/>
            <a:ext cx="150019" cy="14288"/>
          </a:xfrm>
          <a:custGeom>
            <a:avLst/>
            <a:gdLst/>
            <a:ahLst/>
            <a:cxnLst/>
            <a:rect l="0" t="0" r="0" b="0"/>
            <a:pathLst>
              <a:path w="200025" h="19050">
                <a:moveTo>
                  <a:pt x="9525" y="9525"/>
                </a:moveTo>
                <a:lnTo>
                  <a:pt x="190500" y="9525"/>
                </a:lnTo>
              </a:path>
            </a:pathLst>
          </a:custGeom>
          <a:noFill/>
          <a:ln w="19050">
            <a:solidFill>
              <a:schemeClr val="tx1"/>
            </a:solidFill>
          </a:ln>
        </p:spPr>
      </p:sp>
      <p:sp>
        <p:nvSpPr>
          <p:cNvPr id="197" name="connector_3520"/>
          <p:cNvSpPr>
            <a:spLocks noGrp="1"/>
          </p:cNvSpPr>
          <p:nvPr/>
        </p:nvSpPr>
        <p:spPr>
          <a:xfrm>
            <a:off x="6560243" y="5767279"/>
            <a:ext cx="58172" cy="62236"/>
          </a:xfrm>
          <a:custGeom>
            <a:avLst/>
            <a:gdLst/>
            <a:ahLst/>
            <a:cxnLst/>
            <a:rect l="0" t="0" r="0" b="0"/>
            <a:pathLst>
              <a:path w="77563" h="82981">
                <a:moveTo>
                  <a:pt x="9525" y="73456"/>
                </a:moveTo>
                <a:lnTo>
                  <a:pt x="68038" y="41491"/>
                </a:lnTo>
                <a:lnTo>
                  <a:pt x="9525" y="9525"/>
                </a:lnTo>
              </a:path>
            </a:pathLst>
          </a:custGeom>
          <a:noFill/>
          <a:ln w="19050">
            <a:solidFill>
              <a:schemeClr val="tx1"/>
            </a:solidFill>
          </a:ln>
        </p:spPr>
      </p:sp>
      <p:sp>
        <p:nvSpPr>
          <p:cNvPr id="198" name="object_3521"/>
          <p:cNvSpPr>
            <a:spLocks noGrp="1"/>
          </p:cNvSpPr>
          <p:nvPr/>
        </p:nvSpPr>
        <p:spPr>
          <a:xfrm>
            <a:off x="6639847" y="5591228"/>
            <a:ext cx="1850231" cy="414338"/>
          </a:xfrm>
          <a:prstGeom prst="rect">
            <a:avLst/>
          </a:prstGeom>
          <a:solidFill>
            <a:srgbClr val="F2F2F2"/>
          </a:solidFill>
          <a:ln w="17145">
            <a:solidFill>
              <a:schemeClr val="tx1"/>
            </a:solidFill>
          </a:ln>
        </p:spPr>
      </p:sp>
      <p:sp>
        <p:nvSpPr>
          <p:cNvPr id="203" name="text_3244_封装新平台 Skill"/>
          <p:cNvSpPr>
            <a:spLocks noGrp="1"/>
          </p:cNvSpPr>
          <p:nvPr/>
        </p:nvSpPr>
        <p:spPr>
          <a:xfrm>
            <a:off x="627343" y="4758194"/>
            <a:ext cx="2271713" cy="257175"/>
          </a:xfrm>
          <a:prstGeom prst="rect">
            <a:avLst/>
          </a:prstGeom>
          <a:noFill/>
          <a:ln w="9525">
            <a:noFill/>
          </a:ln>
        </p:spPr>
        <p:txBody>
          <a:bodyPr wrap="none" lIns="0" tIns="0" rIns="0" bIns="0" anchor="ctr">
            <a:noAutofit/>
          </a:bodyPr>
          <a:lstStyle/>
          <a:p>
            <a:pPr algn="l">
              <a:defRPr sz="1875" b="1">
                <a:solidFill>
                  <a:srgbClr val="000000"/>
                </a:solidFill>
                <a:latin typeface="Arial" panose="020B0604020202020204"/>
                <a:ea typeface="Arial" panose="020B0604020202020204"/>
                <a:cs typeface="Arial" panose="020B0604020202020204"/>
              </a:defRPr>
            </a:pPr>
            <a:endParaRPr sz="1580" b="1" dirty="0">
              <a:solidFill>
                <a:srgbClr val="000000"/>
              </a:solidFill>
              <a:latin typeface="Times New Roman" panose="02020603050405020304" pitchFamily="18" charset="0"/>
              <a:ea typeface="Arial" panose="020B0604020202020204"/>
              <a:cs typeface="Times New Roman" panose="02020603050405020304" pitchFamily="18" charset="0"/>
            </a:endParaRPr>
          </a:p>
        </p:txBody>
      </p:sp>
      <p:sp>
        <p:nvSpPr>
          <p:cNvPr id="205" name="矩形: 圆角 46"/>
          <p:cNvSpPr/>
          <p:nvPr/>
        </p:nvSpPr>
        <p:spPr>
          <a:xfrm>
            <a:off x="579127" y="3912073"/>
            <a:ext cx="7358063" cy="924950"/>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Times New Roman" panose="02020603050405020304" pitchFamily="18" charset="0"/>
              <a:cs typeface="Times New Roman" panose="02020603050405020304" pitchFamily="18" charset="0"/>
            </a:endParaRPr>
          </a:p>
        </p:txBody>
      </p:sp>
      <p:sp>
        <p:nvSpPr>
          <p:cNvPr id="206" name="object_3354"/>
          <p:cNvSpPr>
            <a:spLocks noGrp="1"/>
          </p:cNvSpPr>
          <p:nvPr/>
        </p:nvSpPr>
        <p:spPr>
          <a:xfrm>
            <a:off x="3064136" y="4036190"/>
            <a:ext cx="1168385" cy="247130"/>
          </a:xfrm>
          <a:prstGeom prst="rect">
            <a:avLst/>
          </a:prstGeom>
          <a:solidFill>
            <a:srgbClr val="FFFFFF"/>
          </a:solidFill>
          <a:ln w="17145">
            <a:solidFill>
              <a:schemeClr val="tx1"/>
            </a:solidFill>
          </a:ln>
        </p:spPr>
      </p:sp>
      <p:sp>
        <p:nvSpPr>
          <p:cNvPr id="208" name="object_3354"/>
          <p:cNvSpPr>
            <a:spLocks noGrp="1"/>
          </p:cNvSpPr>
          <p:nvPr/>
        </p:nvSpPr>
        <p:spPr>
          <a:xfrm>
            <a:off x="4372613" y="4036190"/>
            <a:ext cx="1168385" cy="247130"/>
          </a:xfrm>
          <a:prstGeom prst="rect">
            <a:avLst/>
          </a:prstGeom>
          <a:solidFill>
            <a:srgbClr val="FFFFFF"/>
          </a:solidFill>
          <a:ln w="17145">
            <a:solidFill>
              <a:schemeClr val="tx1"/>
            </a:solidFill>
          </a:ln>
        </p:spPr>
      </p:sp>
      <p:sp>
        <p:nvSpPr>
          <p:cNvPr id="210" name="object_3354"/>
          <p:cNvSpPr>
            <a:spLocks noGrp="1"/>
          </p:cNvSpPr>
          <p:nvPr/>
        </p:nvSpPr>
        <p:spPr>
          <a:xfrm>
            <a:off x="5710036" y="4035498"/>
            <a:ext cx="1168385" cy="247130"/>
          </a:xfrm>
          <a:prstGeom prst="rect">
            <a:avLst/>
          </a:prstGeom>
          <a:solidFill>
            <a:srgbClr val="FFFFFF"/>
          </a:solidFill>
          <a:ln w="17145">
            <a:solidFill>
              <a:schemeClr val="tx1"/>
            </a:solidFill>
          </a:ln>
        </p:spPr>
      </p:sp>
      <p:sp>
        <p:nvSpPr>
          <p:cNvPr id="212" name="object_3354"/>
          <p:cNvSpPr>
            <a:spLocks noGrp="1"/>
          </p:cNvSpPr>
          <p:nvPr/>
        </p:nvSpPr>
        <p:spPr>
          <a:xfrm>
            <a:off x="3064136" y="4439185"/>
            <a:ext cx="1168385" cy="247130"/>
          </a:xfrm>
          <a:prstGeom prst="rect">
            <a:avLst/>
          </a:prstGeom>
          <a:solidFill>
            <a:srgbClr val="FFFFFF"/>
          </a:solidFill>
          <a:ln w="17145">
            <a:solidFill>
              <a:schemeClr val="tx1"/>
            </a:solidFill>
          </a:ln>
        </p:spPr>
      </p:sp>
      <p:sp>
        <p:nvSpPr>
          <p:cNvPr id="215" name="object_3354"/>
          <p:cNvSpPr>
            <a:spLocks noGrp="1"/>
          </p:cNvSpPr>
          <p:nvPr/>
        </p:nvSpPr>
        <p:spPr>
          <a:xfrm>
            <a:off x="4385342" y="4440862"/>
            <a:ext cx="1168385" cy="247130"/>
          </a:xfrm>
          <a:prstGeom prst="rect">
            <a:avLst/>
          </a:prstGeom>
          <a:solidFill>
            <a:srgbClr val="FFFFFF"/>
          </a:solidFill>
          <a:ln w="17145">
            <a:solidFill>
              <a:schemeClr val="tx1"/>
            </a:solidFill>
          </a:ln>
        </p:spPr>
      </p:sp>
      <p:sp>
        <p:nvSpPr>
          <p:cNvPr id="217" name="object_3354"/>
          <p:cNvSpPr>
            <a:spLocks noGrp="1"/>
          </p:cNvSpPr>
          <p:nvPr/>
        </p:nvSpPr>
        <p:spPr>
          <a:xfrm>
            <a:off x="5722765" y="4440170"/>
            <a:ext cx="1168385" cy="247130"/>
          </a:xfrm>
          <a:prstGeom prst="rect">
            <a:avLst/>
          </a:prstGeom>
          <a:solidFill>
            <a:srgbClr val="FFFFFF"/>
          </a:solidFill>
          <a:ln w="17145">
            <a:solidFill>
              <a:schemeClr val="tx1"/>
            </a:solidFill>
          </a:ln>
        </p:spPr>
      </p:sp>
      <p:sp>
        <p:nvSpPr>
          <p:cNvPr id="78" name="text_3529_Common Workflow  +  Plat"/>
          <p:cNvSpPr>
            <a:spLocks noGrp="1"/>
          </p:cNvSpPr>
          <p:nvPr/>
        </p:nvSpPr>
        <p:spPr>
          <a:xfrm>
            <a:off x="1618335" y="6290467"/>
            <a:ext cx="5811878" cy="214313"/>
          </a:xfrm>
          <a:prstGeom prst="rect">
            <a:avLst/>
          </a:prstGeom>
          <a:noFill/>
          <a:ln w="9525">
            <a:noFill/>
          </a:ln>
        </p:spPr>
        <p:txBody>
          <a:bodyPr wrap="none" lIns="0" tIns="0" rIns="0" bIns="0" anchor="ctr">
            <a:noAutofit/>
          </a:bodyPr>
          <a:lstStyle/>
          <a:p>
            <a:pPr algn="ctr">
              <a:defRPr sz="1725" b="1">
                <a:solidFill>
                  <a:srgbClr val="D7000F"/>
                </a:solidFill>
                <a:latin typeface="Arial" panose="020B0604020202020204"/>
                <a:ea typeface="Arial" panose="020B0604020202020204"/>
                <a:cs typeface="Arial" panose="020B0604020202020204"/>
              </a:defRPr>
            </a:pPr>
            <a:r>
              <a:rPr sz="1400" b="1" dirty="0">
                <a:solidFill>
                  <a:srgbClr val="C00000"/>
                </a:solidFill>
                <a:latin typeface="微软雅黑" panose="020B0503020204020204" pitchFamily="34" charset="-122"/>
                <a:ea typeface="微软雅黑" panose="020B0503020204020204" pitchFamily="34" charset="-122"/>
                <a:cs typeface="Arial" panose="020B0604020202020204"/>
              </a:rPr>
              <a:t>Workflow  +  </a:t>
            </a:r>
            <a:r>
              <a:rPr lang="zh-CN" altLang="en-US" sz="1400" b="1" dirty="0">
                <a:solidFill>
                  <a:srgbClr val="C00000"/>
                </a:solidFill>
                <a:latin typeface="微软雅黑" panose="020B0503020204020204" pitchFamily="34" charset="-122"/>
                <a:ea typeface="微软雅黑" panose="020B0503020204020204" pitchFamily="34" charset="-122"/>
                <a:cs typeface="Arial" panose="020B0604020202020204"/>
              </a:rPr>
              <a:t>平台资料库</a:t>
            </a:r>
            <a:r>
              <a:rPr sz="1400" b="1" dirty="0">
                <a:solidFill>
                  <a:srgbClr val="C00000"/>
                </a:solidFill>
                <a:latin typeface="Times New Roman" panose="02020603050405020304" pitchFamily="18" charset="0"/>
                <a:cs typeface="Times New Roman" panose="02020603050405020304" pitchFamily="18" charset="0"/>
              </a:rPr>
              <a:t>  </a:t>
            </a:r>
            <a:r>
              <a:rPr sz="1400" b="1" dirty="0">
                <a:solidFill>
                  <a:srgbClr val="C00000"/>
                </a:solidFill>
                <a:latin typeface="微软雅黑" panose="020B0503020204020204" pitchFamily="34" charset="-122"/>
                <a:ea typeface="微软雅黑" panose="020B0503020204020204" pitchFamily="34" charset="-122"/>
                <a:cs typeface="Arial" panose="020B0604020202020204"/>
              </a:rPr>
              <a:t>=</a:t>
            </a:r>
            <a:r>
              <a:rPr sz="1400" b="1" dirty="0">
                <a:solidFill>
                  <a:srgbClr val="C00000"/>
                </a:solidFill>
                <a:latin typeface="Times New Roman" panose="02020603050405020304" pitchFamily="18" charset="0"/>
                <a:cs typeface="Times New Roman" panose="02020603050405020304" pitchFamily="18" charset="0"/>
              </a:rPr>
              <a:t>  </a:t>
            </a:r>
            <a:r>
              <a:rPr sz="1400" b="1" dirty="0" err="1">
                <a:solidFill>
                  <a:srgbClr val="C00000"/>
                </a:solidFill>
                <a:latin typeface="微软雅黑" panose="020B0503020204020204" pitchFamily="34" charset="-122"/>
                <a:ea typeface="微软雅黑" panose="020B0503020204020204" pitchFamily="34" charset="-122"/>
                <a:cs typeface="Arial" panose="020B0604020202020204"/>
              </a:rPr>
              <a:t>新平台</a:t>
            </a:r>
            <a:r>
              <a:rPr sz="1400" b="1" dirty="0">
                <a:solidFill>
                  <a:srgbClr val="C00000"/>
                </a:solidFill>
                <a:latin typeface="Times New Roman" panose="02020603050405020304" pitchFamily="18" charset="0"/>
                <a:cs typeface="Times New Roman" panose="02020603050405020304" pitchFamily="18" charset="0"/>
              </a:rPr>
              <a:t> </a:t>
            </a:r>
            <a:r>
              <a:rPr sz="1400" b="1" dirty="0">
                <a:solidFill>
                  <a:srgbClr val="C00000"/>
                </a:solidFill>
                <a:latin typeface="微软雅黑" panose="020B0503020204020204" pitchFamily="34" charset="-122"/>
                <a:ea typeface="微软雅黑" panose="020B0503020204020204" pitchFamily="34" charset="-122"/>
                <a:cs typeface="Arial" panose="020B0604020202020204"/>
              </a:rPr>
              <a:t>Operator</a:t>
            </a:r>
            <a:r>
              <a:rPr sz="1400" b="1" dirty="0">
                <a:solidFill>
                  <a:srgbClr val="C00000"/>
                </a:solidFill>
                <a:latin typeface="Times New Roman" panose="02020603050405020304" pitchFamily="18" charset="0"/>
                <a:cs typeface="Times New Roman" panose="02020603050405020304" pitchFamily="18" charset="0"/>
              </a:rPr>
              <a:t> </a:t>
            </a:r>
            <a:r>
              <a:rPr sz="1400" b="1" dirty="0">
                <a:solidFill>
                  <a:srgbClr val="C00000"/>
                </a:solidFill>
                <a:latin typeface="微软雅黑" panose="020B0503020204020204" pitchFamily="34" charset="-122"/>
                <a:ea typeface="微软雅黑" panose="020B0503020204020204" pitchFamily="34" charset="-122"/>
                <a:cs typeface="Arial" panose="020B0604020202020204"/>
              </a:rPr>
              <a:t>Skill</a:t>
            </a:r>
          </a:p>
        </p:txBody>
      </p:sp>
      <p:sp>
        <p:nvSpPr>
          <p:cNvPr id="80" name="矩形 79"/>
          <p:cNvSpPr/>
          <p:nvPr/>
        </p:nvSpPr>
        <p:spPr>
          <a:xfrm>
            <a:off x="1335339" y="6597107"/>
            <a:ext cx="6599967" cy="219291"/>
          </a:xfrm>
          <a:prstGeom prst="rect">
            <a:avLst/>
          </a:prstGeom>
        </p:spPr>
        <p:txBody>
          <a:bodyPr wrap="square">
            <a:spAutoFit/>
          </a:bodyPr>
          <a:lstStyle/>
          <a:p>
            <a:r>
              <a:rPr lang="en-US" altLang="zh-CN" sz="825" dirty="0">
                <a:solidFill>
                  <a:schemeClr val="tx1">
                    <a:lumMod val="65000"/>
                    <a:lumOff val="35000"/>
                  </a:schemeClr>
                </a:solidFill>
                <a:latin typeface="Times New Roman" panose="02020603050405020304" pitchFamily="18" charset="0"/>
                <a:cs typeface="Times New Roman" panose="02020603050405020304" pitchFamily="18" charset="0"/>
              </a:rPr>
              <a:t>Yang, J., Jimenez, C. E., </a:t>
            </a:r>
            <a:r>
              <a:rPr lang="en-US" altLang="zh-CN" sz="825" dirty="0" err="1">
                <a:solidFill>
                  <a:schemeClr val="tx1">
                    <a:lumMod val="65000"/>
                    <a:lumOff val="35000"/>
                  </a:schemeClr>
                </a:solidFill>
                <a:latin typeface="Times New Roman" panose="02020603050405020304" pitchFamily="18" charset="0"/>
                <a:cs typeface="Times New Roman" panose="02020603050405020304" pitchFamily="18" charset="0"/>
              </a:rPr>
              <a:t>Wettig</a:t>
            </a:r>
            <a:r>
              <a:rPr lang="en-US" altLang="zh-CN" sz="825" dirty="0">
                <a:solidFill>
                  <a:schemeClr val="tx1">
                    <a:lumMod val="65000"/>
                    <a:lumOff val="35000"/>
                  </a:schemeClr>
                </a:solidFill>
                <a:latin typeface="Times New Roman" panose="02020603050405020304" pitchFamily="18" charset="0"/>
                <a:cs typeface="Times New Roman" panose="02020603050405020304" pitchFamily="18" charset="0"/>
              </a:rPr>
              <a:t>, A., et al. SWE-agent: Agent-Computer Interfaces Enable Automated Software Engineering. arXiv:2405.15793, 2024.</a:t>
            </a:r>
          </a:p>
        </p:txBody>
      </p:sp>
      <p:sp>
        <p:nvSpPr>
          <p:cNvPr id="7" name="灯片编号占位符 6"/>
          <p:cNvSpPr>
            <a:spLocks noGrp="1"/>
          </p:cNvSpPr>
          <p:nvPr>
            <p:ph type="sldNum" sz="quarter" idx="12"/>
          </p:nvPr>
        </p:nvSpPr>
        <p:spPr/>
        <p:txBody>
          <a:bodyPr/>
          <a:lstStyle/>
          <a:p>
            <a:fld id="{03621AC1-4C4D-435F-BACF-B518BC126F02}" type="slidenum">
              <a:rPr lang="zh-CN" altLang="en-US" smtClean="0"/>
              <a:t>25</a:t>
            </a:fld>
            <a:endParaRPr lang="zh-CN" altLang="en-US"/>
          </a:p>
        </p:txBody>
      </p:sp>
      <p:sp>
        <p:nvSpPr>
          <p:cNvPr id="82" name="connector_104"/>
          <p:cNvSpPr>
            <a:spLocks noGrp="1"/>
          </p:cNvSpPr>
          <p:nvPr/>
        </p:nvSpPr>
        <p:spPr>
          <a:xfrm>
            <a:off x="535263" y="155733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83" name="text_103_原始 Skill 已具备完整开发流程"/>
          <p:cNvSpPr>
            <a:spLocks noGrp="1"/>
          </p:cNvSpPr>
          <p:nvPr/>
        </p:nvSpPr>
        <p:spPr>
          <a:xfrm>
            <a:off x="602043" y="1210386"/>
            <a:ext cx="7786688"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100" b="1" dirty="0">
                <a:solidFill>
                  <a:srgbClr val="000000"/>
                </a:solidFill>
                <a:latin typeface="Times New Roman" panose="02020603050405020304" pitchFamily="18" charset="0"/>
                <a:cs typeface="Times New Roman" panose="02020603050405020304" pitchFamily="18" charset="0"/>
              </a:rPr>
              <a:t>开发新平台</a:t>
            </a:r>
            <a:r>
              <a:rPr lang="en-US" altLang="zh-CN" sz="2100" b="1" dirty="0">
                <a:solidFill>
                  <a:srgbClr val="000000"/>
                </a:solidFill>
                <a:latin typeface="Times New Roman" panose="02020603050405020304" pitchFamily="18" charset="0"/>
                <a:cs typeface="Times New Roman" panose="02020603050405020304" pitchFamily="18" charset="0"/>
              </a:rPr>
              <a:t>Skill</a:t>
            </a:r>
            <a:r>
              <a:rPr lang="zh-CN" altLang="en-US" sz="2100" b="1" dirty="0">
                <a:solidFill>
                  <a:srgbClr val="000000"/>
                </a:solidFill>
                <a:latin typeface="Times New Roman" panose="02020603050405020304" pitchFamily="18" charset="0"/>
                <a:cs typeface="Times New Roman" panose="02020603050405020304" pitchFamily="18" charset="0"/>
              </a:rPr>
              <a:t>流程</a:t>
            </a:r>
          </a:p>
        </p:txBody>
      </p:sp>
      <p:sp>
        <p:nvSpPr>
          <p:cNvPr id="89" name="标题 1"/>
          <p:cNvSpPr txBox="1"/>
          <p:nvPr/>
        </p:nvSpPr>
        <p:spPr bwMode="auto">
          <a:xfrm>
            <a:off x="395288" y="333375"/>
            <a:ext cx="6840537" cy="503238"/>
          </a:xfrm>
          <a:prstGeom prst="rect">
            <a:avLst/>
          </a:prstGeom>
          <a:noFill/>
          <a:ln w="9525">
            <a:noFill/>
            <a:miter lim="800000"/>
          </a:ln>
        </p:spPr>
        <p:txBody>
          <a:bodyPr vert="horz" wrap="none" lIns="0" tIns="0" rIns="0" bIns="0" numCol="1" anchor="ctr" anchorCtr="0" compatLnSpc="1">
            <a:noAutofit/>
          </a:bodyPr>
          <a:lstStyle>
            <a:lvl1pPr algn="l" rtl="0" eaLnBrk="0" fontAlgn="base" hangingPunct="0">
              <a:spcBef>
                <a:spcPct val="0"/>
              </a:spcBef>
              <a:spcAft>
                <a:spcPct val="0"/>
              </a:spcAft>
              <a:defRPr sz="2600" b="1">
                <a:solidFill>
                  <a:schemeClr val="tx1"/>
                </a:solidFill>
                <a:latin typeface="+mj-lt"/>
                <a:ea typeface="+mj-ea"/>
                <a:cs typeface="+mj-cs"/>
              </a:defRPr>
            </a:lvl1pPr>
            <a:lvl2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2pPr>
            <a:lvl3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3pPr>
            <a:lvl4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4pPr>
            <a:lvl5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5pPr>
            <a:lvl6pPr marL="4572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6pPr>
            <a:lvl7pPr marL="9144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7pPr>
            <a:lvl8pPr marL="13716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8pPr>
            <a:lvl9pPr marL="18288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9pPr>
          </a:lstStyle>
          <a:p>
            <a:pPr>
              <a:defRPr sz="2600" b="1">
                <a:solidFill>
                  <a:srgbClr val="000000"/>
                </a:solidFill>
                <a:latin typeface="Arial" panose="020B0604020202020204"/>
                <a:ea typeface="Arial" panose="020B0604020202020204"/>
                <a:cs typeface="Arial" panose="020B0604020202020204"/>
              </a:defRPr>
            </a:pPr>
            <a:r>
              <a:rPr lang="zh-CN" altLang="en-US" kern="0" dirty="0">
                <a:solidFill>
                  <a:srgbClr val="000000"/>
                </a:solidFill>
                <a:latin typeface="Times New Roman" panose="02020603050405020304" pitchFamily="18" charset="0"/>
                <a:ea typeface="+mn-ea"/>
                <a:cs typeface="Times New Roman" panose="02020603050405020304" pitchFamily="18" charset="0"/>
              </a:rPr>
              <a:t>实习任务三： 算子开发 </a:t>
            </a:r>
            <a:r>
              <a:rPr lang="en-US" altLang="zh-CN" kern="0" dirty="0">
                <a:solidFill>
                  <a:srgbClr val="000000"/>
                </a:solidFill>
                <a:latin typeface="Times New Roman" panose="02020603050405020304" pitchFamily="18" charset="0"/>
                <a:ea typeface="+mn-ea"/>
                <a:cs typeface="Times New Roman" panose="02020603050405020304" pitchFamily="18" charset="0"/>
              </a:rPr>
              <a:t>Skill </a:t>
            </a:r>
            <a:r>
              <a:rPr lang="zh-CN" altLang="en-US" kern="0" dirty="0">
                <a:solidFill>
                  <a:srgbClr val="000000"/>
                </a:solidFill>
                <a:latin typeface="Times New Roman" panose="02020603050405020304" pitchFamily="18" charset="0"/>
                <a:ea typeface="+mn-ea"/>
                <a:cs typeface="Times New Roman" panose="02020603050405020304" pitchFamily="18" charset="0"/>
              </a:rPr>
              <a:t>指南</a:t>
            </a:r>
            <a:endParaRPr lang="zh-CN" altLang="en-US" sz="1950" kern="0" dirty="0">
              <a:solidFill>
                <a:srgbClr val="000000"/>
              </a:solidFill>
              <a:latin typeface="Times New Roman" panose="02020603050405020304" pitchFamily="18" charset="0"/>
              <a:ea typeface="+mn-ea"/>
              <a:cs typeface="Times New Roman" panose="02020603050405020304" pitchFamily="18" charset="0"/>
            </a:endParaRPr>
          </a:p>
        </p:txBody>
      </p:sp>
      <p:sp>
        <p:nvSpPr>
          <p:cNvPr id="10" name="矩形 9"/>
          <p:cNvSpPr/>
          <p:nvPr/>
        </p:nvSpPr>
        <p:spPr>
          <a:xfrm>
            <a:off x="500247" y="5105418"/>
            <a:ext cx="1499128" cy="338554"/>
          </a:xfrm>
          <a:prstGeom prst="rect">
            <a:avLst/>
          </a:prstGeom>
        </p:spPr>
        <p:txBody>
          <a:bodyPr wrap="none">
            <a:spAutoFit/>
          </a:bodyPr>
          <a:lstStyle/>
          <a:p>
            <a:pPr marL="285750" indent="-285750">
              <a:buFont typeface="Wingdings" panose="05000000000000000000" pitchFamily="2" charset="2"/>
              <a:buChar char="Ø"/>
            </a:pPr>
            <a:r>
              <a:rPr lang="zh-CN" altLang="en-US" sz="1600" b="1" dirty="0">
                <a:solidFill>
                  <a:srgbClr val="000000"/>
                </a:solidFill>
                <a:latin typeface="Times New Roman" panose="02020603050405020304" pitchFamily="18" charset="0"/>
                <a:ea typeface="Arial" panose="020B0604020202020204"/>
                <a:cs typeface="Times New Roman" panose="02020603050405020304" pitchFamily="18" charset="0"/>
              </a:rPr>
              <a:t>资料来源</a:t>
            </a:r>
            <a:r>
              <a:rPr lang="zh-CN" altLang="en-US" sz="1600" dirty="0"/>
              <a:t>：</a:t>
            </a:r>
          </a:p>
        </p:txBody>
      </p:sp>
      <p:sp>
        <p:nvSpPr>
          <p:cNvPr id="77" name="矩形 76"/>
          <p:cNvSpPr/>
          <p:nvPr/>
        </p:nvSpPr>
        <p:spPr>
          <a:xfrm>
            <a:off x="534376" y="1835297"/>
            <a:ext cx="1315745" cy="338554"/>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en-US" altLang="zh-CN" sz="1600"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01 Workflow</a:t>
            </a:r>
            <a:endParaRPr lang="zh-CN" altLang="en-US" sz="1600"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endParaRPr>
          </a:p>
        </p:txBody>
      </p:sp>
      <p:sp>
        <p:nvSpPr>
          <p:cNvPr id="79" name="矩形 78"/>
          <p:cNvSpPr/>
          <p:nvPr/>
        </p:nvSpPr>
        <p:spPr>
          <a:xfrm>
            <a:off x="528515" y="3482667"/>
            <a:ext cx="1467068" cy="338554"/>
          </a:xfrm>
          <a:prstGeom prst="rect">
            <a:avLst/>
          </a:prstGeom>
        </p:spPr>
        <p:txBody>
          <a:bodyPr wrap="none">
            <a:spAutoFit/>
          </a:bodyPr>
          <a:lstStyle/>
          <a:p>
            <a:pPr>
              <a:defRPr sz="1800" b="1">
                <a:solidFill>
                  <a:srgbClr val="D7000F"/>
                </a:solidFill>
                <a:latin typeface="Arial" panose="020B0604020202020204"/>
                <a:ea typeface="Arial" panose="020B0604020202020204"/>
                <a:cs typeface="Arial" panose="020B0604020202020204"/>
              </a:defRPr>
            </a:pPr>
            <a:r>
              <a:rPr lang="en-US" altLang="zh-CN" sz="1600"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02 </a:t>
            </a:r>
            <a:r>
              <a:rPr lang="zh-CN" altLang="en-US" sz="1600" b="1" dirty="0">
                <a:solidFill>
                  <a:schemeClr val="tx1">
                    <a:lumMod val="95000"/>
                    <a:lumOff val="5000"/>
                  </a:schemeClr>
                </a:solidFill>
                <a:latin typeface="Times New Roman" panose="02020603050405020304" pitchFamily="18" charset="0"/>
                <a:ea typeface="Arial" panose="020B0604020202020204"/>
                <a:cs typeface="Times New Roman" panose="02020603050405020304" pitchFamily="18" charset="0"/>
              </a:rPr>
              <a:t>平台资料库</a:t>
            </a:r>
          </a:p>
        </p:txBody>
      </p:sp>
      <p:sp>
        <p:nvSpPr>
          <p:cNvPr id="2" name="文本框 1">
            <a:extLst>
              <a:ext uri="{FF2B5EF4-FFF2-40B4-BE49-F238E27FC236}">
                <a16:creationId xmlns:a16="http://schemas.microsoft.com/office/drawing/2014/main" id="{9310EFBE-9A97-7583-A343-D8FE3DA7895E}"/>
              </a:ext>
            </a:extLst>
          </p:cNvPr>
          <p:cNvSpPr txBox="1"/>
          <p:nvPr/>
        </p:nvSpPr>
        <p:spPr>
          <a:xfrm>
            <a:off x="864327" y="5644508"/>
            <a:ext cx="1122482" cy="307777"/>
          </a:xfrm>
          <a:prstGeom prst="rect">
            <a:avLst/>
          </a:prstGeom>
          <a:noFill/>
        </p:spPr>
        <p:txBody>
          <a:bodyPr wrap="square" rtlCol="0">
            <a:spAutoFit/>
          </a:bodyPr>
          <a:lstStyle/>
          <a:p>
            <a:pPr algn="ctr"/>
            <a:r>
              <a:rPr lang="zh-CN" altLang="en-US" sz="1400" dirty="0"/>
              <a:t>官方资料</a:t>
            </a:r>
          </a:p>
        </p:txBody>
      </p:sp>
      <p:sp>
        <p:nvSpPr>
          <p:cNvPr id="3" name="文本框 2">
            <a:extLst>
              <a:ext uri="{FF2B5EF4-FFF2-40B4-BE49-F238E27FC236}">
                <a16:creationId xmlns:a16="http://schemas.microsoft.com/office/drawing/2014/main" id="{DD813684-D2B7-DABD-E1A2-79382098224D}"/>
              </a:ext>
            </a:extLst>
          </p:cNvPr>
          <p:cNvSpPr txBox="1"/>
          <p:nvPr/>
        </p:nvSpPr>
        <p:spPr>
          <a:xfrm>
            <a:off x="2931783" y="5640842"/>
            <a:ext cx="1122482" cy="307777"/>
          </a:xfrm>
          <a:prstGeom prst="rect">
            <a:avLst/>
          </a:prstGeom>
          <a:noFill/>
        </p:spPr>
        <p:txBody>
          <a:bodyPr wrap="square" rtlCol="0">
            <a:spAutoFit/>
          </a:bodyPr>
          <a:lstStyle/>
          <a:p>
            <a:pPr algn="ctr"/>
            <a:r>
              <a:rPr lang="zh-CN" altLang="en-US" sz="1400" dirty="0" smtClean="0"/>
              <a:t>环境</a:t>
            </a:r>
            <a:r>
              <a:rPr lang="zh-CN" altLang="en-US" sz="1400" dirty="0"/>
              <a:t>检测</a:t>
            </a:r>
          </a:p>
        </p:txBody>
      </p:sp>
      <p:sp>
        <p:nvSpPr>
          <p:cNvPr id="4" name="文本框 3">
            <a:extLst>
              <a:ext uri="{FF2B5EF4-FFF2-40B4-BE49-F238E27FC236}">
                <a16:creationId xmlns:a16="http://schemas.microsoft.com/office/drawing/2014/main" id="{122864EC-D30D-C9C4-8E0F-DA53166B3513}"/>
              </a:ext>
            </a:extLst>
          </p:cNvPr>
          <p:cNvSpPr txBox="1"/>
          <p:nvPr/>
        </p:nvSpPr>
        <p:spPr>
          <a:xfrm>
            <a:off x="4719974" y="5640842"/>
            <a:ext cx="1618038" cy="307777"/>
          </a:xfrm>
          <a:prstGeom prst="rect">
            <a:avLst/>
          </a:prstGeom>
          <a:noFill/>
        </p:spPr>
        <p:txBody>
          <a:bodyPr wrap="square" rtlCol="0">
            <a:spAutoFit/>
          </a:bodyPr>
          <a:lstStyle/>
          <a:p>
            <a:pPr algn="ctr"/>
            <a:r>
              <a:rPr lang="zh-CN" altLang="en-US" sz="1400" dirty="0" smtClean="0"/>
              <a:t>开源信息</a:t>
            </a:r>
            <a:endParaRPr lang="en-US" altLang="zh-CN" sz="1400" dirty="0"/>
          </a:p>
        </p:txBody>
      </p:sp>
      <p:sp>
        <p:nvSpPr>
          <p:cNvPr id="9" name="文本框 8">
            <a:extLst>
              <a:ext uri="{FF2B5EF4-FFF2-40B4-BE49-F238E27FC236}">
                <a16:creationId xmlns:a16="http://schemas.microsoft.com/office/drawing/2014/main" id="{BD150FD0-DDE2-6D96-0E8D-5F82DF7FD484}"/>
              </a:ext>
            </a:extLst>
          </p:cNvPr>
          <p:cNvSpPr txBox="1"/>
          <p:nvPr/>
        </p:nvSpPr>
        <p:spPr>
          <a:xfrm>
            <a:off x="6723192" y="5635073"/>
            <a:ext cx="1593590" cy="307777"/>
          </a:xfrm>
          <a:prstGeom prst="rect">
            <a:avLst/>
          </a:prstGeom>
          <a:noFill/>
        </p:spPr>
        <p:txBody>
          <a:bodyPr wrap="square" rtlCol="0">
            <a:spAutoFit/>
          </a:bodyPr>
          <a:lstStyle/>
          <a:p>
            <a:pPr algn="ctr"/>
            <a:r>
              <a:rPr lang="zh-CN" altLang="en-US" sz="1400" dirty="0"/>
              <a:t>实际开发经验</a:t>
            </a:r>
          </a:p>
        </p:txBody>
      </p:sp>
      <p:sp>
        <p:nvSpPr>
          <p:cNvPr id="11" name="文本框 10">
            <a:extLst>
              <a:ext uri="{FF2B5EF4-FFF2-40B4-BE49-F238E27FC236}">
                <a16:creationId xmlns:a16="http://schemas.microsoft.com/office/drawing/2014/main" id="{F14ACABF-DD21-F8D3-084A-E27C427D8B86}"/>
              </a:ext>
            </a:extLst>
          </p:cNvPr>
          <p:cNvSpPr txBox="1"/>
          <p:nvPr/>
        </p:nvSpPr>
        <p:spPr>
          <a:xfrm>
            <a:off x="870232" y="4030238"/>
            <a:ext cx="1407319" cy="613373"/>
          </a:xfrm>
          <a:prstGeom prst="rect">
            <a:avLst/>
          </a:prstGeom>
          <a:noFill/>
        </p:spPr>
        <p:txBody>
          <a:bodyPr wrap="square" rtlCol="0">
            <a:spAutoFit/>
          </a:bodyPr>
          <a:lstStyle/>
          <a:p>
            <a:pPr algn="ctr">
              <a:lnSpc>
                <a:spcPct val="150000"/>
              </a:lnSpc>
            </a:pPr>
            <a:r>
              <a:rPr lang="zh-CN" altLang="en-US" sz="1200" dirty="0"/>
              <a:t>文件结构不变</a:t>
            </a:r>
          </a:p>
          <a:p>
            <a:pPr algn="ctr">
              <a:lnSpc>
                <a:spcPct val="150000"/>
              </a:lnSpc>
            </a:pPr>
            <a:r>
              <a:rPr lang="zh-CN" altLang="en-US" sz="1200" dirty="0"/>
              <a:t>内容几乎全部修改</a:t>
            </a:r>
          </a:p>
        </p:txBody>
      </p:sp>
      <p:sp>
        <p:nvSpPr>
          <p:cNvPr id="12" name="文本框 11">
            <a:extLst>
              <a:ext uri="{FF2B5EF4-FFF2-40B4-BE49-F238E27FC236}">
                <a16:creationId xmlns:a16="http://schemas.microsoft.com/office/drawing/2014/main" id="{4E81DA7F-CEFB-6584-FD9C-8807BB25C2DB}"/>
              </a:ext>
            </a:extLst>
          </p:cNvPr>
          <p:cNvSpPr txBox="1"/>
          <p:nvPr/>
        </p:nvSpPr>
        <p:spPr>
          <a:xfrm>
            <a:off x="3257519" y="4018541"/>
            <a:ext cx="931318" cy="276999"/>
          </a:xfrm>
          <a:prstGeom prst="rect">
            <a:avLst/>
          </a:prstGeom>
          <a:noFill/>
        </p:spPr>
        <p:txBody>
          <a:bodyPr wrap="square" rtlCol="0">
            <a:spAutoFit/>
          </a:bodyPr>
          <a:lstStyle/>
          <a:p>
            <a:r>
              <a:rPr lang="zh-CN" altLang="en-US" sz="1200" dirty="0"/>
              <a:t>硬件架构</a:t>
            </a:r>
          </a:p>
        </p:txBody>
      </p:sp>
      <p:sp>
        <p:nvSpPr>
          <p:cNvPr id="13" name="文本框 12">
            <a:extLst>
              <a:ext uri="{FF2B5EF4-FFF2-40B4-BE49-F238E27FC236}">
                <a16:creationId xmlns:a16="http://schemas.microsoft.com/office/drawing/2014/main" id="{C5774118-3C39-21AC-476B-23D023C54B94}"/>
              </a:ext>
            </a:extLst>
          </p:cNvPr>
          <p:cNvSpPr txBox="1"/>
          <p:nvPr/>
        </p:nvSpPr>
        <p:spPr>
          <a:xfrm>
            <a:off x="4560270" y="4016896"/>
            <a:ext cx="931318" cy="276999"/>
          </a:xfrm>
          <a:prstGeom prst="rect">
            <a:avLst/>
          </a:prstGeom>
          <a:noFill/>
        </p:spPr>
        <p:txBody>
          <a:bodyPr wrap="square" rtlCol="0">
            <a:spAutoFit/>
          </a:bodyPr>
          <a:lstStyle/>
          <a:p>
            <a:r>
              <a:rPr lang="zh-CN" altLang="en-US" sz="1200" dirty="0"/>
              <a:t>编程环境</a:t>
            </a:r>
          </a:p>
        </p:txBody>
      </p:sp>
      <p:sp>
        <p:nvSpPr>
          <p:cNvPr id="14" name="文本框 13">
            <a:extLst>
              <a:ext uri="{FF2B5EF4-FFF2-40B4-BE49-F238E27FC236}">
                <a16:creationId xmlns:a16="http://schemas.microsoft.com/office/drawing/2014/main" id="{A410D460-0C64-DA51-E25D-8737510416C1}"/>
              </a:ext>
            </a:extLst>
          </p:cNvPr>
          <p:cNvSpPr txBox="1"/>
          <p:nvPr/>
        </p:nvSpPr>
        <p:spPr>
          <a:xfrm>
            <a:off x="5924449" y="4020697"/>
            <a:ext cx="931318" cy="276999"/>
          </a:xfrm>
          <a:prstGeom prst="rect">
            <a:avLst/>
          </a:prstGeom>
          <a:noFill/>
        </p:spPr>
        <p:txBody>
          <a:bodyPr wrap="square" rtlCol="0">
            <a:spAutoFit/>
          </a:bodyPr>
          <a:lstStyle/>
          <a:p>
            <a:r>
              <a:rPr lang="zh-CN" altLang="en-US" sz="1200" dirty="0"/>
              <a:t>算子画像</a:t>
            </a:r>
          </a:p>
        </p:txBody>
      </p:sp>
      <p:sp>
        <p:nvSpPr>
          <p:cNvPr id="15" name="文本框 14">
            <a:extLst>
              <a:ext uri="{FF2B5EF4-FFF2-40B4-BE49-F238E27FC236}">
                <a16:creationId xmlns:a16="http://schemas.microsoft.com/office/drawing/2014/main" id="{1A9FA2C1-2EDC-C9BC-32F6-784AC95F58F7}"/>
              </a:ext>
            </a:extLst>
          </p:cNvPr>
          <p:cNvSpPr txBox="1"/>
          <p:nvPr/>
        </p:nvSpPr>
        <p:spPr>
          <a:xfrm>
            <a:off x="3257519" y="4427635"/>
            <a:ext cx="931318" cy="276999"/>
          </a:xfrm>
          <a:prstGeom prst="rect">
            <a:avLst/>
          </a:prstGeom>
          <a:noFill/>
        </p:spPr>
        <p:txBody>
          <a:bodyPr wrap="square" rtlCol="0">
            <a:spAutoFit/>
          </a:bodyPr>
          <a:lstStyle/>
          <a:p>
            <a:r>
              <a:rPr lang="zh-CN" altLang="en-US" sz="1200" dirty="0"/>
              <a:t>性能分析</a:t>
            </a:r>
          </a:p>
        </p:txBody>
      </p:sp>
      <p:sp>
        <p:nvSpPr>
          <p:cNvPr id="16" name="文本框 15">
            <a:extLst>
              <a:ext uri="{FF2B5EF4-FFF2-40B4-BE49-F238E27FC236}">
                <a16:creationId xmlns:a16="http://schemas.microsoft.com/office/drawing/2014/main" id="{85AE4CFD-074E-8D21-306A-E259C75D1C40}"/>
              </a:ext>
            </a:extLst>
          </p:cNvPr>
          <p:cNvSpPr txBox="1"/>
          <p:nvPr/>
        </p:nvSpPr>
        <p:spPr>
          <a:xfrm>
            <a:off x="4583323" y="4418012"/>
            <a:ext cx="931318" cy="276999"/>
          </a:xfrm>
          <a:prstGeom prst="rect">
            <a:avLst/>
          </a:prstGeom>
          <a:noFill/>
        </p:spPr>
        <p:txBody>
          <a:bodyPr wrap="square" rtlCol="0">
            <a:spAutoFit/>
          </a:bodyPr>
          <a:lstStyle/>
          <a:p>
            <a:r>
              <a:rPr lang="zh-CN" altLang="en-US" sz="1200" dirty="0"/>
              <a:t>优化方法</a:t>
            </a:r>
          </a:p>
        </p:txBody>
      </p:sp>
      <p:sp>
        <p:nvSpPr>
          <p:cNvPr id="17" name="文本框 16">
            <a:extLst>
              <a:ext uri="{FF2B5EF4-FFF2-40B4-BE49-F238E27FC236}">
                <a16:creationId xmlns:a16="http://schemas.microsoft.com/office/drawing/2014/main" id="{E1CB0054-EF5C-8ED5-6FD3-B013E6314C02}"/>
              </a:ext>
            </a:extLst>
          </p:cNvPr>
          <p:cNvSpPr txBox="1"/>
          <p:nvPr/>
        </p:nvSpPr>
        <p:spPr>
          <a:xfrm>
            <a:off x="5924449" y="4427635"/>
            <a:ext cx="931318" cy="276999"/>
          </a:xfrm>
          <a:prstGeom prst="rect">
            <a:avLst/>
          </a:prstGeom>
          <a:noFill/>
        </p:spPr>
        <p:txBody>
          <a:bodyPr wrap="square" rtlCol="0">
            <a:spAutoFit/>
          </a:bodyPr>
          <a:lstStyle/>
          <a:p>
            <a:r>
              <a:rPr lang="zh-CN" altLang="en-US" sz="1200" dirty="0"/>
              <a:t>支持原语</a:t>
            </a:r>
          </a:p>
        </p:txBody>
      </p:sp>
      <p:sp>
        <p:nvSpPr>
          <p:cNvPr id="18" name="文本框 17">
            <a:extLst>
              <a:ext uri="{FF2B5EF4-FFF2-40B4-BE49-F238E27FC236}">
                <a16:creationId xmlns:a16="http://schemas.microsoft.com/office/drawing/2014/main" id="{000533F4-8D44-0563-C2B1-8E8856E571F6}"/>
              </a:ext>
            </a:extLst>
          </p:cNvPr>
          <p:cNvSpPr txBox="1"/>
          <p:nvPr/>
        </p:nvSpPr>
        <p:spPr>
          <a:xfrm>
            <a:off x="500247" y="2576769"/>
            <a:ext cx="1991914" cy="613373"/>
          </a:xfrm>
          <a:prstGeom prst="rect">
            <a:avLst/>
          </a:prstGeom>
          <a:noFill/>
        </p:spPr>
        <p:txBody>
          <a:bodyPr wrap="square" rtlCol="0">
            <a:spAutoFit/>
          </a:bodyPr>
          <a:lstStyle/>
          <a:p>
            <a:pPr algn="ctr">
              <a:lnSpc>
                <a:spcPct val="150000"/>
              </a:lnSpc>
            </a:pPr>
            <a:r>
              <a:rPr lang="zh-CN" altLang="en-US" sz="1200" dirty="0"/>
              <a:t>新平台按需补充修改</a:t>
            </a:r>
          </a:p>
          <a:p>
            <a:pPr algn="ctr">
              <a:lnSpc>
                <a:spcPct val="150000"/>
              </a:lnSpc>
            </a:pPr>
            <a:r>
              <a:rPr lang="zh-CN" altLang="en-US" sz="1200" dirty="0"/>
              <a:t>（修改程度低）</a:t>
            </a:r>
          </a:p>
        </p:txBody>
      </p:sp>
      <p:sp>
        <p:nvSpPr>
          <p:cNvPr id="19" name="文本框 18">
            <a:extLst>
              <a:ext uri="{FF2B5EF4-FFF2-40B4-BE49-F238E27FC236}">
                <a16:creationId xmlns:a16="http://schemas.microsoft.com/office/drawing/2014/main" id="{85C47E2F-A684-58B9-85CC-DD66D42995A4}"/>
              </a:ext>
            </a:extLst>
          </p:cNvPr>
          <p:cNvSpPr txBox="1"/>
          <p:nvPr/>
        </p:nvSpPr>
        <p:spPr>
          <a:xfrm>
            <a:off x="2382171" y="2785296"/>
            <a:ext cx="1325733" cy="261610"/>
          </a:xfrm>
          <a:prstGeom prst="rect">
            <a:avLst/>
          </a:prstGeom>
          <a:noFill/>
        </p:spPr>
        <p:txBody>
          <a:bodyPr wrap="square" rtlCol="0">
            <a:spAutoFit/>
          </a:bodyPr>
          <a:lstStyle/>
          <a:p>
            <a:r>
              <a:rPr lang="zh-CN" altLang="en-US" sz="1100" dirty="0"/>
              <a:t>补充平台信息限制</a:t>
            </a:r>
          </a:p>
        </p:txBody>
      </p:sp>
      <p:sp>
        <p:nvSpPr>
          <p:cNvPr id="20" name="文本框 19">
            <a:extLst>
              <a:ext uri="{FF2B5EF4-FFF2-40B4-BE49-F238E27FC236}">
                <a16:creationId xmlns:a16="http://schemas.microsoft.com/office/drawing/2014/main" id="{45382A74-DE70-0DD5-FA4C-79C70E9C518D}"/>
              </a:ext>
            </a:extLst>
          </p:cNvPr>
          <p:cNvSpPr txBox="1"/>
          <p:nvPr/>
        </p:nvSpPr>
        <p:spPr>
          <a:xfrm>
            <a:off x="3830459" y="2785296"/>
            <a:ext cx="1109766" cy="261610"/>
          </a:xfrm>
          <a:prstGeom prst="rect">
            <a:avLst/>
          </a:prstGeom>
          <a:noFill/>
        </p:spPr>
        <p:txBody>
          <a:bodyPr wrap="square" rtlCol="0">
            <a:spAutoFit/>
          </a:bodyPr>
          <a:lstStyle/>
          <a:p>
            <a:r>
              <a:rPr lang="zh-CN" altLang="en-US" sz="1100" dirty="0"/>
              <a:t>修改阶段契约</a:t>
            </a:r>
          </a:p>
        </p:txBody>
      </p:sp>
      <p:sp>
        <p:nvSpPr>
          <p:cNvPr id="21" name="文本框 20">
            <a:extLst>
              <a:ext uri="{FF2B5EF4-FFF2-40B4-BE49-F238E27FC236}">
                <a16:creationId xmlns:a16="http://schemas.microsoft.com/office/drawing/2014/main" id="{0E5B7128-A4F1-E28A-3EFE-63BF3D3D32E0}"/>
              </a:ext>
            </a:extLst>
          </p:cNvPr>
          <p:cNvSpPr txBox="1"/>
          <p:nvPr/>
        </p:nvSpPr>
        <p:spPr>
          <a:xfrm>
            <a:off x="5178070" y="2780512"/>
            <a:ext cx="1089389" cy="261610"/>
          </a:xfrm>
          <a:prstGeom prst="rect">
            <a:avLst/>
          </a:prstGeom>
          <a:noFill/>
        </p:spPr>
        <p:txBody>
          <a:bodyPr wrap="square" rtlCol="0">
            <a:spAutoFit/>
          </a:bodyPr>
          <a:lstStyle/>
          <a:p>
            <a:r>
              <a:rPr lang="zh-CN" altLang="en-US" sz="1100" dirty="0"/>
              <a:t>真实硬件验证</a:t>
            </a:r>
          </a:p>
        </p:txBody>
      </p:sp>
      <p:sp>
        <p:nvSpPr>
          <p:cNvPr id="22" name="文本框 21">
            <a:extLst>
              <a:ext uri="{FF2B5EF4-FFF2-40B4-BE49-F238E27FC236}">
                <a16:creationId xmlns:a16="http://schemas.microsoft.com/office/drawing/2014/main" id="{B7FEE100-479D-0ADA-C89D-2B6377AA74DC}"/>
              </a:ext>
            </a:extLst>
          </p:cNvPr>
          <p:cNvSpPr txBox="1"/>
          <p:nvPr/>
        </p:nvSpPr>
        <p:spPr>
          <a:xfrm>
            <a:off x="6558533" y="2786355"/>
            <a:ext cx="1051962" cy="261610"/>
          </a:xfrm>
          <a:prstGeom prst="rect">
            <a:avLst/>
          </a:prstGeom>
          <a:noFill/>
        </p:spPr>
        <p:txBody>
          <a:bodyPr wrap="square" rtlCol="0">
            <a:spAutoFit/>
          </a:bodyPr>
          <a:lstStyle/>
          <a:p>
            <a:r>
              <a:rPr lang="zh-CN" altLang="en-US" sz="1100" dirty="0"/>
              <a:t>复测流程稳定</a:t>
            </a:r>
          </a:p>
        </p:txBody>
      </p:sp>
      <p:cxnSp>
        <p:nvCxnSpPr>
          <p:cNvPr id="24" name="直接箭头连接符 23">
            <a:extLst>
              <a:ext uri="{FF2B5EF4-FFF2-40B4-BE49-F238E27FC236}">
                <a16:creationId xmlns:a16="http://schemas.microsoft.com/office/drawing/2014/main" id="{EE4C911E-2699-ED5C-571B-A24B05E2657D}"/>
              </a:ext>
            </a:extLst>
          </p:cNvPr>
          <p:cNvCxnSpPr>
            <a:stCxn id="19" idx="0"/>
            <a:endCxn id="144" idx="2"/>
          </p:cNvCxnSpPr>
          <p:nvPr/>
        </p:nvCxnSpPr>
        <p:spPr>
          <a:xfrm flipH="1" flipV="1">
            <a:off x="2770415" y="2500801"/>
            <a:ext cx="274623" cy="284495"/>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C62A42CC-20D8-F645-2B7E-B9A19524DF15}"/>
              </a:ext>
            </a:extLst>
          </p:cNvPr>
          <p:cNvCxnSpPr>
            <a:stCxn id="20" idx="0"/>
            <a:endCxn id="146" idx="2"/>
          </p:cNvCxnSpPr>
          <p:nvPr/>
        </p:nvCxnSpPr>
        <p:spPr>
          <a:xfrm flipH="1" flipV="1">
            <a:off x="3656460" y="2500313"/>
            <a:ext cx="728882" cy="284983"/>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3F54CDD8-B3F0-EA74-1644-E09D847C04A6}"/>
              </a:ext>
            </a:extLst>
          </p:cNvPr>
          <p:cNvCxnSpPr>
            <a:stCxn id="21" idx="0"/>
            <a:endCxn id="149" idx="2"/>
          </p:cNvCxnSpPr>
          <p:nvPr/>
        </p:nvCxnSpPr>
        <p:spPr>
          <a:xfrm flipH="1" flipV="1">
            <a:off x="5496853" y="2500633"/>
            <a:ext cx="225912" cy="279879"/>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32EA7F2D-5B04-084E-71EF-798A2D4F9272}"/>
              </a:ext>
            </a:extLst>
          </p:cNvPr>
          <p:cNvCxnSpPr>
            <a:stCxn id="22" idx="0"/>
            <a:endCxn id="152" idx="2"/>
          </p:cNvCxnSpPr>
          <p:nvPr/>
        </p:nvCxnSpPr>
        <p:spPr>
          <a:xfrm flipH="1" flipV="1">
            <a:off x="6404566" y="2521256"/>
            <a:ext cx="679948" cy="265099"/>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24014B83-C59C-5CE9-E13B-9856FA79A5BC}"/>
              </a:ext>
            </a:extLst>
          </p:cNvPr>
          <p:cNvCxnSpPr>
            <a:stCxn id="143" idx="3"/>
            <a:endCxn id="145" idx="1"/>
          </p:cNvCxnSpPr>
          <p:nvPr/>
        </p:nvCxnSpPr>
        <p:spPr>
          <a:xfrm flipV="1">
            <a:off x="3131437" y="2414100"/>
            <a:ext cx="164000" cy="488"/>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D603189B-80E3-A219-021B-459FA9DBD849}"/>
              </a:ext>
            </a:extLst>
          </p:cNvPr>
          <p:cNvCxnSpPr>
            <a:stCxn id="145" idx="3"/>
            <a:endCxn id="147" idx="1"/>
          </p:cNvCxnSpPr>
          <p:nvPr/>
        </p:nvCxnSpPr>
        <p:spPr>
          <a:xfrm>
            <a:off x="4017482" y="2414100"/>
            <a:ext cx="171355" cy="0"/>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02473B4E-A640-B865-AADD-00F235728BE4}"/>
              </a:ext>
            </a:extLst>
          </p:cNvPr>
          <p:cNvCxnSpPr>
            <a:stCxn id="147" idx="3"/>
            <a:endCxn id="149" idx="1"/>
          </p:cNvCxnSpPr>
          <p:nvPr/>
        </p:nvCxnSpPr>
        <p:spPr>
          <a:xfrm>
            <a:off x="4961818" y="2414100"/>
            <a:ext cx="174012" cy="319"/>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777ECE15-2EFE-EA90-4A53-89942C29E372}"/>
              </a:ext>
            </a:extLst>
          </p:cNvPr>
          <p:cNvCxnSpPr>
            <a:stCxn id="149" idx="3"/>
            <a:endCxn id="151" idx="1"/>
          </p:cNvCxnSpPr>
          <p:nvPr/>
        </p:nvCxnSpPr>
        <p:spPr>
          <a:xfrm flipV="1">
            <a:off x="5857875" y="2414100"/>
            <a:ext cx="185668" cy="319"/>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C678D9CC-7F10-8666-0C5B-779214C43446}"/>
              </a:ext>
            </a:extLst>
          </p:cNvPr>
          <p:cNvCxnSpPr>
            <a:stCxn id="151" idx="3"/>
            <a:endCxn id="177" idx="1"/>
          </p:cNvCxnSpPr>
          <p:nvPr/>
        </p:nvCxnSpPr>
        <p:spPr>
          <a:xfrm>
            <a:off x="6765588" y="2414100"/>
            <a:ext cx="167433" cy="7144"/>
          </a:xfrm>
          <a:prstGeom prst="straightConnector1">
            <a:avLst/>
          </a:prstGeom>
          <a:ln w="19050">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_3790_相对 PyTorch 加速比"/>
          <p:cNvSpPr>
            <a:spLocks noGrp="1"/>
          </p:cNvSpPr>
          <p:nvPr/>
        </p:nvSpPr>
        <p:spPr>
          <a:xfrm>
            <a:off x="445416" y="5403624"/>
            <a:ext cx="2113220" cy="300038"/>
          </a:xfrm>
          <a:prstGeom prst="rect">
            <a:avLst/>
          </a:prstGeom>
          <a:noFill/>
          <a:ln w="9525">
            <a:noFill/>
          </a:ln>
        </p:spPr>
        <p:txBody>
          <a:bodyPr wrap="none" lIns="0" tIns="0" rIns="0" bIns="0" anchor="ctr">
            <a:noAutofit/>
          </a:bodyPr>
          <a:lstStyle/>
          <a:p>
            <a:pPr marL="285750" indent="-285750" algn="l">
              <a:buFont typeface="Wingdings" panose="05000000000000000000" pitchFamily="2" charset="2"/>
              <a:buChar char="p"/>
              <a:defRPr sz="2025" b="1">
                <a:solidFill>
                  <a:srgbClr val="000000"/>
                </a:solidFill>
                <a:latin typeface="Arial" panose="020B0604020202020204"/>
                <a:ea typeface="Arial" panose="020B0604020202020204"/>
                <a:cs typeface="Arial" panose="020B0604020202020204"/>
              </a:defRPr>
            </a:pPr>
            <a:r>
              <a:rPr sz="1400" b="1" dirty="0" err="1">
                <a:solidFill>
                  <a:srgbClr val="000000"/>
                </a:solidFill>
                <a:latin typeface="Times New Roman" panose="02020603050405020304" pitchFamily="18" charset="0"/>
                <a:ea typeface="Arial" panose="020B0604020202020204"/>
                <a:cs typeface="Times New Roman" panose="02020603050405020304" pitchFamily="18" charset="0"/>
              </a:rPr>
              <a:t>相对</a:t>
            </a:r>
            <a:r>
              <a:rPr sz="1400" b="1" dirty="0">
                <a:solidFill>
                  <a:srgbClr val="000000"/>
                </a:solidFill>
                <a:latin typeface="Times New Roman" panose="02020603050405020304" pitchFamily="18" charset="0"/>
                <a:cs typeface="Times New Roman" panose="02020603050405020304" pitchFamily="18" charset="0"/>
              </a:rPr>
              <a:t> </a:t>
            </a:r>
            <a:r>
              <a:rPr sz="1400" b="1" dirty="0" err="1">
                <a:solidFill>
                  <a:srgbClr val="000000"/>
                </a:solidFill>
                <a:latin typeface="Times New Roman" panose="02020603050405020304" pitchFamily="18" charset="0"/>
                <a:ea typeface="Arial" panose="020B0604020202020204"/>
                <a:cs typeface="Times New Roman" panose="02020603050405020304" pitchFamily="18" charset="0"/>
              </a:rPr>
              <a:t>PyTorch</a:t>
            </a:r>
            <a:r>
              <a:rPr sz="1400" b="1" dirty="0">
                <a:solidFill>
                  <a:srgbClr val="000000"/>
                </a:solidFill>
                <a:latin typeface="Times New Roman" panose="02020603050405020304" pitchFamily="18" charset="0"/>
                <a:cs typeface="Times New Roman" panose="02020603050405020304" pitchFamily="18" charset="0"/>
              </a:rPr>
              <a:t> </a:t>
            </a:r>
            <a:r>
              <a:rPr sz="1400" b="1" dirty="0" err="1">
                <a:solidFill>
                  <a:srgbClr val="000000"/>
                </a:solidFill>
                <a:latin typeface="Times New Roman" panose="02020603050405020304" pitchFamily="18" charset="0"/>
                <a:ea typeface="Arial" panose="020B0604020202020204"/>
                <a:cs typeface="Times New Roman" panose="02020603050405020304" pitchFamily="18" charset="0"/>
              </a:rPr>
              <a:t>加速比</a:t>
            </a:r>
            <a:endParaRPr sz="1400" b="1" dirty="0">
              <a:solidFill>
                <a:srgbClr val="000000"/>
              </a:solidFill>
              <a:latin typeface="Times New Roman" panose="02020603050405020304" pitchFamily="18" charset="0"/>
              <a:ea typeface="Arial" panose="020B0604020202020204"/>
              <a:cs typeface="Times New Roman" panose="02020603050405020304" pitchFamily="18" charset="0"/>
            </a:endParaRPr>
          </a:p>
        </p:txBody>
      </p:sp>
      <p:graphicFrame>
        <p:nvGraphicFramePr>
          <p:cNvPr id="122" name="表格 121"/>
          <p:cNvGraphicFramePr/>
          <p:nvPr>
            <p:extLst>
              <p:ext uri="{D42A27DB-BD31-4B8C-83A1-F6EECF244321}">
                <p14:modId xmlns:p14="http://schemas.microsoft.com/office/powerpoint/2010/main" val="2972463916"/>
              </p:ext>
            </p:extLst>
          </p:nvPr>
        </p:nvGraphicFramePr>
        <p:xfrm>
          <a:off x="480360" y="2115881"/>
          <a:ext cx="5236370" cy="3244185"/>
        </p:xfrm>
        <a:graphic>
          <a:graphicData uri="http://schemas.openxmlformats.org/drawingml/2006/table">
            <a:tbl>
              <a:tblPr/>
              <a:tblGrid>
                <a:gridCol w="1466183">
                  <a:extLst>
                    <a:ext uri="{9D8B030D-6E8A-4147-A177-3AD203B41FA5}">
                      <a16:colId xmlns:a16="http://schemas.microsoft.com/office/drawing/2014/main" val="20000"/>
                    </a:ext>
                  </a:extLst>
                </a:gridCol>
                <a:gridCol w="1256729">
                  <a:extLst>
                    <a:ext uri="{9D8B030D-6E8A-4147-A177-3AD203B41FA5}">
                      <a16:colId xmlns:a16="http://schemas.microsoft.com/office/drawing/2014/main" val="20001"/>
                    </a:ext>
                  </a:extLst>
                </a:gridCol>
                <a:gridCol w="1256729">
                  <a:extLst>
                    <a:ext uri="{9D8B030D-6E8A-4147-A177-3AD203B41FA5}">
                      <a16:colId xmlns:a16="http://schemas.microsoft.com/office/drawing/2014/main" val="20002"/>
                    </a:ext>
                  </a:extLst>
                </a:gridCol>
                <a:gridCol w="1256729">
                  <a:extLst>
                    <a:ext uri="{9D8B030D-6E8A-4147-A177-3AD203B41FA5}">
                      <a16:colId xmlns:a16="http://schemas.microsoft.com/office/drawing/2014/main" val="20003"/>
                    </a:ext>
                  </a:extLst>
                </a:gridCol>
              </a:tblGrid>
              <a:tr h="648837">
                <a:tc>
                  <a:txBody>
                    <a:bodyPr/>
                    <a:lstStyle/>
                    <a:p>
                      <a:pPr algn="ctr"/>
                      <a:r>
                        <a:rPr sz="1600" b="1" dirty="0">
                          <a:solidFill>
                            <a:srgbClr val="000000"/>
                          </a:solidFill>
                          <a:latin typeface="Times New Roman" panose="02020603050405020304" pitchFamily="18" charset="0"/>
                          <a:ea typeface="Arial" panose="020B0604020202020204"/>
                          <a:cs typeface="Times New Roman" panose="02020603050405020304" pitchFamily="18" charset="0"/>
                        </a:rPr>
                        <a:t>Skill / </a:t>
                      </a:r>
                      <a:r>
                        <a:rPr sz="1600" b="1" dirty="0" err="1">
                          <a:solidFill>
                            <a:srgbClr val="000000"/>
                          </a:solidFill>
                          <a:latin typeface="Times New Roman" panose="02020603050405020304" pitchFamily="18" charset="0"/>
                          <a:ea typeface="Arial" panose="020B0604020202020204"/>
                          <a:cs typeface="Times New Roman" panose="02020603050405020304" pitchFamily="18" charset="0"/>
                        </a:rPr>
                        <a:t>算子</a:t>
                      </a:r>
                      <a:endParaRPr sz="1600" b="1" dirty="0">
                        <a:solidFill>
                          <a:srgbClr val="000000"/>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sz="1600" b="1">
                          <a:solidFill>
                            <a:srgbClr val="000000"/>
                          </a:solidFill>
                          <a:latin typeface="Times New Roman" panose="02020603050405020304" pitchFamily="18" charset="0"/>
                          <a:ea typeface="Arial" panose="020B0604020202020204"/>
                          <a:cs typeface="Times New Roman" panose="02020603050405020304" pitchFamily="18" charset="0"/>
                        </a:rPr>
                        <a:t>LayerNorm</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sz="1600" b="1">
                          <a:solidFill>
                            <a:srgbClr val="000000"/>
                          </a:solidFill>
                          <a:latin typeface="Times New Roman" panose="02020603050405020304" pitchFamily="18" charset="0"/>
                          <a:ea typeface="Arial" panose="020B0604020202020204"/>
                          <a:cs typeface="Times New Roman" panose="02020603050405020304" pitchFamily="18" charset="0"/>
                        </a:rPr>
                        <a:t>Softmax</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a:r>
                        <a:rPr sz="1600" b="1" dirty="0">
                          <a:solidFill>
                            <a:srgbClr val="000000"/>
                          </a:solidFill>
                          <a:latin typeface="Times New Roman" panose="02020603050405020304" pitchFamily="18" charset="0"/>
                          <a:ea typeface="Arial" panose="020B0604020202020204"/>
                          <a:cs typeface="Times New Roman" panose="02020603050405020304" pitchFamily="18" charset="0"/>
                        </a:rPr>
                        <a:t>MatMul</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10000"/>
                  </a:ext>
                </a:extLst>
              </a:tr>
              <a:tr h="648837">
                <a:tc>
                  <a:txBody>
                    <a:bodyPr/>
                    <a:lstStyle/>
                    <a:p>
                      <a:pPr algn="ctr"/>
                      <a:r>
                        <a:rPr sz="1600" b="0" dirty="0">
                          <a:solidFill>
                            <a:srgbClr val="000000"/>
                          </a:solidFill>
                          <a:latin typeface="Times New Roman" panose="02020603050405020304" pitchFamily="18" charset="0"/>
                          <a:ea typeface="Arial" panose="020B0604020202020204"/>
                          <a:cs typeface="Times New Roman" panose="02020603050405020304" pitchFamily="18" charset="0"/>
                        </a:rPr>
                        <a:t>MLU Triton</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sz="1600" b="1" dirty="0">
                          <a:solidFill>
                            <a:srgbClr val="D7000F"/>
                          </a:solidFill>
                          <a:latin typeface="Times New Roman" panose="02020603050405020304" pitchFamily="18" charset="0"/>
                          <a:ea typeface="Arial" panose="020B0604020202020204"/>
                          <a:cs typeface="Times New Roman" panose="02020603050405020304" pitchFamily="18" charset="0"/>
                        </a:rPr>
                        <a:t>1.00×</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1" dirty="0">
                          <a:solidFill>
                            <a:srgbClr val="D7000F"/>
                          </a:solidFill>
                          <a:latin typeface="Times New Roman" panose="02020603050405020304" pitchFamily="18" charset="0"/>
                          <a:ea typeface="Arial" panose="020B0604020202020204"/>
                          <a:cs typeface="Times New Roman" panose="02020603050405020304" pitchFamily="18" charset="0"/>
                        </a:rPr>
                        <a:t>1.23×</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0.</a:t>
                      </a:r>
                      <a:r>
                        <a:rPr lang="en-US"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65</a:t>
                      </a: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a:t>
                      </a:r>
                      <a:endParaRPr sz="1600" b="0" dirty="0">
                        <a:solidFill>
                          <a:srgbClr val="000000"/>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8837">
                <a:tc>
                  <a:txBody>
                    <a:bodyPr/>
                    <a:lstStyle/>
                    <a:p>
                      <a:pPr algn="ctr"/>
                      <a:r>
                        <a:rPr sz="1600" b="0">
                          <a:solidFill>
                            <a:srgbClr val="000000"/>
                          </a:solidFill>
                          <a:latin typeface="Times New Roman" panose="02020603050405020304" pitchFamily="18" charset="0"/>
                          <a:ea typeface="Arial" panose="020B0604020202020204"/>
                          <a:cs typeface="Times New Roman" panose="02020603050405020304" pitchFamily="18" charset="0"/>
                        </a:rPr>
                        <a:t>BANG C</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0.</a:t>
                      </a:r>
                      <a:r>
                        <a:rPr lang="en-US"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32</a:t>
                      </a: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a:t>
                      </a:r>
                      <a:endParaRPr sz="1600" b="0" dirty="0">
                        <a:solidFill>
                          <a:srgbClr val="000000"/>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0.</a:t>
                      </a:r>
                      <a:r>
                        <a:rPr lang="en-US"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27</a:t>
                      </a: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a:t>
                      </a:r>
                      <a:endParaRPr sz="1600" b="0" dirty="0">
                        <a:solidFill>
                          <a:srgbClr val="000000"/>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0.3</a:t>
                      </a:r>
                      <a:r>
                        <a:rPr lang="en-US"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4</a:t>
                      </a: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a:t>
                      </a:r>
                      <a:endParaRPr sz="1600" b="0" dirty="0">
                        <a:solidFill>
                          <a:srgbClr val="000000"/>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8837">
                <a:tc>
                  <a:txBody>
                    <a:bodyPr/>
                    <a:lstStyle/>
                    <a:p>
                      <a:pPr algn="ctr"/>
                      <a:r>
                        <a:rPr sz="1600" b="0">
                          <a:solidFill>
                            <a:srgbClr val="000000"/>
                          </a:solidFill>
                          <a:latin typeface="Times New Roman" panose="02020603050405020304" pitchFamily="18" charset="0"/>
                          <a:ea typeface="Arial" panose="020B0604020202020204"/>
                          <a:cs typeface="Times New Roman" panose="02020603050405020304" pitchFamily="18" charset="0"/>
                        </a:rPr>
                        <a:t>GPU Triton</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sz="1600" b="1" dirty="0">
                          <a:solidFill>
                            <a:srgbClr val="D7000F"/>
                          </a:solidFill>
                          <a:latin typeface="Times New Roman" panose="02020603050405020304" pitchFamily="18" charset="0"/>
                          <a:ea typeface="Arial" panose="020B0604020202020204"/>
                          <a:cs typeface="Times New Roman" panose="02020603050405020304" pitchFamily="18" charset="0"/>
                        </a:rPr>
                        <a:t>1.43×</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1" dirty="0" smtClean="0">
                          <a:solidFill>
                            <a:srgbClr val="D7000F"/>
                          </a:solidFill>
                          <a:latin typeface="Times New Roman" panose="02020603050405020304" pitchFamily="18" charset="0"/>
                          <a:ea typeface="Arial" panose="020B0604020202020204"/>
                          <a:cs typeface="Times New Roman" panose="02020603050405020304" pitchFamily="18" charset="0"/>
                        </a:rPr>
                        <a:t>1.</a:t>
                      </a:r>
                      <a:r>
                        <a:rPr lang="en-US" sz="1600" b="1" dirty="0" smtClean="0">
                          <a:solidFill>
                            <a:srgbClr val="D7000F"/>
                          </a:solidFill>
                          <a:latin typeface="Times New Roman" panose="02020603050405020304" pitchFamily="18" charset="0"/>
                          <a:ea typeface="Arial" panose="020B0604020202020204"/>
                          <a:cs typeface="Times New Roman" panose="02020603050405020304" pitchFamily="18" charset="0"/>
                        </a:rPr>
                        <a:t>12</a:t>
                      </a:r>
                      <a:r>
                        <a:rPr sz="1600" b="1" dirty="0" smtClean="0">
                          <a:solidFill>
                            <a:srgbClr val="D7000F"/>
                          </a:solidFill>
                          <a:latin typeface="Times New Roman" panose="02020603050405020304" pitchFamily="18" charset="0"/>
                          <a:ea typeface="Arial" panose="020B0604020202020204"/>
                          <a:cs typeface="Times New Roman" panose="02020603050405020304" pitchFamily="18" charset="0"/>
                        </a:rPr>
                        <a:t>×</a:t>
                      </a:r>
                      <a:endParaRPr sz="1600" b="1" dirty="0">
                        <a:solidFill>
                          <a:srgbClr val="D7000F"/>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0.</a:t>
                      </a:r>
                      <a:r>
                        <a:rPr lang="en-US"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6</a:t>
                      </a: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3</a:t>
                      </a:r>
                      <a:r>
                        <a:rPr sz="1600" b="0" dirty="0">
                          <a:solidFill>
                            <a:srgbClr val="000000"/>
                          </a:solidFill>
                          <a:latin typeface="Times New Roman" panose="02020603050405020304" pitchFamily="18" charset="0"/>
                          <a:ea typeface="Arial" panose="020B0604020202020204"/>
                          <a:cs typeface="Times New Roman" panose="02020603050405020304" pitchFamily="18" charset="0"/>
                        </a:rPr>
                        <a:t>×</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8837">
                <a:tc>
                  <a:txBody>
                    <a:bodyPr/>
                    <a:lstStyle/>
                    <a:p>
                      <a:pPr algn="ctr"/>
                      <a:r>
                        <a:rPr sz="1600" b="0" dirty="0">
                          <a:solidFill>
                            <a:srgbClr val="000000"/>
                          </a:solidFill>
                          <a:latin typeface="Times New Roman" panose="02020603050405020304" pitchFamily="18" charset="0"/>
                          <a:ea typeface="Arial" panose="020B0604020202020204"/>
                          <a:cs typeface="Times New Roman" panose="02020603050405020304" pitchFamily="18" charset="0"/>
                        </a:rPr>
                        <a:t>CUDA C</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sz="1600" b="1" dirty="0">
                          <a:solidFill>
                            <a:srgbClr val="D7000F"/>
                          </a:solidFill>
                          <a:latin typeface="Times New Roman" panose="02020603050405020304" pitchFamily="18" charset="0"/>
                          <a:ea typeface="Arial" panose="020B0604020202020204"/>
                          <a:cs typeface="Times New Roman" panose="02020603050405020304" pitchFamily="18" charset="0"/>
                        </a:rPr>
                        <a:t>1.45×</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1" dirty="0">
                          <a:solidFill>
                            <a:srgbClr val="D7000F"/>
                          </a:solidFill>
                          <a:latin typeface="Times New Roman" panose="02020603050405020304" pitchFamily="18" charset="0"/>
                          <a:ea typeface="Arial" panose="020B0604020202020204"/>
                          <a:cs typeface="Times New Roman" panose="02020603050405020304" pitchFamily="18" charset="0"/>
                        </a:rPr>
                        <a:t>1.06×</a:t>
                      </a: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dirty="0">
                          <a:solidFill>
                            <a:srgbClr val="000000"/>
                          </a:solidFill>
                          <a:latin typeface="Times New Roman" panose="02020603050405020304" pitchFamily="18" charset="0"/>
                          <a:ea typeface="Arial" panose="020B0604020202020204"/>
                          <a:cs typeface="Times New Roman" panose="02020603050405020304" pitchFamily="18" charset="0"/>
                        </a:rPr>
                        <a:t>0.</a:t>
                      </a:r>
                      <a:r>
                        <a:rPr lang="en-US"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59</a:t>
                      </a:r>
                      <a:r>
                        <a:rPr sz="1600" b="0" dirty="0" smtClean="0">
                          <a:solidFill>
                            <a:srgbClr val="000000"/>
                          </a:solidFill>
                          <a:latin typeface="Times New Roman" panose="02020603050405020304" pitchFamily="18" charset="0"/>
                          <a:ea typeface="Arial" panose="020B0604020202020204"/>
                          <a:cs typeface="Times New Roman" panose="02020603050405020304" pitchFamily="18" charset="0"/>
                        </a:rPr>
                        <a:t>×</a:t>
                      </a:r>
                      <a:endParaRPr sz="1600" b="0" dirty="0">
                        <a:solidFill>
                          <a:srgbClr val="000000"/>
                        </a:solidFill>
                        <a:latin typeface="Times New Roman" panose="02020603050405020304" pitchFamily="18" charset="0"/>
                        <a:ea typeface="Arial" panose="020B0604020202020204"/>
                        <a:cs typeface="Times New Roman" panose="02020603050405020304" pitchFamily="18" charset="0"/>
                      </a:endParaRPr>
                    </a:p>
                  </a:txBody>
                  <a:tcPr marL="28575" marR="28575" marT="14288" marB="14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9" name="灯片编号占位符 48"/>
          <p:cNvSpPr>
            <a:spLocks noGrp="1"/>
          </p:cNvSpPr>
          <p:nvPr>
            <p:ph type="sldNum" sz="quarter" idx="12"/>
          </p:nvPr>
        </p:nvSpPr>
        <p:spPr/>
        <p:txBody>
          <a:bodyPr/>
          <a:lstStyle/>
          <a:p>
            <a:fld id="{03621AC1-4C4D-435F-BACF-B518BC126F02}" type="slidenum">
              <a:rPr lang="zh-CN" altLang="en-US" smtClean="0"/>
              <a:t>26</a:t>
            </a:fld>
            <a:endParaRPr lang="zh-CN" altLang="en-US"/>
          </a:p>
        </p:txBody>
      </p:sp>
      <p:cxnSp>
        <p:nvCxnSpPr>
          <p:cNvPr id="68" name="直接连接符 67"/>
          <p:cNvCxnSpPr/>
          <p:nvPr/>
        </p:nvCxnSpPr>
        <p:spPr>
          <a:xfrm>
            <a:off x="5956289" y="1955701"/>
            <a:ext cx="19893" cy="4150519"/>
          </a:xfrm>
          <a:prstGeom prst="line">
            <a:avLst/>
          </a:prstGeom>
          <a:ln w="28575">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70" name="标题 1"/>
          <p:cNvSpPr txBox="1"/>
          <p:nvPr/>
        </p:nvSpPr>
        <p:spPr bwMode="auto">
          <a:xfrm>
            <a:off x="395288" y="333375"/>
            <a:ext cx="6840537" cy="503238"/>
          </a:xfrm>
          <a:prstGeom prst="rect">
            <a:avLst/>
          </a:prstGeom>
          <a:noFill/>
          <a:ln w="9525">
            <a:noFill/>
            <a:miter lim="800000"/>
          </a:ln>
        </p:spPr>
        <p:txBody>
          <a:bodyPr vert="horz" wrap="none" lIns="0" tIns="0" rIns="0" bIns="0" numCol="1" anchor="ctr" anchorCtr="0" compatLnSpc="1">
            <a:noAutofit/>
          </a:bodyPr>
          <a:lstStyle>
            <a:lvl1pPr algn="l" rtl="0" eaLnBrk="0" fontAlgn="base" hangingPunct="0">
              <a:spcBef>
                <a:spcPct val="0"/>
              </a:spcBef>
              <a:spcAft>
                <a:spcPct val="0"/>
              </a:spcAft>
              <a:defRPr sz="2600" b="1">
                <a:solidFill>
                  <a:schemeClr val="tx1"/>
                </a:solidFill>
                <a:latin typeface="+mj-lt"/>
                <a:ea typeface="+mj-ea"/>
                <a:cs typeface="+mj-cs"/>
              </a:defRPr>
            </a:lvl1pPr>
            <a:lvl2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2pPr>
            <a:lvl3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3pPr>
            <a:lvl4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4pPr>
            <a:lvl5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5pPr>
            <a:lvl6pPr marL="4572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6pPr>
            <a:lvl7pPr marL="9144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7pPr>
            <a:lvl8pPr marL="13716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8pPr>
            <a:lvl9pPr marL="18288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9pPr>
          </a:lstStyle>
          <a:p>
            <a:pPr>
              <a:defRPr sz="2600" b="1">
                <a:solidFill>
                  <a:srgbClr val="000000"/>
                </a:solidFill>
                <a:latin typeface="Arial" panose="020B0604020202020204"/>
                <a:ea typeface="Arial" panose="020B0604020202020204"/>
                <a:cs typeface="Arial" panose="020B0604020202020204"/>
              </a:defRPr>
            </a:pPr>
            <a:r>
              <a:rPr lang="zh-CN" altLang="en-US" kern="0" dirty="0">
                <a:solidFill>
                  <a:srgbClr val="000000"/>
                </a:solidFill>
                <a:latin typeface="Times New Roman" panose="02020603050405020304" pitchFamily="18" charset="0"/>
                <a:ea typeface="+mn-ea"/>
                <a:cs typeface="Times New Roman" panose="02020603050405020304" pitchFamily="18" charset="0"/>
              </a:rPr>
              <a:t>实习任务三： 算子开发 </a:t>
            </a:r>
            <a:r>
              <a:rPr lang="en-US" altLang="zh-CN" kern="0" dirty="0">
                <a:solidFill>
                  <a:srgbClr val="000000"/>
                </a:solidFill>
                <a:latin typeface="Times New Roman" panose="02020603050405020304" pitchFamily="18" charset="0"/>
                <a:ea typeface="+mn-ea"/>
                <a:cs typeface="Times New Roman" panose="02020603050405020304" pitchFamily="18" charset="0"/>
              </a:rPr>
              <a:t>Skill </a:t>
            </a:r>
            <a:r>
              <a:rPr lang="zh-CN" altLang="en-US" kern="0" dirty="0">
                <a:solidFill>
                  <a:srgbClr val="000000"/>
                </a:solidFill>
                <a:latin typeface="Times New Roman" panose="02020603050405020304" pitchFamily="18" charset="0"/>
                <a:ea typeface="+mn-ea"/>
                <a:cs typeface="Times New Roman" panose="02020603050405020304" pitchFamily="18" charset="0"/>
              </a:rPr>
              <a:t>指南</a:t>
            </a:r>
            <a:endParaRPr lang="zh-CN" altLang="en-US" sz="1950" kern="0" dirty="0">
              <a:solidFill>
                <a:srgbClr val="000000"/>
              </a:solidFill>
              <a:latin typeface="Times New Roman" panose="02020603050405020304" pitchFamily="18" charset="0"/>
              <a:ea typeface="+mn-ea"/>
              <a:cs typeface="Times New Roman" panose="02020603050405020304" pitchFamily="18" charset="0"/>
            </a:endParaRPr>
          </a:p>
        </p:txBody>
      </p:sp>
      <p:sp>
        <p:nvSpPr>
          <p:cNvPr id="73" name="文本框 95"/>
          <p:cNvSpPr txBox="1"/>
          <p:nvPr/>
        </p:nvSpPr>
        <p:spPr>
          <a:xfrm>
            <a:off x="2627784" y="6117322"/>
            <a:ext cx="3985732" cy="338554"/>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b="1" dirty="0">
                <a:solidFill>
                  <a:srgbClr val="D7000F"/>
                </a:solidFill>
                <a:latin typeface="微软雅黑" panose="020B0503020204020204" pitchFamily="34" charset="-122"/>
                <a:ea typeface="微软雅黑" panose="020B0503020204020204" pitchFamily="34" charset="-122"/>
                <a:sym typeface="+mn-ea"/>
              </a:rPr>
              <a:t>目前已经进行四类</a:t>
            </a:r>
            <a:r>
              <a:rPr lang="en-US" altLang="zh-CN" sz="1600" b="1" dirty="0">
                <a:solidFill>
                  <a:srgbClr val="D7000F"/>
                </a:solidFill>
                <a:latin typeface="微软雅黑" panose="020B0503020204020204" pitchFamily="34" charset="-122"/>
                <a:ea typeface="微软雅黑" panose="020B0503020204020204" pitchFamily="34" charset="-122"/>
                <a:sym typeface="+mn-ea"/>
              </a:rPr>
              <a:t>skill</a:t>
            </a:r>
            <a:r>
              <a:rPr lang="zh-CN" altLang="en-US" sz="1600" b="1" dirty="0">
                <a:solidFill>
                  <a:srgbClr val="D7000F"/>
                </a:solidFill>
                <a:latin typeface="微软雅黑" panose="020B0503020204020204" pitchFamily="34" charset="-122"/>
                <a:ea typeface="微软雅黑" panose="020B0503020204020204" pitchFamily="34" charset="-122"/>
                <a:sym typeface="+mn-ea"/>
              </a:rPr>
              <a:t>的开发与验证</a:t>
            </a:r>
          </a:p>
        </p:txBody>
      </p:sp>
      <p:sp>
        <p:nvSpPr>
          <p:cNvPr id="44" name="text_3841_统一测试设置"/>
          <p:cNvSpPr>
            <a:spLocks noGrp="1"/>
          </p:cNvSpPr>
          <p:nvPr/>
        </p:nvSpPr>
        <p:spPr>
          <a:xfrm>
            <a:off x="6233113" y="2217152"/>
            <a:ext cx="2528888" cy="200025"/>
          </a:xfrm>
          <a:prstGeom prst="rect">
            <a:avLst/>
          </a:prstGeom>
          <a:noFill/>
          <a:ln w="9525">
            <a:noFill/>
          </a:ln>
        </p:spPr>
        <p:txBody>
          <a:bodyPr wrap="none" lIns="0" tIns="0" rIns="0" bIns="0" anchor="ctr">
            <a:noAutofit/>
          </a:bodyPr>
          <a:lstStyle/>
          <a:p>
            <a:pPr algn="l">
              <a:defRPr sz="1725" b="1">
                <a:solidFill>
                  <a:srgbClr val="D7000F"/>
                </a:solidFill>
                <a:latin typeface="Arial" panose="020B0604020202020204"/>
                <a:ea typeface="Arial" panose="020B0604020202020204"/>
                <a:cs typeface="Arial" panose="020B0604020202020204"/>
              </a:defRPr>
            </a:pPr>
            <a:r>
              <a:rPr sz="1200" b="1">
                <a:solidFill>
                  <a:srgbClr val="D7000F"/>
                </a:solidFill>
                <a:latin typeface="Times New Roman" panose="02020603050405020304" pitchFamily="18" charset="0"/>
                <a:cs typeface="Times New Roman" panose="02020603050405020304" pitchFamily="18" charset="0"/>
              </a:rPr>
              <a:t>统一测试设置</a:t>
            </a:r>
          </a:p>
        </p:txBody>
      </p:sp>
      <p:sp>
        <p:nvSpPr>
          <p:cNvPr id="45" name="text_3843_平台：寒武纪 MLU、NVIDIA GPU"/>
          <p:cNvSpPr>
            <a:spLocks noGrp="1"/>
          </p:cNvSpPr>
          <p:nvPr/>
        </p:nvSpPr>
        <p:spPr>
          <a:xfrm>
            <a:off x="6228293" y="2644773"/>
            <a:ext cx="2507456" cy="946940"/>
          </a:xfrm>
          <a:prstGeom prst="rect">
            <a:avLst/>
          </a:prstGeom>
          <a:noFill/>
          <a:ln w="9525">
            <a:noFill/>
          </a:ln>
        </p:spPr>
        <p:txBody>
          <a:bodyPr wrap="none" lIns="0" tIns="0" rIns="0" bIns="0" anchor="ctr">
            <a:noAutofit/>
          </a:bodyPr>
          <a:lstStyle/>
          <a:p>
            <a:pPr marL="171450" indent="-171450" algn="l">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sz="1200" dirty="0" err="1">
                <a:solidFill>
                  <a:srgbClr val="242424"/>
                </a:solidFill>
                <a:latin typeface="Times New Roman" panose="02020603050405020304" pitchFamily="18" charset="0"/>
                <a:cs typeface="Times New Roman" panose="02020603050405020304" pitchFamily="18" charset="0"/>
              </a:rPr>
              <a:t>平台：寒武纪</a:t>
            </a:r>
            <a:r>
              <a:rPr sz="1200" dirty="0">
                <a:solidFill>
                  <a:srgbClr val="242424"/>
                </a:solidFill>
                <a:latin typeface="Times New Roman" panose="02020603050405020304" pitchFamily="18" charset="0"/>
                <a:cs typeface="Times New Roman" panose="02020603050405020304" pitchFamily="18" charset="0"/>
              </a:rPr>
              <a:t> MLU、NVIDIA GPU</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编程模型：</a:t>
            </a:r>
            <a:r>
              <a:rPr lang="en-US" altLang="zh-CN" sz="1200" dirty="0">
                <a:solidFill>
                  <a:srgbClr val="242424"/>
                </a:solidFill>
                <a:latin typeface="Times New Roman" panose="02020603050405020304" pitchFamily="18" charset="0"/>
                <a:cs typeface="Times New Roman" panose="02020603050405020304" pitchFamily="18" charset="0"/>
              </a:rPr>
              <a:t>Triton</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a:solidFill>
                  <a:srgbClr val="242424"/>
                </a:solidFill>
                <a:latin typeface="Times New Roman" panose="02020603050405020304" pitchFamily="18" charset="0"/>
                <a:cs typeface="Times New Roman" panose="02020603050405020304" pitchFamily="18" charset="0"/>
              </a:rPr>
              <a:t>BANG C</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a:solidFill>
                  <a:srgbClr val="242424"/>
                </a:solidFill>
                <a:latin typeface="Times New Roman" panose="02020603050405020304" pitchFamily="18" charset="0"/>
                <a:cs typeface="Times New Roman" panose="02020603050405020304" pitchFamily="18" charset="0"/>
              </a:rPr>
              <a:t>CUDA C</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altLang="zh-CN"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算子：</a:t>
            </a:r>
            <a:r>
              <a:rPr lang="en-US" altLang="zh-CN" sz="1200" dirty="0" err="1">
                <a:solidFill>
                  <a:srgbClr val="242424"/>
                </a:solidFill>
                <a:latin typeface="Times New Roman" panose="02020603050405020304" pitchFamily="18" charset="0"/>
                <a:cs typeface="Times New Roman" panose="02020603050405020304" pitchFamily="18" charset="0"/>
              </a:rPr>
              <a:t>LayerNorm</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err="1">
                <a:solidFill>
                  <a:srgbClr val="242424"/>
                </a:solidFill>
                <a:latin typeface="Times New Roman" panose="02020603050405020304" pitchFamily="18" charset="0"/>
                <a:cs typeface="Times New Roman" panose="02020603050405020304" pitchFamily="18" charset="0"/>
              </a:rPr>
              <a:t>Softmax</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a:solidFill>
                  <a:srgbClr val="242424"/>
                </a:solidFill>
                <a:latin typeface="Times New Roman" panose="02020603050405020304" pitchFamily="18" charset="0"/>
                <a:cs typeface="Times New Roman" panose="02020603050405020304" pitchFamily="18" charset="0"/>
              </a:rPr>
              <a:t>MatMul</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altLang="zh-CN"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en-US" altLang="zh-CN" sz="1200" dirty="0">
                <a:solidFill>
                  <a:srgbClr val="242424"/>
                </a:solidFill>
                <a:latin typeface="Times New Roman" panose="02020603050405020304" pitchFamily="18" charset="0"/>
                <a:cs typeface="Times New Roman" panose="02020603050405020304" pitchFamily="18" charset="0"/>
              </a:rPr>
              <a:t>Shape</a:t>
            </a:r>
            <a:r>
              <a:rPr lang="zh-CN" altLang="en-US" sz="1200" dirty="0">
                <a:solidFill>
                  <a:srgbClr val="242424"/>
                </a:solidFill>
                <a:latin typeface="Times New Roman" panose="02020603050405020304" pitchFamily="18" charset="0"/>
                <a:cs typeface="Times New Roman" panose="02020603050405020304" pitchFamily="18" charset="0"/>
              </a:rPr>
              <a:t>：典型</a:t>
            </a:r>
            <a:r>
              <a:rPr lang="zh-CN" altLang="en-US" sz="1200" dirty="0" smtClean="0">
                <a:solidFill>
                  <a:srgbClr val="242424"/>
                </a:solidFill>
                <a:latin typeface="Times New Roman" panose="02020603050405020304" pitchFamily="18" charset="0"/>
                <a:cs typeface="Times New Roman" panose="02020603050405020304" pitchFamily="18" charset="0"/>
              </a:rPr>
              <a:t>静态 </a:t>
            </a:r>
            <a:r>
              <a:rPr lang="en-US" altLang="zh-CN" sz="1200" dirty="0">
                <a:solidFill>
                  <a:srgbClr val="242424"/>
                </a:solidFill>
                <a:latin typeface="Times New Roman" panose="02020603050405020304" pitchFamily="18" charset="0"/>
                <a:cs typeface="Times New Roman" panose="02020603050405020304" pitchFamily="18" charset="0"/>
              </a:rPr>
              <a:t>Shape</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altLang="zh-CN"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精度：</a:t>
            </a:r>
            <a:r>
              <a:rPr lang="en-US" altLang="zh-CN" sz="1200" dirty="0">
                <a:solidFill>
                  <a:srgbClr val="242424"/>
                </a:solidFill>
                <a:latin typeface="Times New Roman" panose="02020603050405020304" pitchFamily="18" charset="0"/>
                <a:cs typeface="Times New Roman" panose="02020603050405020304" pitchFamily="18" charset="0"/>
              </a:rPr>
              <a:t>FP16 </a:t>
            </a:r>
            <a:r>
              <a:rPr lang="zh-CN" altLang="en-US" sz="1200" dirty="0">
                <a:solidFill>
                  <a:srgbClr val="242424"/>
                </a:solidFill>
                <a:latin typeface="Times New Roman" panose="02020603050405020304" pitchFamily="18" charset="0"/>
                <a:cs typeface="Times New Roman" panose="02020603050405020304" pitchFamily="18" charset="0"/>
              </a:rPr>
              <a:t>计算，</a:t>
            </a:r>
            <a:r>
              <a:rPr lang="en-US" altLang="zh-CN" sz="1200" dirty="0">
                <a:solidFill>
                  <a:srgbClr val="242424"/>
                </a:solidFill>
                <a:latin typeface="Times New Roman" panose="02020603050405020304" pitchFamily="18" charset="0"/>
                <a:cs typeface="Times New Roman" panose="02020603050405020304" pitchFamily="18" charset="0"/>
              </a:rPr>
              <a:t>FP32 </a:t>
            </a:r>
            <a:r>
              <a:rPr lang="zh-CN" altLang="en-US" sz="1200" dirty="0">
                <a:solidFill>
                  <a:srgbClr val="242424"/>
                </a:solidFill>
                <a:latin typeface="Times New Roman" panose="02020603050405020304" pitchFamily="18" charset="0"/>
                <a:cs typeface="Times New Roman" panose="02020603050405020304" pitchFamily="18" charset="0"/>
              </a:rPr>
              <a:t>累加。</a:t>
            </a:r>
          </a:p>
        </p:txBody>
      </p:sp>
      <p:sp>
        <p:nvSpPr>
          <p:cNvPr id="46" name="connector_3852"/>
          <p:cNvSpPr>
            <a:spLocks noGrp="1"/>
          </p:cNvSpPr>
          <p:nvPr/>
        </p:nvSpPr>
        <p:spPr>
          <a:xfrm>
            <a:off x="6187285" y="3952472"/>
            <a:ext cx="2536031" cy="14288"/>
          </a:xfrm>
          <a:custGeom>
            <a:avLst/>
            <a:gdLst/>
            <a:ahLst/>
            <a:cxnLst/>
            <a:rect l="0" t="0" r="0" b="0"/>
            <a:pathLst>
              <a:path w="3381375" h="19050">
                <a:moveTo>
                  <a:pt x="9525" y="9525"/>
                </a:moveTo>
                <a:lnTo>
                  <a:pt x="3371850" y="9525"/>
                </a:lnTo>
              </a:path>
            </a:pathLst>
          </a:custGeom>
          <a:noFill/>
          <a:ln w="14288">
            <a:solidFill>
              <a:srgbClr val="D9D9D9"/>
            </a:solidFill>
          </a:ln>
        </p:spPr>
      </p:sp>
      <p:sp>
        <p:nvSpPr>
          <p:cNvPr id="50" name="text_3862_性能差距仍需补足"/>
          <p:cNvSpPr>
            <a:spLocks noGrp="1"/>
          </p:cNvSpPr>
          <p:nvPr/>
        </p:nvSpPr>
        <p:spPr>
          <a:xfrm>
            <a:off x="6204562" y="4087586"/>
            <a:ext cx="2521744" cy="200025"/>
          </a:xfrm>
          <a:prstGeom prst="rect">
            <a:avLst/>
          </a:prstGeom>
          <a:noFill/>
          <a:ln w="9525">
            <a:noFill/>
          </a:ln>
        </p:spPr>
        <p:txBody>
          <a:bodyPr wrap="none" lIns="0" tIns="0" rIns="0" bIns="0" anchor="ctr">
            <a:noAutofit/>
          </a:bodyPr>
          <a:lstStyle/>
          <a:p>
            <a:pPr algn="l">
              <a:defRPr sz="1725" b="1">
                <a:solidFill>
                  <a:srgbClr val="D7000F"/>
                </a:solidFill>
                <a:latin typeface="Arial" panose="020B0604020202020204"/>
                <a:ea typeface="Arial" panose="020B0604020202020204"/>
                <a:cs typeface="Arial" panose="020B0604020202020204"/>
              </a:defRPr>
            </a:pPr>
            <a:r>
              <a:rPr sz="1200" b="1" dirty="0" err="1" smtClean="0">
                <a:solidFill>
                  <a:srgbClr val="D7000F"/>
                </a:solidFill>
                <a:latin typeface="Times New Roman" panose="02020603050405020304" pitchFamily="18" charset="0"/>
                <a:cs typeface="Times New Roman" panose="02020603050405020304" pitchFamily="18" charset="0"/>
              </a:rPr>
              <a:t>性能</a:t>
            </a:r>
            <a:r>
              <a:rPr lang="zh-CN" altLang="en-US" sz="1200" b="1" dirty="0" smtClean="0">
                <a:solidFill>
                  <a:srgbClr val="D7000F"/>
                </a:solidFill>
                <a:latin typeface="Times New Roman" panose="02020603050405020304" pitchFamily="18" charset="0"/>
                <a:cs typeface="Times New Roman" panose="02020603050405020304" pitchFamily="18" charset="0"/>
              </a:rPr>
              <a:t>分析</a:t>
            </a:r>
            <a:endParaRPr sz="1200" b="1" dirty="0">
              <a:solidFill>
                <a:srgbClr val="D7000F"/>
              </a:solidFill>
              <a:latin typeface="Times New Roman" panose="02020603050405020304" pitchFamily="18" charset="0"/>
              <a:cs typeface="Times New Roman" panose="02020603050405020304" pitchFamily="18" charset="0"/>
            </a:endParaRPr>
          </a:p>
        </p:txBody>
      </p:sp>
      <p:sp>
        <p:nvSpPr>
          <p:cNvPr id="51" name="text_3864_MatMul 加速比均低于 1×。"/>
          <p:cNvSpPr>
            <a:spLocks noGrp="1"/>
          </p:cNvSpPr>
          <p:nvPr/>
        </p:nvSpPr>
        <p:spPr>
          <a:xfrm>
            <a:off x="6194409" y="4499965"/>
            <a:ext cx="2626562" cy="1535533"/>
          </a:xfrm>
          <a:prstGeom prst="rect">
            <a:avLst/>
          </a:prstGeom>
          <a:noFill/>
          <a:ln w="9525">
            <a:noFill/>
          </a:ln>
        </p:spPr>
        <p:txBody>
          <a:bodyPr wrap="none" lIns="0" tIns="0" rIns="0" bIns="0" anchor="ctr">
            <a:noAutofit/>
          </a:bodyPr>
          <a:lstStyle/>
          <a:p>
            <a:pPr marL="171450" indent="-171450" algn="l">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sz="1200" dirty="0">
                <a:solidFill>
                  <a:srgbClr val="242424"/>
                </a:solidFill>
                <a:latin typeface="Times New Roman" panose="02020603050405020304" pitchFamily="18" charset="0"/>
                <a:cs typeface="Times New Roman" panose="02020603050405020304" pitchFamily="18" charset="0"/>
              </a:rPr>
              <a:t>MatMul </a:t>
            </a:r>
            <a:r>
              <a:rPr sz="1200" dirty="0" err="1">
                <a:solidFill>
                  <a:srgbClr val="242424"/>
                </a:solidFill>
                <a:latin typeface="Times New Roman" panose="02020603050405020304" pitchFamily="18" charset="0"/>
                <a:cs typeface="Times New Roman" panose="02020603050405020304" pitchFamily="18" charset="0"/>
              </a:rPr>
              <a:t>加速比均低于</a:t>
            </a:r>
            <a:r>
              <a:rPr sz="1200" dirty="0">
                <a:solidFill>
                  <a:srgbClr val="242424"/>
                </a:solidFill>
                <a:latin typeface="Times New Roman" panose="02020603050405020304" pitchFamily="18" charset="0"/>
                <a:cs typeface="Times New Roman" panose="02020603050405020304" pitchFamily="18" charset="0"/>
              </a:rPr>
              <a:t> </a:t>
            </a:r>
            <a:r>
              <a:rPr lang="zh-CN" altLang="en-US" sz="1200" dirty="0">
                <a:solidFill>
                  <a:srgbClr val="242424"/>
                </a:solidFill>
                <a:latin typeface="Times New Roman" panose="02020603050405020304" pitchFamily="18" charset="0"/>
                <a:cs typeface="Times New Roman" panose="02020603050405020304" pitchFamily="18" charset="0"/>
              </a:rPr>
              <a:t>厂商</a:t>
            </a:r>
            <a:r>
              <a:rPr lang="zh-CN" altLang="en-US" sz="1200" dirty="0" smtClean="0">
                <a:solidFill>
                  <a:srgbClr val="242424"/>
                </a:solidFill>
                <a:latin typeface="Times New Roman" panose="02020603050405020304" pitchFamily="18" charset="0"/>
                <a:cs typeface="Times New Roman" panose="02020603050405020304" pitchFamily="18" charset="0"/>
              </a:rPr>
              <a:t>；</a:t>
            </a:r>
            <a:endParaRPr lang="en-US"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lang="en-US" altLang="zh-CN" sz="1200" dirty="0">
                <a:solidFill>
                  <a:srgbClr val="242424"/>
                </a:solidFill>
                <a:latin typeface="Times New Roman" panose="02020603050405020304" pitchFamily="18" charset="0"/>
                <a:cs typeface="Times New Roman" panose="02020603050405020304" pitchFamily="18" charset="0"/>
              </a:rPr>
              <a:t>BANG C </a:t>
            </a:r>
            <a:r>
              <a:rPr lang="zh-CN" altLang="en-US" sz="1200" dirty="0">
                <a:solidFill>
                  <a:srgbClr val="242424"/>
                </a:solidFill>
                <a:latin typeface="Times New Roman" panose="02020603050405020304" pitchFamily="18" charset="0"/>
                <a:cs typeface="Times New Roman" panose="02020603050405020304" pitchFamily="18" charset="0"/>
              </a:rPr>
              <a:t>的三类算子均低于基线</a:t>
            </a:r>
            <a:r>
              <a:rPr lang="zh-CN" altLang="en-US" sz="1200" dirty="0" smtClean="0">
                <a:solidFill>
                  <a:srgbClr val="242424"/>
                </a:solidFill>
                <a:latin typeface="Times New Roman" panose="02020603050405020304" pitchFamily="18" charset="0"/>
                <a:cs typeface="Times New Roman" panose="02020603050405020304" pitchFamily="18" charset="0"/>
              </a:rPr>
              <a:t>；</a:t>
            </a:r>
            <a:endParaRPr lang="zh-CN" altLang="en-US"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lang="zh-CN" altLang="en-US" sz="1200" dirty="0" smtClean="0">
                <a:solidFill>
                  <a:srgbClr val="242424"/>
                </a:solidFill>
                <a:latin typeface="Times New Roman" panose="02020603050405020304" pitchFamily="18" charset="0"/>
                <a:cs typeface="Times New Roman" panose="02020603050405020304" pitchFamily="18" charset="0"/>
              </a:rPr>
              <a:t>其他</a:t>
            </a:r>
            <a:r>
              <a:rPr lang="en-US" altLang="zh-CN" sz="1200" dirty="0" smtClean="0">
                <a:solidFill>
                  <a:srgbClr val="242424"/>
                </a:solidFill>
                <a:latin typeface="Times New Roman" panose="02020603050405020304" pitchFamily="18" charset="0"/>
                <a:cs typeface="Times New Roman" panose="02020603050405020304" pitchFamily="18" charset="0"/>
              </a:rPr>
              <a:t>Skill</a:t>
            </a:r>
            <a:r>
              <a:rPr lang="zh-CN" altLang="en-US" sz="1200" dirty="0" smtClean="0">
                <a:solidFill>
                  <a:srgbClr val="242424"/>
                </a:solidFill>
                <a:latin typeface="Times New Roman" panose="02020603050405020304" pitchFamily="18" charset="0"/>
                <a:cs typeface="Times New Roman" panose="02020603050405020304" pitchFamily="18" charset="0"/>
              </a:rPr>
              <a:t>开发的简单算子基本可以比平</a:t>
            </a:r>
            <a:endParaRPr lang="en-US" altLang="zh-CN" sz="1200" dirty="0" smtClean="0">
              <a:solidFill>
                <a:srgbClr val="242424"/>
              </a:solidFill>
              <a:latin typeface="Times New Roman" panose="02020603050405020304" pitchFamily="18" charset="0"/>
              <a:cs typeface="Times New Roman" panose="02020603050405020304" pitchFamily="18" charset="0"/>
            </a:endParaRPr>
          </a:p>
          <a:p>
            <a:pPr>
              <a:lnSpc>
                <a:spcPct val="150000"/>
              </a:lnSpc>
              <a:defRPr sz="1500" b="0">
                <a:solidFill>
                  <a:srgbClr val="242424"/>
                </a:solidFill>
                <a:latin typeface="Arial" panose="020B0604020202020204"/>
                <a:ea typeface="Arial" panose="020B0604020202020204"/>
                <a:cs typeface="Arial" panose="020B0604020202020204"/>
              </a:defRPr>
            </a:pPr>
            <a:r>
              <a:rPr lang="zh-CN" altLang="en-US" sz="1200" dirty="0" smtClean="0">
                <a:solidFill>
                  <a:srgbClr val="242424"/>
                </a:solidFill>
                <a:latin typeface="Times New Roman" panose="02020603050405020304" pitchFamily="18" charset="0"/>
                <a:cs typeface="Times New Roman" panose="02020603050405020304" pitchFamily="18" charset="0"/>
              </a:rPr>
              <a:t>官方算子。</a:t>
            </a:r>
            <a:endParaRPr lang="en-US" altLang="zh-CN" sz="1200" dirty="0" smtClean="0">
              <a:solidFill>
                <a:srgbClr val="242424"/>
              </a:solidFill>
              <a:latin typeface="Times New Roman" panose="02020603050405020304" pitchFamily="18" charset="0"/>
              <a:cs typeface="Times New Roman" panose="02020603050405020304" pitchFamily="18" charset="0"/>
            </a:endParaRPr>
          </a:p>
          <a:p>
            <a:pPr>
              <a:lnSpc>
                <a:spcPct val="150000"/>
              </a:lnSpc>
              <a:defRPr sz="1500" b="0">
                <a:solidFill>
                  <a:srgbClr val="242424"/>
                </a:solidFill>
                <a:latin typeface="Arial" panose="020B0604020202020204"/>
                <a:ea typeface="Arial" panose="020B0604020202020204"/>
                <a:cs typeface="Arial" panose="020B0604020202020204"/>
              </a:defRPr>
            </a:pPr>
            <a:endParaRPr lang="en-US" altLang="zh-CN" sz="1200" dirty="0" smtClean="0">
              <a:solidFill>
                <a:srgbClr val="242424"/>
              </a:solidFill>
              <a:latin typeface="Times New Roman" panose="02020603050405020304" pitchFamily="18" charset="0"/>
              <a:cs typeface="Times New Roman" panose="02020603050405020304" pitchFamily="18" charset="0"/>
            </a:endParaRPr>
          </a:p>
          <a:p>
            <a:pPr>
              <a:lnSpc>
                <a:spcPct val="150000"/>
              </a:lnSpc>
              <a:defRPr sz="1500" b="0">
                <a:solidFill>
                  <a:srgbClr val="242424"/>
                </a:solidFill>
                <a:latin typeface="Arial" panose="020B0604020202020204"/>
                <a:ea typeface="Arial" panose="020B0604020202020204"/>
                <a:cs typeface="Arial" panose="020B0604020202020204"/>
              </a:defRPr>
            </a:pPr>
            <a:endParaRPr lang="zh-CN" altLang="en-US" sz="1200" dirty="0">
              <a:solidFill>
                <a:srgbClr val="242424"/>
              </a:solidFill>
              <a:latin typeface="Times New Roman" panose="02020603050405020304" pitchFamily="18" charset="0"/>
              <a:cs typeface="Times New Roman" panose="02020603050405020304" pitchFamily="18" charset="0"/>
            </a:endParaRPr>
          </a:p>
        </p:txBody>
      </p:sp>
      <p:sp>
        <p:nvSpPr>
          <p:cNvPr id="2" name="connector_104">
            <a:extLst>
              <a:ext uri="{FF2B5EF4-FFF2-40B4-BE49-F238E27FC236}">
                <a16:creationId xmlns:a16="http://schemas.microsoft.com/office/drawing/2014/main" id="{26B2D9C8-A454-0C6A-A548-112EBBD4D547}"/>
              </a:ext>
            </a:extLst>
          </p:cNvPr>
          <p:cNvSpPr>
            <a:spLocks noGrp="1"/>
          </p:cNvSpPr>
          <p:nvPr/>
        </p:nvSpPr>
        <p:spPr>
          <a:xfrm>
            <a:off x="413580" y="170970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4" name="text_103_原始 Skill 已具备完整开发流程">
            <a:extLst>
              <a:ext uri="{FF2B5EF4-FFF2-40B4-BE49-F238E27FC236}">
                <a16:creationId xmlns:a16="http://schemas.microsoft.com/office/drawing/2014/main" id="{269060FA-0963-35E4-A580-616CEB496C1A}"/>
              </a:ext>
            </a:extLst>
          </p:cNvPr>
          <p:cNvSpPr>
            <a:spLocks noGrp="1"/>
          </p:cNvSpPr>
          <p:nvPr/>
        </p:nvSpPr>
        <p:spPr>
          <a:xfrm>
            <a:off x="480360" y="1362756"/>
            <a:ext cx="2745821"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000" b="1" dirty="0">
                <a:solidFill>
                  <a:srgbClr val="000000"/>
                </a:solidFill>
                <a:latin typeface="+mn-ea"/>
                <a:cs typeface="Times New Roman" panose="02020603050405020304" pitchFamily="18" charset="0"/>
              </a:rPr>
              <a:t>多平台实践</a:t>
            </a:r>
            <a:r>
              <a:rPr lang="zh-CN" altLang="en-US" sz="2000" b="1" dirty="0" smtClean="0">
                <a:solidFill>
                  <a:srgbClr val="000000"/>
                </a:solidFill>
                <a:latin typeface="+mn-ea"/>
                <a:cs typeface="Times New Roman" panose="02020603050405020304" pitchFamily="18" charset="0"/>
              </a:rPr>
              <a:t>结果</a:t>
            </a:r>
            <a:endParaRPr lang="zh-CN" altLang="en-US" sz="2000" b="1" dirty="0">
              <a:solidFill>
                <a:srgbClr val="000000"/>
              </a:solidFill>
              <a:latin typeface="+mn-ea"/>
              <a:cs typeface="Times New Roman" panose="02020603050405020304" pitchFamily="18" charset="0"/>
            </a:endParaRPr>
          </a:p>
        </p:txBody>
      </p:sp>
      <p:sp>
        <p:nvSpPr>
          <p:cNvPr id="5" name="text_3794_实验设置与结果分析">
            <a:extLst>
              <a:ext uri="{FF2B5EF4-FFF2-40B4-BE49-F238E27FC236}">
                <a16:creationId xmlns:a16="http://schemas.microsoft.com/office/drawing/2014/main" id="{6F5B1DDC-9E2E-1843-58EF-8F594591900B}"/>
              </a:ext>
            </a:extLst>
          </p:cNvPr>
          <p:cNvSpPr>
            <a:spLocks noGrp="1"/>
          </p:cNvSpPr>
          <p:nvPr/>
        </p:nvSpPr>
        <p:spPr>
          <a:xfrm>
            <a:off x="5995063" y="1334388"/>
            <a:ext cx="2214563" cy="300038"/>
          </a:xfrm>
          <a:prstGeom prst="rect">
            <a:avLst/>
          </a:prstGeom>
          <a:noFill/>
          <a:ln w="9525">
            <a:noFill/>
          </a:ln>
        </p:spPr>
        <p:txBody>
          <a:bodyPr wrap="none" lIns="0" tIns="0" rIns="0" bIns="0" anchor="ctr">
            <a:noAutofit/>
          </a:bodyPr>
          <a:lstStyle/>
          <a:p>
            <a:pPr algn="l">
              <a:defRPr sz="1875" b="1">
                <a:solidFill>
                  <a:srgbClr val="000000"/>
                </a:solidFill>
                <a:latin typeface="Arial" panose="020B0604020202020204"/>
                <a:ea typeface="Arial" panose="020B0604020202020204"/>
                <a:cs typeface="Arial" panose="020B0604020202020204"/>
              </a:defRPr>
            </a:pPr>
            <a:r>
              <a:rPr sz="2000" b="1" dirty="0" err="1">
                <a:solidFill>
                  <a:srgbClr val="000000"/>
                </a:solidFill>
                <a:latin typeface="+mn-ea"/>
                <a:cs typeface="Times New Roman" panose="02020603050405020304" pitchFamily="18" charset="0"/>
              </a:rPr>
              <a:t>实验设置与结果分析</a:t>
            </a:r>
            <a:endParaRPr sz="2000" b="1" dirty="0">
              <a:solidFill>
                <a:srgbClr val="000000"/>
              </a:solidFill>
              <a:latin typeface="+mn-ea"/>
              <a:cs typeface="Times New Roman" panose="02020603050405020304" pitchFamily="18" charset="0"/>
            </a:endParaRPr>
          </a:p>
        </p:txBody>
      </p:sp>
      <p:sp>
        <p:nvSpPr>
          <p:cNvPr id="6" name="connector_3795">
            <a:extLst>
              <a:ext uri="{FF2B5EF4-FFF2-40B4-BE49-F238E27FC236}">
                <a16:creationId xmlns:a16="http://schemas.microsoft.com/office/drawing/2014/main" id="{CB17A8BF-4262-D04C-D602-04E88B92CE8F}"/>
              </a:ext>
            </a:extLst>
          </p:cNvPr>
          <p:cNvSpPr>
            <a:spLocks noGrp="1"/>
          </p:cNvSpPr>
          <p:nvPr/>
        </p:nvSpPr>
        <p:spPr>
          <a:xfrm>
            <a:off x="5980800" y="1695419"/>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Tree>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_3839_开发耗时（小时，从需求输入到通过验证）"/>
          <p:cNvSpPr>
            <a:spLocks noGrp="1"/>
          </p:cNvSpPr>
          <p:nvPr/>
        </p:nvSpPr>
        <p:spPr>
          <a:xfrm>
            <a:off x="489672" y="5818644"/>
            <a:ext cx="4005664" cy="220708"/>
          </a:xfrm>
          <a:prstGeom prst="rect">
            <a:avLst/>
          </a:prstGeom>
          <a:noFill/>
          <a:ln w="9525">
            <a:noFill/>
          </a:ln>
        </p:spPr>
        <p:txBody>
          <a:bodyPr wrap="none" lIns="0" tIns="0" rIns="0" bIns="0" anchor="ctr">
            <a:noAutofit/>
          </a:bodyPr>
          <a:lstStyle/>
          <a:p>
            <a:pPr marL="285750" indent="-285750" algn="l">
              <a:buFont typeface="Wingdings" panose="05000000000000000000" pitchFamily="2" charset="2"/>
              <a:buChar char="p"/>
              <a:defRPr sz="1650" b="1">
                <a:solidFill>
                  <a:srgbClr val="D7000F"/>
                </a:solidFill>
                <a:latin typeface="Arial" panose="020B0604020202020204"/>
                <a:ea typeface="Arial" panose="020B0604020202020204"/>
                <a:cs typeface="Arial" panose="020B0604020202020204"/>
              </a:defRPr>
            </a:pPr>
            <a:r>
              <a:rPr sz="1400" dirty="0" err="1">
                <a:solidFill>
                  <a:srgbClr val="000000"/>
                </a:solidFill>
                <a:latin typeface="Times New Roman" panose="02020603050405020304" pitchFamily="18" charset="0"/>
                <a:ea typeface="Arial" panose="020B0604020202020204"/>
                <a:cs typeface="Times New Roman" panose="02020603050405020304" pitchFamily="18" charset="0"/>
              </a:rPr>
              <a:t>开发耗时（小时</a:t>
            </a:r>
            <a:r>
              <a:rPr sz="1400" dirty="0" err="1">
                <a:solidFill>
                  <a:schemeClr val="tx1">
                    <a:lumMod val="95000"/>
                    <a:lumOff val="5000"/>
                  </a:schemeClr>
                </a:solidFill>
                <a:latin typeface="Times New Roman" panose="02020603050405020304" pitchFamily="18" charset="0"/>
                <a:cs typeface="Times New Roman" panose="02020603050405020304" pitchFamily="18" charset="0"/>
              </a:rPr>
              <a:t>，</a:t>
            </a:r>
            <a:r>
              <a:rPr sz="1400" dirty="0" err="1">
                <a:solidFill>
                  <a:srgbClr val="000000"/>
                </a:solidFill>
                <a:latin typeface="Times New Roman" panose="02020603050405020304" pitchFamily="18" charset="0"/>
                <a:ea typeface="Arial" panose="020B0604020202020204"/>
                <a:cs typeface="Times New Roman" panose="02020603050405020304" pitchFamily="18" charset="0"/>
              </a:rPr>
              <a:t>从需求输入到通过验证</a:t>
            </a:r>
            <a:r>
              <a:rPr sz="1400" dirty="0">
                <a:solidFill>
                  <a:srgbClr val="000000"/>
                </a:solidFill>
                <a:latin typeface="Times New Roman" panose="02020603050405020304" pitchFamily="18" charset="0"/>
                <a:ea typeface="Arial" panose="020B0604020202020204"/>
                <a:cs typeface="Times New Roman" panose="02020603050405020304" pitchFamily="18" charset="0"/>
              </a:rPr>
              <a:t>）</a:t>
            </a:r>
          </a:p>
        </p:txBody>
      </p:sp>
      <p:sp>
        <p:nvSpPr>
          <p:cNvPr id="49" name="灯片编号占位符 48"/>
          <p:cNvSpPr>
            <a:spLocks noGrp="1"/>
          </p:cNvSpPr>
          <p:nvPr>
            <p:ph type="sldNum" sz="quarter" idx="12"/>
          </p:nvPr>
        </p:nvSpPr>
        <p:spPr/>
        <p:txBody>
          <a:bodyPr/>
          <a:lstStyle/>
          <a:p>
            <a:fld id="{03621AC1-4C4D-435F-BACF-B518BC126F02}" type="slidenum">
              <a:rPr lang="zh-CN" altLang="en-US" smtClean="0"/>
              <a:t>27</a:t>
            </a:fld>
            <a:endParaRPr lang="zh-CN" altLang="en-US"/>
          </a:p>
        </p:txBody>
      </p:sp>
      <p:sp>
        <p:nvSpPr>
          <p:cNvPr id="64" name="connector_104"/>
          <p:cNvSpPr>
            <a:spLocks noGrp="1"/>
          </p:cNvSpPr>
          <p:nvPr/>
        </p:nvSpPr>
        <p:spPr>
          <a:xfrm>
            <a:off x="413580" y="1709707"/>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65" name="text_103_原始 Skill 已具备完整开发流程"/>
          <p:cNvSpPr>
            <a:spLocks noGrp="1"/>
          </p:cNvSpPr>
          <p:nvPr/>
        </p:nvSpPr>
        <p:spPr>
          <a:xfrm>
            <a:off x="480360" y="1362756"/>
            <a:ext cx="2745821" cy="300038"/>
          </a:xfrm>
          <a:prstGeom prst="rect">
            <a:avLst/>
          </a:prstGeom>
          <a:noFill/>
          <a:ln w="9525">
            <a:noFill/>
          </a:ln>
        </p:spPr>
        <p:txBody>
          <a:bodyPr wrap="none" lIns="0" tIns="0" rIns="0" bIns="0" anchor="ctr">
            <a:noAutofit/>
          </a:bodyPr>
          <a:lstStyle/>
          <a:p>
            <a:pPr>
              <a:defRPr sz="2100" b="1">
                <a:solidFill>
                  <a:srgbClr val="000000"/>
                </a:solidFill>
                <a:latin typeface="Arial" panose="020B0604020202020204"/>
                <a:ea typeface="Arial" panose="020B0604020202020204"/>
                <a:cs typeface="Arial" panose="020B0604020202020204"/>
              </a:defRPr>
            </a:pPr>
            <a:r>
              <a:rPr lang="zh-CN" altLang="en-US" sz="2000" b="1" dirty="0">
                <a:solidFill>
                  <a:srgbClr val="000000"/>
                </a:solidFill>
                <a:latin typeface="+mn-ea"/>
                <a:cs typeface="Times New Roman" panose="02020603050405020304" pitchFamily="18" charset="0"/>
              </a:rPr>
              <a:t>多平台实践结果分析</a:t>
            </a:r>
          </a:p>
        </p:txBody>
      </p:sp>
      <p:cxnSp>
        <p:nvCxnSpPr>
          <p:cNvPr id="81" name="直接连接符 80"/>
          <p:cNvCxnSpPr/>
          <p:nvPr/>
        </p:nvCxnSpPr>
        <p:spPr>
          <a:xfrm>
            <a:off x="5813727" y="1816245"/>
            <a:ext cx="19893" cy="4150519"/>
          </a:xfrm>
          <a:prstGeom prst="line">
            <a:avLst/>
          </a:prstGeom>
          <a:ln w="28575">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2" name="标题 1"/>
          <p:cNvSpPr txBox="1"/>
          <p:nvPr/>
        </p:nvSpPr>
        <p:spPr bwMode="auto">
          <a:xfrm>
            <a:off x="395288" y="333375"/>
            <a:ext cx="6840537" cy="503238"/>
          </a:xfrm>
          <a:prstGeom prst="rect">
            <a:avLst/>
          </a:prstGeom>
          <a:noFill/>
          <a:ln w="9525">
            <a:noFill/>
            <a:miter lim="800000"/>
          </a:ln>
        </p:spPr>
        <p:txBody>
          <a:bodyPr vert="horz" wrap="none" lIns="0" tIns="0" rIns="0" bIns="0" numCol="1" anchor="ctr" anchorCtr="0" compatLnSpc="1">
            <a:noAutofit/>
          </a:bodyPr>
          <a:lstStyle>
            <a:lvl1pPr algn="l" rtl="0" eaLnBrk="0" fontAlgn="base" hangingPunct="0">
              <a:spcBef>
                <a:spcPct val="0"/>
              </a:spcBef>
              <a:spcAft>
                <a:spcPct val="0"/>
              </a:spcAft>
              <a:defRPr sz="2600" b="1">
                <a:solidFill>
                  <a:schemeClr val="tx1"/>
                </a:solidFill>
                <a:latin typeface="+mj-lt"/>
                <a:ea typeface="+mj-ea"/>
                <a:cs typeface="+mj-cs"/>
              </a:defRPr>
            </a:lvl1pPr>
            <a:lvl2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2pPr>
            <a:lvl3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3pPr>
            <a:lvl4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4pPr>
            <a:lvl5pPr algn="l" rtl="0" eaLnBrk="0" fontAlgn="base" hangingPunct="0">
              <a:spcBef>
                <a:spcPct val="0"/>
              </a:spcBef>
              <a:spcAft>
                <a:spcPct val="0"/>
              </a:spcAft>
              <a:defRPr sz="2600" b="1">
                <a:solidFill>
                  <a:schemeClr val="tx2"/>
                </a:solidFill>
                <a:latin typeface="Arial" panose="020B0604020202020204" pitchFamily="34" charset="0"/>
                <a:ea typeface="微软雅黑" panose="020B0503020204020204" pitchFamily="34" charset="-122"/>
              </a:defRPr>
            </a:lvl5pPr>
            <a:lvl6pPr marL="4572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6pPr>
            <a:lvl7pPr marL="9144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7pPr>
            <a:lvl8pPr marL="13716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8pPr>
            <a:lvl9pPr marL="1828800" algn="l" rtl="0" fontAlgn="base">
              <a:spcBef>
                <a:spcPct val="0"/>
              </a:spcBef>
              <a:spcAft>
                <a:spcPct val="0"/>
              </a:spcAft>
              <a:defRPr sz="2600" b="1">
                <a:solidFill>
                  <a:schemeClr val="tx2"/>
                </a:solidFill>
                <a:latin typeface="Arial" panose="020B0604020202020204" pitchFamily="34" charset="0"/>
                <a:ea typeface="微软雅黑" panose="020B0503020204020204" pitchFamily="34" charset="-122"/>
              </a:defRPr>
            </a:lvl9pPr>
          </a:lstStyle>
          <a:p>
            <a:pPr>
              <a:defRPr sz="2600" b="1">
                <a:solidFill>
                  <a:srgbClr val="000000"/>
                </a:solidFill>
                <a:latin typeface="Arial" panose="020B0604020202020204"/>
                <a:ea typeface="Arial" panose="020B0604020202020204"/>
                <a:cs typeface="Arial" panose="020B0604020202020204"/>
              </a:defRPr>
            </a:pPr>
            <a:r>
              <a:rPr lang="zh-CN" altLang="en-US" kern="0" dirty="0">
                <a:solidFill>
                  <a:srgbClr val="000000"/>
                </a:solidFill>
                <a:latin typeface="Times New Roman" panose="02020603050405020304" pitchFamily="18" charset="0"/>
                <a:ea typeface="+mn-ea"/>
                <a:cs typeface="Times New Roman" panose="02020603050405020304" pitchFamily="18" charset="0"/>
              </a:rPr>
              <a:t>实习任务三： 算子开发 </a:t>
            </a:r>
            <a:r>
              <a:rPr lang="en-US" altLang="zh-CN" kern="0" dirty="0">
                <a:solidFill>
                  <a:srgbClr val="000000"/>
                </a:solidFill>
                <a:latin typeface="Times New Roman" panose="02020603050405020304" pitchFamily="18" charset="0"/>
                <a:ea typeface="+mn-ea"/>
                <a:cs typeface="Times New Roman" panose="02020603050405020304" pitchFamily="18" charset="0"/>
              </a:rPr>
              <a:t>Skill </a:t>
            </a:r>
            <a:r>
              <a:rPr lang="zh-CN" altLang="en-US" kern="0" dirty="0">
                <a:solidFill>
                  <a:srgbClr val="000000"/>
                </a:solidFill>
                <a:latin typeface="Times New Roman" panose="02020603050405020304" pitchFamily="18" charset="0"/>
                <a:ea typeface="+mn-ea"/>
                <a:cs typeface="Times New Roman" panose="02020603050405020304" pitchFamily="18" charset="0"/>
              </a:rPr>
              <a:t>指南</a:t>
            </a:r>
            <a:endParaRPr lang="zh-CN" altLang="en-US" sz="1950" kern="0" dirty="0">
              <a:solidFill>
                <a:srgbClr val="000000"/>
              </a:solidFill>
              <a:latin typeface="Times New Roman" panose="02020603050405020304" pitchFamily="18" charset="0"/>
              <a:ea typeface="+mn-ea"/>
              <a:cs typeface="Times New Roman" panose="02020603050405020304" pitchFamily="18" charset="0"/>
            </a:endParaRPr>
          </a:p>
        </p:txBody>
      </p:sp>
      <p:sp>
        <p:nvSpPr>
          <p:cNvPr id="19" name="text_3794_实验设置与结果分析"/>
          <p:cNvSpPr>
            <a:spLocks noGrp="1"/>
          </p:cNvSpPr>
          <p:nvPr/>
        </p:nvSpPr>
        <p:spPr>
          <a:xfrm>
            <a:off x="5995063" y="1334388"/>
            <a:ext cx="2214563" cy="300038"/>
          </a:xfrm>
          <a:prstGeom prst="rect">
            <a:avLst/>
          </a:prstGeom>
          <a:noFill/>
          <a:ln w="9525">
            <a:noFill/>
          </a:ln>
        </p:spPr>
        <p:txBody>
          <a:bodyPr wrap="none" lIns="0" tIns="0" rIns="0" bIns="0" anchor="ctr">
            <a:noAutofit/>
          </a:bodyPr>
          <a:lstStyle/>
          <a:p>
            <a:pPr algn="l">
              <a:defRPr sz="1875" b="1">
                <a:solidFill>
                  <a:srgbClr val="000000"/>
                </a:solidFill>
                <a:latin typeface="Arial" panose="020B0604020202020204"/>
                <a:ea typeface="Arial" panose="020B0604020202020204"/>
                <a:cs typeface="Arial" panose="020B0604020202020204"/>
              </a:defRPr>
            </a:pPr>
            <a:r>
              <a:rPr sz="2000" b="1" dirty="0" err="1">
                <a:solidFill>
                  <a:srgbClr val="000000"/>
                </a:solidFill>
                <a:latin typeface="+mn-ea"/>
                <a:cs typeface="Times New Roman" panose="02020603050405020304" pitchFamily="18" charset="0"/>
              </a:rPr>
              <a:t>实验设置与结果分析</a:t>
            </a:r>
            <a:endParaRPr sz="2000" b="1" dirty="0">
              <a:solidFill>
                <a:srgbClr val="000000"/>
              </a:solidFill>
              <a:latin typeface="+mn-ea"/>
              <a:cs typeface="Times New Roman" panose="02020603050405020304" pitchFamily="18" charset="0"/>
            </a:endParaRPr>
          </a:p>
        </p:txBody>
      </p:sp>
      <p:sp>
        <p:nvSpPr>
          <p:cNvPr id="20" name="connector_3795"/>
          <p:cNvSpPr>
            <a:spLocks noGrp="1"/>
          </p:cNvSpPr>
          <p:nvPr/>
        </p:nvSpPr>
        <p:spPr>
          <a:xfrm>
            <a:off x="5980800" y="1695419"/>
            <a:ext cx="1557338" cy="14288"/>
          </a:xfrm>
          <a:custGeom>
            <a:avLst/>
            <a:gdLst/>
            <a:ahLst/>
            <a:cxnLst/>
            <a:rect l="0" t="0" r="0" b="0"/>
            <a:pathLst>
              <a:path w="2076450" h="19050">
                <a:moveTo>
                  <a:pt x="9525" y="9525"/>
                </a:moveTo>
                <a:lnTo>
                  <a:pt x="2066925" y="9525"/>
                </a:lnTo>
              </a:path>
            </a:pathLst>
          </a:custGeom>
          <a:noFill/>
          <a:ln w="16193">
            <a:solidFill>
              <a:srgbClr val="D7000F"/>
            </a:solidFill>
          </a:ln>
        </p:spPr>
      </p:sp>
      <p:sp>
        <p:nvSpPr>
          <p:cNvPr id="21" name="text_3841_统一测试设置"/>
          <p:cNvSpPr>
            <a:spLocks noGrp="1"/>
          </p:cNvSpPr>
          <p:nvPr/>
        </p:nvSpPr>
        <p:spPr>
          <a:xfrm>
            <a:off x="6156176" y="2277733"/>
            <a:ext cx="2528888" cy="200025"/>
          </a:xfrm>
          <a:prstGeom prst="rect">
            <a:avLst/>
          </a:prstGeom>
          <a:noFill/>
          <a:ln w="9525">
            <a:noFill/>
          </a:ln>
        </p:spPr>
        <p:txBody>
          <a:bodyPr wrap="none" lIns="0" tIns="0" rIns="0" bIns="0" anchor="ctr">
            <a:noAutofit/>
          </a:bodyPr>
          <a:lstStyle/>
          <a:p>
            <a:pPr algn="l">
              <a:defRPr sz="1725" b="1">
                <a:solidFill>
                  <a:srgbClr val="D7000F"/>
                </a:solidFill>
                <a:latin typeface="Arial" panose="020B0604020202020204"/>
                <a:ea typeface="Arial" panose="020B0604020202020204"/>
                <a:cs typeface="Arial" panose="020B0604020202020204"/>
              </a:defRPr>
            </a:pPr>
            <a:r>
              <a:rPr sz="1200" b="1">
                <a:solidFill>
                  <a:srgbClr val="D7000F"/>
                </a:solidFill>
                <a:latin typeface="Times New Roman" panose="02020603050405020304" pitchFamily="18" charset="0"/>
                <a:cs typeface="Times New Roman" panose="02020603050405020304" pitchFamily="18" charset="0"/>
              </a:rPr>
              <a:t>统一测试设置</a:t>
            </a:r>
          </a:p>
        </p:txBody>
      </p:sp>
      <p:sp>
        <p:nvSpPr>
          <p:cNvPr id="22" name="text_3843_平台：寒武纪 MLU、NVIDIA GPU"/>
          <p:cNvSpPr>
            <a:spLocks noGrp="1"/>
          </p:cNvSpPr>
          <p:nvPr/>
        </p:nvSpPr>
        <p:spPr>
          <a:xfrm>
            <a:off x="6151356" y="2705354"/>
            <a:ext cx="2507456" cy="946940"/>
          </a:xfrm>
          <a:prstGeom prst="rect">
            <a:avLst/>
          </a:prstGeom>
          <a:noFill/>
          <a:ln w="9525">
            <a:noFill/>
          </a:ln>
        </p:spPr>
        <p:txBody>
          <a:bodyPr wrap="none" lIns="0" tIns="0" rIns="0" bIns="0" anchor="ctr">
            <a:noAutofit/>
          </a:bodyPr>
          <a:lstStyle/>
          <a:p>
            <a:pPr marL="171450" indent="-171450" algn="l">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sz="1200" dirty="0" err="1">
                <a:solidFill>
                  <a:srgbClr val="242424"/>
                </a:solidFill>
                <a:latin typeface="Times New Roman" panose="02020603050405020304" pitchFamily="18" charset="0"/>
                <a:cs typeface="Times New Roman" panose="02020603050405020304" pitchFamily="18" charset="0"/>
              </a:rPr>
              <a:t>平台：寒武纪</a:t>
            </a:r>
            <a:r>
              <a:rPr sz="1200" dirty="0">
                <a:solidFill>
                  <a:srgbClr val="242424"/>
                </a:solidFill>
                <a:latin typeface="Times New Roman" panose="02020603050405020304" pitchFamily="18" charset="0"/>
                <a:cs typeface="Times New Roman" panose="02020603050405020304" pitchFamily="18" charset="0"/>
              </a:rPr>
              <a:t> MLU、NVIDIA GPU</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编程模型：</a:t>
            </a:r>
            <a:r>
              <a:rPr lang="en-US" altLang="zh-CN" sz="1200" dirty="0">
                <a:solidFill>
                  <a:srgbClr val="242424"/>
                </a:solidFill>
                <a:latin typeface="Times New Roman" panose="02020603050405020304" pitchFamily="18" charset="0"/>
                <a:cs typeface="Times New Roman" panose="02020603050405020304" pitchFamily="18" charset="0"/>
              </a:rPr>
              <a:t>Triton</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a:solidFill>
                  <a:srgbClr val="242424"/>
                </a:solidFill>
                <a:latin typeface="Times New Roman" panose="02020603050405020304" pitchFamily="18" charset="0"/>
                <a:cs typeface="Times New Roman" panose="02020603050405020304" pitchFamily="18" charset="0"/>
              </a:rPr>
              <a:t>BANG C</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a:solidFill>
                  <a:srgbClr val="242424"/>
                </a:solidFill>
                <a:latin typeface="Times New Roman" panose="02020603050405020304" pitchFamily="18" charset="0"/>
                <a:cs typeface="Times New Roman" panose="02020603050405020304" pitchFamily="18" charset="0"/>
              </a:rPr>
              <a:t>CUDA C</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altLang="zh-CN"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算子：</a:t>
            </a:r>
            <a:r>
              <a:rPr lang="en-US" altLang="zh-CN" sz="1200" dirty="0" err="1">
                <a:solidFill>
                  <a:srgbClr val="242424"/>
                </a:solidFill>
                <a:latin typeface="Times New Roman" panose="02020603050405020304" pitchFamily="18" charset="0"/>
                <a:cs typeface="Times New Roman" panose="02020603050405020304" pitchFamily="18" charset="0"/>
              </a:rPr>
              <a:t>LayerNorm</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err="1">
                <a:solidFill>
                  <a:srgbClr val="242424"/>
                </a:solidFill>
                <a:latin typeface="Times New Roman" panose="02020603050405020304" pitchFamily="18" charset="0"/>
                <a:cs typeface="Times New Roman" panose="02020603050405020304" pitchFamily="18" charset="0"/>
              </a:rPr>
              <a:t>Softmax</a:t>
            </a:r>
            <a:r>
              <a:rPr lang="zh-CN" altLang="en-US" sz="1200" dirty="0">
                <a:solidFill>
                  <a:srgbClr val="242424"/>
                </a:solidFill>
                <a:latin typeface="Times New Roman" panose="02020603050405020304" pitchFamily="18" charset="0"/>
                <a:cs typeface="Times New Roman" panose="02020603050405020304" pitchFamily="18" charset="0"/>
              </a:rPr>
              <a:t>、</a:t>
            </a:r>
            <a:r>
              <a:rPr lang="en-US" altLang="zh-CN" sz="1200" dirty="0">
                <a:solidFill>
                  <a:srgbClr val="242424"/>
                </a:solidFill>
                <a:latin typeface="Times New Roman" panose="02020603050405020304" pitchFamily="18" charset="0"/>
                <a:cs typeface="Times New Roman" panose="02020603050405020304" pitchFamily="18" charset="0"/>
              </a:rPr>
              <a:t>MatMul</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altLang="zh-CN"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en-US" altLang="zh-CN" sz="1200" dirty="0">
                <a:solidFill>
                  <a:srgbClr val="242424"/>
                </a:solidFill>
                <a:latin typeface="Times New Roman" panose="02020603050405020304" pitchFamily="18" charset="0"/>
                <a:cs typeface="Times New Roman" panose="02020603050405020304" pitchFamily="18" charset="0"/>
              </a:rPr>
              <a:t>Shape</a:t>
            </a:r>
            <a:r>
              <a:rPr lang="zh-CN" altLang="en-US" sz="1200" dirty="0">
                <a:solidFill>
                  <a:srgbClr val="242424"/>
                </a:solidFill>
                <a:latin typeface="Times New Roman" panose="02020603050405020304" pitchFamily="18" charset="0"/>
                <a:cs typeface="Times New Roman" panose="02020603050405020304" pitchFamily="18" charset="0"/>
              </a:rPr>
              <a:t>：典型静态 </a:t>
            </a:r>
            <a:r>
              <a:rPr lang="en-US" altLang="zh-CN" sz="1200" dirty="0">
                <a:solidFill>
                  <a:srgbClr val="242424"/>
                </a:solidFill>
                <a:latin typeface="Times New Roman" panose="02020603050405020304" pitchFamily="18" charset="0"/>
                <a:cs typeface="Times New Roman" panose="02020603050405020304" pitchFamily="18" charset="0"/>
              </a:rPr>
              <a:t>/ </a:t>
            </a:r>
            <a:r>
              <a:rPr lang="zh-CN" altLang="en-US" sz="1200" dirty="0">
                <a:solidFill>
                  <a:srgbClr val="242424"/>
                </a:solidFill>
                <a:latin typeface="Times New Roman" panose="02020603050405020304" pitchFamily="18" charset="0"/>
                <a:cs typeface="Times New Roman" panose="02020603050405020304" pitchFamily="18" charset="0"/>
              </a:rPr>
              <a:t>动态 </a:t>
            </a:r>
            <a:r>
              <a:rPr lang="en-US" altLang="zh-CN" sz="1200" dirty="0">
                <a:solidFill>
                  <a:srgbClr val="242424"/>
                </a:solidFill>
                <a:latin typeface="Times New Roman" panose="02020603050405020304" pitchFamily="18" charset="0"/>
                <a:cs typeface="Times New Roman" panose="02020603050405020304" pitchFamily="18" charset="0"/>
              </a:rPr>
              <a:t>Shape</a:t>
            </a:r>
            <a:r>
              <a:rPr lang="zh-CN" altLang="en-US" sz="1200" dirty="0">
                <a:solidFill>
                  <a:srgbClr val="242424"/>
                </a:solidFill>
                <a:latin typeface="Times New Roman" panose="02020603050405020304" pitchFamily="18" charset="0"/>
                <a:cs typeface="Times New Roman" panose="02020603050405020304" pitchFamily="18" charset="0"/>
              </a:rPr>
              <a:t>；</a:t>
            </a:r>
            <a:endParaRPr lang="en-US" altLang="zh-CN"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390" b="0">
                <a:solidFill>
                  <a:srgbClr val="242424"/>
                </a:solidFill>
                <a:latin typeface="Arial" panose="020B0604020202020204"/>
                <a:ea typeface="Arial" panose="020B0604020202020204"/>
                <a:cs typeface="Arial" panose="020B0604020202020204"/>
              </a:defRPr>
            </a:pPr>
            <a:r>
              <a:rPr lang="zh-CN" altLang="en-US" sz="1200" dirty="0">
                <a:solidFill>
                  <a:srgbClr val="242424"/>
                </a:solidFill>
                <a:latin typeface="Times New Roman" panose="02020603050405020304" pitchFamily="18" charset="0"/>
                <a:cs typeface="Times New Roman" panose="02020603050405020304" pitchFamily="18" charset="0"/>
              </a:rPr>
              <a:t>精度：</a:t>
            </a:r>
            <a:r>
              <a:rPr lang="en-US" altLang="zh-CN" sz="1200" dirty="0">
                <a:solidFill>
                  <a:srgbClr val="242424"/>
                </a:solidFill>
                <a:latin typeface="Times New Roman" panose="02020603050405020304" pitchFamily="18" charset="0"/>
                <a:cs typeface="Times New Roman" panose="02020603050405020304" pitchFamily="18" charset="0"/>
              </a:rPr>
              <a:t>FP16 </a:t>
            </a:r>
            <a:r>
              <a:rPr lang="zh-CN" altLang="en-US" sz="1200" dirty="0">
                <a:solidFill>
                  <a:srgbClr val="242424"/>
                </a:solidFill>
                <a:latin typeface="Times New Roman" panose="02020603050405020304" pitchFamily="18" charset="0"/>
                <a:cs typeface="Times New Roman" panose="02020603050405020304" pitchFamily="18" charset="0"/>
              </a:rPr>
              <a:t>计算，</a:t>
            </a:r>
            <a:r>
              <a:rPr lang="en-US" altLang="zh-CN" sz="1200" dirty="0">
                <a:solidFill>
                  <a:srgbClr val="242424"/>
                </a:solidFill>
                <a:latin typeface="Times New Roman" panose="02020603050405020304" pitchFamily="18" charset="0"/>
                <a:cs typeface="Times New Roman" panose="02020603050405020304" pitchFamily="18" charset="0"/>
              </a:rPr>
              <a:t>FP32 </a:t>
            </a:r>
            <a:r>
              <a:rPr lang="zh-CN" altLang="en-US" sz="1200" dirty="0">
                <a:solidFill>
                  <a:srgbClr val="242424"/>
                </a:solidFill>
                <a:latin typeface="Times New Roman" panose="02020603050405020304" pitchFamily="18" charset="0"/>
                <a:cs typeface="Times New Roman" panose="02020603050405020304" pitchFamily="18" charset="0"/>
              </a:rPr>
              <a:t>累加。</a:t>
            </a:r>
          </a:p>
        </p:txBody>
      </p:sp>
      <p:sp>
        <p:nvSpPr>
          <p:cNvPr id="23" name="connector_3852"/>
          <p:cNvSpPr>
            <a:spLocks noGrp="1"/>
          </p:cNvSpPr>
          <p:nvPr/>
        </p:nvSpPr>
        <p:spPr>
          <a:xfrm>
            <a:off x="6110348" y="4013053"/>
            <a:ext cx="2536031" cy="14288"/>
          </a:xfrm>
          <a:custGeom>
            <a:avLst/>
            <a:gdLst/>
            <a:ahLst/>
            <a:cxnLst/>
            <a:rect l="0" t="0" r="0" b="0"/>
            <a:pathLst>
              <a:path w="3381375" h="19050">
                <a:moveTo>
                  <a:pt x="9525" y="9525"/>
                </a:moveTo>
                <a:lnTo>
                  <a:pt x="3371850" y="9525"/>
                </a:lnTo>
              </a:path>
            </a:pathLst>
          </a:custGeom>
          <a:noFill/>
          <a:ln w="14288">
            <a:solidFill>
              <a:srgbClr val="D9D9D9"/>
            </a:solidFill>
          </a:ln>
        </p:spPr>
      </p:sp>
      <p:sp>
        <p:nvSpPr>
          <p:cNvPr id="24" name="text_3862_性能差距仍需补足"/>
          <p:cNvSpPr>
            <a:spLocks noGrp="1"/>
          </p:cNvSpPr>
          <p:nvPr/>
        </p:nvSpPr>
        <p:spPr>
          <a:xfrm>
            <a:off x="6127625" y="4148167"/>
            <a:ext cx="2521744" cy="200025"/>
          </a:xfrm>
          <a:prstGeom prst="rect">
            <a:avLst/>
          </a:prstGeom>
          <a:noFill/>
          <a:ln w="9525">
            <a:noFill/>
          </a:ln>
        </p:spPr>
        <p:txBody>
          <a:bodyPr wrap="none" lIns="0" tIns="0" rIns="0" bIns="0" anchor="ctr">
            <a:noAutofit/>
          </a:bodyPr>
          <a:lstStyle/>
          <a:p>
            <a:pPr algn="l">
              <a:defRPr sz="1725" b="1">
                <a:solidFill>
                  <a:srgbClr val="D7000F"/>
                </a:solidFill>
                <a:latin typeface="Arial" panose="020B0604020202020204"/>
                <a:ea typeface="Arial" panose="020B0604020202020204"/>
                <a:cs typeface="Arial" panose="020B0604020202020204"/>
              </a:defRPr>
            </a:pPr>
            <a:r>
              <a:rPr sz="1200" b="1" dirty="0" err="1" smtClean="0">
                <a:solidFill>
                  <a:srgbClr val="D7000F"/>
                </a:solidFill>
                <a:latin typeface="Times New Roman" panose="02020603050405020304" pitchFamily="18" charset="0"/>
                <a:cs typeface="Times New Roman" panose="02020603050405020304" pitchFamily="18" charset="0"/>
              </a:rPr>
              <a:t>性能</a:t>
            </a:r>
            <a:r>
              <a:rPr lang="zh-CN" altLang="en-US" sz="1200" b="1" dirty="0" smtClean="0">
                <a:solidFill>
                  <a:srgbClr val="D7000F"/>
                </a:solidFill>
                <a:latin typeface="Times New Roman" panose="02020603050405020304" pitchFamily="18" charset="0"/>
                <a:cs typeface="Times New Roman" panose="02020603050405020304" pitchFamily="18" charset="0"/>
              </a:rPr>
              <a:t>分析</a:t>
            </a:r>
            <a:endParaRPr sz="1200" b="1" dirty="0">
              <a:solidFill>
                <a:srgbClr val="D7000F"/>
              </a:solidFill>
              <a:latin typeface="Times New Roman" panose="02020603050405020304" pitchFamily="18" charset="0"/>
              <a:cs typeface="Times New Roman" panose="02020603050405020304" pitchFamily="18" charset="0"/>
            </a:endParaRPr>
          </a:p>
        </p:txBody>
      </p:sp>
      <p:sp>
        <p:nvSpPr>
          <p:cNvPr id="25" name="text_3864_MatMul 加速比均低于 1×。"/>
          <p:cNvSpPr>
            <a:spLocks noGrp="1"/>
          </p:cNvSpPr>
          <p:nvPr/>
        </p:nvSpPr>
        <p:spPr>
          <a:xfrm>
            <a:off x="6127625" y="4545394"/>
            <a:ext cx="2626562" cy="1174536"/>
          </a:xfrm>
          <a:prstGeom prst="rect">
            <a:avLst/>
          </a:prstGeom>
          <a:noFill/>
          <a:ln w="9525">
            <a:noFill/>
          </a:ln>
        </p:spPr>
        <p:txBody>
          <a:bodyPr wrap="none" lIns="0" tIns="0" rIns="0" bIns="0" anchor="ctr">
            <a:noAutofit/>
          </a:bodyPr>
          <a:lstStyle/>
          <a:p>
            <a:pPr marL="171450" indent="-171450" algn="l">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lang="en-US" altLang="zh-CN" sz="1200" dirty="0" smtClean="0">
                <a:solidFill>
                  <a:srgbClr val="242424"/>
                </a:solidFill>
                <a:latin typeface="Times New Roman" panose="02020603050405020304" pitchFamily="18" charset="0"/>
                <a:cs typeface="Times New Roman" panose="02020603050405020304" pitchFamily="18" charset="0"/>
              </a:rPr>
              <a:t>BANG C</a:t>
            </a:r>
            <a:r>
              <a:rPr lang="zh-CN" altLang="en-US" sz="1200" dirty="0" smtClean="0">
                <a:solidFill>
                  <a:srgbClr val="242424"/>
                </a:solidFill>
                <a:latin typeface="Times New Roman" panose="02020603050405020304" pitchFamily="18" charset="0"/>
                <a:cs typeface="Times New Roman" panose="02020603050405020304" pitchFamily="18" charset="0"/>
              </a:rPr>
              <a:t>的开发时间最长；</a:t>
            </a:r>
            <a:endParaRPr lang="en-US" sz="1200" dirty="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lang="zh-CN" altLang="en-US" sz="1200" dirty="0" smtClean="0">
                <a:solidFill>
                  <a:srgbClr val="242424"/>
                </a:solidFill>
                <a:latin typeface="Times New Roman" panose="02020603050405020304" pitchFamily="18" charset="0"/>
                <a:cs typeface="Times New Roman" panose="02020603050405020304" pitchFamily="18" charset="0"/>
              </a:rPr>
              <a:t>算子开发平均时间</a:t>
            </a:r>
            <a:r>
              <a:rPr lang="en-US" altLang="zh-CN" sz="1200" dirty="0" smtClean="0">
                <a:solidFill>
                  <a:srgbClr val="242424"/>
                </a:solidFill>
                <a:latin typeface="Times New Roman" panose="02020603050405020304" pitchFamily="18" charset="0"/>
                <a:cs typeface="Times New Roman" panose="02020603050405020304" pitchFamily="18" charset="0"/>
              </a:rPr>
              <a:t>1-2h</a:t>
            </a:r>
            <a:r>
              <a:rPr lang="zh-CN" altLang="en-US" sz="1200" dirty="0" smtClean="0">
                <a:solidFill>
                  <a:srgbClr val="242424"/>
                </a:solidFill>
                <a:latin typeface="Times New Roman" panose="02020603050405020304" pitchFamily="18" charset="0"/>
                <a:cs typeface="Times New Roman" panose="02020603050405020304" pitchFamily="18" charset="0"/>
              </a:rPr>
              <a:t>；</a:t>
            </a:r>
            <a:endParaRPr lang="en-US" altLang="zh-CN" sz="1200" dirty="0" smtClean="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lang="zh-CN" altLang="en-US" sz="1200" dirty="0" smtClean="0">
                <a:solidFill>
                  <a:srgbClr val="242424"/>
                </a:solidFill>
                <a:latin typeface="Times New Roman" panose="02020603050405020304" pitchFamily="18" charset="0"/>
                <a:cs typeface="Times New Roman" panose="02020603050405020304" pitchFamily="18" charset="0"/>
              </a:rPr>
              <a:t>复杂算子的开发时间较长。</a:t>
            </a:r>
            <a:endParaRPr lang="en-US" altLang="zh-CN" sz="1200" dirty="0" smtClean="0">
              <a:solidFill>
                <a:srgbClr val="242424"/>
              </a:solidFill>
              <a:latin typeface="Times New Roman" panose="02020603050405020304" pitchFamily="18" charset="0"/>
              <a:cs typeface="Times New Roman" panose="02020603050405020304" pitchFamily="18" charset="0"/>
            </a:endParaRPr>
          </a:p>
          <a:p>
            <a:pPr marL="171450" indent="-171450">
              <a:lnSpc>
                <a:spcPct val="150000"/>
              </a:lnSpc>
              <a:buFont typeface="Wingdings" panose="05000000000000000000" pitchFamily="2" charset="2"/>
              <a:buChar char="p"/>
              <a:defRPr sz="1500" b="0">
                <a:solidFill>
                  <a:srgbClr val="242424"/>
                </a:solidFill>
                <a:latin typeface="Arial" panose="020B0604020202020204"/>
                <a:ea typeface="Arial" panose="020B0604020202020204"/>
                <a:cs typeface="Arial" panose="020B0604020202020204"/>
              </a:defRPr>
            </a:pPr>
            <a:r>
              <a:rPr lang="zh-CN" altLang="en-US" sz="1200" dirty="0" smtClean="0">
                <a:solidFill>
                  <a:srgbClr val="242424"/>
                </a:solidFill>
                <a:latin typeface="Times New Roman" panose="02020603050405020304" pitchFamily="18" charset="0"/>
                <a:cs typeface="Times New Roman" panose="02020603050405020304" pitchFamily="18" charset="0"/>
              </a:rPr>
              <a:t>对于较差的例子补充针对性的开发</a:t>
            </a:r>
            <a:endParaRPr lang="en-US" altLang="zh-CN" sz="1200" dirty="0" smtClean="0">
              <a:solidFill>
                <a:srgbClr val="242424"/>
              </a:solidFill>
              <a:latin typeface="Times New Roman" panose="02020603050405020304" pitchFamily="18" charset="0"/>
              <a:cs typeface="Times New Roman" panose="02020603050405020304" pitchFamily="18" charset="0"/>
            </a:endParaRPr>
          </a:p>
          <a:p>
            <a:pPr>
              <a:lnSpc>
                <a:spcPct val="150000"/>
              </a:lnSpc>
              <a:defRPr sz="1500" b="0">
                <a:solidFill>
                  <a:srgbClr val="242424"/>
                </a:solidFill>
                <a:latin typeface="Arial" panose="020B0604020202020204"/>
                <a:ea typeface="Arial" panose="020B0604020202020204"/>
                <a:cs typeface="Arial" panose="020B0604020202020204"/>
              </a:defRPr>
            </a:pPr>
            <a:r>
              <a:rPr lang="zh-CN" altLang="en-US" sz="1200" dirty="0" smtClean="0">
                <a:solidFill>
                  <a:srgbClr val="242424"/>
                </a:solidFill>
                <a:latin typeface="Times New Roman" panose="02020603050405020304" pitchFamily="18" charset="0"/>
                <a:cs typeface="Times New Roman" panose="02020603050405020304" pitchFamily="18" charset="0"/>
              </a:rPr>
              <a:t>资料和案例</a:t>
            </a:r>
            <a:endParaRPr lang="zh-CN" altLang="en-US" sz="1200" dirty="0">
              <a:solidFill>
                <a:srgbClr val="242424"/>
              </a:solidFill>
              <a:latin typeface="Times New Roman" panose="02020603050405020304" pitchFamily="18" charset="0"/>
              <a:cs typeface="Times New Roman" panose="02020603050405020304" pitchFamily="18" charset="0"/>
            </a:endParaRPr>
          </a:p>
        </p:txBody>
      </p:sp>
      <p:graphicFrame>
        <p:nvGraphicFramePr>
          <p:cNvPr id="26" name="Chart"/>
          <p:cNvGraphicFramePr/>
          <p:nvPr>
            <p:extLst>
              <p:ext uri="{D42A27DB-BD31-4B8C-83A1-F6EECF244321}">
                <p14:modId xmlns:p14="http://schemas.microsoft.com/office/powerpoint/2010/main" val="896913485"/>
              </p:ext>
            </p:extLst>
          </p:nvPr>
        </p:nvGraphicFramePr>
        <p:xfrm>
          <a:off x="413580" y="1816245"/>
          <a:ext cx="5264944" cy="399862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EDB7BD-AF18-4E0A-868D-7D796A763DC6}"/>
              </a:ext>
            </a:extLst>
          </p:cNvPr>
          <p:cNvSpPr>
            <a:spLocks noGrp="1"/>
          </p:cNvSpPr>
          <p:nvPr>
            <p:ph type="title"/>
          </p:nvPr>
        </p:nvSpPr>
        <p:spPr/>
        <p:txBody>
          <a:bodyPr vert="horz" wrap="none" lIns="0" tIns="0" rIns="0" bIns="0" numCol="1" anchor="ctr" anchorCtr="0" compatLnSpc="1">
            <a:noAutofit/>
          </a:bodyPr>
          <a:lstStyle/>
          <a:p>
            <a:pPr>
              <a:defRPr sz="2600" b="1">
                <a:solidFill>
                  <a:srgbClr val="000000"/>
                </a:solidFill>
                <a:latin typeface="Arial"/>
                <a:ea typeface="Arial"/>
                <a:cs typeface="Arial"/>
              </a:defRPr>
            </a:pPr>
            <a:r>
              <a:rPr lang="zh-CN" altLang="en-US" dirty="0">
                <a:solidFill>
                  <a:srgbClr val="000000"/>
                </a:solidFill>
                <a:latin typeface="Times New Roman" panose="02020603050405020304" pitchFamily="18" charset="0"/>
                <a:ea typeface="+mn-ea"/>
                <a:cs typeface="Times New Roman" panose="02020603050405020304" pitchFamily="18" charset="0"/>
              </a:rPr>
              <a:t>实习期间工作总结和个人发展计划</a:t>
            </a:r>
            <a:endParaRPr sz="1950" dirty="0">
              <a:solidFill>
                <a:srgbClr val="000000"/>
              </a:solidFill>
              <a:latin typeface="Times New Roman" panose="02020603050405020304" pitchFamily="18" charset="0"/>
              <a:ea typeface="+mn-ea"/>
              <a:cs typeface="Times New Roman" panose="02020603050405020304" pitchFamily="18" charset="0"/>
            </a:endParaRPr>
          </a:p>
        </p:txBody>
      </p:sp>
      <p:sp>
        <p:nvSpPr>
          <p:cNvPr id="76" name="文本框 75"/>
          <p:cNvSpPr txBox="1"/>
          <p:nvPr/>
        </p:nvSpPr>
        <p:spPr>
          <a:xfrm>
            <a:off x="624364" y="1687831"/>
            <a:ext cx="7961948" cy="4076699"/>
          </a:xfrm>
          <a:prstGeom prst="rect">
            <a:avLst/>
          </a:prstGeom>
          <a:noFill/>
        </p:spPr>
        <p:txBody>
          <a:bodyPr wrap="square" rtlCol="0">
            <a:noAutofit/>
          </a:bodyPr>
          <a:lstStyle/>
          <a:p>
            <a:pPr>
              <a:lnSpc>
                <a:spcPct val="150000"/>
              </a:lnSpc>
            </a:pPr>
            <a:r>
              <a:rPr lang="zh-CN" altLang="en-US" sz="1600" b="1" dirty="0">
                <a:latin typeface="Times New Roman" panose="02020603050405020304" pitchFamily="18" charset="0"/>
                <a:cs typeface="Times New Roman" panose="02020603050405020304" pitchFamily="18" charset="0"/>
              </a:rPr>
              <a:t>工作总结：</a:t>
            </a:r>
          </a:p>
          <a:p>
            <a:pPr>
              <a:lnSpc>
                <a:spcPct val="150000"/>
              </a:lnSpc>
            </a:pPr>
            <a:r>
              <a:rPr lang="zh-CN" altLang="en-US" sz="1400" dirty="0">
                <a:latin typeface="Times New Roman" panose="02020603050405020304" pitchFamily="18" charset="0"/>
                <a:cs typeface="Times New Roman" panose="02020603050405020304" pitchFamily="18" charset="0"/>
              </a:rPr>
              <a:t>在海康威视智能计算平台部的实习过程中，我受益匪浅：</a:t>
            </a:r>
            <a:endParaRPr lang="en-US" altLang="zh-CN" sz="1400" dirty="0">
              <a:latin typeface="Times New Roman" panose="02020603050405020304" pitchFamily="18" charset="0"/>
              <a:cs typeface="Times New Roman" panose="02020603050405020304" pitchFamily="18" charset="0"/>
            </a:endParaRPr>
          </a:p>
          <a:p>
            <a:pPr marL="285750" indent="-285750">
              <a:lnSpc>
                <a:spcPct val="150000"/>
              </a:lnSpc>
              <a:buFont typeface="Wingdings" panose="05000000000000000000" pitchFamily="2" charset="2"/>
              <a:buChar char="p"/>
            </a:pPr>
            <a:r>
              <a:rPr lang="zh-CN" altLang="en-US" sz="1400" dirty="0">
                <a:latin typeface="Times New Roman" panose="02020603050405020304" pitchFamily="18" charset="0"/>
                <a:cs typeface="Times New Roman" panose="02020603050405020304" pitchFamily="18" charset="0"/>
              </a:rPr>
              <a:t>在实际项目中形成了从问题定位</a:t>
            </a:r>
            <a:r>
              <a:rPr lang="zh-CN" altLang="en-US" sz="1400" dirty="0" smtClean="0">
                <a:latin typeface="Times New Roman" panose="02020603050405020304" pitchFamily="18" charset="0"/>
                <a:cs typeface="Times New Roman" panose="02020603050405020304" pitchFamily="18" charset="0"/>
              </a:rPr>
              <a:t>、</a:t>
            </a:r>
            <a:r>
              <a:rPr lang="zh-CN" altLang="en-US" sz="1400" dirty="0">
                <a:latin typeface="Times New Roman" panose="02020603050405020304" pitchFamily="18" charset="0"/>
                <a:cs typeface="Times New Roman" panose="02020603050405020304" pitchFamily="18" charset="0"/>
              </a:rPr>
              <a:t>方案</a:t>
            </a:r>
            <a:r>
              <a:rPr lang="zh-CN" altLang="en-US" sz="1400" dirty="0" smtClean="0">
                <a:latin typeface="Times New Roman" panose="02020603050405020304" pitchFamily="18" charset="0"/>
                <a:cs typeface="Times New Roman" panose="02020603050405020304" pitchFamily="18" charset="0"/>
              </a:rPr>
              <a:t>设计</a:t>
            </a:r>
            <a:r>
              <a:rPr lang="zh-CN" altLang="en-US" sz="1400" dirty="0">
                <a:latin typeface="Times New Roman" panose="02020603050405020304" pitchFamily="18" charset="0"/>
                <a:cs typeface="Times New Roman" panose="02020603050405020304" pitchFamily="18" charset="0"/>
              </a:rPr>
              <a:t>、实验验证到总结沉淀的完整工作思路；</a:t>
            </a:r>
            <a:endParaRPr lang="en-US" altLang="zh-CN" sz="1400" dirty="0">
              <a:latin typeface="Times New Roman" panose="02020603050405020304" pitchFamily="18" charset="0"/>
              <a:cs typeface="Times New Roman" panose="02020603050405020304" pitchFamily="18" charset="0"/>
            </a:endParaRPr>
          </a:p>
          <a:p>
            <a:pPr marL="285750" indent="-285750">
              <a:lnSpc>
                <a:spcPct val="150000"/>
              </a:lnSpc>
              <a:buFont typeface="Wingdings" panose="05000000000000000000" pitchFamily="2" charset="2"/>
              <a:buChar char="p"/>
            </a:pPr>
            <a:r>
              <a:rPr lang="zh-CN" altLang="en-US" sz="1400" dirty="0">
                <a:latin typeface="Times New Roman" panose="02020603050405020304" pitchFamily="18" charset="0"/>
                <a:cs typeface="Times New Roman" panose="02020603050405020304" pitchFamily="18" charset="0"/>
              </a:rPr>
              <a:t>实习过程中得到许多</a:t>
            </a:r>
            <a:r>
              <a:rPr lang="zh-CN" altLang="en-US" sz="1400" dirty="0" smtClean="0">
                <a:latin typeface="Times New Roman" panose="02020603050405020304" pitchFamily="18" charset="0"/>
                <a:cs typeface="Times New Roman" panose="02020603050405020304" pitchFamily="18" charset="0"/>
              </a:rPr>
              <a:t>了来自</a:t>
            </a:r>
            <a:r>
              <a:rPr lang="zh-CN" altLang="en-US" sz="1400" dirty="0">
                <a:latin typeface="Times New Roman" panose="02020603050405020304" pitchFamily="18" charset="0"/>
                <a:cs typeface="Times New Roman" panose="02020603050405020304" pitchFamily="18" charset="0"/>
              </a:rPr>
              <a:t>领导</a:t>
            </a:r>
            <a:r>
              <a:rPr lang="zh-CN" altLang="en-US" sz="1400" dirty="0" smtClean="0">
                <a:latin typeface="Times New Roman" panose="02020603050405020304" pitchFamily="18" charset="0"/>
                <a:cs typeface="Times New Roman" panose="02020603050405020304" pitchFamily="18" charset="0"/>
              </a:rPr>
              <a:t>和</a:t>
            </a:r>
            <a:r>
              <a:rPr lang="zh-CN" altLang="en-US" sz="1400" dirty="0">
                <a:latin typeface="Times New Roman" panose="02020603050405020304" pitchFamily="18" charset="0"/>
                <a:cs typeface="Times New Roman" panose="02020603050405020304" pitchFamily="18" charset="0"/>
              </a:rPr>
              <a:t>同事在技术方案</a:t>
            </a:r>
            <a:r>
              <a:rPr lang="zh-CN" altLang="en-US" sz="1400" dirty="0" smtClean="0">
                <a:latin typeface="Times New Roman" panose="02020603050405020304" pitchFamily="18" charset="0"/>
                <a:cs typeface="Times New Roman" panose="02020603050405020304" pitchFamily="18" charset="0"/>
              </a:rPr>
              <a:t>、工作方法和生活等</a:t>
            </a:r>
            <a:r>
              <a:rPr lang="zh-CN" altLang="en-US" sz="1400" dirty="0">
                <a:latin typeface="Times New Roman" panose="02020603050405020304" pitchFamily="18" charset="0"/>
                <a:cs typeface="Times New Roman" panose="02020603050405020304" pitchFamily="18" charset="0"/>
              </a:rPr>
              <a:t>方面的指导，对实际研发团队的工作方式 有了更深的理解；</a:t>
            </a:r>
            <a:endParaRPr lang="en-US" altLang="zh-CN" sz="1400" dirty="0">
              <a:latin typeface="Times New Roman" panose="02020603050405020304" pitchFamily="18" charset="0"/>
              <a:cs typeface="Times New Roman" panose="02020603050405020304" pitchFamily="18" charset="0"/>
            </a:endParaRPr>
          </a:p>
          <a:p>
            <a:pPr marL="285750" indent="-285750">
              <a:lnSpc>
                <a:spcPct val="150000"/>
              </a:lnSpc>
              <a:buFont typeface="Wingdings" panose="05000000000000000000" pitchFamily="2" charset="2"/>
              <a:buChar char="p"/>
            </a:pPr>
            <a:r>
              <a:rPr lang="zh-CN" altLang="en-US" sz="1400" dirty="0">
                <a:latin typeface="Times New Roman" panose="02020603050405020304" pitchFamily="18" charset="0"/>
                <a:cs typeface="Times New Roman" panose="02020603050405020304" pitchFamily="18" charset="0"/>
              </a:rPr>
              <a:t>实习过程中我清晰的认识到了自己的优势和不足，同时也在</a:t>
            </a:r>
            <a:r>
              <a:rPr lang="zh-CN" altLang="en-US" sz="1400" dirty="0" smtClean="0">
                <a:latin typeface="Times New Roman" panose="02020603050405020304" pitchFamily="18" charset="0"/>
                <a:cs typeface="Times New Roman" panose="02020603050405020304" pitchFamily="18" charset="0"/>
              </a:rPr>
              <a:t>不断</a:t>
            </a:r>
            <a:r>
              <a:rPr lang="zh-CN" altLang="en-US" sz="1400" dirty="0">
                <a:latin typeface="Times New Roman" panose="02020603050405020304" pitchFamily="18" charset="0"/>
                <a:cs typeface="Times New Roman" panose="02020603050405020304" pitchFamily="18" charset="0"/>
              </a:rPr>
              <a:t>提升</a:t>
            </a:r>
            <a:r>
              <a:rPr lang="zh-CN" altLang="en-US" sz="1400" dirty="0" smtClean="0">
                <a:latin typeface="Times New Roman" panose="02020603050405020304" pitchFamily="18" charset="0"/>
                <a:cs typeface="Times New Roman" panose="02020603050405020304" pitchFamily="18" charset="0"/>
              </a:rPr>
              <a:t>自己</a:t>
            </a:r>
            <a:r>
              <a:rPr lang="zh-CN" altLang="en-US" sz="1400" dirty="0">
                <a:latin typeface="Times New Roman" panose="02020603050405020304" pitchFamily="18" charset="0"/>
                <a:cs typeface="Times New Roman" panose="02020603050405020304" pitchFamily="18" charset="0"/>
              </a:rPr>
              <a:t>的工作方式</a:t>
            </a:r>
            <a:r>
              <a:rPr lang="zh-CN" altLang="en-US" sz="1400" dirty="0" smtClean="0">
                <a:latin typeface="Times New Roman" panose="02020603050405020304" pitchFamily="18" charset="0"/>
                <a:cs typeface="Times New Roman" panose="02020603050405020304" pitchFamily="18" charset="0"/>
              </a:rPr>
              <a:t>与能力</a:t>
            </a:r>
            <a:r>
              <a:rPr lang="zh-CN" altLang="en-US" sz="1400" dirty="0">
                <a:latin typeface="Times New Roman" panose="02020603050405020304" pitchFamily="18" charset="0"/>
                <a:cs typeface="Times New Roman" panose="02020603050405020304" pitchFamily="18" charset="0"/>
              </a:rPr>
              <a:t>。</a:t>
            </a:r>
            <a:endParaRPr lang="en-US" altLang="zh-CN" sz="1400" dirty="0">
              <a:latin typeface="Times New Roman" panose="02020603050405020304" pitchFamily="18" charset="0"/>
              <a:cs typeface="Times New Roman" panose="02020603050405020304" pitchFamily="18" charset="0"/>
            </a:endParaRPr>
          </a:p>
          <a:p>
            <a:pPr>
              <a:lnSpc>
                <a:spcPct val="150000"/>
              </a:lnSpc>
            </a:pPr>
            <a:endParaRPr lang="en-US" altLang="zh-CN" sz="1350" dirty="0">
              <a:latin typeface="Times New Roman" panose="02020603050405020304" pitchFamily="18" charset="0"/>
              <a:cs typeface="Times New Roman" panose="02020603050405020304" pitchFamily="18" charset="0"/>
            </a:endParaRPr>
          </a:p>
          <a:p>
            <a:pPr>
              <a:lnSpc>
                <a:spcPct val="150000"/>
              </a:lnSpc>
            </a:pPr>
            <a:r>
              <a:rPr lang="zh-CN" altLang="en-US" sz="1600" b="1" dirty="0">
                <a:latin typeface="Times New Roman" panose="02020603050405020304" pitchFamily="18" charset="0"/>
                <a:cs typeface="Times New Roman" panose="02020603050405020304" pitchFamily="18" charset="0"/>
              </a:rPr>
              <a:t>个人发展计划：</a:t>
            </a:r>
            <a:endParaRPr lang="en-US" altLang="zh-CN" sz="1600" b="1" dirty="0">
              <a:latin typeface="Times New Roman" panose="02020603050405020304" pitchFamily="18" charset="0"/>
              <a:cs typeface="Times New Roman" panose="02020603050405020304" pitchFamily="18" charset="0"/>
            </a:endParaRPr>
          </a:p>
          <a:p>
            <a:pPr marL="285750" indent="-285750">
              <a:lnSpc>
                <a:spcPct val="150000"/>
              </a:lnSpc>
              <a:buFont typeface="Wingdings" panose="05000000000000000000" pitchFamily="2" charset="2"/>
              <a:buChar char="p"/>
            </a:pPr>
            <a:r>
              <a:rPr lang="zh-CN" altLang="en-US" sz="1400" dirty="0">
                <a:latin typeface="Times New Roman" panose="02020603050405020304" pitchFamily="18" charset="0"/>
                <a:cs typeface="Times New Roman" panose="02020603050405020304" pitchFamily="18" charset="0"/>
              </a:rPr>
              <a:t>持续补足基础与工程能力；</a:t>
            </a:r>
          </a:p>
          <a:p>
            <a:pPr marL="285750" indent="-285750">
              <a:lnSpc>
                <a:spcPct val="150000"/>
              </a:lnSpc>
              <a:buFont typeface="Wingdings" panose="05000000000000000000" pitchFamily="2" charset="2"/>
              <a:buChar char="p"/>
            </a:pPr>
            <a:r>
              <a:rPr lang="zh-CN" altLang="en-US" sz="1400" dirty="0">
                <a:latin typeface="Times New Roman" panose="02020603050405020304" pitchFamily="18" charset="0"/>
                <a:cs typeface="Times New Roman" panose="02020603050405020304" pitchFamily="18" charset="0"/>
              </a:rPr>
              <a:t>提升独立承担项目的能力，加强技术汇报与团队协作能力；</a:t>
            </a:r>
            <a:endParaRPr lang="en-US" altLang="zh-CN" sz="1400" dirty="0">
              <a:latin typeface="Times New Roman" panose="02020603050405020304" pitchFamily="18" charset="0"/>
              <a:cs typeface="Times New Roman" panose="02020603050405020304" pitchFamily="18" charset="0"/>
            </a:endParaRPr>
          </a:p>
          <a:p>
            <a:pPr marL="285750" indent="-285750">
              <a:lnSpc>
                <a:spcPct val="150000"/>
              </a:lnSpc>
              <a:buFont typeface="Wingdings" panose="05000000000000000000" pitchFamily="2" charset="2"/>
              <a:buChar char="p"/>
            </a:pPr>
            <a:r>
              <a:rPr lang="zh-CN" altLang="en-US" sz="1400" dirty="0">
                <a:latin typeface="Times New Roman" panose="02020603050405020304" pitchFamily="18" charset="0"/>
                <a:cs typeface="Times New Roman" panose="02020603050405020304" pitchFamily="18" charset="0"/>
              </a:rPr>
              <a:t>继续</a:t>
            </a:r>
            <a:r>
              <a:rPr lang="zh-CN" altLang="en-US" sz="1400" dirty="0" smtClean="0">
                <a:latin typeface="Times New Roman" panose="02020603050405020304" pitchFamily="18" charset="0"/>
                <a:cs typeface="Times New Roman" panose="02020603050405020304" pitchFamily="18" charset="0"/>
              </a:rPr>
              <a:t>深耕高性能计算方向</a:t>
            </a:r>
            <a:r>
              <a:rPr lang="zh-CN" altLang="en-US" sz="1400" dirty="0">
                <a:latin typeface="Times New Roman" panose="02020603050405020304" pitchFamily="18" charset="0"/>
                <a:cs typeface="Times New Roman" panose="02020603050405020304" pitchFamily="18" charset="0"/>
              </a:rPr>
              <a:t>，同时保持对新平台、新工具和新技术的学习。 </a:t>
            </a:r>
          </a:p>
          <a:p>
            <a:pPr>
              <a:lnSpc>
                <a:spcPct val="150000"/>
              </a:lnSpc>
            </a:pPr>
            <a:endParaRPr lang="zh-CN" altLang="en-US" sz="1350" dirty="0">
              <a:latin typeface="Times New Roman" panose="02020603050405020304" pitchFamily="18" charset="0"/>
              <a:cs typeface="Times New Roman" panose="02020603050405020304" pitchFamily="18" charset="0"/>
            </a:endParaRPr>
          </a:p>
        </p:txBody>
      </p:sp>
      <p:sp>
        <p:nvSpPr>
          <p:cNvPr id="4" name="灯片编号占位符 3">
            <a:extLst>
              <a:ext uri="{FF2B5EF4-FFF2-40B4-BE49-F238E27FC236}">
                <a16:creationId xmlns:a16="http://schemas.microsoft.com/office/drawing/2014/main" id="{D47F6E89-AF8E-AA5E-EFF9-46A630C14E30}"/>
              </a:ext>
            </a:extLst>
          </p:cNvPr>
          <p:cNvSpPr>
            <a:spLocks noGrp="1"/>
          </p:cNvSpPr>
          <p:nvPr>
            <p:ph type="sldNum" sz="quarter" idx="12"/>
          </p:nvPr>
        </p:nvSpPr>
        <p:spPr/>
        <p:txBody>
          <a:bodyPr/>
          <a:lstStyle/>
          <a:p>
            <a:fld id="{03621AC1-4C4D-435F-BACF-B518BC126F02}" type="slidenum">
              <a:rPr lang="zh-CN" altLang="en-US" smtClean="0"/>
              <a:t>28</a:t>
            </a:fld>
            <a:endParaRPr lang="zh-CN" altLang="en-US"/>
          </a:p>
        </p:txBody>
      </p:sp>
    </p:spTree>
    <p:extLst>
      <p:ext uri="{BB962C8B-B14F-4D97-AF65-F5344CB8AC3E}">
        <p14:creationId xmlns:p14="http://schemas.microsoft.com/office/powerpoint/2010/main" val="2480560251"/>
      </p:ext>
    </p:extLst>
  </p:cSld>
  <p:clrMapOvr>
    <a:masterClrMapping/>
  </p:clrMapOv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p:cNvSpPr txBox="1">
            <a:spLocks noChangeArrowheads="1"/>
          </p:cNvSpPr>
          <p:nvPr/>
        </p:nvSpPr>
        <p:spPr bwMode="auto">
          <a:xfrm>
            <a:off x="2051050" y="2492375"/>
            <a:ext cx="4962525" cy="1785938"/>
          </a:xfrm>
          <a:prstGeom prst="rect">
            <a:avLst/>
          </a:prstGeom>
          <a:noFill/>
          <a:ln w="9525">
            <a:noFill/>
            <a:miter lim="800000"/>
          </a:ln>
        </p:spPr>
        <p:txBody>
          <a:bodyPr vert="horz" wrap="square" lIns="91440" tIns="45720" rIns="91440" bIns="45720" numCol="1" anchor="t" anchorCtr="0" compatLnSpc="1"/>
          <a:lstStyle>
            <a:lvl1pPr marL="342900" indent="-342900" algn="l" rtl="0" eaLnBrk="0" fontAlgn="base" hangingPunct="0">
              <a:lnSpc>
                <a:spcPct val="120000"/>
              </a:lnSpc>
              <a:spcBef>
                <a:spcPct val="20000"/>
              </a:spcBef>
              <a:spcAft>
                <a:spcPct val="0"/>
              </a:spcAft>
              <a:buClr>
                <a:srgbClr val="FF0000"/>
              </a:buClr>
              <a:buFont typeface="Wingdings" panose="05000000000000000000" pitchFamily="2" charset="2"/>
              <a:buChar char="n"/>
              <a:defRPr sz="2600">
                <a:solidFill>
                  <a:schemeClr val="tx1"/>
                </a:solidFill>
                <a:latin typeface="+mn-lt"/>
                <a:ea typeface="+mn-ea"/>
                <a:cs typeface="+mn-cs"/>
              </a:defRPr>
            </a:lvl1pPr>
            <a:lvl2pPr marL="742950" indent="-285750" algn="l" rtl="0" eaLnBrk="0" fontAlgn="base" hangingPunct="0">
              <a:lnSpc>
                <a:spcPct val="120000"/>
              </a:lnSpc>
              <a:spcBef>
                <a:spcPct val="20000"/>
              </a:spcBef>
              <a:spcAft>
                <a:spcPct val="0"/>
              </a:spcAft>
              <a:buClr>
                <a:srgbClr val="FF0000"/>
              </a:buClr>
              <a:buFont typeface="Wingdings" panose="05000000000000000000" pitchFamily="2" charset="2"/>
              <a:buChar char="p"/>
              <a:defRPr sz="2200">
                <a:solidFill>
                  <a:schemeClr val="tx1"/>
                </a:solidFill>
                <a:latin typeface="+mn-lt"/>
                <a:ea typeface="+mn-ea"/>
              </a:defRPr>
            </a:lvl2pPr>
            <a:lvl3pPr marL="1143000" indent="-228600" algn="l" rtl="0" eaLnBrk="0" fontAlgn="base" hangingPunct="0">
              <a:lnSpc>
                <a:spcPct val="120000"/>
              </a:lnSpc>
              <a:spcBef>
                <a:spcPct val="20000"/>
              </a:spcBef>
              <a:spcAft>
                <a:spcPct val="0"/>
              </a:spcAft>
              <a:buClr>
                <a:srgbClr val="FF0000"/>
              </a:buClr>
              <a:buFont typeface="Wingdings" panose="05000000000000000000" pitchFamily="2" charset="2"/>
              <a:buChar char="Ø"/>
              <a:defRPr sz="2400">
                <a:solidFill>
                  <a:schemeClr val="tx1"/>
                </a:solidFill>
                <a:latin typeface="+mn-lt"/>
                <a:ea typeface="+mn-ea"/>
              </a:defRPr>
            </a:lvl3pPr>
            <a:lvl4pPr marL="1600200" indent="-228600" algn="l" rtl="0" eaLnBrk="0" fontAlgn="base" hangingPunct="0">
              <a:lnSpc>
                <a:spcPct val="120000"/>
              </a:lnSpc>
              <a:spcBef>
                <a:spcPct val="20000"/>
              </a:spcBef>
              <a:spcAft>
                <a:spcPct val="0"/>
              </a:spcAft>
              <a:buClr>
                <a:srgbClr val="FF0000"/>
              </a:buClr>
              <a:buFont typeface="Wingdings" panose="05000000000000000000" pitchFamily="2" charset="2"/>
              <a:buChar char="§"/>
              <a:defRPr sz="1600">
                <a:solidFill>
                  <a:schemeClr val="tx1"/>
                </a:solidFill>
                <a:latin typeface="+mn-lt"/>
                <a:ea typeface="+mn-ea"/>
              </a:defRPr>
            </a:lvl4pPr>
            <a:lvl5pPr marL="2057400" indent="-228600" algn="l" rtl="0" eaLnBrk="0" fontAlgn="base" hangingPunct="0">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5pPr>
            <a:lvl6pPr marL="25146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6pPr>
            <a:lvl7pPr marL="29718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7pPr>
            <a:lvl8pPr marL="34290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8pPr>
            <a:lvl9pPr marL="3886200" indent="-228600" algn="l" rtl="0" fontAlgn="base">
              <a:lnSpc>
                <a:spcPct val="120000"/>
              </a:lnSpc>
              <a:spcBef>
                <a:spcPct val="20000"/>
              </a:spcBef>
              <a:spcAft>
                <a:spcPct val="0"/>
              </a:spcAft>
              <a:buClr>
                <a:srgbClr val="FF0000"/>
              </a:buClr>
              <a:buFont typeface="Arial" panose="020B0604020202020204" pitchFamily="34" charset="0"/>
              <a:buChar char="-"/>
              <a:defRPr sz="1400">
                <a:solidFill>
                  <a:schemeClr val="tx1"/>
                </a:solidFill>
                <a:latin typeface="+mn-lt"/>
                <a:ea typeface="+mn-ea"/>
              </a:defRPr>
            </a:lvl9pPr>
          </a:lstStyle>
          <a:p>
            <a:pPr algn="ctr">
              <a:buFont typeface="Wingdings" panose="05000000000000000000" pitchFamily="2" charset="2"/>
              <a:buNone/>
            </a:pPr>
            <a:r>
              <a:rPr lang="zh-CN" altLang="en-US" sz="9600" kern="0"/>
              <a:t>谢谢！</a:t>
            </a:r>
            <a:endParaRPr lang="en-US" altLang="zh-CN" sz="9600" kern="0"/>
          </a:p>
        </p:txBody>
      </p:sp>
      <p:pic>
        <p:nvPicPr>
          <p:cNvPr id="4" name="Picture 2" descr="D:\PPT\新PPT样式\bg封底.jpg"/>
          <p:cNvPicPr>
            <a:picLocks noChangeAspect="1" noChangeArrowheads="1"/>
          </p:cNvPicPr>
          <p:nvPr/>
        </p:nvPicPr>
        <p:blipFill>
          <a:blip r:embed="rId3" cstate="print"/>
          <a:srcRect/>
          <a:stretch>
            <a:fillRect/>
          </a:stretch>
        </p:blipFill>
        <p:spPr bwMode="auto">
          <a:xfrm>
            <a:off x="0" y="0"/>
            <a:ext cx="9144000" cy="6858000"/>
          </a:xfrm>
          <a:prstGeom prst="rect">
            <a:avLst/>
          </a:prstGeom>
          <a:gradFill flip="none" rotWithShape="1">
            <a:gsLst>
              <a:gs pos="0">
                <a:schemeClr val="tx1">
                  <a:lumMod val="50000"/>
                  <a:lumOff val="50000"/>
                </a:schemeClr>
              </a:gs>
              <a:gs pos="50000">
                <a:schemeClr val="bg1">
                  <a:lumMod val="50000"/>
                  <a:shade val="67500"/>
                  <a:satMod val="115000"/>
                </a:schemeClr>
              </a:gs>
              <a:gs pos="100000">
                <a:schemeClr val="bg1">
                  <a:lumMod val="50000"/>
                  <a:shade val="100000"/>
                  <a:satMod val="115000"/>
                </a:schemeClr>
              </a:gs>
            </a:gsLst>
            <a:path path="circle">
              <a:fillToRect l="100000" t="100000"/>
            </a:path>
            <a:tileRect r="-100000" b="-100000"/>
          </a:gradFill>
          <a:ln w="9525">
            <a:noFill/>
            <a:miter lim="800000"/>
            <a:headEnd/>
            <a:tailEnd/>
          </a:ln>
        </p:spPr>
      </p:pic>
      <p:grpSp>
        <p:nvGrpSpPr>
          <p:cNvPr id="5" name="组合 4"/>
          <p:cNvGrpSpPr/>
          <p:nvPr/>
        </p:nvGrpSpPr>
        <p:grpSpPr>
          <a:xfrm>
            <a:off x="323528" y="3933056"/>
            <a:ext cx="8496950" cy="1728192"/>
            <a:chOff x="323528" y="3933056"/>
            <a:chExt cx="8496950" cy="1728192"/>
          </a:xfrm>
        </p:grpSpPr>
        <p:sp>
          <p:nvSpPr>
            <p:cNvPr id="7" name="任意多边形 6"/>
            <p:cNvSpPr/>
            <p:nvPr/>
          </p:nvSpPr>
          <p:spPr>
            <a:xfrm>
              <a:off x="323528" y="3933056"/>
              <a:ext cx="8496950" cy="1728192"/>
            </a:xfrm>
            <a:custGeom>
              <a:avLst/>
              <a:gdLst>
                <a:gd name="connsiteX0" fmla="*/ 7 w 6336704"/>
                <a:gd name="connsiteY0" fmla="*/ 660109 h 1728192"/>
                <a:gd name="connsiteX1" fmla="*/ 3168352 w 6336704"/>
                <a:gd name="connsiteY1" fmla="*/ 0 h 1728192"/>
                <a:gd name="connsiteX2" fmla="*/ 6336697 w 6336704"/>
                <a:gd name="connsiteY2" fmla="*/ 660109 h 1728192"/>
                <a:gd name="connsiteX3" fmla="*/ 5126503 w 6336704"/>
                <a:gd name="connsiteY3" fmla="*/ 1728186 h 1728192"/>
                <a:gd name="connsiteX4" fmla="*/ 1210201 w 6336704"/>
                <a:gd name="connsiteY4" fmla="*/ 1728186 h 1728192"/>
                <a:gd name="connsiteX5" fmla="*/ 7 w 6336704"/>
                <a:gd name="connsiteY5" fmla="*/ 660109 h 1728192"/>
                <a:gd name="connsiteX0-1" fmla="*/ 7 w 6336697"/>
                <a:gd name="connsiteY0-2" fmla="*/ 660109 h 1728192"/>
                <a:gd name="connsiteX1-3" fmla="*/ 3168352 w 6336697"/>
                <a:gd name="connsiteY1-4" fmla="*/ 0 h 1728192"/>
                <a:gd name="connsiteX2-5" fmla="*/ 6336697 w 6336697"/>
                <a:gd name="connsiteY2-6" fmla="*/ 660109 h 1728192"/>
                <a:gd name="connsiteX3-7" fmla="*/ 5126503 w 6336697"/>
                <a:gd name="connsiteY3-8" fmla="*/ 1728186 h 1728192"/>
                <a:gd name="connsiteX4-9" fmla="*/ 0 w 6336697"/>
                <a:gd name="connsiteY4-10" fmla="*/ 1728192 h 1728192"/>
                <a:gd name="connsiteX5-11" fmla="*/ 7 w 6336697"/>
                <a:gd name="connsiteY5-12" fmla="*/ 660109 h 1728192"/>
                <a:gd name="connsiteX0-13" fmla="*/ 7 w 6336697"/>
                <a:gd name="connsiteY0-14" fmla="*/ 156053 h 1224136"/>
                <a:gd name="connsiteX1-15" fmla="*/ 5544617 w 6336697"/>
                <a:gd name="connsiteY1-16" fmla="*/ 0 h 1224136"/>
                <a:gd name="connsiteX2-17" fmla="*/ 6336697 w 6336697"/>
                <a:gd name="connsiteY2-18" fmla="*/ 156053 h 1224136"/>
                <a:gd name="connsiteX3-19" fmla="*/ 5126503 w 6336697"/>
                <a:gd name="connsiteY3-20" fmla="*/ 1224130 h 1224136"/>
                <a:gd name="connsiteX4-21" fmla="*/ 0 w 6336697"/>
                <a:gd name="connsiteY4-22" fmla="*/ 1224136 h 1224136"/>
                <a:gd name="connsiteX5-23" fmla="*/ 7 w 6336697"/>
                <a:gd name="connsiteY5-24" fmla="*/ 156053 h 1224136"/>
                <a:gd name="connsiteX0-25" fmla="*/ 7 w 6336705"/>
                <a:gd name="connsiteY0-26" fmla="*/ 156053 h 1224136"/>
                <a:gd name="connsiteX1-27" fmla="*/ 5544617 w 6336705"/>
                <a:gd name="connsiteY1-28" fmla="*/ 0 h 1224136"/>
                <a:gd name="connsiteX2-29" fmla="*/ 6336697 w 6336705"/>
                <a:gd name="connsiteY2-30" fmla="*/ 156053 h 1224136"/>
                <a:gd name="connsiteX3-31" fmla="*/ 6336705 w 6336705"/>
                <a:gd name="connsiteY3-32" fmla="*/ 1224136 h 1224136"/>
                <a:gd name="connsiteX4-33" fmla="*/ 0 w 6336705"/>
                <a:gd name="connsiteY4-34" fmla="*/ 1224136 h 1224136"/>
                <a:gd name="connsiteX5-35" fmla="*/ 7 w 6336705"/>
                <a:gd name="connsiteY5-36" fmla="*/ 156053 h 1224136"/>
                <a:gd name="connsiteX0-37" fmla="*/ 7 w 6336708"/>
                <a:gd name="connsiteY0-38" fmla="*/ 156053 h 1224136"/>
                <a:gd name="connsiteX1-39" fmla="*/ 5544617 w 6336708"/>
                <a:gd name="connsiteY1-40" fmla="*/ 0 h 1224136"/>
                <a:gd name="connsiteX2-41" fmla="*/ 6336705 w 6336708"/>
                <a:gd name="connsiteY2-42" fmla="*/ 504056 h 1224136"/>
                <a:gd name="connsiteX3-43" fmla="*/ 6336705 w 6336708"/>
                <a:gd name="connsiteY3-44" fmla="*/ 1224136 h 1224136"/>
                <a:gd name="connsiteX4-45" fmla="*/ 0 w 6336708"/>
                <a:gd name="connsiteY4-46" fmla="*/ 1224136 h 1224136"/>
                <a:gd name="connsiteX5-47" fmla="*/ 7 w 6336708"/>
                <a:gd name="connsiteY5-48" fmla="*/ 156053 h 1224136"/>
                <a:gd name="connsiteX0-49" fmla="*/ 7 w 6336708"/>
                <a:gd name="connsiteY0-50" fmla="*/ 12037 h 1080120"/>
                <a:gd name="connsiteX1-51" fmla="*/ 5544616 w 6336708"/>
                <a:gd name="connsiteY1-52" fmla="*/ 0 h 1080120"/>
                <a:gd name="connsiteX2-53" fmla="*/ 6336705 w 6336708"/>
                <a:gd name="connsiteY2-54" fmla="*/ 360040 h 1080120"/>
                <a:gd name="connsiteX3-55" fmla="*/ 6336705 w 6336708"/>
                <a:gd name="connsiteY3-56" fmla="*/ 1080120 h 1080120"/>
                <a:gd name="connsiteX4-57" fmla="*/ 0 w 6336708"/>
                <a:gd name="connsiteY4-58" fmla="*/ 1080120 h 1080120"/>
                <a:gd name="connsiteX5-59" fmla="*/ 7 w 6336708"/>
                <a:gd name="connsiteY5-60" fmla="*/ 12037 h 1080120"/>
                <a:gd name="connsiteX0-61" fmla="*/ 7 w 7403286"/>
                <a:gd name="connsiteY0-62" fmla="*/ 12037 h 1080120"/>
                <a:gd name="connsiteX1-63" fmla="*/ 5544616 w 7403286"/>
                <a:gd name="connsiteY1-64" fmla="*/ 0 h 1080120"/>
                <a:gd name="connsiteX2-65" fmla="*/ 7403283 w 7403286"/>
                <a:gd name="connsiteY2-66" fmla="*/ 450050 h 1080120"/>
                <a:gd name="connsiteX3-67" fmla="*/ 6336705 w 7403286"/>
                <a:gd name="connsiteY3-68" fmla="*/ 1080120 h 1080120"/>
                <a:gd name="connsiteX4-69" fmla="*/ 0 w 7403286"/>
                <a:gd name="connsiteY4-70" fmla="*/ 1080120 h 1080120"/>
                <a:gd name="connsiteX5-71" fmla="*/ 7 w 7403286"/>
                <a:gd name="connsiteY5-72" fmla="*/ 12037 h 1080120"/>
                <a:gd name="connsiteX0-73" fmla="*/ 7 w 7403286"/>
                <a:gd name="connsiteY0-74" fmla="*/ 12037 h 1080120"/>
                <a:gd name="connsiteX1-75" fmla="*/ 5544616 w 7403286"/>
                <a:gd name="connsiteY1-76" fmla="*/ 0 h 1080120"/>
                <a:gd name="connsiteX2-77" fmla="*/ 7403283 w 7403286"/>
                <a:gd name="connsiteY2-78" fmla="*/ 450050 h 1080120"/>
                <a:gd name="connsiteX3-79" fmla="*/ 7403283 w 7403286"/>
                <a:gd name="connsiteY3-80" fmla="*/ 1080120 h 1080120"/>
                <a:gd name="connsiteX4-81" fmla="*/ 0 w 7403286"/>
                <a:gd name="connsiteY4-82" fmla="*/ 1080120 h 1080120"/>
                <a:gd name="connsiteX5-83" fmla="*/ 7 w 7403286"/>
                <a:gd name="connsiteY5-84" fmla="*/ 12037 h 1080120"/>
                <a:gd name="connsiteX0-85" fmla="*/ 7 w 7403286"/>
                <a:gd name="connsiteY0-86" fmla="*/ 12037 h 1080120"/>
                <a:gd name="connsiteX1-87" fmla="*/ 6713146 w 7403286"/>
                <a:gd name="connsiteY1-88" fmla="*/ 0 h 1080120"/>
                <a:gd name="connsiteX2-89" fmla="*/ 7403283 w 7403286"/>
                <a:gd name="connsiteY2-90" fmla="*/ 450050 h 1080120"/>
                <a:gd name="connsiteX3-91" fmla="*/ 7403283 w 7403286"/>
                <a:gd name="connsiteY3-92" fmla="*/ 1080120 h 1080120"/>
                <a:gd name="connsiteX4-93" fmla="*/ 0 w 7403286"/>
                <a:gd name="connsiteY4-94" fmla="*/ 1080120 h 1080120"/>
                <a:gd name="connsiteX5-95" fmla="*/ 7 w 7403286"/>
                <a:gd name="connsiteY5-96" fmla="*/ 12037 h 1080120"/>
                <a:gd name="connsiteX0-97" fmla="*/ 7 w 7403286"/>
                <a:gd name="connsiteY0-98" fmla="*/ 12037 h 1080120"/>
                <a:gd name="connsiteX1-99" fmla="*/ 6713146 w 7403286"/>
                <a:gd name="connsiteY1-100" fmla="*/ 0 h 1080120"/>
                <a:gd name="connsiteX2-101" fmla="*/ 7403283 w 7403286"/>
                <a:gd name="connsiteY2-102" fmla="*/ 450050 h 1080120"/>
                <a:gd name="connsiteX3-103" fmla="*/ 7403283 w 7403286"/>
                <a:gd name="connsiteY3-104" fmla="*/ 1080120 h 1080120"/>
                <a:gd name="connsiteX4-105" fmla="*/ 0 w 7403286"/>
                <a:gd name="connsiteY4-106" fmla="*/ 1080120 h 1080120"/>
                <a:gd name="connsiteX5-107" fmla="*/ 7 w 7403286"/>
                <a:gd name="connsiteY5-108" fmla="*/ 12037 h 1080120"/>
                <a:gd name="connsiteX0-109" fmla="*/ 7 w 7403286"/>
                <a:gd name="connsiteY0-110" fmla="*/ 12037 h 1080120"/>
                <a:gd name="connsiteX1-111" fmla="*/ 6713146 w 7403286"/>
                <a:gd name="connsiteY1-112" fmla="*/ 0 h 1080120"/>
                <a:gd name="connsiteX2-113" fmla="*/ 7403283 w 7403286"/>
                <a:gd name="connsiteY2-114" fmla="*/ 450050 h 1080120"/>
                <a:gd name="connsiteX3-115" fmla="*/ 7403283 w 7403286"/>
                <a:gd name="connsiteY3-116" fmla="*/ 1080120 h 1080120"/>
                <a:gd name="connsiteX4-117" fmla="*/ 0 w 7403286"/>
                <a:gd name="connsiteY4-118" fmla="*/ 1080120 h 1080120"/>
                <a:gd name="connsiteX5-119" fmla="*/ 7 w 7403286"/>
                <a:gd name="connsiteY5-120" fmla="*/ 12037 h 1080120"/>
                <a:gd name="connsiteX0-121" fmla="*/ 7 w 7403286"/>
                <a:gd name="connsiteY0-122" fmla="*/ 12037 h 1125125"/>
                <a:gd name="connsiteX1-123" fmla="*/ 6713146 w 7403286"/>
                <a:gd name="connsiteY1-124" fmla="*/ 0 h 1125125"/>
                <a:gd name="connsiteX2-125" fmla="*/ 7403283 w 7403286"/>
                <a:gd name="connsiteY2-126" fmla="*/ 450050 h 1125125"/>
                <a:gd name="connsiteX3-127" fmla="*/ 7403283 w 7403286"/>
                <a:gd name="connsiteY3-128" fmla="*/ 1080120 h 1125125"/>
                <a:gd name="connsiteX4-129" fmla="*/ 0 w 7403286"/>
                <a:gd name="connsiteY4-130" fmla="*/ 1125125 h 1125125"/>
                <a:gd name="connsiteX5-131" fmla="*/ 7 w 7403286"/>
                <a:gd name="connsiteY5-132" fmla="*/ 12037 h 1125125"/>
                <a:gd name="connsiteX0-133" fmla="*/ 7 w 7403286"/>
                <a:gd name="connsiteY0-134" fmla="*/ 12037 h 1080120"/>
                <a:gd name="connsiteX1-135" fmla="*/ 6713146 w 7403286"/>
                <a:gd name="connsiteY1-136" fmla="*/ 0 h 1080120"/>
                <a:gd name="connsiteX2-137" fmla="*/ 7403283 w 7403286"/>
                <a:gd name="connsiteY2-138" fmla="*/ 450050 h 1080120"/>
                <a:gd name="connsiteX3-139" fmla="*/ 7403283 w 7403286"/>
                <a:gd name="connsiteY3-140" fmla="*/ 1080120 h 1080120"/>
                <a:gd name="connsiteX4-141" fmla="*/ 0 w 7403286"/>
                <a:gd name="connsiteY4-142" fmla="*/ 1080120 h 1080120"/>
                <a:gd name="connsiteX5-143" fmla="*/ 7 w 7403286"/>
                <a:gd name="connsiteY5-144" fmla="*/ 12037 h 1080120"/>
                <a:gd name="connsiteX0-145" fmla="*/ 2 w 7403288"/>
                <a:gd name="connsiteY0-146" fmla="*/ 0 h 1080120"/>
                <a:gd name="connsiteX1-147" fmla="*/ 6713148 w 7403288"/>
                <a:gd name="connsiteY1-148" fmla="*/ 0 h 1080120"/>
                <a:gd name="connsiteX2-149" fmla="*/ 7403285 w 7403288"/>
                <a:gd name="connsiteY2-150" fmla="*/ 450050 h 1080120"/>
                <a:gd name="connsiteX3-151" fmla="*/ 7403285 w 7403288"/>
                <a:gd name="connsiteY3-152" fmla="*/ 1080120 h 1080120"/>
                <a:gd name="connsiteX4-153" fmla="*/ 2 w 7403288"/>
                <a:gd name="connsiteY4-154" fmla="*/ 1080120 h 1080120"/>
                <a:gd name="connsiteX5-155" fmla="*/ 2 w 7403288"/>
                <a:gd name="connsiteY5-156" fmla="*/ 0 h 108012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7403288" h="1080120">
                  <a:moveTo>
                    <a:pt x="2" y="0"/>
                  </a:moveTo>
                  <a:lnTo>
                    <a:pt x="6713148" y="0"/>
                  </a:lnTo>
                  <a:lnTo>
                    <a:pt x="7403285" y="450050"/>
                  </a:lnTo>
                  <a:cubicBezTo>
                    <a:pt x="7403288" y="806078"/>
                    <a:pt x="7403282" y="724092"/>
                    <a:pt x="7403285" y="1080120"/>
                  </a:cubicBezTo>
                  <a:lnTo>
                    <a:pt x="2" y="1080120"/>
                  </a:lnTo>
                  <a:cubicBezTo>
                    <a:pt x="4" y="724092"/>
                    <a:pt x="0" y="356028"/>
                    <a:pt x="2" y="0"/>
                  </a:cubicBezTo>
                  <a:close/>
                </a:path>
              </a:pathLst>
            </a:custGeom>
            <a:gradFill flip="none" rotWithShape="1">
              <a:gsLst>
                <a:gs pos="0">
                  <a:schemeClr val="tx1">
                    <a:lumMod val="50000"/>
                    <a:lumOff val="50000"/>
                  </a:schemeClr>
                </a:gs>
                <a:gs pos="50000">
                  <a:schemeClr val="bg1">
                    <a:lumMod val="50000"/>
                    <a:shade val="67500"/>
                    <a:satMod val="115000"/>
                  </a:schemeClr>
                </a:gs>
                <a:gs pos="100000">
                  <a:schemeClr val="bg1">
                    <a:lumMod val="50000"/>
                    <a:shade val="100000"/>
                    <a:satMod val="115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5000"/>
                </a:lnSpc>
                <a:spcAft>
                  <a:spcPts val="0"/>
                </a:spcAft>
              </a:pPr>
              <a:endParaRPr lang="zh-CN" altLang="en-US"/>
            </a:p>
          </p:txBody>
        </p:sp>
        <p:sp>
          <p:nvSpPr>
            <p:cNvPr id="8" name="TextBox 7"/>
            <p:cNvSpPr txBox="1"/>
            <p:nvPr/>
          </p:nvSpPr>
          <p:spPr>
            <a:xfrm>
              <a:off x="683568" y="4149080"/>
              <a:ext cx="4032448" cy="1308050"/>
            </a:xfrm>
            <a:prstGeom prst="rect">
              <a:avLst/>
            </a:prstGeom>
            <a:noFill/>
          </p:spPr>
          <p:txBody>
            <a:bodyPr wrap="square" rtlCol="0">
              <a:spAutoFit/>
            </a:bodyPr>
            <a:lstStyle/>
            <a:p>
              <a:pPr>
                <a:spcAft>
                  <a:spcPts val="600"/>
                </a:spcAft>
              </a:pPr>
              <a:r>
                <a:rPr lang="zh-CN" altLang="en-US" sz="1600" b="1">
                  <a:solidFill>
                    <a:schemeClr val="bg1">
                      <a:lumMod val="95000"/>
                    </a:schemeClr>
                  </a:solidFill>
                  <a:latin typeface="微软雅黑" panose="020B0503020204020204" pitchFamily="34" charset="-122"/>
                  <a:ea typeface="微软雅黑" panose="020B0503020204020204" pitchFamily="34" charset="-122"/>
                </a:rPr>
                <a:t>公司总部：杭州市滨江区阡陌路</a:t>
              </a:r>
              <a:r>
                <a:rPr lang="en-US" altLang="zh-CN" sz="1600" b="1">
                  <a:solidFill>
                    <a:schemeClr val="bg1">
                      <a:lumMod val="95000"/>
                    </a:schemeClr>
                  </a:solidFill>
                  <a:latin typeface="微软雅黑" panose="020B0503020204020204" pitchFamily="34" charset="-122"/>
                  <a:ea typeface="微软雅黑" panose="020B0503020204020204" pitchFamily="34" charset="-122"/>
                </a:rPr>
                <a:t>555</a:t>
              </a:r>
              <a:r>
                <a:rPr lang="zh-CN" altLang="en-US" sz="1600" b="1">
                  <a:solidFill>
                    <a:schemeClr val="bg1">
                      <a:lumMod val="95000"/>
                    </a:schemeClr>
                  </a:solidFill>
                  <a:latin typeface="微软雅黑" panose="020B0503020204020204" pitchFamily="34" charset="-122"/>
                  <a:ea typeface="微软雅黑" panose="020B0503020204020204" pitchFamily="34" charset="-122"/>
                </a:rPr>
                <a:t>号</a:t>
              </a:r>
              <a:endParaRPr lang="en-US" altLang="zh-CN" sz="1600" b="1">
                <a:solidFill>
                  <a:schemeClr val="bg1">
                    <a:lumMod val="95000"/>
                  </a:schemeClr>
                </a:solidFill>
                <a:latin typeface="微软雅黑" panose="020B0503020204020204" pitchFamily="34" charset="-122"/>
                <a:ea typeface="微软雅黑" panose="020B0503020204020204" pitchFamily="34" charset="-122"/>
              </a:endParaRPr>
            </a:p>
            <a:p>
              <a:pPr>
                <a:spcAft>
                  <a:spcPts val="600"/>
                </a:spcAft>
              </a:pPr>
              <a:r>
                <a:rPr lang="zh-CN" altLang="en-US" sz="1600" b="1">
                  <a:solidFill>
                    <a:schemeClr val="bg1">
                      <a:lumMod val="95000"/>
                    </a:schemeClr>
                  </a:solidFill>
                  <a:latin typeface="微软雅黑" panose="020B0503020204020204" pitchFamily="34" charset="-122"/>
                  <a:ea typeface="微软雅黑" panose="020B0503020204020204" pitchFamily="34" charset="-122"/>
                </a:rPr>
                <a:t>股票代码：</a:t>
              </a:r>
              <a:r>
                <a:rPr lang="en-US" altLang="zh-CN" sz="1600" b="1">
                  <a:solidFill>
                    <a:schemeClr val="bg1">
                      <a:lumMod val="95000"/>
                    </a:schemeClr>
                  </a:solidFill>
                  <a:latin typeface="微软雅黑" panose="020B0503020204020204" pitchFamily="34" charset="-122"/>
                  <a:ea typeface="微软雅黑" panose="020B0503020204020204" pitchFamily="34" charset="-122"/>
                </a:rPr>
                <a:t>002415</a:t>
              </a:r>
            </a:p>
            <a:p>
              <a:pPr>
                <a:spcAft>
                  <a:spcPts val="600"/>
                </a:spcAft>
              </a:pPr>
              <a:r>
                <a:rPr lang="zh-CN" altLang="en-US" sz="1600" b="1">
                  <a:solidFill>
                    <a:schemeClr val="bg1">
                      <a:lumMod val="95000"/>
                    </a:schemeClr>
                  </a:solidFill>
                  <a:latin typeface="微软雅黑" panose="020B0503020204020204" pitchFamily="34" charset="-122"/>
                  <a:ea typeface="微软雅黑" panose="020B0503020204020204" pitchFamily="34" charset="-122"/>
                </a:rPr>
                <a:t>客服电话：</a:t>
              </a:r>
              <a:r>
                <a:rPr lang="en-US" altLang="zh-CN" sz="1600" b="1">
                  <a:solidFill>
                    <a:schemeClr val="bg1">
                      <a:lumMod val="95000"/>
                    </a:schemeClr>
                  </a:solidFill>
                  <a:latin typeface="微软雅黑" panose="020B0503020204020204" pitchFamily="34" charset="-122"/>
                  <a:ea typeface="微软雅黑" panose="020B0503020204020204" pitchFamily="34" charset="-122"/>
                </a:rPr>
                <a:t>400-700-5998</a:t>
              </a:r>
            </a:p>
            <a:p>
              <a:pPr>
                <a:spcAft>
                  <a:spcPts val="600"/>
                </a:spcAft>
              </a:pPr>
              <a:r>
                <a:rPr lang="en-US" altLang="zh-CN" sz="1600" b="1">
                  <a:solidFill>
                    <a:schemeClr val="bg1">
                      <a:lumMod val="95000"/>
                    </a:schemeClr>
                  </a:solidFill>
                  <a:latin typeface="微软雅黑" panose="020B0503020204020204" pitchFamily="34" charset="-122"/>
                  <a:ea typeface="微软雅黑" panose="020B0503020204020204" pitchFamily="34" charset="-122"/>
                </a:rPr>
                <a:t>www.hikvision.com</a:t>
              </a:r>
              <a:endParaRPr lang="zh-CN" altLang="en-US" sz="1600" b="1">
                <a:solidFill>
                  <a:schemeClr val="bg1">
                    <a:lumMod val="95000"/>
                  </a:schemeClr>
                </a:solidFill>
                <a:latin typeface="微软雅黑" panose="020B0503020204020204" pitchFamily="34" charset="-122"/>
                <a:ea typeface="微软雅黑" panose="020B0503020204020204" pitchFamily="34" charset="-122"/>
              </a:endParaRPr>
            </a:p>
          </p:txBody>
        </p:sp>
      </p:grpSp>
      <p:sp>
        <p:nvSpPr>
          <p:cNvPr id="2" name="灯片编号占位符 1">
            <a:extLst>
              <a:ext uri="{FF2B5EF4-FFF2-40B4-BE49-F238E27FC236}">
                <a16:creationId xmlns:a16="http://schemas.microsoft.com/office/drawing/2014/main" id="{220DD1F3-D5D2-04F1-F587-3D5121EA7F5E}"/>
              </a:ext>
            </a:extLst>
          </p:cNvPr>
          <p:cNvSpPr>
            <a:spLocks noGrp="1"/>
          </p:cNvSpPr>
          <p:nvPr>
            <p:ph type="sldNum" sz="quarter" idx="12"/>
          </p:nvPr>
        </p:nvSpPr>
        <p:spPr/>
        <p:txBody>
          <a:bodyPr/>
          <a:lstStyle/>
          <a:p>
            <a:fld id="{03621AC1-4C4D-435F-BACF-B518BC126F02}" type="slidenum">
              <a:rPr lang="zh-CN" altLang="en-US" smtClean="0"/>
              <a:t>29</a:t>
            </a:fld>
            <a:endParaRPr lang="zh-CN" altLang="en-US"/>
          </a:p>
        </p:txBody>
      </p:sp>
    </p:spTree>
  </p:cSld>
  <p:clrMapOvr>
    <a:masterClrMapping/>
  </p:clrMapOvr>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TABLE_ENDDRAG_ORIGIN_RECT" val="664*115"/>
  <p:tag name="TABLE_ENDDRAG_RECT" val="35*385*664*115"/>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6.xml><?xml version="1.0" encoding="utf-8"?>
<p:tagLst xmlns:a="http://schemas.openxmlformats.org/drawingml/2006/main" xmlns:r="http://schemas.openxmlformats.org/officeDocument/2006/relationships" xmlns:p="http://schemas.openxmlformats.org/presentationml/2006/main">
  <p:tag name="TABLE_ENDDRAG_ORIGIN_RECT" val="584*97"/>
  <p:tag name="TABLE_ENDDRAG_RECT" val="35*403*584*97"/>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77.71976377952757,&quot;left&quot;:131.26622047244092,&quot;top&quot;:92.05259842519685,&quot;width&quot;:825.7899212598426}"/>
</p:tagLst>
</file>

<file path=ppt/theme/theme1.xml><?xml version="1.0" encoding="utf-8"?>
<a:theme xmlns:a="http://schemas.openxmlformats.org/drawingml/2006/main" name="04">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04">
      <a:majorFont>
        <a:latin typeface="Arial"/>
        <a:ea typeface="微软雅黑"/>
        <a:cs typeface=""/>
      </a:majorFont>
      <a:minorFont>
        <a:latin typeface="Arial"/>
        <a:ea typeface="微软雅黑"/>
        <a:cs typeface=""/>
      </a:minorFont>
    </a:fontScheme>
    <a:fmtScheme name="活力">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0800" dist="38100" dir="14700000" algn="t" rotWithShape="0">
              <a:srgbClr val="000000">
                <a:alpha val="60000"/>
              </a:srgbClr>
            </a:outerShdw>
          </a:effectLst>
          <a:scene3d>
            <a:camera prst="orthographicFront" fov="0">
              <a:rot lat="0" lon="0" rev="0"/>
            </a:camera>
            <a:lightRig rig="contrasting" dir="t">
              <a:rot lat="0" lon="0" rev="3600000"/>
            </a:lightRig>
          </a:scene3d>
          <a:sp3d prstMaterial="plastic">
            <a:bevelT w="127000" h="38200" prst="relaxedInset"/>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0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0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0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0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0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0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0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0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0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0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0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0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3705</TotalTime>
  <Words>6114</Words>
  <Application>Microsoft Office PowerPoint</Application>
  <PresentationFormat>全屏显示(4:3)</PresentationFormat>
  <Paragraphs>789</Paragraphs>
  <Slides>29</Slides>
  <Notes>29</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29</vt:i4>
      </vt:variant>
    </vt:vector>
  </HeadingPairs>
  <TitlesOfParts>
    <vt:vector size="38" baseType="lpstr">
      <vt:lpstr>黑体</vt:lpstr>
      <vt:lpstr>宋体</vt:lpstr>
      <vt:lpstr>Microsoft YaHei</vt:lpstr>
      <vt:lpstr>Microsoft YaHei</vt:lpstr>
      <vt:lpstr>Arial</vt:lpstr>
      <vt:lpstr>Calibri</vt:lpstr>
      <vt:lpstr>Times New Roman</vt:lpstr>
      <vt:lpstr>Wingdings</vt:lpstr>
      <vt:lpstr>04</vt:lpstr>
      <vt:lpstr>实习工作总结</vt:lpstr>
      <vt:lpstr>目录</vt:lpstr>
      <vt:lpstr>自我介绍</vt:lpstr>
      <vt:lpstr>目录</vt:lpstr>
      <vt:lpstr>实习任务一：Mlu平台算子优化与vllm优化</vt:lpstr>
      <vt:lpstr>实习任务一：Mlu平台算子优化与vllm优化</vt:lpstr>
      <vt:lpstr>实习任务一：Mlu平台算子优化与vllm优化</vt:lpstr>
      <vt:lpstr>实习任务一：Mlu平台算子优化与vllm优化</vt:lpstr>
      <vt:lpstr>实习任务一：Mlu平台算子优化与vllm优化</vt:lpstr>
      <vt:lpstr>实习任务一：Mlu平台算子优化与vllm优化</vt:lpstr>
      <vt:lpstr>实习任务一：Mlu平台算子优化与vllm优化</vt:lpstr>
      <vt:lpstr>实习任务一：Mlu平台算子优化与vllm优化</vt:lpstr>
      <vt:lpstr>目录</vt:lpstr>
      <vt:lpstr>实习任务二：寒武纪算子开发SKILL优化</vt:lpstr>
      <vt:lpstr>实习任务二：寒武纪算子开发SKILL优化</vt:lpstr>
      <vt:lpstr>实习任务二：寒武纪算子开发SKILL优化</vt:lpstr>
      <vt:lpstr>实习任务二：寒武纪算子开发SKILL优化</vt:lpstr>
      <vt:lpstr>PowerPoint 演示文稿</vt:lpstr>
      <vt:lpstr>实习任务二：寒武纪算子开发SKILL优化</vt:lpstr>
      <vt:lpstr>实习任务二：寒武纪算子开发SKILL优化</vt:lpstr>
      <vt:lpstr>实习任务二：寒武纪算子开发SKILL优化</vt:lpstr>
      <vt:lpstr>实习任务二：寒武纪算子开发SKILL优化</vt:lpstr>
      <vt:lpstr>目录</vt:lpstr>
      <vt:lpstr>PowerPoint 演示文稿</vt:lpstr>
      <vt:lpstr>PowerPoint 演示文稿</vt:lpstr>
      <vt:lpstr>PowerPoint 演示文稿</vt:lpstr>
      <vt:lpstr>PowerPoint 演示文稿</vt:lpstr>
      <vt:lpstr>实习期间工作总结和个人发展计划</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2015年供应链任职资格宣贯</dc:title>
  <dc:creator>俞璐3</dc:creator>
  <cp:lastModifiedBy>霍子昂</cp:lastModifiedBy>
  <cp:revision>967</cp:revision>
  <dcterms:created xsi:type="dcterms:W3CDTF">2015-03-26T10:14:00Z</dcterms:created>
  <dcterms:modified xsi:type="dcterms:W3CDTF">2026-09-23T07:44:38Z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KSORubyTemplateID">
    <vt:lpwstr>8</vt:lpwstr>
  </property>
  <property fmtid="{D5CDD505-2E9C-101B-9397-08002B2CF9AE}" pid="4" name="ICV">
    <vt:lpwstr>187AA265A4374DD1BC55CE0BB879D649_13</vt:lpwstr>
  </property>
</Properties>
</file>
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tags/tag8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9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2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355" r:id="rId4"/>
    <p:sldId id="347" r:id="rId5"/>
    <p:sldId id="331" r:id="rId6"/>
    <p:sldId id="349" r:id="rId7"/>
    <p:sldId id="350" r:id="rId8"/>
    <p:sldId id="351" r:id="rId9"/>
    <p:sldId id="339" r:id="rId10"/>
    <p:sldId id="336" r:id="rId11"/>
    <p:sldId id="352" r:id="rId12"/>
    <p:sldId id="338" r:id="rId13"/>
    <p:sldId id="346" r:id="rId14"/>
    <p:sldId id="309" r:id="rId15"/>
    <p:sldId id="310" r:id="rId16"/>
    <p:sldId id="315" r:id="rId17"/>
    <p:sldId id="313" r:id="rId18"/>
    <p:sldId id="354" r:id="rId19"/>
    <p:sldId id="341" r:id="rId20"/>
    <p:sldId id="319" r:id="rId21"/>
    <p:sldId id="342" r:id="rId22"/>
    <p:sldId id="326" r:id="rId23"/>
    <p:sldId id="345" r:id="rId24"/>
    <p:sldId id="353" r:id="rId25"/>
    <p:sldId id="323" r:id="rId26"/>
    <p:sldId id="324" r:id="rId27"/>
    <p:sldId id="325" r:id="rId28"/>
    <p:sldId id="340" r:id="rId29"/>
    <p:sldId id="285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4A4EE3E-A92F-4C5F-8B6C-4E1C00B88B07}">
          <p14:sldIdLst>
            <p14:sldId id="256"/>
            <p14:sldId id="257"/>
            <p14:sldId id="355"/>
            <p14:sldId id="347"/>
            <p14:sldId id="331"/>
            <p14:sldId id="349"/>
            <p14:sldId id="350"/>
            <p14:sldId id="351"/>
            <p14:sldId id="339"/>
            <p14:sldId id="336"/>
            <p14:sldId id="352"/>
            <p14:sldId id="338"/>
            <p14:sldId id="346"/>
            <p14:sldId id="309"/>
            <p14:sldId id="310"/>
            <p14:sldId id="315"/>
            <p14:sldId id="313"/>
            <p14:sldId id="354"/>
            <p14:sldId id="341"/>
            <p14:sldId id="319"/>
            <p14:sldId id="342"/>
            <p14:sldId id="326"/>
            <p14:sldId id="345"/>
            <p14:sldId id="353"/>
            <p14:sldId id="323"/>
            <p14:sldId id="324"/>
            <p14:sldId id="325"/>
            <p14:sldId id="340"/>
          </p14:sldIdLst>
        </p14:section>
        <p14:section name="无标题节" id="{37246721-A1E7-42EC-8ABD-C60CA6BBCE74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99" userDrawn="1">
          <p15:clr>
            <a:srgbClr val="A4A3A4"/>
          </p15:clr>
        </p15:guide>
        <p15:guide id="2" pos="2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000F"/>
    <a:srgbClr val="1C334E"/>
    <a:srgbClr val="6699FF"/>
    <a:srgbClr val="FFFFFF"/>
    <a:srgbClr val="CCFFFF"/>
    <a:srgbClr val="CCECFF"/>
    <a:srgbClr val="FF9933"/>
    <a:srgbClr val="00CC66"/>
    <a:srgbClr val="FF9900"/>
    <a:srgbClr val="D9D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8" autoAdjust="0"/>
    <p:restoredTop sz="78621" autoAdjust="0"/>
  </p:normalViewPr>
  <p:slideViewPr>
    <p:cSldViewPr showGuides="1">
      <p:cViewPr varScale="1">
        <p:scale>
          <a:sx n="81" d="100"/>
          <a:sy n="81" d="100"/>
        </p:scale>
        <p:origin x="102" y="282"/>
      </p:cViewPr>
      <p:guideLst>
        <p:guide orient="horz" pos="2199"/>
        <p:guide pos="28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性能</c:f>
              <c:strCache>
                <c:ptCount val="1"/>
                <c:pt idx="0">
                  <c:v>性能</c:v>
                </c:pt>
              </c:strCache>
            </c:strRef>
          </c:tx>
          <c:spPr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ABD-43E2-A97A-CDFAF89902A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BD-43E2-A97A-CDFAF89902A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BABD-43E2-A97A-CDFAF89902A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ABD-43E2-A97A-CDFAF89902AD}"/>
              </c:ext>
            </c:extLst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200" b="1" i="0" u="none" strike="noStrike" kern="120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defRPr>
                    </a:pPr>
                    <a:r>
                      <a:rPr lang="en-US" altLang="zh-CN" sz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12.6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BABD-43E2-A97A-CDFAF89902AD}"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2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92.6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BABD-43E2-A97A-CDFAF89902AD}"/>
                </c:ext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200" b="1" i="0" u="none" strike="noStrike" kern="120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defRPr>
                    </a:pPr>
                    <a:r>
                      <a:rPr lang="en-US" altLang="zh-CN" sz="12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150.8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BABD-43E2-A97A-CDFAF89902AD}"/>
                </c:ext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350" b="1" i="0" u="none" strike="noStrike" kern="1200" baseline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defRPr>
                    </a:pPr>
                    <a:r>
                      <a:rPr lang="en-US" altLang="zh-CN" sz="12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220.4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ABD-43E2-A97A-CDFAF89902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早期基线</c:v>
                </c:pt>
                <c:pt idx="1">
                  <c:v>Skill 版本</c:v>
                </c:pt>
                <c:pt idx="2">
                  <c:v>手写优化版</c:v>
                </c:pt>
                <c:pt idx="3">
                  <c:v>PyTorch (厂商)</c:v>
                </c:pt>
              </c:strCache>
            </c:strRef>
          </c:cat>
          <c:val>
            <c:numRef>
              <c:f>'Chart Data'!$B$2:$B$5</c:f>
              <c:numCache>
                <c:formatCode>0.##</c:formatCode>
                <c:ptCount val="4"/>
                <c:pt idx="0">
                  <c:v>12.6</c:v>
                </c:pt>
                <c:pt idx="1">
                  <c:v>92.6</c:v>
                </c:pt>
                <c:pt idx="2">
                  <c:v>150.80000000000001</c:v>
                </c:pt>
                <c:pt idx="3">
                  <c:v>220.4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BD-43E2-A97A-CDFAF89902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0"/>
          <c:min val="0"/>
        </c:scaling>
        <c:delete val="0"/>
        <c:axPos val="l"/>
        <c:majorGridlines>
          <c:spPr>
            <a:ln w="9525" cap="flat" cmpd="sng" algn="ctr">
              <a:solidFill>
                <a:srgbClr val="E5EDF7"/>
              </a:solidFill>
              <a:prstDash val="solid"/>
              <a:round/>
            </a:ln>
          </c:spPr>
        </c:majorGridlines>
        <c:numFmt formatCode="0.##" sourceLinked="1"/>
        <c:majorTickMark val="none"/>
        <c:minorTickMark val="none"/>
        <c:tickLblPos val="nextTo"/>
        <c:spPr>
          <a:ln w="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92e8392-fb0a-4671-a51f-e8c61a91ee6c}"/>
      </c:ext>
    </c:extLst>
  </c:chart>
  <c:spPr>
    <a:noFill/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LayerNorm</c:f>
              <c:strCache>
                <c:ptCount val="1"/>
                <c:pt idx="0">
                  <c:v>LayerNorm</c:v>
                </c:pt>
              </c:strCache>
            </c:strRef>
          </c:tx>
          <c:spPr>
            <a:solidFill>
              <a:srgbClr val="C4BD9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</c:v>
                </c:pt>
                <c:pt idx="1">
                  <c:v>3.5</c:v>
                </c:pt>
                <c:pt idx="2">
                  <c:v>0.8</c:v>
                </c:pt>
                <c:pt idx="3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BAD-40FC-857E-88439AD678E6}"/>
            </c:ext>
          </c:extLst>
        </c:ser>
        <c:ser>
          <c:idx val="1"/>
          <c:order val="1"/>
          <c:tx>
            <c:strRef>
              <c:f>Softmax</c:f>
              <c:strCache>
                <c:ptCount val="1"/>
                <c:pt idx="0">
                  <c:v>Softmax</c:v>
                </c:pt>
              </c:strCache>
            </c:strRef>
          </c:tx>
          <c:spPr>
            <a:solidFill>
              <a:srgbClr val="4F81B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1.2</c:v>
                </c:pt>
                <c:pt idx="1">
                  <c:v>3.2</c:v>
                </c:pt>
                <c:pt idx="2">
                  <c:v>1</c:v>
                </c:pt>
                <c:pt idx="3">
                  <c:v>0.9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BAD-40FC-857E-88439AD678E6}"/>
            </c:ext>
          </c:extLst>
        </c:ser>
        <c:ser>
          <c:idx val="2"/>
          <c:order val="2"/>
          <c:tx>
            <c:strRef>
              <c:f>MatMul</c:f>
              <c:strCache>
                <c:ptCount val="1"/>
                <c:pt idx="0">
                  <c:v>MatMul</c:v>
                </c:pt>
              </c:strCache>
            </c:strRef>
          </c:tx>
          <c:spPr>
            <a:solidFill>
              <a:srgbClr val="0D0D0D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40" b="0" i="0" u="none" strike="noStrike" kern="1200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 panose="020B0604020202020204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Data'!$E$2:$E$5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1.8</c:v>
                </c:pt>
                <c:pt idx="1">
                  <c:v>4</c:v>
                </c:pt>
                <c:pt idx="2">
                  <c:v>1.6</c:v>
                </c:pt>
                <c:pt idx="3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BAD-40FC-857E-88439AD678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65" b="0" i="0" u="none" strike="noStrike" kern="1200" baseline="0">
                <a:solidFill>
                  <a:srgbClr val="242424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5"/>
          <c:min val="0"/>
        </c:scaling>
        <c:delete val="0"/>
        <c:axPos val="l"/>
        <c:majorGridlines>
          <c:spPr>
            <a:ln w="4763" cap="flat" cmpd="sng" algn="ctr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75" b="0" i="0" u="none" strike="noStrike" kern="1200" baseline="0">
              <a:solidFill>
                <a:srgbClr val="242424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zero"/>
    <c:showDLblsOverMax val="1"/>
    <c:extLst>
      <c:ext uri="{0b15fc19-7d7d-44ad-8c2d-2c3a37ce22c3}">
        <chartProps xmlns="https://web.wps.cn/et/2018/main" chartId="{6aabcb56-5ddf-4d63-9750-b34d24ad7e42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/>
            <a:t>自我介绍</a:t>
          </a:r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/>
            <a:t>实习期间工作总结与个人发展计划</a:t>
          </a:r>
          <a:endParaRPr sz="1800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 dirty="0"/>
            <a:t>实习期间的工作①</a:t>
          </a:r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实习期间的工作②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实习期间的工作③</a:t>
          </a:r>
          <a:endParaRPr sz="2000" b="1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 dirty="0"/>
            <a:t>实习期间的工作①</a:t>
          </a:r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实习期间的工作②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实习期间的工作③</a:t>
          </a:r>
          <a:endParaRPr sz="2000" b="1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 dirty="0"/>
            <a:t>实习期间的工作①</a:t>
          </a:r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实习期间的工作②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实习期间的工作③</a:t>
          </a:r>
          <a:endParaRPr sz="2000" b="1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/>
            <a:t>自我介绍</a:t>
          </a:r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/>
            <a:t>实习期间工作总结与个人发展计划</a:t>
          </a:r>
          <a:endParaRPr sz="1800" kern="1200" dirty="0"/>
        </a:p>
      </dsp:txBody>
      <dsp:txXfrm>
        <a:off x="349472" y="2879962"/>
        <a:ext cx="4177856" cy="825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实习期间的工作①</a:t>
          </a:r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实习期间的工作②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实习期间的工作③</a:t>
          </a:r>
          <a:endParaRPr sz="2000" b="1" kern="1200" dirty="0"/>
        </a:p>
      </dsp:txBody>
      <dsp:txXfrm>
        <a:off x="349472" y="2879962"/>
        <a:ext cx="4177856" cy="8257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实习期间的工作①</a:t>
          </a:r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实习期间的工作②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实习期间的工作③</a:t>
          </a:r>
          <a:endParaRPr sz="2000" b="1" kern="1200" dirty="0"/>
        </a:p>
      </dsp:txBody>
      <dsp:txXfrm>
        <a:off x="349472" y="2879962"/>
        <a:ext cx="4177856" cy="8257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实习期间的工作①</a:t>
          </a:r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实习期间的工作②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实习期间的工作③</a:t>
          </a:r>
          <a:endParaRPr sz="2000" b="1" kern="1200" dirty="0"/>
        </a:p>
      </dsp:txBody>
      <dsp:txXfrm>
        <a:off x="349472" y="2879962"/>
        <a:ext cx="4177856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4FED9-3A6F-41BA-8FF6-39438EA9BD03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C9F5-C5B3-4F9C-AB2F-06E1DBE394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28CE1-A9CD-4F41-A4DB-3C7991DDFF33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  <a:t>1</a:t>
            </a:fld>
            <a:endParaRPr lang="en-US" altLang="zh-CN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033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863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7050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690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2306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0035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7965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617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13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497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>
                <a:solidFill>
                  <a:srgbClr val="242424"/>
                </a:solidFill>
                <a:latin typeface="Arial"/>
                <a:ea typeface="Arial"/>
                <a:cs typeface="Arial"/>
              </a:rPr>
              <a:t>通过阶段拆分，多 Agent 协作，完整验证流程保障稳定交付。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6754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45237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63826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23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5547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算子的开发流程具有通用性，但是由于</a:t>
            </a:r>
          </a:p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硬件架构的差异和原</a:t>
            </a:r>
            <a:r>
              <a:rPr lang="en-US" altLang="zh-CN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skill</a:t>
            </a: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流程与</a:t>
            </a:r>
          </a:p>
          <a:p>
            <a:pPr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各种专属信息相互耦合，无法简单修改复用。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71820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第一阶段明确目标平台（GPU、MLU、Ascend或其他</a:t>
            </a:r>
            <a:r>
              <a:rPr dirty="0"/>
              <a:t>）、</a:t>
            </a:r>
            <a:r>
              <a:rPr dirty="0" err="1"/>
              <a:t>编程后端（Triton、CUDA</a:t>
            </a:r>
            <a:r>
              <a:rPr dirty="0"/>
              <a:t> C、BANG </a:t>
            </a:r>
            <a:r>
              <a:rPr dirty="0" err="1"/>
              <a:t>C、Ascend</a:t>
            </a:r>
            <a:r>
              <a:rPr dirty="0"/>
              <a:t> </a:t>
            </a:r>
            <a:r>
              <a:rPr dirty="0" err="1"/>
              <a:t>C等</a:t>
            </a:r>
            <a:r>
              <a:rPr dirty="0"/>
              <a:t>）、环境版本及算子需求。精度示例为FP16、BF16、FP32，性能指标为相对基线或绝对值。第二阶段复用已验证的方法，不重新设计流程。第三阶段补齐可执行机制：执行阶段生成Kernel/Test/Script，经编译、运行、精度、性能Gate检查，PASS进入下一阶段，FAIL进入自动或人工Retry，也可Fallback；保留Artifact并利用Cache加速迭代。第四阶段按规范封装为&lt;platform&gt;-operator V0。第五阶段依次检查L1基础能力、L2平台行为、L3典型算子，并输出测试结果与问题清单。第六阶段根据结果持续优化，形成稳定、可恢复、可复用且工程规范完善的Skill。后续扩展算子类型、Shape、精度、平台及社区分享。验证失败时分别定位Workflow、Platform </a:t>
            </a:r>
            <a:r>
              <a:rPr dirty="0" err="1"/>
              <a:t>Knowledge、Optimization问题，修改流程、补充平台知识、完善优化规则后重新测试，直至满足要求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/MatMul）：MLU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/MatMul）：MLU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60674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29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87788" y="981075"/>
            <a:ext cx="39243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4213" y="4437063"/>
            <a:ext cx="7415212" cy="792162"/>
          </a:xfrm>
        </p:spPr>
        <p:txBody>
          <a:bodyPr/>
          <a:lstStyle>
            <a:lvl1pPr algn="ctr">
              <a:defRPr sz="2400">
                <a:latin typeface="黑体" panose="02010609060101010101" pitchFamily="2" charset="-122"/>
              </a:defRPr>
            </a:lvl1pPr>
          </a:lstStyle>
          <a:p>
            <a:r>
              <a:rPr lang="zh-CN" altLang="en-US"/>
              <a:t>海康威视</a:t>
            </a:r>
            <a:r>
              <a:rPr lang="en-US" altLang="zh-CN"/>
              <a:t>-</a:t>
            </a:r>
            <a:r>
              <a:rPr lang="zh-CN" altLang="en-US"/>
              <a:t>致力于人人轻松享有安全的品质生活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58888" y="5373688"/>
            <a:ext cx="6192837" cy="6477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500">
                <a:solidFill>
                  <a:srgbClr val="FF0000"/>
                </a:solidFill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提示：此为企业简介素材稿，实际使用时，务必根据受众进行修改！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23FC-8156-43F9-8D53-A85EF7664CDB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638" y="1125538"/>
            <a:ext cx="8418512" cy="503976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A1B9-4E6D-43F0-BB1F-BDFC26FE77FD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29EAC0-EE8D-413D-A21B-0D2A72478F42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F1968E-894F-4211-B0BF-63EE4DA3F7B9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A7CA4D-2171-408E-A939-F36EE516B6A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9DD1D4-B7E5-4098-8F5C-EB7642E9FDE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5AE5E8-78B1-4C3B-BC84-D093E810BF5A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0483DA-DF80-4B08-ACB7-D0B629795B5C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1915-0E22-43AE-BDDF-AED20E46C431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960EE9-FF42-4359-8489-CF7EF7090110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C52341-E375-4B05-82D0-BA6978ED3076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9" descr="内页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7A1EF-842F-4A72-983F-63E0B489E96B}" type="datetime1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chart" Target="../charts/chart1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>
          <a:xfrm>
            <a:off x="792460" y="4509046"/>
            <a:ext cx="7415213" cy="792162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latin typeface="+mn-ea"/>
                <a:ea typeface="+mn-ea"/>
              </a:rPr>
              <a:t>实习工作总结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099" name="副标题 4"/>
          <p:cNvSpPr>
            <a:spLocks noGrp="1"/>
          </p:cNvSpPr>
          <p:nvPr>
            <p:ph type="subTitle" idx="1"/>
          </p:nvPr>
        </p:nvSpPr>
        <p:spPr>
          <a:xfrm>
            <a:off x="1403648" y="5445596"/>
            <a:ext cx="6192837" cy="647700"/>
          </a:xfrm>
        </p:spPr>
        <p:txBody>
          <a:bodyPr/>
          <a:lstStyle/>
          <a:p>
            <a:pPr>
              <a:defRPr/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霍子昂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2026/09/23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7" name="图示 6"/>
          <p:cNvGraphicFramePr/>
          <p:nvPr/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4" name="圆角矩形 11">
            <a:extLst>
              <a:ext uri="{FF2B5EF4-FFF2-40B4-BE49-F238E27FC236}">
                <a16:creationId xmlns:a16="http://schemas.microsoft.com/office/drawing/2014/main" id="{DA896F4A-0068-D103-72AA-7FA67378030C}"/>
              </a:ext>
            </a:extLst>
          </p:cNvPr>
          <p:cNvSpPr/>
          <p:nvPr/>
        </p:nvSpPr>
        <p:spPr bwMode="auto">
          <a:xfrm>
            <a:off x="251520" y="1268760"/>
            <a:ext cx="8640960" cy="4753999"/>
          </a:xfrm>
          <a:prstGeom prst="roundRect">
            <a:avLst>
              <a:gd name="adj" fmla="val 2523"/>
            </a:avLst>
          </a:prstGeom>
          <a:solidFill>
            <a:srgbClr val="FFFFFF"/>
          </a:solidFill>
          <a:ln w="1905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A167FD64-DFF6-F181-6F80-BEDAD53ACF49}"/>
              </a:ext>
            </a:extLst>
          </p:cNvPr>
          <p:cNvSpPr txBox="1"/>
          <p:nvPr/>
        </p:nvSpPr>
        <p:spPr>
          <a:xfrm>
            <a:off x="2350039" y="1628800"/>
            <a:ext cx="2808312" cy="1800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姓名：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霍子昂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学历：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硕士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专业：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仪器科学与技术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毕业院校：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西安电子科技大学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B0DFD4E-5312-6920-A7D6-840480AF0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484784"/>
            <a:ext cx="1666471" cy="1944216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A333532B-19AC-9AC1-1D89-BA139EAD511B}"/>
              </a:ext>
            </a:extLst>
          </p:cNvPr>
          <p:cNvSpPr txBox="1"/>
          <p:nvPr/>
        </p:nvSpPr>
        <p:spPr>
          <a:xfrm>
            <a:off x="5158352" y="1628800"/>
            <a:ext cx="3590112" cy="18001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实习信息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实习部门：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智能计算平台部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\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并行计算平台组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\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并行计算平台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实习岗位：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加速算子开发工程师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实习时间：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日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至今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40A51E59-2B0E-FF4B-C877-4BB47CB72D61}"/>
              </a:ext>
            </a:extLst>
          </p:cNvPr>
          <p:cNvSpPr txBox="1"/>
          <p:nvPr/>
        </p:nvSpPr>
        <p:spPr>
          <a:xfrm>
            <a:off x="395288" y="3620045"/>
            <a:ext cx="8353176" cy="12990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工作内容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进行基础算子开发与模型推理简单优化；进行寒武纪算子开发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的优化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一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个开发算子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的开发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方案。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26CDB2B1-F96C-95D0-C4D0-0DFAD5739A98}"/>
              </a:ext>
            </a:extLst>
          </p:cNvPr>
          <p:cNvSpPr txBox="1"/>
          <p:nvPr/>
        </p:nvSpPr>
        <p:spPr>
          <a:xfrm>
            <a:off x="395288" y="4723673"/>
            <a:ext cx="8353176" cy="12990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工作进展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得到许多了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和同事在技术方案、问题定位、工作方法等方面的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指导；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完成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算子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架构优化与动态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Shape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算子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开发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优化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；根据算子开发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</a:rPr>
              <a:t>skill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的开发方案进行了多平台算子开发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</a:rPr>
              <a:t>skill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的设计。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798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7" name="图示 6"/>
          <p:cNvGraphicFramePr/>
          <p:nvPr/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75551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实习任务一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1305661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算子优化</a:t>
            </a:r>
            <a:endParaRPr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4"/>
          <a:srcRect l="5443" t="24548" r="85167" b="60680"/>
          <a:stretch>
            <a:fillRect/>
          </a:stretch>
        </p:blipFill>
        <p:spPr>
          <a:xfrm>
            <a:off x="1089261" y="2592493"/>
            <a:ext cx="1787721" cy="1583068"/>
          </a:xfrm>
          <a:prstGeom prst="rect">
            <a:avLst/>
          </a:prstGeom>
        </p:spPr>
      </p:pic>
      <p:sp>
        <p:nvSpPr>
          <p:cNvPr id="31" name="s2-obj20"/>
          <p:cNvSpPr>
            <a:spLocks noGrp="1"/>
          </p:cNvSpPr>
          <p:nvPr/>
        </p:nvSpPr>
        <p:spPr>
          <a:xfrm>
            <a:off x="5416048" y="2142391"/>
            <a:ext cx="1819778" cy="428281"/>
          </a:xfrm>
          <a:prstGeom prst="roundRect">
            <a:avLst>
              <a:gd name="adj" fmla="val 15686"/>
            </a:avLst>
          </a:prstGeom>
          <a:noFill/>
          <a:ln w="9525">
            <a:solidFill>
              <a:srgbClr val="002060"/>
            </a:solidFill>
          </a:ln>
        </p:spPr>
      </p:sp>
      <p:sp>
        <p:nvSpPr>
          <p:cNvPr id="32" name="s2-obj21"/>
          <p:cNvSpPr>
            <a:spLocks noGrp="1"/>
          </p:cNvSpPr>
          <p:nvPr/>
        </p:nvSpPr>
        <p:spPr>
          <a:xfrm>
            <a:off x="5430632" y="2143324"/>
            <a:ext cx="1819777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GDRAM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(80GB)</a:t>
            </a:r>
          </a:p>
        </p:txBody>
      </p:sp>
      <p:sp>
        <p:nvSpPr>
          <p:cNvPr id="37" name="s2-obj26"/>
          <p:cNvSpPr>
            <a:spLocks noGrp="1"/>
          </p:cNvSpPr>
          <p:nvPr/>
        </p:nvSpPr>
        <p:spPr>
          <a:xfrm>
            <a:off x="6520767" y="2562562"/>
            <a:ext cx="648072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IO-DMA</a:t>
            </a:r>
          </a:p>
        </p:txBody>
      </p:sp>
      <p:graphicFrame>
        <p:nvGraphicFramePr>
          <p:cNvPr id="63" name="表格 6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3573452"/>
              </p:ext>
            </p:extLst>
          </p:nvPr>
        </p:nvGraphicFramePr>
        <p:xfrm>
          <a:off x="1023403" y="5259580"/>
          <a:ext cx="694396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传输带宽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GDRAM-&gt;SRAM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SRAM-&gt;NRAM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SRAM-&gt;WRAM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性能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1.83TB/s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699GB/s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668GB/s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计算单元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TFU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add/</a:t>
                      </a:r>
                      <a:r>
                        <a:rPr lang="en-US" altLang="zh-CN" sz="1200" dirty="0" err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</a:t>
                      </a:r>
                      <a:endParaRPr lang="en-US" altLang="zh-CN" sz="1200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性能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6.76TFLOPS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96GOPS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58GOPS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矩形 37"/>
          <p:cNvSpPr/>
          <p:nvPr/>
        </p:nvSpPr>
        <p:spPr>
          <a:xfrm>
            <a:off x="535263" y="1799789"/>
            <a:ext cx="28023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MLU+triton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64399" y="4767423"/>
            <a:ext cx="12939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Times New Roman" panose="02020603050405020304" pitchFamily="18" charset="0"/>
              </a:rPr>
              <a:t>实测性能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019786" y="1799789"/>
            <a:ext cx="14991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Times New Roman" panose="02020603050405020304" pitchFamily="18" charset="0"/>
              </a:rPr>
              <a:t>存储架构：</a:t>
            </a: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s2-obj20">
            <a:extLst>
              <a:ext uri="{FF2B5EF4-FFF2-40B4-BE49-F238E27FC236}">
                <a16:creationId xmlns:a16="http://schemas.microsoft.com/office/drawing/2014/main" id="{E0FB5F9D-605F-B74E-4F0C-A0293E6254BD}"/>
              </a:ext>
            </a:extLst>
          </p:cNvPr>
          <p:cNvSpPr>
            <a:spLocks noGrp="1"/>
          </p:cNvSpPr>
          <p:nvPr/>
        </p:nvSpPr>
        <p:spPr>
          <a:xfrm>
            <a:off x="5416048" y="2825314"/>
            <a:ext cx="1819778" cy="428281"/>
          </a:xfrm>
          <a:prstGeom prst="roundRect">
            <a:avLst>
              <a:gd name="adj" fmla="val 15686"/>
            </a:avLst>
          </a:prstGeom>
          <a:noFill/>
          <a:ln w="9525">
            <a:solidFill>
              <a:srgbClr val="002060"/>
            </a:solidFill>
          </a:ln>
        </p:spPr>
      </p:sp>
      <p:sp>
        <p:nvSpPr>
          <p:cNvPr id="4" name="s2-obj21">
            <a:extLst>
              <a:ext uri="{FF2B5EF4-FFF2-40B4-BE49-F238E27FC236}">
                <a16:creationId xmlns:a16="http://schemas.microsoft.com/office/drawing/2014/main" id="{62212806-46BB-D687-88FC-6716B1F511BE}"/>
              </a:ext>
            </a:extLst>
          </p:cNvPr>
          <p:cNvSpPr>
            <a:spLocks noGrp="1"/>
          </p:cNvSpPr>
          <p:nvPr/>
        </p:nvSpPr>
        <p:spPr>
          <a:xfrm>
            <a:off x="5416049" y="2814975"/>
            <a:ext cx="1819777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Cluster SRAM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 MiB / Cluster)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180B66C-BA0C-36CC-195F-E7684255543A}"/>
              </a:ext>
            </a:extLst>
          </p:cNvPr>
          <p:cNvCxnSpPr>
            <a:stCxn id="31" idx="2"/>
            <a:endCxn id="4" idx="0"/>
          </p:cNvCxnSpPr>
          <p:nvPr/>
        </p:nvCxnSpPr>
        <p:spPr>
          <a:xfrm>
            <a:off x="6325937" y="2570672"/>
            <a:ext cx="1" cy="244303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2-obj20">
            <a:extLst>
              <a:ext uri="{FF2B5EF4-FFF2-40B4-BE49-F238E27FC236}">
                <a16:creationId xmlns:a16="http://schemas.microsoft.com/office/drawing/2014/main" id="{1F4F21F4-1AC0-BD63-3E27-3A4BF433DF99}"/>
              </a:ext>
            </a:extLst>
          </p:cNvPr>
          <p:cNvSpPr>
            <a:spLocks noGrp="1"/>
          </p:cNvSpPr>
          <p:nvPr/>
        </p:nvSpPr>
        <p:spPr>
          <a:xfrm>
            <a:off x="5007962" y="3579286"/>
            <a:ext cx="1184406" cy="428281"/>
          </a:xfrm>
          <a:prstGeom prst="roundRect">
            <a:avLst>
              <a:gd name="adj" fmla="val 15686"/>
            </a:avLst>
          </a:prstGeom>
          <a:noFill/>
          <a:ln w="9525">
            <a:solidFill>
              <a:srgbClr val="002060"/>
            </a:solidFill>
          </a:ln>
        </p:spPr>
      </p:sp>
      <p:sp>
        <p:nvSpPr>
          <p:cNvPr id="8" name="s2-obj21">
            <a:extLst>
              <a:ext uri="{FF2B5EF4-FFF2-40B4-BE49-F238E27FC236}">
                <a16:creationId xmlns:a16="http://schemas.microsoft.com/office/drawing/2014/main" id="{741AC722-3A41-6861-6289-2F08360ED1E3}"/>
              </a:ext>
            </a:extLst>
          </p:cNvPr>
          <p:cNvSpPr>
            <a:spLocks noGrp="1"/>
          </p:cNvSpPr>
          <p:nvPr/>
        </p:nvSpPr>
        <p:spPr>
          <a:xfrm>
            <a:off x="4994563" y="3566007"/>
            <a:ext cx="1211204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NRAM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(512 KiB / Core)</a:t>
            </a:r>
          </a:p>
        </p:txBody>
      </p:sp>
      <p:sp>
        <p:nvSpPr>
          <p:cNvPr id="9" name="s2-obj20">
            <a:extLst>
              <a:ext uri="{FF2B5EF4-FFF2-40B4-BE49-F238E27FC236}">
                <a16:creationId xmlns:a16="http://schemas.microsoft.com/office/drawing/2014/main" id="{50371339-5BD9-FDC6-48D4-017B0B42E1E4}"/>
              </a:ext>
            </a:extLst>
          </p:cNvPr>
          <p:cNvSpPr>
            <a:spLocks noGrp="1"/>
          </p:cNvSpPr>
          <p:nvPr/>
        </p:nvSpPr>
        <p:spPr>
          <a:xfrm>
            <a:off x="6522230" y="3579250"/>
            <a:ext cx="1184406" cy="428281"/>
          </a:xfrm>
          <a:prstGeom prst="roundRect">
            <a:avLst>
              <a:gd name="adj" fmla="val 15686"/>
            </a:avLst>
          </a:prstGeom>
          <a:noFill/>
          <a:ln w="9525">
            <a:solidFill>
              <a:srgbClr val="002060"/>
            </a:solidFill>
          </a:ln>
        </p:spPr>
      </p:sp>
      <p:sp>
        <p:nvSpPr>
          <p:cNvPr id="10" name="s2-obj21">
            <a:extLst>
              <a:ext uri="{FF2B5EF4-FFF2-40B4-BE49-F238E27FC236}">
                <a16:creationId xmlns:a16="http://schemas.microsoft.com/office/drawing/2014/main" id="{9B026721-2D81-7BB7-0399-82E0B624B811}"/>
              </a:ext>
            </a:extLst>
          </p:cNvPr>
          <p:cNvSpPr>
            <a:spLocks noGrp="1"/>
          </p:cNvSpPr>
          <p:nvPr/>
        </p:nvSpPr>
        <p:spPr>
          <a:xfrm>
            <a:off x="6508831" y="3565971"/>
            <a:ext cx="1211204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WRAM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(512 KiB / Core)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6AE6D97-68FB-E487-415E-32140E43142D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600165" y="3253595"/>
            <a:ext cx="0" cy="31241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B4F67DC-214A-D641-9363-D9CF76547166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7114433" y="3250309"/>
            <a:ext cx="0" cy="31566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2-obj20">
            <a:extLst>
              <a:ext uri="{FF2B5EF4-FFF2-40B4-BE49-F238E27FC236}">
                <a16:creationId xmlns:a16="http://schemas.microsoft.com/office/drawing/2014/main" id="{3EF89145-9300-EADE-9A0A-3455F655C1B1}"/>
              </a:ext>
            </a:extLst>
          </p:cNvPr>
          <p:cNvSpPr>
            <a:spLocks noGrp="1"/>
          </p:cNvSpPr>
          <p:nvPr/>
        </p:nvSpPr>
        <p:spPr>
          <a:xfrm>
            <a:off x="5416047" y="4315054"/>
            <a:ext cx="1819778" cy="347688"/>
          </a:xfrm>
          <a:prstGeom prst="roundRect">
            <a:avLst>
              <a:gd name="adj" fmla="val 15686"/>
            </a:avLst>
          </a:prstGeom>
          <a:noFill/>
          <a:ln w="9525">
            <a:solidFill>
              <a:srgbClr val="002060"/>
            </a:solidFill>
          </a:ln>
        </p:spPr>
      </p:sp>
      <p:sp>
        <p:nvSpPr>
          <p:cNvPr id="20" name="s2-obj21">
            <a:extLst>
              <a:ext uri="{FF2B5EF4-FFF2-40B4-BE49-F238E27FC236}">
                <a16:creationId xmlns:a16="http://schemas.microsoft.com/office/drawing/2014/main" id="{1BF8A020-2EB4-9822-3F59-A326BBFF7F1C}"/>
              </a:ext>
            </a:extLst>
          </p:cNvPr>
          <p:cNvSpPr>
            <a:spLocks noGrp="1"/>
          </p:cNvSpPr>
          <p:nvPr/>
        </p:nvSpPr>
        <p:spPr>
          <a:xfrm>
            <a:off x="5416048" y="4304714"/>
            <a:ext cx="1819777" cy="3580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TFU / 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计算单元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E4F4B99-CDCB-62E4-2807-A40563BAB8F1}"/>
              </a:ext>
            </a:extLst>
          </p:cNvPr>
          <p:cNvCxnSpPr>
            <a:cxnSpLocks/>
          </p:cNvCxnSpPr>
          <p:nvPr/>
        </p:nvCxnSpPr>
        <p:spPr>
          <a:xfrm flipV="1">
            <a:off x="5600814" y="4002641"/>
            <a:ext cx="0" cy="31241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2B5F525-99CE-FAF0-4642-77BC6F14358A}"/>
              </a:ext>
            </a:extLst>
          </p:cNvPr>
          <p:cNvCxnSpPr>
            <a:cxnSpLocks/>
          </p:cNvCxnSpPr>
          <p:nvPr/>
        </p:nvCxnSpPr>
        <p:spPr>
          <a:xfrm flipV="1">
            <a:off x="7115082" y="3999355"/>
            <a:ext cx="0" cy="315662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1737709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算子优化方式</a:t>
            </a:r>
            <a:endParaRPr sz="20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B41CD613-0062-B166-B047-2EF0F1CE3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33375"/>
            <a:ext cx="6840537" cy="503238"/>
          </a:xfrm>
        </p:spPr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实习任务一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42FBC4-5985-CD3A-FDD5-88BC9AD936B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9512" y="3270727"/>
            <a:ext cx="5616624" cy="303859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C3DD22-14F9-B0B2-6396-E2DEC4BF3933}"/>
              </a:ext>
            </a:extLst>
          </p:cNvPr>
          <p:cNvSpPr/>
          <p:nvPr/>
        </p:nvSpPr>
        <p:spPr>
          <a:xfrm>
            <a:off x="1928091" y="3078158"/>
            <a:ext cx="1944514" cy="40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例：二级缓存优化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E7B036-C860-7323-B545-B8B09143B83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940152" y="2081725"/>
            <a:ext cx="2808312" cy="422759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0A4B5B7-DFC4-AA6E-6BBB-10AF086C4B1D}"/>
              </a:ext>
            </a:extLst>
          </p:cNvPr>
          <p:cNvSpPr/>
          <p:nvPr/>
        </p:nvSpPr>
        <p:spPr>
          <a:xfrm>
            <a:off x="6372051" y="1888027"/>
            <a:ext cx="1944514" cy="40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其他优化方式</a:t>
            </a:r>
          </a:p>
        </p:txBody>
      </p:sp>
      <p:sp>
        <p:nvSpPr>
          <p:cNvPr id="35" name="s2-obj88">
            <a:extLst>
              <a:ext uri="{FF2B5EF4-FFF2-40B4-BE49-F238E27FC236}">
                <a16:creationId xmlns:a16="http://schemas.microsoft.com/office/drawing/2014/main" id="{9D656A7E-790C-2445-54B0-B7FB0F550E42}"/>
              </a:ext>
            </a:extLst>
          </p:cNvPr>
          <p:cNvSpPr>
            <a:spLocks noGrp="1"/>
          </p:cNvSpPr>
          <p:nvPr/>
        </p:nvSpPr>
        <p:spPr>
          <a:xfrm>
            <a:off x="395288" y="3515296"/>
            <a:ext cx="5200650" cy="2356886"/>
          </a:xfrm>
          <a:prstGeom prst="roundRect">
            <a:avLst>
              <a:gd name="adj" fmla="val 4520"/>
            </a:avLst>
          </a:prstGeom>
          <a:gradFill>
            <a:gsLst>
              <a:gs pos="0">
                <a:srgbClr val="F3F8FE"/>
              </a:gs>
              <a:gs pos="100000">
                <a:srgbClr val="FAFCFF"/>
              </a:gs>
            </a:gsLst>
            <a:lin ang="5400000"/>
          </a:gradFill>
          <a:ln w="0">
            <a:noFill/>
          </a:ln>
        </p:spPr>
      </p:sp>
      <p:sp>
        <p:nvSpPr>
          <p:cNvPr id="37" name="s2-obj91">
            <a:extLst>
              <a:ext uri="{FF2B5EF4-FFF2-40B4-BE49-F238E27FC236}">
                <a16:creationId xmlns:a16="http://schemas.microsoft.com/office/drawing/2014/main" id="{66B458E5-3E2E-B7FF-B7B0-1EC384870714}"/>
              </a:ext>
            </a:extLst>
          </p:cNvPr>
          <p:cNvSpPr>
            <a:spLocks noGrp="1"/>
          </p:cNvSpPr>
          <p:nvPr/>
        </p:nvSpPr>
        <p:spPr>
          <a:xfrm>
            <a:off x="549908" y="3661762"/>
            <a:ext cx="1357796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ST1: </a:t>
            </a:r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串行执行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s2-obj92">
            <a:extLst>
              <a:ext uri="{FF2B5EF4-FFF2-40B4-BE49-F238E27FC236}">
                <a16:creationId xmlns:a16="http://schemas.microsoft.com/office/drawing/2014/main" id="{83CF50B0-BD47-A7D0-0BBB-24C8939635A6}"/>
              </a:ext>
            </a:extLst>
          </p:cNvPr>
          <p:cNvSpPr>
            <a:spLocks noGrp="1"/>
          </p:cNvSpPr>
          <p:nvPr/>
        </p:nvSpPr>
        <p:spPr>
          <a:xfrm>
            <a:off x="544826" y="4645256"/>
            <a:ext cx="1938942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ST2: </a:t>
            </a:r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双缓冲（重叠</a:t>
            </a: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40" name="s2-obj93">
            <a:extLst>
              <a:ext uri="{FF2B5EF4-FFF2-40B4-BE49-F238E27FC236}">
                <a16:creationId xmlns:a16="http://schemas.microsoft.com/office/drawing/2014/main" id="{7B69BC3B-BD0F-D0C6-2E93-19B9574B0753}"/>
              </a:ext>
            </a:extLst>
          </p:cNvPr>
          <p:cNvSpPr>
            <a:spLocks noGrp="1"/>
          </p:cNvSpPr>
          <p:nvPr/>
        </p:nvSpPr>
        <p:spPr>
          <a:xfrm>
            <a:off x="1236860" y="4069459"/>
            <a:ext cx="958627" cy="276225"/>
          </a:xfrm>
          <a:prstGeom prst="roundRect">
            <a:avLst>
              <a:gd name="adj" fmla="val 27586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</p:sp>
      <p:sp>
        <p:nvSpPr>
          <p:cNvPr id="41" name="s2-obj94">
            <a:extLst>
              <a:ext uri="{FF2B5EF4-FFF2-40B4-BE49-F238E27FC236}">
                <a16:creationId xmlns:a16="http://schemas.microsoft.com/office/drawing/2014/main" id="{377BAAD5-5699-94BC-810B-08999170F030}"/>
              </a:ext>
            </a:extLst>
          </p:cNvPr>
          <p:cNvSpPr>
            <a:spLocks noGrp="1"/>
          </p:cNvSpPr>
          <p:nvPr/>
        </p:nvSpPr>
        <p:spPr>
          <a:xfrm>
            <a:off x="1284354" y="4098034"/>
            <a:ext cx="834933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</a:t>
            </a:r>
          </a:p>
        </p:txBody>
      </p:sp>
      <p:sp>
        <p:nvSpPr>
          <p:cNvPr id="42" name="s2-obj95">
            <a:extLst>
              <a:ext uri="{FF2B5EF4-FFF2-40B4-BE49-F238E27FC236}">
                <a16:creationId xmlns:a16="http://schemas.microsoft.com/office/drawing/2014/main" id="{AF36AA0B-15B4-EA37-C4F6-60CDBF4734C1}"/>
              </a:ext>
            </a:extLst>
          </p:cNvPr>
          <p:cNvSpPr>
            <a:spLocks noGrp="1"/>
          </p:cNvSpPr>
          <p:nvPr/>
        </p:nvSpPr>
        <p:spPr>
          <a:xfrm>
            <a:off x="2195487" y="4069459"/>
            <a:ext cx="958627" cy="276225"/>
          </a:xfrm>
          <a:prstGeom prst="roundRect">
            <a:avLst>
              <a:gd name="adj" fmla="val 27586"/>
            </a:avLst>
          </a:prstGeom>
          <a:solidFill>
            <a:schemeClr val="accent3">
              <a:lumMod val="40000"/>
              <a:lumOff val="60000"/>
            </a:schemeClr>
          </a:solidFill>
          <a:ln w="0">
            <a:noFill/>
          </a:ln>
        </p:spPr>
      </p:sp>
      <p:sp>
        <p:nvSpPr>
          <p:cNvPr id="43" name="s2-obj96">
            <a:extLst>
              <a:ext uri="{FF2B5EF4-FFF2-40B4-BE49-F238E27FC236}">
                <a16:creationId xmlns:a16="http://schemas.microsoft.com/office/drawing/2014/main" id="{976772CD-577A-EE99-3881-5916B3B8C2C3}"/>
              </a:ext>
            </a:extLst>
          </p:cNvPr>
          <p:cNvSpPr>
            <a:spLocks noGrp="1"/>
          </p:cNvSpPr>
          <p:nvPr/>
        </p:nvSpPr>
        <p:spPr>
          <a:xfrm>
            <a:off x="2242981" y="4098034"/>
            <a:ext cx="834933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Compute</a:t>
            </a:r>
          </a:p>
        </p:txBody>
      </p:sp>
      <p:sp>
        <p:nvSpPr>
          <p:cNvPr id="44" name="s2-obj97">
            <a:extLst>
              <a:ext uri="{FF2B5EF4-FFF2-40B4-BE49-F238E27FC236}">
                <a16:creationId xmlns:a16="http://schemas.microsoft.com/office/drawing/2014/main" id="{625478D2-A0B7-88D5-53A6-FB902049E1DD}"/>
              </a:ext>
            </a:extLst>
          </p:cNvPr>
          <p:cNvSpPr>
            <a:spLocks noGrp="1"/>
          </p:cNvSpPr>
          <p:nvPr/>
        </p:nvSpPr>
        <p:spPr>
          <a:xfrm>
            <a:off x="3141513" y="4069459"/>
            <a:ext cx="958627" cy="276225"/>
          </a:xfrm>
          <a:prstGeom prst="roundRect">
            <a:avLst>
              <a:gd name="adj" fmla="val 27586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</p:sp>
      <p:sp>
        <p:nvSpPr>
          <p:cNvPr id="45" name="s2-obj98">
            <a:extLst>
              <a:ext uri="{FF2B5EF4-FFF2-40B4-BE49-F238E27FC236}">
                <a16:creationId xmlns:a16="http://schemas.microsoft.com/office/drawing/2014/main" id="{340F64E8-7F74-C390-5253-52B882F933DF}"/>
              </a:ext>
            </a:extLst>
          </p:cNvPr>
          <p:cNvSpPr>
            <a:spLocks noGrp="1"/>
          </p:cNvSpPr>
          <p:nvPr/>
        </p:nvSpPr>
        <p:spPr>
          <a:xfrm>
            <a:off x="3189007" y="4098034"/>
            <a:ext cx="834933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</a:t>
            </a:r>
          </a:p>
        </p:txBody>
      </p:sp>
      <p:sp>
        <p:nvSpPr>
          <p:cNvPr id="52" name="s2-obj99">
            <a:extLst>
              <a:ext uri="{FF2B5EF4-FFF2-40B4-BE49-F238E27FC236}">
                <a16:creationId xmlns:a16="http://schemas.microsoft.com/office/drawing/2014/main" id="{0D3A35AE-32C8-CA7C-89D6-CE943FDEDA6F}"/>
              </a:ext>
            </a:extLst>
          </p:cNvPr>
          <p:cNvSpPr>
            <a:spLocks noGrp="1"/>
          </p:cNvSpPr>
          <p:nvPr/>
        </p:nvSpPr>
        <p:spPr>
          <a:xfrm>
            <a:off x="4091657" y="4069459"/>
            <a:ext cx="958627" cy="276225"/>
          </a:xfrm>
          <a:prstGeom prst="roundRect">
            <a:avLst>
              <a:gd name="adj" fmla="val 27586"/>
            </a:avLst>
          </a:prstGeom>
          <a:solidFill>
            <a:schemeClr val="accent3">
              <a:lumMod val="40000"/>
              <a:lumOff val="60000"/>
            </a:schemeClr>
          </a:solidFill>
          <a:ln w="0">
            <a:noFill/>
          </a:ln>
        </p:spPr>
      </p:sp>
      <p:sp>
        <p:nvSpPr>
          <p:cNvPr id="53" name="s2-obj100">
            <a:extLst>
              <a:ext uri="{FF2B5EF4-FFF2-40B4-BE49-F238E27FC236}">
                <a16:creationId xmlns:a16="http://schemas.microsoft.com/office/drawing/2014/main" id="{D6A78F79-BC24-E29A-3EB5-4D0ECD140AE3}"/>
              </a:ext>
            </a:extLst>
          </p:cNvPr>
          <p:cNvSpPr>
            <a:spLocks noGrp="1"/>
          </p:cNvSpPr>
          <p:nvPr/>
        </p:nvSpPr>
        <p:spPr>
          <a:xfrm>
            <a:off x="4139151" y="4098034"/>
            <a:ext cx="834933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Compute</a:t>
            </a:r>
          </a:p>
        </p:txBody>
      </p:sp>
      <p:sp>
        <p:nvSpPr>
          <p:cNvPr id="63" name="s2-obj104">
            <a:extLst>
              <a:ext uri="{FF2B5EF4-FFF2-40B4-BE49-F238E27FC236}">
                <a16:creationId xmlns:a16="http://schemas.microsoft.com/office/drawing/2014/main" id="{133502BC-3318-25B7-B327-1D6754DCC872}"/>
              </a:ext>
            </a:extLst>
          </p:cNvPr>
          <p:cNvSpPr>
            <a:spLocks noGrp="1"/>
          </p:cNvSpPr>
          <p:nvPr/>
        </p:nvSpPr>
        <p:spPr>
          <a:xfrm>
            <a:off x="1239688" y="5053551"/>
            <a:ext cx="957600" cy="266700"/>
          </a:xfrm>
          <a:prstGeom prst="roundRect">
            <a:avLst>
              <a:gd name="adj" fmla="val 28571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</p:sp>
      <p:sp>
        <p:nvSpPr>
          <p:cNvPr id="66" name="s2-obj105">
            <a:extLst>
              <a:ext uri="{FF2B5EF4-FFF2-40B4-BE49-F238E27FC236}">
                <a16:creationId xmlns:a16="http://schemas.microsoft.com/office/drawing/2014/main" id="{0BDC2B9F-DB4A-5D92-E789-1E7410D40839}"/>
              </a:ext>
            </a:extLst>
          </p:cNvPr>
          <p:cNvSpPr>
            <a:spLocks noGrp="1"/>
          </p:cNvSpPr>
          <p:nvPr/>
        </p:nvSpPr>
        <p:spPr>
          <a:xfrm>
            <a:off x="1278451" y="5082126"/>
            <a:ext cx="955632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 0</a:t>
            </a:r>
          </a:p>
        </p:txBody>
      </p:sp>
      <p:sp>
        <p:nvSpPr>
          <p:cNvPr id="69" name="s2-obj108">
            <a:extLst>
              <a:ext uri="{FF2B5EF4-FFF2-40B4-BE49-F238E27FC236}">
                <a16:creationId xmlns:a16="http://schemas.microsoft.com/office/drawing/2014/main" id="{F7724CE9-21BD-C562-835C-C67ACE3C0FC7}"/>
              </a:ext>
            </a:extLst>
          </p:cNvPr>
          <p:cNvSpPr>
            <a:spLocks noGrp="1"/>
          </p:cNvSpPr>
          <p:nvPr/>
        </p:nvSpPr>
        <p:spPr>
          <a:xfrm>
            <a:off x="2204217" y="5317407"/>
            <a:ext cx="957600" cy="266700"/>
          </a:xfrm>
          <a:prstGeom prst="roundRect">
            <a:avLst>
              <a:gd name="adj" fmla="val 28571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</p:sp>
      <p:sp>
        <p:nvSpPr>
          <p:cNvPr id="70" name="s2-obj109">
            <a:extLst>
              <a:ext uri="{FF2B5EF4-FFF2-40B4-BE49-F238E27FC236}">
                <a16:creationId xmlns:a16="http://schemas.microsoft.com/office/drawing/2014/main" id="{D16788B6-322C-AEFC-D69F-6F407507C924}"/>
              </a:ext>
            </a:extLst>
          </p:cNvPr>
          <p:cNvSpPr>
            <a:spLocks noGrp="1"/>
          </p:cNvSpPr>
          <p:nvPr/>
        </p:nvSpPr>
        <p:spPr>
          <a:xfrm>
            <a:off x="2242981" y="5345982"/>
            <a:ext cx="90533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 1</a:t>
            </a:r>
          </a:p>
        </p:txBody>
      </p:sp>
      <p:sp>
        <p:nvSpPr>
          <p:cNvPr id="71" name="s2-obj110">
            <a:extLst>
              <a:ext uri="{FF2B5EF4-FFF2-40B4-BE49-F238E27FC236}">
                <a16:creationId xmlns:a16="http://schemas.microsoft.com/office/drawing/2014/main" id="{7F516D7B-E113-9657-1ABB-E15A0F0CB5E1}"/>
              </a:ext>
            </a:extLst>
          </p:cNvPr>
          <p:cNvSpPr>
            <a:spLocks noGrp="1"/>
          </p:cNvSpPr>
          <p:nvPr/>
        </p:nvSpPr>
        <p:spPr>
          <a:xfrm>
            <a:off x="3565307" y="5322540"/>
            <a:ext cx="1373151" cy="266700"/>
          </a:xfrm>
          <a:prstGeom prst="roundRect">
            <a:avLst>
              <a:gd name="adj" fmla="val 28571"/>
            </a:avLst>
          </a:prstGeom>
          <a:solidFill>
            <a:schemeClr val="accent3">
              <a:lumMod val="40000"/>
              <a:lumOff val="60000"/>
            </a:schemeClr>
          </a:solidFill>
          <a:ln w="0">
            <a:noFill/>
          </a:ln>
        </p:spPr>
      </p:sp>
      <p:sp>
        <p:nvSpPr>
          <p:cNvPr id="72" name="s2-obj111">
            <a:extLst>
              <a:ext uri="{FF2B5EF4-FFF2-40B4-BE49-F238E27FC236}">
                <a16:creationId xmlns:a16="http://schemas.microsoft.com/office/drawing/2014/main" id="{BCB4F41D-E2B7-127B-35E3-DFBA5404E2E0}"/>
              </a:ext>
            </a:extLst>
          </p:cNvPr>
          <p:cNvSpPr>
            <a:spLocks noGrp="1"/>
          </p:cNvSpPr>
          <p:nvPr/>
        </p:nvSpPr>
        <p:spPr>
          <a:xfrm>
            <a:off x="3565309" y="5343906"/>
            <a:ext cx="1373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Compute 1</a:t>
            </a:r>
          </a:p>
        </p:txBody>
      </p:sp>
      <p:sp>
        <p:nvSpPr>
          <p:cNvPr id="73" name="s2-obj108">
            <a:extLst>
              <a:ext uri="{FF2B5EF4-FFF2-40B4-BE49-F238E27FC236}">
                <a16:creationId xmlns:a16="http://schemas.microsoft.com/office/drawing/2014/main" id="{433318DB-F650-49D0-2224-A787A5B43DA1}"/>
              </a:ext>
            </a:extLst>
          </p:cNvPr>
          <p:cNvSpPr>
            <a:spLocks noGrp="1"/>
          </p:cNvSpPr>
          <p:nvPr/>
        </p:nvSpPr>
        <p:spPr>
          <a:xfrm>
            <a:off x="3565977" y="5055474"/>
            <a:ext cx="957600" cy="266700"/>
          </a:xfrm>
          <a:prstGeom prst="roundRect">
            <a:avLst>
              <a:gd name="adj" fmla="val 28571"/>
            </a:avLst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</p:sp>
      <p:sp>
        <p:nvSpPr>
          <p:cNvPr id="74" name="s2-obj109">
            <a:extLst>
              <a:ext uri="{FF2B5EF4-FFF2-40B4-BE49-F238E27FC236}">
                <a16:creationId xmlns:a16="http://schemas.microsoft.com/office/drawing/2014/main" id="{54EEC8A1-913D-B8E1-7C8D-22BFCAC16C36}"/>
              </a:ext>
            </a:extLst>
          </p:cNvPr>
          <p:cNvSpPr>
            <a:spLocks noGrp="1"/>
          </p:cNvSpPr>
          <p:nvPr/>
        </p:nvSpPr>
        <p:spPr>
          <a:xfrm>
            <a:off x="3604741" y="5084049"/>
            <a:ext cx="90533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Load </a:t>
            </a:r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" name="s2-obj110">
            <a:extLst>
              <a:ext uri="{FF2B5EF4-FFF2-40B4-BE49-F238E27FC236}">
                <a16:creationId xmlns:a16="http://schemas.microsoft.com/office/drawing/2014/main" id="{234D2E64-6EB2-6FC6-FBA7-FC124919A69C}"/>
              </a:ext>
            </a:extLst>
          </p:cNvPr>
          <p:cNvSpPr>
            <a:spLocks noGrp="1"/>
          </p:cNvSpPr>
          <p:nvPr/>
        </p:nvSpPr>
        <p:spPr>
          <a:xfrm>
            <a:off x="2197288" y="5052921"/>
            <a:ext cx="1373151" cy="266700"/>
          </a:xfrm>
          <a:prstGeom prst="roundRect">
            <a:avLst>
              <a:gd name="adj" fmla="val 28571"/>
            </a:avLst>
          </a:prstGeom>
          <a:solidFill>
            <a:schemeClr val="accent3">
              <a:lumMod val="40000"/>
              <a:lumOff val="60000"/>
            </a:schemeClr>
          </a:solidFill>
          <a:ln w="0">
            <a:noFill/>
          </a:ln>
        </p:spPr>
      </p:sp>
      <p:sp>
        <p:nvSpPr>
          <p:cNvPr id="76" name="s2-obj111">
            <a:extLst>
              <a:ext uri="{FF2B5EF4-FFF2-40B4-BE49-F238E27FC236}">
                <a16:creationId xmlns:a16="http://schemas.microsoft.com/office/drawing/2014/main" id="{13621C31-2D02-1FD7-694A-78D8B0FEE76F}"/>
              </a:ext>
            </a:extLst>
          </p:cNvPr>
          <p:cNvSpPr>
            <a:spLocks noGrp="1"/>
          </p:cNvSpPr>
          <p:nvPr/>
        </p:nvSpPr>
        <p:spPr>
          <a:xfrm>
            <a:off x="2197290" y="5074287"/>
            <a:ext cx="1373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Compute 1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7C593BF-DF3F-973D-8B84-4E32FEB8F3AD}"/>
              </a:ext>
            </a:extLst>
          </p:cNvPr>
          <p:cNvSpPr txBox="1"/>
          <p:nvPr/>
        </p:nvSpPr>
        <p:spPr>
          <a:xfrm>
            <a:off x="731816" y="2259334"/>
            <a:ext cx="48001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根据硬件性能与算子的实际性能对比分析算子是访存瓶颈还是计算</a:t>
            </a:r>
            <a:r>
              <a:rPr lang="zh-CN" altLang="en-US" sz="1400" dirty="0" smtClean="0"/>
              <a:t>瓶颈，然后进行优化。</a:t>
            </a:r>
            <a:endParaRPr lang="zh-CN" altLang="en-US" sz="1400" dirty="0"/>
          </a:p>
        </p:txBody>
      </p:sp>
      <p:sp>
        <p:nvSpPr>
          <p:cNvPr id="94" name="s2-obj21">
            <a:extLst>
              <a:ext uri="{FF2B5EF4-FFF2-40B4-BE49-F238E27FC236}">
                <a16:creationId xmlns:a16="http://schemas.microsoft.com/office/drawing/2014/main" id="{D7DEEB7E-7EEF-73CF-0F24-537138F1EFC3}"/>
              </a:ext>
            </a:extLst>
          </p:cNvPr>
          <p:cNvSpPr>
            <a:spLocks noGrp="1"/>
          </p:cNvSpPr>
          <p:nvPr/>
        </p:nvSpPr>
        <p:spPr>
          <a:xfrm>
            <a:off x="6525652" y="2818673"/>
            <a:ext cx="1643944" cy="4520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iling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分块策略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" name="s2-obj20">
            <a:extLst>
              <a:ext uri="{FF2B5EF4-FFF2-40B4-BE49-F238E27FC236}">
                <a16:creationId xmlns:a16="http://schemas.microsoft.com/office/drawing/2014/main" id="{1BC0A7F9-DC94-7F22-1487-242EA4730A18}"/>
              </a:ext>
            </a:extLst>
          </p:cNvPr>
          <p:cNvSpPr>
            <a:spLocks noGrp="1"/>
          </p:cNvSpPr>
          <p:nvPr/>
        </p:nvSpPr>
        <p:spPr>
          <a:xfrm>
            <a:off x="6529686" y="2818672"/>
            <a:ext cx="1639909" cy="475483"/>
          </a:xfrm>
          <a:prstGeom prst="roundRect">
            <a:avLst>
              <a:gd name="adj" fmla="val 8248"/>
            </a:avLst>
          </a:prstGeom>
          <a:noFill/>
          <a:ln w="9525">
            <a:solidFill>
              <a:srgbClr val="002060"/>
            </a:solidFill>
          </a:ln>
        </p:spPr>
      </p:sp>
      <p:sp>
        <p:nvSpPr>
          <p:cNvPr id="96" name="s2-obj21">
            <a:extLst>
              <a:ext uri="{FF2B5EF4-FFF2-40B4-BE49-F238E27FC236}">
                <a16:creationId xmlns:a16="http://schemas.microsoft.com/office/drawing/2014/main" id="{B723BEAF-9FCF-AC3A-6555-6E843B65529B}"/>
              </a:ext>
            </a:extLst>
          </p:cNvPr>
          <p:cNvSpPr>
            <a:spLocks noGrp="1"/>
          </p:cNvSpPr>
          <p:nvPr/>
        </p:nvSpPr>
        <p:spPr>
          <a:xfrm>
            <a:off x="6521460" y="3610314"/>
            <a:ext cx="1643944" cy="4520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Reduction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归约优化</a:t>
            </a:r>
          </a:p>
        </p:txBody>
      </p:sp>
      <p:sp>
        <p:nvSpPr>
          <p:cNvPr id="97" name="s2-obj20">
            <a:extLst>
              <a:ext uri="{FF2B5EF4-FFF2-40B4-BE49-F238E27FC236}">
                <a16:creationId xmlns:a16="http://schemas.microsoft.com/office/drawing/2014/main" id="{20EB6085-8BEF-A29B-005B-3C1F391B09D4}"/>
              </a:ext>
            </a:extLst>
          </p:cNvPr>
          <p:cNvSpPr>
            <a:spLocks noGrp="1"/>
          </p:cNvSpPr>
          <p:nvPr/>
        </p:nvSpPr>
        <p:spPr>
          <a:xfrm>
            <a:off x="6525494" y="3610313"/>
            <a:ext cx="1639909" cy="475483"/>
          </a:xfrm>
          <a:prstGeom prst="roundRect">
            <a:avLst>
              <a:gd name="adj" fmla="val 8248"/>
            </a:avLst>
          </a:prstGeom>
          <a:noFill/>
          <a:ln w="9525">
            <a:solidFill>
              <a:srgbClr val="002060"/>
            </a:solidFill>
          </a:ln>
        </p:spPr>
      </p:sp>
      <p:sp>
        <p:nvSpPr>
          <p:cNvPr id="98" name="s2-obj21">
            <a:extLst>
              <a:ext uri="{FF2B5EF4-FFF2-40B4-BE49-F238E27FC236}">
                <a16:creationId xmlns:a16="http://schemas.microsoft.com/office/drawing/2014/main" id="{5E0EE420-9D28-255A-B793-6443DB6E5E22}"/>
              </a:ext>
            </a:extLst>
          </p:cNvPr>
          <p:cNvSpPr>
            <a:spLocks noGrp="1"/>
          </p:cNvSpPr>
          <p:nvPr/>
        </p:nvSpPr>
        <p:spPr>
          <a:xfrm>
            <a:off x="6516416" y="4401955"/>
            <a:ext cx="1643944" cy="4520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Grid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并行策略</a:t>
            </a:r>
          </a:p>
        </p:txBody>
      </p:sp>
      <p:sp>
        <p:nvSpPr>
          <p:cNvPr id="99" name="s2-obj20">
            <a:extLst>
              <a:ext uri="{FF2B5EF4-FFF2-40B4-BE49-F238E27FC236}">
                <a16:creationId xmlns:a16="http://schemas.microsoft.com/office/drawing/2014/main" id="{8A82912A-E603-C49A-DE1D-AE2AA0040420}"/>
              </a:ext>
            </a:extLst>
          </p:cNvPr>
          <p:cNvSpPr>
            <a:spLocks noGrp="1"/>
          </p:cNvSpPr>
          <p:nvPr/>
        </p:nvSpPr>
        <p:spPr>
          <a:xfrm>
            <a:off x="6520450" y="4401954"/>
            <a:ext cx="1639909" cy="475483"/>
          </a:xfrm>
          <a:prstGeom prst="roundRect">
            <a:avLst>
              <a:gd name="adj" fmla="val 8248"/>
            </a:avLst>
          </a:prstGeom>
          <a:noFill/>
          <a:ln w="9525">
            <a:solidFill>
              <a:srgbClr val="002060"/>
            </a:solidFill>
          </a:ln>
        </p:spPr>
      </p:sp>
      <p:sp>
        <p:nvSpPr>
          <p:cNvPr id="100" name="s2-obj21">
            <a:extLst>
              <a:ext uri="{FF2B5EF4-FFF2-40B4-BE49-F238E27FC236}">
                <a16:creationId xmlns:a16="http://schemas.microsoft.com/office/drawing/2014/main" id="{A2058F22-87CD-917D-CA3C-BCC8BBB79D3F}"/>
              </a:ext>
            </a:extLst>
          </p:cNvPr>
          <p:cNvSpPr>
            <a:spLocks noGrp="1"/>
          </p:cNvSpPr>
          <p:nvPr/>
        </p:nvSpPr>
        <p:spPr>
          <a:xfrm>
            <a:off x="6512382" y="5217025"/>
            <a:ext cx="1643944" cy="4520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Roofline</a:t>
            </a:r>
          </a:p>
          <a:p>
            <a:pPr algn="ctr">
              <a:defRPr sz="1385" b="1">
                <a:solidFill>
                  <a:srgbClr val="102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分析瓶颈</a:t>
            </a:r>
          </a:p>
        </p:txBody>
      </p:sp>
      <p:sp>
        <p:nvSpPr>
          <p:cNvPr id="101" name="s2-obj20">
            <a:extLst>
              <a:ext uri="{FF2B5EF4-FFF2-40B4-BE49-F238E27FC236}">
                <a16:creationId xmlns:a16="http://schemas.microsoft.com/office/drawing/2014/main" id="{96AC6EF8-B50C-C086-3B6F-2BD915FF36D7}"/>
              </a:ext>
            </a:extLst>
          </p:cNvPr>
          <p:cNvSpPr>
            <a:spLocks noGrp="1"/>
          </p:cNvSpPr>
          <p:nvPr/>
        </p:nvSpPr>
        <p:spPr>
          <a:xfrm>
            <a:off x="6516416" y="5217024"/>
            <a:ext cx="1639909" cy="475483"/>
          </a:xfrm>
          <a:prstGeom prst="roundRect">
            <a:avLst>
              <a:gd name="adj" fmla="val 8248"/>
            </a:avLst>
          </a:prstGeom>
          <a:noFill/>
          <a:ln w="9525">
            <a:solidFill>
              <a:srgbClr val="002060"/>
            </a:solidFill>
          </a:ln>
        </p:spPr>
      </p:sp>
      <p:sp>
        <p:nvSpPr>
          <p:cNvPr id="46" name="矩形 45"/>
          <p:cNvSpPr/>
          <p:nvPr/>
        </p:nvSpPr>
        <p:spPr>
          <a:xfrm>
            <a:off x="535263" y="1799789"/>
            <a:ext cx="12939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判断瓶颈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40774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算子优化</a:t>
            </a:r>
            <a:endParaRPr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D8201DD8-CE54-88EE-E104-2F4E7178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33375"/>
            <a:ext cx="6840537" cy="503238"/>
          </a:xfrm>
        </p:spPr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实习任务一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760C3B-8B46-42F3-C0AF-18821FC376C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5262" y="2060848"/>
            <a:ext cx="8141193" cy="2691636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42126C-9AF0-9A9D-C428-06C3AF428E29}"/>
              </a:ext>
            </a:extLst>
          </p:cNvPr>
          <p:cNvSpPr/>
          <p:nvPr/>
        </p:nvSpPr>
        <p:spPr>
          <a:xfrm>
            <a:off x="2875207" y="1857330"/>
            <a:ext cx="3240360" cy="40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例：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MatMul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：分块与流水优化</a:t>
            </a:r>
          </a:p>
        </p:txBody>
      </p:sp>
      <p:sp>
        <p:nvSpPr>
          <p:cNvPr id="35" name="s2-obj91">
            <a:extLst>
              <a:ext uri="{FF2B5EF4-FFF2-40B4-BE49-F238E27FC236}">
                <a16:creationId xmlns:a16="http://schemas.microsoft.com/office/drawing/2014/main" id="{B5CA967F-37AC-6632-DFCA-2A257BA9492F}"/>
              </a:ext>
            </a:extLst>
          </p:cNvPr>
          <p:cNvSpPr>
            <a:spLocks noGrp="1"/>
          </p:cNvSpPr>
          <p:nvPr/>
        </p:nvSpPr>
        <p:spPr>
          <a:xfrm>
            <a:off x="5527226" y="3086872"/>
            <a:ext cx="2715818" cy="2892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达到厂商 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GEMM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68.4%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4D26DD5-0E0C-3F4D-C78D-773003FAB473}"/>
              </a:ext>
            </a:extLst>
          </p:cNvPr>
          <p:cNvSpPr txBox="1"/>
          <p:nvPr/>
        </p:nvSpPr>
        <p:spPr>
          <a:xfrm>
            <a:off x="5436096" y="3429000"/>
            <a:ext cx="2880320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扩大有效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Tile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，提高数据复用；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双缓冲提高计算单元利用率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39" name="Chart">
            <a:extLst>
              <a:ext uri="{FF2B5EF4-FFF2-40B4-BE49-F238E27FC236}">
                <a16:creationId xmlns:a16="http://schemas.microsoft.com/office/drawing/2014/main" id="{BFF9160A-5871-FD3D-0E0F-8CC30A121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2630328"/>
              </p:ext>
            </p:extLst>
          </p:nvPr>
        </p:nvGraphicFramePr>
        <p:xfrm>
          <a:off x="683568" y="2362587"/>
          <a:ext cx="4251201" cy="2176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0" name="s3-obj12">
            <a:extLst>
              <a:ext uri="{FF2B5EF4-FFF2-40B4-BE49-F238E27FC236}">
                <a16:creationId xmlns:a16="http://schemas.microsoft.com/office/drawing/2014/main" id="{2F9EF4D5-9114-EB87-307F-9F4AAAF5A959}"/>
              </a:ext>
            </a:extLst>
          </p:cNvPr>
          <p:cNvSpPr>
            <a:spLocks noGrp="1"/>
          </p:cNvSpPr>
          <p:nvPr/>
        </p:nvSpPr>
        <p:spPr>
          <a:xfrm>
            <a:off x="4345603" y="2277387"/>
            <a:ext cx="8763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TFLOPS</a:t>
            </a:r>
          </a:p>
        </p:txBody>
      </p:sp>
      <p:sp>
        <p:nvSpPr>
          <p:cNvPr id="41" name="s3-obj15">
            <a:extLst>
              <a:ext uri="{FF2B5EF4-FFF2-40B4-BE49-F238E27FC236}">
                <a16:creationId xmlns:a16="http://schemas.microsoft.com/office/drawing/2014/main" id="{549D1409-A123-B11F-A218-7316E4DF32C8}"/>
              </a:ext>
            </a:extLst>
          </p:cNvPr>
          <p:cNvSpPr>
            <a:spLocks noGrp="1"/>
          </p:cNvSpPr>
          <p:nvPr/>
        </p:nvSpPr>
        <p:spPr>
          <a:xfrm>
            <a:off x="1313932" y="4380779"/>
            <a:ext cx="688953" cy="3765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基础基线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s3-obj15">
            <a:extLst>
              <a:ext uri="{FF2B5EF4-FFF2-40B4-BE49-F238E27FC236}">
                <a16:creationId xmlns:a16="http://schemas.microsoft.com/office/drawing/2014/main" id="{4D133BBE-7D9B-6976-1308-A4E99E35194D}"/>
              </a:ext>
            </a:extLst>
          </p:cNvPr>
          <p:cNvSpPr>
            <a:spLocks noGrp="1"/>
          </p:cNvSpPr>
          <p:nvPr/>
        </p:nvSpPr>
        <p:spPr>
          <a:xfrm>
            <a:off x="3136130" y="4380779"/>
            <a:ext cx="711697" cy="3765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多级缓冲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s3-obj15">
            <a:extLst>
              <a:ext uri="{FF2B5EF4-FFF2-40B4-BE49-F238E27FC236}">
                <a16:creationId xmlns:a16="http://schemas.microsoft.com/office/drawing/2014/main" id="{88DED69F-BA87-B972-F749-7DB4CE31B3BC}"/>
              </a:ext>
            </a:extLst>
          </p:cNvPr>
          <p:cNvSpPr>
            <a:spLocks noGrp="1"/>
          </p:cNvSpPr>
          <p:nvPr/>
        </p:nvSpPr>
        <p:spPr>
          <a:xfrm>
            <a:off x="2229594" y="4380779"/>
            <a:ext cx="758230" cy="3765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ile/Grid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s3-obj15">
            <a:extLst>
              <a:ext uri="{FF2B5EF4-FFF2-40B4-BE49-F238E27FC236}">
                <a16:creationId xmlns:a16="http://schemas.microsoft.com/office/drawing/2014/main" id="{3DCC68FC-4404-EF9F-2E7E-9AAC20E4DFED}"/>
              </a:ext>
            </a:extLst>
          </p:cNvPr>
          <p:cNvSpPr>
            <a:spLocks noGrp="1"/>
          </p:cNvSpPr>
          <p:nvPr/>
        </p:nvSpPr>
        <p:spPr>
          <a:xfrm>
            <a:off x="4010792" y="4380779"/>
            <a:ext cx="711696" cy="3765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5" b="0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官方算子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F38CE49-5C99-017A-76A6-82BA9AF44B2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35262" y="5048427"/>
            <a:ext cx="8141193" cy="12473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040030-FE2B-9AF9-DC2E-72482F71933B}"/>
              </a:ext>
            </a:extLst>
          </p:cNvPr>
          <p:cNvSpPr/>
          <p:nvPr/>
        </p:nvSpPr>
        <p:spPr>
          <a:xfrm>
            <a:off x="3548188" y="4850706"/>
            <a:ext cx="2047623" cy="40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其他算子</a:t>
            </a:r>
          </a:p>
        </p:txBody>
      </p: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C668DB09-D99A-A723-1025-D1DAE971115C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429961960"/>
              </p:ext>
            </p:extLst>
          </p:nvPr>
        </p:nvGraphicFramePr>
        <p:xfrm>
          <a:off x="1511598" y="5362571"/>
          <a:ext cx="6120804" cy="6919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8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0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手写算子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softmax</a:t>
                      </a:r>
                      <a:endParaRPr lang="en-US" altLang="zh-CN" sz="14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layernorm</a:t>
                      </a:r>
                      <a:endParaRPr lang="en-US" altLang="zh-CN" sz="14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flashattention</a:t>
                      </a:r>
                      <a:endParaRPr lang="en-US" altLang="zh-CN" sz="14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相比于</a:t>
                      </a:r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pytorch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1.23x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81293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Nano-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模型部署推理优化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9" name="p1-o10">
            <a:extLst>
              <a:ext uri="{FF2B5EF4-FFF2-40B4-BE49-F238E27FC236}">
                <a16:creationId xmlns:a16="http://schemas.microsoft.com/office/drawing/2014/main" id="{EC6DF907-4B79-470C-923F-AEF0B55C8835}"/>
              </a:ext>
            </a:extLst>
          </p:cNvPr>
          <p:cNvSpPr>
            <a:spLocks noGrp="1"/>
          </p:cNvSpPr>
          <p:nvPr/>
        </p:nvSpPr>
        <p:spPr>
          <a:xfrm>
            <a:off x="535263" y="1979105"/>
            <a:ext cx="3924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 sz="1575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text_103_原始 Skill 已具备完整开发流程"/>
          <p:cNvSpPr>
            <a:spLocks noGrp="1"/>
          </p:cNvSpPr>
          <p:nvPr/>
        </p:nvSpPr>
        <p:spPr>
          <a:xfrm>
            <a:off x="96969" y="614295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en-US" altLang="zh-CN"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D8B97E-795B-482C-9908-D05B155E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1D86DDB-9950-83F4-8EBF-DFEA86B89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33375"/>
            <a:ext cx="6840537" cy="503238"/>
          </a:xfrm>
        </p:spPr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实习任务一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s2-obj91">
            <a:extLst>
              <a:ext uri="{FF2B5EF4-FFF2-40B4-BE49-F238E27FC236}">
                <a16:creationId xmlns:a16="http://schemas.microsoft.com/office/drawing/2014/main" id="{B535BCF3-67FB-1BA8-E6B1-630F6BFE4C82}"/>
              </a:ext>
            </a:extLst>
          </p:cNvPr>
          <p:cNvSpPr>
            <a:spLocks noGrp="1"/>
          </p:cNvSpPr>
          <p:nvPr/>
        </p:nvSpPr>
        <p:spPr>
          <a:xfrm>
            <a:off x="580866" y="2018891"/>
            <a:ext cx="6179419" cy="2892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n"/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背景：在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mlu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平台使用</a:t>
            </a:r>
            <a:r>
              <a:rPr lang="en-US" altLang="zh-CN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vllm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进行部署推理时经常遇到下面的问题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4E60FF-D49C-8D8C-8A4B-E0546E95E4AB}"/>
              </a:ext>
            </a:extLst>
          </p:cNvPr>
          <p:cNvSpPr txBox="1"/>
          <p:nvPr/>
        </p:nvSpPr>
        <p:spPr>
          <a:xfrm>
            <a:off x="535263" y="2308829"/>
            <a:ext cx="4800154" cy="1156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相同请求重复计算；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复用前缀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KV cache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显存压力大；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 Offload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开销大。</a:t>
            </a:r>
          </a:p>
        </p:txBody>
      </p:sp>
      <p:sp>
        <p:nvSpPr>
          <p:cNvPr id="6" name="s2-obj91">
            <a:extLst>
              <a:ext uri="{FF2B5EF4-FFF2-40B4-BE49-F238E27FC236}">
                <a16:creationId xmlns:a16="http://schemas.microsoft.com/office/drawing/2014/main" id="{F961C543-DC66-969A-A1A8-AC0D2E9DC85B}"/>
              </a:ext>
            </a:extLst>
          </p:cNvPr>
          <p:cNvSpPr>
            <a:spLocks noGrp="1"/>
          </p:cNvSpPr>
          <p:nvPr/>
        </p:nvSpPr>
        <p:spPr>
          <a:xfrm>
            <a:off x="580866" y="3633432"/>
            <a:ext cx="6179419" cy="2892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n"/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解决方法：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MLU L1 + CPU L2 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分层 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Prefix KV Cache</a:t>
            </a:r>
          </a:p>
        </p:txBody>
      </p:sp>
      <p:sp>
        <p:nvSpPr>
          <p:cNvPr id="8" name="s2-obj91">
            <a:extLst>
              <a:ext uri="{FF2B5EF4-FFF2-40B4-BE49-F238E27FC236}">
                <a16:creationId xmlns:a16="http://schemas.microsoft.com/office/drawing/2014/main" id="{F549C993-99A7-4464-7DD2-06621FC476CF}"/>
              </a:ext>
            </a:extLst>
          </p:cNvPr>
          <p:cNvSpPr>
            <a:spLocks noGrp="1"/>
          </p:cNvSpPr>
          <p:nvPr/>
        </p:nvSpPr>
        <p:spPr>
          <a:xfrm>
            <a:off x="580866" y="4174916"/>
            <a:ext cx="6179419" cy="2892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n"/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项目目标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E6D71B-16CB-82B0-81C2-CA308B8E37BF}"/>
              </a:ext>
            </a:extLst>
          </p:cNvPr>
          <p:cNvSpPr txBox="1"/>
          <p:nvPr/>
        </p:nvSpPr>
        <p:spPr>
          <a:xfrm>
            <a:off x="535263" y="4464854"/>
            <a:ext cx="4800154" cy="1156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扩大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KV Cache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容量；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降低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Prefix HIT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场景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TTFT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降低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 ↔ MLU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搬运开销。</a:t>
            </a:r>
          </a:p>
        </p:txBody>
      </p:sp>
    </p:spTree>
    <p:extLst>
      <p:ext uri="{BB962C8B-B14F-4D97-AF65-F5344CB8AC3E}">
        <p14:creationId xmlns:p14="http://schemas.microsoft.com/office/powerpoint/2010/main" val="196342951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5453452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 L1 + CPU L2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分层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 KV Cache</a:t>
            </a: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3" name="text_258_Main"/>
          <p:cNvSpPr>
            <a:spLocks noGrp="1"/>
          </p:cNvSpPr>
          <p:nvPr/>
        </p:nvSpPr>
        <p:spPr>
          <a:xfrm>
            <a:off x="3392640" y="2161992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用户请求</a:t>
            </a:r>
            <a:endParaRPr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_258_Main"/>
          <p:cNvSpPr>
            <a:spLocks noGrp="1"/>
          </p:cNvSpPr>
          <p:nvPr/>
        </p:nvSpPr>
        <p:spPr>
          <a:xfrm>
            <a:off x="3392639" y="2765746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两级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_258_Main"/>
          <p:cNvSpPr>
            <a:spLocks noGrp="1"/>
          </p:cNvSpPr>
          <p:nvPr/>
        </p:nvSpPr>
        <p:spPr>
          <a:xfrm>
            <a:off x="768718" y="3595146"/>
            <a:ext cx="2231777" cy="375000"/>
          </a:xfrm>
          <a:prstGeom prst="rect">
            <a:avLst/>
          </a:prstGeom>
          <a:noFill/>
          <a:ln w="19050">
            <a:solidFill>
              <a:srgbClr val="6699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命中（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_258_Main"/>
          <p:cNvSpPr>
            <a:spLocks noGrp="1"/>
          </p:cNvSpPr>
          <p:nvPr/>
        </p:nvSpPr>
        <p:spPr>
          <a:xfrm>
            <a:off x="768717" y="4315226"/>
            <a:ext cx="2231777" cy="375000"/>
          </a:xfrm>
          <a:prstGeom prst="rect">
            <a:avLst/>
          </a:prstGeom>
          <a:noFill/>
          <a:ln w="19050">
            <a:solidFill>
              <a:srgbClr val="6699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Cache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_258_Main"/>
          <p:cNvSpPr>
            <a:spLocks noGrp="1"/>
          </p:cNvSpPr>
          <p:nvPr/>
        </p:nvSpPr>
        <p:spPr>
          <a:xfrm>
            <a:off x="3392639" y="3565226"/>
            <a:ext cx="2231777" cy="375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命中（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_258_Main"/>
          <p:cNvSpPr>
            <a:spLocks noGrp="1"/>
          </p:cNvSpPr>
          <p:nvPr/>
        </p:nvSpPr>
        <p:spPr>
          <a:xfrm>
            <a:off x="3392639" y="4315226"/>
            <a:ext cx="2231777" cy="37500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搬运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Cache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_258_Main"/>
          <p:cNvSpPr>
            <a:spLocks noGrp="1"/>
          </p:cNvSpPr>
          <p:nvPr/>
        </p:nvSpPr>
        <p:spPr>
          <a:xfrm>
            <a:off x="6068637" y="3595146"/>
            <a:ext cx="2231777" cy="3750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均未命中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_258_Main"/>
          <p:cNvSpPr>
            <a:spLocks noGrp="1"/>
          </p:cNvSpPr>
          <p:nvPr/>
        </p:nvSpPr>
        <p:spPr>
          <a:xfrm>
            <a:off x="6068637" y="4312783"/>
            <a:ext cx="2231777" cy="3750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refill</a:t>
            </a: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_258_Main"/>
          <p:cNvSpPr>
            <a:spLocks noGrp="1"/>
          </p:cNvSpPr>
          <p:nvPr/>
        </p:nvSpPr>
        <p:spPr>
          <a:xfrm>
            <a:off x="3392639" y="5067509"/>
            <a:ext cx="2231777" cy="3750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后续计算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>
            <a:stCxn id="13" idx="2"/>
            <a:endCxn id="14" idx="0"/>
          </p:cNvCxnSpPr>
          <p:nvPr/>
        </p:nvCxnSpPr>
        <p:spPr>
          <a:xfrm flipH="1">
            <a:off x="4508528" y="2536992"/>
            <a:ext cx="1" cy="2287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14" idx="2"/>
            <a:endCxn id="17" idx="0"/>
          </p:cNvCxnSpPr>
          <p:nvPr/>
        </p:nvCxnSpPr>
        <p:spPr>
          <a:xfrm>
            <a:off x="4508528" y="3140746"/>
            <a:ext cx="0" cy="4244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4" idx="2"/>
            <a:endCxn id="15" idx="0"/>
          </p:cNvCxnSpPr>
          <p:nvPr/>
        </p:nvCxnSpPr>
        <p:spPr>
          <a:xfrm rot="5400000">
            <a:off x="2969368" y="2055986"/>
            <a:ext cx="454400" cy="2623921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4" idx="2"/>
            <a:endCxn id="19" idx="0"/>
          </p:cNvCxnSpPr>
          <p:nvPr/>
        </p:nvCxnSpPr>
        <p:spPr>
          <a:xfrm rot="16200000" flipH="1">
            <a:off x="5619327" y="2029947"/>
            <a:ext cx="454400" cy="2675998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5" idx="2"/>
            <a:endCxn id="16" idx="0"/>
          </p:cNvCxnSpPr>
          <p:nvPr/>
        </p:nvCxnSpPr>
        <p:spPr>
          <a:xfrm flipH="1">
            <a:off x="1884606" y="3970146"/>
            <a:ext cx="1" cy="345080"/>
          </a:xfrm>
          <a:prstGeom prst="straightConnector1">
            <a:avLst/>
          </a:prstGeom>
          <a:ln w="19050">
            <a:solidFill>
              <a:srgbClr val="66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7" idx="2"/>
            <a:endCxn id="18" idx="0"/>
          </p:cNvCxnSpPr>
          <p:nvPr/>
        </p:nvCxnSpPr>
        <p:spPr>
          <a:xfrm>
            <a:off x="4508528" y="3940226"/>
            <a:ext cx="0" cy="37500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9" idx="2"/>
            <a:endCxn id="20" idx="0"/>
          </p:cNvCxnSpPr>
          <p:nvPr/>
        </p:nvCxnSpPr>
        <p:spPr>
          <a:xfrm>
            <a:off x="7184526" y="3970146"/>
            <a:ext cx="0" cy="34263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8" idx="2"/>
            <a:endCxn id="22" idx="0"/>
          </p:cNvCxnSpPr>
          <p:nvPr/>
        </p:nvCxnSpPr>
        <p:spPr>
          <a:xfrm>
            <a:off x="4508528" y="4690226"/>
            <a:ext cx="0" cy="37728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16" idx="2"/>
            <a:endCxn id="22" idx="0"/>
          </p:cNvCxnSpPr>
          <p:nvPr/>
        </p:nvCxnSpPr>
        <p:spPr>
          <a:xfrm rot="16200000" flipH="1">
            <a:off x="3007926" y="3566906"/>
            <a:ext cx="377283" cy="2623922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20" idx="2"/>
            <a:endCxn id="22" idx="0"/>
          </p:cNvCxnSpPr>
          <p:nvPr/>
        </p:nvCxnSpPr>
        <p:spPr>
          <a:xfrm rot="5400000">
            <a:off x="5656664" y="3539647"/>
            <a:ext cx="379726" cy="2675998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95"/>
          <p:cNvSpPr txBox="1"/>
          <p:nvPr/>
        </p:nvSpPr>
        <p:spPr>
          <a:xfrm>
            <a:off x="2467579" y="5850812"/>
            <a:ext cx="1440160" cy="3768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Qwen3-8B</a:t>
            </a:r>
            <a:endParaRPr lang="zh-CN" altLang="en-US" sz="1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4" name="文本框 95"/>
          <p:cNvSpPr txBox="1"/>
          <p:nvPr/>
        </p:nvSpPr>
        <p:spPr>
          <a:xfrm>
            <a:off x="3891550" y="5850812"/>
            <a:ext cx="1512168" cy="3768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Nano-</a:t>
            </a:r>
            <a:r>
              <a:rPr lang="en-US" altLang="zh-CN" sz="1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vllm</a:t>
            </a:r>
            <a:endParaRPr lang="zh-CN" altLang="en-US" sz="1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5" name="文本框 95"/>
          <p:cNvSpPr txBox="1"/>
          <p:nvPr/>
        </p:nvSpPr>
        <p:spPr>
          <a:xfrm>
            <a:off x="412478" y="6338253"/>
            <a:ext cx="7692517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主要问题变为：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命中之后，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数据如何搬运（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CPU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至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MLU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）的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更快。</a:t>
            </a:r>
          </a:p>
        </p:txBody>
      </p:sp>
      <p:sp>
        <p:nvSpPr>
          <p:cNvPr id="56" name="矩形 55"/>
          <p:cNvSpPr/>
          <p:nvPr/>
        </p:nvSpPr>
        <p:spPr>
          <a:xfrm>
            <a:off x="412478" y="1719172"/>
            <a:ext cx="17043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项目整体方案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12478" y="5387786"/>
            <a:ext cx="11711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7429D-0A7C-2703-530A-07A6F0ED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25DE0C5C-FA41-DEA9-F67E-7FCFED75B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33375"/>
            <a:ext cx="6840537" cy="503238"/>
          </a:xfrm>
        </p:spPr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实习任务一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文本框 95">
            <a:extLst>
              <a:ext uri="{FF2B5EF4-FFF2-40B4-BE49-F238E27FC236}">
                <a16:creationId xmlns:a16="http://schemas.microsoft.com/office/drawing/2014/main" id="{59105B29-FAFC-08D9-FC56-62611ACC16F7}"/>
              </a:ext>
            </a:extLst>
          </p:cNvPr>
          <p:cNvSpPr txBox="1"/>
          <p:nvPr/>
        </p:nvSpPr>
        <p:spPr>
          <a:xfrm>
            <a:off x="535263" y="5852647"/>
            <a:ext cx="1948505" cy="3772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MLU590</a:t>
            </a:r>
            <a:r>
              <a: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80GB)</a:t>
            </a:r>
            <a:endParaRPr lang="zh-CN" altLang="en-US" sz="1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文本框 95">
            <a:extLst>
              <a:ext uri="{FF2B5EF4-FFF2-40B4-BE49-F238E27FC236}">
                <a16:creationId xmlns:a16="http://schemas.microsoft.com/office/drawing/2014/main" id="{87F97E79-C02F-4424-A7F0-AF9D056BAD10}"/>
              </a:ext>
            </a:extLst>
          </p:cNvPr>
          <p:cNvSpPr txBox="1"/>
          <p:nvPr/>
        </p:nvSpPr>
        <p:spPr>
          <a:xfrm>
            <a:off x="5387528" y="5841005"/>
            <a:ext cx="1080120" cy="3768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BF16</a:t>
            </a:r>
            <a:endParaRPr lang="zh-CN" altLang="en-US" sz="1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9879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优化：数据布局优化</a:t>
            </a: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" name="p1-o12">
            <a:extLst>
              <a:ext uri="{FF2B5EF4-FFF2-40B4-BE49-F238E27FC236}">
                <a16:creationId xmlns:a16="http://schemas.microsoft.com/office/drawing/2014/main" id="{855DABC6-57FD-4B78-87AA-97BCD04ABD72}"/>
              </a:ext>
            </a:extLst>
          </p:cNvPr>
          <p:cNvSpPr>
            <a:spLocks noGrp="1"/>
          </p:cNvSpPr>
          <p:nvPr/>
        </p:nvSpPr>
        <p:spPr>
          <a:xfrm>
            <a:off x="4719638" y="1615700"/>
            <a:ext cx="4152900" cy="390525"/>
          </a:xfrm>
          <a:prstGeom prst="roundRect">
            <a:avLst>
              <a:gd name="adj" fmla="val 9756"/>
            </a:avLst>
          </a:prstGeom>
          <a:noFill/>
          <a:ln w="0">
            <a:noFill/>
          </a:ln>
        </p:spPr>
      </p:sp>
      <p:sp>
        <p:nvSpPr>
          <p:cNvPr id="15" name="p1-o16">
            <a:extLst>
              <a:ext uri="{FF2B5EF4-FFF2-40B4-BE49-F238E27FC236}">
                <a16:creationId xmlns:a16="http://schemas.microsoft.com/office/drawing/2014/main" id="{15E14EBD-FDD8-45BC-B0DB-304428A57C9C}"/>
              </a:ext>
            </a:extLst>
          </p:cNvPr>
          <p:cNvSpPr>
            <a:spLocks noGrp="1"/>
          </p:cNvSpPr>
          <p:nvPr/>
        </p:nvSpPr>
        <p:spPr>
          <a:xfrm>
            <a:off x="1495018" y="2221152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B0</a:t>
            </a:r>
          </a:p>
        </p:txBody>
      </p:sp>
      <p:sp>
        <p:nvSpPr>
          <p:cNvPr id="16" name="p1-o17">
            <a:extLst>
              <a:ext uri="{FF2B5EF4-FFF2-40B4-BE49-F238E27FC236}">
                <a16:creationId xmlns:a16="http://schemas.microsoft.com/office/drawing/2014/main" id="{09C5E940-D81A-4F88-83EE-BA26F974F36B}"/>
              </a:ext>
            </a:extLst>
          </p:cNvPr>
          <p:cNvSpPr>
            <a:spLocks noGrp="1"/>
          </p:cNvSpPr>
          <p:nvPr/>
        </p:nvSpPr>
        <p:spPr>
          <a:xfrm>
            <a:off x="1904593" y="2221152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17" name="p1-o18">
            <a:extLst>
              <a:ext uri="{FF2B5EF4-FFF2-40B4-BE49-F238E27FC236}">
                <a16:creationId xmlns:a16="http://schemas.microsoft.com/office/drawing/2014/main" id="{0A65A0F5-3BC3-4DFB-8C9E-43082125C900}"/>
              </a:ext>
            </a:extLst>
          </p:cNvPr>
          <p:cNvSpPr>
            <a:spLocks noGrp="1"/>
          </p:cNvSpPr>
          <p:nvPr/>
        </p:nvSpPr>
        <p:spPr>
          <a:xfrm>
            <a:off x="2314168" y="2221152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18" name="p1-o19">
            <a:extLst>
              <a:ext uri="{FF2B5EF4-FFF2-40B4-BE49-F238E27FC236}">
                <a16:creationId xmlns:a16="http://schemas.microsoft.com/office/drawing/2014/main" id="{5E8AD4B6-E8A1-4FD7-8C0F-4D54EE61660C}"/>
              </a:ext>
            </a:extLst>
          </p:cNvPr>
          <p:cNvSpPr>
            <a:spLocks noGrp="1"/>
          </p:cNvSpPr>
          <p:nvPr/>
        </p:nvSpPr>
        <p:spPr>
          <a:xfrm>
            <a:off x="2723743" y="2221152"/>
            <a:ext cx="3905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19" name="p1-o20">
            <a:extLst>
              <a:ext uri="{FF2B5EF4-FFF2-40B4-BE49-F238E27FC236}">
                <a16:creationId xmlns:a16="http://schemas.microsoft.com/office/drawing/2014/main" id="{814A316E-B712-463A-8738-5A73A24366A1}"/>
              </a:ext>
            </a:extLst>
          </p:cNvPr>
          <p:cNvSpPr>
            <a:spLocks noGrp="1"/>
          </p:cNvSpPr>
          <p:nvPr/>
        </p:nvSpPr>
        <p:spPr>
          <a:xfrm>
            <a:off x="875893" y="2545002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Layer 0</a:t>
            </a:r>
          </a:p>
        </p:txBody>
      </p:sp>
      <p:sp>
        <p:nvSpPr>
          <p:cNvPr id="20" name="p1-o21">
            <a:extLst>
              <a:ext uri="{FF2B5EF4-FFF2-40B4-BE49-F238E27FC236}">
                <a16:creationId xmlns:a16="http://schemas.microsoft.com/office/drawing/2014/main" id="{DE193F3A-CD7D-4539-AE58-E7E2F9A693AF}"/>
              </a:ext>
            </a:extLst>
          </p:cNvPr>
          <p:cNvSpPr>
            <a:spLocks noGrp="1"/>
          </p:cNvSpPr>
          <p:nvPr/>
        </p:nvSpPr>
        <p:spPr>
          <a:xfrm>
            <a:off x="1504543" y="2564052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21" name="p1-o22">
            <a:extLst>
              <a:ext uri="{FF2B5EF4-FFF2-40B4-BE49-F238E27FC236}">
                <a16:creationId xmlns:a16="http://schemas.microsoft.com/office/drawing/2014/main" id="{66EED0C9-15DE-46A5-AD0E-8E80CE9E8A7F}"/>
              </a:ext>
            </a:extLst>
          </p:cNvPr>
          <p:cNvSpPr>
            <a:spLocks noGrp="1"/>
          </p:cNvSpPr>
          <p:nvPr/>
        </p:nvSpPr>
        <p:spPr>
          <a:xfrm>
            <a:off x="1504543" y="2487852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2" name="p1-o23">
            <a:extLst>
              <a:ext uri="{FF2B5EF4-FFF2-40B4-BE49-F238E27FC236}">
                <a16:creationId xmlns:a16="http://schemas.microsoft.com/office/drawing/2014/main" id="{8DC9E26B-6D9F-4CBA-A792-2C8EDB133258}"/>
              </a:ext>
            </a:extLst>
          </p:cNvPr>
          <p:cNvSpPr>
            <a:spLocks noGrp="1"/>
          </p:cNvSpPr>
          <p:nvPr/>
        </p:nvSpPr>
        <p:spPr>
          <a:xfrm>
            <a:off x="1837918" y="24878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23" name="p1-o24">
            <a:extLst>
              <a:ext uri="{FF2B5EF4-FFF2-40B4-BE49-F238E27FC236}">
                <a16:creationId xmlns:a16="http://schemas.microsoft.com/office/drawing/2014/main" id="{518A2E24-6627-449D-B71F-DE3FA5C96EBE}"/>
              </a:ext>
            </a:extLst>
          </p:cNvPr>
          <p:cNvSpPr>
            <a:spLocks noGrp="1"/>
          </p:cNvSpPr>
          <p:nvPr/>
        </p:nvSpPr>
        <p:spPr>
          <a:xfrm>
            <a:off x="1914118" y="2564052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24" name="p1-o25">
            <a:extLst>
              <a:ext uri="{FF2B5EF4-FFF2-40B4-BE49-F238E27FC236}">
                <a16:creationId xmlns:a16="http://schemas.microsoft.com/office/drawing/2014/main" id="{87FE4B25-0D84-41D6-B008-7B66ED608B21}"/>
              </a:ext>
            </a:extLst>
          </p:cNvPr>
          <p:cNvSpPr>
            <a:spLocks noGrp="1"/>
          </p:cNvSpPr>
          <p:nvPr/>
        </p:nvSpPr>
        <p:spPr>
          <a:xfrm>
            <a:off x="1914118" y="2487852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5" name="p1-o26">
            <a:extLst>
              <a:ext uri="{FF2B5EF4-FFF2-40B4-BE49-F238E27FC236}">
                <a16:creationId xmlns:a16="http://schemas.microsoft.com/office/drawing/2014/main" id="{7151574E-E273-431F-817A-29660AD8ADE7}"/>
              </a:ext>
            </a:extLst>
          </p:cNvPr>
          <p:cNvSpPr>
            <a:spLocks noGrp="1"/>
          </p:cNvSpPr>
          <p:nvPr/>
        </p:nvSpPr>
        <p:spPr>
          <a:xfrm>
            <a:off x="2247493" y="24878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26" name="p1-o27">
            <a:extLst>
              <a:ext uri="{FF2B5EF4-FFF2-40B4-BE49-F238E27FC236}">
                <a16:creationId xmlns:a16="http://schemas.microsoft.com/office/drawing/2014/main" id="{CF1CA771-ED23-4FA0-BB5F-FA679D33DE85}"/>
              </a:ext>
            </a:extLst>
          </p:cNvPr>
          <p:cNvSpPr>
            <a:spLocks noGrp="1"/>
          </p:cNvSpPr>
          <p:nvPr/>
        </p:nvSpPr>
        <p:spPr>
          <a:xfrm>
            <a:off x="2323693" y="2564052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28" name="p1-o28">
            <a:extLst>
              <a:ext uri="{FF2B5EF4-FFF2-40B4-BE49-F238E27FC236}">
                <a16:creationId xmlns:a16="http://schemas.microsoft.com/office/drawing/2014/main" id="{4F2F27EE-3A44-41D2-9D99-A7B87CFA7FD6}"/>
              </a:ext>
            </a:extLst>
          </p:cNvPr>
          <p:cNvSpPr>
            <a:spLocks noGrp="1"/>
          </p:cNvSpPr>
          <p:nvPr/>
        </p:nvSpPr>
        <p:spPr>
          <a:xfrm>
            <a:off x="2323693" y="2487852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29" name="p1-o29">
            <a:extLst>
              <a:ext uri="{FF2B5EF4-FFF2-40B4-BE49-F238E27FC236}">
                <a16:creationId xmlns:a16="http://schemas.microsoft.com/office/drawing/2014/main" id="{30D0EC86-9C5F-4CEC-9762-7C9AB820F262}"/>
              </a:ext>
            </a:extLst>
          </p:cNvPr>
          <p:cNvSpPr>
            <a:spLocks noGrp="1"/>
          </p:cNvSpPr>
          <p:nvPr/>
        </p:nvSpPr>
        <p:spPr>
          <a:xfrm>
            <a:off x="2657068" y="24878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30" name="p1-o30">
            <a:extLst>
              <a:ext uri="{FF2B5EF4-FFF2-40B4-BE49-F238E27FC236}">
                <a16:creationId xmlns:a16="http://schemas.microsoft.com/office/drawing/2014/main" id="{F6153B51-3210-45DB-B5BA-3B7275099E91}"/>
              </a:ext>
            </a:extLst>
          </p:cNvPr>
          <p:cNvSpPr>
            <a:spLocks noGrp="1"/>
          </p:cNvSpPr>
          <p:nvPr/>
        </p:nvSpPr>
        <p:spPr>
          <a:xfrm>
            <a:off x="2733268" y="2564052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31" name="p1-o31">
            <a:extLst>
              <a:ext uri="{FF2B5EF4-FFF2-40B4-BE49-F238E27FC236}">
                <a16:creationId xmlns:a16="http://schemas.microsoft.com/office/drawing/2014/main" id="{0AD8BC29-B02C-4021-A32A-26346ECF685C}"/>
              </a:ext>
            </a:extLst>
          </p:cNvPr>
          <p:cNvSpPr>
            <a:spLocks noGrp="1"/>
          </p:cNvSpPr>
          <p:nvPr/>
        </p:nvSpPr>
        <p:spPr>
          <a:xfrm>
            <a:off x="2733268" y="2487852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2" name="p1-o32">
            <a:extLst>
              <a:ext uri="{FF2B5EF4-FFF2-40B4-BE49-F238E27FC236}">
                <a16:creationId xmlns:a16="http://schemas.microsoft.com/office/drawing/2014/main" id="{ED84A948-B09E-4BD1-B7B7-588F5F44D153}"/>
              </a:ext>
            </a:extLst>
          </p:cNvPr>
          <p:cNvSpPr>
            <a:spLocks noGrp="1"/>
          </p:cNvSpPr>
          <p:nvPr/>
        </p:nvSpPr>
        <p:spPr>
          <a:xfrm>
            <a:off x="3066643" y="248785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33" name="p1-o33">
            <a:extLst>
              <a:ext uri="{FF2B5EF4-FFF2-40B4-BE49-F238E27FC236}">
                <a16:creationId xmlns:a16="http://schemas.microsoft.com/office/drawing/2014/main" id="{FD0078AA-42CB-4D17-BA5D-086D4925503F}"/>
              </a:ext>
            </a:extLst>
          </p:cNvPr>
          <p:cNvSpPr>
            <a:spLocks noGrp="1"/>
          </p:cNvSpPr>
          <p:nvPr/>
        </p:nvSpPr>
        <p:spPr>
          <a:xfrm>
            <a:off x="875893" y="2954577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Layer 1</a:t>
            </a:r>
          </a:p>
        </p:txBody>
      </p:sp>
      <p:sp>
        <p:nvSpPr>
          <p:cNvPr id="34" name="p1-o34">
            <a:extLst>
              <a:ext uri="{FF2B5EF4-FFF2-40B4-BE49-F238E27FC236}">
                <a16:creationId xmlns:a16="http://schemas.microsoft.com/office/drawing/2014/main" id="{B1E6FF50-D103-4CF0-9893-7086FA6FFA73}"/>
              </a:ext>
            </a:extLst>
          </p:cNvPr>
          <p:cNvSpPr>
            <a:spLocks noGrp="1"/>
          </p:cNvSpPr>
          <p:nvPr/>
        </p:nvSpPr>
        <p:spPr>
          <a:xfrm>
            <a:off x="1504543" y="2973627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35" name="p1-o35">
            <a:extLst>
              <a:ext uri="{FF2B5EF4-FFF2-40B4-BE49-F238E27FC236}">
                <a16:creationId xmlns:a16="http://schemas.microsoft.com/office/drawing/2014/main" id="{25637F6D-0CDC-476E-984E-DD4CDD6C46ED}"/>
              </a:ext>
            </a:extLst>
          </p:cNvPr>
          <p:cNvSpPr>
            <a:spLocks noGrp="1"/>
          </p:cNvSpPr>
          <p:nvPr/>
        </p:nvSpPr>
        <p:spPr>
          <a:xfrm>
            <a:off x="1504543" y="2897427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6" name="p1-o36">
            <a:extLst>
              <a:ext uri="{FF2B5EF4-FFF2-40B4-BE49-F238E27FC236}">
                <a16:creationId xmlns:a16="http://schemas.microsoft.com/office/drawing/2014/main" id="{64C930E5-36DE-48E9-BD0F-65CE26C729F9}"/>
              </a:ext>
            </a:extLst>
          </p:cNvPr>
          <p:cNvSpPr>
            <a:spLocks noGrp="1"/>
          </p:cNvSpPr>
          <p:nvPr/>
        </p:nvSpPr>
        <p:spPr>
          <a:xfrm>
            <a:off x="1837918" y="28974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37" name="p1-o37">
            <a:extLst>
              <a:ext uri="{FF2B5EF4-FFF2-40B4-BE49-F238E27FC236}">
                <a16:creationId xmlns:a16="http://schemas.microsoft.com/office/drawing/2014/main" id="{EC87B774-33A8-4983-A6EE-DF1B34D2DCD5}"/>
              </a:ext>
            </a:extLst>
          </p:cNvPr>
          <p:cNvSpPr>
            <a:spLocks noGrp="1"/>
          </p:cNvSpPr>
          <p:nvPr/>
        </p:nvSpPr>
        <p:spPr>
          <a:xfrm>
            <a:off x="1914118" y="2973627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38" name="p1-o38">
            <a:extLst>
              <a:ext uri="{FF2B5EF4-FFF2-40B4-BE49-F238E27FC236}">
                <a16:creationId xmlns:a16="http://schemas.microsoft.com/office/drawing/2014/main" id="{59DC0022-060C-46DD-9D51-0C525A002A7C}"/>
              </a:ext>
            </a:extLst>
          </p:cNvPr>
          <p:cNvSpPr>
            <a:spLocks noGrp="1"/>
          </p:cNvSpPr>
          <p:nvPr/>
        </p:nvSpPr>
        <p:spPr>
          <a:xfrm>
            <a:off x="1914118" y="2897427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39" name="p1-o39">
            <a:extLst>
              <a:ext uri="{FF2B5EF4-FFF2-40B4-BE49-F238E27FC236}">
                <a16:creationId xmlns:a16="http://schemas.microsoft.com/office/drawing/2014/main" id="{FC8BCEC8-3460-4169-B2F2-5AA6426E19C9}"/>
              </a:ext>
            </a:extLst>
          </p:cNvPr>
          <p:cNvSpPr>
            <a:spLocks noGrp="1"/>
          </p:cNvSpPr>
          <p:nvPr/>
        </p:nvSpPr>
        <p:spPr>
          <a:xfrm>
            <a:off x="2247493" y="28974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40" name="p1-o40">
            <a:extLst>
              <a:ext uri="{FF2B5EF4-FFF2-40B4-BE49-F238E27FC236}">
                <a16:creationId xmlns:a16="http://schemas.microsoft.com/office/drawing/2014/main" id="{345E199B-8691-4BB9-8D68-EBE0AFEF2813}"/>
              </a:ext>
            </a:extLst>
          </p:cNvPr>
          <p:cNvSpPr>
            <a:spLocks noGrp="1"/>
          </p:cNvSpPr>
          <p:nvPr/>
        </p:nvSpPr>
        <p:spPr>
          <a:xfrm>
            <a:off x="2323693" y="2973627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41" name="p1-o41">
            <a:extLst>
              <a:ext uri="{FF2B5EF4-FFF2-40B4-BE49-F238E27FC236}">
                <a16:creationId xmlns:a16="http://schemas.microsoft.com/office/drawing/2014/main" id="{92AE0008-CF81-4513-A8F8-1C5CA6256C7C}"/>
              </a:ext>
            </a:extLst>
          </p:cNvPr>
          <p:cNvSpPr>
            <a:spLocks noGrp="1"/>
          </p:cNvSpPr>
          <p:nvPr/>
        </p:nvSpPr>
        <p:spPr>
          <a:xfrm>
            <a:off x="2323693" y="2897427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2" name="p1-o42">
            <a:extLst>
              <a:ext uri="{FF2B5EF4-FFF2-40B4-BE49-F238E27FC236}">
                <a16:creationId xmlns:a16="http://schemas.microsoft.com/office/drawing/2014/main" id="{3C25B64D-9DD6-46C1-B453-E171F7761575}"/>
              </a:ext>
            </a:extLst>
          </p:cNvPr>
          <p:cNvSpPr>
            <a:spLocks noGrp="1"/>
          </p:cNvSpPr>
          <p:nvPr/>
        </p:nvSpPr>
        <p:spPr>
          <a:xfrm>
            <a:off x="2657068" y="28974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43" name="p1-o43">
            <a:extLst>
              <a:ext uri="{FF2B5EF4-FFF2-40B4-BE49-F238E27FC236}">
                <a16:creationId xmlns:a16="http://schemas.microsoft.com/office/drawing/2014/main" id="{DEA3EB39-8D10-4339-A1FA-4B09955962A2}"/>
              </a:ext>
            </a:extLst>
          </p:cNvPr>
          <p:cNvSpPr>
            <a:spLocks noGrp="1"/>
          </p:cNvSpPr>
          <p:nvPr/>
        </p:nvSpPr>
        <p:spPr>
          <a:xfrm>
            <a:off x="2733268" y="2973627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44" name="p1-o44">
            <a:extLst>
              <a:ext uri="{FF2B5EF4-FFF2-40B4-BE49-F238E27FC236}">
                <a16:creationId xmlns:a16="http://schemas.microsoft.com/office/drawing/2014/main" id="{A9DB7369-16B4-48D0-BF18-BAC7BA73C3AE}"/>
              </a:ext>
            </a:extLst>
          </p:cNvPr>
          <p:cNvSpPr>
            <a:spLocks noGrp="1"/>
          </p:cNvSpPr>
          <p:nvPr/>
        </p:nvSpPr>
        <p:spPr>
          <a:xfrm>
            <a:off x="2733268" y="2897427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5" name="p1-o45">
            <a:extLst>
              <a:ext uri="{FF2B5EF4-FFF2-40B4-BE49-F238E27FC236}">
                <a16:creationId xmlns:a16="http://schemas.microsoft.com/office/drawing/2014/main" id="{5798CC4C-7FD0-4EB7-A85A-421C01613A51}"/>
              </a:ext>
            </a:extLst>
          </p:cNvPr>
          <p:cNvSpPr>
            <a:spLocks noGrp="1"/>
          </p:cNvSpPr>
          <p:nvPr/>
        </p:nvSpPr>
        <p:spPr>
          <a:xfrm>
            <a:off x="3066643" y="28974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46" name="p1-o46">
            <a:extLst>
              <a:ext uri="{FF2B5EF4-FFF2-40B4-BE49-F238E27FC236}">
                <a16:creationId xmlns:a16="http://schemas.microsoft.com/office/drawing/2014/main" id="{9EACCEDE-B239-4083-B1BE-9425784D7B61}"/>
              </a:ext>
            </a:extLst>
          </p:cNvPr>
          <p:cNvSpPr>
            <a:spLocks noGrp="1"/>
          </p:cNvSpPr>
          <p:nvPr/>
        </p:nvSpPr>
        <p:spPr>
          <a:xfrm>
            <a:off x="875893" y="3364152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Layer 2</a:t>
            </a:r>
          </a:p>
        </p:txBody>
      </p:sp>
      <p:sp>
        <p:nvSpPr>
          <p:cNvPr id="47" name="p1-o47">
            <a:extLst>
              <a:ext uri="{FF2B5EF4-FFF2-40B4-BE49-F238E27FC236}">
                <a16:creationId xmlns:a16="http://schemas.microsoft.com/office/drawing/2014/main" id="{20B5F5F9-456B-44E6-B6B3-AA0A0667D6A3}"/>
              </a:ext>
            </a:extLst>
          </p:cNvPr>
          <p:cNvSpPr>
            <a:spLocks noGrp="1"/>
          </p:cNvSpPr>
          <p:nvPr/>
        </p:nvSpPr>
        <p:spPr>
          <a:xfrm>
            <a:off x="1504543" y="3383202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48" name="p1-o48">
            <a:extLst>
              <a:ext uri="{FF2B5EF4-FFF2-40B4-BE49-F238E27FC236}">
                <a16:creationId xmlns:a16="http://schemas.microsoft.com/office/drawing/2014/main" id="{13EF6D77-95D5-4EF7-8D71-865A5535134D}"/>
              </a:ext>
            </a:extLst>
          </p:cNvPr>
          <p:cNvSpPr>
            <a:spLocks noGrp="1"/>
          </p:cNvSpPr>
          <p:nvPr/>
        </p:nvSpPr>
        <p:spPr>
          <a:xfrm>
            <a:off x="1504543" y="3307002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49" name="p1-o49">
            <a:extLst>
              <a:ext uri="{FF2B5EF4-FFF2-40B4-BE49-F238E27FC236}">
                <a16:creationId xmlns:a16="http://schemas.microsoft.com/office/drawing/2014/main" id="{9B3A8CDD-78BA-4DFF-8697-34939380D6C0}"/>
              </a:ext>
            </a:extLst>
          </p:cNvPr>
          <p:cNvSpPr>
            <a:spLocks noGrp="1"/>
          </p:cNvSpPr>
          <p:nvPr/>
        </p:nvSpPr>
        <p:spPr>
          <a:xfrm>
            <a:off x="1837918" y="33070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50" name="p1-o50">
            <a:extLst>
              <a:ext uri="{FF2B5EF4-FFF2-40B4-BE49-F238E27FC236}">
                <a16:creationId xmlns:a16="http://schemas.microsoft.com/office/drawing/2014/main" id="{13C6988A-88F7-4319-9110-F3CBF84B5796}"/>
              </a:ext>
            </a:extLst>
          </p:cNvPr>
          <p:cNvSpPr>
            <a:spLocks noGrp="1"/>
          </p:cNvSpPr>
          <p:nvPr/>
        </p:nvSpPr>
        <p:spPr>
          <a:xfrm>
            <a:off x="1914118" y="3383202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51" name="p1-o51">
            <a:extLst>
              <a:ext uri="{FF2B5EF4-FFF2-40B4-BE49-F238E27FC236}">
                <a16:creationId xmlns:a16="http://schemas.microsoft.com/office/drawing/2014/main" id="{40E77750-7AE6-44F0-A2AB-B1FC3980332A}"/>
              </a:ext>
            </a:extLst>
          </p:cNvPr>
          <p:cNvSpPr>
            <a:spLocks noGrp="1"/>
          </p:cNvSpPr>
          <p:nvPr/>
        </p:nvSpPr>
        <p:spPr>
          <a:xfrm>
            <a:off x="1914118" y="3307002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2" name="p1-o52">
            <a:extLst>
              <a:ext uri="{FF2B5EF4-FFF2-40B4-BE49-F238E27FC236}">
                <a16:creationId xmlns:a16="http://schemas.microsoft.com/office/drawing/2014/main" id="{F1732320-C93E-40D4-8E71-8FD857C93CCE}"/>
              </a:ext>
            </a:extLst>
          </p:cNvPr>
          <p:cNvSpPr>
            <a:spLocks noGrp="1"/>
          </p:cNvSpPr>
          <p:nvPr/>
        </p:nvSpPr>
        <p:spPr>
          <a:xfrm>
            <a:off x="2247493" y="33070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53" name="p1-o53">
            <a:extLst>
              <a:ext uri="{FF2B5EF4-FFF2-40B4-BE49-F238E27FC236}">
                <a16:creationId xmlns:a16="http://schemas.microsoft.com/office/drawing/2014/main" id="{99FD732A-BC77-4B70-8E1D-5F97E6770042}"/>
              </a:ext>
            </a:extLst>
          </p:cNvPr>
          <p:cNvSpPr>
            <a:spLocks noGrp="1"/>
          </p:cNvSpPr>
          <p:nvPr/>
        </p:nvSpPr>
        <p:spPr>
          <a:xfrm>
            <a:off x="2323693" y="3383202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54" name="p1-o54">
            <a:extLst>
              <a:ext uri="{FF2B5EF4-FFF2-40B4-BE49-F238E27FC236}">
                <a16:creationId xmlns:a16="http://schemas.microsoft.com/office/drawing/2014/main" id="{3253C6B9-78AA-45F5-AF19-BEB19E284958}"/>
              </a:ext>
            </a:extLst>
          </p:cNvPr>
          <p:cNvSpPr>
            <a:spLocks noGrp="1"/>
          </p:cNvSpPr>
          <p:nvPr/>
        </p:nvSpPr>
        <p:spPr>
          <a:xfrm>
            <a:off x="2323693" y="3307002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5" name="p1-o55">
            <a:extLst>
              <a:ext uri="{FF2B5EF4-FFF2-40B4-BE49-F238E27FC236}">
                <a16:creationId xmlns:a16="http://schemas.microsoft.com/office/drawing/2014/main" id="{717BA5FB-140A-42B4-ACD8-5D6AE048E7B5}"/>
              </a:ext>
            </a:extLst>
          </p:cNvPr>
          <p:cNvSpPr>
            <a:spLocks noGrp="1"/>
          </p:cNvSpPr>
          <p:nvPr/>
        </p:nvSpPr>
        <p:spPr>
          <a:xfrm>
            <a:off x="2657068" y="33070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56" name="p1-o56">
            <a:extLst>
              <a:ext uri="{FF2B5EF4-FFF2-40B4-BE49-F238E27FC236}">
                <a16:creationId xmlns:a16="http://schemas.microsoft.com/office/drawing/2014/main" id="{32B30107-FB93-402C-A698-E62CDBA44FAF}"/>
              </a:ext>
            </a:extLst>
          </p:cNvPr>
          <p:cNvSpPr>
            <a:spLocks noGrp="1"/>
          </p:cNvSpPr>
          <p:nvPr/>
        </p:nvSpPr>
        <p:spPr>
          <a:xfrm>
            <a:off x="2733268" y="3383202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57" name="p1-o57">
            <a:extLst>
              <a:ext uri="{FF2B5EF4-FFF2-40B4-BE49-F238E27FC236}">
                <a16:creationId xmlns:a16="http://schemas.microsoft.com/office/drawing/2014/main" id="{BA1F3BA4-732F-4C2B-8DD7-1ADAAB946A2B}"/>
              </a:ext>
            </a:extLst>
          </p:cNvPr>
          <p:cNvSpPr>
            <a:spLocks noGrp="1"/>
          </p:cNvSpPr>
          <p:nvPr/>
        </p:nvSpPr>
        <p:spPr>
          <a:xfrm>
            <a:off x="2733268" y="3307002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58" name="p1-o58">
            <a:extLst>
              <a:ext uri="{FF2B5EF4-FFF2-40B4-BE49-F238E27FC236}">
                <a16:creationId xmlns:a16="http://schemas.microsoft.com/office/drawing/2014/main" id="{0385CA09-F6D9-4B6E-B585-41997C2466CB}"/>
              </a:ext>
            </a:extLst>
          </p:cNvPr>
          <p:cNvSpPr>
            <a:spLocks noGrp="1"/>
          </p:cNvSpPr>
          <p:nvPr/>
        </p:nvSpPr>
        <p:spPr>
          <a:xfrm>
            <a:off x="3066643" y="3307002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59" name="p1-o59">
            <a:extLst>
              <a:ext uri="{FF2B5EF4-FFF2-40B4-BE49-F238E27FC236}">
                <a16:creationId xmlns:a16="http://schemas.microsoft.com/office/drawing/2014/main" id="{9BF5CA74-0FFB-4FD3-9327-0D9C29095F3D}"/>
              </a:ext>
            </a:extLst>
          </p:cNvPr>
          <p:cNvSpPr>
            <a:spLocks noGrp="1"/>
          </p:cNvSpPr>
          <p:nvPr/>
        </p:nvSpPr>
        <p:spPr>
          <a:xfrm>
            <a:off x="875893" y="3983277"/>
            <a:ext cx="6381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Layer 35</a:t>
            </a:r>
          </a:p>
        </p:txBody>
      </p:sp>
      <p:sp>
        <p:nvSpPr>
          <p:cNvPr id="60" name="p1-o60">
            <a:extLst>
              <a:ext uri="{FF2B5EF4-FFF2-40B4-BE49-F238E27FC236}">
                <a16:creationId xmlns:a16="http://schemas.microsoft.com/office/drawing/2014/main" id="{D4A6CC37-2DCE-46D7-A603-DDF40926BB32}"/>
              </a:ext>
            </a:extLst>
          </p:cNvPr>
          <p:cNvSpPr>
            <a:spLocks noGrp="1"/>
          </p:cNvSpPr>
          <p:nvPr/>
        </p:nvSpPr>
        <p:spPr>
          <a:xfrm>
            <a:off x="1504543" y="4002327"/>
            <a:ext cx="33337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61" name="p1-o61">
            <a:extLst>
              <a:ext uri="{FF2B5EF4-FFF2-40B4-BE49-F238E27FC236}">
                <a16:creationId xmlns:a16="http://schemas.microsoft.com/office/drawing/2014/main" id="{AFF05E0F-0B38-4718-BF82-1BCB5727B74F}"/>
              </a:ext>
            </a:extLst>
          </p:cNvPr>
          <p:cNvSpPr>
            <a:spLocks noGrp="1"/>
          </p:cNvSpPr>
          <p:nvPr/>
        </p:nvSpPr>
        <p:spPr>
          <a:xfrm>
            <a:off x="1504543" y="3926127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2" name="p1-o62">
            <a:extLst>
              <a:ext uri="{FF2B5EF4-FFF2-40B4-BE49-F238E27FC236}">
                <a16:creationId xmlns:a16="http://schemas.microsoft.com/office/drawing/2014/main" id="{E92305B7-E1E4-443D-9DF2-9CC987631AF6}"/>
              </a:ext>
            </a:extLst>
          </p:cNvPr>
          <p:cNvSpPr>
            <a:spLocks noGrp="1"/>
          </p:cNvSpPr>
          <p:nvPr/>
        </p:nvSpPr>
        <p:spPr>
          <a:xfrm>
            <a:off x="1837918" y="39261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63" name="p1-o63">
            <a:extLst>
              <a:ext uri="{FF2B5EF4-FFF2-40B4-BE49-F238E27FC236}">
                <a16:creationId xmlns:a16="http://schemas.microsoft.com/office/drawing/2014/main" id="{E6D5A1B6-11F3-4495-ABCB-4658F538936E}"/>
              </a:ext>
            </a:extLst>
          </p:cNvPr>
          <p:cNvSpPr>
            <a:spLocks noGrp="1"/>
          </p:cNvSpPr>
          <p:nvPr/>
        </p:nvSpPr>
        <p:spPr>
          <a:xfrm>
            <a:off x="1914118" y="4002327"/>
            <a:ext cx="33337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64" name="p1-o64">
            <a:extLst>
              <a:ext uri="{FF2B5EF4-FFF2-40B4-BE49-F238E27FC236}">
                <a16:creationId xmlns:a16="http://schemas.microsoft.com/office/drawing/2014/main" id="{79D0BC08-2344-43DD-8754-12205F0E8AF4}"/>
              </a:ext>
            </a:extLst>
          </p:cNvPr>
          <p:cNvSpPr>
            <a:spLocks noGrp="1"/>
          </p:cNvSpPr>
          <p:nvPr/>
        </p:nvSpPr>
        <p:spPr>
          <a:xfrm>
            <a:off x="1914118" y="3926127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5" name="p1-o65">
            <a:extLst>
              <a:ext uri="{FF2B5EF4-FFF2-40B4-BE49-F238E27FC236}">
                <a16:creationId xmlns:a16="http://schemas.microsoft.com/office/drawing/2014/main" id="{5C1B1D48-A36F-4088-9BD7-B9E9ACC80F4B}"/>
              </a:ext>
            </a:extLst>
          </p:cNvPr>
          <p:cNvSpPr>
            <a:spLocks noGrp="1"/>
          </p:cNvSpPr>
          <p:nvPr/>
        </p:nvSpPr>
        <p:spPr>
          <a:xfrm>
            <a:off x="2247493" y="39261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66" name="p1-o66">
            <a:extLst>
              <a:ext uri="{FF2B5EF4-FFF2-40B4-BE49-F238E27FC236}">
                <a16:creationId xmlns:a16="http://schemas.microsoft.com/office/drawing/2014/main" id="{5696F80F-3D28-4A42-9BD3-70CBB083718E}"/>
              </a:ext>
            </a:extLst>
          </p:cNvPr>
          <p:cNvSpPr>
            <a:spLocks noGrp="1"/>
          </p:cNvSpPr>
          <p:nvPr/>
        </p:nvSpPr>
        <p:spPr>
          <a:xfrm>
            <a:off x="2323693" y="4002327"/>
            <a:ext cx="33337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67" name="p1-o67">
            <a:extLst>
              <a:ext uri="{FF2B5EF4-FFF2-40B4-BE49-F238E27FC236}">
                <a16:creationId xmlns:a16="http://schemas.microsoft.com/office/drawing/2014/main" id="{6E776905-5C80-4669-998B-1EFE59564AC0}"/>
              </a:ext>
            </a:extLst>
          </p:cNvPr>
          <p:cNvSpPr>
            <a:spLocks noGrp="1"/>
          </p:cNvSpPr>
          <p:nvPr/>
        </p:nvSpPr>
        <p:spPr>
          <a:xfrm>
            <a:off x="2323693" y="3926127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68" name="p1-o68">
            <a:extLst>
              <a:ext uri="{FF2B5EF4-FFF2-40B4-BE49-F238E27FC236}">
                <a16:creationId xmlns:a16="http://schemas.microsoft.com/office/drawing/2014/main" id="{3CA7A712-DDBD-467F-9B6A-4DB88023ED39}"/>
              </a:ext>
            </a:extLst>
          </p:cNvPr>
          <p:cNvSpPr>
            <a:spLocks noGrp="1"/>
          </p:cNvSpPr>
          <p:nvPr/>
        </p:nvSpPr>
        <p:spPr>
          <a:xfrm>
            <a:off x="2657068" y="39261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69" name="p1-o69">
            <a:extLst>
              <a:ext uri="{FF2B5EF4-FFF2-40B4-BE49-F238E27FC236}">
                <a16:creationId xmlns:a16="http://schemas.microsoft.com/office/drawing/2014/main" id="{6E3DDF40-FF78-4ED5-BEE8-6E8322F387AE}"/>
              </a:ext>
            </a:extLst>
          </p:cNvPr>
          <p:cNvSpPr>
            <a:spLocks noGrp="1"/>
          </p:cNvSpPr>
          <p:nvPr/>
        </p:nvSpPr>
        <p:spPr>
          <a:xfrm>
            <a:off x="2733268" y="4002327"/>
            <a:ext cx="33337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70" name="p1-o70">
            <a:extLst>
              <a:ext uri="{FF2B5EF4-FFF2-40B4-BE49-F238E27FC236}">
                <a16:creationId xmlns:a16="http://schemas.microsoft.com/office/drawing/2014/main" id="{1CB1DB81-591A-4340-B52A-921CA53F29CA}"/>
              </a:ext>
            </a:extLst>
          </p:cNvPr>
          <p:cNvSpPr>
            <a:spLocks noGrp="1"/>
          </p:cNvSpPr>
          <p:nvPr/>
        </p:nvSpPr>
        <p:spPr>
          <a:xfrm>
            <a:off x="2733268" y="3926127"/>
            <a:ext cx="419100" cy="76200"/>
          </a:xfrm>
          <a:custGeom>
            <a:avLst/>
            <a:gdLst/>
            <a:ahLst/>
            <a:cxnLst/>
            <a:rect l="0" t="0" r="0" b="0"/>
            <a:pathLst>
              <a:path w="419100" h="76200">
                <a:moveTo>
                  <a:pt x="0" y="76200"/>
                </a:moveTo>
                <a:lnTo>
                  <a:pt x="85725" y="0"/>
                </a:lnTo>
                <a:lnTo>
                  <a:pt x="419100" y="0"/>
                </a:lnTo>
                <a:lnTo>
                  <a:pt x="33337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71" name="p1-o71">
            <a:extLst>
              <a:ext uri="{FF2B5EF4-FFF2-40B4-BE49-F238E27FC236}">
                <a16:creationId xmlns:a16="http://schemas.microsoft.com/office/drawing/2014/main" id="{AD402BDE-606A-4C41-8877-B45A2D20C28E}"/>
              </a:ext>
            </a:extLst>
          </p:cNvPr>
          <p:cNvSpPr>
            <a:spLocks noGrp="1"/>
          </p:cNvSpPr>
          <p:nvPr/>
        </p:nvSpPr>
        <p:spPr>
          <a:xfrm>
            <a:off x="3066643" y="3926127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72" name="p1-o72">
            <a:extLst>
              <a:ext uri="{FF2B5EF4-FFF2-40B4-BE49-F238E27FC236}">
                <a16:creationId xmlns:a16="http://schemas.microsoft.com/office/drawing/2014/main" id="{E62B23C0-E40B-4218-9312-C868BE1E6D3E}"/>
              </a:ext>
            </a:extLst>
          </p:cNvPr>
          <p:cNvSpPr>
            <a:spLocks noGrp="1"/>
          </p:cNvSpPr>
          <p:nvPr/>
        </p:nvSpPr>
        <p:spPr>
          <a:xfrm>
            <a:off x="1085443" y="3621327"/>
            <a:ext cx="2857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⋮</a:t>
            </a:r>
          </a:p>
        </p:txBody>
      </p:sp>
      <p:sp>
        <p:nvSpPr>
          <p:cNvPr id="73" name="p1-o73">
            <a:extLst>
              <a:ext uri="{FF2B5EF4-FFF2-40B4-BE49-F238E27FC236}">
                <a16:creationId xmlns:a16="http://schemas.microsoft.com/office/drawing/2014/main" id="{B816DC74-E8CD-43D6-A8C9-8D2EF3C99C3F}"/>
              </a:ext>
            </a:extLst>
          </p:cNvPr>
          <p:cNvSpPr>
            <a:spLocks noGrp="1"/>
          </p:cNvSpPr>
          <p:nvPr/>
        </p:nvSpPr>
        <p:spPr>
          <a:xfrm>
            <a:off x="2161768" y="3640377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91" name="p1-o89">
            <a:extLst>
              <a:ext uri="{FF2B5EF4-FFF2-40B4-BE49-F238E27FC236}">
                <a16:creationId xmlns:a16="http://schemas.microsoft.com/office/drawing/2014/main" id="{7D9636A5-4F1B-46D9-BE42-8CA49A16404B}"/>
              </a:ext>
            </a:extLst>
          </p:cNvPr>
          <p:cNvSpPr>
            <a:spLocks noGrp="1"/>
          </p:cNvSpPr>
          <p:nvPr/>
        </p:nvSpPr>
        <p:spPr>
          <a:xfrm>
            <a:off x="5082584" y="2230280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L0</a:t>
            </a:r>
          </a:p>
        </p:txBody>
      </p:sp>
      <p:sp>
        <p:nvSpPr>
          <p:cNvPr id="92" name="p1-o90">
            <a:extLst>
              <a:ext uri="{FF2B5EF4-FFF2-40B4-BE49-F238E27FC236}">
                <a16:creationId xmlns:a16="http://schemas.microsoft.com/office/drawing/2014/main" id="{06C03460-6094-42F3-8AA1-2EEDEABA7ABA}"/>
              </a:ext>
            </a:extLst>
          </p:cNvPr>
          <p:cNvSpPr>
            <a:spLocks noGrp="1"/>
          </p:cNvSpPr>
          <p:nvPr/>
        </p:nvSpPr>
        <p:spPr>
          <a:xfrm>
            <a:off x="5425484" y="2230280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L1</a:t>
            </a:r>
          </a:p>
        </p:txBody>
      </p:sp>
      <p:sp>
        <p:nvSpPr>
          <p:cNvPr id="93" name="p1-o91">
            <a:extLst>
              <a:ext uri="{FF2B5EF4-FFF2-40B4-BE49-F238E27FC236}">
                <a16:creationId xmlns:a16="http://schemas.microsoft.com/office/drawing/2014/main" id="{C9F509DD-54E7-4435-80C5-65ECA70106AB}"/>
              </a:ext>
            </a:extLst>
          </p:cNvPr>
          <p:cNvSpPr>
            <a:spLocks noGrp="1"/>
          </p:cNvSpPr>
          <p:nvPr/>
        </p:nvSpPr>
        <p:spPr>
          <a:xfrm>
            <a:off x="5768384" y="2230280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L2</a:t>
            </a:r>
          </a:p>
        </p:txBody>
      </p:sp>
      <p:sp>
        <p:nvSpPr>
          <p:cNvPr id="94" name="p1-o92">
            <a:extLst>
              <a:ext uri="{FF2B5EF4-FFF2-40B4-BE49-F238E27FC236}">
                <a16:creationId xmlns:a16="http://schemas.microsoft.com/office/drawing/2014/main" id="{17B3E5C4-EDB8-4893-8D8F-DFA5AB961BCE}"/>
              </a:ext>
            </a:extLst>
          </p:cNvPr>
          <p:cNvSpPr>
            <a:spLocks noGrp="1"/>
          </p:cNvSpPr>
          <p:nvPr/>
        </p:nvSpPr>
        <p:spPr>
          <a:xfrm>
            <a:off x="6111284" y="2230280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L3</a:t>
            </a:r>
          </a:p>
        </p:txBody>
      </p:sp>
      <p:sp>
        <p:nvSpPr>
          <p:cNvPr id="95" name="p1-o93">
            <a:extLst>
              <a:ext uri="{FF2B5EF4-FFF2-40B4-BE49-F238E27FC236}">
                <a16:creationId xmlns:a16="http://schemas.microsoft.com/office/drawing/2014/main" id="{8E59E40D-165F-428E-B2C0-EB8AB3C855BA}"/>
              </a:ext>
            </a:extLst>
          </p:cNvPr>
          <p:cNvSpPr>
            <a:spLocks noGrp="1"/>
          </p:cNvSpPr>
          <p:nvPr/>
        </p:nvSpPr>
        <p:spPr>
          <a:xfrm>
            <a:off x="6454184" y="2230280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96" name="p1-o94">
            <a:extLst>
              <a:ext uri="{FF2B5EF4-FFF2-40B4-BE49-F238E27FC236}">
                <a16:creationId xmlns:a16="http://schemas.microsoft.com/office/drawing/2014/main" id="{32EE5D12-D39B-4A72-A28D-59CC1C911398}"/>
              </a:ext>
            </a:extLst>
          </p:cNvPr>
          <p:cNvSpPr>
            <a:spLocks noGrp="1"/>
          </p:cNvSpPr>
          <p:nvPr/>
        </p:nvSpPr>
        <p:spPr>
          <a:xfrm>
            <a:off x="6797084" y="2230280"/>
            <a:ext cx="31432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L35</a:t>
            </a:r>
          </a:p>
        </p:txBody>
      </p:sp>
      <p:sp>
        <p:nvSpPr>
          <p:cNvPr id="97" name="p1-o95">
            <a:extLst>
              <a:ext uri="{FF2B5EF4-FFF2-40B4-BE49-F238E27FC236}">
                <a16:creationId xmlns:a16="http://schemas.microsoft.com/office/drawing/2014/main" id="{0921011E-1BA7-419F-AF00-F7BDB5EE27AF}"/>
              </a:ext>
            </a:extLst>
          </p:cNvPr>
          <p:cNvSpPr>
            <a:spLocks noGrp="1"/>
          </p:cNvSpPr>
          <p:nvPr/>
        </p:nvSpPr>
        <p:spPr>
          <a:xfrm>
            <a:off x="4549184" y="2554130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Block 0</a:t>
            </a:r>
          </a:p>
        </p:txBody>
      </p:sp>
      <p:sp>
        <p:nvSpPr>
          <p:cNvPr id="98" name="p1-o96">
            <a:extLst>
              <a:ext uri="{FF2B5EF4-FFF2-40B4-BE49-F238E27FC236}">
                <a16:creationId xmlns:a16="http://schemas.microsoft.com/office/drawing/2014/main" id="{A90BEA3E-07FD-4844-BCDA-30A0A7E0D019}"/>
              </a:ext>
            </a:extLst>
          </p:cNvPr>
          <p:cNvSpPr>
            <a:spLocks noGrp="1"/>
          </p:cNvSpPr>
          <p:nvPr/>
        </p:nvSpPr>
        <p:spPr>
          <a:xfrm>
            <a:off x="5149259" y="2573180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99" name="p1-o97">
            <a:extLst>
              <a:ext uri="{FF2B5EF4-FFF2-40B4-BE49-F238E27FC236}">
                <a16:creationId xmlns:a16="http://schemas.microsoft.com/office/drawing/2014/main" id="{D75728C7-E22D-4126-B151-EE0B9CFCB98A}"/>
              </a:ext>
            </a:extLst>
          </p:cNvPr>
          <p:cNvSpPr>
            <a:spLocks noGrp="1"/>
          </p:cNvSpPr>
          <p:nvPr/>
        </p:nvSpPr>
        <p:spPr>
          <a:xfrm>
            <a:off x="5149259" y="249698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0" name="p1-o98">
            <a:extLst>
              <a:ext uri="{FF2B5EF4-FFF2-40B4-BE49-F238E27FC236}">
                <a16:creationId xmlns:a16="http://schemas.microsoft.com/office/drawing/2014/main" id="{8BBBB948-DEA5-4760-9FB0-972C1D0C8954}"/>
              </a:ext>
            </a:extLst>
          </p:cNvPr>
          <p:cNvSpPr>
            <a:spLocks noGrp="1"/>
          </p:cNvSpPr>
          <p:nvPr/>
        </p:nvSpPr>
        <p:spPr>
          <a:xfrm>
            <a:off x="5425484" y="249698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01" name="p1-o99">
            <a:extLst>
              <a:ext uri="{FF2B5EF4-FFF2-40B4-BE49-F238E27FC236}">
                <a16:creationId xmlns:a16="http://schemas.microsoft.com/office/drawing/2014/main" id="{0C10A0C0-FC94-4061-8679-AAB116712820}"/>
              </a:ext>
            </a:extLst>
          </p:cNvPr>
          <p:cNvSpPr>
            <a:spLocks noGrp="1"/>
          </p:cNvSpPr>
          <p:nvPr/>
        </p:nvSpPr>
        <p:spPr>
          <a:xfrm>
            <a:off x="5492159" y="2573180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02" name="p1-o100">
            <a:extLst>
              <a:ext uri="{FF2B5EF4-FFF2-40B4-BE49-F238E27FC236}">
                <a16:creationId xmlns:a16="http://schemas.microsoft.com/office/drawing/2014/main" id="{A64E88BB-8504-4E06-83B8-08580B8BE182}"/>
              </a:ext>
            </a:extLst>
          </p:cNvPr>
          <p:cNvSpPr>
            <a:spLocks noGrp="1"/>
          </p:cNvSpPr>
          <p:nvPr/>
        </p:nvSpPr>
        <p:spPr>
          <a:xfrm>
            <a:off x="5492159" y="249698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3" name="p1-o101">
            <a:extLst>
              <a:ext uri="{FF2B5EF4-FFF2-40B4-BE49-F238E27FC236}">
                <a16:creationId xmlns:a16="http://schemas.microsoft.com/office/drawing/2014/main" id="{DC21C182-BF06-491C-BBF7-3703E9DB104E}"/>
              </a:ext>
            </a:extLst>
          </p:cNvPr>
          <p:cNvSpPr>
            <a:spLocks noGrp="1"/>
          </p:cNvSpPr>
          <p:nvPr/>
        </p:nvSpPr>
        <p:spPr>
          <a:xfrm>
            <a:off x="5768384" y="249698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04" name="p1-o102">
            <a:extLst>
              <a:ext uri="{FF2B5EF4-FFF2-40B4-BE49-F238E27FC236}">
                <a16:creationId xmlns:a16="http://schemas.microsoft.com/office/drawing/2014/main" id="{AC0D91E8-098F-4437-A10A-E52A0945655F}"/>
              </a:ext>
            </a:extLst>
          </p:cNvPr>
          <p:cNvSpPr>
            <a:spLocks noGrp="1"/>
          </p:cNvSpPr>
          <p:nvPr/>
        </p:nvSpPr>
        <p:spPr>
          <a:xfrm>
            <a:off x="5835059" y="2573180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05" name="p1-o103">
            <a:extLst>
              <a:ext uri="{FF2B5EF4-FFF2-40B4-BE49-F238E27FC236}">
                <a16:creationId xmlns:a16="http://schemas.microsoft.com/office/drawing/2014/main" id="{356623BD-3F68-4F8D-ADCF-6AC4CD5ABFF6}"/>
              </a:ext>
            </a:extLst>
          </p:cNvPr>
          <p:cNvSpPr>
            <a:spLocks noGrp="1"/>
          </p:cNvSpPr>
          <p:nvPr/>
        </p:nvSpPr>
        <p:spPr>
          <a:xfrm>
            <a:off x="5835059" y="249698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6" name="p1-o104">
            <a:extLst>
              <a:ext uri="{FF2B5EF4-FFF2-40B4-BE49-F238E27FC236}">
                <a16:creationId xmlns:a16="http://schemas.microsoft.com/office/drawing/2014/main" id="{0FEE7319-A973-4C20-AC32-DF38DAFF644B}"/>
              </a:ext>
            </a:extLst>
          </p:cNvPr>
          <p:cNvSpPr>
            <a:spLocks noGrp="1"/>
          </p:cNvSpPr>
          <p:nvPr/>
        </p:nvSpPr>
        <p:spPr>
          <a:xfrm>
            <a:off x="6111284" y="249698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07" name="p1-o105">
            <a:extLst>
              <a:ext uri="{FF2B5EF4-FFF2-40B4-BE49-F238E27FC236}">
                <a16:creationId xmlns:a16="http://schemas.microsoft.com/office/drawing/2014/main" id="{97984A1C-D47B-4ECF-8192-80B6744AB8E0}"/>
              </a:ext>
            </a:extLst>
          </p:cNvPr>
          <p:cNvSpPr>
            <a:spLocks noGrp="1"/>
          </p:cNvSpPr>
          <p:nvPr/>
        </p:nvSpPr>
        <p:spPr>
          <a:xfrm>
            <a:off x="6177959" y="2573180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08" name="p1-o106">
            <a:extLst>
              <a:ext uri="{FF2B5EF4-FFF2-40B4-BE49-F238E27FC236}">
                <a16:creationId xmlns:a16="http://schemas.microsoft.com/office/drawing/2014/main" id="{35A018E9-3F10-4671-827D-A066C7DC19C5}"/>
              </a:ext>
            </a:extLst>
          </p:cNvPr>
          <p:cNvSpPr>
            <a:spLocks noGrp="1"/>
          </p:cNvSpPr>
          <p:nvPr/>
        </p:nvSpPr>
        <p:spPr>
          <a:xfrm>
            <a:off x="6177959" y="249698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09" name="p1-o107">
            <a:extLst>
              <a:ext uri="{FF2B5EF4-FFF2-40B4-BE49-F238E27FC236}">
                <a16:creationId xmlns:a16="http://schemas.microsoft.com/office/drawing/2014/main" id="{66B9FC1D-E336-4E7E-A4BA-B2C3F88B22AD}"/>
              </a:ext>
            </a:extLst>
          </p:cNvPr>
          <p:cNvSpPr>
            <a:spLocks noGrp="1"/>
          </p:cNvSpPr>
          <p:nvPr/>
        </p:nvSpPr>
        <p:spPr>
          <a:xfrm>
            <a:off x="6454184" y="249698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10" name="p1-o108">
            <a:extLst>
              <a:ext uri="{FF2B5EF4-FFF2-40B4-BE49-F238E27FC236}">
                <a16:creationId xmlns:a16="http://schemas.microsoft.com/office/drawing/2014/main" id="{06E99393-04F3-4C1A-A3E3-7A119574B540}"/>
              </a:ext>
            </a:extLst>
          </p:cNvPr>
          <p:cNvSpPr>
            <a:spLocks noGrp="1"/>
          </p:cNvSpPr>
          <p:nvPr/>
        </p:nvSpPr>
        <p:spPr>
          <a:xfrm>
            <a:off x="6520859" y="2573180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11" name="p1-o109">
            <a:extLst>
              <a:ext uri="{FF2B5EF4-FFF2-40B4-BE49-F238E27FC236}">
                <a16:creationId xmlns:a16="http://schemas.microsoft.com/office/drawing/2014/main" id="{1F68196D-BAD5-462A-A26A-3276449D064B}"/>
              </a:ext>
            </a:extLst>
          </p:cNvPr>
          <p:cNvSpPr>
            <a:spLocks noGrp="1"/>
          </p:cNvSpPr>
          <p:nvPr/>
        </p:nvSpPr>
        <p:spPr>
          <a:xfrm>
            <a:off x="6520859" y="249698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2" name="p1-o110">
            <a:extLst>
              <a:ext uri="{FF2B5EF4-FFF2-40B4-BE49-F238E27FC236}">
                <a16:creationId xmlns:a16="http://schemas.microsoft.com/office/drawing/2014/main" id="{DEDD55C1-3AEA-40C5-BB62-7C4A6660B6AC}"/>
              </a:ext>
            </a:extLst>
          </p:cNvPr>
          <p:cNvSpPr>
            <a:spLocks noGrp="1"/>
          </p:cNvSpPr>
          <p:nvPr/>
        </p:nvSpPr>
        <p:spPr>
          <a:xfrm>
            <a:off x="6797084" y="249698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13" name="p1-o111">
            <a:extLst>
              <a:ext uri="{FF2B5EF4-FFF2-40B4-BE49-F238E27FC236}">
                <a16:creationId xmlns:a16="http://schemas.microsoft.com/office/drawing/2014/main" id="{8260231B-A631-483B-905A-B220C079E0C0}"/>
              </a:ext>
            </a:extLst>
          </p:cNvPr>
          <p:cNvSpPr>
            <a:spLocks noGrp="1"/>
          </p:cNvSpPr>
          <p:nvPr/>
        </p:nvSpPr>
        <p:spPr>
          <a:xfrm>
            <a:off x="6863759" y="2573180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14" name="p1-o112">
            <a:extLst>
              <a:ext uri="{FF2B5EF4-FFF2-40B4-BE49-F238E27FC236}">
                <a16:creationId xmlns:a16="http://schemas.microsoft.com/office/drawing/2014/main" id="{6C316A43-0402-41D6-9E0C-74A6375A9502}"/>
              </a:ext>
            </a:extLst>
          </p:cNvPr>
          <p:cNvSpPr>
            <a:spLocks noGrp="1"/>
          </p:cNvSpPr>
          <p:nvPr/>
        </p:nvSpPr>
        <p:spPr>
          <a:xfrm>
            <a:off x="6863759" y="249698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5" name="p1-o113">
            <a:extLst>
              <a:ext uri="{FF2B5EF4-FFF2-40B4-BE49-F238E27FC236}">
                <a16:creationId xmlns:a16="http://schemas.microsoft.com/office/drawing/2014/main" id="{2F5009AA-5CD6-410B-93E0-9465D311DA3A}"/>
              </a:ext>
            </a:extLst>
          </p:cNvPr>
          <p:cNvSpPr>
            <a:spLocks noGrp="1"/>
          </p:cNvSpPr>
          <p:nvPr/>
        </p:nvSpPr>
        <p:spPr>
          <a:xfrm>
            <a:off x="7139984" y="249698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16" name="p1-o114">
            <a:extLst>
              <a:ext uri="{FF2B5EF4-FFF2-40B4-BE49-F238E27FC236}">
                <a16:creationId xmlns:a16="http://schemas.microsoft.com/office/drawing/2014/main" id="{A8F3A586-74FD-452F-ACCC-CE57B00BD946}"/>
              </a:ext>
            </a:extLst>
          </p:cNvPr>
          <p:cNvSpPr>
            <a:spLocks noGrp="1"/>
          </p:cNvSpPr>
          <p:nvPr/>
        </p:nvSpPr>
        <p:spPr>
          <a:xfrm>
            <a:off x="4549184" y="2963705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Block 1</a:t>
            </a:r>
          </a:p>
        </p:txBody>
      </p:sp>
      <p:sp>
        <p:nvSpPr>
          <p:cNvPr id="117" name="p1-o115">
            <a:extLst>
              <a:ext uri="{FF2B5EF4-FFF2-40B4-BE49-F238E27FC236}">
                <a16:creationId xmlns:a16="http://schemas.microsoft.com/office/drawing/2014/main" id="{CC70E2C8-42B6-4C39-8CCB-3848560155CF}"/>
              </a:ext>
            </a:extLst>
          </p:cNvPr>
          <p:cNvSpPr>
            <a:spLocks noGrp="1"/>
          </p:cNvSpPr>
          <p:nvPr/>
        </p:nvSpPr>
        <p:spPr>
          <a:xfrm>
            <a:off x="5149259" y="2982755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18" name="p1-o116">
            <a:extLst>
              <a:ext uri="{FF2B5EF4-FFF2-40B4-BE49-F238E27FC236}">
                <a16:creationId xmlns:a16="http://schemas.microsoft.com/office/drawing/2014/main" id="{D04C1D07-8ED4-49FE-9FC9-A37C98708DC7}"/>
              </a:ext>
            </a:extLst>
          </p:cNvPr>
          <p:cNvSpPr>
            <a:spLocks noGrp="1"/>
          </p:cNvSpPr>
          <p:nvPr/>
        </p:nvSpPr>
        <p:spPr>
          <a:xfrm>
            <a:off x="5149259" y="29065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19" name="p1-o117">
            <a:extLst>
              <a:ext uri="{FF2B5EF4-FFF2-40B4-BE49-F238E27FC236}">
                <a16:creationId xmlns:a16="http://schemas.microsoft.com/office/drawing/2014/main" id="{09BDABB0-4497-4E0E-A693-A3325CBB9632}"/>
              </a:ext>
            </a:extLst>
          </p:cNvPr>
          <p:cNvSpPr>
            <a:spLocks noGrp="1"/>
          </p:cNvSpPr>
          <p:nvPr/>
        </p:nvSpPr>
        <p:spPr>
          <a:xfrm>
            <a:off x="5425484" y="29065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20" name="p1-o118">
            <a:extLst>
              <a:ext uri="{FF2B5EF4-FFF2-40B4-BE49-F238E27FC236}">
                <a16:creationId xmlns:a16="http://schemas.microsoft.com/office/drawing/2014/main" id="{F5FCB6E1-6F48-4298-AFCB-6B4F791DFF90}"/>
              </a:ext>
            </a:extLst>
          </p:cNvPr>
          <p:cNvSpPr>
            <a:spLocks noGrp="1"/>
          </p:cNvSpPr>
          <p:nvPr/>
        </p:nvSpPr>
        <p:spPr>
          <a:xfrm>
            <a:off x="5492159" y="2982755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21" name="p1-o119">
            <a:extLst>
              <a:ext uri="{FF2B5EF4-FFF2-40B4-BE49-F238E27FC236}">
                <a16:creationId xmlns:a16="http://schemas.microsoft.com/office/drawing/2014/main" id="{E8ACE956-EF21-4E7C-99B7-A90AF4EC17F0}"/>
              </a:ext>
            </a:extLst>
          </p:cNvPr>
          <p:cNvSpPr>
            <a:spLocks noGrp="1"/>
          </p:cNvSpPr>
          <p:nvPr/>
        </p:nvSpPr>
        <p:spPr>
          <a:xfrm>
            <a:off x="5492159" y="29065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2" name="p1-o120">
            <a:extLst>
              <a:ext uri="{FF2B5EF4-FFF2-40B4-BE49-F238E27FC236}">
                <a16:creationId xmlns:a16="http://schemas.microsoft.com/office/drawing/2014/main" id="{6E958E62-548C-43D6-B5C8-7813AA58709D}"/>
              </a:ext>
            </a:extLst>
          </p:cNvPr>
          <p:cNvSpPr>
            <a:spLocks noGrp="1"/>
          </p:cNvSpPr>
          <p:nvPr/>
        </p:nvSpPr>
        <p:spPr>
          <a:xfrm>
            <a:off x="5768384" y="29065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23" name="p1-o121">
            <a:extLst>
              <a:ext uri="{FF2B5EF4-FFF2-40B4-BE49-F238E27FC236}">
                <a16:creationId xmlns:a16="http://schemas.microsoft.com/office/drawing/2014/main" id="{BB31CFB6-FA29-4BDF-8804-F9802190FC86}"/>
              </a:ext>
            </a:extLst>
          </p:cNvPr>
          <p:cNvSpPr>
            <a:spLocks noGrp="1"/>
          </p:cNvSpPr>
          <p:nvPr/>
        </p:nvSpPr>
        <p:spPr>
          <a:xfrm>
            <a:off x="5835059" y="2982755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24" name="p1-o122">
            <a:extLst>
              <a:ext uri="{FF2B5EF4-FFF2-40B4-BE49-F238E27FC236}">
                <a16:creationId xmlns:a16="http://schemas.microsoft.com/office/drawing/2014/main" id="{8C8E37EC-E1EB-4535-A8AF-F66D826AF61C}"/>
              </a:ext>
            </a:extLst>
          </p:cNvPr>
          <p:cNvSpPr>
            <a:spLocks noGrp="1"/>
          </p:cNvSpPr>
          <p:nvPr/>
        </p:nvSpPr>
        <p:spPr>
          <a:xfrm>
            <a:off x="5835059" y="29065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5" name="p1-o123">
            <a:extLst>
              <a:ext uri="{FF2B5EF4-FFF2-40B4-BE49-F238E27FC236}">
                <a16:creationId xmlns:a16="http://schemas.microsoft.com/office/drawing/2014/main" id="{42A9BDDE-C4F4-48FB-B145-11EF920E1F50}"/>
              </a:ext>
            </a:extLst>
          </p:cNvPr>
          <p:cNvSpPr>
            <a:spLocks noGrp="1"/>
          </p:cNvSpPr>
          <p:nvPr/>
        </p:nvSpPr>
        <p:spPr>
          <a:xfrm>
            <a:off x="6111284" y="29065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26" name="p1-o124">
            <a:extLst>
              <a:ext uri="{FF2B5EF4-FFF2-40B4-BE49-F238E27FC236}">
                <a16:creationId xmlns:a16="http://schemas.microsoft.com/office/drawing/2014/main" id="{102BC98D-F6D2-4241-9C34-CE080CFA91CC}"/>
              </a:ext>
            </a:extLst>
          </p:cNvPr>
          <p:cNvSpPr>
            <a:spLocks noGrp="1"/>
          </p:cNvSpPr>
          <p:nvPr/>
        </p:nvSpPr>
        <p:spPr>
          <a:xfrm>
            <a:off x="6177959" y="2982755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27" name="p1-o125">
            <a:extLst>
              <a:ext uri="{FF2B5EF4-FFF2-40B4-BE49-F238E27FC236}">
                <a16:creationId xmlns:a16="http://schemas.microsoft.com/office/drawing/2014/main" id="{DDD96B48-FC2A-4F9A-AE14-E00249BDEFB5}"/>
              </a:ext>
            </a:extLst>
          </p:cNvPr>
          <p:cNvSpPr>
            <a:spLocks noGrp="1"/>
          </p:cNvSpPr>
          <p:nvPr/>
        </p:nvSpPr>
        <p:spPr>
          <a:xfrm>
            <a:off x="6177959" y="29065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28" name="p1-o126">
            <a:extLst>
              <a:ext uri="{FF2B5EF4-FFF2-40B4-BE49-F238E27FC236}">
                <a16:creationId xmlns:a16="http://schemas.microsoft.com/office/drawing/2014/main" id="{04A5793B-3A30-473F-B5D0-B0589A6B663C}"/>
              </a:ext>
            </a:extLst>
          </p:cNvPr>
          <p:cNvSpPr>
            <a:spLocks noGrp="1"/>
          </p:cNvSpPr>
          <p:nvPr/>
        </p:nvSpPr>
        <p:spPr>
          <a:xfrm>
            <a:off x="6454184" y="29065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29" name="p1-o127">
            <a:extLst>
              <a:ext uri="{FF2B5EF4-FFF2-40B4-BE49-F238E27FC236}">
                <a16:creationId xmlns:a16="http://schemas.microsoft.com/office/drawing/2014/main" id="{ED0081B7-9BF9-43ED-8D26-A6375D16C19C}"/>
              </a:ext>
            </a:extLst>
          </p:cNvPr>
          <p:cNvSpPr>
            <a:spLocks noGrp="1"/>
          </p:cNvSpPr>
          <p:nvPr/>
        </p:nvSpPr>
        <p:spPr>
          <a:xfrm>
            <a:off x="6520859" y="2982755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30" name="p1-o128">
            <a:extLst>
              <a:ext uri="{FF2B5EF4-FFF2-40B4-BE49-F238E27FC236}">
                <a16:creationId xmlns:a16="http://schemas.microsoft.com/office/drawing/2014/main" id="{25188399-867C-46D3-B47D-6403278CA185}"/>
              </a:ext>
            </a:extLst>
          </p:cNvPr>
          <p:cNvSpPr>
            <a:spLocks noGrp="1"/>
          </p:cNvSpPr>
          <p:nvPr/>
        </p:nvSpPr>
        <p:spPr>
          <a:xfrm>
            <a:off x="6520859" y="29065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1" name="p1-o129">
            <a:extLst>
              <a:ext uri="{FF2B5EF4-FFF2-40B4-BE49-F238E27FC236}">
                <a16:creationId xmlns:a16="http://schemas.microsoft.com/office/drawing/2014/main" id="{C045A0CE-81DE-4617-BA28-78AEAD409B81}"/>
              </a:ext>
            </a:extLst>
          </p:cNvPr>
          <p:cNvSpPr>
            <a:spLocks noGrp="1"/>
          </p:cNvSpPr>
          <p:nvPr/>
        </p:nvSpPr>
        <p:spPr>
          <a:xfrm>
            <a:off x="6797084" y="29065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32" name="p1-o130">
            <a:extLst>
              <a:ext uri="{FF2B5EF4-FFF2-40B4-BE49-F238E27FC236}">
                <a16:creationId xmlns:a16="http://schemas.microsoft.com/office/drawing/2014/main" id="{00CDD4B6-7815-4AAB-A9E9-0A8F1A57BDFF}"/>
              </a:ext>
            </a:extLst>
          </p:cNvPr>
          <p:cNvSpPr>
            <a:spLocks noGrp="1"/>
          </p:cNvSpPr>
          <p:nvPr/>
        </p:nvSpPr>
        <p:spPr>
          <a:xfrm>
            <a:off x="6863759" y="2982755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33" name="p1-o131">
            <a:extLst>
              <a:ext uri="{FF2B5EF4-FFF2-40B4-BE49-F238E27FC236}">
                <a16:creationId xmlns:a16="http://schemas.microsoft.com/office/drawing/2014/main" id="{BD9E219D-65F5-4C78-B8C5-08FE0539D511}"/>
              </a:ext>
            </a:extLst>
          </p:cNvPr>
          <p:cNvSpPr>
            <a:spLocks noGrp="1"/>
          </p:cNvSpPr>
          <p:nvPr/>
        </p:nvSpPr>
        <p:spPr>
          <a:xfrm>
            <a:off x="6863759" y="29065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4" name="p1-o132">
            <a:extLst>
              <a:ext uri="{FF2B5EF4-FFF2-40B4-BE49-F238E27FC236}">
                <a16:creationId xmlns:a16="http://schemas.microsoft.com/office/drawing/2014/main" id="{0CC9B09D-F998-4AE6-95FE-815FE8F74C9D}"/>
              </a:ext>
            </a:extLst>
          </p:cNvPr>
          <p:cNvSpPr>
            <a:spLocks noGrp="1"/>
          </p:cNvSpPr>
          <p:nvPr/>
        </p:nvSpPr>
        <p:spPr>
          <a:xfrm>
            <a:off x="7139984" y="29065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35" name="p1-o133">
            <a:extLst>
              <a:ext uri="{FF2B5EF4-FFF2-40B4-BE49-F238E27FC236}">
                <a16:creationId xmlns:a16="http://schemas.microsoft.com/office/drawing/2014/main" id="{A3530CBD-B50A-4274-9B45-2D8794F45E4E}"/>
              </a:ext>
            </a:extLst>
          </p:cNvPr>
          <p:cNvSpPr>
            <a:spLocks noGrp="1"/>
          </p:cNvSpPr>
          <p:nvPr/>
        </p:nvSpPr>
        <p:spPr>
          <a:xfrm>
            <a:off x="4549184" y="3373280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Block 2</a:t>
            </a:r>
          </a:p>
        </p:txBody>
      </p:sp>
      <p:sp>
        <p:nvSpPr>
          <p:cNvPr id="136" name="p1-o134">
            <a:extLst>
              <a:ext uri="{FF2B5EF4-FFF2-40B4-BE49-F238E27FC236}">
                <a16:creationId xmlns:a16="http://schemas.microsoft.com/office/drawing/2014/main" id="{0447AC3F-AEAC-47F7-8223-B9BD6F3C5781}"/>
              </a:ext>
            </a:extLst>
          </p:cNvPr>
          <p:cNvSpPr>
            <a:spLocks noGrp="1"/>
          </p:cNvSpPr>
          <p:nvPr/>
        </p:nvSpPr>
        <p:spPr>
          <a:xfrm>
            <a:off x="5149259" y="3392330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37" name="p1-o135">
            <a:extLst>
              <a:ext uri="{FF2B5EF4-FFF2-40B4-BE49-F238E27FC236}">
                <a16:creationId xmlns:a16="http://schemas.microsoft.com/office/drawing/2014/main" id="{7FB0BD0E-9986-423A-9793-D485486DD29F}"/>
              </a:ext>
            </a:extLst>
          </p:cNvPr>
          <p:cNvSpPr>
            <a:spLocks noGrp="1"/>
          </p:cNvSpPr>
          <p:nvPr/>
        </p:nvSpPr>
        <p:spPr>
          <a:xfrm>
            <a:off x="5149259" y="331613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38" name="p1-o136">
            <a:extLst>
              <a:ext uri="{FF2B5EF4-FFF2-40B4-BE49-F238E27FC236}">
                <a16:creationId xmlns:a16="http://schemas.microsoft.com/office/drawing/2014/main" id="{C6B2C097-871A-4C6F-A31F-77526086E068}"/>
              </a:ext>
            </a:extLst>
          </p:cNvPr>
          <p:cNvSpPr>
            <a:spLocks noGrp="1"/>
          </p:cNvSpPr>
          <p:nvPr/>
        </p:nvSpPr>
        <p:spPr>
          <a:xfrm>
            <a:off x="5425484" y="331613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39" name="p1-o137">
            <a:extLst>
              <a:ext uri="{FF2B5EF4-FFF2-40B4-BE49-F238E27FC236}">
                <a16:creationId xmlns:a16="http://schemas.microsoft.com/office/drawing/2014/main" id="{1B558610-1AE5-4123-99D3-BBADB290E8C2}"/>
              </a:ext>
            </a:extLst>
          </p:cNvPr>
          <p:cNvSpPr>
            <a:spLocks noGrp="1"/>
          </p:cNvSpPr>
          <p:nvPr/>
        </p:nvSpPr>
        <p:spPr>
          <a:xfrm>
            <a:off x="5492159" y="3392330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40" name="p1-o138">
            <a:extLst>
              <a:ext uri="{FF2B5EF4-FFF2-40B4-BE49-F238E27FC236}">
                <a16:creationId xmlns:a16="http://schemas.microsoft.com/office/drawing/2014/main" id="{87680F92-DD8F-4708-B7A1-2DC45FE1EBB0}"/>
              </a:ext>
            </a:extLst>
          </p:cNvPr>
          <p:cNvSpPr>
            <a:spLocks noGrp="1"/>
          </p:cNvSpPr>
          <p:nvPr/>
        </p:nvSpPr>
        <p:spPr>
          <a:xfrm>
            <a:off x="5492159" y="331613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1" name="p1-o139">
            <a:extLst>
              <a:ext uri="{FF2B5EF4-FFF2-40B4-BE49-F238E27FC236}">
                <a16:creationId xmlns:a16="http://schemas.microsoft.com/office/drawing/2014/main" id="{397E941C-0786-43DB-A7AD-18A25380AC91}"/>
              </a:ext>
            </a:extLst>
          </p:cNvPr>
          <p:cNvSpPr>
            <a:spLocks noGrp="1"/>
          </p:cNvSpPr>
          <p:nvPr/>
        </p:nvSpPr>
        <p:spPr>
          <a:xfrm>
            <a:off x="5768384" y="331613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42" name="p1-o140">
            <a:extLst>
              <a:ext uri="{FF2B5EF4-FFF2-40B4-BE49-F238E27FC236}">
                <a16:creationId xmlns:a16="http://schemas.microsoft.com/office/drawing/2014/main" id="{E3A3DC2B-173A-4930-B84C-B35D1683D8F6}"/>
              </a:ext>
            </a:extLst>
          </p:cNvPr>
          <p:cNvSpPr>
            <a:spLocks noGrp="1"/>
          </p:cNvSpPr>
          <p:nvPr/>
        </p:nvSpPr>
        <p:spPr>
          <a:xfrm>
            <a:off x="5835059" y="3392330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43" name="p1-o141">
            <a:extLst>
              <a:ext uri="{FF2B5EF4-FFF2-40B4-BE49-F238E27FC236}">
                <a16:creationId xmlns:a16="http://schemas.microsoft.com/office/drawing/2014/main" id="{7A56A08B-9B9F-47A0-87FB-5CC819F706EB}"/>
              </a:ext>
            </a:extLst>
          </p:cNvPr>
          <p:cNvSpPr>
            <a:spLocks noGrp="1"/>
          </p:cNvSpPr>
          <p:nvPr/>
        </p:nvSpPr>
        <p:spPr>
          <a:xfrm>
            <a:off x="5835059" y="331613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4" name="p1-o142">
            <a:extLst>
              <a:ext uri="{FF2B5EF4-FFF2-40B4-BE49-F238E27FC236}">
                <a16:creationId xmlns:a16="http://schemas.microsoft.com/office/drawing/2014/main" id="{1BED07A1-E6ED-4D28-ACE5-CAB1E3D85E99}"/>
              </a:ext>
            </a:extLst>
          </p:cNvPr>
          <p:cNvSpPr>
            <a:spLocks noGrp="1"/>
          </p:cNvSpPr>
          <p:nvPr/>
        </p:nvSpPr>
        <p:spPr>
          <a:xfrm>
            <a:off x="6111284" y="331613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45" name="p1-o143">
            <a:extLst>
              <a:ext uri="{FF2B5EF4-FFF2-40B4-BE49-F238E27FC236}">
                <a16:creationId xmlns:a16="http://schemas.microsoft.com/office/drawing/2014/main" id="{00D51F77-4D5F-4DA1-A849-9D2E75866027}"/>
              </a:ext>
            </a:extLst>
          </p:cNvPr>
          <p:cNvSpPr>
            <a:spLocks noGrp="1"/>
          </p:cNvSpPr>
          <p:nvPr/>
        </p:nvSpPr>
        <p:spPr>
          <a:xfrm>
            <a:off x="6177959" y="3392330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46" name="p1-o144">
            <a:extLst>
              <a:ext uri="{FF2B5EF4-FFF2-40B4-BE49-F238E27FC236}">
                <a16:creationId xmlns:a16="http://schemas.microsoft.com/office/drawing/2014/main" id="{D636F30D-38E9-4CDB-BACE-D9E56433A7B8}"/>
              </a:ext>
            </a:extLst>
          </p:cNvPr>
          <p:cNvSpPr>
            <a:spLocks noGrp="1"/>
          </p:cNvSpPr>
          <p:nvPr/>
        </p:nvSpPr>
        <p:spPr>
          <a:xfrm>
            <a:off x="6177959" y="331613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47" name="p1-o145">
            <a:extLst>
              <a:ext uri="{FF2B5EF4-FFF2-40B4-BE49-F238E27FC236}">
                <a16:creationId xmlns:a16="http://schemas.microsoft.com/office/drawing/2014/main" id="{7978E932-426D-4DF5-BC45-DE4DBFF60977}"/>
              </a:ext>
            </a:extLst>
          </p:cNvPr>
          <p:cNvSpPr>
            <a:spLocks noGrp="1"/>
          </p:cNvSpPr>
          <p:nvPr/>
        </p:nvSpPr>
        <p:spPr>
          <a:xfrm>
            <a:off x="6454184" y="331613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48" name="p1-o146">
            <a:extLst>
              <a:ext uri="{FF2B5EF4-FFF2-40B4-BE49-F238E27FC236}">
                <a16:creationId xmlns:a16="http://schemas.microsoft.com/office/drawing/2014/main" id="{140A55A9-10C3-47BA-B106-FF482F21DFB0}"/>
              </a:ext>
            </a:extLst>
          </p:cNvPr>
          <p:cNvSpPr>
            <a:spLocks noGrp="1"/>
          </p:cNvSpPr>
          <p:nvPr/>
        </p:nvSpPr>
        <p:spPr>
          <a:xfrm>
            <a:off x="6520859" y="3392330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49" name="p1-o147">
            <a:extLst>
              <a:ext uri="{FF2B5EF4-FFF2-40B4-BE49-F238E27FC236}">
                <a16:creationId xmlns:a16="http://schemas.microsoft.com/office/drawing/2014/main" id="{F55D0287-CA50-4C88-8CEC-5667CA07952A}"/>
              </a:ext>
            </a:extLst>
          </p:cNvPr>
          <p:cNvSpPr>
            <a:spLocks noGrp="1"/>
          </p:cNvSpPr>
          <p:nvPr/>
        </p:nvSpPr>
        <p:spPr>
          <a:xfrm>
            <a:off x="6520859" y="331613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0" name="p1-o148">
            <a:extLst>
              <a:ext uri="{FF2B5EF4-FFF2-40B4-BE49-F238E27FC236}">
                <a16:creationId xmlns:a16="http://schemas.microsoft.com/office/drawing/2014/main" id="{47BBD14B-01D1-49AA-A227-38EC2ACF3CA2}"/>
              </a:ext>
            </a:extLst>
          </p:cNvPr>
          <p:cNvSpPr>
            <a:spLocks noGrp="1"/>
          </p:cNvSpPr>
          <p:nvPr/>
        </p:nvSpPr>
        <p:spPr>
          <a:xfrm>
            <a:off x="6797084" y="331613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51" name="p1-o149">
            <a:extLst>
              <a:ext uri="{FF2B5EF4-FFF2-40B4-BE49-F238E27FC236}">
                <a16:creationId xmlns:a16="http://schemas.microsoft.com/office/drawing/2014/main" id="{DC27278A-CE7F-496F-A004-7445243111E6}"/>
              </a:ext>
            </a:extLst>
          </p:cNvPr>
          <p:cNvSpPr>
            <a:spLocks noGrp="1"/>
          </p:cNvSpPr>
          <p:nvPr/>
        </p:nvSpPr>
        <p:spPr>
          <a:xfrm>
            <a:off x="6863759" y="3392330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52" name="p1-o150">
            <a:extLst>
              <a:ext uri="{FF2B5EF4-FFF2-40B4-BE49-F238E27FC236}">
                <a16:creationId xmlns:a16="http://schemas.microsoft.com/office/drawing/2014/main" id="{144F9115-E878-4A83-B0FF-5DCB5A3912AF}"/>
              </a:ext>
            </a:extLst>
          </p:cNvPr>
          <p:cNvSpPr>
            <a:spLocks noGrp="1"/>
          </p:cNvSpPr>
          <p:nvPr/>
        </p:nvSpPr>
        <p:spPr>
          <a:xfrm>
            <a:off x="6863759" y="3316130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3" name="p1-o151">
            <a:extLst>
              <a:ext uri="{FF2B5EF4-FFF2-40B4-BE49-F238E27FC236}">
                <a16:creationId xmlns:a16="http://schemas.microsoft.com/office/drawing/2014/main" id="{FC417FDB-D352-4A14-BBEE-5DEBC3160226}"/>
              </a:ext>
            </a:extLst>
          </p:cNvPr>
          <p:cNvSpPr>
            <a:spLocks noGrp="1"/>
          </p:cNvSpPr>
          <p:nvPr/>
        </p:nvSpPr>
        <p:spPr>
          <a:xfrm>
            <a:off x="7139984" y="3316130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54" name="p1-o152">
            <a:extLst>
              <a:ext uri="{FF2B5EF4-FFF2-40B4-BE49-F238E27FC236}">
                <a16:creationId xmlns:a16="http://schemas.microsoft.com/office/drawing/2014/main" id="{933F62DB-DBD5-4E8D-82E4-B0D7134DB528}"/>
              </a:ext>
            </a:extLst>
          </p:cNvPr>
          <p:cNvSpPr>
            <a:spLocks noGrp="1"/>
          </p:cNvSpPr>
          <p:nvPr/>
        </p:nvSpPr>
        <p:spPr>
          <a:xfrm>
            <a:off x="4549184" y="3992405"/>
            <a:ext cx="5810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Block N</a:t>
            </a:r>
          </a:p>
        </p:txBody>
      </p:sp>
      <p:sp>
        <p:nvSpPr>
          <p:cNvPr id="155" name="p1-o153">
            <a:extLst>
              <a:ext uri="{FF2B5EF4-FFF2-40B4-BE49-F238E27FC236}">
                <a16:creationId xmlns:a16="http://schemas.microsoft.com/office/drawing/2014/main" id="{A53EB45D-1BD8-4D10-A2D1-F3395BDB160D}"/>
              </a:ext>
            </a:extLst>
          </p:cNvPr>
          <p:cNvSpPr>
            <a:spLocks noGrp="1"/>
          </p:cNvSpPr>
          <p:nvPr/>
        </p:nvSpPr>
        <p:spPr>
          <a:xfrm>
            <a:off x="5149259" y="4011455"/>
            <a:ext cx="276225" cy="247650"/>
          </a:xfrm>
          <a:prstGeom prst="rect">
            <a:avLst/>
          </a:pr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56" name="p1-o154">
            <a:extLst>
              <a:ext uri="{FF2B5EF4-FFF2-40B4-BE49-F238E27FC236}">
                <a16:creationId xmlns:a16="http://schemas.microsoft.com/office/drawing/2014/main" id="{A733F767-600B-4D63-8BDA-BEB880B5F7DA}"/>
              </a:ext>
            </a:extLst>
          </p:cNvPr>
          <p:cNvSpPr>
            <a:spLocks noGrp="1"/>
          </p:cNvSpPr>
          <p:nvPr/>
        </p:nvSpPr>
        <p:spPr>
          <a:xfrm>
            <a:off x="5149259" y="39352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1B3E8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57" name="p1-o155">
            <a:extLst>
              <a:ext uri="{FF2B5EF4-FFF2-40B4-BE49-F238E27FC236}">
                <a16:creationId xmlns:a16="http://schemas.microsoft.com/office/drawing/2014/main" id="{1DF3B814-26F5-4AF8-AF63-DD377DD153DA}"/>
              </a:ext>
            </a:extLst>
          </p:cNvPr>
          <p:cNvSpPr>
            <a:spLocks noGrp="1"/>
          </p:cNvSpPr>
          <p:nvPr/>
        </p:nvSpPr>
        <p:spPr>
          <a:xfrm>
            <a:off x="5425484" y="39352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1B3E8"/>
          </a:solidFill>
          <a:ln w="9525">
            <a:solidFill>
              <a:srgbClr val="6E92C5"/>
            </a:solidFill>
          </a:ln>
        </p:spPr>
      </p:sp>
      <p:sp>
        <p:nvSpPr>
          <p:cNvPr id="158" name="p1-o156">
            <a:extLst>
              <a:ext uri="{FF2B5EF4-FFF2-40B4-BE49-F238E27FC236}">
                <a16:creationId xmlns:a16="http://schemas.microsoft.com/office/drawing/2014/main" id="{2E3FFFC9-03BC-4C78-A4FF-3D93C4FA1BE6}"/>
              </a:ext>
            </a:extLst>
          </p:cNvPr>
          <p:cNvSpPr>
            <a:spLocks noGrp="1"/>
          </p:cNvSpPr>
          <p:nvPr/>
        </p:nvSpPr>
        <p:spPr>
          <a:xfrm>
            <a:off x="5492159" y="4011455"/>
            <a:ext cx="276225" cy="247650"/>
          </a:xfrm>
          <a:prstGeom prst="rect">
            <a:avLst/>
          </a:pr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59" name="p1-o157">
            <a:extLst>
              <a:ext uri="{FF2B5EF4-FFF2-40B4-BE49-F238E27FC236}">
                <a16:creationId xmlns:a16="http://schemas.microsoft.com/office/drawing/2014/main" id="{EB0A9029-8D13-4A7F-80A2-2C4933EAC4D6}"/>
              </a:ext>
            </a:extLst>
          </p:cNvPr>
          <p:cNvSpPr>
            <a:spLocks noGrp="1"/>
          </p:cNvSpPr>
          <p:nvPr/>
        </p:nvSpPr>
        <p:spPr>
          <a:xfrm>
            <a:off x="5492159" y="39352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E8B0B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0" name="p1-o158">
            <a:extLst>
              <a:ext uri="{FF2B5EF4-FFF2-40B4-BE49-F238E27FC236}">
                <a16:creationId xmlns:a16="http://schemas.microsoft.com/office/drawing/2014/main" id="{F39365E6-0313-4431-A300-CDDB2B531713}"/>
              </a:ext>
            </a:extLst>
          </p:cNvPr>
          <p:cNvSpPr>
            <a:spLocks noGrp="1"/>
          </p:cNvSpPr>
          <p:nvPr/>
        </p:nvSpPr>
        <p:spPr>
          <a:xfrm>
            <a:off x="5768384" y="39352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E8B0BD"/>
          </a:solidFill>
          <a:ln w="9525">
            <a:solidFill>
              <a:srgbClr val="6E92C5"/>
            </a:solidFill>
          </a:ln>
        </p:spPr>
      </p:sp>
      <p:sp>
        <p:nvSpPr>
          <p:cNvPr id="161" name="p1-o159">
            <a:extLst>
              <a:ext uri="{FF2B5EF4-FFF2-40B4-BE49-F238E27FC236}">
                <a16:creationId xmlns:a16="http://schemas.microsoft.com/office/drawing/2014/main" id="{3FD91405-7B8B-4732-B99D-014C0BF2B373}"/>
              </a:ext>
            </a:extLst>
          </p:cNvPr>
          <p:cNvSpPr>
            <a:spLocks noGrp="1"/>
          </p:cNvSpPr>
          <p:nvPr/>
        </p:nvSpPr>
        <p:spPr>
          <a:xfrm>
            <a:off x="5835059" y="4011455"/>
            <a:ext cx="276225" cy="247650"/>
          </a:xfrm>
          <a:prstGeom prst="rect">
            <a:avLst/>
          </a:pr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62" name="p1-o160">
            <a:extLst>
              <a:ext uri="{FF2B5EF4-FFF2-40B4-BE49-F238E27FC236}">
                <a16:creationId xmlns:a16="http://schemas.microsoft.com/office/drawing/2014/main" id="{481DFA2B-C452-407B-B4D5-268ED87252A5}"/>
              </a:ext>
            </a:extLst>
          </p:cNvPr>
          <p:cNvSpPr>
            <a:spLocks noGrp="1"/>
          </p:cNvSpPr>
          <p:nvPr/>
        </p:nvSpPr>
        <p:spPr>
          <a:xfrm>
            <a:off x="5835059" y="39352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F4DBA6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3" name="p1-o161">
            <a:extLst>
              <a:ext uri="{FF2B5EF4-FFF2-40B4-BE49-F238E27FC236}">
                <a16:creationId xmlns:a16="http://schemas.microsoft.com/office/drawing/2014/main" id="{B994D8C4-D89A-4F84-A6FB-3A65F7848FC0}"/>
              </a:ext>
            </a:extLst>
          </p:cNvPr>
          <p:cNvSpPr>
            <a:spLocks noGrp="1"/>
          </p:cNvSpPr>
          <p:nvPr/>
        </p:nvSpPr>
        <p:spPr>
          <a:xfrm>
            <a:off x="6111284" y="39352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F4DBA6"/>
          </a:solidFill>
          <a:ln w="9525">
            <a:solidFill>
              <a:srgbClr val="6E92C5"/>
            </a:solidFill>
          </a:ln>
        </p:spPr>
      </p:sp>
      <p:sp>
        <p:nvSpPr>
          <p:cNvPr id="164" name="p1-o162">
            <a:extLst>
              <a:ext uri="{FF2B5EF4-FFF2-40B4-BE49-F238E27FC236}">
                <a16:creationId xmlns:a16="http://schemas.microsoft.com/office/drawing/2014/main" id="{7351C591-DB76-45CE-BFD2-AF04F4F4E255}"/>
              </a:ext>
            </a:extLst>
          </p:cNvPr>
          <p:cNvSpPr>
            <a:spLocks noGrp="1"/>
          </p:cNvSpPr>
          <p:nvPr/>
        </p:nvSpPr>
        <p:spPr>
          <a:xfrm>
            <a:off x="6177959" y="4011455"/>
            <a:ext cx="276225" cy="247650"/>
          </a:xfrm>
          <a:prstGeom prst="rect">
            <a:avLst/>
          </a:pr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65" name="p1-o163">
            <a:extLst>
              <a:ext uri="{FF2B5EF4-FFF2-40B4-BE49-F238E27FC236}">
                <a16:creationId xmlns:a16="http://schemas.microsoft.com/office/drawing/2014/main" id="{FFB4B579-39DC-4EDF-BF17-921C2CC6B88E}"/>
              </a:ext>
            </a:extLst>
          </p:cNvPr>
          <p:cNvSpPr>
            <a:spLocks noGrp="1"/>
          </p:cNvSpPr>
          <p:nvPr/>
        </p:nvSpPr>
        <p:spPr>
          <a:xfrm>
            <a:off x="6177959" y="39352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9BD3B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6" name="p1-o164">
            <a:extLst>
              <a:ext uri="{FF2B5EF4-FFF2-40B4-BE49-F238E27FC236}">
                <a16:creationId xmlns:a16="http://schemas.microsoft.com/office/drawing/2014/main" id="{B48D5BB3-DDFA-440E-9014-D2CF5B0FABEF}"/>
              </a:ext>
            </a:extLst>
          </p:cNvPr>
          <p:cNvSpPr>
            <a:spLocks noGrp="1"/>
          </p:cNvSpPr>
          <p:nvPr/>
        </p:nvSpPr>
        <p:spPr>
          <a:xfrm>
            <a:off x="6454184" y="39352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9BD3BC"/>
          </a:solidFill>
          <a:ln w="9525">
            <a:solidFill>
              <a:srgbClr val="6E92C5"/>
            </a:solidFill>
          </a:ln>
        </p:spPr>
      </p:sp>
      <p:sp>
        <p:nvSpPr>
          <p:cNvPr id="167" name="p1-o165">
            <a:extLst>
              <a:ext uri="{FF2B5EF4-FFF2-40B4-BE49-F238E27FC236}">
                <a16:creationId xmlns:a16="http://schemas.microsoft.com/office/drawing/2014/main" id="{ED1C02F7-DBA2-4418-9453-6708669481B0}"/>
              </a:ext>
            </a:extLst>
          </p:cNvPr>
          <p:cNvSpPr>
            <a:spLocks noGrp="1"/>
          </p:cNvSpPr>
          <p:nvPr/>
        </p:nvSpPr>
        <p:spPr>
          <a:xfrm>
            <a:off x="6520859" y="4011455"/>
            <a:ext cx="276225" cy="247650"/>
          </a:xfrm>
          <a:prstGeom prst="rect">
            <a:avLst/>
          </a:pr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68" name="p1-o166">
            <a:extLst>
              <a:ext uri="{FF2B5EF4-FFF2-40B4-BE49-F238E27FC236}">
                <a16:creationId xmlns:a16="http://schemas.microsoft.com/office/drawing/2014/main" id="{FEC0D7EF-9676-4500-BC55-9F305916EC65}"/>
              </a:ext>
            </a:extLst>
          </p:cNvPr>
          <p:cNvSpPr>
            <a:spLocks noGrp="1"/>
          </p:cNvSpPr>
          <p:nvPr/>
        </p:nvSpPr>
        <p:spPr>
          <a:xfrm>
            <a:off x="6520859" y="39352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D6D8DC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69" name="p1-o167">
            <a:extLst>
              <a:ext uri="{FF2B5EF4-FFF2-40B4-BE49-F238E27FC236}">
                <a16:creationId xmlns:a16="http://schemas.microsoft.com/office/drawing/2014/main" id="{9E0CE4FA-1A2E-4BE9-9DA7-B355BD2B70BF}"/>
              </a:ext>
            </a:extLst>
          </p:cNvPr>
          <p:cNvSpPr>
            <a:spLocks noGrp="1"/>
          </p:cNvSpPr>
          <p:nvPr/>
        </p:nvSpPr>
        <p:spPr>
          <a:xfrm>
            <a:off x="6797084" y="39352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D6D8DC"/>
          </a:solidFill>
          <a:ln w="9525">
            <a:solidFill>
              <a:srgbClr val="6E92C5"/>
            </a:solidFill>
          </a:ln>
        </p:spPr>
      </p:sp>
      <p:sp>
        <p:nvSpPr>
          <p:cNvPr id="170" name="p1-o168">
            <a:extLst>
              <a:ext uri="{FF2B5EF4-FFF2-40B4-BE49-F238E27FC236}">
                <a16:creationId xmlns:a16="http://schemas.microsoft.com/office/drawing/2014/main" id="{D3A0851E-D901-4B2A-BAA6-5CA9A43FC8F8}"/>
              </a:ext>
            </a:extLst>
          </p:cNvPr>
          <p:cNvSpPr>
            <a:spLocks noGrp="1"/>
          </p:cNvSpPr>
          <p:nvPr/>
        </p:nvSpPr>
        <p:spPr>
          <a:xfrm>
            <a:off x="6863759" y="4011455"/>
            <a:ext cx="276225" cy="247650"/>
          </a:xfrm>
          <a:prstGeom prst="rect">
            <a:avLst/>
          </a:pr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71" name="p1-o169">
            <a:extLst>
              <a:ext uri="{FF2B5EF4-FFF2-40B4-BE49-F238E27FC236}">
                <a16:creationId xmlns:a16="http://schemas.microsoft.com/office/drawing/2014/main" id="{5A2A4327-18A6-4E55-8D9B-F545FCE36AB1}"/>
              </a:ext>
            </a:extLst>
          </p:cNvPr>
          <p:cNvSpPr>
            <a:spLocks noGrp="1"/>
          </p:cNvSpPr>
          <p:nvPr/>
        </p:nvSpPr>
        <p:spPr>
          <a:xfrm>
            <a:off x="6863759" y="3935255"/>
            <a:ext cx="361950" cy="76200"/>
          </a:xfrm>
          <a:custGeom>
            <a:avLst/>
            <a:gdLst/>
            <a:ahLst/>
            <a:cxnLst/>
            <a:rect l="0" t="0" r="0" b="0"/>
            <a:pathLst>
              <a:path w="361950" h="76200">
                <a:moveTo>
                  <a:pt x="0" y="76200"/>
                </a:moveTo>
                <a:lnTo>
                  <a:pt x="85725" y="0"/>
                </a:lnTo>
                <a:lnTo>
                  <a:pt x="361950" y="0"/>
                </a:lnTo>
                <a:lnTo>
                  <a:pt x="276225" y="76200"/>
                </a:lnTo>
                <a:close/>
              </a:path>
            </a:pathLst>
          </a:custGeom>
          <a:gradFill>
            <a:gsLst>
              <a:gs pos="0">
                <a:srgbClr val="F3F7FD"/>
              </a:gs>
              <a:gs pos="100000">
                <a:srgbClr val="B6A5DD"/>
              </a:gs>
            </a:gsLst>
            <a:lin ang="0"/>
          </a:gradFill>
          <a:ln w="9525">
            <a:solidFill>
              <a:srgbClr val="6E92C5"/>
            </a:solidFill>
          </a:ln>
        </p:spPr>
      </p:sp>
      <p:sp>
        <p:nvSpPr>
          <p:cNvPr id="172" name="p1-o170">
            <a:extLst>
              <a:ext uri="{FF2B5EF4-FFF2-40B4-BE49-F238E27FC236}">
                <a16:creationId xmlns:a16="http://schemas.microsoft.com/office/drawing/2014/main" id="{9BD05B28-765B-4C4B-B6CA-77CE397B2B6E}"/>
              </a:ext>
            </a:extLst>
          </p:cNvPr>
          <p:cNvSpPr>
            <a:spLocks noGrp="1"/>
          </p:cNvSpPr>
          <p:nvPr/>
        </p:nvSpPr>
        <p:spPr>
          <a:xfrm>
            <a:off x="7139984" y="3935255"/>
            <a:ext cx="85725" cy="323850"/>
          </a:xfrm>
          <a:custGeom>
            <a:avLst/>
            <a:gdLst/>
            <a:ahLst/>
            <a:cxnLst/>
            <a:rect l="0" t="0" r="0" b="0"/>
            <a:pathLst>
              <a:path w="85725" h="323850">
                <a:moveTo>
                  <a:pt x="0" y="76200"/>
                </a:moveTo>
                <a:lnTo>
                  <a:pt x="85725" y="0"/>
                </a:lnTo>
                <a:lnTo>
                  <a:pt x="85725" y="247650"/>
                </a:lnTo>
                <a:lnTo>
                  <a:pt x="0" y="323850"/>
                </a:lnTo>
                <a:close/>
              </a:path>
            </a:pathLst>
          </a:custGeom>
          <a:solidFill>
            <a:srgbClr val="B6A5DD"/>
          </a:solidFill>
          <a:ln w="9525">
            <a:solidFill>
              <a:srgbClr val="6E92C5"/>
            </a:solidFill>
          </a:ln>
        </p:spPr>
      </p:sp>
      <p:sp>
        <p:nvSpPr>
          <p:cNvPr id="173" name="p1-o171">
            <a:extLst>
              <a:ext uri="{FF2B5EF4-FFF2-40B4-BE49-F238E27FC236}">
                <a16:creationId xmlns:a16="http://schemas.microsoft.com/office/drawing/2014/main" id="{B70A626A-2432-4284-AC8A-C8BE589F7569}"/>
              </a:ext>
            </a:extLst>
          </p:cNvPr>
          <p:cNvSpPr>
            <a:spLocks noGrp="1"/>
          </p:cNvSpPr>
          <p:nvPr/>
        </p:nvSpPr>
        <p:spPr>
          <a:xfrm>
            <a:off x="4768259" y="3630455"/>
            <a:ext cx="27622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⋮</a:t>
            </a:r>
          </a:p>
        </p:txBody>
      </p:sp>
      <p:sp>
        <p:nvSpPr>
          <p:cNvPr id="174" name="p1-o172">
            <a:extLst>
              <a:ext uri="{FF2B5EF4-FFF2-40B4-BE49-F238E27FC236}">
                <a16:creationId xmlns:a16="http://schemas.microsoft.com/office/drawing/2014/main" id="{3C58E084-86EF-40F4-AF2E-D6F8BC52C6DD}"/>
              </a:ext>
            </a:extLst>
          </p:cNvPr>
          <p:cNvSpPr>
            <a:spLocks noGrp="1"/>
          </p:cNvSpPr>
          <p:nvPr/>
        </p:nvSpPr>
        <p:spPr>
          <a:xfrm>
            <a:off x="6130334" y="3649505"/>
            <a:ext cx="46672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14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75" name="p1-o173">
            <a:extLst>
              <a:ext uri="{FF2B5EF4-FFF2-40B4-BE49-F238E27FC236}">
                <a16:creationId xmlns:a16="http://schemas.microsoft.com/office/drawing/2014/main" id="{643CF54C-475C-4F76-9311-DDDA66F20EC0}"/>
              </a:ext>
            </a:extLst>
          </p:cNvPr>
          <p:cNvSpPr>
            <a:spLocks noGrp="1"/>
          </p:cNvSpPr>
          <p:nvPr/>
        </p:nvSpPr>
        <p:spPr>
          <a:xfrm>
            <a:off x="7698600" y="2080773"/>
            <a:ext cx="1085850" cy="2524125"/>
          </a:xfrm>
          <a:prstGeom prst="roundRect">
            <a:avLst>
              <a:gd name="adj" fmla="val 5263"/>
            </a:avLst>
          </a:prstGeom>
          <a:solidFill>
            <a:srgbClr val="FFF8F9"/>
          </a:solidFill>
          <a:ln w="9525">
            <a:solidFill>
              <a:srgbClr val="EFCCD3"/>
            </a:solidFill>
          </a:ln>
        </p:spPr>
      </p:sp>
      <p:sp>
        <p:nvSpPr>
          <p:cNvPr id="176" name="p1-o174">
            <a:extLst>
              <a:ext uri="{FF2B5EF4-FFF2-40B4-BE49-F238E27FC236}">
                <a16:creationId xmlns:a16="http://schemas.microsoft.com/office/drawing/2014/main" id="{C7F65515-1B0B-4BFB-8F34-3F149657CC0B}"/>
              </a:ext>
            </a:extLst>
          </p:cNvPr>
          <p:cNvSpPr>
            <a:spLocks noGrp="1"/>
          </p:cNvSpPr>
          <p:nvPr/>
        </p:nvSpPr>
        <p:spPr>
          <a:xfrm>
            <a:off x="7765275" y="2109348"/>
            <a:ext cx="952500" cy="2466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7" name="p1-o175">
            <a:extLst>
              <a:ext uri="{FF2B5EF4-FFF2-40B4-BE49-F238E27FC236}">
                <a16:creationId xmlns:a16="http://schemas.microsoft.com/office/drawing/2014/main" id="{8C699DB8-FE85-4E11-99C9-0B24645EC793}"/>
              </a:ext>
            </a:extLst>
          </p:cNvPr>
          <p:cNvSpPr>
            <a:spLocks noGrp="1"/>
          </p:cNvSpPr>
          <p:nvPr/>
        </p:nvSpPr>
        <p:spPr>
          <a:xfrm>
            <a:off x="7774800" y="2166498"/>
            <a:ext cx="933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恢复</a:t>
            </a:r>
            <a:r>
              <a:rPr sz="1200" b="1" dirty="0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Block 0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只需连续读取</a:t>
            </a:r>
            <a:endParaRPr sz="1200" b="1" dirty="0">
              <a:solidFill>
                <a:srgbClr val="0B2344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78" name="p1-o176">
            <a:extLst>
              <a:ext uri="{FF2B5EF4-FFF2-40B4-BE49-F238E27FC236}">
                <a16:creationId xmlns:a16="http://schemas.microsoft.com/office/drawing/2014/main" id="{EC3C1966-42C1-474E-A36C-88E66D427452}"/>
              </a:ext>
            </a:extLst>
          </p:cNvPr>
          <p:cNvSpPr>
            <a:spLocks noGrp="1"/>
          </p:cNvSpPr>
          <p:nvPr/>
        </p:nvSpPr>
        <p:spPr>
          <a:xfrm>
            <a:off x="7908150" y="2671323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91B3E8"/>
          </a:solidFill>
          <a:ln w="9525">
            <a:solidFill>
              <a:srgbClr val="ABC0DF"/>
            </a:solidFill>
          </a:ln>
        </p:spPr>
      </p:sp>
      <p:sp>
        <p:nvSpPr>
          <p:cNvPr id="179" name="p1-o177">
            <a:extLst>
              <a:ext uri="{FF2B5EF4-FFF2-40B4-BE49-F238E27FC236}">
                <a16:creationId xmlns:a16="http://schemas.microsoft.com/office/drawing/2014/main" id="{6BBAA1BD-C3FA-401C-AFD2-03BA5A7CCE4C}"/>
              </a:ext>
            </a:extLst>
          </p:cNvPr>
          <p:cNvSpPr>
            <a:spLocks noGrp="1"/>
          </p:cNvSpPr>
          <p:nvPr/>
        </p:nvSpPr>
        <p:spPr>
          <a:xfrm>
            <a:off x="7974825" y="2699898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L0</a:t>
            </a:r>
          </a:p>
        </p:txBody>
      </p:sp>
      <p:sp>
        <p:nvSpPr>
          <p:cNvPr id="180" name="p1-o178">
            <a:extLst>
              <a:ext uri="{FF2B5EF4-FFF2-40B4-BE49-F238E27FC236}">
                <a16:creationId xmlns:a16="http://schemas.microsoft.com/office/drawing/2014/main" id="{702486F7-CD8D-4BB3-8F71-708299E8CB14}"/>
              </a:ext>
            </a:extLst>
          </p:cNvPr>
          <p:cNvSpPr>
            <a:spLocks noGrp="1"/>
          </p:cNvSpPr>
          <p:nvPr/>
        </p:nvSpPr>
        <p:spPr>
          <a:xfrm>
            <a:off x="7908150" y="2957073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E8B0BD"/>
          </a:solidFill>
          <a:ln w="9525">
            <a:solidFill>
              <a:srgbClr val="ABC0DF"/>
            </a:solidFill>
          </a:ln>
        </p:spPr>
      </p:sp>
      <p:sp>
        <p:nvSpPr>
          <p:cNvPr id="181" name="p1-o179">
            <a:extLst>
              <a:ext uri="{FF2B5EF4-FFF2-40B4-BE49-F238E27FC236}">
                <a16:creationId xmlns:a16="http://schemas.microsoft.com/office/drawing/2014/main" id="{D3EA3C31-6B2D-4E35-8601-A4F6962A3A6F}"/>
              </a:ext>
            </a:extLst>
          </p:cNvPr>
          <p:cNvSpPr>
            <a:spLocks noGrp="1"/>
          </p:cNvSpPr>
          <p:nvPr/>
        </p:nvSpPr>
        <p:spPr>
          <a:xfrm>
            <a:off x="7974825" y="2985648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L1</a:t>
            </a:r>
          </a:p>
        </p:txBody>
      </p:sp>
      <p:sp>
        <p:nvSpPr>
          <p:cNvPr id="182" name="p1-o180">
            <a:extLst>
              <a:ext uri="{FF2B5EF4-FFF2-40B4-BE49-F238E27FC236}">
                <a16:creationId xmlns:a16="http://schemas.microsoft.com/office/drawing/2014/main" id="{5CE9D316-3DE5-4749-804A-F48D187EDCE3}"/>
              </a:ext>
            </a:extLst>
          </p:cNvPr>
          <p:cNvSpPr>
            <a:spLocks noGrp="1"/>
          </p:cNvSpPr>
          <p:nvPr/>
        </p:nvSpPr>
        <p:spPr>
          <a:xfrm>
            <a:off x="7908150" y="3242823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F4DBA6"/>
          </a:solidFill>
          <a:ln w="9525">
            <a:solidFill>
              <a:srgbClr val="ABC0DF"/>
            </a:solidFill>
          </a:ln>
        </p:spPr>
      </p:sp>
      <p:sp>
        <p:nvSpPr>
          <p:cNvPr id="183" name="p1-o181">
            <a:extLst>
              <a:ext uri="{FF2B5EF4-FFF2-40B4-BE49-F238E27FC236}">
                <a16:creationId xmlns:a16="http://schemas.microsoft.com/office/drawing/2014/main" id="{2227547C-BA1A-41C4-AE58-007C2A19AC63}"/>
              </a:ext>
            </a:extLst>
          </p:cNvPr>
          <p:cNvSpPr>
            <a:spLocks noGrp="1"/>
          </p:cNvSpPr>
          <p:nvPr/>
        </p:nvSpPr>
        <p:spPr>
          <a:xfrm>
            <a:off x="7974825" y="3271398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L2</a:t>
            </a:r>
          </a:p>
        </p:txBody>
      </p:sp>
      <p:sp>
        <p:nvSpPr>
          <p:cNvPr id="184" name="p1-o182">
            <a:extLst>
              <a:ext uri="{FF2B5EF4-FFF2-40B4-BE49-F238E27FC236}">
                <a16:creationId xmlns:a16="http://schemas.microsoft.com/office/drawing/2014/main" id="{B7700855-F722-451B-867A-3D0C6AAF0CE5}"/>
              </a:ext>
            </a:extLst>
          </p:cNvPr>
          <p:cNvSpPr>
            <a:spLocks noGrp="1"/>
          </p:cNvSpPr>
          <p:nvPr/>
        </p:nvSpPr>
        <p:spPr>
          <a:xfrm>
            <a:off x="7908150" y="3528573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9BD3BC"/>
          </a:solidFill>
          <a:ln w="9525">
            <a:solidFill>
              <a:srgbClr val="ABC0DF"/>
            </a:solidFill>
          </a:ln>
        </p:spPr>
      </p:sp>
      <p:sp>
        <p:nvSpPr>
          <p:cNvPr id="185" name="p1-o183">
            <a:extLst>
              <a:ext uri="{FF2B5EF4-FFF2-40B4-BE49-F238E27FC236}">
                <a16:creationId xmlns:a16="http://schemas.microsoft.com/office/drawing/2014/main" id="{6B9E0A08-13DA-406B-B1AB-C32277822461}"/>
              </a:ext>
            </a:extLst>
          </p:cNvPr>
          <p:cNvSpPr>
            <a:spLocks noGrp="1"/>
          </p:cNvSpPr>
          <p:nvPr/>
        </p:nvSpPr>
        <p:spPr>
          <a:xfrm>
            <a:off x="7974825" y="3557148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86" name="p1-o184">
            <a:extLst>
              <a:ext uri="{FF2B5EF4-FFF2-40B4-BE49-F238E27FC236}">
                <a16:creationId xmlns:a16="http://schemas.microsoft.com/office/drawing/2014/main" id="{D93DB4F5-8DE4-4A03-9B28-7DD14DB068F0}"/>
              </a:ext>
            </a:extLst>
          </p:cNvPr>
          <p:cNvSpPr>
            <a:spLocks noGrp="1"/>
          </p:cNvSpPr>
          <p:nvPr/>
        </p:nvSpPr>
        <p:spPr>
          <a:xfrm>
            <a:off x="7908150" y="3814323"/>
            <a:ext cx="676275" cy="228600"/>
          </a:xfrm>
          <a:prstGeom prst="roundRect">
            <a:avLst>
              <a:gd name="adj" fmla="val 25000"/>
            </a:avLst>
          </a:prstGeom>
          <a:solidFill>
            <a:srgbClr val="B6A5DD"/>
          </a:solidFill>
          <a:ln w="9525">
            <a:solidFill>
              <a:srgbClr val="ABC0DF"/>
            </a:solidFill>
          </a:ln>
        </p:spPr>
      </p:sp>
      <p:sp>
        <p:nvSpPr>
          <p:cNvPr id="187" name="p1-o185">
            <a:extLst>
              <a:ext uri="{FF2B5EF4-FFF2-40B4-BE49-F238E27FC236}">
                <a16:creationId xmlns:a16="http://schemas.microsoft.com/office/drawing/2014/main" id="{808D2724-A210-4A60-9C1A-4F95154BD4AA}"/>
              </a:ext>
            </a:extLst>
          </p:cNvPr>
          <p:cNvSpPr>
            <a:spLocks noGrp="1"/>
          </p:cNvSpPr>
          <p:nvPr/>
        </p:nvSpPr>
        <p:spPr>
          <a:xfrm>
            <a:off x="7974825" y="3842898"/>
            <a:ext cx="5429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0B2344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L35</a:t>
            </a:r>
          </a:p>
        </p:txBody>
      </p:sp>
      <p:sp>
        <p:nvSpPr>
          <p:cNvPr id="188" name="p1-line186">
            <a:extLst>
              <a:ext uri="{FF2B5EF4-FFF2-40B4-BE49-F238E27FC236}">
                <a16:creationId xmlns:a16="http://schemas.microsoft.com/office/drawing/2014/main" id="{ECE90CA4-46F6-4E64-9A51-CDE94F3205B6}"/>
              </a:ext>
            </a:extLst>
          </p:cNvPr>
          <p:cNvSpPr>
            <a:spLocks noGrp="1"/>
          </p:cNvSpPr>
          <p:nvPr/>
        </p:nvSpPr>
        <p:spPr>
          <a:xfrm>
            <a:off x="7793850" y="2766573"/>
            <a:ext cx="9525" cy="1247775"/>
          </a:xfrm>
          <a:custGeom>
            <a:avLst/>
            <a:gdLst/>
            <a:ahLst/>
            <a:cxnLst/>
            <a:rect l="0" t="0" r="0" b="0"/>
            <a:pathLst>
              <a:path w="9525" h="1247775">
                <a:moveTo>
                  <a:pt x="0" y="0"/>
                </a:moveTo>
                <a:lnTo>
                  <a:pt x="0" y="1247775"/>
                </a:lnTo>
              </a:path>
            </a:pathLst>
          </a:custGeom>
          <a:noFill/>
          <a:ln w="12383">
            <a:solidFill>
              <a:srgbClr val="DB0019"/>
            </a:solidFill>
            <a:prstDash val="solid"/>
          </a:ln>
        </p:spPr>
      </p:sp>
      <p:sp>
        <p:nvSpPr>
          <p:cNvPr id="189" name="p1-o187">
            <a:extLst>
              <a:ext uri="{FF2B5EF4-FFF2-40B4-BE49-F238E27FC236}">
                <a16:creationId xmlns:a16="http://schemas.microsoft.com/office/drawing/2014/main" id="{0FED93B7-C5B4-476A-9617-04B1CCB9954D}"/>
              </a:ext>
            </a:extLst>
          </p:cNvPr>
          <p:cNvSpPr>
            <a:spLocks noGrp="1"/>
          </p:cNvSpPr>
          <p:nvPr/>
        </p:nvSpPr>
        <p:spPr>
          <a:xfrm>
            <a:off x="7760513" y="3947673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90" name="p1-o188">
            <a:extLst>
              <a:ext uri="{FF2B5EF4-FFF2-40B4-BE49-F238E27FC236}">
                <a16:creationId xmlns:a16="http://schemas.microsoft.com/office/drawing/2014/main" id="{5087ECF4-946D-4C4B-9E1D-4DB2AABC7BA2}"/>
              </a:ext>
            </a:extLst>
          </p:cNvPr>
          <p:cNvSpPr>
            <a:spLocks noGrp="1"/>
          </p:cNvSpPr>
          <p:nvPr/>
        </p:nvSpPr>
        <p:spPr>
          <a:xfrm>
            <a:off x="7765275" y="424294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一次传输</a:t>
            </a:r>
            <a:endParaRPr sz="14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3" name="p1-o191">
            <a:extLst>
              <a:ext uri="{FF2B5EF4-FFF2-40B4-BE49-F238E27FC236}">
                <a16:creationId xmlns:a16="http://schemas.microsoft.com/office/drawing/2014/main" id="{5FF42957-A542-47CF-9EC8-8C4398822989}"/>
              </a:ext>
            </a:extLst>
          </p:cNvPr>
          <p:cNvSpPr>
            <a:spLocks noGrp="1"/>
          </p:cNvSpPr>
          <p:nvPr/>
        </p:nvSpPr>
        <p:spPr>
          <a:xfrm>
            <a:off x="833152" y="4437112"/>
            <a:ext cx="2802743" cy="720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按 Layer </a:t>
            </a:r>
            <a:r>
              <a:rPr sz="1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分散，</a:t>
            </a:r>
            <a:r>
              <a:rPr sz="1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访问</a:t>
            </a:r>
            <a:r>
              <a:rPr lang="zh-CN" alt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跨度</a:t>
            </a:r>
            <a:r>
              <a:rPr sz="1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大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；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MLU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与</a:t>
            </a:r>
            <a:r>
              <a:rPr lang="en-US" altLang="zh-CN" sz="1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cpu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拷贝数据慢</a:t>
            </a:r>
            <a:endParaRPr sz="1400" b="1" dirty="0">
              <a:solidFill>
                <a:srgbClr val="C00000"/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94" name="p1-o192">
            <a:extLst>
              <a:ext uri="{FF2B5EF4-FFF2-40B4-BE49-F238E27FC236}">
                <a16:creationId xmlns:a16="http://schemas.microsoft.com/office/drawing/2014/main" id="{86C2F083-B522-48A6-92BB-91F80DCEBF65}"/>
              </a:ext>
            </a:extLst>
          </p:cNvPr>
          <p:cNvSpPr>
            <a:spLocks noGrp="1"/>
          </p:cNvSpPr>
          <p:nvPr/>
        </p:nvSpPr>
        <p:spPr>
          <a:xfrm>
            <a:off x="4449171" y="4492155"/>
            <a:ext cx="2638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  <a:defRPr sz="1125" b="0">
                <a:solidFill>
                  <a:srgbClr val="4C6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按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Block</a:t>
            </a:r>
            <a:r>
              <a:rPr lang="en-US" sz="1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搬运，</a:t>
            </a:r>
            <a:r>
              <a:rPr lang="en-US" altLang="zh-CN" sz="1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Block</a:t>
            </a:r>
            <a:r>
              <a:rPr lang="zh-CN" altLang="en-US" sz="1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内部数据连续</a:t>
            </a:r>
            <a:r>
              <a:rPr lang="en-US" sz="1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14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7" name="p1-o195">
            <a:extLst>
              <a:ext uri="{FF2B5EF4-FFF2-40B4-BE49-F238E27FC236}">
                <a16:creationId xmlns:a16="http://schemas.microsoft.com/office/drawing/2014/main" id="{152B28C0-1370-442B-92CD-0115F80D5B74}"/>
              </a:ext>
            </a:extLst>
          </p:cNvPr>
          <p:cNvSpPr>
            <a:spLocks noGrp="1"/>
          </p:cNvSpPr>
          <p:nvPr/>
        </p:nvSpPr>
        <p:spPr>
          <a:xfrm>
            <a:off x="347663" y="5873375"/>
            <a:ext cx="40290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endParaRPr sz="1500" b="1" dirty="0">
              <a:solidFill>
                <a:srgbClr val="0B23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9" name="p1-o197">
            <a:extLst>
              <a:ext uri="{FF2B5EF4-FFF2-40B4-BE49-F238E27FC236}">
                <a16:creationId xmlns:a16="http://schemas.microsoft.com/office/drawing/2014/main" id="{C0209499-6D15-4BBA-AA95-330B152BB7C5}"/>
              </a:ext>
            </a:extLst>
          </p:cNvPr>
          <p:cNvSpPr>
            <a:spLocks noGrp="1"/>
          </p:cNvSpPr>
          <p:nvPr/>
        </p:nvSpPr>
        <p:spPr>
          <a:xfrm>
            <a:off x="4776788" y="5873375"/>
            <a:ext cx="40290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endParaRPr sz="1500" b="1" dirty="0">
              <a:solidFill>
                <a:srgbClr val="0B23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448124" y="1764593"/>
            <a:ext cx="30115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优化前：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Layer-Major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布局</a:t>
            </a:r>
          </a:p>
        </p:txBody>
      </p:sp>
      <p:sp>
        <p:nvSpPr>
          <p:cNvPr id="201" name="矩形 200"/>
          <p:cNvSpPr/>
          <p:nvPr/>
        </p:nvSpPr>
        <p:spPr>
          <a:xfrm>
            <a:off x="4528608" y="1764593"/>
            <a:ext cx="321174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优化后：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Block-Major 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布局</a:t>
            </a:r>
          </a:p>
        </p:txBody>
      </p:sp>
      <p:sp>
        <p:nvSpPr>
          <p:cNvPr id="202" name="矩形 201"/>
          <p:cNvSpPr/>
          <p:nvPr/>
        </p:nvSpPr>
        <p:spPr>
          <a:xfrm>
            <a:off x="448124" y="5300663"/>
            <a:ext cx="33737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搬运性能提升（</a:t>
            </a: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4096 tokens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</p:txBody>
      </p:sp>
      <p:sp>
        <p:nvSpPr>
          <p:cNvPr id="203" name="文本框 95"/>
          <p:cNvSpPr txBox="1"/>
          <p:nvPr/>
        </p:nvSpPr>
        <p:spPr>
          <a:xfrm>
            <a:off x="477322" y="5628070"/>
            <a:ext cx="4385630" cy="7004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Store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：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307.8 </a:t>
            </a:r>
            <a:r>
              <a:rPr lang="en-US" altLang="zh-CN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ms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→ 19.3 </a:t>
            </a:r>
            <a:r>
              <a:rPr lang="en-US" altLang="zh-CN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ms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16.0×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）</a:t>
            </a:r>
            <a:endParaRPr lang="en-US" altLang="zh-CN" sz="1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Load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：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398.7 </a:t>
            </a:r>
            <a:r>
              <a:rPr lang="en-US" altLang="zh-CN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ms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→ 29.8 </a:t>
            </a:r>
            <a:r>
              <a:rPr lang="en-US" altLang="zh-CN"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ms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 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（</a:t>
            </a:r>
            <a:r>
              <a:rPr lang="en-US" altLang="zh-C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13.4×</a:t>
            </a: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7F71DDC-ADAF-FEBD-35B4-0D3FC8547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33375"/>
            <a:ext cx="6840537" cy="503238"/>
          </a:xfrm>
        </p:spPr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实习任务一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优化：传输优化</a:t>
            </a:r>
          </a:p>
        </p:txBody>
      </p:sp>
      <p:sp>
        <p:nvSpPr>
          <p:cNvPr id="102" name="p2-o13">
            <a:extLst>
              <a:ext uri="{FF2B5EF4-FFF2-40B4-BE49-F238E27FC236}">
                <a16:creationId xmlns:a16="http://schemas.microsoft.com/office/drawing/2014/main" id="{574AFAF5-803A-48DC-8075-E7572422E98F}"/>
              </a:ext>
            </a:extLst>
          </p:cNvPr>
          <p:cNvSpPr>
            <a:spLocks noGrp="1"/>
          </p:cNvSpPr>
          <p:nvPr/>
        </p:nvSpPr>
        <p:spPr>
          <a:xfrm>
            <a:off x="53780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请求 A</a:t>
            </a:r>
          </a:p>
        </p:txBody>
      </p:sp>
      <p:sp>
        <p:nvSpPr>
          <p:cNvPr id="103" name="p2-o14">
            <a:extLst>
              <a:ext uri="{FF2B5EF4-FFF2-40B4-BE49-F238E27FC236}">
                <a16:creationId xmlns:a16="http://schemas.microsoft.com/office/drawing/2014/main" id="{8BD59702-EC7F-40F1-8064-A6648D4E05AF}"/>
              </a:ext>
            </a:extLst>
          </p:cNvPr>
          <p:cNvSpPr>
            <a:spLocks noGrp="1"/>
          </p:cNvSpPr>
          <p:nvPr/>
        </p:nvSpPr>
        <p:spPr>
          <a:xfrm>
            <a:off x="53780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5D4FC"/>
            </a:solidFill>
          </a:ln>
        </p:spPr>
      </p:sp>
      <p:sp>
        <p:nvSpPr>
          <p:cNvPr id="104" name="p2-o15">
            <a:extLst>
              <a:ext uri="{FF2B5EF4-FFF2-40B4-BE49-F238E27FC236}">
                <a16:creationId xmlns:a16="http://schemas.microsoft.com/office/drawing/2014/main" id="{876E202C-FF13-480B-AD30-2F6A39C3D000}"/>
              </a:ext>
            </a:extLst>
          </p:cNvPr>
          <p:cNvSpPr>
            <a:spLocks noGrp="1"/>
          </p:cNvSpPr>
          <p:nvPr/>
        </p:nvSpPr>
        <p:spPr>
          <a:xfrm>
            <a:off x="60448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05" name="p2-line16">
            <a:extLst>
              <a:ext uri="{FF2B5EF4-FFF2-40B4-BE49-F238E27FC236}">
                <a16:creationId xmlns:a16="http://schemas.microsoft.com/office/drawing/2014/main" id="{0C61B55D-83B3-4B69-883A-B20DBECACB83}"/>
              </a:ext>
            </a:extLst>
          </p:cNvPr>
          <p:cNvSpPr>
            <a:spLocks noGrp="1"/>
          </p:cNvSpPr>
          <p:nvPr/>
        </p:nvSpPr>
        <p:spPr>
          <a:xfrm>
            <a:off x="101405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06" name="p2-o17">
            <a:extLst>
              <a:ext uri="{FF2B5EF4-FFF2-40B4-BE49-F238E27FC236}">
                <a16:creationId xmlns:a16="http://schemas.microsoft.com/office/drawing/2014/main" id="{3AB397B3-0AD4-4EE3-AC01-00E41070A405}"/>
              </a:ext>
            </a:extLst>
          </p:cNvPr>
          <p:cNvSpPr>
            <a:spLocks noGrp="1"/>
          </p:cNvSpPr>
          <p:nvPr/>
        </p:nvSpPr>
        <p:spPr>
          <a:xfrm>
            <a:off x="189035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请求 B</a:t>
            </a:r>
          </a:p>
        </p:txBody>
      </p:sp>
      <p:sp>
        <p:nvSpPr>
          <p:cNvPr id="107" name="p2-o18">
            <a:extLst>
              <a:ext uri="{FF2B5EF4-FFF2-40B4-BE49-F238E27FC236}">
                <a16:creationId xmlns:a16="http://schemas.microsoft.com/office/drawing/2014/main" id="{0810015D-7224-4467-854D-99087B967067}"/>
              </a:ext>
            </a:extLst>
          </p:cNvPr>
          <p:cNvSpPr>
            <a:spLocks noGrp="1"/>
          </p:cNvSpPr>
          <p:nvPr/>
        </p:nvSpPr>
        <p:spPr>
          <a:xfrm>
            <a:off x="189035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5D4FC"/>
            </a:solidFill>
          </a:ln>
        </p:spPr>
      </p:sp>
      <p:sp>
        <p:nvSpPr>
          <p:cNvPr id="108" name="p2-o19">
            <a:extLst>
              <a:ext uri="{FF2B5EF4-FFF2-40B4-BE49-F238E27FC236}">
                <a16:creationId xmlns:a16="http://schemas.microsoft.com/office/drawing/2014/main" id="{2F0946A1-8A6A-4951-A4C1-FBB3E1DA9734}"/>
              </a:ext>
            </a:extLst>
          </p:cNvPr>
          <p:cNvSpPr>
            <a:spLocks noGrp="1"/>
          </p:cNvSpPr>
          <p:nvPr/>
        </p:nvSpPr>
        <p:spPr>
          <a:xfrm>
            <a:off x="195703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09" name="p2-line20">
            <a:extLst>
              <a:ext uri="{FF2B5EF4-FFF2-40B4-BE49-F238E27FC236}">
                <a16:creationId xmlns:a16="http://schemas.microsoft.com/office/drawing/2014/main" id="{FBC3491B-1141-49CC-9C75-5EEFBD00FE63}"/>
              </a:ext>
            </a:extLst>
          </p:cNvPr>
          <p:cNvSpPr>
            <a:spLocks noGrp="1"/>
          </p:cNvSpPr>
          <p:nvPr/>
        </p:nvSpPr>
        <p:spPr>
          <a:xfrm>
            <a:off x="236660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0" name="p2-o21">
            <a:extLst>
              <a:ext uri="{FF2B5EF4-FFF2-40B4-BE49-F238E27FC236}">
                <a16:creationId xmlns:a16="http://schemas.microsoft.com/office/drawing/2014/main" id="{FC5A3B77-DF4A-42DD-9294-295501BE046A}"/>
              </a:ext>
            </a:extLst>
          </p:cNvPr>
          <p:cNvSpPr>
            <a:spLocks noGrp="1"/>
          </p:cNvSpPr>
          <p:nvPr/>
        </p:nvSpPr>
        <p:spPr>
          <a:xfrm>
            <a:off x="3242907" y="2265788"/>
            <a:ext cx="9525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请求 C</a:t>
            </a:r>
          </a:p>
        </p:txBody>
      </p:sp>
      <p:sp>
        <p:nvSpPr>
          <p:cNvPr id="111" name="p2-o22">
            <a:extLst>
              <a:ext uri="{FF2B5EF4-FFF2-40B4-BE49-F238E27FC236}">
                <a16:creationId xmlns:a16="http://schemas.microsoft.com/office/drawing/2014/main" id="{8B4B8C14-79CC-4BF6-A5E7-EBDB7F3E22D2}"/>
              </a:ext>
            </a:extLst>
          </p:cNvPr>
          <p:cNvSpPr>
            <a:spLocks noGrp="1"/>
          </p:cNvSpPr>
          <p:nvPr/>
        </p:nvSpPr>
        <p:spPr>
          <a:xfrm>
            <a:off x="3242907" y="2580113"/>
            <a:ext cx="952500" cy="438150"/>
          </a:xfrm>
          <a:prstGeom prst="roundRect">
            <a:avLst>
              <a:gd name="adj" fmla="val 1304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5D4FC"/>
            </a:solidFill>
          </a:ln>
        </p:spPr>
      </p:sp>
      <p:sp>
        <p:nvSpPr>
          <p:cNvPr id="112" name="p2-o23">
            <a:extLst>
              <a:ext uri="{FF2B5EF4-FFF2-40B4-BE49-F238E27FC236}">
                <a16:creationId xmlns:a16="http://schemas.microsoft.com/office/drawing/2014/main" id="{885E5B92-0C56-4C7A-BF32-9DDA5EA6C2F6}"/>
              </a:ext>
            </a:extLst>
          </p:cNvPr>
          <p:cNvSpPr>
            <a:spLocks noGrp="1"/>
          </p:cNvSpPr>
          <p:nvPr/>
        </p:nvSpPr>
        <p:spPr>
          <a:xfrm>
            <a:off x="3309582" y="2608688"/>
            <a:ext cx="819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Prefix X</a:t>
            </a:r>
          </a:p>
        </p:txBody>
      </p:sp>
      <p:sp>
        <p:nvSpPr>
          <p:cNvPr id="113" name="p2-line24">
            <a:extLst>
              <a:ext uri="{FF2B5EF4-FFF2-40B4-BE49-F238E27FC236}">
                <a16:creationId xmlns:a16="http://schemas.microsoft.com/office/drawing/2014/main" id="{87588044-C0DB-4BAC-A5A3-E4BA7F2228AC}"/>
              </a:ext>
            </a:extLst>
          </p:cNvPr>
          <p:cNvSpPr>
            <a:spLocks noGrp="1"/>
          </p:cNvSpPr>
          <p:nvPr/>
        </p:nvSpPr>
        <p:spPr>
          <a:xfrm>
            <a:off x="3719157" y="3027788"/>
            <a:ext cx="9525" cy="219075"/>
          </a:xfrm>
          <a:custGeom>
            <a:avLst/>
            <a:gdLst/>
            <a:ahLst/>
            <a:cxnLst/>
            <a:rect l="0" t="0" r="0" b="0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4" name="p2-line25">
            <a:extLst>
              <a:ext uri="{FF2B5EF4-FFF2-40B4-BE49-F238E27FC236}">
                <a16:creationId xmlns:a16="http://schemas.microsoft.com/office/drawing/2014/main" id="{72831835-07F3-4989-B8E7-AE13AA416B35}"/>
              </a:ext>
            </a:extLst>
          </p:cNvPr>
          <p:cNvSpPr>
            <a:spLocks noGrp="1"/>
          </p:cNvSpPr>
          <p:nvPr/>
        </p:nvSpPr>
        <p:spPr>
          <a:xfrm>
            <a:off x="1014057" y="3246863"/>
            <a:ext cx="2705100" cy="9525"/>
          </a:xfrm>
          <a:custGeom>
            <a:avLst/>
            <a:gdLst/>
            <a:ahLst/>
            <a:cxnLst/>
            <a:rect l="0" t="0" r="0" b="0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5" name="p2-line26">
            <a:extLst>
              <a:ext uri="{FF2B5EF4-FFF2-40B4-BE49-F238E27FC236}">
                <a16:creationId xmlns:a16="http://schemas.microsoft.com/office/drawing/2014/main" id="{7FE29B23-25AB-43B2-8F3A-5281B1581E38}"/>
              </a:ext>
            </a:extLst>
          </p:cNvPr>
          <p:cNvSpPr>
            <a:spLocks noGrp="1"/>
          </p:cNvSpPr>
          <p:nvPr/>
        </p:nvSpPr>
        <p:spPr>
          <a:xfrm>
            <a:off x="2366251" y="3248305"/>
            <a:ext cx="9525" cy="190500"/>
          </a:xfrm>
          <a:custGeom>
            <a:avLst/>
            <a:gdLst/>
            <a:ahLst/>
            <a:cxnLst/>
            <a:rect l="0" t="0" r="0" b="0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16" name="p2-o27">
            <a:extLst>
              <a:ext uri="{FF2B5EF4-FFF2-40B4-BE49-F238E27FC236}">
                <a16:creationId xmlns:a16="http://schemas.microsoft.com/office/drawing/2014/main" id="{3EB0CC34-B0C7-4B67-A39A-28666D108F6D}"/>
              </a:ext>
            </a:extLst>
          </p:cNvPr>
          <p:cNvSpPr>
            <a:spLocks noGrp="1"/>
          </p:cNvSpPr>
          <p:nvPr/>
        </p:nvSpPr>
        <p:spPr>
          <a:xfrm>
            <a:off x="2333270" y="33897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17" name="p2-o28">
            <a:extLst>
              <a:ext uri="{FF2B5EF4-FFF2-40B4-BE49-F238E27FC236}">
                <a16:creationId xmlns:a16="http://schemas.microsoft.com/office/drawing/2014/main" id="{7B3A2A48-343A-4624-8869-F9FA339AA2F2}"/>
              </a:ext>
            </a:extLst>
          </p:cNvPr>
          <p:cNvSpPr>
            <a:spLocks noGrp="1"/>
          </p:cNvSpPr>
          <p:nvPr/>
        </p:nvSpPr>
        <p:spPr>
          <a:xfrm>
            <a:off x="1337907" y="3456413"/>
            <a:ext cx="2076450" cy="466725"/>
          </a:xfrm>
          <a:prstGeom prst="roundRect">
            <a:avLst>
              <a:gd name="adj" fmla="val 9524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0B9C3"/>
            </a:solidFill>
          </a:ln>
        </p:spPr>
      </p:sp>
      <p:sp>
        <p:nvSpPr>
          <p:cNvPr id="118" name="p2-o29">
            <a:extLst>
              <a:ext uri="{FF2B5EF4-FFF2-40B4-BE49-F238E27FC236}">
                <a16:creationId xmlns:a16="http://schemas.microsoft.com/office/drawing/2014/main" id="{629AD605-0DF5-4B98-9ECB-6BFDB980373C}"/>
              </a:ext>
            </a:extLst>
          </p:cNvPr>
          <p:cNvSpPr>
            <a:spLocks noGrp="1"/>
          </p:cNvSpPr>
          <p:nvPr/>
        </p:nvSpPr>
        <p:spPr>
          <a:xfrm>
            <a:off x="1404582" y="3484989"/>
            <a:ext cx="19431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合并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19" name="p2-line30">
            <a:extLst>
              <a:ext uri="{FF2B5EF4-FFF2-40B4-BE49-F238E27FC236}">
                <a16:creationId xmlns:a16="http://schemas.microsoft.com/office/drawing/2014/main" id="{823F0354-24CF-44BB-B778-27762FEDC554}"/>
              </a:ext>
            </a:extLst>
          </p:cNvPr>
          <p:cNvSpPr>
            <a:spLocks noGrp="1"/>
          </p:cNvSpPr>
          <p:nvPr/>
        </p:nvSpPr>
        <p:spPr>
          <a:xfrm>
            <a:off x="2375064" y="3926976"/>
            <a:ext cx="45719" cy="329537"/>
          </a:xfrm>
          <a:custGeom>
            <a:avLst/>
            <a:gdLst/>
            <a:ahLst/>
            <a:cxnLst/>
            <a:rect l="0" t="0" r="0" b="0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9050">
            <a:solidFill>
              <a:srgbClr val="DB0019"/>
            </a:solidFill>
            <a:prstDash val="solid"/>
          </a:ln>
        </p:spPr>
      </p:sp>
      <p:sp>
        <p:nvSpPr>
          <p:cNvPr id="120" name="p2-o31">
            <a:extLst>
              <a:ext uri="{FF2B5EF4-FFF2-40B4-BE49-F238E27FC236}">
                <a16:creationId xmlns:a16="http://schemas.microsoft.com/office/drawing/2014/main" id="{658A7408-C4BA-40FC-A048-A0C90FC402C5}"/>
              </a:ext>
            </a:extLst>
          </p:cNvPr>
          <p:cNvSpPr>
            <a:spLocks noGrp="1"/>
          </p:cNvSpPr>
          <p:nvPr/>
        </p:nvSpPr>
        <p:spPr>
          <a:xfrm>
            <a:off x="2341726" y="422108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21" name="p2-o32">
            <a:extLst>
              <a:ext uri="{FF2B5EF4-FFF2-40B4-BE49-F238E27FC236}">
                <a16:creationId xmlns:a16="http://schemas.microsoft.com/office/drawing/2014/main" id="{BFF5D3FB-DDD0-44EC-8530-C5BC59ACBD5F}"/>
              </a:ext>
            </a:extLst>
          </p:cNvPr>
          <p:cNvSpPr>
            <a:spLocks noGrp="1"/>
          </p:cNvSpPr>
          <p:nvPr/>
        </p:nvSpPr>
        <p:spPr>
          <a:xfrm>
            <a:off x="1337907" y="4294613"/>
            <a:ext cx="2076450" cy="466725"/>
          </a:xfrm>
          <a:prstGeom prst="roundRect">
            <a:avLst>
              <a:gd name="adj" fmla="val 12245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0B9C3"/>
            </a:solidFill>
          </a:ln>
        </p:spPr>
      </p:sp>
      <p:sp>
        <p:nvSpPr>
          <p:cNvPr id="122" name="p2-o33">
            <a:extLst>
              <a:ext uri="{FF2B5EF4-FFF2-40B4-BE49-F238E27FC236}">
                <a16:creationId xmlns:a16="http://schemas.microsoft.com/office/drawing/2014/main" id="{5BD4D20C-3FF1-42D9-8B51-8516E11E37C6}"/>
              </a:ext>
            </a:extLst>
          </p:cNvPr>
          <p:cNvSpPr>
            <a:spLocks noGrp="1"/>
          </p:cNvSpPr>
          <p:nvPr/>
        </p:nvSpPr>
        <p:spPr>
          <a:xfrm>
            <a:off x="1404582" y="4323188"/>
            <a:ext cx="19431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73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CPU →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MLU：加载一次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23" name="p2-line34">
            <a:extLst>
              <a:ext uri="{FF2B5EF4-FFF2-40B4-BE49-F238E27FC236}">
                <a16:creationId xmlns:a16="http://schemas.microsoft.com/office/drawing/2014/main" id="{1733B483-315E-479D-8325-C362F962E72B}"/>
              </a:ext>
            </a:extLst>
          </p:cNvPr>
          <p:cNvSpPr>
            <a:spLocks noGrp="1"/>
          </p:cNvSpPr>
          <p:nvPr/>
        </p:nvSpPr>
        <p:spPr>
          <a:xfrm>
            <a:off x="2376132" y="4770863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sp>
      <p:sp>
        <p:nvSpPr>
          <p:cNvPr id="124" name="p2-line35">
            <a:extLst>
              <a:ext uri="{FF2B5EF4-FFF2-40B4-BE49-F238E27FC236}">
                <a16:creationId xmlns:a16="http://schemas.microsoft.com/office/drawing/2014/main" id="{9A5C1152-C8CD-4111-BD01-52B6C8FFD647}"/>
              </a:ext>
            </a:extLst>
          </p:cNvPr>
          <p:cNvSpPr>
            <a:spLocks noGrp="1"/>
          </p:cNvSpPr>
          <p:nvPr/>
        </p:nvSpPr>
        <p:spPr>
          <a:xfrm>
            <a:off x="1014057" y="4894688"/>
            <a:ext cx="2705100" cy="9525"/>
          </a:xfrm>
          <a:custGeom>
            <a:avLst/>
            <a:gdLst/>
            <a:ahLst/>
            <a:cxnLst/>
            <a:rect l="0" t="0" r="0" b="0"/>
            <a:pathLst>
              <a:path w="2705100" h="9525">
                <a:moveTo>
                  <a:pt x="0" y="0"/>
                </a:moveTo>
                <a:lnTo>
                  <a:pt x="2705100" y="0"/>
                </a:lnTo>
              </a:path>
            </a:pathLst>
          </a:custGeom>
          <a:noFill/>
          <a:ln w="1428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sp>
      <p:sp>
        <p:nvSpPr>
          <p:cNvPr id="125" name="p2-line36">
            <a:extLst>
              <a:ext uri="{FF2B5EF4-FFF2-40B4-BE49-F238E27FC236}">
                <a16:creationId xmlns:a16="http://schemas.microsoft.com/office/drawing/2014/main" id="{53A7C061-4068-42BD-A260-80F9D1930076}"/>
              </a:ext>
            </a:extLst>
          </p:cNvPr>
          <p:cNvSpPr>
            <a:spLocks noGrp="1"/>
          </p:cNvSpPr>
          <p:nvPr/>
        </p:nvSpPr>
        <p:spPr>
          <a:xfrm>
            <a:off x="101405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sp>
      <p:sp>
        <p:nvSpPr>
          <p:cNvPr id="126" name="p2-o37">
            <a:extLst>
              <a:ext uri="{FF2B5EF4-FFF2-40B4-BE49-F238E27FC236}">
                <a16:creationId xmlns:a16="http://schemas.microsoft.com/office/drawing/2014/main" id="{F864170A-F260-4FA2-87DD-4208CFF95F5C}"/>
              </a:ext>
            </a:extLst>
          </p:cNvPr>
          <p:cNvSpPr>
            <a:spLocks noGrp="1"/>
          </p:cNvSpPr>
          <p:nvPr/>
        </p:nvSpPr>
        <p:spPr>
          <a:xfrm>
            <a:off x="98072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27" name="p2-o38">
            <a:extLst>
              <a:ext uri="{FF2B5EF4-FFF2-40B4-BE49-F238E27FC236}">
                <a16:creationId xmlns:a16="http://schemas.microsoft.com/office/drawing/2014/main" id="{24A28214-A504-4F5E-BB9B-FA5238452F6A}"/>
              </a:ext>
            </a:extLst>
          </p:cNvPr>
          <p:cNvSpPr>
            <a:spLocks noGrp="1"/>
          </p:cNvSpPr>
          <p:nvPr/>
        </p:nvSpPr>
        <p:spPr>
          <a:xfrm>
            <a:off x="53780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A 复用</a:t>
            </a:r>
          </a:p>
        </p:txBody>
      </p:sp>
      <p:sp>
        <p:nvSpPr>
          <p:cNvPr id="128" name="p2-line39">
            <a:extLst>
              <a:ext uri="{FF2B5EF4-FFF2-40B4-BE49-F238E27FC236}">
                <a16:creationId xmlns:a16="http://schemas.microsoft.com/office/drawing/2014/main" id="{C9789553-6CBA-4D03-ADCD-5B9DFC09A91D}"/>
              </a:ext>
            </a:extLst>
          </p:cNvPr>
          <p:cNvSpPr>
            <a:spLocks noGrp="1"/>
          </p:cNvSpPr>
          <p:nvPr/>
        </p:nvSpPr>
        <p:spPr>
          <a:xfrm>
            <a:off x="2378422" y="4899450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sp>
      <p:sp>
        <p:nvSpPr>
          <p:cNvPr id="129" name="p2-o40">
            <a:extLst>
              <a:ext uri="{FF2B5EF4-FFF2-40B4-BE49-F238E27FC236}">
                <a16:creationId xmlns:a16="http://schemas.microsoft.com/office/drawing/2014/main" id="{3FA7902B-726E-44A8-830C-80473502F411}"/>
              </a:ext>
            </a:extLst>
          </p:cNvPr>
          <p:cNvSpPr>
            <a:spLocks noGrp="1"/>
          </p:cNvSpPr>
          <p:nvPr/>
        </p:nvSpPr>
        <p:spPr>
          <a:xfrm>
            <a:off x="2345085" y="4956600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30" name="p2-o41">
            <a:extLst>
              <a:ext uri="{FF2B5EF4-FFF2-40B4-BE49-F238E27FC236}">
                <a16:creationId xmlns:a16="http://schemas.microsoft.com/office/drawing/2014/main" id="{06B15916-F014-4189-AE7F-F1B2D7066819}"/>
              </a:ext>
            </a:extLst>
          </p:cNvPr>
          <p:cNvSpPr>
            <a:spLocks noGrp="1"/>
          </p:cNvSpPr>
          <p:nvPr/>
        </p:nvSpPr>
        <p:spPr>
          <a:xfrm>
            <a:off x="189035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B </a:t>
            </a:r>
            <a:r>
              <a:rPr sz="127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复用</a:t>
            </a:r>
            <a:endParaRPr sz="1275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Microsoft YaHei"/>
              <a:cs typeface="Times New Roman" panose="02020603050405020304" pitchFamily="18" charset="0"/>
            </a:endParaRPr>
          </a:p>
        </p:txBody>
      </p:sp>
      <p:sp>
        <p:nvSpPr>
          <p:cNvPr id="131" name="p2-line42">
            <a:extLst>
              <a:ext uri="{FF2B5EF4-FFF2-40B4-BE49-F238E27FC236}">
                <a16:creationId xmlns:a16="http://schemas.microsoft.com/office/drawing/2014/main" id="{74CD4301-D179-464F-A013-40AEF6AC452C}"/>
              </a:ext>
            </a:extLst>
          </p:cNvPr>
          <p:cNvSpPr>
            <a:spLocks noGrp="1"/>
          </p:cNvSpPr>
          <p:nvPr/>
        </p:nvSpPr>
        <p:spPr>
          <a:xfrm>
            <a:off x="3719157" y="4894688"/>
            <a:ext cx="9525" cy="123825"/>
          </a:xfrm>
          <a:custGeom>
            <a:avLst/>
            <a:gdLst/>
            <a:ahLst/>
            <a:cxnLst/>
            <a:rect l="0" t="0" r="0" b="0"/>
            <a:pathLst>
              <a:path w="9525" h="123825">
                <a:moveTo>
                  <a:pt x="0" y="0"/>
                </a:moveTo>
                <a:lnTo>
                  <a:pt x="0" y="123825"/>
                </a:lnTo>
              </a:path>
            </a:pathLst>
          </a:custGeom>
          <a:noFill/>
          <a:ln w="1428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sp>
      <p:sp>
        <p:nvSpPr>
          <p:cNvPr id="132" name="p2-o43">
            <a:extLst>
              <a:ext uri="{FF2B5EF4-FFF2-40B4-BE49-F238E27FC236}">
                <a16:creationId xmlns:a16="http://schemas.microsoft.com/office/drawing/2014/main" id="{22A1DADA-4FE4-4F60-BE52-A2A0D263CE17}"/>
              </a:ext>
            </a:extLst>
          </p:cNvPr>
          <p:cNvSpPr>
            <a:spLocks noGrp="1"/>
          </p:cNvSpPr>
          <p:nvPr/>
        </p:nvSpPr>
        <p:spPr>
          <a:xfrm>
            <a:off x="3685820" y="4951838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B2344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33" name="p2-o44">
            <a:extLst>
              <a:ext uri="{FF2B5EF4-FFF2-40B4-BE49-F238E27FC236}">
                <a16:creationId xmlns:a16="http://schemas.microsoft.com/office/drawing/2014/main" id="{B1E24232-C937-4FF7-BDC2-00BBF85B8B1B}"/>
              </a:ext>
            </a:extLst>
          </p:cNvPr>
          <p:cNvSpPr>
            <a:spLocks noGrp="1"/>
          </p:cNvSpPr>
          <p:nvPr/>
        </p:nvSpPr>
        <p:spPr>
          <a:xfrm>
            <a:off x="3242907" y="5037563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C 复用</a:t>
            </a:r>
          </a:p>
        </p:txBody>
      </p:sp>
      <p:sp>
        <p:nvSpPr>
          <p:cNvPr id="136" name="p2-o46">
            <a:extLst>
              <a:ext uri="{FF2B5EF4-FFF2-40B4-BE49-F238E27FC236}">
                <a16:creationId xmlns:a16="http://schemas.microsoft.com/office/drawing/2014/main" id="{FAE9C0E6-BC9A-475B-BD1F-B40D8816B3EB}"/>
              </a:ext>
            </a:extLst>
          </p:cNvPr>
          <p:cNvSpPr>
            <a:spLocks noGrp="1"/>
          </p:cNvSpPr>
          <p:nvPr/>
        </p:nvSpPr>
        <p:spPr>
          <a:xfrm>
            <a:off x="4762371" y="2561063"/>
            <a:ext cx="790575" cy="809625"/>
          </a:xfrm>
          <a:prstGeom prst="roundRect">
            <a:avLst>
              <a:gd name="adj" fmla="val 7229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0BBC5"/>
            </a:solidFill>
          </a:ln>
        </p:spPr>
      </p:sp>
      <p:sp>
        <p:nvSpPr>
          <p:cNvPr id="137" name="p2-o47">
            <a:extLst>
              <a:ext uri="{FF2B5EF4-FFF2-40B4-BE49-F238E27FC236}">
                <a16:creationId xmlns:a16="http://schemas.microsoft.com/office/drawing/2014/main" id="{FD320BB9-D18D-4F1F-AA93-EF45772E8C93}"/>
              </a:ext>
            </a:extLst>
          </p:cNvPr>
          <p:cNvSpPr>
            <a:spLocks noGrp="1"/>
          </p:cNvSpPr>
          <p:nvPr/>
        </p:nvSpPr>
        <p:spPr>
          <a:xfrm>
            <a:off x="4829046" y="2589638"/>
            <a:ext cx="657225" cy="752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</a:p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</a:p>
          <a:p>
            <a:pPr algn="ctr">
              <a:defRPr sz="1088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r>
              <a:rPr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</a:t>
            </a:r>
          </a:p>
        </p:txBody>
      </p:sp>
      <p:sp>
        <p:nvSpPr>
          <p:cNvPr id="138" name="p2-o48">
            <a:extLst>
              <a:ext uri="{FF2B5EF4-FFF2-40B4-BE49-F238E27FC236}">
                <a16:creationId xmlns:a16="http://schemas.microsoft.com/office/drawing/2014/main" id="{2EA76F4E-9486-4329-8CCE-D6E3ECEC8D5A}"/>
              </a:ext>
            </a:extLst>
          </p:cNvPr>
          <p:cNvSpPr>
            <a:spLocks noGrp="1"/>
          </p:cNvSpPr>
          <p:nvPr/>
        </p:nvSpPr>
        <p:spPr>
          <a:xfrm>
            <a:off x="4762371" y="4142213"/>
            <a:ext cx="790575" cy="847725"/>
          </a:xfrm>
          <a:prstGeom prst="roundRect">
            <a:avLst>
              <a:gd name="adj" fmla="val 7229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B8D7FB"/>
            </a:solidFill>
          </a:ln>
        </p:spPr>
      </p:sp>
      <p:sp>
        <p:nvSpPr>
          <p:cNvPr id="139" name="p2-o49">
            <a:extLst>
              <a:ext uri="{FF2B5EF4-FFF2-40B4-BE49-F238E27FC236}">
                <a16:creationId xmlns:a16="http://schemas.microsoft.com/office/drawing/2014/main" id="{2949F96D-0142-4905-83FB-0BE29309714F}"/>
              </a:ext>
            </a:extLst>
          </p:cNvPr>
          <p:cNvSpPr>
            <a:spLocks noGrp="1"/>
          </p:cNvSpPr>
          <p:nvPr/>
        </p:nvSpPr>
        <p:spPr>
          <a:xfrm>
            <a:off x="4829046" y="4170788"/>
            <a:ext cx="657225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传输流</a:t>
            </a:r>
          </a:p>
        </p:txBody>
      </p:sp>
      <p:sp>
        <p:nvSpPr>
          <p:cNvPr id="140" name="p2-line50">
            <a:extLst>
              <a:ext uri="{FF2B5EF4-FFF2-40B4-BE49-F238E27FC236}">
                <a16:creationId xmlns:a16="http://schemas.microsoft.com/office/drawing/2014/main" id="{92AF1107-F55E-4CA1-8A52-7619FF1EABAD}"/>
              </a:ext>
            </a:extLst>
          </p:cNvPr>
          <p:cNvSpPr>
            <a:spLocks noGrp="1"/>
          </p:cNvSpPr>
          <p:nvPr/>
        </p:nvSpPr>
        <p:spPr>
          <a:xfrm>
            <a:off x="5626485" y="3342113"/>
            <a:ext cx="3009900" cy="9525"/>
          </a:xfrm>
          <a:custGeom>
            <a:avLst/>
            <a:gdLst/>
            <a:ahLst/>
            <a:cxnLst/>
            <a:rect l="0" t="0" r="0" b="0"/>
            <a:pathLst>
              <a:path w="3009900" h="9525">
                <a:moveTo>
                  <a:pt x="0" y="0"/>
                </a:moveTo>
                <a:lnTo>
                  <a:pt x="30099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41" name="p2-o51">
            <a:extLst>
              <a:ext uri="{FF2B5EF4-FFF2-40B4-BE49-F238E27FC236}">
                <a16:creationId xmlns:a16="http://schemas.microsoft.com/office/drawing/2014/main" id="{06346EED-0EE5-42FC-A62D-CC78E3239E38}"/>
              </a:ext>
            </a:extLst>
          </p:cNvPr>
          <p:cNvSpPr>
            <a:spLocks noGrp="1"/>
          </p:cNvSpPr>
          <p:nvPr/>
        </p:nvSpPr>
        <p:spPr>
          <a:xfrm>
            <a:off x="8569710" y="3308776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42" name="p2-line52">
            <a:extLst>
              <a:ext uri="{FF2B5EF4-FFF2-40B4-BE49-F238E27FC236}">
                <a16:creationId xmlns:a16="http://schemas.microsoft.com/office/drawing/2014/main" id="{E27A7C4F-85FD-4D1D-A75C-7BFE15ED61E4}"/>
              </a:ext>
            </a:extLst>
          </p:cNvPr>
          <p:cNvSpPr>
            <a:spLocks noGrp="1"/>
          </p:cNvSpPr>
          <p:nvPr/>
        </p:nvSpPr>
        <p:spPr>
          <a:xfrm>
            <a:off x="5620190" y="4922229"/>
            <a:ext cx="3009900" cy="9525"/>
          </a:xfrm>
          <a:custGeom>
            <a:avLst/>
            <a:gdLst/>
            <a:ahLst/>
            <a:cxnLst/>
            <a:rect l="0" t="0" r="0" b="0"/>
            <a:pathLst>
              <a:path w="3009900" h="9525">
                <a:moveTo>
                  <a:pt x="0" y="0"/>
                </a:moveTo>
                <a:lnTo>
                  <a:pt x="3009900" y="0"/>
                </a:lnTo>
              </a:path>
            </a:pathLst>
          </a:custGeom>
          <a:noFill/>
          <a:ln w="14288">
            <a:solidFill>
              <a:srgbClr val="0B2344"/>
            </a:solidFill>
            <a:prstDash val="solid"/>
          </a:ln>
        </p:spPr>
      </p:sp>
      <p:sp>
        <p:nvSpPr>
          <p:cNvPr id="143" name="p2-o53">
            <a:extLst>
              <a:ext uri="{FF2B5EF4-FFF2-40B4-BE49-F238E27FC236}">
                <a16:creationId xmlns:a16="http://schemas.microsoft.com/office/drawing/2014/main" id="{FBBE38BE-F070-4C40-8CB2-E158869AC85C}"/>
              </a:ext>
            </a:extLst>
          </p:cNvPr>
          <p:cNvSpPr>
            <a:spLocks noGrp="1"/>
          </p:cNvSpPr>
          <p:nvPr/>
        </p:nvSpPr>
        <p:spPr>
          <a:xfrm>
            <a:off x="8563415" y="4888892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0B2344"/>
          </a:solidFill>
          <a:ln w="9525">
            <a:noFill/>
          </a:ln>
        </p:spPr>
      </p:sp>
      <p:sp>
        <p:nvSpPr>
          <p:cNvPr id="144" name="p2-o54">
            <a:extLst>
              <a:ext uri="{FF2B5EF4-FFF2-40B4-BE49-F238E27FC236}">
                <a16:creationId xmlns:a16="http://schemas.microsoft.com/office/drawing/2014/main" id="{99DC0221-27A7-4C7D-9557-2BB6D8FBAA4B}"/>
              </a:ext>
            </a:extLst>
          </p:cNvPr>
          <p:cNvSpPr>
            <a:spLocks noGrp="1"/>
          </p:cNvSpPr>
          <p:nvPr/>
        </p:nvSpPr>
        <p:spPr>
          <a:xfrm>
            <a:off x="5705346" y="2732513"/>
            <a:ext cx="962025" cy="514350"/>
          </a:xfrm>
          <a:prstGeom prst="roundRect">
            <a:avLst>
              <a:gd name="adj" fmla="val 11111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EEA5B2"/>
            </a:solidFill>
          </a:ln>
        </p:spPr>
      </p:sp>
      <p:sp>
        <p:nvSpPr>
          <p:cNvPr id="145" name="p2-o55">
            <a:extLst>
              <a:ext uri="{FF2B5EF4-FFF2-40B4-BE49-F238E27FC236}">
                <a16:creationId xmlns:a16="http://schemas.microsoft.com/office/drawing/2014/main" id="{7F4EE351-F436-44B4-8049-78C044E21CB7}"/>
              </a:ext>
            </a:extLst>
          </p:cNvPr>
          <p:cNvSpPr>
            <a:spLocks noGrp="1"/>
          </p:cNvSpPr>
          <p:nvPr/>
        </p:nvSpPr>
        <p:spPr>
          <a:xfrm>
            <a:off x="5772021" y="2761088"/>
            <a:ext cx="828675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Prefill /</a:t>
            </a:r>
          </a:p>
          <a:p>
            <a:pPr algn="ctr">
              <a:defRPr sz="1200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46" name="p2-o56">
            <a:extLst>
              <a:ext uri="{FF2B5EF4-FFF2-40B4-BE49-F238E27FC236}">
                <a16:creationId xmlns:a16="http://schemas.microsoft.com/office/drawing/2014/main" id="{26039121-F6B1-4266-908D-DF24B015FC7B}"/>
              </a:ext>
            </a:extLst>
          </p:cNvPr>
          <p:cNvSpPr>
            <a:spLocks noGrp="1"/>
          </p:cNvSpPr>
          <p:nvPr/>
        </p:nvSpPr>
        <p:spPr>
          <a:xfrm>
            <a:off x="6848346" y="2732513"/>
            <a:ext cx="742950" cy="514350"/>
          </a:xfrm>
          <a:prstGeom prst="roundRect">
            <a:avLst>
              <a:gd name="adj" fmla="val 11111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EEA5B2"/>
            </a:solidFill>
          </a:ln>
        </p:spPr>
      </p:sp>
      <p:sp>
        <p:nvSpPr>
          <p:cNvPr id="147" name="p2-o57">
            <a:extLst>
              <a:ext uri="{FF2B5EF4-FFF2-40B4-BE49-F238E27FC236}">
                <a16:creationId xmlns:a16="http://schemas.microsoft.com/office/drawing/2014/main" id="{F98BC231-61AF-4C89-AEF3-5E9E62245767}"/>
              </a:ext>
            </a:extLst>
          </p:cNvPr>
          <p:cNvSpPr>
            <a:spLocks noGrp="1"/>
          </p:cNvSpPr>
          <p:nvPr/>
        </p:nvSpPr>
        <p:spPr>
          <a:xfrm>
            <a:off x="6915021" y="2761088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9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48" name="p2-o58">
            <a:extLst>
              <a:ext uri="{FF2B5EF4-FFF2-40B4-BE49-F238E27FC236}">
                <a16:creationId xmlns:a16="http://schemas.microsoft.com/office/drawing/2014/main" id="{8E85D25A-2DEC-4DFE-A87B-E203950626E7}"/>
              </a:ext>
            </a:extLst>
          </p:cNvPr>
          <p:cNvSpPr>
            <a:spLocks noGrp="1"/>
          </p:cNvSpPr>
          <p:nvPr/>
        </p:nvSpPr>
        <p:spPr>
          <a:xfrm>
            <a:off x="7800846" y="2732513"/>
            <a:ext cx="742950" cy="514350"/>
          </a:xfrm>
          <a:prstGeom prst="roundRect">
            <a:avLst>
              <a:gd name="adj" fmla="val 11111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EEA5B2"/>
            </a:solidFill>
          </a:ln>
        </p:spPr>
      </p:sp>
      <p:sp>
        <p:nvSpPr>
          <p:cNvPr id="149" name="p2-o59">
            <a:extLst>
              <a:ext uri="{FF2B5EF4-FFF2-40B4-BE49-F238E27FC236}">
                <a16:creationId xmlns:a16="http://schemas.microsoft.com/office/drawing/2014/main" id="{7FC3CD52-D4BE-4D5A-BB54-C8047868836A}"/>
              </a:ext>
            </a:extLst>
          </p:cNvPr>
          <p:cNvSpPr>
            <a:spLocks noGrp="1"/>
          </p:cNvSpPr>
          <p:nvPr/>
        </p:nvSpPr>
        <p:spPr>
          <a:xfrm>
            <a:off x="7867521" y="2761088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9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</a:p>
        </p:txBody>
      </p:sp>
      <p:sp>
        <p:nvSpPr>
          <p:cNvPr id="150" name="p2-o60">
            <a:extLst>
              <a:ext uri="{FF2B5EF4-FFF2-40B4-BE49-F238E27FC236}">
                <a16:creationId xmlns:a16="http://schemas.microsoft.com/office/drawing/2014/main" id="{9394C46B-75F1-4494-AC54-0085208BAD3C}"/>
              </a:ext>
            </a:extLst>
          </p:cNvPr>
          <p:cNvSpPr>
            <a:spLocks noGrp="1"/>
          </p:cNvSpPr>
          <p:nvPr/>
        </p:nvSpPr>
        <p:spPr>
          <a:xfrm>
            <a:off x="5705346" y="4408913"/>
            <a:ext cx="581025" cy="428625"/>
          </a:xfrm>
          <a:prstGeom prst="roundRect">
            <a:avLst>
              <a:gd name="adj" fmla="val 1333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AACDF8"/>
            </a:solidFill>
          </a:ln>
        </p:spPr>
      </p:sp>
      <p:sp>
        <p:nvSpPr>
          <p:cNvPr id="151" name="p2-o61">
            <a:extLst>
              <a:ext uri="{FF2B5EF4-FFF2-40B4-BE49-F238E27FC236}">
                <a16:creationId xmlns:a16="http://schemas.microsoft.com/office/drawing/2014/main" id="{A10A583A-5D26-49D6-AB33-237D5A82C542}"/>
              </a:ext>
            </a:extLst>
          </p:cNvPr>
          <p:cNvSpPr>
            <a:spLocks noGrp="1"/>
          </p:cNvSpPr>
          <p:nvPr/>
        </p:nvSpPr>
        <p:spPr>
          <a:xfrm>
            <a:off x="5772021" y="4437488"/>
            <a:ext cx="4476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</a:t>
            </a:r>
          </a:p>
        </p:txBody>
      </p:sp>
      <p:sp>
        <p:nvSpPr>
          <p:cNvPr id="152" name="p2-o62">
            <a:extLst>
              <a:ext uri="{FF2B5EF4-FFF2-40B4-BE49-F238E27FC236}">
                <a16:creationId xmlns:a16="http://schemas.microsoft.com/office/drawing/2014/main" id="{A1DFDF96-123C-4B56-A656-F25E93A82B03}"/>
              </a:ext>
            </a:extLst>
          </p:cNvPr>
          <p:cNvSpPr>
            <a:spLocks noGrp="1"/>
          </p:cNvSpPr>
          <p:nvPr/>
        </p:nvSpPr>
        <p:spPr>
          <a:xfrm>
            <a:off x="6286371" y="4408913"/>
            <a:ext cx="619125" cy="428625"/>
          </a:xfrm>
          <a:prstGeom prst="roundRect">
            <a:avLst>
              <a:gd name="adj" fmla="val 1333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AACDF8"/>
            </a:solidFill>
          </a:ln>
        </p:spPr>
      </p:sp>
      <p:sp>
        <p:nvSpPr>
          <p:cNvPr id="153" name="p2-o63">
            <a:extLst>
              <a:ext uri="{FF2B5EF4-FFF2-40B4-BE49-F238E27FC236}">
                <a16:creationId xmlns:a16="http://schemas.microsoft.com/office/drawing/2014/main" id="{79DC62D2-ABBC-4452-8CCB-6AB9875091EB}"/>
              </a:ext>
            </a:extLst>
          </p:cNvPr>
          <p:cNvSpPr>
            <a:spLocks noGrp="1"/>
          </p:cNvSpPr>
          <p:nvPr/>
        </p:nvSpPr>
        <p:spPr>
          <a:xfrm>
            <a:off x="6353046" y="4437488"/>
            <a:ext cx="4857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D2H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异步</a:t>
            </a:r>
          </a:p>
        </p:txBody>
      </p:sp>
      <p:sp>
        <p:nvSpPr>
          <p:cNvPr id="154" name="p2-o64">
            <a:extLst>
              <a:ext uri="{FF2B5EF4-FFF2-40B4-BE49-F238E27FC236}">
                <a16:creationId xmlns:a16="http://schemas.microsoft.com/office/drawing/2014/main" id="{124FE86F-FF30-4448-A438-D2D5375FF4E9}"/>
              </a:ext>
            </a:extLst>
          </p:cNvPr>
          <p:cNvSpPr>
            <a:spLocks noGrp="1"/>
          </p:cNvSpPr>
          <p:nvPr/>
        </p:nvSpPr>
        <p:spPr>
          <a:xfrm>
            <a:off x="7162671" y="4408913"/>
            <a:ext cx="628650" cy="428625"/>
          </a:xfrm>
          <a:prstGeom prst="roundRect">
            <a:avLst>
              <a:gd name="adj" fmla="val 1333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AACDF8"/>
            </a:solidFill>
          </a:ln>
        </p:spPr>
      </p:sp>
      <p:sp>
        <p:nvSpPr>
          <p:cNvPr id="155" name="p2-o65">
            <a:extLst>
              <a:ext uri="{FF2B5EF4-FFF2-40B4-BE49-F238E27FC236}">
                <a16:creationId xmlns:a16="http://schemas.microsoft.com/office/drawing/2014/main" id="{FA307D9D-D182-4A90-8AC3-572A8ADFBEED}"/>
              </a:ext>
            </a:extLst>
          </p:cNvPr>
          <p:cNvSpPr>
            <a:spLocks noGrp="1"/>
          </p:cNvSpPr>
          <p:nvPr/>
        </p:nvSpPr>
        <p:spPr>
          <a:xfrm>
            <a:off x="7229346" y="4437488"/>
            <a:ext cx="4953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H2D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异步</a:t>
            </a:r>
          </a:p>
        </p:txBody>
      </p:sp>
      <p:sp>
        <p:nvSpPr>
          <p:cNvPr id="156" name="p2-o66">
            <a:extLst>
              <a:ext uri="{FF2B5EF4-FFF2-40B4-BE49-F238E27FC236}">
                <a16:creationId xmlns:a16="http://schemas.microsoft.com/office/drawing/2014/main" id="{C22FD0F9-51E6-41B3-B6E6-FC90F13893D6}"/>
              </a:ext>
            </a:extLst>
          </p:cNvPr>
          <p:cNvSpPr>
            <a:spLocks noGrp="1"/>
          </p:cNvSpPr>
          <p:nvPr/>
        </p:nvSpPr>
        <p:spPr>
          <a:xfrm>
            <a:off x="7791321" y="4408913"/>
            <a:ext cx="733425" cy="428625"/>
          </a:xfrm>
          <a:prstGeom prst="roundRect">
            <a:avLst>
              <a:gd name="adj" fmla="val 13333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AACDF8"/>
            </a:solidFill>
          </a:ln>
        </p:spPr>
      </p:sp>
      <p:sp>
        <p:nvSpPr>
          <p:cNvPr id="157" name="p2-o67">
            <a:extLst>
              <a:ext uri="{FF2B5EF4-FFF2-40B4-BE49-F238E27FC236}">
                <a16:creationId xmlns:a16="http://schemas.microsoft.com/office/drawing/2014/main" id="{1C3F0311-272E-40C2-B618-2EE36735B07C}"/>
              </a:ext>
            </a:extLst>
          </p:cNvPr>
          <p:cNvSpPr>
            <a:spLocks noGrp="1"/>
          </p:cNvSpPr>
          <p:nvPr/>
        </p:nvSpPr>
        <p:spPr>
          <a:xfrm>
            <a:off x="7857996" y="4437488"/>
            <a:ext cx="6000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Unpack</a:t>
            </a:r>
          </a:p>
          <a:p>
            <a:pPr algn="ctr">
              <a:defRPr sz="1125" b="1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MLU</a:t>
            </a:r>
          </a:p>
        </p:txBody>
      </p:sp>
      <p:sp>
        <p:nvSpPr>
          <p:cNvPr id="158" name="p2-line68">
            <a:extLst>
              <a:ext uri="{FF2B5EF4-FFF2-40B4-BE49-F238E27FC236}">
                <a16:creationId xmlns:a16="http://schemas.microsoft.com/office/drawing/2014/main" id="{CA429F53-B0D6-4B84-BEE8-33545F63A3AA}"/>
              </a:ext>
            </a:extLst>
          </p:cNvPr>
          <p:cNvSpPr>
            <a:spLocks noGrp="1"/>
          </p:cNvSpPr>
          <p:nvPr/>
        </p:nvSpPr>
        <p:spPr>
          <a:xfrm>
            <a:off x="5999614" y="3261045"/>
            <a:ext cx="9525" cy="1133475"/>
          </a:xfrm>
          <a:custGeom>
            <a:avLst/>
            <a:gdLst/>
            <a:ahLst/>
            <a:cxnLst/>
            <a:rect l="0" t="0" r="0" b="0"/>
            <a:pathLst>
              <a:path w="9525" h="1133475">
                <a:moveTo>
                  <a:pt x="0" y="0"/>
                </a:moveTo>
                <a:lnTo>
                  <a:pt x="0" y="1133475"/>
                </a:lnTo>
              </a:path>
            </a:pathLst>
          </a:custGeom>
          <a:noFill/>
          <a:ln w="11430">
            <a:solidFill>
              <a:srgbClr val="DB0019"/>
            </a:solidFill>
            <a:prstDash val="dash"/>
          </a:ln>
        </p:spPr>
      </p:sp>
      <p:sp>
        <p:nvSpPr>
          <p:cNvPr id="159" name="p2-o69">
            <a:extLst>
              <a:ext uri="{FF2B5EF4-FFF2-40B4-BE49-F238E27FC236}">
                <a16:creationId xmlns:a16="http://schemas.microsoft.com/office/drawing/2014/main" id="{BFD1B2D0-ECB8-45A8-BCB7-CA800A059A98}"/>
              </a:ext>
            </a:extLst>
          </p:cNvPr>
          <p:cNvSpPr>
            <a:spLocks noGrp="1"/>
          </p:cNvSpPr>
          <p:nvPr/>
        </p:nvSpPr>
        <p:spPr>
          <a:xfrm>
            <a:off x="5966276" y="4341764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2" name="p2-o72">
            <a:extLst>
              <a:ext uri="{FF2B5EF4-FFF2-40B4-BE49-F238E27FC236}">
                <a16:creationId xmlns:a16="http://schemas.microsoft.com/office/drawing/2014/main" id="{0180BCD7-CC01-45FC-8FD3-04993827285E}"/>
              </a:ext>
            </a:extLst>
          </p:cNvPr>
          <p:cNvSpPr>
            <a:spLocks noGrp="1"/>
          </p:cNvSpPr>
          <p:nvPr/>
        </p:nvSpPr>
        <p:spPr>
          <a:xfrm>
            <a:off x="6058398" y="3355386"/>
            <a:ext cx="12573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记录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</a:t>
            </a:r>
          </a:p>
          <a:p>
            <a:pPr algn="l">
              <a:defRPr sz="105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</a:t>
            </a:r>
            <a:r>
              <a:rPr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写完成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p2-o73">
            <a:extLst>
              <a:ext uri="{FF2B5EF4-FFF2-40B4-BE49-F238E27FC236}">
                <a16:creationId xmlns:a16="http://schemas.microsoft.com/office/drawing/2014/main" id="{54451D6F-4FEC-4998-B25D-D1D62450C5CB}"/>
              </a:ext>
            </a:extLst>
          </p:cNvPr>
          <p:cNvSpPr>
            <a:spLocks noGrp="1"/>
          </p:cNvSpPr>
          <p:nvPr/>
        </p:nvSpPr>
        <p:spPr>
          <a:xfrm>
            <a:off x="8228073" y="3363053"/>
            <a:ext cx="7334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等待</a:t>
            </a: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</a:t>
            </a:r>
          </a:p>
          <a:p>
            <a:pPr algn="l">
              <a:defRPr sz="900" b="0">
                <a:solidFill>
                  <a:srgbClr val="0B23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</a:t>
            </a:r>
            <a:r>
              <a:rPr sz="11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加载完成</a:t>
            </a:r>
            <a:endParaRPr sz="11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p2-line74">
            <a:extLst>
              <a:ext uri="{FF2B5EF4-FFF2-40B4-BE49-F238E27FC236}">
                <a16:creationId xmlns:a16="http://schemas.microsoft.com/office/drawing/2014/main" id="{098D17B9-69CB-45E1-9A92-C47316DB6118}"/>
              </a:ext>
            </a:extLst>
          </p:cNvPr>
          <p:cNvSpPr>
            <a:spLocks noGrp="1"/>
          </p:cNvSpPr>
          <p:nvPr/>
        </p:nvSpPr>
        <p:spPr>
          <a:xfrm>
            <a:off x="6582880" y="4205331"/>
            <a:ext cx="1114425" cy="9525"/>
          </a:xfrm>
          <a:custGeom>
            <a:avLst/>
            <a:gdLst/>
            <a:ahLst/>
            <a:cxnLst/>
            <a:rect l="0" t="0" r="0" b="0"/>
            <a:pathLst>
              <a:path w="1114425" h="9525">
                <a:moveTo>
                  <a:pt x="0" y="0"/>
                </a:moveTo>
                <a:lnTo>
                  <a:pt x="1114425" y="0"/>
                </a:lnTo>
              </a:path>
            </a:pathLst>
          </a:custGeom>
          <a:noFill/>
          <a:ln w="9525">
            <a:solidFill>
              <a:srgbClr val="DB0019"/>
            </a:solidFill>
            <a:prstDash val="dash"/>
          </a:ln>
        </p:spPr>
      </p:sp>
      <p:sp>
        <p:nvSpPr>
          <p:cNvPr id="165" name="p2-o75">
            <a:extLst>
              <a:ext uri="{FF2B5EF4-FFF2-40B4-BE49-F238E27FC236}">
                <a16:creationId xmlns:a16="http://schemas.microsoft.com/office/drawing/2014/main" id="{347C2D89-E041-4F18-AE83-AE3D8D2C5B9B}"/>
              </a:ext>
            </a:extLst>
          </p:cNvPr>
          <p:cNvSpPr>
            <a:spLocks noGrp="1"/>
          </p:cNvSpPr>
          <p:nvPr/>
        </p:nvSpPr>
        <p:spPr>
          <a:xfrm>
            <a:off x="7630630" y="4171994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66675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6" name="p2-line76">
            <a:extLst>
              <a:ext uri="{FF2B5EF4-FFF2-40B4-BE49-F238E27FC236}">
                <a16:creationId xmlns:a16="http://schemas.microsoft.com/office/drawing/2014/main" id="{667F52FB-461F-4979-8323-D605691C0525}"/>
              </a:ext>
            </a:extLst>
          </p:cNvPr>
          <p:cNvSpPr>
            <a:spLocks noGrp="1"/>
          </p:cNvSpPr>
          <p:nvPr/>
        </p:nvSpPr>
        <p:spPr>
          <a:xfrm>
            <a:off x="6582880" y="4205331"/>
            <a:ext cx="1114425" cy="9525"/>
          </a:xfrm>
          <a:custGeom>
            <a:avLst/>
            <a:gdLst/>
            <a:ahLst/>
            <a:cxnLst/>
            <a:rect l="0" t="0" r="0" b="0"/>
            <a:pathLst>
              <a:path w="1114425" h="9525">
                <a:moveTo>
                  <a:pt x="1114425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DB0019"/>
            </a:solidFill>
            <a:prstDash val="dash"/>
          </a:ln>
        </p:spPr>
      </p:sp>
      <p:sp>
        <p:nvSpPr>
          <p:cNvPr id="167" name="p2-o77">
            <a:extLst>
              <a:ext uri="{FF2B5EF4-FFF2-40B4-BE49-F238E27FC236}">
                <a16:creationId xmlns:a16="http://schemas.microsoft.com/office/drawing/2014/main" id="{0B891769-2A82-4DFC-BE8C-1D573FAD3034}"/>
              </a:ext>
            </a:extLst>
          </p:cNvPr>
          <p:cNvSpPr>
            <a:spLocks noGrp="1"/>
          </p:cNvSpPr>
          <p:nvPr/>
        </p:nvSpPr>
        <p:spPr>
          <a:xfrm>
            <a:off x="6582880" y="4171994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0" y="33338"/>
                </a:moveTo>
                <a:lnTo>
                  <a:pt x="66675" y="66675"/>
                </a:lnTo>
                <a:lnTo>
                  <a:pt x="66675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  <p:sp>
        <p:nvSpPr>
          <p:cNvPr id="168" name="p2-o78">
            <a:extLst>
              <a:ext uri="{FF2B5EF4-FFF2-40B4-BE49-F238E27FC236}">
                <a16:creationId xmlns:a16="http://schemas.microsoft.com/office/drawing/2014/main" id="{4CB51C7D-EC5E-4B03-8B31-74E91CDD2675}"/>
              </a:ext>
            </a:extLst>
          </p:cNvPr>
          <p:cNvSpPr>
            <a:spLocks noGrp="1"/>
          </p:cNvSpPr>
          <p:nvPr/>
        </p:nvSpPr>
        <p:spPr>
          <a:xfrm>
            <a:off x="6525730" y="3944949"/>
            <a:ext cx="12192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DB0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r>
              <a:rPr sz="11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1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搬运重叠</a:t>
            </a:r>
            <a:endParaRPr sz="11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p2-o94">
            <a:extLst>
              <a:ext uri="{FF2B5EF4-FFF2-40B4-BE49-F238E27FC236}">
                <a16:creationId xmlns:a16="http://schemas.microsoft.com/office/drawing/2014/main" id="{A6E1D916-DCDD-4171-B49E-4EC4CA766E7F}"/>
              </a:ext>
            </a:extLst>
          </p:cNvPr>
          <p:cNvSpPr>
            <a:spLocks noGrp="1"/>
          </p:cNvSpPr>
          <p:nvPr/>
        </p:nvSpPr>
        <p:spPr>
          <a:xfrm>
            <a:off x="687705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83" name="p2-o95">
            <a:extLst>
              <a:ext uri="{FF2B5EF4-FFF2-40B4-BE49-F238E27FC236}">
                <a16:creationId xmlns:a16="http://schemas.microsoft.com/office/drawing/2014/main" id="{51052867-14AA-48B9-B471-8A7A62EDCA45}"/>
              </a:ext>
            </a:extLst>
          </p:cNvPr>
          <p:cNvSpPr>
            <a:spLocks noGrp="1"/>
          </p:cNvSpPr>
          <p:nvPr/>
        </p:nvSpPr>
        <p:spPr>
          <a:xfrm>
            <a:off x="6905441" y="5980538"/>
            <a:ext cx="18764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5B3CCC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5B3CC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6" name="文本框 95"/>
          <p:cNvSpPr txBox="1"/>
          <p:nvPr/>
        </p:nvSpPr>
        <p:spPr>
          <a:xfrm>
            <a:off x="1027953" y="6021288"/>
            <a:ext cx="1371726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权重量化</a:t>
            </a:r>
          </a:p>
        </p:txBody>
      </p:sp>
      <p:sp>
        <p:nvSpPr>
          <p:cNvPr id="187" name="文本框 95"/>
          <p:cNvSpPr txBox="1"/>
          <p:nvPr/>
        </p:nvSpPr>
        <p:spPr>
          <a:xfrm>
            <a:off x="2611593" y="6021288"/>
            <a:ext cx="1801480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 </a:t>
            </a: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缓存管理</a:t>
            </a:r>
          </a:p>
        </p:txBody>
      </p:sp>
      <p:sp>
        <p:nvSpPr>
          <p:cNvPr id="188" name="文本框 95"/>
          <p:cNvSpPr txBox="1"/>
          <p:nvPr/>
        </p:nvSpPr>
        <p:spPr>
          <a:xfrm>
            <a:off x="4624987" y="6021288"/>
            <a:ext cx="1811385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INT8 KV </a:t>
            </a: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量化</a:t>
            </a:r>
          </a:p>
        </p:txBody>
      </p:sp>
      <p:sp>
        <p:nvSpPr>
          <p:cNvPr id="189" name="文本框 95"/>
          <p:cNvSpPr txBox="1"/>
          <p:nvPr/>
        </p:nvSpPr>
        <p:spPr>
          <a:xfrm>
            <a:off x="6648285" y="6021288"/>
            <a:ext cx="1752671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自适应异步</a:t>
            </a:r>
          </a:p>
        </p:txBody>
      </p:sp>
      <p:sp>
        <p:nvSpPr>
          <p:cNvPr id="190" name="矩形 189"/>
          <p:cNvSpPr/>
          <p:nvPr/>
        </p:nvSpPr>
        <p:spPr>
          <a:xfrm>
            <a:off x="535263" y="1799789"/>
            <a:ext cx="17043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并发加载合并</a:t>
            </a:r>
          </a:p>
        </p:txBody>
      </p:sp>
      <p:sp>
        <p:nvSpPr>
          <p:cNvPr id="191" name="矩形 190"/>
          <p:cNvSpPr/>
          <p:nvPr/>
        </p:nvSpPr>
        <p:spPr>
          <a:xfrm>
            <a:off x="4686703" y="1806549"/>
            <a:ext cx="12939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异步传输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530209" y="5561438"/>
            <a:ext cx="12939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其他优化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E699FFD-44EB-B7B1-40FB-8EEE4A79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33375"/>
            <a:ext cx="6840537" cy="503238"/>
          </a:xfrm>
        </p:spPr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实习任务一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p2-line68">
            <a:extLst>
              <a:ext uri="{FF2B5EF4-FFF2-40B4-BE49-F238E27FC236}">
                <a16:creationId xmlns:a16="http://schemas.microsoft.com/office/drawing/2014/main" id="{A86A39CA-E8E2-A877-9136-AF7FA0099DBA}"/>
              </a:ext>
            </a:extLst>
          </p:cNvPr>
          <p:cNvSpPr>
            <a:spLocks noGrp="1"/>
          </p:cNvSpPr>
          <p:nvPr/>
        </p:nvSpPr>
        <p:spPr>
          <a:xfrm>
            <a:off x="8177310" y="3255606"/>
            <a:ext cx="9525" cy="1133475"/>
          </a:xfrm>
          <a:custGeom>
            <a:avLst/>
            <a:gdLst/>
            <a:ahLst/>
            <a:cxnLst/>
            <a:rect l="0" t="0" r="0" b="0"/>
            <a:pathLst>
              <a:path w="9525" h="1133475">
                <a:moveTo>
                  <a:pt x="0" y="0"/>
                </a:moveTo>
                <a:lnTo>
                  <a:pt x="0" y="1133475"/>
                </a:lnTo>
              </a:path>
            </a:pathLst>
          </a:custGeom>
          <a:noFill/>
          <a:ln w="11430">
            <a:solidFill>
              <a:srgbClr val="DB0019"/>
            </a:solidFill>
            <a:prstDash val="dash"/>
          </a:ln>
        </p:spPr>
      </p:sp>
      <p:sp>
        <p:nvSpPr>
          <p:cNvPr id="4" name="p2-o69">
            <a:extLst>
              <a:ext uri="{FF2B5EF4-FFF2-40B4-BE49-F238E27FC236}">
                <a16:creationId xmlns:a16="http://schemas.microsoft.com/office/drawing/2014/main" id="{AAF44DED-149E-9973-2DA6-D822D533E64C}"/>
              </a:ext>
            </a:extLst>
          </p:cNvPr>
          <p:cNvSpPr>
            <a:spLocks noGrp="1"/>
          </p:cNvSpPr>
          <p:nvPr/>
        </p:nvSpPr>
        <p:spPr>
          <a:xfrm>
            <a:off x="8143972" y="4336325"/>
            <a:ext cx="66675" cy="66675"/>
          </a:xfrm>
          <a:custGeom>
            <a:avLst/>
            <a:gdLst/>
            <a:ahLst/>
            <a:cxnLst/>
            <a:rect l="0" t="0" r="0" b="0"/>
            <a:pathLst>
              <a:path w="66675" h="66675">
                <a:moveTo>
                  <a:pt x="33338" y="6667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DB0019"/>
          </a:solidFill>
          <a:ln w="9525">
            <a:noFill/>
          </a:ln>
        </p:spPr>
      </p:sp>
    </p:spTree>
    <p:extLst>
      <p:ext uri="{BB962C8B-B14F-4D97-AF65-F5344CB8AC3E}">
        <p14:creationId xmlns:p14="http://schemas.microsoft.com/office/powerpoint/2010/main" val="61440130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296184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vllm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优化：实验结果</a:t>
            </a:r>
          </a:p>
        </p:txBody>
      </p:sp>
      <p:sp>
        <p:nvSpPr>
          <p:cNvPr id="170" name="p2-o82">
            <a:extLst>
              <a:ext uri="{FF2B5EF4-FFF2-40B4-BE49-F238E27FC236}">
                <a16:creationId xmlns:a16="http://schemas.microsoft.com/office/drawing/2014/main" id="{EBB5A5A4-3BC2-47C2-8A95-A438640AB8E8}"/>
              </a:ext>
            </a:extLst>
          </p:cNvPr>
          <p:cNvSpPr>
            <a:spLocks noGrp="1"/>
          </p:cNvSpPr>
          <p:nvPr/>
        </p:nvSpPr>
        <p:spPr>
          <a:xfrm>
            <a:off x="333375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74" name="p2-o86">
            <a:extLst>
              <a:ext uri="{FF2B5EF4-FFF2-40B4-BE49-F238E27FC236}">
                <a16:creationId xmlns:a16="http://schemas.microsoft.com/office/drawing/2014/main" id="{C6E178EA-3906-495E-96B7-AB19C023BDF9}"/>
              </a:ext>
            </a:extLst>
          </p:cNvPr>
          <p:cNvSpPr>
            <a:spLocks noGrp="1"/>
          </p:cNvSpPr>
          <p:nvPr/>
        </p:nvSpPr>
        <p:spPr>
          <a:xfrm>
            <a:off x="251460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sp>
        <p:nvSpPr>
          <p:cNvPr id="182" name="p2-o94">
            <a:extLst>
              <a:ext uri="{FF2B5EF4-FFF2-40B4-BE49-F238E27FC236}">
                <a16:creationId xmlns:a16="http://schemas.microsoft.com/office/drawing/2014/main" id="{A6E1D916-DCDD-4171-B49E-4EC4CA766E7F}"/>
              </a:ext>
            </a:extLst>
          </p:cNvPr>
          <p:cNvSpPr>
            <a:spLocks noGrp="1"/>
          </p:cNvSpPr>
          <p:nvPr/>
        </p:nvSpPr>
        <p:spPr>
          <a:xfrm>
            <a:off x="6877050" y="5791200"/>
            <a:ext cx="193357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endParaRPr/>
          </a:p>
        </p:txBody>
      </p:sp>
      <p:graphicFrame>
        <p:nvGraphicFramePr>
          <p:cNvPr id="86" name="表格 85"/>
          <p:cNvGraphicFramePr/>
          <p:nvPr>
            <p:extLst>
              <p:ext uri="{D42A27DB-BD31-4B8C-83A1-F6EECF244321}">
                <p14:modId xmlns:p14="http://schemas.microsoft.com/office/powerpoint/2010/main" val="3982062504"/>
              </p:ext>
            </p:extLst>
          </p:nvPr>
        </p:nvGraphicFramePr>
        <p:xfrm>
          <a:off x="276225" y="1876425"/>
          <a:ext cx="8591550" cy="400050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优化前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优化后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600" b="1" dirty="0">
                        <a:solidFill>
                          <a:schemeClr val="tx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KV Store </a:t>
                      </a:r>
                      <a:r>
                        <a:rPr sz="1600" b="0" dirty="0" err="1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耗时</a:t>
                      </a:r>
                      <a:endParaRPr sz="1600" b="0" dirty="0">
                        <a:solidFill>
                          <a:srgbClr val="0B2344"/>
                        </a:solidFill>
                        <a:latin typeface="Times New Roman" panose="02020603050405020304" pitchFamily="18" charset="0"/>
                        <a:ea typeface="Microsoft YaHei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307.8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19.3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加速 16.0×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KV Load </a:t>
                      </a:r>
                      <a:r>
                        <a:rPr sz="1600" b="0" dirty="0" err="1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耗时</a:t>
                      </a:r>
                      <a:endParaRPr sz="1600" b="0" dirty="0">
                        <a:solidFill>
                          <a:srgbClr val="0B2344"/>
                        </a:solidFill>
                        <a:latin typeface="Times New Roman" panose="02020603050405020304" pitchFamily="18" charset="0"/>
                        <a:ea typeface="Microsoft YaHei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398.7 </a:t>
                      </a:r>
                      <a:r>
                        <a:rPr sz="1600" b="0" dirty="0" err="1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ms</a:t>
                      </a:r>
                      <a:endParaRPr sz="1600" b="0" dirty="0">
                        <a:solidFill>
                          <a:srgbClr val="0B2344"/>
                        </a:solidFill>
                        <a:latin typeface="Times New Roman" panose="02020603050405020304" pitchFamily="18" charset="0"/>
                        <a:ea typeface="Microsoft YaHei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29.8 ms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加速 13.4×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Prefix HIT 场景 TTFT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435.9 </a:t>
                      </a:r>
                      <a:r>
                        <a:rPr sz="1600" b="0" dirty="0" err="1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ms</a:t>
                      </a:r>
                      <a:endParaRPr sz="1600" b="0" dirty="0">
                        <a:solidFill>
                          <a:srgbClr val="0B2344"/>
                        </a:solidFill>
                        <a:latin typeface="Times New Roman" panose="02020603050405020304" pitchFamily="18" charset="0"/>
                        <a:ea typeface="Microsoft YaHei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107.8 </a:t>
                      </a:r>
                      <a:r>
                        <a:rPr sz="1600" b="0" dirty="0" err="1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ms</a:t>
                      </a:r>
                      <a:endParaRPr sz="1600" b="0" dirty="0">
                        <a:solidFill>
                          <a:srgbClr val="DB0019"/>
                        </a:solidFill>
                        <a:latin typeface="Times New Roman" panose="02020603050405020304" pitchFamily="18" charset="0"/>
                        <a:ea typeface="Microsoft YaHei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缩短 75.3%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KV Cache 容量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1×（基准）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约 2×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INT8 KV </a:t>
                      </a:r>
                      <a:r>
                        <a:rPr sz="1600" b="0" dirty="0" err="1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量化</a:t>
                      </a:r>
                      <a:endParaRPr sz="1600" b="0" dirty="0">
                        <a:solidFill>
                          <a:srgbClr val="DB0019"/>
                        </a:solidFill>
                        <a:latin typeface="Times New Roman" panose="02020603050405020304" pitchFamily="18" charset="0"/>
                        <a:ea typeface="Microsoft YaHei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峰值吞吐</a:t>
                      </a:r>
                      <a:endParaRPr sz="1600" b="0" dirty="0">
                        <a:solidFill>
                          <a:srgbClr val="0B2344"/>
                        </a:solidFill>
                        <a:latin typeface="Times New Roman" panose="02020603050405020304" pitchFamily="18" charset="0"/>
                        <a:ea typeface="Microsoft YaHei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B2344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2158.1 tok/s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DB0019"/>
                          </a:solidFill>
                          <a:latin typeface="Times New Roman" panose="02020603050405020304" pitchFamily="18" charset="0"/>
                          <a:ea typeface="Microsoft YaHei"/>
                          <a:cs typeface="Times New Roman" panose="02020603050405020304" pitchFamily="18" charset="0"/>
                        </a:rPr>
                        <a:t>优化后峰值</a:t>
                      </a:r>
                      <a:endParaRPr sz="1600" b="0" dirty="0">
                        <a:solidFill>
                          <a:srgbClr val="DB0019"/>
                        </a:solidFill>
                        <a:latin typeface="Times New Roman" panose="02020603050405020304" pitchFamily="18" charset="0"/>
                        <a:ea typeface="Microsoft YaHei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" name="文本框 95"/>
          <p:cNvSpPr txBox="1"/>
          <p:nvPr/>
        </p:nvSpPr>
        <p:spPr>
          <a:xfrm>
            <a:off x="179512" y="5991567"/>
            <a:ext cx="3950786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耗时指标测试条件：</a:t>
            </a:r>
            <a:r>
              <a:rPr lang="en-US" altLang="zh-CN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4096 tokens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D289166-8634-5165-77F3-9656C34F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333375"/>
            <a:ext cx="6840537" cy="503238"/>
          </a:xfrm>
        </p:spPr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实习任务一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lu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平台算子优化与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vllm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01773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/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31409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84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</a:t>
            </a:r>
            <a:r>
              <a:rPr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21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已具备完整开发流程</a:t>
            </a:r>
            <a:endParaRPr sz="21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5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6" name="object_105"/>
          <p:cNvSpPr>
            <a:spLocks noGrp="1"/>
          </p:cNvSpPr>
          <p:nvPr/>
        </p:nvSpPr>
        <p:spPr>
          <a:xfrm>
            <a:off x="559926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87" name="text_107_需求输入"/>
          <p:cNvSpPr>
            <a:spLocks noGrp="1"/>
          </p:cNvSpPr>
          <p:nvPr/>
        </p:nvSpPr>
        <p:spPr>
          <a:xfrm>
            <a:off x="609932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需求输入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object_110"/>
          <p:cNvSpPr>
            <a:spLocks noGrp="1"/>
          </p:cNvSpPr>
          <p:nvPr/>
        </p:nvSpPr>
        <p:spPr>
          <a:xfrm>
            <a:off x="1938670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1" name="text_112_Main"/>
          <p:cNvSpPr>
            <a:spLocks noGrp="1"/>
          </p:cNvSpPr>
          <p:nvPr/>
        </p:nvSpPr>
        <p:spPr>
          <a:xfrm>
            <a:off x="1988676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94" name="object_115"/>
          <p:cNvSpPr>
            <a:spLocks noGrp="1"/>
          </p:cNvSpPr>
          <p:nvPr/>
        </p:nvSpPr>
        <p:spPr>
          <a:xfrm>
            <a:off x="3317413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5" name="text_117_Code-Gen"/>
          <p:cNvSpPr>
            <a:spLocks noGrp="1"/>
          </p:cNvSpPr>
          <p:nvPr/>
        </p:nvSpPr>
        <p:spPr>
          <a:xfrm>
            <a:off x="3367420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98" name="object_120"/>
          <p:cNvSpPr>
            <a:spLocks noGrp="1"/>
          </p:cNvSpPr>
          <p:nvPr/>
        </p:nvSpPr>
        <p:spPr>
          <a:xfrm>
            <a:off x="4696157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99" name="text_122_Code-Review"/>
          <p:cNvSpPr>
            <a:spLocks noGrp="1"/>
          </p:cNvSpPr>
          <p:nvPr/>
        </p:nvSpPr>
        <p:spPr>
          <a:xfrm>
            <a:off x="4746164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Code-Review</a:t>
            </a:r>
          </a:p>
        </p:txBody>
      </p:sp>
      <p:sp>
        <p:nvSpPr>
          <p:cNvPr id="102" name="object_125"/>
          <p:cNvSpPr>
            <a:spLocks noGrp="1"/>
          </p:cNvSpPr>
          <p:nvPr/>
        </p:nvSpPr>
        <p:spPr>
          <a:xfrm>
            <a:off x="6074901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3" name="text_127_Optimize"/>
          <p:cNvSpPr>
            <a:spLocks noGrp="1"/>
          </p:cNvSpPr>
          <p:nvPr/>
        </p:nvSpPr>
        <p:spPr>
          <a:xfrm>
            <a:off x="6124907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106" name="object_130"/>
          <p:cNvSpPr>
            <a:spLocks noGrp="1"/>
          </p:cNvSpPr>
          <p:nvPr/>
        </p:nvSpPr>
        <p:spPr>
          <a:xfrm>
            <a:off x="7453645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107" name="text_132_Kernel 交付"/>
          <p:cNvSpPr>
            <a:spLocks noGrp="1"/>
          </p:cNvSpPr>
          <p:nvPr/>
        </p:nvSpPr>
        <p:spPr>
          <a:xfrm>
            <a:off x="7503651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sz="124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_137_实际使用中的核心问题"/>
          <p:cNvSpPr>
            <a:spLocks noGrp="1"/>
          </p:cNvSpPr>
          <p:nvPr/>
        </p:nvSpPr>
        <p:spPr>
          <a:xfrm>
            <a:off x="616331" y="2689244"/>
            <a:ext cx="34432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使用中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遇到的</a:t>
            </a:r>
            <a:r>
              <a:rPr sz="21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connector_138"/>
          <p:cNvSpPr>
            <a:spLocks noGrp="1"/>
          </p:cNvSpPr>
          <p:nvPr/>
        </p:nvSpPr>
        <p:spPr>
          <a:xfrm>
            <a:off x="602043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21" name="object_125"/>
          <p:cNvSpPr>
            <a:spLocks noGrp="1"/>
          </p:cNvSpPr>
          <p:nvPr/>
        </p:nvSpPr>
        <p:spPr>
          <a:xfrm>
            <a:off x="1016902" y="3426814"/>
            <a:ext cx="6085433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22" name="text_127_Optimize"/>
          <p:cNvSpPr>
            <a:spLocks noGrp="1"/>
          </p:cNvSpPr>
          <p:nvPr/>
        </p:nvSpPr>
        <p:spPr>
          <a:xfrm>
            <a:off x="3496982" y="3476821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例子：输入 </a:t>
            </a:r>
            <a:r>
              <a:rPr lang="en-US" altLang="zh-CN" sz="124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4096*8192</a:t>
            </a:r>
            <a:r>
              <a:rPr lang="zh-CN" altLang="en-US"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24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算子，开发时间</a:t>
            </a:r>
            <a:r>
              <a:rPr lang="zh-CN" altLang="en-US" sz="124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三小时</a:t>
            </a:r>
            <a:r>
              <a:rPr lang="zh-CN" altLang="en-US"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，消耗</a:t>
            </a:r>
            <a:r>
              <a:rPr lang="en-US" altLang="zh-CN" sz="124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zh-CN" altLang="en-US" sz="124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</a:t>
            </a:r>
            <a:r>
              <a:rPr lang="en-US" altLang="zh-CN" sz="124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zh-CN" altLang="en-US"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，加速比</a:t>
            </a:r>
            <a:r>
              <a:rPr lang="en-US" altLang="zh-CN" sz="124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0.87</a:t>
            </a:r>
            <a:endParaRPr sz="124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0" name="直接箭头连接符 129"/>
          <p:cNvCxnSpPr>
            <a:stCxn id="86" idx="3"/>
            <a:endCxn id="90" idx="1"/>
          </p:cNvCxnSpPr>
          <p:nvPr/>
        </p:nvCxnSpPr>
        <p:spPr>
          <a:xfrm>
            <a:off x="1774364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3163436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/>
          <p:nvPr/>
        </p:nvCxnSpPr>
        <p:spPr>
          <a:xfrm>
            <a:off x="4531851" y="2083755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/>
          <p:cNvCxnSpPr/>
          <p:nvPr/>
        </p:nvCxnSpPr>
        <p:spPr>
          <a:xfrm>
            <a:off x="5910595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>
            <a:off x="7289339" y="2088774"/>
            <a:ext cx="164306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95"/>
          <p:cNvSpPr txBox="1"/>
          <p:nvPr/>
        </p:nvSpPr>
        <p:spPr>
          <a:xfrm>
            <a:off x="616331" y="4215843"/>
            <a:ext cx="2417003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开发算子时间长</a:t>
            </a:r>
            <a:endParaRPr lang="zh-CN" altLang="en-US" sz="15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7" name="文本框 95"/>
          <p:cNvSpPr txBox="1"/>
          <p:nvPr/>
        </p:nvSpPr>
        <p:spPr>
          <a:xfrm>
            <a:off x="627916" y="4677455"/>
            <a:ext cx="2417003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</a:t>
            </a: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消耗高</a:t>
            </a:r>
          </a:p>
        </p:txBody>
      </p:sp>
      <p:sp>
        <p:nvSpPr>
          <p:cNvPr id="38" name="文本框 95"/>
          <p:cNvSpPr txBox="1"/>
          <p:nvPr/>
        </p:nvSpPr>
        <p:spPr>
          <a:xfrm>
            <a:off x="627916" y="5168856"/>
            <a:ext cx="2417003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只支持静态</a:t>
            </a:r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kernel</a:t>
            </a:r>
          </a:p>
        </p:txBody>
      </p:sp>
      <p:sp>
        <p:nvSpPr>
          <p:cNvPr id="39" name="文本框 95"/>
          <p:cNvSpPr txBox="1"/>
          <p:nvPr/>
        </p:nvSpPr>
        <p:spPr>
          <a:xfrm>
            <a:off x="616331" y="5656907"/>
            <a:ext cx="2417003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修改后验证成本高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一、算子开发时间长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_258_Main"/>
          <p:cNvSpPr>
            <a:spLocks noGrp="1"/>
          </p:cNvSpPr>
          <p:nvPr/>
        </p:nvSpPr>
        <p:spPr>
          <a:xfrm>
            <a:off x="1871298" y="2366058"/>
            <a:ext cx="1126976" cy="37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142" name="text_258_Main"/>
          <p:cNvSpPr>
            <a:spLocks noGrp="1"/>
          </p:cNvSpPr>
          <p:nvPr/>
        </p:nvSpPr>
        <p:spPr>
          <a:xfrm>
            <a:off x="563739" y="2963456"/>
            <a:ext cx="1115888" cy="37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143" name="text_258_Main"/>
          <p:cNvSpPr>
            <a:spLocks noGrp="1"/>
          </p:cNvSpPr>
          <p:nvPr/>
        </p:nvSpPr>
        <p:spPr>
          <a:xfrm>
            <a:off x="1871298" y="2976025"/>
            <a:ext cx="1126976" cy="37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44" name="text_258_Main"/>
          <p:cNvSpPr>
            <a:spLocks noGrp="1"/>
          </p:cNvSpPr>
          <p:nvPr/>
        </p:nvSpPr>
        <p:spPr>
          <a:xfrm>
            <a:off x="3298063" y="2976025"/>
            <a:ext cx="1212944" cy="375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_268_hardware / profiler"/>
          <p:cNvSpPr>
            <a:spLocks noGrp="1"/>
          </p:cNvSpPr>
          <p:nvPr/>
        </p:nvSpPr>
        <p:spPr>
          <a:xfrm>
            <a:off x="3328840" y="3509632"/>
            <a:ext cx="1314383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原语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  <a:endParaRPr lang="en-US" altLang="zh-CN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硬件信息</a:t>
            </a:r>
            <a:endParaRPr sz="15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文本框 95"/>
          <p:cNvSpPr txBox="1"/>
          <p:nvPr/>
        </p:nvSpPr>
        <p:spPr>
          <a:xfrm>
            <a:off x="602043" y="6058822"/>
            <a:ext cx="745231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+mn-ea"/>
              </a:rPr>
              <a:t>优化①：将流程与资料解耦，各个子代理按需加载共享参考资料</a:t>
            </a:r>
          </a:p>
        </p:txBody>
      </p:sp>
      <p:cxnSp>
        <p:nvCxnSpPr>
          <p:cNvPr id="23" name="直接箭头连接符 22"/>
          <p:cNvCxnSpPr>
            <a:stCxn id="140" idx="2"/>
            <a:endCxn id="143" idx="0"/>
          </p:cNvCxnSpPr>
          <p:nvPr/>
        </p:nvCxnSpPr>
        <p:spPr>
          <a:xfrm>
            <a:off x="2434786" y="2741058"/>
            <a:ext cx="0" cy="234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140" idx="2"/>
            <a:endCxn id="142" idx="0"/>
          </p:cNvCxnSpPr>
          <p:nvPr/>
        </p:nvCxnSpPr>
        <p:spPr>
          <a:xfrm rot="5400000">
            <a:off x="1667036" y="2195706"/>
            <a:ext cx="222398" cy="131310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40" idx="2"/>
            <a:endCxn id="144" idx="0"/>
          </p:cNvCxnSpPr>
          <p:nvPr/>
        </p:nvCxnSpPr>
        <p:spPr>
          <a:xfrm rot="16200000" flipH="1">
            <a:off x="3052177" y="2123666"/>
            <a:ext cx="234967" cy="146974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35263" y="1799789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原始结构：每个子代理有各自的知识库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0D98E37-13DA-32AA-6A48-CC937E7D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7" name="文本框 95"/>
          <p:cNvSpPr txBox="1"/>
          <p:nvPr/>
        </p:nvSpPr>
        <p:spPr>
          <a:xfrm>
            <a:off x="770341" y="4645747"/>
            <a:ext cx="4044478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同类平台知识在多个子代理中重复维护</a:t>
            </a:r>
          </a:p>
        </p:txBody>
      </p:sp>
      <p:sp>
        <p:nvSpPr>
          <p:cNvPr id="38" name="文本框 95"/>
          <p:cNvSpPr txBox="1"/>
          <p:nvPr/>
        </p:nvSpPr>
        <p:spPr>
          <a:xfrm>
            <a:off x="781926" y="5107359"/>
            <a:ext cx="3241405" cy="323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修改资料时需要多处进行修改</a:t>
            </a:r>
            <a:endParaRPr lang="zh-CN" altLang="en-US" sz="15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2" name="text_268_hardware / profiler"/>
          <p:cNvSpPr>
            <a:spLocks noGrp="1"/>
          </p:cNvSpPr>
          <p:nvPr/>
        </p:nvSpPr>
        <p:spPr>
          <a:xfrm>
            <a:off x="1793674" y="3520853"/>
            <a:ext cx="1314383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原语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  <a:endParaRPr lang="en-US" altLang="zh-CN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硬件信息</a:t>
            </a:r>
            <a:endParaRPr sz="15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_268_hardware / profiler"/>
          <p:cNvSpPr>
            <a:spLocks noGrp="1"/>
          </p:cNvSpPr>
          <p:nvPr/>
        </p:nvSpPr>
        <p:spPr>
          <a:xfrm>
            <a:off x="365244" y="3532841"/>
            <a:ext cx="1314383" cy="69350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原语</a:t>
            </a:r>
            <a:r>
              <a:rPr lang="en-US" altLang="zh-CN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  <a:endParaRPr lang="en-US" altLang="zh-CN" sz="1500" b="1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硬件信息</a:t>
            </a:r>
            <a:endParaRPr sz="1500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优化后：共享资料按需加载">
            <a:extLst>
              <a:ext uri="{FF2B5EF4-FFF2-40B4-BE49-F238E27FC236}">
                <a16:creationId xmlns:a16="http://schemas.microsoft.com/office/drawing/2014/main" id="{EB3A5A53-EC86-4060-B016-60F6BC3195BB}"/>
              </a:ext>
            </a:extLst>
          </p:cNvPr>
          <p:cNvSpPr>
            <a:spLocks noGrp="1"/>
          </p:cNvSpPr>
          <p:nvPr/>
        </p:nvSpPr>
        <p:spPr>
          <a:xfrm>
            <a:off x="4956935" y="210669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rPr>
              <a:t>优化后：共享资料按需加载</a:t>
            </a:r>
            <a:endParaRPr sz="1800" b="1" dirty="0">
              <a:solidFill>
                <a:srgbClr val="004B9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Code-Gen">
            <a:extLst>
              <a:ext uri="{FF2B5EF4-FFF2-40B4-BE49-F238E27FC236}">
                <a16:creationId xmlns:a16="http://schemas.microsoft.com/office/drawing/2014/main" id="{DCF45275-C93E-4018-A14D-CAA7B975A05B}"/>
              </a:ext>
            </a:extLst>
          </p:cNvPr>
          <p:cNvSpPr>
            <a:spLocks noGrp="1"/>
          </p:cNvSpPr>
          <p:nvPr/>
        </p:nvSpPr>
        <p:spPr>
          <a:xfrm>
            <a:off x="4956935" y="2748602"/>
            <a:ext cx="1171575" cy="4476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>
                <a:solidFill>
                  <a:srgbClr val="242424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66" name="Review">
            <a:extLst>
              <a:ext uri="{FF2B5EF4-FFF2-40B4-BE49-F238E27FC236}">
                <a16:creationId xmlns:a16="http://schemas.microsoft.com/office/drawing/2014/main" id="{F5256712-3CC7-4920-940A-AE8781E81CA7}"/>
              </a:ext>
            </a:extLst>
          </p:cNvPr>
          <p:cNvSpPr>
            <a:spLocks noGrp="1"/>
          </p:cNvSpPr>
          <p:nvPr/>
        </p:nvSpPr>
        <p:spPr>
          <a:xfrm>
            <a:off x="6242810" y="2748602"/>
            <a:ext cx="1171575" cy="4476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>
                <a:solidFill>
                  <a:srgbClr val="242424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67" name="Optimize">
            <a:extLst>
              <a:ext uri="{FF2B5EF4-FFF2-40B4-BE49-F238E27FC236}">
                <a16:creationId xmlns:a16="http://schemas.microsoft.com/office/drawing/2014/main" id="{E8F28D1C-B523-4266-9837-5F6E91E4EC27}"/>
              </a:ext>
            </a:extLst>
          </p:cNvPr>
          <p:cNvSpPr>
            <a:spLocks noGrp="1"/>
          </p:cNvSpPr>
          <p:nvPr/>
        </p:nvSpPr>
        <p:spPr>
          <a:xfrm>
            <a:off x="7528685" y="2748602"/>
            <a:ext cx="1171575" cy="4476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424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68" name="共享平台资料库&#10;primitive · rules · hardware">
            <a:extLst>
              <a:ext uri="{FF2B5EF4-FFF2-40B4-BE49-F238E27FC236}">
                <a16:creationId xmlns:a16="http://schemas.microsoft.com/office/drawing/2014/main" id="{FC8D26AB-25B9-460F-A8B7-7025C133ED9A}"/>
              </a:ext>
            </a:extLst>
          </p:cNvPr>
          <p:cNvSpPr>
            <a:spLocks noGrp="1"/>
          </p:cNvSpPr>
          <p:nvPr/>
        </p:nvSpPr>
        <p:spPr>
          <a:xfrm>
            <a:off x="4956935" y="3910652"/>
            <a:ext cx="3743325" cy="800100"/>
          </a:xfrm>
          <a:prstGeom prst="rect">
            <a:avLst/>
          </a:prstGeom>
          <a:solidFill>
            <a:srgbClr val="EDF3FA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0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共享平台资料库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5000"/>
              </a:lnSpc>
              <a:buNone/>
              <a:defRPr sz="1600" b="0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· rules · hardware · profiler</a:t>
            </a:r>
          </a:p>
        </p:txBody>
      </p:sp>
      <p:cxnSp>
        <p:nvCxnSpPr>
          <p:cNvPr id="69" name="肘形连接符 68"/>
          <p:cNvCxnSpPr>
            <a:stCxn id="65" idx="2"/>
            <a:endCxn id="68" idx="0"/>
          </p:cNvCxnSpPr>
          <p:nvPr/>
        </p:nvCxnSpPr>
        <p:spPr>
          <a:xfrm>
            <a:off x="5542723" y="3196277"/>
            <a:ext cx="1285875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olid"/>
            <a:tailEnd type="triangle" w="sm" len="sm"/>
          </a:ln>
        </p:spPr>
      </p:cxnSp>
      <p:cxnSp>
        <p:nvCxnSpPr>
          <p:cNvPr id="70" name="直接箭头连接符 69"/>
          <p:cNvCxnSpPr>
            <a:stCxn id="66" idx="2"/>
            <a:endCxn id="68" idx="0"/>
          </p:cNvCxnSpPr>
          <p:nvPr/>
        </p:nvCxnSpPr>
        <p:spPr>
          <a:xfrm>
            <a:off x="6828598" y="3196277"/>
            <a:ext cx="0" cy="714375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olid"/>
            <a:tailEnd type="triangle" w="sm" len="sm"/>
          </a:ln>
        </p:spPr>
      </p:cxnSp>
      <p:cxnSp>
        <p:nvCxnSpPr>
          <p:cNvPr id="71" name="肘形连接符 70"/>
          <p:cNvCxnSpPr>
            <a:stCxn id="67" idx="2"/>
            <a:endCxn id="68" idx="0"/>
          </p:cNvCxnSpPr>
          <p:nvPr/>
        </p:nvCxnSpPr>
        <p:spPr>
          <a:xfrm flipH="1">
            <a:off x="6828598" y="3196277"/>
            <a:ext cx="1285875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solid"/>
            <a:tailEnd type="triangle" w="sm" len="sm"/>
          </a:ln>
        </p:spPr>
      </p:cxnSp>
      <p:sp>
        <p:nvSpPr>
          <p:cNvPr id="73" name="矩形 72"/>
          <p:cNvSpPr/>
          <p:nvPr>
            <p:custDataLst>
              <p:tags r:id="rId1"/>
            </p:custDataLst>
          </p:nvPr>
        </p:nvSpPr>
        <p:spPr>
          <a:xfrm>
            <a:off x="4729043" y="1926524"/>
            <a:ext cx="4235445" cy="304238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一、算子开发时间长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_171_上下文重复"/>
          <p:cNvSpPr>
            <a:spLocks noGrp="1"/>
          </p:cNvSpPr>
          <p:nvPr/>
        </p:nvSpPr>
        <p:spPr>
          <a:xfrm>
            <a:off x="6355111" y="1797490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zh-CN" altLang="en-US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171_上下文重复"/>
          <p:cNvSpPr>
            <a:spLocks noGrp="1"/>
          </p:cNvSpPr>
          <p:nvPr/>
        </p:nvSpPr>
        <p:spPr>
          <a:xfrm>
            <a:off x="526927" y="617693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优化②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：依据算子类型与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信号筛选策略，减少无效搜索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95"/>
          <p:cNvSpPr txBox="1"/>
          <p:nvPr/>
        </p:nvSpPr>
        <p:spPr>
          <a:xfrm>
            <a:off x="4837319" y="1965584"/>
            <a:ext cx="3767130" cy="1261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缺点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en-US" altLang="zh-CN" sz="14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有的算子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不一定使用所有的优化策略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结束优化条件太苛刻。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635243" y="3755667"/>
            <a:ext cx="1821552" cy="276999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</a:p>
        </p:txBody>
      </p:sp>
      <p:sp>
        <p:nvSpPr>
          <p:cNvPr id="106" name="矩形 105"/>
          <p:cNvSpPr/>
          <p:nvPr/>
        </p:nvSpPr>
        <p:spPr>
          <a:xfrm>
            <a:off x="5635243" y="4261650"/>
            <a:ext cx="1821552" cy="276999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算子分类与瓶颈分析</a:t>
            </a:r>
          </a:p>
        </p:txBody>
      </p:sp>
      <p:sp>
        <p:nvSpPr>
          <p:cNvPr id="107" name="矩形 106"/>
          <p:cNvSpPr/>
          <p:nvPr/>
        </p:nvSpPr>
        <p:spPr>
          <a:xfrm>
            <a:off x="5635243" y="4786671"/>
            <a:ext cx="1821552" cy="276999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优化策略选择</a:t>
            </a:r>
          </a:p>
        </p:txBody>
      </p:sp>
      <p:sp>
        <p:nvSpPr>
          <p:cNvPr id="108" name="矩形 107"/>
          <p:cNvSpPr/>
          <p:nvPr/>
        </p:nvSpPr>
        <p:spPr>
          <a:xfrm>
            <a:off x="5638283" y="5319862"/>
            <a:ext cx="1821552" cy="276999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针对性优化</a:t>
            </a:r>
          </a:p>
        </p:txBody>
      </p:sp>
      <p:cxnSp>
        <p:nvCxnSpPr>
          <p:cNvPr id="29" name="直接箭头连接符 28"/>
          <p:cNvCxnSpPr>
            <a:stCxn id="105" idx="2"/>
            <a:endCxn id="106" idx="0"/>
          </p:cNvCxnSpPr>
          <p:nvPr/>
        </p:nvCxnSpPr>
        <p:spPr>
          <a:xfrm>
            <a:off x="6546019" y="4032666"/>
            <a:ext cx="0" cy="22898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06" idx="2"/>
            <a:endCxn id="107" idx="0"/>
          </p:cNvCxnSpPr>
          <p:nvPr/>
        </p:nvCxnSpPr>
        <p:spPr>
          <a:xfrm>
            <a:off x="6546019" y="4538649"/>
            <a:ext cx="0" cy="24802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7" idx="2"/>
            <a:endCxn id="108" idx="0"/>
          </p:cNvCxnSpPr>
          <p:nvPr/>
        </p:nvCxnSpPr>
        <p:spPr>
          <a:xfrm>
            <a:off x="6546019" y="5063670"/>
            <a:ext cx="3040" cy="25619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95"/>
          <p:cNvSpPr txBox="1"/>
          <p:nvPr/>
        </p:nvSpPr>
        <p:spPr>
          <a:xfrm>
            <a:off x="4837318" y="3309355"/>
            <a:ext cx="511092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优化：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9" name="矩形 118"/>
          <p:cNvSpPr/>
          <p:nvPr>
            <p:custDataLst>
              <p:tags r:id="rId1"/>
            </p:custDataLst>
          </p:nvPr>
        </p:nvSpPr>
        <p:spPr>
          <a:xfrm>
            <a:off x="4729043" y="3300798"/>
            <a:ext cx="3786307" cy="253529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9" name="优化前：逐项执行">
            <a:extLst>
              <a:ext uri="{FF2B5EF4-FFF2-40B4-BE49-F238E27FC236}">
                <a16:creationId xmlns:a16="http://schemas.microsoft.com/office/drawing/2014/main" id="{1131D0B5-22C6-4ABE-B12E-497ACB9B6E70}"/>
              </a:ext>
            </a:extLst>
          </p:cNvPr>
          <p:cNvSpPr>
            <a:spLocks noGrp="1"/>
          </p:cNvSpPr>
          <p:nvPr/>
        </p:nvSpPr>
        <p:spPr>
          <a:xfrm>
            <a:off x="533400" y="1971675"/>
            <a:ext cx="36766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原始结构：便利所有优化措施</a:t>
            </a:r>
            <a:endParaRPr sz="18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正确的 Kernel">
            <a:extLst>
              <a:ext uri="{FF2B5EF4-FFF2-40B4-BE49-F238E27FC236}">
                <a16:creationId xmlns:a16="http://schemas.microsoft.com/office/drawing/2014/main" id="{263703A6-7E45-49B4-BF77-4BF4EF141A83}"/>
              </a:ext>
            </a:extLst>
          </p:cNvPr>
          <p:cNvSpPr>
            <a:spLocks noGrp="1"/>
          </p:cNvSpPr>
          <p:nvPr/>
        </p:nvSpPr>
        <p:spPr>
          <a:xfrm>
            <a:off x="838200" y="2466975"/>
            <a:ext cx="3048000" cy="4191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 Kernel</a:t>
            </a:r>
          </a:p>
        </p:txBody>
      </p:sp>
      <p:sp>
        <p:nvSpPr>
          <p:cNvPr id="51" name="基础配置 / Retiling / Reduce&#10;Grid / Conf">
            <a:extLst>
              <a:ext uri="{FF2B5EF4-FFF2-40B4-BE49-F238E27FC236}">
                <a16:creationId xmlns:a16="http://schemas.microsoft.com/office/drawing/2014/main" id="{ADB7D8EA-89B4-4F76-B742-8D7FB3E0F3A2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3048000" cy="63817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基础配置</a:t>
            </a:r>
            <a:r>
              <a:rPr sz="1400" b="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Retiling / Reduce</a:t>
            </a:r>
          </a:p>
          <a:p>
            <a:pPr algn="ctr">
              <a:lnSpc>
                <a:spcPct val="105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/ </a:t>
            </a:r>
            <a:r>
              <a:rPr sz="1400" b="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endParaRPr sz="1400" b="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深度优化&#10;内存 / 指令 / 流水">
            <a:extLst>
              <a:ext uri="{FF2B5EF4-FFF2-40B4-BE49-F238E27FC236}">
                <a16:creationId xmlns:a16="http://schemas.microsoft.com/office/drawing/2014/main" id="{11BEE42B-C7AA-4616-92C2-BDFD1003A2FA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3048000" cy="59055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深度优化</a:t>
            </a:r>
          </a:p>
          <a:p>
            <a:pPr algn="ctr">
              <a:lnSpc>
                <a:spcPct val="105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 / 指令 / 流水</a:t>
            </a:r>
          </a:p>
        </p:txBody>
      </p:sp>
      <p:sp>
        <p:nvSpPr>
          <p:cNvPr id="55" name="连续 3 轮无提升&#10;且 Profile 无新建议后结束">
            <a:extLst>
              <a:ext uri="{FF2B5EF4-FFF2-40B4-BE49-F238E27FC236}">
                <a16:creationId xmlns:a16="http://schemas.microsoft.com/office/drawing/2014/main" id="{12AE757C-7E81-4CAE-ADFE-A75B0E2169BF}"/>
              </a:ext>
            </a:extLst>
          </p:cNvPr>
          <p:cNvSpPr>
            <a:spLocks noGrp="1"/>
          </p:cNvSpPr>
          <p:nvPr/>
        </p:nvSpPr>
        <p:spPr>
          <a:xfrm>
            <a:off x="838200" y="4943475"/>
            <a:ext cx="3048000" cy="5810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lIns="76200" tIns="47625" rIns="76200" bIns="476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 3 轮无提升</a:t>
            </a:r>
          </a:p>
          <a:p>
            <a:pPr algn="ctr">
              <a:lnSpc>
                <a:spcPct val="105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Profile 无新建议后结束</a:t>
            </a:r>
          </a:p>
        </p:txBody>
      </p:sp>
      <p:cxnSp>
        <p:nvCxnSpPr>
          <p:cNvPr id="57" name="直接箭头连接符 56"/>
          <p:cNvCxnSpPr>
            <a:stCxn id="50" idx="2"/>
            <a:endCxn id="51" idx="0"/>
          </p:cNvCxnSpPr>
          <p:nvPr/>
        </p:nvCxnSpPr>
        <p:spPr>
          <a:xfrm>
            <a:off x="2362200" y="2886075"/>
            <a:ext cx="0" cy="27622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olid"/>
            <a:tailEnd type="triangle" w="sm" len="sm"/>
          </a:ln>
        </p:spPr>
      </p:cxnSp>
      <p:cxnSp>
        <p:nvCxnSpPr>
          <p:cNvPr id="58" name="直接箭头连接符 57"/>
          <p:cNvCxnSpPr>
            <a:stCxn id="51" idx="2"/>
            <a:endCxn id="53" idx="0"/>
          </p:cNvCxnSpPr>
          <p:nvPr/>
        </p:nvCxnSpPr>
        <p:spPr>
          <a:xfrm>
            <a:off x="2362200" y="3800475"/>
            <a:ext cx="0" cy="27622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olid"/>
            <a:tailEnd type="triangle" w="sm" len="sm"/>
          </a:ln>
        </p:spPr>
      </p:cxnSp>
      <p:cxnSp>
        <p:nvCxnSpPr>
          <p:cNvPr id="59" name="直接箭头连接符 58"/>
          <p:cNvCxnSpPr>
            <a:stCxn id="53" idx="2"/>
            <a:endCxn id="55" idx="0"/>
          </p:cNvCxnSpPr>
          <p:nvPr/>
        </p:nvCxnSpPr>
        <p:spPr>
          <a:xfrm>
            <a:off x="2362200" y="4667250"/>
            <a:ext cx="0" cy="276225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olid"/>
            <a:tailEnd type="triangle" w="sm" len="sm"/>
          </a:ln>
        </p:spPr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3" name="text_171_上下文重复"/>
          <p:cNvSpPr>
            <a:spLocks noGrp="1"/>
          </p:cNvSpPr>
          <p:nvPr/>
        </p:nvSpPr>
        <p:spPr>
          <a:xfrm>
            <a:off x="602043" y="6242641"/>
            <a:ext cx="6633782" cy="44386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优化③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：合并读取相同资料、任务较轻的阶段，减少重复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调度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一、算子开发时间长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&amp;Token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消耗高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36"/>
          <p:cNvSpPr/>
          <p:nvPr/>
        </p:nvSpPr>
        <p:spPr>
          <a:xfrm>
            <a:off x="733729" y="5029934"/>
            <a:ext cx="1490408" cy="4363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36"/>
          <p:cNvSpPr/>
          <p:nvPr/>
        </p:nvSpPr>
        <p:spPr>
          <a:xfrm>
            <a:off x="733729" y="4094104"/>
            <a:ext cx="1490408" cy="8565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36"/>
          <p:cNvSpPr/>
          <p:nvPr/>
        </p:nvSpPr>
        <p:spPr>
          <a:xfrm>
            <a:off x="733729" y="2138400"/>
            <a:ext cx="1490408" cy="1877683"/>
          </a:xfrm>
          <a:prstGeom prst="roundRect">
            <a:avLst>
              <a:gd name="adj" fmla="val 8426"/>
            </a:avLst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_444"/>
          <p:cNvSpPr>
            <a:spLocks noGrp="1"/>
          </p:cNvSpPr>
          <p:nvPr/>
        </p:nvSpPr>
        <p:spPr>
          <a:xfrm>
            <a:off x="895399" y="225157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8" name="text_446_1. 需求理解"/>
          <p:cNvSpPr>
            <a:spLocks noGrp="1"/>
          </p:cNvSpPr>
          <p:nvPr/>
        </p:nvSpPr>
        <p:spPr>
          <a:xfrm>
            <a:off x="945405" y="2301583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需求理解</a:t>
            </a:r>
          </a:p>
        </p:txBody>
      </p:sp>
      <p:sp>
        <p:nvSpPr>
          <p:cNvPr id="20" name="connector_449"/>
          <p:cNvSpPr>
            <a:spLocks noGrp="1"/>
          </p:cNvSpPr>
          <p:nvPr/>
        </p:nvSpPr>
        <p:spPr>
          <a:xfrm>
            <a:off x="1343532" y="2608765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" name="connector_450"/>
          <p:cNvSpPr>
            <a:spLocks noGrp="1"/>
          </p:cNvSpPr>
          <p:nvPr/>
        </p:nvSpPr>
        <p:spPr>
          <a:xfrm>
            <a:off x="1319558" y="264346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2" name="object_451"/>
          <p:cNvSpPr>
            <a:spLocks noGrp="1"/>
          </p:cNvSpPr>
          <p:nvPr/>
        </p:nvSpPr>
        <p:spPr>
          <a:xfrm>
            <a:off x="895399" y="2715921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3" name="text_453_2. 语义分析"/>
          <p:cNvSpPr>
            <a:spLocks noGrp="1"/>
          </p:cNvSpPr>
          <p:nvPr/>
        </p:nvSpPr>
        <p:spPr>
          <a:xfrm>
            <a:off x="945405" y="273006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语义分析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onnector_456"/>
          <p:cNvSpPr>
            <a:spLocks noGrp="1"/>
          </p:cNvSpPr>
          <p:nvPr/>
        </p:nvSpPr>
        <p:spPr>
          <a:xfrm>
            <a:off x="1343532" y="3073108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6" name="connector_457"/>
          <p:cNvSpPr>
            <a:spLocks noGrp="1"/>
          </p:cNvSpPr>
          <p:nvPr/>
        </p:nvSpPr>
        <p:spPr>
          <a:xfrm>
            <a:off x="1319558" y="310780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8" name="object_458"/>
          <p:cNvSpPr>
            <a:spLocks noGrp="1"/>
          </p:cNvSpPr>
          <p:nvPr/>
        </p:nvSpPr>
        <p:spPr>
          <a:xfrm>
            <a:off x="895399" y="3180264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29" name="text_460_3. Mapping 设计"/>
          <p:cNvSpPr>
            <a:spLocks noGrp="1"/>
          </p:cNvSpPr>
          <p:nvPr/>
        </p:nvSpPr>
        <p:spPr>
          <a:xfrm>
            <a:off x="945405" y="315887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Mapping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设计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connector_463"/>
          <p:cNvSpPr>
            <a:spLocks noGrp="1"/>
          </p:cNvSpPr>
          <p:nvPr/>
        </p:nvSpPr>
        <p:spPr>
          <a:xfrm>
            <a:off x="1343532" y="3537452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2" name="connector_464"/>
          <p:cNvSpPr>
            <a:spLocks noGrp="1"/>
          </p:cNvSpPr>
          <p:nvPr/>
        </p:nvSpPr>
        <p:spPr>
          <a:xfrm>
            <a:off x="1319558" y="357214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3" name="object_465"/>
          <p:cNvSpPr>
            <a:spLocks noGrp="1"/>
          </p:cNvSpPr>
          <p:nvPr/>
        </p:nvSpPr>
        <p:spPr>
          <a:xfrm>
            <a:off x="895399" y="3644608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4" name="text_467_4. Kernel 设计"/>
          <p:cNvSpPr>
            <a:spLocks noGrp="1"/>
          </p:cNvSpPr>
          <p:nvPr/>
        </p:nvSpPr>
        <p:spPr>
          <a:xfrm>
            <a:off x="950033" y="3634365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Kernel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设计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connector_470"/>
          <p:cNvSpPr>
            <a:spLocks noGrp="1"/>
          </p:cNvSpPr>
          <p:nvPr/>
        </p:nvSpPr>
        <p:spPr>
          <a:xfrm>
            <a:off x="1343532" y="4001796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7" name="connector_471"/>
          <p:cNvSpPr>
            <a:spLocks noGrp="1"/>
          </p:cNvSpPr>
          <p:nvPr/>
        </p:nvSpPr>
        <p:spPr>
          <a:xfrm>
            <a:off x="1319558" y="40364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38" name="object_472"/>
          <p:cNvSpPr>
            <a:spLocks noGrp="1"/>
          </p:cNvSpPr>
          <p:nvPr/>
        </p:nvSpPr>
        <p:spPr>
          <a:xfrm>
            <a:off x="895399" y="4138982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39" name="text_474_5. 代码生成"/>
          <p:cNvSpPr>
            <a:spLocks noGrp="1"/>
          </p:cNvSpPr>
          <p:nvPr/>
        </p:nvSpPr>
        <p:spPr>
          <a:xfrm>
            <a:off x="945405" y="4188988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代码生成</a:t>
            </a:r>
          </a:p>
        </p:txBody>
      </p:sp>
      <p:sp>
        <p:nvSpPr>
          <p:cNvPr id="43" name="connector_477"/>
          <p:cNvSpPr>
            <a:spLocks noGrp="1"/>
          </p:cNvSpPr>
          <p:nvPr/>
        </p:nvSpPr>
        <p:spPr>
          <a:xfrm>
            <a:off x="1343532" y="447976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4" name="connector_478"/>
          <p:cNvSpPr>
            <a:spLocks noGrp="1"/>
          </p:cNvSpPr>
          <p:nvPr/>
        </p:nvSpPr>
        <p:spPr>
          <a:xfrm>
            <a:off x="1319558" y="4514459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45" name="object_479"/>
          <p:cNvSpPr>
            <a:spLocks noGrp="1"/>
          </p:cNvSpPr>
          <p:nvPr/>
        </p:nvSpPr>
        <p:spPr>
          <a:xfrm>
            <a:off x="895399" y="4586919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8" name="text_481_6. 测试生成"/>
          <p:cNvSpPr>
            <a:spLocks noGrp="1"/>
          </p:cNvSpPr>
          <p:nvPr/>
        </p:nvSpPr>
        <p:spPr>
          <a:xfrm>
            <a:off x="945405" y="4636925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测试生成</a:t>
            </a:r>
          </a:p>
        </p:txBody>
      </p:sp>
      <p:sp>
        <p:nvSpPr>
          <p:cNvPr id="50" name="connector_484"/>
          <p:cNvSpPr>
            <a:spLocks noGrp="1"/>
          </p:cNvSpPr>
          <p:nvPr/>
        </p:nvSpPr>
        <p:spPr>
          <a:xfrm>
            <a:off x="1343532" y="4930483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1" name="connector_485"/>
          <p:cNvSpPr>
            <a:spLocks noGrp="1"/>
          </p:cNvSpPr>
          <p:nvPr/>
        </p:nvSpPr>
        <p:spPr>
          <a:xfrm>
            <a:off x="1319558" y="496518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5" name="object_486"/>
          <p:cNvSpPr>
            <a:spLocks noGrp="1"/>
          </p:cNvSpPr>
          <p:nvPr/>
        </p:nvSpPr>
        <p:spPr>
          <a:xfrm>
            <a:off x="895399" y="5051927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7" name="text_488_7. 自检与整理"/>
          <p:cNvSpPr>
            <a:spLocks noGrp="1"/>
          </p:cNvSpPr>
          <p:nvPr/>
        </p:nvSpPr>
        <p:spPr>
          <a:xfrm>
            <a:off x="945405" y="5123364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自检与整理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bject_500"/>
          <p:cNvSpPr>
            <a:spLocks noGrp="1"/>
          </p:cNvSpPr>
          <p:nvPr/>
        </p:nvSpPr>
        <p:spPr>
          <a:xfrm>
            <a:off x="2633914" y="2551614"/>
            <a:ext cx="2350294" cy="380711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0" name="text_502_Design Agent  步骤 1–4"/>
          <p:cNvSpPr>
            <a:spLocks noGrp="1"/>
          </p:cNvSpPr>
          <p:nvPr/>
        </p:nvSpPr>
        <p:spPr>
          <a:xfrm>
            <a:off x="2712496" y="259447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Agent  </a:t>
            </a:r>
            <a:r>
              <a:rPr sz="124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sz="124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1–4</a:t>
            </a:r>
          </a:p>
        </p:txBody>
      </p:sp>
      <p:sp>
        <p:nvSpPr>
          <p:cNvPr id="65" name="object_509"/>
          <p:cNvSpPr>
            <a:spLocks noGrp="1"/>
          </p:cNvSpPr>
          <p:nvPr/>
        </p:nvSpPr>
        <p:spPr>
          <a:xfrm>
            <a:off x="2633914" y="3437439"/>
            <a:ext cx="2350294" cy="3929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6" name="text_511_Build Agent  步骤 5–6"/>
          <p:cNvSpPr>
            <a:spLocks noGrp="1"/>
          </p:cNvSpPr>
          <p:nvPr/>
        </p:nvSpPr>
        <p:spPr>
          <a:xfrm>
            <a:off x="2712496" y="3480301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Agent  </a:t>
            </a:r>
            <a:r>
              <a:rPr sz="124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sz="124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5–6</a:t>
            </a:r>
          </a:p>
        </p:txBody>
      </p:sp>
      <p:sp>
        <p:nvSpPr>
          <p:cNvPr id="71" name="object_518"/>
          <p:cNvSpPr>
            <a:spLocks noGrp="1"/>
          </p:cNvSpPr>
          <p:nvPr/>
        </p:nvSpPr>
        <p:spPr>
          <a:xfrm>
            <a:off x="2633914" y="4323264"/>
            <a:ext cx="2350294" cy="406173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72" name="text_520_Verify Agent  步骤 7"/>
          <p:cNvSpPr>
            <a:spLocks noGrp="1"/>
          </p:cNvSpPr>
          <p:nvPr/>
        </p:nvSpPr>
        <p:spPr>
          <a:xfrm>
            <a:off x="2712496" y="436612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4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Agent  </a:t>
            </a:r>
            <a:r>
              <a:rPr sz="124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sz="124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</a:t>
            </a:r>
          </a:p>
        </p:txBody>
      </p:sp>
      <p:cxnSp>
        <p:nvCxnSpPr>
          <p:cNvPr id="4" name="直接箭头连接符 3"/>
          <p:cNvCxnSpPr>
            <a:stCxn id="59" idx="2"/>
            <a:endCxn id="65" idx="0"/>
          </p:cNvCxnSpPr>
          <p:nvPr/>
        </p:nvCxnSpPr>
        <p:spPr>
          <a:xfrm>
            <a:off x="3809061" y="2932325"/>
            <a:ext cx="0" cy="5051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3809061" y="3818150"/>
            <a:ext cx="0" cy="505114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endCxn id="59" idx="1"/>
          </p:cNvCxnSpPr>
          <p:nvPr/>
        </p:nvCxnSpPr>
        <p:spPr>
          <a:xfrm flipV="1">
            <a:off x="2194557" y="2741970"/>
            <a:ext cx="439357" cy="413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65" idx="1"/>
          </p:cNvCxnSpPr>
          <p:nvPr/>
        </p:nvCxnSpPr>
        <p:spPr>
          <a:xfrm flipV="1">
            <a:off x="2224137" y="3633892"/>
            <a:ext cx="409777" cy="8947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endCxn id="71" idx="1"/>
          </p:cNvCxnSpPr>
          <p:nvPr/>
        </p:nvCxnSpPr>
        <p:spPr>
          <a:xfrm flipV="1">
            <a:off x="2224137" y="4526351"/>
            <a:ext cx="409777" cy="76985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表格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496354"/>
              </p:ext>
            </p:extLst>
          </p:nvPr>
        </p:nvGraphicFramePr>
        <p:xfrm>
          <a:off x="5220072" y="2446267"/>
          <a:ext cx="3463443" cy="1047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636">
                <a:tc>
                  <a:txBody>
                    <a:bodyPr/>
                    <a:lstStyle/>
                    <a:p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dirty="0"/>
                        <a:t>消耗</a:t>
                      </a:r>
                      <a:r>
                        <a:rPr lang="en-US" altLang="zh-CN" sz="1300" dirty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300" dirty="0"/>
                        <a:t>消耗</a:t>
                      </a:r>
                      <a:r>
                        <a:rPr lang="en-US" altLang="zh-CN" sz="1300" dirty="0"/>
                        <a:t>token</a:t>
                      </a:r>
                      <a:endParaRPr lang="zh-CN" alt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/>
                        <a:t>softmax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186</a:t>
                      </a:r>
                      <a:r>
                        <a:rPr lang="zh-CN" altLang="en-US" sz="1300" dirty="0"/>
                        <a:t>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94</a:t>
                      </a:r>
                      <a:r>
                        <a:rPr lang="zh-CN" altLang="en-US" sz="1300" dirty="0"/>
                        <a:t>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92">
                <a:tc>
                  <a:txBody>
                    <a:bodyPr/>
                    <a:lstStyle/>
                    <a:p>
                      <a:r>
                        <a:rPr lang="en-US" altLang="zh-CN" sz="1300" dirty="0" err="1"/>
                        <a:t>layernorm</a:t>
                      </a:r>
                      <a:endParaRPr lang="zh-CN" alt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143</a:t>
                      </a:r>
                      <a:r>
                        <a:rPr lang="zh-CN" altLang="en-US" sz="1300" dirty="0"/>
                        <a:t>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300" dirty="0"/>
                        <a:t>80</a:t>
                      </a:r>
                      <a:r>
                        <a:rPr lang="zh-CN" altLang="en-US" sz="1300" dirty="0"/>
                        <a:t>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" name="文本框 95"/>
          <p:cNvSpPr txBox="1"/>
          <p:nvPr/>
        </p:nvSpPr>
        <p:spPr>
          <a:xfrm>
            <a:off x="5220073" y="3712301"/>
            <a:ext cx="3685562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正确性分析：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p"/>
            </a:pPr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理论上：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大模型能力变强，新阶段任务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不重且选择融合的都是高度重叠的阶段；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实际测试：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进行数十种算子开发测试，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新旧版本生成近乎一致。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6" name="text_354_新版：三个核心 Agent"/>
          <p:cNvSpPr>
            <a:spLocks noGrp="1"/>
          </p:cNvSpPr>
          <p:nvPr/>
        </p:nvSpPr>
        <p:spPr>
          <a:xfrm>
            <a:off x="3347864" y="1776112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合并优化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35263" y="172624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原本七个子代理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文本框 95"/>
          <p:cNvSpPr txBox="1"/>
          <p:nvPr/>
        </p:nvSpPr>
        <p:spPr>
          <a:xfrm>
            <a:off x="5220072" y="2120241"/>
            <a:ext cx="3685562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p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en-US" altLang="zh-CN" sz="14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2" name="文本框 95"/>
          <p:cNvSpPr txBox="1"/>
          <p:nvPr/>
        </p:nvSpPr>
        <p:spPr>
          <a:xfrm>
            <a:off x="733729" y="5525093"/>
            <a:ext cx="4486343" cy="744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每个子代理重复加载许多资料</a:t>
            </a:r>
            <a:endParaRPr lang="en-US" altLang="zh-CN" sz="1500" b="1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5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具体实现较简单</a:t>
            </a:r>
            <a:endParaRPr lang="en-US" altLang="zh-CN" sz="1500" b="1" dirty="0" smtClean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371E830-4DB4-49D2-947E-395812419AA8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1619250" cy="0"/>
          </a:xfrm>
          <a:prstGeom prst="line">
            <a:avLst/>
          </a:prstGeom>
          <a:noFill/>
          <a:ln w="11430">
            <a:solidFill>
              <a:srgbClr val="D7000F"/>
            </a:solidFill>
          </a:ln>
        </p:spPr>
      </p:sp>
      <p:sp>
        <p:nvSpPr>
          <p:cNvPr id="4" name="16">
            <a:extLst>
              <a:ext uri="{FF2B5EF4-FFF2-40B4-BE49-F238E27FC236}">
                <a16:creationId xmlns:a16="http://schemas.microsoft.com/office/drawing/2014/main" id="{1BFC3F45-21B0-486A-A6EA-B18ABEC086AE}"/>
              </a:ext>
            </a:extLst>
          </p:cNvPr>
          <p:cNvSpPr>
            <a:spLocks noGrp="1"/>
          </p:cNvSpPr>
          <p:nvPr/>
        </p:nvSpPr>
        <p:spPr>
          <a:xfrm>
            <a:off x="8305800" y="6477000"/>
            <a:ext cx="30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10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静态方案的限制">
            <a:extLst>
              <a:ext uri="{FF2B5EF4-FFF2-40B4-BE49-F238E27FC236}">
                <a16:creationId xmlns:a16="http://schemas.microsoft.com/office/drawing/2014/main" id="{7655C965-E21E-4392-A575-11AACB1DE1C7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3695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rPr>
              <a:t>静态方案的限制</a:t>
            </a:r>
            <a:endParaRPr sz="1800" b="1" dirty="0">
              <a:solidFill>
                <a:srgbClr val="004B9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动态开发目标">
            <a:extLst>
              <a:ext uri="{FF2B5EF4-FFF2-40B4-BE49-F238E27FC236}">
                <a16:creationId xmlns:a16="http://schemas.microsoft.com/office/drawing/2014/main" id="{C8FC1A8D-CB76-4B35-8E6B-7C7C9C188729}"/>
              </a:ext>
            </a:extLst>
          </p:cNvPr>
          <p:cNvSpPr>
            <a:spLocks noGrp="1"/>
          </p:cNvSpPr>
          <p:nvPr/>
        </p:nvSpPr>
        <p:spPr>
          <a:xfrm>
            <a:off x="4933950" y="2076450"/>
            <a:ext cx="36766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rPr>
              <a:t>动态开发目标</a:t>
            </a:r>
          </a:p>
        </p:txBody>
      </p:sp>
      <p:sp>
        <p:nvSpPr>
          <p:cNvPr id="7" name="尺寸约束写入 Kernel 结构">
            <a:extLst>
              <a:ext uri="{FF2B5EF4-FFF2-40B4-BE49-F238E27FC236}">
                <a16:creationId xmlns:a16="http://schemas.microsoft.com/office/drawing/2014/main" id="{B35E0F83-389B-4AED-B79B-091E53874EBD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36957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smtClean="0">
                <a:solidFill>
                  <a:srgbClr val="242424"/>
                </a:solidFill>
                <a:latin typeface="Arial"/>
                <a:ea typeface="Arial"/>
                <a:cs typeface="Arial"/>
              </a:rPr>
              <a:t>Kernel </a:t>
            </a:r>
            <a:r>
              <a:rPr sz="1800" b="1" dirty="0" smtClean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结构</a:t>
            </a:r>
            <a:r>
              <a:rPr lang="zh-CN" altLang="en-US" sz="1800" b="1" dirty="0" smtClean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限制输入尺寸</a:t>
            </a:r>
            <a:endParaRPr sz="1800" b="1" dirty="0">
              <a:solidFill>
                <a:srgbClr val="2424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循环范围或输出大小固定，&#10;难以直接覆盖其他输入尺寸。">
            <a:extLst>
              <a:ext uri="{FF2B5EF4-FFF2-40B4-BE49-F238E27FC236}">
                <a16:creationId xmlns:a16="http://schemas.microsoft.com/office/drawing/2014/main" id="{92D2FAB2-4EBE-4E8C-9F7B-A12350D59051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36957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循环范围或输出大小固定，</a:t>
            </a:r>
          </a:p>
          <a:p>
            <a:pPr algn="l">
              <a:lnSpc>
                <a:spcPct val="112000"/>
              </a:lnSpc>
              <a:buNone/>
              <a:def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难以直接覆盖其他输入尺寸。</a:t>
            </a:r>
          </a:p>
        </p:txBody>
      </p:sp>
      <p:sp>
        <p:nvSpPr>
          <p:cNvPr id="9" name="跨 Shape 性能不稳定">
            <a:extLst>
              <a:ext uri="{FF2B5EF4-FFF2-40B4-BE49-F238E27FC236}">
                <a16:creationId xmlns:a16="http://schemas.microsoft.com/office/drawing/2014/main" id="{FBBC875F-23E4-4EC8-B991-FE695ED5457C}"/>
              </a:ext>
            </a:extLst>
          </p:cNvPr>
          <p:cNvSpPr>
            <a:spLocks noGrp="1"/>
          </p:cNvSpPr>
          <p:nvPr/>
        </p:nvSpPr>
        <p:spPr>
          <a:xfrm>
            <a:off x="533400" y="4448175"/>
            <a:ext cx="36957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跨 </a:t>
            </a:r>
            <a:r>
              <a:rPr sz="18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Shape </a:t>
            </a:r>
            <a:r>
              <a: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性能不稳定</a:t>
            </a:r>
          </a:p>
        </p:txBody>
      </p:sp>
      <p:sp>
        <p:nvSpPr>
          <p:cNvPr id="10" name="同一静态配置应用到其他 Shape，&#10;性能可能明显下降。">
            <a:extLst>
              <a:ext uri="{FF2B5EF4-FFF2-40B4-BE49-F238E27FC236}">
                <a16:creationId xmlns:a16="http://schemas.microsoft.com/office/drawing/2014/main" id="{21D4A803-8D14-46EE-BE93-28EC05F08FEB}"/>
              </a:ext>
            </a:extLst>
          </p:cNvPr>
          <p:cNvSpPr>
            <a:spLocks noGrp="1"/>
          </p:cNvSpPr>
          <p:nvPr/>
        </p:nvSpPr>
        <p:spPr>
          <a:xfrm>
            <a:off x="533400" y="4933950"/>
            <a:ext cx="36957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同一静态配置应用到其他 </a:t>
            </a:r>
            <a:r>
              <a:rPr sz="16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Shape</a:t>
            </a:r>
            <a:r>
              <a: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lnSpc>
                <a:spcPct val="112000"/>
              </a:lnSpc>
              <a:buNone/>
              <a:def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性能可能明显下降。</a:t>
            </a:r>
          </a:p>
        </p:txBody>
      </p:sp>
      <p:sp>
        <p:nvSpPr>
          <p:cNvPr id="11" name="01">
            <a:extLst>
              <a:ext uri="{FF2B5EF4-FFF2-40B4-BE49-F238E27FC236}">
                <a16:creationId xmlns:a16="http://schemas.microsoft.com/office/drawing/2014/main" id="{DD1D34DE-7B10-4F52-8495-B6494E4BB2D6}"/>
              </a:ext>
            </a:extLst>
          </p:cNvPr>
          <p:cNvSpPr>
            <a:spLocks noGrp="1"/>
          </p:cNvSpPr>
          <p:nvPr/>
        </p:nvSpPr>
        <p:spPr>
          <a:xfrm>
            <a:off x="4933950" y="2714625"/>
            <a:ext cx="466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4B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动态 Kernel">
            <a:extLst>
              <a:ext uri="{FF2B5EF4-FFF2-40B4-BE49-F238E27FC236}">
                <a16:creationId xmlns:a16="http://schemas.microsoft.com/office/drawing/2014/main" id="{D346B445-272A-431B-9DA1-1F5BD34B4032}"/>
              </a:ext>
            </a:extLst>
          </p:cNvPr>
          <p:cNvSpPr>
            <a:spLocks noGrp="1"/>
          </p:cNvSpPr>
          <p:nvPr/>
        </p:nvSpPr>
        <p:spPr>
          <a:xfrm>
            <a:off x="5562600" y="2714625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动态 </a:t>
            </a:r>
            <a:r>
              <a:rPr sz="18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让实现支持目标 Shape 范围">
            <a:extLst>
              <a:ext uri="{FF2B5EF4-FFF2-40B4-BE49-F238E27FC236}">
                <a16:creationId xmlns:a16="http://schemas.microsoft.com/office/drawing/2014/main" id="{B17DCEB0-1B86-44E8-A5EF-DFF58AC5E62B}"/>
              </a:ext>
            </a:extLst>
          </p:cNvPr>
          <p:cNvSpPr>
            <a:spLocks noGrp="1"/>
          </p:cNvSpPr>
          <p:nvPr/>
        </p:nvSpPr>
        <p:spPr>
          <a:xfrm>
            <a:off x="5562600" y="31242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让实现支持目标 </a:t>
            </a:r>
            <a:r>
              <a:rPr sz="14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Shape </a:t>
            </a:r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B3A63680-716B-4C32-8B27-38775182F93B}"/>
              </a:ext>
            </a:extLst>
          </p:cNvPr>
          <p:cNvSpPr>
            <a:spLocks noGrp="1"/>
          </p:cNvSpPr>
          <p:nvPr/>
        </p:nvSpPr>
        <p:spPr>
          <a:xfrm>
            <a:off x="4933950" y="3743325"/>
            <a:ext cx="466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4B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自动化参数搜索">
            <a:extLst>
              <a:ext uri="{FF2B5EF4-FFF2-40B4-BE49-F238E27FC236}">
                <a16:creationId xmlns:a16="http://schemas.microsoft.com/office/drawing/2014/main" id="{82B8CC44-A841-4549-8E88-F53D75E64419}"/>
              </a:ext>
            </a:extLst>
          </p:cNvPr>
          <p:cNvSpPr>
            <a:spLocks noGrp="1"/>
          </p:cNvSpPr>
          <p:nvPr/>
        </p:nvSpPr>
        <p:spPr>
          <a:xfrm>
            <a:off x="5562600" y="3743325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自动化参数搜索</a:t>
            </a:r>
          </a:p>
        </p:txBody>
      </p:sp>
      <p:sp>
        <p:nvSpPr>
          <p:cNvPr id="16" name="依据 Shape 与硬件约束选择配置">
            <a:extLst>
              <a:ext uri="{FF2B5EF4-FFF2-40B4-BE49-F238E27FC236}">
                <a16:creationId xmlns:a16="http://schemas.microsoft.com/office/drawing/2014/main" id="{4B72E4C0-34DF-4E4E-9C86-CA5287953BE3}"/>
              </a:ext>
            </a:extLst>
          </p:cNvPr>
          <p:cNvSpPr>
            <a:spLocks noGrp="1"/>
          </p:cNvSpPr>
          <p:nvPr/>
        </p:nvSpPr>
        <p:spPr>
          <a:xfrm>
            <a:off x="5562600" y="41529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依据 </a:t>
            </a:r>
            <a:r>
              <a:rPr sz="14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Shape </a:t>
            </a:r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与硬件约束选择配置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B85A6361-6959-4CB7-B311-2B4B4A8AAE6C}"/>
              </a:ext>
            </a:extLst>
          </p:cNvPr>
          <p:cNvSpPr>
            <a:spLocks noGrp="1"/>
          </p:cNvSpPr>
          <p:nvPr/>
        </p:nvSpPr>
        <p:spPr>
          <a:xfrm>
            <a:off x="4933950" y="4772025"/>
            <a:ext cx="466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20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04B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多 Kernel Family">
            <a:extLst>
              <a:ext uri="{FF2B5EF4-FFF2-40B4-BE49-F238E27FC236}">
                <a16:creationId xmlns:a16="http://schemas.microsoft.com/office/drawing/2014/main" id="{73193C7C-90C3-42F6-84E1-5CAA65E37036}"/>
              </a:ext>
            </a:extLst>
          </p:cNvPr>
          <p:cNvSpPr>
            <a:spLocks noGrp="1"/>
          </p:cNvSpPr>
          <p:nvPr/>
        </p:nvSpPr>
        <p:spPr>
          <a:xfrm>
            <a:off x="5562600" y="4772025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多 </a:t>
            </a:r>
            <a:r>
              <a:rPr sz="18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Kernel Family</a:t>
            </a:r>
          </a:p>
        </p:txBody>
      </p:sp>
      <p:sp>
        <p:nvSpPr>
          <p:cNvPr id="19" name="使用不同结构覆盖不同尺寸特征">
            <a:extLst>
              <a:ext uri="{FF2B5EF4-FFF2-40B4-BE49-F238E27FC236}">
                <a16:creationId xmlns:a16="http://schemas.microsoft.com/office/drawing/2014/main" id="{319C3B22-D72E-467E-9A61-35609E4ACE70}"/>
              </a:ext>
            </a:extLst>
          </p:cNvPr>
          <p:cNvSpPr>
            <a:spLocks noGrp="1"/>
          </p:cNvSpPr>
          <p:nvPr/>
        </p:nvSpPr>
        <p:spPr>
          <a:xfrm>
            <a:off x="5562600" y="51816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使用不同结构覆盖不同尺寸特征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44AABF67-C308-444F-8723-CA6A954A5B0D}"/>
              </a:ext>
            </a:extLst>
          </p:cNvPr>
          <p:cNvSpPr>
            <a:spLocks noGrp="1"/>
          </p:cNvSpPr>
          <p:nvPr/>
        </p:nvSpPr>
        <p:spPr>
          <a:xfrm>
            <a:off x="533400" y="6000750"/>
            <a:ext cx="8077200" cy="0"/>
          </a:xfrm>
          <a:prstGeom prst="line">
            <a:avLst/>
          </a:prstGeom>
          <a:noFill/>
          <a:ln w="9525">
            <a:solidFill>
              <a:srgbClr val="D9D9D9"/>
            </a:solidFill>
          </a:ln>
        </p:spPr>
      </p:sp>
      <p:sp>
        <p:nvSpPr>
          <p:cNvPr id="21" name="同时扩展尺寸支持、配置搜索与 Kernel 结构选择">
            <a:extLst>
              <a:ext uri="{FF2B5EF4-FFF2-40B4-BE49-F238E27FC236}">
                <a16:creationId xmlns:a16="http://schemas.microsoft.com/office/drawing/2014/main" id="{A39E5751-E5E6-44B0-847A-442A5AE9E698}"/>
              </a:ext>
            </a:extLst>
          </p:cNvPr>
          <p:cNvSpPr>
            <a:spLocks noGrp="1"/>
          </p:cNvSpPr>
          <p:nvPr/>
        </p:nvSpPr>
        <p:spPr>
          <a:xfrm>
            <a:off x="533400" y="6134100"/>
            <a:ext cx="8077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6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rPr>
              <a:t>同时扩展尺寸支持、配置搜索与 </a:t>
            </a:r>
            <a:r>
              <a:rPr sz="1600" b="1">
                <a:solidFill>
                  <a:srgbClr val="004B9D"/>
                </a:solidFill>
                <a:latin typeface="Arial"/>
                <a:ea typeface="Arial"/>
                <a:cs typeface="Arial"/>
              </a:rPr>
              <a:t>Kernel </a:t>
            </a:r>
            <a:r>
              <a:rPr sz="1600" b="1">
                <a:solidFill>
                  <a:srgbClr val="004B9D"/>
                </a:solidFill>
                <a:latin typeface="Microsoft YaHei"/>
                <a:ea typeface="Microsoft YaHei"/>
                <a:cs typeface="Microsoft YaHei"/>
              </a:rPr>
              <a:t>结构选择</a:t>
            </a:r>
          </a:p>
        </p:txBody>
      </p:sp>
      <p:sp>
        <p:nvSpPr>
          <p:cNvPr id="23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二、动态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</a:t>
            </a:r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395288" y="333375"/>
            <a:ext cx="6840537" cy="503238"/>
          </a:xfrm>
          <a:prstGeom prst="rect">
            <a:avLst/>
          </a:prstGeom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lang="zh-CN" altLang="en-US" sz="1950" kern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kern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kern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kern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03871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二、动态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</a:t>
            </a:r>
          </a:p>
        </p:txBody>
      </p:sp>
      <p:sp>
        <p:nvSpPr>
          <p:cNvPr id="17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20" name="矩形 19"/>
          <p:cNvSpPr/>
          <p:nvPr/>
        </p:nvSpPr>
        <p:spPr>
          <a:xfrm>
            <a:off x="535263" y="478513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运行阶段</a:t>
            </a:r>
          </a:p>
        </p:txBody>
      </p:sp>
      <p:sp>
        <p:nvSpPr>
          <p:cNvPr id="70" name="text_258_Main"/>
          <p:cNvSpPr>
            <a:spLocks noGrp="1"/>
          </p:cNvSpPr>
          <p:nvPr/>
        </p:nvSpPr>
        <p:spPr>
          <a:xfrm>
            <a:off x="602042" y="5609467"/>
            <a:ext cx="1537371" cy="5036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altLang="zh-CN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_258_Main"/>
          <p:cNvSpPr>
            <a:spLocks noGrp="1"/>
          </p:cNvSpPr>
          <p:nvPr/>
        </p:nvSpPr>
        <p:spPr>
          <a:xfrm>
            <a:off x="2500519" y="5613577"/>
            <a:ext cx="1567425" cy="49951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</a:t>
            </a:r>
            <a:endParaRPr lang="zh-CN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_258_Main"/>
          <p:cNvSpPr>
            <a:spLocks noGrp="1"/>
          </p:cNvSpPr>
          <p:nvPr/>
        </p:nvSpPr>
        <p:spPr>
          <a:xfrm>
            <a:off x="4452555" y="5609467"/>
            <a:ext cx="1831284" cy="50389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</a:t>
            </a:r>
            <a:r>
              <a:rPr lang="en-US" altLang="zh-CN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_258_Main"/>
          <p:cNvSpPr>
            <a:spLocks noGrp="1"/>
          </p:cNvSpPr>
          <p:nvPr/>
        </p:nvSpPr>
        <p:spPr>
          <a:xfrm>
            <a:off x="6656697" y="5613577"/>
            <a:ext cx="1831284" cy="49951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2151166" y="5847520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4079697" y="5854093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6295592" y="5822043"/>
            <a:ext cx="361105" cy="4109"/>
          </a:xfrm>
          <a:prstGeom prst="straightConnector1">
            <a:avLst/>
          </a:prstGeom>
          <a:ln w="19050">
            <a:solidFill>
              <a:srgbClr val="D7000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_258_Main"/>
          <p:cNvSpPr>
            <a:spLocks noGrp="1"/>
          </p:cNvSpPr>
          <p:nvPr/>
        </p:nvSpPr>
        <p:spPr>
          <a:xfrm>
            <a:off x="664718" y="2488137"/>
            <a:ext cx="2168429" cy="4702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构建</a:t>
            </a:r>
            <a:r>
              <a:rPr lang="en-US" altLang="zh-CN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_258_Main"/>
          <p:cNvSpPr>
            <a:spLocks noGrp="1"/>
          </p:cNvSpPr>
          <p:nvPr/>
        </p:nvSpPr>
        <p:spPr>
          <a:xfrm>
            <a:off x="3442510" y="2489305"/>
            <a:ext cx="2168429" cy="4702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搜索与验证候选配置</a:t>
            </a:r>
            <a:endParaRPr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_258_Main"/>
          <p:cNvSpPr>
            <a:spLocks noGrp="1"/>
          </p:cNvSpPr>
          <p:nvPr/>
        </p:nvSpPr>
        <p:spPr>
          <a:xfrm>
            <a:off x="6220302" y="2488137"/>
            <a:ext cx="2168429" cy="470222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形成 </a:t>
            </a:r>
            <a:r>
              <a:rPr lang="en-US" altLang="zh-CN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</a:t>
            </a:r>
            <a:r>
              <a:rPr lang="zh-CN" alt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规则</a:t>
            </a:r>
          </a:p>
        </p:txBody>
      </p:sp>
      <p:sp>
        <p:nvSpPr>
          <p:cNvPr id="57" name="object_516"/>
          <p:cNvSpPr>
            <a:spLocks noGrp="1"/>
          </p:cNvSpPr>
          <p:nvPr/>
        </p:nvSpPr>
        <p:spPr>
          <a:xfrm>
            <a:off x="595211" y="3511360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58" name="text_518_Family A"/>
          <p:cNvSpPr>
            <a:spLocks noGrp="1"/>
          </p:cNvSpPr>
          <p:nvPr/>
        </p:nvSpPr>
        <p:spPr>
          <a:xfrm>
            <a:off x="645217" y="3547078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A</a:t>
            </a:r>
          </a:p>
        </p:txBody>
      </p:sp>
      <p:sp>
        <p:nvSpPr>
          <p:cNvPr id="59" name="text_520_小尺寸优化"/>
          <p:cNvSpPr>
            <a:spLocks noGrp="1"/>
          </p:cNvSpPr>
          <p:nvPr/>
        </p:nvSpPr>
        <p:spPr>
          <a:xfrm>
            <a:off x="652361" y="3897123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小尺寸优化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connector_521"/>
          <p:cNvSpPr>
            <a:spLocks noGrp="1"/>
          </p:cNvSpPr>
          <p:nvPr/>
        </p:nvSpPr>
        <p:spPr>
          <a:xfrm>
            <a:off x="952398" y="3304192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61" name="object_522"/>
          <p:cNvSpPr>
            <a:spLocks noGrp="1"/>
          </p:cNvSpPr>
          <p:nvPr/>
        </p:nvSpPr>
        <p:spPr>
          <a:xfrm>
            <a:off x="1388167" y="3511360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2" name="text_524_Family B"/>
          <p:cNvSpPr>
            <a:spLocks noGrp="1"/>
          </p:cNvSpPr>
          <p:nvPr/>
        </p:nvSpPr>
        <p:spPr>
          <a:xfrm>
            <a:off x="1438173" y="3547078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B</a:t>
            </a:r>
          </a:p>
        </p:txBody>
      </p:sp>
      <p:sp>
        <p:nvSpPr>
          <p:cNvPr id="66" name="text_526_分块 / 分阶段"/>
          <p:cNvSpPr>
            <a:spLocks noGrp="1"/>
          </p:cNvSpPr>
          <p:nvPr/>
        </p:nvSpPr>
        <p:spPr>
          <a:xfrm>
            <a:off x="1445317" y="3897123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</a:t>
            </a:r>
            <a:r>
              <a:rPr sz="9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object_528"/>
          <p:cNvSpPr>
            <a:spLocks noGrp="1"/>
          </p:cNvSpPr>
          <p:nvPr/>
        </p:nvSpPr>
        <p:spPr>
          <a:xfrm>
            <a:off x="2181124" y="3511360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</p:sp>
      <p:sp>
        <p:nvSpPr>
          <p:cNvPr id="68" name="text_530_Family C"/>
          <p:cNvSpPr>
            <a:spLocks noGrp="1"/>
          </p:cNvSpPr>
          <p:nvPr/>
        </p:nvSpPr>
        <p:spPr>
          <a:xfrm>
            <a:off x="2231130" y="3547078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C</a:t>
            </a:r>
          </a:p>
        </p:txBody>
      </p:sp>
      <p:sp>
        <p:nvSpPr>
          <p:cNvPr id="69" name="text_532_整轴结构"/>
          <p:cNvSpPr>
            <a:spLocks noGrp="1"/>
          </p:cNvSpPr>
          <p:nvPr/>
        </p:nvSpPr>
        <p:spPr>
          <a:xfrm>
            <a:off x="2238274" y="3897123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整轴结构</a:t>
            </a:r>
            <a:endParaRPr sz="9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connector_533"/>
          <p:cNvSpPr>
            <a:spLocks noGrp="1"/>
          </p:cNvSpPr>
          <p:nvPr/>
        </p:nvSpPr>
        <p:spPr>
          <a:xfrm>
            <a:off x="2538310" y="3304192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72" name="connector_534"/>
          <p:cNvSpPr>
            <a:spLocks noGrp="1"/>
          </p:cNvSpPr>
          <p:nvPr/>
        </p:nvSpPr>
        <p:spPr>
          <a:xfrm>
            <a:off x="952398" y="3304191"/>
            <a:ext cx="1600200" cy="14288"/>
          </a:xfrm>
          <a:custGeom>
            <a:avLst/>
            <a:gdLst/>
            <a:ahLst/>
            <a:cxnLst/>
            <a:rect l="0" t="0" r="0" b="0"/>
            <a:pathLst>
              <a:path w="2133600" h="19050">
                <a:moveTo>
                  <a:pt x="9525" y="9525"/>
                </a:moveTo>
                <a:lnTo>
                  <a:pt x="212407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cxnSp>
        <p:nvCxnSpPr>
          <p:cNvPr id="4" name="直接箭头连接符 3"/>
          <p:cNvCxnSpPr>
            <a:stCxn id="52" idx="2"/>
            <a:endCxn id="61" idx="0"/>
          </p:cNvCxnSpPr>
          <p:nvPr/>
        </p:nvCxnSpPr>
        <p:spPr>
          <a:xfrm>
            <a:off x="1748933" y="2958359"/>
            <a:ext cx="7137" cy="553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2" idx="3"/>
            <a:endCxn id="54" idx="1"/>
          </p:cNvCxnSpPr>
          <p:nvPr/>
        </p:nvCxnSpPr>
        <p:spPr>
          <a:xfrm>
            <a:off x="2833147" y="2723248"/>
            <a:ext cx="609363" cy="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4" idx="3"/>
            <a:endCxn id="55" idx="1"/>
          </p:cNvCxnSpPr>
          <p:nvPr/>
        </p:nvCxnSpPr>
        <p:spPr>
          <a:xfrm flipV="1">
            <a:off x="5610939" y="2723248"/>
            <a:ext cx="609363" cy="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535263" y="179978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开发阶段</a:t>
            </a:r>
          </a:p>
        </p:txBody>
      </p:sp>
      <p:sp>
        <p:nvSpPr>
          <p:cNvPr id="80" name="text_545_确定不同输入对应的执行组合"/>
          <p:cNvSpPr>
            <a:spLocks noGrp="1"/>
          </p:cNvSpPr>
          <p:nvPr/>
        </p:nvSpPr>
        <p:spPr>
          <a:xfrm>
            <a:off x="3416230" y="3045913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+mn-ea"/>
                <a:cs typeface="Times New Roman" panose="02020603050405020304" pitchFamily="18" charset="0"/>
              </a:rPr>
              <a:t>按照硬件参数去设置配置范围</a:t>
            </a:r>
            <a:endParaRPr sz="1200" dirty="0">
              <a:solidFill>
                <a:srgbClr val="242424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1" name="object_546"/>
          <p:cNvSpPr>
            <a:spLocks noGrp="1"/>
          </p:cNvSpPr>
          <p:nvPr/>
        </p:nvSpPr>
        <p:spPr>
          <a:xfrm>
            <a:off x="4109994" y="3435952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82" name="text_548_Family"/>
          <p:cNvSpPr>
            <a:spLocks noGrp="1"/>
          </p:cNvSpPr>
          <p:nvPr/>
        </p:nvSpPr>
        <p:spPr>
          <a:xfrm>
            <a:off x="4145712" y="3485958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</a:p>
        </p:txBody>
      </p:sp>
      <p:sp>
        <p:nvSpPr>
          <p:cNvPr id="84" name="text_552_×"/>
          <p:cNvSpPr>
            <a:spLocks noGrp="1"/>
          </p:cNvSpPr>
          <p:nvPr/>
        </p:nvSpPr>
        <p:spPr>
          <a:xfrm>
            <a:off x="4324306" y="3743133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85" name="object_553"/>
          <p:cNvSpPr>
            <a:spLocks noGrp="1"/>
          </p:cNvSpPr>
          <p:nvPr/>
        </p:nvSpPr>
        <p:spPr>
          <a:xfrm>
            <a:off x="4109994" y="3914583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86" name="text_555_Config"/>
          <p:cNvSpPr>
            <a:spLocks noGrp="1"/>
          </p:cNvSpPr>
          <p:nvPr/>
        </p:nvSpPr>
        <p:spPr>
          <a:xfrm>
            <a:off x="4145712" y="3964589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87" name="text_559_×"/>
          <p:cNvSpPr>
            <a:spLocks noGrp="1"/>
          </p:cNvSpPr>
          <p:nvPr/>
        </p:nvSpPr>
        <p:spPr>
          <a:xfrm>
            <a:off x="4324306" y="4221764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7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88" name="object_560"/>
          <p:cNvSpPr>
            <a:spLocks noGrp="1"/>
          </p:cNvSpPr>
          <p:nvPr/>
        </p:nvSpPr>
        <p:spPr>
          <a:xfrm>
            <a:off x="4109994" y="4393214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89" name="text_562_Shape"/>
          <p:cNvSpPr>
            <a:spLocks noGrp="1"/>
          </p:cNvSpPr>
          <p:nvPr/>
        </p:nvSpPr>
        <p:spPr>
          <a:xfrm>
            <a:off x="4145712" y="4443220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90" name="记录适用的 Family 与配置&#10;生成运行时选择规则">
            <a:extLst>
              <a:ext uri="{FF2B5EF4-FFF2-40B4-BE49-F238E27FC236}">
                <a16:creationId xmlns:a16="http://schemas.microsoft.com/office/drawing/2014/main" id="{B7953F5B-5335-4932-8CDC-B24078F3D7F7}"/>
              </a:ext>
            </a:extLst>
          </p:cNvPr>
          <p:cNvSpPr>
            <a:spLocks noGrp="1"/>
          </p:cNvSpPr>
          <p:nvPr/>
        </p:nvSpPr>
        <p:spPr>
          <a:xfrm>
            <a:off x="6242260" y="3145400"/>
            <a:ext cx="23336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记录适用的</a:t>
            </a:r>
            <a:r>
              <a:rPr sz="1400" b="0" dirty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Family </a:t>
            </a:r>
            <a:r>
              <a:rPr sz="1400" b="0" dirty="0" err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与配置</a:t>
            </a:r>
            <a:endParaRPr sz="1400" b="0" dirty="0">
              <a:solidFill>
                <a:srgbClr val="24242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2000"/>
              </a:lnSpc>
              <a:buNone/>
              <a:defRPr sz="1400" b="0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生成运行时选择规则</a:t>
            </a:r>
            <a:endParaRPr sz="1400" b="0" dirty="0">
              <a:solidFill>
                <a:srgbClr val="24242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72968442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二、动态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shape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开发功能</a:t>
            </a:r>
          </a:p>
        </p:txBody>
      </p:sp>
      <p:sp>
        <p:nvSpPr>
          <p:cNvPr id="10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graphicFrame>
        <p:nvGraphicFramePr>
          <p:cNvPr id="11" name="表格 10"/>
          <p:cNvGraphicFramePr/>
          <p:nvPr/>
        </p:nvGraphicFramePr>
        <p:xfrm>
          <a:off x="533400" y="2038350"/>
          <a:ext cx="8077200" cy="27432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</a:t>
                      </a:r>
                      <a:endParaRPr sz="1600" b="1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静态方案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动态方案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加速比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耗时（</a:t>
                      </a:r>
                      <a:r>
                        <a:rPr sz="1600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加速比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耗时（</a:t>
                      </a:r>
                      <a:r>
                        <a:rPr sz="1600" b="1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1600" b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Softmax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1.230×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2.0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1.182×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LayerNorm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1.000×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1.2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1.020×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4.5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RMSNorm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0.960×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1.8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1.300×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3.9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GELU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1.150×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1.6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1.490×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4.0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文本框 95"/>
          <p:cNvSpPr txBox="1"/>
          <p:nvPr/>
        </p:nvSpPr>
        <p:spPr>
          <a:xfrm>
            <a:off x="564803" y="5563245"/>
            <a:ext cx="4161214" cy="7232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1400" b="1" dirty="0" smtClean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开发时间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提升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相对 PyTorch 加速比；每个算子开发完成后随机测试 144 个 S">
            <a:extLst>
              <a:ext uri="{FF2B5EF4-FFF2-40B4-BE49-F238E27FC236}">
                <a16:creationId xmlns:a16="http://schemas.microsoft.com/office/drawing/2014/main" id="{0083EDA1-2D0D-49E5-BA69-AFB60404D1F1}"/>
              </a:ext>
            </a:extLst>
          </p:cNvPr>
          <p:cNvSpPr>
            <a:spLocks noGrp="1"/>
          </p:cNvSpPr>
          <p:nvPr/>
        </p:nvSpPr>
        <p:spPr>
          <a:xfrm>
            <a:off x="567173" y="4965055"/>
            <a:ext cx="4686672" cy="2933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相对</a:t>
            </a:r>
            <a:r>
              <a:rPr sz="1200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PyTorch</a:t>
            </a:r>
            <a:r>
              <a:rPr sz="1200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加速比；每个算子开发完成后随机测试</a:t>
            </a:r>
            <a:r>
              <a:rPr sz="1200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144 </a:t>
            </a:r>
            <a:r>
              <a:rPr sz="1200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sz="1200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Shape</a:t>
            </a:r>
            <a:r>
              <a:rPr sz="1200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静态方案面向单一 Shape，动态方案面向目标 Shape 范围。">
            <a:extLst>
              <a:ext uri="{FF2B5EF4-FFF2-40B4-BE49-F238E27FC236}">
                <a16:creationId xmlns:a16="http://schemas.microsoft.com/office/drawing/2014/main" id="{B845302E-6E5B-4DA0-B669-B2EB6A8D04D6}"/>
              </a:ext>
            </a:extLst>
          </p:cNvPr>
          <p:cNvSpPr>
            <a:spLocks noGrp="1"/>
          </p:cNvSpPr>
          <p:nvPr/>
        </p:nvSpPr>
        <p:spPr>
          <a:xfrm>
            <a:off x="567173" y="5269855"/>
            <a:ext cx="4686672" cy="2933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静态方案面向单一</a:t>
            </a:r>
            <a:r>
              <a:rPr sz="1200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rial"/>
                <a:ea typeface="Arial"/>
                <a:cs typeface="Arial"/>
              </a:rPr>
              <a:t>Shape</a:t>
            </a:r>
            <a:r>
              <a:rPr sz="1200" b="0" dirty="0" err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，动态方案面向目标</a:t>
            </a:r>
            <a:r>
              <a:rPr sz="1200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Shape </a:t>
            </a:r>
            <a:r>
              <a:rPr sz="1200" b="0" dirty="0" err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范围</a:t>
            </a:r>
            <a:r>
              <a:rPr sz="1200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2953586" y="5771883"/>
            <a:ext cx="552636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shape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的平均性能反而超过了静态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shape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三、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9" name="矩形 38"/>
          <p:cNvSpPr/>
          <p:nvPr/>
        </p:nvSpPr>
        <p:spPr>
          <a:xfrm>
            <a:off x="535263" y="1799789"/>
            <a:ext cx="8430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没有修改验证机制：</a:t>
            </a:r>
            <a:r>
              <a:rPr lang="zh-CN" altLang="en-US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进行简单修改后，需要重新跑一遍算子开发验证</a:t>
            </a:r>
          </a:p>
        </p:txBody>
      </p:sp>
      <p:sp>
        <p:nvSpPr>
          <p:cNvPr id="75" name="矩形 74"/>
          <p:cNvSpPr/>
          <p:nvPr/>
        </p:nvSpPr>
        <p:spPr>
          <a:xfrm>
            <a:off x="535263" y="2745561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优化①：建立三阶段验证机制</a:t>
            </a:r>
          </a:p>
        </p:txBody>
      </p:sp>
      <p:graphicFrame>
        <p:nvGraphicFramePr>
          <p:cNvPr id="76" name="表格 75"/>
          <p:cNvGraphicFramePr/>
          <p:nvPr>
            <p:extLst>
              <p:ext uri="{D42A27DB-BD31-4B8C-83A1-F6EECF244321}">
                <p14:modId xmlns:p14="http://schemas.microsoft.com/office/powerpoint/2010/main" val="1972319326"/>
              </p:ext>
            </p:extLst>
          </p:nvPr>
        </p:nvGraphicFramePr>
        <p:xfrm>
          <a:off x="1043608" y="3401999"/>
          <a:ext cx="7166804" cy="2426516"/>
        </p:xfrm>
        <a:graphic>
          <a:graphicData uri="http://schemas.openxmlformats.org/drawingml/2006/table">
            <a:tbl>
              <a:tblPr/>
              <a:tblGrid>
                <a:gridCol w="88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8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0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629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  <a:endParaRPr sz="1400" b="1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验证内容与成本</a:t>
                      </a:r>
                      <a:endParaRPr sz="1500" b="1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sz="1500" b="1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629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L1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静态结构验证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ctr"/>
                      <a:r>
                        <a:rPr lang="en-US" altLang="zh-CN" sz="1500" b="0" dirty="0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Markdown </a:t>
                      </a:r>
                      <a:r>
                        <a:rPr lang="zh-CN" altLang="en-US" sz="1500" b="0" dirty="0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规则，平台说明更新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分钟级</a:t>
                      </a:r>
                      <a:endParaRPr sz="1500" b="1" dirty="0">
                        <a:solidFill>
                          <a:srgbClr val="004B9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629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L2</a:t>
                      </a: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42424"/>
                          </a:solidFill>
                          <a:latin typeface="Arial"/>
                          <a:ea typeface="Arial"/>
                          <a:cs typeface="Arial"/>
                        </a:rPr>
                        <a:t>Workflow </a:t>
                      </a:r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行为验证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ctr"/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中等成本，检查流程是否按预期工作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十分钟级</a:t>
                      </a:r>
                      <a:endParaRPr sz="1500" b="1" dirty="0">
                        <a:solidFill>
                          <a:srgbClr val="004B9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629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L3</a:t>
                      </a: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真实算子开发验证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ctr"/>
                      <a:r>
                        <a:rPr sz="1500" b="0" dirty="0" err="1">
                          <a:solidFill>
                            <a:srgbClr val="2424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高成本，验证算子开发策略相关修改</a:t>
                      </a:r>
                      <a:endParaRPr sz="1500" b="0" dirty="0">
                        <a:solidFill>
                          <a:srgbClr val="24242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004B9D"/>
                          </a:solidFill>
                          <a:latin typeface="Arial"/>
                          <a:ea typeface="Arial"/>
                          <a:cs typeface="Arial"/>
                        </a:rPr>
                        <a:t>小时级</a:t>
                      </a:r>
                      <a:endParaRPr sz="1500" b="1" dirty="0">
                        <a:solidFill>
                          <a:srgbClr val="004B9D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53219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6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三、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修改后验证成本高</a:t>
            </a:r>
            <a:endParaRPr lang="zh-CN" altLang="en-US"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_3991_原流程"/>
          <p:cNvSpPr>
            <a:spLocks noGrp="1"/>
          </p:cNvSpPr>
          <p:nvPr/>
        </p:nvSpPr>
        <p:spPr>
          <a:xfrm>
            <a:off x="4246202" y="1349529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_3993_复用后"/>
          <p:cNvSpPr>
            <a:spLocks noGrp="1"/>
          </p:cNvSpPr>
          <p:nvPr/>
        </p:nvSpPr>
        <p:spPr>
          <a:xfrm>
            <a:off x="597013" y="387963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</a:p>
        </p:txBody>
      </p:sp>
      <p:sp>
        <p:nvSpPr>
          <p:cNvPr id="35" name="object_4017"/>
          <p:cNvSpPr>
            <a:spLocks noGrp="1"/>
          </p:cNvSpPr>
          <p:nvPr/>
        </p:nvSpPr>
        <p:spPr>
          <a:xfrm>
            <a:off x="4589680" y="379095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36" name="text_4019_Review 重试"/>
          <p:cNvSpPr>
            <a:spLocks noGrp="1"/>
          </p:cNvSpPr>
          <p:nvPr/>
        </p:nvSpPr>
        <p:spPr>
          <a:xfrm>
            <a:off x="4589680" y="3798736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重试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_4025_恢复 Artifact"/>
          <p:cNvSpPr>
            <a:spLocks noGrp="1"/>
          </p:cNvSpPr>
          <p:nvPr/>
        </p:nvSpPr>
        <p:spPr>
          <a:xfrm>
            <a:off x="6291600" y="390106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Artifact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继续执行</a:t>
            </a:r>
          </a:p>
        </p:txBody>
      </p:sp>
      <p:sp>
        <p:nvSpPr>
          <p:cNvPr id="46" name="object_4017"/>
          <p:cNvSpPr>
            <a:spLocks noGrp="1"/>
          </p:cNvSpPr>
          <p:nvPr/>
        </p:nvSpPr>
        <p:spPr>
          <a:xfrm>
            <a:off x="2991909" y="3796339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7" name="text_4019_Review 重试"/>
          <p:cNvSpPr>
            <a:spLocks noGrp="1"/>
          </p:cNvSpPr>
          <p:nvPr/>
        </p:nvSpPr>
        <p:spPr>
          <a:xfrm>
            <a:off x="2991910" y="3804123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</a:p>
        </p:txBody>
      </p:sp>
      <p:sp>
        <p:nvSpPr>
          <p:cNvPr id="48" name="object_4017"/>
          <p:cNvSpPr>
            <a:spLocks noGrp="1"/>
          </p:cNvSpPr>
          <p:nvPr/>
        </p:nvSpPr>
        <p:spPr>
          <a:xfrm>
            <a:off x="1400610" y="378632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49" name="text_4019_Review 重试"/>
          <p:cNvSpPr>
            <a:spLocks noGrp="1"/>
          </p:cNvSpPr>
          <p:nvPr/>
        </p:nvSpPr>
        <p:spPr>
          <a:xfrm>
            <a:off x="1400611" y="3794107"/>
            <a:ext cx="1282002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</a:p>
        </p:txBody>
      </p:sp>
      <p:cxnSp>
        <p:nvCxnSpPr>
          <p:cNvPr id="4" name="直接箭头连接符 3"/>
          <p:cNvCxnSpPr>
            <a:stCxn id="48" idx="3"/>
            <a:endCxn id="46" idx="1"/>
          </p:cNvCxnSpPr>
          <p:nvPr/>
        </p:nvCxnSpPr>
        <p:spPr>
          <a:xfrm>
            <a:off x="2711901" y="396971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4325202" y="397361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_3993_复用后"/>
          <p:cNvSpPr>
            <a:spLocks noGrp="1"/>
          </p:cNvSpPr>
          <p:nvPr/>
        </p:nvSpPr>
        <p:spPr>
          <a:xfrm>
            <a:off x="575011" y="2763403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原流程</a:t>
            </a:r>
          </a:p>
        </p:txBody>
      </p:sp>
      <p:sp>
        <p:nvSpPr>
          <p:cNvPr id="57" name="object_4017"/>
          <p:cNvSpPr>
            <a:spLocks noGrp="1"/>
          </p:cNvSpPr>
          <p:nvPr/>
        </p:nvSpPr>
        <p:spPr>
          <a:xfrm>
            <a:off x="4567678" y="2674722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58" name="text_4019_Review 重试"/>
          <p:cNvSpPr>
            <a:spLocks noGrp="1"/>
          </p:cNvSpPr>
          <p:nvPr/>
        </p:nvSpPr>
        <p:spPr>
          <a:xfrm>
            <a:off x="4567679" y="2682506"/>
            <a:ext cx="1311290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×</a:t>
            </a:r>
          </a:p>
        </p:txBody>
      </p:sp>
      <p:sp>
        <p:nvSpPr>
          <p:cNvPr id="59" name="text_4025_恢复 Artifact"/>
          <p:cNvSpPr>
            <a:spLocks noGrp="1"/>
          </p:cNvSpPr>
          <p:nvPr/>
        </p:nvSpPr>
        <p:spPr>
          <a:xfrm>
            <a:off x="6269598" y="2784835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意外停止需要从头执行</a:t>
            </a:r>
          </a:p>
        </p:txBody>
      </p:sp>
      <p:sp>
        <p:nvSpPr>
          <p:cNvPr id="61" name="text_4019_Review 重试"/>
          <p:cNvSpPr>
            <a:spLocks noGrp="1"/>
          </p:cNvSpPr>
          <p:nvPr/>
        </p:nvSpPr>
        <p:spPr>
          <a:xfrm>
            <a:off x="2969907" y="2687893"/>
            <a:ext cx="1333292" cy="35900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✓</a:t>
            </a:r>
          </a:p>
        </p:txBody>
      </p:sp>
      <p:sp>
        <p:nvSpPr>
          <p:cNvPr id="62" name="object_4017"/>
          <p:cNvSpPr>
            <a:spLocks noGrp="1"/>
          </p:cNvSpPr>
          <p:nvPr/>
        </p:nvSpPr>
        <p:spPr>
          <a:xfrm>
            <a:off x="1378608" y="2670093"/>
            <a:ext cx="1311291" cy="366792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63" name="text_4019_Review 重试"/>
          <p:cNvSpPr>
            <a:spLocks noGrp="1"/>
          </p:cNvSpPr>
          <p:nvPr/>
        </p:nvSpPr>
        <p:spPr>
          <a:xfrm>
            <a:off x="1378608" y="2677877"/>
            <a:ext cx="1333293" cy="35900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✓</a:t>
            </a:r>
          </a:p>
        </p:txBody>
      </p:sp>
      <p:cxnSp>
        <p:nvCxnSpPr>
          <p:cNvPr id="64" name="直接箭头连接符 63"/>
          <p:cNvCxnSpPr>
            <a:stCxn id="62" idx="3"/>
          </p:cNvCxnSpPr>
          <p:nvPr/>
        </p:nvCxnSpPr>
        <p:spPr>
          <a:xfrm>
            <a:off x="2689899" y="2853489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4303200" y="2857380"/>
            <a:ext cx="280008" cy="100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95"/>
          <p:cNvSpPr txBox="1"/>
          <p:nvPr/>
        </p:nvSpPr>
        <p:spPr>
          <a:xfrm>
            <a:off x="527749" y="5068817"/>
            <a:ext cx="6949963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</a:t>
            </a: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各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阶段，各子</a:t>
            </a: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代理</a:t>
            </a:r>
            <a:r>
              <a:rPr lang="zh-CN" altLang="en-US" sz="1600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，产出</a:t>
            </a: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并识别可以复用的</a:t>
            </a:r>
            <a:r>
              <a:rPr lang="en-US" altLang="zh-CN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r>
              <a:rPr lang="zh-CN" altLang="en-US" sz="1600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0" name="文本框 95"/>
          <p:cNvSpPr txBox="1"/>
          <p:nvPr/>
        </p:nvSpPr>
        <p:spPr>
          <a:xfrm>
            <a:off x="552084" y="5416718"/>
            <a:ext cx="6283861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当因为意外中断算子开发时：从最近有效阶段恢复。</a:t>
            </a:r>
          </a:p>
        </p:txBody>
      </p:sp>
      <p:sp>
        <p:nvSpPr>
          <p:cNvPr id="71" name="文本框 95"/>
          <p:cNvSpPr txBox="1"/>
          <p:nvPr/>
        </p:nvSpPr>
        <p:spPr>
          <a:xfrm>
            <a:off x="569737" y="5857819"/>
            <a:ext cx="6642836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zh-CN" sz="600" b="1" dirty="0">
              <a:solidFill>
                <a:srgbClr val="004B9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当进行修改验证时：如果仅修改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 Rule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，就从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继续。</a:t>
            </a:r>
          </a:p>
        </p:txBody>
      </p:sp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79512" y="2273085"/>
            <a:ext cx="8530563" cy="2410098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1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4" name="矩形 33"/>
          <p:cNvSpPr/>
          <p:nvPr/>
        </p:nvSpPr>
        <p:spPr>
          <a:xfrm>
            <a:off x="535263" y="1799789"/>
            <a:ext cx="4083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优化②：中间产物复用与断点续跑机制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1000311670"/>
              </p:ext>
            </p:extLst>
          </p:nvPr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32685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/>
          <p:cNvSpPr/>
          <p:nvPr/>
        </p:nvSpPr>
        <p:spPr>
          <a:xfrm>
            <a:off x="638754" y="3576873"/>
            <a:ext cx="3816936" cy="11701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638754" y="2374767"/>
            <a:ext cx="3849359" cy="719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_3011_通用方法与平台知识"/>
          <p:cNvSpPr>
            <a:spLocks noGrp="1"/>
          </p:cNvSpPr>
          <p:nvPr/>
        </p:nvSpPr>
        <p:spPr>
          <a:xfrm>
            <a:off x="5070800" y="1210386"/>
            <a:ext cx="22288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跨平台结构优化</a:t>
            </a:r>
            <a:endParaRPr sz="21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8" name="connector_3012"/>
          <p:cNvSpPr>
            <a:spLocks noGrp="1"/>
          </p:cNvSpPr>
          <p:nvPr/>
        </p:nvSpPr>
        <p:spPr>
          <a:xfrm>
            <a:off x="5054784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C00000"/>
            </a:solidFill>
          </a:ln>
        </p:spPr>
      </p:sp>
      <p:sp>
        <p:nvSpPr>
          <p:cNvPr id="190" name="object_3500"/>
          <p:cNvSpPr>
            <a:spLocks noGrp="1"/>
          </p:cNvSpPr>
          <p:nvPr/>
        </p:nvSpPr>
        <p:spPr>
          <a:xfrm>
            <a:off x="936035" y="249055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3" name="object_3500"/>
          <p:cNvSpPr>
            <a:spLocks noGrp="1"/>
          </p:cNvSpPr>
          <p:nvPr/>
        </p:nvSpPr>
        <p:spPr>
          <a:xfrm>
            <a:off x="2094582" y="249055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5" name="object_3500"/>
          <p:cNvSpPr>
            <a:spLocks noGrp="1"/>
          </p:cNvSpPr>
          <p:nvPr/>
        </p:nvSpPr>
        <p:spPr>
          <a:xfrm>
            <a:off x="3253129" y="2490553"/>
            <a:ext cx="861250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7" name="object_3500"/>
          <p:cNvSpPr>
            <a:spLocks noGrp="1"/>
          </p:cNvSpPr>
          <p:nvPr/>
        </p:nvSpPr>
        <p:spPr>
          <a:xfrm>
            <a:off x="1692382" y="2819655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9" name="object_3500"/>
          <p:cNvSpPr>
            <a:spLocks noGrp="1"/>
          </p:cNvSpPr>
          <p:nvPr/>
        </p:nvSpPr>
        <p:spPr>
          <a:xfrm>
            <a:off x="2778191" y="2819027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212" name="text_3145_硬件架构"/>
          <p:cNvSpPr>
            <a:spLocks noGrp="1"/>
          </p:cNvSpPr>
          <p:nvPr/>
        </p:nvSpPr>
        <p:spPr>
          <a:xfrm>
            <a:off x="778470" y="3668751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平台专属资料差异大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_3147_计算单元、存储层次、并行结构"/>
          <p:cNvSpPr>
            <a:spLocks noGrp="1"/>
          </p:cNvSpPr>
          <p:nvPr/>
        </p:nvSpPr>
        <p:spPr>
          <a:xfrm>
            <a:off x="1059847" y="4015277"/>
            <a:ext cx="904769" cy="2125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_3145_硬件架构"/>
          <p:cNvSpPr>
            <a:spLocks noGrp="1"/>
          </p:cNvSpPr>
          <p:nvPr/>
        </p:nvSpPr>
        <p:spPr>
          <a:xfrm>
            <a:off x="778470" y="4372587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平台知识分散在整个开发流程中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1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C00000"/>
            </a:solidFill>
          </a:ln>
        </p:spPr>
      </p:sp>
      <p:sp>
        <p:nvSpPr>
          <p:cNvPr id="62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目前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结构分析</a:t>
            </a:r>
          </a:p>
        </p:txBody>
      </p:sp>
      <p:sp>
        <p:nvSpPr>
          <p:cNvPr id="63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加号 8"/>
          <p:cNvSpPr/>
          <p:nvPr/>
        </p:nvSpPr>
        <p:spPr>
          <a:xfrm>
            <a:off x="6580857" y="3913134"/>
            <a:ext cx="260489" cy="201590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>
            <p:custDataLst>
              <p:tags r:id="rId1"/>
            </p:custDataLst>
          </p:nvPr>
        </p:nvSpPr>
        <p:spPr>
          <a:xfrm>
            <a:off x="459648" y="1876175"/>
            <a:ext cx="4189610" cy="421712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6" name="矩形 75"/>
          <p:cNvSpPr/>
          <p:nvPr>
            <p:custDataLst>
              <p:tags r:id="rId2"/>
            </p:custDataLst>
          </p:nvPr>
        </p:nvSpPr>
        <p:spPr>
          <a:xfrm>
            <a:off x="4982272" y="1876174"/>
            <a:ext cx="3510962" cy="4217121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" name="text_3147_计算单元、存储层次、并行结构">
            <a:extLst>
              <a:ext uri="{FF2B5EF4-FFF2-40B4-BE49-F238E27FC236}">
                <a16:creationId xmlns:a16="http://schemas.microsoft.com/office/drawing/2014/main" id="{8747286A-9CA2-991D-DAED-32D3A527EDBD}"/>
              </a:ext>
            </a:extLst>
          </p:cNvPr>
          <p:cNvSpPr>
            <a:spLocks noGrp="1"/>
          </p:cNvSpPr>
          <p:nvPr/>
        </p:nvSpPr>
        <p:spPr>
          <a:xfrm>
            <a:off x="1980591" y="4015277"/>
            <a:ext cx="1028145" cy="2125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</a:t>
            </a:r>
            <a:endParaRPr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_3147_计算单元、存储层次、并行结构">
            <a:extLst>
              <a:ext uri="{FF2B5EF4-FFF2-40B4-BE49-F238E27FC236}">
                <a16:creationId xmlns:a16="http://schemas.microsoft.com/office/drawing/2014/main" id="{47D34922-6250-847F-FF7A-ECE0F9A4D988}"/>
              </a:ext>
            </a:extLst>
          </p:cNvPr>
          <p:cNvSpPr>
            <a:spLocks noGrp="1"/>
          </p:cNvSpPr>
          <p:nvPr/>
        </p:nvSpPr>
        <p:spPr>
          <a:xfrm>
            <a:off x="2918254" y="4015277"/>
            <a:ext cx="1301417" cy="2125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工具链与环境</a:t>
            </a:r>
            <a:endParaRPr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6078D8-CF5E-1D3E-5626-18E72ACB27B6}"/>
              </a:ext>
            </a:extLst>
          </p:cNvPr>
          <p:cNvSpPr/>
          <p:nvPr/>
        </p:nvSpPr>
        <p:spPr>
          <a:xfrm>
            <a:off x="653850" y="5152798"/>
            <a:ext cx="3816936" cy="54080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_3145_硬件架构">
            <a:extLst>
              <a:ext uri="{FF2B5EF4-FFF2-40B4-BE49-F238E27FC236}">
                <a16:creationId xmlns:a16="http://schemas.microsoft.com/office/drawing/2014/main" id="{60052A4E-6013-4196-561E-B9F6FF710B2F}"/>
              </a:ext>
            </a:extLst>
          </p:cNvPr>
          <p:cNvSpPr>
            <a:spLocks noGrp="1"/>
          </p:cNvSpPr>
          <p:nvPr/>
        </p:nvSpPr>
        <p:spPr>
          <a:xfrm>
            <a:off x="879044" y="5285494"/>
            <a:ext cx="3350817" cy="29417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跨平台需要多个模块大范围修改，替换成本高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F9CC937-843B-B118-C925-8890D2955F9D}"/>
              </a:ext>
            </a:extLst>
          </p:cNvPr>
          <p:cNvCxnSpPr>
            <a:stCxn id="190" idx="3"/>
            <a:endCxn id="193" idx="1"/>
          </p:cNvCxnSpPr>
          <p:nvPr/>
        </p:nvCxnSpPr>
        <p:spPr>
          <a:xfrm>
            <a:off x="1658080" y="2597710"/>
            <a:ext cx="436502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DA40A30-E313-1AE1-AC5B-5D9E42574D28}"/>
              </a:ext>
            </a:extLst>
          </p:cNvPr>
          <p:cNvCxnSpPr>
            <a:cxnSpLocks/>
            <a:stCxn id="193" idx="3"/>
            <a:endCxn id="195" idx="1"/>
          </p:cNvCxnSpPr>
          <p:nvPr/>
        </p:nvCxnSpPr>
        <p:spPr>
          <a:xfrm>
            <a:off x="2816627" y="2597710"/>
            <a:ext cx="436502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21F6129-A60D-43FB-9583-33B98D3E5B94}"/>
              </a:ext>
            </a:extLst>
          </p:cNvPr>
          <p:cNvCxnSpPr>
            <a:cxnSpLocks/>
          </p:cNvCxnSpPr>
          <p:nvPr/>
        </p:nvCxnSpPr>
        <p:spPr>
          <a:xfrm>
            <a:off x="4132162" y="2596070"/>
            <a:ext cx="129224" cy="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AB54266-0631-228E-4CF3-6E4D1E49ADF9}"/>
              </a:ext>
            </a:extLst>
          </p:cNvPr>
          <p:cNvCxnSpPr>
            <a:stCxn id="197" idx="1"/>
          </p:cNvCxnSpPr>
          <p:nvPr/>
        </p:nvCxnSpPr>
        <p:spPr>
          <a:xfrm flipH="1" flipV="1">
            <a:off x="1547664" y="2926811"/>
            <a:ext cx="144718" cy="1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4890C9E-4369-9DDD-12B1-7F1C88927B16}"/>
              </a:ext>
            </a:extLst>
          </p:cNvPr>
          <p:cNvCxnSpPr>
            <a:stCxn id="197" idx="3"/>
            <a:endCxn id="199" idx="1"/>
          </p:cNvCxnSpPr>
          <p:nvPr/>
        </p:nvCxnSpPr>
        <p:spPr>
          <a:xfrm flipV="1">
            <a:off x="2414427" y="2926184"/>
            <a:ext cx="363764" cy="628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7DCB32A-8CDC-E3DA-5188-AFB347335F38}"/>
              </a:ext>
            </a:extLst>
          </p:cNvPr>
          <p:cNvSpPr txBox="1"/>
          <p:nvPr/>
        </p:nvSpPr>
        <p:spPr>
          <a:xfrm>
            <a:off x="899592" y="2457572"/>
            <a:ext cx="806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需求分析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7283C95-30B4-F768-BA93-AAF986B2F8DB}"/>
              </a:ext>
            </a:extLst>
          </p:cNvPr>
          <p:cNvSpPr txBox="1"/>
          <p:nvPr/>
        </p:nvSpPr>
        <p:spPr>
          <a:xfrm>
            <a:off x="2070554" y="2461464"/>
            <a:ext cx="806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代码生成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7426C91-DAF5-3AF7-025A-94E4F8CCF63D}"/>
              </a:ext>
            </a:extLst>
          </p:cNvPr>
          <p:cNvSpPr txBox="1"/>
          <p:nvPr/>
        </p:nvSpPr>
        <p:spPr>
          <a:xfrm>
            <a:off x="3210563" y="2462553"/>
            <a:ext cx="98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正确性验证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1F00CA7-DAC5-F1FA-B81C-184479152CD5}"/>
              </a:ext>
            </a:extLst>
          </p:cNvPr>
          <p:cNvSpPr txBox="1"/>
          <p:nvPr/>
        </p:nvSpPr>
        <p:spPr>
          <a:xfrm>
            <a:off x="1654705" y="2784273"/>
            <a:ext cx="806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性能分析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C4A95E1-233C-D67C-5188-1EC51DFBED2F}"/>
              </a:ext>
            </a:extLst>
          </p:cNvPr>
          <p:cNvSpPr txBox="1"/>
          <p:nvPr/>
        </p:nvSpPr>
        <p:spPr>
          <a:xfrm>
            <a:off x="2747132" y="2787020"/>
            <a:ext cx="806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迭代优化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F6FA1E9-7797-86BB-C3C4-DE0DB74907E4}"/>
              </a:ext>
            </a:extLst>
          </p:cNvPr>
          <p:cNvSpPr/>
          <p:nvPr/>
        </p:nvSpPr>
        <p:spPr>
          <a:xfrm>
            <a:off x="5090192" y="2080994"/>
            <a:ext cx="3290798" cy="158775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2-obj91">
            <a:extLst>
              <a:ext uri="{FF2B5EF4-FFF2-40B4-BE49-F238E27FC236}">
                <a16:creationId xmlns:a16="http://schemas.microsoft.com/office/drawing/2014/main" id="{D7EBDC76-2127-4F59-A506-54C453C026FC}"/>
              </a:ext>
            </a:extLst>
          </p:cNvPr>
          <p:cNvSpPr>
            <a:spLocks noGrp="1"/>
          </p:cNvSpPr>
          <p:nvPr/>
        </p:nvSpPr>
        <p:spPr>
          <a:xfrm>
            <a:off x="5228092" y="2131038"/>
            <a:ext cx="1693073" cy="2892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通用开发流程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B242F71-B01C-835A-6645-976EECEF85D7}"/>
              </a:ext>
            </a:extLst>
          </p:cNvPr>
          <p:cNvSpPr txBox="1"/>
          <p:nvPr/>
        </p:nvSpPr>
        <p:spPr>
          <a:xfrm>
            <a:off x="5200952" y="2376230"/>
            <a:ext cx="1693073" cy="116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阶段产物；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验证机制；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协作。</a:t>
            </a:r>
          </a:p>
        </p:txBody>
      </p:sp>
      <p:sp>
        <p:nvSpPr>
          <p:cNvPr id="156" name="Rectangle 1"/>
          <p:cNvSpPr>
            <a:spLocks noChangeArrowheads="1"/>
          </p:cNvSpPr>
          <p:nvPr/>
        </p:nvSpPr>
        <p:spPr bwMode="auto">
          <a:xfrm>
            <a:off x="6711102" y="2700591"/>
            <a:ext cx="697640" cy="253916"/>
          </a:xfrm>
          <a:prstGeom prst="rect">
            <a:avLst/>
          </a:prstGeom>
          <a:noFill/>
          <a:ln w="12700">
            <a:solidFill>
              <a:srgbClr val="D7000F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可复用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0A094A4-F410-9612-ADB9-7FADFC2D9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165" y="3874592"/>
            <a:ext cx="891196" cy="253916"/>
          </a:xfrm>
          <a:prstGeom prst="rect">
            <a:avLst/>
          </a:prstGeom>
          <a:noFill/>
          <a:ln w="12700">
            <a:solidFill>
              <a:srgbClr val="D7000F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进行解耦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E009C75-1089-7C99-5678-681E83B8F219}"/>
              </a:ext>
            </a:extLst>
          </p:cNvPr>
          <p:cNvSpPr/>
          <p:nvPr/>
        </p:nvSpPr>
        <p:spPr>
          <a:xfrm>
            <a:off x="5096368" y="4327309"/>
            <a:ext cx="3290798" cy="158775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2-obj91">
            <a:extLst>
              <a:ext uri="{FF2B5EF4-FFF2-40B4-BE49-F238E27FC236}">
                <a16:creationId xmlns:a16="http://schemas.microsoft.com/office/drawing/2014/main" id="{1FE0B5D4-0348-5196-4FCD-552F91C7BCF6}"/>
              </a:ext>
            </a:extLst>
          </p:cNvPr>
          <p:cNvSpPr>
            <a:spLocks noGrp="1"/>
          </p:cNvSpPr>
          <p:nvPr/>
        </p:nvSpPr>
        <p:spPr>
          <a:xfrm>
            <a:off x="5234268" y="4377353"/>
            <a:ext cx="1693073" cy="28926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1275" b="1">
                <a:solidFill>
                  <a:srgbClr val="09285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平台资料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8510A77-0CE7-30C7-4E65-401F212EC3A5}"/>
              </a:ext>
            </a:extLst>
          </p:cNvPr>
          <p:cNvSpPr txBox="1"/>
          <p:nvPr/>
        </p:nvSpPr>
        <p:spPr>
          <a:xfrm>
            <a:off x="5207128" y="4622545"/>
            <a:ext cx="2173184" cy="116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/>
              <a:t>硬件架构；</a:t>
            </a:r>
            <a:endParaRPr lang="en-US" altLang="zh-CN" sz="12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/>
              <a:t>编程模型；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/>
              <a:t>开发环境与工具链；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/>
              <a:t>优化方法及高性能案例。</a:t>
            </a:r>
          </a:p>
        </p:txBody>
      </p:sp>
      <p:sp>
        <p:nvSpPr>
          <p:cNvPr id="51" name="Rectangle 1">
            <a:extLst>
              <a:ext uri="{FF2B5EF4-FFF2-40B4-BE49-F238E27FC236}">
                <a16:creationId xmlns:a16="http://schemas.microsoft.com/office/drawing/2014/main" id="{41C52B34-1CB1-32F9-449C-FC1931EB4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507" y="4865000"/>
            <a:ext cx="807050" cy="253916"/>
          </a:xfrm>
          <a:prstGeom prst="rect">
            <a:avLst/>
          </a:prstGeom>
          <a:noFill/>
          <a:ln w="12700">
            <a:solidFill>
              <a:srgbClr val="D7000F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进行替换</a:t>
            </a:r>
          </a:p>
        </p:txBody>
      </p:sp>
      <p:sp>
        <p:nvSpPr>
          <p:cNvPr id="52" name="Rectangle 1">
            <a:extLst>
              <a:ext uri="{FF2B5EF4-FFF2-40B4-BE49-F238E27FC236}">
                <a16:creationId xmlns:a16="http://schemas.microsoft.com/office/drawing/2014/main" id="{C1597471-4A01-7D3D-39DA-8B11B2040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427" y="2059034"/>
            <a:ext cx="2016224" cy="253916"/>
          </a:xfrm>
          <a:prstGeom prst="rect">
            <a:avLst/>
          </a:prstGeom>
          <a:noFill/>
          <a:ln w="12700">
            <a:solidFill>
              <a:srgbClr val="D7000F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算子的开发流程具有通用性</a:t>
            </a:r>
          </a:p>
        </p:txBody>
      </p:sp>
      <p:sp>
        <p:nvSpPr>
          <p:cNvPr id="53" name="Rectangle 1">
            <a:extLst>
              <a:ext uri="{FF2B5EF4-FFF2-40B4-BE49-F238E27FC236}">
                <a16:creationId xmlns:a16="http://schemas.microsoft.com/office/drawing/2014/main" id="{96F7944B-E395-47FE-5B1D-354A57BEC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232" y="3281127"/>
            <a:ext cx="1440160" cy="253916"/>
          </a:xfrm>
          <a:prstGeom prst="rect">
            <a:avLst/>
          </a:prstGeom>
          <a:noFill/>
          <a:ln w="12700">
            <a:solidFill>
              <a:srgbClr val="D7000F"/>
            </a:solidFill>
            <a:prstDash val="sysDash"/>
            <a:miter lim="800000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平台资料替换困难</a:t>
            </a:r>
          </a:p>
        </p:txBody>
      </p:sp>
    </p:spTree>
    <p:extLst>
      <p:ext uri="{BB962C8B-B14F-4D97-AF65-F5344CB8AC3E}">
        <p14:creationId xmlns:p14="http://schemas.microsoft.com/office/powerpoint/2010/main" val="26234685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: 圆角 46"/>
          <p:cNvSpPr/>
          <p:nvPr/>
        </p:nvSpPr>
        <p:spPr>
          <a:xfrm>
            <a:off x="557212" y="2649765"/>
            <a:ext cx="7358063" cy="5514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3203"/>
          <p:cNvSpPr>
            <a:spLocks noGrp="1"/>
          </p:cNvSpPr>
          <p:nvPr/>
        </p:nvSpPr>
        <p:spPr>
          <a:xfrm>
            <a:off x="542925" y="2193131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30" name="connector_3245"/>
          <p:cNvSpPr>
            <a:spLocks noGrp="1"/>
          </p:cNvSpPr>
          <p:nvPr/>
        </p:nvSpPr>
        <p:spPr>
          <a:xfrm>
            <a:off x="542925" y="3842760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41" name="object_3354"/>
          <p:cNvSpPr>
            <a:spLocks noGrp="1"/>
          </p:cNvSpPr>
          <p:nvPr/>
        </p:nvSpPr>
        <p:spPr>
          <a:xfrm>
            <a:off x="2448903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42" name="text_3356_Workflow"/>
          <p:cNvSpPr>
            <a:spLocks noGrp="1"/>
          </p:cNvSpPr>
          <p:nvPr/>
        </p:nvSpPr>
        <p:spPr>
          <a:xfrm>
            <a:off x="564357" y="2314575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通用流程保持不变</a:t>
            </a:r>
            <a:endParaRPr sz="101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object_3500"/>
          <p:cNvSpPr>
            <a:spLocks noGrp="1"/>
          </p:cNvSpPr>
          <p:nvPr/>
        </p:nvSpPr>
        <p:spPr>
          <a:xfrm>
            <a:off x="2409392" y="23074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4" name="text_3502_官方资料"/>
          <p:cNvSpPr>
            <a:spLocks noGrp="1"/>
          </p:cNvSpPr>
          <p:nvPr/>
        </p:nvSpPr>
        <p:spPr>
          <a:xfrm>
            <a:off x="2466542" y="23222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需求</a:t>
            </a:r>
            <a:r>
              <a:rPr lang="zh-CN" altLang="en-US" sz="118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sz="118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bject_3500"/>
          <p:cNvSpPr>
            <a:spLocks noGrp="1"/>
          </p:cNvSpPr>
          <p:nvPr/>
        </p:nvSpPr>
        <p:spPr>
          <a:xfrm>
            <a:off x="3295437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6" name="text_3502_官方资料"/>
          <p:cNvSpPr>
            <a:spLocks noGrp="1"/>
          </p:cNvSpPr>
          <p:nvPr/>
        </p:nvSpPr>
        <p:spPr>
          <a:xfrm>
            <a:off x="3352587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object_3500"/>
          <p:cNvSpPr>
            <a:spLocks noGrp="1"/>
          </p:cNvSpPr>
          <p:nvPr/>
        </p:nvSpPr>
        <p:spPr>
          <a:xfrm>
            <a:off x="4188837" y="2306943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48" name="text_3502_官方资料"/>
          <p:cNvSpPr>
            <a:spLocks noGrp="1"/>
          </p:cNvSpPr>
          <p:nvPr/>
        </p:nvSpPr>
        <p:spPr>
          <a:xfrm>
            <a:off x="4264750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3500"/>
          <p:cNvSpPr>
            <a:spLocks noGrp="1"/>
          </p:cNvSpPr>
          <p:nvPr/>
        </p:nvSpPr>
        <p:spPr>
          <a:xfrm>
            <a:off x="5135830" y="2307262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0" name="text_3502_官方资料"/>
          <p:cNvSpPr>
            <a:spLocks noGrp="1"/>
          </p:cNvSpPr>
          <p:nvPr/>
        </p:nvSpPr>
        <p:spPr>
          <a:xfrm>
            <a:off x="5192980" y="232203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3500"/>
          <p:cNvSpPr>
            <a:spLocks noGrp="1"/>
          </p:cNvSpPr>
          <p:nvPr/>
        </p:nvSpPr>
        <p:spPr>
          <a:xfrm>
            <a:off x="6043543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52" name="text_3502_官方资料"/>
          <p:cNvSpPr>
            <a:spLocks noGrp="1"/>
          </p:cNvSpPr>
          <p:nvPr/>
        </p:nvSpPr>
        <p:spPr>
          <a:xfrm>
            <a:off x="6100693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object_3354"/>
          <p:cNvSpPr>
            <a:spLocks noGrp="1"/>
          </p:cNvSpPr>
          <p:nvPr/>
        </p:nvSpPr>
        <p:spPr>
          <a:xfrm>
            <a:off x="3757380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1" name="object_3354"/>
          <p:cNvSpPr>
            <a:spLocks noGrp="1"/>
          </p:cNvSpPr>
          <p:nvPr/>
        </p:nvSpPr>
        <p:spPr>
          <a:xfrm>
            <a:off x="5094802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63" name="object_3354"/>
          <p:cNvSpPr>
            <a:spLocks noGrp="1"/>
          </p:cNvSpPr>
          <p:nvPr/>
        </p:nvSpPr>
        <p:spPr>
          <a:xfrm>
            <a:off x="6483547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177" name="object_3500"/>
          <p:cNvSpPr>
            <a:spLocks noGrp="1"/>
          </p:cNvSpPr>
          <p:nvPr/>
        </p:nvSpPr>
        <p:spPr>
          <a:xfrm>
            <a:off x="6933021" y="2314087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78" name="text_3502_官方资料"/>
          <p:cNvSpPr>
            <a:spLocks noGrp="1"/>
          </p:cNvSpPr>
          <p:nvPr/>
        </p:nvSpPr>
        <p:spPr>
          <a:xfrm>
            <a:off x="6990171" y="2328863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1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交付输出</a:t>
            </a:r>
            <a:endParaRPr sz="11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connector_3499"/>
          <p:cNvSpPr>
            <a:spLocks noGrp="1"/>
          </p:cNvSpPr>
          <p:nvPr/>
        </p:nvSpPr>
        <p:spPr>
          <a:xfrm>
            <a:off x="510508" y="5491216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chemeClr val="tx1"/>
            </a:solidFill>
          </a:ln>
        </p:spPr>
      </p:sp>
      <p:sp>
        <p:nvSpPr>
          <p:cNvPr id="183" name="object_3500"/>
          <p:cNvSpPr>
            <a:spLocks noGrp="1"/>
          </p:cNvSpPr>
          <p:nvPr/>
        </p:nvSpPr>
        <p:spPr>
          <a:xfrm>
            <a:off x="531940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86" name="connector_3505"/>
          <p:cNvSpPr>
            <a:spLocks noGrp="1"/>
          </p:cNvSpPr>
          <p:nvPr/>
        </p:nvSpPr>
        <p:spPr>
          <a:xfrm>
            <a:off x="2396459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7" name="connector_3506"/>
          <p:cNvSpPr>
            <a:spLocks noGrp="1"/>
          </p:cNvSpPr>
          <p:nvPr/>
        </p:nvSpPr>
        <p:spPr>
          <a:xfrm>
            <a:off x="2488306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88" name="object_3507"/>
          <p:cNvSpPr>
            <a:spLocks noGrp="1"/>
          </p:cNvSpPr>
          <p:nvPr/>
        </p:nvSpPr>
        <p:spPr>
          <a:xfrm>
            <a:off x="2567909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1" name="connector_3512"/>
          <p:cNvSpPr>
            <a:spLocks noGrp="1"/>
          </p:cNvSpPr>
          <p:nvPr/>
        </p:nvSpPr>
        <p:spPr>
          <a:xfrm>
            <a:off x="4432428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2" name="connector_3513"/>
          <p:cNvSpPr>
            <a:spLocks noGrp="1"/>
          </p:cNvSpPr>
          <p:nvPr/>
        </p:nvSpPr>
        <p:spPr>
          <a:xfrm>
            <a:off x="4524274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3" name="object_3514"/>
          <p:cNvSpPr>
            <a:spLocks noGrp="1"/>
          </p:cNvSpPr>
          <p:nvPr/>
        </p:nvSpPr>
        <p:spPr>
          <a:xfrm>
            <a:off x="4603878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196" name="connector_3519"/>
          <p:cNvSpPr>
            <a:spLocks noGrp="1"/>
          </p:cNvSpPr>
          <p:nvPr/>
        </p:nvSpPr>
        <p:spPr>
          <a:xfrm>
            <a:off x="6468396" y="5791253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7" name="connector_3520"/>
          <p:cNvSpPr>
            <a:spLocks noGrp="1"/>
          </p:cNvSpPr>
          <p:nvPr/>
        </p:nvSpPr>
        <p:spPr>
          <a:xfrm>
            <a:off x="6560243" y="576727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</p:sp>
      <p:sp>
        <p:nvSpPr>
          <p:cNvPr id="198" name="object_3521"/>
          <p:cNvSpPr>
            <a:spLocks noGrp="1"/>
          </p:cNvSpPr>
          <p:nvPr/>
        </p:nvSpPr>
        <p:spPr>
          <a:xfrm>
            <a:off x="6639847" y="5591228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chemeClr val="tx1"/>
            </a:solidFill>
          </a:ln>
        </p:spPr>
      </p:sp>
      <p:sp>
        <p:nvSpPr>
          <p:cNvPr id="203" name="text_3244_封装新平台 Skill"/>
          <p:cNvSpPr>
            <a:spLocks noGrp="1"/>
          </p:cNvSpPr>
          <p:nvPr/>
        </p:nvSpPr>
        <p:spPr>
          <a:xfrm>
            <a:off x="627343" y="47581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205" name="矩形: 圆角 46"/>
          <p:cNvSpPr/>
          <p:nvPr/>
        </p:nvSpPr>
        <p:spPr>
          <a:xfrm>
            <a:off x="579127" y="3912073"/>
            <a:ext cx="7358063" cy="9249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bject_3354"/>
          <p:cNvSpPr>
            <a:spLocks noGrp="1"/>
          </p:cNvSpPr>
          <p:nvPr/>
        </p:nvSpPr>
        <p:spPr>
          <a:xfrm>
            <a:off x="3064136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08" name="object_3354"/>
          <p:cNvSpPr>
            <a:spLocks noGrp="1"/>
          </p:cNvSpPr>
          <p:nvPr/>
        </p:nvSpPr>
        <p:spPr>
          <a:xfrm>
            <a:off x="4372613" y="403619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0" name="object_3354"/>
          <p:cNvSpPr>
            <a:spLocks noGrp="1"/>
          </p:cNvSpPr>
          <p:nvPr/>
        </p:nvSpPr>
        <p:spPr>
          <a:xfrm>
            <a:off x="5710036" y="4035498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2" name="object_3354"/>
          <p:cNvSpPr>
            <a:spLocks noGrp="1"/>
          </p:cNvSpPr>
          <p:nvPr/>
        </p:nvSpPr>
        <p:spPr>
          <a:xfrm>
            <a:off x="3064136" y="4439185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5" name="object_3354"/>
          <p:cNvSpPr>
            <a:spLocks noGrp="1"/>
          </p:cNvSpPr>
          <p:nvPr/>
        </p:nvSpPr>
        <p:spPr>
          <a:xfrm>
            <a:off x="4385342" y="444086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217" name="object_3354"/>
          <p:cNvSpPr>
            <a:spLocks noGrp="1"/>
          </p:cNvSpPr>
          <p:nvPr/>
        </p:nvSpPr>
        <p:spPr>
          <a:xfrm>
            <a:off x="5722765" y="444017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chemeClr val="tx1"/>
            </a:solidFill>
          </a:ln>
        </p:spPr>
      </p:sp>
      <p:sp>
        <p:nvSpPr>
          <p:cNvPr id="78" name="text_3529_Common Workflow  +  Plat"/>
          <p:cNvSpPr>
            <a:spLocks noGrp="1"/>
          </p:cNvSpPr>
          <p:nvPr/>
        </p:nvSpPr>
        <p:spPr>
          <a:xfrm>
            <a:off x="1618335" y="6290467"/>
            <a:ext cx="581187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Workflow  +  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平台资料库</a:t>
            </a:r>
            <a:r>
              <a:rPr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</a:t>
            </a:r>
            <a:r>
              <a:rPr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新平台</a:t>
            </a:r>
            <a:r>
              <a:rPr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Operator</a:t>
            </a:r>
            <a:r>
              <a:rPr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Skill</a:t>
            </a:r>
          </a:p>
        </p:txBody>
      </p:sp>
      <p:sp>
        <p:nvSpPr>
          <p:cNvPr id="80" name="矩形 79"/>
          <p:cNvSpPr/>
          <p:nvPr/>
        </p:nvSpPr>
        <p:spPr>
          <a:xfrm>
            <a:off x="1335339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82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83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开发新平台</a:t>
            </a:r>
            <a:r>
              <a:rPr lang="en-US" altLang="zh-CN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2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</a:p>
        </p:txBody>
      </p:sp>
      <p:sp>
        <p:nvSpPr>
          <p:cNvPr id="89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0247" y="5105418"/>
            <a:ext cx="14991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资料来源</a:t>
            </a:r>
            <a:r>
              <a:rPr lang="zh-CN" altLang="en-US" sz="1600" dirty="0"/>
              <a:t>：</a:t>
            </a:r>
          </a:p>
        </p:txBody>
      </p:sp>
      <p:sp>
        <p:nvSpPr>
          <p:cNvPr id="77" name="矩形 76"/>
          <p:cNvSpPr/>
          <p:nvPr/>
        </p:nvSpPr>
        <p:spPr>
          <a:xfrm>
            <a:off x="534376" y="1835297"/>
            <a:ext cx="13157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01 Workflow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28515" y="3482667"/>
            <a:ext cx="14670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02 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平台资料库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10EFBE-9A97-7583-A343-D8FE3DA7895E}"/>
              </a:ext>
            </a:extLst>
          </p:cNvPr>
          <p:cNvSpPr txBox="1"/>
          <p:nvPr/>
        </p:nvSpPr>
        <p:spPr>
          <a:xfrm>
            <a:off x="864327" y="5644508"/>
            <a:ext cx="1122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官方资料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813684-D2B7-DABD-E1A2-79382098224D}"/>
              </a:ext>
            </a:extLst>
          </p:cNvPr>
          <p:cNvSpPr txBox="1"/>
          <p:nvPr/>
        </p:nvSpPr>
        <p:spPr>
          <a:xfrm>
            <a:off x="2931783" y="5640842"/>
            <a:ext cx="1122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环境监测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2864EC-D30D-C9C4-8E0F-DA53166B3513}"/>
              </a:ext>
            </a:extLst>
          </p:cNvPr>
          <p:cNvSpPr txBox="1"/>
          <p:nvPr/>
        </p:nvSpPr>
        <p:spPr>
          <a:xfrm>
            <a:off x="4719974" y="5640842"/>
            <a:ext cx="1618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Microbenchmark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150FD0-DDE2-6D96-0E8D-5F82DF7FD484}"/>
              </a:ext>
            </a:extLst>
          </p:cNvPr>
          <p:cNvSpPr txBox="1"/>
          <p:nvPr/>
        </p:nvSpPr>
        <p:spPr>
          <a:xfrm>
            <a:off x="6723192" y="5635073"/>
            <a:ext cx="1593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实际开发经验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4ACABF-DD21-F8D3-084A-E27C427D8B86}"/>
              </a:ext>
            </a:extLst>
          </p:cNvPr>
          <p:cNvSpPr txBox="1"/>
          <p:nvPr/>
        </p:nvSpPr>
        <p:spPr>
          <a:xfrm>
            <a:off x="870232" y="4030238"/>
            <a:ext cx="1407319" cy="613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/>
              <a:t>文件结构不变</a:t>
            </a:r>
          </a:p>
          <a:p>
            <a:pPr algn="ctr">
              <a:lnSpc>
                <a:spcPct val="150000"/>
              </a:lnSpc>
            </a:pPr>
            <a:r>
              <a:rPr lang="zh-CN" altLang="en-US" sz="1200" dirty="0"/>
              <a:t>内容几乎全部修改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81DA7F-CEFB-6584-FD9C-8807BB25C2DB}"/>
              </a:ext>
            </a:extLst>
          </p:cNvPr>
          <p:cNvSpPr txBox="1"/>
          <p:nvPr/>
        </p:nvSpPr>
        <p:spPr>
          <a:xfrm>
            <a:off x="3257519" y="4018541"/>
            <a:ext cx="931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硬件架构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774118-3C39-21AC-476B-23D023C54B94}"/>
              </a:ext>
            </a:extLst>
          </p:cNvPr>
          <p:cNvSpPr txBox="1"/>
          <p:nvPr/>
        </p:nvSpPr>
        <p:spPr>
          <a:xfrm>
            <a:off x="4560270" y="4016896"/>
            <a:ext cx="931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编程环境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10D460-0C64-DA51-E25D-8737510416C1}"/>
              </a:ext>
            </a:extLst>
          </p:cNvPr>
          <p:cNvSpPr txBox="1"/>
          <p:nvPr/>
        </p:nvSpPr>
        <p:spPr>
          <a:xfrm>
            <a:off x="5924449" y="4020697"/>
            <a:ext cx="931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算子画像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9FA2C1-2EDC-C9BC-32F6-784AC95F58F7}"/>
              </a:ext>
            </a:extLst>
          </p:cNvPr>
          <p:cNvSpPr txBox="1"/>
          <p:nvPr/>
        </p:nvSpPr>
        <p:spPr>
          <a:xfrm>
            <a:off x="3257519" y="4427635"/>
            <a:ext cx="931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性能分析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AE4CFD-074E-8D21-306A-E259C75D1C40}"/>
              </a:ext>
            </a:extLst>
          </p:cNvPr>
          <p:cNvSpPr txBox="1"/>
          <p:nvPr/>
        </p:nvSpPr>
        <p:spPr>
          <a:xfrm>
            <a:off x="4583323" y="4418012"/>
            <a:ext cx="931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优化方法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CB0054-EF5C-8ED5-6FD3-B013E6314C02}"/>
              </a:ext>
            </a:extLst>
          </p:cNvPr>
          <p:cNvSpPr txBox="1"/>
          <p:nvPr/>
        </p:nvSpPr>
        <p:spPr>
          <a:xfrm>
            <a:off x="5924449" y="4427635"/>
            <a:ext cx="9313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支持原语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0533F4-8D44-0563-C2B1-8E8856E571F6}"/>
              </a:ext>
            </a:extLst>
          </p:cNvPr>
          <p:cNvSpPr txBox="1"/>
          <p:nvPr/>
        </p:nvSpPr>
        <p:spPr>
          <a:xfrm>
            <a:off x="500247" y="2576769"/>
            <a:ext cx="1991914" cy="613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/>
              <a:t>新平台按需补充修改</a:t>
            </a:r>
          </a:p>
          <a:p>
            <a:pPr algn="ctr">
              <a:lnSpc>
                <a:spcPct val="150000"/>
              </a:lnSpc>
            </a:pPr>
            <a:r>
              <a:rPr lang="zh-CN" altLang="en-US" sz="1200" dirty="0"/>
              <a:t>（修改程度低）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C47E2F-A684-58B9-85CC-DD66D42995A4}"/>
              </a:ext>
            </a:extLst>
          </p:cNvPr>
          <p:cNvSpPr txBox="1"/>
          <p:nvPr/>
        </p:nvSpPr>
        <p:spPr>
          <a:xfrm>
            <a:off x="2382171" y="2785296"/>
            <a:ext cx="132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补充平台信息限制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382A74-DE70-0DD5-FA4C-79C70E9C518D}"/>
              </a:ext>
            </a:extLst>
          </p:cNvPr>
          <p:cNvSpPr txBox="1"/>
          <p:nvPr/>
        </p:nvSpPr>
        <p:spPr>
          <a:xfrm>
            <a:off x="3830459" y="2785296"/>
            <a:ext cx="11097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修改阶段契约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5B7128-A4F1-E28A-3EFE-63BF3D3D32E0}"/>
              </a:ext>
            </a:extLst>
          </p:cNvPr>
          <p:cNvSpPr txBox="1"/>
          <p:nvPr/>
        </p:nvSpPr>
        <p:spPr>
          <a:xfrm>
            <a:off x="5178070" y="2780512"/>
            <a:ext cx="10893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真实硬件验证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FEE100-479D-0ADA-C89D-2B6377AA74DC}"/>
              </a:ext>
            </a:extLst>
          </p:cNvPr>
          <p:cNvSpPr txBox="1"/>
          <p:nvPr/>
        </p:nvSpPr>
        <p:spPr>
          <a:xfrm>
            <a:off x="6558533" y="2786355"/>
            <a:ext cx="10519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复测流程稳定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E4C911E-2699-ED5C-571B-A24B05E2657D}"/>
              </a:ext>
            </a:extLst>
          </p:cNvPr>
          <p:cNvCxnSpPr>
            <a:stCxn id="19" idx="0"/>
            <a:endCxn id="144" idx="2"/>
          </p:cNvCxnSpPr>
          <p:nvPr/>
        </p:nvCxnSpPr>
        <p:spPr>
          <a:xfrm flipH="1" flipV="1">
            <a:off x="2770415" y="2500801"/>
            <a:ext cx="274623" cy="28449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62A42CC-20D8-F645-2B7E-B9A19524DF15}"/>
              </a:ext>
            </a:extLst>
          </p:cNvPr>
          <p:cNvCxnSpPr>
            <a:stCxn id="20" idx="0"/>
            <a:endCxn id="146" idx="2"/>
          </p:cNvCxnSpPr>
          <p:nvPr/>
        </p:nvCxnSpPr>
        <p:spPr>
          <a:xfrm flipH="1" flipV="1">
            <a:off x="3656460" y="2500313"/>
            <a:ext cx="728882" cy="284983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F54CDD8-B3F0-EA74-1644-E09D847C04A6}"/>
              </a:ext>
            </a:extLst>
          </p:cNvPr>
          <p:cNvCxnSpPr>
            <a:stCxn id="21" idx="0"/>
            <a:endCxn id="149" idx="2"/>
          </p:cNvCxnSpPr>
          <p:nvPr/>
        </p:nvCxnSpPr>
        <p:spPr>
          <a:xfrm flipH="1" flipV="1">
            <a:off x="5496853" y="2500633"/>
            <a:ext cx="225912" cy="279879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2EA7F2D-5B04-084E-71EF-798A2D4F9272}"/>
              </a:ext>
            </a:extLst>
          </p:cNvPr>
          <p:cNvCxnSpPr>
            <a:stCxn id="22" idx="0"/>
            <a:endCxn id="152" idx="2"/>
          </p:cNvCxnSpPr>
          <p:nvPr/>
        </p:nvCxnSpPr>
        <p:spPr>
          <a:xfrm flipH="1" flipV="1">
            <a:off x="6404566" y="2521256"/>
            <a:ext cx="679948" cy="265099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4014B83-C59C-5CE9-E13B-9856FA79A5BC}"/>
              </a:ext>
            </a:extLst>
          </p:cNvPr>
          <p:cNvCxnSpPr>
            <a:stCxn id="143" idx="3"/>
            <a:endCxn id="145" idx="1"/>
          </p:cNvCxnSpPr>
          <p:nvPr/>
        </p:nvCxnSpPr>
        <p:spPr>
          <a:xfrm flipV="1">
            <a:off x="3131437" y="2414100"/>
            <a:ext cx="164000" cy="488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603189B-80E3-A219-021B-459FA9DBD849}"/>
              </a:ext>
            </a:extLst>
          </p:cNvPr>
          <p:cNvCxnSpPr>
            <a:stCxn id="145" idx="3"/>
            <a:endCxn id="147" idx="1"/>
          </p:cNvCxnSpPr>
          <p:nvPr/>
        </p:nvCxnSpPr>
        <p:spPr>
          <a:xfrm>
            <a:off x="4017482" y="2414100"/>
            <a:ext cx="171355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02473B4E-A640-B865-AADD-00F235728BE4}"/>
              </a:ext>
            </a:extLst>
          </p:cNvPr>
          <p:cNvCxnSpPr>
            <a:stCxn id="147" idx="3"/>
            <a:endCxn id="149" idx="1"/>
          </p:cNvCxnSpPr>
          <p:nvPr/>
        </p:nvCxnSpPr>
        <p:spPr>
          <a:xfrm>
            <a:off x="4961818" y="2414100"/>
            <a:ext cx="174012" cy="319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777ECE15-2EFE-EA90-4A53-89942C29E372}"/>
              </a:ext>
            </a:extLst>
          </p:cNvPr>
          <p:cNvCxnSpPr>
            <a:stCxn id="149" idx="3"/>
            <a:endCxn id="151" idx="1"/>
          </p:cNvCxnSpPr>
          <p:nvPr/>
        </p:nvCxnSpPr>
        <p:spPr>
          <a:xfrm flipV="1">
            <a:off x="5857875" y="2414100"/>
            <a:ext cx="185668" cy="319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678D9CC-7F10-8666-0C5B-779214C43446}"/>
              </a:ext>
            </a:extLst>
          </p:cNvPr>
          <p:cNvCxnSpPr>
            <a:stCxn id="151" idx="3"/>
            <a:endCxn id="177" idx="1"/>
          </p:cNvCxnSpPr>
          <p:nvPr/>
        </p:nvCxnSpPr>
        <p:spPr>
          <a:xfrm>
            <a:off x="6765588" y="2414100"/>
            <a:ext cx="167433" cy="714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3790_相对 PyTorch 加速比"/>
          <p:cNvSpPr>
            <a:spLocks noGrp="1"/>
          </p:cNvSpPr>
          <p:nvPr/>
        </p:nvSpPr>
        <p:spPr>
          <a:xfrm>
            <a:off x="445416" y="5403624"/>
            <a:ext cx="211322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20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相对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PyTorch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加速比</a:t>
            </a:r>
            <a:endParaRPr sz="1400" b="1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</a:endParaRPr>
          </a:p>
        </p:txBody>
      </p:sp>
      <p:graphicFrame>
        <p:nvGraphicFramePr>
          <p:cNvPr id="122" name="表格 121"/>
          <p:cNvGraphicFramePr/>
          <p:nvPr>
            <p:extLst>
              <p:ext uri="{D42A27DB-BD31-4B8C-83A1-F6EECF244321}">
                <p14:modId xmlns:p14="http://schemas.microsoft.com/office/powerpoint/2010/main" val="1961916289"/>
              </p:ext>
            </p:extLst>
          </p:nvPr>
        </p:nvGraphicFramePr>
        <p:xfrm>
          <a:off x="480360" y="2115881"/>
          <a:ext cx="5236370" cy="3244185"/>
        </p:xfrm>
        <a:graphic>
          <a:graphicData uri="http://schemas.openxmlformats.org/drawingml/2006/table">
            <a:tbl>
              <a:tblPr/>
              <a:tblGrid>
                <a:gridCol w="146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Skill / </a:t>
                      </a:r>
                      <a:r>
                        <a:rPr sz="16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算子</a:t>
                      </a:r>
                      <a:endParaRPr sz="16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LayerNorm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Softmax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MatMul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MLU Triton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1.00×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1.23×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BANG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×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27</a:t>
                      </a:r>
                      <a:r>
                        <a:rPr sz="16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×</a:t>
                      </a:r>
                      <a:endParaRPr sz="16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0.33×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GPU Triton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1.43×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837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CUDA C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1.45×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3×</a:t>
                      </a:r>
                    </a:p>
                  </a:txBody>
                  <a:tcPr marL="28575" marR="28575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26</a:t>
            </a:fld>
            <a:endParaRPr lang="zh-CN" altLang="en-US"/>
          </a:p>
        </p:txBody>
      </p:sp>
      <p:cxnSp>
        <p:nvCxnSpPr>
          <p:cNvPr id="68" name="直接连接符 67"/>
          <p:cNvCxnSpPr/>
          <p:nvPr/>
        </p:nvCxnSpPr>
        <p:spPr>
          <a:xfrm>
            <a:off x="5956289" y="1955701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3" name="文本框 95"/>
          <p:cNvSpPr txBox="1"/>
          <p:nvPr/>
        </p:nvSpPr>
        <p:spPr>
          <a:xfrm>
            <a:off x="2627784" y="6117322"/>
            <a:ext cx="3985732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rgbClr val="D7000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目前已经进行四类</a:t>
            </a:r>
            <a:r>
              <a:rPr lang="en-US" altLang="zh-CN" sz="1600" b="1" dirty="0">
                <a:solidFill>
                  <a:srgbClr val="D7000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skill</a:t>
            </a:r>
            <a:r>
              <a:rPr lang="zh-CN" altLang="en-US" sz="1600" b="1" dirty="0">
                <a:solidFill>
                  <a:srgbClr val="D7000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的开发与验证</a:t>
            </a:r>
          </a:p>
        </p:txBody>
      </p:sp>
      <p:sp>
        <p:nvSpPr>
          <p:cNvPr id="44" name="text_3841_统一测试设置"/>
          <p:cNvSpPr>
            <a:spLocks noGrp="1"/>
          </p:cNvSpPr>
          <p:nvPr/>
        </p:nvSpPr>
        <p:spPr>
          <a:xfrm>
            <a:off x="6233113" y="2217152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45" name="text_3843_平台：寒武纪 MLU、NVIDIA GPU"/>
          <p:cNvSpPr>
            <a:spLocks noGrp="1"/>
          </p:cNvSpPr>
          <p:nvPr/>
        </p:nvSpPr>
        <p:spPr>
          <a:xfrm>
            <a:off x="6228293" y="2644773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46" name="connector_3852"/>
          <p:cNvSpPr>
            <a:spLocks noGrp="1"/>
          </p:cNvSpPr>
          <p:nvPr/>
        </p:nvSpPr>
        <p:spPr>
          <a:xfrm>
            <a:off x="6187285" y="3952472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50" name="text_3862_性能差距仍需补足"/>
          <p:cNvSpPr>
            <a:spLocks noGrp="1"/>
          </p:cNvSpPr>
          <p:nvPr/>
        </p:nvSpPr>
        <p:spPr>
          <a:xfrm>
            <a:off x="6204562" y="4087586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</a:t>
            </a:r>
            <a:r>
              <a:rPr lang="zh-CN" altLang="en-US" sz="12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_3864_MatMul 加速比均低于 1×。"/>
          <p:cNvSpPr>
            <a:spLocks noGrp="1"/>
          </p:cNvSpPr>
          <p:nvPr/>
        </p:nvSpPr>
        <p:spPr>
          <a:xfrm>
            <a:off x="6194409" y="4499966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 </a:t>
            </a: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开发的简单算子基本可以比平</a:t>
            </a:r>
            <a:endParaRPr lang="en-US" altLang="zh-CN" sz="1200" dirty="0" smtClean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官方算子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nector_104">
            <a:extLst>
              <a:ext uri="{FF2B5EF4-FFF2-40B4-BE49-F238E27FC236}">
                <a16:creationId xmlns:a16="http://schemas.microsoft.com/office/drawing/2014/main" id="{26B2D9C8-A454-0C6A-A548-112EBBD4D547}"/>
              </a:ext>
            </a:extLst>
          </p:cNvPr>
          <p:cNvSpPr>
            <a:spLocks noGrp="1"/>
          </p:cNvSpPr>
          <p:nvPr/>
        </p:nvSpPr>
        <p:spPr>
          <a:xfrm>
            <a:off x="413580" y="170970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4" name="text_103_原始 Skill 已具备完整开发流程">
            <a:extLst>
              <a:ext uri="{FF2B5EF4-FFF2-40B4-BE49-F238E27FC236}">
                <a16:creationId xmlns:a16="http://schemas.microsoft.com/office/drawing/2014/main" id="{269060FA-0963-35E4-A580-616CEB496C1A}"/>
              </a:ext>
            </a:extLst>
          </p:cNvPr>
          <p:cNvSpPr>
            <a:spLocks noGrp="1"/>
          </p:cNvSpPr>
          <p:nvPr/>
        </p:nvSpPr>
        <p:spPr>
          <a:xfrm>
            <a:off x="480360" y="1362756"/>
            <a:ext cx="2745821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多平台实践结果分析</a:t>
            </a:r>
          </a:p>
        </p:txBody>
      </p:sp>
      <p:sp>
        <p:nvSpPr>
          <p:cNvPr id="5" name="text_3794_实验设置与结果分析">
            <a:extLst>
              <a:ext uri="{FF2B5EF4-FFF2-40B4-BE49-F238E27FC236}">
                <a16:creationId xmlns:a16="http://schemas.microsoft.com/office/drawing/2014/main" id="{6F5B1DDC-9E2E-1843-58EF-8F594591900B}"/>
              </a:ext>
            </a:extLst>
          </p:cNvPr>
          <p:cNvSpPr>
            <a:spLocks noGrp="1"/>
          </p:cNvSpPr>
          <p:nvPr/>
        </p:nvSpPr>
        <p:spPr>
          <a:xfrm>
            <a:off x="5995063" y="1334388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实验设置与结果分析</a:t>
            </a:r>
            <a:endParaRPr sz="20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connector_3795">
            <a:extLst>
              <a:ext uri="{FF2B5EF4-FFF2-40B4-BE49-F238E27FC236}">
                <a16:creationId xmlns:a16="http://schemas.microsoft.com/office/drawing/2014/main" id="{CB17A8BF-4262-D04C-D602-04E88B92CE8F}"/>
              </a:ext>
            </a:extLst>
          </p:cNvPr>
          <p:cNvSpPr>
            <a:spLocks noGrp="1"/>
          </p:cNvSpPr>
          <p:nvPr/>
        </p:nvSpPr>
        <p:spPr>
          <a:xfrm>
            <a:off x="5980800" y="1695419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_3839_开发耗时（小时，从需求输入到通过验证）"/>
          <p:cNvSpPr>
            <a:spLocks noGrp="1"/>
          </p:cNvSpPr>
          <p:nvPr/>
        </p:nvSpPr>
        <p:spPr>
          <a:xfrm>
            <a:off x="489672" y="5818644"/>
            <a:ext cx="4005664" cy="22070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p"/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开发耗时（小时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从需求输入到通过验证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27" name="Chart"/>
          <p:cNvGraphicFramePr/>
          <p:nvPr>
            <p:extLst>
              <p:ext uri="{D42A27DB-BD31-4B8C-83A1-F6EECF244321}">
                <p14:modId xmlns:p14="http://schemas.microsoft.com/office/powerpoint/2010/main" val="1699241818"/>
              </p:ext>
            </p:extLst>
          </p:nvPr>
        </p:nvGraphicFramePr>
        <p:xfrm>
          <a:off x="323528" y="1796583"/>
          <a:ext cx="5264944" cy="3998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4" name="connector_104"/>
          <p:cNvSpPr>
            <a:spLocks noGrp="1"/>
          </p:cNvSpPr>
          <p:nvPr/>
        </p:nvSpPr>
        <p:spPr>
          <a:xfrm>
            <a:off x="413580" y="170970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65" name="text_103_原始 Skill 已具备完整开发流程"/>
          <p:cNvSpPr>
            <a:spLocks noGrp="1"/>
          </p:cNvSpPr>
          <p:nvPr/>
        </p:nvSpPr>
        <p:spPr>
          <a:xfrm>
            <a:off x="480360" y="1362756"/>
            <a:ext cx="2745821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多平台实践结果分析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5813727" y="1816245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标题 1"/>
          <p:cNvSpPr txBox="1"/>
          <p:nvPr/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实习任务三： 算子开发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lang="zh-CN" altLang="en-US" sz="1950" kern="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text_3794_实验设置与结果分析"/>
          <p:cNvSpPr>
            <a:spLocks noGrp="1"/>
          </p:cNvSpPr>
          <p:nvPr/>
        </p:nvSpPr>
        <p:spPr>
          <a:xfrm>
            <a:off x="5995063" y="1334388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实验设置与结果分析</a:t>
            </a:r>
            <a:endParaRPr sz="20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0" name="connector_3795"/>
          <p:cNvSpPr>
            <a:spLocks noGrp="1"/>
          </p:cNvSpPr>
          <p:nvPr/>
        </p:nvSpPr>
        <p:spPr>
          <a:xfrm>
            <a:off x="5980800" y="1695419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21" name="text_3841_统一测试设置"/>
          <p:cNvSpPr>
            <a:spLocks noGrp="1"/>
          </p:cNvSpPr>
          <p:nvPr/>
        </p:nvSpPr>
        <p:spPr>
          <a:xfrm>
            <a:off x="6156176" y="2277733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22" name="text_3843_平台：寒武纪 MLU、NVIDIA GPU"/>
          <p:cNvSpPr>
            <a:spLocks noGrp="1"/>
          </p:cNvSpPr>
          <p:nvPr/>
        </p:nvSpPr>
        <p:spPr>
          <a:xfrm>
            <a:off x="6151356" y="2705354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算子：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3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2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23" name="connector_3852"/>
          <p:cNvSpPr>
            <a:spLocks noGrp="1"/>
          </p:cNvSpPr>
          <p:nvPr/>
        </p:nvSpPr>
        <p:spPr>
          <a:xfrm>
            <a:off x="6110348" y="4013053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24" name="text_3862_性能差距仍需补足"/>
          <p:cNvSpPr>
            <a:spLocks noGrp="1"/>
          </p:cNvSpPr>
          <p:nvPr/>
        </p:nvSpPr>
        <p:spPr>
          <a:xfrm>
            <a:off x="6127625" y="4148167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</a:t>
            </a:r>
            <a:r>
              <a:rPr lang="zh-CN" altLang="en-US" sz="120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sz="12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_3864_MatMul 加速比均低于 1×。"/>
          <p:cNvSpPr>
            <a:spLocks noGrp="1"/>
          </p:cNvSpPr>
          <p:nvPr/>
        </p:nvSpPr>
        <p:spPr>
          <a:xfrm>
            <a:off x="6127625" y="4118646"/>
            <a:ext cx="2626562" cy="117453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的开发时间最长；</a:t>
            </a:r>
            <a:endParaRPr 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平台算子开发平均时间</a:t>
            </a:r>
            <a:r>
              <a:rPr lang="en-US" altLang="zh-CN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1.4h</a:t>
            </a:r>
            <a:r>
              <a:rPr lang="zh-CN" altLang="en-US" sz="1200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12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DB7BD-AF18-4E0A-868D-7D796A76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实习期间工作总结和个人发展计划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24364" y="1687831"/>
            <a:ext cx="7961948" cy="4076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工作总结：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在海康威视智能计算平台部的实习过程中，我受益匪浅：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在实际项目中形成了从问题定位、发干设计、实验验证到总结沉淀的完整工作思路；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实习过程中得到许多了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和同事在技术方案、问题定位、工作方法等方面的指导，对实际研发团队的工作方式 有了更深的理解；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实习过程中我清晰的认识到了自己的优势和不足，同时也在不断改进自己的工作方式与总结能力。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个人发展计划：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持续补足基础与工程能力；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提升独立承担项目的能力，加强技术汇报与团队协作能力；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继续深耕算子优化方向，同时保持对新平台、新工具和新技术的学习。 </a:t>
            </a:r>
          </a:p>
          <a:p>
            <a:pPr>
              <a:lnSpc>
                <a:spcPct val="150000"/>
              </a:lnSpc>
            </a:pP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7F6E89-AF8E-AA5E-EFF9-46A630C1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56025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ChangeArrowheads="1"/>
          </p:cNvSpPr>
          <p:nvPr/>
        </p:nvSpPr>
        <p:spPr bwMode="auto">
          <a:xfrm>
            <a:off x="2051050" y="2492375"/>
            <a:ext cx="4962525" cy="1785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zh-CN" altLang="en-US" sz="9600" kern="0"/>
              <a:t>谢谢！</a:t>
            </a:r>
            <a:endParaRPr lang="en-US" altLang="zh-CN" sz="9600" kern="0"/>
          </a:p>
        </p:txBody>
      </p:sp>
      <p:pic>
        <p:nvPicPr>
          <p:cNvPr id="4" name="Picture 2" descr="D:\PPT\新PPT样式\bg封底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</p:spPr>
      </p:pic>
      <p:grpSp>
        <p:nvGrpSpPr>
          <p:cNvPr id="5" name="组合 4"/>
          <p:cNvGrpSpPr/>
          <p:nvPr/>
        </p:nvGrpSpPr>
        <p:grpSpPr>
          <a:xfrm>
            <a:off x="323528" y="3933056"/>
            <a:ext cx="8496950" cy="1728192"/>
            <a:chOff x="323528" y="3933056"/>
            <a:chExt cx="8496950" cy="1728192"/>
          </a:xfrm>
        </p:grpSpPr>
        <p:sp>
          <p:nvSpPr>
            <p:cNvPr id="7" name="任意多边形 6"/>
            <p:cNvSpPr/>
            <p:nvPr/>
          </p:nvSpPr>
          <p:spPr>
            <a:xfrm>
              <a:off x="323528" y="3933056"/>
              <a:ext cx="8496950" cy="1728192"/>
            </a:xfrm>
            <a:custGeom>
              <a:avLst/>
              <a:gdLst>
                <a:gd name="connsiteX0" fmla="*/ 7 w 6336704"/>
                <a:gd name="connsiteY0" fmla="*/ 660109 h 1728192"/>
                <a:gd name="connsiteX1" fmla="*/ 3168352 w 6336704"/>
                <a:gd name="connsiteY1" fmla="*/ 0 h 1728192"/>
                <a:gd name="connsiteX2" fmla="*/ 6336697 w 6336704"/>
                <a:gd name="connsiteY2" fmla="*/ 660109 h 1728192"/>
                <a:gd name="connsiteX3" fmla="*/ 5126503 w 6336704"/>
                <a:gd name="connsiteY3" fmla="*/ 1728186 h 1728192"/>
                <a:gd name="connsiteX4" fmla="*/ 1210201 w 6336704"/>
                <a:gd name="connsiteY4" fmla="*/ 1728186 h 1728192"/>
                <a:gd name="connsiteX5" fmla="*/ 7 w 6336704"/>
                <a:gd name="connsiteY5" fmla="*/ 660109 h 1728192"/>
                <a:gd name="connsiteX0-1" fmla="*/ 7 w 6336697"/>
                <a:gd name="connsiteY0-2" fmla="*/ 660109 h 1728192"/>
                <a:gd name="connsiteX1-3" fmla="*/ 3168352 w 6336697"/>
                <a:gd name="connsiteY1-4" fmla="*/ 0 h 1728192"/>
                <a:gd name="connsiteX2-5" fmla="*/ 6336697 w 6336697"/>
                <a:gd name="connsiteY2-6" fmla="*/ 660109 h 1728192"/>
                <a:gd name="connsiteX3-7" fmla="*/ 5126503 w 6336697"/>
                <a:gd name="connsiteY3-8" fmla="*/ 1728186 h 1728192"/>
                <a:gd name="connsiteX4-9" fmla="*/ 0 w 6336697"/>
                <a:gd name="connsiteY4-10" fmla="*/ 1728192 h 1728192"/>
                <a:gd name="connsiteX5-11" fmla="*/ 7 w 6336697"/>
                <a:gd name="connsiteY5-12" fmla="*/ 660109 h 1728192"/>
                <a:gd name="connsiteX0-13" fmla="*/ 7 w 6336697"/>
                <a:gd name="connsiteY0-14" fmla="*/ 156053 h 1224136"/>
                <a:gd name="connsiteX1-15" fmla="*/ 5544617 w 6336697"/>
                <a:gd name="connsiteY1-16" fmla="*/ 0 h 1224136"/>
                <a:gd name="connsiteX2-17" fmla="*/ 6336697 w 6336697"/>
                <a:gd name="connsiteY2-18" fmla="*/ 156053 h 1224136"/>
                <a:gd name="connsiteX3-19" fmla="*/ 5126503 w 6336697"/>
                <a:gd name="connsiteY3-20" fmla="*/ 1224130 h 1224136"/>
                <a:gd name="connsiteX4-21" fmla="*/ 0 w 6336697"/>
                <a:gd name="connsiteY4-22" fmla="*/ 1224136 h 1224136"/>
                <a:gd name="connsiteX5-23" fmla="*/ 7 w 6336697"/>
                <a:gd name="connsiteY5-24" fmla="*/ 156053 h 1224136"/>
                <a:gd name="connsiteX0-25" fmla="*/ 7 w 6336705"/>
                <a:gd name="connsiteY0-26" fmla="*/ 156053 h 1224136"/>
                <a:gd name="connsiteX1-27" fmla="*/ 5544617 w 6336705"/>
                <a:gd name="connsiteY1-28" fmla="*/ 0 h 1224136"/>
                <a:gd name="connsiteX2-29" fmla="*/ 6336697 w 6336705"/>
                <a:gd name="connsiteY2-30" fmla="*/ 156053 h 1224136"/>
                <a:gd name="connsiteX3-31" fmla="*/ 6336705 w 6336705"/>
                <a:gd name="connsiteY3-32" fmla="*/ 1224136 h 1224136"/>
                <a:gd name="connsiteX4-33" fmla="*/ 0 w 6336705"/>
                <a:gd name="connsiteY4-34" fmla="*/ 1224136 h 1224136"/>
                <a:gd name="connsiteX5-35" fmla="*/ 7 w 6336705"/>
                <a:gd name="connsiteY5-36" fmla="*/ 156053 h 1224136"/>
                <a:gd name="connsiteX0-37" fmla="*/ 7 w 6336708"/>
                <a:gd name="connsiteY0-38" fmla="*/ 156053 h 1224136"/>
                <a:gd name="connsiteX1-39" fmla="*/ 5544617 w 6336708"/>
                <a:gd name="connsiteY1-40" fmla="*/ 0 h 1224136"/>
                <a:gd name="connsiteX2-41" fmla="*/ 6336705 w 6336708"/>
                <a:gd name="connsiteY2-42" fmla="*/ 504056 h 1224136"/>
                <a:gd name="connsiteX3-43" fmla="*/ 6336705 w 6336708"/>
                <a:gd name="connsiteY3-44" fmla="*/ 1224136 h 1224136"/>
                <a:gd name="connsiteX4-45" fmla="*/ 0 w 6336708"/>
                <a:gd name="connsiteY4-46" fmla="*/ 1224136 h 1224136"/>
                <a:gd name="connsiteX5-47" fmla="*/ 7 w 6336708"/>
                <a:gd name="connsiteY5-48" fmla="*/ 156053 h 1224136"/>
                <a:gd name="connsiteX0-49" fmla="*/ 7 w 6336708"/>
                <a:gd name="connsiteY0-50" fmla="*/ 12037 h 1080120"/>
                <a:gd name="connsiteX1-51" fmla="*/ 5544616 w 6336708"/>
                <a:gd name="connsiteY1-52" fmla="*/ 0 h 1080120"/>
                <a:gd name="connsiteX2-53" fmla="*/ 6336705 w 6336708"/>
                <a:gd name="connsiteY2-54" fmla="*/ 360040 h 1080120"/>
                <a:gd name="connsiteX3-55" fmla="*/ 6336705 w 6336708"/>
                <a:gd name="connsiteY3-56" fmla="*/ 1080120 h 1080120"/>
                <a:gd name="connsiteX4-57" fmla="*/ 0 w 6336708"/>
                <a:gd name="connsiteY4-58" fmla="*/ 1080120 h 1080120"/>
                <a:gd name="connsiteX5-59" fmla="*/ 7 w 6336708"/>
                <a:gd name="connsiteY5-60" fmla="*/ 12037 h 1080120"/>
                <a:gd name="connsiteX0-61" fmla="*/ 7 w 7403286"/>
                <a:gd name="connsiteY0-62" fmla="*/ 12037 h 1080120"/>
                <a:gd name="connsiteX1-63" fmla="*/ 5544616 w 7403286"/>
                <a:gd name="connsiteY1-64" fmla="*/ 0 h 1080120"/>
                <a:gd name="connsiteX2-65" fmla="*/ 7403283 w 7403286"/>
                <a:gd name="connsiteY2-66" fmla="*/ 450050 h 1080120"/>
                <a:gd name="connsiteX3-67" fmla="*/ 6336705 w 7403286"/>
                <a:gd name="connsiteY3-68" fmla="*/ 1080120 h 1080120"/>
                <a:gd name="connsiteX4-69" fmla="*/ 0 w 7403286"/>
                <a:gd name="connsiteY4-70" fmla="*/ 1080120 h 1080120"/>
                <a:gd name="connsiteX5-71" fmla="*/ 7 w 7403286"/>
                <a:gd name="connsiteY5-72" fmla="*/ 12037 h 1080120"/>
                <a:gd name="connsiteX0-73" fmla="*/ 7 w 7403286"/>
                <a:gd name="connsiteY0-74" fmla="*/ 12037 h 1080120"/>
                <a:gd name="connsiteX1-75" fmla="*/ 5544616 w 7403286"/>
                <a:gd name="connsiteY1-76" fmla="*/ 0 h 1080120"/>
                <a:gd name="connsiteX2-77" fmla="*/ 7403283 w 7403286"/>
                <a:gd name="connsiteY2-78" fmla="*/ 450050 h 1080120"/>
                <a:gd name="connsiteX3-79" fmla="*/ 7403283 w 7403286"/>
                <a:gd name="connsiteY3-80" fmla="*/ 1080120 h 1080120"/>
                <a:gd name="connsiteX4-81" fmla="*/ 0 w 7403286"/>
                <a:gd name="connsiteY4-82" fmla="*/ 1080120 h 1080120"/>
                <a:gd name="connsiteX5-83" fmla="*/ 7 w 7403286"/>
                <a:gd name="connsiteY5-84" fmla="*/ 12037 h 1080120"/>
                <a:gd name="connsiteX0-85" fmla="*/ 7 w 7403286"/>
                <a:gd name="connsiteY0-86" fmla="*/ 12037 h 1080120"/>
                <a:gd name="connsiteX1-87" fmla="*/ 6713146 w 7403286"/>
                <a:gd name="connsiteY1-88" fmla="*/ 0 h 1080120"/>
                <a:gd name="connsiteX2-89" fmla="*/ 7403283 w 7403286"/>
                <a:gd name="connsiteY2-90" fmla="*/ 450050 h 1080120"/>
                <a:gd name="connsiteX3-91" fmla="*/ 7403283 w 7403286"/>
                <a:gd name="connsiteY3-92" fmla="*/ 1080120 h 1080120"/>
                <a:gd name="connsiteX4-93" fmla="*/ 0 w 7403286"/>
                <a:gd name="connsiteY4-94" fmla="*/ 1080120 h 1080120"/>
                <a:gd name="connsiteX5-95" fmla="*/ 7 w 7403286"/>
                <a:gd name="connsiteY5-96" fmla="*/ 12037 h 1080120"/>
                <a:gd name="connsiteX0-97" fmla="*/ 7 w 7403286"/>
                <a:gd name="connsiteY0-98" fmla="*/ 12037 h 1080120"/>
                <a:gd name="connsiteX1-99" fmla="*/ 6713146 w 7403286"/>
                <a:gd name="connsiteY1-100" fmla="*/ 0 h 1080120"/>
                <a:gd name="connsiteX2-101" fmla="*/ 7403283 w 7403286"/>
                <a:gd name="connsiteY2-102" fmla="*/ 450050 h 1080120"/>
                <a:gd name="connsiteX3-103" fmla="*/ 7403283 w 7403286"/>
                <a:gd name="connsiteY3-104" fmla="*/ 1080120 h 1080120"/>
                <a:gd name="connsiteX4-105" fmla="*/ 0 w 7403286"/>
                <a:gd name="connsiteY4-106" fmla="*/ 1080120 h 1080120"/>
                <a:gd name="connsiteX5-107" fmla="*/ 7 w 7403286"/>
                <a:gd name="connsiteY5-108" fmla="*/ 12037 h 1080120"/>
                <a:gd name="connsiteX0-109" fmla="*/ 7 w 7403286"/>
                <a:gd name="connsiteY0-110" fmla="*/ 12037 h 1080120"/>
                <a:gd name="connsiteX1-111" fmla="*/ 6713146 w 7403286"/>
                <a:gd name="connsiteY1-112" fmla="*/ 0 h 1080120"/>
                <a:gd name="connsiteX2-113" fmla="*/ 7403283 w 7403286"/>
                <a:gd name="connsiteY2-114" fmla="*/ 450050 h 1080120"/>
                <a:gd name="connsiteX3-115" fmla="*/ 7403283 w 7403286"/>
                <a:gd name="connsiteY3-116" fmla="*/ 1080120 h 1080120"/>
                <a:gd name="connsiteX4-117" fmla="*/ 0 w 7403286"/>
                <a:gd name="connsiteY4-118" fmla="*/ 1080120 h 1080120"/>
                <a:gd name="connsiteX5-119" fmla="*/ 7 w 7403286"/>
                <a:gd name="connsiteY5-120" fmla="*/ 12037 h 1080120"/>
                <a:gd name="connsiteX0-121" fmla="*/ 7 w 7403286"/>
                <a:gd name="connsiteY0-122" fmla="*/ 12037 h 1125125"/>
                <a:gd name="connsiteX1-123" fmla="*/ 6713146 w 7403286"/>
                <a:gd name="connsiteY1-124" fmla="*/ 0 h 1125125"/>
                <a:gd name="connsiteX2-125" fmla="*/ 7403283 w 7403286"/>
                <a:gd name="connsiteY2-126" fmla="*/ 450050 h 1125125"/>
                <a:gd name="connsiteX3-127" fmla="*/ 7403283 w 7403286"/>
                <a:gd name="connsiteY3-128" fmla="*/ 1080120 h 1125125"/>
                <a:gd name="connsiteX4-129" fmla="*/ 0 w 7403286"/>
                <a:gd name="connsiteY4-130" fmla="*/ 1125125 h 1125125"/>
                <a:gd name="connsiteX5-131" fmla="*/ 7 w 7403286"/>
                <a:gd name="connsiteY5-132" fmla="*/ 12037 h 1125125"/>
                <a:gd name="connsiteX0-133" fmla="*/ 7 w 7403286"/>
                <a:gd name="connsiteY0-134" fmla="*/ 12037 h 1080120"/>
                <a:gd name="connsiteX1-135" fmla="*/ 6713146 w 7403286"/>
                <a:gd name="connsiteY1-136" fmla="*/ 0 h 1080120"/>
                <a:gd name="connsiteX2-137" fmla="*/ 7403283 w 7403286"/>
                <a:gd name="connsiteY2-138" fmla="*/ 450050 h 1080120"/>
                <a:gd name="connsiteX3-139" fmla="*/ 7403283 w 7403286"/>
                <a:gd name="connsiteY3-140" fmla="*/ 1080120 h 1080120"/>
                <a:gd name="connsiteX4-141" fmla="*/ 0 w 7403286"/>
                <a:gd name="connsiteY4-142" fmla="*/ 1080120 h 1080120"/>
                <a:gd name="connsiteX5-143" fmla="*/ 7 w 7403286"/>
                <a:gd name="connsiteY5-144" fmla="*/ 12037 h 1080120"/>
                <a:gd name="connsiteX0-145" fmla="*/ 2 w 7403288"/>
                <a:gd name="connsiteY0-146" fmla="*/ 0 h 1080120"/>
                <a:gd name="connsiteX1-147" fmla="*/ 6713148 w 7403288"/>
                <a:gd name="connsiteY1-148" fmla="*/ 0 h 1080120"/>
                <a:gd name="connsiteX2-149" fmla="*/ 7403285 w 7403288"/>
                <a:gd name="connsiteY2-150" fmla="*/ 450050 h 1080120"/>
                <a:gd name="connsiteX3-151" fmla="*/ 7403285 w 7403288"/>
                <a:gd name="connsiteY3-152" fmla="*/ 1080120 h 1080120"/>
                <a:gd name="connsiteX4-153" fmla="*/ 2 w 7403288"/>
                <a:gd name="connsiteY4-154" fmla="*/ 1080120 h 1080120"/>
                <a:gd name="connsiteX5-155" fmla="*/ 2 w 7403288"/>
                <a:gd name="connsiteY5-156" fmla="*/ 0 h 10801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403288" h="1080120">
                  <a:moveTo>
                    <a:pt x="2" y="0"/>
                  </a:moveTo>
                  <a:lnTo>
                    <a:pt x="6713148" y="0"/>
                  </a:lnTo>
                  <a:lnTo>
                    <a:pt x="7403285" y="450050"/>
                  </a:lnTo>
                  <a:cubicBezTo>
                    <a:pt x="7403288" y="806078"/>
                    <a:pt x="7403282" y="724092"/>
                    <a:pt x="7403285" y="1080120"/>
                  </a:cubicBezTo>
                  <a:lnTo>
                    <a:pt x="2" y="1080120"/>
                  </a:lnTo>
                  <a:cubicBezTo>
                    <a:pt x="4" y="724092"/>
                    <a:pt x="0" y="356028"/>
                    <a:pt x="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Aft>
                  <a:spcPts val="0"/>
                </a:spcAft>
              </a:pPr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4149080"/>
              <a:ext cx="4032448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公司总部：杭州市滨江区阡陌路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</a:t>
              </a:r>
              <a:endParaRPr lang="en-US" altLang="zh-CN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股票代码：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002415</a:t>
              </a: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客服电话：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400-700-5998</a:t>
              </a:r>
            </a:p>
            <a:p>
              <a:pPr>
                <a:spcAft>
                  <a:spcPts val="600"/>
                </a:spcAft>
              </a:pP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www.hikvision.com</a:t>
              </a:r>
              <a:endParaRPr lang="zh-CN" altLang="en-US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0DD1F3-D5D2-04F1-F587-3D5121E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4*115"/>
  <p:tag name="TABLE_ENDDRAG_RECT" val="35*385*664*1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4*97"/>
  <p:tag name="TABLE_ENDDRAG_RECT" val="35*403*584*9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71976377952757,&quot;left&quot;:131.26622047244092,&quot;top&quot;:92.05259842519685,&quot;width&quot;:825.7899212598426}"/>
</p:tagLst>
</file>

<file path=ppt/theme/theme1.xml><?xml version="1.0" encoding="utf-8"?>
<a:theme xmlns:a="http://schemas.openxmlformats.org/drawingml/2006/main" name="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2980</Words>
  <Application>Microsoft Office PowerPoint</Application>
  <PresentationFormat>全屏显示(4:3)</PresentationFormat>
  <Paragraphs>648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黑体</vt:lpstr>
      <vt:lpstr>宋体</vt:lpstr>
      <vt:lpstr>Microsoft YaHei</vt:lpstr>
      <vt:lpstr>Microsoft YaHei</vt:lpstr>
      <vt:lpstr>Arial</vt:lpstr>
      <vt:lpstr>Calibri</vt:lpstr>
      <vt:lpstr>Times New Roman</vt:lpstr>
      <vt:lpstr>Wingdings</vt:lpstr>
      <vt:lpstr>04</vt:lpstr>
      <vt:lpstr>实习工作总结</vt:lpstr>
      <vt:lpstr>目录</vt:lpstr>
      <vt:lpstr>自我介绍</vt:lpstr>
      <vt:lpstr>目录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实习任务一：Mlu平台算子优化与vllm优化</vt:lpstr>
      <vt:lpstr>目录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PowerPoint 演示文稿</vt:lpstr>
      <vt:lpstr>实习任务二：寒武纪算子开发SKILL优化</vt:lpstr>
      <vt:lpstr>实习任务二：寒武纪算子开发SKILL优化</vt:lpstr>
      <vt:lpstr>实习任务二：寒武纪算子开发SKILL优化</vt:lpstr>
      <vt:lpstr>实习任务二：寒武纪算子开发SKILL优化</vt:lpstr>
      <vt:lpstr>目录</vt:lpstr>
      <vt:lpstr>PowerPoint 演示文稿</vt:lpstr>
      <vt:lpstr>PowerPoint 演示文稿</vt:lpstr>
      <vt:lpstr>PowerPoint 演示文稿</vt:lpstr>
      <vt:lpstr>PowerPoint 演示文稿</vt:lpstr>
      <vt:lpstr>实习期间工作总结和个人发展计划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2015年供应链任职资格宣贯</dc:title>
  <dc:creator>俞璐3</dc:creator>
  <cp:lastModifiedBy>霍子昂</cp:lastModifiedBy>
  <cp:revision>873</cp:revision>
  <dcterms:created xsi:type="dcterms:W3CDTF">2015-03-26T10:14:00Z</dcterms:created>
  <dcterms:modified xsi:type="dcterms:W3CDTF">2026-09-20T15:44:26Z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RubyTemplateID">
    <vt:lpwstr>8</vt:lpwstr>
  </property>
  <property fmtid="{D5CDD505-2E9C-101B-9397-08002B2CF9AE}" pid="4" name="ICV">
    <vt:lpwstr>187AA265A4374DD1BC55CE0BB879D649_13</vt:lpwstr>
  </property>
</Properties>
</file>
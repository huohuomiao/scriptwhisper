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91" r:id="rId2"/>
    <p:sldId id="257" r:id="rId3"/>
    <p:sldId id="273" r:id="rId4"/>
    <p:sldId id="292" r:id="rId5"/>
    <p:sldId id="276" r:id="rId6"/>
    <p:sldId id="284" r:id="rId7"/>
    <p:sldId id="261" r:id="rId8"/>
    <p:sldId id="262" r:id="rId9"/>
    <p:sldId id="280" r:id="rId10"/>
    <p:sldId id="285" r:id="rId11"/>
    <p:sldId id="289" r:id="rId12"/>
    <p:sldId id="279" r:id="rId13"/>
    <p:sldId id="277" r:id="rId14"/>
    <p:sldId id="278" r:id="rId15"/>
    <p:sldId id="268" r:id="rId16"/>
    <p:sldId id="288" r:id="rId17"/>
    <p:sldId id="267" r:id="rId18"/>
    <p:sldId id="286" r:id="rId19"/>
    <p:sldId id="290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胡 燕鹏" initials="胡" lastIdx="0" clrIdx="0"/>
  <p:cmAuthor id="2" name="李浩宇" initials="李" lastIdx="0" clrIdx="1"/>
  <p:cmAuthor id="3" name="win10" initials="w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12" autoAdjust="0"/>
  </p:normalViewPr>
  <p:slideViewPr>
    <p:cSldViewPr snapToGrid="0">
      <p:cViewPr varScale="1">
        <p:scale>
          <a:sx n="96" d="100"/>
          <a:sy n="96" d="100"/>
        </p:scale>
        <p:origin x="11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1348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dirty="0" err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负责理解和组织任务</a:t>
            </a:r>
            <a:r>
              <a:rPr lang="zh-CN" altLang="en-US" dirty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altLang="en-US" sz="1200" b="1" dirty="0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决策与执行主体</a:t>
            </a:r>
          </a:p>
          <a:p>
            <a:r>
              <a:rPr dirty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，Skill </a:t>
            </a:r>
            <a:r>
              <a:rPr dirty="0" err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提供特定任务的专业方法</a:t>
            </a:r>
            <a:endParaRPr b="0" dirty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理解真正目标，并根据当前状态决定下一步动作。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通过计划 → 执行 → 观察 → 调整循环推进复杂任务。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 </a:t>
            </a:r>
            <a:r>
              <a:rPr lang="en-US" altLang="zh-CN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</a:t>
            </a:r>
            <a:r>
              <a:rPr lang="en-US" altLang="zh-CN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，并整合中间结果。</a:t>
            </a:r>
          </a:p>
          <a:p>
            <a:endParaRPr b="0" dirty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
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面向明确任务类型：</a:t>
            </a:r>
            <a:r>
              <a:rPr lang="en-US" altLang="zh-CN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· Presentation · Review · Analysis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识别任务 → 匹配 </a:t>
            </a:r>
            <a:r>
              <a:rPr lang="en-US" altLang="zh-CN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→ 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读取当前所需说明与资源。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Instructions · References · Scripts · Assets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；不等同于单个 </a:t>
            </a:r>
            <a:r>
              <a:rPr lang="en-US" altLang="zh-CN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</a:t>
            </a:r>
            <a:r>
              <a:rPr lang="zh-CN" altLang="en-US" sz="1200" b="0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r>
              <a:rPr dirty="0"/>
              <a:t>
</a:t>
            </a:r>
            <a:r>
              <a:rPr dirty="0" err="1"/>
              <a:t>讲述顺序：先区分</a:t>
            </a:r>
            <a:r>
              <a:rPr dirty="0"/>
              <a:t> </a:t>
            </a:r>
            <a:r>
              <a:rPr dirty="0" err="1"/>
              <a:t>Agent、Skill</a:t>
            </a:r>
            <a:r>
              <a:rPr dirty="0"/>
              <a:t> 与 </a:t>
            </a:r>
            <a:r>
              <a:rPr dirty="0" err="1"/>
              <a:t>Tool，再沿底部流程强调</a:t>
            </a:r>
            <a:r>
              <a:rPr dirty="0"/>
              <a:t> Skill 由 Agent </a:t>
            </a:r>
            <a:r>
              <a:rPr dirty="0" err="1"/>
              <a:t>在任务执行中按需识别、加载和使用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 smtClean="0"/>
              <a:t>说明一个</a:t>
            </a:r>
            <a:r>
              <a:rPr dirty="0" smtClean="0"/>
              <a:t> </a:t>
            </a:r>
            <a:r>
              <a:rPr dirty="0"/>
              <a:t>Skill </a:t>
            </a:r>
            <a:r>
              <a:rPr dirty="0" err="1"/>
              <a:t>的四类核心组成，并补充阶段协作契约与复杂任务的</a:t>
            </a:r>
            <a:r>
              <a:rPr dirty="0"/>
              <a:t> Sub-Agent </a:t>
            </a:r>
            <a:r>
              <a:rPr dirty="0" err="1"/>
              <a:t>编排方式</a:t>
            </a:r>
            <a:r>
              <a:rPr dirty="0" smtClean="0"/>
              <a:t>。</a:t>
            </a:r>
            <a:r>
              <a:rPr dirty="0"/>
              <a:t>
</a:t>
            </a:r>
            <a:r>
              <a:rPr dirty="0" err="1"/>
              <a:t>讲述顺序：先解释</a:t>
            </a:r>
            <a:r>
              <a:rPr dirty="0"/>
              <a:t> </a:t>
            </a:r>
            <a:r>
              <a:rPr dirty="0" err="1"/>
              <a:t>Metadata、Instructions、References、Scripts</a:t>
            </a:r>
            <a:r>
              <a:rPr dirty="0"/>
              <a:t>/Assets </a:t>
            </a:r>
            <a:r>
              <a:rPr dirty="0" err="1"/>
              <a:t>的分工，再说明契约与可选</a:t>
            </a:r>
            <a:r>
              <a:rPr dirty="0"/>
              <a:t> Sub-Agent </a:t>
            </a:r>
            <a:r>
              <a:rPr dirty="0" err="1"/>
              <a:t>编排。强调</a:t>
            </a:r>
            <a:r>
              <a:rPr dirty="0"/>
              <a:t> Input </a:t>
            </a:r>
            <a:r>
              <a:rPr dirty="0" err="1"/>
              <a:t>可以是自然语言、文件或任务参数，不限定为</a:t>
            </a:r>
            <a:r>
              <a:rPr dirty="0"/>
              <a:t> JSON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5289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清晰的workflow</a:t>
            </a:r>
            <a:r>
              <a:rPr dirty="0"/>
              <a:t> </a:t>
            </a:r>
            <a:r>
              <a:rPr dirty="0" err="1"/>
              <a:t>稳定agent与子agent之间契约</a:t>
            </a:r>
            <a:r>
              <a:rPr dirty="0"/>
              <a:t> </a:t>
            </a:r>
            <a:r>
              <a:rPr dirty="0" err="1"/>
              <a:t>以及可以替换的平台知识</a:t>
            </a:r>
            <a:endParaRPr dirty="0"/>
          </a:p>
          <a:p>
            <a:r>
              <a:rPr dirty="0" err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复杂工程型</a:t>
            </a:r>
            <a:r>
              <a:rPr dirty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Skill </a:t>
            </a:r>
            <a:r>
              <a:rPr dirty="0" err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中，文件可以成为阶段间传递状态、参数和产物的稳定接口。清晰流程、稳定契约与可替换知识</a:t>
            </a:r>
            <a:endParaRPr lang="en-US" dirty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多阶段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强契约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强平台依赖</a:t>
            </a:r>
          </a:p>
          <a:p>
            <a:endParaRPr b="0" dirty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b="0" dirty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b="0" dirty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 smtClean="0"/>
              <a:t>展示原</a:t>
            </a:r>
            <a:r>
              <a:rPr dirty="0" smtClean="0"/>
              <a:t> </a:t>
            </a:r>
            <a:r>
              <a:rPr dirty="0"/>
              <a:t>MLU Triton </a:t>
            </a:r>
            <a:r>
              <a:rPr dirty="0" err="1"/>
              <a:t>算子开发</a:t>
            </a:r>
            <a:r>
              <a:rPr dirty="0"/>
              <a:t> Skill </a:t>
            </a:r>
            <a:r>
              <a:rPr dirty="0" err="1"/>
              <a:t>的五块架构：总体调用链，以及</a:t>
            </a:r>
            <a:r>
              <a:rPr dirty="0"/>
              <a:t> </a:t>
            </a:r>
            <a:r>
              <a:rPr dirty="0" err="1"/>
              <a:t>Main、Code-Gen、Code-Review、Optimize</a:t>
            </a:r>
            <a:r>
              <a:rPr dirty="0"/>
              <a:t> </a:t>
            </a:r>
            <a:r>
              <a:rPr dirty="0" err="1"/>
              <a:t>四个模块</a:t>
            </a:r>
            <a:r>
              <a:rPr dirty="0"/>
              <a:t>。</a:t>
            </a:r>
          </a:p>
          <a:p>
            <a:r>
              <a:rPr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通过阶段输入输出、正确性门禁与性能优化循环，将需求逐步转化为最终可用 Kernel</a:t>
            </a:r>
            <a:endParaRPr b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b="0">
              <a:solidFill>
                <a:srgbClr val="566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多阶段流水线能够支撑实际算子从需求到最终 </a:t>
            </a:r>
            <a:r>
              <a:rPr lang="en-US" altLang="zh-CN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</a:t>
            </a: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真实执行结果驱动修复，而不是只依赖静态判断。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在保证正确性的基础上持续迭代性能。</a:t>
            </a:r>
          </a:p>
          <a:p>
            <a:pPr algn="l">
              <a:lnSpc>
                <a:spcPct val="95000"/>
              </a:lnSpc>
              <a:buNone/>
              <a:defRPr sz="90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硬件约束、</a:t>
            </a:r>
            <a:r>
              <a:rPr lang="en-US" altLang="zh-CN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Primitive</a:t>
            </a: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、平台规则和优化经验散落在多个</a:t>
            </a:r>
          </a:p>
          <a:p>
            <a:pPr algn="l">
              <a:lnSpc>
                <a:spcPct val="95000"/>
              </a:lnSpc>
              <a:buNone/>
              <a:defRPr sz="90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/ Sub-Agent </a:t>
            </a: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环境、生成约束、测试工具和优化策略都需要重新检查与适配。</a:t>
            </a:r>
          </a:p>
          <a:p>
            <a:pPr algn="l">
              <a:lnSpc>
                <a:spcPct val="95000"/>
              </a:lnSpc>
              <a:buNone/>
              <a:defRPr sz="90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通用优化思想可以复用，但具体参数和性能结论必须在</a:t>
            </a:r>
          </a:p>
          <a:p>
            <a:pPr algn="l">
              <a:lnSpc>
                <a:spcPct val="95000"/>
              </a:lnSpc>
              <a:buNone/>
              <a:defRPr sz="90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 dirty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目标平台重新验证</a:t>
            </a:r>
            <a:r>
              <a:rPr lang="zh-CN" altLang="en-US" sz="1200" b="1" dirty="0" smtClean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200" b="1" dirty="0">
              <a:solidFill>
                <a:srgbClr val="27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smtClean="0"/>
              <a:t>混合重建</a:t>
            </a:r>
            <a:r>
              <a:rPr dirty="0"/>
              <a:t>。标题、副标题、页码、右侧三段问题标题与结论条、左侧综合结论、反馈规则重点结论和底部总论均可编辑；左侧闭环、三段高密度明细及反馈规则主体按语义分区裁切为独立图片模块。</a:t>
            </a:r>
          </a:p>
          <a:p>
            <a:r>
              <a:rPr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1951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smtClean="0"/>
              <a:t>混合重建</a:t>
            </a:r>
            <a:r>
              <a:rPr dirty="0"/>
              <a:t>。标题、副标题、页码、右侧三段问题标题与结论条、左侧综合结论、反馈规则重点结论和底部总论均可编辑；左侧闭环、三段高密度明细及反馈规则主体按语义分区裁切为独立图片模块。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102000"/>
              </a:lnSpc>
              <a:buNone/>
              <a:defRPr sz="8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 8 步不是流程终点</a:t>
            </a:r>
            <a:endParaRPr sz="1200" b="0">
              <a:solidFill>
                <a:srgbClr val="27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2000"/>
              </a:lnSpc>
              <a:buNone/>
              <a:defRPr sz="8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按问题回到知识采集、平台验证</a:t>
            </a:r>
            <a:endParaRPr sz="1200" b="0">
              <a:solidFill>
                <a:srgbClr val="27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2000"/>
              </a:lnSpc>
              <a:buNone/>
              <a:defRPr sz="8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 Workflow 适配阶段</a:t>
            </a:r>
            <a:endParaRPr sz="1200" b="0">
              <a:solidFill>
                <a:srgbClr val="27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8844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0079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pPr fontAlgn="auto">
              <a:defRPr/>
            </a:pPr>
            <a:fld id="{BF415795-042F-4949-9313-AD09E35C5059}" type="datetime1">
              <a:rPr lang="zh-CN" altLang="en-US" strike="noStrike" noProof="1">
                <a:latin typeface="+mn-lt"/>
                <a:ea typeface="+mn-ea"/>
                <a:cs typeface="+mn-cs"/>
              </a:rPr>
              <a:t>2026/8/18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pPr fontAlgn="auto">
              <a:defRPr/>
            </a:pPr>
            <a:fld id="{E6EDE1DC-439A-425E-8995-2DD3A7B9393D}" type="slidenum">
              <a:rPr lang="zh-CN" altLang="en-US" strike="noStrike" noProof="1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ver-title"/>
          <p:cNvSpPr>
            <a:spLocks noGrp="1"/>
          </p:cNvSpPr>
          <p:nvPr/>
        </p:nvSpPr>
        <p:spPr>
          <a:xfrm>
            <a:off x="3408680" y="1701165"/>
            <a:ext cx="704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使用、开发和经验分享</a:t>
            </a: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4295775" y="270891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Agent Skill 基础到跨平台算子开发</a:t>
            </a:r>
            <a:r>
              <a:rPr lang="zh-CN" sz="165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指南</a:t>
            </a:r>
          </a:p>
        </p:txBody>
      </p:sp>
      <p:sp>
        <p:nvSpPr>
          <p:cNvPr id="14" name="cover-bottom-rule"/>
          <p:cNvSpPr>
            <a:spLocks noGrp="1"/>
          </p:cNvSpPr>
          <p:nvPr/>
        </p:nvSpPr>
        <p:spPr>
          <a:xfrm>
            <a:off x="723900" y="5905500"/>
            <a:ext cx="10363200" cy="14288"/>
          </a:xfrm>
          <a:prstGeom prst="rect">
            <a:avLst/>
          </a:prstGeom>
          <a:solidFill>
            <a:srgbClr val="C8D9F3"/>
          </a:solidFill>
          <a:ln w="0">
            <a:noFill/>
            <a:prstDash val="solid"/>
          </a:ln>
        </p:spPr>
      </p:sp>
      <p:sp>
        <p:nvSpPr>
          <p:cNvPr id="15" name="cover-meta-left"/>
          <p:cNvSpPr>
            <a:spLocks noGrp="1"/>
          </p:cNvSpPr>
          <p:nvPr/>
        </p:nvSpPr>
        <p:spPr>
          <a:xfrm>
            <a:off x="723900" y="61055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4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sz="14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</a:t>
            </a:r>
            <a:r>
              <a:rPr lang="en-US" sz="14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r>
              <a:rPr sz="14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 </a:t>
            </a:r>
            <a:r>
              <a:rPr lang="en-US" sz="14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</a:p>
        </p:txBody>
      </p:sp>
      <p:sp>
        <p:nvSpPr>
          <p:cNvPr id="16" name="cover-meta-right"/>
          <p:cNvSpPr>
            <a:spLocks noGrp="1"/>
          </p:cNvSpPr>
          <p:nvPr/>
        </p:nvSpPr>
        <p:spPr>
          <a:xfrm>
            <a:off x="6629400" y="6105525"/>
            <a:ext cx="445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4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zh-CN" sz="1400" b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霍子昂</a:t>
            </a:r>
            <a:r>
              <a:rPr sz="1400" b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_</a:t>
            </a:r>
          </a:p>
        </p:txBody>
      </p:sp>
      <p:sp>
        <p:nvSpPr>
          <p:cNvPr id="17" name="cover-bottom-accent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72A67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586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s-title"/>
          <p:cNvSpPr>
            <a:spLocks noGrp="1"/>
          </p:cNvSpPr>
          <p:nvPr/>
        </p:nvSpPr>
        <p:spPr>
          <a:xfrm>
            <a:off x="609600" y="2476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目录</a:t>
            </a:r>
          </a:p>
        </p:txBody>
      </p:sp>
      <p:sp>
        <p:nvSpPr>
          <p:cNvPr id="2" name="contents-subtitle"/>
          <p:cNvSpPr>
            <a:spLocks noGrp="1"/>
          </p:cNvSpPr>
          <p:nvPr/>
        </p:nvSpPr>
        <p:spPr>
          <a:xfrm>
            <a:off x="609600" y="742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Contents</a:t>
            </a:r>
          </a:p>
        </p:txBody>
      </p:sp>
      <p:sp>
        <p:nvSpPr>
          <p:cNvPr id="4" name="contents-header-rule"/>
          <p:cNvSpPr>
            <a:spLocks noGrp="1"/>
          </p:cNvSpPr>
          <p:nvPr/>
        </p:nvSpPr>
        <p:spPr>
          <a:xfrm>
            <a:off x="609600" y="1104900"/>
            <a:ext cx="10972800" cy="14288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  <a:effectLst/>
        </p:spPr>
      </p:sp>
      <p:sp>
        <p:nvSpPr>
          <p:cNvPr id="5" name="contents-card-1"/>
          <p:cNvSpPr>
            <a:spLocks noGrp="1"/>
          </p:cNvSpPr>
          <p:nvPr/>
        </p:nvSpPr>
        <p:spPr>
          <a:xfrm>
            <a:off x="609600" y="1295400"/>
            <a:ext cx="10972800" cy="981075"/>
          </a:xfrm>
          <a:prstGeom prst="rect">
            <a:avLst/>
          </a:prstGeom>
          <a:solidFill>
            <a:srgbClr val="EEF2F5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6" name="contents-card-1-accent"/>
          <p:cNvSpPr>
            <a:spLocks noGrp="1"/>
          </p:cNvSpPr>
          <p:nvPr/>
        </p:nvSpPr>
        <p:spPr>
          <a:xfrm>
            <a:off x="609600" y="1295400"/>
            <a:ext cx="66675" cy="981075"/>
          </a:xfrm>
          <a:prstGeom prst="rect">
            <a:avLst/>
          </a:prstGeom>
          <a:solidFill>
            <a:srgbClr val="5B7188"/>
          </a:solidFill>
          <a:ln w="0">
            <a:noFill/>
            <a:prstDash val="solid"/>
          </a:ln>
          <a:effectLst/>
        </p:spPr>
      </p:sp>
      <p:sp>
        <p:nvSpPr>
          <p:cNvPr id="7" name="contents-card-1-part"/>
          <p:cNvSpPr>
            <a:spLocks noGrp="1"/>
          </p:cNvSpPr>
          <p:nvPr/>
        </p:nvSpPr>
        <p:spPr>
          <a:xfrm>
            <a:off x="839470" y="16287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01</a:t>
            </a:r>
          </a:p>
        </p:txBody>
      </p:sp>
      <p:sp>
        <p:nvSpPr>
          <p:cNvPr id="9" name="contents-card-1-divider"/>
          <p:cNvSpPr>
            <a:spLocks noGrp="1"/>
          </p:cNvSpPr>
          <p:nvPr/>
        </p:nvSpPr>
        <p:spPr>
          <a:xfrm>
            <a:off x="2047875" y="143827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0" name="contents-card-1-title"/>
          <p:cNvSpPr>
            <a:spLocks noGrp="1"/>
          </p:cNvSpPr>
          <p:nvPr/>
        </p:nvSpPr>
        <p:spPr>
          <a:xfrm>
            <a:off x="2286000" y="139065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Agent/</a:t>
            </a:r>
            <a:r>
              <a:rPr sz="16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基础：使用与开发</a:t>
            </a:r>
          </a:p>
        </p:txBody>
      </p:sp>
      <p:sp>
        <p:nvSpPr>
          <p:cNvPr id="13" name="contents-card-2"/>
          <p:cNvSpPr>
            <a:spLocks noGrp="1"/>
          </p:cNvSpPr>
          <p:nvPr/>
        </p:nvSpPr>
        <p:spPr>
          <a:xfrm>
            <a:off x="609600" y="2428875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14" name="contents-card-2-accent"/>
          <p:cNvSpPr>
            <a:spLocks noGrp="1"/>
          </p:cNvSpPr>
          <p:nvPr/>
        </p:nvSpPr>
        <p:spPr>
          <a:xfrm>
            <a:off x="609600" y="2428875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5" name="contents-card-2-part"/>
          <p:cNvSpPr>
            <a:spLocks noGrp="1"/>
          </p:cNvSpPr>
          <p:nvPr/>
        </p:nvSpPr>
        <p:spPr>
          <a:xfrm>
            <a:off x="838200" y="25622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02</a:t>
            </a:r>
          </a:p>
        </p:txBody>
      </p:sp>
      <p:sp>
        <p:nvSpPr>
          <p:cNvPr id="17" name="contents-card-2-divider"/>
          <p:cNvSpPr>
            <a:spLocks noGrp="1"/>
          </p:cNvSpPr>
          <p:nvPr/>
        </p:nvSpPr>
        <p:spPr>
          <a:xfrm>
            <a:off x="2047875" y="257175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8" name="contents-card-2-title"/>
          <p:cNvSpPr>
            <a:spLocks noGrp="1"/>
          </p:cNvSpPr>
          <p:nvPr/>
        </p:nvSpPr>
        <p:spPr>
          <a:xfrm>
            <a:off x="2286000" y="252412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寒武纪</a:t>
            </a: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Skill：实践与问题</a:t>
            </a:r>
          </a:p>
        </p:txBody>
      </p:sp>
      <p:sp>
        <p:nvSpPr>
          <p:cNvPr id="21" name="contents-card-3"/>
          <p:cNvSpPr>
            <a:spLocks noGrp="1"/>
          </p:cNvSpPr>
          <p:nvPr/>
        </p:nvSpPr>
        <p:spPr>
          <a:xfrm>
            <a:off x="609600" y="3562350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22" name="contents-card-3-accent"/>
          <p:cNvSpPr>
            <a:spLocks noGrp="1"/>
          </p:cNvSpPr>
          <p:nvPr/>
        </p:nvSpPr>
        <p:spPr>
          <a:xfrm>
            <a:off x="609600" y="3562350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23" name="contents-card-3-part"/>
          <p:cNvSpPr>
            <a:spLocks noGrp="1"/>
          </p:cNvSpPr>
          <p:nvPr/>
        </p:nvSpPr>
        <p:spPr>
          <a:xfrm>
            <a:off x="838200" y="36957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buClrTx/>
              <a:buSzTx/>
              <a:buFontTx/>
              <a:defRPr sz="1125" b="1">
                <a:solidFill>
                  <a:srgbClr val="168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03</a:t>
            </a:r>
          </a:p>
        </p:txBody>
      </p:sp>
      <p:sp>
        <p:nvSpPr>
          <p:cNvPr id="25" name="contents-card-3-divider"/>
          <p:cNvSpPr>
            <a:spLocks noGrp="1"/>
          </p:cNvSpPr>
          <p:nvPr/>
        </p:nvSpPr>
        <p:spPr>
          <a:xfrm>
            <a:off x="2047875" y="370522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26" name="contents-card-3-title"/>
          <p:cNvSpPr>
            <a:spLocks noGrp="1"/>
          </p:cNvSpPr>
          <p:nvPr/>
        </p:nvSpPr>
        <p:spPr>
          <a:xfrm>
            <a:off x="2286000" y="365760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 开发指南与多平台实践</a:t>
            </a:r>
          </a:p>
        </p:txBody>
      </p:sp>
      <p:sp>
        <p:nvSpPr>
          <p:cNvPr id="29" name="contents-card-4"/>
          <p:cNvSpPr>
            <a:spLocks noGrp="1"/>
          </p:cNvSpPr>
          <p:nvPr/>
        </p:nvSpPr>
        <p:spPr>
          <a:xfrm>
            <a:off x="623570" y="4652645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30" name="contents-card-4-accent"/>
          <p:cNvSpPr>
            <a:spLocks noGrp="1"/>
          </p:cNvSpPr>
          <p:nvPr/>
        </p:nvSpPr>
        <p:spPr>
          <a:xfrm>
            <a:off x="609600" y="4695825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31" name="contents-card-4-part"/>
          <p:cNvSpPr>
            <a:spLocks noGrp="1"/>
          </p:cNvSpPr>
          <p:nvPr/>
        </p:nvSpPr>
        <p:spPr>
          <a:xfrm>
            <a:off x="838200" y="48291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7B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04</a:t>
            </a:r>
          </a:p>
        </p:txBody>
      </p:sp>
      <p:sp>
        <p:nvSpPr>
          <p:cNvPr id="33" name="contents-card-4-divider"/>
          <p:cNvSpPr>
            <a:spLocks noGrp="1"/>
          </p:cNvSpPr>
          <p:nvPr/>
        </p:nvSpPr>
        <p:spPr>
          <a:xfrm>
            <a:off x="2047875" y="483870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34" name="contents-card-4-title"/>
          <p:cNvSpPr>
            <a:spLocks noGrp="1"/>
          </p:cNvSpPr>
          <p:nvPr/>
        </p:nvSpPr>
        <p:spPr>
          <a:xfrm>
            <a:off x="2286000" y="479107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未来展望</a:t>
            </a:r>
          </a:p>
        </p:txBody>
      </p:sp>
      <p:sp>
        <p:nvSpPr>
          <p:cNvPr id="38" name="contents-bottom-accent"/>
          <p:cNvSpPr>
            <a:spLocks noGrp="1"/>
          </p:cNvSpPr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294A6D"/>
          </a:solidFill>
          <a:ln w="0">
            <a:noFill/>
            <a:prstDash val="solid"/>
          </a:ln>
          <a:effectLst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3-agent-surface"/>
          <p:cNvSpPr>
            <a:spLocks noGrp="1"/>
          </p:cNvSpPr>
          <p:nvPr/>
        </p:nvSpPr>
        <p:spPr>
          <a:xfrm>
            <a:off x="6192839" y="1440378"/>
            <a:ext cx="5543550" cy="2894569"/>
          </a:xfrm>
          <a:prstGeom prst="roundRect">
            <a:avLst>
              <a:gd name="adj" fmla="val 2717"/>
            </a:avLst>
          </a:prstGeom>
          <a:noFill/>
          <a:ln w="28575">
            <a:solidFill>
              <a:srgbClr val="CAD7EB"/>
            </a:solidFill>
            <a:prstDash val="dash"/>
          </a:ln>
        </p:spPr>
      </p:sp>
      <p:sp>
        <p:nvSpPr>
          <p:cNvPr id="29" name="s3-agent-surface"/>
          <p:cNvSpPr>
            <a:spLocks noGrp="1"/>
          </p:cNvSpPr>
          <p:nvPr/>
        </p:nvSpPr>
        <p:spPr>
          <a:xfrm>
            <a:off x="481012" y="1423431"/>
            <a:ext cx="5543550" cy="2894569"/>
          </a:xfrm>
          <a:prstGeom prst="roundRect">
            <a:avLst>
              <a:gd name="adj" fmla="val 2717"/>
            </a:avLst>
          </a:prstGeom>
          <a:noFill/>
          <a:ln w="28575">
            <a:solidFill>
              <a:srgbClr val="CAD7EB"/>
            </a:solidFill>
            <a:prstDash val="dash"/>
          </a:ln>
        </p:spPr>
      </p:sp>
      <p:sp>
        <p:nvSpPr>
          <p:cNvPr id="4" name="slide-1-title"/>
          <p:cNvSpPr>
            <a:spLocks noGrp="1"/>
          </p:cNvSpPr>
          <p:nvPr/>
        </p:nvSpPr>
        <p:spPr>
          <a:xfrm>
            <a:off x="1028700" y="235129"/>
            <a:ext cx="9652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Agent </a:t>
            </a:r>
            <a:r>
              <a:rPr lang="zh-CN" alt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与 </a:t>
            </a: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6" name="s3-definition">
            <a:extLst>
              <a:ext uri="{FF2B5EF4-FFF2-40B4-BE49-F238E27FC236}">
                <a16:creationId xmlns:a16="http://schemas.microsoft.com/office/drawing/2014/main" id="{E54BDF52-368B-6A50-E254-935A4E8D6C64}"/>
              </a:ext>
            </a:extLst>
          </p:cNvPr>
          <p:cNvSpPr txBox="1"/>
          <p:nvPr/>
        </p:nvSpPr>
        <p:spPr>
          <a:xfrm>
            <a:off x="762000" y="939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决定当前需要做什么；</a:t>
            </a:r>
            <a:r>
              <a:rPr lang="en-US" altLang="zh-CN" sz="15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 </a:t>
            </a:r>
            <a:r>
              <a:rPr lang="zh-CN" altLang="en-US" sz="15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提供这类任务应该怎么做。</a:t>
            </a:r>
          </a:p>
        </p:txBody>
      </p:sp>
      <p:cxnSp>
        <p:nvCxnSpPr>
          <p:cNvPr id="7" name="s3-column-divider">
            <a:extLst>
              <a:ext uri="{FF2B5EF4-FFF2-40B4-BE49-F238E27FC236}">
                <a16:creationId xmlns:a16="http://schemas.microsoft.com/office/drawing/2014/main" id="{D1B9581D-1229-8B2C-3752-258162232F08}"/>
              </a:ext>
            </a:extLst>
          </p:cNvPr>
          <p:cNvCxnSpPr/>
          <p:nvPr/>
        </p:nvCxnSpPr>
        <p:spPr>
          <a:xfrm>
            <a:off x="6096000" y="1473200"/>
            <a:ext cx="0" cy="2565400"/>
          </a:xfrm>
          <a:prstGeom prst="line">
            <a:avLst/>
          </a:prstGeom>
          <a:ln w="1270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3-agent-heading">
            <a:extLst>
              <a:ext uri="{FF2B5EF4-FFF2-40B4-BE49-F238E27FC236}">
                <a16:creationId xmlns:a16="http://schemas.microsoft.com/office/drawing/2014/main" id="{580CC07D-8A4F-85CF-61CA-231DEB7B3E3D}"/>
              </a:ext>
            </a:extLst>
          </p:cNvPr>
          <p:cNvSpPr txBox="1"/>
          <p:nvPr/>
        </p:nvSpPr>
        <p:spPr>
          <a:xfrm>
            <a:off x="914400" y="1473200"/>
            <a:ext cx="4064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AGENT</a:t>
            </a:r>
            <a:endParaRPr lang="zh-CN" altLang="en-US" sz="220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s3-agent-definition">
            <a:extLst>
              <a:ext uri="{FF2B5EF4-FFF2-40B4-BE49-F238E27FC236}">
                <a16:creationId xmlns:a16="http://schemas.microsoft.com/office/drawing/2014/main" id="{409B72D7-8088-38C9-84A6-DFB1DD3B3CB8}"/>
              </a:ext>
            </a:extLst>
          </p:cNvPr>
          <p:cNvSpPr txBox="1"/>
          <p:nvPr/>
        </p:nvSpPr>
        <p:spPr>
          <a:xfrm>
            <a:off x="914400" y="19177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围绕目标进行判断、执行与调整</a:t>
            </a:r>
          </a:p>
        </p:txBody>
      </p:sp>
      <p:sp>
        <p:nvSpPr>
          <p:cNvPr id="32" name="s3-agent-bullets">
            <a:extLst>
              <a:ext uri="{FF2B5EF4-FFF2-40B4-BE49-F238E27FC236}">
                <a16:creationId xmlns:a16="http://schemas.microsoft.com/office/drawing/2014/main" id="{2C86A1D6-D661-55AB-BADD-1721BCC778FC}"/>
              </a:ext>
            </a:extLst>
          </p:cNvPr>
          <p:cNvSpPr txBox="1"/>
          <p:nvPr/>
        </p:nvSpPr>
        <p:spPr>
          <a:xfrm>
            <a:off x="914400" y="2413000"/>
            <a:ext cx="419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理解目标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规划与决策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调度能力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整合结果</a:t>
            </a:r>
          </a:p>
        </p:txBody>
      </p:sp>
      <p:sp>
        <p:nvSpPr>
          <p:cNvPr id="37" name="s3-skill-heading">
            <a:extLst>
              <a:ext uri="{FF2B5EF4-FFF2-40B4-BE49-F238E27FC236}">
                <a16:creationId xmlns:a16="http://schemas.microsoft.com/office/drawing/2014/main" id="{80407789-4837-F0E0-64CF-7D4F4ADCC732}"/>
              </a:ext>
            </a:extLst>
          </p:cNvPr>
          <p:cNvSpPr txBox="1"/>
          <p:nvPr/>
        </p:nvSpPr>
        <p:spPr>
          <a:xfrm>
            <a:off x="6807200" y="1473200"/>
            <a:ext cx="4064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</a:t>
            </a:r>
            <a:endParaRPr lang="zh-CN" altLang="en-US" sz="2200" b="1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5" name="s3-skill-definition">
            <a:extLst>
              <a:ext uri="{FF2B5EF4-FFF2-40B4-BE49-F238E27FC236}">
                <a16:creationId xmlns:a16="http://schemas.microsoft.com/office/drawing/2014/main" id="{24F83402-0258-67CC-5267-C6F20097C18A}"/>
              </a:ext>
            </a:extLst>
          </p:cNvPr>
          <p:cNvSpPr txBox="1"/>
          <p:nvPr/>
        </p:nvSpPr>
        <p:spPr>
          <a:xfrm>
            <a:off x="6807200" y="19177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封装特定任务的方法、知识、脚本与资源</a:t>
            </a:r>
          </a:p>
        </p:txBody>
      </p:sp>
      <p:sp>
        <p:nvSpPr>
          <p:cNvPr id="57" name="s3-skill-bullets">
            <a:extLst>
              <a:ext uri="{FF2B5EF4-FFF2-40B4-BE49-F238E27FC236}">
                <a16:creationId xmlns:a16="http://schemas.microsoft.com/office/drawing/2014/main" id="{EF610075-16F7-19C0-2CB9-15A22D29E36B}"/>
              </a:ext>
            </a:extLst>
          </p:cNvPr>
          <p:cNvSpPr txBox="1"/>
          <p:nvPr/>
        </p:nvSpPr>
        <p:spPr>
          <a:xfrm>
            <a:off x="6807200" y="2413000"/>
            <a:ext cx="419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聚焦特定任务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封装 </a:t>
            </a: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Workflow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封装 </a:t>
            </a: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Knowledge / Tools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按需加载</a:t>
            </a:r>
          </a:p>
        </p:txBody>
      </p:sp>
      <p:sp>
        <p:nvSpPr>
          <p:cNvPr id="58" name="s3-flow-heading">
            <a:extLst>
              <a:ext uri="{FF2B5EF4-FFF2-40B4-BE49-F238E27FC236}">
                <a16:creationId xmlns:a16="http://schemas.microsoft.com/office/drawing/2014/main" id="{0209B451-E6E6-C9E2-AFF7-B27D976587D3}"/>
              </a:ext>
            </a:extLst>
          </p:cNvPr>
          <p:cNvSpPr txBox="1"/>
          <p:nvPr/>
        </p:nvSpPr>
        <p:spPr>
          <a:xfrm>
            <a:off x="762000" y="44323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调用流程</a:t>
            </a:r>
          </a:p>
        </p:txBody>
      </p:sp>
      <p:cxnSp>
        <p:nvCxnSpPr>
          <p:cNvPr id="59" name="s3-flow-line">
            <a:extLst>
              <a:ext uri="{FF2B5EF4-FFF2-40B4-BE49-F238E27FC236}">
                <a16:creationId xmlns:a16="http://schemas.microsoft.com/office/drawing/2014/main" id="{03934A3C-079A-42E5-A0CB-CF63685C2C67}"/>
              </a:ext>
            </a:extLst>
          </p:cNvPr>
          <p:cNvCxnSpPr/>
          <p:nvPr/>
        </p:nvCxnSpPr>
        <p:spPr>
          <a:xfrm>
            <a:off x="939800" y="5194300"/>
            <a:ext cx="103124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3-flow-dot-1">
            <a:extLst>
              <a:ext uri="{FF2B5EF4-FFF2-40B4-BE49-F238E27FC236}">
                <a16:creationId xmlns:a16="http://schemas.microsoft.com/office/drawing/2014/main" id="{99A9DF20-DFD7-CF26-D16C-7FADD1385F31}"/>
              </a:ext>
            </a:extLst>
          </p:cNvPr>
          <p:cNvSpPr/>
          <p:nvPr/>
        </p:nvSpPr>
        <p:spPr>
          <a:xfrm>
            <a:off x="901700" y="5156200"/>
            <a:ext cx="76200" cy="76200"/>
          </a:xfrm>
          <a:prstGeom prst="ellipse">
            <a:avLst/>
          </a:prstGeom>
          <a:solidFill>
            <a:srgbClr val="294A6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3-flow-label-1">
            <a:extLst>
              <a:ext uri="{FF2B5EF4-FFF2-40B4-BE49-F238E27FC236}">
                <a16:creationId xmlns:a16="http://schemas.microsoft.com/office/drawing/2014/main" id="{C70EE1FD-A3CE-BE4E-BAC0-85DDFF4A20E6}"/>
              </a:ext>
            </a:extLst>
          </p:cNvPr>
          <p:cNvSpPr txBox="1"/>
          <p:nvPr/>
        </p:nvSpPr>
        <p:spPr>
          <a:xfrm>
            <a:off x="266700" y="5346700"/>
            <a:ext cx="134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用户任务</a:t>
            </a:r>
          </a:p>
        </p:txBody>
      </p:sp>
      <p:sp>
        <p:nvSpPr>
          <p:cNvPr id="62" name="s3-flow-dot-2">
            <a:extLst>
              <a:ext uri="{FF2B5EF4-FFF2-40B4-BE49-F238E27FC236}">
                <a16:creationId xmlns:a16="http://schemas.microsoft.com/office/drawing/2014/main" id="{B2AB375A-EE4F-90F4-FF8A-DF68FD11C1F9}"/>
              </a:ext>
            </a:extLst>
          </p:cNvPr>
          <p:cNvSpPr/>
          <p:nvPr/>
        </p:nvSpPr>
        <p:spPr>
          <a:xfrm>
            <a:off x="2616200" y="5156200"/>
            <a:ext cx="76200" cy="76200"/>
          </a:xfrm>
          <a:prstGeom prst="ellipse">
            <a:avLst/>
          </a:prstGeom>
          <a:solidFill>
            <a:srgbClr val="294A6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s3-flow-label-2">
            <a:extLst>
              <a:ext uri="{FF2B5EF4-FFF2-40B4-BE49-F238E27FC236}">
                <a16:creationId xmlns:a16="http://schemas.microsoft.com/office/drawing/2014/main" id="{00B43D5B-1CEC-185E-A175-7591607B8C49}"/>
              </a:ext>
            </a:extLst>
          </p:cNvPr>
          <p:cNvSpPr txBox="1"/>
          <p:nvPr/>
        </p:nvSpPr>
        <p:spPr>
          <a:xfrm>
            <a:off x="1981200" y="5346700"/>
            <a:ext cx="1346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Agent</a:t>
            </a:r>
          </a:p>
          <a:p>
            <a:pPr algn="ctr"/>
            <a:r>
              <a:rPr lang="zh-CN" altLang="en-US" sz="12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理解目标</a:t>
            </a:r>
          </a:p>
        </p:txBody>
      </p:sp>
      <p:sp>
        <p:nvSpPr>
          <p:cNvPr id="64" name="s3-flow-dot-3">
            <a:extLst>
              <a:ext uri="{FF2B5EF4-FFF2-40B4-BE49-F238E27FC236}">
                <a16:creationId xmlns:a16="http://schemas.microsoft.com/office/drawing/2014/main" id="{75645599-5B17-F080-5991-A6788949F5B6}"/>
              </a:ext>
            </a:extLst>
          </p:cNvPr>
          <p:cNvSpPr/>
          <p:nvPr/>
        </p:nvSpPr>
        <p:spPr>
          <a:xfrm>
            <a:off x="4330700" y="5156200"/>
            <a:ext cx="76200" cy="76200"/>
          </a:xfrm>
          <a:prstGeom prst="ellipse">
            <a:avLst/>
          </a:prstGeom>
          <a:solidFill>
            <a:srgbClr val="294A6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3-flow-label-3">
            <a:extLst>
              <a:ext uri="{FF2B5EF4-FFF2-40B4-BE49-F238E27FC236}">
                <a16:creationId xmlns:a16="http://schemas.microsoft.com/office/drawing/2014/main" id="{ED9EF801-B3B0-E998-C3F0-9C5AAFDCDD76}"/>
              </a:ext>
            </a:extLst>
          </p:cNvPr>
          <p:cNvSpPr txBox="1"/>
          <p:nvPr/>
        </p:nvSpPr>
        <p:spPr>
          <a:xfrm>
            <a:off x="3695700" y="5346700"/>
            <a:ext cx="1346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判断</a:t>
            </a:r>
          </a:p>
          <a:p>
            <a:pPr algn="ctr"/>
            <a:r>
              <a:rPr lang="zh-CN" altLang="en-US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所需能力</a:t>
            </a:r>
          </a:p>
        </p:txBody>
      </p:sp>
      <p:sp>
        <p:nvSpPr>
          <p:cNvPr id="66" name="s3-flow-dot-4">
            <a:extLst>
              <a:ext uri="{FF2B5EF4-FFF2-40B4-BE49-F238E27FC236}">
                <a16:creationId xmlns:a16="http://schemas.microsoft.com/office/drawing/2014/main" id="{E54FED57-62F7-9E22-698D-A57B30F0CBFF}"/>
              </a:ext>
            </a:extLst>
          </p:cNvPr>
          <p:cNvSpPr/>
          <p:nvPr/>
        </p:nvSpPr>
        <p:spPr>
          <a:xfrm>
            <a:off x="6045200" y="5156200"/>
            <a:ext cx="76200" cy="76200"/>
          </a:xfrm>
          <a:prstGeom prst="ellipse">
            <a:avLst/>
          </a:prstGeom>
          <a:solidFill>
            <a:srgbClr val="4F8A8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s3-flow-label-4">
            <a:extLst>
              <a:ext uri="{FF2B5EF4-FFF2-40B4-BE49-F238E27FC236}">
                <a16:creationId xmlns:a16="http://schemas.microsoft.com/office/drawing/2014/main" id="{0367F6EF-865D-0976-788C-7AFDC655F1B3}"/>
              </a:ext>
            </a:extLst>
          </p:cNvPr>
          <p:cNvSpPr txBox="1"/>
          <p:nvPr/>
        </p:nvSpPr>
        <p:spPr>
          <a:xfrm>
            <a:off x="5410200" y="5346700"/>
            <a:ext cx="134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加载 </a:t>
            </a:r>
            <a:r>
              <a:rPr lang="en-US" altLang="zh-CN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</a:t>
            </a:r>
            <a:endParaRPr lang="zh-CN" altLang="en-US" sz="125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8" name="s3-flow-dot-5">
            <a:extLst>
              <a:ext uri="{FF2B5EF4-FFF2-40B4-BE49-F238E27FC236}">
                <a16:creationId xmlns:a16="http://schemas.microsoft.com/office/drawing/2014/main" id="{CA670B38-E184-C8D7-F1F1-3191CF8E11E2}"/>
              </a:ext>
            </a:extLst>
          </p:cNvPr>
          <p:cNvSpPr/>
          <p:nvPr/>
        </p:nvSpPr>
        <p:spPr>
          <a:xfrm>
            <a:off x="7759700" y="5156200"/>
            <a:ext cx="76200" cy="76200"/>
          </a:xfrm>
          <a:prstGeom prst="ellipse">
            <a:avLst/>
          </a:prstGeom>
          <a:solidFill>
            <a:srgbClr val="4F8A8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3-flow-label-5">
            <a:extLst>
              <a:ext uri="{FF2B5EF4-FFF2-40B4-BE49-F238E27FC236}">
                <a16:creationId xmlns:a16="http://schemas.microsoft.com/office/drawing/2014/main" id="{CD97E7A6-7B68-7103-71DD-4F2743C272FF}"/>
              </a:ext>
            </a:extLst>
          </p:cNvPr>
          <p:cNvSpPr txBox="1"/>
          <p:nvPr/>
        </p:nvSpPr>
        <p:spPr>
          <a:xfrm>
            <a:off x="7124700" y="5346700"/>
            <a:ext cx="13462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按 </a:t>
            </a:r>
            <a:r>
              <a:rPr lang="en-US" altLang="zh-CN" sz="12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Workflow</a:t>
            </a:r>
          </a:p>
          <a:p>
            <a:pPr algn="ctr"/>
            <a:r>
              <a:rPr lang="zh-CN" altLang="en-US" sz="12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执行</a:t>
            </a:r>
          </a:p>
        </p:txBody>
      </p:sp>
      <p:sp>
        <p:nvSpPr>
          <p:cNvPr id="70" name="s3-flow-dot-6">
            <a:extLst>
              <a:ext uri="{FF2B5EF4-FFF2-40B4-BE49-F238E27FC236}">
                <a16:creationId xmlns:a16="http://schemas.microsoft.com/office/drawing/2014/main" id="{ADD22976-6C3C-C3A9-E968-2723D259D963}"/>
              </a:ext>
            </a:extLst>
          </p:cNvPr>
          <p:cNvSpPr/>
          <p:nvPr/>
        </p:nvSpPr>
        <p:spPr>
          <a:xfrm>
            <a:off x="9474200" y="5156200"/>
            <a:ext cx="76200" cy="76200"/>
          </a:xfrm>
          <a:prstGeom prst="ellipse">
            <a:avLst/>
          </a:prstGeom>
          <a:solidFill>
            <a:srgbClr val="4F8A8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3-flow-label-6">
            <a:extLst>
              <a:ext uri="{FF2B5EF4-FFF2-40B4-BE49-F238E27FC236}">
                <a16:creationId xmlns:a16="http://schemas.microsoft.com/office/drawing/2014/main" id="{6405D34E-AF43-854F-A252-1B7E3F885A8C}"/>
              </a:ext>
            </a:extLst>
          </p:cNvPr>
          <p:cNvSpPr txBox="1"/>
          <p:nvPr/>
        </p:nvSpPr>
        <p:spPr>
          <a:xfrm>
            <a:off x="8839200" y="5346700"/>
            <a:ext cx="134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观察结果</a:t>
            </a:r>
          </a:p>
        </p:txBody>
      </p:sp>
      <p:sp>
        <p:nvSpPr>
          <p:cNvPr id="72" name="s3-flow-dot-7">
            <a:extLst>
              <a:ext uri="{FF2B5EF4-FFF2-40B4-BE49-F238E27FC236}">
                <a16:creationId xmlns:a16="http://schemas.microsoft.com/office/drawing/2014/main" id="{521F33EB-54D3-0304-45A8-339860149CBE}"/>
              </a:ext>
            </a:extLst>
          </p:cNvPr>
          <p:cNvSpPr/>
          <p:nvPr/>
        </p:nvSpPr>
        <p:spPr>
          <a:xfrm>
            <a:off x="11188700" y="5156200"/>
            <a:ext cx="76200" cy="76200"/>
          </a:xfrm>
          <a:prstGeom prst="ellipse">
            <a:avLst/>
          </a:prstGeom>
          <a:solidFill>
            <a:srgbClr val="4F8A8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s3-flow-label-7">
            <a:extLst>
              <a:ext uri="{FF2B5EF4-FFF2-40B4-BE49-F238E27FC236}">
                <a16:creationId xmlns:a16="http://schemas.microsoft.com/office/drawing/2014/main" id="{E194AFC8-EBE6-447F-4730-FBCE642FF47F}"/>
              </a:ext>
            </a:extLst>
          </p:cNvPr>
          <p:cNvSpPr txBox="1"/>
          <p:nvPr/>
        </p:nvSpPr>
        <p:spPr>
          <a:xfrm>
            <a:off x="10553700" y="5346700"/>
            <a:ext cx="134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输出 </a:t>
            </a:r>
            <a:r>
              <a:rPr lang="en-US" altLang="zh-CN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继续</a:t>
            </a:r>
          </a:p>
        </p:txBody>
      </p:sp>
      <p:sp>
        <p:nvSpPr>
          <p:cNvPr id="31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34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1.1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4-instructions-surface"/>
          <p:cNvSpPr>
            <a:spLocks noGrp="1"/>
          </p:cNvSpPr>
          <p:nvPr/>
        </p:nvSpPr>
        <p:spPr>
          <a:xfrm>
            <a:off x="228600" y="1361861"/>
            <a:ext cx="2752725" cy="2028825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28575">
            <a:solidFill>
              <a:srgbClr val="D6DEE6"/>
            </a:solidFill>
            <a:prstDash val="dash"/>
          </a:ln>
        </p:spPr>
      </p:sp>
      <p:sp>
        <p:nvSpPr>
          <p:cNvPr id="81" name="s4-instructions-surface"/>
          <p:cNvSpPr>
            <a:spLocks noGrp="1"/>
          </p:cNvSpPr>
          <p:nvPr/>
        </p:nvSpPr>
        <p:spPr>
          <a:xfrm>
            <a:off x="6057900" y="1381526"/>
            <a:ext cx="2752725" cy="2028825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28575">
            <a:solidFill>
              <a:srgbClr val="D6DEE6"/>
            </a:solidFill>
            <a:prstDash val="dash"/>
          </a:ln>
        </p:spPr>
      </p:sp>
      <p:sp>
        <p:nvSpPr>
          <p:cNvPr id="82" name="s4-instructions-surface"/>
          <p:cNvSpPr>
            <a:spLocks noGrp="1"/>
          </p:cNvSpPr>
          <p:nvPr/>
        </p:nvSpPr>
        <p:spPr>
          <a:xfrm>
            <a:off x="9039225" y="1381125"/>
            <a:ext cx="2752725" cy="2028825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28575">
            <a:solidFill>
              <a:srgbClr val="D6DEE6"/>
            </a:solidFill>
            <a:prstDash val="dash"/>
          </a:ln>
        </p:spPr>
      </p:sp>
      <p:sp>
        <p:nvSpPr>
          <p:cNvPr id="14" name="slide-2-editable-footer"/>
          <p:cNvSpPr>
            <a:spLocks noGrp="1"/>
          </p:cNvSpPr>
          <p:nvPr/>
        </p:nvSpPr>
        <p:spPr>
          <a:xfrm>
            <a:off x="238125" y="6457950"/>
            <a:ext cx="11696700" cy="342900"/>
          </a:xfrm>
          <a:prstGeom prst="roundRect">
            <a:avLst>
              <a:gd name="adj" fmla="val 19444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 wrap="square" lIns="114300" tIns="28575" rIns="114300" bIns="28575" anchor="ctr">
            <a:normAutofit/>
          </a:bodyPr>
          <a:lstStyle/>
          <a:p>
            <a:pPr algn="ctr">
              <a:buNone/>
              <a:defRPr sz="13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开发 Skill 需定义结构、契约与拆分；结构清楚只是第一步，下一步是稳定、易维护、易协作。</a:t>
            </a:r>
            <a:endParaRPr sz="1090" b="1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7" name="s4-metadata-number"/>
          <p:cNvSpPr>
            <a:spLocks noGrp="1"/>
          </p:cNvSpPr>
          <p:nvPr/>
        </p:nvSpPr>
        <p:spPr>
          <a:xfrm>
            <a:off x="381000" y="1476375"/>
            <a:ext cx="342900" cy="295275"/>
          </a:xfrm>
          <a:prstGeom prst="roundRect">
            <a:avLst>
              <a:gd name="adj" fmla="val 19355"/>
            </a:avLst>
          </a:prstGeom>
          <a:solidFill>
            <a:srgbClr val="294A6D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 fontScale="925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01</a:t>
            </a:r>
          </a:p>
        </p:txBody>
      </p:sp>
      <p:sp>
        <p:nvSpPr>
          <p:cNvPr id="19" name="s4-metadata-question"/>
          <p:cNvSpPr>
            <a:spLocks noGrp="1"/>
          </p:cNvSpPr>
          <p:nvPr/>
        </p:nvSpPr>
        <p:spPr>
          <a:xfrm>
            <a:off x="400050" y="1538701"/>
            <a:ext cx="24479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0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dirty="0" err="1" smtClean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是什么</a:t>
            </a:r>
            <a:r>
              <a:rPr sz="1400" b="1" dirty="0" err="1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？何时使用</a:t>
            </a:r>
            <a:r>
              <a:rPr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？</a:t>
            </a:r>
          </a:p>
        </p:txBody>
      </p:sp>
      <p:sp>
        <p:nvSpPr>
          <p:cNvPr id="20" name="s4-metadata-keyword-1"/>
          <p:cNvSpPr>
            <a:spLocks noGrp="1"/>
          </p:cNvSpPr>
          <p:nvPr/>
        </p:nvSpPr>
        <p:spPr>
          <a:xfrm>
            <a:off x="419100" y="2076450"/>
            <a:ext cx="2409825" cy="190500"/>
          </a:xfrm>
          <a:prstGeom prst="roundRect">
            <a:avLst>
              <a:gd name="adj" fmla="val 35000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</a:p>
        </p:txBody>
      </p:sp>
      <p:sp>
        <p:nvSpPr>
          <p:cNvPr id="21" name="s4-metadata-keyword-2"/>
          <p:cNvSpPr>
            <a:spLocks noGrp="1"/>
          </p:cNvSpPr>
          <p:nvPr/>
        </p:nvSpPr>
        <p:spPr>
          <a:xfrm>
            <a:off x="419100" y="2314575"/>
            <a:ext cx="2409825" cy="1905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Description</a:t>
            </a:r>
          </a:p>
        </p:txBody>
      </p:sp>
      <p:sp>
        <p:nvSpPr>
          <p:cNvPr id="22" name="s4-metadata-keyword-3"/>
          <p:cNvSpPr>
            <a:spLocks noGrp="1"/>
          </p:cNvSpPr>
          <p:nvPr/>
        </p:nvSpPr>
        <p:spPr>
          <a:xfrm>
            <a:off x="419100" y="2552700"/>
            <a:ext cx="2409825" cy="190500"/>
          </a:xfrm>
          <a:prstGeom prst="roundRect">
            <a:avLst>
              <a:gd name="adj" fmla="val 35000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Scope / Trigger</a:t>
            </a:r>
          </a:p>
        </p:txBody>
      </p:sp>
      <p:sp>
        <p:nvSpPr>
          <p:cNvPr id="23" name="s4-metadata-divider"/>
          <p:cNvSpPr>
            <a:spLocks noGrp="1"/>
          </p:cNvSpPr>
          <p:nvPr/>
        </p:nvSpPr>
        <p:spPr>
          <a:xfrm>
            <a:off x="381000" y="3048000"/>
            <a:ext cx="2486025" cy="9525"/>
          </a:xfrm>
          <a:prstGeom prst="rect">
            <a:avLst/>
          </a:prstGeom>
          <a:solidFill>
            <a:srgbClr val="D6DEE6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24" name="s4-metadata-summary"/>
          <p:cNvSpPr>
            <a:spLocks noGrp="1"/>
          </p:cNvSpPr>
          <p:nvPr/>
        </p:nvSpPr>
        <p:spPr>
          <a:xfrm>
            <a:off x="419100" y="3086100"/>
            <a:ext cx="24098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40" b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定义 Skill 身份、适用任务与触发边界。</a:t>
            </a:r>
          </a:p>
        </p:txBody>
      </p:sp>
      <p:sp>
        <p:nvSpPr>
          <p:cNvPr id="25" name="s4-instructions-surface"/>
          <p:cNvSpPr>
            <a:spLocks noGrp="1"/>
          </p:cNvSpPr>
          <p:nvPr/>
        </p:nvSpPr>
        <p:spPr>
          <a:xfrm>
            <a:off x="3133725" y="1371600"/>
            <a:ext cx="2752725" cy="2028825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28575">
            <a:solidFill>
              <a:srgbClr val="D6DEE6"/>
            </a:solidFill>
            <a:prstDash val="dash"/>
          </a:ln>
        </p:spPr>
      </p:sp>
      <p:sp>
        <p:nvSpPr>
          <p:cNvPr id="26" name="s4-instructions-number"/>
          <p:cNvSpPr>
            <a:spLocks noGrp="1"/>
          </p:cNvSpPr>
          <p:nvPr/>
        </p:nvSpPr>
        <p:spPr>
          <a:xfrm>
            <a:off x="3267075" y="1476375"/>
            <a:ext cx="342900" cy="295275"/>
          </a:xfrm>
          <a:prstGeom prst="roundRect">
            <a:avLst>
              <a:gd name="adj" fmla="val 19355"/>
            </a:avLst>
          </a:prstGeom>
          <a:solidFill>
            <a:srgbClr val="294A6D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 fontScale="925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2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02</a:t>
            </a:r>
          </a:p>
        </p:txBody>
      </p:sp>
      <p:sp>
        <p:nvSpPr>
          <p:cNvPr id="27" name="s4-instructions-title"/>
          <p:cNvSpPr>
            <a:spLocks noGrp="1"/>
          </p:cNvSpPr>
          <p:nvPr/>
        </p:nvSpPr>
        <p:spPr>
          <a:xfrm>
            <a:off x="3714750" y="1476375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20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zh-CN" altLang="en-US"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任务具体怎么做？</a:t>
            </a:r>
          </a:p>
        </p:txBody>
      </p:sp>
      <p:sp>
        <p:nvSpPr>
          <p:cNvPr id="28" name="s4-instructions-question"/>
          <p:cNvSpPr>
            <a:spLocks noGrp="1"/>
          </p:cNvSpPr>
          <p:nvPr/>
        </p:nvSpPr>
        <p:spPr>
          <a:xfrm>
            <a:off x="3286125" y="1800225"/>
            <a:ext cx="24479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00" b="1">
                <a:solidFill>
                  <a:srgbClr val="1359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00" b="1" dirty="0">
              <a:solidFill>
                <a:srgbClr val="1359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9" name="s4-instructions-keyword-1"/>
          <p:cNvSpPr>
            <a:spLocks noGrp="1"/>
          </p:cNvSpPr>
          <p:nvPr/>
        </p:nvSpPr>
        <p:spPr>
          <a:xfrm>
            <a:off x="3305175" y="2215598"/>
            <a:ext cx="2409825" cy="190500"/>
          </a:xfrm>
          <a:prstGeom prst="roundRect">
            <a:avLst>
              <a:gd name="adj" fmla="val 35000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>
              <a:defRPr sz="865" b="1">
                <a:solidFill>
                  <a:srgbClr val="1359B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65" b="1" dirty="0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Workflow / Rules</a:t>
            </a:r>
          </a:p>
        </p:txBody>
      </p:sp>
      <p:sp>
        <p:nvSpPr>
          <p:cNvPr id="30" name="s4-instructions-keyword-2"/>
          <p:cNvSpPr>
            <a:spLocks noGrp="1"/>
          </p:cNvSpPr>
          <p:nvPr/>
        </p:nvSpPr>
        <p:spPr>
          <a:xfrm>
            <a:off x="3296478" y="2512943"/>
            <a:ext cx="2409825" cy="1905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>
              <a:defRPr sz="865" b="1">
                <a:solidFill>
                  <a:srgbClr val="1359B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Constraints</a:t>
            </a:r>
          </a:p>
        </p:txBody>
      </p:sp>
      <p:sp>
        <p:nvSpPr>
          <p:cNvPr id="32" name="s4-instructions-divider"/>
          <p:cNvSpPr>
            <a:spLocks noGrp="1"/>
          </p:cNvSpPr>
          <p:nvPr/>
        </p:nvSpPr>
        <p:spPr>
          <a:xfrm>
            <a:off x="3267075" y="3048000"/>
            <a:ext cx="2486025" cy="9525"/>
          </a:xfrm>
          <a:prstGeom prst="rect">
            <a:avLst/>
          </a:prstGeom>
          <a:solidFill>
            <a:srgbClr val="D6DEE6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33" name="s4-instructions-summary"/>
          <p:cNvSpPr>
            <a:spLocks noGrp="1"/>
          </p:cNvSpPr>
          <p:nvPr/>
        </p:nvSpPr>
        <p:spPr>
          <a:xfrm>
            <a:off x="3305175" y="3086100"/>
            <a:ext cx="24098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40" b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 dirty="0" err="1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定义工作步骤、判断逻辑与最终产出</a:t>
            </a:r>
            <a:r>
              <a:rPr sz="940" b="1" dirty="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35" name="s4-references-number"/>
          <p:cNvSpPr>
            <a:spLocks noGrp="1"/>
          </p:cNvSpPr>
          <p:nvPr/>
        </p:nvSpPr>
        <p:spPr>
          <a:xfrm>
            <a:off x="6153150" y="1476375"/>
            <a:ext cx="342900" cy="295275"/>
          </a:xfrm>
          <a:prstGeom prst="roundRect">
            <a:avLst>
              <a:gd name="adj" fmla="val 19355"/>
            </a:avLst>
          </a:prstGeom>
          <a:solidFill>
            <a:srgbClr val="294A6D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 fontScale="92500"/>
          </a:bodyPr>
          <a:lstStyle/>
          <a:p>
            <a:pPr algn="ctr"/>
            <a:r>
              <a:rPr sz="12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03</a:t>
            </a:r>
          </a:p>
        </p:txBody>
      </p:sp>
      <p:sp>
        <p:nvSpPr>
          <p:cNvPr id="36" name="s4-references-title"/>
          <p:cNvSpPr>
            <a:spLocks noGrp="1"/>
          </p:cNvSpPr>
          <p:nvPr/>
        </p:nvSpPr>
        <p:spPr>
          <a:xfrm>
            <a:off x="6600825" y="1447800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35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zh-CN" altLang="en-US"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需要知道什么？</a:t>
            </a:r>
          </a:p>
        </p:txBody>
      </p:sp>
      <p:sp>
        <p:nvSpPr>
          <p:cNvPr id="37" name="s4-references-question"/>
          <p:cNvSpPr>
            <a:spLocks noGrp="1"/>
          </p:cNvSpPr>
          <p:nvPr/>
        </p:nvSpPr>
        <p:spPr>
          <a:xfrm>
            <a:off x="6172200" y="1800225"/>
            <a:ext cx="24479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00" b="1">
                <a:solidFill>
                  <a:srgbClr val="6E5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00" b="1" dirty="0">
              <a:solidFill>
                <a:srgbClr val="6E54C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8" name="s4-references-keyword-1"/>
          <p:cNvSpPr>
            <a:spLocks noGrp="1"/>
          </p:cNvSpPr>
          <p:nvPr/>
        </p:nvSpPr>
        <p:spPr>
          <a:xfrm>
            <a:off x="6191250" y="2225123"/>
            <a:ext cx="2409825" cy="190500"/>
          </a:xfrm>
          <a:prstGeom prst="roundRect">
            <a:avLst>
              <a:gd name="adj" fmla="val 35000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/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Domain Knowledge</a:t>
            </a:r>
          </a:p>
        </p:txBody>
      </p:sp>
      <p:sp>
        <p:nvSpPr>
          <p:cNvPr id="39" name="s4-references-keyword-2"/>
          <p:cNvSpPr>
            <a:spLocks noGrp="1"/>
          </p:cNvSpPr>
          <p:nvPr/>
        </p:nvSpPr>
        <p:spPr>
          <a:xfrm>
            <a:off x="6193528" y="2512943"/>
            <a:ext cx="2409825" cy="190500"/>
          </a:xfrm>
          <a:prstGeom prst="roundRect">
            <a:avLst>
              <a:gd name="adj" fmla="val 35000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/>
            <a:r>
              <a:rPr sz="865" b="1" dirty="0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Guidelines / Examples</a:t>
            </a:r>
          </a:p>
        </p:txBody>
      </p:sp>
      <p:sp>
        <p:nvSpPr>
          <p:cNvPr id="41" name="s4-references-divider"/>
          <p:cNvSpPr>
            <a:spLocks noGrp="1"/>
          </p:cNvSpPr>
          <p:nvPr/>
        </p:nvSpPr>
        <p:spPr>
          <a:xfrm>
            <a:off x="6153150" y="3048000"/>
            <a:ext cx="2486025" cy="9525"/>
          </a:xfrm>
          <a:prstGeom prst="rect">
            <a:avLst/>
          </a:prstGeom>
          <a:solidFill>
            <a:srgbClr val="D6DEE6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42" name="s4-references-summary"/>
          <p:cNvSpPr>
            <a:spLocks noGrp="1"/>
          </p:cNvSpPr>
          <p:nvPr/>
        </p:nvSpPr>
        <p:spPr>
          <a:xfrm>
            <a:off x="6191250" y="3086100"/>
            <a:ext cx="24098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40" b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940" b="1" dirty="0" smtClean="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Skill</a:t>
            </a:r>
            <a:r>
              <a:rPr lang="zh-CN" altLang="en-US" sz="940" b="1" dirty="0" smtClean="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可以调用的一些工具和函数</a:t>
            </a:r>
            <a:r>
              <a:rPr sz="940" b="1" dirty="0" smtClean="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。</a:t>
            </a:r>
            <a:endParaRPr sz="940" b="1" dirty="0">
              <a:solidFill>
                <a:srgbClr val="6673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44" name="s4-scripts-assets-number"/>
          <p:cNvSpPr>
            <a:spLocks noGrp="1"/>
          </p:cNvSpPr>
          <p:nvPr/>
        </p:nvSpPr>
        <p:spPr>
          <a:xfrm>
            <a:off x="9039225" y="1476375"/>
            <a:ext cx="342900" cy="295275"/>
          </a:xfrm>
          <a:prstGeom prst="roundRect">
            <a:avLst>
              <a:gd name="adj" fmla="val 19355"/>
            </a:avLst>
          </a:prstGeom>
          <a:solidFill>
            <a:srgbClr val="294A6D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 fontScale="92500"/>
          </a:bodyPr>
          <a:lstStyle/>
          <a:p>
            <a:pPr algn="ctr"/>
            <a:r>
              <a:rPr sz="12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04</a:t>
            </a:r>
          </a:p>
        </p:txBody>
      </p:sp>
      <p:sp>
        <p:nvSpPr>
          <p:cNvPr id="45" name="s4-scripts-assets-title"/>
          <p:cNvSpPr>
            <a:spLocks noGrp="1"/>
          </p:cNvSpPr>
          <p:nvPr/>
        </p:nvSpPr>
        <p:spPr>
          <a:xfrm>
            <a:off x="9086850" y="1457325"/>
            <a:ext cx="2324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00" b="1">
                <a:solidFill>
                  <a:srgbClr val="0F9E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怎样可靠执行？</a:t>
            </a:r>
          </a:p>
        </p:txBody>
      </p:sp>
      <p:sp>
        <p:nvSpPr>
          <p:cNvPr id="46" name="s4-scripts-assets-question"/>
          <p:cNvSpPr>
            <a:spLocks noGrp="1"/>
          </p:cNvSpPr>
          <p:nvPr/>
        </p:nvSpPr>
        <p:spPr>
          <a:xfrm>
            <a:off x="9058275" y="1800225"/>
            <a:ext cx="2714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00" b="1">
                <a:solidFill>
                  <a:srgbClr val="0F9E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00" b="1" dirty="0">
              <a:solidFill>
                <a:srgbClr val="0F9E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49" name="s4-scripts-assets-keyword-3"/>
          <p:cNvSpPr>
            <a:spLocks noGrp="1"/>
          </p:cNvSpPr>
          <p:nvPr/>
        </p:nvSpPr>
        <p:spPr>
          <a:xfrm>
            <a:off x="9077325" y="2552700"/>
            <a:ext cx="2676525" cy="190500"/>
          </a:xfrm>
          <a:prstGeom prst="roundRect">
            <a:avLst>
              <a:gd name="adj" fmla="val 35000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/>
            <a:r>
              <a:rPr lang="zh-CN" altLang="en-US" sz="865" b="1" dirty="0" smtClean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定义一些限制“门禁”</a:t>
            </a:r>
            <a:endParaRPr sz="865" b="1" dirty="0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0" name="s4-scripts-assets-divider"/>
          <p:cNvSpPr>
            <a:spLocks noGrp="1"/>
          </p:cNvSpPr>
          <p:nvPr/>
        </p:nvSpPr>
        <p:spPr>
          <a:xfrm>
            <a:off x="9039225" y="3048000"/>
            <a:ext cx="2752725" cy="9525"/>
          </a:xfrm>
          <a:prstGeom prst="rect">
            <a:avLst/>
          </a:prstGeom>
          <a:solidFill>
            <a:srgbClr val="D6DEE6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51" name="s4-scripts-assets-summary"/>
          <p:cNvSpPr>
            <a:spLocks noGrp="1"/>
          </p:cNvSpPr>
          <p:nvPr/>
        </p:nvSpPr>
        <p:spPr>
          <a:xfrm>
            <a:off x="9077325" y="3086100"/>
            <a:ext cx="26765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40" b="1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 dirty="0" err="1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提供稳定执行</a:t>
            </a:r>
            <a:r>
              <a:rPr lang="zh-CN" altLang="en-US" sz="940" b="1" dirty="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程序</a:t>
            </a:r>
            <a:r>
              <a:rPr sz="940" b="1" dirty="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64" name="s4-contract-surface"/>
          <p:cNvSpPr>
            <a:spLocks noGrp="1"/>
          </p:cNvSpPr>
          <p:nvPr/>
        </p:nvSpPr>
        <p:spPr>
          <a:xfrm>
            <a:off x="257175" y="3886200"/>
            <a:ext cx="5810250" cy="2466975"/>
          </a:xfrm>
          <a:prstGeom prst="roundRect">
            <a:avLst>
              <a:gd name="adj" fmla="val 347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65" name="s4-contract-number"/>
          <p:cNvSpPr>
            <a:spLocks noGrp="1"/>
          </p:cNvSpPr>
          <p:nvPr/>
        </p:nvSpPr>
        <p:spPr>
          <a:xfrm>
            <a:off x="409575" y="4010025"/>
            <a:ext cx="361950" cy="285750"/>
          </a:xfrm>
          <a:prstGeom prst="roundRect">
            <a:avLst>
              <a:gd name="adj" fmla="val 20000"/>
            </a:avLst>
          </a:prstGeom>
          <a:solidFill>
            <a:srgbClr val="294A6D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/>
            <a:r>
              <a:rPr sz="12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A</a:t>
            </a:r>
          </a:p>
        </p:txBody>
      </p:sp>
      <p:sp>
        <p:nvSpPr>
          <p:cNvPr id="66" name="s4-contract-title"/>
          <p:cNvSpPr>
            <a:spLocks noGrp="1"/>
          </p:cNvSpPr>
          <p:nvPr/>
        </p:nvSpPr>
        <p:spPr>
          <a:xfrm>
            <a:off x="885825" y="40005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Skill </a:t>
            </a:r>
            <a:r>
              <a:rPr sz="1400" b="1" dirty="0" err="1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的契约</a:t>
            </a:r>
            <a:endParaRPr sz="1400" b="1" dirty="0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8" name="s4-contract-scope-surface"/>
          <p:cNvSpPr>
            <a:spLocks noGrp="1"/>
          </p:cNvSpPr>
          <p:nvPr/>
        </p:nvSpPr>
        <p:spPr>
          <a:xfrm>
            <a:off x="400050" y="4371975"/>
            <a:ext cx="2686050" cy="4762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69" name="s4-contract-scope-title"/>
          <p:cNvSpPr>
            <a:spLocks noGrp="1"/>
          </p:cNvSpPr>
          <p:nvPr/>
        </p:nvSpPr>
        <p:spPr>
          <a:xfrm>
            <a:off x="548102" y="4510087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7738" lnSpcReduction="20000"/>
          </a:bodyPr>
          <a:lstStyle/>
          <a:p>
            <a:pPr algn="l">
              <a:defRPr sz="105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zh-CN" altLang="en-US"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范围</a:t>
            </a:r>
            <a:endParaRPr sz="1400" b="1" dirty="0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0" name="s4-contract-scope-detail"/>
          <p:cNvSpPr>
            <a:spLocks noGrp="1"/>
          </p:cNvSpPr>
          <p:nvPr/>
        </p:nvSpPr>
        <p:spPr>
          <a:xfrm>
            <a:off x="1390650" y="4410075"/>
            <a:ext cx="16002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能做什么？不能做什么？</a:t>
            </a:r>
          </a:p>
          <a:p>
            <a:pPr algn="l">
              <a:defRPr sz="86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什么时候应该调用？</a:t>
            </a:r>
          </a:p>
        </p:txBody>
      </p:sp>
      <p:sp>
        <p:nvSpPr>
          <p:cNvPr id="71" name="s4-contract-input-surface"/>
          <p:cNvSpPr>
            <a:spLocks noGrp="1"/>
          </p:cNvSpPr>
          <p:nvPr/>
        </p:nvSpPr>
        <p:spPr>
          <a:xfrm>
            <a:off x="3238500" y="4371975"/>
            <a:ext cx="2686050" cy="4762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72" name="s4-contract-input-title"/>
          <p:cNvSpPr>
            <a:spLocks noGrp="1"/>
          </p:cNvSpPr>
          <p:nvPr/>
        </p:nvSpPr>
        <p:spPr>
          <a:xfrm>
            <a:off x="3345760" y="447675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5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zh-CN" altLang="en-US"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输入</a:t>
            </a:r>
            <a:endParaRPr sz="1400" b="1" dirty="0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3" name="s4-contract-input-detail"/>
          <p:cNvSpPr>
            <a:spLocks noGrp="1"/>
          </p:cNvSpPr>
          <p:nvPr/>
        </p:nvSpPr>
        <p:spPr>
          <a:xfrm>
            <a:off x="4229100" y="4410075"/>
            <a:ext cx="16002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9320" lnSpcReduction="10000"/>
          </a:bodyPr>
          <a:lstStyle/>
          <a:p>
            <a:pPr algn="l">
              <a:defRPr sz="86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开始前必须知道什么？</a:t>
            </a:r>
          </a:p>
          <a:p>
            <a:pPr algn="l">
              <a:defRPr sz="86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自然语言 / 文件 / 参数均可</a:t>
            </a:r>
          </a:p>
          <a:p>
            <a:pPr algn="l">
              <a:defRPr sz="86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不限定 JSON Schema</a:t>
            </a:r>
          </a:p>
        </p:txBody>
      </p:sp>
      <p:sp>
        <p:nvSpPr>
          <p:cNvPr id="74" name="s4-contract-output-surface"/>
          <p:cNvSpPr>
            <a:spLocks noGrp="1"/>
          </p:cNvSpPr>
          <p:nvPr/>
        </p:nvSpPr>
        <p:spPr>
          <a:xfrm>
            <a:off x="400050" y="4933950"/>
            <a:ext cx="2686050" cy="4762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75" name="s4-contract-output-title"/>
          <p:cNvSpPr>
            <a:spLocks noGrp="1"/>
          </p:cNvSpPr>
          <p:nvPr/>
        </p:nvSpPr>
        <p:spPr>
          <a:xfrm>
            <a:off x="555349" y="5081587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7738" lnSpcReduction="20000"/>
          </a:bodyPr>
          <a:lstStyle/>
          <a:p>
            <a:pPr algn="l">
              <a:defRPr sz="105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zh-CN" altLang="en-US"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输出</a:t>
            </a:r>
            <a:endParaRPr sz="1400" b="1" dirty="0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6" name="s4-contract-output-detail"/>
          <p:cNvSpPr>
            <a:spLocks noGrp="1"/>
          </p:cNvSpPr>
          <p:nvPr/>
        </p:nvSpPr>
        <p:spPr>
          <a:xfrm>
            <a:off x="1390650" y="4972050"/>
            <a:ext cx="16002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结果 · 文件 · 报告 · 状态</a:t>
            </a:r>
          </a:p>
          <a:p>
            <a:pPr algn="l">
              <a:defRPr sz="86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任务完成后必须交付什么？</a:t>
            </a:r>
          </a:p>
        </p:txBody>
      </p:sp>
      <p:sp>
        <p:nvSpPr>
          <p:cNvPr id="78" name="s4-contract-stage-title"/>
          <p:cNvSpPr>
            <a:spLocks noGrp="1"/>
          </p:cNvSpPr>
          <p:nvPr/>
        </p:nvSpPr>
        <p:spPr>
          <a:xfrm>
            <a:off x="3333750" y="4981575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238"/>
          </a:bodyPr>
          <a:lstStyle/>
          <a:p>
            <a:pPr algn="l">
              <a:defRPr sz="105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050" b="1" dirty="0">
              <a:solidFill>
                <a:srgbClr val="1485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85" name="s4-contract-summary"/>
          <p:cNvSpPr>
            <a:spLocks noGrp="1"/>
          </p:cNvSpPr>
          <p:nvPr/>
        </p:nvSpPr>
        <p:spPr>
          <a:xfrm>
            <a:off x="847725" y="6010275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7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 dirty="0" err="1" smtClean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契约让不同阶段之间稳定衔接</a:t>
            </a:r>
            <a:r>
              <a:rPr sz="975" b="1" dirty="0">
                <a:solidFill>
                  <a:srgbClr val="2F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86" name="s4-subagent-surface"/>
          <p:cNvSpPr>
            <a:spLocks noGrp="1"/>
          </p:cNvSpPr>
          <p:nvPr/>
        </p:nvSpPr>
        <p:spPr>
          <a:xfrm>
            <a:off x="6210300" y="3886200"/>
            <a:ext cx="5715000" cy="2466975"/>
          </a:xfrm>
          <a:prstGeom prst="roundRect">
            <a:avLst>
              <a:gd name="adj" fmla="val 347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sp>
        <p:nvSpPr>
          <p:cNvPr id="87" name="s4-subagent-number"/>
          <p:cNvSpPr>
            <a:spLocks noGrp="1"/>
          </p:cNvSpPr>
          <p:nvPr/>
        </p:nvSpPr>
        <p:spPr>
          <a:xfrm>
            <a:off x="6372225" y="4010025"/>
            <a:ext cx="361950" cy="285750"/>
          </a:xfrm>
          <a:prstGeom prst="roundRect">
            <a:avLst>
              <a:gd name="adj" fmla="val 20000"/>
            </a:avLst>
          </a:prstGeom>
          <a:solidFill>
            <a:srgbClr val="294A6D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/>
            <a:r>
              <a:rPr sz="12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B</a:t>
            </a:r>
          </a:p>
        </p:txBody>
      </p:sp>
      <p:sp>
        <p:nvSpPr>
          <p:cNvPr id="88" name="s4-subagent-title"/>
          <p:cNvSpPr>
            <a:spLocks noGrp="1"/>
          </p:cNvSpPr>
          <p:nvPr/>
        </p:nvSpPr>
        <p:spPr>
          <a:xfrm>
            <a:off x="6848475" y="4000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>
                <a:solidFill>
                  <a:srgbClr val="6E5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dirty="0" err="1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复杂</a:t>
            </a:r>
            <a:r>
              <a:rPr lang="zh-CN" altLang="en-US" sz="1400" b="1" dirty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功能</a:t>
            </a:r>
            <a:r>
              <a:rPr sz="1400" b="1" dirty="0" err="1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扩展：Sub-Agent</a:t>
            </a:r>
            <a:endParaRPr sz="1400" b="1" dirty="0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89" name="s4-subagent-definition"/>
          <p:cNvSpPr>
            <a:spLocks noGrp="1"/>
          </p:cNvSpPr>
          <p:nvPr/>
        </p:nvSpPr>
        <p:spPr>
          <a:xfrm>
            <a:off x="6410325" y="4324350"/>
            <a:ext cx="528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4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将复杂、相对独立的子任务交给专业 Sub-Agent，再由主 Agent 汇总结果。</a:t>
            </a:r>
          </a:p>
        </p:txBody>
      </p:sp>
      <p:sp>
        <p:nvSpPr>
          <p:cNvPr id="90" name="s4-subagent-main"/>
          <p:cNvSpPr>
            <a:spLocks noGrp="1"/>
          </p:cNvSpPr>
          <p:nvPr/>
        </p:nvSpPr>
        <p:spPr>
          <a:xfrm>
            <a:off x="7953375" y="4725229"/>
            <a:ext cx="1905000" cy="276225"/>
          </a:xfrm>
          <a:prstGeom prst="roundRect">
            <a:avLst>
              <a:gd name="adj" fmla="val 20690"/>
            </a:avLst>
          </a:prstGeom>
          <a:solidFill>
            <a:srgbClr val="EEF2F5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defRPr sz="975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Main Agent</a:t>
            </a:r>
          </a:p>
        </p:txBody>
      </p:sp>
      <p:sp>
        <p:nvSpPr>
          <p:cNvPr id="91" name="s4-subagent-skill"/>
          <p:cNvSpPr>
            <a:spLocks noGrp="1"/>
          </p:cNvSpPr>
          <p:nvPr/>
        </p:nvSpPr>
        <p:spPr>
          <a:xfrm>
            <a:off x="8258175" y="5106229"/>
            <a:ext cx="1295400" cy="257175"/>
          </a:xfrm>
          <a:prstGeom prst="roundRect">
            <a:avLst>
              <a:gd name="adj" fmla="val 22222"/>
            </a:avLst>
          </a:prstGeom>
          <a:solidFill>
            <a:srgbClr val="EAF3F1"/>
          </a:solidFill>
          <a:ln w="9525">
            <a:solidFill>
              <a:srgbClr val="4F8A83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defRPr sz="975" b="1">
                <a:solidFill>
                  <a:srgbClr val="6E54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Skill</a:t>
            </a:r>
          </a:p>
        </p:txBody>
      </p:sp>
      <p:cxnSp>
        <p:nvCxnSpPr>
          <p:cNvPr id="184" name="s4-subagent-edge-main-skill"/>
          <p:cNvCxnSpPr>
            <a:stCxn id="90" idx="2"/>
            <a:endCxn id="91" idx="0"/>
          </p:cNvCxnSpPr>
          <p:nvPr/>
        </p:nvCxnSpPr>
        <p:spPr>
          <a:xfrm>
            <a:off x="8905875" y="5001454"/>
            <a:ext cx="0" cy="104775"/>
          </a:xfrm>
          <a:prstGeom prst="straightConnector1">
            <a:avLst/>
          </a:prstGeom>
          <a:ln w="12383">
            <a:solidFill>
              <a:srgbClr val="4F8A83"/>
            </a:solidFill>
            <a:prstDash val="solid"/>
            <a:tailEnd type="triangle" w="sm" len="sm"/>
          </a:ln>
        </p:spPr>
      </p:cxnSp>
      <p:sp>
        <p:nvSpPr>
          <p:cNvPr id="93" name="s4-subagent-role-1"/>
          <p:cNvSpPr>
            <a:spLocks noGrp="1"/>
          </p:cNvSpPr>
          <p:nvPr/>
        </p:nvSpPr>
        <p:spPr>
          <a:xfrm>
            <a:off x="7791450" y="5515804"/>
            <a:ext cx="895350" cy="428625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defRPr sz="790" b="1">
                <a:solidFill>
                  <a:srgbClr val="6E54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90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Sub-Agent</a:t>
            </a:r>
          </a:p>
          <a:p>
            <a:pPr algn="ctr">
              <a:defRPr sz="790" b="1">
                <a:solidFill>
                  <a:srgbClr val="6E54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90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Generator</a:t>
            </a:r>
          </a:p>
        </p:txBody>
      </p:sp>
      <p:sp>
        <p:nvSpPr>
          <p:cNvPr id="94" name="s4-subagent-role-2"/>
          <p:cNvSpPr>
            <a:spLocks noGrp="1"/>
          </p:cNvSpPr>
          <p:nvPr/>
        </p:nvSpPr>
        <p:spPr>
          <a:xfrm>
            <a:off x="8782050" y="5515804"/>
            <a:ext cx="895350" cy="428625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defRPr sz="790" b="1">
                <a:solidFill>
                  <a:srgbClr val="6E54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90" b="1" dirty="0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Sub-Agent</a:t>
            </a:r>
          </a:p>
          <a:p>
            <a:pPr algn="ctr">
              <a:defRPr sz="790" b="1">
                <a:solidFill>
                  <a:srgbClr val="6E54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90" b="1" dirty="0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Reviewer</a:t>
            </a:r>
          </a:p>
        </p:txBody>
      </p:sp>
      <p:sp>
        <p:nvSpPr>
          <p:cNvPr id="95" name="s4-subagent-role-3"/>
          <p:cNvSpPr>
            <a:spLocks noGrp="1"/>
          </p:cNvSpPr>
          <p:nvPr/>
        </p:nvSpPr>
        <p:spPr>
          <a:xfrm>
            <a:off x="9772650" y="5515804"/>
            <a:ext cx="895350" cy="428625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defRPr sz="790" b="1">
                <a:solidFill>
                  <a:srgbClr val="6E54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90" b="1" dirty="0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Sub-Agent</a:t>
            </a:r>
          </a:p>
          <a:p>
            <a:pPr algn="ctr">
              <a:defRPr sz="790" b="1">
                <a:solidFill>
                  <a:srgbClr val="6E54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90" b="1" dirty="0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Analyzer</a:t>
            </a:r>
          </a:p>
        </p:txBody>
      </p:sp>
      <p:cxnSp>
        <p:nvCxnSpPr>
          <p:cNvPr id="188" name="s4-subagent-edge-skill-1"/>
          <p:cNvCxnSpPr>
            <a:stCxn id="91" idx="2"/>
            <a:endCxn id="93" idx="0"/>
          </p:cNvCxnSpPr>
          <p:nvPr/>
        </p:nvCxnSpPr>
        <p:spPr>
          <a:xfrm rot="5400000">
            <a:off x="8496300" y="5106229"/>
            <a:ext cx="152400" cy="666750"/>
          </a:xfrm>
          <a:prstGeom prst="bentConnector3">
            <a:avLst>
              <a:gd name="adj1" fmla="val 50000"/>
            </a:avLst>
          </a:prstGeom>
          <a:ln w="10478">
            <a:solidFill>
              <a:srgbClr val="4F8A83"/>
            </a:solidFill>
            <a:prstDash val="solid"/>
            <a:tailEnd type="triangle" w="sm" len="sm"/>
          </a:ln>
        </p:spPr>
      </p:cxnSp>
      <p:cxnSp>
        <p:nvCxnSpPr>
          <p:cNvPr id="189" name="s4-subagent-edge-skill-2"/>
          <p:cNvCxnSpPr>
            <a:stCxn id="91" idx="2"/>
            <a:endCxn id="94" idx="0"/>
          </p:cNvCxnSpPr>
          <p:nvPr/>
        </p:nvCxnSpPr>
        <p:spPr>
          <a:xfrm rot="16200000" flipH="1">
            <a:off x="8991600" y="5277679"/>
            <a:ext cx="152400" cy="323850"/>
          </a:xfrm>
          <a:prstGeom prst="bentConnector3">
            <a:avLst>
              <a:gd name="adj1" fmla="val 50000"/>
            </a:avLst>
          </a:prstGeom>
          <a:ln w="10478">
            <a:solidFill>
              <a:srgbClr val="4F8A83"/>
            </a:solidFill>
            <a:prstDash val="solid"/>
            <a:tailEnd type="triangle" w="sm" len="sm"/>
          </a:ln>
        </p:spPr>
      </p:cxnSp>
      <p:cxnSp>
        <p:nvCxnSpPr>
          <p:cNvPr id="190" name="s4-subagent-edge-skill-3"/>
          <p:cNvCxnSpPr>
            <a:stCxn id="91" idx="2"/>
            <a:endCxn id="95" idx="0"/>
          </p:cNvCxnSpPr>
          <p:nvPr/>
        </p:nvCxnSpPr>
        <p:spPr>
          <a:xfrm>
            <a:off x="8905875" y="5363404"/>
            <a:ext cx="1314450" cy="152400"/>
          </a:xfrm>
          <a:prstGeom prst="bentConnector4">
            <a:avLst>
              <a:gd name="adj1" fmla="val 0"/>
              <a:gd name="adj2" fmla="val 50000"/>
            </a:avLst>
          </a:prstGeom>
          <a:ln w="10478">
            <a:solidFill>
              <a:srgbClr val="4F8A83"/>
            </a:solidFill>
            <a:prstDash val="solid"/>
            <a:tailEnd type="triangle" w="sm" len="sm"/>
          </a:ln>
        </p:spPr>
      </p:cxnSp>
      <p:sp>
        <p:nvSpPr>
          <p:cNvPr id="99" name="s4-subagent-result"/>
          <p:cNvSpPr>
            <a:spLocks noGrp="1"/>
          </p:cNvSpPr>
          <p:nvPr/>
        </p:nvSpPr>
        <p:spPr>
          <a:xfrm>
            <a:off x="8553450" y="6058729"/>
            <a:ext cx="1371600" cy="238125"/>
          </a:xfrm>
          <a:prstGeom prst="roundRect">
            <a:avLst>
              <a:gd name="adj" fmla="val 24000"/>
            </a:avLst>
          </a:prstGeom>
          <a:solidFill>
            <a:srgbClr val="EEF2F5"/>
          </a:solidFill>
          <a:ln w="9525">
            <a:solidFill>
              <a:srgbClr val="294A6D"/>
            </a:solidFill>
            <a:prstDash val="solid"/>
          </a:ln>
        </p:spPr>
        <p:txBody>
          <a:bodyPr wrap="square" lIns="57150" tIns="28575" rIns="57150" bIns="28575" anchor="ctr">
            <a:normAutofit/>
          </a:bodyPr>
          <a:lstStyle/>
          <a:p>
            <a:pPr algn="ctr">
              <a:defRPr sz="90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 dirty="0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</a:t>
            </a:r>
          </a:p>
        </p:txBody>
      </p:sp>
      <p:cxnSp>
        <p:nvCxnSpPr>
          <p:cNvPr id="192" name="s4-subagent-edge-result-1"/>
          <p:cNvCxnSpPr>
            <a:stCxn id="93" idx="2"/>
            <a:endCxn id="99" idx="0"/>
          </p:cNvCxnSpPr>
          <p:nvPr/>
        </p:nvCxnSpPr>
        <p:spPr>
          <a:xfrm>
            <a:off x="8239125" y="5944429"/>
            <a:ext cx="1000125" cy="114300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4F8A83"/>
            </a:solidFill>
            <a:prstDash val="solid"/>
          </a:ln>
        </p:spPr>
      </p:cxnSp>
      <p:cxnSp>
        <p:nvCxnSpPr>
          <p:cNvPr id="193" name="s4-subagent-edge-result-2"/>
          <p:cNvCxnSpPr>
            <a:stCxn id="94" idx="2"/>
            <a:endCxn id="99" idx="0"/>
          </p:cNvCxnSpPr>
          <p:nvPr/>
        </p:nvCxnSpPr>
        <p:spPr>
          <a:xfrm rot="16200000" flipH="1">
            <a:off x="9177337" y="5996816"/>
            <a:ext cx="114300" cy="9525"/>
          </a:xfrm>
          <a:prstGeom prst="bentConnector3">
            <a:avLst>
              <a:gd name="adj1" fmla="val 50000"/>
            </a:avLst>
          </a:prstGeom>
          <a:ln w="9525">
            <a:solidFill>
              <a:srgbClr val="4F8A83"/>
            </a:solidFill>
            <a:prstDash val="solid"/>
            <a:tailEnd type="triangle" w="sm" len="sm"/>
          </a:ln>
        </p:spPr>
      </p:cxnSp>
      <p:cxnSp>
        <p:nvCxnSpPr>
          <p:cNvPr id="194" name="s4-subagent-edge-result-3"/>
          <p:cNvCxnSpPr>
            <a:stCxn id="95" idx="2"/>
            <a:endCxn id="99" idx="0"/>
          </p:cNvCxnSpPr>
          <p:nvPr/>
        </p:nvCxnSpPr>
        <p:spPr>
          <a:xfrm flipH="1">
            <a:off x="9239250" y="5944429"/>
            <a:ext cx="981075" cy="114300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4F8A83"/>
            </a:solidFill>
            <a:prstDash val="solid"/>
          </a:ln>
        </p:spPr>
      </p:cxnSp>
      <p:sp>
        <p:nvSpPr>
          <p:cNvPr id="3" name="slide-7-page-number"/>
          <p:cNvSpPr>
            <a:spLocks noGrp="1"/>
          </p:cNvSpPr>
          <p:nvPr/>
        </p:nvSpPr>
        <p:spPr>
          <a:xfrm>
            <a:off x="11352530" y="332740"/>
            <a:ext cx="352425" cy="323850"/>
          </a:xfrm>
          <a:prstGeom prst="roundRect">
            <a:avLst>
              <a:gd name="adj" fmla="val 14706"/>
            </a:avLst>
          </a:prstGeom>
          <a:solidFill>
            <a:srgbClr val="F7F8FA"/>
          </a:solidFill>
          <a:ln w="9525">
            <a:solidFill>
              <a:srgbClr val="F7F8FA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>
                <a:solidFill>
                  <a:srgbClr val="6673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97" name="slide-2-title"/>
          <p:cNvSpPr>
            <a:spLocks noGrp="1"/>
          </p:cNvSpPr>
          <p:nvPr/>
        </p:nvSpPr>
        <p:spPr>
          <a:xfrm>
            <a:off x="276225" y="829904"/>
            <a:ext cx="952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①</a:t>
            </a:r>
            <a:r>
              <a:rPr lang="en-US" altLang="zh-CN" sz="16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Skill</a:t>
            </a:r>
            <a:r>
              <a:rPr lang="zh-CN" altLang="en-US" sz="16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的结构</a:t>
            </a:r>
            <a:endParaRPr sz="1600" b="1" dirty="0">
              <a:solidFill>
                <a:srgbClr val="243B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98" name="slide-2-title"/>
          <p:cNvSpPr>
            <a:spLocks noGrp="1"/>
          </p:cNvSpPr>
          <p:nvPr/>
        </p:nvSpPr>
        <p:spPr>
          <a:xfrm>
            <a:off x="238125" y="3398768"/>
            <a:ext cx="952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②</a:t>
            </a:r>
            <a:r>
              <a:rPr lang="en-US" altLang="zh-CN" sz="16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Skill</a:t>
            </a:r>
            <a:r>
              <a:rPr lang="zh-CN" altLang="en-US" sz="16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的契约与扩展</a:t>
            </a:r>
            <a:endParaRPr sz="1600" b="1" dirty="0">
              <a:solidFill>
                <a:srgbClr val="243B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77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79" name="slide-3-title"/>
          <p:cNvSpPr>
            <a:spLocks noGrp="1"/>
          </p:cNvSpPr>
          <p:nvPr/>
        </p:nvSpPr>
        <p:spPr>
          <a:xfrm>
            <a:off x="276225" y="161096"/>
            <a:ext cx="9652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7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30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1.2  Skill</a:t>
            </a:r>
            <a:r>
              <a:rPr lang="zh-CN" altLang="en-US" sz="3000" b="1" dirty="0">
                <a:solidFill>
                  <a:srgbClr val="243B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的结构、契约与扩展能力</a:t>
            </a:r>
          </a:p>
          <a:p>
            <a:pPr>
              <a:buNone/>
              <a:defRPr sz="27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3000" b="1" dirty="0">
              <a:solidFill>
                <a:srgbClr val="243B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83" name="s4-scripts-assets-keyword-3"/>
          <p:cNvSpPr>
            <a:spLocks noGrp="1"/>
          </p:cNvSpPr>
          <p:nvPr/>
        </p:nvSpPr>
        <p:spPr>
          <a:xfrm>
            <a:off x="9062002" y="2217462"/>
            <a:ext cx="2676525" cy="190500"/>
          </a:xfrm>
          <a:prstGeom prst="roundRect">
            <a:avLst>
              <a:gd name="adj" fmla="val 35000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</p:spPr>
        <p:txBody>
          <a:bodyPr wrap="square" lIns="47625" tIns="9525" rIns="47625" bIns="9525" anchor="ctr">
            <a:normAutofit/>
          </a:bodyPr>
          <a:lstStyle/>
          <a:p>
            <a:pPr algn="ctr"/>
            <a:r>
              <a:rPr lang="zh-CN" altLang="en-US" sz="865" b="1" dirty="0" smtClean="0">
                <a:solidFill>
                  <a:srgbClr val="294A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定义一些限制“契约”</a:t>
            </a:r>
            <a:endParaRPr sz="865" b="1" dirty="0">
              <a:solidFill>
                <a:srgbClr val="294A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37547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3-title"/>
          <p:cNvSpPr>
            <a:spLocks noGrp="1"/>
          </p:cNvSpPr>
          <p:nvPr/>
        </p:nvSpPr>
        <p:spPr>
          <a:xfrm>
            <a:off x="1219200" y="207407"/>
            <a:ext cx="9652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7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如何开发一个好用的</a:t>
            </a: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</a:t>
            </a:r>
            <a:r>
              <a:rPr lang="zh-CN" alt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？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7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8" name="s5-number-1">
            <a:extLst>
              <a:ext uri="{FF2B5EF4-FFF2-40B4-BE49-F238E27FC236}">
                <a16:creationId xmlns:a16="http://schemas.microsoft.com/office/drawing/2014/main" id="{63B68E7B-1AD0-4686-8421-3306ACA52CA1}"/>
              </a:ext>
            </a:extLst>
          </p:cNvPr>
          <p:cNvSpPr txBox="1"/>
          <p:nvPr/>
        </p:nvSpPr>
        <p:spPr>
          <a:xfrm>
            <a:off x="762000" y="1041400"/>
            <a:ext cx="58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01.</a:t>
            </a:r>
            <a:endParaRPr lang="zh-CN" altLang="en-US" sz="170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9" name="s5-title-1">
            <a:extLst>
              <a:ext uri="{FF2B5EF4-FFF2-40B4-BE49-F238E27FC236}">
                <a16:creationId xmlns:a16="http://schemas.microsoft.com/office/drawing/2014/main" id="{B01C2F0E-AB1A-25B8-F379-4FBB76774C7B}"/>
              </a:ext>
            </a:extLst>
          </p:cNvPr>
          <p:cNvSpPr txBox="1"/>
          <p:nvPr/>
        </p:nvSpPr>
        <p:spPr>
          <a:xfrm>
            <a:off x="1473200" y="10414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9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流程清晰</a:t>
            </a:r>
          </a:p>
        </p:txBody>
      </p:sp>
      <p:sp>
        <p:nvSpPr>
          <p:cNvPr id="30" name="s5-detail-1">
            <a:extLst>
              <a:ext uri="{FF2B5EF4-FFF2-40B4-BE49-F238E27FC236}">
                <a16:creationId xmlns:a16="http://schemas.microsoft.com/office/drawing/2014/main" id="{0F250DAE-78D3-64AE-80A2-D0B187C91C12}"/>
              </a:ext>
            </a:extLst>
          </p:cNvPr>
          <p:cNvSpPr txBox="1"/>
          <p:nvPr/>
        </p:nvSpPr>
        <p:spPr>
          <a:xfrm>
            <a:off x="1473200" y="15113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做什么  →  输入什么  →  输出什么  →  失败怎么办</a:t>
            </a:r>
          </a:p>
        </p:txBody>
      </p:sp>
      <p:cxnSp>
        <p:nvCxnSpPr>
          <p:cNvPr id="31" name="s5-rule-1">
            <a:extLst>
              <a:ext uri="{FF2B5EF4-FFF2-40B4-BE49-F238E27FC236}">
                <a16:creationId xmlns:a16="http://schemas.microsoft.com/office/drawing/2014/main" id="{40A0A5DD-83D0-9D9F-E248-68D9E9959820}"/>
              </a:ext>
            </a:extLst>
          </p:cNvPr>
          <p:cNvCxnSpPr/>
          <p:nvPr/>
        </p:nvCxnSpPr>
        <p:spPr>
          <a:xfrm>
            <a:off x="762000" y="2095500"/>
            <a:ext cx="10668000" cy="0"/>
          </a:xfrm>
          <a:prstGeom prst="line">
            <a:avLst/>
          </a:prstGeom>
          <a:ln w="5715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5-number-2">
            <a:extLst>
              <a:ext uri="{FF2B5EF4-FFF2-40B4-BE49-F238E27FC236}">
                <a16:creationId xmlns:a16="http://schemas.microsoft.com/office/drawing/2014/main" id="{33141730-4713-568C-9CEB-50FE85C35E27}"/>
              </a:ext>
            </a:extLst>
          </p:cNvPr>
          <p:cNvSpPr txBox="1"/>
          <p:nvPr/>
        </p:nvSpPr>
        <p:spPr>
          <a:xfrm>
            <a:off x="762000" y="2336800"/>
            <a:ext cx="58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02.</a:t>
            </a:r>
            <a:endParaRPr lang="zh-CN" altLang="en-US" sz="170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3" name="s5-title-2">
            <a:extLst>
              <a:ext uri="{FF2B5EF4-FFF2-40B4-BE49-F238E27FC236}">
                <a16:creationId xmlns:a16="http://schemas.microsoft.com/office/drawing/2014/main" id="{8245F12A-64AA-01CE-D043-1A779EF32278}"/>
              </a:ext>
            </a:extLst>
          </p:cNvPr>
          <p:cNvSpPr txBox="1"/>
          <p:nvPr/>
        </p:nvSpPr>
        <p:spPr>
          <a:xfrm>
            <a:off x="1473200" y="23368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9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职责</a:t>
            </a:r>
            <a:r>
              <a:rPr lang="zh-CN" altLang="en-US" sz="1900" b="1" dirty="0" smtClean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聚焦</a:t>
            </a:r>
            <a:endParaRPr lang="zh-CN" altLang="en-US" sz="19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4" name="s5-detail-2a">
            <a:extLst>
              <a:ext uri="{FF2B5EF4-FFF2-40B4-BE49-F238E27FC236}">
                <a16:creationId xmlns:a16="http://schemas.microsoft.com/office/drawing/2014/main" id="{F9AAC228-2E78-913B-332E-DDB06B8A33FA}"/>
              </a:ext>
            </a:extLst>
          </p:cNvPr>
          <p:cNvSpPr txBox="1"/>
          <p:nvPr/>
        </p:nvSpPr>
        <p:spPr>
          <a:xfrm>
            <a:off x="1473200" y="27940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一个 </a:t>
            </a:r>
            <a:r>
              <a:rPr lang="en-US" altLang="zh-CN" sz="1500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 </a:t>
            </a:r>
            <a:r>
              <a:rPr lang="zh-CN" altLang="en-US" sz="1500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聚焦一类任务</a:t>
            </a:r>
          </a:p>
        </p:txBody>
      </p:sp>
      <p:sp>
        <p:nvSpPr>
          <p:cNvPr id="35" name="s5-detail-2b">
            <a:extLst>
              <a:ext uri="{FF2B5EF4-FFF2-40B4-BE49-F238E27FC236}">
                <a16:creationId xmlns:a16="http://schemas.microsoft.com/office/drawing/2014/main" id="{2F243283-9D39-EB98-EAB7-3C727B1EE7E2}"/>
              </a:ext>
            </a:extLst>
          </p:cNvPr>
          <p:cNvSpPr txBox="1"/>
          <p:nvPr/>
        </p:nvSpPr>
        <p:spPr>
          <a:xfrm>
            <a:off x="1473200" y="31877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稳定：</a:t>
            </a:r>
            <a:r>
              <a:rPr lang="en-US" altLang="zh-CN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Workflow / Method / Decision Rules</a:t>
            </a:r>
            <a:endParaRPr lang="zh-CN" altLang="en-US" sz="150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6" name="s5-detail-2c">
            <a:extLst>
              <a:ext uri="{FF2B5EF4-FFF2-40B4-BE49-F238E27FC236}">
                <a16:creationId xmlns:a16="http://schemas.microsoft.com/office/drawing/2014/main" id="{8CFD6CE4-8B76-B9A9-71D1-EC6E5574F536}"/>
              </a:ext>
            </a:extLst>
          </p:cNvPr>
          <p:cNvSpPr txBox="1"/>
          <p:nvPr/>
        </p:nvSpPr>
        <p:spPr>
          <a:xfrm>
            <a:off x="6350000" y="31877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变化：</a:t>
            </a:r>
            <a:r>
              <a:rPr lang="en-US" altLang="zh-CN" sz="15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Parameters / </a:t>
            </a:r>
            <a:r>
              <a:rPr lang="en-US" altLang="zh-CN" sz="15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Config</a:t>
            </a:r>
            <a:r>
              <a:rPr lang="en-US" altLang="zh-CN" sz="15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/ Environment </a:t>
            </a:r>
            <a:endParaRPr lang="zh-CN" altLang="en-US" sz="150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37" name="s5-rule-2">
            <a:extLst>
              <a:ext uri="{FF2B5EF4-FFF2-40B4-BE49-F238E27FC236}">
                <a16:creationId xmlns:a16="http://schemas.microsoft.com/office/drawing/2014/main" id="{A502D1DD-D160-E15F-BE37-1283B8C802BC}"/>
              </a:ext>
            </a:extLst>
          </p:cNvPr>
          <p:cNvCxnSpPr/>
          <p:nvPr/>
        </p:nvCxnSpPr>
        <p:spPr>
          <a:xfrm>
            <a:off x="762000" y="3733800"/>
            <a:ext cx="10668000" cy="0"/>
          </a:xfrm>
          <a:prstGeom prst="line">
            <a:avLst/>
          </a:prstGeom>
          <a:ln w="5715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5-number-3">
            <a:extLst>
              <a:ext uri="{FF2B5EF4-FFF2-40B4-BE49-F238E27FC236}">
                <a16:creationId xmlns:a16="http://schemas.microsoft.com/office/drawing/2014/main" id="{24033F4A-49FA-C155-D751-2E1DCB134822}"/>
              </a:ext>
            </a:extLst>
          </p:cNvPr>
          <p:cNvSpPr txBox="1"/>
          <p:nvPr/>
        </p:nvSpPr>
        <p:spPr>
          <a:xfrm>
            <a:off x="762000" y="3975100"/>
            <a:ext cx="58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03.</a:t>
            </a:r>
            <a:endParaRPr lang="zh-CN" altLang="en-US" sz="1700" b="1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9" name="s5-title-3">
            <a:extLst>
              <a:ext uri="{FF2B5EF4-FFF2-40B4-BE49-F238E27FC236}">
                <a16:creationId xmlns:a16="http://schemas.microsoft.com/office/drawing/2014/main" id="{5E131107-7F5D-A6D4-055E-5F8F24C15959}"/>
              </a:ext>
            </a:extLst>
          </p:cNvPr>
          <p:cNvSpPr txBox="1"/>
          <p:nvPr/>
        </p:nvSpPr>
        <p:spPr>
          <a:xfrm>
            <a:off x="1473200" y="39751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Workflow </a:t>
            </a:r>
            <a:r>
              <a:rPr lang="zh-CN" altLang="en-US" sz="19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9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Knowledge </a:t>
            </a:r>
            <a:r>
              <a:rPr lang="zh-CN" altLang="en-US" sz="19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分离</a:t>
            </a:r>
          </a:p>
        </p:txBody>
      </p:sp>
      <p:sp>
        <p:nvSpPr>
          <p:cNvPr id="40" name="s5-detail-3a">
            <a:extLst>
              <a:ext uri="{FF2B5EF4-FFF2-40B4-BE49-F238E27FC236}">
                <a16:creationId xmlns:a16="http://schemas.microsoft.com/office/drawing/2014/main" id="{27B65A7B-7552-13E4-6813-4E37F50F03BA}"/>
              </a:ext>
            </a:extLst>
          </p:cNvPr>
          <p:cNvSpPr txBox="1"/>
          <p:nvPr/>
        </p:nvSpPr>
        <p:spPr>
          <a:xfrm>
            <a:off x="1473200" y="44323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Workflow</a:t>
            </a:r>
            <a:r>
              <a:rPr lang="zh-CN" altLang="en-US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：流程、判断、契约、编排</a:t>
            </a:r>
          </a:p>
        </p:txBody>
      </p:sp>
      <p:sp>
        <p:nvSpPr>
          <p:cNvPr id="41" name="s5-detail-3b">
            <a:extLst>
              <a:ext uri="{FF2B5EF4-FFF2-40B4-BE49-F238E27FC236}">
                <a16:creationId xmlns:a16="http://schemas.microsoft.com/office/drawing/2014/main" id="{AA8F4BD6-CFF3-3C46-6DB3-4478FB80720E}"/>
              </a:ext>
            </a:extLst>
          </p:cNvPr>
          <p:cNvSpPr txBox="1"/>
          <p:nvPr/>
        </p:nvSpPr>
        <p:spPr>
          <a:xfrm>
            <a:off x="6350000" y="44323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Knowledge</a:t>
            </a:r>
            <a:r>
              <a:rPr lang="zh-CN" altLang="en-US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：环境、</a:t>
            </a:r>
            <a:r>
              <a:rPr lang="en-US" altLang="zh-CN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API</a:t>
            </a:r>
            <a:r>
              <a:rPr lang="zh-CN" altLang="en-US" sz="15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、配置、案例、平台知识</a:t>
            </a:r>
          </a:p>
        </p:txBody>
      </p:sp>
      <p:sp>
        <p:nvSpPr>
          <p:cNvPr id="42" name="s5-stable-knowledge">
            <a:extLst>
              <a:ext uri="{FF2B5EF4-FFF2-40B4-BE49-F238E27FC236}">
                <a16:creationId xmlns:a16="http://schemas.microsoft.com/office/drawing/2014/main" id="{BC183A43-B992-92CF-58C6-C4741B4EF32F}"/>
              </a:ext>
            </a:extLst>
          </p:cNvPr>
          <p:cNvSpPr txBox="1"/>
          <p:nvPr/>
        </p:nvSpPr>
        <p:spPr>
          <a:xfrm>
            <a:off x="762000" y="4902164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 dirty="0" smtClean="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形成 稳定</a:t>
            </a:r>
            <a:r>
              <a:rPr lang="zh-CN" altLang="en-US" sz="1600" b="1" dirty="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方法 </a:t>
            </a:r>
            <a:r>
              <a:rPr lang="en-US" altLang="zh-CN" sz="1600" b="1" dirty="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× </a:t>
            </a:r>
            <a:r>
              <a:rPr lang="zh-CN" altLang="en-US" sz="1600" b="1" dirty="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可替换</a:t>
            </a:r>
            <a:r>
              <a:rPr lang="zh-CN" altLang="en-US" sz="1600" b="1" dirty="0" smtClean="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知识 的框架</a:t>
            </a:r>
            <a:endParaRPr lang="zh-CN" altLang="en-US" sz="1600" b="1" dirty="0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7" name="s5-transition-rule">
            <a:extLst>
              <a:ext uri="{FF2B5EF4-FFF2-40B4-BE49-F238E27FC236}">
                <a16:creationId xmlns:a16="http://schemas.microsoft.com/office/drawing/2014/main" id="{102A2EDE-E553-201D-895E-D25B2384275E}"/>
              </a:ext>
            </a:extLst>
          </p:cNvPr>
          <p:cNvCxnSpPr/>
          <p:nvPr/>
        </p:nvCxnSpPr>
        <p:spPr>
          <a:xfrm>
            <a:off x="762000" y="5308600"/>
            <a:ext cx="10668000" cy="0"/>
          </a:xfrm>
          <a:prstGeom prst="line">
            <a:avLst/>
          </a:prstGeom>
          <a:ln w="5715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5-stage-1">
            <a:extLst>
              <a:ext uri="{FF2B5EF4-FFF2-40B4-BE49-F238E27FC236}">
                <a16:creationId xmlns:a16="http://schemas.microsoft.com/office/drawing/2014/main" id="{89F421E0-8BAB-5F92-AD5F-B92B282AA127}"/>
              </a:ext>
            </a:extLst>
          </p:cNvPr>
          <p:cNvSpPr txBox="1"/>
          <p:nvPr/>
        </p:nvSpPr>
        <p:spPr>
          <a:xfrm>
            <a:off x="4318000" y="53975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5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普通 </a:t>
            </a:r>
            <a:r>
              <a:rPr lang="en-US" altLang="zh-CN" sz="15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</a:t>
            </a:r>
            <a:endParaRPr lang="zh-CN" altLang="en-US" sz="1500" b="1">
              <a:solidFill>
                <a:srgbClr val="66737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9" name="s5-arrow-1">
            <a:extLst>
              <a:ext uri="{FF2B5EF4-FFF2-40B4-BE49-F238E27FC236}">
                <a16:creationId xmlns:a16="http://schemas.microsoft.com/office/drawing/2014/main" id="{F1974127-9F8B-9A6C-0409-3B971D451069}"/>
              </a:ext>
            </a:extLst>
          </p:cNvPr>
          <p:cNvSpPr txBox="1"/>
          <p:nvPr/>
        </p:nvSpPr>
        <p:spPr>
          <a:xfrm>
            <a:off x="5651500" y="563245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500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↓</a:t>
            </a:r>
          </a:p>
        </p:txBody>
      </p:sp>
      <p:sp>
        <p:nvSpPr>
          <p:cNvPr id="50" name="s5-stage-2">
            <a:extLst>
              <a:ext uri="{FF2B5EF4-FFF2-40B4-BE49-F238E27FC236}">
                <a16:creationId xmlns:a16="http://schemas.microsoft.com/office/drawing/2014/main" id="{A8F27299-81E7-6F3C-D86D-33671EF0A388}"/>
              </a:ext>
            </a:extLst>
          </p:cNvPr>
          <p:cNvSpPr txBox="1"/>
          <p:nvPr/>
        </p:nvSpPr>
        <p:spPr>
          <a:xfrm>
            <a:off x="3810000" y="5867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7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高性能算子开发 </a:t>
            </a:r>
            <a:r>
              <a:rPr lang="en-US" altLang="zh-CN" sz="17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</a:t>
            </a:r>
            <a:endParaRPr lang="zh-CN" altLang="en-US" sz="170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1" name="s5-arrow-2">
            <a:extLst>
              <a:ext uri="{FF2B5EF4-FFF2-40B4-BE49-F238E27FC236}">
                <a16:creationId xmlns:a16="http://schemas.microsoft.com/office/drawing/2014/main" id="{D70C1037-2886-0B05-1518-7558C2E3B644}"/>
              </a:ext>
            </a:extLst>
          </p:cNvPr>
          <p:cNvSpPr txBox="1"/>
          <p:nvPr/>
        </p:nvSpPr>
        <p:spPr>
          <a:xfrm>
            <a:off x="5651500" y="6172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5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↓</a:t>
            </a:r>
          </a:p>
        </p:txBody>
      </p:sp>
      <p:sp>
        <p:nvSpPr>
          <p:cNvPr id="52" name="s5-stage-3">
            <a:extLst>
              <a:ext uri="{FF2B5EF4-FFF2-40B4-BE49-F238E27FC236}">
                <a16:creationId xmlns:a16="http://schemas.microsoft.com/office/drawing/2014/main" id="{AE25CFB0-60BE-CB5C-7E71-756571B7C681}"/>
              </a:ext>
            </a:extLst>
          </p:cNvPr>
          <p:cNvSpPr txBox="1"/>
          <p:nvPr/>
        </p:nvSpPr>
        <p:spPr>
          <a:xfrm>
            <a:off x="2159000" y="64262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4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代码生成 </a:t>
            </a:r>
            <a:r>
              <a:rPr lang="en-US" altLang="zh-CN" sz="14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 </a:t>
            </a:r>
            <a:r>
              <a:rPr lang="zh-CN" altLang="en-US" sz="14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正确性验证 </a:t>
            </a:r>
            <a:r>
              <a:rPr lang="en-US" altLang="zh-CN" sz="14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 Benchmark + Profiler + </a:t>
            </a:r>
            <a:r>
              <a:rPr lang="zh-CN" altLang="en-US" sz="145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性能优化</a:t>
            </a:r>
          </a:p>
        </p:txBody>
      </p:sp>
      <p:sp>
        <p:nvSpPr>
          <p:cNvPr id="26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27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1.3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s-title"/>
          <p:cNvSpPr>
            <a:spLocks noGrp="1"/>
          </p:cNvSpPr>
          <p:nvPr/>
        </p:nvSpPr>
        <p:spPr>
          <a:xfrm>
            <a:off x="609600" y="2476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目录</a:t>
            </a:r>
          </a:p>
        </p:txBody>
      </p:sp>
      <p:sp>
        <p:nvSpPr>
          <p:cNvPr id="2" name="contents-subtitle"/>
          <p:cNvSpPr>
            <a:spLocks noGrp="1"/>
          </p:cNvSpPr>
          <p:nvPr/>
        </p:nvSpPr>
        <p:spPr>
          <a:xfrm>
            <a:off x="609600" y="742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Contents</a:t>
            </a:r>
          </a:p>
        </p:txBody>
      </p:sp>
      <p:sp>
        <p:nvSpPr>
          <p:cNvPr id="4" name="contents-header-rule"/>
          <p:cNvSpPr>
            <a:spLocks noGrp="1"/>
          </p:cNvSpPr>
          <p:nvPr/>
        </p:nvSpPr>
        <p:spPr>
          <a:xfrm>
            <a:off x="609600" y="1104900"/>
            <a:ext cx="10972800" cy="14288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  <a:effectLst/>
        </p:spPr>
      </p:sp>
      <p:sp>
        <p:nvSpPr>
          <p:cNvPr id="5" name="contents-card-1"/>
          <p:cNvSpPr>
            <a:spLocks noGrp="1"/>
          </p:cNvSpPr>
          <p:nvPr/>
        </p:nvSpPr>
        <p:spPr>
          <a:xfrm>
            <a:off x="609600" y="1295400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6" name="contents-card-1-accent"/>
          <p:cNvSpPr>
            <a:spLocks noGrp="1"/>
          </p:cNvSpPr>
          <p:nvPr/>
        </p:nvSpPr>
        <p:spPr>
          <a:xfrm>
            <a:off x="609600" y="1295400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7" name="contents-card-1-part"/>
          <p:cNvSpPr>
            <a:spLocks noGrp="1"/>
          </p:cNvSpPr>
          <p:nvPr/>
        </p:nvSpPr>
        <p:spPr>
          <a:xfrm>
            <a:off x="839470" y="16287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01</a:t>
            </a:r>
          </a:p>
        </p:txBody>
      </p:sp>
      <p:sp>
        <p:nvSpPr>
          <p:cNvPr id="9" name="contents-card-1-divider"/>
          <p:cNvSpPr>
            <a:spLocks noGrp="1"/>
          </p:cNvSpPr>
          <p:nvPr/>
        </p:nvSpPr>
        <p:spPr>
          <a:xfrm>
            <a:off x="2047875" y="143827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0" name="contents-card-1-title"/>
          <p:cNvSpPr>
            <a:spLocks noGrp="1"/>
          </p:cNvSpPr>
          <p:nvPr/>
        </p:nvSpPr>
        <p:spPr>
          <a:xfrm>
            <a:off x="2286000" y="139065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Agent/</a:t>
            </a: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基础：使用与开发</a:t>
            </a:r>
          </a:p>
        </p:txBody>
      </p:sp>
      <p:sp>
        <p:nvSpPr>
          <p:cNvPr id="13" name="contents-card-2"/>
          <p:cNvSpPr>
            <a:spLocks noGrp="1"/>
          </p:cNvSpPr>
          <p:nvPr/>
        </p:nvSpPr>
        <p:spPr>
          <a:xfrm>
            <a:off x="609600" y="2428875"/>
            <a:ext cx="10972800" cy="981075"/>
          </a:xfrm>
          <a:prstGeom prst="rect">
            <a:avLst/>
          </a:prstGeom>
          <a:solidFill>
            <a:srgbClr val="EEF2F5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14" name="contents-card-2-accent"/>
          <p:cNvSpPr>
            <a:spLocks noGrp="1"/>
          </p:cNvSpPr>
          <p:nvPr/>
        </p:nvSpPr>
        <p:spPr>
          <a:xfrm>
            <a:off x="609600" y="2428875"/>
            <a:ext cx="66675" cy="981075"/>
          </a:xfrm>
          <a:prstGeom prst="rect">
            <a:avLst/>
          </a:prstGeom>
          <a:solidFill>
            <a:srgbClr val="5B7188"/>
          </a:solidFill>
          <a:ln w="0">
            <a:noFill/>
            <a:prstDash val="solid"/>
          </a:ln>
          <a:effectLst/>
        </p:spPr>
      </p:sp>
      <p:sp>
        <p:nvSpPr>
          <p:cNvPr id="15" name="contents-card-2-part"/>
          <p:cNvSpPr>
            <a:spLocks noGrp="1"/>
          </p:cNvSpPr>
          <p:nvPr/>
        </p:nvSpPr>
        <p:spPr>
          <a:xfrm>
            <a:off x="838200" y="25622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02</a:t>
            </a:r>
          </a:p>
        </p:txBody>
      </p:sp>
      <p:sp>
        <p:nvSpPr>
          <p:cNvPr id="17" name="contents-card-2-divider"/>
          <p:cNvSpPr>
            <a:spLocks noGrp="1"/>
          </p:cNvSpPr>
          <p:nvPr/>
        </p:nvSpPr>
        <p:spPr>
          <a:xfrm>
            <a:off x="2047875" y="257175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8" name="contents-card-2-title"/>
          <p:cNvSpPr>
            <a:spLocks noGrp="1"/>
          </p:cNvSpPr>
          <p:nvPr/>
        </p:nvSpPr>
        <p:spPr>
          <a:xfrm>
            <a:off x="2286000" y="252412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寒武纪</a:t>
            </a:r>
            <a:r>
              <a:rPr sz="16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Skill：实践与问题</a:t>
            </a:r>
          </a:p>
        </p:txBody>
      </p:sp>
      <p:sp>
        <p:nvSpPr>
          <p:cNvPr id="21" name="contents-card-3"/>
          <p:cNvSpPr>
            <a:spLocks noGrp="1"/>
          </p:cNvSpPr>
          <p:nvPr/>
        </p:nvSpPr>
        <p:spPr>
          <a:xfrm>
            <a:off x="609600" y="3562350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22" name="contents-card-3-accent"/>
          <p:cNvSpPr>
            <a:spLocks noGrp="1"/>
          </p:cNvSpPr>
          <p:nvPr/>
        </p:nvSpPr>
        <p:spPr>
          <a:xfrm>
            <a:off x="609600" y="3562350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23" name="contents-card-3-part"/>
          <p:cNvSpPr>
            <a:spLocks noGrp="1"/>
          </p:cNvSpPr>
          <p:nvPr/>
        </p:nvSpPr>
        <p:spPr>
          <a:xfrm>
            <a:off x="838200" y="36957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buClrTx/>
              <a:buSzTx/>
              <a:buFontTx/>
              <a:defRPr sz="1125" b="1">
                <a:solidFill>
                  <a:srgbClr val="168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03</a:t>
            </a:r>
          </a:p>
        </p:txBody>
      </p:sp>
      <p:sp>
        <p:nvSpPr>
          <p:cNvPr id="25" name="contents-card-3-divider"/>
          <p:cNvSpPr>
            <a:spLocks noGrp="1"/>
          </p:cNvSpPr>
          <p:nvPr/>
        </p:nvSpPr>
        <p:spPr>
          <a:xfrm>
            <a:off x="2047875" y="370522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26" name="contents-card-3-title"/>
          <p:cNvSpPr>
            <a:spLocks noGrp="1"/>
          </p:cNvSpPr>
          <p:nvPr/>
        </p:nvSpPr>
        <p:spPr>
          <a:xfrm>
            <a:off x="2286000" y="365760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 开发指南与多平台实践</a:t>
            </a:r>
          </a:p>
        </p:txBody>
      </p:sp>
      <p:sp>
        <p:nvSpPr>
          <p:cNvPr id="29" name="contents-card-4"/>
          <p:cNvSpPr>
            <a:spLocks noGrp="1"/>
          </p:cNvSpPr>
          <p:nvPr/>
        </p:nvSpPr>
        <p:spPr>
          <a:xfrm>
            <a:off x="623570" y="4652645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30" name="contents-card-4-accent"/>
          <p:cNvSpPr>
            <a:spLocks noGrp="1"/>
          </p:cNvSpPr>
          <p:nvPr/>
        </p:nvSpPr>
        <p:spPr>
          <a:xfrm>
            <a:off x="609600" y="4695825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31" name="contents-card-4-part"/>
          <p:cNvSpPr>
            <a:spLocks noGrp="1"/>
          </p:cNvSpPr>
          <p:nvPr/>
        </p:nvSpPr>
        <p:spPr>
          <a:xfrm>
            <a:off x="838200" y="48291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7B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04</a:t>
            </a:r>
          </a:p>
        </p:txBody>
      </p:sp>
      <p:sp>
        <p:nvSpPr>
          <p:cNvPr id="33" name="contents-card-4-divider"/>
          <p:cNvSpPr>
            <a:spLocks noGrp="1"/>
          </p:cNvSpPr>
          <p:nvPr/>
        </p:nvSpPr>
        <p:spPr>
          <a:xfrm>
            <a:off x="2047875" y="483870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34" name="contents-card-4-title"/>
          <p:cNvSpPr>
            <a:spLocks noGrp="1"/>
          </p:cNvSpPr>
          <p:nvPr/>
        </p:nvSpPr>
        <p:spPr>
          <a:xfrm>
            <a:off x="2286000" y="479107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未来展望</a:t>
            </a:r>
          </a:p>
        </p:txBody>
      </p:sp>
      <p:sp>
        <p:nvSpPr>
          <p:cNvPr id="38" name="contents-bottom-accent"/>
          <p:cNvSpPr>
            <a:spLocks noGrp="1"/>
          </p:cNvSpPr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294A6D"/>
          </a:solidFill>
          <a:ln w="0">
            <a:noFill/>
            <a:prstDash val="solid"/>
          </a:ln>
          <a:effectLst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verall-orchestration-architecture"/>
          <p:cNvPicPr>
            <a:picLocks noChangeAspect="1"/>
          </p:cNvPicPr>
          <p:nvPr/>
        </p:nvPicPr>
        <p:blipFill>
          <a:blip r:embed="rId3">
            <a:grayscl/>
          </a:blip>
          <a:srcRect l="101" r="101" b="60"/>
          <a:stretch>
            <a:fillRect/>
          </a:stretch>
        </p:blipFill>
        <p:spPr>
          <a:xfrm>
            <a:off x="1209675" y="857250"/>
            <a:ext cx="3143250" cy="5324475"/>
          </a:xfrm>
          <a:prstGeom prst="rect">
            <a:avLst/>
          </a:prstGeom>
          <a:effectLst/>
        </p:spPr>
      </p:pic>
      <p:pic>
        <p:nvPicPr>
          <p:cNvPr id="16" name="main-orchestration-module"/>
          <p:cNvPicPr>
            <a:picLocks noChangeAspect="1"/>
          </p:cNvPicPr>
          <p:nvPr/>
        </p:nvPicPr>
        <p:blipFill>
          <a:blip r:embed="rId4">
            <a:grayscl/>
          </a:blip>
          <a:srcRect r="104"/>
          <a:stretch>
            <a:fillRect/>
          </a:stretch>
        </p:blipFill>
        <p:spPr>
          <a:xfrm>
            <a:off x="4572000" y="857250"/>
            <a:ext cx="3057525" cy="2552700"/>
          </a:xfrm>
          <a:prstGeom prst="rect">
            <a:avLst/>
          </a:prstGeom>
          <a:effectLst/>
        </p:spPr>
      </p:pic>
      <p:pic>
        <p:nvPicPr>
          <p:cNvPr id="17" name="code-generation-module"/>
          <p:cNvPicPr>
            <a:picLocks noChangeAspect="1"/>
          </p:cNvPicPr>
          <p:nvPr/>
        </p:nvPicPr>
        <p:blipFill>
          <a:blip r:embed="rId5">
            <a:grayscl/>
          </a:blip>
          <a:srcRect/>
          <a:stretch>
            <a:fillRect/>
          </a:stretch>
        </p:blipFill>
        <p:spPr>
          <a:xfrm>
            <a:off x="7715250" y="857250"/>
            <a:ext cx="3276600" cy="2552700"/>
          </a:xfrm>
          <a:prstGeom prst="rect">
            <a:avLst/>
          </a:prstGeom>
          <a:effectLst/>
        </p:spPr>
      </p:pic>
      <p:pic>
        <p:nvPicPr>
          <p:cNvPr id="18" name="code-review-module"/>
          <p:cNvPicPr>
            <a:picLocks noChangeAspect="1"/>
          </p:cNvPicPr>
          <p:nvPr/>
        </p:nvPicPr>
        <p:blipFill>
          <a:blip r:embed="rId6">
            <a:grayscl/>
          </a:blip>
          <a:srcRect t="119" r="104" b="119"/>
          <a:stretch>
            <a:fillRect/>
          </a:stretch>
        </p:blipFill>
        <p:spPr>
          <a:xfrm>
            <a:off x="4572000" y="3514725"/>
            <a:ext cx="3057525" cy="2667000"/>
          </a:xfrm>
          <a:prstGeom prst="rect">
            <a:avLst/>
          </a:prstGeom>
          <a:effectLst/>
        </p:spPr>
      </p:pic>
      <p:pic>
        <p:nvPicPr>
          <p:cNvPr id="19" name="optimization-module"/>
          <p:cNvPicPr>
            <a:picLocks noChangeAspect="1"/>
          </p:cNvPicPr>
          <p:nvPr/>
        </p:nvPicPr>
        <p:blipFill>
          <a:blip r:embed="rId7">
            <a:grayscl/>
          </a:blip>
          <a:srcRect t="119" b="119"/>
          <a:stretch>
            <a:fillRect/>
          </a:stretch>
        </p:blipFill>
        <p:spPr>
          <a:xfrm>
            <a:off x="7715250" y="3514725"/>
            <a:ext cx="3276600" cy="2667000"/>
          </a:xfrm>
          <a:prstGeom prst="rect">
            <a:avLst/>
          </a:prstGeom>
          <a:effectLst/>
        </p:spPr>
      </p:pic>
      <p:sp>
        <p:nvSpPr>
          <p:cNvPr id="6" name="slide-4-title"/>
          <p:cNvSpPr>
            <a:spLocks noGrp="1"/>
          </p:cNvSpPr>
          <p:nvPr/>
        </p:nvSpPr>
        <p:spPr>
          <a:xfrm>
            <a:off x="1209675" y="260350"/>
            <a:ext cx="8048625" cy="428625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7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原寒武纪 </a:t>
            </a:r>
            <a:r>
              <a:rPr lang="en-US" sz="27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Triton </a:t>
            </a:r>
            <a:r>
              <a:rPr lang="zh-CN" altLang="en-US" sz="27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算子开发 </a:t>
            </a:r>
            <a:r>
              <a:rPr lang="en-US" sz="27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</a:t>
            </a:r>
            <a:r>
              <a:rPr lang="zh-CN" altLang="en-US" sz="27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的结构</a:t>
            </a:r>
            <a:endParaRPr lang="zh-CN" sz="2700" b="1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8" name="slide-4-editable-footer"/>
          <p:cNvSpPr>
            <a:spLocks noGrp="1"/>
          </p:cNvSpPr>
          <p:nvPr/>
        </p:nvSpPr>
        <p:spPr>
          <a:xfrm>
            <a:off x="1209675" y="6286500"/>
            <a:ext cx="9782175" cy="4286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Autofit/>
          </a:bodyPr>
          <a:lstStyle/>
          <a:p>
            <a:pPr algn="ctr">
              <a:buNone/>
              <a:defRPr sz="9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原 MLU Triton Skill 采用“主流程编排 + 阶段 Skill + 专业 Sub-Agent”的分层流水线结构，将算子开发拆分为生成、验证和优化三个连续阶段。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6816090" y="908685"/>
            <a:ext cx="723900" cy="857250"/>
          </a:xfrm>
          <a:prstGeom prst="rect">
            <a:avLst/>
          </a:prstGeom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0223500" y="980440"/>
            <a:ext cx="503555" cy="596265"/>
          </a:xfrm>
          <a:prstGeom prst="rect">
            <a:avLst/>
          </a:prstGeom>
          <a:effectLst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7049770" y="3573145"/>
            <a:ext cx="490220" cy="581025"/>
          </a:xfrm>
          <a:prstGeom prst="rect">
            <a:avLst/>
          </a:prstGeom>
          <a:effectLst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0344150" y="3573145"/>
            <a:ext cx="436245" cy="516890"/>
          </a:xfrm>
          <a:prstGeom prst="rect">
            <a:avLst/>
          </a:prstGeom>
          <a:effectLst/>
        </p:spPr>
      </p:pic>
      <p:sp>
        <p:nvSpPr>
          <p:cNvPr id="7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0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21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2.1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5-title"/>
          <p:cNvSpPr>
            <a:spLocks noGrp="1"/>
          </p:cNvSpPr>
          <p:nvPr/>
        </p:nvSpPr>
        <p:spPr>
          <a:xfrm>
            <a:off x="996949" y="196255"/>
            <a:ext cx="9652000" cy="4953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7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开发一个算子的流程</a:t>
            </a:r>
            <a:endParaRPr lang="zh-CN"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4" name="measurement-section-frame"/>
          <p:cNvSpPr>
            <a:spLocks noGrp="1"/>
          </p:cNvSpPr>
          <p:nvPr/>
        </p:nvSpPr>
        <p:spPr>
          <a:xfrm>
            <a:off x="254000" y="4533900"/>
            <a:ext cx="11684000" cy="1651000"/>
          </a:xfrm>
          <a:prstGeom prst="rect">
            <a:avLst/>
          </a:prstGeom>
          <a:noFill/>
          <a:ln w="12700">
            <a:solidFill>
              <a:srgbClr val="D6DEE6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15" name="measurement-title"/>
          <p:cNvSpPr>
            <a:spLocks noGrp="1"/>
          </p:cNvSpPr>
          <p:nvPr/>
        </p:nvSpPr>
        <p:spPr>
          <a:xfrm>
            <a:off x="381000" y="4597400"/>
            <a:ext cx="4572000" cy="279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1">
                <a:solidFill>
                  <a:srgbClr val="0A3B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已开发算子实测：开发效率与最终性能</a:t>
            </a:r>
          </a:p>
        </p:txBody>
      </p:sp>
      <p:sp>
        <p:nvSpPr>
          <p:cNvPr id="16" name="speedup-label"/>
          <p:cNvSpPr>
            <a:spLocks noGrp="1"/>
          </p:cNvSpPr>
          <p:nvPr/>
        </p:nvSpPr>
        <p:spPr>
          <a:xfrm>
            <a:off x="8661400" y="5054600"/>
            <a:ext cx="76200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15" b="1">
                <a:solidFill>
                  <a:srgbClr val="102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dirty="0" err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加速比</a:t>
            </a:r>
            <a:r>
              <a:rPr sz="1050" b="1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=</a:t>
            </a:r>
          </a:p>
        </p:txBody>
      </p:sp>
      <p:sp>
        <p:nvSpPr>
          <p:cNvPr id="17" name="speedup-formula"/>
          <p:cNvSpPr>
            <a:spLocks noGrp="1"/>
          </p:cNvSpPr>
          <p:nvPr/>
        </p:nvSpPr>
        <p:spPr>
          <a:xfrm>
            <a:off x="9423399" y="5054600"/>
            <a:ext cx="238760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40" b="0">
                <a:solidFill>
                  <a:srgbClr val="101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平台基线耗时</a:t>
            </a:r>
            <a:r>
              <a:rPr sz="10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/ </a:t>
            </a:r>
            <a:r>
              <a:rPr sz="10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优化后</a:t>
            </a:r>
            <a:r>
              <a:rPr sz="10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Kernel </a:t>
            </a:r>
            <a:r>
              <a:rPr sz="10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耗时</a:t>
            </a:r>
            <a:endParaRPr sz="105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8" name="development-time-label"/>
          <p:cNvSpPr>
            <a:spLocks noGrp="1"/>
          </p:cNvSpPr>
          <p:nvPr/>
        </p:nvSpPr>
        <p:spPr>
          <a:xfrm>
            <a:off x="8661400" y="5549900"/>
            <a:ext cx="82550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15" b="1">
                <a:solidFill>
                  <a:srgbClr val="102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dirty="0" err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开发耗时</a:t>
            </a:r>
            <a:r>
              <a:rPr sz="1050" b="1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=</a:t>
            </a:r>
          </a:p>
        </p:txBody>
      </p:sp>
      <p:sp>
        <p:nvSpPr>
          <p:cNvPr id="19" name="development-time-definition"/>
          <p:cNvSpPr>
            <a:spLocks noGrp="1"/>
          </p:cNvSpPr>
          <p:nvPr/>
        </p:nvSpPr>
        <p:spPr>
          <a:xfrm>
            <a:off x="9486899" y="5511800"/>
            <a:ext cx="2324100" cy="482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40" b="0">
                <a:solidFill>
                  <a:srgbClr val="101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从需求提交到获得最终可用</a:t>
            </a:r>
            <a:endParaRPr sz="105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  <a:p>
            <a:pPr>
              <a:buNone/>
              <a:defRPr sz="940" b="0">
                <a:solidFill>
                  <a:srgbClr val="101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Kernel </a:t>
            </a:r>
            <a:r>
              <a:rPr sz="10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的端到端时间</a:t>
            </a:r>
            <a:endParaRPr sz="105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graphicFrame>
        <p:nvGraphicFramePr>
          <p:cNvPr id="58" name="operator-measurement-table"/>
          <p:cNvGraphicFramePr/>
          <p:nvPr>
            <p:extLst>
              <p:ext uri="{D42A27DB-BD31-4B8C-83A1-F6EECF244321}">
                <p14:modId xmlns:p14="http://schemas.microsoft.com/office/powerpoint/2010/main" val="3674952224"/>
              </p:ext>
            </p:extLst>
          </p:nvPr>
        </p:nvGraphicFramePr>
        <p:xfrm>
          <a:off x="381000" y="4953000"/>
          <a:ext cx="7620000" cy="1143000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算子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误差</a:t>
                      </a:r>
                      <a:endParaRPr sz="105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相对基线加速比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开发耗时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运行时间</a:t>
                      </a:r>
                      <a:endParaRPr sz="105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LayerNorm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e</a:t>
                      </a:r>
                      <a:r>
                        <a:rPr lang="en-US" altLang="zh-CN" sz="1050" b="0" baseline="3000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-6</a:t>
                      </a:r>
                      <a:endParaRPr sz="1050" b="0" baseline="3000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0.86</a:t>
                      </a:r>
                      <a:endParaRPr sz="105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h33m</a:t>
                      </a:r>
                      <a:endParaRPr sz="105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0.175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05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Softmax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e</a:t>
                      </a:r>
                      <a:r>
                        <a:rPr lang="en-US" altLang="zh-CN" sz="1050" b="0" baseline="3000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-5</a:t>
                      </a:r>
                      <a:endParaRPr sz="1050" b="0" baseline="3000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1.23</a:t>
                      </a:r>
                      <a:endParaRPr sz="105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  <a:endParaRPr sz="105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0.086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05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MatMul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e</a:t>
                      </a:r>
                      <a:r>
                        <a:rPr lang="en-US" altLang="zh-CN" sz="1050" b="0" baseline="3000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-5</a:t>
                      </a:r>
                      <a:endParaRPr sz="1050" b="0" baseline="3000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0.45</a:t>
                      </a:r>
                      <a:endParaRPr sz="105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h55m</a:t>
                      </a:r>
                      <a:endParaRPr sz="105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11.84</a:t>
                      </a:r>
                      <a:r>
                        <a:rPr lang="en-US" altLang="zh-CN" sz="105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05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8" name="s8-primary-chain">
            <a:extLst>
              <a:ext uri="{FF2B5EF4-FFF2-40B4-BE49-F238E27FC236}">
                <a16:creationId xmlns:a16="http://schemas.microsoft.com/office/drawing/2014/main" id="{2472CF93-B2BB-ED2A-DC11-353D1A4A9371}"/>
              </a:ext>
            </a:extLst>
          </p:cNvPr>
          <p:cNvSpPr txBox="1"/>
          <p:nvPr/>
        </p:nvSpPr>
        <p:spPr>
          <a:xfrm>
            <a:off x="2921000" y="8382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7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  →  生成  →  验证  →  优化  →  交付</a:t>
            </a:r>
          </a:p>
        </p:txBody>
      </p:sp>
      <p:sp>
        <p:nvSpPr>
          <p:cNvPr id="9" name="s8-stage-number-1">
            <a:extLst>
              <a:ext uri="{FF2B5EF4-FFF2-40B4-BE49-F238E27FC236}">
                <a16:creationId xmlns:a16="http://schemas.microsoft.com/office/drawing/2014/main" id="{DB6CB4A0-3902-2971-7F19-4D4155DB57E4}"/>
              </a:ext>
            </a:extLst>
          </p:cNvPr>
          <p:cNvSpPr txBox="1"/>
          <p:nvPr/>
        </p:nvSpPr>
        <p:spPr>
          <a:xfrm>
            <a:off x="508000" y="1384300"/>
            <a:ext cx="158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01.</a:t>
            </a:r>
            <a:endParaRPr lang="zh-CN" altLang="en-US" sz="125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s8-stage-name-1">
            <a:extLst>
              <a:ext uri="{FF2B5EF4-FFF2-40B4-BE49-F238E27FC236}">
                <a16:creationId xmlns:a16="http://schemas.microsoft.com/office/drawing/2014/main" id="{68B06170-0BAF-5EBC-EC01-FD53A83072A8}"/>
              </a:ext>
            </a:extLst>
          </p:cNvPr>
          <p:cNvSpPr txBox="1"/>
          <p:nvPr/>
        </p:nvSpPr>
        <p:spPr>
          <a:xfrm>
            <a:off x="508000" y="17399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用户输入</a:t>
            </a:r>
          </a:p>
        </p:txBody>
      </p:sp>
      <p:sp>
        <p:nvSpPr>
          <p:cNvPr id="11" name="s8-stage-action-label-1">
            <a:extLst>
              <a:ext uri="{FF2B5EF4-FFF2-40B4-BE49-F238E27FC236}">
                <a16:creationId xmlns:a16="http://schemas.microsoft.com/office/drawing/2014/main" id="{6366F946-6066-75D4-CA61-B9D13A7AB929}"/>
              </a:ext>
            </a:extLst>
          </p:cNvPr>
          <p:cNvSpPr txBox="1"/>
          <p:nvPr/>
        </p:nvSpPr>
        <p:spPr>
          <a:xfrm>
            <a:off x="508000" y="2463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核心动作</a:t>
            </a:r>
          </a:p>
        </p:txBody>
      </p:sp>
      <p:sp>
        <p:nvSpPr>
          <p:cNvPr id="13" name="s8-stage-action-1">
            <a:extLst>
              <a:ext uri="{FF2B5EF4-FFF2-40B4-BE49-F238E27FC236}">
                <a16:creationId xmlns:a16="http://schemas.microsoft.com/office/drawing/2014/main" id="{C0D234DE-B794-1F32-F024-DF368731265C}"/>
              </a:ext>
            </a:extLst>
          </p:cNvPr>
          <p:cNvSpPr txBox="1"/>
          <p:nvPr/>
        </p:nvSpPr>
        <p:spPr>
          <a:xfrm>
            <a:off x="508000" y="2743200"/>
            <a:ext cx="16510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2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理解</a:t>
            </a:r>
            <a:r>
              <a:rPr lang="zh-CN" altLang="en-US" sz="1220" dirty="0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输入</a:t>
            </a:r>
            <a:endParaRPr lang="zh-CN" altLang="en-US" sz="122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s8-stage-output-label-1">
            <a:extLst>
              <a:ext uri="{FF2B5EF4-FFF2-40B4-BE49-F238E27FC236}">
                <a16:creationId xmlns:a16="http://schemas.microsoft.com/office/drawing/2014/main" id="{D8BDD895-A184-25BC-A95F-84BEE2823B03}"/>
              </a:ext>
            </a:extLst>
          </p:cNvPr>
          <p:cNvSpPr txBox="1"/>
          <p:nvPr/>
        </p:nvSpPr>
        <p:spPr>
          <a:xfrm>
            <a:off x="508000" y="3581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主要输出</a:t>
            </a:r>
          </a:p>
        </p:txBody>
      </p:sp>
      <p:sp>
        <p:nvSpPr>
          <p:cNvPr id="22" name="s8-stage-output-1">
            <a:extLst>
              <a:ext uri="{FF2B5EF4-FFF2-40B4-BE49-F238E27FC236}">
                <a16:creationId xmlns:a16="http://schemas.microsoft.com/office/drawing/2014/main" id="{E21DED5D-FA46-C46F-8AAA-F783461EED98}"/>
              </a:ext>
            </a:extLst>
          </p:cNvPr>
          <p:cNvSpPr txBox="1"/>
          <p:nvPr/>
        </p:nvSpPr>
        <p:spPr>
          <a:xfrm>
            <a:off x="508000" y="3860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4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算子需求</a:t>
            </a:r>
          </a:p>
        </p:txBody>
      </p:sp>
      <p:cxnSp>
        <p:nvCxnSpPr>
          <p:cNvPr id="23" name="s8-stage-divider-2">
            <a:extLst>
              <a:ext uri="{FF2B5EF4-FFF2-40B4-BE49-F238E27FC236}">
                <a16:creationId xmlns:a16="http://schemas.microsoft.com/office/drawing/2014/main" id="{B9B87D88-D91C-6AFA-3B0F-122C13B998AA}"/>
              </a:ext>
            </a:extLst>
          </p:cNvPr>
          <p:cNvCxnSpPr/>
          <p:nvPr/>
        </p:nvCxnSpPr>
        <p:spPr>
          <a:xfrm>
            <a:off x="2286000" y="1358900"/>
            <a:ext cx="0" cy="2959100"/>
          </a:xfrm>
          <a:prstGeom prst="line">
            <a:avLst/>
          </a:prstGeom>
          <a:ln w="1016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8-stage-number-2">
            <a:extLst>
              <a:ext uri="{FF2B5EF4-FFF2-40B4-BE49-F238E27FC236}">
                <a16:creationId xmlns:a16="http://schemas.microsoft.com/office/drawing/2014/main" id="{021141E6-55CB-E667-A1C6-713A1E63E1C8}"/>
              </a:ext>
            </a:extLst>
          </p:cNvPr>
          <p:cNvSpPr txBox="1"/>
          <p:nvPr/>
        </p:nvSpPr>
        <p:spPr>
          <a:xfrm>
            <a:off x="2413000" y="1384300"/>
            <a:ext cx="158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02.</a:t>
            </a:r>
            <a:endParaRPr lang="zh-CN" altLang="en-US" sz="125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s8-stage-name-2">
            <a:extLst>
              <a:ext uri="{FF2B5EF4-FFF2-40B4-BE49-F238E27FC236}">
                <a16:creationId xmlns:a16="http://schemas.microsoft.com/office/drawing/2014/main" id="{4731DC6C-9E2E-BA74-ECB5-718F29941364}"/>
              </a:ext>
            </a:extLst>
          </p:cNvPr>
          <p:cNvSpPr txBox="1"/>
          <p:nvPr/>
        </p:nvSpPr>
        <p:spPr>
          <a:xfrm>
            <a:off x="2413000" y="17399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环境与需求准备</a:t>
            </a:r>
          </a:p>
        </p:txBody>
      </p:sp>
      <p:sp>
        <p:nvSpPr>
          <p:cNvPr id="26" name="s8-stage-action-label-2">
            <a:extLst>
              <a:ext uri="{FF2B5EF4-FFF2-40B4-BE49-F238E27FC236}">
                <a16:creationId xmlns:a16="http://schemas.microsoft.com/office/drawing/2014/main" id="{6BD459C8-F10A-BDBB-1D99-A55EBA60301E}"/>
              </a:ext>
            </a:extLst>
          </p:cNvPr>
          <p:cNvSpPr txBox="1"/>
          <p:nvPr/>
        </p:nvSpPr>
        <p:spPr>
          <a:xfrm>
            <a:off x="2413000" y="2463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核心动作</a:t>
            </a:r>
          </a:p>
        </p:txBody>
      </p:sp>
      <p:sp>
        <p:nvSpPr>
          <p:cNvPr id="27" name="s8-stage-action-2">
            <a:extLst>
              <a:ext uri="{FF2B5EF4-FFF2-40B4-BE49-F238E27FC236}">
                <a16:creationId xmlns:a16="http://schemas.microsoft.com/office/drawing/2014/main" id="{44BEE9B7-827B-68EB-9A2D-6926EF89D50E}"/>
              </a:ext>
            </a:extLst>
          </p:cNvPr>
          <p:cNvSpPr txBox="1"/>
          <p:nvPr/>
        </p:nvSpPr>
        <p:spPr>
          <a:xfrm>
            <a:off x="2413000" y="27432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环境检查 </a:t>
            </a:r>
            <a:r>
              <a:rPr lang="en-US" altLang="zh-CN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</a:t>
            </a:r>
          </a:p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需求结构化</a:t>
            </a:r>
          </a:p>
        </p:txBody>
      </p:sp>
      <p:sp>
        <p:nvSpPr>
          <p:cNvPr id="28" name="s8-stage-output-label-2">
            <a:extLst>
              <a:ext uri="{FF2B5EF4-FFF2-40B4-BE49-F238E27FC236}">
                <a16:creationId xmlns:a16="http://schemas.microsoft.com/office/drawing/2014/main" id="{F90FD1AD-6F42-6AD1-3CFC-5198D17A590E}"/>
              </a:ext>
            </a:extLst>
          </p:cNvPr>
          <p:cNvSpPr txBox="1"/>
          <p:nvPr/>
        </p:nvSpPr>
        <p:spPr>
          <a:xfrm>
            <a:off x="2413000" y="3581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主要输出</a:t>
            </a:r>
          </a:p>
        </p:txBody>
      </p:sp>
      <p:sp>
        <p:nvSpPr>
          <p:cNvPr id="29" name="s8-stage-output-2">
            <a:extLst>
              <a:ext uri="{FF2B5EF4-FFF2-40B4-BE49-F238E27FC236}">
                <a16:creationId xmlns:a16="http://schemas.microsoft.com/office/drawing/2014/main" id="{BEBA7430-4323-DC2A-C8FB-749ED3AF0D09}"/>
              </a:ext>
            </a:extLst>
          </p:cNvPr>
          <p:cNvSpPr txBox="1"/>
          <p:nvPr/>
        </p:nvSpPr>
        <p:spPr>
          <a:xfrm>
            <a:off x="2413000" y="38608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config / requirement</a:t>
            </a:r>
            <a:endParaRPr lang="zh-CN" altLang="en-US" sz="114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30" name="s8-stage-divider-3">
            <a:extLst>
              <a:ext uri="{FF2B5EF4-FFF2-40B4-BE49-F238E27FC236}">
                <a16:creationId xmlns:a16="http://schemas.microsoft.com/office/drawing/2014/main" id="{142DDE08-B029-BBAD-5550-3A0178B35D3D}"/>
              </a:ext>
            </a:extLst>
          </p:cNvPr>
          <p:cNvCxnSpPr/>
          <p:nvPr/>
        </p:nvCxnSpPr>
        <p:spPr>
          <a:xfrm>
            <a:off x="4191000" y="1358900"/>
            <a:ext cx="0" cy="2959100"/>
          </a:xfrm>
          <a:prstGeom prst="line">
            <a:avLst/>
          </a:prstGeom>
          <a:ln w="1016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8-stage-number-3">
            <a:extLst>
              <a:ext uri="{FF2B5EF4-FFF2-40B4-BE49-F238E27FC236}">
                <a16:creationId xmlns:a16="http://schemas.microsoft.com/office/drawing/2014/main" id="{308BCCE2-947F-E412-09D8-64AA669BD813}"/>
              </a:ext>
            </a:extLst>
          </p:cNvPr>
          <p:cNvSpPr txBox="1"/>
          <p:nvPr/>
        </p:nvSpPr>
        <p:spPr>
          <a:xfrm>
            <a:off x="4318000" y="1384300"/>
            <a:ext cx="158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03.</a:t>
            </a:r>
            <a:endParaRPr lang="zh-CN" altLang="en-US" sz="125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s8-stage-name-3">
            <a:extLst>
              <a:ext uri="{FF2B5EF4-FFF2-40B4-BE49-F238E27FC236}">
                <a16:creationId xmlns:a16="http://schemas.microsoft.com/office/drawing/2014/main" id="{A6C5645C-CF0D-FB0D-DDAC-0B3592DA33FE}"/>
              </a:ext>
            </a:extLst>
          </p:cNvPr>
          <p:cNvSpPr txBox="1"/>
          <p:nvPr/>
        </p:nvSpPr>
        <p:spPr>
          <a:xfrm>
            <a:off x="4318000" y="17399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Kernel </a:t>
            </a:r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与测试生成</a:t>
            </a:r>
          </a:p>
        </p:txBody>
      </p:sp>
      <p:sp>
        <p:nvSpPr>
          <p:cNvPr id="33" name="s8-stage-action-label-3">
            <a:extLst>
              <a:ext uri="{FF2B5EF4-FFF2-40B4-BE49-F238E27FC236}">
                <a16:creationId xmlns:a16="http://schemas.microsoft.com/office/drawing/2014/main" id="{6B064114-3E38-8D2F-F12C-BAE17BB31A44}"/>
              </a:ext>
            </a:extLst>
          </p:cNvPr>
          <p:cNvSpPr txBox="1"/>
          <p:nvPr/>
        </p:nvSpPr>
        <p:spPr>
          <a:xfrm>
            <a:off x="4318000" y="2463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核心动作</a:t>
            </a:r>
          </a:p>
        </p:txBody>
      </p:sp>
      <p:sp>
        <p:nvSpPr>
          <p:cNvPr id="34" name="s8-stage-action-3">
            <a:extLst>
              <a:ext uri="{FF2B5EF4-FFF2-40B4-BE49-F238E27FC236}">
                <a16:creationId xmlns:a16="http://schemas.microsoft.com/office/drawing/2014/main" id="{8D88E7B5-890C-068F-BABC-E374767EE00A}"/>
              </a:ext>
            </a:extLst>
          </p:cNvPr>
          <p:cNvSpPr txBox="1"/>
          <p:nvPr/>
        </p:nvSpPr>
        <p:spPr>
          <a:xfrm>
            <a:off x="4318000" y="27432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Kernel </a:t>
            </a:r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设计与</a:t>
            </a:r>
          </a:p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代码生成</a:t>
            </a:r>
          </a:p>
        </p:txBody>
      </p:sp>
      <p:sp>
        <p:nvSpPr>
          <p:cNvPr id="35" name="s8-stage-output-label-3">
            <a:extLst>
              <a:ext uri="{FF2B5EF4-FFF2-40B4-BE49-F238E27FC236}">
                <a16:creationId xmlns:a16="http://schemas.microsoft.com/office/drawing/2014/main" id="{B245A11F-80C1-03C0-4A74-2853EAEE5120}"/>
              </a:ext>
            </a:extLst>
          </p:cNvPr>
          <p:cNvSpPr txBox="1"/>
          <p:nvPr/>
        </p:nvSpPr>
        <p:spPr>
          <a:xfrm>
            <a:off x="4318000" y="3581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主要输出</a:t>
            </a:r>
          </a:p>
        </p:txBody>
      </p:sp>
      <p:sp>
        <p:nvSpPr>
          <p:cNvPr id="36" name="s8-stage-output-3">
            <a:extLst>
              <a:ext uri="{FF2B5EF4-FFF2-40B4-BE49-F238E27FC236}">
                <a16:creationId xmlns:a16="http://schemas.microsoft.com/office/drawing/2014/main" id="{FDB4FFD7-50D7-6820-D792-0A24EB7FA7AB}"/>
              </a:ext>
            </a:extLst>
          </p:cNvPr>
          <p:cNvSpPr txBox="1"/>
          <p:nvPr/>
        </p:nvSpPr>
        <p:spPr>
          <a:xfrm>
            <a:off x="4318000" y="3860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Kernel + Test</a:t>
            </a:r>
            <a:endParaRPr lang="zh-CN" altLang="en-US" sz="114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37" name="s8-stage-divider-4">
            <a:extLst>
              <a:ext uri="{FF2B5EF4-FFF2-40B4-BE49-F238E27FC236}">
                <a16:creationId xmlns:a16="http://schemas.microsoft.com/office/drawing/2014/main" id="{4A1429E2-335B-48F4-AEBE-BCB94D5CA364}"/>
              </a:ext>
            </a:extLst>
          </p:cNvPr>
          <p:cNvCxnSpPr/>
          <p:nvPr/>
        </p:nvCxnSpPr>
        <p:spPr>
          <a:xfrm>
            <a:off x="6096000" y="1358900"/>
            <a:ext cx="0" cy="2959100"/>
          </a:xfrm>
          <a:prstGeom prst="line">
            <a:avLst/>
          </a:prstGeom>
          <a:ln w="1016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8-stage-number-4">
            <a:extLst>
              <a:ext uri="{FF2B5EF4-FFF2-40B4-BE49-F238E27FC236}">
                <a16:creationId xmlns:a16="http://schemas.microsoft.com/office/drawing/2014/main" id="{BFDC7F92-78AC-9582-363C-40501612D452}"/>
              </a:ext>
            </a:extLst>
          </p:cNvPr>
          <p:cNvSpPr txBox="1"/>
          <p:nvPr/>
        </p:nvSpPr>
        <p:spPr>
          <a:xfrm>
            <a:off x="6223000" y="1384300"/>
            <a:ext cx="158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04.</a:t>
            </a:r>
            <a:endParaRPr lang="zh-CN" altLang="en-US" sz="1250" b="1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4" name="s8-stage-name-4">
            <a:extLst>
              <a:ext uri="{FF2B5EF4-FFF2-40B4-BE49-F238E27FC236}">
                <a16:creationId xmlns:a16="http://schemas.microsoft.com/office/drawing/2014/main" id="{86CE3A3B-5F2C-4925-F01F-B86BDB2BD7A0}"/>
              </a:ext>
            </a:extLst>
          </p:cNvPr>
          <p:cNvSpPr txBox="1"/>
          <p:nvPr/>
        </p:nvSpPr>
        <p:spPr>
          <a:xfrm>
            <a:off x="6223000" y="17399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正确性验证与修复</a:t>
            </a:r>
          </a:p>
        </p:txBody>
      </p:sp>
      <p:sp>
        <p:nvSpPr>
          <p:cNvPr id="46" name="s8-stage-action-label-4">
            <a:extLst>
              <a:ext uri="{FF2B5EF4-FFF2-40B4-BE49-F238E27FC236}">
                <a16:creationId xmlns:a16="http://schemas.microsoft.com/office/drawing/2014/main" id="{8901ADB6-4445-E901-89B2-FF9F1953B4D5}"/>
              </a:ext>
            </a:extLst>
          </p:cNvPr>
          <p:cNvSpPr txBox="1"/>
          <p:nvPr/>
        </p:nvSpPr>
        <p:spPr>
          <a:xfrm>
            <a:off x="6223000" y="2463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核心动作</a:t>
            </a:r>
          </a:p>
        </p:txBody>
      </p:sp>
      <p:sp>
        <p:nvSpPr>
          <p:cNvPr id="50" name="s8-stage-action-4">
            <a:extLst>
              <a:ext uri="{FF2B5EF4-FFF2-40B4-BE49-F238E27FC236}">
                <a16:creationId xmlns:a16="http://schemas.microsoft.com/office/drawing/2014/main" id="{6F76231C-7680-BB26-1C4D-EEA1728D7D26}"/>
              </a:ext>
            </a:extLst>
          </p:cNvPr>
          <p:cNvSpPr txBox="1"/>
          <p:nvPr/>
        </p:nvSpPr>
        <p:spPr>
          <a:xfrm>
            <a:off x="6223000" y="27432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执行测试 →</a:t>
            </a:r>
          </a:p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对比 → 修复</a:t>
            </a:r>
          </a:p>
        </p:txBody>
      </p:sp>
      <p:sp>
        <p:nvSpPr>
          <p:cNvPr id="51" name="s8-stage-output-label-4">
            <a:extLst>
              <a:ext uri="{FF2B5EF4-FFF2-40B4-BE49-F238E27FC236}">
                <a16:creationId xmlns:a16="http://schemas.microsoft.com/office/drawing/2014/main" id="{47C59EFC-90DF-210F-D8A8-E4F942D38C49}"/>
              </a:ext>
            </a:extLst>
          </p:cNvPr>
          <p:cNvSpPr txBox="1"/>
          <p:nvPr/>
        </p:nvSpPr>
        <p:spPr>
          <a:xfrm>
            <a:off x="6223000" y="3581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主要输出</a:t>
            </a:r>
          </a:p>
        </p:txBody>
      </p:sp>
      <p:sp>
        <p:nvSpPr>
          <p:cNvPr id="52" name="s8-stage-output-4">
            <a:extLst>
              <a:ext uri="{FF2B5EF4-FFF2-40B4-BE49-F238E27FC236}">
                <a16:creationId xmlns:a16="http://schemas.microsoft.com/office/drawing/2014/main" id="{695E2EF7-B340-0D44-7C72-B4BD192E13CA}"/>
              </a:ext>
            </a:extLst>
          </p:cNvPr>
          <p:cNvSpPr txBox="1"/>
          <p:nvPr/>
        </p:nvSpPr>
        <p:spPr>
          <a:xfrm>
            <a:off x="6223000" y="3860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Verified Kernel</a:t>
            </a:r>
            <a:endParaRPr lang="zh-CN" altLang="en-US" sz="1140" b="1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3" name="s8-stage-divider-5">
            <a:extLst>
              <a:ext uri="{FF2B5EF4-FFF2-40B4-BE49-F238E27FC236}">
                <a16:creationId xmlns:a16="http://schemas.microsoft.com/office/drawing/2014/main" id="{0A5019CF-4DFD-D6A8-E6EC-59CCCB8B7083}"/>
              </a:ext>
            </a:extLst>
          </p:cNvPr>
          <p:cNvCxnSpPr/>
          <p:nvPr/>
        </p:nvCxnSpPr>
        <p:spPr>
          <a:xfrm>
            <a:off x="8001000" y="1358900"/>
            <a:ext cx="0" cy="2959100"/>
          </a:xfrm>
          <a:prstGeom prst="line">
            <a:avLst/>
          </a:prstGeom>
          <a:ln w="1016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8-stage-number-5">
            <a:extLst>
              <a:ext uri="{FF2B5EF4-FFF2-40B4-BE49-F238E27FC236}">
                <a16:creationId xmlns:a16="http://schemas.microsoft.com/office/drawing/2014/main" id="{8106BD29-5D25-1798-080A-0E3D1348C0A1}"/>
              </a:ext>
            </a:extLst>
          </p:cNvPr>
          <p:cNvSpPr txBox="1"/>
          <p:nvPr/>
        </p:nvSpPr>
        <p:spPr>
          <a:xfrm>
            <a:off x="8128000" y="1384300"/>
            <a:ext cx="158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05.</a:t>
            </a:r>
            <a:endParaRPr lang="zh-CN" altLang="en-US" sz="1250" b="1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5" name="s8-stage-name-5">
            <a:extLst>
              <a:ext uri="{FF2B5EF4-FFF2-40B4-BE49-F238E27FC236}">
                <a16:creationId xmlns:a16="http://schemas.microsoft.com/office/drawing/2014/main" id="{DFCCCC29-3714-7FA2-8B32-CE6062779965}"/>
              </a:ext>
            </a:extLst>
          </p:cNvPr>
          <p:cNvSpPr txBox="1"/>
          <p:nvPr/>
        </p:nvSpPr>
        <p:spPr>
          <a:xfrm>
            <a:off x="8128000" y="17399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性能基准与优化</a:t>
            </a:r>
          </a:p>
        </p:txBody>
      </p:sp>
      <p:sp>
        <p:nvSpPr>
          <p:cNvPr id="56" name="s8-stage-action-label-5">
            <a:extLst>
              <a:ext uri="{FF2B5EF4-FFF2-40B4-BE49-F238E27FC236}">
                <a16:creationId xmlns:a16="http://schemas.microsoft.com/office/drawing/2014/main" id="{25B34A49-F0F3-2633-4BDC-57FCCB0F076E}"/>
              </a:ext>
            </a:extLst>
          </p:cNvPr>
          <p:cNvSpPr txBox="1"/>
          <p:nvPr/>
        </p:nvSpPr>
        <p:spPr>
          <a:xfrm>
            <a:off x="8128000" y="2463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核心动作</a:t>
            </a:r>
          </a:p>
        </p:txBody>
      </p:sp>
      <p:sp>
        <p:nvSpPr>
          <p:cNvPr id="57" name="s8-stage-action-5">
            <a:extLst>
              <a:ext uri="{FF2B5EF4-FFF2-40B4-BE49-F238E27FC236}">
                <a16:creationId xmlns:a16="http://schemas.microsoft.com/office/drawing/2014/main" id="{FF265561-B6DF-720C-2636-1D325F403485}"/>
              </a:ext>
            </a:extLst>
          </p:cNvPr>
          <p:cNvSpPr txBox="1"/>
          <p:nvPr/>
        </p:nvSpPr>
        <p:spPr>
          <a:xfrm>
            <a:off x="8128000" y="27432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Benchmark → </a:t>
            </a:r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分析</a:t>
            </a:r>
          </a:p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 优化 → 复测</a:t>
            </a:r>
          </a:p>
        </p:txBody>
      </p:sp>
      <p:sp>
        <p:nvSpPr>
          <p:cNvPr id="59" name="s8-stage-output-label-5">
            <a:extLst>
              <a:ext uri="{FF2B5EF4-FFF2-40B4-BE49-F238E27FC236}">
                <a16:creationId xmlns:a16="http://schemas.microsoft.com/office/drawing/2014/main" id="{89E5DDF5-07F6-2B24-29AA-C412E1985D3C}"/>
              </a:ext>
            </a:extLst>
          </p:cNvPr>
          <p:cNvSpPr txBox="1"/>
          <p:nvPr/>
        </p:nvSpPr>
        <p:spPr>
          <a:xfrm>
            <a:off x="8128000" y="3581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主要输出</a:t>
            </a:r>
          </a:p>
        </p:txBody>
      </p:sp>
      <p:sp>
        <p:nvSpPr>
          <p:cNvPr id="60" name="s8-stage-output-5">
            <a:extLst>
              <a:ext uri="{FF2B5EF4-FFF2-40B4-BE49-F238E27FC236}">
                <a16:creationId xmlns:a16="http://schemas.microsoft.com/office/drawing/2014/main" id="{B3B02F2C-7C41-ECC8-0381-F8A0D1C151B7}"/>
              </a:ext>
            </a:extLst>
          </p:cNvPr>
          <p:cNvSpPr txBox="1"/>
          <p:nvPr/>
        </p:nvSpPr>
        <p:spPr>
          <a:xfrm>
            <a:off x="8128000" y="3860800"/>
            <a:ext cx="16510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Optimized Kernel</a:t>
            </a:r>
          </a:p>
          <a:p>
            <a:r>
              <a:rPr lang="en-US" altLang="zh-CN" sz="114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 Metrics</a:t>
            </a:r>
            <a:endParaRPr lang="zh-CN" altLang="en-US" sz="1140" b="1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61" name="s8-stage-divider-6">
            <a:extLst>
              <a:ext uri="{FF2B5EF4-FFF2-40B4-BE49-F238E27FC236}">
                <a16:creationId xmlns:a16="http://schemas.microsoft.com/office/drawing/2014/main" id="{2B459E95-D013-BB67-D3A2-A976ABB5B078}"/>
              </a:ext>
            </a:extLst>
          </p:cNvPr>
          <p:cNvCxnSpPr/>
          <p:nvPr/>
        </p:nvCxnSpPr>
        <p:spPr>
          <a:xfrm>
            <a:off x="9906000" y="1358900"/>
            <a:ext cx="0" cy="2959100"/>
          </a:xfrm>
          <a:prstGeom prst="line">
            <a:avLst/>
          </a:prstGeom>
          <a:ln w="10160">
            <a:solidFill>
              <a:srgbClr val="D6DEE6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8-stage-number-6">
            <a:extLst>
              <a:ext uri="{FF2B5EF4-FFF2-40B4-BE49-F238E27FC236}">
                <a16:creationId xmlns:a16="http://schemas.microsoft.com/office/drawing/2014/main" id="{5CB65578-75E5-21B8-F570-982595885C07}"/>
              </a:ext>
            </a:extLst>
          </p:cNvPr>
          <p:cNvSpPr txBox="1"/>
          <p:nvPr/>
        </p:nvSpPr>
        <p:spPr>
          <a:xfrm>
            <a:off x="10033000" y="1384300"/>
            <a:ext cx="158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06.</a:t>
            </a:r>
            <a:endParaRPr lang="zh-CN" altLang="en-US" sz="1250" b="1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4" name="s8-stage-name-6">
            <a:extLst>
              <a:ext uri="{FF2B5EF4-FFF2-40B4-BE49-F238E27FC236}">
                <a16:creationId xmlns:a16="http://schemas.microsoft.com/office/drawing/2014/main" id="{996213D9-EA51-D721-37CD-AB475DE59368}"/>
              </a:ext>
            </a:extLst>
          </p:cNvPr>
          <p:cNvSpPr txBox="1"/>
          <p:nvPr/>
        </p:nvSpPr>
        <p:spPr>
          <a:xfrm>
            <a:off x="10033000" y="17399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最终交付</a:t>
            </a:r>
          </a:p>
        </p:txBody>
      </p:sp>
      <p:sp>
        <p:nvSpPr>
          <p:cNvPr id="65" name="s8-stage-action-label-6">
            <a:extLst>
              <a:ext uri="{FF2B5EF4-FFF2-40B4-BE49-F238E27FC236}">
                <a16:creationId xmlns:a16="http://schemas.microsoft.com/office/drawing/2014/main" id="{17848A74-ACF8-D900-64E4-516D68F20BD0}"/>
              </a:ext>
            </a:extLst>
          </p:cNvPr>
          <p:cNvSpPr txBox="1"/>
          <p:nvPr/>
        </p:nvSpPr>
        <p:spPr>
          <a:xfrm>
            <a:off x="10033000" y="2463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核心动作</a:t>
            </a:r>
          </a:p>
        </p:txBody>
      </p:sp>
      <p:sp>
        <p:nvSpPr>
          <p:cNvPr id="66" name="s8-stage-action-6">
            <a:extLst>
              <a:ext uri="{FF2B5EF4-FFF2-40B4-BE49-F238E27FC236}">
                <a16:creationId xmlns:a16="http://schemas.microsoft.com/office/drawing/2014/main" id="{E889CFAC-190A-5DAB-4CDE-424110279165}"/>
              </a:ext>
            </a:extLst>
          </p:cNvPr>
          <p:cNvSpPr txBox="1"/>
          <p:nvPr/>
        </p:nvSpPr>
        <p:spPr>
          <a:xfrm>
            <a:off x="10033000" y="2743200"/>
            <a:ext cx="16510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汇总代码、验证结果</a:t>
            </a:r>
          </a:p>
          <a:p>
            <a:r>
              <a:rPr lang="zh-CN" altLang="en-US" sz="122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与性能报告</a:t>
            </a:r>
          </a:p>
        </p:txBody>
      </p:sp>
      <p:sp>
        <p:nvSpPr>
          <p:cNvPr id="67" name="s8-stage-output-label-6">
            <a:extLst>
              <a:ext uri="{FF2B5EF4-FFF2-40B4-BE49-F238E27FC236}">
                <a16:creationId xmlns:a16="http://schemas.microsoft.com/office/drawing/2014/main" id="{8A5C5A68-951C-043F-5FAA-473BE19A0AF3}"/>
              </a:ext>
            </a:extLst>
          </p:cNvPr>
          <p:cNvSpPr txBox="1"/>
          <p:nvPr/>
        </p:nvSpPr>
        <p:spPr>
          <a:xfrm>
            <a:off x="10033000" y="3581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主要输出</a:t>
            </a:r>
          </a:p>
        </p:txBody>
      </p:sp>
      <p:sp>
        <p:nvSpPr>
          <p:cNvPr id="68" name="s8-stage-output-6">
            <a:extLst>
              <a:ext uri="{FF2B5EF4-FFF2-40B4-BE49-F238E27FC236}">
                <a16:creationId xmlns:a16="http://schemas.microsoft.com/office/drawing/2014/main" id="{FC1C1197-B032-F415-8F3F-0D1488D40292}"/>
              </a:ext>
            </a:extLst>
          </p:cNvPr>
          <p:cNvSpPr txBox="1"/>
          <p:nvPr/>
        </p:nvSpPr>
        <p:spPr>
          <a:xfrm>
            <a:off x="10033000" y="38608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Kernel / Test /</a:t>
            </a:r>
          </a:p>
          <a:p>
            <a:r>
              <a:rPr lang="en-US" altLang="zh-CN" sz="114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Correctness / Benchmark / Report</a:t>
            </a:r>
            <a:endParaRPr lang="zh-CN" altLang="en-US" sz="1140" b="1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3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69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2.2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6-title"/>
          <p:cNvSpPr>
            <a:spLocks noGrp="1"/>
          </p:cNvSpPr>
          <p:nvPr/>
        </p:nvSpPr>
        <p:spPr>
          <a:xfrm>
            <a:off x="1198287" y="206375"/>
            <a:ext cx="9953625" cy="4572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寒武纪</a:t>
            </a:r>
            <a:r>
              <a:rPr sz="2550" b="1" dirty="0" err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</a:t>
            </a:r>
            <a:r>
              <a:rPr sz="255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Skill 的</a:t>
            </a:r>
            <a:r>
              <a:rPr lang="zh-CN" sz="255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优势</a:t>
            </a:r>
            <a:r>
              <a:rPr sz="2550" b="1" dirty="0" err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与问题</a:t>
            </a:r>
            <a:endParaRPr sz="255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2" name="left-column-heading"/>
          <p:cNvSpPr>
            <a:spLocks noGrp="1"/>
          </p:cNvSpPr>
          <p:nvPr/>
        </p:nvSpPr>
        <p:spPr>
          <a:xfrm>
            <a:off x="1127760" y="1390650"/>
            <a:ext cx="405765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40" b="1">
                <a:solidFill>
                  <a:srgbClr val="008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三大</a:t>
            </a:r>
            <a:r>
              <a:rPr lang="zh-CN" sz="16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优势</a:t>
            </a:r>
          </a:p>
        </p:txBody>
      </p:sp>
      <p:sp>
        <p:nvSpPr>
          <p:cNvPr id="13" name="right-column-heading"/>
          <p:cNvSpPr>
            <a:spLocks noGrp="1"/>
          </p:cNvSpPr>
          <p:nvPr/>
        </p:nvSpPr>
        <p:spPr>
          <a:xfrm>
            <a:off x="6671310" y="1352550"/>
            <a:ext cx="436245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40" b="1">
                <a:solidFill>
                  <a:srgbClr val="075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四个</a:t>
            </a:r>
            <a:r>
              <a:rPr sz="1600" b="1" dirty="0" err="1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问题</a:t>
            </a:r>
            <a:endParaRPr sz="1600" b="1" dirty="0">
              <a:solidFill>
                <a:srgbClr val="C77C59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9" name="flow-identify-frame"/>
          <p:cNvSpPr>
            <a:spLocks noGrp="1"/>
          </p:cNvSpPr>
          <p:nvPr/>
        </p:nvSpPr>
        <p:spPr>
          <a:xfrm>
            <a:off x="2135505" y="5445125"/>
            <a:ext cx="6377305" cy="485140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endParaRPr sz="1400" b="1"/>
          </a:p>
        </p:txBody>
      </p:sp>
      <p:sp>
        <p:nvSpPr>
          <p:cNvPr id="20" name="flow-identify-label"/>
          <p:cNvSpPr>
            <a:spLocks noGrp="1"/>
          </p:cNvSpPr>
          <p:nvPr/>
        </p:nvSpPr>
        <p:spPr>
          <a:xfrm>
            <a:off x="2927350" y="5445125"/>
            <a:ext cx="2580640" cy="53848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161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算子开发指南结构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：</a:t>
            </a:r>
          </a:p>
        </p:txBody>
      </p:sp>
      <p:sp>
        <p:nvSpPr>
          <p:cNvPr id="21" name="flow-general-process"/>
          <p:cNvSpPr>
            <a:spLocks noGrp="1"/>
          </p:cNvSpPr>
          <p:nvPr/>
        </p:nvSpPr>
        <p:spPr>
          <a:xfrm>
            <a:off x="4871002" y="5567363"/>
            <a:ext cx="1438275" cy="276225"/>
          </a:xfrm>
          <a:prstGeom prst="roundRect">
            <a:avLst>
              <a:gd name="adj" fmla="val 17241"/>
            </a:avLst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38100" tIns="0" rIns="38100" bIns="0" anchor="ctr">
            <a:normAutofit/>
          </a:bodyPr>
          <a:lstStyle/>
          <a:p>
            <a:pPr algn="ctr">
              <a:buNone/>
              <a:defRPr sz="975" b="1">
                <a:solidFill>
                  <a:srgbClr val="087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通用开发流程</a:t>
            </a:r>
          </a:p>
        </p:txBody>
      </p:sp>
      <p:sp>
        <p:nvSpPr>
          <p:cNvPr id="22" name="flow-plus"/>
          <p:cNvSpPr>
            <a:spLocks noGrp="1"/>
          </p:cNvSpPr>
          <p:nvPr/>
        </p:nvSpPr>
        <p:spPr>
          <a:xfrm>
            <a:off x="6383655" y="5589270"/>
            <a:ext cx="30480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+</a:t>
            </a:r>
          </a:p>
        </p:txBody>
      </p:sp>
      <p:sp>
        <p:nvSpPr>
          <p:cNvPr id="23" name="flow-platform-knowledge"/>
          <p:cNvSpPr>
            <a:spLocks noGrp="1"/>
          </p:cNvSpPr>
          <p:nvPr/>
        </p:nvSpPr>
        <p:spPr>
          <a:xfrm>
            <a:off x="6734175" y="5560392"/>
            <a:ext cx="1371600" cy="276225"/>
          </a:xfrm>
          <a:prstGeom prst="roundRect">
            <a:avLst>
              <a:gd name="adj" fmla="val 17241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38100" tIns="0" rIns="38100" bIns="0" anchor="ctr">
            <a:normAutofit/>
          </a:bodyPr>
          <a:lstStyle/>
          <a:p>
            <a:pPr algn="ctr">
              <a:buNone/>
              <a:defRPr sz="975" b="1">
                <a:solidFill>
                  <a:srgbClr val="124E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平台专属知识</a:t>
            </a:r>
          </a:p>
        </p:txBody>
      </p:sp>
      <p:sp>
        <p:nvSpPr>
          <p:cNvPr id="25" name="slide-6-editable-footer"/>
          <p:cNvSpPr>
            <a:spLocks noGrp="1"/>
          </p:cNvSpPr>
          <p:nvPr/>
        </p:nvSpPr>
        <p:spPr>
          <a:xfrm>
            <a:off x="219075" y="6248400"/>
            <a:ext cx="11753850" cy="52387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rmAutofit/>
          </a:bodyPr>
          <a:lstStyle/>
          <a:p>
            <a:pPr algn="ctr">
              <a:buNone/>
              <a:defRPr sz="101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</a:t>
            </a:r>
            <a:r>
              <a:rPr sz="1015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从“开发算子</a:t>
            </a:r>
            <a:r>
              <a:rPr lang="en-US" sz="1015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</a:t>
            </a:r>
            <a:r>
              <a:rPr sz="1015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”进一步到“开发算子</a:t>
            </a:r>
            <a:r>
              <a:rPr sz="1015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Skill</a:t>
            </a:r>
            <a:r>
              <a:rPr lang="zh-CN" sz="1015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指南</a:t>
            </a:r>
            <a:r>
              <a:rPr sz="1015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”：</a:t>
            </a:r>
            <a:r>
              <a:rPr sz="1015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需要解决的是通用流程如何复用、平台知识如何采集和组织</a:t>
            </a:r>
            <a:r>
              <a:rPr sz="1015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26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27" name="s13-left-1-frame"/>
          <p:cNvSpPr>
            <a:spLocks noGrp="1"/>
          </p:cNvSpPr>
          <p:nvPr/>
        </p:nvSpPr>
        <p:spPr>
          <a:xfrm>
            <a:off x="333375" y="1724025"/>
            <a:ext cx="5514975" cy="733425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28" name="s13-left-1-number"/>
          <p:cNvSpPr>
            <a:spLocks noGrp="1"/>
          </p:cNvSpPr>
          <p:nvPr/>
        </p:nvSpPr>
        <p:spPr>
          <a:xfrm>
            <a:off x="466725" y="1847850"/>
            <a:ext cx="419100" cy="371475"/>
          </a:xfrm>
          <a:prstGeom prst="roundRect">
            <a:avLst>
              <a:gd name="adj" fmla="val 1538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F3F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008A5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01</a:t>
            </a:r>
          </a:p>
        </p:txBody>
      </p:sp>
      <p:sp>
        <p:nvSpPr>
          <p:cNvPr id="29" name="s13-left-1-separator"/>
          <p:cNvSpPr>
            <a:spLocks noGrp="1"/>
          </p:cNvSpPr>
          <p:nvPr/>
        </p:nvSpPr>
        <p:spPr>
          <a:xfrm>
            <a:off x="1019175" y="1857375"/>
            <a:ext cx="9525" cy="466725"/>
          </a:xfrm>
          <a:prstGeom prst="rect">
            <a:avLst/>
          </a:prstGeom>
          <a:solidFill>
            <a:srgbClr val="EAF3F1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30" name="s13-left-1-title"/>
          <p:cNvSpPr>
            <a:spLocks noGrp="1"/>
          </p:cNvSpPr>
          <p:nvPr/>
        </p:nvSpPr>
        <p:spPr>
          <a:xfrm>
            <a:off x="1171575" y="1843323"/>
            <a:ext cx="454342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008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开发流程能够跑通</a:t>
            </a:r>
            <a:endParaRPr sz="140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1" name="s13-left-1-body"/>
          <p:cNvSpPr>
            <a:spLocks noGrp="1"/>
          </p:cNvSpPr>
          <p:nvPr/>
        </p:nvSpPr>
        <p:spPr>
          <a:xfrm>
            <a:off x="1171575" y="2147957"/>
            <a:ext cx="4543425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环境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需求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生成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验证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优化</a:t>
            </a:r>
            <a:endParaRPr sz="1200" b="1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2" name="s13-left-2-frame"/>
          <p:cNvSpPr>
            <a:spLocks noGrp="1"/>
          </p:cNvSpPr>
          <p:nvPr/>
        </p:nvSpPr>
        <p:spPr>
          <a:xfrm>
            <a:off x="381000" y="2852737"/>
            <a:ext cx="5514975" cy="733425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33" name="s13-left-2-number"/>
          <p:cNvSpPr>
            <a:spLocks noGrp="1"/>
          </p:cNvSpPr>
          <p:nvPr/>
        </p:nvSpPr>
        <p:spPr>
          <a:xfrm>
            <a:off x="514350" y="2976562"/>
            <a:ext cx="419100" cy="371475"/>
          </a:xfrm>
          <a:prstGeom prst="roundRect">
            <a:avLst>
              <a:gd name="adj" fmla="val 1538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F3F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008A5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02</a:t>
            </a:r>
          </a:p>
        </p:txBody>
      </p:sp>
      <p:sp>
        <p:nvSpPr>
          <p:cNvPr id="34" name="s13-left-2-separator"/>
          <p:cNvSpPr>
            <a:spLocks noGrp="1"/>
          </p:cNvSpPr>
          <p:nvPr/>
        </p:nvSpPr>
        <p:spPr>
          <a:xfrm>
            <a:off x="1066800" y="2986087"/>
            <a:ext cx="9525" cy="466725"/>
          </a:xfrm>
          <a:prstGeom prst="rect">
            <a:avLst/>
          </a:prstGeom>
          <a:solidFill>
            <a:srgbClr val="EAF3F1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35" name="s13-left-2-title"/>
          <p:cNvSpPr>
            <a:spLocks noGrp="1"/>
          </p:cNvSpPr>
          <p:nvPr/>
        </p:nvSpPr>
        <p:spPr>
          <a:xfrm>
            <a:off x="1219200" y="2998250"/>
            <a:ext cx="454342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008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生成与验证形成闭环</a:t>
            </a:r>
            <a:endParaRPr sz="140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6" name="s13-left-2-body"/>
          <p:cNvSpPr>
            <a:spLocks noGrp="1"/>
          </p:cNvSpPr>
          <p:nvPr/>
        </p:nvSpPr>
        <p:spPr>
          <a:xfrm>
            <a:off x="1219200" y="3276282"/>
            <a:ext cx="4543425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Kernel + Test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执行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→ Correctness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修复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/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通过</a:t>
            </a:r>
            <a:endParaRPr sz="1200" b="1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7" name="s13-left-3-frame"/>
          <p:cNvSpPr>
            <a:spLocks noGrp="1"/>
          </p:cNvSpPr>
          <p:nvPr/>
        </p:nvSpPr>
        <p:spPr>
          <a:xfrm>
            <a:off x="381000" y="3984582"/>
            <a:ext cx="5514975" cy="733425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38" name="s13-left-3-number"/>
          <p:cNvSpPr>
            <a:spLocks noGrp="1"/>
          </p:cNvSpPr>
          <p:nvPr/>
        </p:nvSpPr>
        <p:spPr>
          <a:xfrm>
            <a:off x="514350" y="4108407"/>
            <a:ext cx="419100" cy="371475"/>
          </a:xfrm>
          <a:prstGeom prst="roundRect">
            <a:avLst>
              <a:gd name="adj" fmla="val 1538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F3F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008A5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03</a:t>
            </a:r>
          </a:p>
        </p:txBody>
      </p:sp>
      <p:sp>
        <p:nvSpPr>
          <p:cNvPr id="39" name="s13-left-3-separator"/>
          <p:cNvSpPr>
            <a:spLocks noGrp="1"/>
          </p:cNvSpPr>
          <p:nvPr/>
        </p:nvSpPr>
        <p:spPr>
          <a:xfrm>
            <a:off x="1066800" y="4117932"/>
            <a:ext cx="9525" cy="466725"/>
          </a:xfrm>
          <a:prstGeom prst="rect">
            <a:avLst/>
          </a:prstGeom>
          <a:solidFill>
            <a:srgbClr val="EAF3F1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40" name="s13-left-3-title"/>
          <p:cNvSpPr>
            <a:spLocks noGrp="1"/>
          </p:cNvSpPr>
          <p:nvPr/>
        </p:nvSpPr>
        <p:spPr>
          <a:xfrm>
            <a:off x="1209675" y="4119214"/>
            <a:ext cx="454342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008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性能优化</a:t>
            </a:r>
            <a:r>
              <a:rPr lang="zh-CN" altLang="en-US"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全面</a:t>
            </a:r>
            <a:endParaRPr sz="140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41" name="s13-left-3-body"/>
          <p:cNvSpPr>
            <a:spLocks noGrp="1"/>
          </p:cNvSpPr>
          <p:nvPr/>
        </p:nvSpPr>
        <p:spPr>
          <a:xfrm>
            <a:off x="1198287" y="4401129"/>
            <a:ext cx="4543425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Benchmark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分析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优化</a:t>
            </a:r>
            <a:r>
              <a:rPr sz="1200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→ </a:t>
            </a:r>
            <a:r>
              <a:rPr sz="1200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复测</a:t>
            </a:r>
            <a:endParaRPr sz="1200" b="1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47" name="s13-right-1-frame"/>
          <p:cNvSpPr>
            <a:spLocks noGrp="1"/>
          </p:cNvSpPr>
          <p:nvPr/>
        </p:nvSpPr>
        <p:spPr>
          <a:xfrm>
            <a:off x="6181725" y="1685925"/>
            <a:ext cx="5324475" cy="7334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48" name="s13-right-1-number"/>
          <p:cNvSpPr>
            <a:spLocks noGrp="1"/>
          </p:cNvSpPr>
          <p:nvPr/>
        </p:nvSpPr>
        <p:spPr>
          <a:xfrm>
            <a:off x="6315075" y="1809750"/>
            <a:ext cx="419100" cy="371475"/>
          </a:xfrm>
          <a:prstGeom prst="roundRect">
            <a:avLst>
              <a:gd name="adj" fmla="val 1538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2F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01</a:t>
            </a:r>
          </a:p>
        </p:txBody>
      </p:sp>
      <p:sp>
        <p:nvSpPr>
          <p:cNvPr id="49" name="s13-right-1-separator"/>
          <p:cNvSpPr>
            <a:spLocks noGrp="1"/>
          </p:cNvSpPr>
          <p:nvPr/>
        </p:nvSpPr>
        <p:spPr>
          <a:xfrm>
            <a:off x="6867525" y="1819275"/>
            <a:ext cx="9525" cy="4667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50" name="s13-right-1-title"/>
          <p:cNvSpPr>
            <a:spLocks noGrp="1"/>
          </p:cNvSpPr>
          <p:nvPr/>
        </p:nvSpPr>
        <p:spPr>
          <a:xfrm>
            <a:off x="7019925" y="1891679"/>
            <a:ext cx="435292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dirty="0" err="1" smtClean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平台知识</a:t>
            </a:r>
            <a:r>
              <a:rPr lang="zh-CN" altLang="en-US" sz="1400" dirty="0" smtClean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较</a:t>
            </a:r>
            <a:r>
              <a:rPr sz="1400" dirty="0" err="1" smtClean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分散</a:t>
            </a:r>
            <a:endParaRPr sz="14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51" name="s13-right-1-body"/>
          <p:cNvSpPr>
            <a:spLocks noGrp="1"/>
          </p:cNvSpPr>
          <p:nvPr/>
        </p:nvSpPr>
        <p:spPr>
          <a:xfrm>
            <a:off x="7019925" y="1981200"/>
            <a:ext cx="4352925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90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1" dirty="0">
              <a:solidFill>
                <a:srgbClr val="27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s13-right-2-frame"/>
          <p:cNvSpPr>
            <a:spLocks noGrp="1"/>
          </p:cNvSpPr>
          <p:nvPr/>
        </p:nvSpPr>
        <p:spPr>
          <a:xfrm>
            <a:off x="6181725" y="2447925"/>
            <a:ext cx="5324475" cy="7334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3" name="s13-right-2-number"/>
          <p:cNvSpPr>
            <a:spLocks noGrp="1"/>
          </p:cNvSpPr>
          <p:nvPr/>
        </p:nvSpPr>
        <p:spPr>
          <a:xfrm>
            <a:off x="6315075" y="2571750"/>
            <a:ext cx="419100" cy="371475"/>
          </a:xfrm>
          <a:prstGeom prst="roundRect">
            <a:avLst>
              <a:gd name="adj" fmla="val 1538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2F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02</a:t>
            </a:r>
          </a:p>
        </p:txBody>
      </p:sp>
      <p:sp>
        <p:nvSpPr>
          <p:cNvPr id="54" name="s13-right-2-separator"/>
          <p:cNvSpPr>
            <a:spLocks noGrp="1"/>
          </p:cNvSpPr>
          <p:nvPr/>
        </p:nvSpPr>
        <p:spPr>
          <a:xfrm>
            <a:off x="6867525" y="2581275"/>
            <a:ext cx="9525" cy="4667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55" name="s13-right-2-title"/>
          <p:cNvSpPr>
            <a:spLocks noGrp="1"/>
          </p:cNvSpPr>
          <p:nvPr/>
        </p:nvSpPr>
        <p:spPr>
          <a:xfrm>
            <a:off x="7019925" y="2697163"/>
            <a:ext cx="435292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dirty="0" smtClean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不能适配</a:t>
            </a:r>
            <a:r>
              <a:rPr lang="zh-CN" altLang="en-US" sz="1400" dirty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其他</a:t>
            </a:r>
            <a:r>
              <a:rPr sz="1400" dirty="0" err="1" smtClean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</a:t>
            </a:r>
            <a:endParaRPr sz="14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56" name="s13-right-2-body"/>
          <p:cNvSpPr>
            <a:spLocks noGrp="1"/>
          </p:cNvSpPr>
          <p:nvPr/>
        </p:nvSpPr>
        <p:spPr>
          <a:xfrm>
            <a:off x="7019925" y="2743200"/>
            <a:ext cx="4352925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90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1" dirty="0">
              <a:solidFill>
                <a:srgbClr val="27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s13-right-3-frame"/>
          <p:cNvSpPr>
            <a:spLocks noGrp="1"/>
          </p:cNvSpPr>
          <p:nvPr/>
        </p:nvSpPr>
        <p:spPr>
          <a:xfrm>
            <a:off x="6181725" y="3209925"/>
            <a:ext cx="5324475" cy="7334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8" name="s13-right-3-number"/>
          <p:cNvSpPr>
            <a:spLocks noGrp="1"/>
          </p:cNvSpPr>
          <p:nvPr/>
        </p:nvSpPr>
        <p:spPr>
          <a:xfrm>
            <a:off x="6315075" y="3333750"/>
            <a:ext cx="419100" cy="371475"/>
          </a:xfrm>
          <a:prstGeom prst="roundRect">
            <a:avLst>
              <a:gd name="adj" fmla="val 1538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2F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03</a:t>
            </a:r>
          </a:p>
        </p:txBody>
      </p:sp>
      <p:sp>
        <p:nvSpPr>
          <p:cNvPr id="59" name="s13-right-3-separator"/>
          <p:cNvSpPr>
            <a:spLocks noGrp="1"/>
          </p:cNvSpPr>
          <p:nvPr/>
        </p:nvSpPr>
        <p:spPr>
          <a:xfrm>
            <a:off x="6867525" y="3343275"/>
            <a:ext cx="9525" cy="4667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60" name="s13-right-3-title"/>
          <p:cNvSpPr>
            <a:spLocks noGrp="1"/>
          </p:cNvSpPr>
          <p:nvPr/>
        </p:nvSpPr>
        <p:spPr>
          <a:xfrm>
            <a:off x="6999605" y="3424237"/>
            <a:ext cx="435292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dirty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新</a:t>
            </a:r>
            <a:r>
              <a:rPr lang="zh-CN" altLang="en-US" sz="1400" dirty="0" smtClean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加一些优化较为困难</a:t>
            </a:r>
            <a:endParaRPr sz="14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3" name="s13-right-4-frame"/>
          <p:cNvSpPr>
            <a:spLocks noGrp="1"/>
          </p:cNvSpPr>
          <p:nvPr/>
        </p:nvSpPr>
        <p:spPr>
          <a:xfrm>
            <a:off x="6181725" y="3971925"/>
            <a:ext cx="5324475" cy="7524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4" name="s13-right-4-number"/>
          <p:cNvSpPr>
            <a:spLocks noGrp="1"/>
          </p:cNvSpPr>
          <p:nvPr/>
        </p:nvSpPr>
        <p:spPr>
          <a:xfrm>
            <a:off x="6315075" y="4095750"/>
            <a:ext cx="419100" cy="371475"/>
          </a:xfrm>
          <a:prstGeom prst="roundRect">
            <a:avLst>
              <a:gd name="adj" fmla="val 1538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2F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4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04</a:t>
            </a:r>
          </a:p>
        </p:txBody>
      </p:sp>
      <p:sp>
        <p:nvSpPr>
          <p:cNvPr id="65" name="s13-right-4-separator"/>
          <p:cNvSpPr>
            <a:spLocks noGrp="1"/>
          </p:cNvSpPr>
          <p:nvPr/>
        </p:nvSpPr>
        <p:spPr>
          <a:xfrm>
            <a:off x="6867525" y="4105275"/>
            <a:ext cx="9525" cy="48577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66" name="s13-right-4-title"/>
          <p:cNvSpPr>
            <a:spLocks noGrp="1"/>
          </p:cNvSpPr>
          <p:nvPr/>
        </p:nvSpPr>
        <p:spPr>
          <a:xfrm>
            <a:off x="6999605" y="4178300"/>
            <a:ext cx="435292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dirty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开发时间较长</a:t>
            </a:r>
            <a:endParaRPr sz="14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7" name="s13-right-4-body"/>
          <p:cNvSpPr>
            <a:spLocks noGrp="1"/>
          </p:cNvSpPr>
          <p:nvPr/>
        </p:nvSpPr>
        <p:spPr>
          <a:xfrm>
            <a:off x="7019925" y="4267200"/>
            <a:ext cx="4352925" cy="4191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90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1" dirty="0">
              <a:solidFill>
                <a:srgbClr val="2736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61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2.3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s-title"/>
          <p:cNvSpPr>
            <a:spLocks noGrp="1"/>
          </p:cNvSpPr>
          <p:nvPr/>
        </p:nvSpPr>
        <p:spPr>
          <a:xfrm>
            <a:off x="609600" y="2476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目录</a:t>
            </a:r>
          </a:p>
        </p:txBody>
      </p:sp>
      <p:sp>
        <p:nvSpPr>
          <p:cNvPr id="2" name="contents-subtitle"/>
          <p:cNvSpPr>
            <a:spLocks noGrp="1"/>
          </p:cNvSpPr>
          <p:nvPr/>
        </p:nvSpPr>
        <p:spPr>
          <a:xfrm>
            <a:off x="609600" y="742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Contents</a:t>
            </a:r>
          </a:p>
        </p:txBody>
      </p:sp>
      <p:sp>
        <p:nvSpPr>
          <p:cNvPr id="4" name="contents-header-rule"/>
          <p:cNvSpPr>
            <a:spLocks noGrp="1"/>
          </p:cNvSpPr>
          <p:nvPr/>
        </p:nvSpPr>
        <p:spPr>
          <a:xfrm>
            <a:off x="609600" y="1104900"/>
            <a:ext cx="10972800" cy="14288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  <a:effectLst/>
        </p:spPr>
      </p:sp>
      <p:sp>
        <p:nvSpPr>
          <p:cNvPr id="5" name="contents-card-1"/>
          <p:cNvSpPr>
            <a:spLocks noGrp="1"/>
          </p:cNvSpPr>
          <p:nvPr/>
        </p:nvSpPr>
        <p:spPr>
          <a:xfrm>
            <a:off x="609600" y="1295400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6" name="contents-card-1-accent"/>
          <p:cNvSpPr>
            <a:spLocks noGrp="1"/>
          </p:cNvSpPr>
          <p:nvPr/>
        </p:nvSpPr>
        <p:spPr>
          <a:xfrm>
            <a:off x="609600" y="1295400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7" name="contents-card-1-part"/>
          <p:cNvSpPr>
            <a:spLocks noGrp="1"/>
          </p:cNvSpPr>
          <p:nvPr/>
        </p:nvSpPr>
        <p:spPr>
          <a:xfrm>
            <a:off x="839470" y="16287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buClrTx/>
              <a:buSzTx/>
              <a:buFontTx/>
              <a:defRPr sz="1125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01</a:t>
            </a:r>
          </a:p>
        </p:txBody>
      </p:sp>
      <p:sp>
        <p:nvSpPr>
          <p:cNvPr id="9" name="contents-card-1-divider"/>
          <p:cNvSpPr>
            <a:spLocks noGrp="1"/>
          </p:cNvSpPr>
          <p:nvPr/>
        </p:nvSpPr>
        <p:spPr>
          <a:xfrm>
            <a:off x="2047875" y="143827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0" name="contents-card-1-title"/>
          <p:cNvSpPr>
            <a:spLocks noGrp="1"/>
          </p:cNvSpPr>
          <p:nvPr/>
        </p:nvSpPr>
        <p:spPr>
          <a:xfrm>
            <a:off x="2286000" y="139065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Agent/</a:t>
            </a: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基础：使用与开发</a:t>
            </a:r>
          </a:p>
        </p:txBody>
      </p:sp>
      <p:sp>
        <p:nvSpPr>
          <p:cNvPr id="13" name="contents-card-2"/>
          <p:cNvSpPr>
            <a:spLocks noGrp="1"/>
          </p:cNvSpPr>
          <p:nvPr/>
        </p:nvSpPr>
        <p:spPr>
          <a:xfrm>
            <a:off x="609600" y="2428875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14" name="contents-card-2-accent"/>
          <p:cNvSpPr>
            <a:spLocks noGrp="1"/>
          </p:cNvSpPr>
          <p:nvPr/>
        </p:nvSpPr>
        <p:spPr>
          <a:xfrm>
            <a:off x="609600" y="2428875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5" name="contents-card-2-part"/>
          <p:cNvSpPr>
            <a:spLocks noGrp="1"/>
          </p:cNvSpPr>
          <p:nvPr/>
        </p:nvSpPr>
        <p:spPr>
          <a:xfrm>
            <a:off x="838200" y="25622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02</a:t>
            </a:r>
          </a:p>
        </p:txBody>
      </p:sp>
      <p:sp>
        <p:nvSpPr>
          <p:cNvPr id="17" name="contents-card-2-divider"/>
          <p:cNvSpPr>
            <a:spLocks noGrp="1"/>
          </p:cNvSpPr>
          <p:nvPr/>
        </p:nvSpPr>
        <p:spPr>
          <a:xfrm>
            <a:off x="2047875" y="257175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8" name="contents-card-2-title"/>
          <p:cNvSpPr>
            <a:spLocks noGrp="1"/>
          </p:cNvSpPr>
          <p:nvPr/>
        </p:nvSpPr>
        <p:spPr>
          <a:xfrm>
            <a:off x="2286000" y="252412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寒武纪</a:t>
            </a: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Skill：实践与问题</a:t>
            </a:r>
          </a:p>
        </p:txBody>
      </p:sp>
      <p:sp>
        <p:nvSpPr>
          <p:cNvPr id="21" name="contents-card-3"/>
          <p:cNvSpPr>
            <a:spLocks noGrp="1"/>
          </p:cNvSpPr>
          <p:nvPr/>
        </p:nvSpPr>
        <p:spPr>
          <a:xfrm>
            <a:off x="609600" y="3562350"/>
            <a:ext cx="10972800" cy="981075"/>
          </a:xfrm>
          <a:prstGeom prst="rect">
            <a:avLst/>
          </a:prstGeom>
          <a:solidFill>
            <a:srgbClr val="EEF2F5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22" name="contents-card-3-accent"/>
          <p:cNvSpPr>
            <a:spLocks noGrp="1"/>
          </p:cNvSpPr>
          <p:nvPr/>
        </p:nvSpPr>
        <p:spPr>
          <a:xfrm>
            <a:off x="609600" y="3562350"/>
            <a:ext cx="66675" cy="981075"/>
          </a:xfrm>
          <a:prstGeom prst="rect">
            <a:avLst/>
          </a:prstGeom>
          <a:solidFill>
            <a:srgbClr val="5B7188"/>
          </a:solidFill>
          <a:ln w="0">
            <a:noFill/>
            <a:prstDash val="solid"/>
          </a:ln>
          <a:effectLst/>
        </p:spPr>
      </p:sp>
      <p:sp>
        <p:nvSpPr>
          <p:cNvPr id="23" name="contents-card-3-part"/>
          <p:cNvSpPr>
            <a:spLocks noGrp="1"/>
          </p:cNvSpPr>
          <p:nvPr/>
        </p:nvSpPr>
        <p:spPr>
          <a:xfrm>
            <a:off x="838200" y="36957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lvl="0">
              <a:buClrTx/>
              <a:buSzTx/>
              <a:buFontTx/>
              <a:defRPr sz="1125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PART 03</a:t>
            </a:r>
          </a:p>
        </p:txBody>
      </p:sp>
      <p:sp>
        <p:nvSpPr>
          <p:cNvPr id="25" name="contents-card-3-divider"/>
          <p:cNvSpPr>
            <a:spLocks noGrp="1"/>
          </p:cNvSpPr>
          <p:nvPr/>
        </p:nvSpPr>
        <p:spPr>
          <a:xfrm>
            <a:off x="2047875" y="370522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26" name="contents-card-3-title"/>
          <p:cNvSpPr>
            <a:spLocks noGrp="1"/>
          </p:cNvSpPr>
          <p:nvPr/>
        </p:nvSpPr>
        <p:spPr>
          <a:xfrm>
            <a:off x="2286000" y="365760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 开发指南与多平台实践</a:t>
            </a:r>
          </a:p>
        </p:txBody>
      </p:sp>
      <p:sp>
        <p:nvSpPr>
          <p:cNvPr id="29" name="contents-card-4"/>
          <p:cNvSpPr>
            <a:spLocks noGrp="1"/>
          </p:cNvSpPr>
          <p:nvPr/>
        </p:nvSpPr>
        <p:spPr>
          <a:xfrm>
            <a:off x="623570" y="4652645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30" name="contents-card-4-accent"/>
          <p:cNvSpPr>
            <a:spLocks noGrp="1"/>
          </p:cNvSpPr>
          <p:nvPr/>
        </p:nvSpPr>
        <p:spPr>
          <a:xfrm>
            <a:off x="609600" y="4695825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31" name="contents-card-4-part"/>
          <p:cNvSpPr>
            <a:spLocks noGrp="1"/>
          </p:cNvSpPr>
          <p:nvPr/>
        </p:nvSpPr>
        <p:spPr>
          <a:xfrm>
            <a:off x="838200" y="48291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7B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04</a:t>
            </a:r>
          </a:p>
        </p:txBody>
      </p:sp>
      <p:sp>
        <p:nvSpPr>
          <p:cNvPr id="33" name="contents-card-4-divider"/>
          <p:cNvSpPr>
            <a:spLocks noGrp="1"/>
          </p:cNvSpPr>
          <p:nvPr/>
        </p:nvSpPr>
        <p:spPr>
          <a:xfrm>
            <a:off x="2047875" y="483870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34" name="contents-card-4-title"/>
          <p:cNvSpPr>
            <a:spLocks noGrp="1"/>
          </p:cNvSpPr>
          <p:nvPr/>
        </p:nvSpPr>
        <p:spPr>
          <a:xfrm>
            <a:off x="2286000" y="479107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未来展望</a:t>
            </a:r>
          </a:p>
        </p:txBody>
      </p:sp>
      <p:sp>
        <p:nvSpPr>
          <p:cNvPr id="38" name="contents-bottom-accent"/>
          <p:cNvSpPr>
            <a:spLocks noGrp="1"/>
          </p:cNvSpPr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294A6D"/>
          </a:solidFill>
          <a:ln w="0">
            <a:noFill/>
            <a:prstDash val="solid"/>
          </a:ln>
          <a:effectLst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7-title"/>
          <p:cNvSpPr>
            <a:spLocks noGrp="1"/>
          </p:cNvSpPr>
          <p:nvPr/>
        </p:nvSpPr>
        <p:spPr>
          <a:xfrm>
            <a:off x="977900" y="245409"/>
            <a:ext cx="8763000" cy="466725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dirty="0" err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算子</a:t>
            </a:r>
            <a:r>
              <a:rPr sz="255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Skill </a:t>
            </a:r>
            <a:r>
              <a:rPr sz="2550" b="1" dirty="0" err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开发指南：通用框架</a:t>
            </a:r>
            <a:r>
              <a:rPr sz="255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× </a:t>
            </a:r>
            <a:r>
              <a:rPr sz="2550" b="1" dirty="0" err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平台知识</a:t>
            </a:r>
            <a:r>
              <a:rPr sz="255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× </a:t>
            </a:r>
            <a:r>
              <a:rPr sz="2550" b="1" dirty="0" err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验证闭环</a:t>
            </a:r>
            <a:endParaRPr sz="255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framework-synthesis"/>
          <p:cNvSpPr>
            <a:spLocks noGrp="1"/>
          </p:cNvSpPr>
          <p:nvPr/>
        </p:nvSpPr>
        <p:spPr>
          <a:xfrm>
            <a:off x="3271422" y="5353050"/>
            <a:ext cx="5095875" cy="266700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76200" tIns="0" rIns="76200" bIns="0" anchor="ctr">
            <a:normAutofit/>
          </a:bodyPr>
          <a:lstStyle/>
          <a:p>
            <a:pPr algn="ctr">
              <a:buNone/>
              <a:defRPr sz="940" b="1">
                <a:solidFill>
                  <a:srgbClr val="1738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★  </a:t>
            </a:r>
            <a:r>
              <a:rPr sz="94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通用框架提供骨架，平台知识填充差异，真实验证不断校准两者</a:t>
            </a:r>
            <a:r>
              <a:rPr sz="94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6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17" name="slide-7-editable-footer"/>
          <p:cNvSpPr>
            <a:spLocks noGrp="1"/>
          </p:cNvSpPr>
          <p:nvPr/>
        </p:nvSpPr>
        <p:spPr>
          <a:xfrm>
            <a:off x="228600" y="6400800"/>
            <a:ext cx="11696700" cy="3905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rmAutofit/>
          </a:bodyPr>
          <a:lstStyle/>
          <a:p>
            <a:pPr algn="ctr">
              <a:buNone/>
              <a:defRPr sz="9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算子skill的开发不是一蹴而就的，需要不断的完善和更新迭代。平台事实验证和环境验证看起来复杂，实际上可以通过一类模板指令让大模型进行检测。</a:t>
            </a:r>
          </a:p>
        </p:txBody>
      </p:sp>
      <p:sp>
        <p:nvSpPr>
          <p:cNvPr id="18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19" name="s15-universal-frame"/>
          <p:cNvSpPr>
            <a:spLocks noGrp="1"/>
          </p:cNvSpPr>
          <p:nvPr/>
        </p:nvSpPr>
        <p:spPr>
          <a:xfrm>
            <a:off x="3676235" y="869880"/>
            <a:ext cx="4743450" cy="990600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20" name="s15-universal-title"/>
          <p:cNvSpPr>
            <a:spLocks noGrp="1"/>
          </p:cNvSpPr>
          <p:nvPr/>
        </p:nvSpPr>
        <p:spPr>
          <a:xfrm>
            <a:off x="3760573" y="953386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defRPr sz="116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通用框架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1" name="s15-universal-subtitle"/>
          <p:cNvSpPr>
            <a:spLocks noGrp="1"/>
          </p:cNvSpPr>
          <p:nvPr/>
        </p:nvSpPr>
        <p:spPr>
          <a:xfrm>
            <a:off x="3781010" y="1201036"/>
            <a:ext cx="4514850" cy="666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生成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验证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优化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输出</a:t>
            </a:r>
            <a:endParaRPr sz="140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s15-arrow-1"/>
          <p:cNvSpPr>
            <a:spLocks noGrp="1"/>
          </p:cNvSpPr>
          <p:nvPr/>
        </p:nvSpPr>
        <p:spPr>
          <a:xfrm>
            <a:off x="5905085" y="184143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65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Calibri" panose="020F0502020204030204"/>
            </a:endParaRPr>
          </a:p>
        </p:txBody>
      </p:sp>
      <p:sp>
        <p:nvSpPr>
          <p:cNvPr id="23" name="s15-platform-frame"/>
          <p:cNvSpPr>
            <a:spLocks noGrp="1"/>
          </p:cNvSpPr>
          <p:nvPr/>
        </p:nvSpPr>
        <p:spPr>
          <a:xfrm>
            <a:off x="3676235" y="2060505"/>
            <a:ext cx="4743450" cy="1257300"/>
          </a:xfrm>
          <a:prstGeom prst="rect">
            <a:avLst/>
          </a:prstGeom>
          <a:solidFill>
            <a:srgbClr val="EAF3F1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24" name="s15-platform-title"/>
          <p:cNvSpPr>
            <a:spLocks noGrp="1"/>
          </p:cNvSpPr>
          <p:nvPr/>
        </p:nvSpPr>
        <p:spPr>
          <a:xfrm>
            <a:off x="3790535" y="2098605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5797"/>
          </a:bodyPr>
          <a:lstStyle/>
          <a:p>
            <a:pPr algn="ctr">
              <a:defRPr sz="1165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平台知识</a:t>
            </a:r>
            <a:endParaRPr sz="1600" dirty="0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5" name="s15-platform-left"/>
          <p:cNvSpPr>
            <a:spLocks noGrp="1"/>
          </p:cNvSpPr>
          <p:nvPr/>
        </p:nvSpPr>
        <p:spPr>
          <a:xfrm>
            <a:off x="4543010" y="2460555"/>
            <a:ext cx="1276350" cy="561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Hardware</a:t>
            </a:r>
          </a:p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API / Primitive</a:t>
            </a:r>
          </a:p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Profiler</a:t>
            </a:r>
          </a:p>
        </p:txBody>
      </p:sp>
      <p:sp>
        <p:nvSpPr>
          <p:cNvPr id="26" name="s15-platform-mid-rule"/>
          <p:cNvSpPr>
            <a:spLocks noGrp="1"/>
          </p:cNvSpPr>
          <p:nvPr/>
        </p:nvSpPr>
        <p:spPr>
          <a:xfrm>
            <a:off x="5914610" y="2479605"/>
            <a:ext cx="9525" cy="514350"/>
          </a:xfrm>
          <a:prstGeom prst="rect">
            <a:avLst/>
          </a:prstGeom>
          <a:solidFill>
            <a:srgbClr val="EAF3F1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27" name="s15-platform-right"/>
          <p:cNvSpPr>
            <a:spLocks noGrp="1"/>
          </p:cNvSpPr>
          <p:nvPr/>
        </p:nvSpPr>
        <p:spPr>
          <a:xfrm>
            <a:off x="6209885" y="2460555"/>
            <a:ext cx="1695450" cy="561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Programming Model</a:t>
            </a:r>
          </a:p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Environment / Toolchain</a:t>
            </a:r>
          </a:p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Optimization / Examples</a:t>
            </a:r>
          </a:p>
        </p:txBody>
      </p:sp>
      <p:sp>
        <p:nvSpPr>
          <p:cNvPr id="30" name="s15-validation-frame"/>
          <p:cNvSpPr>
            <a:spLocks noGrp="1"/>
          </p:cNvSpPr>
          <p:nvPr/>
        </p:nvSpPr>
        <p:spPr>
          <a:xfrm>
            <a:off x="3676235" y="3470205"/>
            <a:ext cx="4743450" cy="1057275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31" name="s15-validation-title"/>
          <p:cNvSpPr>
            <a:spLocks noGrp="1"/>
          </p:cNvSpPr>
          <p:nvPr/>
        </p:nvSpPr>
        <p:spPr>
          <a:xfrm>
            <a:off x="3790535" y="3508305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6540"/>
          </a:bodyPr>
          <a:lstStyle/>
          <a:p>
            <a:pPr algn="ctr">
              <a:defRPr sz="109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验证与校准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2" name="s15-validation-subtitle"/>
          <p:cNvSpPr>
            <a:spLocks noGrp="1"/>
          </p:cNvSpPr>
          <p:nvPr/>
        </p:nvSpPr>
        <p:spPr>
          <a:xfrm>
            <a:off x="3790535" y="3755955"/>
            <a:ext cx="4514850" cy="7334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L1  环境验证</a:t>
            </a: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L2  平台事实验证 / 微基准</a:t>
            </a: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L3  典型算子验证</a:t>
            </a: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LayerNorm · Softmax · MatMul</a:t>
            </a:r>
          </a:p>
        </p:txBody>
      </p:sp>
      <p:sp>
        <p:nvSpPr>
          <p:cNvPr id="33" name="s15-arrow-3-left"/>
          <p:cNvSpPr>
            <a:spLocks noGrp="1"/>
          </p:cNvSpPr>
          <p:nvPr/>
        </p:nvSpPr>
        <p:spPr>
          <a:xfrm>
            <a:off x="4685885" y="450843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↓</a:t>
            </a:r>
          </a:p>
        </p:txBody>
      </p:sp>
      <p:sp>
        <p:nvSpPr>
          <p:cNvPr id="34" name="s15-arrow-3-right"/>
          <p:cNvSpPr>
            <a:spLocks noGrp="1"/>
          </p:cNvSpPr>
          <p:nvPr/>
        </p:nvSpPr>
        <p:spPr>
          <a:xfrm>
            <a:off x="7067135" y="450843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↓</a:t>
            </a:r>
          </a:p>
        </p:txBody>
      </p:sp>
      <p:sp>
        <p:nvSpPr>
          <p:cNvPr id="35" name="s15-update-knowledge"/>
          <p:cNvSpPr>
            <a:spLocks noGrp="1"/>
          </p:cNvSpPr>
          <p:nvPr/>
        </p:nvSpPr>
        <p:spPr>
          <a:xfrm>
            <a:off x="3733385" y="4698930"/>
            <a:ext cx="1847850" cy="428625"/>
          </a:xfrm>
          <a:prstGeom prst="roundRect">
            <a:avLst>
              <a:gd name="adj" fmla="val 15556"/>
            </a:avLst>
          </a:prstGeom>
          <a:solidFill>
            <a:srgbClr val="F6ECE6"/>
          </a:solidFill>
          <a:ln w="1143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dirty="0" err="1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更新平台知识</a:t>
            </a:r>
            <a:endParaRPr sz="915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6" name="s15-adjust-workflow"/>
          <p:cNvSpPr>
            <a:spLocks noGrp="1"/>
          </p:cNvSpPr>
          <p:nvPr/>
        </p:nvSpPr>
        <p:spPr>
          <a:xfrm>
            <a:off x="6381335" y="4698930"/>
            <a:ext cx="1752600" cy="428625"/>
          </a:xfrm>
          <a:prstGeom prst="roundRect">
            <a:avLst>
              <a:gd name="adj" fmla="val 15556"/>
            </a:avLst>
          </a:prstGeom>
          <a:solidFill>
            <a:srgbClr val="F6ECE6"/>
          </a:solidFill>
          <a:ln w="1143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dirty="0" err="1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修正通用流程</a:t>
            </a:r>
            <a:endParaRPr sz="915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3" name="s15-feedback-label"/>
          <p:cNvSpPr>
            <a:spLocks noGrp="1"/>
          </p:cNvSpPr>
          <p:nvPr/>
        </p:nvSpPr>
        <p:spPr>
          <a:xfrm>
            <a:off x="1628775" y="5800725"/>
            <a:ext cx="1304925" cy="514350"/>
          </a:xfrm>
          <a:prstGeom prst="roundRect">
            <a:avLst>
              <a:gd name="adj" fmla="val 12963"/>
            </a:avLst>
          </a:prstGeom>
          <a:solidFill>
            <a:srgbClr val="294A6D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dirty="0" err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反馈规则</a:t>
            </a:r>
            <a:endParaRPr sz="1165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84" name="s15-feedback-1-title"/>
          <p:cNvSpPr>
            <a:spLocks noGrp="1"/>
          </p:cNvSpPr>
          <p:nvPr/>
        </p:nvSpPr>
        <p:spPr>
          <a:xfrm>
            <a:off x="3086100" y="583882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8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平台事实不符</a:t>
            </a:r>
          </a:p>
        </p:txBody>
      </p:sp>
      <p:sp>
        <p:nvSpPr>
          <p:cNvPr id="85" name="s15-feedback-1-action"/>
          <p:cNvSpPr>
            <a:spLocks noGrp="1"/>
          </p:cNvSpPr>
          <p:nvPr/>
        </p:nvSpPr>
        <p:spPr>
          <a:xfrm>
            <a:off x="3086100" y="6038850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 更新 Platform Knowledge</a:t>
            </a:r>
          </a:p>
        </p:txBody>
      </p:sp>
      <p:sp>
        <p:nvSpPr>
          <p:cNvPr id="86" name="s15-feedback-divider-1"/>
          <p:cNvSpPr>
            <a:spLocks noGrp="1"/>
          </p:cNvSpPr>
          <p:nvPr/>
        </p:nvSpPr>
        <p:spPr>
          <a:xfrm>
            <a:off x="5124450" y="5867400"/>
            <a:ext cx="9525" cy="3810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87" name="s15-feedback-2-title"/>
          <p:cNvSpPr>
            <a:spLocks noGrp="1"/>
          </p:cNvSpPr>
          <p:nvPr/>
        </p:nvSpPr>
        <p:spPr>
          <a:xfrm>
            <a:off x="5276850" y="583882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85" b="1">
                <a:solidFill>
                  <a:srgbClr val="E971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优化策略失效</a:t>
            </a:r>
          </a:p>
        </p:txBody>
      </p:sp>
      <p:sp>
        <p:nvSpPr>
          <p:cNvPr id="88" name="s15-feedback-2-action"/>
          <p:cNvSpPr>
            <a:spLocks noGrp="1"/>
          </p:cNvSpPr>
          <p:nvPr/>
        </p:nvSpPr>
        <p:spPr>
          <a:xfrm>
            <a:off x="5276850" y="6038850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 更新 Optimization Rules</a:t>
            </a:r>
          </a:p>
        </p:txBody>
      </p:sp>
      <p:sp>
        <p:nvSpPr>
          <p:cNvPr id="89" name="s15-feedback-divider-2"/>
          <p:cNvSpPr>
            <a:spLocks noGrp="1"/>
          </p:cNvSpPr>
          <p:nvPr/>
        </p:nvSpPr>
        <p:spPr>
          <a:xfrm>
            <a:off x="7315200" y="5867400"/>
            <a:ext cx="9525" cy="3810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90" name="s15-feedback-3-title"/>
          <p:cNvSpPr>
            <a:spLocks noGrp="1"/>
          </p:cNvSpPr>
          <p:nvPr/>
        </p:nvSpPr>
        <p:spPr>
          <a:xfrm>
            <a:off x="7467600" y="583882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8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流程信息不足</a:t>
            </a:r>
          </a:p>
        </p:txBody>
      </p:sp>
      <p:sp>
        <p:nvSpPr>
          <p:cNvPr id="91" name="s15-feedback-3-action"/>
          <p:cNvSpPr>
            <a:spLocks noGrp="1"/>
          </p:cNvSpPr>
          <p:nvPr/>
        </p:nvSpPr>
        <p:spPr>
          <a:xfrm>
            <a:off x="7467600" y="6038850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 调整 Workflow / Contract</a:t>
            </a:r>
          </a:p>
        </p:txBody>
      </p:sp>
      <p:sp>
        <p:nvSpPr>
          <p:cNvPr id="38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3.1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6313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7-title"/>
          <p:cNvSpPr>
            <a:spLocks noGrp="1"/>
          </p:cNvSpPr>
          <p:nvPr/>
        </p:nvSpPr>
        <p:spPr>
          <a:xfrm>
            <a:off x="1057275" y="205090"/>
            <a:ext cx="8763000" cy="466725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开发新</a:t>
            </a:r>
            <a:r>
              <a:rPr lang="en-US" altLang="zh-CN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</a:t>
            </a:r>
            <a:r>
              <a:rPr lang="zh-CN" altLang="en-US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指南</a:t>
            </a:r>
            <a:endParaRPr sz="255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universal-framework-question"/>
          <p:cNvSpPr>
            <a:spLocks noGrp="1"/>
          </p:cNvSpPr>
          <p:nvPr/>
        </p:nvSpPr>
        <p:spPr>
          <a:xfrm>
            <a:off x="6477000" y="885825"/>
            <a:ext cx="5095875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0A4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① 通用框架｜什么东西应该保持稳定？</a:t>
            </a:r>
          </a:p>
        </p:txBody>
      </p:sp>
      <p:sp>
        <p:nvSpPr>
          <p:cNvPr id="9" name="universal-framework-takeaway"/>
          <p:cNvSpPr>
            <a:spLocks noGrp="1"/>
          </p:cNvSpPr>
          <p:nvPr/>
        </p:nvSpPr>
        <p:spPr>
          <a:xfrm>
            <a:off x="6600190" y="2095500"/>
            <a:ext cx="4257675" cy="228600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38100" tIns="0" rIns="38100" bIns="0" anchor="ctr">
            <a:normAutofit/>
          </a:bodyPr>
          <a:lstStyle/>
          <a:p>
            <a:pPr algn="ctr">
              <a:buNone/>
              <a:defRPr sz="940" b="1">
                <a:solidFill>
                  <a:srgbClr val="1738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框架有时也需要根据实际情况进行微调。</a:t>
            </a:r>
          </a:p>
        </p:txBody>
      </p:sp>
      <p:sp>
        <p:nvSpPr>
          <p:cNvPr id="10" name="platform-knowledge-question"/>
          <p:cNvSpPr>
            <a:spLocks noGrp="1"/>
          </p:cNvSpPr>
          <p:nvPr/>
        </p:nvSpPr>
        <p:spPr>
          <a:xfrm>
            <a:off x="6477000" y="2390775"/>
            <a:ext cx="5095875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087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② 平台知识｜换平台时到底要补什么？</a:t>
            </a:r>
          </a:p>
        </p:txBody>
      </p:sp>
      <p:sp>
        <p:nvSpPr>
          <p:cNvPr id="11" name="platform-knowledge-takeaway"/>
          <p:cNvSpPr>
            <a:spLocks noGrp="1"/>
          </p:cNvSpPr>
          <p:nvPr/>
        </p:nvSpPr>
        <p:spPr>
          <a:xfrm>
            <a:off x="6686550" y="3838575"/>
            <a:ext cx="4895850" cy="219075"/>
          </a:xfrm>
          <a:prstGeom prst="roundRect">
            <a:avLst>
              <a:gd name="adj" fmla="val 21739"/>
            </a:avLst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38100" tIns="0" rIns="38100" bIns="0" anchor="ctr">
            <a:normAutofit/>
          </a:bodyPr>
          <a:lstStyle/>
          <a:p>
            <a:pPr algn="ctr">
              <a:buNone/>
              <a:defRPr sz="940" b="1">
                <a:solidFill>
                  <a:srgbClr val="176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官方资料定义“支持什么”，真实测试补充“实际表现如何”。</a:t>
            </a:r>
          </a:p>
        </p:txBody>
      </p:sp>
      <p:sp>
        <p:nvSpPr>
          <p:cNvPr id="12" name="validation-loop-question"/>
          <p:cNvSpPr>
            <a:spLocks noGrp="1"/>
          </p:cNvSpPr>
          <p:nvPr/>
        </p:nvSpPr>
        <p:spPr>
          <a:xfrm>
            <a:off x="6477000" y="41433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0A4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③ 验证闭环｜怎么确认收到的知识真的能用？</a:t>
            </a:r>
          </a:p>
        </p:txBody>
      </p:sp>
      <p:sp>
        <p:nvSpPr>
          <p:cNvPr id="13" name="validation-loop-takeaway"/>
          <p:cNvSpPr>
            <a:spLocks noGrp="1"/>
          </p:cNvSpPr>
          <p:nvPr/>
        </p:nvSpPr>
        <p:spPr>
          <a:xfrm>
            <a:off x="6896100" y="5438775"/>
            <a:ext cx="4686300" cy="228600"/>
          </a:xfrm>
          <a:prstGeom prst="roundRect">
            <a:avLst>
              <a:gd name="adj" fmla="val 20833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38100" tIns="0" rIns="38100" bIns="0" anchor="ctr">
            <a:normAutofit/>
          </a:bodyPr>
          <a:lstStyle/>
          <a:p>
            <a:pPr algn="ctr">
              <a:buNone/>
              <a:defRPr sz="940" b="1">
                <a:solidFill>
                  <a:srgbClr val="1738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后续不同平台统一使用这三个算子，保证评价口径一致。</a:t>
            </a:r>
          </a:p>
        </p:txBody>
      </p:sp>
      <p:sp>
        <p:nvSpPr>
          <p:cNvPr id="14" name="framework-synthesis"/>
          <p:cNvSpPr>
            <a:spLocks noGrp="1"/>
          </p:cNvSpPr>
          <p:nvPr/>
        </p:nvSpPr>
        <p:spPr>
          <a:xfrm>
            <a:off x="514350" y="5419725"/>
            <a:ext cx="5095875" cy="266700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76200" tIns="0" rIns="76200" bIns="0" anchor="ctr">
            <a:normAutofit/>
          </a:bodyPr>
          <a:lstStyle/>
          <a:p>
            <a:pPr algn="ctr">
              <a:buNone/>
              <a:defRPr sz="940" b="1">
                <a:solidFill>
                  <a:srgbClr val="1738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★  通用框架提供骨架，平台知识填充差异，真实验证不断校准两者。</a:t>
            </a:r>
          </a:p>
        </p:txBody>
      </p:sp>
      <p:sp>
        <p:nvSpPr>
          <p:cNvPr id="16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17" name="slide-7-editable-footer"/>
          <p:cNvSpPr>
            <a:spLocks noGrp="1"/>
          </p:cNvSpPr>
          <p:nvPr/>
        </p:nvSpPr>
        <p:spPr>
          <a:xfrm>
            <a:off x="228600" y="6400800"/>
            <a:ext cx="11696700" cy="3905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rmAutofit/>
          </a:bodyPr>
          <a:lstStyle/>
          <a:p>
            <a:pPr algn="ctr">
              <a:buNone/>
              <a:defRPr sz="9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算子skill的开发不是一蹴而就的，需要不断的完善和更新迭代。平台事实验证和环境验证看起来复杂，实际上可以通过一类模板指令让大模型进行检测。</a:t>
            </a:r>
          </a:p>
        </p:txBody>
      </p:sp>
      <p:sp>
        <p:nvSpPr>
          <p:cNvPr id="18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19" name="s15-universal-frame"/>
          <p:cNvSpPr>
            <a:spLocks noGrp="1"/>
          </p:cNvSpPr>
          <p:nvPr/>
        </p:nvSpPr>
        <p:spPr>
          <a:xfrm>
            <a:off x="942975" y="866775"/>
            <a:ext cx="4743450" cy="990600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20" name="s15-universal-title"/>
          <p:cNvSpPr>
            <a:spLocks noGrp="1"/>
          </p:cNvSpPr>
          <p:nvPr/>
        </p:nvSpPr>
        <p:spPr>
          <a:xfrm>
            <a:off x="1027313" y="950281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defRPr sz="116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通用框架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1" name="s15-universal-subtitle"/>
          <p:cNvSpPr>
            <a:spLocks noGrp="1"/>
          </p:cNvSpPr>
          <p:nvPr/>
        </p:nvSpPr>
        <p:spPr>
          <a:xfrm>
            <a:off x="1047750" y="1197931"/>
            <a:ext cx="4514850" cy="666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生成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验证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优化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输出</a:t>
            </a:r>
            <a:endParaRPr sz="1400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s15-arrow-1"/>
          <p:cNvSpPr>
            <a:spLocks noGrp="1"/>
          </p:cNvSpPr>
          <p:nvPr/>
        </p:nvSpPr>
        <p:spPr>
          <a:xfrm>
            <a:off x="3171825" y="1838325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↓</a:t>
            </a:r>
          </a:p>
        </p:txBody>
      </p:sp>
      <p:sp>
        <p:nvSpPr>
          <p:cNvPr id="23" name="s15-platform-frame"/>
          <p:cNvSpPr>
            <a:spLocks noGrp="1"/>
          </p:cNvSpPr>
          <p:nvPr/>
        </p:nvSpPr>
        <p:spPr>
          <a:xfrm>
            <a:off x="942975" y="2057400"/>
            <a:ext cx="4743450" cy="1257300"/>
          </a:xfrm>
          <a:prstGeom prst="rect">
            <a:avLst/>
          </a:prstGeom>
          <a:solidFill>
            <a:srgbClr val="EAF3F1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24" name="s15-platform-title"/>
          <p:cNvSpPr>
            <a:spLocks noGrp="1"/>
          </p:cNvSpPr>
          <p:nvPr/>
        </p:nvSpPr>
        <p:spPr>
          <a:xfrm>
            <a:off x="1057275" y="2095500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5797"/>
          </a:bodyPr>
          <a:lstStyle/>
          <a:p>
            <a:pPr algn="ctr">
              <a:defRPr sz="1165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平台知识</a:t>
            </a:r>
            <a:endParaRPr sz="1600" dirty="0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5" name="s15-platform-left"/>
          <p:cNvSpPr>
            <a:spLocks noGrp="1"/>
          </p:cNvSpPr>
          <p:nvPr/>
        </p:nvSpPr>
        <p:spPr>
          <a:xfrm>
            <a:off x="1809750" y="2457450"/>
            <a:ext cx="1276350" cy="561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Hardware</a:t>
            </a:r>
          </a:p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API / Primitive</a:t>
            </a:r>
          </a:p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Profiler</a:t>
            </a:r>
          </a:p>
        </p:txBody>
      </p:sp>
      <p:sp>
        <p:nvSpPr>
          <p:cNvPr id="26" name="s15-platform-mid-rule"/>
          <p:cNvSpPr>
            <a:spLocks noGrp="1"/>
          </p:cNvSpPr>
          <p:nvPr/>
        </p:nvSpPr>
        <p:spPr>
          <a:xfrm>
            <a:off x="3181350" y="2476500"/>
            <a:ext cx="9525" cy="514350"/>
          </a:xfrm>
          <a:prstGeom prst="rect">
            <a:avLst/>
          </a:prstGeom>
          <a:solidFill>
            <a:srgbClr val="EAF3F1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27" name="s15-platform-right"/>
          <p:cNvSpPr>
            <a:spLocks noGrp="1"/>
          </p:cNvSpPr>
          <p:nvPr/>
        </p:nvSpPr>
        <p:spPr>
          <a:xfrm>
            <a:off x="3476625" y="2457450"/>
            <a:ext cx="1695450" cy="561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Programming Model</a:t>
            </a:r>
          </a:p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Environment / Toolchain</a:t>
            </a:r>
          </a:p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Optimization / Examples</a:t>
            </a:r>
          </a:p>
        </p:txBody>
      </p:sp>
      <p:sp>
        <p:nvSpPr>
          <p:cNvPr id="28" name="s15-platform-sources"/>
          <p:cNvSpPr>
            <a:spLocks noGrp="1"/>
          </p:cNvSpPr>
          <p:nvPr/>
        </p:nvSpPr>
        <p:spPr>
          <a:xfrm>
            <a:off x="1657350" y="3038475"/>
            <a:ext cx="3324225" cy="209550"/>
          </a:xfrm>
          <a:prstGeom prst="roundRect">
            <a:avLst>
              <a:gd name="adj" fmla="val 22727"/>
            </a:avLst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840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官方资料 + 环境检测 + 微基准 + 算子实践</a:t>
            </a:r>
          </a:p>
        </p:txBody>
      </p:sp>
      <p:sp>
        <p:nvSpPr>
          <p:cNvPr id="29" name="s15-arrow-2"/>
          <p:cNvSpPr>
            <a:spLocks noGrp="1"/>
          </p:cNvSpPr>
          <p:nvPr/>
        </p:nvSpPr>
        <p:spPr>
          <a:xfrm>
            <a:off x="3171825" y="329565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↓</a:t>
            </a:r>
          </a:p>
        </p:txBody>
      </p:sp>
      <p:sp>
        <p:nvSpPr>
          <p:cNvPr id="30" name="s15-validation-frame"/>
          <p:cNvSpPr>
            <a:spLocks noGrp="1"/>
          </p:cNvSpPr>
          <p:nvPr/>
        </p:nvSpPr>
        <p:spPr>
          <a:xfrm>
            <a:off x="942975" y="3467100"/>
            <a:ext cx="4743450" cy="1057275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31" name="s15-validation-title"/>
          <p:cNvSpPr>
            <a:spLocks noGrp="1"/>
          </p:cNvSpPr>
          <p:nvPr/>
        </p:nvSpPr>
        <p:spPr>
          <a:xfrm>
            <a:off x="1057275" y="3505200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6540"/>
          </a:bodyPr>
          <a:lstStyle/>
          <a:p>
            <a:pPr algn="ctr">
              <a:defRPr sz="109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验证与校准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2" name="s15-validation-subtitle"/>
          <p:cNvSpPr>
            <a:spLocks noGrp="1"/>
          </p:cNvSpPr>
          <p:nvPr/>
        </p:nvSpPr>
        <p:spPr>
          <a:xfrm>
            <a:off x="1057275" y="3752850"/>
            <a:ext cx="4514850" cy="7334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L1  环境验证</a:t>
            </a: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L2  平台事实验证 / 微基准</a:t>
            </a: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L3  典型算子验证</a:t>
            </a: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LayerNorm · Softmax · MatMul</a:t>
            </a:r>
          </a:p>
        </p:txBody>
      </p:sp>
      <p:sp>
        <p:nvSpPr>
          <p:cNvPr id="33" name="s15-arrow-3-left"/>
          <p:cNvSpPr>
            <a:spLocks noGrp="1"/>
          </p:cNvSpPr>
          <p:nvPr/>
        </p:nvSpPr>
        <p:spPr>
          <a:xfrm>
            <a:off x="1952625" y="4505325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↓</a:t>
            </a:r>
          </a:p>
        </p:txBody>
      </p:sp>
      <p:sp>
        <p:nvSpPr>
          <p:cNvPr id="34" name="s15-arrow-3-right"/>
          <p:cNvSpPr>
            <a:spLocks noGrp="1"/>
          </p:cNvSpPr>
          <p:nvPr/>
        </p:nvSpPr>
        <p:spPr>
          <a:xfrm>
            <a:off x="4333875" y="4505325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↓</a:t>
            </a:r>
          </a:p>
        </p:txBody>
      </p:sp>
      <p:sp>
        <p:nvSpPr>
          <p:cNvPr id="35" name="s15-update-knowledge"/>
          <p:cNvSpPr>
            <a:spLocks noGrp="1"/>
          </p:cNvSpPr>
          <p:nvPr/>
        </p:nvSpPr>
        <p:spPr>
          <a:xfrm>
            <a:off x="1000125" y="4695825"/>
            <a:ext cx="1847850" cy="428625"/>
          </a:xfrm>
          <a:prstGeom prst="roundRect">
            <a:avLst>
              <a:gd name="adj" fmla="val 15556"/>
            </a:avLst>
          </a:prstGeom>
          <a:solidFill>
            <a:srgbClr val="F6ECE6"/>
          </a:solidFill>
          <a:ln w="1143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Update Knowledge</a:t>
            </a:r>
          </a:p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更新平台知识</a:t>
            </a:r>
          </a:p>
        </p:txBody>
      </p:sp>
      <p:sp>
        <p:nvSpPr>
          <p:cNvPr id="36" name="s15-adjust-workflow"/>
          <p:cNvSpPr>
            <a:spLocks noGrp="1"/>
          </p:cNvSpPr>
          <p:nvPr/>
        </p:nvSpPr>
        <p:spPr>
          <a:xfrm>
            <a:off x="3648075" y="4695825"/>
            <a:ext cx="1752600" cy="428625"/>
          </a:xfrm>
          <a:prstGeom prst="roundRect">
            <a:avLst>
              <a:gd name="adj" fmla="val 15556"/>
            </a:avLst>
          </a:prstGeom>
          <a:solidFill>
            <a:srgbClr val="F6ECE6"/>
          </a:solidFill>
          <a:ln w="1143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Adjust Workflow</a:t>
            </a:r>
          </a:p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修正通用流程</a:t>
            </a:r>
          </a:p>
        </p:txBody>
      </p:sp>
      <p:sp>
        <p:nvSpPr>
          <p:cNvPr id="37" name="s15-feedback-loop"/>
          <p:cNvSpPr>
            <a:spLocks noGrp="1"/>
          </p:cNvSpPr>
          <p:nvPr/>
        </p:nvSpPr>
        <p:spPr>
          <a:xfrm>
            <a:off x="1066800" y="5143500"/>
            <a:ext cx="42481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↺  反馈校准：按问题类型回到框架或平台知识</a:t>
            </a:r>
          </a:p>
        </p:txBody>
      </p:sp>
      <p:sp>
        <p:nvSpPr>
          <p:cNvPr id="38" name="s15-universal-details-frame"/>
          <p:cNvSpPr>
            <a:spLocks noGrp="1"/>
          </p:cNvSpPr>
          <p:nvPr/>
        </p:nvSpPr>
        <p:spPr>
          <a:xfrm>
            <a:off x="6257925" y="1133475"/>
            <a:ext cx="5543550" cy="9429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39" name="s15-detail-1-label"/>
          <p:cNvSpPr>
            <a:spLocks noGrp="1"/>
          </p:cNvSpPr>
          <p:nvPr/>
        </p:nvSpPr>
        <p:spPr>
          <a:xfrm>
            <a:off x="6496050" y="1181100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任务编排：</a:t>
            </a:r>
          </a:p>
        </p:txBody>
      </p:sp>
      <p:sp>
        <p:nvSpPr>
          <p:cNvPr id="40" name="s15-detail-1-value"/>
          <p:cNvSpPr>
            <a:spLocks noGrp="1"/>
          </p:cNvSpPr>
          <p:nvPr/>
        </p:nvSpPr>
        <p:spPr>
          <a:xfrm>
            <a:off x="7296150" y="1181100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 → 生成 → 验证 → 优化 → 输出</a:t>
            </a:r>
          </a:p>
        </p:txBody>
      </p:sp>
      <p:sp>
        <p:nvSpPr>
          <p:cNvPr id="41" name="s15-detail-2-label"/>
          <p:cNvSpPr>
            <a:spLocks noGrp="1"/>
          </p:cNvSpPr>
          <p:nvPr/>
        </p:nvSpPr>
        <p:spPr>
          <a:xfrm>
            <a:off x="6496050" y="1352550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模块边界：</a:t>
            </a:r>
          </a:p>
        </p:txBody>
      </p:sp>
      <p:sp>
        <p:nvSpPr>
          <p:cNvPr id="42" name="s15-detail-2-value"/>
          <p:cNvSpPr>
            <a:spLocks noGrp="1"/>
          </p:cNvSpPr>
          <p:nvPr/>
        </p:nvSpPr>
        <p:spPr>
          <a:xfrm>
            <a:off x="7296150" y="1352550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每个阶段负责解决什么问题</a:t>
            </a:r>
          </a:p>
        </p:txBody>
      </p:sp>
      <p:sp>
        <p:nvSpPr>
          <p:cNvPr id="43" name="s15-detail-3-label"/>
          <p:cNvSpPr>
            <a:spLocks noGrp="1"/>
          </p:cNvSpPr>
          <p:nvPr/>
        </p:nvSpPr>
        <p:spPr>
          <a:xfrm>
            <a:off x="6496050" y="1524000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阶段契约：</a:t>
            </a:r>
          </a:p>
        </p:txBody>
      </p:sp>
      <p:sp>
        <p:nvSpPr>
          <p:cNvPr id="44" name="s15-detail-3-value"/>
          <p:cNvSpPr>
            <a:spLocks noGrp="1"/>
          </p:cNvSpPr>
          <p:nvPr/>
        </p:nvSpPr>
        <p:spPr>
          <a:xfrm>
            <a:off x="7296150" y="1524000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上一阶段输出什么，下一阶段需要什么</a:t>
            </a:r>
          </a:p>
        </p:txBody>
      </p:sp>
      <p:sp>
        <p:nvSpPr>
          <p:cNvPr id="45" name="s15-detail-4-label"/>
          <p:cNvSpPr>
            <a:spLocks noGrp="1"/>
          </p:cNvSpPr>
          <p:nvPr/>
        </p:nvSpPr>
        <p:spPr>
          <a:xfrm>
            <a:off x="6496050" y="1695450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子任务分工：</a:t>
            </a:r>
          </a:p>
        </p:txBody>
      </p:sp>
      <p:sp>
        <p:nvSpPr>
          <p:cNvPr id="46" name="s15-detail-4-value"/>
          <p:cNvSpPr>
            <a:spLocks noGrp="1"/>
          </p:cNvSpPr>
          <p:nvPr/>
        </p:nvSpPr>
        <p:spPr>
          <a:xfrm>
            <a:off x="7296150" y="1695450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复杂阶段允许进一步拆分 Sub-Agent</a:t>
            </a:r>
          </a:p>
        </p:txBody>
      </p:sp>
      <p:sp>
        <p:nvSpPr>
          <p:cNvPr id="47" name="s15-detail-5-label"/>
          <p:cNvSpPr>
            <a:spLocks noGrp="1"/>
          </p:cNvSpPr>
          <p:nvPr/>
        </p:nvSpPr>
        <p:spPr>
          <a:xfrm>
            <a:off x="6496050" y="1866900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输出规范：</a:t>
            </a:r>
          </a:p>
        </p:txBody>
      </p:sp>
      <p:sp>
        <p:nvSpPr>
          <p:cNvPr id="48" name="s15-detail-5-value"/>
          <p:cNvSpPr>
            <a:spLocks noGrp="1"/>
          </p:cNvSpPr>
          <p:nvPr/>
        </p:nvSpPr>
        <p:spPr>
          <a:xfrm>
            <a:off x="7296150" y="1866900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Kernel、Test、Correctness、Benchmark、Report</a:t>
            </a:r>
          </a:p>
        </p:txBody>
      </p:sp>
      <p:sp>
        <p:nvSpPr>
          <p:cNvPr id="49" name="s15-knowledge-1-frame"/>
          <p:cNvSpPr>
            <a:spLocks noGrp="1"/>
          </p:cNvSpPr>
          <p:nvPr/>
        </p:nvSpPr>
        <p:spPr>
          <a:xfrm>
            <a:off x="6353175" y="2647950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0" name="s15-knowledge-1-title"/>
          <p:cNvSpPr>
            <a:spLocks noGrp="1"/>
          </p:cNvSpPr>
          <p:nvPr/>
        </p:nvSpPr>
        <p:spPr>
          <a:xfrm>
            <a:off x="6438900" y="266700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1. Hardware</a:t>
            </a:r>
          </a:p>
        </p:txBody>
      </p:sp>
      <p:sp>
        <p:nvSpPr>
          <p:cNvPr id="51" name="s15-knowledge-1-body"/>
          <p:cNvSpPr>
            <a:spLocks noGrp="1"/>
          </p:cNvSpPr>
          <p:nvPr/>
        </p:nvSpPr>
        <p:spPr>
          <a:xfrm>
            <a:off x="6438900" y="282892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计算单元、存储、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并行结构</a:t>
            </a:r>
          </a:p>
        </p:txBody>
      </p:sp>
      <p:sp>
        <p:nvSpPr>
          <p:cNvPr id="52" name="s15-knowledge-2-frame"/>
          <p:cNvSpPr>
            <a:spLocks noGrp="1"/>
          </p:cNvSpPr>
          <p:nvPr/>
        </p:nvSpPr>
        <p:spPr>
          <a:xfrm>
            <a:off x="8162925" y="2647950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3" name="s15-knowledge-2-title"/>
          <p:cNvSpPr>
            <a:spLocks noGrp="1"/>
          </p:cNvSpPr>
          <p:nvPr/>
        </p:nvSpPr>
        <p:spPr>
          <a:xfrm>
            <a:off x="8248650" y="266700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5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5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2. Programming Model</a:t>
            </a:r>
          </a:p>
        </p:txBody>
      </p:sp>
      <p:sp>
        <p:nvSpPr>
          <p:cNvPr id="54" name="s15-knowledge-2-body"/>
          <p:cNvSpPr>
            <a:spLocks noGrp="1"/>
          </p:cNvSpPr>
          <p:nvPr/>
        </p:nvSpPr>
        <p:spPr>
          <a:xfrm>
            <a:off x="8248650" y="282892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Grid、Tile、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执行模型</a:t>
            </a:r>
          </a:p>
        </p:txBody>
      </p:sp>
      <p:sp>
        <p:nvSpPr>
          <p:cNvPr id="55" name="s15-knowledge-3-frame"/>
          <p:cNvSpPr>
            <a:spLocks noGrp="1"/>
          </p:cNvSpPr>
          <p:nvPr/>
        </p:nvSpPr>
        <p:spPr>
          <a:xfrm>
            <a:off x="9972675" y="2647950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6" name="s15-knowledge-3-title"/>
          <p:cNvSpPr>
            <a:spLocks noGrp="1"/>
          </p:cNvSpPr>
          <p:nvPr/>
        </p:nvSpPr>
        <p:spPr>
          <a:xfrm>
            <a:off x="10058400" y="266700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 API / Primitive</a:t>
            </a:r>
          </a:p>
        </p:txBody>
      </p:sp>
      <p:sp>
        <p:nvSpPr>
          <p:cNvPr id="57" name="s15-knowledge-3-body"/>
          <p:cNvSpPr>
            <a:spLocks noGrp="1"/>
          </p:cNvSpPr>
          <p:nvPr/>
        </p:nvSpPr>
        <p:spPr>
          <a:xfrm>
            <a:off x="10058400" y="282892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支持能力、限制、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特殊行为</a:t>
            </a:r>
          </a:p>
        </p:txBody>
      </p:sp>
      <p:sp>
        <p:nvSpPr>
          <p:cNvPr id="58" name="s15-knowledge-4-frame"/>
          <p:cNvSpPr>
            <a:spLocks noGrp="1"/>
          </p:cNvSpPr>
          <p:nvPr/>
        </p:nvSpPr>
        <p:spPr>
          <a:xfrm>
            <a:off x="6353175" y="3133725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9" name="s15-knowledge-4-title"/>
          <p:cNvSpPr>
            <a:spLocks noGrp="1"/>
          </p:cNvSpPr>
          <p:nvPr/>
        </p:nvSpPr>
        <p:spPr>
          <a:xfrm>
            <a:off x="6438900" y="3152775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4. Environment</a:t>
            </a:r>
          </a:p>
        </p:txBody>
      </p:sp>
      <p:sp>
        <p:nvSpPr>
          <p:cNvPr id="60" name="s15-knowledge-4-body"/>
          <p:cNvSpPr>
            <a:spLocks noGrp="1"/>
          </p:cNvSpPr>
          <p:nvPr/>
        </p:nvSpPr>
        <p:spPr>
          <a:xfrm>
            <a:off x="6438900" y="331470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Compiler、Runtime、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Version</a:t>
            </a:r>
          </a:p>
        </p:txBody>
      </p:sp>
      <p:sp>
        <p:nvSpPr>
          <p:cNvPr id="61" name="s15-knowledge-5-frame"/>
          <p:cNvSpPr>
            <a:spLocks noGrp="1"/>
          </p:cNvSpPr>
          <p:nvPr/>
        </p:nvSpPr>
        <p:spPr>
          <a:xfrm>
            <a:off x="8162925" y="3133725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2" name="s15-knowledge-5-title"/>
          <p:cNvSpPr>
            <a:spLocks noGrp="1"/>
          </p:cNvSpPr>
          <p:nvPr/>
        </p:nvSpPr>
        <p:spPr>
          <a:xfrm>
            <a:off x="8248650" y="3152775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5. Profiler</a:t>
            </a:r>
          </a:p>
        </p:txBody>
      </p:sp>
      <p:sp>
        <p:nvSpPr>
          <p:cNvPr id="63" name="s15-knowledge-5-body"/>
          <p:cNvSpPr>
            <a:spLocks noGrp="1"/>
          </p:cNvSpPr>
          <p:nvPr/>
        </p:nvSpPr>
        <p:spPr>
          <a:xfrm>
            <a:off x="8248650" y="331470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Benchmark、Counter、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计时</a:t>
            </a:r>
          </a:p>
        </p:txBody>
      </p:sp>
      <p:sp>
        <p:nvSpPr>
          <p:cNvPr id="64" name="s15-knowledge-6-frame"/>
          <p:cNvSpPr>
            <a:spLocks noGrp="1"/>
          </p:cNvSpPr>
          <p:nvPr/>
        </p:nvSpPr>
        <p:spPr>
          <a:xfrm>
            <a:off x="9972675" y="3133725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5" name="s15-knowledge-6-title"/>
          <p:cNvSpPr>
            <a:spLocks noGrp="1"/>
          </p:cNvSpPr>
          <p:nvPr/>
        </p:nvSpPr>
        <p:spPr>
          <a:xfrm>
            <a:off x="10058400" y="3152775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6. Optimization</a:t>
            </a:r>
          </a:p>
        </p:txBody>
      </p:sp>
      <p:sp>
        <p:nvSpPr>
          <p:cNvPr id="66" name="s15-knowledge-6-body"/>
          <p:cNvSpPr>
            <a:spLocks noGrp="1"/>
          </p:cNvSpPr>
          <p:nvPr/>
        </p:nvSpPr>
        <p:spPr>
          <a:xfrm>
            <a:off x="10058400" y="331470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Tile、Layout、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Pipeline、案例</a:t>
            </a:r>
          </a:p>
        </p:txBody>
      </p:sp>
      <p:sp>
        <p:nvSpPr>
          <p:cNvPr id="67" name="s15-knowledge-sources"/>
          <p:cNvSpPr>
            <a:spLocks noGrp="1"/>
          </p:cNvSpPr>
          <p:nvPr/>
        </p:nvSpPr>
        <p:spPr>
          <a:xfrm>
            <a:off x="6486525" y="3609975"/>
            <a:ext cx="499110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ctr">
            <a:normAutofit/>
          </a:bodyPr>
          <a:lstStyle/>
          <a:p>
            <a:pPr algn="ctr">
              <a:defRPr sz="790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Platform Knowledge 来源 = 官方资料 + 环境检测 + 微基准 + 实际算子开发经验</a:t>
            </a:r>
          </a:p>
        </p:txBody>
      </p:sp>
      <p:sp>
        <p:nvSpPr>
          <p:cNvPr id="68" name="s15-level-1-frame"/>
          <p:cNvSpPr>
            <a:spLocks noGrp="1"/>
          </p:cNvSpPr>
          <p:nvPr/>
        </p:nvSpPr>
        <p:spPr>
          <a:xfrm>
            <a:off x="6353175" y="4391025"/>
            <a:ext cx="5353050" cy="2952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9" name="s15-level-1-badge"/>
          <p:cNvSpPr>
            <a:spLocks noGrp="1"/>
          </p:cNvSpPr>
          <p:nvPr/>
        </p:nvSpPr>
        <p:spPr>
          <a:xfrm>
            <a:off x="6448425" y="4429125"/>
            <a:ext cx="400050" cy="219075"/>
          </a:xfrm>
          <a:prstGeom prst="roundRect">
            <a:avLst>
              <a:gd name="adj" fmla="val 21739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81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L1</a:t>
            </a:r>
          </a:p>
        </p:txBody>
      </p:sp>
      <p:sp>
        <p:nvSpPr>
          <p:cNvPr id="70" name="s15-level-1-title"/>
          <p:cNvSpPr>
            <a:spLocks noGrp="1"/>
          </p:cNvSpPr>
          <p:nvPr/>
        </p:nvSpPr>
        <p:spPr>
          <a:xfrm>
            <a:off x="6934200" y="4400550"/>
            <a:ext cx="11239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1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环境验证</a:t>
            </a:r>
          </a:p>
        </p:txBody>
      </p:sp>
      <p:sp>
        <p:nvSpPr>
          <p:cNvPr id="71" name="s15-level-1-question"/>
          <p:cNvSpPr>
            <a:spLocks noGrp="1"/>
          </p:cNvSpPr>
          <p:nvPr/>
        </p:nvSpPr>
        <p:spPr>
          <a:xfrm>
            <a:off x="8058150" y="4400550"/>
            <a:ext cx="339090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能不能跑？</a:t>
            </a:r>
          </a:p>
        </p:txBody>
      </p:sp>
      <p:sp>
        <p:nvSpPr>
          <p:cNvPr id="72" name="s15-level-1-detail"/>
          <p:cNvSpPr>
            <a:spLocks noGrp="1"/>
          </p:cNvSpPr>
          <p:nvPr/>
        </p:nvSpPr>
        <p:spPr>
          <a:xfrm>
            <a:off x="6934200" y="4533900"/>
            <a:ext cx="4533900" cy="133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690" b="0">
                <a:solidFill>
                  <a:srgbClr val="5E6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Device · Compiler · Framework · Profiler · Smoke Test</a:t>
            </a:r>
          </a:p>
        </p:txBody>
      </p:sp>
      <p:sp>
        <p:nvSpPr>
          <p:cNvPr id="73" name="s15-level-2-frame"/>
          <p:cNvSpPr>
            <a:spLocks noGrp="1"/>
          </p:cNvSpPr>
          <p:nvPr/>
        </p:nvSpPr>
        <p:spPr>
          <a:xfrm>
            <a:off x="6353175" y="4724400"/>
            <a:ext cx="5353050" cy="2952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74" name="s15-level-2-badge"/>
          <p:cNvSpPr>
            <a:spLocks noGrp="1"/>
          </p:cNvSpPr>
          <p:nvPr/>
        </p:nvSpPr>
        <p:spPr>
          <a:xfrm>
            <a:off x="6448425" y="4762500"/>
            <a:ext cx="400050" cy="219075"/>
          </a:xfrm>
          <a:prstGeom prst="roundRect">
            <a:avLst>
              <a:gd name="adj" fmla="val 21739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81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L2</a:t>
            </a:r>
          </a:p>
        </p:txBody>
      </p:sp>
      <p:sp>
        <p:nvSpPr>
          <p:cNvPr id="75" name="s15-level-2-title"/>
          <p:cNvSpPr>
            <a:spLocks noGrp="1"/>
          </p:cNvSpPr>
          <p:nvPr/>
        </p:nvSpPr>
        <p:spPr>
          <a:xfrm>
            <a:off x="6934200" y="4733925"/>
            <a:ext cx="11239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1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平台事实验证</a:t>
            </a:r>
          </a:p>
        </p:txBody>
      </p:sp>
      <p:sp>
        <p:nvSpPr>
          <p:cNvPr id="76" name="s15-level-2-question"/>
          <p:cNvSpPr>
            <a:spLocks noGrp="1"/>
          </p:cNvSpPr>
          <p:nvPr/>
        </p:nvSpPr>
        <p:spPr>
          <a:xfrm>
            <a:off x="8058150" y="4733925"/>
            <a:ext cx="339090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我们理解的平台行为对不对？</a:t>
            </a:r>
          </a:p>
        </p:txBody>
      </p:sp>
      <p:sp>
        <p:nvSpPr>
          <p:cNvPr id="77" name="s15-level-2-detail"/>
          <p:cNvSpPr>
            <a:spLocks noGrp="1"/>
          </p:cNvSpPr>
          <p:nvPr/>
        </p:nvSpPr>
        <p:spPr>
          <a:xfrm>
            <a:off x="6934200" y="4867275"/>
            <a:ext cx="4533900" cy="133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660" b="0">
                <a:solidFill>
                  <a:srgbClr val="5E6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Memory · Compute · Reduction · Layout · Pipeline · Synchronization</a:t>
            </a:r>
          </a:p>
        </p:txBody>
      </p:sp>
      <p:sp>
        <p:nvSpPr>
          <p:cNvPr id="78" name="s15-level-3-frame"/>
          <p:cNvSpPr>
            <a:spLocks noGrp="1"/>
          </p:cNvSpPr>
          <p:nvPr/>
        </p:nvSpPr>
        <p:spPr>
          <a:xfrm>
            <a:off x="6353175" y="5057775"/>
            <a:ext cx="5353050" cy="2952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79" name="s15-level-3-badge"/>
          <p:cNvSpPr>
            <a:spLocks noGrp="1"/>
          </p:cNvSpPr>
          <p:nvPr/>
        </p:nvSpPr>
        <p:spPr>
          <a:xfrm>
            <a:off x="6448425" y="5095875"/>
            <a:ext cx="400050" cy="219075"/>
          </a:xfrm>
          <a:prstGeom prst="roundRect">
            <a:avLst>
              <a:gd name="adj" fmla="val 21739"/>
            </a:avLst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81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L3</a:t>
            </a:r>
          </a:p>
        </p:txBody>
      </p:sp>
      <p:sp>
        <p:nvSpPr>
          <p:cNvPr id="80" name="s15-level-3-title"/>
          <p:cNvSpPr>
            <a:spLocks noGrp="1"/>
          </p:cNvSpPr>
          <p:nvPr/>
        </p:nvSpPr>
        <p:spPr>
          <a:xfrm>
            <a:off x="6934200" y="5067300"/>
            <a:ext cx="11239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1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算子验证</a:t>
            </a:r>
          </a:p>
        </p:txBody>
      </p:sp>
      <p:sp>
        <p:nvSpPr>
          <p:cNvPr id="81" name="s15-level-3-question"/>
          <p:cNvSpPr>
            <a:spLocks noGrp="1"/>
          </p:cNvSpPr>
          <p:nvPr/>
        </p:nvSpPr>
        <p:spPr>
          <a:xfrm>
            <a:off x="8058150" y="5067300"/>
            <a:ext cx="339090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这些知识能不能真正支撑算子开发？</a:t>
            </a:r>
          </a:p>
        </p:txBody>
      </p:sp>
      <p:sp>
        <p:nvSpPr>
          <p:cNvPr id="82" name="s15-level-3-detail"/>
          <p:cNvSpPr>
            <a:spLocks noGrp="1"/>
          </p:cNvSpPr>
          <p:nvPr/>
        </p:nvSpPr>
        <p:spPr>
          <a:xfrm>
            <a:off x="6934200" y="5200650"/>
            <a:ext cx="4533900" cy="133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690" b="0">
                <a:solidFill>
                  <a:srgbClr val="5E6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LayerNorm · Softmax · MatMul</a:t>
            </a:r>
          </a:p>
        </p:txBody>
      </p:sp>
      <p:sp>
        <p:nvSpPr>
          <p:cNvPr id="83" name="s15-feedback-label"/>
          <p:cNvSpPr>
            <a:spLocks noGrp="1"/>
          </p:cNvSpPr>
          <p:nvPr/>
        </p:nvSpPr>
        <p:spPr>
          <a:xfrm>
            <a:off x="1628775" y="5800725"/>
            <a:ext cx="1304925" cy="514350"/>
          </a:xfrm>
          <a:prstGeom prst="roundRect">
            <a:avLst>
              <a:gd name="adj" fmla="val 12963"/>
            </a:avLst>
          </a:prstGeom>
          <a:solidFill>
            <a:srgbClr val="294A6D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反馈规则</a:t>
            </a:r>
          </a:p>
        </p:txBody>
      </p:sp>
      <p:sp>
        <p:nvSpPr>
          <p:cNvPr id="84" name="s15-feedback-1-title"/>
          <p:cNvSpPr>
            <a:spLocks noGrp="1"/>
          </p:cNvSpPr>
          <p:nvPr/>
        </p:nvSpPr>
        <p:spPr>
          <a:xfrm>
            <a:off x="3086100" y="583882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8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平台事实不符</a:t>
            </a:r>
          </a:p>
        </p:txBody>
      </p:sp>
      <p:sp>
        <p:nvSpPr>
          <p:cNvPr id="85" name="s15-feedback-1-action"/>
          <p:cNvSpPr>
            <a:spLocks noGrp="1"/>
          </p:cNvSpPr>
          <p:nvPr/>
        </p:nvSpPr>
        <p:spPr>
          <a:xfrm>
            <a:off x="3086100" y="6038850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 更新 Platform Knowledge</a:t>
            </a:r>
          </a:p>
        </p:txBody>
      </p:sp>
      <p:sp>
        <p:nvSpPr>
          <p:cNvPr id="86" name="s15-feedback-divider-1"/>
          <p:cNvSpPr>
            <a:spLocks noGrp="1"/>
          </p:cNvSpPr>
          <p:nvPr/>
        </p:nvSpPr>
        <p:spPr>
          <a:xfrm>
            <a:off x="5124450" y="5867400"/>
            <a:ext cx="9525" cy="3810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87" name="s15-feedback-2-title"/>
          <p:cNvSpPr>
            <a:spLocks noGrp="1"/>
          </p:cNvSpPr>
          <p:nvPr/>
        </p:nvSpPr>
        <p:spPr>
          <a:xfrm>
            <a:off x="5276850" y="583882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85" b="1">
                <a:solidFill>
                  <a:srgbClr val="E971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优化策略失效</a:t>
            </a:r>
          </a:p>
        </p:txBody>
      </p:sp>
      <p:sp>
        <p:nvSpPr>
          <p:cNvPr id="88" name="s15-feedback-2-action"/>
          <p:cNvSpPr>
            <a:spLocks noGrp="1"/>
          </p:cNvSpPr>
          <p:nvPr/>
        </p:nvSpPr>
        <p:spPr>
          <a:xfrm>
            <a:off x="5276850" y="6038850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 更新 Optimization Rules</a:t>
            </a:r>
          </a:p>
        </p:txBody>
      </p:sp>
      <p:sp>
        <p:nvSpPr>
          <p:cNvPr id="89" name="s15-feedback-divider-2"/>
          <p:cNvSpPr>
            <a:spLocks noGrp="1"/>
          </p:cNvSpPr>
          <p:nvPr/>
        </p:nvSpPr>
        <p:spPr>
          <a:xfrm>
            <a:off x="7315200" y="5867400"/>
            <a:ext cx="9525" cy="3810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90" name="s15-feedback-3-title"/>
          <p:cNvSpPr>
            <a:spLocks noGrp="1"/>
          </p:cNvSpPr>
          <p:nvPr/>
        </p:nvSpPr>
        <p:spPr>
          <a:xfrm>
            <a:off x="7467600" y="583882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8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流程信息不足</a:t>
            </a:r>
          </a:p>
        </p:txBody>
      </p:sp>
      <p:sp>
        <p:nvSpPr>
          <p:cNvPr id="91" name="s15-feedback-3-action"/>
          <p:cNvSpPr>
            <a:spLocks noGrp="1"/>
          </p:cNvSpPr>
          <p:nvPr/>
        </p:nvSpPr>
        <p:spPr>
          <a:xfrm>
            <a:off x="7467600" y="6038850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 调整 Workflow / Contract</a:t>
            </a:r>
          </a:p>
        </p:txBody>
      </p:sp>
      <p:sp>
        <p:nvSpPr>
          <p:cNvPr id="92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 smtClean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3.2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8-title"/>
          <p:cNvSpPr>
            <a:spLocks noGrp="1"/>
          </p:cNvSpPr>
          <p:nvPr/>
        </p:nvSpPr>
        <p:spPr>
          <a:xfrm>
            <a:off x="1083310" y="247015"/>
            <a:ext cx="8572500" cy="4095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9298" lnSpcReduction="10000"/>
          </a:bodyPr>
          <a:lstStyle/>
          <a:p>
            <a:pPr algn="l">
              <a:buNone/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 dirty="0" err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如何根据指南开发一个新平台</a:t>
            </a:r>
            <a:r>
              <a:rPr sz="285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Skill？</a:t>
            </a:r>
          </a:p>
        </p:txBody>
      </p:sp>
      <p:sp>
        <p:nvSpPr>
          <p:cNvPr id="9" name="footer-background"/>
          <p:cNvSpPr>
            <a:spLocks noGrp="1"/>
          </p:cNvSpPr>
          <p:nvPr/>
        </p:nvSpPr>
        <p:spPr>
          <a:xfrm>
            <a:off x="200025" y="6172200"/>
            <a:ext cx="11791950" cy="60007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11" name="slide-8-editable-footer"/>
          <p:cNvSpPr>
            <a:spLocks noGrp="1"/>
          </p:cNvSpPr>
          <p:nvPr/>
        </p:nvSpPr>
        <p:spPr>
          <a:xfrm>
            <a:off x="1171575" y="6181725"/>
            <a:ext cx="10620375" cy="52387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  <a:effectLst/>
        </p:spPr>
        <p:txBody>
          <a:bodyPr wrap="square" lIns="95250" tIns="19050" rIns="952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4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新平台 Skill 是通</a:t>
            </a:r>
            <a:r>
              <a:rPr lang="zh-CN" sz="12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在</a:t>
            </a:r>
            <a:r>
              <a:rPr sz="12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用框架上补齐目标平台知识，并通过真实验证不断校准。</a:t>
            </a:r>
          </a:p>
          <a:p>
            <a:pPr algn="ctr">
              <a:lnSpc>
                <a:spcPct val="100000"/>
              </a:lnSpc>
              <a:buNone/>
              <a:defRPr sz="94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1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0" name="knowledge-source-1"/>
          <p:cNvSpPr>
            <a:spLocks noGrp="1"/>
          </p:cNvSpPr>
          <p:nvPr/>
        </p:nvSpPr>
        <p:spPr>
          <a:xfrm>
            <a:off x="1759585" y="764540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22" name="knowledge-source-1-title"/>
          <p:cNvSpPr>
            <a:spLocks noGrp="1"/>
          </p:cNvSpPr>
          <p:nvPr/>
        </p:nvSpPr>
        <p:spPr>
          <a:xfrm>
            <a:off x="2445385" y="80264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官方 / 网络资料</a:t>
            </a:r>
          </a:p>
        </p:txBody>
      </p:sp>
      <p:sp>
        <p:nvSpPr>
          <p:cNvPr id="23" name="knowledge-source-1-note"/>
          <p:cNvSpPr>
            <a:spLocks noGrp="1"/>
          </p:cNvSpPr>
          <p:nvPr/>
        </p:nvSpPr>
        <p:spPr>
          <a:xfrm>
            <a:off x="2445385" y="102171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65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定义能力边界</a:t>
            </a:r>
          </a:p>
        </p:txBody>
      </p:sp>
      <p:sp>
        <p:nvSpPr>
          <p:cNvPr id="24" name="knowledge-source-2"/>
          <p:cNvSpPr>
            <a:spLocks noGrp="1"/>
          </p:cNvSpPr>
          <p:nvPr/>
        </p:nvSpPr>
        <p:spPr>
          <a:xfrm>
            <a:off x="4683760" y="764540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26" name="knowledge-source-2-title"/>
          <p:cNvSpPr>
            <a:spLocks noGrp="1"/>
          </p:cNvSpPr>
          <p:nvPr/>
        </p:nvSpPr>
        <p:spPr>
          <a:xfrm>
            <a:off x="5369560" y="80264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真实平台测试</a:t>
            </a:r>
          </a:p>
        </p:txBody>
      </p:sp>
      <p:sp>
        <p:nvSpPr>
          <p:cNvPr id="27" name="knowledge-source-2-note"/>
          <p:cNvSpPr>
            <a:spLocks noGrp="1"/>
          </p:cNvSpPr>
          <p:nvPr/>
        </p:nvSpPr>
        <p:spPr>
          <a:xfrm>
            <a:off x="5369560" y="102171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65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校准实际行为</a:t>
            </a:r>
          </a:p>
        </p:txBody>
      </p:sp>
      <p:sp>
        <p:nvSpPr>
          <p:cNvPr id="28" name="knowledge-source-3"/>
          <p:cNvSpPr>
            <a:spLocks noGrp="1"/>
          </p:cNvSpPr>
          <p:nvPr/>
        </p:nvSpPr>
        <p:spPr>
          <a:xfrm>
            <a:off x="7607935" y="764540"/>
            <a:ext cx="285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knowledge-source-3-title"/>
          <p:cNvSpPr>
            <a:spLocks noGrp="1"/>
          </p:cNvSpPr>
          <p:nvPr/>
        </p:nvSpPr>
        <p:spPr>
          <a:xfrm>
            <a:off x="8293735" y="80264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已有工程经验</a:t>
            </a:r>
          </a:p>
        </p:txBody>
      </p:sp>
      <p:sp>
        <p:nvSpPr>
          <p:cNvPr id="31" name="knowledge-source-3-note"/>
          <p:cNvSpPr>
            <a:spLocks noGrp="1"/>
          </p:cNvSpPr>
          <p:nvPr/>
        </p:nvSpPr>
        <p:spPr>
          <a:xfrm>
            <a:off x="8293735" y="102171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65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减少重复试错</a:t>
            </a:r>
          </a:p>
        </p:txBody>
      </p:sp>
      <p:sp>
        <p:nvSpPr>
          <p:cNvPr id="32" name="platform-knowledge-node"/>
          <p:cNvSpPr>
            <a:spLocks noGrp="1"/>
          </p:cNvSpPr>
          <p:nvPr/>
        </p:nvSpPr>
        <p:spPr>
          <a:xfrm>
            <a:off x="4762500" y="1508760"/>
            <a:ext cx="2667000" cy="238125"/>
          </a:xfrm>
          <a:prstGeom prst="roundRect">
            <a:avLst>
              <a:gd name="adj" fmla="val 24000"/>
            </a:avLst>
          </a:prstGeom>
          <a:solidFill>
            <a:srgbClr val="294A6D"/>
          </a:solidFill>
          <a:ln w="9525">
            <a:solidFill>
              <a:srgbClr val="294A6D"/>
            </a:solidFill>
            <a:prstDash val="solid"/>
          </a:ln>
          <a:effectLst/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zh-CN" alt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平台知识</a:t>
            </a:r>
            <a:endParaRPr sz="14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cs typeface="Calibri" panose="020F0502020204030204"/>
            </a:endParaRPr>
          </a:p>
        </p:txBody>
      </p:sp>
      <p:cxnSp>
        <p:nvCxnSpPr>
          <p:cNvPr id="183" name="knowledge-source-1-to-platform"/>
          <p:cNvCxnSpPr>
            <a:cxnSpLocks/>
          </p:cNvCxnSpPr>
          <p:nvPr/>
        </p:nvCxnSpPr>
        <p:spPr>
          <a:xfrm rot="5400000" flipV="1">
            <a:off x="4527233" y="0"/>
            <a:ext cx="229870" cy="2907665"/>
          </a:xfrm>
          <a:prstGeom prst="bentConnector3">
            <a:avLst>
              <a:gd name="adj1" fmla="val 49862"/>
            </a:avLst>
          </a:prstGeom>
          <a:ln w="10478">
            <a:solidFill>
              <a:srgbClr val="294A6D"/>
            </a:solidFill>
            <a:prstDash val="solid"/>
            <a:tailEnd type="triangle" w="sm" len="sm"/>
          </a:ln>
          <a:effectLst/>
        </p:spPr>
      </p:cxnSp>
      <p:cxnSp>
        <p:nvCxnSpPr>
          <p:cNvPr id="184" name="knowledge-source-2-to-platform"/>
          <p:cNvCxnSpPr>
            <a:stCxn id="24" idx="2"/>
            <a:endCxn id="32" idx="0"/>
          </p:cNvCxnSpPr>
          <p:nvPr/>
        </p:nvCxnSpPr>
        <p:spPr>
          <a:xfrm rot="5400000">
            <a:off x="5989320" y="1385570"/>
            <a:ext cx="229870" cy="16510"/>
          </a:xfrm>
          <a:prstGeom prst="bentConnector3">
            <a:avLst>
              <a:gd name="adj1" fmla="val 50000"/>
            </a:avLst>
          </a:prstGeom>
          <a:ln w="10478">
            <a:solidFill>
              <a:srgbClr val="294A6D"/>
            </a:solidFill>
            <a:prstDash val="solid"/>
            <a:tailEnd type="triangle" w="sm" len="sm"/>
          </a:ln>
          <a:effectLst/>
        </p:spPr>
      </p:cxnSp>
      <p:cxnSp>
        <p:nvCxnSpPr>
          <p:cNvPr id="185" name="knowledge-source-3-to-platform"/>
          <p:cNvCxnSpPr>
            <a:cxnSpLocks/>
          </p:cNvCxnSpPr>
          <p:nvPr/>
        </p:nvCxnSpPr>
        <p:spPr>
          <a:xfrm rot="5400000">
            <a:off x="7451408" y="0"/>
            <a:ext cx="229870" cy="2940685"/>
          </a:xfrm>
          <a:prstGeom prst="bentConnector3">
            <a:avLst>
              <a:gd name="adj1" fmla="val 49862"/>
            </a:avLst>
          </a:prstGeom>
          <a:ln w="10478">
            <a:solidFill>
              <a:srgbClr val="294A6D"/>
            </a:solidFill>
            <a:prstDash val="solid"/>
            <a:tailEnd type="triangle" w="sm" len="sm"/>
          </a:ln>
          <a:effectLst/>
        </p:spPr>
      </p:cxnSp>
      <p:sp>
        <p:nvSpPr>
          <p:cNvPr id="37" name="phase-a-surface"/>
          <p:cNvSpPr>
            <a:spLocks noGrp="1"/>
          </p:cNvSpPr>
          <p:nvPr/>
        </p:nvSpPr>
        <p:spPr>
          <a:xfrm>
            <a:off x="1295400" y="1844675"/>
            <a:ext cx="9601200" cy="10001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38" name="phase-a-accent"/>
          <p:cNvSpPr>
            <a:spLocks noGrp="1"/>
          </p:cNvSpPr>
          <p:nvPr/>
        </p:nvSpPr>
        <p:spPr>
          <a:xfrm>
            <a:off x="1295400" y="1844675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5B7188"/>
          </a:solidFill>
          <a:ln w="9525">
            <a:solidFill>
              <a:srgbClr val="294A6D"/>
            </a:solidFill>
            <a:prstDash val="solid"/>
          </a:ln>
          <a:effectLst/>
        </p:spPr>
      </p:sp>
      <p:sp>
        <p:nvSpPr>
          <p:cNvPr id="39" name="phase-a-letter"/>
          <p:cNvSpPr>
            <a:spLocks noGrp="1"/>
          </p:cNvSpPr>
          <p:nvPr/>
        </p:nvSpPr>
        <p:spPr>
          <a:xfrm>
            <a:off x="1438275" y="1968500"/>
            <a:ext cx="295275" cy="29527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A</a:t>
            </a:r>
          </a:p>
        </p:txBody>
      </p:sp>
      <p:sp>
        <p:nvSpPr>
          <p:cNvPr id="41" name="phase-a-chinese"/>
          <p:cNvSpPr>
            <a:spLocks noGrp="1"/>
          </p:cNvSpPr>
          <p:nvPr/>
        </p:nvSpPr>
        <p:spPr>
          <a:xfrm>
            <a:off x="1476375" y="2149475"/>
            <a:ext cx="1304925" cy="285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平台认知</a:t>
            </a:r>
          </a:p>
        </p:txBody>
      </p:sp>
      <p:sp>
        <p:nvSpPr>
          <p:cNvPr id="42" name="phase-a-sidebar-divider"/>
          <p:cNvSpPr>
            <a:spLocks noGrp="1"/>
          </p:cNvSpPr>
          <p:nvPr/>
        </p:nvSpPr>
        <p:spPr>
          <a:xfrm>
            <a:off x="2847975" y="1939925"/>
            <a:ext cx="9525" cy="95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43" name="phase-a-step-divider"/>
          <p:cNvSpPr>
            <a:spLocks noGrp="1"/>
          </p:cNvSpPr>
          <p:nvPr/>
        </p:nvSpPr>
        <p:spPr>
          <a:xfrm>
            <a:off x="6924675" y="1939925"/>
            <a:ext cx="9525" cy="95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44" name="step-01-number"/>
          <p:cNvSpPr>
            <a:spLocks noGrp="1"/>
          </p:cNvSpPr>
          <p:nvPr/>
        </p:nvSpPr>
        <p:spPr>
          <a:xfrm>
            <a:off x="3009900" y="1939925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01</a:t>
            </a:r>
          </a:p>
        </p:txBody>
      </p:sp>
      <p:sp>
        <p:nvSpPr>
          <p:cNvPr id="45" name="step-01-title"/>
          <p:cNvSpPr>
            <a:spLocks noGrp="1"/>
          </p:cNvSpPr>
          <p:nvPr/>
        </p:nvSpPr>
        <p:spPr>
          <a:xfrm>
            <a:off x="3429000" y="192087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平台定位</a:t>
            </a:r>
          </a:p>
        </p:txBody>
      </p:sp>
      <p:sp>
        <p:nvSpPr>
          <p:cNvPr id="46" name="step-01-subtitle"/>
          <p:cNvSpPr>
            <a:spLocks noGrp="1"/>
          </p:cNvSpPr>
          <p:nvPr/>
        </p:nvSpPr>
        <p:spPr>
          <a:xfrm>
            <a:off x="3429000" y="2111375"/>
            <a:ext cx="29527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 dirty="0" err="1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锁定平台与编程</a:t>
            </a:r>
            <a:r>
              <a:rPr lang="zh-CN" altLang="en-US" sz="825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语言</a:t>
            </a:r>
            <a:endParaRPr sz="825" b="1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47" name="step-01-hardware"/>
          <p:cNvSpPr>
            <a:spLocks noGrp="1"/>
          </p:cNvSpPr>
          <p:nvPr/>
        </p:nvSpPr>
        <p:spPr>
          <a:xfrm>
            <a:off x="3448050" y="2282825"/>
            <a:ext cx="8382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9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9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Hardware</a:t>
            </a:r>
          </a:p>
        </p:txBody>
      </p:sp>
      <p:sp>
        <p:nvSpPr>
          <p:cNvPr id="49" name="step-01-stack"/>
          <p:cNvSpPr>
            <a:spLocks noGrp="1"/>
          </p:cNvSpPr>
          <p:nvPr/>
        </p:nvSpPr>
        <p:spPr>
          <a:xfrm>
            <a:off x="4514850" y="2273300"/>
            <a:ext cx="10668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9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en-US" altLang="zh-CN" sz="790" b="1" dirty="0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C++/ triton</a:t>
            </a:r>
            <a:endParaRPr sz="790" b="1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Calibri" panose="020F0502020204030204"/>
            </a:endParaRPr>
          </a:p>
        </p:txBody>
      </p:sp>
      <p:sp>
        <p:nvSpPr>
          <p:cNvPr id="52" name="step-02-number"/>
          <p:cNvSpPr>
            <a:spLocks noGrp="1"/>
          </p:cNvSpPr>
          <p:nvPr/>
        </p:nvSpPr>
        <p:spPr>
          <a:xfrm>
            <a:off x="7067550" y="1939925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02</a:t>
            </a:r>
          </a:p>
        </p:txBody>
      </p:sp>
      <p:sp>
        <p:nvSpPr>
          <p:cNvPr id="53" name="step-02-title"/>
          <p:cNvSpPr>
            <a:spLocks noGrp="1"/>
          </p:cNvSpPr>
          <p:nvPr/>
        </p:nvSpPr>
        <p:spPr>
          <a:xfrm>
            <a:off x="7486650" y="192087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知识收集</a:t>
            </a:r>
          </a:p>
        </p:txBody>
      </p:sp>
      <p:sp>
        <p:nvSpPr>
          <p:cNvPr id="54" name="step-02-subtitle"/>
          <p:cNvSpPr>
            <a:spLocks noGrp="1"/>
          </p:cNvSpPr>
          <p:nvPr/>
        </p:nvSpPr>
        <p:spPr>
          <a:xfrm>
            <a:off x="7486650" y="2111375"/>
            <a:ext cx="29527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系统收集平台资料</a:t>
            </a:r>
          </a:p>
        </p:txBody>
      </p:sp>
      <p:sp>
        <p:nvSpPr>
          <p:cNvPr id="55" name="step-02-tag-1"/>
          <p:cNvSpPr>
            <a:spLocks noGrp="1"/>
          </p:cNvSpPr>
          <p:nvPr/>
        </p:nvSpPr>
        <p:spPr>
          <a:xfrm>
            <a:off x="7505700" y="2254250"/>
            <a:ext cx="8382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0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Hardware</a:t>
            </a:r>
          </a:p>
        </p:txBody>
      </p:sp>
      <p:sp>
        <p:nvSpPr>
          <p:cNvPr id="56" name="step-02-tag-2"/>
          <p:cNvSpPr>
            <a:spLocks noGrp="1"/>
          </p:cNvSpPr>
          <p:nvPr/>
        </p:nvSpPr>
        <p:spPr>
          <a:xfrm>
            <a:off x="8391525" y="2254250"/>
            <a:ext cx="10668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0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Programming</a:t>
            </a:r>
          </a:p>
        </p:txBody>
      </p:sp>
      <p:sp>
        <p:nvSpPr>
          <p:cNvPr id="58" name="step-02-tag-4"/>
          <p:cNvSpPr>
            <a:spLocks noGrp="1"/>
          </p:cNvSpPr>
          <p:nvPr/>
        </p:nvSpPr>
        <p:spPr>
          <a:xfrm>
            <a:off x="7505700" y="2463800"/>
            <a:ext cx="9906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0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Environment</a:t>
            </a:r>
          </a:p>
        </p:txBody>
      </p:sp>
      <p:sp>
        <p:nvSpPr>
          <p:cNvPr id="59" name="step-02-tag-5"/>
          <p:cNvSpPr>
            <a:spLocks noGrp="1"/>
          </p:cNvSpPr>
          <p:nvPr/>
        </p:nvSpPr>
        <p:spPr>
          <a:xfrm>
            <a:off x="8543925" y="2463800"/>
            <a:ext cx="81915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0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Profiler</a:t>
            </a:r>
          </a:p>
        </p:txBody>
      </p:sp>
      <p:sp>
        <p:nvSpPr>
          <p:cNvPr id="60" name="step-02-tag-6"/>
          <p:cNvSpPr>
            <a:spLocks noGrp="1"/>
          </p:cNvSpPr>
          <p:nvPr/>
        </p:nvSpPr>
        <p:spPr>
          <a:xfrm>
            <a:off x="9410700" y="2463800"/>
            <a:ext cx="9906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00" b="1">
                <a:solidFill>
                  <a:srgbClr val="072A67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0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Optimization</a:t>
            </a:r>
          </a:p>
        </p:txBody>
      </p:sp>
      <p:sp>
        <p:nvSpPr>
          <p:cNvPr id="63" name="phase-b-surface"/>
          <p:cNvSpPr>
            <a:spLocks noGrp="1"/>
          </p:cNvSpPr>
          <p:nvPr/>
        </p:nvSpPr>
        <p:spPr>
          <a:xfrm>
            <a:off x="1295400" y="2892425"/>
            <a:ext cx="9601200" cy="9715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4" name="phase-b-accent"/>
          <p:cNvSpPr>
            <a:spLocks noGrp="1"/>
          </p:cNvSpPr>
          <p:nvPr/>
        </p:nvSpPr>
        <p:spPr>
          <a:xfrm>
            <a:off x="1295400" y="2892425"/>
            <a:ext cx="57150" cy="971550"/>
          </a:xfrm>
          <a:prstGeom prst="roundRect">
            <a:avLst>
              <a:gd name="adj" fmla="val 50000"/>
            </a:avLst>
          </a:prstGeom>
          <a:solidFill>
            <a:srgbClr val="4F8A83"/>
          </a:solidFill>
          <a:ln w="9525">
            <a:solidFill>
              <a:srgbClr val="4F8A83"/>
            </a:solidFill>
            <a:prstDash val="solid"/>
          </a:ln>
          <a:effectLst/>
        </p:spPr>
      </p:sp>
      <p:sp>
        <p:nvSpPr>
          <p:cNvPr id="65" name="phase-b-letter"/>
          <p:cNvSpPr>
            <a:spLocks noGrp="1"/>
          </p:cNvSpPr>
          <p:nvPr/>
        </p:nvSpPr>
        <p:spPr>
          <a:xfrm>
            <a:off x="1438275" y="3016250"/>
            <a:ext cx="295275" cy="29527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A8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F8A83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B</a:t>
            </a:r>
          </a:p>
        </p:txBody>
      </p:sp>
      <p:sp>
        <p:nvSpPr>
          <p:cNvPr id="67" name="phase-b-chinese"/>
          <p:cNvSpPr>
            <a:spLocks noGrp="1"/>
          </p:cNvSpPr>
          <p:nvPr/>
        </p:nvSpPr>
        <p:spPr>
          <a:xfrm>
            <a:off x="1552575" y="3254375"/>
            <a:ext cx="1304925" cy="285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0B8B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事实验证</a:t>
            </a:r>
          </a:p>
        </p:txBody>
      </p:sp>
      <p:sp>
        <p:nvSpPr>
          <p:cNvPr id="68" name="phase-b-sidebar-divider"/>
          <p:cNvSpPr>
            <a:spLocks noGrp="1"/>
          </p:cNvSpPr>
          <p:nvPr/>
        </p:nvSpPr>
        <p:spPr>
          <a:xfrm>
            <a:off x="2847975" y="2987675"/>
            <a:ext cx="9525" cy="95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9" name="phase-b-step-divider"/>
          <p:cNvSpPr>
            <a:spLocks noGrp="1"/>
          </p:cNvSpPr>
          <p:nvPr/>
        </p:nvSpPr>
        <p:spPr>
          <a:xfrm>
            <a:off x="6924675" y="2978150"/>
            <a:ext cx="9525" cy="9525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70" name="step-03-number"/>
          <p:cNvSpPr>
            <a:spLocks noGrp="1"/>
          </p:cNvSpPr>
          <p:nvPr/>
        </p:nvSpPr>
        <p:spPr>
          <a:xfrm>
            <a:off x="3009900" y="2978150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A8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F8A83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03</a:t>
            </a:r>
          </a:p>
        </p:txBody>
      </p:sp>
      <p:sp>
        <p:nvSpPr>
          <p:cNvPr id="71" name="step-03-title"/>
          <p:cNvSpPr>
            <a:spLocks noGrp="1"/>
          </p:cNvSpPr>
          <p:nvPr/>
        </p:nvSpPr>
        <p:spPr>
          <a:xfrm>
            <a:off x="3429000" y="29591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B8B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环境验证</a:t>
            </a:r>
          </a:p>
        </p:txBody>
      </p:sp>
      <p:sp>
        <p:nvSpPr>
          <p:cNvPr id="72" name="step-03-subtitle"/>
          <p:cNvSpPr>
            <a:spLocks noGrp="1"/>
          </p:cNvSpPr>
          <p:nvPr/>
        </p:nvSpPr>
        <p:spPr>
          <a:xfrm>
            <a:off x="3429000" y="3149600"/>
            <a:ext cx="29527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真实环境与工具链检测</a:t>
            </a:r>
          </a:p>
        </p:txBody>
      </p:sp>
      <p:sp>
        <p:nvSpPr>
          <p:cNvPr id="74" name="step-03-tag-1"/>
          <p:cNvSpPr>
            <a:spLocks noGrp="1"/>
          </p:cNvSpPr>
          <p:nvPr/>
        </p:nvSpPr>
        <p:spPr>
          <a:xfrm>
            <a:off x="3448050" y="3321050"/>
            <a:ext cx="55245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15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1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Device</a:t>
            </a:r>
          </a:p>
        </p:txBody>
      </p:sp>
      <p:sp>
        <p:nvSpPr>
          <p:cNvPr id="75" name="step-03-tag-2"/>
          <p:cNvSpPr>
            <a:spLocks noGrp="1"/>
          </p:cNvSpPr>
          <p:nvPr/>
        </p:nvSpPr>
        <p:spPr>
          <a:xfrm>
            <a:off x="4048125" y="3321050"/>
            <a:ext cx="62865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15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1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Compiler</a:t>
            </a:r>
          </a:p>
        </p:txBody>
      </p:sp>
      <p:sp>
        <p:nvSpPr>
          <p:cNvPr id="76" name="step-03-tag-3"/>
          <p:cNvSpPr>
            <a:spLocks noGrp="1"/>
          </p:cNvSpPr>
          <p:nvPr/>
        </p:nvSpPr>
        <p:spPr>
          <a:xfrm>
            <a:off x="4724400" y="3321050"/>
            <a:ext cx="571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15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1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Runtime</a:t>
            </a:r>
          </a:p>
        </p:txBody>
      </p:sp>
      <p:sp>
        <p:nvSpPr>
          <p:cNvPr id="77" name="step-03-tag-4"/>
          <p:cNvSpPr>
            <a:spLocks noGrp="1"/>
          </p:cNvSpPr>
          <p:nvPr/>
        </p:nvSpPr>
        <p:spPr>
          <a:xfrm>
            <a:off x="5343525" y="3321050"/>
            <a:ext cx="7239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15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1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Framework</a:t>
            </a:r>
          </a:p>
        </p:txBody>
      </p:sp>
      <p:sp>
        <p:nvSpPr>
          <p:cNvPr id="78" name="step-03-tag-5"/>
          <p:cNvSpPr>
            <a:spLocks noGrp="1"/>
          </p:cNvSpPr>
          <p:nvPr/>
        </p:nvSpPr>
        <p:spPr>
          <a:xfrm>
            <a:off x="6115050" y="3321050"/>
            <a:ext cx="55245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15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1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Profiler</a:t>
            </a:r>
          </a:p>
        </p:txBody>
      </p:sp>
      <p:sp>
        <p:nvSpPr>
          <p:cNvPr id="81" name="step-04-number"/>
          <p:cNvSpPr>
            <a:spLocks noGrp="1"/>
          </p:cNvSpPr>
          <p:nvPr/>
        </p:nvSpPr>
        <p:spPr>
          <a:xfrm>
            <a:off x="7067550" y="2978150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A8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F8A83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04</a:t>
            </a:r>
          </a:p>
        </p:txBody>
      </p:sp>
      <p:sp>
        <p:nvSpPr>
          <p:cNvPr id="82" name="step-04-title"/>
          <p:cNvSpPr>
            <a:spLocks noGrp="1"/>
          </p:cNvSpPr>
          <p:nvPr/>
        </p:nvSpPr>
        <p:spPr>
          <a:xfrm>
            <a:off x="7486650" y="29591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B8B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微基准</a:t>
            </a:r>
          </a:p>
        </p:txBody>
      </p:sp>
      <p:sp>
        <p:nvSpPr>
          <p:cNvPr id="83" name="step-04-subtitle"/>
          <p:cNvSpPr>
            <a:spLocks noGrp="1"/>
          </p:cNvSpPr>
          <p:nvPr/>
        </p:nvSpPr>
        <p:spPr>
          <a:xfrm>
            <a:off x="7486650" y="3149600"/>
            <a:ext cx="29527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 dirty="0" err="1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验证</a:t>
            </a:r>
            <a:r>
              <a:rPr lang="zh-CN" altLang="en-US" sz="825" b="1" dirty="0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平台实际性能</a:t>
            </a:r>
            <a:endParaRPr sz="825" b="1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84" name="step-04-tag-1"/>
          <p:cNvSpPr>
            <a:spLocks noGrp="1"/>
          </p:cNvSpPr>
          <p:nvPr/>
        </p:nvSpPr>
        <p:spPr>
          <a:xfrm>
            <a:off x="7505700" y="3302000"/>
            <a:ext cx="8382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680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8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Memory</a:t>
            </a:r>
          </a:p>
        </p:txBody>
      </p:sp>
      <p:sp>
        <p:nvSpPr>
          <p:cNvPr id="85" name="step-04-tag-2"/>
          <p:cNvSpPr>
            <a:spLocks noGrp="1"/>
          </p:cNvSpPr>
          <p:nvPr/>
        </p:nvSpPr>
        <p:spPr>
          <a:xfrm>
            <a:off x="8391525" y="3302000"/>
            <a:ext cx="8763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680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8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Compute</a:t>
            </a:r>
          </a:p>
        </p:txBody>
      </p:sp>
      <p:sp>
        <p:nvSpPr>
          <p:cNvPr id="86" name="step-04-tag-3"/>
          <p:cNvSpPr>
            <a:spLocks noGrp="1"/>
          </p:cNvSpPr>
          <p:nvPr/>
        </p:nvSpPr>
        <p:spPr>
          <a:xfrm>
            <a:off x="9315450" y="3302000"/>
            <a:ext cx="10287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680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8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Reduction</a:t>
            </a:r>
          </a:p>
        </p:txBody>
      </p:sp>
      <p:sp>
        <p:nvSpPr>
          <p:cNvPr id="87" name="step-04-tag-4"/>
          <p:cNvSpPr>
            <a:spLocks noGrp="1"/>
          </p:cNvSpPr>
          <p:nvPr/>
        </p:nvSpPr>
        <p:spPr>
          <a:xfrm>
            <a:off x="7505700" y="3511550"/>
            <a:ext cx="83820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680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8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Layout</a:t>
            </a:r>
          </a:p>
        </p:txBody>
      </p:sp>
      <p:sp>
        <p:nvSpPr>
          <p:cNvPr id="88" name="step-04-tag-5"/>
          <p:cNvSpPr>
            <a:spLocks noGrp="1"/>
          </p:cNvSpPr>
          <p:nvPr/>
        </p:nvSpPr>
        <p:spPr>
          <a:xfrm>
            <a:off x="8391525" y="3511550"/>
            <a:ext cx="89535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680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8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Pipeline</a:t>
            </a:r>
          </a:p>
        </p:txBody>
      </p:sp>
      <p:sp>
        <p:nvSpPr>
          <p:cNvPr id="89" name="step-04-tag-6"/>
          <p:cNvSpPr>
            <a:spLocks noGrp="1"/>
          </p:cNvSpPr>
          <p:nvPr/>
        </p:nvSpPr>
        <p:spPr>
          <a:xfrm>
            <a:off x="9334500" y="3511550"/>
            <a:ext cx="1314450" cy="180975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680" b="1">
                <a:solidFill>
                  <a:srgbClr val="0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8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Synchronization</a:t>
            </a:r>
          </a:p>
        </p:txBody>
      </p:sp>
      <p:sp>
        <p:nvSpPr>
          <p:cNvPr id="92" name="phase-c-surface"/>
          <p:cNvSpPr>
            <a:spLocks noGrp="1"/>
          </p:cNvSpPr>
          <p:nvPr/>
        </p:nvSpPr>
        <p:spPr>
          <a:xfrm>
            <a:off x="1295400" y="3911600"/>
            <a:ext cx="9601200" cy="10001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93" name="phase-c-accent"/>
          <p:cNvSpPr>
            <a:spLocks noGrp="1"/>
          </p:cNvSpPr>
          <p:nvPr/>
        </p:nvSpPr>
        <p:spPr>
          <a:xfrm>
            <a:off x="1295400" y="3911600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5B7188"/>
          </a:solidFill>
          <a:ln w="9525">
            <a:solidFill>
              <a:srgbClr val="294A6D"/>
            </a:solidFill>
            <a:prstDash val="solid"/>
          </a:ln>
          <a:effectLst/>
        </p:spPr>
      </p:sp>
      <p:sp>
        <p:nvSpPr>
          <p:cNvPr id="94" name="phase-c-letter"/>
          <p:cNvSpPr>
            <a:spLocks noGrp="1"/>
          </p:cNvSpPr>
          <p:nvPr/>
        </p:nvSpPr>
        <p:spPr>
          <a:xfrm>
            <a:off x="1438275" y="4035425"/>
            <a:ext cx="295275" cy="29527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C</a:t>
            </a:r>
          </a:p>
        </p:txBody>
      </p:sp>
      <p:sp>
        <p:nvSpPr>
          <p:cNvPr id="96" name="phase-c-chinese"/>
          <p:cNvSpPr>
            <a:spLocks noGrp="1"/>
          </p:cNvSpPr>
          <p:nvPr/>
        </p:nvSpPr>
        <p:spPr>
          <a:xfrm>
            <a:off x="1476375" y="4302125"/>
            <a:ext cx="1304925" cy="285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</a:t>
            </a:r>
            <a:r>
              <a:rPr sz="1275" b="1" dirty="0" err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构建</a:t>
            </a:r>
            <a:endParaRPr sz="1275" b="1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97" name="phase-c-sidebar-divider"/>
          <p:cNvSpPr>
            <a:spLocks noGrp="1"/>
          </p:cNvSpPr>
          <p:nvPr/>
        </p:nvSpPr>
        <p:spPr>
          <a:xfrm>
            <a:off x="2847975" y="4006850"/>
            <a:ext cx="9525" cy="95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98" name="phase-c-step-divider"/>
          <p:cNvSpPr>
            <a:spLocks noGrp="1"/>
          </p:cNvSpPr>
          <p:nvPr/>
        </p:nvSpPr>
        <p:spPr>
          <a:xfrm>
            <a:off x="6924675" y="4006850"/>
            <a:ext cx="9525" cy="95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99" name="step-05-number"/>
          <p:cNvSpPr>
            <a:spLocks noGrp="1"/>
          </p:cNvSpPr>
          <p:nvPr/>
        </p:nvSpPr>
        <p:spPr>
          <a:xfrm>
            <a:off x="3005965" y="4194175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05</a:t>
            </a:r>
          </a:p>
        </p:txBody>
      </p:sp>
      <p:sp>
        <p:nvSpPr>
          <p:cNvPr id="100" name="step-05-title"/>
          <p:cNvSpPr>
            <a:spLocks noGrp="1"/>
          </p:cNvSpPr>
          <p:nvPr/>
        </p:nvSpPr>
        <p:spPr>
          <a:xfrm>
            <a:off x="3425065" y="417512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dirty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Platform Knowledge</a:t>
            </a:r>
          </a:p>
        </p:txBody>
      </p:sp>
      <p:sp>
        <p:nvSpPr>
          <p:cNvPr id="101" name="step-05-subtitle"/>
          <p:cNvSpPr>
            <a:spLocks noGrp="1"/>
          </p:cNvSpPr>
          <p:nvPr/>
        </p:nvSpPr>
        <p:spPr>
          <a:xfrm>
            <a:off x="3425065" y="4365625"/>
            <a:ext cx="29527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825" b="1" dirty="0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纳入平台</a:t>
            </a:r>
            <a:r>
              <a:rPr sz="825" b="1" dirty="0" err="1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知识</a:t>
            </a:r>
            <a:r>
              <a:rPr lang="zh-CN" altLang="en-US" sz="825" b="1" dirty="0" smtClean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库</a:t>
            </a:r>
            <a:endParaRPr sz="825" b="1" dirty="0">
              <a:solidFill>
                <a:srgbClr val="2F3A45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07" name="step-06-number"/>
          <p:cNvSpPr>
            <a:spLocks noGrp="1"/>
          </p:cNvSpPr>
          <p:nvPr/>
        </p:nvSpPr>
        <p:spPr>
          <a:xfrm>
            <a:off x="7063615" y="4194175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06</a:t>
            </a:r>
          </a:p>
        </p:txBody>
      </p:sp>
      <p:sp>
        <p:nvSpPr>
          <p:cNvPr id="108" name="step-06-title"/>
          <p:cNvSpPr>
            <a:spLocks noGrp="1"/>
          </p:cNvSpPr>
          <p:nvPr/>
        </p:nvSpPr>
        <p:spPr>
          <a:xfrm>
            <a:off x="7482715" y="417512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dirty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Workflow </a:t>
            </a:r>
            <a:r>
              <a:rPr lang="zh-CN" altLang="en-US" sz="1125" b="1" dirty="0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完善</a:t>
            </a:r>
            <a:endParaRPr sz="1125" b="1" dirty="0">
              <a:solidFill>
                <a:srgbClr val="294A6D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09" name="step-06-subtitle"/>
          <p:cNvSpPr>
            <a:spLocks noGrp="1"/>
          </p:cNvSpPr>
          <p:nvPr/>
        </p:nvSpPr>
        <p:spPr>
          <a:xfrm>
            <a:off x="7482715" y="4365625"/>
            <a:ext cx="2143125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接入通用</a:t>
            </a:r>
            <a:r>
              <a:rPr sz="825" b="1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Workflow</a:t>
            </a:r>
          </a:p>
        </p:txBody>
      </p:sp>
      <p:sp>
        <p:nvSpPr>
          <p:cNvPr id="118" name="phase-d-surface"/>
          <p:cNvSpPr>
            <a:spLocks noGrp="1"/>
          </p:cNvSpPr>
          <p:nvPr/>
        </p:nvSpPr>
        <p:spPr>
          <a:xfrm>
            <a:off x="1295400" y="4959350"/>
            <a:ext cx="9601200" cy="88900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119" name="phase-d-accent"/>
          <p:cNvSpPr>
            <a:spLocks noGrp="1"/>
          </p:cNvSpPr>
          <p:nvPr/>
        </p:nvSpPr>
        <p:spPr>
          <a:xfrm>
            <a:off x="1295400" y="4959350"/>
            <a:ext cx="57150" cy="889000"/>
          </a:xfrm>
          <a:prstGeom prst="roundRect">
            <a:avLst>
              <a:gd name="adj" fmla="val 50000"/>
            </a:avLst>
          </a:prstGeom>
          <a:solidFill>
            <a:srgbClr val="4F8A83"/>
          </a:solidFill>
          <a:ln w="9525">
            <a:solidFill>
              <a:srgbClr val="4F8A83"/>
            </a:solidFill>
            <a:prstDash val="solid"/>
          </a:ln>
          <a:effectLst/>
        </p:spPr>
      </p:sp>
      <p:sp>
        <p:nvSpPr>
          <p:cNvPr id="120" name="phase-d-letter"/>
          <p:cNvSpPr>
            <a:spLocks noGrp="1"/>
          </p:cNvSpPr>
          <p:nvPr/>
        </p:nvSpPr>
        <p:spPr>
          <a:xfrm>
            <a:off x="1438275" y="5083175"/>
            <a:ext cx="295275" cy="295275"/>
          </a:xfrm>
          <a:prstGeom prst="roundRect">
            <a:avLst>
              <a:gd name="adj" fmla="val 19355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A8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F8A83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D</a:t>
            </a:r>
          </a:p>
        </p:txBody>
      </p:sp>
      <p:sp>
        <p:nvSpPr>
          <p:cNvPr id="122" name="phase-d-chinese"/>
          <p:cNvSpPr>
            <a:spLocks noGrp="1"/>
          </p:cNvSpPr>
          <p:nvPr/>
        </p:nvSpPr>
        <p:spPr>
          <a:xfrm>
            <a:off x="1474470" y="5378450"/>
            <a:ext cx="1304925" cy="285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最终</a:t>
            </a:r>
            <a:r>
              <a:rPr sz="1275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验收</a:t>
            </a:r>
          </a:p>
        </p:txBody>
      </p:sp>
      <p:sp>
        <p:nvSpPr>
          <p:cNvPr id="123" name="phase-d-sidebar-divider"/>
          <p:cNvSpPr>
            <a:spLocks noGrp="1"/>
          </p:cNvSpPr>
          <p:nvPr/>
        </p:nvSpPr>
        <p:spPr>
          <a:xfrm>
            <a:off x="2847975" y="5054600"/>
            <a:ext cx="9525" cy="952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124" name="phase-d-step-divider"/>
          <p:cNvSpPr>
            <a:spLocks noGrp="1"/>
          </p:cNvSpPr>
          <p:nvPr/>
        </p:nvSpPr>
        <p:spPr>
          <a:xfrm>
            <a:off x="6924675" y="5054600"/>
            <a:ext cx="9525" cy="9525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125" name="step-07-number"/>
          <p:cNvSpPr>
            <a:spLocks noGrp="1"/>
          </p:cNvSpPr>
          <p:nvPr/>
        </p:nvSpPr>
        <p:spPr>
          <a:xfrm>
            <a:off x="3009900" y="5054600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A8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F8A83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07</a:t>
            </a:r>
          </a:p>
        </p:txBody>
      </p:sp>
      <p:sp>
        <p:nvSpPr>
          <p:cNvPr id="126" name="step-07-title"/>
          <p:cNvSpPr>
            <a:spLocks noGrp="1"/>
          </p:cNvSpPr>
          <p:nvPr/>
        </p:nvSpPr>
        <p:spPr>
          <a:xfrm>
            <a:off x="3429000" y="5035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dirty="0" err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典型算子验证</a:t>
            </a:r>
            <a:endParaRPr sz="1125" b="1" dirty="0">
              <a:solidFill>
                <a:srgbClr val="4F8A8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28" name="step-07-operator-1"/>
          <p:cNvSpPr>
            <a:spLocks noGrp="1"/>
          </p:cNvSpPr>
          <p:nvPr/>
        </p:nvSpPr>
        <p:spPr>
          <a:xfrm>
            <a:off x="3429000" y="5378450"/>
            <a:ext cx="10287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lnSpc>
                <a:spcPct val="95000"/>
              </a:lnSpc>
              <a:buNone/>
              <a:defRPr sz="72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2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LayerNorm</a:t>
            </a:r>
          </a:p>
          <a:p>
            <a:pPr algn="ctr">
              <a:lnSpc>
                <a:spcPct val="95000"/>
              </a:lnSpc>
              <a:buNone/>
              <a:defRPr sz="72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2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Memory + Reduction</a:t>
            </a:r>
          </a:p>
        </p:txBody>
      </p:sp>
      <p:sp>
        <p:nvSpPr>
          <p:cNvPr id="129" name="step-07-operator-2"/>
          <p:cNvSpPr>
            <a:spLocks noGrp="1"/>
          </p:cNvSpPr>
          <p:nvPr/>
        </p:nvSpPr>
        <p:spPr>
          <a:xfrm>
            <a:off x="4543425" y="5378450"/>
            <a:ext cx="10287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47625" tIns="19050" rIns="47625" bIns="19050" anchor="ctr">
            <a:normAutofit fontScale="98375" lnSpcReduction="10000"/>
          </a:bodyPr>
          <a:lstStyle/>
          <a:p>
            <a:pPr algn="ctr">
              <a:lnSpc>
                <a:spcPct val="95000"/>
              </a:lnSpc>
              <a:buNone/>
              <a:defRPr sz="69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9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Softmax</a:t>
            </a:r>
          </a:p>
          <a:p>
            <a:pPr algn="ctr">
              <a:lnSpc>
                <a:spcPct val="95000"/>
              </a:lnSpc>
              <a:buNone/>
              <a:defRPr sz="69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9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Elementwise + Reduction</a:t>
            </a:r>
          </a:p>
        </p:txBody>
      </p:sp>
      <p:sp>
        <p:nvSpPr>
          <p:cNvPr id="130" name="step-07-operator-3"/>
          <p:cNvSpPr>
            <a:spLocks noGrp="1"/>
          </p:cNvSpPr>
          <p:nvPr/>
        </p:nvSpPr>
        <p:spPr>
          <a:xfrm>
            <a:off x="5657850" y="5378450"/>
            <a:ext cx="10287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4F8A83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72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2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MatMul</a:t>
            </a:r>
          </a:p>
          <a:p>
            <a:pPr algn="ctr">
              <a:lnSpc>
                <a:spcPct val="95000"/>
              </a:lnSpc>
              <a:buNone/>
              <a:defRPr sz="720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20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Compute + Tiling</a:t>
            </a:r>
          </a:p>
        </p:txBody>
      </p:sp>
      <p:sp>
        <p:nvSpPr>
          <p:cNvPr id="133" name="step-08-number"/>
          <p:cNvSpPr>
            <a:spLocks noGrp="1"/>
          </p:cNvSpPr>
          <p:nvPr/>
        </p:nvSpPr>
        <p:spPr>
          <a:xfrm>
            <a:off x="7067550" y="5054600"/>
            <a:ext cx="342900" cy="276225"/>
          </a:xfrm>
          <a:prstGeom prst="roundRect">
            <a:avLst>
              <a:gd name="adj" fmla="val 20690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A8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F8A83"/>
                </a:solidFill>
                <a:prstDash val="solid"/>
              </a14:hiddenLine>
            </a:ext>
          </a:extLst>
        </p:spPr>
        <p:txBody>
          <a:bodyPr wrap="square" lIns="47625" tIns="19050" rIns="47625" bIns="1905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Calibri" panose="020F0502020204030204"/>
              </a:rPr>
              <a:t>08</a:t>
            </a:r>
          </a:p>
        </p:txBody>
      </p:sp>
      <p:sp>
        <p:nvSpPr>
          <p:cNvPr id="134" name="step-08-title"/>
          <p:cNvSpPr>
            <a:spLocks noGrp="1"/>
          </p:cNvSpPr>
          <p:nvPr/>
        </p:nvSpPr>
        <p:spPr>
          <a:xfrm>
            <a:off x="7486650" y="5035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F8A8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Feedback &amp; Iterate</a:t>
            </a:r>
          </a:p>
        </p:txBody>
      </p:sp>
      <p:sp>
        <p:nvSpPr>
          <p:cNvPr id="135" name="step-08-subtitle"/>
          <p:cNvSpPr>
            <a:spLocks noGrp="1"/>
          </p:cNvSpPr>
          <p:nvPr/>
        </p:nvSpPr>
        <p:spPr>
          <a:xfrm>
            <a:off x="7486650" y="5226050"/>
            <a:ext cx="29527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分类反馈并迭代</a:t>
            </a:r>
          </a:p>
        </p:txBody>
      </p:sp>
      <p:sp>
        <p:nvSpPr>
          <p:cNvPr id="136" name="step-08-branch-1"/>
          <p:cNvSpPr>
            <a:spLocks noGrp="1"/>
          </p:cNvSpPr>
          <p:nvPr/>
        </p:nvSpPr>
        <p:spPr>
          <a:xfrm>
            <a:off x="7496175" y="5378450"/>
            <a:ext cx="1009650" cy="381000"/>
          </a:xfrm>
          <a:prstGeom prst="roundRect">
            <a:avLst>
              <a:gd name="adj" fmla="val 15000"/>
            </a:avLst>
          </a:prstGeom>
          <a:solidFill>
            <a:srgbClr val="F6ECE6"/>
          </a:solidFill>
          <a:ln w="9525">
            <a:solidFill>
              <a:srgbClr val="C77C59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690" b="1">
                <a:solidFill>
                  <a:srgbClr val="E971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平台事实偏差</a:t>
            </a:r>
          </a:p>
          <a:p>
            <a:pPr algn="ctr">
              <a:lnSpc>
                <a:spcPct val="95000"/>
              </a:lnSpc>
              <a:buNone/>
              <a:defRPr sz="690" b="1">
                <a:solidFill>
                  <a:srgbClr val="E971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C77C59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→ Update Knowledge</a:t>
            </a:r>
          </a:p>
        </p:txBody>
      </p:sp>
      <p:sp>
        <p:nvSpPr>
          <p:cNvPr id="137" name="step-08-branch-2"/>
          <p:cNvSpPr>
            <a:spLocks noGrp="1"/>
          </p:cNvSpPr>
          <p:nvPr/>
        </p:nvSpPr>
        <p:spPr>
          <a:xfrm>
            <a:off x="8572500" y="5378450"/>
            <a:ext cx="1009650" cy="381000"/>
          </a:xfrm>
          <a:prstGeom prst="roundRect">
            <a:avLst>
              <a:gd name="adj" fmla="val 15000"/>
            </a:avLst>
          </a:prstGeom>
          <a:solidFill>
            <a:srgbClr val="F6ECE6"/>
          </a:solidFill>
          <a:ln w="9525">
            <a:solidFill>
              <a:srgbClr val="C77C59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690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优化策略失效</a:t>
            </a:r>
          </a:p>
          <a:p>
            <a:pPr algn="ctr">
              <a:lnSpc>
                <a:spcPct val="95000"/>
              </a:lnSpc>
              <a:buNone/>
              <a:defRPr sz="690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→ Update Rules</a:t>
            </a:r>
          </a:p>
        </p:txBody>
      </p:sp>
      <p:sp>
        <p:nvSpPr>
          <p:cNvPr id="138" name="step-08-branch-3"/>
          <p:cNvSpPr>
            <a:spLocks noGrp="1"/>
          </p:cNvSpPr>
          <p:nvPr/>
        </p:nvSpPr>
        <p:spPr>
          <a:xfrm>
            <a:off x="9648825" y="5378450"/>
            <a:ext cx="1009650" cy="381000"/>
          </a:xfrm>
          <a:prstGeom prst="roundRect">
            <a:avLst>
              <a:gd name="adj" fmla="val 15000"/>
            </a:avLst>
          </a:prstGeom>
          <a:solidFill>
            <a:srgbClr val="F6ECE6"/>
          </a:solidFill>
          <a:ln w="9525">
            <a:solidFill>
              <a:srgbClr val="C77C59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690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流程 / 契约不足</a:t>
            </a:r>
          </a:p>
          <a:p>
            <a:pPr algn="ctr">
              <a:lnSpc>
                <a:spcPct val="95000"/>
              </a:lnSpc>
              <a:buNone/>
              <a:defRPr sz="690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→ Adjust Workflow</a:t>
            </a:r>
          </a:p>
        </p:txBody>
      </p:sp>
      <p:cxnSp>
        <p:nvCxnSpPr>
          <p:cNvPr id="291" name="phase-a-to-b"/>
          <p:cNvCxnSpPr/>
          <p:nvPr/>
        </p:nvCxnSpPr>
        <p:spPr>
          <a:xfrm>
            <a:off x="6096000" y="2844800"/>
            <a:ext cx="0" cy="47625"/>
          </a:xfrm>
          <a:prstGeom prst="straightConnector1">
            <a:avLst/>
          </a:prstGeom>
          <a:ln w="11430">
            <a:solidFill>
              <a:srgbClr val="294A6D"/>
            </a:solidFill>
            <a:prstDash val="solid"/>
            <a:tailEnd type="triangle" w="sm" len="sm"/>
          </a:ln>
          <a:effectLst/>
        </p:spPr>
      </p:cxnSp>
      <p:cxnSp>
        <p:nvCxnSpPr>
          <p:cNvPr id="292" name="phase-b-to-c"/>
          <p:cNvCxnSpPr/>
          <p:nvPr/>
        </p:nvCxnSpPr>
        <p:spPr>
          <a:xfrm>
            <a:off x="6096000" y="3863975"/>
            <a:ext cx="0" cy="47625"/>
          </a:xfrm>
          <a:prstGeom prst="straightConnector1">
            <a:avLst/>
          </a:prstGeom>
          <a:ln w="11430">
            <a:solidFill>
              <a:srgbClr val="4F8A83"/>
            </a:solidFill>
            <a:prstDash val="solid"/>
            <a:tailEnd type="triangle" w="sm" len="sm"/>
          </a:ln>
          <a:effectLst/>
        </p:spPr>
      </p:cxnSp>
      <p:cxnSp>
        <p:nvCxnSpPr>
          <p:cNvPr id="293" name="phase-c-to-d"/>
          <p:cNvCxnSpPr/>
          <p:nvPr/>
        </p:nvCxnSpPr>
        <p:spPr>
          <a:xfrm>
            <a:off x="6096000" y="4911725"/>
            <a:ext cx="0" cy="47625"/>
          </a:xfrm>
          <a:prstGeom prst="straightConnector1">
            <a:avLst/>
          </a:prstGeom>
          <a:ln w="11430">
            <a:solidFill>
              <a:srgbClr val="4F8A83"/>
            </a:solidFill>
            <a:prstDash val="solid"/>
            <a:tailEnd type="triangle" w="sm" len="sm"/>
          </a:ln>
          <a:effectLst/>
        </p:spPr>
      </p:cxnSp>
      <p:sp>
        <p:nvSpPr>
          <p:cNvPr id="3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8</a:t>
            </a:r>
          </a:p>
        </p:txBody>
      </p:sp>
      <p:sp>
        <p:nvSpPr>
          <p:cNvPr id="103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3.2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04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9-title"/>
          <p:cNvSpPr>
            <a:spLocks noGrp="1"/>
          </p:cNvSpPr>
          <p:nvPr/>
        </p:nvSpPr>
        <p:spPr>
          <a:xfrm>
            <a:off x="696912" y="289560"/>
            <a:ext cx="5635625" cy="37338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normAutofit fontScale="95000" lnSpcReduction="10000"/>
          </a:bodyPr>
          <a:lstStyle/>
          <a:p>
            <a:pPr algn="ctr">
              <a:buNone/>
              <a:defRPr sz="27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 dirty="0" err="1">
                <a:solidFill>
                  <a:srgbClr val="243B5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当前四个平台的算子</a:t>
            </a:r>
            <a:r>
              <a:rPr b="1" dirty="0">
                <a:solidFill>
                  <a:srgbClr val="243B5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b="1" dirty="0" err="1">
                <a:solidFill>
                  <a:srgbClr val="243B5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Skill开发情况</a:t>
            </a:r>
            <a:endParaRPr b="1" dirty="0">
              <a:solidFill>
                <a:srgbClr val="243B5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akeaway_band_background"/>
          <p:cNvSpPr>
            <a:spLocks noGrp="1"/>
          </p:cNvSpPr>
          <p:nvPr/>
        </p:nvSpPr>
        <p:spPr>
          <a:xfrm>
            <a:off x="152400" y="6076950"/>
            <a:ext cx="11887200" cy="361950"/>
          </a:xfrm>
          <a:prstGeom prst="rect">
            <a:avLst/>
          </a:prstGeom>
          <a:solidFill>
            <a:srgbClr val="EEF2F5"/>
          </a:solidFill>
          <a:ln w="7620">
            <a:solidFill>
              <a:srgbClr val="D6DEE6"/>
            </a:solidFill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akeaway_1_badge"/>
          <p:cNvSpPr>
            <a:spLocks noGrp="1"/>
          </p:cNvSpPr>
          <p:nvPr/>
        </p:nvSpPr>
        <p:spPr>
          <a:xfrm>
            <a:off x="1304925" y="6153150"/>
            <a:ext cx="2286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975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sz="975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takeaway_1_text"/>
          <p:cNvSpPr>
            <a:spLocks noGrp="1"/>
          </p:cNvSpPr>
          <p:nvPr/>
        </p:nvSpPr>
        <p:spPr>
          <a:xfrm>
            <a:off x="1619250" y="6124575"/>
            <a:ext cx="2952750" cy="2762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123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MLU Triton 是当前方法的实践起点</a:t>
            </a:r>
          </a:p>
        </p:txBody>
      </p:sp>
      <p:sp>
        <p:nvSpPr>
          <p:cNvPr id="11" name="takeaway_2_badge"/>
          <p:cNvSpPr>
            <a:spLocks noGrp="1"/>
          </p:cNvSpPr>
          <p:nvPr/>
        </p:nvSpPr>
        <p:spPr>
          <a:xfrm>
            <a:off x="4695825" y="6153150"/>
            <a:ext cx="2286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takeaway_2_text"/>
          <p:cNvSpPr>
            <a:spLocks noGrp="1"/>
          </p:cNvSpPr>
          <p:nvPr/>
        </p:nvSpPr>
        <p:spPr>
          <a:xfrm>
            <a:off x="5019675" y="61245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123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平台差异主要体现在平台知识成熟度</a:t>
            </a:r>
          </a:p>
        </p:txBody>
      </p:sp>
      <p:sp>
        <p:nvSpPr>
          <p:cNvPr id="13" name="takeaway_3_badge"/>
          <p:cNvSpPr>
            <a:spLocks noGrp="1"/>
          </p:cNvSpPr>
          <p:nvPr/>
        </p:nvSpPr>
        <p:spPr>
          <a:xfrm>
            <a:off x="8201025" y="6153150"/>
            <a:ext cx="2286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" name="takeaway_3_text"/>
          <p:cNvSpPr>
            <a:spLocks noGrp="1"/>
          </p:cNvSpPr>
          <p:nvPr/>
        </p:nvSpPr>
        <p:spPr>
          <a:xfrm>
            <a:off x="8524875" y="6124575"/>
            <a:ext cx="2619375" cy="2762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123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Skill 仍需多次算子开发验证</a:t>
            </a:r>
          </a:p>
        </p:txBody>
      </p:sp>
      <p:sp>
        <p:nvSpPr>
          <p:cNvPr id="15" name="slide-9-editable-footer"/>
          <p:cNvSpPr>
            <a:spLocks noGrp="1"/>
          </p:cNvSpPr>
          <p:nvPr/>
        </p:nvSpPr>
        <p:spPr>
          <a:xfrm>
            <a:off x="152400" y="6467475"/>
            <a:ext cx="11887200" cy="32385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rmAutofit/>
          </a:bodyPr>
          <a:lstStyle/>
          <a:p>
            <a:pPr algn="ctr">
              <a:buNone/>
              <a:defRPr sz="81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四个平台已经处于不同成熟阶段：MLU Triton 已形成较完整闭环，BANG C 已跑通基础真机链路，CUDA 基础 Skill 已完成，GPU Triton 正在进行平台知识迁移与验证。</a:t>
            </a:r>
          </a:p>
        </p:txBody>
      </p:sp>
      <p:sp>
        <p:nvSpPr>
          <p:cNvPr id="17" name="s18-mlu-frame"/>
          <p:cNvSpPr>
            <a:spLocks noGrp="1"/>
          </p:cNvSpPr>
          <p:nvPr/>
        </p:nvSpPr>
        <p:spPr>
          <a:xfrm>
            <a:off x="95250" y="1122362"/>
            <a:ext cx="5743575" cy="2286000"/>
          </a:xfrm>
          <a:prstGeom prst="rect">
            <a:avLst/>
          </a:prstGeom>
          <a:solidFill>
            <a:srgbClr val="294A6D"/>
          </a:solidFill>
          <a:ln w="11430">
            <a:solidFill>
              <a:srgbClr val="D6DEE6"/>
            </a:solidFill>
            <a:prstDash val="solid"/>
          </a:ln>
          <a:effectLst/>
        </p:spPr>
      </p:sp>
      <p:sp>
        <p:nvSpPr>
          <p:cNvPr id="18" name="s18-mlu-body-fill"/>
          <p:cNvSpPr>
            <a:spLocks noGrp="1"/>
          </p:cNvSpPr>
          <p:nvPr/>
        </p:nvSpPr>
        <p:spPr>
          <a:xfrm>
            <a:off x="104775" y="1693862"/>
            <a:ext cx="5724525" cy="1704975"/>
          </a:xfrm>
          <a:prstGeom prst="rect">
            <a:avLst/>
          </a:prstGeom>
          <a:solidFill>
            <a:srgbClr val="FFFFFF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9" name="s18-mlu-header-rule"/>
          <p:cNvSpPr>
            <a:spLocks noGrp="1"/>
          </p:cNvSpPr>
          <p:nvPr/>
        </p:nvSpPr>
        <p:spPr>
          <a:xfrm>
            <a:off x="104775" y="1684337"/>
            <a:ext cx="5724525" cy="9525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20" name="s18-mlu-title"/>
          <p:cNvSpPr>
            <a:spLocks noGrp="1"/>
          </p:cNvSpPr>
          <p:nvPr/>
        </p:nvSpPr>
        <p:spPr>
          <a:xfrm>
            <a:off x="142875" y="1271904"/>
            <a:ext cx="5591175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9359"/>
          </a:bodyPr>
          <a:lstStyle/>
          <a:p>
            <a:pPr algn="ctr">
              <a:defRPr sz="1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95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MLU Triton</a:t>
            </a:r>
          </a:p>
        </p:txBody>
      </p:sp>
      <p:sp>
        <p:nvSpPr>
          <p:cNvPr id="22" name="s18-mlu-divider-1"/>
          <p:cNvSpPr>
            <a:spLocks noGrp="1"/>
          </p:cNvSpPr>
          <p:nvPr/>
        </p:nvSpPr>
        <p:spPr>
          <a:xfrm>
            <a:off x="1247775" y="1760537"/>
            <a:ext cx="9525" cy="15621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23" name="s18-mlu-divider-2"/>
          <p:cNvSpPr>
            <a:spLocks noGrp="1"/>
          </p:cNvSpPr>
          <p:nvPr/>
        </p:nvSpPr>
        <p:spPr>
          <a:xfrm>
            <a:off x="3276600" y="1760537"/>
            <a:ext cx="9525" cy="15621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24" name="s18-mlu-divider-3"/>
          <p:cNvSpPr>
            <a:spLocks noGrp="1"/>
          </p:cNvSpPr>
          <p:nvPr/>
        </p:nvSpPr>
        <p:spPr>
          <a:xfrm>
            <a:off x="4543425" y="1760537"/>
            <a:ext cx="9525" cy="15621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25" name="s18-mlu-c1-number"/>
          <p:cNvSpPr>
            <a:spLocks noGrp="1"/>
          </p:cNvSpPr>
          <p:nvPr/>
        </p:nvSpPr>
        <p:spPr>
          <a:xfrm>
            <a:off x="190500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s18-mlu-c1-title"/>
          <p:cNvSpPr>
            <a:spLocks noGrp="1"/>
          </p:cNvSpPr>
          <p:nvPr/>
        </p:nvSpPr>
        <p:spPr>
          <a:xfrm>
            <a:off x="438150" y="1751012"/>
            <a:ext cx="76200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当前阶段</a:t>
            </a:r>
          </a:p>
        </p:txBody>
      </p:sp>
      <p:sp>
        <p:nvSpPr>
          <p:cNvPr id="27" name="s18-mlu-c2-number"/>
          <p:cNvSpPr>
            <a:spLocks noGrp="1"/>
          </p:cNvSpPr>
          <p:nvPr/>
        </p:nvSpPr>
        <p:spPr>
          <a:xfrm>
            <a:off x="1333500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8" name="s18-mlu-c2-title"/>
          <p:cNvSpPr>
            <a:spLocks noGrp="1"/>
          </p:cNvSpPr>
          <p:nvPr/>
        </p:nvSpPr>
        <p:spPr>
          <a:xfrm>
            <a:off x="1581150" y="1751012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已完成</a:t>
            </a:r>
          </a:p>
        </p:txBody>
      </p:sp>
      <p:sp>
        <p:nvSpPr>
          <p:cNvPr id="29" name="s18-mlu-c3-number"/>
          <p:cNvSpPr>
            <a:spLocks noGrp="1"/>
          </p:cNvSpPr>
          <p:nvPr/>
        </p:nvSpPr>
        <p:spPr>
          <a:xfrm>
            <a:off x="3371850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s18-mlu-c3-title"/>
          <p:cNvSpPr>
            <a:spLocks noGrp="1"/>
          </p:cNvSpPr>
          <p:nvPr/>
        </p:nvSpPr>
        <p:spPr>
          <a:xfrm>
            <a:off x="3619500" y="1751012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验证程度</a:t>
            </a:r>
          </a:p>
        </p:txBody>
      </p:sp>
      <p:sp>
        <p:nvSpPr>
          <p:cNvPr id="31" name="s18-mlu-c4-number"/>
          <p:cNvSpPr>
            <a:spLocks noGrp="1"/>
          </p:cNvSpPr>
          <p:nvPr/>
        </p:nvSpPr>
        <p:spPr>
          <a:xfrm>
            <a:off x="4638675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2" name="s18-mlu-c4-title"/>
          <p:cNvSpPr>
            <a:spLocks noGrp="1"/>
          </p:cNvSpPr>
          <p:nvPr/>
        </p:nvSpPr>
        <p:spPr>
          <a:xfrm>
            <a:off x="4886325" y="1751012"/>
            <a:ext cx="8191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下一步</a:t>
            </a:r>
          </a:p>
        </p:txBody>
      </p:sp>
      <p:sp>
        <p:nvSpPr>
          <p:cNvPr id="33" name="s18-mlu-stage"/>
          <p:cNvSpPr>
            <a:spLocks noGrp="1"/>
          </p:cNvSpPr>
          <p:nvPr/>
        </p:nvSpPr>
        <p:spPr>
          <a:xfrm>
            <a:off x="190500" y="2036762"/>
            <a:ext cx="971550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19050" rIns="0" bIns="0" anchor="t">
            <a:normAutofit/>
          </a:bodyPr>
          <a:lstStyle/>
          <a:p>
            <a:pPr algn="l">
              <a:defRPr sz="865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dirty="0" err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完成基础闭环验证</a:t>
            </a:r>
            <a:endParaRPr sz="865" b="1" dirty="0">
              <a:solidFill>
                <a:srgbClr val="2F3A4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s18-mlu-done-1-symbol"/>
          <p:cNvSpPr>
            <a:spLocks noGrp="1"/>
          </p:cNvSpPr>
          <p:nvPr/>
        </p:nvSpPr>
        <p:spPr>
          <a:xfrm>
            <a:off x="1352550" y="20177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35" name="s18-mlu-done-1-text"/>
          <p:cNvSpPr>
            <a:spLocks noGrp="1"/>
          </p:cNvSpPr>
          <p:nvPr/>
        </p:nvSpPr>
        <p:spPr>
          <a:xfrm>
            <a:off x="1514475" y="2017712"/>
            <a:ext cx="17240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5917"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Main / Code-Gen / Review / Optimize</a:t>
            </a:r>
          </a:p>
        </p:txBody>
      </p:sp>
      <p:sp>
        <p:nvSpPr>
          <p:cNvPr id="36" name="s18-mlu-done-2-symbol"/>
          <p:cNvSpPr>
            <a:spLocks noGrp="1"/>
          </p:cNvSpPr>
          <p:nvPr/>
        </p:nvSpPr>
        <p:spPr>
          <a:xfrm>
            <a:off x="1352550" y="22463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37" name="s18-mlu-done-2-text"/>
          <p:cNvSpPr>
            <a:spLocks noGrp="1"/>
          </p:cNvSpPr>
          <p:nvPr/>
        </p:nvSpPr>
        <p:spPr>
          <a:xfrm>
            <a:off x="1514475" y="2246312"/>
            <a:ext cx="17240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平台知识与开发规则已积累</a:t>
            </a:r>
          </a:p>
        </p:txBody>
      </p:sp>
      <p:sp>
        <p:nvSpPr>
          <p:cNvPr id="38" name="s18-mlu-done-3-symbol"/>
          <p:cNvSpPr>
            <a:spLocks noGrp="1"/>
          </p:cNvSpPr>
          <p:nvPr/>
        </p:nvSpPr>
        <p:spPr>
          <a:xfrm>
            <a:off x="1352550" y="24749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39" name="s18-mlu-done-3-text"/>
          <p:cNvSpPr>
            <a:spLocks noGrp="1"/>
          </p:cNvSpPr>
          <p:nvPr/>
        </p:nvSpPr>
        <p:spPr>
          <a:xfrm>
            <a:off x="1514475" y="2474912"/>
            <a:ext cx="17240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已进行多类算子开发与优化实践</a:t>
            </a:r>
          </a:p>
        </p:txBody>
      </p:sp>
      <p:sp>
        <p:nvSpPr>
          <p:cNvPr id="40" name="s18-mlu-done-4-symbol"/>
          <p:cNvSpPr>
            <a:spLocks noGrp="1"/>
          </p:cNvSpPr>
          <p:nvPr/>
        </p:nvSpPr>
        <p:spPr>
          <a:xfrm>
            <a:off x="1352550" y="2703512"/>
            <a:ext cx="133350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41" name="s18-mlu-done-4-text"/>
          <p:cNvSpPr>
            <a:spLocks noGrp="1"/>
          </p:cNvSpPr>
          <p:nvPr/>
        </p:nvSpPr>
        <p:spPr>
          <a:xfrm>
            <a:off x="1514475" y="2703512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7500"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Benchmark / Profiling 能进入优化流程</a:t>
            </a:r>
          </a:p>
        </p:txBody>
      </p:sp>
      <p:sp>
        <p:nvSpPr>
          <p:cNvPr id="42" name="s18-mlu-validation-1-symbol"/>
          <p:cNvSpPr>
            <a:spLocks noGrp="1"/>
          </p:cNvSpPr>
          <p:nvPr/>
        </p:nvSpPr>
        <p:spPr>
          <a:xfrm>
            <a:off x="3381375" y="20081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43" name="s18-mlu-validation-1-text"/>
          <p:cNvSpPr>
            <a:spLocks noGrp="1"/>
          </p:cNvSpPr>
          <p:nvPr/>
        </p:nvSpPr>
        <p:spPr>
          <a:xfrm>
            <a:off x="3543300" y="2008187"/>
            <a:ext cx="9429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  ✓</a:t>
            </a:r>
          </a:p>
        </p:txBody>
      </p:sp>
      <p:sp>
        <p:nvSpPr>
          <p:cNvPr id="44" name="s18-mlu-validation-2-symbol"/>
          <p:cNvSpPr>
            <a:spLocks noGrp="1"/>
          </p:cNvSpPr>
          <p:nvPr/>
        </p:nvSpPr>
        <p:spPr>
          <a:xfrm>
            <a:off x="3381375" y="21986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45" name="s18-mlu-validation-2-text"/>
          <p:cNvSpPr>
            <a:spLocks noGrp="1"/>
          </p:cNvSpPr>
          <p:nvPr/>
        </p:nvSpPr>
        <p:spPr>
          <a:xfrm>
            <a:off x="3543300" y="2198687"/>
            <a:ext cx="9429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 dirty="0" err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代码生成</a:t>
            </a:r>
            <a:r>
              <a:rPr sz="795" b="1" dirty="0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✓</a:t>
            </a:r>
          </a:p>
        </p:txBody>
      </p:sp>
      <p:sp>
        <p:nvSpPr>
          <p:cNvPr id="46" name="s18-mlu-validation-3-symbol"/>
          <p:cNvSpPr>
            <a:spLocks noGrp="1"/>
          </p:cNvSpPr>
          <p:nvPr/>
        </p:nvSpPr>
        <p:spPr>
          <a:xfrm>
            <a:off x="3381375" y="23891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47" name="s18-mlu-validation-3-text"/>
          <p:cNvSpPr>
            <a:spLocks noGrp="1"/>
          </p:cNvSpPr>
          <p:nvPr/>
        </p:nvSpPr>
        <p:spPr>
          <a:xfrm>
            <a:off x="3543300" y="2389187"/>
            <a:ext cx="9429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 dirty="0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Correctness  ✓</a:t>
            </a:r>
          </a:p>
        </p:txBody>
      </p:sp>
      <p:sp>
        <p:nvSpPr>
          <p:cNvPr id="48" name="s18-mlu-validation-4-symbol"/>
          <p:cNvSpPr>
            <a:spLocks noGrp="1"/>
          </p:cNvSpPr>
          <p:nvPr/>
        </p:nvSpPr>
        <p:spPr>
          <a:xfrm>
            <a:off x="3381375" y="25796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49" name="s18-mlu-validation-4-text"/>
          <p:cNvSpPr>
            <a:spLocks noGrp="1"/>
          </p:cNvSpPr>
          <p:nvPr/>
        </p:nvSpPr>
        <p:spPr>
          <a:xfrm>
            <a:off x="3543300" y="2579687"/>
            <a:ext cx="9429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Benchmark  ✓</a:t>
            </a:r>
          </a:p>
        </p:txBody>
      </p:sp>
      <p:sp>
        <p:nvSpPr>
          <p:cNvPr id="50" name="s18-mlu-validation-5-symbol"/>
          <p:cNvSpPr>
            <a:spLocks noGrp="1"/>
          </p:cNvSpPr>
          <p:nvPr/>
        </p:nvSpPr>
        <p:spPr>
          <a:xfrm>
            <a:off x="3381375" y="27701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51" name="s18-mlu-validation-5-text"/>
          <p:cNvSpPr>
            <a:spLocks noGrp="1"/>
          </p:cNvSpPr>
          <p:nvPr/>
        </p:nvSpPr>
        <p:spPr>
          <a:xfrm>
            <a:off x="3543300" y="2770187"/>
            <a:ext cx="9429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Optimize  ✓</a:t>
            </a:r>
          </a:p>
        </p:txBody>
      </p:sp>
      <p:sp>
        <p:nvSpPr>
          <p:cNvPr id="54" name="s18-mlu-next-1-symbol"/>
          <p:cNvSpPr>
            <a:spLocks noGrp="1"/>
          </p:cNvSpPr>
          <p:nvPr/>
        </p:nvSpPr>
        <p:spPr>
          <a:xfrm>
            <a:off x="4648200" y="2008187"/>
            <a:ext cx="133350" cy="3524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55" name="s18-mlu-next-1-text"/>
          <p:cNvSpPr>
            <a:spLocks noGrp="1"/>
          </p:cNvSpPr>
          <p:nvPr/>
        </p:nvSpPr>
        <p:spPr>
          <a:xfrm>
            <a:off x="4810125" y="2008187"/>
            <a:ext cx="895350" cy="3524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825" lnSpcReduction="10000"/>
          </a:bodyPr>
          <a:lstStyle/>
          <a:p>
            <a:pPr algn="l">
              <a:defRPr sz="78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进一步整理</a:t>
            </a:r>
          </a:p>
          <a:p>
            <a:pPr algn="l">
              <a:defRPr sz="78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Platform Knowledge</a:t>
            </a:r>
          </a:p>
        </p:txBody>
      </p:sp>
      <p:sp>
        <p:nvSpPr>
          <p:cNvPr id="56" name="s18-mlu-next-2-symbol"/>
          <p:cNvSpPr>
            <a:spLocks noGrp="1"/>
          </p:cNvSpPr>
          <p:nvPr/>
        </p:nvSpPr>
        <p:spPr>
          <a:xfrm>
            <a:off x="4648200" y="2408237"/>
            <a:ext cx="133350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57" name="s18-mlu-next-2-text"/>
          <p:cNvSpPr>
            <a:spLocks noGrp="1"/>
          </p:cNvSpPr>
          <p:nvPr/>
        </p:nvSpPr>
        <p:spPr>
          <a:xfrm>
            <a:off x="4810125" y="2408237"/>
            <a:ext cx="895350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补齐复杂算子经验</a:t>
            </a:r>
          </a:p>
        </p:txBody>
      </p:sp>
      <p:sp>
        <p:nvSpPr>
          <p:cNvPr id="58" name="s18-mlu-next-3-symbol"/>
          <p:cNvSpPr>
            <a:spLocks noGrp="1"/>
          </p:cNvSpPr>
          <p:nvPr/>
        </p:nvSpPr>
        <p:spPr>
          <a:xfrm>
            <a:off x="4648200" y="2684462"/>
            <a:ext cx="133350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59" name="s18-mlu-next-3-text"/>
          <p:cNvSpPr>
            <a:spLocks noGrp="1"/>
          </p:cNvSpPr>
          <p:nvPr/>
        </p:nvSpPr>
        <p:spPr>
          <a:xfrm>
            <a:off x="4810125" y="2684462"/>
            <a:ext cx="895350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统一不同算子的</a:t>
            </a:r>
          </a:p>
          <a:p>
            <a:pPr algn="l">
              <a:defRPr sz="78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评估与归档方式</a:t>
            </a:r>
          </a:p>
        </p:txBody>
      </p:sp>
      <p:sp>
        <p:nvSpPr>
          <p:cNvPr id="60" name="s18-bang-frame"/>
          <p:cNvSpPr>
            <a:spLocks noGrp="1"/>
          </p:cNvSpPr>
          <p:nvPr/>
        </p:nvSpPr>
        <p:spPr>
          <a:xfrm>
            <a:off x="5943600" y="1122362"/>
            <a:ext cx="60388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  <a:effectLst/>
        </p:spPr>
      </p:sp>
      <p:sp>
        <p:nvSpPr>
          <p:cNvPr id="61" name="s18-bang-header-fill"/>
          <p:cNvSpPr>
            <a:spLocks noGrp="1"/>
          </p:cNvSpPr>
          <p:nvPr/>
        </p:nvSpPr>
        <p:spPr>
          <a:xfrm>
            <a:off x="5953125" y="1131887"/>
            <a:ext cx="6019800" cy="561975"/>
          </a:xfrm>
          <a:prstGeom prst="rect">
            <a:avLst/>
          </a:prstGeom>
          <a:solidFill>
            <a:srgbClr val="FFFFFF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62" name="s18-bang-body-fill"/>
          <p:cNvSpPr>
            <a:spLocks noGrp="1"/>
          </p:cNvSpPr>
          <p:nvPr/>
        </p:nvSpPr>
        <p:spPr>
          <a:xfrm>
            <a:off x="5953125" y="1693862"/>
            <a:ext cx="6019800" cy="1704975"/>
          </a:xfrm>
          <a:prstGeom prst="rect">
            <a:avLst/>
          </a:prstGeom>
          <a:solidFill>
            <a:srgbClr val="FFFFFF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s18-bang-header-rule"/>
          <p:cNvSpPr>
            <a:spLocks noGrp="1"/>
          </p:cNvSpPr>
          <p:nvPr/>
        </p:nvSpPr>
        <p:spPr>
          <a:xfrm>
            <a:off x="5953125" y="1684337"/>
            <a:ext cx="6019800" cy="9525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64" name="s18-bang-title"/>
          <p:cNvSpPr>
            <a:spLocks noGrp="1"/>
          </p:cNvSpPr>
          <p:nvPr/>
        </p:nvSpPr>
        <p:spPr>
          <a:xfrm>
            <a:off x="6019800" y="1150937"/>
            <a:ext cx="58864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9359"/>
          </a:bodyPr>
          <a:lstStyle/>
          <a:p>
            <a:pPr algn="ctr">
              <a:defRPr sz="19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95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BANG C</a:t>
            </a:r>
          </a:p>
        </p:txBody>
      </p:sp>
      <p:sp>
        <p:nvSpPr>
          <p:cNvPr id="66" name="s18-bang-divider-1"/>
          <p:cNvSpPr>
            <a:spLocks noGrp="1"/>
          </p:cNvSpPr>
          <p:nvPr/>
        </p:nvSpPr>
        <p:spPr>
          <a:xfrm>
            <a:off x="7181850" y="1760537"/>
            <a:ext cx="9525" cy="15621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67" name="s18-bang-divider-2"/>
          <p:cNvSpPr>
            <a:spLocks noGrp="1"/>
          </p:cNvSpPr>
          <p:nvPr/>
        </p:nvSpPr>
        <p:spPr>
          <a:xfrm>
            <a:off x="8715375" y="1760537"/>
            <a:ext cx="9525" cy="15621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68" name="s18-bang-divider-3"/>
          <p:cNvSpPr>
            <a:spLocks noGrp="1"/>
          </p:cNvSpPr>
          <p:nvPr/>
        </p:nvSpPr>
        <p:spPr>
          <a:xfrm>
            <a:off x="10782300" y="1760537"/>
            <a:ext cx="9525" cy="15621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69" name="s18-bang-c1-number"/>
          <p:cNvSpPr>
            <a:spLocks noGrp="1"/>
          </p:cNvSpPr>
          <p:nvPr/>
        </p:nvSpPr>
        <p:spPr>
          <a:xfrm>
            <a:off x="6038850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0" name="s18-bang-c1-title"/>
          <p:cNvSpPr>
            <a:spLocks noGrp="1"/>
          </p:cNvSpPr>
          <p:nvPr/>
        </p:nvSpPr>
        <p:spPr>
          <a:xfrm>
            <a:off x="6286500" y="1751012"/>
            <a:ext cx="83820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当前阶段</a:t>
            </a:r>
          </a:p>
        </p:txBody>
      </p:sp>
      <p:sp>
        <p:nvSpPr>
          <p:cNvPr id="71" name="s18-bang-c2-number"/>
          <p:cNvSpPr>
            <a:spLocks noGrp="1"/>
          </p:cNvSpPr>
          <p:nvPr/>
        </p:nvSpPr>
        <p:spPr>
          <a:xfrm>
            <a:off x="7277100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2" name="s18-bang-c2-title"/>
          <p:cNvSpPr>
            <a:spLocks noGrp="1"/>
          </p:cNvSpPr>
          <p:nvPr/>
        </p:nvSpPr>
        <p:spPr>
          <a:xfrm>
            <a:off x="7524750" y="1751012"/>
            <a:ext cx="1114425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已完成</a:t>
            </a:r>
          </a:p>
        </p:txBody>
      </p:sp>
      <p:sp>
        <p:nvSpPr>
          <p:cNvPr id="73" name="s18-bang-c3-number"/>
          <p:cNvSpPr>
            <a:spLocks noGrp="1"/>
          </p:cNvSpPr>
          <p:nvPr/>
        </p:nvSpPr>
        <p:spPr>
          <a:xfrm>
            <a:off x="8810625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4" name="s18-bang-c3-title"/>
          <p:cNvSpPr>
            <a:spLocks noGrp="1"/>
          </p:cNvSpPr>
          <p:nvPr/>
        </p:nvSpPr>
        <p:spPr>
          <a:xfrm>
            <a:off x="9058275" y="1751012"/>
            <a:ext cx="16573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验证程度</a:t>
            </a:r>
          </a:p>
        </p:txBody>
      </p:sp>
      <p:sp>
        <p:nvSpPr>
          <p:cNvPr id="75" name="s18-bang-c4-number"/>
          <p:cNvSpPr>
            <a:spLocks noGrp="1"/>
          </p:cNvSpPr>
          <p:nvPr/>
        </p:nvSpPr>
        <p:spPr>
          <a:xfrm>
            <a:off x="10877550" y="17605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6" name="s18-bang-c4-title"/>
          <p:cNvSpPr>
            <a:spLocks noGrp="1"/>
          </p:cNvSpPr>
          <p:nvPr/>
        </p:nvSpPr>
        <p:spPr>
          <a:xfrm>
            <a:off x="11125200" y="1751012"/>
            <a:ext cx="76200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下一步</a:t>
            </a:r>
          </a:p>
        </p:txBody>
      </p:sp>
      <p:sp>
        <p:nvSpPr>
          <p:cNvPr id="77" name="s18-bang-stage"/>
          <p:cNvSpPr>
            <a:spLocks noGrp="1"/>
          </p:cNvSpPr>
          <p:nvPr/>
        </p:nvSpPr>
        <p:spPr>
          <a:xfrm>
            <a:off x="6038850" y="2017712"/>
            <a:ext cx="1066800" cy="5048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19050" rIns="0" bIns="0" anchor="t">
            <a:normAutofit/>
          </a:bodyPr>
          <a:lstStyle/>
          <a:p>
            <a:pPr algn="l">
              <a:defRPr sz="865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从“能开发”向</a:t>
            </a:r>
          </a:p>
          <a:p>
            <a:pPr algn="l">
              <a:defRPr sz="865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“高性能开发”推进</a:t>
            </a:r>
          </a:p>
        </p:txBody>
      </p:sp>
      <p:sp>
        <p:nvSpPr>
          <p:cNvPr id="78" name="s18-bang-done-1-symbol"/>
          <p:cNvSpPr>
            <a:spLocks noGrp="1"/>
          </p:cNvSpPr>
          <p:nvPr/>
        </p:nvSpPr>
        <p:spPr>
          <a:xfrm>
            <a:off x="7296150" y="2008187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79" name="s18-bang-done-1-text"/>
          <p:cNvSpPr>
            <a:spLocks noGrp="1"/>
          </p:cNvSpPr>
          <p:nvPr/>
        </p:nvSpPr>
        <p:spPr>
          <a:xfrm>
            <a:off x="7458075" y="2008187"/>
            <a:ext cx="120967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 Skill 结构</a:t>
            </a:r>
          </a:p>
        </p:txBody>
      </p:sp>
      <p:sp>
        <p:nvSpPr>
          <p:cNvPr id="80" name="s18-bang-done-2-symbol"/>
          <p:cNvSpPr>
            <a:spLocks noGrp="1"/>
          </p:cNvSpPr>
          <p:nvPr/>
        </p:nvSpPr>
        <p:spPr>
          <a:xfrm>
            <a:off x="7296150" y="222726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81" name="s18-bang-done-2-text"/>
          <p:cNvSpPr>
            <a:spLocks noGrp="1"/>
          </p:cNvSpPr>
          <p:nvPr/>
        </p:nvSpPr>
        <p:spPr>
          <a:xfrm>
            <a:off x="7458075" y="2227262"/>
            <a:ext cx="120967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真机编译 / 执行</a:t>
            </a:r>
          </a:p>
        </p:txBody>
      </p:sp>
      <p:sp>
        <p:nvSpPr>
          <p:cNvPr id="82" name="s18-bang-done-3-symbol"/>
          <p:cNvSpPr>
            <a:spLocks noGrp="1"/>
          </p:cNvSpPr>
          <p:nvPr/>
        </p:nvSpPr>
        <p:spPr>
          <a:xfrm>
            <a:off x="7296150" y="2446337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83" name="s18-bang-done-3-text"/>
          <p:cNvSpPr>
            <a:spLocks noGrp="1"/>
          </p:cNvSpPr>
          <p:nvPr/>
        </p:nvSpPr>
        <p:spPr>
          <a:xfrm>
            <a:off x="7458075" y="2446337"/>
            <a:ext cx="120967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Correctness</a:t>
            </a:r>
          </a:p>
        </p:txBody>
      </p:sp>
      <p:sp>
        <p:nvSpPr>
          <p:cNvPr id="84" name="s18-bang-done-4-symbol"/>
          <p:cNvSpPr>
            <a:spLocks noGrp="1"/>
          </p:cNvSpPr>
          <p:nvPr/>
        </p:nvSpPr>
        <p:spPr>
          <a:xfrm>
            <a:off x="7296150" y="26654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85" name="s18-bang-done-4-text"/>
          <p:cNvSpPr>
            <a:spLocks noGrp="1"/>
          </p:cNvSpPr>
          <p:nvPr/>
        </p:nvSpPr>
        <p:spPr>
          <a:xfrm>
            <a:off x="7458075" y="2665412"/>
            <a:ext cx="120967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Benchmark</a:t>
            </a:r>
          </a:p>
        </p:txBody>
      </p:sp>
      <p:sp>
        <p:nvSpPr>
          <p:cNvPr id="86" name="s18-bang-done-5-symbol"/>
          <p:cNvSpPr>
            <a:spLocks noGrp="1"/>
          </p:cNvSpPr>
          <p:nvPr/>
        </p:nvSpPr>
        <p:spPr>
          <a:xfrm>
            <a:off x="7296150" y="2884487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87" name="s18-bang-done-5-text"/>
          <p:cNvSpPr>
            <a:spLocks noGrp="1"/>
          </p:cNvSpPr>
          <p:nvPr/>
        </p:nvSpPr>
        <p:spPr>
          <a:xfrm>
            <a:off x="7458075" y="2884487"/>
            <a:ext cx="1209675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LayerNorm 等实际算子测试</a:t>
            </a:r>
          </a:p>
        </p:txBody>
      </p:sp>
      <p:sp>
        <p:nvSpPr>
          <p:cNvPr id="88" name="s18-bang-val-1-symbol"/>
          <p:cNvSpPr>
            <a:spLocks noGrp="1"/>
          </p:cNvSpPr>
          <p:nvPr/>
        </p:nvSpPr>
        <p:spPr>
          <a:xfrm>
            <a:off x="8829675" y="20081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89" name="s18-bang-val-1-text"/>
          <p:cNvSpPr>
            <a:spLocks noGrp="1"/>
          </p:cNvSpPr>
          <p:nvPr/>
        </p:nvSpPr>
        <p:spPr>
          <a:xfrm>
            <a:off x="8991600" y="2008187"/>
            <a:ext cx="6381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  </a:t>
            </a:r>
          </a:p>
        </p:txBody>
      </p:sp>
      <p:sp>
        <p:nvSpPr>
          <p:cNvPr id="90" name="s18-bang-val-2-symbol"/>
          <p:cNvSpPr>
            <a:spLocks noGrp="1"/>
          </p:cNvSpPr>
          <p:nvPr/>
        </p:nvSpPr>
        <p:spPr>
          <a:xfrm>
            <a:off x="8829675" y="21986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1" name="s18-bang-val-2-text"/>
          <p:cNvSpPr>
            <a:spLocks noGrp="1"/>
          </p:cNvSpPr>
          <p:nvPr/>
        </p:nvSpPr>
        <p:spPr>
          <a:xfrm>
            <a:off x="8991600" y="2198687"/>
            <a:ext cx="6381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代码生成  </a:t>
            </a:r>
          </a:p>
        </p:txBody>
      </p:sp>
      <p:sp>
        <p:nvSpPr>
          <p:cNvPr id="92" name="s18-bang-val-3-symbol"/>
          <p:cNvSpPr>
            <a:spLocks noGrp="1"/>
          </p:cNvSpPr>
          <p:nvPr/>
        </p:nvSpPr>
        <p:spPr>
          <a:xfrm>
            <a:off x="8829675" y="23891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3" name="s18-bang-val-3-text"/>
          <p:cNvSpPr>
            <a:spLocks noGrp="1"/>
          </p:cNvSpPr>
          <p:nvPr/>
        </p:nvSpPr>
        <p:spPr>
          <a:xfrm>
            <a:off x="8991600" y="2389187"/>
            <a:ext cx="6381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Correctness  </a:t>
            </a:r>
          </a:p>
        </p:txBody>
      </p:sp>
      <p:sp>
        <p:nvSpPr>
          <p:cNvPr id="94" name="s18-bang-val-4-symbol"/>
          <p:cNvSpPr>
            <a:spLocks noGrp="1"/>
          </p:cNvSpPr>
          <p:nvPr/>
        </p:nvSpPr>
        <p:spPr>
          <a:xfrm>
            <a:off x="8829675" y="2579687"/>
            <a:ext cx="133350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5" name="s18-bang-val-4-text"/>
          <p:cNvSpPr>
            <a:spLocks noGrp="1"/>
          </p:cNvSpPr>
          <p:nvPr/>
        </p:nvSpPr>
        <p:spPr>
          <a:xfrm>
            <a:off x="8991600" y="2579687"/>
            <a:ext cx="638175" cy="180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4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Benchmark  </a:t>
            </a:r>
          </a:p>
        </p:txBody>
      </p:sp>
      <p:sp>
        <p:nvSpPr>
          <p:cNvPr id="96" name="s18-bang-val-5-symbol"/>
          <p:cNvSpPr>
            <a:spLocks noGrp="1"/>
          </p:cNvSpPr>
          <p:nvPr/>
        </p:nvSpPr>
        <p:spPr>
          <a:xfrm>
            <a:off x="8829675" y="2770187"/>
            <a:ext cx="133350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795" b="1">
                <a:solidFill>
                  <a:srgbClr val="F07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△</a:t>
            </a:r>
          </a:p>
        </p:txBody>
      </p:sp>
      <p:sp>
        <p:nvSpPr>
          <p:cNvPr id="97" name="s18-bang-val-5-text"/>
          <p:cNvSpPr>
            <a:spLocks noGrp="1"/>
          </p:cNvSpPr>
          <p:nvPr/>
        </p:nvSpPr>
        <p:spPr>
          <a:xfrm>
            <a:off x="8991600" y="2770187"/>
            <a:ext cx="638175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高性能优化</a:t>
            </a:r>
          </a:p>
        </p:txBody>
      </p:sp>
      <p:sp>
        <p:nvSpPr>
          <p:cNvPr id="98" name="s18-bang-gap"/>
          <p:cNvSpPr>
            <a:spLocks noGrp="1"/>
          </p:cNvSpPr>
          <p:nvPr/>
        </p:nvSpPr>
        <p:spPr>
          <a:xfrm>
            <a:off x="9658350" y="2253297"/>
            <a:ext cx="1038225" cy="974090"/>
          </a:xfrm>
          <a:prstGeom prst="roundRect">
            <a:avLst>
              <a:gd name="adj" fmla="val 5505"/>
            </a:avLst>
          </a:prstGeom>
          <a:solidFill>
            <a:srgbClr val="F6ECE6"/>
          </a:solidFill>
          <a:ln w="9525">
            <a:solidFill>
              <a:srgbClr val="C77C59"/>
            </a:solidFill>
            <a:prstDash val="solid"/>
          </a:ln>
          <a:effectLst/>
        </p:spPr>
        <p:txBody>
          <a:bodyPr wrap="square" lIns="38100" tIns="28575" rIns="38100" bIns="28575" anchor="ctr">
            <a:normAutofit/>
          </a:bodyPr>
          <a:lstStyle/>
          <a:p>
            <a:endParaRPr>
              <a:solidFill>
                <a:srgbClr val="6673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defRPr sz="690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6673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显式片上存储管理、</a:t>
            </a:r>
          </a:p>
          <a:p>
            <a:pPr algn="ctr">
              <a:defRPr sz="690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6673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DMA / Pipeline、</a:t>
            </a:r>
          </a:p>
          <a:p>
            <a:pPr algn="ctr">
              <a:defRPr sz="690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6673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Core / Cluster 分工</a:t>
            </a:r>
          </a:p>
          <a:p>
            <a:pPr algn="ctr">
              <a:defRPr sz="690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6673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及高性能算子案例</a:t>
            </a:r>
          </a:p>
          <a:p>
            <a:pPr algn="ctr">
              <a:defRPr sz="690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6673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仍需进一步沉淀。</a:t>
            </a:r>
          </a:p>
        </p:txBody>
      </p:sp>
      <p:sp>
        <p:nvSpPr>
          <p:cNvPr id="99" name="s18-bang-gap-title-overlay"/>
          <p:cNvSpPr>
            <a:spLocks noGrp="1"/>
          </p:cNvSpPr>
          <p:nvPr/>
        </p:nvSpPr>
        <p:spPr>
          <a:xfrm>
            <a:off x="9686925" y="2351087"/>
            <a:ext cx="94297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9525" tIns="0" rIns="9525" bIns="0" anchor="ctr">
            <a:normAutofit/>
          </a:bodyPr>
          <a:lstStyle/>
          <a:p>
            <a:pPr algn="ctr">
              <a:defRPr sz="765" b="1">
                <a:solidFill>
                  <a:srgbClr val="F07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 dirty="0" err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当前主要缺口</a:t>
            </a:r>
            <a:endParaRPr sz="765" b="1" dirty="0">
              <a:solidFill>
                <a:srgbClr val="C77C5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0" name="s18-bang-next-1-symbol"/>
          <p:cNvSpPr>
            <a:spLocks noGrp="1"/>
          </p:cNvSpPr>
          <p:nvPr/>
        </p:nvSpPr>
        <p:spPr>
          <a:xfrm>
            <a:off x="10887075" y="2008187"/>
            <a:ext cx="133350" cy="3619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01" name="s18-bang-next-1-text"/>
          <p:cNvSpPr>
            <a:spLocks noGrp="1"/>
          </p:cNvSpPr>
          <p:nvPr/>
        </p:nvSpPr>
        <p:spPr>
          <a:xfrm>
            <a:off x="11049000" y="2008187"/>
            <a:ext cx="828675" cy="3619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5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补高性能</a:t>
            </a:r>
          </a:p>
          <a:p>
            <a:pPr algn="l">
              <a:defRPr sz="75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BANG C Reference</a:t>
            </a:r>
          </a:p>
        </p:txBody>
      </p:sp>
      <p:sp>
        <p:nvSpPr>
          <p:cNvPr id="102" name="s18-bang-next-2-symbol"/>
          <p:cNvSpPr>
            <a:spLocks noGrp="1"/>
          </p:cNvSpPr>
          <p:nvPr/>
        </p:nvSpPr>
        <p:spPr>
          <a:xfrm>
            <a:off x="10887075" y="2427287"/>
            <a:ext cx="133350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03" name="s18-bang-next-2-text"/>
          <p:cNvSpPr>
            <a:spLocks noGrp="1"/>
          </p:cNvSpPr>
          <p:nvPr/>
        </p:nvSpPr>
        <p:spPr>
          <a:xfrm>
            <a:off x="11049000" y="2427287"/>
            <a:ext cx="828675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5" b="1" dirty="0" err="1" smtClean="0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将微基准结果转化为优化规则</a:t>
            </a:r>
            <a:endParaRPr sz="735" b="1" dirty="0">
              <a:solidFill>
                <a:srgbClr val="2F3A4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" name="s18-bang-next-3-symbol"/>
          <p:cNvSpPr>
            <a:spLocks noGrp="1"/>
          </p:cNvSpPr>
          <p:nvPr/>
        </p:nvSpPr>
        <p:spPr>
          <a:xfrm>
            <a:off x="10887075" y="2865437"/>
            <a:ext cx="133350" cy="3619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865" b="1" dirty="0">
              <a:solidFill>
                <a:srgbClr val="294A6D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s18-bang-next-3-text"/>
          <p:cNvSpPr>
            <a:spLocks noGrp="1"/>
          </p:cNvSpPr>
          <p:nvPr/>
        </p:nvSpPr>
        <p:spPr>
          <a:xfrm>
            <a:off x="11049000" y="2865437"/>
            <a:ext cx="828675" cy="3619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5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755" b="1" dirty="0">
              <a:solidFill>
                <a:srgbClr val="2F3A4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6" name="s18-cuda-frame"/>
          <p:cNvSpPr>
            <a:spLocks noGrp="1"/>
          </p:cNvSpPr>
          <p:nvPr/>
        </p:nvSpPr>
        <p:spPr>
          <a:xfrm>
            <a:off x="95250" y="3513137"/>
            <a:ext cx="5743575" cy="1905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  <a:effectLst/>
        </p:spPr>
      </p:sp>
      <p:sp>
        <p:nvSpPr>
          <p:cNvPr id="107" name="s18-cuda-header-fill"/>
          <p:cNvSpPr>
            <a:spLocks noGrp="1"/>
          </p:cNvSpPr>
          <p:nvPr/>
        </p:nvSpPr>
        <p:spPr>
          <a:xfrm>
            <a:off x="76199" y="3522662"/>
            <a:ext cx="5724525" cy="495300"/>
          </a:xfrm>
          <a:prstGeom prst="rect">
            <a:avLst/>
          </a:prstGeom>
          <a:solidFill>
            <a:srgbClr val="FFFFFF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08" name="s18-cuda-body-fill"/>
          <p:cNvSpPr>
            <a:spLocks noGrp="1"/>
          </p:cNvSpPr>
          <p:nvPr/>
        </p:nvSpPr>
        <p:spPr>
          <a:xfrm>
            <a:off x="104775" y="4017962"/>
            <a:ext cx="5724525" cy="1390650"/>
          </a:xfrm>
          <a:prstGeom prst="rect">
            <a:avLst/>
          </a:prstGeom>
          <a:solidFill>
            <a:srgbClr val="FFFFFF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09" name="s18-cuda-header-rule"/>
          <p:cNvSpPr>
            <a:spLocks noGrp="1"/>
          </p:cNvSpPr>
          <p:nvPr/>
        </p:nvSpPr>
        <p:spPr>
          <a:xfrm>
            <a:off x="104775" y="4008437"/>
            <a:ext cx="5724525" cy="9525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110" name="s18-cuda-title"/>
          <p:cNvSpPr>
            <a:spLocks noGrp="1"/>
          </p:cNvSpPr>
          <p:nvPr/>
        </p:nvSpPr>
        <p:spPr>
          <a:xfrm>
            <a:off x="171450" y="3541712"/>
            <a:ext cx="5591175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875" b="1" dirty="0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CUDA</a:t>
            </a:r>
            <a:r>
              <a:rPr lang="en-US" sz="1875" b="1" dirty="0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C</a:t>
            </a:r>
            <a:endParaRPr sz="1875" b="1" dirty="0">
              <a:solidFill>
                <a:srgbClr val="294A6D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" name="s18-cuda-divider-1"/>
          <p:cNvSpPr>
            <a:spLocks noGrp="1"/>
          </p:cNvSpPr>
          <p:nvPr/>
        </p:nvSpPr>
        <p:spPr>
          <a:xfrm>
            <a:off x="1228725" y="4084637"/>
            <a:ext cx="9525" cy="12573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13" name="s18-cuda-divider-2"/>
          <p:cNvSpPr>
            <a:spLocks noGrp="1"/>
          </p:cNvSpPr>
          <p:nvPr/>
        </p:nvSpPr>
        <p:spPr>
          <a:xfrm>
            <a:off x="3086100" y="4084637"/>
            <a:ext cx="9525" cy="12573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14" name="s18-cuda-divider-3"/>
          <p:cNvSpPr>
            <a:spLocks noGrp="1"/>
          </p:cNvSpPr>
          <p:nvPr/>
        </p:nvSpPr>
        <p:spPr>
          <a:xfrm>
            <a:off x="4467225" y="4084637"/>
            <a:ext cx="9525" cy="12573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15" name="s18-cuda-c1-number"/>
          <p:cNvSpPr>
            <a:spLocks noGrp="1"/>
          </p:cNvSpPr>
          <p:nvPr/>
        </p:nvSpPr>
        <p:spPr>
          <a:xfrm>
            <a:off x="190500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6" name="s18-cuda-c1-title"/>
          <p:cNvSpPr>
            <a:spLocks noGrp="1"/>
          </p:cNvSpPr>
          <p:nvPr/>
        </p:nvSpPr>
        <p:spPr>
          <a:xfrm>
            <a:off x="438150" y="4075112"/>
            <a:ext cx="733425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当前阶段</a:t>
            </a:r>
          </a:p>
        </p:txBody>
      </p:sp>
      <p:sp>
        <p:nvSpPr>
          <p:cNvPr id="117" name="s18-cuda-c2-number"/>
          <p:cNvSpPr>
            <a:spLocks noGrp="1"/>
          </p:cNvSpPr>
          <p:nvPr/>
        </p:nvSpPr>
        <p:spPr>
          <a:xfrm>
            <a:off x="1323975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8" name="s18-cuda-c2-title"/>
          <p:cNvSpPr>
            <a:spLocks noGrp="1"/>
          </p:cNvSpPr>
          <p:nvPr/>
        </p:nvSpPr>
        <p:spPr>
          <a:xfrm>
            <a:off x="1571625" y="4075112"/>
            <a:ext cx="144780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已完成</a:t>
            </a:r>
          </a:p>
        </p:txBody>
      </p:sp>
      <p:sp>
        <p:nvSpPr>
          <p:cNvPr id="119" name="s18-cuda-c3-number"/>
          <p:cNvSpPr>
            <a:spLocks noGrp="1"/>
          </p:cNvSpPr>
          <p:nvPr/>
        </p:nvSpPr>
        <p:spPr>
          <a:xfrm>
            <a:off x="3181350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0" name="s18-cuda-c3-title"/>
          <p:cNvSpPr>
            <a:spLocks noGrp="1"/>
          </p:cNvSpPr>
          <p:nvPr/>
        </p:nvSpPr>
        <p:spPr>
          <a:xfrm>
            <a:off x="3429000" y="4075112"/>
            <a:ext cx="9715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验证程度</a:t>
            </a:r>
          </a:p>
        </p:txBody>
      </p:sp>
      <p:sp>
        <p:nvSpPr>
          <p:cNvPr id="121" name="s18-cuda-c4-number"/>
          <p:cNvSpPr>
            <a:spLocks noGrp="1"/>
          </p:cNvSpPr>
          <p:nvPr/>
        </p:nvSpPr>
        <p:spPr>
          <a:xfrm>
            <a:off x="4562475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2" name="s18-cuda-c4-title"/>
          <p:cNvSpPr>
            <a:spLocks noGrp="1"/>
          </p:cNvSpPr>
          <p:nvPr/>
        </p:nvSpPr>
        <p:spPr>
          <a:xfrm>
            <a:off x="4810125" y="4075112"/>
            <a:ext cx="91440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下一步</a:t>
            </a:r>
          </a:p>
        </p:txBody>
      </p:sp>
      <p:sp>
        <p:nvSpPr>
          <p:cNvPr id="123" name="s18-cuda-stage"/>
          <p:cNvSpPr>
            <a:spLocks noGrp="1"/>
          </p:cNvSpPr>
          <p:nvPr/>
        </p:nvSpPr>
        <p:spPr>
          <a:xfrm>
            <a:off x="190500" y="4351337"/>
            <a:ext cx="962025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19050" rIns="0" bIns="0" anchor="t">
            <a:normAutofit/>
          </a:bodyPr>
          <a:lstStyle/>
          <a:p>
            <a:pPr algn="l">
              <a:defRPr sz="865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dirty="0" err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基础框架完成</a:t>
            </a:r>
            <a:endParaRPr sz="865" b="1" dirty="0">
              <a:solidFill>
                <a:srgbClr val="2F3A4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4" name="s18-cuda-done-1-symbol"/>
          <p:cNvSpPr>
            <a:spLocks noGrp="1"/>
          </p:cNvSpPr>
          <p:nvPr/>
        </p:nvSpPr>
        <p:spPr>
          <a:xfrm>
            <a:off x="1343025" y="4341812"/>
            <a:ext cx="133350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25" name="s18-cuda-done-1-text"/>
          <p:cNvSpPr>
            <a:spLocks noGrp="1"/>
          </p:cNvSpPr>
          <p:nvPr/>
        </p:nvSpPr>
        <p:spPr>
          <a:xfrm>
            <a:off x="1504950" y="4341812"/>
            <a:ext cx="1543050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CUDA 算子开发 Skill 基础版本</a:t>
            </a:r>
          </a:p>
        </p:txBody>
      </p:sp>
      <p:sp>
        <p:nvSpPr>
          <p:cNvPr id="126" name="s18-cuda-done-2-symbol"/>
          <p:cNvSpPr>
            <a:spLocks noGrp="1"/>
          </p:cNvSpPr>
          <p:nvPr/>
        </p:nvSpPr>
        <p:spPr>
          <a:xfrm>
            <a:off x="1343025" y="455136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27" name="s18-cuda-done-2-text"/>
          <p:cNvSpPr>
            <a:spLocks noGrp="1"/>
          </p:cNvSpPr>
          <p:nvPr/>
        </p:nvSpPr>
        <p:spPr>
          <a:xfrm>
            <a:off x="1504950" y="4551362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 Workflow</a:t>
            </a:r>
          </a:p>
        </p:txBody>
      </p:sp>
      <p:sp>
        <p:nvSpPr>
          <p:cNvPr id="128" name="s18-cuda-done-3-symbol"/>
          <p:cNvSpPr>
            <a:spLocks noGrp="1"/>
          </p:cNvSpPr>
          <p:nvPr/>
        </p:nvSpPr>
        <p:spPr>
          <a:xfrm>
            <a:off x="1343025" y="4760912"/>
            <a:ext cx="133350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29" name="s18-cuda-done-3-text"/>
          <p:cNvSpPr>
            <a:spLocks noGrp="1"/>
          </p:cNvSpPr>
          <p:nvPr/>
        </p:nvSpPr>
        <p:spPr>
          <a:xfrm>
            <a:off x="1504950" y="4760912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0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CUDA 平台开发规则 / 工具链框架</a:t>
            </a:r>
          </a:p>
        </p:txBody>
      </p:sp>
      <p:sp>
        <p:nvSpPr>
          <p:cNvPr id="130" name="s18-cuda-done-4-symbol"/>
          <p:cNvSpPr>
            <a:spLocks noGrp="1"/>
          </p:cNvSpPr>
          <p:nvPr/>
        </p:nvSpPr>
        <p:spPr>
          <a:xfrm>
            <a:off x="1343025" y="4989512"/>
            <a:ext cx="133350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31" name="s18-cuda-done-4-text"/>
          <p:cNvSpPr>
            <a:spLocks noGrp="1"/>
          </p:cNvSpPr>
          <p:nvPr/>
        </p:nvSpPr>
        <p:spPr>
          <a:xfrm>
            <a:off x="1504950" y="4989512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环境和开发提示信息已整理</a:t>
            </a:r>
          </a:p>
        </p:txBody>
      </p:sp>
      <p:sp>
        <p:nvSpPr>
          <p:cNvPr id="132" name="s18-cuda-val-1-symbol"/>
          <p:cNvSpPr>
            <a:spLocks noGrp="1"/>
          </p:cNvSpPr>
          <p:nvPr/>
        </p:nvSpPr>
        <p:spPr>
          <a:xfrm>
            <a:off x="3200400" y="43418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33" name="s18-cuda-val-1-text"/>
          <p:cNvSpPr>
            <a:spLocks noGrp="1"/>
          </p:cNvSpPr>
          <p:nvPr/>
        </p:nvSpPr>
        <p:spPr>
          <a:xfrm>
            <a:off x="3362325" y="4341812"/>
            <a:ext cx="10382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8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Skill 框架  ✓</a:t>
            </a:r>
          </a:p>
        </p:txBody>
      </p:sp>
      <p:sp>
        <p:nvSpPr>
          <p:cNvPr id="134" name="s18-cuda-val-2-symbol"/>
          <p:cNvSpPr>
            <a:spLocks noGrp="1"/>
          </p:cNvSpPr>
          <p:nvPr/>
        </p:nvSpPr>
        <p:spPr>
          <a:xfrm>
            <a:off x="3200400" y="455136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35" name="s18-cuda-val-2-text"/>
          <p:cNvSpPr>
            <a:spLocks noGrp="1"/>
          </p:cNvSpPr>
          <p:nvPr/>
        </p:nvSpPr>
        <p:spPr>
          <a:xfrm>
            <a:off x="3362325" y="4551362"/>
            <a:ext cx="10382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平台知识  初版</a:t>
            </a:r>
          </a:p>
        </p:txBody>
      </p:sp>
      <p:sp>
        <p:nvSpPr>
          <p:cNvPr id="136" name="s18-cuda-val-3-symbol"/>
          <p:cNvSpPr>
            <a:spLocks noGrp="1"/>
          </p:cNvSpPr>
          <p:nvPr/>
        </p:nvSpPr>
        <p:spPr>
          <a:xfrm>
            <a:off x="3200400" y="4760912"/>
            <a:ext cx="133350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795" b="1">
                <a:solidFill>
                  <a:srgbClr val="F07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△</a:t>
            </a:r>
          </a:p>
        </p:txBody>
      </p:sp>
      <p:sp>
        <p:nvSpPr>
          <p:cNvPr id="137" name="s18-cuda-val-3-text"/>
          <p:cNvSpPr>
            <a:spLocks noGrp="1"/>
          </p:cNvSpPr>
          <p:nvPr/>
        </p:nvSpPr>
        <p:spPr>
          <a:xfrm>
            <a:off x="3362325" y="4760912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真实算子  待系统验证</a:t>
            </a:r>
          </a:p>
        </p:txBody>
      </p:sp>
      <p:sp>
        <p:nvSpPr>
          <p:cNvPr id="138" name="s18-cuda-val-4-symbol"/>
          <p:cNvSpPr>
            <a:spLocks noGrp="1"/>
          </p:cNvSpPr>
          <p:nvPr/>
        </p:nvSpPr>
        <p:spPr>
          <a:xfrm>
            <a:off x="3200400" y="49895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795" b="1">
                <a:solidFill>
                  <a:srgbClr val="F07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△</a:t>
            </a:r>
          </a:p>
        </p:txBody>
      </p:sp>
      <p:sp>
        <p:nvSpPr>
          <p:cNvPr id="139" name="s18-cuda-val-4-text"/>
          <p:cNvSpPr>
            <a:spLocks noGrp="1"/>
          </p:cNvSpPr>
          <p:nvPr/>
        </p:nvSpPr>
        <p:spPr>
          <a:xfrm>
            <a:off x="3362325" y="4989512"/>
            <a:ext cx="10382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性能评价  待补</a:t>
            </a:r>
          </a:p>
        </p:txBody>
      </p:sp>
      <p:sp>
        <p:nvSpPr>
          <p:cNvPr id="140" name="s18-cuda-next-1-symbol"/>
          <p:cNvSpPr>
            <a:spLocks noGrp="1"/>
          </p:cNvSpPr>
          <p:nvPr/>
        </p:nvSpPr>
        <p:spPr>
          <a:xfrm>
            <a:off x="4581525" y="43418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41" name="s18-cuda-next-1-text"/>
          <p:cNvSpPr>
            <a:spLocks noGrp="1"/>
          </p:cNvSpPr>
          <p:nvPr/>
        </p:nvSpPr>
        <p:spPr>
          <a:xfrm>
            <a:off x="4743450" y="4341812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统一环境验证</a:t>
            </a:r>
          </a:p>
        </p:txBody>
      </p:sp>
      <p:sp>
        <p:nvSpPr>
          <p:cNvPr id="142" name="s18-cuda-next-2-symbol"/>
          <p:cNvSpPr>
            <a:spLocks noGrp="1"/>
          </p:cNvSpPr>
          <p:nvPr/>
        </p:nvSpPr>
        <p:spPr>
          <a:xfrm>
            <a:off x="4581525" y="4541837"/>
            <a:ext cx="133350" cy="3238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43" name="s18-cuda-next-2-text"/>
          <p:cNvSpPr>
            <a:spLocks noGrp="1"/>
          </p:cNvSpPr>
          <p:nvPr/>
        </p:nvSpPr>
        <p:spPr>
          <a:xfrm>
            <a:off x="4743450" y="4541837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71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LayerNorm / Softmax </a:t>
            </a:r>
          </a:p>
          <a:p>
            <a:pPr algn="l">
              <a:defRPr sz="71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MatMul 实测</a:t>
            </a:r>
          </a:p>
        </p:txBody>
      </p:sp>
      <p:sp>
        <p:nvSpPr>
          <p:cNvPr id="144" name="s18-cuda-next-3-symbol"/>
          <p:cNvSpPr>
            <a:spLocks noGrp="1"/>
          </p:cNvSpPr>
          <p:nvPr/>
        </p:nvSpPr>
        <p:spPr>
          <a:xfrm>
            <a:off x="4581525" y="4875212"/>
            <a:ext cx="133350" cy="3238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45" name="s18-cuda-next-3-text"/>
          <p:cNvSpPr>
            <a:spLocks noGrp="1"/>
          </p:cNvSpPr>
          <p:nvPr/>
        </p:nvSpPr>
        <p:spPr>
          <a:xfrm>
            <a:off x="4762500" y="4836477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71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补齐 Nsight / Profiling</a:t>
            </a:r>
          </a:p>
        </p:txBody>
      </p:sp>
      <p:sp>
        <p:nvSpPr>
          <p:cNvPr id="146" name="s18-cuda-next-4-symbol"/>
          <p:cNvSpPr>
            <a:spLocks noGrp="1"/>
          </p:cNvSpPr>
          <p:nvPr/>
        </p:nvSpPr>
        <p:spPr>
          <a:xfrm>
            <a:off x="4581525" y="5199062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47" name="s18-cuda-next-4-text"/>
          <p:cNvSpPr>
            <a:spLocks noGrp="1"/>
          </p:cNvSpPr>
          <p:nvPr/>
        </p:nvSpPr>
        <p:spPr>
          <a:xfrm>
            <a:off x="4742815" y="5160962"/>
            <a:ext cx="1372870" cy="2095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66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形成 CUDA Platform Knowledge</a:t>
            </a:r>
          </a:p>
        </p:txBody>
      </p:sp>
      <p:sp>
        <p:nvSpPr>
          <p:cNvPr id="148" name="s18-gpu-frame"/>
          <p:cNvSpPr>
            <a:spLocks noGrp="1"/>
          </p:cNvSpPr>
          <p:nvPr/>
        </p:nvSpPr>
        <p:spPr>
          <a:xfrm>
            <a:off x="5943600" y="3513137"/>
            <a:ext cx="6038850" cy="1905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  <a:effectLst/>
        </p:spPr>
      </p:sp>
      <p:sp>
        <p:nvSpPr>
          <p:cNvPr id="149" name="s18-gpu-header-fill"/>
          <p:cNvSpPr>
            <a:spLocks noGrp="1"/>
          </p:cNvSpPr>
          <p:nvPr/>
        </p:nvSpPr>
        <p:spPr>
          <a:xfrm>
            <a:off x="5953125" y="3522662"/>
            <a:ext cx="6019800" cy="495300"/>
          </a:xfrm>
          <a:prstGeom prst="rect">
            <a:avLst/>
          </a:prstGeom>
          <a:solidFill>
            <a:srgbClr val="FFFFFF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50" name="s18-gpu-body-fill"/>
          <p:cNvSpPr>
            <a:spLocks noGrp="1"/>
          </p:cNvSpPr>
          <p:nvPr/>
        </p:nvSpPr>
        <p:spPr>
          <a:xfrm>
            <a:off x="5953125" y="4017962"/>
            <a:ext cx="6019800" cy="1390650"/>
          </a:xfrm>
          <a:prstGeom prst="rect">
            <a:avLst/>
          </a:prstGeom>
          <a:solidFill>
            <a:srgbClr val="FFFFFF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51" name="s18-gpu-header-rule"/>
          <p:cNvSpPr>
            <a:spLocks noGrp="1"/>
          </p:cNvSpPr>
          <p:nvPr/>
        </p:nvSpPr>
        <p:spPr>
          <a:xfrm>
            <a:off x="5953125" y="4008437"/>
            <a:ext cx="6019800" cy="9525"/>
          </a:xfrm>
          <a:prstGeom prst="rect">
            <a:avLst/>
          </a:prstGeom>
          <a:solidFill>
            <a:srgbClr val="4F8A83"/>
          </a:solidFill>
          <a:ln w="0">
            <a:solidFill>
              <a:srgbClr val="4F8A83"/>
            </a:solidFill>
            <a:prstDash val="solid"/>
          </a:ln>
          <a:effectLst/>
        </p:spPr>
      </p:sp>
      <p:sp>
        <p:nvSpPr>
          <p:cNvPr id="152" name="s18-gpu-title"/>
          <p:cNvSpPr>
            <a:spLocks noGrp="1"/>
          </p:cNvSpPr>
          <p:nvPr/>
        </p:nvSpPr>
        <p:spPr>
          <a:xfrm>
            <a:off x="6019800" y="3541712"/>
            <a:ext cx="58864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87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 Triton</a:t>
            </a:r>
          </a:p>
        </p:txBody>
      </p:sp>
      <p:sp>
        <p:nvSpPr>
          <p:cNvPr id="154" name="s18-gpu-divider-1"/>
          <p:cNvSpPr>
            <a:spLocks noGrp="1"/>
          </p:cNvSpPr>
          <p:nvPr/>
        </p:nvSpPr>
        <p:spPr>
          <a:xfrm>
            <a:off x="7048500" y="4084637"/>
            <a:ext cx="9525" cy="12573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55" name="s18-gpu-divider-2"/>
          <p:cNvSpPr>
            <a:spLocks noGrp="1"/>
          </p:cNvSpPr>
          <p:nvPr/>
        </p:nvSpPr>
        <p:spPr>
          <a:xfrm>
            <a:off x="8924925" y="4084637"/>
            <a:ext cx="9525" cy="12573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56" name="s18-gpu-divider-3"/>
          <p:cNvSpPr>
            <a:spLocks noGrp="1"/>
          </p:cNvSpPr>
          <p:nvPr/>
        </p:nvSpPr>
        <p:spPr>
          <a:xfrm>
            <a:off x="10382250" y="4084637"/>
            <a:ext cx="9525" cy="1257300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57" name="s18-gpu-c1-number"/>
          <p:cNvSpPr>
            <a:spLocks noGrp="1"/>
          </p:cNvSpPr>
          <p:nvPr/>
        </p:nvSpPr>
        <p:spPr>
          <a:xfrm>
            <a:off x="6038850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8" name="s18-gpu-c1-title"/>
          <p:cNvSpPr>
            <a:spLocks noGrp="1"/>
          </p:cNvSpPr>
          <p:nvPr/>
        </p:nvSpPr>
        <p:spPr>
          <a:xfrm>
            <a:off x="6286500" y="4075112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当前阶段</a:t>
            </a:r>
          </a:p>
        </p:txBody>
      </p:sp>
      <p:sp>
        <p:nvSpPr>
          <p:cNvPr id="159" name="s18-gpu-c2-number"/>
          <p:cNvSpPr>
            <a:spLocks noGrp="1"/>
          </p:cNvSpPr>
          <p:nvPr/>
        </p:nvSpPr>
        <p:spPr>
          <a:xfrm>
            <a:off x="7143750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0" name="s18-gpu-c2-title"/>
          <p:cNvSpPr>
            <a:spLocks noGrp="1"/>
          </p:cNvSpPr>
          <p:nvPr/>
        </p:nvSpPr>
        <p:spPr>
          <a:xfrm>
            <a:off x="7391400" y="4075112"/>
            <a:ext cx="14668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已完成</a:t>
            </a:r>
          </a:p>
        </p:txBody>
      </p:sp>
      <p:sp>
        <p:nvSpPr>
          <p:cNvPr id="161" name="s18-gpu-c3-number"/>
          <p:cNvSpPr>
            <a:spLocks noGrp="1"/>
          </p:cNvSpPr>
          <p:nvPr/>
        </p:nvSpPr>
        <p:spPr>
          <a:xfrm>
            <a:off x="9020175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2" name="s18-gpu-c3-title"/>
          <p:cNvSpPr>
            <a:spLocks noGrp="1"/>
          </p:cNvSpPr>
          <p:nvPr/>
        </p:nvSpPr>
        <p:spPr>
          <a:xfrm>
            <a:off x="9267825" y="4075112"/>
            <a:ext cx="104775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验证程度</a:t>
            </a:r>
          </a:p>
        </p:txBody>
      </p:sp>
      <p:sp>
        <p:nvSpPr>
          <p:cNvPr id="163" name="s18-gpu-c4-number"/>
          <p:cNvSpPr>
            <a:spLocks noGrp="1"/>
          </p:cNvSpPr>
          <p:nvPr/>
        </p:nvSpPr>
        <p:spPr>
          <a:xfrm>
            <a:off x="10477500" y="4084637"/>
            <a:ext cx="200025" cy="200025"/>
          </a:xfrm>
          <a:prstGeom prst="roundRect">
            <a:avLst>
              <a:gd name="adj" fmla="val 47619"/>
            </a:avLst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7188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s18-gpu-c4-title"/>
          <p:cNvSpPr>
            <a:spLocks noGrp="1"/>
          </p:cNvSpPr>
          <p:nvPr/>
        </p:nvSpPr>
        <p:spPr>
          <a:xfrm>
            <a:off x="10725150" y="4075112"/>
            <a:ext cx="1143000" cy="2190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990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下一步</a:t>
            </a:r>
          </a:p>
        </p:txBody>
      </p:sp>
      <p:sp>
        <p:nvSpPr>
          <p:cNvPr id="165" name="s18-gpu-stage"/>
          <p:cNvSpPr>
            <a:spLocks noGrp="1"/>
          </p:cNvSpPr>
          <p:nvPr/>
        </p:nvSpPr>
        <p:spPr>
          <a:xfrm>
            <a:off x="6038850" y="4341812"/>
            <a:ext cx="942975" cy="666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19050" rIns="0" bIns="0" anchor="t">
            <a:normAutofit/>
          </a:bodyPr>
          <a:lstStyle/>
          <a:p>
            <a:pPr>
              <a:defRPr sz="865" b="1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865" b="1" dirty="0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基础框架完成</a:t>
            </a:r>
          </a:p>
        </p:txBody>
      </p:sp>
      <p:sp>
        <p:nvSpPr>
          <p:cNvPr id="166" name="s18-gpu-done-1-symbol"/>
          <p:cNvSpPr>
            <a:spLocks noGrp="1"/>
          </p:cNvSpPr>
          <p:nvPr/>
        </p:nvSpPr>
        <p:spPr>
          <a:xfrm>
            <a:off x="7162800" y="43418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67" name="s18-gpu-done-1-text"/>
          <p:cNvSpPr>
            <a:spLocks noGrp="1"/>
          </p:cNvSpPr>
          <p:nvPr/>
        </p:nvSpPr>
        <p:spPr>
          <a:xfrm>
            <a:off x="7324725" y="4341812"/>
            <a:ext cx="155257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 环境信息采集</a:t>
            </a:r>
          </a:p>
        </p:txBody>
      </p:sp>
      <p:sp>
        <p:nvSpPr>
          <p:cNvPr id="168" name="s18-gpu-done-2-symbol"/>
          <p:cNvSpPr>
            <a:spLocks noGrp="1"/>
          </p:cNvSpPr>
          <p:nvPr/>
        </p:nvSpPr>
        <p:spPr>
          <a:xfrm>
            <a:off x="7162800" y="455136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69" name="s18-gpu-done-2-text"/>
          <p:cNvSpPr>
            <a:spLocks noGrp="1"/>
          </p:cNvSpPr>
          <p:nvPr/>
        </p:nvSpPr>
        <p:spPr>
          <a:xfrm>
            <a:off x="7324725" y="4551362"/>
            <a:ext cx="155257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基础迁移框架</a:t>
            </a:r>
          </a:p>
        </p:txBody>
      </p:sp>
      <p:sp>
        <p:nvSpPr>
          <p:cNvPr id="170" name="s18-gpu-done-3-symbol"/>
          <p:cNvSpPr>
            <a:spLocks noGrp="1"/>
          </p:cNvSpPr>
          <p:nvPr/>
        </p:nvSpPr>
        <p:spPr>
          <a:xfrm>
            <a:off x="7162800" y="4760912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71" name="s18-gpu-done-3-text"/>
          <p:cNvSpPr>
            <a:spLocks noGrp="1"/>
          </p:cNvSpPr>
          <p:nvPr/>
        </p:nvSpPr>
        <p:spPr>
          <a:xfrm>
            <a:off x="7324725" y="4760912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0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 平台 Shared / Knowledge 初步整理</a:t>
            </a:r>
          </a:p>
        </p:txBody>
      </p:sp>
      <p:sp>
        <p:nvSpPr>
          <p:cNvPr id="172" name="s18-gpu-done-4-symbol"/>
          <p:cNvSpPr>
            <a:spLocks noGrp="1"/>
          </p:cNvSpPr>
          <p:nvPr/>
        </p:nvSpPr>
        <p:spPr>
          <a:xfrm>
            <a:off x="7162800" y="5065712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73" name="s18-gpu-done-4-text"/>
          <p:cNvSpPr>
            <a:spLocks noGrp="1"/>
          </p:cNvSpPr>
          <p:nvPr/>
        </p:nvSpPr>
        <p:spPr>
          <a:xfrm>
            <a:off x="7324725" y="5065712"/>
            <a:ext cx="1552575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0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保留 Triton 算子开发主 Workflow</a:t>
            </a:r>
          </a:p>
        </p:txBody>
      </p:sp>
      <p:sp>
        <p:nvSpPr>
          <p:cNvPr id="174" name="s18-gpu-val-1-symbol"/>
          <p:cNvSpPr>
            <a:spLocks noGrp="1"/>
          </p:cNvSpPr>
          <p:nvPr/>
        </p:nvSpPr>
        <p:spPr>
          <a:xfrm>
            <a:off x="9039225" y="43418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75" name="s18-gpu-val-1-text"/>
          <p:cNvSpPr>
            <a:spLocks noGrp="1"/>
          </p:cNvSpPr>
          <p:nvPr/>
        </p:nvSpPr>
        <p:spPr>
          <a:xfrm>
            <a:off x="9201150" y="4341812"/>
            <a:ext cx="11144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5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Workflow 复用  </a:t>
            </a:r>
          </a:p>
        </p:txBody>
      </p:sp>
      <p:sp>
        <p:nvSpPr>
          <p:cNvPr id="176" name="s18-gpu-val-2-symbol"/>
          <p:cNvSpPr>
            <a:spLocks noGrp="1"/>
          </p:cNvSpPr>
          <p:nvPr/>
        </p:nvSpPr>
        <p:spPr>
          <a:xfrm>
            <a:off x="9039225" y="455136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0F9E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4F8A8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●</a:t>
            </a:r>
          </a:p>
        </p:txBody>
      </p:sp>
      <p:sp>
        <p:nvSpPr>
          <p:cNvPr id="177" name="s18-gpu-val-2-text"/>
          <p:cNvSpPr>
            <a:spLocks noGrp="1"/>
          </p:cNvSpPr>
          <p:nvPr/>
        </p:nvSpPr>
        <p:spPr>
          <a:xfrm>
            <a:off x="9201150" y="4551362"/>
            <a:ext cx="11144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环境采集  </a:t>
            </a:r>
          </a:p>
        </p:txBody>
      </p:sp>
      <p:sp>
        <p:nvSpPr>
          <p:cNvPr id="178" name="s18-gpu-val-3-symbol"/>
          <p:cNvSpPr>
            <a:spLocks noGrp="1"/>
          </p:cNvSpPr>
          <p:nvPr/>
        </p:nvSpPr>
        <p:spPr>
          <a:xfrm>
            <a:off x="9039225" y="476091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795" b="1">
                <a:solidFill>
                  <a:srgbClr val="F07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△</a:t>
            </a:r>
          </a:p>
        </p:txBody>
      </p:sp>
      <p:sp>
        <p:nvSpPr>
          <p:cNvPr id="179" name="s18-gpu-val-3-text"/>
          <p:cNvSpPr>
            <a:spLocks noGrp="1"/>
          </p:cNvSpPr>
          <p:nvPr/>
        </p:nvSpPr>
        <p:spPr>
          <a:xfrm>
            <a:off x="9201150" y="4760912"/>
            <a:ext cx="11144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平台知识  △</a:t>
            </a:r>
          </a:p>
        </p:txBody>
      </p:sp>
      <p:sp>
        <p:nvSpPr>
          <p:cNvPr id="180" name="s18-gpu-val-4-symbol"/>
          <p:cNvSpPr>
            <a:spLocks noGrp="1"/>
          </p:cNvSpPr>
          <p:nvPr/>
        </p:nvSpPr>
        <p:spPr>
          <a:xfrm>
            <a:off x="9039225" y="497046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795" b="1">
                <a:solidFill>
                  <a:srgbClr val="F07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△</a:t>
            </a:r>
          </a:p>
        </p:txBody>
      </p:sp>
      <p:sp>
        <p:nvSpPr>
          <p:cNvPr id="181" name="s18-gpu-val-4-text"/>
          <p:cNvSpPr>
            <a:spLocks noGrp="1"/>
          </p:cNvSpPr>
          <p:nvPr/>
        </p:nvSpPr>
        <p:spPr>
          <a:xfrm>
            <a:off x="9201150" y="4970462"/>
            <a:ext cx="1114425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三算子验证  待补</a:t>
            </a:r>
          </a:p>
        </p:txBody>
      </p:sp>
      <p:sp>
        <p:nvSpPr>
          <p:cNvPr id="182" name="s18-gpu-val-5-symbol"/>
          <p:cNvSpPr>
            <a:spLocks noGrp="1"/>
          </p:cNvSpPr>
          <p:nvPr/>
        </p:nvSpPr>
        <p:spPr>
          <a:xfrm>
            <a:off x="9039225" y="5180012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795" b="1">
                <a:solidFill>
                  <a:srgbClr val="F07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5" b="1">
                <a:solidFill>
                  <a:srgbClr val="C77C5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△</a:t>
            </a:r>
          </a:p>
        </p:txBody>
      </p:sp>
      <p:sp>
        <p:nvSpPr>
          <p:cNvPr id="183" name="s18-gpu-val-5-text"/>
          <p:cNvSpPr>
            <a:spLocks noGrp="1"/>
          </p:cNvSpPr>
          <p:nvPr/>
        </p:nvSpPr>
        <p:spPr>
          <a:xfrm>
            <a:off x="9201150" y="5180012"/>
            <a:ext cx="11144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3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性能规则  待校准</a:t>
            </a:r>
          </a:p>
        </p:txBody>
      </p:sp>
      <p:sp>
        <p:nvSpPr>
          <p:cNvPr id="184" name="s18-gpu-next-1-symbol"/>
          <p:cNvSpPr>
            <a:spLocks noGrp="1"/>
          </p:cNvSpPr>
          <p:nvPr/>
        </p:nvSpPr>
        <p:spPr>
          <a:xfrm>
            <a:off x="10496550" y="4341812"/>
            <a:ext cx="133350" cy="3143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85" name="s18-gpu-next-1-text"/>
          <p:cNvSpPr>
            <a:spLocks noGrp="1"/>
          </p:cNvSpPr>
          <p:nvPr/>
        </p:nvSpPr>
        <p:spPr>
          <a:xfrm>
            <a:off x="10658475" y="4341812"/>
            <a:ext cx="1200150" cy="3143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0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 GPU Hardware / Memory Profiler 信息</a:t>
            </a:r>
          </a:p>
        </p:txBody>
      </p:sp>
      <p:sp>
        <p:nvSpPr>
          <p:cNvPr id="186" name="s18-gpu-next-2-symbol"/>
          <p:cNvSpPr>
            <a:spLocks noGrp="1"/>
          </p:cNvSpPr>
          <p:nvPr/>
        </p:nvSpPr>
        <p:spPr>
          <a:xfrm>
            <a:off x="10496550" y="4665662"/>
            <a:ext cx="1333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87" name="s18-gpu-next-2-text"/>
          <p:cNvSpPr>
            <a:spLocks noGrp="1"/>
          </p:cNvSpPr>
          <p:nvPr/>
        </p:nvSpPr>
        <p:spPr>
          <a:xfrm>
            <a:off x="10658475" y="4665662"/>
            <a:ext cx="120015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6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跑平台微基准</a:t>
            </a:r>
          </a:p>
        </p:txBody>
      </p:sp>
      <p:sp>
        <p:nvSpPr>
          <p:cNvPr id="188" name="s18-gpu-next-3-symbol"/>
          <p:cNvSpPr>
            <a:spLocks noGrp="1"/>
          </p:cNvSpPr>
          <p:nvPr/>
        </p:nvSpPr>
        <p:spPr>
          <a:xfrm>
            <a:off x="10496550" y="4875212"/>
            <a:ext cx="133350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89" name="s18-gpu-next-3-text"/>
          <p:cNvSpPr>
            <a:spLocks noGrp="1"/>
          </p:cNvSpPr>
          <p:nvPr/>
        </p:nvSpPr>
        <p:spPr>
          <a:xfrm>
            <a:off x="10658475" y="4875212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15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用三个标准算子完成闭环验证</a:t>
            </a:r>
          </a:p>
        </p:txBody>
      </p:sp>
      <p:sp>
        <p:nvSpPr>
          <p:cNvPr id="190" name="s18-gpu-next-4-symbol"/>
          <p:cNvSpPr>
            <a:spLocks noGrp="1"/>
          </p:cNvSpPr>
          <p:nvPr/>
        </p:nvSpPr>
        <p:spPr>
          <a:xfrm>
            <a:off x="10496550" y="5141912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 sz="865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294A6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191" name="s18-gpu-next-4-text"/>
          <p:cNvSpPr>
            <a:spLocks noGrp="1"/>
          </p:cNvSpPr>
          <p:nvPr/>
        </p:nvSpPr>
        <p:spPr>
          <a:xfrm>
            <a:off x="10658475" y="5141912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69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重新校准 Tile / Pipeline /</a:t>
            </a:r>
          </a:p>
          <a:p>
            <a:pPr algn="l">
              <a:defRPr sz="690" b="0">
                <a:solidFill>
                  <a:srgbClr val="24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>
                <a:solidFill>
                  <a:srgbClr val="2F3A4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Autotune 经验</a:t>
            </a:r>
          </a:p>
        </p:txBody>
      </p:sp>
      <p:sp>
        <p:nvSpPr>
          <p:cNvPr id="3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92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3.3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93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11-title"/>
          <p:cNvSpPr>
            <a:spLocks noGrp="1"/>
          </p:cNvSpPr>
          <p:nvPr/>
        </p:nvSpPr>
        <p:spPr>
          <a:xfrm>
            <a:off x="1200150" y="17780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四类 </a:t>
            </a:r>
            <a:r>
              <a:rPr 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</a:t>
            </a: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生成 </a:t>
            </a:r>
            <a:r>
              <a:rPr 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Kernel：</a:t>
            </a: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性能结果对比</a:t>
            </a:r>
            <a:endParaRPr sz="3000" b="1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" name="measurement_and_baseline_note"/>
          <p:cNvSpPr>
            <a:spLocks noGrp="1"/>
          </p:cNvSpPr>
          <p:nvPr/>
        </p:nvSpPr>
        <p:spPr>
          <a:xfrm>
            <a:off x="1200150" y="4749800"/>
            <a:ext cx="977265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55D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单元格：Kernel / PyTorch  |  Baseline：MLU  → PyTorch-MLU  |  GPU → PyTorch-CUDA</a:t>
            </a:r>
          </a:p>
        </p:txBody>
      </p:sp>
      <p:graphicFrame>
        <p:nvGraphicFramePr>
          <p:cNvPr id="13" name="kernel_vs_pytorch_performance"/>
          <p:cNvGraphicFramePr/>
          <p:nvPr>
            <p:extLst>
              <p:ext uri="{D42A27DB-BD31-4B8C-83A1-F6EECF244321}">
                <p14:modId xmlns:p14="http://schemas.microsoft.com/office/powerpoint/2010/main" val="3700184298"/>
              </p:ext>
            </p:extLst>
          </p:nvPr>
        </p:nvGraphicFramePr>
        <p:xfrm>
          <a:off x="1200150" y="990600"/>
          <a:ext cx="9772650" cy="3657598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平台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算子输入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LayerNorm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Softmax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MatMul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精度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FP32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  <a:sym typeface="+mn-ea"/>
                        </a:rPr>
                        <a:t>FP32</a:t>
                      </a:r>
                      <a:endParaRPr sz="1400" b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FP16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输入结构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64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512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1024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MLU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0.15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0.15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0.086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0.11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11.84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5.3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BANG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25.53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/ 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0.15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3.68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0.11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16.24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5.3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CUDA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0.32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0.45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0.162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0.17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29.43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15.59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GPU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0.31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0.45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0.16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0.17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48.26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15.59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body-p11-evaluation-meta"/>
          <p:cNvSpPr>
            <a:spLocks noGrp="1"/>
          </p:cNvSpPr>
          <p:nvPr/>
        </p:nvSpPr>
        <p:spPr>
          <a:xfrm>
            <a:off x="7905750" y="57150"/>
            <a:ext cx="4057650" cy="133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defRPr sz="640" b="1">
                <a:solidFill>
                  <a:srgbClr val="6F8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8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EVALUATION 02 · Kernel / PyTorch Time</a:t>
            </a:r>
            <a:endParaRPr sz="800" b="1">
              <a:solidFill>
                <a:srgbClr val="66737F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10</a:t>
            </a:r>
          </a:p>
        </p:txBody>
      </p:sp>
      <p:sp>
        <p:nvSpPr>
          <p:cNvPr id="8" name="s15-observation-heading">
            <a:extLst>
              <a:ext uri="{FF2B5EF4-FFF2-40B4-BE49-F238E27FC236}">
                <a16:creationId xmlns:a16="http://schemas.microsoft.com/office/drawing/2014/main" id="{1FDCC21F-B164-96FC-4235-BA02DF7AFC66}"/>
              </a:ext>
            </a:extLst>
          </p:cNvPr>
          <p:cNvSpPr txBox="1"/>
          <p:nvPr/>
        </p:nvSpPr>
        <p:spPr>
          <a:xfrm>
            <a:off x="1193800" y="51054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结果观察</a:t>
            </a:r>
          </a:p>
        </p:txBody>
      </p:sp>
      <p:sp>
        <p:nvSpPr>
          <p:cNvPr id="10" name="s15-observation-body">
            <a:extLst>
              <a:ext uri="{FF2B5EF4-FFF2-40B4-BE49-F238E27FC236}">
                <a16:creationId xmlns:a16="http://schemas.microsoft.com/office/drawing/2014/main" id="{A801890C-E950-A015-DE8C-98FDE8F93E98}"/>
              </a:ext>
            </a:extLst>
          </p:cNvPr>
          <p:cNvSpPr txBox="1"/>
          <p:nvPr/>
        </p:nvSpPr>
        <p:spPr>
          <a:xfrm>
            <a:off x="1193800" y="5448300"/>
            <a:ext cx="97790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MLU Triton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LayerNorm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PyTorch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-MLU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持平，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0.15 / 0.15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ms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Softmax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更快，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0.086 / 0.11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ms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MatMul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仍较慢，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11.84 / 5.3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ms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BANG C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三项 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Kernel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耗时均高于同平台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PyTorch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LayerNorm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Softmax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差距最突出。</a:t>
            </a:r>
          </a:p>
        </p:txBody>
      </p:sp>
      <p:sp>
        <p:nvSpPr>
          <p:cNvPr id="11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3.4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2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11-title"/>
          <p:cNvSpPr>
            <a:spLocks noGrp="1"/>
          </p:cNvSpPr>
          <p:nvPr/>
        </p:nvSpPr>
        <p:spPr>
          <a:xfrm>
            <a:off x="1200150" y="17780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四类 </a:t>
            </a:r>
            <a:r>
              <a:rPr 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</a:t>
            </a: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生成 </a:t>
            </a:r>
            <a:r>
              <a:rPr 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Kernel：</a:t>
            </a: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性能结果对比</a:t>
            </a:r>
            <a:endParaRPr sz="3000" b="1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" name="measurement_and_baseline_note"/>
          <p:cNvSpPr>
            <a:spLocks noGrp="1"/>
          </p:cNvSpPr>
          <p:nvPr/>
        </p:nvSpPr>
        <p:spPr>
          <a:xfrm>
            <a:off x="1200150" y="4749800"/>
            <a:ext cx="977265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55D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dirty="0" err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单元格：Kernel</a:t>
            </a:r>
            <a:r>
              <a:rPr sz="1050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/ </a:t>
            </a:r>
            <a:r>
              <a:rPr sz="1050" dirty="0" err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PyTorch</a:t>
            </a:r>
            <a:r>
              <a:rPr sz="1050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 </a:t>
            </a:r>
            <a:r>
              <a:rPr lang="zh-CN" altLang="en-US" sz="1050" dirty="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加速比</a:t>
            </a:r>
            <a:endParaRPr sz="1050" dirty="0">
              <a:solidFill>
                <a:srgbClr val="66737F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graphicFrame>
        <p:nvGraphicFramePr>
          <p:cNvPr id="13" name="kernel_vs_pytorch_performance"/>
          <p:cNvGraphicFramePr/>
          <p:nvPr>
            <p:extLst>
              <p:ext uri="{D42A27DB-BD31-4B8C-83A1-F6EECF244321}">
                <p14:modId xmlns:p14="http://schemas.microsoft.com/office/powerpoint/2010/main" val="2951003314"/>
              </p:ext>
            </p:extLst>
          </p:nvPr>
        </p:nvGraphicFramePr>
        <p:xfrm>
          <a:off x="1200150" y="990600"/>
          <a:ext cx="9772650" cy="3657598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平台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算子输入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LayerNorm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Softmax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MatMul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精度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FP32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  <a:sym typeface="+mn-ea"/>
                        </a:rPr>
                        <a:t>FP32</a:t>
                      </a:r>
                      <a:endParaRPr sz="1400" b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FP16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输入结构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64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512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1024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MLU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1.23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0.45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BANG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0.01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0.05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0.33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CUDA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1.43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1.06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0.53x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GPU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1.45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1.06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0.33x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body-p11-evaluation-meta"/>
          <p:cNvSpPr>
            <a:spLocks noGrp="1"/>
          </p:cNvSpPr>
          <p:nvPr/>
        </p:nvSpPr>
        <p:spPr>
          <a:xfrm>
            <a:off x="7905750" y="57150"/>
            <a:ext cx="4057650" cy="133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defRPr sz="640" b="1">
                <a:solidFill>
                  <a:srgbClr val="6F8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8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EVALUATION 02 · Explicit Speedup</a:t>
            </a:r>
            <a:endParaRPr sz="800" b="1">
              <a:solidFill>
                <a:srgbClr val="66737F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10</a:t>
            </a:r>
          </a:p>
        </p:txBody>
      </p:sp>
      <p:sp>
        <p:nvSpPr>
          <p:cNvPr id="8" name="s16-observation-heading">
            <a:extLst>
              <a:ext uri="{FF2B5EF4-FFF2-40B4-BE49-F238E27FC236}">
                <a16:creationId xmlns:a16="http://schemas.microsoft.com/office/drawing/2014/main" id="{362CF364-3F11-715D-2DA8-AA380F4CEAD2}"/>
              </a:ext>
            </a:extLst>
          </p:cNvPr>
          <p:cNvSpPr txBox="1"/>
          <p:nvPr/>
        </p:nvSpPr>
        <p:spPr>
          <a:xfrm>
            <a:off x="1193800" y="50673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结果观察</a:t>
            </a:r>
          </a:p>
        </p:txBody>
      </p:sp>
      <p:sp>
        <p:nvSpPr>
          <p:cNvPr id="10" name="s16-observation-left">
            <a:extLst>
              <a:ext uri="{FF2B5EF4-FFF2-40B4-BE49-F238E27FC236}">
                <a16:creationId xmlns:a16="http://schemas.microsoft.com/office/drawing/2014/main" id="{C9118860-19DC-C03A-9877-7726B2DBF5E3}"/>
              </a:ext>
            </a:extLst>
          </p:cNvPr>
          <p:cNvSpPr txBox="1"/>
          <p:nvPr/>
        </p:nvSpPr>
        <p:spPr>
          <a:xfrm>
            <a:off x="1193800" y="54102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LayerNorm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GPU Triton 1.45×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最优，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CUDA C 1.43×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紧随；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MLU Triton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与基线持平。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Softmax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MLU Triton 1.23×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GPU Triton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均为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1.06×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，接近或超过基线。</a:t>
            </a:r>
          </a:p>
        </p:txBody>
      </p:sp>
      <p:sp>
        <p:nvSpPr>
          <p:cNvPr id="11" name="s16-observation-right">
            <a:extLst>
              <a:ext uri="{FF2B5EF4-FFF2-40B4-BE49-F238E27FC236}">
                <a16:creationId xmlns:a16="http://schemas.microsoft.com/office/drawing/2014/main" id="{CE0D8A76-9CFD-0F87-04D9-5CE265D539CC}"/>
              </a:ext>
            </a:extLst>
          </p:cNvPr>
          <p:cNvSpPr txBox="1"/>
          <p:nvPr/>
        </p:nvSpPr>
        <p:spPr>
          <a:xfrm>
            <a:off x="6299200" y="54102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MatMul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：四类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全部低于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；最高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也只有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0.53×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BANG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三项均低于基线；当前主要短板是高性能优化。</a:t>
            </a:r>
          </a:p>
        </p:txBody>
      </p:sp>
      <p:sp>
        <p:nvSpPr>
          <p:cNvPr id="12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3.4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4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  <p:extLst>
      <p:ext uri="{BB962C8B-B14F-4D97-AF65-F5344CB8AC3E}">
        <p14:creationId xmlns:p14="http://schemas.microsoft.com/office/powerpoint/2010/main" val="735913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10-title"/>
          <p:cNvSpPr>
            <a:spLocks noGrp="1"/>
          </p:cNvSpPr>
          <p:nvPr/>
        </p:nvSpPr>
        <p:spPr>
          <a:xfrm>
            <a:off x="1200150" y="17780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四类算子 </a:t>
            </a:r>
            <a:r>
              <a:rPr lang="en-US" altLang="zh-CN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</a:t>
            </a:r>
            <a:r>
              <a:rPr lang="zh-CN" altLang="en-US" sz="30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：开发效率对比</a:t>
            </a:r>
            <a:endParaRPr sz="3000" b="1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" name="elapsed_time_definition"/>
          <p:cNvSpPr>
            <a:spLocks noGrp="1"/>
          </p:cNvSpPr>
          <p:nvPr/>
        </p:nvSpPr>
        <p:spPr>
          <a:xfrm>
            <a:off x="1200149" y="4241800"/>
            <a:ext cx="635000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961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端到端耗时：需求提交 → 最终交付</a:t>
            </a:r>
          </a:p>
        </p:txBody>
      </p:sp>
      <p:graphicFrame>
        <p:nvGraphicFramePr>
          <p:cNvPr id="54" name="development_time_by_skill_and_operator"/>
          <p:cNvGraphicFramePr/>
          <p:nvPr>
            <p:extLst>
              <p:ext uri="{D42A27DB-BD31-4B8C-83A1-F6EECF244321}">
                <p14:modId xmlns:p14="http://schemas.microsoft.com/office/powerpoint/2010/main" val="2585405578"/>
              </p:ext>
            </p:extLst>
          </p:nvPr>
        </p:nvGraphicFramePr>
        <p:xfrm>
          <a:off x="1200150" y="990600"/>
          <a:ext cx="7600950" cy="3149600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Skill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LayerNorm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Softmax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MatMul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MLU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h26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BANG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CUDA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h57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h10m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h20m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GPU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h30m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h30m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" name="average_development_time"/>
          <p:cNvGraphicFramePr/>
          <p:nvPr>
            <p:extLst>
              <p:ext uri="{D42A27DB-BD31-4B8C-83A1-F6EECF244321}">
                <p14:modId xmlns:p14="http://schemas.microsoft.com/office/powerpoint/2010/main" val="3259880839"/>
              </p:ext>
            </p:extLst>
          </p:nvPr>
        </p:nvGraphicFramePr>
        <p:xfrm>
          <a:off x="8801100" y="990600"/>
          <a:ext cx="2199640" cy="3149600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平均耗时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2h 49m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h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1h 29m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微软雅黑" panose="020B0503020204020204" charset="-122"/>
                        </a:rPr>
                        <a:t>2h 20m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11</a:t>
            </a:r>
          </a:p>
        </p:txBody>
      </p:sp>
      <p:sp>
        <p:nvSpPr>
          <p:cNvPr id="6" name="s17-observation-heading">
            <a:extLst>
              <a:ext uri="{FF2B5EF4-FFF2-40B4-BE49-F238E27FC236}">
                <a16:creationId xmlns:a16="http://schemas.microsoft.com/office/drawing/2014/main" id="{CBCDE048-B80F-CBF0-1BDB-E3F2A0604D66}"/>
              </a:ext>
            </a:extLst>
          </p:cNvPr>
          <p:cNvSpPr txBox="1"/>
          <p:nvPr/>
        </p:nvSpPr>
        <p:spPr>
          <a:xfrm>
            <a:off x="1193800" y="45974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效率观察</a:t>
            </a:r>
          </a:p>
        </p:txBody>
      </p:sp>
      <p:sp>
        <p:nvSpPr>
          <p:cNvPr id="11" name="s17-observation-left">
            <a:extLst>
              <a:ext uri="{FF2B5EF4-FFF2-40B4-BE49-F238E27FC236}">
                <a16:creationId xmlns:a16="http://schemas.microsoft.com/office/drawing/2014/main" id="{9C510854-2DAF-092A-89C9-E8B1716B7288}"/>
              </a:ext>
            </a:extLst>
          </p:cNvPr>
          <p:cNvSpPr txBox="1"/>
          <p:nvPr/>
        </p:nvSpPr>
        <p:spPr>
          <a:xfrm>
            <a:off x="1193800" y="49403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平均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1h29m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，开发耗时最短；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BANG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平均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8h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，耗时最长。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开发时间与最终性能并非完全正相关：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最快，但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MatMul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仍只有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0.53×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4" name="s17-observation-right">
            <a:extLst>
              <a:ext uri="{FF2B5EF4-FFF2-40B4-BE49-F238E27FC236}">
                <a16:creationId xmlns:a16="http://schemas.microsoft.com/office/drawing/2014/main" id="{FD67950C-2C88-315E-8746-DF810FCEBE27}"/>
              </a:ext>
            </a:extLst>
          </p:cNvPr>
          <p:cNvSpPr txBox="1"/>
          <p:nvPr/>
        </p:nvSpPr>
        <p:spPr>
          <a:xfrm>
            <a:off x="6299200" y="49403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GPU Triton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MatMul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开发仅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1h30m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，却只有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0.33×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；快速生成不等于高性能。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BANG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已能生成并验证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Kernel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；当前主要瓶颈是优化知识与规则不足。</a:t>
            </a:r>
          </a:p>
        </p:txBody>
      </p:sp>
      <p:sp>
        <p:nvSpPr>
          <p:cNvPr id="12" name="slide-7-editable-footer"/>
          <p:cNvSpPr>
            <a:spLocks noGrp="1"/>
          </p:cNvSpPr>
          <p:nvPr/>
        </p:nvSpPr>
        <p:spPr>
          <a:xfrm>
            <a:off x="234950" y="6433833"/>
            <a:ext cx="11696700" cy="3905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rmAutofit/>
          </a:bodyPr>
          <a:lstStyle/>
          <a:p>
            <a:pPr algn="ctr">
              <a:buNone/>
              <a:defRPr sz="9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总结：结果显示 </a:t>
            </a:r>
            <a:r>
              <a:rPr lang="en-US" altLang="zh-CN" sz="16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mlu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triton </a:t>
            </a:r>
            <a:r>
              <a:rPr lang="en-US" altLang="zh-CN" sz="16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cuda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c </a:t>
            </a:r>
            <a:r>
              <a:rPr lang="en-US" altLang="zh-CN" sz="1600" dirty="0" err="1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gpu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triton</a:t>
            </a: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skill</a:t>
            </a: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开发效率尚可，但仍需大量算子测试。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Bang c</a:t>
            </a: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算子缺口较大，正在完善</a:t>
            </a:r>
            <a:r>
              <a:rPr sz="1600" dirty="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3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3.4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5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s-title"/>
          <p:cNvSpPr>
            <a:spLocks noGrp="1"/>
          </p:cNvSpPr>
          <p:nvPr/>
        </p:nvSpPr>
        <p:spPr>
          <a:xfrm>
            <a:off x="609600" y="2476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目录</a:t>
            </a:r>
          </a:p>
        </p:txBody>
      </p:sp>
      <p:sp>
        <p:nvSpPr>
          <p:cNvPr id="2" name="contents-subtitle"/>
          <p:cNvSpPr>
            <a:spLocks noGrp="1"/>
          </p:cNvSpPr>
          <p:nvPr/>
        </p:nvSpPr>
        <p:spPr>
          <a:xfrm>
            <a:off x="609600" y="742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566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Contents</a:t>
            </a:r>
          </a:p>
        </p:txBody>
      </p:sp>
      <p:sp>
        <p:nvSpPr>
          <p:cNvPr id="4" name="contents-header-rule"/>
          <p:cNvSpPr>
            <a:spLocks noGrp="1"/>
          </p:cNvSpPr>
          <p:nvPr/>
        </p:nvSpPr>
        <p:spPr>
          <a:xfrm>
            <a:off x="609600" y="1104900"/>
            <a:ext cx="10972800" cy="14288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  <a:effectLst/>
        </p:spPr>
      </p:sp>
      <p:sp>
        <p:nvSpPr>
          <p:cNvPr id="5" name="contents-card-1"/>
          <p:cNvSpPr>
            <a:spLocks noGrp="1"/>
          </p:cNvSpPr>
          <p:nvPr/>
        </p:nvSpPr>
        <p:spPr>
          <a:xfrm>
            <a:off x="609600" y="1295400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6" name="contents-card-1-accent"/>
          <p:cNvSpPr>
            <a:spLocks noGrp="1"/>
          </p:cNvSpPr>
          <p:nvPr/>
        </p:nvSpPr>
        <p:spPr>
          <a:xfrm>
            <a:off x="609600" y="1295400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7" name="contents-card-1-part"/>
          <p:cNvSpPr>
            <a:spLocks noGrp="1"/>
          </p:cNvSpPr>
          <p:nvPr/>
        </p:nvSpPr>
        <p:spPr>
          <a:xfrm>
            <a:off x="839470" y="16287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buClrTx/>
              <a:buSzTx/>
              <a:buFontTx/>
              <a:defRPr sz="1125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01</a:t>
            </a:r>
          </a:p>
        </p:txBody>
      </p:sp>
      <p:sp>
        <p:nvSpPr>
          <p:cNvPr id="9" name="contents-card-1-divider"/>
          <p:cNvSpPr>
            <a:spLocks noGrp="1"/>
          </p:cNvSpPr>
          <p:nvPr/>
        </p:nvSpPr>
        <p:spPr>
          <a:xfrm>
            <a:off x="2047875" y="143827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0" name="contents-card-1-title"/>
          <p:cNvSpPr>
            <a:spLocks noGrp="1"/>
          </p:cNvSpPr>
          <p:nvPr/>
        </p:nvSpPr>
        <p:spPr>
          <a:xfrm>
            <a:off x="2286000" y="139065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Agent/</a:t>
            </a: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Skill 基础：使用与开发</a:t>
            </a:r>
          </a:p>
        </p:txBody>
      </p:sp>
      <p:sp>
        <p:nvSpPr>
          <p:cNvPr id="13" name="contents-card-2"/>
          <p:cNvSpPr>
            <a:spLocks noGrp="1"/>
          </p:cNvSpPr>
          <p:nvPr/>
        </p:nvSpPr>
        <p:spPr>
          <a:xfrm>
            <a:off x="609600" y="2428875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14" name="contents-card-2-accent"/>
          <p:cNvSpPr>
            <a:spLocks noGrp="1"/>
          </p:cNvSpPr>
          <p:nvPr/>
        </p:nvSpPr>
        <p:spPr>
          <a:xfrm>
            <a:off x="609600" y="2428875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5" name="contents-card-2-part"/>
          <p:cNvSpPr>
            <a:spLocks noGrp="1"/>
          </p:cNvSpPr>
          <p:nvPr/>
        </p:nvSpPr>
        <p:spPr>
          <a:xfrm>
            <a:off x="838200" y="25622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12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02</a:t>
            </a:r>
          </a:p>
        </p:txBody>
      </p:sp>
      <p:sp>
        <p:nvSpPr>
          <p:cNvPr id="17" name="contents-card-2-divider"/>
          <p:cNvSpPr>
            <a:spLocks noGrp="1"/>
          </p:cNvSpPr>
          <p:nvPr/>
        </p:nvSpPr>
        <p:spPr>
          <a:xfrm>
            <a:off x="2047875" y="257175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18" name="contents-card-2-title"/>
          <p:cNvSpPr>
            <a:spLocks noGrp="1"/>
          </p:cNvSpPr>
          <p:nvPr/>
        </p:nvSpPr>
        <p:spPr>
          <a:xfrm>
            <a:off x="2286000" y="252412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寒武纪</a:t>
            </a: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Skill：实践与问题</a:t>
            </a:r>
          </a:p>
        </p:txBody>
      </p:sp>
      <p:sp>
        <p:nvSpPr>
          <p:cNvPr id="21" name="contents-card-3"/>
          <p:cNvSpPr>
            <a:spLocks noGrp="1"/>
          </p:cNvSpPr>
          <p:nvPr/>
        </p:nvSpPr>
        <p:spPr>
          <a:xfrm>
            <a:off x="609600" y="3562350"/>
            <a:ext cx="10972800" cy="981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22" name="contents-card-3-accent"/>
          <p:cNvSpPr>
            <a:spLocks noGrp="1"/>
          </p:cNvSpPr>
          <p:nvPr/>
        </p:nvSpPr>
        <p:spPr>
          <a:xfrm>
            <a:off x="609600" y="3562350"/>
            <a:ext cx="66675" cy="981075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23" name="contents-card-3-part"/>
          <p:cNvSpPr>
            <a:spLocks noGrp="1"/>
          </p:cNvSpPr>
          <p:nvPr/>
        </p:nvSpPr>
        <p:spPr>
          <a:xfrm>
            <a:off x="838200" y="36957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lvl="0">
              <a:buClrTx/>
              <a:buSzTx/>
              <a:buFontTx/>
              <a:defRPr sz="1125" b="1">
                <a:solidFill>
                  <a:srgbClr val="0E5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737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PART 03</a:t>
            </a:r>
          </a:p>
        </p:txBody>
      </p:sp>
      <p:sp>
        <p:nvSpPr>
          <p:cNvPr id="25" name="contents-card-3-divider"/>
          <p:cNvSpPr>
            <a:spLocks noGrp="1"/>
          </p:cNvSpPr>
          <p:nvPr/>
        </p:nvSpPr>
        <p:spPr>
          <a:xfrm>
            <a:off x="2047875" y="3705225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26" name="contents-card-3-title"/>
          <p:cNvSpPr>
            <a:spLocks noGrp="1"/>
          </p:cNvSpPr>
          <p:nvPr/>
        </p:nvSpPr>
        <p:spPr>
          <a:xfrm>
            <a:off x="2286000" y="365760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F3A4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算子 Skill 开发指南与多平台实践</a:t>
            </a:r>
          </a:p>
        </p:txBody>
      </p:sp>
      <p:sp>
        <p:nvSpPr>
          <p:cNvPr id="29" name="contents-card-4"/>
          <p:cNvSpPr>
            <a:spLocks noGrp="1"/>
          </p:cNvSpPr>
          <p:nvPr/>
        </p:nvSpPr>
        <p:spPr>
          <a:xfrm>
            <a:off x="623570" y="4652645"/>
            <a:ext cx="10972800" cy="981075"/>
          </a:xfrm>
          <a:prstGeom prst="rect">
            <a:avLst/>
          </a:prstGeom>
          <a:solidFill>
            <a:srgbClr val="EEF2F5"/>
          </a:solidFill>
          <a:ln w="10160">
            <a:solidFill>
              <a:srgbClr val="D6DEE6"/>
            </a:solidFill>
            <a:prstDash val="solid"/>
          </a:ln>
          <a:effectLst/>
        </p:spPr>
      </p:sp>
      <p:sp>
        <p:nvSpPr>
          <p:cNvPr id="30" name="contents-card-4-accent"/>
          <p:cNvSpPr>
            <a:spLocks noGrp="1"/>
          </p:cNvSpPr>
          <p:nvPr/>
        </p:nvSpPr>
        <p:spPr>
          <a:xfrm>
            <a:off x="609600" y="4695825"/>
            <a:ext cx="66675" cy="981075"/>
          </a:xfrm>
          <a:prstGeom prst="rect">
            <a:avLst/>
          </a:prstGeom>
          <a:solidFill>
            <a:srgbClr val="5B7188"/>
          </a:solidFill>
          <a:ln w="0">
            <a:noFill/>
            <a:prstDash val="solid"/>
          </a:ln>
          <a:effectLst/>
        </p:spPr>
      </p:sp>
      <p:sp>
        <p:nvSpPr>
          <p:cNvPr id="31" name="contents-card-4-part"/>
          <p:cNvSpPr>
            <a:spLocks noGrp="1"/>
          </p:cNvSpPr>
          <p:nvPr/>
        </p:nvSpPr>
        <p:spPr>
          <a:xfrm>
            <a:off x="838200" y="48291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buClrTx/>
              <a:buSzTx/>
              <a:buFontTx/>
              <a:defRPr sz="1125" b="1">
                <a:solidFill>
                  <a:srgbClr val="7B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94A6D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PART 04</a:t>
            </a:r>
          </a:p>
        </p:txBody>
      </p:sp>
      <p:sp>
        <p:nvSpPr>
          <p:cNvPr id="33" name="contents-card-4-divider"/>
          <p:cNvSpPr>
            <a:spLocks noGrp="1"/>
          </p:cNvSpPr>
          <p:nvPr/>
        </p:nvSpPr>
        <p:spPr>
          <a:xfrm>
            <a:off x="2047875" y="4838700"/>
            <a:ext cx="9525" cy="685800"/>
          </a:xfrm>
          <a:prstGeom prst="rect">
            <a:avLst/>
          </a:prstGeom>
          <a:solidFill>
            <a:srgbClr val="D6DEE6"/>
          </a:solidFill>
          <a:ln w="0">
            <a:noFill/>
            <a:prstDash val="solid"/>
          </a:ln>
          <a:effectLst/>
        </p:spPr>
      </p:sp>
      <p:sp>
        <p:nvSpPr>
          <p:cNvPr id="34" name="contents-card-4-title"/>
          <p:cNvSpPr>
            <a:spLocks noGrp="1"/>
          </p:cNvSpPr>
          <p:nvPr/>
        </p:nvSpPr>
        <p:spPr>
          <a:xfrm>
            <a:off x="2286000" y="4791075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未来展望</a:t>
            </a:r>
          </a:p>
        </p:txBody>
      </p:sp>
      <p:sp>
        <p:nvSpPr>
          <p:cNvPr id="38" name="contents-bottom-accent"/>
          <p:cNvSpPr>
            <a:spLocks noGrp="1"/>
          </p:cNvSpPr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294A6D"/>
          </a:solidFill>
          <a:ln w="0">
            <a:noFill/>
            <a:prstDash val="solid"/>
          </a:ln>
          <a:effectLst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11201400" y="4191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AFC2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AFC2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440044" y="4049888"/>
            <a:ext cx="595185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全平台</a:t>
            </a:r>
            <a:r>
              <a:rPr sz="12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4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</a:t>
            </a:r>
            <a:r>
              <a:rPr lang="zh-CN" altLang="en-US" sz="1240" b="1" dirty="0">
                <a:solidFill>
                  <a:srgbClr val="0F6849"/>
                </a:solidFill>
                <a:latin typeface="微软雅黑"/>
                <a:ea typeface="微软雅黑"/>
                <a:cs typeface="微软雅黑"/>
              </a:rPr>
              <a:t>算子开发  →  </a:t>
            </a:r>
            <a:r>
              <a:rPr lang="en-US" altLang="zh-CN" sz="1240" b="1" dirty="0">
                <a:solidFill>
                  <a:srgbClr val="0F6849"/>
                </a:solidFill>
                <a:latin typeface="微软雅黑"/>
                <a:ea typeface="微软雅黑"/>
                <a:cs typeface="微软雅黑"/>
              </a:rPr>
              <a:t>Kernel </a:t>
            </a:r>
            <a:r>
              <a:rPr lang="zh-CN" altLang="en-US" sz="1240" b="1" dirty="0">
                <a:solidFill>
                  <a:srgbClr val="0F6849"/>
                </a:solidFill>
                <a:latin typeface="微软雅黑"/>
                <a:ea typeface="微软雅黑"/>
                <a:cs typeface="微软雅黑"/>
              </a:rPr>
              <a:t>优化  →  模型部署  →  </a:t>
            </a:r>
            <a:r>
              <a:rPr lang="en-US" altLang="zh-CN" sz="1240" b="1" dirty="0">
                <a:solidFill>
                  <a:srgbClr val="0F6849"/>
                </a:solidFill>
                <a:latin typeface="微软雅黑"/>
                <a:ea typeface="微软雅黑"/>
                <a:cs typeface="微软雅黑"/>
              </a:rPr>
              <a:t>Profiling  →  </a:t>
            </a:r>
            <a:r>
              <a:rPr lang="zh-CN" altLang="en-US" sz="1240" b="1" dirty="0">
                <a:solidFill>
                  <a:srgbClr val="0F6849"/>
                </a:solidFill>
                <a:latin typeface="微软雅黑"/>
                <a:ea typeface="微软雅黑"/>
                <a:cs typeface="微软雅黑"/>
              </a:rPr>
              <a:t>系统优化</a:t>
            </a:r>
            <a:endParaRPr lang="zh-CN" altLang="en-US" sz="1240" dirty="0">
              <a:solidFill>
                <a:srgbClr val="1A24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ill </a:t>
            </a:r>
            <a:r>
              <a:rPr sz="124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sz="124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705600" y="14668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人机协同优化闭环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553842" y="2290762"/>
            <a:ext cx="3581400" cy="514350"/>
          </a:xfrm>
          <a:prstGeom prst="roundRect">
            <a:avLst>
              <a:gd name="adj" fmla="val 11111"/>
            </a:avLst>
          </a:prstGeom>
          <a:solidFill>
            <a:srgbClr val="153B5D"/>
          </a:solidFill>
          <a:ln w="7620">
            <a:solidFill>
              <a:srgbClr val="416987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完善现有四类 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553842" y="3052762"/>
            <a:ext cx="3581400" cy="514350"/>
          </a:xfrm>
          <a:prstGeom prst="roundRect">
            <a:avLst>
              <a:gd name="adj" fmla="val 11111"/>
            </a:avLst>
          </a:prstGeom>
          <a:solidFill>
            <a:srgbClr val="1A4568"/>
          </a:solidFill>
          <a:ln w="7620">
            <a:solidFill>
              <a:srgbClr val="416987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扩展更多硬件平台</a:t>
            </a:r>
            <a:endParaRPr lang="zh-CN" alt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553842" y="3814762"/>
            <a:ext cx="3581400" cy="514350"/>
          </a:xfrm>
          <a:prstGeom prst="roundRect">
            <a:avLst>
              <a:gd name="adj" fmla="val 11111"/>
            </a:avLst>
          </a:prstGeom>
          <a:solidFill>
            <a:srgbClr val="153B5D"/>
          </a:solidFill>
          <a:ln w="7620">
            <a:solidFill>
              <a:srgbClr val="416987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扩展到模型部署的人机协同</a:t>
            </a:r>
            <a:endParaRPr lang="zh-CN" alt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685800" y="6448425"/>
            <a:ext cx="10820400" cy="0"/>
          </a:xfrm>
          <a:prstGeom prst="line">
            <a:avLst/>
          </a:prstGeom>
          <a:noFill/>
          <a:ln w="7620">
            <a:solidFill>
              <a:srgbClr val="416987"/>
            </a:solidFill>
            <a:prstDash val="solid"/>
          </a:ln>
        </p:spPr>
      </p:sp>
      <p:sp>
        <p:nvSpPr>
          <p:cNvPr id="44" name="slide-7-page-number"/>
          <p:cNvSpPr>
            <a:spLocks noGrp="1"/>
          </p:cNvSpPr>
          <p:nvPr/>
        </p:nvSpPr>
        <p:spPr>
          <a:xfrm>
            <a:off x="11352530" y="332740"/>
            <a:ext cx="352425" cy="323850"/>
          </a:xfrm>
          <a:prstGeom prst="roundRect">
            <a:avLst>
              <a:gd name="adj" fmla="val 14706"/>
            </a:avLst>
          </a:prstGeom>
          <a:solidFill>
            <a:srgbClr val="001B55"/>
          </a:solidFill>
          <a:ln w="9525">
            <a:solidFill>
              <a:srgbClr val="001B55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>
                <a:solidFill>
                  <a:srgbClr val="FFFFFF"/>
                </a:solidFill>
                <a:cs typeface="微软雅黑" panose="020B0503020204020204" charset="-122"/>
              </a:rPr>
              <a:t>12</a:t>
            </a:r>
          </a:p>
        </p:txBody>
      </p:sp>
      <p:sp>
        <p:nvSpPr>
          <p:cNvPr id="43" name="contents-title">
            <a:extLst>
              <a:ext uri="{FF2B5EF4-FFF2-40B4-BE49-F238E27FC236}">
                <a16:creationId xmlns:a16="http://schemas.microsoft.com/office/drawing/2014/main" id="{3F88A495-0B12-4C3D-AF51-C251307148D8}"/>
              </a:ext>
            </a:extLst>
          </p:cNvPr>
          <p:cNvSpPr>
            <a:spLocks noGrp="1"/>
          </p:cNvSpPr>
          <p:nvPr/>
        </p:nvSpPr>
        <p:spPr>
          <a:xfrm>
            <a:off x="1356678" y="150718"/>
            <a:ext cx="685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72A6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 dirty="0" err="1">
                <a:solidFill>
                  <a:srgbClr val="072A67"/>
                </a:solidFill>
                <a:latin typeface="微软雅黑"/>
                <a:ea typeface="微软雅黑"/>
                <a:cs typeface="微软雅黑"/>
              </a:rPr>
              <a:t>未来计划</a:t>
            </a:r>
            <a:endParaRPr sz="2850" b="1" dirty="0">
              <a:solidFill>
                <a:srgbClr val="072A6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next_page_navigation_background"/>
          <p:cNvSpPr>
            <a:spLocks noGrp="1"/>
          </p:cNvSpPr>
          <p:nvPr/>
        </p:nvSpPr>
        <p:spPr>
          <a:xfrm>
            <a:off x="1165569" y="5770079"/>
            <a:ext cx="9801225" cy="523875"/>
          </a:xfrm>
          <a:prstGeom prst="roundRect">
            <a:avLst>
              <a:gd name="adj" fmla="val 10909"/>
            </a:avLst>
          </a:prstGeom>
          <a:solidFill>
            <a:srgbClr val="EEF4FE"/>
          </a:solidFill>
          <a:ln w="0">
            <a:solidFill>
              <a:srgbClr val="EEF4FE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7" name="矩形 6"/>
          <p:cNvSpPr/>
          <p:nvPr/>
        </p:nvSpPr>
        <p:spPr>
          <a:xfrm>
            <a:off x="1553842" y="5860494"/>
            <a:ext cx="94371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97132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最终目标 ：</a:t>
            </a:r>
            <a:r>
              <a:rPr lang="zh-CN" altLang="en-US" sz="1600" b="1" dirty="0">
                <a:solidFill>
                  <a:srgbClr val="072A67"/>
                </a:solidFill>
                <a:latin typeface="微软雅黑"/>
                <a:ea typeface="微软雅黑"/>
                <a:cs typeface="微软雅黑"/>
              </a:rPr>
              <a:t>从“</a:t>
            </a:r>
            <a:r>
              <a:rPr lang="en-US" altLang="zh-CN" sz="1600" b="1" dirty="0">
                <a:solidFill>
                  <a:srgbClr val="072A67"/>
                </a:solidFill>
                <a:latin typeface="微软雅黑"/>
                <a:ea typeface="微软雅黑"/>
                <a:cs typeface="微软雅黑"/>
              </a:rPr>
              <a:t>Agent</a:t>
            </a:r>
            <a:r>
              <a:rPr lang="zh-CN" altLang="en-US" sz="1600" b="1" dirty="0">
                <a:solidFill>
                  <a:srgbClr val="072A67"/>
                </a:solidFill>
                <a:latin typeface="微软雅黑"/>
                <a:ea typeface="微软雅黑"/>
                <a:cs typeface="微软雅黑"/>
              </a:rPr>
              <a:t> 辅助写算子”扩展到“人 </a:t>
            </a:r>
            <a:r>
              <a:rPr lang="en-US" altLang="zh-CN" sz="1600" b="1" dirty="0">
                <a:solidFill>
                  <a:srgbClr val="072A67"/>
                </a:solidFill>
                <a:latin typeface="微软雅黑"/>
                <a:ea typeface="微软雅黑"/>
                <a:cs typeface="微软雅黑"/>
              </a:rPr>
              <a:t>+ Agent + </a:t>
            </a:r>
            <a:r>
              <a:rPr lang="zh-CN" altLang="en-US" sz="1600" b="1" dirty="0">
                <a:solidFill>
                  <a:srgbClr val="072A67"/>
                </a:solidFill>
                <a:latin typeface="微软雅黑"/>
                <a:ea typeface="微软雅黑"/>
                <a:cs typeface="微软雅黑"/>
              </a:rPr>
              <a:t>真实硬件”协同完成模型部署与性能优化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065466" y="2403666"/>
            <a:ext cx="3804760" cy="288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275" b="1">
                <a:solidFill>
                  <a:srgbClr val="072A67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b="1" dirty="0">
                <a:solidFill>
                  <a:srgbClr val="072A67"/>
                </a:solidFill>
                <a:latin typeface="微软雅黑"/>
                <a:ea typeface="微软雅黑"/>
                <a:cs typeface="微软雅黑"/>
              </a:rPr>
              <a:t>MLU Triton · BANG C · CUDA C · GPU Triton</a:t>
            </a:r>
            <a:endParaRPr lang="en-US" altLang="zh-CN" sz="1050" dirty="0">
              <a:solidFill>
                <a:srgbClr val="1A24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右箭头 46"/>
          <p:cNvSpPr/>
          <p:nvPr/>
        </p:nvSpPr>
        <p:spPr>
          <a:xfrm>
            <a:off x="5297557" y="2429290"/>
            <a:ext cx="605594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5341937" y="3203093"/>
            <a:ext cx="605594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右箭头 48"/>
          <p:cNvSpPr/>
          <p:nvPr/>
        </p:nvSpPr>
        <p:spPr>
          <a:xfrm>
            <a:off x="5341937" y="4049888"/>
            <a:ext cx="605594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065466" y="3202280"/>
            <a:ext cx="4124847" cy="282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238" b="1">
                <a:solidFill>
                  <a:srgbClr val="095F7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b="1" dirty="0">
                <a:solidFill>
                  <a:srgbClr val="095F7A"/>
                </a:solidFill>
                <a:latin typeface="微软雅黑"/>
                <a:ea typeface="微软雅黑"/>
                <a:cs typeface="微软雅黑"/>
              </a:rPr>
              <a:t>算能平台：</a:t>
            </a:r>
            <a:r>
              <a:rPr lang="en-US" altLang="zh-CN" b="1" dirty="0">
                <a:solidFill>
                  <a:srgbClr val="095F7A"/>
                </a:solidFill>
                <a:latin typeface="微软雅黑"/>
                <a:ea typeface="微软雅黑"/>
                <a:cs typeface="微软雅黑"/>
              </a:rPr>
              <a:t>BM1684X · BM1688 · </a:t>
            </a:r>
            <a:r>
              <a:rPr lang="zh-CN" altLang="en-US" b="1" dirty="0">
                <a:solidFill>
                  <a:srgbClr val="095F7A"/>
                </a:solidFill>
                <a:latin typeface="微软雅黑"/>
                <a:ea typeface="微软雅黑"/>
                <a:cs typeface="微软雅黑"/>
              </a:rPr>
              <a:t>更多 算子开发</a:t>
            </a:r>
            <a:r>
              <a:rPr lang="en-US" altLang="zh-CN" b="1" dirty="0">
                <a:solidFill>
                  <a:srgbClr val="095F7A"/>
                </a:solidFill>
                <a:latin typeface="微软雅黑"/>
                <a:ea typeface="微软雅黑"/>
                <a:cs typeface="微软雅黑"/>
              </a:rPr>
              <a:t>Skill</a:t>
            </a:r>
            <a:endParaRPr lang="zh-CN" altLang="en-US" sz="1050" dirty="0">
              <a:solidFill>
                <a:srgbClr val="1A24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微软雅黑" panose="020B0503020204020204" charset="-122"/>
              </a:rPr>
              <a:t>4.1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Microsoft YaHei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0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  <p:extLst>
      <p:ext uri="{BB962C8B-B14F-4D97-AF65-F5344CB8AC3E}">
        <p14:creationId xmlns:p14="http://schemas.microsoft.com/office/powerpoint/2010/main" val="22997078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2384</Words>
  <Application>Microsoft Office PowerPoint</Application>
  <PresentationFormat>宽屏</PresentationFormat>
  <Paragraphs>747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楷体_GB2312</vt:lpstr>
      <vt:lpstr>Microsoft YaHei</vt:lpstr>
      <vt:lpstr>Microsoft YaHei</vt:lpstr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霍子昂</cp:lastModifiedBy>
  <cp:revision>124</cp:revision>
  <dcterms:created xsi:type="dcterms:W3CDTF">2026-08-17T11:31:00Z</dcterms:created>
  <dcterms:modified xsi:type="dcterms:W3CDTF">2026-08-18T07:34:43Z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EB95D0488D594F14AB70C2DE36E43D4E_12</vt:lpwstr>
  </property>
</Properties>
</file>
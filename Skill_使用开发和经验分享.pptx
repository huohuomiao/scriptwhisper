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73" r:id="rId4"/>
    <p:sldId id="274" r:id="rId5"/>
    <p:sldId id="276" r:id="rId6"/>
    <p:sldId id="284" r:id="rId7"/>
    <p:sldId id="261" r:id="rId8"/>
    <p:sldId id="262" r:id="rId9"/>
    <p:sldId id="280" r:id="rId10"/>
    <p:sldId id="285" r:id="rId11"/>
    <p:sldId id="289" r:id="rId12"/>
    <p:sldId id="279" r:id="rId13"/>
    <p:sldId id="277" r:id="rId14"/>
    <p:sldId id="278" r:id="rId15"/>
    <p:sldId id="268" r:id="rId16"/>
    <p:sldId id="288" r:id="rId17"/>
    <p:sldId id="267" r:id="rId18"/>
    <p:sldId id="286" r:id="rId19"/>
    <p:sldId id="287"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12" autoAdjust="0"/>
  </p:normalViewPr>
  <p:slideViewPr>
    <p:cSldViewPr snapToGrid="0">
      <p:cViewPr varScale="1">
        <p:scale>
          <a:sx n="96" d="100"/>
          <a:sy n="96" d="100"/>
        </p:scale>
        <p:origin x="11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visual style basis)</a:t>
            </a:r>
          </a:p>
          <a:p>
            <a:r>
              <a:t>- User-provided brief (cover wording)</a:t>
            </a:r>
          </a:p>
          <a:p>
            <a:r>
              <a:t>[/Sources]</a:t>
            </a:r>
          </a:p>
          <a:p>
            <a:endParaRPr/>
          </a:p>
          <a:p>
            <a:r>
              <a:t>Cover is fully editable and intentionally minimal.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solidFill>
                  <a:srgbClr val="56627A"/>
                </a:solidFill>
                <a:latin typeface="微软雅黑" panose="020B0503020204020204" charset="-122"/>
                <a:ea typeface="微软雅黑" panose="020B0503020204020204" charset="-122"/>
                <a:cs typeface="微软雅黑" panose="020B0503020204020204" charset="-122"/>
              </a:rPr>
              <a:t>Agent </a:t>
            </a:r>
            <a:r>
              <a:rPr dirty="0" err="1" smtClean="0">
                <a:solidFill>
                  <a:srgbClr val="56627A"/>
                </a:solidFill>
                <a:latin typeface="微软雅黑" panose="020B0503020204020204" charset="-122"/>
                <a:ea typeface="微软雅黑" panose="020B0503020204020204" charset="-122"/>
                <a:cs typeface="微软雅黑" panose="020B0503020204020204" charset="-122"/>
              </a:rPr>
              <a:t>负责理解和组织任务</a:t>
            </a:r>
            <a:r>
              <a:rPr lang="zh-CN" altLang="en-US" dirty="0" smtClean="0">
                <a:solidFill>
                  <a:srgbClr val="56627A"/>
                </a:solidFill>
                <a:latin typeface="微软雅黑" panose="020B0503020204020204" charset="-122"/>
                <a:ea typeface="微软雅黑" panose="020B0503020204020204" charset="-122"/>
                <a:cs typeface="微软雅黑" panose="020B0503020204020204" charset="-122"/>
              </a:rPr>
              <a:t>是</a:t>
            </a:r>
            <a:r>
              <a:rPr lang="zh-CN" altLang="en-US" sz="1200" b="1" dirty="0" smtClean="0">
                <a:solidFill>
                  <a:srgbClr val="072A67"/>
                </a:solidFill>
                <a:latin typeface="微软雅黑" panose="020B0503020204020204" charset="-122"/>
                <a:ea typeface="微软雅黑" panose="020B0503020204020204" charset="-122"/>
                <a:cs typeface="微软雅黑" panose="020B0503020204020204" charset="-122"/>
              </a:rPr>
              <a:t>决策与执行主体</a:t>
            </a:r>
          </a:p>
          <a:p>
            <a:r>
              <a:rPr dirty="0" smtClean="0">
                <a:solidFill>
                  <a:srgbClr val="56627A"/>
                </a:solidFill>
                <a:latin typeface="微软雅黑" panose="020B0503020204020204" charset="-122"/>
                <a:ea typeface="微软雅黑" panose="020B0503020204020204" charset="-122"/>
                <a:cs typeface="微软雅黑" panose="020B0503020204020204" charset="-122"/>
              </a:rPr>
              <a:t>，Skill </a:t>
            </a:r>
            <a:r>
              <a:rPr dirty="0" err="1">
                <a:solidFill>
                  <a:srgbClr val="56627A"/>
                </a:solidFill>
                <a:latin typeface="微软雅黑" panose="020B0503020204020204" charset="-122"/>
                <a:ea typeface="微软雅黑" panose="020B0503020204020204" charset="-122"/>
                <a:cs typeface="微软雅黑" panose="020B0503020204020204" charset="-122"/>
              </a:rPr>
              <a:t>提供特定任务的专业方法</a:t>
            </a:r>
            <a:endParaRPr b="0" dirty="0">
              <a:solidFill>
                <a:srgbClr val="56627A"/>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理解真正目标，并根据当前状态决定下一步动作。</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通过计划 → 执行 → 观察 → 调整循环推进复杂任务。</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调用 </a:t>
            </a: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a:t>
            </a: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Tool </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与 </a:t>
            </a: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Context</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，并整合中间结果。</a:t>
            </a:r>
          </a:p>
          <a:p>
            <a:endParaRPr b="0" dirty="0">
              <a:solidFill>
                <a:srgbClr val="56627A"/>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dirty="0"/>
              <a:t>
</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面向明确任务类型：</a:t>
            </a: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PDF · Presentation · Review · Analysis</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识别任务 → 匹配 </a:t>
            </a: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Skill → </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读取当前所需说明与资源。</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Instructions · References · Scripts · Assets</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；不等同于单个 </a:t>
            </a:r>
            <a:r>
              <a:rPr lang="en-US" altLang="zh-CN" sz="1200" b="0" dirty="0" smtClean="0">
                <a:solidFill>
                  <a:srgbClr val="27364A"/>
                </a:solidFill>
                <a:latin typeface="微软雅黑" panose="020B0503020204020204" charset="-122"/>
                <a:ea typeface="微软雅黑" panose="020B0503020204020204" charset="-122"/>
                <a:cs typeface="微软雅黑" panose="020B0503020204020204" charset="-122"/>
              </a:rPr>
              <a:t>Tool</a:t>
            </a:r>
            <a:r>
              <a:rPr lang="zh-CN" altLang="en-US" sz="1200" b="0" dirty="0" smtClean="0">
                <a:solidFill>
                  <a:srgbClr val="27364A"/>
                </a:solidFill>
                <a:latin typeface="微软雅黑" panose="020B0503020204020204" charset="-122"/>
                <a:ea typeface="微软雅黑" panose="020B0503020204020204" charset="-122"/>
                <a:cs typeface="微软雅黑" panose="020B0503020204020204" charset="-122"/>
              </a:rPr>
              <a:t>。</a:t>
            </a:r>
          </a:p>
          <a:p>
            <a:r>
              <a:rPr dirty="0"/>
              <a:t>
[Sources]
- Anthropic, “Equipping agents for the real world with Agent Skills,” 2025-10-16 (updated 2025-12-18), https://www.anthropic.com/engineering/equipping-agents-for-the-real-world-with-agent-skills
- Anthropic, “Building effective agents,” 2024-12-19, https://www.anthropic.com/engineering/building-effective-agents
- D:\1工作\11skill开发\cudatritonskill\Skill_使用开发和经验分享_13页_轻量优化.pptx, slide 3 (user-provided visual source)
[/Sources]
</a:t>
            </a:r>
            <a:r>
              <a:rPr dirty="0" err="1"/>
              <a:t>讲述顺序：先区分</a:t>
            </a:r>
            <a:r>
              <a:rPr dirty="0"/>
              <a:t> </a:t>
            </a:r>
            <a:r>
              <a:rPr dirty="0" err="1"/>
              <a:t>Agent、Skill</a:t>
            </a:r>
            <a:r>
              <a:rPr dirty="0"/>
              <a:t> 与 </a:t>
            </a:r>
            <a:r>
              <a:rPr dirty="0" err="1"/>
              <a:t>Tool，再沿底部流程强调</a:t>
            </a:r>
            <a:r>
              <a:rPr dirty="0"/>
              <a:t> Skill 由 Agent </a:t>
            </a:r>
            <a:r>
              <a:rPr dirty="0" err="1"/>
              <a:t>在任务执行中按需识别、加载和使用</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2 (user-provided source deck)</a:t>
            </a:r>
          </a:p>
          <a:p>
            <a:r>
              <a:t>[/Sources]</a:t>
            </a:r>
          </a:p>
          <a:p>
            <a:endParaRPr/>
          </a:p>
          <a:p>
            <a:r>
              <a:t>Editable/module reconstruction: title, subtitle, 4 text/callout objects, 0 native tables, 7 independent image modules.</a:t>
            </a:r>
          </a:p>
          <a:p>
            <a:r>
              <a:t>说明一个 Skill 的四类核心组成，并补充阶段协作契约与复杂任务的 Sub-Agent 编排方式。四个蓝色问题句保留为可编辑文本。</a:t>
            </a:r>
          </a:p>
          <a:p>
            <a:r>
              <a:t>
[Modification]
Light style unification: added PART 01 · SKILL 基础; preserved body structure, tables, diagrams, placeholders, and conclusion wording.
[/Modification]</a:t>
            </a:r>
          </a:p>
          <a:p>
            <a:r>
              <a:t>
[Sources]
- Anthropic, “Equipping agents for the real world with Agent Skills,” 2025-10-16 (updated 2025-12-18), https://www.anthropic.com/engineering/equipping-agents-for-the-real-world-with-agent-skills
- Anthropic, “Building effective agents,” 2024-12-19, https://www.anthropic.com/engineering/building-effective-agents
- D:\1工作\11skill开发\cudatritonskill\Skill_使用开发和经验分享_13页_轻量优化.pptx, slide 4 (user-provided visual source)
[/Sources]
讲述顺序：先解释 Metadata、Instructions、References、Scripts/Assets 的分工，再说明契约与可选 Sub-Agent 编排。强调 Input 可以是自然语言、文件或任务参数，不限定为 JSON Schema。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清晰的workflow</a:t>
            </a:r>
            <a:r>
              <a:rPr dirty="0"/>
              <a:t> </a:t>
            </a:r>
            <a:r>
              <a:rPr dirty="0" err="1"/>
              <a:t>稳定agent与子agent之间契约</a:t>
            </a:r>
            <a:r>
              <a:rPr dirty="0"/>
              <a:t> </a:t>
            </a:r>
            <a:r>
              <a:rPr dirty="0" err="1"/>
              <a:t>以及可以替换的平台知识</a:t>
            </a:r>
            <a:endParaRPr dirty="0"/>
          </a:p>
          <a:p>
            <a:r>
              <a:rPr dirty="0" err="1">
                <a:solidFill>
                  <a:srgbClr val="56627A"/>
                </a:solidFill>
                <a:latin typeface="微软雅黑" panose="020B0503020204020204" charset="-122"/>
                <a:ea typeface="微软雅黑" panose="020B0503020204020204" charset="-122"/>
                <a:cs typeface="微软雅黑" panose="020B0503020204020204" charset="-122"/>
                <a:sym typeface="+mn-ea"/>
              </a:rPr>
              <a:t>复杂工程型</a:t>
            </a:r>
            <a:r>
              <a:rPr dirty="0">
                <a:solidFill>
                  <a:srgbClr val="56627A"/>
                </a:solidFill>
                <a:latin typeface="微软雅黑" panose="020B0503020204020204" charset="-122"/>
                <a:ea typeface="微软雅黑" panose="020B0503020204020204" charset="-122"/>
                <a:cs typeface="微软雅黑" panose="020B0503020204020204" charset="-122"/>
                <a:sym typeface="+mn-ea"/>
              </a:rPr>
              <a:t> Skill </a:t>
            </a:r>
            <a:r>
              <a:rPr dirty="0" err="1">
                <a:solidFill>
                  <a:srgbClr val="56627A"/>
                </a:solidFill>
                <a:latin typeface="微软雅黑" panose="020B0503020204020204" charset="-122"/>
                <a:ea typeface="微软雅黑" panose="020B0503020204020204" charset="-122"/>
                <a:cs typeface="微软雅黑" panose="020B0503020204020204" charset="-122"/>
                <a:sym typeface="+mn-ea"/>
              </a:rPr>
              <a:t>中，文件可以成为阶段间传递状态、参数和产物的稳定接口。清晰流程、</a:t>
            </a:r>
            <a:r>
              <a:rPr dirty="0" err="1" smtClean="0">
                <a:solidFill>
                  <a:srgbClr val="56627A"/>
                </a:solidFill>
                <a:latin typeface="微软雅黑" panose="020B0503020204020204" charset="-122"/>
                <a:ea typeface="微软雅黑" panose="020B0503020204020204" charset="-122"/>
                <a:cs typeface="微软雅黑" panose="020B0503020204020204" charset="-122"/>
                <a:sym typeface="+mn-ea"/>
              </a:rPr>
              <a:t>稳定契约与可替换知识</a:t>
            </a:r>
            <a:endParaRPr lang="en-US" dirty="0" smtClean="0">
              <a:solidFill>
                <a:srgbClr val="56627A"/>
              </a:solidFill>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FFFFFF"/>
                </a:solidFill>
                <a:latin typeface="微软雅黑" panose="020B0503020204020204" charset="-122"/>
                <a:ea typeface="微软雅黑" panose="020B0503020204020204" charset="-122"/>
                <a:cs typeface="微软雅黑" panose="020B0503020204020204" charset="-122"/>
              </a:rPr>
              <a:t>多阶段 </a:t>
            </a:r>
            <a:r>
              <a:rPr lang="en-US" altLang="zh-CN" sz="1200" b="1" dirty="0" smtClean="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200" b="1" dirty="0" smtClean="0">
                <a:solidFill>
                  <a:srgbClr val="FFFFFF"/>
                </a:solidFill>
                <a:latin typeface="微软雅黑" panose="020B0503020204020204" charset="-122"/>
                <a:ea typeface="微软雅黑" panose="020B0503020204020204" charset="-122"/>
                <a:cs typeface="微软雅黑" panose="020B0503020204020204" charset="-122"/>
              </a:rPr>
              <a:t>强契约 </a:t>
            </a:r>
            <a:r>
              <a:rPr lang="en-US" altLang="zh-CN" sz="1200" b="1" dirty="0" smtClean="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200" b="1" dirty="0" smtClean="0">
                <a:solidFill>
                  <a:srgbClr val="FFFFFF"/>
                </a:solidFill>
                <a:latin typeface="微软雅黑" panose="020B0503020204020204" charset="-122"/>
                <a:ea typeface="微软雅黑" panose="020B0503020204020204" charset="-122"/>
                <a:cs typeface="微软雅黑" panose="020B0503020204020204" charset="-122"/>
              </a:rPr>
              <a:t>强平台依赖</a:t>
            </a:r>
          </a:p>
          <a:p>
            <a:endParaRPr b="0" dirty="0">
              <a:solidFill>
                <a:srgbClr val="56627A"/>
              </a:solidFill>
              <a:latin typeface="微软雅黑" panose="020B0503020204020204" charset="-122"/>
              <a:ea typeface="微软雅黑" panose="020B0503020204020204" charset="-122"/>
              <a:cs typeface="微软雅黑" panose="020B0503020204020204" charset="-122"/>
            </a:endParaRPr>
          </a:p>
          <a:p>
            <a:endParaRPr b="0" dirty="0">
              <a:solidFill>
                <a:srgbClr val="56627A"/>
              </a:solidFill>
              <a:latin typeface="微软雅黑" panose="020B0503020204020204" charset="-122"/>
              <a:ea typeface="微软雅黑" panose="020B0503020204020204" charset="-122"/>
              <a:cs typeface="微软雅黑" panose="020B0503020204020204" charset="-122"/>
            </a:endParaRPr>
          </a:p>
          <a:p>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4 (user-provided source deck)</a:t>
            </a:r>
          </a:p>
          <a:p>
            <a:r>
              <a:t>[/Sources]</a:t>
            </a:r>
          </a:p>
          <a:p>
            <a:endParaRPr/>
          </a:p>
          <a:p>
            <a:r>
              <a:t>Editable/module reconstruction: title, subtitle, 0 text/callout objects, 0 native tables, 5 independent image modules.</a:t>
            </a:r>
          </a:p>
          <a:p>
            <a:r>
              <a:t>展示原 MLU Triton 算子开发 Skill 的五块架构：总体调用链，以及 Main、Code-Gen、Code-Review、Optimize 四个模块。</a:t>
            </a:r>
          </a:p>
          <a:p>
            <a:r>
              <a:t>
[Modification]
Light style unification: added PART 02 · 原算子 SKILL 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solidFill>
                  <a:srgbClr val="56627A"/>
                </a:solidFill>
                <a:latin typeface="微软雅黑" panose="020B0503020204020204" charset="-122"/>
                <a:ea typeface="微软雅黑" panose="020B0503020204020204" charset="-122"/>
                <a:cs typeface="微软雅黑" panose="020B0503020204020204" charset="-122"/>
                <a:sym typeface="+mn-ea"/>
              </a:rPr>
              <a:t>通过阶段输入输出、正确性门禁与性能优化循环，将需求逐步转化为最终可用 Kernel</a:t>
            </a:r>
            <a:endParaRPr b="0">
              <a:solidFill>
                <a:srgbClr val="56627A"/>
              </a:solidFill>
              <a:latin typeface="微软雅黑" panose="020B0503020204020204" charset="-122"/>
              <a:ea typeface="微软雅黑" panose="020B0503020204020204" charset="-122"/>
              <a:cs typeface="微软雅黑" panose="020B0503020204020204" charset="-122"/>
            </a:endParaRPr>
          </a:p>
          <a:p>
            <a:endParaRPr b="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多阶段流水线能够支撑实际算子从需求到最终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Kernel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真实执行结果驱动修复，而不是只依赖静态判断。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在保证正确性的基础上持续迭代性能。</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硬件约束、</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Primitive</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、平台规则和优化经验散落在多个</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 Sub-Agent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中。</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环境、生成约束、测试工具和优化策略都需要重新检查与适配。</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通用优化思想可以复用，但具体参数和性能结论必须在</a:t>
            </a:r>
          </a:p>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目标平台重新验证。</a:t>
            </a:r>
          </a:p>
          <a:p>
            <a:r>
              <a:rPr dirty="0"/>
              <a:t>
[Modification]
Light style unification: added PART 02 · </a:t>
            </a:r>
            <a:r>
              <a:rPr dirty="0" err="1"/>
              <a:t>原算子</a:t>
            </a:r>
            <a:r>
              <a:rPr dirty="0"/>
              <a:t> SKILL </a:t>
            </a:r>
            <a:r>
              <a:rPr dirty="0" err="1"/>
              <a:t>实践</a:t>
            </a:r>
            <a:r>
              <a:rPr dirty="0"/>
              <a:t>;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7 (user-provided source deck)</a:t>
            </a:r>
          </a:p>
          <a:p>
            <a:r>
              <a:t>[/Sources]</a:t>
            </a:r>
          </a:p>
          <a:p>
            <a:endParaRPr/>
          </a:p>
          <a:p>
            <a:r>
              <a:t>Editable/module reconstruction: title, subtitle, 8 text/callout objects, 0 native tables, 6 independent image modules.</a:t>
            </a:r>
          </a:p>
          <a:p>
            <a:r>
              <a:t>混合重建。标题、副标题、页码、右侧三段问题标题与结论条、左侧综合结论、反馈规则重点结论和底部总论均可编辑；左侧闭环、三段高密度明细及反馈规则主体按语义分区裁切为独立图片模块。</a:t>
            </a:r>
          </a:p>
          <a:p>
            <a:r>
              <a:t>
[Modification]
Light style unification: added PART 03 · 开发指南与多平台实践;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1951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7 (user-provided source deck)</a:t>
            </a:r>
          </a:p>
          <a:p>
            <a:r>
              <a:t>[/Sources]</a:t>
            </a:r>
          </a:p>
          <a:p>
            <a:endParaRPr/>
          </a:p>
          <a:p>
            <a:r>
              <a:t>Editable/module reconstruction: title, subtitle, 8 text/callout objects, 0 native tables, 6 independent image modules.</a:t>
            </a:r>
          </a:p>
          <a:p>
            <a:r>
              <a:t>混合重建。标题、副标题、页码、右侧三段问题标题与结论条、左侧综合结论、反馈规则重点结论和底部总论均可编辑；左侧闭环、三段高密度明细及反馈规则主体按语义分区裁切为独立图片模块。</a:t>
            </a:r>
          </a:p>
          <a:p>
            <a:r>
              <a:t>
[Modification]
Light style unification: added PART 03 · 开发指南与多平台实践;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lnSpc>
                <a:spcPct val="102000"/>
              </a:lnSpc>
              <a:buNone/>
              <a:defRPr sz="825" b="0">
                <a:solidFill>
                  <a:srgbClr val="27364A"/>
                </a:solidFill>
                <a:latin typeface="微软雅黑" panose="020B0503020204020204" charset="-122"/>
                <a:ea typeface="微软雅黑" panose="020B0503020204020204" charset="-122"/>
                <a:cs typeface="微软雅黑" panose="020B0503020204020204" charset="-122"/>
              </a:defRPr>
            </a:pPr>
            <a:r>
              <a:rPr sz="1200">
                <a:solidFill>
                  <a:srgbClr val="27364A"/>
                </a:solidFill>
                <a:latin typeface="微软雅黑" panose="020B0503020204020204" charset="-122"/>
                <a:ea typeface="微软雅黑" panose="020B0503020204020204" charset="-122"/>
                <a:cs typeface="微软雅黑" panose="020B0503020204020204" charset="-122"/>
                <a:sym typeface="+mn-ea"/>
              </a:rPr>
              <a:t>第 8 步不是流程终点</a:t>
            </a:r>
            <a:endParaRPr sz="1200" b="0">
              <a:solidFill>
                <a:srgbClr val="27364A"/>
              </a:solidFill>
              <a:latin typeface="微软雅黑" panose="020B0503020204020204" charset="-122"/>
              <a:ea typeface="微软雅黑" panose="020B0503020204020204" charset="-122"/>
              <a:cs typeface="微软雅黑" panose="020B0503020204020204" charset="-122"/>
            </a:endParaRPr>
          </a:p>
          <a:p>
            <a:pPr algn="ctr">
              <a:lnSpc>
                <a:spcPct val="102000"/>
              </a:lnSpc>
              <a:buNone/>
              <a:defRPr sz="825" b="0">
                <a:solidFill>
                  <a:srgbClr val="27364A"/>
                </a:solidFill>
                <a:latin typeface="微软雅黑" panose="020B0503020204020204" charset="-122"/>
                <a:ea typeface="微软雅黑" panose="020B0503020204020204" charset="-122"/>
                <a:cs typeface="微软雅黑" panose="020B0503020204020204" charset="-122"/>
              </a:defRPr>
            </a:pPr>
            <a:r>
              <a:rPr sz="1200">
                <a:solidFill>
                  <a:srgbClr val="27364A"/>
                </a:solidFill>
                <a:latin typeface="微软雅黑" panose="020B0503020204020204" charset="-122"/>
                <a:ea typeface="微软雅黑" panose="020B0503020204020204" charset="-122"/>
                <a:cs typeface="微软雅黑" panose="020B0503020204020204" charset="-122"/>
                <a:sym typeface="+mn-ea"/>
              </a:rPr>
              <a:t>按问题回到知识采集、平台验证</a:t>
            </a:r>
            <a:endParaRPr sz="1200" b="0">
              <a:solidFill>
                <a:srgbClr val="27364A"/>
              </a:solidFill>
              <a:latin typeface="微软雅黑" panose="020B0503020204020204" charset="-122"/>
              <a:ea typeface="微软雅黑" panose="020B0503020204020204" charset="-122"/>
              <a:cs typeface="微软雅黑" panose="020B0503020204020204" charset="-122"/>
            </a:endParaRPr>
          </a:p>
          <a:p>
            <a:pPr algn="ctr">
              <a:lnSpc>
                <a:spcPct val="102000"/>
              </a:lnSpc>
              <a:buNone/>
              <a:defRPr sz="825" b="0">
                <a:solidFill>
                  <a:srgbClr val="27364A"/>
                </a:solidFill>
                <a:latin typeface="微软雅黑" panose="020B0503020204020204" charset="-122"/>
                <a:ea typeface="微软雅黑" panose="020B0503020204020204" charset="-122"/>
                <a:cs typeface="微软雅黑" panose="020B0503020204020204" charset="-122"/>
              </a:defRPr>
            </a:pPr>
            <a:r>
              <a:rPr sz="1200">
                <a:solidFill>
                  <a:srgbClr val="27364A"/>
                </a:solidFill>
                <a:latin typeface="微软雅黑" panose="020B0503020204020204" charset="-122"/>
                <a:ea typeface="微软雅黑" panose="020B0503020204020204" charset="-122"/>
                <a:cs typeface="微软雅黑" panose="020B0503020204020204" charset="-122"/>
                <a:sym typeface="+mn-ea"/>
              </a:rPr>
              <a:t>或 Workflow 适配阶段</a:t>
            </a:r>
            <a:endParaRPr sz="1200" b="0">
              <a:solidFill>
                <a:srgbClr val="27364A"/>
              </a:solidFill>
              <a:latin typeface="微软雅黑" panose="020B0503020204020204" charset="-122"/>
              <a:ea typeface="微软雅黑" panose="020B0503020204020204" charset="-122"/>
              <a:cs typeface="微软雅黑" panose="020B0503020204020204" charset="-122"/>
            </a:endParaRPr>
          </a:p>
          <a:p>
            <a:endParaRPr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9 (user-provided source deck)</a:t>
            </a:r>
          </a:p>
          <a:p>
            <a:r>
              <a:t>[/Sources]</a:t>
            </a:r>
          </a:p>
          <a:p>
            <a:endParaRPr/>
          </a:p>
          <a:p>
            <a:r>
              <a:t>Editable/module reconstruction: title, subtitle, 7 text/callout objects, 0 native tables, 5 independent image modules.</a:t>
            </a:r>
          </a:p>
          <a:p>
            <a:r>
              <a:t>混合重建：四个平台的高密度进展面板与成熟度路径保留为五个可独立替换的裁剪图片模块；页标题、副标题、三条编号判断和页底结论均为原生可编辑文本。</a:t>
            </a:r>
          </a:p>
          <a:p>
            <a:r>
              <a:t>
[Modification]
Light style unification: added PART 03 · 开发指南与多平台实践;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11 (user-provided source deck)</a:t>
            </a:r>
          </a:p>
          <a:p>
            <a:r>
              <a:t>[/Sources]</a:t>
            </a:r>
          </a:p>
          <a:p>
            <a:endParaRPr/>
          </a:p>
          <a:p>
            <a:r>
              <a:t>Editable/module reconstruction: title, subtitle, 1 text/callout objects, 1 native tables, 0 independent image modules.</a:t>
            </a:r>
          </a:p>
          <a:p>
            <a:r>
              <a:t>全原生可编辑结果页：平台、输入形状、精度以及 Kernel/PyTorch 时间全部置于 PowerPoint 表格单元格中；测量口径与两行结论也为可编辑文本，未使用整表栅格图。</a:t>
            </a:r>
          </a:p>
          <a:p>
            <a:r>
              <a:t>
[Modification]
Light style unification: added PART 03 · 开发指南与多平台实践; added requested evaluation metadata;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11 (user-provided source deck)</a:t>
            </a:r>
          </a:p>
          <a:p>
            <a:r>
              <a:t>[/Sources]</a:t>
            </a:r>
          </a:p>
          <a:p>
            <a:endParaRPr/>
          </a:p>
          <a:p>
            <a:r>
              <a:t>Editable/module reconstruction: title, subtitle, 1 text/callout objects, 1 native tables, 0 independent image modules.</a:t>
            </a:r>
          </a:p>
          <a:p>
            <a:r>
              <a:t>全原生可编辑结果页：平台、输入形状、精度以及 Kernel/PyTorch 时间全部置于 PowerPoint 表格单元格中；测量口径与两行结论也为可编辑文本，未使用整表栅格图。</a:t>
            </a:r>
          </a:p>
          <a:p>
            <a:r>
              <a:t>
[Modification]
Light style unification: added PART 03 · 开发指南与多平台实践; added requested evaluation metadata;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08844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D:\1工作\11skill开发\cudatritonskill\Agent_Skill_Operator_Development_11pages.pptx, slide 10 (user-provided source deck)</a:t>
            </a:r>
          </a:p>
          <a:p>
            <a:r>
              <a:t>[/Sources]</a:t>
            </a:r>
          </a:p>
          <a:p>
            <a:endParaRPr/>
          </a:p>
          <a:p>
            <a:r>
              <a:t>Editable/module reconstruction: title, subtitle, 18 text/callout objects, 2 native tables, 3 independent image modules.</a:t>
            </a:r>
          </a:p>
          <a:p>
            <a:r>
              <a:t>原生可编辑数据页：主表拆成四列开发耗时表和一列平均耗时强调表，所有待补单元格均可直接填写；两个问题卡、数据占位回答和底部页间提示均为可编辑文本，仅三个装饰图标保留为独立小图片模块。</a:t>
            </a:r>
          </a:p>
          <a:p>
            <a:r>
              <a:t>
[Modification]
Light style unification: added PART 03 · 开发指南与多平台实践; added requested evaluation metadata; preserved body structure, tables, diagrams, placeholders, and conclusion wording.
[/Modification]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C:\Users\huo\Downloads\a386ce03-4b21-4b93-bc52-69891015feef.pptx (user-provided deck, body slide scope)</a:t>
            </a:r>
          </a:p>
          <a:p>
            <a:r>
              <a:t>- User-provided brief (four-part contents wording)</a:t>
            </a:r>
          </a:p>
          <a:p>
            <a:r>
              <a:t>[/Sources]</a:t>
            </a:r>
          </a:p>
          <a:p>
            <a:endParaRPr/>
          </a:p>
          <a:p>
            <a:r>
              <a:t>PART 04 is intentionally directory-only; no P12 body slide is present.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Local Skill family architecture and user-provided future-state framing.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t>2026/8/18</a:t>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7.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a:solidFill>
                  <a:srgbClr val="072A67"/>
                </a:solidFill>
                <a:latin typeface="微软雅黑" panose="020B0503020204020204" charset="-122"/>
                <a:ea typeface="微软雅黑" panose="020B0503020204020204" charset="-122"/>
                <a:cs typeface="微软雅黑" panose="020B0503020204020204" charset="-122"/>
              </a:rPr>
              <a:t>2026</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08</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19</a:t>
            </a: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p:spPr>
        <p:txBody>
          <a:bodyPr wrap="square" lIns="0" tIns="0" rIns="0" bIns="0" anchor="ctr">
            <a:normAutofit/>
          </a:bodyPr>
          <a:lstStyle/>
          <a:p>
            <a:pPr algn="l">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p:spPr>
        <p:txBody>
          <a:bodyPr wrap="square" lIns="0" tIns="0" rIns="0" bIns="0" anchor="ctr">
            <a:normAutofit/>
          </a:bodyPr>
          <a:lstStyle/>
          <a:p>
            <a:pPr algn="l">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b="0">
                <a:solidFill>
                  <a:srgbClr val="56627A"/>
                </a:solidFill>
                <a:latin typeface="微软雅黑" panose="020B0503020204020204" charset="-122"/>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C8D9F3"/>
          </a:solidFill>
          <a:ln w="0">
            <a:noFill/>
            <a:prstDash val="solid"/>
          </a:ln>
        </p:spPr>
      </p:sp>
      <p:sp>
        <p:nvSpPr>
          <p:cNvPr id="5" name="contents-card-1"/>
          <p:cNvSpPr>
            <a:spLocks noGrp="1"/>
          </p:cNvSpPr>
          <p:nvPr/>
        </p:nvSpPr>
        <p:spPr>
          <a:xfrm>
            <a:off x="609600" y="1295400"/>
            <a:ext cx="10972800" cy="981075"/>
          </a:xfrm>
          <a:prstGeom prst="roundRect">
            <a:avLst>
              <a:gd name="adj" fmla="val 7767"/>
            </a:avLst>
          </a:prstGeom>
          <a:solidFill>
            <a:srgbClr val="FFFFFF"/>
          </a:solidFill>
          <a:ln w="9525">
            <a:solidFill>
              <a:srgbClr val="C8D9F3"/>
            </a:solidFill>
            <a:prstDash val="solid"/>
          </a:ln>
        </p:spPr>
      </p:sp>
      <p:sp>
        <p:nvSpPr>
          <p:cNvPr id="6" name="contents-card-1-accent"/>
          <p:cNvSpPr>
            <a:spLocks noGrp="1"/>
          </p:cNvSpPr>
          <p:nvPr/>
        </p:nvSpPr>
        <p:spPr>
          <a:xfrm>
            <a:off x="609600" y="1295400"/>
            <a:ext cx="66675" cy="981075"/>
          </a:xfrm>
          <a:prstGeom prst="rect">
            <a:avLst/>
          </a:prstGeom>
          <a:solidFill>
            <a:srgbClr val="0E56C9"/>
          </a:solidFill>
          <a:ln w="0">
            <a:noFill/>
            <a:prstDash val="solid"/>
          </a:ln>
        </p:spPr>
      </p:sp>
      <p:sp>
        <p:nvSpPr>
          <p:cNvPr id="7" name="contents-card-1-part"/>
          <p:cNvSpPr>
            <a:spLocks noGrp="1"/>
          </p:cNvSpPr>
          <p:nvPr/>
        </p:nvSpPr>
        <p:spPr>
          <a:xfrm>
            <a:off x="839470" y="1628775"/>
            <a:ext cx="1104900" cy="266700"/>
          </a:xfrm>
          <a:prstGeom prst="rect">
            <a:avLst/>
          </a:prstGeom>
          <a:noFill/>
          <a:ln w="0">
            <a:noFill/>
            <a:prstDash val="solid"/>
          </a:ln>
        </p:spPr>
        <p:txBody>
          <a:bodyPr wrap="square" lIns="0" tIns="0" rIns="0" bIns="0" anchor="ctr">
            <a:normAutofit/>
          </a:bodyPr>
          <a:lstStyle/>
          <a:p>
            <a:pPr algn="l">
              <a:defRPr sz="1125" b="1">
                <a:solidFill>
                  <a:srgbClr val="0E56C9"/>
                </a:solidFill>
                <a:latin typeface="微软雅黑" panose="020B0503020204020204" charset="-122"/>
                <a:ea typeface="微软雅黑" panose="020B0503020204020204" charset="-122"/>
                <a:cs typeface="微软雅黑" panose="020B0503020204020204" charset="-122"/>
              </a:defRPr>
            </a:pPr>
            <a:r>
              <a:rPr sz="1125" b="1">
                <a:solidFill>
                  <a:srgbClr val="0E56C9"/>
                </a:solidFill>
                <a:latin typeface="微软雅黑" panose="020B0503020204020204" charset="-122"/>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C8D9F3"/>
          </a:solidFill>
          <a:ln w="0">
            <a:noFill/>
            <a:prstDash val="solid"/>
          </a:ln>
        </p:spPr>
      </p:sp>
      <p:sp>
        <p:nvSpPr>
          <p:cNvPr id="10" name="contents-card-1-title"/>
          <p:cNvSpPr>
            <a:spLocks noGrp="1"/>
          </p:cNvSpPr>
          <p:nvPr/>
        </p:nvSpPr>
        <p:spPr>
          <a:xfrm>
            <a:off x="2286000" y="139065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500" b="1">
                <a:solidFill>
                  <a:srgbClr val="072A67"/>
                </a:solidFill>
                <a:latin typeface="微软雅黑" panose="020B0503020204020204" charset="-122"/>
                <a:ea typeface="微软雅黑" panose="020B0503020204020204" charset="-122"/>
                <a:cs typeface="微软雅黑" panose="020B0503020204020204" charset="-122"/>
              </a:rPr>
              <a:t>Agent/</a:t>
            </a:r>
            <a:r>
              <a:rPr sz="1500" b="1">
                <a:solidFill>
                  <a:srgbClr val="072A67"/>
                </a:solidFill>
                <a:latin typeface="微软雅黑" panose="020B0503020204020204" charset="-122"/>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oundRect">
            <a:avLst>
              <a:gd name="adj" fmla="val 7767"/>
            </a:avLst>
          </a:prstGeom>
          <a:solidFill>
            <a:srgbClr val="FFFFFF"/>
          </a:solidFill>
          <a:ln w="9525">
            <a:solidFill>
              <a:srgbClr val="C8D9F3"/>
            </a:solidFill>
            <a:prstDash val="solid"/>
          </a:ln>
        </p:spPr>
      </p:sp>
      <p:sp>
        <p:nvSpPr>
          <p:cNvPr id="14" name="contents-card-2-accent"/>
          <p:cNvSpPr>
            <a:spLocks noGrp="1"/>
          </p:cNvSpPr>
          <p:nvPr/>
        </p:nvSpPr>
        <p:spPr>
          <a:xfrm>
            <a:off x="609600" y="2428875"/>
            <a:ext cx="66675" cy="981075"/>
          </a:xfrm>
          <a:prstGeom prst="rect">
            <a:avLst/>
          </a:prstGeom>
          <a:solidFill>
            <a:schemeClr val="bg1">
              <a:lumMod val="50000"/>
            </a:schemeClr>
          </a:solidFill>
          <a:ln w="0">
            <a:noFill/>
            <a:prstDash val="solid"/>
          </a:ln>
        </p:spPr>
      </p:sp>
      <p:sp>
        <p:nvSpPr>
          <p:cNvPr id="15" name="contents-card-2-part"/>
          <p:cNvSpPr>
            <a:spLocks noGrp="1"/>
          </p:cNvSpPr>
          <p:nvPr/>
        </p:nvSpPr>
        <p:spPr>
          <a:xfrm>
            <a:off x="838200" y="2562225"/>
            <a:ext cx="1104900" cy="2667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02</a:t>
            </a:r>
            <a:endParaRPr sz="1125"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C8D9F3"/>
          </a:solidFill>
          <a:ln w="0">
            <a:noFill/>
            <a:prstDash val="solid"/>
          </a:ln>
        </p:spPr>
      </p:sp>
      <p:sp>
        <p:nvSpPr>
          <p:cNvPr id="18" name="contents-card-2-title"/>
          <p:cNvSpPr>
            <a:spLocks noGrp="1"/>
          </p:cNvSpPr>
          <p:nvPr/>
        </p:nvSpPr>
        <p:spPr>
          <a:xfrm>
            <a:off x="2286000" y="252412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500" b="1">
                <a:solidFill>
                  <a:srgbClr val="072A67"/>
                </a:solidFill>
                <a:latin typeface="微软雅黑" panose="020B0503020204020204" charset="-122"/>
                <a:ea typeface="微软雅黑" panose="020B0503020204020204" charset="-122"/>
                <a:cs typeface="微软雅黑" panose="020B0503020204020204" charset="-122"/>
              </a:rPr>
              <a:t>寒武纪</a:t>
            </a:r>
            <a:r>
              <a:rPr sz="1500" b="1">
                <a:solidFill>
                  <a:srgbClr val="072A67"/>
                </a:solidFill>
                <a:latin typeface="微软雅黑" panose="020B0503020204020204" charset="-122"/>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oundRect">
            <a:avLst>
              <a:gd name="adj" fmla="val 7767"/>
            </a:avLst>
          </a:prstGeom>
          <a:solidFill>
            <a:srgbClr val="FFFFFF"/>
          </a:solidFill>
          <a:ln w="9525">
            <a:solidFill>
              <a:srgbClr val="C8D9F3"/>
            </a:solidFill>
            <a:prstDash val="solid"/>
          </a:ln>
        </p:spPr>
      </p:sp>
      <p:sp>
        <p:nvSpPr>
          <p:cNvPr id="22" name="contents-card-3-accent"/>
          <p:cNvSpPr>
            <a:spLocks noGrp="1"/>
          </p:cNvSpPr>
          <p:nvPr/>
        </p:nvSpPr>
        <p:spPr>
          <a:xfrm>
            <a:off x="609600" y="3562350"/>
            <a:ext cx="66675" cy="981075"/>
          </a:xfrm>
          <a:prstGeom prst="rect">
            <a:avLst/>
          </a:prstGeom>
          <a:solidFill>
            <a:schemeClr val="bg1">
              <a:lumMod val="50000"/>
            </a:schemeClr>
          </a:solidFill>
          <a:ln w="0">
            <a:noFill/>
            <a:prstDash val="solid"/>
          </a:ln>
        </p:spPr>
      </p:sp>
      <p:sp>
        <p:nvSpPr>
          <p:cNvPr id="23" name="contents-card-3-part"/>
          <p:cNvSpPr>
            <a:spLocks noGrp="1"/>
          </p:cNvSpPr>
          <p:nvPr/>
        </p:nvSpPr>
        <p:spPr>
          <a:xfrm>
            <a:off x="838200" y="3695700"/>
            <a:ext cx="1104900" cy="266700"/>
          </a:xfrm>
          <a:prstGeom prst="rect">
            <a:avLst/>
          </a:prstGeom>
          <a:noFill/>
          <a:ln w="0">
            <a:noFill/>
            <a:prstDash val="solid"/>
          </a:ln>
        </p:spPr>
        <p:txBody>
          <a:bodyPr wrap="square" lIns="0" tIns="0" rIns="0" bIns="0" anchor="ctr">
            <a:normAutofit/>
          </a:bodyPr>
          <a:lstStyle/>
          <a:p>
            <a:pPr algn="l">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C8D9F3"/>
          </a:solidFill>
          <a:ln w="0">
            <a:noFill/>
            <a:prstDash val="solid"/>
          </a:ln>
        </p:spPr>
      </p:sp>
      <p:sp>
        <p:nvSpPr>
          <p:cNvPr id="26" name="contents-card-3-title"/>
          <p:cNvSpPr>
            <a:spLocks noGrp="1"/>
          </p:cNvSpPr>
          <p:nvPr/>
        </p:nvSpPr>
        <p:spPr>
          <a:xfrm>
            <a:off x="2286000" y="365760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oundRect">
            <a:avLst>
              <a:gd name="adj" fmla="val 7767"/>
            </a:avLst>
          </a:prstGeom>
          <a:solidFill>
            <a:srgbClr val="FFFFFF"/>
          </a:solidFill>
          <a:ln w="9525">
            <a:solidFill>
              <a:srgbClr val="C8D9F3"/>
            </a:solidFill>
            <a:prstDash val="solid"/>
          </a:ln>
        </p:spPr>
      </p:sp>
      <p:sp>
        <p:nvSpPr>
          <p:cNvPr id="30" name="contents-card-4-accent"/>
          <p:cNvSpPr>
            <a:spLocks noGrp="1"/>
          </p:cNvSpPr>
          <p:nvPr/>
        </p:nvSpPr>
        <p:spPr>
          <a:xfrm>
            <a:off x="609600" y="4695825"/>
            <a:ext cx="66675" cy="981075"/>
          </a:xfrm>
          <a:prstGeom prst="rect">
            <a:avLst/>
          </a:prstGeom>
          <a:solidFill>
            <a:srgbClr val="7B8799"/>
          </a:solidFill>
          <a:ln w="0">
            <a:noFill/>
            <a:prstDash val="solid"/>
          </a:ln>
        </p:spPr>
      </p:sp>
      <p:sp>
        <p:nvSpPr>
          <p:cNvPr id="31" name="contents-card-4-part"/>
          <p:cNvSpPr>
            <a:spLocks noGrp="1"/>
          </p:cNvSpPr>
          <p:nvPr/>
        </p:nvSpPr>
        <p:spPr>
          <a:xfrm>
            <a:off x="838200" y="4829175"/>
            <a:ext cx="1104900" cy="266700"/>
          </a:xfrm>
          <a:prstGeom prst="rect">
            <a:avLst/>
          </a:prstGeom>
          <a:noFill/>
          <a:ln w="0">
            <a:noFill/>
            <a:prstDash val="solid"/>
          </a:ln>
        </p:spPr>
        <p:txBody>
          <a:bodyPr wrap="square" lIns="0" tIns="0" rIns="0" bIns="0" anchor="ctr">
            <a:normAutofit/>
          </a:bodyPr>
          <a:lstStyle/>
          <a:p>
            <a:pPr algn="l">
              <a:defRPr sz="1125" b="1">
                <a:solidFill>
                  <a:srgbClr val="7B8799"/>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C8D9F3"/>
          </a:solidFill>
          <a:ln w="0">
            <a:noFill/>
            <a:prstDash val="solid"/>
          </a:ln>
        </p:spPr>
      </p:sp>
      <p:sp>
        <p:nvSpPr>
          <p:cNvPr id="34" name="contents-card-4-title"/>
          <p:cNvSpPr>
            <a:spLocks noGrp="1"/>
          </p:cNvSpPr>
          <p:nvPr/>
        </p:nvSpPr>
        <p:spPr>
          <a:xfrm>
            <a:off x="2286000" y="479107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3-flow-surface"/>
          <p:cNvSpPr>
            <a:spLocks noGrp="1"/>
          </p:cNvSpPr>
          <p:nvPr/>
        </p:nvSpPr>
        <p:spPr>
          <a:xfrm>
            <a:off x="400050" y="4766061"/>
            <a:ext cx="11430000" cy="1257300"/>
          </a:xfrm>
          <a:prstGeom prst="roundRect">
            <a:avLst>
              <a:gd name="adj" fmla="val 6818"/>
            </a:avLst>
          </a:prstGeom>
          <a:solidFill>
            <a:srgbClr val="FFFFFF"/>
          </a:solidFill>
          <a:ln w="9525">
            <a:solidFill>
              <a:srgbClr val="CAD7EB"/>
            </a:solidFill>
            <a:prstDash val="solid"/>
          </a:ln>
        </p:spPr>
      </p:sp>
      <p:sp>
        <p:nvSpPr>
          <p:cNvPr id="4" name="slide-1-title"/>
          <p:cNvSpPr>
            <a:spLocks noGrp="1"/>
          </p:cNvSpPr>
          <p:nvPr/>
        </p:nvSpPr>
        <p:spPr>
          <a:xfrm>
            <a:off x="1200150" y="180975"/>
            <a:ext cx="9715500" cy="514350"/>
          </a:xfrm>
          <a:prstGeom prst="rect">
            <a:avLst/>
          </a:prstGeom>
          <a:noFill/>
          <a:ln w="0">
            <a:noFill/>
            <a:prstDash val="solid"/>
          </a:ln>
        </p:spPr>
        <p:txBody>
          <a:bodyPr wrap="square" lIns="0" tIns="0" rIns="0" bIns="0" anchor="ctr">
            <a:normAutofit/>
          </a:bodyPr>
          <a:lstStyle/>
          <a:p>
            <a:pPr algn="l">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sz="3000" b="1" dirty="0">
                <a:solidFill>
                  <a:srgbClr val="072A67"/>
                </a:solidFill>
                <a:latin typeface="微软雅黑" panose="020B0503020204020204" charset="-122"/>
                <a:ea typeface="微软雅黑" panose="020B0503020204020204" charset="-122"/>
                <a:cs typeface="微软雅黑" panose="020B0503020204020204" charset="-122"/>
              </a:rPr>
              <a:t>Agent 与 </a:t>
            </a:r>
            <a:r>
              <a:rPr sz="3000" b="1" dirty="0" smtClean="0">
                <a:solidFill>
                  <a:srgbClr val="072A67"/>
                </a:solidFill>
                <a:latin typeface="微软雅黑" panose="020B0503020204020204" charset="-122"/>
                <a:ea typeface="微软雅黑" panose="020B0503020204020204" charset="-122"/>
                <a:cs typeface="微软雅黑" panose="020B0503020204020204" charset="-122"/>
              </a:rPr>
              <a:t>Skill</a:t>
            </a:r>
            <a:endParaRPr sz="30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8" name="slide-1-editable-footer"/>
          <p:cNvSpPr>
            <a:spLocks noGrp="1"/>
          </p:cNvSpPr>
          <p:nvPr/>
        </p:nvSpPr>
        <p:spPr>
          <a:xfrm>
            <a:off x="0" y="6143625"/>
            <a:ext cx="12192000" cy="647700"/>
          </a:xfrm>
          <a:prstGeom prst="roundRect">
            <a:avLst>
              <a:gd name="adj" fmla="val 10294"/>
            </a:avLst>
          </a:prstGeom>
          <a:solidFill>
            <a:srgbClr val="EEF4FE"/>
          </a:solidFill>
          <a:ln w="0">
            <a:noFill/>
            <a:prstDash val="solid"/>
          </a:ln>
        </p:spPr>
        <p:txBody>
          <a:bodyPr wrap="square" lIns="114300" tIns="28575" rIns="114300" bIns="28575" anchor="ctr">
            <a:normAutofit/>
          </a:bodyPr>
          <a:lstStyle/>
          <a:p>
            <a:pPr algn="ctr">
              <a:buNone/>
              <a:defRPr sz="1350" b="1">
                <a:solidFill>
                  <a:srgbClr val="072A67"/>
                </a:solidFill>
                <a:latin typeface="微软雅黑" panose="020B0503020204020204" charset="-122"/>
                <a:ea typeface="微软雅黑" panose="020B0503020204020204" charset="-122"/>
                <a:cs typeface="微软雅黑" panose="020B0503020204020204" charset="-122"/>
              </a:defRPr>
            </a:pPr>
            <a:r>
              <a:rPr sz="1350" b="1">
                <a:solidFill>
                  <a:srgbClr val="072A67"/>
                </a:solidFill>
                <a:latin typeface="微软雅黑" panose="020B0503020204020204" charset="-122"/>
                <a:ea typeface="微软雅黑" panose="020B0503020204020204" charset="-122"/>
                <a:cs typeface="微软雅黑" panose="020B0503020204020204" charset="-122"/>
              </a:rPr>
              <a:t>Agent 决定当前需要做什么；Skill 提供这类任务应该怎么做的方法。</a:t>
            </a:r>
          </a:p>
        </p:txBody>
      </p:sp>
      <p:sp>
        <p:nvSpPr>
          <p:cNvPr id="10" name="s3-agent-surface"/>
          <p:cNvSpPr>
            <a:spLocks noGrp="1"/>
          </p:cNvSpPr>
          <p:nvPr/>
        </p:nvSpPr>
        <p:spPr>
          <a:xfrm>
            <a:off x="481012" y="1064431"/>
            <a:ext cx="5543550" cy="3505200"/>
          </a:xfrm>
          <a:prstGeom prst="roundRect">
            <a:avLst>
              <a:gd name="adj" fmla="val 2717"/>
            </a:avLst>
          </a:prstGeom>
          <a:solidFill>
            <a:srgbClr val="FFFFFF"/>
          </a:solidFill>
          <a:ln w="9525">
            <a:solidFill>
              <a:srgbClr val="CAD7EB"/>
            </a:solidFill>
            <a:prstDash val="solid"/>
          </a:ln>
        </p:spPr>
      </p:sp>
      <p:sp>
        <p:nvSpPr>
          <p:cNvPr id="11" name="s3-agent-accent"/>
          <p:cNvSpPr>
            <a:spLocks noGrp="1"/>
          </p:cNvSpPr>
          <p:nvPr/>
        </p:nvSpPr>
        <p:spPr>
          <a:xfrm>
            <a:off x="481012" y="1064431"/>
            <a:ext cx="66675" cy="3505200"/>
          </a:xfrm>
          <a:prstGeom prst="roundRect">
            <a:avLst>
              <a:gd name="adj" fmla="val 50000"/>
            </a:avLst>
          </a:prstGeom>
          <a:solidFill>
            <a:srgbClr val="072A67"/>
          </a:solidFill>
          <a:ln w="9525">
            <a:solidFill>
              <a:srgbClr val="072A67"/>
            </a:solidFill>
            <a:prstDash val="solid"/>
          </a:ln>
        </p:spPr>
      </p:sp>
      <p:sp>
        <p:nvSpPr>
          <p:cNvPr id="12" name="s3-agent-heading"/>
          <p:cNvSpPr>
            <a:spLocks noGrp="1"/>
          </p:cNvSpPr>
          <p:nvPr/>
        </p:nvSpPr>
        <p:spPr>
          <a:xfrm>
            <a:off x="719137" y="1197781"/>
            <a:ext cx="1571625" cy="342900"/>
          </a:xfrm>
          <a:prstGeom prst="rect">
            <a:avLst/>
          </a:prstGeom>
          <a:noFill/>
          <a:ln w="0">
            <a:noFill/>
            <a:prstDash val="solid"/>
          </a:ln>
        </p:spPr>
        <p:txBody>
          <a:bodyPr wrap="square" lIns="0" tIns="0" rIns="0" bIns="0" anchor="ctr">
            <a:normAutofit/>
          </a:bodyPr>
          <a:lstStyle/>
          <a:p>
            <a:pPr algn="l">
              <a:defRPr sz="2175" b="1">
                <a:solidFill>
                  <a:srgbClr val="072A67"/>
                </a:solidFill>
                <a:latin typeface="Calibri" panose="020F0502020204030204"/>
                <a:ea typeface="Calibri" panose="020F0502020204030204"/>
                <a:cs typeface="Calibri" panose="020F0502020204030204"/>
              </a:defRPr>
            </a:pPr>
            <a:r>
              <a:rPr sz="2175" b="1">
                <a:solidFill>
                  <a:srgbClr val="072A67"/>
                </a:solidFill>
                <a:latin typeface="Calibri" panose="020F0502020204030204"/>
                <a:ea typeface="Calibri" panose="020F0502020204030204"/>
                <a:cs typeface="Calibri" panose="020F0502020204030204"/>
              </a:rPr>
              <a:t>AGENT</a:t>
            </a:r>
          </a:p>
        </p:txBody>
      </p:sp>
      <p:sp>
        <p:nvSpPr>
          <p:cNvPr id="14" name="s3-agent-definition"/>
          <p:cNvSpPr>
            <a:spLocks noGrp="1"/>
          </p:cNvSpPr>
          <p:nvPr/>
        </p:nvSpPr>
        <p:spPr>
          <a:xfrm>
            <a:off x="719137" y="1597831"/>
            <a:ext cx="5067300" cy="533400"/>
          </a:xfrm>
          <a:prstGeom prst="rect">
            <a:avLst/>
          </a:prstGeom>
          <a:noFill/>
          <a:ln w="0">
            <a:noFill/>
            <a:prstDash val="solid"/>
          </a:ln>
        </p:spPr>
        <p:txBody>
          <a:bodyPr wrap="square" lIns="0" tIns="9525" rIns="0" bIns="0" anchor="t">
            <a:normAutofit/>
          </a:bodyPr>
          <a:lstStyle/>
          <a:p>
            <a:pPr algn="l">
              <a:lnSpc>
                <a:spcPct val="104000"/>
              </a:lnSpc>
              <a:buNone/>
              <a:defRPr sz="1050" b="0">
                <a:solidFill>
                  <a:srgbClr val="27364A"/>
                </a:solidFill>
                <a:latin typeface="微软雅黑" panose="020B0503020204020204" charset="-122"/>
                <a:ea typeface="微软雅黑" panose="020B0503020204020204" charset="-122"/>
                <a:cs typeface="微软雅黑" panose="020B0503020204020204" charset="-122"/>
              </a:defRPr>
            </a:pPr>
            <a:r>
              <a:rPr sz="1050" b="0" dirty="0" err="1" smtClean="0">
                <a:solidFill>
                  <a:srgbClr val="27364A"/>
                </a:solidFill>
                <a:latin typeface="微软雅黑" panose="020B0503020204020204" charset="-122"/>
                <a:ea typeface="微软雅黑" panose="020B0503020204020204" charset="-122"/>
                <a:cs typeface="微软雅黑" panose="020B0503020204020204" charset="-122"/>
              </a:rPr>
              <a:t>任务执行的主体：理解用户目标</a:t>
            </a:r>
            <a:r>
              <a:rPr sz="1050" b="0" dirty="0" err="1">
                <a:solidFill>
                  <a:srgbClr val="27364A"/>
                </a:solidFill>
                <a:latin typeface="微软雅黑" panose="020B0503020204020204" charset="-122"/>
                <a:ea typeface="微软雅黑" panose="020B0503020204020204" charset="-122"/>
                <a:cs typeface="微软雅黑" panose="020B0503020204020204" charset="-122"/>
              </a:rPr>
              <a:t>、规划步骤、选择所需能力，并根据执行结果持续调整后续动作</a:t>
            </a:r>
            <a:r>
              <a:rPr sz="1050" b="0" dirty="0">
                <a:solidFill>
                  <a:srgbClr val="27364A"/>
                </a:solidFill>
                <a:latin typeface="微软雅黑" panose="020B0503020204020204" charset="-122"/>
                <a:ea typeface="微软雅黑" panose="020B0503020204020204" charset="-122"/>
                <a:cs typeface="微软雅黑" panose="020B0503020204020204" charset="-122"/>
              </a:rPr>
              <a:t>。</a:t>
            </a:r>
          </a:p>
        </p:txBody>
      </p:sp>
      <p:sp>
        <p:nvSpPr>
          <p:cNvPr id="15" name="s3-agent-row-1"/>
          <p:cNvSpPr>
            <a:spLocks noGrp="1"/>
          </p:cNvSpPr>
          <p:nvPr/>
        </p:nvSpPr>
        <p:spPr>
          <a:xfrm>
            <a:off x="681037" y="2207431"/>
            <a:ext cx="5143500" cy="523875"/>
          </a:xfrm>
          <a:prstGeom prst="roundRect">
            <a:avLst>
              <a:gd name="adj" fmla="val 12727"/>
            </a:avLst>
          </a:prstGeom>
          <a:solidFill>
            <a:srgbClr val="F5F8FC"/>
          </a:solidFill>
          <a:ln w="9525">
            <a:solidFill>
              <a:srgbClr val="D9E3F1"/>
            </a:solidFill>
            <a:prstDash val="solid"/>
          </a:ln>
        </p:spPr>
      </p:sp>
      <p:sp>
        <p:nvSpPr>
          <p:cNvPr id="16" name="s3-agent-row-1-index"/>
          <p:cNvSpPr>
            <a:spLocks noGrp="1"/>
          </p:cNvSpPr>
          <p:nvPr/>
        </p:nvSpPr>
        <p:spPr>
          <a:xfrm>
            <a:off x="776287" y="2283631"/>
            <a:ext cx="371475" cy="371475"/>
          </a:xfrm>
          <a:prstGeom prst="roundRect">
            <a:avLst>
              <a:gd name="adj" fmla="val 17949"/>
            </a:avLst>
          </a:prstGeom>
          <a:solidFill>
            <a:srgbClr val="072A67"/>
          </a:solidFill>
          <a:ln w="9525">
            <a:solidFill>
              <a:srgbClr val="072A67"/>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600" b="1">
                <a:solidFill>
                  <a:srgbClr val="FFFFFF"/>
                </a:solidFill>
                <a:latin typeface="Calibri" panose="020F0502020204030204"/>
                <a:ea typeface="Calibri" panose="020F0502020204030204"/>
                <a:cs typeface="Calibri" panose="020F0502020204030204"/>
              </a:rPr>
              <a:t>01</a:t>
            </a:r>
          </a:p>
        </p:txBody>
      </p:sp>
      <p:sp>
        <p:nvSpPr>
          <p:cNvPr id="17" name="s3-agent-row-1-title"/>
          <p:cNvSpPr>
            <a:spLocks noGrp="1"/>
          </p:cNvSpPr>
          <p:nvPr/>
        </p:nvSpPr>
        <p:spPr>
          <a:xfrm>
            <a:off x="1312585" y="2403382"/>
            <a:ext cx="4400550" cy="219075"/>
          </a:xfrm>
          <a:prstGeom prst="rect">
            <a:avLst/>
          </a:prstGeom>
          <a:noFill/>
          <a:ln w="0">
            <a:noFill/>
            <a:prstDash val="solid"/>
          </a:ln>
        </p:spPr>
        <p:txBody>
          <a:bodyPr wrap="square" lIns="38100" tIns="19050" rIns="38100" bIns="19050" anchor="ctr">
            <a:normAutofit fontScale="88958" lnSpcReduction="20000"/>
          </a:bodyPr>
          <a:lstStyle/>
          <a:p>
            <a:pPr algn="l">
              <a:defRPr sz="12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a:solidFill>
                  <a:srgbClr val="072A67"/>
                </a:solidFill>
                <a:latin typeface="微软雅黑" panose="020B0503020204020204" charset="-122"/>
                <a:ea typeface="微软雅黑" panose="020B0503020204020204" charset="-122"/>
                <a:cs typeface="微软雅黑" panose="020B0503020204020204" charset="-122"/>
              </a:rPr>
              <a:t>目标理解与决策</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8" name="s3-agent-row-1-detail"/>
          <p:cNvSpPr>
            <a:spLocks noGrp="1"/>
          </p:cNvSpPr>
          <p:nvPr/>
        </p:nvSpPr>
        <p:spPr>
          <a:xfrm>
            <a:off x="1262062" y="2464606"/>
            <a:ext cx="4400550" cy="219075"/>
          </a:xfrm>
          <a:prstGeom prst="rect">
            <a:avLst/>
          </a:prstGeom>
          <a:noFill/>
          <a:ln w="0">
            <a:noFill/>
            <a:prstDash val="solid"/>
          </a:ln>
        </p:spPr>
        <p:txBody>
          <a:bodyPr wrap="square" lIns="38100" tIns="19050" rIns="38100" bIns="19050" anchor="t">
            <a:noAutofit/>
          </a:bodyPr>
          <a:lstStyle/>
          <a:p>
            <a:pPr algn="l">
              <a:defRPr sz="940" b="0">
                <a:solidFill>
                  <a:srgbClr val="27364A"/>
                </a:solidFill>
                <a:latin typeface="微软雅黑" panose="020B0503020204020204" charset="-122"/>
                <a:ea typeface="微软雅黑" panose="020B0503020204020204" charset="-122"/>
                <a:cs typeface="微软雅黑" panose="020B0503020204020204" charset="-122"/>
              </a:defRPr>
            </a:pPr>
            <a:endParaRPr sz="1600" b="0"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19" name="s3-agent-row-2"/>
          <p:cNvSpPr>
            <a:spLocks noGrp="1"/>
          </p:cNvSpPr>
          <p:nvPr/>
        </p:nvSpPr>
        <p:spPr>
          <a:xfrm>
            <a:off x="681037" y="2797981"/>
            <a:ext cx="5143500" cy="523875"/>
          </a:xfrm>
          <a:prstGeom prst="roundRect">
            <a:avLst>
              <a:gd name="adj" fmla="val 12727"/>
            </a:avLst>
          </a:prstGeom>
          <a:solidFill>
            <a:srgbClr val="FFFFFF"/>
          </a:solidFill>
          <a:ln w="9525">
            <a:solidFill>
              <a:srgbClr val="D9E3F1"/>
            </a:solidFill>
            <a:prstDash val="solid"/>
          </a:ln>
        </p:spPr>
      </p:sp>
      <p:sp>
        <p:nvSpPr>
          <p:cNvPr id="20" name="s3-agent-row-2-index"/>
          <p:cNvSpPr>
            <a:spLocks noGrp="1"/>
          </p:cNvSpPr>
          <p:nvPr/>
        </p:nvSpPr>
        <p:spPr>
          <a:xfrm>
            <a:off x="776287" y="2874181"/>
            <a:ext cx="371475" cy="371475"/>
          </a:xfrm>
          <a:prstGeom prst="roundRect">
            <a:avLst>
              <a:gd name="adj" fmla="val 17949"/>
            </a:avLst>
          </a:prstGeom>
          <a:solidFill>
            <a:srgbClr val="072A67"/>
          </a:solidFill>
          <a:ln w="9525">
            <a:solidFill>
              <a:srgbClr val="072A67"/>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600" b="1">
                <a:solidFill>
                  <a:srgbClr val="FFFFFF"/>
                </a:solidFill>
                <a:latin typeface="Calibri" panose="020F0502020204030204"/>
                <a:ea typeface="Calibri" panose="020F0502020204030204"/>
                <a:cs typeface="Calibri" panose="020F0502020204030204"/>
              </a:rPr>
              <a:t>02</a:t>
            </a:r>
          </a:p>
        </p:txBody>
      </p:sp>
      <p:sp>
        <p:nvSpPr>
          <p:cNvPr id="21" name="s3-agent-row-2-title"/>
          <p:cNvSpPr>
            <a:spLocks noGrp="1"/>
          </p:cNvSpPr>
          <p:nvPr/>
        </p:nvSpPr>
        <p:spPr>
          <a:xfrm>
            <a:off x="1330808" y="2973780"/>
            <a:ext cx="4400550" cy="219075"/>
          </a:xfrm>
          <a:prstGeom prst="rect">
            <a:avLst/>
          </a:prstGeom>
          <a:noFill/>
          <a:ln w="0">
            <a:noFill/>
            <a:prstDash val="solid"/>
          </a:ln>
        </p:spPr>
        <p:txBody>
          <a:bodyPr wrap="square" lIns="38100" tIns="19050" rIns="38100" bIns="19050" anchor="ctr">
            <a:normAutofit fontScale="88958" lnSpcReduction="20000"/>
          </a:bodyPr>
          <a:lstStyle/>
          <a:p>
            <a:pPr algn="l">
              <a:defRPr sz="12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a:solidFill>
                  <a:srgbClr val="072A67"/>
                </a:solidFill>
                <a:latin typeface="微软雅黑" panose="020B0503020204020204" charset="-122"/>
                <a:ea typeface="微软雅黑" panose="020B0503020204020204" charset="-122"/>
                <a:cs typeface="微软雅黑" panose="020B0503020204020204" charset="-122"/>
              </a:rPr>
              <a:t>多步执行</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22" name="s3-agent-row-2-detail"/>
          <p:cNvSpPr>
            <a:spLocks noGrp="1"/>
          </p:cNvSpPr>
          <p:nvPr/>
        </p:nvSpPr>
        <p:spPr>
          <a:xfrm>
            <a:off x="1262062" y="3055156"/>
            <a:ext cx="4400550" cy="219075"/>
          </a:xfrm>
          <a:prstGeom prst="rect">
            <a:avLst/>
          </a:prstGeom>
          <a:noFill/>
          <a:ln w="0">
            <a:noFill/>
            <a:prstDash val="solid"/>
          </a:ln>
        </p:spPr>
        <p:txBody>
          <a:bodyPr wrap="square" lIns="38100" tIns="19050" rIns="38100" bIns="19050" anchor="t">
            <a:noAutofit/>
          </a:bodyPr>
          <a:lstStyle/>
          <a:p>
            <a:pPr algn="l">
              <a:defRPr sz="940" b="0">
                <a:solidFill>
                  <a:srgbClr val="27364A"/>
                </a:solidFill>
                <a:latin typeface="微软雅黑" panose="020B0503020204020204" charset="-122"/>
                <a:ea typeface="微软雅黑" panose="020B0503020204020204" charset="-122"/>
                <a:cs typeface="微软雅黑" panose="020B0503020204020204" charset="-122"/>
              </a:defRPr>
            </a:pPr>
            <a:endParaRPr sz="1600" b="0"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23" name="s3-agent-row-3"/>
          <p:cNvSpPr>
            <a:spLocks noGrp="1"/>
          </p:cNvSpPr>
          <p:nvPr/>
        </p:nvSpPr>
        <p:spPr>
          <a:xfrm>
            <a:off x="681037" y="3388531"/>
            <a:ext cx="5143500" cy="523875"/>
          </a:xfrm>
          <a:prstGeom prst="roundRect">
            <a:avLst>
              <a:gd name="adj" fmla="val 12727"/>
            </a:avLst>
          </a:prstGeom>
          <a:solidFill>
            <a:srgbClr val="F5F8FC"/>
          </a:solidFill>
          <a:ln w="9525">
            <a:solidFill>
              <a:srgbClr val="D9E3F1"/>
            </a:solidFill>
            <a:prstDash val="solid"/>
          </a:ln>
        </p:spPr>
      </p:sp>
      <p:sp>
        <p:nvSpPr>
          <p:cNvPr id="24" name="s3-agent-row-3-index"/>
          <p:cNvSpPr>
            <a:spLocks noGrp="1"/>
          </p:cNvSpPr>
          <p:nvPr/>
        </p:nvSpPr>
        <p:spPr>
          <a:xfrm>
            <a:off x="776287" y="3464731"/>
            <a:ext cx="371475" cy="371475"/>
          </a:xfrm>
          <a:prstGeom prst="roundRect">
            <a:avLst>
              <a:gd name="adj" fmla="val 17949"/>
            </a:avLst>
          </a:prstGeom>
          <a:solidFill>
            <a:srgbClr val="072A67"/>
          </a:solidFill>
          <a:ln w="9525">
            <a:solidFill>
              <a:srgbClr val="072A67"/>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600" b="1">
                <a:solidFill>
                  <a:srgbClr val="FFFFFF"/>
                </a:solidFill>
                <a:latin typeface="Calibri" panose="020F0502020204030204"/>
                <a:ea typeface="Calibri" panose="020F0502020204030204"/>
                <a:cs typeface="Calibri" panose="020F0502020204030204"/>
              </a:rPr>
              <a:t>03</a:t>
            </a:r>
          </a:p>
        </p:txBody>
      </p:sp>
      <p:sp>
        <p:nvSpPr>
          <p:cNvPr id="25" name="s3-agent-row-3-title"/>
          <p:cNvSpPr>
            <a:spLocks noGrp="1"/>
          </p:cNvSpPr>
          <p:nvPr/>
        </p:nvSpPr>
        <p:spPr>
          <a:xfrm>
            <a:off x="1312585" y="3554223"/>
            <a:ext cx="4400550" cy="219075"/>
          </a:xfrm>
          <a:prstGeom prst="rect">
            <a:avLst/>
          </a:prstGeom>
          <a:noFill/>
          <a:ln w="0">
            <a:noFill/>
            <a:prstDash val="solid"/>
          </a:ln>
        </p:spPr>
        <p:txBody>
          <a:bodyPr wrap="square" lIns="38100" tIns="19050" rIns="38100" bIns="19050" anchor="ctr">
            <a:normAutofit fontScale="88958" lnSpcReduction="20000"/>
          </a:bodyPr>
          <a:lstStyle/>
          <a:p>
            <a:pPr algn="l">
              <a:defRPr sz="12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a:solidFill>
                  <a:srgbClr val="072A67"/>
                </a:solidFill>
                <a:latin typeface="微软雅黑" panose="020B0503020204020204" charset="-122"/>
                <a:ea typeface="微软雅黑" panose="020B0503020204020204" charset="-122"/>
                <a:cs typeface="微软雅黑" panose="020B0503020204020204" charset="-122"/>
              </a:rPr>
              <a:t>能力调度与结果整合</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26" name="s3-agent-row-3-detail"/>
          <p:cNvSpPr>
            <a:spLocks noGrp="1"/>
          </p:cNvSpPr>
          <p:nvPr/>
        </p:nvSpPr>
        <p:spPr>
          <a:xfrm>
            <a:off x="1262062" y="3645706"/>
            <a:ext cx="4400550" cy="219075"/>
          </a:xfrm>
          <a:prstGeom prst="rect">
            <a:avLst/>
          </a:prstGeom>
          <a:noFill/>
          <a:ln w="0">
            <a:noFill/>
            <a:prstDash val="solid"/>
          </a:ln>
        </p:spPr>
        <p:txBody>
          <a:bodyPr wrap="square" lIns="38100" tIns="19050" rIns="38100" bIns="19050" anchor="t">
            <a:noAutofit/>
          </a:bodyPr>
          <a:lstStyle/>
          <a:p>
            <a:pPr algn="l">
              <a:defRPr sz="940" b="0">
                <a:solidFill>
                  <a:srgbClr val="27364A"/>
                </a:solidFill>
                <a:latin typeface="微软雅黑" panose="020B0503020204020204" charset="-122"/>
                <a:ea typeface="微软雅黑" panose="020B0503020204020204" charset="-122"/>
                <a:cs typeface="微软雅黑" panose="020B0503020204020204" charset="-122"/>
              </a:defRPr>
            </a:pPr>
            <a:endParaRPr sz="1600" b="0"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27" name="s3-agent-analogy-divider"/>
          <p:cNvSpPr>
            <a:spLocks noGrp="1"/>
          </p:cNvSpPr>
          <p:nvPr/>
        </p:nvSpPr>
        <p:spPr>
          <a:xfrm>
            <a:off x="709612" y="4160056"/>
            <a:ext cx="5086350" cy="9525"/>
          </a:xfrm>
          <a:prstGeom prst="rect">
            <a:avLst/>
          </a:prstGeom>
          <a:solidFill>
            <a:srgbClr val="CAD7EB"/>
          </a:solidFill>
          <a:ln w="9525">
            <a:solidFill>
              <a:srgbClr val="CAD7EB"/>
            </a:solidFill>
            <a:prstDash val="solid"/>
          </a:ln>
        </p:spPr>
      </p:sp>
      <p:sp>
        <p:nvSpPr>
          <p:cNvPr id="28" name="s3-agent-analogy"/>
          <p:cNvSpPr>
            <a:spLocks noGrp="1"/>
          </p:cNvSpPr>
          <p:nvPr/>
        </p:nvSpPr>
        <p:spPr>
          <a:xfrm>
            <a:off x="747712" y="4198156"/>
            <a:ext cx="5010150" cy="29527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类似项目负责人：理解整体目标、组织资源、推进任务并对结果负责。</a:t>
            </a:r>
          </a:p>
        </p:txBody>
      </p:sp>
      <p:sp>
        <p:nvSpPr>
          <p:cNvPr id="29" name="s3-skill-surface"/>
          <p:cNvSpPr>
            <a:spLocks noGrp="1"/>
          </p:cNvSpPr>
          <p:nvPr/>
        </p:nvSpPr>
        <p:spPr>
          <a:xfrm>
            <a:off x="6215062" y="1064431"/>
            <a:ext cx="5534025" cy="3505200"/>
          </a:xfrm>
          <a:prstGeom prst="roundRect">
            <a:avLst>
              <a:gd name="adj" fmla="val 2717"/>
            </a:avLst>
          </a:prstGeom>
          <a:solidFill>
            <a:srgbClr val="FFFFFF"/>
          </a:solidFill>
          <a:ln w="9525">
            <a:solidFill>
              <a:srgbClr val="CAD7EB"/>
            </a:solidFill>
            <a:prstDash val="solid"/>
          </a:ln>
        </p:spPr>
      </p:sp>
      <p:sp>
        <p:nvSpPr>
          <p:cNvPr id="30" name="s3-skill-accent"/>
          <p:cNvSpPr>
            <a:spLocks noGrp="1"/>
          </p:cNvSpPr>
          <p:nvPr/>
        </p:nvSpPr>
        <p:spPr>
          <a:xfrm>
            <a:off x="6215062" y="1064431"/>
            <a:ext cx="66675" cy="3505200"/>
          </a:xfrm>
          <a:prstGeom prst="roundRect">
            <a:avLst>
              <a:gd name="adj" fmla="val 50000"/>
            </a:avLst>
          </a:prstGeom>
          <a:solidFill>
            <a:srgbClr val="0F9ED5"/>
          </a:solidFill>
          <a:ln w="9525">
            <a:solidFill>
              <a:srgbClr val="0F9ED5"/>
            </a:solidFill>
            <a:prstDash val="solid"/>
          </a:ln>
        </p:spPr>
      </p:sp>
      <p:sp>
        <p:nvSpPr>
          <p:cNvPr id="31" name="s3-skill-heading"/>
          <p:cNvSpPr>
            <a:spLocks noGrp="1"/>
          </p:cNvSpPr>
          <p:nvPr/>
        </p:nvSpPr>
        <p:spPr>
          <a:xfrm>
            <a:off x="6453187" y="1197781"/>
            <a:ext cx="1571625" cy="342900"/>
          </a:xfrm>
          <a:prstGeom prst="rect">
            <a:avLst/>
          </a:prstGeom>
          <a:noFill/>
          <a:ln w="0">
            <a:noFill/>
            <a:prstDash val="solid"/>
          </a:ln>
        </p:spPr>
        <p:txBody>
          <a:bodyPr wrap="square" lIns="0" tIns="0" rIns="0" bIns="0" anchor="ctr">
            <a:normAutofit/>
          </a:bodyPr>
          <a:lstStyle/>
          <a:p>
            <a:pPr algn="l">
              <a:defRPr sz="2175" b="1">
                <a:solidFill>
                  <a:srgbClr val="0F9ED5"/>
                </a:solidFill>
                <a:latin typeface="Calibri" panose="020F0502020204030204"/>
                <a:ea typeface="Calibri" panose="020F0502020204030204"/>
                <a:cs typeface="Calibri" panose="020F0502020204030204"/>
              </a:defRPr>
            </a:pPr>
            <a:r>
              <a:rPr sz="2175" b="1">
                <a:solidFill>
                  <a:srgbClr val="0F9ED5"/>
                </a:solidFill>
                <a:latin typeface="Calibri" panose="020F0502020204030204"/>
                <a:ea typeface="Calibri" panose="020F0502020204030204"/>
                <a:cs typeface="Calibri" panose="020F0502020204030204"/>
              </a:rPr>
              <a:t>SKILL</a:t>
            </a:r>
          </a:p>
        </p:txBody>
      </p:sp>
      <p:sp>
        <p:nvSpPr>
          <p:cNvPr id="33" name="s3-skill-definition"/>
          <p:cNvSpPr>
            <a:spLocks noGrp="1"/>
          </p:cNvSpPr>
          <p:nvPr/>
        </p:nvSpPr>
        <p:spPr>
          <a:xfrm>
            <a:off x="6453187" y="1597831"/>
            <a:ext cx="5057775" cy="533400"/>
          </a:xfrm>
          <a:prstGeom prst="rect">
            <a:avLst/>
          </a:prstGeom>
          <a:noFill/>
          <a:ln w="0">
            <a:noFill/>
            <a:prstDash val="solid"/>
          </a:ln>
        </p:spPr>
        <p:txBody>
          <a:bodyPr wrap="square" lIns="0" tIns="9525" rIns="0" bIns="0" anchor="t">
            <a:normAutofit/>
          </a:bodyPr>
          <a:lstStyle/>
          <a:p>
            <a:pPr algn="l">
              <a:lnSpc>
                <a:spcPct val="104000"/>
              </a:lnSpc>
              <a:buNone/>
              <a:defRPr sz="1050" b="0">
                <a:solidFill>
                  <a:srgbClr val="27364A"/>
                </a:solidFill>
                <a:latin typeface="微软雅黑" panose="020B0503020204020204" charset="-122"/>
                <a:ea typeface="微软雅黑" panose="020B0503020204020204" charset="-122"/>
                <a:cs typeface="微软雅黑" panose="020B0503020204020204" charset="-122"/>
              </a:defRPr>
            </a:pPr>
            <a:r>
              <a:rPr sz="1050" b="0" dirty="0">
                <a:solidFill>
                  <a:srgbClr val="27364A"/>
                </a:solidFill>
                <a:latin typeface="微软雅黑" panose="020B0503020204020204" charset="-122"/>
                <a:ea typeface="微软雅黑" panose="020B0503020204020204" charset="-122"/>
                <a:cs typeface="微软雅黑" panose="020B0503020204020204" charset="-122"/>
              </a:rPr>
              <a:t>Skill </a:t>
            </a:r>
            <a:r>
              <a:rPr sz="1050" b="0" dirty="0" err="1" smtClean="0">
                <a:solidFill>
                  <a:srgbClr val="27364A"/>
                </a:solidFill>
                <a:latin typeface="微软雅黑" panose="020B0503020204020204" charset="-122"/>
                <a:ea typeface="微软雅黑" panose="020B0503020204020204" charset="-122"/>
                <a:cs typeface="微软雅黑" panose="020B0503020204020204" charset="-122"/>
              </a:rPr>
              <a:t>围绕特定知识</a:t>
            </a:r>
            <a:r>
              <a:rPr sz="1050" b="0" dirty="0" err="1">
                <a:solidFill>
                  <a:srgbClr val="27364A"/>
                </a:solidFill>
                <a:latin typeface="微软雅黑" panose="020B0503020204020204" charset="-122"/>
                <a:ea typeface="微软雅黑" panose="020B0503020204020204" charset="-122"/>
                <a:cs typeface="微软雅黑" panose="020B0503020204020204" charset="-122"/>
              </a:rPr>
              <a:t>、脚本与资源，告诉</a:t>
            </a:r>
            <a:r>
              <a:rPr sz="1050" b="0" dirty="0">
                <a:solidFill>
                  <a:srgbClr val="27364A"/>
                </a:solidFill>
                <a:latin typeface="微软雅黑" panose="020B0503020204020204" charset="-122"/>
                <a:ea typeface="微软雅黑" panose="020B0503020204020204" charset="-122"/>
                <a:cs typeface="微软雅黑" panose="020B0503020204020204" charset="-122"/>
              </a:rPr>
              <a:t> Agent </a:t>
            </a:r>
            <a:r>
              <a:rPr sz="1050" b="0" dirty="0" err="1">
                <a:solidFill>
                  <a:srgbClr val="27364A"/>
                </a:solidFill>
                <a:latin typeface="微软雅黑" panose="020B0503020204020204" charset="-122"/>
                <a:ea typeface="微软雅黑" panose="020B0503020204020204" charset="-122"/>
                <a:cs typeface="微软雅黑" panose="020B0503020204020204" charset="-122"/>
              </a:rPr>
              <a:t>这类任务应如何完成；它可以包含完整多阶段</a:t>
            </a:r>
            <a:r>
              <a:rPr sz="1050" b="0" dirty="0">
                <a:solidFill>
                  <a:srgbClr val="27364A"/>
                </a:solidFill>
                <a:latin typeface="微软雅黑" panose="020B0503020204020204" charset="-122"/>
                <a:ea typeface="微软雅黑" panose="020B0503020204020204" charset="-122"/>
                <a:cs typeface="微软雅黑" panose="020B0503020204020204" charset="-122"/>
              </a:rPr>
              <a:t> Workflow。</a:t>
            </a:r>
          </a:p>
        </p:txBody>
      </p:sp>
      <p:sp>
        <p:nvSpPr>
          <p:cNvPr id="34" name="s3-skill-row-1"/>
          <p:cNvSpPr>
            <a:spLocks noGrp="1"/>
          </p:cNvSpPr>
          <p:nvPr/>
        </p:nvSpPr>
        <p:spPr>
          <a:xfrm>
            <a:off x="6415087" y="2207431"/>
            <a:ext cx="5133975" cy="523875"/>
          </a:xfrm>
          <a:prstGeom prst="roundRect">
            <a:avLst>
              <a:gd name="adj" fmla="val 12727"/>
            </a:avLst>
          </a:prstGeom>
          <a:solidFill>
            <a:srgbClr val="F5F8FC"/>
          </a:solidFill>
          <a:ln w="9525">
            <a:solidFill>
              <a:srgbClr val="D9E3F1"/>
            </a:solidFill>
            <a:prstDash val="solid"/>
          </a:ln>
        </p:spPr>
      </p:sp>
      <p:sp>
        <p:nvSpPr>
          <p:cNvPr id="35" name="s3-skill-row-1-index"/>
          <p:cNvSpPr>
            <a:spLocks noGrp="1"/>
          </p:cNvSpPr>
          <p:nvPr/>
        </p:nvSpPr>
        <p:spPr>
          <a:xfrm>
            <a:off x="6510337" y="2283631"/>
            <a:ext cx="371475" cy="371475"/>
          </a:xfrm>
          <a:prstGeom prst="roundRect">
            <a:avLst>
              <a:gd name="adj" fmla="val 17949"/>
            </a:avLst>
          </a:prstGeom>
          <a:solidFill>
            <a:srgbClr val="0F9ED5"/>
          </a:solidFill>
          <a:ln w="9525">
            <a:solidFill>
              <a:srgbClr val="0F9ED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600" b="1">
                <a:solidFill>
                  <a:srgbClr val="FFFFFF"/>
                </a:solidFill>
                <a:latin typeface="Calibri" panose="020F0502020204030204"/>
                <a:ea typeface="Calibri" panose="020F0502020204030204"/>
                <a:cs typeface="Calibri" panose="020F0502020204030204"/>
              </a:rPr>
              <a:t>01</a:t>
            </a:r>
          </a:p>
        </p:txBody>
      </p:sp>
      <p:sp>
        <p:nvSpPr>
          <p:cNvPr id="36" name="s3-skill-row-1-title"/>
          <p:cNvSpPr>
            <a:spLocks noGrp="1"/>
          </p:cNvSpPr>
          <p:nvPr/>
        </p:nvSpPr>
        <p:spPr>
          <a:xfrm>
            <a:off x="7015162" y="2403619"/>
            <a:ext cx="4391025" cy="219075"/>
          </a:xfrm>
          <a:prstGeom prst="rect">
            <a:avLst/>
          </a:prstGeom>
          <a:noFill/>
          <a:ln w="0">
            <a:noFill/>
            <a:prstDash val="solid"/>
          </a:ln>
        </p:spPr>
        <p:txBody>
          <a:bodyPr wrap="square" lIns="38100" tIns="19050" rIns="38100" bIns="19050" anchor="ctr">
            <a:normAutofit fontScale="88958" lnSpcReduction="20000"/>
          </a:bodyPr>
          <a:lstStyle/>
          <a:p>
            <a:pPr algn="l">
              <a:defRPr sz="1200" b="1">
                <a:solidFill>
                  <a:srgbClr val="0F9ED5"/>
                </a:solidFill>
                <a:latin typeface="微软雅黑" panose="020B0503020204020204" charset="-122"/>
                <a:ea typeface="微软雅黑" panose="020B0503020204020204" charset="-122"/>
                <a:cs typeface="微软雅黑" panose="020B0503020204020204" charset="-122"/>
              </a:defRPr>
            </a:pPr>
            <a:r>
              <a:rPr sz="1600" b="1" dirty="0" err="1">
                <a:solidFill>
                  <a:srgbClr val="0F9ED5"/>
                </a:solidFill>
                <a:latin typeface="微软雅黑" panose="020B0503020204020204" charset="-122"/>
                <a:ea typeface="微软雅黑" panose="020B0503020204020204" charset="-122"/>
                <a:cs typeface="微软雅黑" panose="020B0503020204020204" charset="-122"/>
              </a:rPr>
              <a:t>任务聚焦</a:t>
            </a:r>
            <a:endParaRPr sz="160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38" name="s3-skill-row-2"/>
          <p:cNvSpPr>
            <a:spLocks noGrp="1"/>
          </p:cNvSpPr>
          <p:nvPr/>
        </p:nvSpPr>
        <p:spPr>
          <a:xfrm>
            <a:off x="6415087" y="2797981"/>
            <a:ext cx="5133975" cy="523875"/>
          </a:xfrm>
          <a:prstGeom prst="roundRect">
            <a:avLst>
              <a:gd name="adj" fmla="val 12727"/>
            </a:avLst>
          </a:prstGeom>
          <a:solidFill>
            <a:srgbClr val="FFFFFF"/>
          </a:solidFill>
          <a:ln w="9525">
            <a:solidFill>
              <a:srgbClr val="D9E3F1"/>
            </a:solidFill>
            <a:prstDash val="solid"/>
          </a:ln>
        </p:spPr>
      </p:sp>
      <p:sp>
        <p:nvSpPr>
          <p:cNvPr id="39" name="s3-skill-row-2-index"/>
          <p:cNvSpPr>
            <a:spLocks noGrp="1"/>
          </p:cNvSpPr>
          <p:nvPr/>
        </p:nvSpPr>
        <p:spPr>
          <a:xfrm>
            <a:off x="6510337" y="2874181"/>
            <a:ext cx="371475" cy="371475"/>
          </a:xfrm>
          <a:prstGeom prst="roundRect">
            <a:avLst>
              <a:gd name="adj" fmla="val 17949"/>
            </a:avLst>
          </a:prstGeom>
          <a:solidFill>
            <a:srgbClr val="0F9ED5"/>
          </a:solidFill>
          <a:ln w="9525">
            <a:solidFill>
              <a:srgbClr val="0F9ED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600" b="1">
                <a:solidFill>
                  <a:srgbClr val="FFFFFF"/>
                </a:solidFill>
                <a:latin typeface="Calibri" panose="020F0502020204030204"/>
                <a:ea typeface="Calibri" panose="020F0502020204030204"/>
                <a:cs typeface="Calibri" panose="020F0502020204030204"/>
              </a:rPr>
              <a:t>02</a:t>
            </a:r>
          </a:p>
        </p:txBody>
      </p:sp>
      <p:sp>
        <p:nvSpPr>
          <p:cNvPr id="40" name="s3-skill-row-2-title"/>
          <p:cNvSpPr>
            <a:spLocks noGrp="1"/>
          </p:cNvSpPr>
          <p:nvPr/>
        </p:nvSpPr>
        <p:spPr>
          <a:xfrm>
            <a:off x="7040216" y="2973780"/>
            <a:ext cx="4391025" cy="219075"/>
          </a:xfrm>
          <a:prstGeom prst="rect">
            <a:avLst/>
          </a:prstGeom>
          <a:noFill/>
          <a:ln w="0">
            <a:noFill/>
            <a:prstDash val="solid"/>
          </a:ln>
        </p:spPr>
        <p:txBody>
          <a:bodyPr wrap="square" lIns="38100" tIns="19050" rIns="38100" bIns="19050" anchor="ctr">
            <a:normAutofit fontScale="88958" lnSpcReduction="20000"/>
          </a:bodyPr>
          <a:lstStyle/>
          <a:p>
            <a:pPr algn="l">
              <a:defRPr sz="1200" b="1">
                <a:solidFill>
                  <a:srgbClr val="0F9ED5"/>
                </a:solidFill>
                <a:latin typeface="微软雅黑" panose="020B0503020204020204" charset="-122"/>
                <a:ea typeface="微软雅黑" panose="020B0503020204020204" charset="-122"/>
                <a:cs typeface="微软雅黑" panose="020B0503020204020204" charset="-122"/>
              </a:defRPr>
            </a:pPr>
            <a:r>
              <a:rPr sz="1600" b="1" dirty="0" err="1">
                <a:solidFill>
                  <a:srgbClr val="0F9ED5"/>
                </a:solidFill>
                <a:latin typeface="微软雅黑" panose="020B0503020204020204" charset="-122"/>
                <a:ea typeface="微软雅黑" panose="020B0503020204020204" charset="-122"/>
                <a:cs typeface="微软雅黑" panose="020B0503020204020204" charset="-122"/>
              </a:rPr>
              <a:t>按需加载</a:t>
            </a:r>
            <a:endParaRPr sz="160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41" name="s3-skill-row-2-detail"/>
          <p:cNvSpPr>
            <a:spLocks noGrp="1"/>
          </p:cNvSpPr>
          <p:nvPr/>
        </p:nvSpPr>
        <p:spPr>
          <a:xfrm>
            <a:off x="6996112" y="3055156"/>
            <a:ext cx="4391025" cy="219075"/>
          </a:xfrm>
          <a:prstGeom prst="rect">
            <a:avLst/>
          </a:prstGeom>
          <a:noFill/>
          <a:ln w="0">
            <a:noFill/>
            <a:prstDash val="solid"/>
          </a:ln>
        </p:spPr>
        <p:txBody>
          <a:bodyPr wrap="square" lIns="38100" tIns="19050" rIns="38100" bIns="19050" anchor="t">
            <a:noAutofit/>
          </a:bodyPr>
          <a:lstStyle/>
          <a:p>
            <a:pPr algn="l">
              <a:defRPr sz="940" b="0">
                <a:solidFill>
                  <a:srgbClr val="27364A"/>
                </a:solidFill>
                <a:latin typeface="微软雅黑" panose="020B0503020204020204" charset="-122"/>
                <a:ea typeface="微软雅黑" panose="020B0503020204020204" charset="-122"/>
                <a:cs typeface="微软雅黑" panose="020B0503020204020204" charset="-122"/>
              </a:defRPr>
            </a:pPr>
            <a:endParaRPr sz="1600" b="0"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2" name="s3-skill-row-3"/>
          <p:cNvSpPr>
            <a:spLocks noGrp="1"/>
          </p:cNvSpPr>
          <p:nvPr/>
        </p:nvSpPr>
        <p:spPr>
          <a:xfrm>
            <a:off x="6415087" y="3388531"/>
            <a:ext cx="5133975" cy="523875"/>
          </a:xfrm>
          <a:prstGeom prst="roundRect">
            <a:avLst>
              <a:gd name="adj" fmla="val 12727"/>
            </a:avLst>
          </a:prstGeom>
          <a:solidFill>
            <a:srgbClr val="F5F8FC"/>
          </a:solidFill>
          <a:ln w="9525">
            <a:solidFill>
              <a:srgbClr val="D9E3F1"/>
            </a:solidFill>
            <a:prstDash val="solid"/>
          </a:ln>
        </p:spPr>
      </p:sp>
      <p:sp>
        <p:nvSpPr>
          <p:cNvPr id="43" name="s3-skill-row-3-index"/>
          <p:cNvSpPr>
            <a:spLocks noGrp="1"/>
          </p:cNvSpPr>
          <p:nvPr/>
        </p:nvSpPr>
        <p:spPr>
          <a:xfrm>
            <a:off x="6510337" y="3464731"/>
            <a:ext cx="371475" cy="371475"/>
          </a:xfrm>
          <a:prstGeom prst="roundRect">
            <a:avLst>
              <a:gd name="adj" fmla="val 17949"/>
            </a:avLst>
          </a:prstGeom>
          <a:solidFill>
            <a:srgbClr val="0F9ED5"/>
          </a:solidFill>
          <a:ln w="9525">
            <a:solidFill>
              <a:srgbClr val="0F9ED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600" b="1">
                <a:solidFill>
                  <a:srgbClr val="FFFFFF"/>
                </a:solidFill>
                <a:latin typeface="Calibri" panose="020F0502020204030204"/>
                <a:ea typeface="Calibri" panose="020F0502020204030204"/>
                <a:cs typeface="Calibri" panose="020F0502020204030204"/>
              </a:rPr>
              <a:t>03</a:t>
            </a:r>
          </a:p>
        </p:txBody>
      </p:sp>
      <p:sp>
        <p:nvSpPr>
          <p:cNvPr id="44" name="s3-skill-row-3-title"/>
          <p:cNvSpPr>
            <a:spLocks noGrp="1"/>
          </p:cNvSpPr>
          <p:nvPr/>
        </p:nvSpPr>
        <p:spPr>
          <a:xfrm>
            <a:off x="7015162" y="3544658"/>
            <a:ext cx="4391025" cy="219075"/>
          </a:xfrm>
          <a:prstGeom prst="rect">
            <a:avLst/>
          </a:prstGeom>
          <a:noFill/>
          <a:ln w="0">
            <a:noFill/>
            <a:prstDash val="solid"/>
          </a:ln>
        </p:spPr>
        <p:txBody>
          <a:bodyPr wrap="square" lIns="38100" tIns="19050" rIns="38100" bIns="19050" anchor="ctr">
            <a:normAutofit fontScale="88958" lnSpcReduction="20000"/>
          </a:bodyPr>
          <a:lstStyle/>
          <a:p>
            <a:pPr algn="l">
              <a:defRPr sz="1200" b="1">
                <a:solidFill>
                  <a:srgbClr val="0F9ED5"/>
                </a:solidFill>
                <a:latin typeface="微软雅黑" panose="020B0503020204020204" charset="-122"/>
                <a:ea typeface="微软雅黑" panose="020B0503020204020204" charset="-122"/>
                <a:cs typeface="微软雅黑" panose="020B0503020204020204" charset="-122"/>
              </a:defRPr>
            </a:pPr>
            <a:r>
              <a:rPr sz="1600" b="1" dirty="0" err="1">
                <a:solidFill>
                  <a:srgbClr val="0F9ED5"/>
                </a:solidFill>
                <a:latin typeface="微软雅黑" panose="020B0503020204020204" charset="-122"/>
                <a:ea typeface="微软雅黑" panose="020B0503020204020204" charset="-122"/>
                <a:cs typeface="微软雅黑" panose="020B0503020204020204" charset="-122"/>
              </a:rPr>
              <a:t>知识、流程与工具封装</a:t>
            </a:r>
            <a:endParaRPr sz="160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45" name="s3-skill-row-3-detail"/>
          <p:cNvSpPr>
            <a:spLocks noGrp="1"/>
          </p:cNvSpPr>
          <p:nvPr/>
        </p:nvSpPr>
        <p:spPr>
          <a:xfrm>
            <a:off x="6996112" y="3645706"/>
            <a:ext cx="4391025" cy="219075"/>
          </a:xfrm>
          <a:prstGeom prst="rect">
            <a:avLst/>
          </a:prstGeom>
          <a:noFill/>
          <a:ln w="0">
            <a:noFill/>
            <a:prstDash val="solid"/>
          </a:ln>
        </p:spPr>
        <p:txBody>
          <a:bodyPr wrap="square" lIns="38100" tIns="19050" rIns="38100" bIns="19050" anchor="t">
            <a:noAutofit/>
          </a:bodyPr>
          <a:lstStyle/>
          <a:p>
            <a:pPr algn="l">
              <a:defRPr sz="940" b="0">
                <a:solidFill>
                  <a:srgbClr val="27364A"/>
                </a:solidFill>
                <a:latin typeface="微软雅黑" panose="020B0503020204020204" charset="-122"/>
                <a:ea typeface="微软雅黑" panose="020B0503020204020204" charset="-122"/>
                <a:cs typeface="微软雅黑" panose="020B0503020204020204" charset="-122"/>
              </a:defRPr>
            </a:pPr>
            <a:endParaRPr sz="1600" b="0"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6" name="s3-skill-analogy-divider"/>
          <p:cNvSpPr>
            <a:spLocks noGrp="1"/>
          </p:cNvSpPr>
          <p:nvPr/>
        </p:nvSpPr>
        <p:spPr>
          <a:xfrm>
            <a:off x="6443662" y="4160056"/>
            <a:ext cx="5076825" cy="9525"/>
          </a:xfrm>
          <a:prstGeom prst="rect">
            <a:avLst/>
          </a:prstGeom>
          <a:solidFill>
            <a:srgbClr val="CAD7EB"/>
          </a:solidFill>
          <a:ln w="9525">
            <a:solidFill>
              <a:srgbClr val="CAD7EB"/>
            </a:solidFill>
            <a:prstDash val="solid"/>
          </a:ln>
        </p:spPr>
      </p:sp>
      <p:sp>
        <p:nvSpPr>
          <p:cNvPr id="47" name="s3-skill-analogy"/>
          <p:cNvSpPr>
            <a:spLocks noGrp="1"/>
          </p:cNvSpPr>
          <p:nvPr/>
        </p:nvSpPr>
        <p:spPr>
          <a:xfrm>
            <a:off x="6481762" y="4198156"/>
            <a:ext cx="5000625" cy="29527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dirty="0" err="1">
                <a:solidFill>
                  <a:srgbClr val="56627A"/>
                </a:solidFill>
                <a:latin typeface="微软雅黑" panose="020B0503020204020204" charset="-122"/>
                <a:ea typeface="微软雅黑" panose="020B0503020204020204" charset="-122"/>
                <a:cs typeface="微软雅黑" panose="020B0503020204020204" charset="-122"/>
              </a:rPr>
              <a:t>类似一套专业作业指导书</a:t>
            </a:r>
            <a:r>
              <a:rPr sz="940" b="1" dirty="0">
                <a:solidFill>
                  <a:srgbClr val="56627A"/>
                </a:solidFill>
                <a:latin typeface="微软雅黑" panose="020B0503020204020204" charset="-122"/>
                <a:ea typeface="微软雅黑" panose="020B0503020204020204" charset="-122"/>
                <a:cs typeface="微软雅黑" panose="020B0503020204020204" charset="-122"/>
              </a:rPr>
              <a:t> </a:t>
            </a:r>
            <a:r>
              <a:rPr sz="940" b="1" dirty="0" smtClean="0">
                <a:solidFill>
                  <a:srgbClr val="56627A"/>
                </a:solidFill>
                <a:latin typeface="微软雅黑" panose="020B0503020204020204" charset="-122"/>
                <a:ea typeface="微软雅黑" panose="020B0503020204020204" charset="-122"/>
                <a:cs typeface="微软雅黑" panose="020B0503020204020204" charset="-122"/>
              </a:rPr>
              <a:t>。</a:t>
            </a:r>
            <a:endParaRPr sz="940" b="1"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8" name="s3-flow-heading"/>
          <p:cNvSpPr>
            <a:spLocks noGrp="1"/>
          </p:cNvSpPr>
          <p:nvPr/>
        </p:nvSpPr>
        <p:spPr>
          <a:xfrm>
            <a:off x="4814887" y="4804228"/>
            <a:ext cx="2667000" cy="266700"/>
          </a:xfrm>
          <a:prstGeom prst="rect">
            <a:avLst/>
          </a:prstGeom>
          <a:noFill/>
          <a:ln w="0">
            <a:noFill/>
            <a:prstDash val="solid"/>
          </a:ln>
        </p:spPr>
        <p:txBody>
          <a:bodyPr wrap="square" lIns="38100" tIns="19050" rIns="38100" bIns="19050" anchor="ctr">
            <a:normAutofit/>
          </a:bodyPr>
          <a:lstStyle/>
          <a:p>
            <a:pPr algn="ctr">
              <a:defRPr sz="1350" b="1">
                <a:solidFill>
                  <a:srgbClr val="072A67"/>
                </a:solidFill>
                <a:latin typeface="微软雅黑" panose="020B0503020204020204" charset="-122"/>
                <a:ea typeface="微软雅黑" panose="020B0503020204020204" charset="-122"/>
                <a:cs typeface="微软雅黑" panose="020B0503020204020204" charset="-122"/>
              </a:defRPr>
            </a:pPr>
            <a:r>
              <a:rPr sz="1350" b="1" dirty="0">
                <a:solidFill>
                  <a:srgbClr val="072A67"/>
                </a:solidFill>
                <a:latin typeface="微软雅黑" panose="020B0503020204020204" charset="-122"/>
                <a:ea typeface="微软雅黑" panose="020B0503020204020204" charset="-122"/>
                <a:cs typeface="微软雅黑" panose="020B0503020204020204" charset="-122"/>
              </a:rPr>
              <a:t>Skill </a:t>
            </a:r>
            <a:r>
              <a:rPr sz="1350" b="1" dirty="0" err="1">
                <a:solidFill>
                  <a:srgbClr val="072A67"/>
                </a:solidFill>
                <a:latin typeface="微软雅黑" panose="020B0503020204020204" charset="-122"/>
                <a:ea typeface="微软雅黑" panose="020B0503020204020204" charset="-122"/>
                <a:cs typeface="微软雅黑" panose="020B0503020204020204" charset="-122"/>
              </a:rPr>
              <a:t>的调用流程</a:t>
            </a:r>
            <a:endParaRPr sz="135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50" name="s3-flow-node-1"/>
          <p:cNvSpPr>
            <a:spLocks noGrp="1"/>
          </p:cNvSpPr>
          <p:nvPr/>
        </p:nvSpPr>
        <p:spPr>
          <a:xfrm>
            <a:off x="1643062" y="5216138"/>
            <a:ext cx="1285875" cy="495300"/>
          </a:xfrm>
          <a:prstGeom prst="roundRect">
            <a:avLst>
              <a:gd name="adj" fmla="val 15385"/>
            </a:avLst>
          </a:prstGeom>
          <a:solidFill>
            <a:srgbClr val="FFFFFF"/>
          </a:solidFill>
          <a:ln w="13335">
            <a:solidFill>
              <a:srgbClr val="072A67"/>
            </a:solidFill>
            <a:prstDash val="solid"/>
          </a:ln>
        </p:spPr>
        <p:txBody>
          <a:bodyPr wrap="square" lIns="57150" tIns="28575" rIns="57150" bIns="28575" anchor="ctr">
            <a:normAutofit/>
          </a:bodyPr>
          <a:lstStyle/>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err="1">
                <a:solidFill>
                  <a:srgbClr val="072A67"/>
                </a:solidFill>
                <a:latin typeface="微软雅黑" panose="020B0503020204020204" charset="-122"/>
                <a:ea typeface="微软雅黑" panose="020B0503020204020204" charset="-122"/>
                <a:cs typeface="微软雅黑" panose="020B0503020204020204" charset="-122"/>
              </a:rPr>
              <a:t>用户任务</a:t>
            </a:r>
            <a:endParaRPr sz="1015"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51" name="s3-flow-node-2"/>
          <p:cNvSpPr>
            <a:spLocks noGrp="1"/>
          </p:cNvSpPr>
          <p:nvPr/>
        </p:nvSpPr>
        <p:spPr>
          <a:xfrm>
            <a:off x="3252787" y="5216138"/>
            <a:ext cx="1285875" cy="495300"/>
          </a:xfrm>
          <a:prstGeom prst="roundRect">
            <a:avLst>
              <a:gd name="adj" fmla="val 15385"/>
            </a:avLst>
          </a:prstGeom>
          <a:solidFill>
            <a:srgbClr val="FFFFFF"/>
          </a:solidFill>
          <a:ln w="13335">
            <a:solidFill>
              <a:srgbClr val="072A67"/>
            </a:solidFill>
            <a:prstDash val="solid"/>
          </a:ln>
        </p:spPr>
        <p:txBody>
          <a:bodyPr wrap="square" lIns="57150" tIns="28575" rIns="57150" bIns="28575" anchor="ctr">
            <a:normAutofit/>
          </a:bodyPr>
          <a:lstStyle/>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a:solidFill>
                  <a:srgbClr val="072A67"/>
                </a:solidFill>
                <a:latin typeface="微软雅黑" panose="020B0503020204020204" charset="-122"/>
                <a:ea typeface="微软雅黑" panose="020B0503020204020204" charset="-122"/>
                <a:cs typeface="微软雅黑" panose="020B0503020204020204" charset="-122"/>
              </a:rPr>
              <a:t>Agent</a:t>
            </a:r>
          </a:p>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a:solidFill>
                  <a:srgbClr val="072A67"/>
                </a:solidFill>
                <a:latin typeface="微软雅黑" panose="020B0503020204020204" charset="-122"/>
                <a:ea typeface="微软雅黑" panose="020B0503020204020204" charset="-122"/>
                <a:cs typeface="微软雅黑" panose="020B0503020204020204" charset="-122"/>
              </a:rPr>
              <a:t>理解目标</a:t>
            </a:r>
          </a:p>
        </p:txBody>
      </p:sp>
      <p:sp>
        <p:nvSpPr>
          <p:cNvPr id="52" name="s3-flow-node-3"/>
          <p:cNvSpPr>
            <a:spLocks noGrp="1"/>
          </p:cNvSpPr>
          <p:nvPr/>
        </p:nvSpPr>
        <p:spPr>
          <a:xfrm>
            <a:off x="4862512" y="5216138"/>
            <a:ext cx="1285875" cy="495300"/>
          </a:xfrm>
          <a:prstGeom prst="roundRect">
            <a:avLst>
              <a:gd name="adj" fmla="val 15385"/>
            </a:avLst>
          </a:prstGeom>
          <a:solidFill>
            <a:srgbClr val="FFFFFF"/>
          </a:solidFill>
          <a:ln w="13335">
            <a:solidFill>
              <a:srgbClr val="072A67"/>
            </a:solidFill>
            <a:prstDash val="solid"/>
          </a:ln>
        </p:spPr>
        <p:txBody>
          <a:bodyPr wrap="square" lIns="57150" tIns="28575" rIns="57150" bIns="28575" anchor="ctr">
            <a:normAutofit/>
          </a:bodyPr>
          <a:lstStyle/>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err="1">
                <a:solidFill>
                  <a:srgbClr val="072A67"/>
                </a:solidFill>
                <a:latin typeface="微软雅黑" panose="020B0503020204020204" charset="-122"/>
                <a:ea typeface="微软雅黑" panose="020B0503020204020204" charset="-122"/>
                <a:cs typeface="微软雅黑" panose="020B0503020204020204" charset="-122"/>
              </a:rPr>
              <a:t>判断</a:t>
            </a:r>
            <a:endParaRPr sz="1015" b="1" dirty="0">
              <a:solidFill>
                <a:srgbClr val="072A67"/>
              </a:solidFill>
              <a:latin typeface="微软雅黑" panose="020B0503020204020204" charset="-122"/>
              <a:ea typeface="微软雅黑" panose="020B0503020204020204" charset="-122"/>
              <a:cs typeface="微软雅黑" panose="020B0503020204020204" charset="-122"/>
            </a:endParaRPr>
          </a:p>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err="1">
                <a:solidFill>
                  <a:srgbClr val="072A67"/>
                </a:solidFill>
                <a:latin typeface="微软雅黑" panose="020B0503020204020204" charset="-122"/>
                <a:ea typeface="微软雅黑" panose="020B0503020204020204" charset="-122"/>
                <a:cs typeface="微软雅黑" panose="020B0503020204020204" charset="-122"/>
              </a:rPr>
              <a:t>所需能力</a:t>
            </a:r>
            <a:endParaRPr sz="1015"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53" name="s3-flow-node-4"/>
          <p:cNvSpPr>
            <a:spLocks noGrp="1"/>
          </p:cNvSpPr>
          <p:nvPr/>
        </p:nvSpPr>
        <p:spPr>
          <a:xfrm>
            <a:off x="6472237" y="5216138"/>
            <a:ext cx="1285875" cy="495300"/>
          </a:xfrm>
          <a:prstGeom prst="roundRect">
            <a:avLst>
              <a:gd name="adj" fmla="val 15385"/>
            </a:avLst>
          </a:prstGeom>
          <a:solidFill>
            <a:srgbClr val="EFF9FD"/>
          </a:solidFill>
          <a:ln w="13335">
            <a:solidFill>
              <a:srgbClr val="0F9ED5"/>
            </a:solidFill>
            <a:prstDash val="solid"/>
          </a:ln>
        </p:spPr>
        <p:txBody>
          <a:bodyPr wrap="square" lIns="57150" tIns="28575" rIns="57150" bIns="28575" anchor="ctr">
            <a:normAutofit/>
          </a:bodyPr>
          <a:lstStyle/>
          <a:p>
            <a:pPr algn="ctr">
              <a:defRPr sz="1015" b="1">
                <a:solidFill>
                  <a:srgbClr val="0F9ED5"/>
                </a:solidFill>
                <a:latin typeface="微软雅黑" panose="020B0503020204020204" charset="-122"/>
                <a:ea typeface="微软雅黑" panose="020B0503020204020204" charset="-122"/>
                <a:cs typeface="微软雅黑" panose="020B0503020204020204" charset="-122"/>
              </a:defRPr>
            </a:pPr>
            <a:r>
              <a:rPr sz="1015" b="1" dirty="0" smtClean="0">
                <a:solidFill>
                  <a:srgbClr val="0F9ED5"/>
                </a:solidFill>
                <a:latin typeface="微软雅黑" panose="020B0503020204020204" charset="-122"/>
                <a:ea typeface="微软雅黑" panose="020B0503020204020204" charset="-122"/>
                <a:cs typeface="微软雅黑" panose="020B0503020204020204" charset="-122"/>
              </a:rPr>
              <a:t> </a:t>
            </a:r>
            <a:r>
              <a:rPr sz="1015" b="1" dirty="0" err="1">
                <a:solidFill>
                  <a:srgbClr val="0F9ED5"/>
                </a:solidFill>
                <a:latin typeface="微软雅黑" panose="020B0503020204020204" charset="-122"/>
                <a:ea typeface="微软雅黑" panose="020B0503020204020204" charset="-122"/>
                <a:cs typeface="微软雅黑" panose="020B0503020204020204" charset="-122"/>
              </a:rPr>
              <a:t>加载</a:t>
            </a:r>
            <a:endParaRPr sz="1015" b="1" dirty="0">
              <a:solidFill>
                <a:srgbClr val="0F9ED5"/>
              </a:solidFill>
              <a:latin typeface="微软雅黑" panose="020B0503020204020204" charset="-122"/>
              <a:ea typeface="微软雅黑" panose="020B0503020204020204" charset="-122"/>
              <a:cs typeface="微软雅黑" panose="020B0503020204020204" charset="-122"/>
            </a:endParaRPr>
          </a:p>
          <a:p>
            <a:pPr algn="ctr">
              <a:defRPr sz="1015" b="1">
                <a:solidFill>
                  <a:srgbClr val="0F9ED5"/>
                </a:solidFill>
                <a:latin typeface="微软雅黑" panose="020B0503020204020204" charset="-122"/>
                <a:ea typeface="微软雅黑" panose="020B0503020204020204" charset="-122"/>
                <a:cs typeface="微软雅黑" panose="020B0503020204020204" charset="-122"/>
              </a:defRPr>
            </a:pPr>
            <a:r>
              <a:rPr sz="1015" b="1" dirty="0">
                <a:solidFill>
                  <a:srgbClr val="0F9ED5"/>
                </a:solidFill>
                <a:latin typeface="微软雅黑" panose="020B0503020204020204" charset="-122"/>
                <a:ea typeface="微软雅黑" panose="020B0503020204020204" charset="-122"/>
                <a:cs typeface="微软雅黑" panose="020B0503020204020204" charset="-122"/>
              </a:rPr>
              <a:t>Skill</a:t>
            </a:r>
          </a:p>
        </p:txBody>
      </p:sp>
      <p:sp>
        <p:nvSpPr>
          <p:cNvPr id="54" name="s3-flow-node-5"/>
          <p:cNvSpPr>
            <a:spLocks noGrp="1"/>
          </p:cNvSpPr>
          <p:nvPr/>
        </p:nvSpPr>
        <p:spPr>
          <a:xfrm>
            <a:off x="8081962" y="5216138"/>
            <a:ext cx="1285875" cy="495300"/>
          </a:xfrm>
          <a:prstGeom prst="roundRect">
            <a:avLst>
              <a:gd name="adj" fmla="val 15385"/>
            </a:avLst>
          </a:prstGeom>
          <a:solidFill>
            <a:srgbClr val="EFF9FD"/>
          </a:solidFill>
          <a:ln w="13335">
            <a:solidFill>
              <a:srgbClr val="0F9ED5"/>
            </a:solidFill>
            <a:prstDash val="solid"/>
          </a:ln>
        </p:spPr>
        <p:txBody>
          <a:bodyPr wrap="square" lIns="57150" tIns="28575" rIns="57150" bIns="28575" anchor="ctr">
            <a:normAutofit/>
          </a:bodyPr>
          <a:lstStyle/>
          <a:p>
            <a:pPr algn="ctr">
              <a:defRPr sz="1015" b="1">
                <a:solidFill>
                  <a:srgbClr val="0F9ED5"/>
                </a:solidFill>
                <a:latin typeface="微软雅黑" panose="020B0503020204020204" charset="-122"/>
                <a:ea typeface="微软雅黑" panose="020B0503020204020204" charset="-122"/>
                <a:cs typeface="微软雅黑" panose="020B0503020204020204" charset="-122"/>
              </a:defRPr>
            </a:pPr>
            <a:r>
              <a:rPr sz="1015" b="1">
                <a:solidFill>
                  <a:srgbClr val="0F9ED5"/>
                </a:solidFill>
                <a:latin typeface="微软雅黑" panose="020B0503020204020204" charset="-122"/>
                <a:ea typeface="微软雅黑" panose="020B0503020204020204" charset="-122"/>
                <a:cs typeface="微软雅黑" panose="020B0503020204020204" charset="-122"/>
              </a:rPr>
              <a:t>按 Skill</a:t>
            </a:r>
          </a:p>
          <a:p>
            <a:pPr algn="ctr">
              <a:defRPr sz="1015" b="1">
                <a:solidFill>
                  <a:srgbClr val="0F9ED5"/>
                </a:solidFill>
                <a:latin typeface="微软雅黑" panose="020B0503020204020204" charset="-122"/>
                <a:ea typeface="微软雅黑" panose="020B0503020204020204" charset="-122"/>
                <a:cs typeface="微软雅黑" panose="020B0503020204020204" charset="-122"/>
              </a:defRPr>
            </a:pPr>
            <a:r>
              <a:rPr sz="1015" b="1">
                <a:solidFill>
                  <a:srgbClr val="0F9ED5"/>
                </a:solidFill>
                <a:latin typeface="微软雅黑" panose="020B0503020204020204" charset="-122"/>
                <a:ea typeface="微软雅黑" panose="020B0503020204020204" charset="-122"/>
                <a:cs typeface="微软雅黑" panose="020B0503020204020204" charset="-122"/>
              </a:rPr>
              <a:t>Workflow 执行</a:t>
            </a:r>
          </a:p>
        </p:txBody>
      </p:sp>
      <p:sp>
        <p:nvSpPr>
          <p:cNvPr id="56" name="s3-flow-node-7"/>
          <p:cNvSpPr>
            <a:spLocks noGrp="1"/>
          </p:cNvSpPr>
          <p:nvPr/>
        </p:nvSpPr>
        <p:spPr>
          <a:xfrm>
            <a:off x="9691687" y="5214080"/>
            <a:ext cx="1285875" cy="495300"/>
          </a:xfrm>
          <a:prstGeom prst="roundRect">
            <a:avLst>
              <a:gd name="adj" fmla="val 15385"/>
            </a:avLst>
          </a:prstGeom>
          <a:solidFill>
            <a:srgbClr val="FFFFFF"/>
          </a:solidFill>
          <a:ln w="13335">
            <a:solidFill>
              <a:srgbClr val="072A67"/>
            </a:solidFill>
            <a:prstDash val="solid"/>
          </a:ln>
        </p:spPr>
        <p:txBody>
          <a:bodyPr wrap="square" lIns="57150" tIns="28575" rIns="57150" bIns="28575" anchor="ctr">
            <a:normAutofit/>
          </a:bodyPr>
          <a:lstStyle/>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a:solidFill>
                  <a:srgbClr val="072A67"/>
                </a:solidFill>
                <a:latin typeface="微软雅黑" panose="020B0503020204020204" charset="-122"/>
                <a:ea typeface="微软雅黑" panose="020B0503020204020204" charset="-122"/>
                <a:cs typeface="微软雅黑" panose="020B0503020204020204" charset="-122"/>
              </a:rPr>
              <a:t>观察结果</a:t>
            </a:r>
          </a:p>
          <a:p>
            <a:pPr algn="ctr">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a:solidFill>
                  <a:srgbClr val="072A67"/>
                </a:solidFill>
                <a:latin typeface="微软雅黑" panose="020B0503020204020204" charset="-122"/>
                <a:ea typeface="微软雅黑" panose="020B0503020204020204" charset="-122"/>
                <a:cs typeface="微软雅黑" panose="020B0503020204020204" charset="-122"/>
              </a:rPr>
              <a:t>继续 / 输出</a:t>
            </a:r>
          </a:p>
        </p:txBody>
      </p:sp>
      <p:cxnSp>
        <p:nvCxnSpPr>
          <p:cNvPr id="116" name="s3-flow-edge-1"/>
          <p:cNvCxnSpPr>
            <a:stCxn id="50" idx="3"/>
            <a:endCxn id="51" idx="1"/>
          </p:cNvCxnSpPr>
          <p:nvPr/>
        </p:nvCxnSpPr>
        <p:spPr>
          <a:xfrm>
            <a:off x="2928937" y="5463788"/>
            <a:ext cx="323850" cy="0"/>
          </a:xfrm>
          <a:prstGeom prst="straightConnector1">
            <a:avLst/>
          </a:prstGeom>
          <a:ln w="13335">
            <a:solidFill>
              <a:srgbClr val="072A67"/>
            </a:solidFill>
            <a:prstDash val="solid"/>
            <a:tailEnd type="triangle" w="sm" len="sm"/>
          </a:ln>
        </p:spPr>
      </p:cxnSp>
      <p:cxnSp>
        <p:nvCxnSpPr>
          <p:cNvPr id="117" name="s3-flow-edge-2"/>
          <p:cNvCxnSpPr>
            <a:stCxn id="51" idx="3"/>
            <a:endCxn id="52" idx="1"/>
          </p:cNvCxnSpPr>
          <p:nvPr/>
        </p:nvCxnSpPr>
        <p:spPr>
          <a:xfrm>
            <a:off x="4538662" y="5463788"/>
            <a:ext cx="323850" cy="0"/>
          </a:xfrm>
          <a:prstGeom prst="straightConnector1">
            <a:avLst/>
          </a:prstGeom>
          <a:ln w="13335">
            <a:solidFill>
              <a:srgbClr val="072A67"/>
            </a:solidFill>
            <a:prstDash val="solid"/>
            <a:tailEnd type="triangle" w="sm" len="sm"/>
          </a:ln>
        </p:spPr>
      </p:cxnSp>
      <p:cxnSp>
        <p:nvCxnSpPr>
          <p:cNvPr id="118" name="s3-flow-edge-3"/>
          <p:cNvCxnSpPr>
            <a:stCxn id="52" idx="3"/>
            <a:endCxn id="53" idx="1"/>
          </p:cNvCxnSpPr>
          <p:nvPr/>
        </p:nvCxnSpPr>
        <p:spPr>
          <a:xfrm>
            <a:off x="6148387" y="5463788"/>
            <a:ext cx="323850" cy="0"/>
          </a:xfrm>
          <a:prstGeom prst="straightConnector1">
            <a:avLst/>
          </a:prstGeom>
          <a:ln w="13335">
            <a:solidFill>
              <a:srgbClr val="0F9ED5"/>
            </a:solidFill>
            <a:prstDash val="solid"/>
            <a:tailEnd type="triangle" w="sm" len="sm"/>
          </a:ln>
        </p:spPr>
      </p:cxnSp>
      <p:cxnSp>
        <p:nvCxnSpPr>
          <p:cNvPr id="119" name="s3-flow-edge-4"/>
          <p:cNvCxnSpPr>
            <a:stCxn id="53" idx="3"/>
            <a:endCxn id="54" idx="1"/>
          </p:cNvCxnSpPr>
          <p:nvPr/>
        </p:nvCxnSpPr>
        <p:spPr>
          <a:xfrm>
            <a:off x="7758112" y="5463788"/>
            <a:ext cx="323850" cy="0"/>
          </a:xfrm>
          <a:prstGeom prst="straightConnector1">
            <a:avLst/>
          </a:prstGeom>
          <a:ln w="13335">
            <a:solidFill>
              <a:srgbClr val="0F9ED5"/>
            </a:solidFill>
            <a:prstDash val="solid"/>
            <a:tailEnd type="triangle" w="sm" len="sm"/>
          </a:ln>
        </p:spPr>
      </p:cxnSp>
      <p:cxnSp>
        <p:nvCxnSpPr>
          <p:cNvPr id="121" name="s3-flow-edge-6"/>
          <p:cNvCxnSpPr>
            <a:endCxn id="56" idx="1"/>
          </p:cNvCxnSpPr>
          <p:nvPr/>
        </p:nvCxnSpPr>
        <p:spPr>
          <a:xfrm>
            <a:off x="9367837" y="5461730"/>
            <a:ext cx="323850" cy="0"/>
          </a:xfrm>
          <a:prstGeom prst="straightConnector1">
            <a:avLst/>
          </a:prstGeom>
          <a:ln w="13335">
            <a:solidFill>
              <a:srgbClr val="072A67"/>
            </a:solidFill>
            <a:prstDash val="solid"/>
            <a:tailEnd type="triangle" w="sm" len="sm"/>
          </a:ln>
        </p:spPr>
      </p:cxnSp>
      <p:sp>
        <p:nvSpPr>
          <p:cNvPr id="3"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1</a:t>
            </a:r>
          </a:p>
        </p:txBody>
      </p:sp>
      <p:sp>
        <p:nvSpPr>
          <p:cNvPr id="5" name="s13-title-rule"/>
          <p:cNvSpPr>
            <a:spLocks noGrp="1"/>
          </p:cNvSpPr>
          <p:nvPr/>
        </p:nvSpPr>
        <p:spPr>
          <a:xfrm>
            <a:off x="247650" y="714375"/>
            <a:ext cx="11734800" cy="19050"/>
          </a:xfrm>
          <a:prstGeom prst="rect">
            <a:avLst/>
          </a:prstGeom>
          <a:solidFill>
            <a:srgbClr val="0E56C9"/>
          </a:solidFill>
          <a:ln w="0">
            <a:solidFill>
              <a:srgbClr val="0E56C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2-title"/>
          <p:cNvSpPr>
            <a:spLocks noGrp="1"/>
          </p:cNvSpPr>
          <p:nvPr/>
        </p:nvSpPr>
        <p:spPr>
          <a:xfrm>
            <a:off x="1285875" y="171450"/>
            <a:ext cx="9525000" cy="523875"/>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smtClean="0">
                <a:solidFill>
                  <a:srgbClr val="072A67"/>
                </a:solidFill>
                <a:latin typeface="微软雅黑" panose="020B0503020204020204" charset="-122"/>
                <a:ea typeface="微软雅黑" panose="020B0503020204020204" charset="-122"/>
                <a:cs typeface="微软雅黑" panose="020B0503020204020204" charset="-122"/>
              </a:rPr>
              <a:t>Skill</a:t>
            </a:r>
            <a:r>
              <a:rPr lang="zh-CN" altLang="en-US" sz="2850" b="1" dirty="0" err="1">
                <a:solidFill>
                  <a:srgbClr val="072A67"/>
                </a:solidFill>
                <a:latin typeface="微软雅黑" panose="020B0503020204020204" charset="-122"/>
                <a:ea typeface="微软雅黑" panose="020B0503020204020204" charset="-122"/>
                <a:cs typeface="微软雅黑" panose="020B0503020204020204" charset="-122"/>
              </a:rPr>
              <a:t>的</a:t>
            </a:r>
            <a:r>
              <a:rPr sz="2850" b="1" dirty="0" err="1" smtClean="0">
                <a:solidFill>
                  <a:srgbClr val="072A67"/>
                </a:solidFill>
                <a:latin typeface="微软雅黑" panose="020B0503020204020204" charset="-122"/>
                <a:ea typeface="微软雅黑" panose="020B0503020204020204" charset="-122"/>
                <a:cs typeface="微软雅黑" panose="020B0503020204020204" charset="-122"/>
              </a:rPr>
              <a:t>结构</a:t>
            </a:r>
            <a:r>
              <a:rPr sz="2850" b="1" dirty="0" err="1">
                <a:solidFill>
                  <a:srgbClr val="072A67"/>
                </a:solidFill>
                <a:latin typeface="微软雅黑" panose="020B0503020204020204" charset="-122"/>
                <a:ea typeface="微软雅黑" panose="020B0503020204020204" charset="-122"/>
                <a:cs typeface="微软雅黑" panose="020B0503020204020204" charset="-122"/>
              </a:rPr>
              <a:t>、契约与扩展能力</a:t>
            </a:r>
            <a:endParaRPr sz="285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4" name="slide-2-editable-footer"/>
          <p:cNvSpPr>
            <a:spLocks noGrp="1"/>
          </p:cNvSpPr>
          <p:nvPr/>
        </p:nvSpPr>
        <p:spPr>
          <a:xfrm>
            <a:off x="238125" y="6457950"/>
            <a:ext cx="11696700" cy="342900"/>
          </a:xfrm>
          <a:prstGeom prst="roundRect">
            <a:avLst>
              <a:gd name="adj" fmla="val 19444"/>
            </a:avLst>
          </a:prstGeom>
          <a:solidFill>
            <a:srgbClr val="EEF4FE"/>
          </a:solidFill>
          <a:ln w="0">
            <a:noFill/>
            <a:prstDash val="solid"/>
          </a:ln>
        </p:spPr>
        <p:txBody>
          <a:bodyPr wrap="square" lIns="114300" tIns="28575" rIns="114300" bIns="28575" anchor="ctr">
            <a:normAutofit/>
          </a:bodyPr>
          <a:lstStyle/>
          <a:p>
            <a:pPr algn="ctr">
              <a:buNone/>
              <a:defRPr sz="1350" b="1">
                <a:solidFill>
                  <a:srgbClr val="072A67"/>
                </a:solidFill>
                <a:latin typeface="微软雅黑" panose="020B0503020204020204" charset="-122"/>
                <a:ea typeface="微软雅黑" panose="020B0503020204020204" charset="-122"/>
                <a:cs typeface="微软雅黑" panose="020B0503020204020204" charset="-122"/>
              </a:defRPr>
            </a:pPr>
            <a:r>
              <a:rPr sz="1350" b="1">
                <a:solidFill>
                  <a:srgbClr val="072A67"/>
                </a:solidFill>
                <a:latin typeface="微软雅黑" panose="020B0503020204020204" charset="-122"/>
                <a:ea typeface="微软雅黑" panose="020B0503020204020204" charset="-122"/>
                <a:cs typeface="微软雅黑" panose="020B0503020204020204" charset="-122"/>
              </a:rPr>
              <a:t>开发 Skill 需定义结构、契约与拆分；结构清楚只是第一步，下一步是稳定、易维护、易协作。</a:t>
            </a:r>
            <a:endParaRPr sz="1090"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6" name="s4-metadata-surface"/>
          <p:cNvSpPr>
            <a:spLocks noGrp="1"/>
          </p:cNvSpPr>
          <p:nvPr/>
        </p:nvSpPr>
        <p:spPr>
          <a:xfrm>
            <a:off x="247650" y="1371600"/>
            <a:ext cx="2752725" cy="2028825"/>
          </a:xfrm>
          <a:prstGeom prst="roundRect">
            <a:avLst>
              <a:gd name="adj" fmla="val 3756"/>
            </a:avLst>
          </a:prstGeom>
          <a:solidFill>
            <a:srgbClr val="FFFFFF"/>
          </a:solidFill>
          <a:ln w="9525">
            <a:solidFill>
              <a:srgbClr val="CAD7EB"/>
            </a:solidFill>
            <a:prstDash val="solid"/>
          </a:ln>
        </p:spPr>
      </p:sp>
      <p:sp>
        <p:nvSpPr>
          <p:cNvPr id="17" name="s4-metadata-number"/>
          <p:cNvSpPr>
            <a:spLocks noGrp="1"/>
          </p:cNvSpPr>
          <p:nvPr/>
        </p:nvSpPr>
        <p:spPr>
          <a:xfrm>
            <a:off x="381000" y="1476375"/>
            <a:ext cx="342900" cy="295275"/>
          </a:xfrm>
          <a:prstGeom prst="roundRect">
            <a:avLst>
              <a:gd name="adj" fmla="val 19355"/>
            </a:avLst>
          </a:prstGeom>
          <a:solidFill>
            <a:srgbClr val="1457C5"/>
          </a:solidFill>
          <a:ln w="9525">
            <a:solidFill>
              <a:srgbClr val="1457C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01</a:t>
            </a:r>
          </a:p>
        </p:txBody>
      </p:sp>
      <p:sp>
        <p:nvSpPr>
          <p:cNvPr id="19" name="s4-metadata-question"/>
          <p:cNvSpPr>
            <a:spLocks noGrp="1"/>
          </p:cNvSpPr>
          <p:nvPr/>
        </p:nvSpPr>
        <p:spPr>
          <a:xfrm>
            <a:off x="400050" y="1538701"/>
            <a:ext cx="2447925" cy="209550"/>
          </a:xfrm>
          <a:prstGeom prst="rect">
            <a:avLst/>
          </a:prstGeom>
          <a:noFill/>
          <a:ln w="0">
            <a:noFill/>
            <a:prstDash val="solid"/>
          </a:ln>
        </p:spPr>
        <p:txBody>
          <a:bodyPr wrap="square" lIns="38100" tIns="19050" rIns="38100" bIns="19050" anchor="ctr">
            <a:noAutofit/>
          </a:bodyPr>
          <a:lstStyle/>
          <a:p>
            <a:pPr algn="ctr">
              <a:defRPr sz="900" b="1">
                <a:solidFill>
                  <a:srgbClr val="1457C5"/>
                </a:solidFill>
                <a:latin typeface="微软雅黑" panose="020B0503020204020204" charset="-122"/>
                <a:ea typeface="微软雅黑" panose="020B0503020204020204" charset="-122"/>
                <a:cs typeface="微软雅黑" panose="020B0503020204020204" charset="-122"/>
              </a:defRPr>
            </a:pPr>
            <a:r>
              <a:rPr sz="1400" b="1" dirty="0" err="1">
                <a:solidFill>
                  <a:srgbClr val="1457C5"/>
                </a:solidFill>
                <a:latin typeface="微软雅黑" panose="020B0503020204020204" charset="-122"/>
                <a:ea typeface="微软雅黑" panose="020B0503020204020204" charset="-122"/>
                <a:cs typeface="微软雅黑" panose="020B0503020204020204" charset="-122"/>
              </a:rPr>
              <a:t>是什么？何时使用</a:t>
            </a:r>
            <a:r>
              <a:rPr sz="1400" b="1" dirty="0">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20" name="s4-metadata-keyword-1"/>
          <p:cNvSpPr>
            <a:spLocks noGrp="1"/>
          </p:cNvSpPr>
          <p:nvPr/>
        </p:nvSpPr>
        <p:spPr>
          <a:xfrm>
            <a:off x="419100" y="2076450"/>
            <a:ext cx="2409825" cy="190500"/>
          </a:xfrm>
          <a:prstGeom prst="roundRect">
            <a:avLst>
              <a:gd name="adj" fmla="val 35000"/>
            </a:avLst>
          </a:prstGeom>
          <a:solidFill>
            <a:srgbClr val="F5F8FC"/>
          </a:solidFill>
          <a:ln w="9525">
            <a:solidFill>
              <a:srgbClr val="1457C5"/>
            </a:solidFill>
            <a:prstDash val="solid"/>
          </a:ln>
        </p:spPr>
        <p:txBody>
          <a:bodyPr wrap="square" lIns="47625" tIns="9525" rIns="47625" bIns="9525" anchor="ctr">
            <a:normAutofit/>
          </a:bodyPr>
          <a:lstStyle/>
          <a:p>
            <a:pPr algn="ctr">
              <a:defRPr sz="865" b="1">
                <a:solidFill>
                  <a:srgbClr val="1457C5"/>
                </a:solidFill>
                <a:latin typeface="Calibri" panose="020F0502020204030204"/>
                <a:ea typeface="Calibri" panose="020F0502020204030204"/>
                <a:cs typeface="Calibri" panose="020F0502020204030204"/>
              </a:defRPr>
            </a:pPr>
            <a:r>
              <a:rPr sz="865" b="1">
                <a:solidFill>
                  <a:srgbClr val="1457C5"/>
                </a:solidFill>
                <a:latin typeface="Calibri" panose="020F0502020204030204"/>
                <a:ea typeface="Calibri" panose="020F0502020204030204"/>
                <a:cs typeface="Calibri" panose="020F0502020204030204"/>
              </a:rPr>
              <a:t>Name</a:t>
            </a:r>
          </a:p>
        </p:txBody>
      </p:sp>
      <p:sp>
        <p:nvSpPr>
          <p:cNvPr id="21" name="s4-metadata-keyword-2"/>
          <p:cNvSpPr>
            <a:spLocks noGrp="1"/>
          </p:cNvSpPr>
          <p:nvPr/>
        </p:nvSpPr>
        <p:spPr>
          <a:xfrm>
            <a:off x="419100" y="2314575"/>
            <a:ext cx="2409825" cy="190500"/>
          </a:xfrm>
          <a:prstGeom prst="roundRect">
            <a:avLst>
              <a:gd name="adj" fmla="val 35000"/>
            </a:avLst>
          </a:prstGeom>
          <a:solidFill>
            <a:srgbClr val="FFFFFF"/>
          </a:solidFill>
          <a:ln w="9525">
            <a:solidFill>
              <a:srgbClr val="1457C5"/>
            </a:solidFill>
            <a:prstDash val="solid"/>
          </a:ln>
        </p:spPr>
        <p:txBody>
          <a:bodyPr wrap="square" lIns="47625" tIns="9525" rIns="47625" bIns="9525" anchor="ctr">
            <a:normAutofit/>
          </a:bodyPr>
          <a:lstStyle/>
          <a:p>
            <a:pPr algn="ctr">
              <a:defRPr sz="865" b="1">
                <a:solidFill>
                  <a:srgbClr val="1457C5"/>
                </a:solidFill>
                <a:latin typeface="Calibri" panose="020F0502020204030204"/>
                <a:ea typeface="Calibri" panose="020F0502020204030204"/>
                <a:cs typeface="Calibri" panose="020F0502020204030204"/>
              </a:defRPr>
            </a:pPr>
            <a:r>
              <a:rPr sz="865" b="1">
                <a:solidFill>
                  <a:srgbClr val="1457C5"/>
                </a:solidFill>
                <a:latin typeface="Calibri" panose="020F0502020204030204"/>
                <a:ea typeface="Calibri" panose="020F0502020204030204"/>
                <a:cs typeface="Calibri" panose="020F0502020204030204"/>
              </a:rPr>
              <a:t>Description</a:t>
            </a:r>
          </a:p>
        </p:txBody>
      </p:sp>
      <p:sp>
        <p:nvSpPr>
          <p:cNvPr id="22" name="s4-metadata-keyword-3"/>
          <p:cNvSpPr>
            <a:spLocks noGrp="1"/>
          </p:cNvSpPr>
          <p:nvPr/>
        </p:nvSpPr>
        <p:spPr>
          <a:xfrm>
            <a:off x="419100" y="2552700"/>
            <a:ext cx="2409825" cy="190500"/>
          </a:xfrm>
          <a:prstGeom prst="roundRect">
            <a:avLst>
              <a:gd name="adj" fmla="val 35000"/>
            </a:avLst>
          </a:prstGeom>
          <a:solidFill>
            <a:srgbClr val="F5F8FC"/>
          </a:solidFill>
          <a:ln w="9525">
            <a:solidFill>
              <a:srgbClr val="1457C5"/>
            </a:solidFill>
            <a:prstDash val="solid"/>
          </a:ln>
        </p:spPr>
        <p:txBody>
          <a:bodyPr wrap="square" lIns="47625" tIns="9525" rIns="47625" bIns="9525" anchor="ctr">
            <a:normAutofit/>
          </a:bodyPr>
          <a:lstStyle/>
          <a:p>
            <a:pPr algn="ctr">
              <a:defRPr sz="865" b="1">
                <a:solidFill>
                  <a:srgbClr val="1457C5"/>
                </a:solidFill>
                <a:latin typeface="Calibri" panose="020F0502020204030204"/>
                <a:ea typeface="Calibri" panose="020F0502020204030204"/>
                <a:cs typeface="Calibri" panose="020F0502020204030204"/>
              </a:defRPr>
            </a:pPr>
            <a:r>
              <a:rPr sz="865" b="1">
                <a:solidFill>
                  <a:srgbClr val="1457C5"/>
                </a:solidFill>
                <a:latin typeface="Calibri" panose="020F0502020204030204"/>
                <a:ea typeface="Calibri" panose="020F0502020204030204"/>
                <a:cs typeface="Calibri" panose="020F0502020204030204"/>
              </a:rPr>
              <a:t>Scope / Trigger</a:t>
            </a:r>
          </a:p>
        </p:txBody>
      </p:sp>
      <p:sp>
        <p:nvSpPr>
          <p:cNvPr id="23" name="s4-metadata-divider"/>
          <p:cNvSpPr>
            <a:spLocks noGrp="1"/>
          </p:cNvSpPr>
          <p:nvPr/>
        </p:nvSpPr>
        <p:spPr>
          <a:xfrm>
            <a:off x="381000" y="3048000"/>
            <a:ext cx="2486025" cy="9525"/>
          </a:xfrm>
          <a:prstGeom prst="rect">
            <a:avLst/>
          </a:prstGeom>
          <a:solidFill>
            <a:srgbClr val="CAD7EB"/>
          </a:solidFill>
          <a:ln w="9525">
            <a:solidFill>
              <a:srgbClr val="CAD7EB"/>
            </a:solidFill>
            <a:prstDash val="solid"/>
          </a:ln>
        </p:spPr>
      </p:sp>
      <p:sp>
        <p:nvSpPr>
          <p:cNvPr id="24" name="s4-metadata-summary"/>
          <p:cNvSpPr>
            <a:spLocks noGrp="1"/>
          </p:cNvSpPr>
          <p:nvPr/>
        </p:nvSpPr>
        <p:spPr>
          <a:xfrm>
            <a:off x="419100" y="3086100"/>
            <a:ext cx="2409825" cy="27622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定义 Skill 身份、适用任务与触发边界。</a:t>
            </a:r>
          </a:p>
        </p:txBody>
      </p:sp>
      <p:sp>
        <p:nvSpPr>
          <p:cNvPr id="25" name="s4-instructions-surface"/>
          <p:cNvSpPr>
            <a:spLocks noGrp="1"/>
          </p:cNvSpPr>
          <p:nvPr/>
        </p:nvSpPr>
        <p:spPr>
          <a:xfrm>
            <a:off x="3133725" y="1371600"/>
            <a:ext cx="2752725" cy="2028825"/>
          </a:xfrm>
          <a:prstGeom prst="roundRect">
            <a:avLst>
              <a:gd name="adj" fmla="val 3756"/>
            </a:avLst>
          </a:prstGeom>
          <a:solidFill>
            <a:srgbClr val="FFFFFF"/>
          </a:solidFill>
          <a:ln w="9525">
            <a:solidFill>
              <a:srgbClr val="CAD7EB"/>
            </a:solidFill>
            <a:prstDash val="solid"/>
          </a:ln>
        </p:spPr>
      </p:sp>
      <p:sp>
        <p:nvSpPr>
          <p:cNvPr id="26" name="s4-instructions-number"/>
          <p:cNvSpPr>
            <a:spLocks noGrp="1"/>
          </p:cNvSpPr>
          <p:nvPr/>
        </p:nvSpPr>
        <p:spPr>
          <a:xfrm>
            <a:off x="3267075" y="1476375"/>
            <a:ext cx="342900" cy="295275"/>
          </a:xfrm>
          <a:prstGeom prst="roundRect">
            <a:avLst>
              <a:gd name="adj" fmla="val 19355"/>
            </a:avLst>
          </a:prstGeom>
          <a:solidFill>
            <a:srgbClr val="1359B8"/>
          </a:solidFill>
          <a:ln w="9525">
            <a:solidFill>
              <a:srgbClr val="1359B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02</a:t>
            </a:r>
          </a:p>
        </p:txBody>
      </p:sp>
      <p:sp>
        <p:nvSpPr>
          <p:cNvPr id="27" name="s4-instructions-title"/>
          <p:cNvSpPr>
            <a:spLocks noGrp="1"/>
          </p:cNvSpPr>
          <p:nvPr/>
        </p:nvSpPr>
        <p:spPr>
          <a:xfrm>
            <a:off x="3714750" y="1476375"/>
            <a:ext cx="2057400" cy="352425"/>
          </a:xfrm>
          <a:prstGeom prst="rect">
            <a:avLst/>
          </a:prstGeom>
          <a:noFill/>
          <a:ln w="0">
            <a:noFill/>
            <a:prstDash val="solid"/>
          </a:ln>
        </p:spPr>
        <p:txBody>
          <a:bodyPr wrap="square" lIns="38100" tIns="19050" rIns="38100" bIns="19050" anchor="ctr">
            <a:normAutofit/>
          </a:bodyPr>
          <a:lstStyle/>
          <a:p>
            <a:pPr>
              <a:defRPr sz="1200" b="1">
                <a:solidFill>
                  <a:srgbClr val="072A67"/>
                </a:solidFill>
                <a:latin typeface="Calibri" panose="020F0502020204030204"/>
                <a:ea typeface="Calibri" panose="020F0502020204030204"/>
                <a:cs typeface="Calibri" panose="020F0502020204030204"/>
              </a:defRPr>
            </a:pPr>
            <a:r>
              <a:rPr lang="zh-CN" altLang="en-US" sz="1400" b="1" dirty="0">
                <a:solidFill>
                  <a:srgbClr val="1359B8"/>
                </a:solidFill>
                <a:latin typeface="微软雅黑" panose="020B0503020204020204" charset="-122"/>
                <a:ea typeface="微软雅黑" panose="020B0503020204020204" charset="-122"/>
                <a:cs typeface="微软雅黑" panose="020B0503020204020204" charset="-122"/>
              </a:rPr>
              <a:t>任务具体怎么做</a:t>
            </a:r>
            <a:r>
              <a:rPr lang="zh-CN" altLang="en-US" sz="1400" b="1" dirty="0" smtClean="0">
                <a:solidFill>
                  <a:srgbClr val="1359B8"/>
                </a:solidFill>
                <a:latin typeface="微软雅黑" panose="020B0503020204020204" charset="-122"/>
                <a:ea typeface="微软雅黑" panose="020B0503020204020204" charset="-122"/>
                <a:cs typeface="微软雅黑" panose="020B0503020204020204" charset="-122"/>
              </a:rPr>
              <a:t>？</a:t>
            </a:r>
            <a:endParaRPr lang="zh-CN" altLang="en-US" sz="1400" b="1" dirty="0">
              <a:solidFill>
                <a:srgbClr val="1359B8"/>
              </a:solidFill>
              <a:latin typeface="微软雅黑" panose="020B0503020204020204" charset="-122"/>
              <a:ea typeface="微软雅黑" panose="020B0503020204020204" charset="-122"/>
              <a:cs typeface="微软雅黑" panose="020B0503020204020204" charset="-122"/>
            </a:endParaRPr>
          </a:p>
        </p:txBody>
      </p:sp>
      <p:sp>
        <p:nvSpPr>
          <p:cNvPr id="28" name="s4-instructions-question"/>
          <p:cNvSpPr>
            <a:spLocks noGrp="1"/>
          </p:cNvSpPr>
          <p:nvPr/>
        </p:nvSpPr>
        <p:spPr>
          <a:xfrm>
            <a:off x="3286125" y="1800225"/>
            <a:ext cx="2447925" cy="209550"/>
          </a:xfrm>
          <a:prstGeom prst="rect">
            <a:avLst/>
          </a:prstGeom>
          <a:noFill/>
          <a:ln w="0">
            <a:noFill/>
            <a:prstDash val="solid"/>
          </a:ln>
        </p:spPr>
        <p:txBody>
          <a:bodyPr wrap="square" lIns="38100" tIns="19050" rIns="38100" bIns="19050" anchor="ctr">
            <a:normAutofit/>
          </a:bodyPr>
          <a:lstStyle/>
          <a:p>
            <a:pPr algn="ctr">
              <a:defRPr sz="900" b="1">
                <a:solidFill>
                  <a:srgbClr val="1359B8"/>
                </a:solidFill>
                <a:latin typeface="微软雅黑" panose="020B0503020204020204" charset="-122"/>
                <a:ea typeface="微软雅黑" panose="020B0503020204020204" charset="-122"/>
                <a:cs typeface="微软雅黑" panose="020B0503020204020204" charset="-122"/>
              </a:defRPr>
            </a:pPr>
            <a:endParaRPr sz="900" b="1" dirty="0">
              <a:solidFill>
                <a:srgbClr val="1359B8"/>
              </a:solidFill>
              <a:latin typeface="微软雅黑" panose="020B0503020204020204" charset="-122"/>
              <a:ea typeface="微软雅黑" panose="020B0503020204020204" charset="-122"/>
              <a:cs typeface="微软雅黑" panose="020B0503020204020204" charset="-122"/>
            </a:endParaRPr>
          </a:p>
        </p:txBody>
      </p:sp>
      <p:sp>
        <p:nvSpPr>
          <p:cNvPr id="29" name="s4-instructions-keyword-1"/>
          <p:cNvSpPr>
            <a:spLocks noGrp="1"/>
          </p:cNvSpPr>
          <p:nvPr/>
        </p:nvSpPr>
        <p:spPr>
          <a:xfrm>
            <a:off x="3305175" y="2076450"/>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defRPr sz="865" b="1">
                <a:solidFill>
                  <a:srgbClr val="1359B8"/>
                </a:solidFill>
                <a:latin typeface="Calibri" panose="020F0502020204030204"/>
                <a:ea typeface="Calibri" panose="020F0502020204030204"/>
                <a:cs typeface="Calibri" panose="020F0502020204030204"/>
              </a:defRPr>
            </a:pPr>
            <a:r>
              <a:rPr sz="865" b="1">
                <a:solidFill>
                  <a:srgbClr val="1359B8"/>
                </a:solidFill>
                <a:latin typeface="Calibri" panose="020F0502020204030204"/>
                <a:ea typeface="Calibri" panose="020F0502020204030204"/>
                <a:cs typeface="Calibri" panose="020F0502020204030204"/>
              </a:rPr>
              <a:t>Workflow / Rules</a:t>
            </a:r>
          </a:p>
        </p:txBody>
      </p:sp>
      <p:sp>
        <p:nvSpPr>
          <p:cNvPr id="30" name="s4-instructions-keyword-2"/>
          <p:cNvSpPr>
            <a:spLocks noGrp="1"/>
          </p:cNvSpPr>
          <p:nvPr/>
        </p:nvSpPr>
        <p:spPr>
          <a:xfrm>
            <a:off x="3305175" y="2314575"/>
            <a:ext cx="2409825" cy="190500"/>
          </a:xfrm>
          <a:prstGeom prst="roundRect">
            <a:avLst>
              <a:gd name="adj" fmla="val 35000"/>
            </a:avLst>
          </a:prstGeom>
          <a:solidFill>
            <a:srgbClr val="FFFFFF"/>
          </a:solidFill>
          <a:ln w="9525">
            <a:solidFill>
              <a:srgbClr val="1359B8"/>
            </a:solidFill>
            <a:prstDash val="solid"/>
          </a:ln>
        </p:spPr>
        <p:txBody>
          <a:bodyPr wrap="square" lIns="47625" tIns="9525" rIns="47625" bIns="9525" anchor="ctr">
            <a:normAutofit/>
          </a:bodyPr>
          <a:lstStyle/>
          <a:p>
            <a:pPr algn="ctr">
              <a:defRPr sz="865" b="1">
                <a:solidFill>
                  <a:srgbClr val="1359B8"/>
                </a:solidFill>
                <a:latin typeface="Calibri" panose="020F0502020204030204"/>
                <a:ea typeface="Calibri" panose="020F0502020204030204"/>
                <a:cs typeface="Calibri" panose="020F0502020204030204"/>
              </a:defRPr>
            </a:pPr>
            <a:r>
              <a:rPr sz="865" b="1">
                <a:solidFill>
                  <a:srgbClr val="1359B8"/>
                </a:solidFill>
                <a:latin typeface="Calibri" panose="020F0502020204030204"/>
                <a:ea typeface="Calibri" panose="020F0502020204030204"/>
                <a:cs typeface="Calibri" panose="020F0502020204030204"/>
              </a:rPr>
              <a:t>Constraints</a:t>
            </a:r>
          </a:p>
        </p:txBody>
      </p:sp>
      <p:sp>
        <p:nvSpPr>
          <p:cNvPr id="31" name="s4-instructions-keyword-3"/>
          <p:cNvSpPr>
            <a:spLocks noGrp="1"/>
          </p:cNvSpPr>
          <p:nvPr/>
        </p:nvSpPr>
        <p:spPr>
          <a:xfrm>
            <a:off x="3305175" y="2552700"/>
            <a:ext cx="2409825" cy="190500"/>
          </a:xfrm>
          <a:prstGeom prst="roundRect">
            <a:avLst>
              <a:gd name="adj" fmla="val 35000"/>
            </a:avLst>
          </a:prstGeom>
          <a:solidFill>
            <a:srgbClr val="F5F8FC"/>
          </a:solidFill>
          <a:ln w="9525">
            <a:solidFill>
              <a:srgbClr val="1359B8"/>
            </a:solidFill>
            <a:prstDash val="solid"/>
          </a:ln>
        </p:spPr>
        <p:txBody>
          <a:bodyPr wrap="square" lIns="47625" tIns="9525" rIns="47625" bIns="9525" anchor="ctr">
            <a:normAutofit/>
          </a:bodyPr>
          <a:lstStyle/>
          <a:p>
            <a:pPr algn="ctr">
              <a:defRPr sz="865" b="1">
                <a:solidFill>
                  <a:srgbClr val="1359B8"/>
                </a:solidFill>
                <a:latin typeface="Calibri" panose="020F0502020204030204"/>
                <a:ea typeface="Calibri" panose="020F0502020204030204"/>
                <a:cs typeface="Calibri" panose="020F0502020204030204"/>
              </a:defRPr>
            </a:pPr>
            <a:r>
              <a:rPr sz="865" b="1">
                <a:solidFill>
                  <a:srgbClr val="1359B8"/>
                </a:solidFill>
                <a:latin typeface="Calibri" panose="020F0502020204030204"/>
                <a:ea typeface="Calibri" panose="020F0502020204030204"/>
                <a:cs typeface="Calibri" panose="020F0502020204030204"/>
              </a:rPr>
              <a:t>Resource Routing</a:t>
            </a:r>
          </a:p>
        </p:txBody>
      </p:sp>
      <p:sp>
        <p:nvSpPr>
          <p:cNvPr id="32" name="s4-instructions-divider"/>
          <p:cNvSpPr>
            <a:spLocks noGrp="1"/>
          </p:cNvSpPr>
          <p:nvPr/>
        </p:nvSpPr>
        <p:spPr>
          <a:xfrm>
            <a:off x="3267075" y="3048000"/>
            <a:ext cx="2486025" cy="9525"/>
          </a:xfrm>
          <a:prstGeom prst="rect">
            <a:avLst/>
          </a:prstGeom>
          <a:solidFill>
            <a:srgbClr val="CAD7EB"/>
          </a:solidFill>
          <a:ln w="9525">
            <a:solidFill>
              <a:srgbClr val="CAD7EB"/>
            </a:solidFill>
            <a:prstDash val="solid"/>
          </a:ln>
        </p:spPr>
      </p:sp>
      <p:sp>
        <p:nvSpPr>
          <p:cNvPr id="33" name="s4-instructions-summary"/>
          <p:cNvSpPr>
            <a:spLocks noGrp="1"/>
          </p:cNvSpPr>
          <p:nvPr/>
        </p:nvSpPr>
        <p:spPr>
          <a:xfrm>
            <a:off x="3305175" y="3086100"/>
            <a:ext cx="2409825" cy="27622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定义工作步骤、判断逻辑与最终产出。</a:t>
            </a:r>
          </a:p>
        </p:txBody>
      </p:sp>
      <p:sp>
        <p:nvSpPr>
          <p:cNvPr id="34" name="s4-references-surface"/>
          <p:cNvSpPr>
            <a:spLocks noGrp="1"/>
          </p:cNvSpPr>
          <p:nvPr/>
        </p:nvSpPr>
        <p:spPr>
          <a:xfrm>
            <a:off x="6019800" y="1371600"/>
            <a:ext cx="2752725" cy="2028825"/>
          </a:xfrm>
          <a:prstGeom prst="roundRect">
            <a:avLst>
              <a:gd name="adj" fmla="val 3756"/>
            </a:avLst>
          </a:prstGeom>
          <a:solidFill>
            <a:srgbClr val="FFFFFF"/>
          </a:solidFill>
          <a:ln w="9525">
            <a:solidFill>
              <a:srgbClr val="CAD7EB"/>
            </a:solidFill>
            <a:prstDash val="solid"/>
          </a:ln>
        </p:spPr>
      </p:sp>
      <p:sp>
        <p:nvSpPr>
          <p:cNvPr id="35" name="s4-references-number"/>
          <p:cNvSpPr>
            <a:spLocks noGrp="1"/>
          </p:cNvSpPr>
          <p:nvPr/>
        </p:nvSpPr>
        <p:spPr>
          <a:xfrm>
            <a:off x="6153150" y="1476375"/>
            <a:ext cx="342900" cy="295275"/>
          </a:xfrm>
          <a:prstGeom prst="roundRect">
            <a:avLst>
              <a:gd name="adj" fmla="val 19355"/>
            </a:avLst>
          </a:prstGeom>
          <a:solidFill>
            <a:srgbClr val="6E54C8"/>
          </a:solidFill>
          <a:ln w="9525">
            <a:solidFill>
              <a:srgbClr val="6E54C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03</a:t>
            </a:r>
          </a:p>
        </p:txBody>
      </p:sp>
      <p:sp>
        <p:nvSpPr>
          <p:cNvPr id="36" name="s4-references-title"/>
          <p:cNvSpPr>
            <a:spLocks noGrp="1"/>
          </p:cNvSpPr>
          <p:nvPr/>
        </p:nvSpPr>
        <p:spPr>
          <a:xfrm>
            <a:off x="6600825" y="1447800"/>
            <a:ext cx="2057400" cy="352425"/>
          </a:xfrm>
          <a:prstGeom prst="rect">
            <a:avLst/>
          </a:prstGeom>
          <a:noFill/>
          <a:ln w="0">
            <a:noFill/>
            <a:prstDash val="solid"/>
          </a:ln>
        </p:spPr>
        <p:txBody>
          <a:bodyPr wrap="square" lIns="38100" tIns="19050" rIns="38100" bIns="19050" anchor="ctr">
            <a:normAutofit/>
          </a:bodyPr>
          <a:lstStyle/>
          <a:p>
            <a:pPr>
              <a:defRPr sz="1350" b="1">
                <a:solidFill>
                  <a:srgbClr val="072A67"/>
                </a:solidFill>
                <a:latin typeface="Calibri" panose="020F0502020204030204"/>
                <a:ea typeface="Calibri" panose="020F0502020204030204"/>
                <a:cs typeface="Calibri" panose="020F0502020204030204"/>
              </a:defRPr>
            </a:pPr>
            <a:r>
              <a:rPr lang="zh-CN" altLang="en-US" sz="1400" b="1" dirty="0">
                <a:solidFill>
                  <a:srgbClr val="6E54C8"/>
                </a:solidFill>
                <a:latin typeface="微软雅黑" panose="020B0503020204020204" charset="-122"/>
                <a:ea typeface="微软雅黑" panose="020B0503020204020204" charset="-122"/>
                <a:cs typeface="微软雅黑" panose="020B0503020204020204" charset="-122"/>
              </a:rPr>
              <a:t>需要知道什么</a:t>
            </a:r>
            <a:r>
              <a:rPr lang="zh-CN" altLang="en-US" sz="1400" b="1" dirty="0" smtClean="0">
                <a:solidFill>
                  <a:srgbClr val="6E54C8"/>
                </a:solidFill>
                <a:latin typeface="微软雅黑" panose="020B0503020204020204" charset="-122"/>
                <a:ea typeface="微软雅黑" panose="020B0503020204020204" charset="-122"/>
                <a:cs typeface="微软雅黑" panose="020B0503020204020204" charset="-122"/>
              </a:rPr>
              <a:t>？</a:t>
            </a:r>
            <a:endParaRPr lang="zh-CN" altLang="en-US" sz="1400" b="1" dirty="0">
              <a:solidFill>
                <a:srgbClr val="6E54C8"/>
              </a:solidFill>
              <a:latin typeface="微软雅黑" panose="020B0503020204020204" charset="-122"/>
              <a:ea typeface="微软雅黑" panose="020B0503020204020204" charset="-122"/>
              <a:cs typeface="微软雅黑" panose="020B0503020204020204" charset="-122"/>
            </a:endParaRPr>
          </a:p>
        </p:txBody>
      </p:sp>
      <p:sp>
        <p:nvSpPr>
          <p:cNvPr id="37" name="s4-references-question"/>
          <p:cNvSpPr>
            <a:spLocks noGrp="1"/>
          </p:cNvSpPr>
          <p:nvPr/>
        </p:nvSpPr>
        <p:spPr>
          <a:xfrm>
            <a:off x="6172200" y="1800225"/>
            <a:ext cx="2447925" cy="209550"/>
          </a:xfrm>
          <a:prstGeom prst="rect">
            <a:avLst/>
          </a:prstGeom>
          <a:noFill/>
          <a:ln w="0">
            <a:noFill/>
            <a:prstDash val="solid"/>
          </a:ln>
        </p:spPr>
        <p:txBody>
          <a:bodyPr wrap="square" lIns="38100" tIns="19050" rIns="38100" bIns="19050" anchor="ctr">
            <a:normAutofit/>
          </a:bodyPr>
          <a:lstStyle/>
          <a:p>
            <a:pPr algn="ctr">
              <a:defRPr sz="900" b="1">
                <a:solidFill>
                  <a:srgbClr val="6E54C8"/>
                </a:solidFill>
                <a:latin typeface="微软雅黑" panose="020B0503020204020204" charset="-122"/>
                <a:ea typeface="微软雅黑" panose="020B0503020204020204" charset="-122"/>
                <a:cs typeface="微软雅黑" panose="020B0503020204020204" charset="-122"/>
              </a:defRPr>
            </a:pPr>
            <a:endParaRPr sz="900" b="1" dirty="0">
              <a:solidFill>
                <a:srgbClr val="6E54C8"/>
              </a:solidFill>
              <a:latin typeface="微软雅黑" panose="020B0503020204020204" charset="-122"/>
              <a:ea typeface="微软雅黑" panose="020B0503020204020204" charset="-122"/>
              <a:cs typeface="微软雅黑" panose="020B0503020204020204" charset="-122"/>
            </a:endParaRPr>
          </a:p>
        </p:txBody>
      </p:sp>
      <p:sp>
        <p:nvSpPr>
          <p:cNvPr id="38" name="s4-references-keyword-1"/>
          <p:cNvSpPr>
            <a:spLocks noGrp="1"/>
          </p:cNvSpPr>
          <p:nvPr/>
        </p:nvSpPr>
        <p:spPr>
          <a:xfrm>
            <a:off x="6191250" y="2076450"/>
            <a:ext cx="2409825" cy="190500"/>
          </a:xfrm>
          <a:prstGeom prst="roundRect">
            <a:avLst>
              <a:gd name="adj" fmla="val 35000"/>
            </a:avLst>
          </a:prstGeom>
          <a:solidFill>
            <a:srgbClr val="F5F8FC"/>
          </a:solidFill>
          <a:ln w="9525">
            <a:solidFill>
              <a:srgbClr val="6E54C8"/>
            </a:solidFill>
            <a:prstDash val="solid"/>
          </a:ln>
        </p:spPr>
        <p:txBody>
          <a:bodyPr wrap="square" lIns="47625" tIns="9525" rIns="47625" bIns="9525" anchor="ctr">
            <a:normAutofit/>
          </a:bodyPr>
          <a:lstStyle/>
          <a:p>
            <a:pPr algn="ctr">
              <a:defRPr sz="865" b="1">
                <a:solidFill>
                  <a:srgbClr val="6E54C8"/>
                </a:solidFill>
                <a:latin typeface="Calibri" panose="020F0502020204030204"/>
                <a:ea typeface="Calibri" panose="020F0502020204030204"/>
                <a:cs typeface="Calibri" panose="020F0502020204030204"/>
              </a:defRPr>
            </a:pPr>
            <a:r>
              <a:rPr sz="865" b="1">
                <a:solidFill>
                  <a:srgbClr val="6E54C8"/>
                </a:solidFill>
                <a:latin typeface="Calibri" panose="020F0502020204030204"/>
                <a:ea typeface="Calibri" panose="020F0502020204030204"/>
                <a:cs typeface="Calibri" panose="020F0502020204030204"/>
              </a:rPr>
              <a:t>Domain Knowledge</a:t>
            </a:r>
          </a:p>
        </p:txBody>
      </p:sp>
      <p:sp>
        <p:nvSpPr>
          <p:cNvPr id="39" name="s4-references-keyword-2"/>
          <p:cNvSpPr>
            <a:spLocks noGrp="1"/>
          </p:cNvSpPr>
          <p:nvPr/>
        </p:nvSpPr>
        <p:spPr>
          <a:xfrm>
            <a:off x="6191250" y="2314575"/>
            <a:ext cx="2409825" cy="190500"/>
          </a:xfrm>
          <a:prstGeom prst="roundRect">
            <a:avLst>
              <a:gd name="adj" fmla="val 35000"/>
            </a:avLst>
          </a:prstGeom>
          <a:solidFill>
            <a:srgbClr val="FFFFFF"/>
          </a:solidFill>
          <a:ln w="9525">
            <a:solidFill>
              <a:srgbClr val="6E54C8"/>
            </a:solidFill>
            <a:prstDash val="solid"/>
          </a:ln>
        </p:spPr>
        <p:txBody>
          <a:bodyPr wrap="square" lIns="47625" tIns="9525" rIns="47625" bIns="9525" anchor="ctr">
            <a:normAutofit/>
          </a:bodyPr>
          <a:lstStyle/>
          <a:p>
            <a:pPr algn="ctr">
              <a:defRPr sz="865" b="1">
                <a:solidFill>
                  <a:srgbClr val="6E54C8"/>
                </a:solidFill>
                <a:latin typeface="Calibri" panose="020F0502020204030204"/>
                <a:ea typeface="Calibri" panose="020F0502020204030204"/>
                <a:cs typeface="Calibri" panose="020F0502020204030204"/>
              </a:defRPr>
            </a:pPr>
            <a:r>
              <a:rPr sz="865" b="1">
                <a:solidFill>
                  <a:srgbClr val="6E54C8"/>
                </a:solidFill>
                <a:latin typeface="Calibri" panose="020F0502020204030204"/>
                <a:ea typeface="Calibri" panose="020F0502020204030204"/>
                <a:cs typeface="Calibri" panose="020F0502020204030204"/>
              </a:rPr>
              <a:t>Guidelines / Examples</a:t>
            </a:r>
          </a:p>
        </p:txBody>
      </p:sp>
      <p:sp>
        <p:nvSpPr>
          <p:cNvPr id="40" name="s4-references-keyword-3"/>
          <p:cNvSpPr>
            <a:spLocks noGrp="1"/>
          </p:cNvSpPr>
          <p:nvPr/>
        </p:nvSpPr>
        <p:spPr>
          <a:xfrm>
            <a:off x="6191250" y="2552700"/>
            <a:ext cx="2409825" cy="190500"/>
          </a:xfrm>
          <a:prstGeom prst="roundRect">
            <a:avLst>
              <a:gd name="adj" fmla="val 35000"/>
            </a:avLst>
          </a:prstGeom>
          <a:solidFill>
            <a:srgbClr val="F5F8FC"/>
          </a:solidFill>
          <a:ln w="9525">
            <a:solidFill>
              <a:srgbClr val="6E54C8"/>
            </a:solidFill>
            <a:prstDash val="solid"/>
          </a:ln>
        </p:spPr>
        <p:txBody>
          <a:bodyPr wrap="square" lIns="47625" tIns="9525" rIns="47625" bIns="9525" anchor="ctr">
            <a:normAutofit/>
          </a:bodyPr>
          <a:lstStyle/>
          <a:p>
            <a:pPr algn="ctr">
              <a:defRPr sz="865" b="1">
                <a:solidFill>
                  <a:srgbClr val="6E54C8"/>
                </a:solidFill>
                <a:latin typeface="Calibri" panose="020F0502020204030204"/>
                <a:ea typeface="Calibri" panose="020F0502020204030204"/>
                <a:cs typeface="Calibri" panose="020F0502020204030204"/>
              </a:defRPr>
            </a:pPr>
            <a:r>
              <a:rPr sz="865" b="1">
                <a:solidFill>
                  <a:srgbClr val="6E54C8"/>
                </a:solidFill>
                <a:latin typeface="Calibri" panose="020F0502020204030204"/>
                <a:ea typeface="Calibri" panose="020F0502020204030204"/>
                <a:cs typeface="Calibri" panose="020F0502020204030204"/>
              </a:rPr>
              <a:t>Best Practices</a:t>
            </a:r>
          </a:p>
        </p:txBody>
      </p:sp>
      <p:sp>
        <p:nvSpPr>
          <p:cNvPr id="41" name="s4-references-divider"/>
          <p:cNvSpPr>
            <a:spLocks noGrp="1"/>
          </p:cNvSpPr>
          <p:nvPr/>
        </p:nvSpPr>
        <p:spPr>
          <a:xfrm>
            <a:off x="6153150" y="3048000"/>
            <a:ext cx="2486025" cy="9525"/>
          </a:xfrm>
          <a:prstGeom prst="rect">
            <a:avLst/>
          </a:prstGeom>
          <a:solidFill>
            <a:srgbClr val="CAD7EB"/>
          </a:solidFill>
          <a:ln w="9525">
            <a:solidFill>
              <a:srgbClr val="CAD7EB"/>
            </a:solidFill>
            <a:prstDash val="solid"/>
          </a:ln>
        </p:spPr>
      </p:sp>
      <p:sp>
        <p:nvSpPr>
          <p:cNvPr id="42" name="s4-references-summary"/>
          <p:cNvSpPr>
            <a:spLocks noGrp="1"/>
          </p:cNvSpPr>
          <p:nvPr/>
        </p:nvSpPr>
        <p:spPr>
          <a:xfrm>
            <a:off x="6191250" y="3086100"/>
            <a:ext cx="2409825" cy="276225"/>
          </a:xfrm>
          <a:prstGeom prst="rect">
            <a:avLst/>
          </a:prstGeom>
          <a:noFill/>
          <a:ln w="0">
            <a:noFill/>
            <a:prstDash val="solid"/>
          </a:ln>
        </p:spPr>
        <p:txBody>
          <a:bodyPr wrap="square" lIns="38100" tIns="19050" rIns="38100" bIns="19050" anchor="ctr">
            <a:normAutofit fontScale="92500"/>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详细知识按需读取，不全部堆进 SKILL.md。</a:t>
            </a:r>
          </a:p>
        </p:txBody>
      </p:sp>
      <p:sp>
        <p:nvSpPr>
          <p:cNvPr id="43" name="s4-scripts-assets-surface"/>
          <p:cNvSpPr>
            <a:spLocks noGrp="1"/>
          </p:cNvSpPr>
          <p:nvPr/>
        </p:nvSpPr>
        <p:spPr>
          <a:xfrm>
            <a:off x="8905875" y="1371600"/>
            <a:ext cx="3019425" cy="2028825"/>
          </a:xfrm>
          <a:prstGeom prst="roundRect">
            <a:avLst>
              <a:gd name="adj" fmla="val 3756"/>
            </a:avLst>
          </a:prstGeom>
          <a:solidFill>
            <a:srgbClr val="FFFFFF"/>
          </a:solidFill>
          <a:ln w="9525">
            <a:solidFill>
              <a:srgbClr val="CAD7EB"/>
            </a:solidFill>
            <a:prstDash val="solid"/>
          </a:ln>
        </p:spPr>
      </p:sp>
      <p:sp>
        <p:nvSpPr>
          <p:cNvPr id="44" name="s4-scripts-assets-number"/>
          <p:cNvSpPr>
            <a:spLocks noGrp="1"/>
          </p:cNvSpPr>
          <p:nvPr/>
        </p:nvSpPr>
        <p:spPr>
          <a:xfrm>
            <a:off x="9039225" y="1476375"/>
            <a:ext cx="342900" cy="295275"/>
          </a:xfrm>
          <a:prstGeom prst="roundRect">
            <a:avLst>
              <a:gd name="adj" fmla="val 19355"/>
            </a:avLst>
          </a:prstGeom>
          <a:solidFill>
            <a:srgbClr val="0F9ED5"/>
          </a:solidFill>
          <a:ln w="9525">
            <a:solidFill>
              <a:srgbClr val="0F9ED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04</a:t>
            </a:r>
          </a:p>
        </p:txBody>
      </p:sp>
      <p:sp>
        <p:nvSpPr>
          <p:cNvPr id="45" name="s4-scripts-assets-title"/>
          <p:cNvSpPr>
            <a:spLocks noGrp="1"/>
          </p:cNvSpPr>
          <p:nvPr/>
        </p:nvSpPr>
        <p:spPr>
          <a:xfrm>
            <a:off x="9086850" y="1457325"/>
            <a:ext cx="2324100" cy="352425"/>
          </a:xfrm>
          <a:prstGeom prst="rect">
            <a:avLst/>
          </a:prstGeom>
          <a:noFill/>
          <a:ln w="0">
            <a:noFill/>
            <a:prstDash val="solid"/>
          </a:ln>
        </p:spPr>
        <p:txBody>
          <a:bodyPr wrap="square" lIns="38100" tIns="19050" rIns="38100" bIns="19050" anchor="ctr">
            <a:normAutofit/>
          </a:bodyPr>
          <a:lstStyle/>
          <a:p>
            <a:pPr algn="ctr">
              <a:defRPr sz="900" b="1">
                <a:solidFill>
                  <a:srgbClr val="0F9ED5"/>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0F9ED5"/>
                </a:solidFill>
                <a:latin typeface="微软雅黑" panose="020B0503020204020204" charset="-122"/>
                <a:ea typeface="微软雅黑" panose="020B0503020204020204" charset="-122"/>
                <a:cs typeface="微软雅黑" panose="020B0503020204020204" charset="-122"/>
              </a:rPr>
              <a:t>怎样可靠执行？</a:t>
            </a:r>
            <a:endParaRPr lang="zh-CN" altLang="en-US" sz="140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46" name="s4-scripts-assets-question"/>
          <p:cNvSpPr>
            <a:spLocks noGrp="1"/>
          </p:cNvSpPr>
          <p:nvPr/>
        </p:nvSpPr>
        <p:spPr>
          <a:xfrm>
            <a:off x="9058275" y="1800225"/>
            <a:ext cx="2714625" cy="209550"/>
          </a:xfrm>
          <a:prstGeom prst="rect">
            <a:avLst/>
          </a:prstGeom>
          <a:noFill/>
          <a:ln w="0">
            <a:noFill/>
            <a:prstDash val="solid"/>
          </a:ln>
        </p:spPr>
        <p:txBody>
          <a:bodyPr wrap="square" lIns="38100" tIns="19050" rIns="38100" bIns="19050" anchor="ctr">
            <a:normAutofit/>
          </a:bodyPr>
          <a:lstStyle/>
          <a:p>
            <a:pPr algn="ctr">
              <a:defRPr sz="900" b="1">
                <a:solidFill>
                  <a:srgbClr val="0F9ED5"/>
                </a:solidFill>
                <a:latin typeface="微软雅黑" panose="020B0503020204020204" charset="-122"/>
                <a:ea typeface="微软雅黑" panose="020B0503020204020204" charset="-122"/>
                <a:cs typeface="微软雅黑" panose="020B0503020204020204" charset="-122"/>
              </a:defRPr>
            </a:pPr>
            <a:endParaRPr sz="90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47" name="s4-scripts-assets-keyword-1"/>
          <p:cNvSpPr>
            <a:spLocks noGrp="1"/>
          </p:cNvSpPr>
          <p:nvPr/>
        </p:nvSpPr>
        <p:spPr>
          <a:xfrm>
            <a:off x="9077325" y="2076450"/>
            <a:ext cx="2676525" cy="190500"/>
          </a:xfrm>
          <a:prstGeom prst="roundRect">
            <a:avLst>
              <a:gd name="adj" fmla="val 35000"/>
            </a:avLst>
          </a:prstGeom>
          <a:solidFill>
            <a:srgbClr val="F5F8FC"/>
          </a:solidFill>
          <a:ln w="9525">
            <a:solidFill>
              <a:srgbClr val="0F9ED5"/>
            </a:solidFill>
            <a:prstDash val="solid"/>
          </a:ln>
        </p:spPr>
        <p:txBody>
          <a:bodyPr wrap="square" lIns="47625" tIns="9525" rIns="47625" bIns="9525" anchor="ctr">
            <a:normAutofit/>
          </a:bodyPr>
          <a:lstStyle/>
          <a:p>
            <a:pPr algn="ctr">
              <a:defRPr sz="865" b="1">
                <a:solidFill>
                  <a:srgbClr val="0F9ED5"/>
                </a:solidFill>
                <a:latin typeface="Calibri" panose="020F0502020204030204"/>
                <a:ea typeface="Calibri" panose="020F0502020204030204"/>
                <a:cs typeface="Calibri" panose="020F0502020204030204"/>
              </a:defRPr>
            </a:pPr>
            <a:r>
              <a:rPr sz="865" b="1">
                <a:solidFill>
                  <a:srgbClr val="0F9ED5"/>
                </a:solidFill>
                <a:latin typeface="Calibri" panose="020F0502020204030204"/>
                <a:ea typeface="Calibri" panose="020F0502020204030204"/>
                <a:cs typeface="Calibri" panose="020F0502020204030204"/>
              </a:rPr>
              <a:t>check_env.py · benchmark.py · validate_output.py</a:t>
            </a:r>
          </a:p>
        </p:txBody>
      </p:sp>
      <p:sp>
        <p:nvSpPr>
          <p:cNvPr id="48" name="s4-scripts-assets-keyword-2"/>
          <p:cNvSpPr>
            <a:spLocks noGrp="1"/>
          </p:cNvSpPr>
          <p:nvPr/>
        </p:nvSpPr>
        <p:spPr>
          <a:xfrm>
            <a:off x="9077325" y="2314575"/>
            <a:ext cx="2676525" cy="190500"/>
          </a:xfrm>
          <a:prstGeom prst="roundRect">
            <a:avLst>
              <a:gd name="adj" fmla="val 35000"/>
            </a:avLst>
          </a:prstGeom>
          <a:solidFill>
            <a:srgbClr val="FFFFFF"/>
          </a:solidFill>
          <a:ln w="9525">
            <a:solidFill>
              <a:srgbClr val="0F9ED5"/>
            </a:solidFill>
            <a:prstDash val="solid"/>
          </a:ln>
        </p:spPr>
        <p:txBody>
          <a:bodyPr wrap="square" lIns="47625" tIns="9525" rIns="47625" bIns="9525" anchor="ctr">
            <a:normAutofit/>
          </a:bodyPr>
          <a:lstStyle/>
          <a:p>
            <a:pPr algn="ctr">
              <a:defRPr sz="865" b="1">
                <a:solidFill>
                  <a:srgbClr val="0F9ED5"/>
                </a:solidFill>
                <a:latin typeface="Calibri" panose="020F0502020204030204"/>
                <a:ea typeface="Calibri" panose="020F0502020204030204"/>
                <a:cs typeface="Calibri" panose="020F0502020204030204"/>
              </a:defRPr>
            </a:pPr>
            <a:r>
              <a:rPr sz="865" b="1">
                <a:solidFill>
                  <a:srgbClr val="0F9ED5"/>
                </a:solidFill>
                <a:latin typeface="Calibri" panose="020F0502020204030204"/>
                <a:ea typeface="Calibri" panose="020F0502020204030204"/>
                <a:cs typeface="Calibri" panose="020F0502020204030204"/>
              </a:rPr>
              <a:t>Assets · template / config / examples</a:t>
            </a:r>
          </a:p>
        </p:txBody>
      </p:sp>
      <p:sp>
        <p:nvSpPr>
          <p:cNvPr id="49" name="s4-scripts-assets-keyword-3"/>
          <p:cNvSpPr>
            <a:spLocks noGrp="1"/>
          </p:cNvSpPr>
          <p:nvPr/>
        </p:nvSpPr>
        <p:spPr>
          <a:xfrm>
            <a:off x="9077325" y="2552700"/>
            <a:ext cx="2676525" cy="190500"/>
          </a:xfrm>
          <a:prstGeom prst="roundRect">
            <a:avLst>
              <a:gd name="adj" fmla="val 35000"/>
            </a:avLst>
          </a:prstGeom>
          <a:solidFill>
            <a:srgbClr val="F5F8FC"/>
          </a:solidFill>
          <a:ln w="9525">
            <a:solidFill>
              <a:srgbClr val="0F9ED5"/>
            </a:solidFill>
            <a:prstDash val="solid"/>
          </a:ln>
        </p:spPr>
        <p:txBody>
          <a:bodyPr wrap="square" lIns="47625" tIns="9525" rIns="47625" bIns="9525" anchor="ctr">
            <a:normAutofit fontScale="97500"/>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0F9ED5"/>
                </a:solidFill>
                <a:latin typeface="微软雅黑" panose="020B0503020204020204" charset="-122"/>
                <a:ea typeface="微软雅黑" panose="020B0503020204020204" charset="-122"/>
                <a:cs typeface="微软雅黑" panose="020B0503020204020204" charset="-122"/>
              </a:rPr>
              <a:t>确定性、重复性操作交给程序</a:t>
            </a:r>
          </a:p>
        </p:txBody>
      </p:sp>
      <p:sp>
        <p:nvSpPr>
          <p:cNvPr id="50" name="s4-scripts-assets-divider"/>
          <p:cNvSpPr>
            <a:spLocks noGrp="1"/>
          </p:cNvSpPr>
          <p:nvPr/>
        </p:nvSpPr>
        <p:spPr>
          <a:xfrm>
            <a:off x="9039225" y="3048000"/>
            <a:ext cx="2752725" cy="9525"/>
          </a:xfrm>
          <a:prstGeom prst="rect">
            <a:avLst/>
          </a:prstGeom>
          <a:solidFill>
            <a:srgbClr val="CAD7EB"/>
          </a:solidFill>
          <a:ln w="9525">
            <a:solidFill>
              <a:srgbClr val="CAD7EB"/>
            </a:solidFill>
            <a:prstDash val="solid"/>
          </a:ln>
        </p:spPr>
      </p:sp>
      <p:sp>
        <p:nvSpPr>
          <p:cNvPr id="51" name="s4-scripts-assets-summary"/>
          <p:cNvSpPr>
            <a:spLocks noGrp="1"/>
          </p:cNvSpPr>
          <p:nvPr/>
        </p:nvSpPr>
        <p:spPr>
          <a:xfrm>
            <a:off x="9077325" y="3086100"/>
            <a:ext cx="2676525" cy="276225"/>
          </a:xfrm>
          <a:prstGeom prst="rect">
            <a:avLst/>
          </a:prstGeom>
          <a:noFill/>
          <a:ln w="0">
            <a:noFill/>
            <a:prstDash val="solid"/>
          </a:ln>
        </p:spPr>
        <p:txBody>
          <a:bodyPr wrap="square" lIns="38100" tIns="19050" rIns="38100" bIns="19050" anchor="ctr">
            <a:normAutofit/>
          </a:bodyPr>
          <a:lstStyle/>
          <a:p>
            <a:pPr algn="ctr">
              <a:defRPr sz="940" b="1">
                <a:solidFill>
                  <a:srgbClr val="56627A"/>
                </a:solidFill>
                <a:latin typeface="微软雅黑" panose="020B0503020204020204" charset="-122"/>
                <a:ea typeface="微软雅黑" panose="020B0503020204020204" charset="-122"/>
                <a:cs typeface="微软雅黑" panose="020B0503020204020204" charset="-122"/>
              </a:defRPr>
            </a:pPr>
            <a:r>
              <a:rPr sz="940" b="1">
                <a:solidFill>
                  <a:srgbClr val="56627A"/>
                </a:solidFill>
                <a:latin typeface="微软雅黑" panose="020B0503020204020204" charset="-122"/>
                <a:ea typeface="微软雅黑" panose="020B0503020204020204" charset="-122"/>
                <a:cs typeface="微软雅黑" panose="020B0503020204020204" charset="-122"/>
              </a:rPr>
              <a:t>提供稳定执行程序与任务配套资源。</a:t>
            </a:r>
          </a:p>
        </p:txBody>
      </p:sp>
      <p:sp>
        <p:nvSpPr>
          <p:cNvPr id="64" name="s4-contract-surface"/>
          <p:cNvSpPr>
            <a:spLocks noGrp="1"/>
          </p:cNvSpPr>
          <p:nvPr/>
        </p:nvSpPr>
        <p:spPr>
          <a:xfrm>
            <a:off x="257175" y="3886200"/>
            <a:ext cx="5810250" cy="2466975"/>
          </a:xfrm>
          <a:prstGeom prst="roundRect">
            <a:avLst>
              <a:gd name="adj" fmla="val 3475"/>
            </a:avLst>
          </a:prstGeom>
          <a:solidFill>
            <a:srgbClr val="FFFFFF"/>
          </a:solidFill>
          <a:ln w="9525">
            <a:solidFill>
              <a:srgbClr val="B9DFD1"/>
            </a:solidFill>
            <a:prstDash val="solid"/>
          </a:ln>
        </p:spPr>
      </p:sp>
      <p:sp>
        <p:nvSpPr>
          <p:cNvPr id="65" name="s4-contract-number"/>
          <p:cNvSpPr>
            <a:spLocks noGrp="1"/>
          </p:cNvSpPr>
          <p:nvPr/>
        </p:nvSpPr>
        <p:spPr>
          <a:xfrm>
            <a:off x="409575" y="4010025"/>
            <a:ext cx="361950" cy="285750"/>
          </a:xfrm>
          <a:prstGeom prst="roundRect">
            <a:avLst>
              <a:gd name="adj" fmla="val 20000"/>
            </a:avLst>
          </a:prstGeom>
          <a:solidFill>
            <a:srgbClr val="14855C"/>
          </a:solidFill>
          <a:ln w="9525">
            <a:solidFill>
              <a:srgbClr val="14855C"/>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A</a:t>
            </a:r>
          </a:p>
        </p:txBody>
      </p:sp>
      <p:sp>
        <p:nvSpPr>
          <p:cNvPr id="66" name="s4-contract-title"/>
          <p:cNvSpPr>
            <a:spLocks noGrp="1"/>
          </p:cNvSpPr>
          <p:nvPr/>
        </p:nvSpPr>
        <p:spPr>
          <a:xfrm>
            <a:off x="885825" y="4000500"/>
            <a:ext cx="2190750" cy="304800"/>
          </a:xfrm>
          <a:prstGeom prst="rect">
            <a:avLst/>
          </a:prstGeom>
          <a:noFill/>
          <a:ln w="0">
            <a:noFill/>
            <a:prstDash val="solid"/>
          </a:ln>
        </p:spPr>
        <p:txBody>
          <a:bodyPr wrap="square" lIns="38100" tIns="19050" rIns="38100" bIns="19050" anchor="ctr">
            <a:normAutofit/>
          </a:bodyPr>
          <a:lstStyle/>
          <a:p>
            <a:pPr algn="l">
              <a:defRPr sz="1575" b="1">
                <a:solidFill>
                  <a:srgbClr val="14855C"/>
                </a:solidFill>
                <a:latin typeface="微软雅黑" panose="020B0503020204020204" charset="-122"/>
                <a:ea typeface="微软雅黑" panose="020B0503020204020204" charset="-122"/>
                <a:cs typeface="微软雅黑" panose="020B0503020204020204" charset="-122"/>
              </a:defRPr>
            </a:pPr>
            <a:r>
              <a:rPr sz="1575" b="1" dirty="0">
                <a:solidFill>
                  <a:srgbClr val="14855C"/>
                </a:solidFill>
                <a:latin typeface="微软雅黑" panose="020B0503020204020204" charset="-122"/>
                <a:ea typeface="微软雅黑" panose="020B0503020204020204" charset="-122"/>
                <a:cs typeface="微软雅黑" panose="020B0503020204020204" charset="-122"/>
              </a:rPr>
              <a:t>Skill </a:t>
            </a:r>
            <a:r>
              <a:rPr sz="1575" b="1" dirty="0" err="1" smtClean="0">
                <a:solidFill>
                  <a:srgbClr val="14855C"/>
                </a:solidFill>
                <a:latin typeface="微软雅黑" panose="020B0503020204020204" charset="-122"/>
                <a:ea typeface="微软雅黑" panose="020B0503020204020204" charset="-122"/>
                <a:cs typeface="微软雅黑" panose="020B0503020204020204" charset="-122"/>
              </a:rPr>
              <a:t>的契约</a:t>
            </a:r>
            <a:endParaRPr sz="1575" b="1" dirty="0">
              <a:solidFill>
                <a:srgbClr val="14855C"/>
              </a:solidFill>
              <a:latin typeface="微软雅黑" panose="020B0503020204020204" charset="-122"/>
              <a:ea typeface="微软雅黑" panose="020B0503020204020204" charset="-122"/>
              <a:cs typeface="微软雅黑" panose="020B0503020204020204" charset="-122"/>
            </a:endParaRPr>
          </a:p>
        </p:txBody>
      </p:sp>
      <p:sp>
        <p:nvSpPr>
          <p:cNvPr id="68" name="s4-contract-scope-surface"/>
          <p:cNvSpPr>
            <a:spLocks noGrp="1"/>
          </p:cNvSpPr>
          <p:nvPr/>
        </p:nvSpPr>
        <p:spPr>
          <a:xfrm>
            <a:off x="400050" y="4371975"/>
            <a:ext cx="2686050" cy="476250"/>
          </a:xfrm>
          <a:prstGeom prst="roundRect">
            <a:avLst>
              <a:gd name="adj" fmla="val 14000"/>
            </a:avLst>
          </a:prstGeom>
          <a:solidFill>
            <a:srgbClr val="FFFFFF"/>
          </a:solidFill>
          <a:ln w="9525">
            <a:solidFill>
              <a:srgbClr val="B9DFD1"/>
            </a:solidFill>
            <a:prstDash val="solid"/>
          </a:ln>
        </p:spPr>
      </p:sp>
      <p:sp>
        <p:nvSpPr>
          <p:cNvPr id="69" name="s4-contract-scope-title"/>
          <p:cNvSpPr>
            <a:spLocks noGrp="1"/>
          </p:cNvSpPr>
          <p:nvPr/>
        </p:nvSpPr>
        <p:spPr>
          <a:xfrm>
            <a:off x="495300" y="4419600"/>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sz="1050" b="1">
                <a:solidFill>
                  <a:srgbClr val="14855C"/>
                </a:solidFill>
                <a:latin typeface="Calibri" panose="020F0502020204030204"/>
                <a:ea typeface="Calibri" panose="020F0502020204030204"/>
                <a:cs typeface="Calibri" panose="020F0502020204030204"/>
              </a:rPr>
              <a:t>Scope</a:t>
            </a:r>
          </a:p>
        </p:txBody>
      </p:sp>
      <p:sp>
        <p:nvSpPr>
          <p:cNvPr id="70" name="s4-contract-scope-detail"/>
          <p:cNvSpPr>
            <a:spLocks noGrp="1"/>
          </p:cNvSpPr>
          <p:nvPr/>
        </p:nvSpPr>
        <p:spPr>
          <a:xfrm>
            <a:off x="1390650" y="4410075"/>
            <a:ext cx="1600200" cy="390525"/>
          </a:xfrm>
          <a:prstGeom prst="rect">
            <a:avLst/>
          </a:prstGeom>
          <a:noFill/>
          <a:ln w="0">
            <a:noFill/>
            <a:prstDash val="solid"/>
          </a:ln>
        </p:spPr>
        <p:txBody>
          <a:bodyPr wrap="square" lIns="38100" tIns="19050" rIns="38100" bIns="19050" anchor="ctr">
            <a:normAutofit/>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能做什么？不能做什么？</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什么时候应该调用？</a:t>
            </a:r>
          </a:p>
        </p:txBody>
      </p:sp>
      <p:sp>
        <p:nvSpPr>
          <p:cNvPr id="71" name="s4-contract-input-surface"/>
          <p:cNvSpPr>
            <a:spLocks noGrp="1"/>
          </p:cNvSpPr>
          <p:nvPr/>
        </p:nvSpPr>
        <p:spPr>
          <a:xfrm>
            <a:off x="3238500" y="4371975"/>
            <a:ext cx="2686050" cy="476250"/>
          </a:xfrm>
          <a:prstGeom prst="roundRect">
            <a:avLst>
              <a:gd name="adj" fmla="val 14000"/>
            </a:avLst>
          </a:prstGeom>
          <a:solidFill>
            <a:srgbClr val="FFFFFF"/>
          </a:solidFill>
          <a:ln w="9525">
            <a:solidFill>
              <a:srgbClr val="B9DFD1"/>
            </a:solidFill>
            <a:prstDash val="solid"/>
          </a:ln>
        </p:spPr>
      </p:sp>
      <p:sp>
        <p:nvSpPr>
          <p:cNvPr id="72" name="s4-contract-input-title"/>
          <p:cNvSpPr>
            <a:spLocks noGrp="1"/>
          </p:cNvSpPr>
          <p:nvPr/>
        </p:nvSpPr>
        <p:spPr>
          <a:xfrm>
            <a:off x="3333750" y="4419600"/>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sz="1050" b="1">
                <a:solidFill>
                  <a:srgbClr val="14855C"/>
                </a:solidFill>
                <a:latin typeface="Calibri" panose="020F0502020204030204"/>
                <a:ea typeface="Calibri" panose="020F0502020204030204"/>
                <a:cs typeface="Calibri" panose="020F0502020204030204"/>
              </a:rPr>
              <a:t>Input</a:t>
            </a:r>
          </a:p>
        </p:txBody>
      </p:sp>
      <p:sp>
        <p:nvSpPr>
          <p:cNvPr id="73" name="s4-contract-input-detail"/>
          <p:cNvSpPr>
            <a:spLocks noGrp="1"/>
          </p:cNvSpPr>
          <p:nvPr/>
        </p:nvSpPr>
        <p:spPr>
          <a:xfrm>
            <a:off x="4229100" y="4410075"/>
            <a:ext cx="1600200" cy="390525"/>
          </a:xfrm>
          <a:prstGeom prst="rect">
            <a:avLst/>
          </a:prstGeom>
          <a:noFill/>
          <a:ln w="0">
            <a:noFill/>
            <a:prstDash val="solid"/>
          </a:ln>
        </p:spPr>
        <p:txBody>
          <a:bodyPr wrap="square" lIns="38100" tIns="19050" rIns="38100" bIns="19050" anchor="ctr">
            <a:normAutofit fontScale="89320" lnSpcReduction="10000"/>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开始前必须知道什么？</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自然语言 / 文件 / 参数均可</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不限定 JSON Schema</a:t>
            </a:r>
          </a:p>
        </p:txBody>
      </p:sp>
      <p:sp>
        <p:nvSpPr>
          <p:cNvPr id="74" name="s4-contract-output-surface"/>
          <p:cNvSpPr>
            <a:spLocks noGrp="1"/>
          </p:cNvSpPr>
          <p:nvPr/>
        </p:nvSpPr>
        <p:spPr>
          <a:xfrm>
            <a:off x="400050" y="4933950"/>
            <a:ext cx="2686050" cy="476250"/>
          </a:xfrm>
          <a:prstGeom prst="roundRect">
            <a:avLst>
              <a:gd name="adj" fmla="val 14000"/>
            </a:avLst>
          </a:prstGeom>
          <a:solidFill>
            <a:srgbClr val="FFFFFF"/>
          </a:solidFill>
          <a:ln w="9525">
            <a:solidFill>
              <a:srgbClr val="B9DFD1"/>
            </a:solidFill>
            <a:prstDash val="solid"/>
          </a:ln>
        </p:spPr>
      </p:sp>
      <p:sp>
        <p:nvSpPr>
          <p:cNvPr id="75" name="s4-contract-output-title"/>
          <p:cNvSpPr>
            <a:spLocks noGrp="1"/>
          </p:cNvSpPr>
          <p:nvPr/>
        </p:nvSpPr>
        <p:spPr>
          <a:xfrm>
            <a:off x="495300" y="4981575"/>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sz="1050" b="1">
                <a:solidFill>
                  <a:srgbClr val="14855C"/>
                </a:solidFill>
                <a:latin typeface="Calibri" panose="020F0502020204030204"/>
                <a:ea typeface="Calibri" panose="020F0502020204030204"/>
                <a:cs typeface="Calibri" panose="020F0502020204030204"/>
              </a:rPr>
              <a:t>Output</a:t>
            </a:r>
          </a:p>
        </p:txBody>
      </p:sp>
      <p:sp>
        <p:nvSpPr>
          <p:cNvPr id="76" name="s4-contract-output-detail"/>
          <p:cNvSpPr>
            <a:spLocks noGrp="1"/>
          </p:cNvSpPr>
          <p:nvPr/>
        </p:nvSpPr>
        <p:spPr>
          <a:xfrm>
            <a:off x="1390650" y="4972050"/>
            <a:ext cx="1600200" cy="390525"/>
          </a:xfrm>
          <a:prstGeom prst="rect">
            <a:avLst/>
          </a:prstGeom>
          <a:noFill/>
          <a:ln w="0">
            <a:noFill/>
            <a:prstDash val="solid"/>
          </a:ln>
        </p:spPr>
        <p:txBody>
          <a:bodyPr wrap="square" lIns="38100" tIns="19050" rIns="38100" bIns="19050" anchor="ctr">
            <a:normAutofit/>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结果 · 文件 · 报告 · 状态</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任务完成后必须交付什么？</a:t>
            </a:r>
          </a:p>
        </p:txBody>
      </p:sp>
      <p:sp>
        <p:nvSpPr>
          <p:cNvPr id="77" name="s4-contract-stage-surface"/>
          <p:cNvSpPr>
            <a:spLocks noGrp="1"/>
          </p:cNvSpPr>
          <p:nvPr/>
        </p:nvSpPr>
        <p:spPr>
          <a:xfrm>
            <a:off x="3238500" y="4933950"/>
            <a:ext cx="2686050" cy="476250"/>
          </a:xfrm>
          <a:prstGeom prst="roundRect">
            <a:avLst>
              <a:gd name="adj" fmla="val 14000"/>
            </a:avLst>
          </a:prstGeom>
          <a:solidFill>
            <a:srgbClr val="FFFFFF"/>
          </a:solidFill>
          <a:ln w="9525">
            <a:solidFill>
              <a:srgbClr val="B9DFD1"/>
            </a:solidFill>
            <a:prstDash val="solid"/>
          </a:ln>
        </p:spPr>
      </p:sp>
      <p:sp>
        <p:nvSpPr>
          <p:cNvPr id="78" name="s4-contract-stage-title"/>
          <p:cNvSpPr>
            <a:spLocks noGrp="1"/>
          </p:cNvSpPr>
          <p:nvPr/>
        </p:nvSpPr>
        <p:spPr>
          <a:xfrm>
            <a:off x="3333750" y="4981575"/>
            <a:ext cx="933450" cy="190500"/>
          </a:xfrm>
          <a:prstGeom prst="rect">
            <a:avLst/>
          </a:prstGeom>
          <a:noFill/>
          <a:ln w="0">
            <a:noFill/>
            <a:prstDash val="solid"/>
          </a:ln>
        </p:spPr>
        <p:txBody>
          <a:bodyPr wrap="square" lIns="38100" tIns="19050" rIns="38100" bIns="19050" anchor="ctr">
            <a:normAutofit fontScale="95238"/>
          </a:bodyPr>
          <a:lstStyle/>
          <a:p>
            <a:pPr algn="l">
              <a:defRPr sz="1050" b="1">
                <a:solidFill>
                  <a:srgbClr val="14855C"/>
                </a:solidFill>
                <a:latin typeface="Calibri" panose="020F0502020204030204"/>
                <a:ea typeface="Calibri" panose="020F0502020204030204"/>
                <a:cs typeface="Calibri" panose="020F0502020204030204"/>
              </a:defRPr>
            </a:pPr>
            <a:r>
              <a:rPr sz="1050" b="1">
                <a:solidFill>
                  <a:srgbClr val="14855C"/>
                </a:solidFill>
                <a:latin typeface="Calibri" panose="020F0502020204030204"/>
                <a:ea typeface="Calibri" panose="020F0502020204030204"/>
                <a:cs typeface="Calibri" panose="020F0502020204030204"/>
              </a:rPr>
              <a:t>Stage Contract</a:t>
            </a:r>
          </a:p>
        </p:txBody>
      </p:sp>
      <p:sp>
        <p:nvSpPr>
          <p:cNvPr id="79" name="s4-contract-stage-detail"/>
          <p:cNvSpPr>
            <a:spLocks noGrp="1"/>
          </p:cNvSpPr>
          <p:nvPr/>
        </p:nvSpPr>
        <p:spPr>
          <a:xfrm>
            <a:off x="4229100" y="4972050"/>
            <a:ext cx="1600200" cy="390525"/>
          </a:xfrm>
          <a:prstGeom prst="rect">
            <a:avLst/>
          </a:prstGeom>
          <a:noFill/>
          <a:ln w="0">
            <a:noFill/>
            <a:prstDash val="solid"/>
          </a:ln>
        </p:spPr>
        <p:txBody>
          <a:bodyPr wrap="square" lIns="38100" tIns="19050" rIns="38100" bIns="19050" anchor="ctr">
            <a:normAutofit/>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上一阶段产出什么？</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下一阶段需要什么？</a:t>
            </a:r>
          </a:p>
        </p:txBody>
      </p:sp>
      <p:sp>
        <p:nvSpPr>
          <p:cNvPr id="80" name="s4-stage-a"/>
          <p:cNvSpPr>
            <a:spLocks noGrp="1"/>
          </p:cNvSpPr>
          <p:nvPr/>
        </p:nvSpPr>
        <p:spPr>
          <a:xfrm>
            <a:off x="1285875" y="5524500"/>
            <a:ext cx="914400" cy="381000"/>
          </a:xfrm>
          <a:prstGeom prst="roundRect">
            <a:avLst>
              <a:gd name="adj" fmla="val 17500"/>
            </a:avLst>
          </a:prstGeom>
          <a:solidFill>
            <a:srgbClr val="EFF8F4"/>
          </a:solidFill>
          <a:ln w="9525">
            <a:solidFill>
              <a:srgbClr val="14855C"/>
            </a:solidFill>
            <a:prstDash val="solid"/>
          </a:ln>
        </p:spPr>
        <p:txBody>
          <a:bodyPr wrap="square" lIns="57150" tIns="28575" rIns="57150" bIns="28575" anchor="ctr">
            <a:normAutofit/>
          </a:bodyPr>
          <a:lstStyle/>
          <a:p>
            <a:pPr algn="ctr">
              <a:defRPr sz="900" b="1">
                <a:solidFill>
                  <a:srgbClr val="14855C"/>
                </a:solidFill>
                <a:latin typeface="Calibri" panose="020F0502020204030204"/>
                <a:ea typeface="Calibri" panose="020F0502020204030204"/>
                <a:cs typeface="Calibri" panose="020F0502020204030204"/>
              </a:defRPr>
            </a:pPr>
            <a:r>
              <a:rPr sz="900" b="1">
                <a:solidFill>
                  <a:srgbClr val="14855C"/>
                </a:solidFill>
                <a:latin typeface="Calibri" panose="020F0502020204030204"/>
                <a:ea typeface="Calibri" panose="020F0502020204030204"/>
                <a:cs typeface="Calibri" panose="020F0502020204030204"/>
              </a:rPr>
              <a:t>Stage A</a:t>
            </a:r>
          </a:p>
          <a:p>
            <a:pPr algn="ctr">
              <a:defRPr sz="900" b="1">
                <a:solidFill>
                  <a:srgbClr val="14855C"/>
                </a:solidFill>
                <a:latin typeface="Calibri" panose="020F0502020204030204"/>
                <a:ea typeface="Calibri" panose="020F0502020204030204"/>
                <a:cs typeface="Calibri" panose="020F0502020204030204"/>
              </a:defRPr>
            </a:pPr>
            <a:r>
              <a:rPr sz="900" b="1">
                <a:solidFill>
                  <a:srgbClr val="14855C"/>
                </a:solidFill>
                <a:latin typeface="Calibri" panose="020F0502020204030204"/>
                <a:ea typeface="Calibri" panose="020F0502020204030204"/>
                <a:cs typeface="Calibri" panose="020F0502020204030204"/>
              </a:rPr>
              <a:t>Output</a:t>
            </a:r>
          </a:p>
        </p:txBody>
      </p:sp>
      <p:sp>
        <p:nvSpPr>
          <p:cNvPr id="81" name="s4-stage-b"/>
          <p:cNvSpPr>
            <a:spLocks noGrp="1"/>
          </p:cNvSpPr>
          <p:nvPr/>
        </p:nvSpPr>
        <p:spPr>
          <a:xfrm>
            <a:off x="2705100" y="5524500"/>
            <a:ext cx="914400" cy="381000"/>
          </a:xfrm>
          <a:prstGeom prst="roundRect">
            <a:avLst>
              <a:gd name="adj" fmla="val 17500"/>
            </a:avLst>
          </a:prstGeom>
          <a:solidFill>
            <a:srgbClr val="EFF8F4"/>
          </a:solidFill>
          <a:ln w="9525">
            <a:solidFill>
              <a:srgbClr val="14855C"/>
            </a:solidFill>
            <a:prstDash val="solid"/>
          </a:ln>
        </p:spPr>
        <p:txBody>
          <a:bodyPr wrap="square" lIns="57150" tIns="28575" rIns="57150" bIns="28575" anchor="ctr">
            <a:normAutofit/>
          </a:bodyPr>
          <a:lstStyle/>
          <a:p>
            <a:pPr algn="ctr">
              <a:defRPr sz="900" b="1">
                <a:solidFill>
                  <a:srgbClr val="14855C"/>
                </a:solidFill>
                <a:latin typeface="Calibri" panose="020F0502020204030204"/>
                <a:ea typeface="Calibri" panose="020F0502020204030204"/>
                <a:cs typeface="Calibri" panose="020F0502020204030204"/>
              </a:defRPr>
            </a:pPr>
            <a:r>
              <a:rPr sz="900" b="1">
                <a:solidFill>
                  <a:srgbClr val="14855C"/>
                </a:solidFill>
                <a:latin typeface="Calibri" panose="020F0502020204030204"/>
                <a:ea typeface="Calibri" panose="020F0502020204030204"/>
                <a:cs typeface="Calibri" panose="020F0502020204030204"/>
              </a:rPr>
              <a:t>Stage B</a:t>
            </a:r>
          </a:p>
          <a:p>
            <a:pPr algn="ctr">
              <a:defRPr sz="900" b="1">
                <a:solidFill>
                  <a:srgbClr val="14855C"/>
                </a:solidFill>
                <a:latin typeface="Calibri" panose="020F0502020204030204"/>
                <a:ea typeface="Calibri" panose="020F0502020204030204"/>
                <a:cs typeface="Calibri" panose="020F0502020204030204"/>
              </a:defRPr>
            </a:pPr>
            <a:r>
              <a:rPr sz="900" b="1">
                <a:solidFill>
                  <a:srgbClr val="14855C"/>
                </a:solidFill>
                <a:latin typeface="Calibri" panose="020F0502020204030204"/>
                <a:ea typeface="Calibri" panose="020F0502020204030204"/>
                <a:cs typeface="Calibri" panose="020F0502020204030204"/>
              </a:rPr>
              <a:t>Output</a:t>
            </a:r>
          </a:p>
        </p:txBody>
      </p:sp>
      <p:sp>
        <p:nvSpPr>
          <p:cNvPr id="82" name="s4-stage-c"/>
          <p:cNvSpPr>
            <a:spLocks noGrp="1"/>
          </p:cNvSpPr>
          <p:nvPr/>
        </p:nvSpPr>
        <p:spPr>
          <a:xfrm>
            <a:off x="4124325" y="5524500"/>
            <a:ext cx="914400" cy="381000"/>
          </a:xfrm>
          <a:prstGeom prst="roundRect">
            <a:avLst>
              <a:gd name="adj" fmla="val 17500"/>
            </a:avLst>
          </a:prstGeom>
          <a:solidFill>
            <a:srgbClr val="EFF8F4"/>
          </a:solidFill>
          <a:ln w="9525">
            <a:solidFill>
              <a:srgbClr val="14855C"/>
            </a:solidFill>
            <a:prstDash val="solid"/>
          </a:ln>
        </p:spPr>
        <p:txBody>
          <a:bodyPr wrap="square" lIns="57150" tIns="28575" rIns="57150" bIns="28575" anchor="ctr">
            <a:normAutofit/>
          </a:bodyPr>
          <a:lstStyle/>
          <a:p>
            <a:pPr algn="ctr">
              <a:defRPr sz="900" b="1">
                <a:solidFill>
                  <a:srgbClr val="14855C"/>
                </a:solidFill>
                <a:latin typeface="Calibri" panose="020F0502020204030204"/>
                <a:ea typeface="Calibri" panose="020F0502020204030204"/>
                <a:cs typeface="Calibri" panose="020F0502020204030204"/>
              </a:defRPr>
            </a:pPr>
            <a:r>
              <a:rPr sz="900" b="1">
                <a:solidFill>
                  <a:srgbClr val="14855C"/>
                </a:solidFill>
                <a:latin typeface="Calibri" panose="020F0502020204030204"/>
                <a:ea typeface="Calibri" panose="020F0502020204030204"/>
                <a:cs typeface="Calibri" panose="020F0502020204030204"/>
              </a:rPr>
              <a:t>Stage C</a:t>
            </a:r>
          </a:p>
        </p:txBody>
      </p:sp>
      <p:cxnSp>
        <p:nvCxnSpPr>
          <p:cNvPr id="175" name="s4-stage-edge-a-b"/>
          <p:cNvCxnSpPr>
            <a:stCxn id="80" idx="3"/>
            <a:endCxn id="81" idx="1"/>
          </p:cNvCxnSpPr>
          <p:nvPr/>
        </p:nvCxnSpPr>
        <p:spPr>
          <a:xfrm>
            <a:off x="2200275" y="5715000"/>
            <a:ext cx="504825" cy="0"/>
          </a:xfrm>
          <a:prstGeom prst="straightConnector1">
            <a:avLst/>
          </a:prstGeom>
          <a:ln w="12383">
            <a:solidFill>
              <a:srgbClr val="14855C"/>
            </a:solidFill>
            <a:prstDash val="solid"/>
            <a:tailEnd type="triangle" w="sm" len="sm"/>
          </a:ln>
        </p:spPr>
      </p:cxnSp>
      <p:cxnSp>
        <p:nvCxnSpPr>
          <p:cNvPr id="176" name="s4-stage-edge-b-c"/>
          <p:cNvCxnSpPr>
            <a:stCxn id="81" idx="3"/>
            <a:endCxn id="82" idx="1"/>
          </p:cNvCxnSpPr>
          <p:nvPr/>
        </p:nvCxnSpPr>
        <p:spPr>
          <a:xfrm>
            <a:off x="3619500" y="5715000"/>
            <a:ext cx="504825" cy="0"/>
          </a:xfrm>
          <a:prstGeom prst="straightConnector1">
            <a:avLst/>
          </a:prstGeom>
          <a:ln w="12383">
            <a:solidFill>
              <a:srgbClr val="14855C"/>
            </a:solidFill>
            <a:prstDash val="solid"/>
            <a:tailEnd type="triangle" w="sm" len="sm"/>
          </a:ln>
        </p:spPr>
      </p:cxnSp>
      <p:sp>
        <p:nvSpPr>
          <p:cNvPr id="85" name="s4-contract-summary"/>
          <p:cNvSpPr>
            <a:spLocks noGrp="1"/>
          </p:cNvSpPr>
          <p:nvPr/>
        </p:nvSpPr>
        <p:spPr>
          <a:xfrm>
            <a:off x="847725" y="6010275"/>
            <a:ext cx="4629150" cy="228600"/>
          </a:xfrm>
          <a:prstGeom prst="rect">
            <a:avLst/>
          </a:prstGeom>
          <a:noFill/>
          <a:ln w="0">
            <a:noFill/>
            <a:prstDash val="solid"/>
          </a:ln>
        </p:spPr>
        <p:txBody>
          <a:bodyPr wrap="square" lIns="38100" tIns="19050" rIns="38100" bIns="19050" anchor="ctr">
            <a:normAutofit/>
          </a:bodyPr>
          <a:lstStyle/>
          <a:p>
            <a:pPr algn="ctr">
              <a:defRPr sz="975" b="1">
                <a:solidFill>
                  <a:srgbClr val="14855C"/>
                </a:solidFill>
                <a:latin typeface="微软雅黑" panose="020B0503020204020204" charset="-122"/>
                <a:ea typeface="微软雅黑" panose="020B0503020204020204" charset="-122"/>
                <a:cs typeface="微软雅黑" panose="020B0503020204020204" charset="-122"/>
              </a:defRPr>
            </a:pPr>
            <a:r>
              <a:rPr sz="975" b="1">
                <a:solidFill>
                  <a:srgbClr val="14855C"/>
                </a:solidFill>
                <a:latin typeface="微软雅黑" panose="020B0503020204020204" charset="-122"/>
                <a:ea typeface="微软雅黑" panose="020B0503020204020204" charset="-122"/>
                <a:cs typeface="微软雅黑" panose="020B0503020204020204" charset="-122"/>
              </a:rPr>
              <a:t>契约让不同阶段和不同能力之间稳定衔接。</a:t>
            </a:r>
          </a:p>
        </p:txBody>
      </p:sp>
      <p:sp>
        <p:nvSpPr>
          <p:cNvPr id="86" name="s4-subagent-surface"/>
          <p:cNvSpPr>
            <a:spLocks noGrp="1"/>
          </p:cNvSpPr>
          <p:nvPr/>
        </p:nvSpPr>
        <p:spPr>
          <a:xfrm>
            <a:off x="6210300" y="3886200"/>
            <a:ext cx="5715000" cy="2466975"/>
          </a:xfrm>
          <a:prstGeom prst="roundRect">
            <a:avLst>
              <a:gd name="adj" fmla="val 3475"/>
            </a:avLst>
          </a:prstGeom>
          <a:solidFill>
            <a:srgbClr val="FFFFFF"/>
          </a:solidFill>
          <a:ln w="9525">
            <a:solidFill>
              <a:srgbClr val="D7CCF3"/>
            </a:solidFill>
            <a:prstDash val="solid"/>
          </a:ln>
        </p:spPr>
      </p:sp>
      <p:sp>
        <p:nvSpPr>
          <p:cNvPr id="87" name="s4-subagent-number"/>
          <p:cNvSpPr>
            <a:spLocks noGrp="1"/>
          </p:cNvSpPr>
          <p:nvPr/>
        </p:nvSpPr>
        <p:spPr>
          <a:xfrm>
            <a:off x="6372225" y="4010025"/>
            <a:ext cx="361950" cy="285750"/>
          </a:xfrm>
          <a:prstGeom prst="roundRect">
            <a:avLst>
              <a:gd name="adj" fmla="val 20000"/>
            </a:avLst>
          </a:prstGeom>
          <a:solidFill>
            <a:srgbClr val="6E54C8"/>
          </a:solidFill>
          <a:ln w="9525">
            <a:solidFill>
              <a:srgbClr val="6E54C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B</a:t>
            </a:r>
          </a:p>
        </p:txBody>
      </p:sp>
      <p:sp>
        <p:nvSpPr>
          <p:cNvPr id="88" name="s4-subagent-title"/>
          <p:cNvSpPr>
            <a:spLocks noGrp="1"/>
          </p:cNvSpPr>
          <p:nvPr/>
        </p:nvSpPr>
        <p:spPr>
          <a:xfrm>
            <a:off x="6848475" y="4000500"/>
            <a:ext cx="4095750" cy="304800"/>
          </a:xfrm>
          <a:prstGeom prst="rect">
            <a:avLst/>
          </a:prstGeom>
          <a:noFill/>
          <a:ln w="0">
            <a:noFill/>
            <a:prstDash val="solid"/>
          </a:ln>
        </p:spPr>
        <p:txBody>
          <a:bodyPr wrap="square" lIns="38100" tIns="19050" rIns="38100" bIns="19050" anchor="ctr">
            <a:normAutofit/>
          </a:bodyPr>
          <a:lstStyle/>
          <a:p>
            <a:pPr algn="l">
              <a:defRPr sz="1575" b="1">
                <a:solidFill>
                  <a:srgbClr val="6E54C8"/>
                </a:solidFill>
                <a:latin typeface="微软雅黑" panose="020B0503020204020204" charset="-122"/>
                <a:ea typeface="微软雅黑" panose="020B0503020204020204" charset="-122"/>
                <a:cs typeface="微软雅黑" panose="020B0503020204020204" charset="-122"/>
              </a:defRPr>
            </a:pPr>
            <a:r>
              <a:rPr sz="1575" b="1" dirty="0" err="1" smtClean="0">
                <a:solidFill>
                  <a:srgbClr val="6E54C8"/>
                </a:solidFill>
                <a:latin typeface="微软雅黑" panose="020B0503020204020204" charset="-122"/>
                <a:ea typeface="微软雅黑" panose="020B0503020204020204" charset="-122"/>
                <a:cs typeface="微软雅黑" panose="020B0503020204020204" charset="-122"/>
              </a:rPr>
              <a:t>复杂</a:t>
            </a:r>
            <a:r>
              <a:rPr lang="zh-CN" altLang="en-US" sz="1575" b="1" dirty="0" smtClean="0">
                <a:solidFill>
                  <a:srgbClr val="6E54C8"/>
                </a:solidFill>
                <a:latin typeface="微软雅黑" panose="020B0503020204020204" charset="-122"/>
                <a:ea typeface="微软雅黑" panose="020B0503020204020204" charset="-122"/>
                <a:cs typeface="微软雅黑" panose="020B0503020204020204" charset="-122"/>
              </a:rPr>
              <a:t>功能</a:t>
            </a:r>
            <a:r>
              <a:rPr sz="1575" b="1" dirty="0" err="1" smtClean="0">
                <a:solidFill>
                  <a:srgbClr val="6E54C8"/>
                </a:solidFill>
                <a:latin typeface="微软雅黑" panose="020B0503020204020204" charset="-122"/>
                <a:ea typeface="微软雅黑" panose="020B0503020204020204" charset="-122"/>
                <a:cs typeface="微软雅黑" panose="020B0503020204020204" charset="-122"/>
              </a:rPr>
              <a:t>扩展</a:t>
            </a:r>
            <a:r>
              <a:rPr sz="1575" b="1" dirty="0" err="1">
                <a:solidFill>
                  <a:srgbClr val="6E54C8"/>
                </a:solidFill>
                <a:latin typeface="微软雅黑" panose="020B0503020204020204" charset="-122"/>
                <a:ea typeface="微软雅黑" panose="020B0503020204020204" charset="-122"/>
                <a:cs typeface="微软雅黑" panose="020B0503020204020204" charset="-122"/>
              </a:rPr>
              <a:t>：</a:t>
            </a:r>
            <a:r>
              <a:rPr sz="1575" b="1" dirty="0" err="1" smtClean="0">
                <a:solidFill>
                  <a:srgbClr val="6E54C8"/>
                </a:solidFill>
                <a:latin typeface="微软雅黑" panose="020B0503020204020204" charset="-122"/>
                <a:ea typeface="微软雅黑" panose="020B0503020204020204" charset="-122"/>
                <a:cs typeface="微软雅黑" panose="020B0503020204020204" charset="-122"/>
              </a:rPr>
              <a:t>Sub-Agent</a:t>
            </a:r>
            <a:endParaRPr sz="1575" b="1" dirty="0">
              <a:solidFill>
                <a:srgbClr val="6E54C8"/>
              </a:solidFill>
              <a:latin typeface="微软雅黑" panose="020B0503020204020204" charset="-122"/>
              <a:ea typeface="微软雅黑" panose="020B0503020204020204" charset="-122"/>
              <a:cs typeface="微软雅黑" panose="020B0503020204020204" charset="-122"/>
            </a:endParaRPr>
          </a:p>
        </p:txBody>
      </p:sp>
      <p:sp>
        <p:nvSpPr>
          <p:cNvPr id="89" name="s4-subagent-definition"/>
          <p:cNvSpPr>
            <a:spLocks noGrp="1"/>
          </p:cNvSpPr>
          <p:nvPr/>
        </p:nvSpPr>
        <p:spPr>
          <a:xfrm>
            <a:off x="6410325" y="4324350"/>
            <a:ext cx="5286375" cy="247650"/>
          </a:xfrm>
          <a:prstGeom prst="rect">
            <a:avLst/>
          </a:prstGeom>
          <a:noFill/>
          <a:ln w="0">
            <a:noFill/>
            <a:prstDash val="solid"/>
          </a:ln>
        </p:spPr>
        <p:txBody>
          <a:bodyPr wrap="square" lIns="38100" tIns="19050" rIns="38100" bIns="19050" anchor="ctr">
            <a:normAutofit/>
          </a:bodyPr>
          <a:lstStyle/>
          <a:p>
            <a:pPr algn="ctr">
              <a:defRPr sz="940" b="0">
                <a:solidFill>
                  <a:srgbClr val="56627A"/>
                </a:solidFill>
                <a:latin typeface="微软雅黑" panose="020B0503020204020204" charset="-122"/>
                <a:ea typeface="微软雅黑" panose="020B0503020204020204" charset="-122"/>
                <a:cs typeface="微软雅黑" panose="020B0503020204020204" charset="-122"/>
              </a:defRPr>
            </a:pPr>
            <a:r>
              <a:rPr sz="940" b="0">
                <a:solidFill>
                  <a:srgbClr val="56627A"/>
                </a:solidFill>
                <a:latin typeface="微软雅黑" panose="020B0503020204020204" charset="-122"/>
                <a:ea typeface="微软雅黑" panose="020B0503020204020204" charset="-122"/>
                <a:cs typeface="微软雅黑" panose="020B0503020204020204" charset="-122"/>
              </a:rPr>
              <a:t>将复杂、相对独立的子任务交给专业 Sub-Agent，再由主 Agent 汇总结果。</a:t>
            </a:r>
          </a:p>
        </p:txBody>
      </p:sp>
      <p:sp>
        <p:nvSpPr>
          <p:cNvPr id="90" name="s4-subagent-main"/>
          <p:cNvSpPr>
            <a:spLocks noGrp="1"/>
          </p:cNvSpPr>
          <p:nvPr/>
        </p:nvSpPr>
        <p:spPr>
          <a:xfrm>
            <a:off x="6562725" y="4657725"/>
            <a:ext cx="1905000" cy="276225"/>
          </a:xfrm>
          <a:prstGeom prst="roundRect">
            <a:avLst>
              <a:gd name="adj" fmla="val 20690"/>
            </a:avLst>
          </a:prstGeom>
          <a:solidFill>
            <a:srgbClr val="EEF4FE"/>
          </a:solidFill>
          <a:ln w="9525">
            <a:solidFill>
              <a:srgbClr val="1457C5"/>
            </a:solidFill>
            <a:prstDash val="solid"/>
          </a:ln>
        </p:spPr>
        <p:txBody>
          <a:bodyPr wrap="square" lIns="57150" tIns="28575" rIns="57150" bIns="28575" anchor="ctr">
            <a:normAutofit/>
          </a:bodyPr>
          <a:lstStyle/>
          <a:p>
            <a:pPr algn="ctr">
              <a:defRPr sz="975" b="1">
                <a:solidFill>
                  <a:srgbClr val="072A67"/>
                </a:solidFill>
                <a:latin typeface="Calibri" panose="020F0502020204030204"/>
                <a:ea typeface="Calibri" panose="020F0502020204030204"/>
                <a:cs typeface="Calibri" panose="020F0502020204030204"/>
              </a:defRPr>
            </a:pPr>
            <a:r>
              <a:rPr sz="975" b="1">
                <a:solidFill>
                  <a:srgbClr val="072A67"/>
                </a:solidFill>
                <a:latin typeface="Calibri" panose="020F0502020204030204"/>
                <a:ea typeface="Calibri" panose="020F0502020204030204"/>
                <a:cs typeface="Calibri" panose="020F0502020204030204"/>
              </a:rPr>
              <a:t>Main Agent</a:t>
            </a:r>
          </a:p>
        </p:txBody>
      </p:sp>
      <p:sp>
        <p:nvSpPr>
          <p:cNvPr id="91" name="s4-subagent-skill"/>
          <p:cNvSpPr>
            <a:spLocks noGrp="1"/>
          </p:cNvSpPr>
          <p:nvPr/>
        </p:nvSpPr>
        <p:spPr>
          <a:xfrm>
            <a:off x="6867525" y="5038725"/>
            <a:ext cx="1295400" cy="257175"/>
          </a:xfrm>
          <a:prstGeom prst="roundRect">
            <a:avLst>
              <a:gd name="adj" fmla="val 22222"/>
            </a:avLst>
          </a:prstGeom>
          <a:solidFill>
            <a:srgbClr val="F5F2FC"/>
          </a:solidFill>
          <a:ln w="9525">
            <a:solidFill>
              <a:srgbClr val="6E54C8"/>
            </a:solidFill>
            <a:prstDash val="solid"/>
          </a:ln>
        </p:spPr>
        <p:txBody>
          <a:bodyPr wrap="square" lIns="57150" tIns="28575" rIns="57150" bIns="28575" anchor="ctr">
            <a:normAutofit/>
          </a:bodyPr>
          <a:lstStyle/>
          <a:p>
            <a:pPr algn="ctr">
              <a:defRPr sz="975" b="1">
                <a:solidFill>
                  <a:srgbClr val="6E54C8"/>
                </a:solidFill>
                <a:latin typeface="Calibri" panose="020F0502020204030204"/>
                <a:ea typeface="Calibri" panose="020F0502020204030204"/>
                <a:cs typeface="Calibri" panose="020F0502020204030204"/>
              </a:defRPr>
            </a:pPr>
            <a:r>
              <a:rPr sz="975" b="1">
                <a:solidFill>
                  <a:srgbClr val="6E54C8"/>
                </a:solidFill>
                <a:latin typeface="Calibri" panose="020F0502020204030204"/>
                <a:ea typeface="Calibri" panose="020F0502020204030204"/>
                <a:cs typeface="Calibri" panose="020F0502020204030204"/>
              </a:rPr>
              <a:t>Skill</a:t>
            </a:r>
          </a:p>
        </p:txBody>
      </p:sp>
      <p:cxnSp>
        <p:nvCxnSpPr>
          <p:cNvPr id="184" name="s4-subagent-edge-main-skill"/>
          <p:cNvCxnSpPr>
            <a:stCxn id="90" idx="2"/>
            <a:endCxn id="91" idx="0"/>
          </p:cNvCxnSpPr>
          <p:nvPr/>
        </p:nvCxnSpPr>
        <p:spPr>
          <a:xfrm>
            <a:off x="7515225" y="4933950"/>
            <a:ext cx="0" cy="104775"/>
          </a:xfrm>
          <a:prstGeom prst="straightConnector1">
            <a:avLst/>
          </a:prstGeom>
          <a:ln w="12383">
            <a:solidFill>
              <a:srgbClr val="6E54C8"/>
            </a:solidFill>
            <a:prstDash val="solid"/>
            <a:tailEnd type="triangle" w="sm" len="sm"/>
          </a:ln>
        </p:spPr>
      </p:cxnSp>
      <p:sp>
        <p:nvSpPr>
          <p:cNvPr id="93" name="s4-subagent-role-1"/>
          <p:cNvSpPr>
            <a:spLocks noGrp="1"/>
          </p:cNvSpPr>
          <p:nvPr/>
        </p:nvSpPr>
        <p:spPr>
          <a:xfrm>
            <a:off x="6400800" y="5448300"/>
            <a:ext cx="895350" cy="428625"/>
          </a:xfrm>
          <a:prstGeom prst="roundRect">
            <a:avLst>
              <a:gd name="adj" fmla="val 15556"/>
            </a:avLst>
          </a:prstGeom>
          <a:solidFill>
            <a:srgbClr val="FFFFFF"/>
          </a:solidFill>
          <a:ln w="9525">
            <a:solidFill>
              <a:srgbClr val="6E54C8"/>
            </a:solidFill>
            <a:prstDash val="solid"/>
          </a:ln>
        </p:spPr>
        <p:txBody>
          <a:bodyPr wrap="square" lIns="57150" tIns="28575" rIns="57150" bIns="28575" anchor="ctr">
            <a:normAutofit/>
          </a:bodyPr>
          <a:lstStyle/>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Sub-Agent</a:t>
            </a:r>
          </a:p>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Generator</a:t>
            </a:r>
          </a:p>
        </p:txBody>
      </p:sp>
      <p:sp>
        <p:nvSpPr>
          <p:cNvPr id="94" name="s4-subagent-role-2"/>
          <p:cNvSpPr>
            <a:spLocks noGrp="1"/>
          </p:cNvSpPr>
          <p:nvPr/>
        </p:nvSpPr>
        <p:spPr>
          <a:xfrm>
            <a:off x="7391400" y="5448300"/>
            <a:ext cx="895350" cy="428625"/>
          </a:xfrm>
          <a:prstGeom prst="roundRect">
            <a:avLst>
              <a:gd name="adj" fmla="val 15556"/>
            </a:avLst>
          </a:prstGeom>
          <a:solidFill>
            <a:srgbClr val="FFFFFF"/>
          </a:solidFill>
          <a:ln w="9525">
            <a:solidFill>
              <a:srgbClr val="6E54C8"/>
            </a:solidFill>
            <a:prstDash val="solid"/>
          </a:ln>
        </p:spPr>
        <p:txBody>
          <a:bodyPr wrap="square" lIns="57150" tIns="28575" rIns="57150" bIns="28575" anchor="ctr">
            <a:normAutofit/>
          </a:bodyPr>
          <a:lstStyle/>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Sub-Agent</a:t>
            </a:r>
          </a:p>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Reviewer</a:t>
            </a:r>
          </a:p>
        </p:txBody>
      </p:sp>
      <p:sp>
        <p:nvSpPr>
          <p:cNvPr id="95" name="s4-subagent-role-3"/>
          <p:cNvSpPr>
            <a:spLocks noGrp="1"/>
          </p:cNvSpPr>
          <p:nvPr/>
        </p:nvSpPr>
        <p:spPr>
          <a:xfrm>
            <a:off x="8382000" y="5448300"/>
            <a:ext cx="895350" cy="428625"/>
          </a:xfrm>
          <a:prstGeom prst="roundRect">
            <a:avLst>
              <a:gd name="adj" fmla="val 15556"/>
            </a:avLst>
          </a:prstGeom>
          <a:solidFill>
            <a:srgbClr val="FFFFFF"/>
          </a:solidFill>
          <a:ln w="9525">
            <a:solidFill>
              <a:srgbClr val="6E54C8"/>
            </a:solidFill>
            <a:prstDash val="solid"/>
          </a:ln>
        </p:spPr>
        <p:txBody>
          <a:bodyPr wrap="square" lIns="57150" tIns="28575" rIns="57150" bIns="28575" anchor="ctr">
            <a:normAutofit/>
          </a:bodyPr>
          <a:lstStyle/>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Sub-Agent</a:t>
            </a:r>
          </a:p>
          <a:p>
            <a:pPr algn="ctr">
              <a:defRPr sz="790" b="1">
                <a:solidFill>
                  <a:srgbClr val="6E54C8"/>
                </a:solidFill>
                <a:latin typeface="Calibri" panose="020F0502020204030204"/>
                <a:ea typeface="Calibri" panose="020F0502020204030204"/>
                <a:cs typeface="Calibri" panose="020F0502020204030204"/>
              </a:defRPr>
            </a:pPr>
            <a:r>
              <a:rPr sz="790" b="1">
                <a:solidFill>
                  <a:srgbClr val="6E54C8"/>
                </a:solidFill>
                <a:latin typeface="Calibri" panose="020F0502020204030204"/>
                <a:ea typeface="Calibri" panose="020F0502020204030204"/>
                <a:cs typeface="Calibri" panose="020F0502020204030204"/>
              </a:rPr>
              <a:t>Analyzer</a:t>
            </a:r>
          </a:p>
        </p:txBody>
      </p:sp>
      <p:cxnSp>
        <p:nvCxnSpPr>
          <p:cNvPr id="188" name="s4-subagent-edge-skill-1"/>
          <p:cNvCxnSpPr>
            <a:stCxn id="91" idx="2"/>
            <a:endCxn id="93" idx="0"/>
          </p:cNvCxnSpPr>
          <p:nvPr/>
        </p:nvCxnSpPr>
        <p:spPr>
          <a:xfrm flipH="1">
            <a:off x="6848475" y="5295900"/>
            <a:ext cx="666750" cy="152400"/>
          </a:xfrm>
          <a:prstGeom prst="bentConnector4">
            <a:avLst>
              <a:gd name="adj1" fmla="val 0"/>
              <a:gd name="adj2" fmla="val 50000"/>
            </a:avLst>
          </a:prstGeom>
          <a:ln w="10478">
            <a:solidFill>
              <a:srgbClr val="6E54C8"/>
            </a:solidFill>
            <a:prstDash val="solid"/>
            <a:tailEnd type="triangle" w="sm" len="sm"/>
          </a:ln>
        </p:spPr>
      </p:cxnSp>
      <p:cxnSp>
        <p:nvCxnSpPr>
          <p:cNvPr id="189" name="s4-subagent-edge-skill-2"/>
          <p:cNvCxnSpPr>
            <a:stCxn id="91" idx="2"/>
            <a:endCxn id="94" idx="0"/>
          </p:cNvCxnSpPr>
          <p:nvPr/>
        </p:nvCxnSpPr>
        <p:spPr>
          <a:xfrm>
            <a:off x="7515225" y="5295900"/>
            <a:ext cx="323850" cy="152400"/>
          </a:xfrm>
          <a:prstGeom prst="bentConnector4">
            <a:avLst>
              <a:gd name="adj1" fmla="val 0"/>
              <a:gd name="adj2" fmla="val 50000"/>
            </a:avLst>
          </a:prstGeom>
          <a:ln w="10478">
            <a:solidFill>
              <a:srgbClr val="6E54C8"/>
            </a:solidFill>
            <a:prstDash val="solid"/>
            <a:tailEnd type="triangle" w="sm" len="sm"/>
          </a:ln>
        </p:spPr>
      </p:cxnSp>
      <p:cxnSp>
        <p:nvCxnSpPr>
          <p:cNvPr id="190" name="s4-subagent-edge-skill-3"/>
          <p:cNvCxnSpPr>
            <a:stCxn id="91" idx="2"/>
            <a:endCxn id="95" idx="0"/>
          </p:cNvCxnSpPr>
          <p:nvPr/>
        </p:nvCxnSpPr>
        <p:spPr>
          <a:xfrm>
            <a:off x="7515225" y="5295900"/>
            <a:ext cx="1314450" cy="152400"/>
          </a:xfrm>
          <a:prstGeom prst="bentConnector4">
            <a:avLst>
              <a:gd name="adj1" fmla="val 0"/>
              <a:gd name="adj2" fmla="val 50000"/>
            </a:avLst>
          </a:prstGeom>
          <a:ln w="10478">
            <a:solidFill>
              <a:srgbClr val="6E54C8"/>
            </a:solidFill>
            <a:prstDash val="solid"/>
            <a:tailEnd type="triangle" w="sm" len="sm"/>
          </a:ln>
        </p:spPr>
      </p:cxnSp>
      <p:sp>
        <p:nvSpPr>
          <p:cNvPr id="99" name="s4-subagent-result"/>
          <p:cNvSpPr>
            <a:spLocks noGrp="1"/>
          </p:cNvSpPr>
          <p:nvPr/>
        </p:nvSpPr>
        <p:spPr>
          <a:xfrm>
            <a:off x="7162800" y="5991225"/>
            <a:ext cx="1371600" cy="238125"/>
          </a:xfrm>
          <a:prstGeom prst="roundRect">
            <a:avLst>
              <a:gd name="adj" fmla="val 24000"/>
            </a:avLst>
          </a:prstGeom>
          <a:solidFill>
            <a:srgbClr val="EEF4FE"/>
          </a:solidFill>
          <a:ln w="9525">
            <a:solidFill>
              <a:srgbClr val="1457C5"/>
            </a:solidFill>
            <a:prstDash val="solid"/>
          </a:ln>
        </p:spPr>
        <p:txBody>
          <a:bodyPr wrap="square" lIns="57150" tIns="28575" rIns="57150" bIns="28575" anchor="ctr">
            <a:normAutofit/>
          </a:bodyPr>
          <a:lstStyle/>
          <a:p>
            <a:pPr algn="ctr">
              <a:defRPr sz="900" b="1">
                <a:solidFill>
                  <a:srgbClr val="072A67"/>
                </a:solidFill>
                <a:latin typeface="Calibri" panose="020F0502020204030204"/>
                <a:ea typeface="Calibri" panose="020F0502020204030204"/>
                <a:cs typeface="Calibri" panose="020F0502020204030204"/>
              </a:defRPr>
            </a:pPr>
            <a:r>
              <a:rPr sz="900" b="1">
                <a:solidFill>
                  <a:srgbClr val="072A67"/>
                </a:solidFill>
                <a:latin typeface="Calibri" panose="020F0502020204030204"/>
                <a:ea typeface="Calibri" panose="020F0502020204030204"/>
                <a:cs typeface="Calibri" panose="020F0502020204030204"/>
              </a:rPr>
              <a:t>Result</a:t>
            </a:r>
          </a:p>
        </p:txBody>
      </p:sp>
      <p:cxnSp>
        <p:nvCxnSpPr>
          <p:cNvPr id="192" name="s4-subagent-edge-result-1"/>
          <p:cNvCxnSpPr>
            <a:stCxn id="93" idx="2"/>
            <a:endCxn id="99" idx="0"/>
          </p:cNvCxnSpPr>
          <p:nvPr/>
        </p:nvCxnSpPr>
        <p:spPr>
          <a:xfrm>
            <a:off x="6848475" y="5876925"/>
            <a:ext cx="1000125" cy="114300"/>
          </a:xfrm>
          <a:prstGeom prst="bentConnector4">
            <a:avLst>
              <a:gd name="adj1" fmla="val 0"/>
              <a:gd name="adj2" fmla="val 50000"/>
            </a:avLst>
          </a:prstGeom>
          <a:ln w="9525">
            <a:solidFill>
              <a:srgbClr val="6E54C8"/>
            </a:solidFill>
            <a:prstDash val="solid"/>
          </a:ln>
        </p:spPr>
      </p:cxnSp>
      <p:cxnSp>
        <p:nvCxnSpPr>
          <p:cNvPr id="193" name="s4-subagent-edge-result-2"/>
          <p:cNvCxnSpPr>
            <a:stCxn id="94" idx="2"/>
            <a:endCxn id="99" idx="0"/>
          </p:cNvCxnSpPr>
          <p:nvPr/>
        </p:nvCxnSpPr>
        <p:spPr>
          <a:xfrm>
            <a:off x="7839075" y="5876925"/>
            <a:ext cx="9525" cy="114300"/>
          </a:xfrm>
          <a:prstGeom prst="bentConnector4">
            <a:avLst>
              <a:gd name="adj1" fmla="val 0"/>
              <a:gd name="adj2" fmla="val 50000"/>
            </a:avLst>
          </a:prstGeom>
          <a:ln w="9525">
            <a:solidFill>
              <a:srgbClr val="6E54C8"/>
            </a:solidFill>
            <a:prstDash val="solid"/>
            <a:tailEnd type="triangle" w="sm" len="sm"/>
          </a:ln>
        </p:spPr>
      </p:cxnSp>
      <p:cxnSp>
        <p:nvCxnSpPr>
          <p:cNvPr id="194" name="s4-subagent-edge-result-3"/>
          <p:cNvCxnSpPr>
            <a:stCxn id="95" idx="2"/>
            <a:endCxn id="99" idx="0"/>
          </p:cNvCxnSpPr>
          <p:nvPr/>
        </p:nvCxnSpPr>
        <p:spPr>
          <a:xfrm flipH="1">
            <a:off x="7848600" y="5876925"/>
            <a:ext cx="981075" cy="114300"/>
          </a:xfrm>
          <a:prstGeom prst="bentConnector4">
            <a:avLst>
              <a:gd name="adj1" fmla="val 0"/>
              <a:gd name="adj2" fmla="val 50000"/>
            </a:avLst>
          </a:prstGeom>
          <a:ln w="9525">
            <a:solidFill>
              <a:srgbClr val="6E54C8"/>
            </a:solidFill>
            <a:prstDash val="solid"/>
          </a:ln>
        </p:spPr>
      </p:cxnSp>
      <p:sp>
        <p:nvSpPr>
          <p:cNvPr id="103" name="s4-subagent-scenarios"/>
          <p:cNvSpPr>
            <a:spLocks noGrp="1"/>
          </p:cNvSpPr>
          <p:nvPr/>
        </p:nvSpPr>
        <p:spPr>
          <a:xfrm>
            <a:off x="9448800" y="4667250"/>
            <a:ext cx="2295525" cy="1323975"/>
          </a:xfrm>
          <a:prstGeom prst="rect">
            <a:avLst/>
          </a:prstGeom>
          <a:noFill/>
          <a:ln w="0">
            <a:noFill/>
            <a:prstDash val="solid"/>
          </a:ln>
        </p:spPr>
        <p:txBody>
          <a:bodyPr wrap="square" lIns="57150" tIns="19050" rIns="38100" bIns="19050" anchor="t">
            <a:normAutofit fontScale="97769"/>
          </a:bodyPr>
          <a:lstStyle/>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适用场景</a:t>
            </a:r>
          </a:p>
          <a:p>
            <a:endParaRPr sz="865"/>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复杂子任务</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多步分析 · 专业判断</a:t>
            </a:r>
          </a:p>
          <a:p>
            <a:endParaRPr sz="865"/>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专业化分工</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Generator / Reviewer / Analyzer</a:t>
            </a:r>
          </a:p>
          <a:p>
            <a:endParaRPr sz="865"/>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相对独立上下文</a:t>
            </a:r>
          </a:p>
          <a:p>
            <a:pPr algn="l">
              <a:defRPr sz="865" b="0">
                <a:solidFill>
                  <a:srgbClr val="27364A"/>
                </a:solidFill>
                <a:latin typeface="微软雅黑" panose="020B0503020204020204" charset="-122"/>
                <a:ea typeface="微软雅黑" panose="020B0503020204020204" charset="-122"/>
                <a:cs typeface="微软雅黑" panose="020B0503020204020204" charset="-122"/>
              </a:defRPr>
            </a:pPr>
            <a:r>
              <a:rPr sz="865" b="0">
                <a:solidFill>
                  <a:srgbClr val="27364A"/>
                </a:solidFill>
                <a:latin typeface="微软雅黑" panose="020B0503020204020204" charset="-122"/>
                <a:ea typeface="微软雅黑" panose="020B0503020204020204" charset="-122"/>
                <a:cs typeface="微软雅黑" panose="020B0503020204020204" charset="-122"/>
              </a:rPr>
              <a:t>减少中间分析对主流程的干扰</a:t>
            </a:r>
          </a:p>
        </p:txBody>
      </p:sp>
      <p:sp>
        <p:nvSpPr>
          <p:cNvPr id="3"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2</a:t>
            </a:r>
          </a:p>
        </p:txBody>
      </p:sp>
      <p:sp>
        <p:nvSpPr>
          <p:cNvPr id="2" name="s13-title-rule"/>
          <p:cNvSpPr>
            <a:spLocks noGrp="1"/>
          </p:cNvSpPr>
          <p:nvPr/>
        </p:nvSpPr>
        <p:spPr>
          <a:xfrm>
            <a:off x="247650" y="714375"/>
            <a:ext cx="11734800" cy="19050"/>
          </a:xfrm>
          <a:prstGeom prst="rect">
            <a:avLst/>
          </a:prstGeom>
          <a:solidFill>
            <a:srgbClr val="0E56C9"/>
          </a:solidFill>
          <a:ln w="0">
            <a:solidFill>
              <a:srgbClr val="0E56C9"/>
            </a:solidFill>
            <a:prstDash val="solid"/>
          </a:ln>
        </p:spPr>
      </p:sp>
      <p:sp>
        <p:nvSpPr>
          <p:cNvPr id="97" name="slide-2-title"/>
          <p:cNvSpPr>
            <a:spLocks noGrp="1"/>
          </p:cNvSpPr>
          <p:nvPr/>
        </p:nvSpPr>
        <p:spPr>
          <a:xfrm>
            <a:off x="276225" y="829904"/>
            <a:ext cx="9525000" cy="523875"/>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①</a:t>
            </a:r>
            <a:r>
              <a:rPr lang="en-US" altLang="zh-CN" sz="1600" b="1" dirty="0" smtClean="0">
                <a:solidFill>
                  <a:srgbClr val="072A67"/>
                </a:solidFill>
                <a:latin typeface="微软雅黑" panose="020B0503020204020204" charset="-122"/>
                <a:ea typeface="微软雅黑" panose="020B0503020204020204" charset="-122"/>
                <a:cs typeface="微软雅黑" panose="020B0503020204020204" charset="-122"/>
              </a:rPr>
              <a:t>Skill</a:t>
            </a: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的结构</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98" name="slide-2-title"/>
          <p:cNvSpPr>
            <a:spLocks noGrp="1"/>
          </p:cNvSpPr>
          <p:nvPr/>
        </p:nvSpPr>
        <p:spPr>
          <a:xfrm>
            <a:off x="238125" y="3398768"/>
            <a:ext cx="9525000" cy="523875"/>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②</a:t>
            </a:r>
            <a:r>
              <a:rPr lang="en-US" altLang="zh-CN" sz="1600" b="1" dirty="0" smtClean="0">
                <a:solidFill>
                  <a:srgbClr val="072A67"/>
                </a:solidFill>
                <a:latin typeface="微软雅黑" panose="020B0503020204020204" charset="-122"/>
                <a:ea typeface="微软雅黑" panose="020B0503020204020204" charset="-122"/>
                <a:cs typeface="微软雅黑" panose="020B0503020204020204" charset="-122"/>
              </a:rPr>
              <a:t>Skill</a:t>
            </a: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的契约与</a:t>
            </a:r>
            <a:r>
              <a:rPr lang="zh-CN" altLang="en-US" sz="1600" b="1" dirty="0" smtClean="0">
                <a:solidFill>
                  <a:srgbClr val="072A67"/>
                </a:solidFill>
                <a:latin typeface="微软雅黑" panose="020B0503020204020204" charset="-122"/>
                <a:ea typeface="微软雅黑" panose="020B0503020204020204" charset="-122"/>
                <a:cs typeface="微软雅黑" panose="020B0503020204020204" charset="-122"/>
              </a:rPr>
              <a:t>扩展</a:t>
            </a:r>
            <a:endParaRPr sz="1600" b="1" dirty="0">
              <a:solidFill>
                <a:srgbClr val="072A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3-title"/>
          <p:cNvSpPr>
            <a:spLocks noGrp="1"/>
          </p:cNvSpPr>
          <p:nvPr/>
        </p:nvSpPr>
        <p:spPr>
          <a:xfrm>
            <a:off x="409575" y="171450"/>
            <a:ext cx="7334250" cy="495300"/>
          </a:xfrm>
          <a:prstGeom prst="rect">
            <a:avLst/>
          </a:prstGeom>
          <a:noFill/>
          <a:ln w="0">
            <a:noFill/>
            <a:prstDash val="solid"/>
          </a:ln>
        </p:spPr>
        <p:txBody>
          <a:bodyPr wrap="square" lIns="0" tIns="0" rIns="0" bIns="0" anchor="ctr">
            <a:normAutofit/>
          </a:bodyPr>
          <a:lstStyle/>
          <a:p>
            <a:pPr algn="l">
              <a:buNone/>
              <a:defRPr sz="2775" b="1">
                <a:solidFill>
                  <a:srgbClr val="072A67"/>
                </a:solidFill>
                <a:latin typeface="微软雅黑" panose="020B0503020204020204" charset="-122"/>
                <a:ea typeface="微软雅黑" panose="020B0503020204020204" charset="-122"/>
                <a:cs typeface="微软雅黑" panose="020B0503020204020204" charset="-122"/>
              </a:defRPr>
            </a:pPr>
            <a:r>
              <a:rPr sz="2775" b="1">
                <a:solidFill>
                  <a:srgbClr val="072A67"/>
                </a:solidFill>
                <a:latin typeface="微软雅黑" panose="020B0503020204020204" charset="-122"/>
                <a:ea typeface="微软雅黑" panose="020B0503020204020204" charset="-122"/>
                <a:cs typeface="微软雅黑" panose="020B0503020204020204" charset="-122"/>
              </a:rPr>
              <a:t>如何让一个 Skill 真正好用？</a:t>
            </a:r>
          </a:p>
        </p:txBody>
      </p:sp>
      <p:sp>
        <p:nvSpPr>
          <p:cNvPr id="8" name="s5-principle-flow-surface"/>
          <p:cNvSpPr>
            <a:spLocks noGrp="1"/>
          </p:cNvSpPr>
          <p:nvPr/>
        </p:nvSpPr>
        <p:spPr>
          <a:xfrm>
            <a:off x="1076325" y="876300"/>
            <a:ext cx="5619750" cy="1409700"/>
          </a:xfrm>
          <a:prstGeom prst="roundRect">
            <a:avLst>
              <a:gd name="adj" fmla="val 6081"/>
            </a:avLst>
          </a:prstGeom>
          <a:solidFill>
            <a:srgbClr val="FFFFFF"/>
          </a:solidFill>
          <a:ln w="9525">
            <a:solidFill>
              <a:srgbClr val="CAD7EB"/>
            </a:solidFill>
            <a:prstDash val="solid"/>
          </a:ln>
        </p:spPr>
      </p:sp>
      <p:sp>
        <p:nvSpPr>
          <p:cNvPr id="9" name="s5-principle-flow-number"/>
          <p:cNvSpPr>
            <a:spLocks noGrp="1"/>
          </p:cNvSpPr>
          <p:nvPr/>
        </p:nvSpPr>
        <p:spPr>
          <a:xfrm>
            <a:off x="1209675" y="981075"/>
            <a:ext cx="381000" cy="295275"/>
          </a:xfrm>
          <a:prstGeom prst="roundRect">
            <a:avLst>
              <a:gd name="adj" fmla="val 19355"/>
            </a:avLst>
          </a:prstGeom>
          <a:solidFill>
            <a:srgbClr val="1457C5"/>
          </a:solidFill>
          <a:ln w="9525">
            <a:solidFill>
              <a:srgbClr val="1457C5"/>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a:solidFill>
                  <a:srgbClr val="FFFFFF"/>
                </a:solidFill>
                <a:latin typeface="Calibri" panose="020F0502020204030204"/>
                <a:ea typeface="Calibri" panose="020F0502020204030204"/>
                <a:cs typeface="Calibri" panose="020F0502020204030204"/>
              </a:rPr>
              <a:t>01</a:t>
            </a:r>
          </a:p>
        </p:txBody>
      </p:sp>
      <p:sp>
        <p:nvSpPr>
          <p:cNvPr id="10" name="s5-principle-flow-title"/>
          <p:cNvSpPr>
            <a:spLocks noGrp="1"/>
          </p:cNvSpPr>
          <p:nvPr/>
        </p:nvSpPr>
        <p:spPr>
          <a:xfrm>
            <a:off x="1695450" y="962025"/>
            <a:ext cx="3143250" cy="323850"/>
          </a:xfrm>
          <a:prstGeom prst="rect">
            <a:avLst/>
          </a:prstGeom>
          <a:noFill/>
          <a:ln w="0">
            <a:noFill/>
            <a:prstDash val="solid"/>
          </a:ln>
        </p:spPr>
        <p:txBody>
          <a:bodyPr wrap="square" lIns="38100" tIns="19050" rIns="38100" bIns="19050" anchor="ctr">
            <a:normAutofit/>
          </a:bodyPr>
          <a:lstStyle/>
          <a:p>
            <a:pPr algn="l">
              <a:defRPr sz="1575" b="1">
                <a:solidFill>
                  <a:srgbClr val="072A67"/>
                </a:solidFill>
                <a:latin typeface="微软雅黑" panose="020B0503020204020204" charset="-122"/>
                <a:ea typeface="微软雅黑" panose="020B0503020204020204" charset="-122"/>
                <a:cs typeface="微软雅黑" panose="020B0503020204020204" charset="-122"/>
              </a:defRPr>
            </a:pPr>
            <a:r>
              <a:rPr sz="1575" b="1">
                <a:solidFill>
                  <a:srgbClr val="072A67"/>
                </a:solidFill>
                <a:latin typeface="微软雅黑" panose="020B0503020204020204" charset="-122"/>
                <a:ea typeface="微软雅黑" panose="020B0503020204020204" charset="-122"/>
                <a:cs typeface="微软雅黑" panose="020B0503020204020204" charset="-122"/>
              </a:rPr>
              <a:t>流程清晰</a:t>
            </a:r>
          </a:p>
        </p:txBody>
      </p:sp>
      <p:sp>
        <p:nvSpPr>
          <p:cNvPr id="11" name="s5-principle-flow-lead"/>
          <p:cNvSpPr>
            <a:spLocks noGrp="1"/>
          </p:cNvSpPr>
          <p:nvPr/>
        </p:nvSpPr>
        <p:spPr>
          <a:xfrm>
            <a:off x="1695450" y="1247775"/>
            <a:ext cx="4733925" cy="238125"/>
          </a:xfrm>
          <a:prstGeom prst="rect">
            <a:avLst/>
          </a:prstGeom>
          <a:noFill/>
          <a:ln w="0">
            <a:noFill/>
            <a:prstDash val="solid"/>
          </a:ln>
        </p:spPr>
        <p:txBody>
          <a:bodyPr wrap="square" lIns="38100" tIns="19050" rIns="38100" bIns="19050" anchor="ctr">
            <a:normAutofit/>
          </a:bodyPr>
          <a:lstStyle/>
          <a:p>
            <a:pPr algn="l">
              <a:defRPr sz="940" b="0">
                <a:solidFill>
                  <a:srgbClr val="56627A"/>
                </a:solidFill>
                <a:latin typeface="微软雅黑" panose="020B0503020204020204" charset="-122"/>
                <a:ea typeface="微软雅黑" panose="020B0503020204020204" charset="-122"/>
                <a:cs typeface="微软雅黑" panose="020B0503020204020204" charset="-122"/>
              </a:defRPr>
            </a:pPr>
            <a:r>
              <a:rPr sz="940" b="0" dirty="0" err="1">
                <a:solidFill>
                  <a:srgbClr val="56627A"/>
                </a:solidFill>
                <a:latin typeface="微软雅黑" panose="020B0503020204020204" charset="-122"/>
                <a:ea typeface="微软雅黑" panose="020B0503020204020204" charset="-122"/>
                <a:cs typeface="微软雅黑" panose="020B0503020204020204" charset="-122"/>
              </a:rPr>
              <a:t>复杂任务拆成明确阶段</a:t>
            </a:r>
            <a:r>
              <a:rPr sz="940" b="0" dirty="0" smtClean="0">
                <a:solidFill>
                  <a:srgbClr val="56627A"/>
                </a:solidFill>
                <a:latin typeface="微软雅黑" panose="020B0503020204020204" charset="-122"/>
                <a:ea typeface="微软雅黑" panose="020B0503020204020204" charset="-122"/>
                <a:cs typeface="微软雅黑" panose="020B0503020204020204" charset="-122"/>
              </a:rPr>
              <a:t>，</a:t>
            </a:r>
            <a:r>
              <a:rPr lang="zh-CN" altLang="en-US" sz="940" dirty="0">
                <a:solidFill>
                  <a:srgbClr val="56627A"/>
                </a:solidFill>
                <a:latin typeface="微软雅黑" panose="020B0503020204020204" charset="-122"/>
                <a:ea typeface="微软雅黑" panose="020B0503020204020204" charset="-122"/>
                <a:cs typeface="微软雅黑" panose="020B0503020204020204" charset="-122"/>
              </a:rPr>
              <a:t>分</a:t>
            </a:r>
            <a:r>
              <a:rPr lang="zh-CN" altLang="en-US" sz="940" dirty="0" smtClean="0">
                <a:solidFill>
                  <a:srgbClr val="56627A"/>
                </a:solidFill>
                <a:latin typeface="微软雅黑" panose="020B0503020204020204" charset="-122"/>
                <a:ea typeface="微软雅黑" panose="020B0503020204020204" charset="-122"/>
                <a:cs typeface="微软雅黑" panose="020B0503020204020204" charset="-122"/>
              </a:rPr>
              <a:t>阶段完成</a:t>
            </a:r>
            <a:r>
              <a:rPr sz="940" b="0" dirty="0" smtClean="0">
                <a:solidFill>
                  <a:srgbClr val="56627A"/>
                </a:solidFill>
                <a:latin typeface="微软雅黑" panose="020B0503020204020204" charset="-122"/>
                <a:ea typeface="微软雅黑" panose="020B0503020204020204" charset="-122"/>
                <a:cs typeface="微软雅黑" panose="020B0503020204020204" charset="-122"/>
              </a:rPr>
              <a:t>。</a:t>
            </a:r>
            <a:endParaRPr sz="940"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12" name="s5-principle-flow-step-1"/>
          <p:cNvSpPr>
            <a:spLocks noGrp="1"/>
          </p:cNvSpPr>
          <p:nvPr/>
        </p:nvSpPr>
        <p:spPr>
          <a:xfrm>
            <a:off x="1295400" y="1657350"/>
            <a:ext cx="1104900" cy="295275"/>
          </a:xfrm>
          <a:prstGeom prst="roundRect">
            <a:avLst>
              <a:gd name="adj" fmla="val 19355"/>
            </a:avLst>
          </a:prstGeom>
          <a:solidFill>
            <a:srgbClr val="EEF4FE"/>
          </a:solidFill>
          <a:ln w="9525">
            <a:solidFill>
              <a:srgbClr val="1457C5"/>
            </a:solidFill>
            <a:prstDash val="solid"/>
          </a:ln>
        </p:spPr>
        <p:txBody>
          <a:bodyPr wrap="square" lIns="57150" tIns="28575" rIns="57150" bIns="28575" anchor="ctr">
            <a:normAutofit/>
          </a:bodyPr>
          <a:lstStyle/>
          <a:p>
            <a:pPr algn="ctr">
              <a:defRPr sz="975" b="1">
                <a:solidFill>
                  <a:srgbClr val="072A67"/>
                </a:solidFill>
                <a:latin typeface="微软雅黑" panose="020B0503020204020204" charset="-122"/>
                <a:ea typeface="微软雅黑" panose="020B0503020204020204" charset="-122"/>
                <a:cs typeface="微软雅黑" panose="020B0503020204020204" charset="-122"/>
              </a:defRPr>
            </a:pPr>
            <a:r>
              <a:rPr sz="975" b="1">
                <a:solidFill>
                  <a:srgbClr val="072A67"/>
                </a:solidFill>
                <a:latin typeface="微软雅黑" panose="020B0503020204020204" charset="-122"/>
                <a:ea typeface="微软雅黑" panose="020B0503020204020204" charset="-122"/>
                <a:cs typeface="微软雅黑" panose="020B0503020204020204" charset="-122"/>
              </a:rPr>
              <a:t>做什么</a:t>
            </a:r>
          </a:p>
        </p:txBody>
      </p:sp>
      <p:sp>
        <p:nvSpPr>
          <p:cNvPr id="13" name="s5-principle-flow-arrow-1"/>
          <p:cNvSpPr>
            <a:spLocks noGrp="1"/>
          </p:cNvSpPr>
          <p:nvPr/>
        </p:nvSpPr>
        <p:spPr>
          <a:xfrm>
            <a:off x="2409825" y="1638300"/>
            <a:ext cx="142875" cy="314325"/>
          </a:xfrm>
          <a:prstGeom prst="rect">
            <a:avLst/>
          </a:prstGeom>
          <a:noFill/>
          <a:ln w="0">
            <a:noFill/>
            <a:prstDash val="solid"/>
          </a:ln>
        </p:spPr>
        <p:txBody>
          <a:bodyPr wrap="square" lIns="38100" tIns="19050" rIns="38100" bIns="19050" anchor="ctr">
            <a:normAutofit fontScale="95980"/>
          </a:bodyPr>
          <a:lstStyle/>
          <a:p>
            <a:pPr algn="ctr">
              <a:defRPr sz="1350" b="1">
                <a:solidFill>
                  <a:srgbClr val="1457C5"/>
                </a:solidFill>
                <a:latin typeface="Calibri" panose="020F0502020204030204"/>
                <a:ea typeface="Calibri" panose="020F0502020204030204"/>
                <a:cs typeface="Calibri" panose="020F0502020204030204"/>
              </a:defRPr>
            </a:pPr>
            <a:r>
              <a:rPr sz="1350" b="1">
                <a:solidFill>
                  <a:srgbClr val="1457C5"/>
                </a:solidFill>
                <a:latin typeface="Calibri" panose="020F0502020204030204"/>
                <a:ea typeface="Calibri" panose="020F0502020204030204"/>
                <a:cs typeface="Calibri" panose="020F0502020204030204"/>
              </a:rPr>
              <a:t>→</a:t>
            </a:r>
          </a:p>
        </p:txBody>
      </p:sp>
      <p:sp>
        <p:nvSpPr>
          <p:cNvPr id="14" name="s5-principle-flow-step-2"/>
          <p:cNvSpPr>
            <a:spLocks noGrp="1"/>
          </p:cNvSpPr>
          <p:nvPr/>
        </p:nvSpPr>
        <p:spPr>
          <a:xfrm>
            <a:off x="2552700" y="1657350"/>
            <a:ext cx="1104900" cy="295275"/>
          </a:xfrm>
          <a:prstGeom prst="roundRect">
            <a:avLst>
              <a:gd name="adj" fmla="val 19355"/>
            </a:avLst>
          </a:prstGeom>
          <a:solidFill>
            <a:srgbClr val="EEF4FE"/>
          </a:solidFill>
          <a:ln w="9525">
            <a:solidFill>
              <a:srgbClr val="1457C5"/>
            </a:solidFill>
            <a:prstDash val="solid"/>
          </a:ln>
        </p:spPr>
        <p:txBody>
          <a:bodyPr wrap="square" lIns="57150" tIns="28575" rIns="57150" bIns="28575" anchor="ctr">
            <a:normAutofit/>
          </a:bodyPr>
          <a:lstStyle/>
          <a:p>
            <a:pPr algn="ctr">
              <a:defRPr sz="975" b="1">
                <a:solidFill>
                  <a:srgbClr val="072A67"/>
                </a:solidFill>
                <a:latin typeface="微软雅黑" panose="020B0503020204020204" charset="-122"/>
                <a:ea typeface="微软雅黑" panose="020B0503020204020204" charset="-122"/>
                <a:cs typeface="微软雅黑" panose="020B0503020204020204" charset="-122"/>
              </a:defRPr>
            </a:pPr>
            <a:r>
              <a:rPr sz="975" b="1">
                <a:solidFill>
                  <a:srgbClr val="072A67"/>
                </a:solidFill>
                <a:latin typeface="微软雅黑" panose="020B0503020204020204" charset="-122"/>
                <a:ea typeface="微软雅黑" panose="020B0503020204020204" charset="-122"/>
                <a:cs typeface="微软雅黑" panose="020B0503020204020204" charset="-122"/>
              </a:rPr>
              <a:t>输入什么</a:t>
            </a:r>
          </a:p>
        </p:txBody>
      </p:sp>
      <p:sp>
        <p:nvSpPr>
          <p:cNvPr id="15" name="s5-principle-flow-arrow-2"/>
          <p:cNvSpPr>
            <a:spLocks noGrp="1"/>
          </p:cNvSpPr>
          <p:nvPr/>
        </p:nvSpPr>
        <p:spPr>
          <a:xfrm>
            <a:off x="3667125" y="1638300"/>
            <a:ext cx="142875" cy="314325"/>
          </a:xfrm>
          <a:prstGeom prst="rect">
            <a:avLst/>
          </a:prstGeom>
          <a:noFill/>
          <a:ln w="0">
            <a:noFill/>
            <a:prstDash val="solid"/>
          </a:ln>
        </p:spPr>
        <p:txBody>
          <a:bodyPr wrap="square" lIns="38100" tIns="19050" rIns="38100" bIns="19050" anchor="ctr">
            <a:normAutofit fontScale="95980"/>
          </a:bodyPr>
          <a:lstStyle/>
          <a:p>
            <a:pPr algn="ctr">
              <a:defRPr sz="1350" b="1">
                <a:solidFill>
                  <a:srgbClr val="1457C5"/>
                </a:solidFill>
                <a:latin typeface="Calibri" panose="020F0502020204030204"/>
                <a:ea typeface="Calibri" panose="020F0502020204030204"/>
                <a:cs typeface="Calibri" panose="020F0502020204030204"/>
              </a:defRPr>
            </a:pPr>
            <a:r>
              <a:rPr sz="1350" b="1">
                <a:solidFill>
                  <a:srgbClr val="1457C5"/>
                </a:solidFill>
                <a:latin typeface="Calibri" panose="020F0502020204030204"/>
                <a:ea typeface="Calibri" panose="020F0502020204030204"/>
                <a:cs typeface="Calibri" panose="020F0502020204030204"/>
              </a:rPr>
              <a:t>→</a:t>
            </a:r>
          </a:p>
        </p:txBody>
      </p:sp>
      <p:sp>
        <p:nvSpPr>
          <p:cNvPr id="16" name="s5-principle-flow-step-3"/>
          <p:cNvSpPr>
            <a:spLocks noGrp="1"/>
          </p:cNvSpPr>
          <p:nvPr/>
        </p:nvSpPr>
        <p:spPr>
          <a:xfrm>
            <a:off x="3810000" y="1657350"/>
            <a:ext cx="1104900" cy="295275"/>
          </a:xfrm>
          <a:prstGeom prst="roundRect">
            <a:avLst>
              <a:gd name="adj" fmla="val 19355"/>
            </a:avLst>
          </a:prstGeom>
          <a:solidFill>
            <a:srgbClr val="EEF4FE"/>
          </a:solidFill>
          <a:ln w="9525">
            <a:solidFill>
              <a:srgbClr val="1457C5"/>
            </a:solidFill>
            <a:prstDash val="solid"/>
          </a:ln>
        </p:spPr>
        <p:txBody>
          <a:bodyPr wrap="square" lIns="57150" tIns="28575" rIns="57150" bIns="28575" anchor="ctr">
            <a:normAutofit/>
          </a:bodyPr>
          <a:lstStyle/>
          <a:p>
            <a:pPr algn="ctr">
              <a:defRPr sz="975" b="1">
                <a:solidFill>
                  <a:srgbClr val="072A67"/>
                </a:solidFill>
                <a:latin typeface="微软雅黑" panose="020B0503020204020204" charset="-122"/>
                <a:ea typeface="微软雅黑" panose="020B0503020204020204" charset="-122"/>
                <a:cs typeface="微软雅黑" panose="020B0503020204020204" charset="-122"/>
              </a:defRPr>
            </a:pPr>
            <a:r>
              <a:rPr sz="975" b="1">
                <a:solidFill>
                  <a:srgbClr val="072A67"/>
                </a:solidFill>
                <a:latin typeface="微软雅黑" panose="020B0503020204020204" charset="-122"/>
                <a:ea typeface="微软雅黑" panose="020B0503020204020204" charset="-122"/>
                <a:cs typeface="微软雅黑" panose="020B0503020204020204" charset="-122"/>
              </a:rPr>
              <a:t>输出什么</a:t>
            </a:r>
          </a:p>
        </p:txBody>
      </p:sp>
      <p:sp>
        <p:nvSpPr>
          <p:cNvPr id="17" name="s5-principle-flow-arrow-3"/>
          <p:cNvSpPr>
            <a:spLocks noGrp="1"/>
          </p:cNvSpPr>
          <p:nvPr/>
        </p:nvSpPr>
        <p:spPr>
          <a:xfrm>
            <a:off x="4924425" y="1638300"/>
            <a:ext cx="142875" cy="314325"/>
          </a:xfrm>
          <a:prstGeom prst="rect">
            <a:avLst/>
          </a:prstGeom>
          <a:noFill/>
          <a:ln w="0">
            <a:noFill/>
            <a:prstDash val="solid"/>
          </a:ln>
        </p:spPr>
        <p:txBody>
          <a:bodyPr wrap="square" lIns="38100" tIns="19050" rIns="38100" bIns="19050" anchor="ctr">
            <a:normAutofit fontScale="95980"/>
          </a:bodyPr>
          <a:lstStyle/>
          <a:p>
            <a:pPr algn="ctr">
              <a:defRPr sz="1350" b="1">
                <a:solidFill>
                  <a:srgbClr val="1457C5"/>
                </a:solidFill>
                <a:latin typeface="Calibri" panose="020F0502020204030204"/>
                <a:ea typeface="Calibri" panose="020F0502020204030204"/>
                <a:cs typeface="Calibri" panose="020F0502020204030204"/>
              </a:defRPr>
            </a:pPr>
            <a:r>
              <a:rPr sz="1350" b="1">
                <a:solidFill>
                  <a:srgbClr val="1457C5"/>
                </a:solidFill>
                <a:latin typeface="Calibri" panose="020F0502020204030204"/>
                <a:ea typeface="Calibri" panose="020F0502020204030204"/>
                <a:cs typeface="Calibri" panose="020F0502020204030204"/>
              </a:rPr>
              <a:t>→</a:t>
            </a:r>
          </a:p>
        </p:txBody>
      </p:sp>
      <p:sp>
        <p:nvSpPr>
          <p:cNvPr id="18" name="s5-principle-flow-step-4"/>
          <p:cNvSpPr>
            <a:spLocks noGrp="1"/>
          </p:cNvSpPr>
          <p:nvPr/>
        </p:nvSpPr>
        <p:spPr>
          <a:xfrm>
            <a:off x="5067300" y="1657350"/>
            <a:ext cx="1104900" cy="295275"/>
          </a:xfrm>
          <a:prstGeom prst="roundRect">
            <a:avLst>
              <a:gd name="adj" fmla="val 19355"/>
            </a:avLst>
          </a:prstGeom>
          <a:solidFill>
            <a:srgbClr val="EEF4FE"/>
          </a:solidFill>
          <a:ln w="9525">
            <a:solidFill>
              <a:srgbClr val="1457C5"/>
            </a:solidFill>
            <a:prstDash val="solid"/>
          </a:ln>
        </p:spPr>
        <p:txBody>
          <a:bodyPr wrap="square" lIns="57150" tIns="28575" rIns="57150" bIns="28575" anchor="ctr">
            <a:normAutofit/>
          </a:bodyPr>
          <a:lstStyle/>
          <a:p>
            <a:pPr algn="ctr">
              <a:defRPr sz="975" b="1">
                <a:solidFill>
                  <a:srgbClr val="072A67"/>
                </a:solidFill>
                <a:latin typeface="微软雅黑" panose="020B0503020204020204" charset="-122"/>
                <a:ea typeface="微软雅黑" panose="020B0503020204020204" charset="-122"/>
                <a:cs typeface="微软雅黑" panose="020B0503020204020204" charset="-122"/>
              </a:defRPr>
            </a:pPr>
            <a:r>
              <a:rPr sz="975" b="1">
                <a:solidFill>
                  <a:srgbClr val="072A67"/>
                </a:solidFill>
                <a:latin typeface="微软雅黑" panose="020B0503020204020204" charset="-122"/>
                <a:ea typeface="微软雅黑" panose="020B0503020204020204" charset="-122"/>
                <a:cs typeface="微软雅黑" panose="020B0503020204020204" charset="-122"/>
              </a:rPr>
              <a:t>失败怎么办</a:t>
            </a:r>
          </a:p>
        </p:txBody>
      </p:sp>
      <p:sp>
        <p:nvSpPr>
          <p:cNvPr id="20" name="s5-principle-focus-surface"/>
          <p:cNvSpPr>
            <a:spLocks noGrp="1"/>
          </p:cNvSpPr>
          <p:nvPr/>
        </p:nvSpPr>
        <p:spPr>
          <a:xfrm>
            <a:off x="1020445" y="2729230"/>
            <a:ext cx="5619750" cy="1409700"/>
          </a:xfrm>
          <a:prstGeom prst="roundRect">
            <a:avLst>
              <a:gd name="adj" fmla="val 6081"/>
            </a:avLst>
          </a:prstGeom>
          <a:solidFill>
            <a:srgbClr val="FFFFFF"/>
          </a:solidFill>
          <a:ln w="9525">
            <a:solidFill>
              <a:srgbClr val="CAD7EB"/>
            </a:solidFill>
            <a:prstDash val="solid"/>
          </a:ln>
        </p:spPr>
      </p:sp>
      <p:sp>
        <p:nvSpPr>
          <p:cNvPr id="21" name="s5-principle-focus-number"/>
          <p:cNvSpPr>
            <a:spLocks noGrp="1"/>
          </p:cNvSpPr>
          <p:nvPr/>
        </p:nvSpPr>
        <p:spPr>
          <a:xfrm>
            <a:off x="1153795" y="2834005"/>
            <a:ext cx="381000" cy="295275"/>
          </a:xfrm>
          <a:prstGeom prst="roundRect">
            <a:avLst>
              <a:gd name="adj" fmla="val 19355"/>
            </a:avLst>
          </a:prstGeom>
          <a:solidFill>
            <a:srgbClr val="6E54C8"/>
          </a:solidFill>
          <a:ln w="9525">
            <a:solidFill>
              <a:srgbClr val="6E54C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dirty="0" smtClean="0">
                <a:solidFill>
                  <a:srgbClr val="FFFFFF"/>
                </a:solidFill>
                <a:latin typeface="Calibri" panose="020F0502020204030204"/>
                <a:ea typeface="Calibri" panose="020F0502020204030204"/>
                <a:cs typeface="Calibri" panose="020F0502020204030204"/>
              </a:rPr>
              <a:t>02</a:t>
            </a:r>
            <a:endParaRPr sz="1275" b="1" dirty="0">
              <a:solidFill>
                <a:srgbClr val="FFFFFF"/>
              </a:solidFill>
              <a:latin typeface="Calibri" panose="020F0502020204030204"/>
              <a:ea typeface="Calibri" panose="020F0502020204030204"/>
              <a:cs typeface="Calibri" panose="020F0502020204030204"/>
            </a:endParaRPr>
          </a:p>
        </p:txBody>
      </p:sp>
      <p:sp>
        <p:nvSpPr>
          <p:cNvPr id="22" name="s5-principle-focus-title"/>
          <p:cNvSpPr>
            <a:spLocks noGrp="1"/>
          </p:cNvSpPr>
          <p:nvPr/>
        </p:nvSpPr>
        <p:spPr>
          <a:xfrm>
            <a:off x="1639570" y="2814955"/>
            <a:ext cx="3143250" cy="323850"/>
          </a:xfrm>
          <a:prstGeom prst="rect">
            <a:avLst/>
          </a:prstGeom>
          <a:noFill/>
          <a:ln w="0">
            <a:noFill/>
            <a:prstDash val="solid"/>
          </a:ln>
        </p:spPr>
        <p:txBody>
          <a:bodyPr wrap="square" lIns="38100" tIns="19050" rIns="38100" bIns="19050" anchor="ctr">
            <a:normAutofit/>
          </a:bodyPr>
          <a:lstStyle/>
          <a:p>
            <a:pPr algn="l">
              <a:defRPr sz="1575" b="1">
                <a:solidFill>
                  <a:srgbClr val="072A67"/>
                </a:solidFill>
                <a:latin typeface="微软雅黑" panose="020B0503020204020204" charset="-122"/>
                <a:ea typeface="微软雅黑" panose="020B0503020204020204" charset="-122"/>
                <a:cs typeface="微软雅黑" panose="020B0503020204020204" charset="-122"/>
              </a:defRPr>
            </a:pPr>
            <a:r>
              <a:rPr sz="1575" b="1">
                <a:solidFill>
                  <a:srgbClr val="072A67"/>
                </a:solidFill>
                <a:latin typeface="微软雅黑" panose="020B0503020204020204" charset="-122"/>
                <a:ea typeface="微软雅黑" panose="020B0503020204020204" charset="-122"/>
                <a:cs typeface="微软雅黑" panose="020B0503020204020204" charset="-122"/>
              </a:rPr>
              <a:t>职责聚焦、参数化</a:t>
            </a:r>
          </a:p>
        </p:txBody>
      </p:sp>
      <p:sp>
        <p:nvSpPr>
          <p:cNvPr id="23" name="s5-principle-focus-lead"/>
          <p:cNvSpPr>
            <a:spLocks noGrp="1"/>
          </p:cNvSpPr>
          <p:nvPr/>
        </p:nvSpPr>
        <p:spPr>
          <a:xfrm>
            <a:off x="1639570" y="3100705"/>
            <a:ext cx="4733925" cy="238125"/>
          </a:xfrm>
          <a:prstGeom prst="rect">
            <a:avLst/>
          </a:prstGeom>
          <a:noFill/>
          <a:ln w="0">
            <a:noFill/>
            <a:prstDash val="solid"/>
          </a:ln>
        </p:spPr>
        <p:txBody>
          <a:bodyPr wrap="square" lIns="38100" tIns="19050" rIns="38100" bIns="19050" anchor="ctr">
            <a:normAutofit/>
          </a:bodyPr>
          <a:lstStyle/>
          <a:p>
            <a:pPr>
              <a:defRPr sz="940" b="0">
                <a:solidFill>
                  <a:srgbClr val="56627A"/>
                </a:solidFill>
                <a:latin typeface="微软雅黑" panose="020B0503020204020204" charset="-122"/>
                <a:ea typeface="微软雅黑" panose="020B0503020204020204" charset="-122"/>
                <a:cs typeface="微软雅黑" panose="020B0503020204020204" charset="-122"/>
              </a:defRPr>
            </a:pPr>
            <a:r>
              <a:rPr sz="940" b="0" dirty="0" err="1" smtClean="0">
                <a:solidFill>
                  <a:srgbClr val="56627A"/>
                </a:solidFill>
                <a:latin typeface="微软雅黑" panose="020B0503020204020204" charset="-122"/>
                <a:ea typeface="微软雅黑" panose="020B0503020204020204" charset="-122"/>
                <a:cs typeface="微软雅黑" panose="020B0503020204020204" charset="-122"/>
              </a:rPr>
              <a:t>一个</a:t>
            </a:r>
            <a:r>
              <a:rPr sz="940" b="0" dirty="0" smtClean="0">
                <a:solidFill>
                  <a:srgbClr val="56627A"/>
                </a:solidFill>
                <a:latin typeface="微软雅黑" panose="020B0503020204020204" charset="-122"/>
                <a:ea typeface="微软雅黑" panose="020B0503020204020204" charset="-122"/>
                <a:cs typeface="微软雅黑" panose="020B0503020204020204" charset="-122"/>
              </a:rPr>
              <a:t> Skill </a:t>
            </a:r>
            <a:r>
              <a:rPr sz="940" b="0" dirty="0" err="1" smtClean="0">
                <a:solidFill>
                  <a:srgbClr val="56627A"/>
                </a:solidFill>
                <a:latin typeface="微软雅黑" panose="020B0503020204020204" charset="-122"/>
                <a:ea typeface="微软雅黑" panose="020B0503020204020204" charset="-122"/>
                <a:cs typeface="微软雅黑" panose="020B0503020204020204" charset="-122"/>
              </a:rPr>
              <a:t>聚焦一类任务</a:t>
            </a:r>
            <a:r>
              <a:rPr sz="940" b="0" dirty="0" smtClean="0">
                <a:solidFill>
                  <a:srgbClr val="56627A"/>
                </a:solidFill>
                <a:latin typeface="微软雅黑" panose="020B0503020204020204" charset="-122"/>
                <a:ea typeface="微软雅黑" panose="020B0503020204020204" charset="-122"/>
                <a:cs typeface="微软雅黑" panose="020B0503020204020204" charset="-122"/>
              </a:rPr>
              <a:t>。</a:t>
            </a:r>
            <a:endParaRPr sz="940"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24" name="s5-principle-focus-fixed"/>
          <p:cNvSpPr>
            <a:spLocks noGrp="1"/>
          </p:cNvSpPr>
          <p:nvPr/>
        </p:nvSpPr>
        <p:spPr>
          <a:xfrm>
            <a:off x="1344295" y="3434080"/>
            <a:ext cx="2057400" cy="542925"/>
          </a:xfrm>
          <a:prstGeom prst="roundRect">
            <a:avLst>
              <a:gd name="adj" fmla="val 12281"/>
            </a:avLst>
          </a:prstGeom>
          <a:solidFill>
            <a:srgbClr val="EEF4FE"/>
          </a:solidFill>
          <a:ln w="9525">
            <a:solidFill>
              <a:srgbClr val="1457C5"/>
            </a:solidFill>
            <a:prstDash val="solid"/>
          </a:ln>
        </p:spPr>
        <p:txBody>
          <a:bodyPr wrap="square" lIns="57150" tIns="28575" rIns="57150" bIns="28575" anchor="ctr">
            <a:normAutofit/>
          </a:bodyPr>
          <a:lstStyle/>
          <a:p>
            <a:pPr algn="ctr">
              <a:defRPr sz="940" b="1">
                <a:solidFill>
                  <a:srgbClr val="072A67"/>
                </a:solidFill>
                <a:latin typeface="Calibri" panose="020F0502020204030204"/>
                <a:ea typeface="Calibri" panose="020F0502020204030204"/>
                <a:cs typeface="Calibri" panose="020F0502020204030204"/>
              </a:defRPr>
            </a:pPr>
            <a:r>
              <a:rPr sz="940" b="1">
                <a:solidFill>
                  <a:srgbClr val="072A67"/>
                </a:solidFill>
                <a:latin typeface="Calibri" panose="020F0502020204030204"/>
                <a:ea typeface="Calibri" panose="020F0502020204030204"/>
                <a:cs typeface="Calibri" panose="020F0502020204030204"/>
              </a:rPr>
              <a:t>固定</a:t>
            </a:r>
          </a:p>
          <a:p>
            <a:pPr algn="ctr">
              <a:defRPr sz="940" b="1">
                <a:solidFill>
                  <a:srgbClr val="072A67"/>
                </a:solidFill>
                <a:latin typeface="Calibri" panose="020F0502020204030204"/>
                <a:ea typeface="Calibri" panose="020F0502020204030204"/>
                <a:cs typeface="Calibri" panose="020F0502020204030204"/>
              </a:defRPr>
            </a:pPr>
            <a:r>
              <a:rPr sz="940" b="1">
                <a:solidFill>
                  <a:srgbClr val="072A67"/>
                </a:solidFill>
                <a:latin typeface="Calibri" panose="020F0502020204030204"/>
                <a:ea typeface="Calibri" panose="020F0502020204030204"/>
                <a:cs typeface="Calibri" panose="020F0502020204030204"/>
              </a:rPr>
              <a:t>Workflow · Method</a:t>
            </a:r>
          </a:p>
          <a:p>
            <a:pPr algn="ctr">
              <a:defRPr sz="940" b="1">
                <a:solidFill>
                  <a:srgbClr val="072A67"/>
                </a:solidFill>
                <a:latin typeface="Calibri" panose="020F0502020204030204"/>
                <a:ea typeface="Calibri" panose="020F0502020204030204"/>
                <a:cs typeface="Calibri" panose="020F0502020204030204"/>
              </a:defRPr>
            </a:pPr>
            <a:r>
              <a:rPr sz="940" b="1">
                <a:solidFill>
                  <a:srgbClr val="072A67"/>
                </a:solidFill>
                <a:latin typeface="Calibri" panose="020F0502020204030204"/>
                <a:ea typeface="Calibri" panose="020F0502020204030204"/>
                <a:cs typeface="Calibri" panose="020F0502020204030204"/>
              </a:rPr>
              <a:t>Decision Rules</a:t>
            </a:r>
          </a:p>
        </p:txBody>
      </p:sp>
      <p:sp>
        <p:nvSpPr>
          <p:cNvPr id="25" name="s5-principle-focus-variable"/>
          <p:cNvSpPr>
            <a:spLocks noGrp="1"/>
          </p:cNvSpPr>
          <p:nvPr/>
        </p:nvSpPr>
        <p:spPr>
          <a:xfrm>
            <a:off x="3639820" y="3434080"/>
            <a:ext cx="2743200" cy="542925"/>
          </a:xfrm>
          <a:prstGeom prst="roundRect">
            <a:avLst>
              <a:gd name="adj" fmla="val 12281"/>
            </a:avLst>
          </a:prstGeom>
          <a:solidFill>
            <a:srgbClr val="F5F2FC"/>
          </a:solidFill>
          <a:ln w="9525">
            <a:solidFill>
              <a:srgbClr val="6E54C8"/>
            </a:solidFill>
            <a:prstDash val="solid"/>
          </a:ln>
        </p:spPr>
        <p:txBody>
          <a:bodyPr wrap="square" lIns="57150" tIns="28575" rIns="57150" bIns="28575" anchor="ctr">
            <a:normAutofit/>
          </a:bodyPr>
          <a:lstStyle/>
          <a:p>
            <a:pPr algn="ctr">
              <a:defRPr sz="940" b="1">
                <a:solidFill>
                  <a:srgbClr val="6E54C8"/>
                </a:solidFill>
                <a:latin typeface="Calibri" panose="020F0502020204030204"/>
                <a:ea typeface="Calibri" panose="020F0502020204030204"/>
                <a:cs typeface="Calibri" panose="020F0502020204030204"/>
              </a:defRPr>
            </a:pPr>
            <a:r>
              <a:rPr sz="940" b="1">
                <a:solidFill>
                  <a:srgbClr val="6E54C8"/>
                </a:solidFill>
                <a:latin typeface="Calibri" panose="020F0502020204030204"/>
                <a:ea typeface="Calibri" panose="020F0502020204030204"/>
                <a:cs typeface="Calibri" panose="020F0502020204030204"/>
              </a:rPr>
              <a:t>可变</a:t>
            </a:r>
          </a:p>
          <a:p>
            <a:pPr algn="ctr">
              <a:defRPr sz="940" b="1">
                <a:solidFill>
                  <a:srgbClr val="6E54C8"/>
                </a:solidFill>
                <a:latin typeface="Calibri" panose="020F0502020204030204"/>
                <a:ea typeface="Calibri" panose="020F0502020204030204"/>
                <a:cs typeface="Calibri" panose="020F0502020204030204"/>
              </a:defRPr>
            </a:pPr>
            <a:r>
              <a:rPr sz="940" b="1">
                <a:solidFill>
                  <a:srgbClr val="6E54C8"/>
                </a:solidFill>
                <a:latin typeface="Calibri" panose="020F0502020204030204"/>
                <a:ea typeface="Calibri" panose="020F0502020204030204"/>
                <a:cs typeface="Calibri" panose="020F0502020204030204"/>
              </a:rPr>
              <a:t>Parameters · Config</a:t>
            </a:r>
          </a:p>
          <a:p>
            <a:pPr algn="ctr">
              <a:defRPr sz="940" b="1">
                <a:solidFill>
                  <a:srgbClr val="6E54C8"/>
                </a:solidFill>
                <a:latin typeface="Calibri" panose="020F0502020204030204"/>
                <a:ea typeface="Calibri" panose="020F0502020204030204"/>
                <a:cs typeface="Calibri" panose="020F0502020204030204"/>
              </a:defRPr>
            </a:pPr>
            <a:r>
              <a:rPr sz="940" b="1">
                <a:solidFill>
                  <a:srgbClr val="6E54C8"/>
                </a:solidFill>
                <a:latin typeface="Calibri" panose="020F0502020204030204"/>
                <a:ea typeface="Calibri" panose="020F0502020204030204"/>
                <a:cs typeface="Calibri" panose="020F0502020204030204"/>
              </a:rPr>
              <a:t>Data · Environment</a:t>
            </a:r>
          </a:p>
        </p:txBody>
      </p:sp>
      <p:sp>
        <p:nvSpPr>
          <p:cNvPr id="26" name="s5-principle-focus-note"/>
          <p:cNvSpPr>
            <a:spLocks noGrp="1"/>
          </p:cNvSpPr>
          <p:nvPr/>
        </p:nvSpPr>
        <p:spPr>
          <a:xfrm>
            <a:off x="1487170" y="3986530"/>
            <a:ext cx="4724400" cy="142875"/>
          </a:xfrm>
          <a:prstGeom prst="rect">
            <a:avLst/>
          </a:prstGeom>
          <a:noFill/>
          <a:ln w="0">
            <a:noFill/>
            <a:prstDash val="solid"/>
          </a:ln>
        </p:spPr>
        <p:txBody>
          <a:bodyPr wrap="square" lIns="38100" tIns="19050" rIns="38100" bIns="19050" anchor="ctr">
            <a:normAutofit fontScale="92164" lnSpcReduction="20000"/>
          </a:bodyPr>
          <a:lstStyle/>
          <a:p>
            <a:pPr algn="ctr">
              <a:defRPr sz="865" b="1">
                <a:solidFill>
                  <a:srgbClr val="56627A"/>
                </a:solidFill>
                <a:latin typeface="微软雅黑" panose="020B0503020204020204" charset="-122"/>
                <a:ea typeface="微软雅黑" panose="020B0503020204020204" charset="-122"/>
                <a:cs typeface="微软雅黑" panose="020B0503020204020204" charset="-122"/>
              </a:defRPr>
            </a:pPr>
            <a:endParaRPr sz="865" b="1"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56" name="s5-knowledge-surface"/>
          <p:cNvSpPr>
            <a:spLocks noGrp="1"/>
          </p:cNvSpPr>
          <p:nvPr/>
        </p:nvSpPr>
        <p:spPr>
          <a:xfrm>
            <a:off x="6932295" y="876300"/>
            <a:ext cx="3857625" cy="3267075"/>
          </a:xfrm>
          <a:prstGeom prst="roundRect">
            <a:avLst>
              <a:gd name="adj" fmla="val 2624"/>
            </a:avLst>
          </a:prstGeom>
          <a:solidFill>
            <a:srgbClr val="FFFFFF"/>
          </a:solidFill>
          <a:ln w="9525">
            <a:solidFill>
              <a:srgbClr val="CAD7EB"/>
            </a:solidFill>
            <a:prstDash val="solid"/>
          </a:ln>
        </p:spPr>
      </p:sp>
      <p:sp>
        <p:nvSpPr>
          <p:cNvPr id="57" name="s5-knowledge-title"/>
          <p:cNvSpPr>
            <a:spLocks noGrp="1"/>
          </p:cNvSpPr>
          <p:nvPr/>
        </p:nvSpPr>
        <p:spPr>
          <a:xfrm>
            <a:off x="7103745" y="990600"/>
            <a:ext cx="3505200" cy="295275"/>
          </a:xfrm>
          <a:prstGeom prst="rect">
            <a:avLst/>
          </a:prstGeom>
          <a:noFill/>
          <a:ln w="0">
            <a:noFill/>
            <a:prstDash val="solid"/>
          </a:ln>
        </p:spPr>
        <p:txBody>
          <a:bodyPr wrap="square" lIns="38100" tIns="19050" rIns="38100" bIns="19050" anchor="ctr">
            <a:normAutofit/>
          </a:bodyPr>
          <a:lstStyle/>
          <a:p>
            <a:pPr algn="ctr">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Workflow 与 Knowledge 分离</a:t>
            </a:r>
          </a:p>
        </p:txBody>
      </p:sp>
      <p:sp>
        <p:nvSpPr>
          <p:cNvPr id="58" name="s5-knowledge-workflow"/>
          <p:cNvSpPr>
            <a:spLocks noGrp="1"/>
          </p:cNvSpPr>
          <p:nvPr/>
        </p:nvSpPr>
        <p:spPr>
          <a:xfrm>
            <a:off x="7322820" y="1524000"/>
            <a:ext cx="3076575" cy="609600"/>
          </a:xfrm>
          <a:prstGeom prst="roundRect">
            <a:avLst>
              <a:gd name="adj" fmla="val 12500"/>
            </a:avLst>
          </a:prstGeom>
          <a:solidFill>
            <a:srgbClr val="EEF4FE"/>
          </a:solidFill>
          <a:ln w="13335">
            <a:solidFill>
              <a:srgbClr val="1457C5"/>
            </a:solidFill>
            <a:prstDash val="solid"/>
          </a:ln>
        </p:spPr>
        <p:txBody>
          <a:bodyPr wrap="square" lIns="57150" tIns="28575" rIns="57150" bIns="28575" anchor="ctr">
            <a:normAutofit/>
          </a:bodyPr>
          <a:lstStyle/>
          <a:p>
            <a:pPr algn="ctr">
              <a:defRPr sz="1050" b="1">
                <a:solidFill>
                  <a:srgbClr val="072A67"/>
                </a:solidFill>
                <a:latin typeface="Calibri" panose="020F0502020204030204"/>
                <a:ea typeface="Calibri" panose="020F0502020204030204"/>
                <a:cs typeface="Calibri" panose="020F0502020204030204"/>
              </a:defRPr>
            </a:pPr>
            <a:r>
              <a:rPr sz="1050" b="1">
                <a:solidFill>
                  <a:srgbClr val="072A67"/>
                </a:solidFill>
                <a:latin typeface="Calibri" panose="020F0502020204030204"/>
                <a:ea typeface="Calibri" panose="020F0502020204030204"/>
                <a:cs typeface="Calibri" panose="020F0502020204030204"/>
              </a:rPr>
              <a:t>Skill Workflow</a:t>
            </a:r>
          </a:p>
          <a:p>
            <a:pPr algn="ctr">
              <a:defRPr sz="1050" b="1">
                <a:solidFill>
                  <a:srgbClr val="072A67"/>
                </a:solidFill>
                <a:latin typeface="Calibri" panose="020F0502020204030204"/>
                <a:ea typeface="Calibri" panose="020F0502020204030204"/>
                <a:cs typeface="Calibri" panose="020F0502020204030204"/>
              </a:defRPr>
            </a:pPr>
            <a:r>
              <a:rPr sz="1050" b="1">
                <a:solidFill>
                  <a:srgbClr val="072A67"/>
                </a:solidFill>
                <a:latin typeface="Calibri" panose="020F0502020204030204"/>
                <a:ea typeface="Calibri" panose="020F0502020204030204"/>
                <a:cs typeface="Calibri" panose="020F0502020204030204"/>
              </a:rPr>
              <a:t>流程 · 判断 · 契约 · 编排</a:t>
            </a:r>
          </a:p>
        </p:txBody>
      </p:sp>
      <p:sp>
        <p:nvSpPr>
          <p:cNvPr id="59" name="s5-knowledge-workflow-status"/>
          <p:cNvSpPr>
            <a:spLocks noGrp="1"/>
          </p:cNvSpPr>
          <p:nvPr/>
        </p:nvSpPr>
        <p:spPr>
          <a:xfrm>
            <a:off x="9446895" y="1609725"/>
            <a:ext cx="819150" cy="200025"/>
          </a:xfrm>
          <a:prstGeom prst="roundRect">
            <a:avLst>
              <a:gd name="adj" fmla="val 33333"/>
            </a:avLst>
          </a:prstGeom>
          <a:solidFill>
            <a:srgbClr val="FFFFFF"/>
          </a:solidFill>
          <a:ln w="9525">
            <a:solidFill>
              <a:srgbClr val="1457C5"/>
            </a:solidFill>
            <a:prstDash val="solid"/>
          </a:ln>
        </p:spPr>
        <p:txBody>
          <a:bodyPr wrap="square" lIns="47625" tIns="9525" rIns="47625" bIns="9525" anchor="ctr">
            <a:normAutofit/>
          </a:bodyPr>
          <a:lstStyle/>
          <a:p>
            <a:pPr algn="ctr">
              <a:defRPr sz="790" b="1">
                <a:solidFill>
                  <a:srgbClr val="1457C5"/>
                </a:solidFill>
                <a:latin typeface="微软雅黑" panose="020B0503020204020204" charset="-122"/>
                <a:ea typeface="微软雅黑" panose="020B0503020204020204" charset="-122"/>
                <a:cs typeface="微软雅黑" panose="020B0503020204020204" charset="-122"/>
              </a:defRPr>
            </a:pPr>
            <a:r>
              <a:rPr sz="790" b="1">
                <a:solidFill>
                  <a:srgbClr val="1457C5"/>
                </a:solidFill>
                <a:latin typeface="微软雅黑" panose="020B0503020204020204" charset="-122"/>
                <a:ea typeface="微软雅黑" panose="020B0503020204020204" charset="-122"/>
                <a:cs typeface="微软雅黑" panose="020B0503020204020204" charset="-122"/>
              </a:rPr>
              <a:t>尽量稳定</a:t>
            </a:r>
          </a:p>
        </p:txBody>
      </p:sp>
      <p:sp>
        <p:nvSpPr>
          <p:cNvPr id="60" name="s5-knowledge-resources"/>
          <p:cNvSpPr>
            <a:spLocks noGrp="1"/>
          </p:cNvSpPr>
          <p:nvPr/>
        </p:nvSpPr>
        <p:spPr>
          <a:xfrm>
            <a:off x="7322820" y="2619375"/>
            <a:ext cx="3076575" cy="647700"/>
          </a:xfrm>
          <a:prstGeom prst="roundRect">
            <a:avLst>
              <a:gd name="adj" fmla="val 11765"/>
            </a:avLst>
          </a:prstGeom>
          <a:solidFill>
            <a:srgbClr val="EFF8F4"/>
          </a:solidFill>
          <a:ln w="13335">
            <a:solidFill>
              <a:srgbClr val="14855C"/>
            </a:solidFill>
            <a:prstDash val="solid"/>
          </a:ln>
        </p:spPr>
        <p:txBody>
          <a:bodyPr wrap="square" lIns="57150" tIns="28575" rIns="57150" bIns="28575" anchor="ctr">
            <a:normAutofit/>
          </a:bodyPr>
          <a:lstStyle/>
          <a:p>
            <a:pPr algn="ctr">
              <a:defRPr sz="1050" b="1">
                <a:solidFill>
                  <a:srgbClr val="14855C"/>
                </a:solidFill>
                <a:latin typeface="Calibri" panose="020F0502020204030204"/>
                <a:ea typeface="Calibri" panose="020F0502020204030204"/>
                <a:cs typeface="Calibri" panose="020F0502020204030204"/>
              </a:defRPr>
            </a:pPr>
            <a:r>
              <a:rPr sz="1050" b="1">
                <a:solidFill>
                  <a:srgbClr val="14855C"/>
                </a:solidFill>
                <a:latin typeface="Calibri" panose="020F0502020204030204"/>
                <a:ea typeface="Calibri" panose="020F0502020204030204"/>
                <a:cs typeface="Calibri" panose="020F0502020204030204"/>
              </a:rPr>
              <a:t>Knowledge</a:t>
            </a:r>
          </a:p>
          <a:p>
            <a:pPr algn="ctr">
              <a:defRPr sz="1050" b="1">
                <a:solidFill>
                  <a:srgbClr val="14855C"/>
                </a:solidFill>
                <a:latin typeface="Calibri" panose="020F0502020204030204"/>
                <a:ea typeface="Calibri" panose="020F0502020204030204"/>
                <a:cs typeface="Calibri" panose="020F0502020204030204"/>
              </a:defRPr>
            </a:pPr>
            <a:r>
              <a:rPr sz="1050" b="1">
                <a:solidFill>
                  <a:srgbClr val="14855C"/>
                </a:solidFill>
                <a:latin typeface="Calibri" panose="020F0502020204030204"/>
                <a:ea typeface="Calibri" panose="020F0502020204030204"/>
                <a:cs typeface="Calibri" panose="020F0502020204030204"/>
              </a:rPr>
              <a:t>环境 · 配置 · API · 案例 · 资料</a:t>
            </a:r>
          </a:p>
        </p:txBody>
      </p:sp>
      <p:sp>
        <p:nvSpPr>
          <p:cNvPr id="61" name="s5-knowledge-resource-status"/>
          <p:cNvSpPr>
            <a:spLocks noGrp="1"/>
          </p:cNvSpPr>
          <p:nvPr/>
        </p:nvSpPr>
        <p:spPr>
          <a:xfrm>
            <a:off x="9313545" y="2714625"/>
            <a:ext cx="952500" cy="200025"/>
          </a:xfrm>
          <a:prstGeom prst="roundRect">
            <a:avLst>
              <a:gd name="adj" fmla="val 33333"/>
            </a:avLst>
          </a:prstGeom>
          <a:solidFill>
            <a:srgbClr val="FFFFFF"/>
          </a:solidFill>
          <a:ln w="9525">
            <a:solidFill>
              <a:srgbClr val="14855C"/>
            </a:solidFill>
            <a:prstDash val="solid"/>
          </a:ln>
        </p:spPr>
        <p:txBody>
          <a:bodyPr wrap="square" lIns="47625" tIns="9525" rIns="47625" bIns="9525" anchor="ctr">
            <a:normAutofit/>
          </a:bodyPr>
          <a:lstStyle/>
          <a:p>
            <a:pPr algn="ctr">
              <a:defRPr sz="790" b="1">
                <a:solidFill>
                  <a:srgbClr val="14855C"/>
                </a:solidFill>
                <a:latin typeface="微软雅黑" panose="020B0503020204020204" charset="-122"/>
                <a:ea typeface="微软雅黑" panose="020B0503020204020204" charset="-122"/>
                <a:cs typeface="微软雅黑" panose="020B0503020204020204" charset="-122"/>
              </a:defRPr>
            </a:pPr>
            <a:r>
              <a:rPr sz="790" b="1">
                <a:solidFill>
                  <a:srgbClr val="14855C"/>
                </a:solidFill>
                <a:latin typeface="微软雅黑" panose="020B0503020204020204" charset="-122"/>
                <a:ea typeface="微软雅黑" panose="020B0503020204020204" charset="-122"/>
                <a:cs typeface="微软雅黑" panose="020B0503020204020204" charset="-122"/>
              </a:rPr>
              <a:t>更新 · 替换</a:t>
            </a:r>
          </a:p>
        </p:txBody>
      </p:sp>
      <p:cxnSp>
        <p:nvCxnSpPr>
          <p:cNvPr id="136" name="s5-knowledge-edge"/>
          <p:cNvCxnSpPr>
            <a:stCxn id="58" idx="2"/>
            <a:endCxn id="60" idx="0"/>
          </p:cNvCxnSpPr>
          <p:nvPr/>
        </p:nvCxnSpPr>
        <p:spPr>
          <a:xfrm>
            <a:off x="8861108" y="2133600"/>
            <a:ext cx="0" cy="485775"/>
          </a:xfrm>
          <a:prstGeom prst="straightConnector1">
            <a:avLst/>
          </a:prstGeom>
          <a:ln w="13335">
            <a:solidFill>
              <a:srgbClr val="072A67"/>
            </a:solidFill>
            <a:prstDash val="solid"/>
            <a:tailEnd type="triangle" w="sm" len="sm"/>
          </a:ln>
        </p:spPr>
      </p:cxnSp>
      <p:sp>
        <p:nvSpPr>
          <p:cNvPr id="63" name="s5-knowledge-edge-label"/>
          <p:cNvSpPr>
            <a:spLocks noGrp="1"/>
          </p:cNvSpPr>
          <p:nvPr/>
        </p:nvSpPr>
        <p:spPr>
          <a:xfrm>
            <a:off x="8580120" y="2228850"/>
            <a:ext cx="685800" cy="190500"/>
          </a:xfrm>
          <a:prstGeom prst="rect">
            <a:avLst/>
          </a:prstGeom>
          <a:noFill/>
          <a:ln w="0">
            <a:noFill/>
            <a:prstDash val="solid"/>
          </a:ln>
        </p:spPr>
        <p:txBody>
          <a:bodyPr wrap="square" lIns="38100" tIns="19050" rIns="38100" bIns="19050" anchor="ctr">
            <a:normAutofit/>
          </a:bodyPr>
          <a:lstStyle/>
          <a:p>
            <a:pPr algn="ctr">
              <a:defRPr sz="825" b="1">
                <a:solidFill>
                  <a:srgbClr val="56627A"/>
                </a:solidFill>
                <a:latin typeface="微软雅黑" panose="020B0503020204020204" charset="-122"/>
                <a:ea typeface="微软雅黑" panose="020B0503020204020204" charset="-122"/>
                <a:cs typeface="微软雅黑" panose="020B0503020204020204" charset="-122"/>
              </a:defRPr>
            </a:pPr>
            <a:r>
              <a:rPr sz="825" b="1">
                <a:solidFill>
                  <a:srgbClr val="56627A"/>
                </a:solidFill>
                <a:latin typeface="微软雅黑" panose="020B0503020204020204" charset="-122"/>
                <a:ea typeface="微软雅黑" panose="020B0503020204020204" charset="-122"/>
                <a:cs typeface="微软雅黑" panose="020B0503020204020204" charset="-122"/>
              </a:rPr>
              <a:t>按需读取</a:t>
            </a:r>
          </a:p>
        </p:txBody>
      </p:sp>
      <p:sp>
        <p:nvSpPr>
          <p:cNvPr id="64" name="s5-knowledge-explanation"/>
          <p:cNvSpPr>
            <a:spLocks noGrp="1"/>
          </p:cNvSpPr>
          <p:nvPr/>
        </p:nvSpPr>
        <p:spPr>
          <a:xfrm>
            <a:off x="7265670" y="3457575"/>
            <a:ext cx="3190875" cy="476250"/>
          </a:xfrm>
          <a:prstGeom prst="rect">
            <a:avLst/>
          </a:prstGeom>
          <a:noFill/>
          <a:ln w="0">
            <a:noFill/>
            <a:prstDash val="solid"/>
          </a:ln>
        </p:spPr>
        <p:txBody>
          <a:bodyPr wrap="square" lIns="38100" tIns="19050" rIns="38100" bIns="19050" anchor="ctr">
            <a:normAutofit/>
          </a:bodyPr>
          <a:lstStyle/>
          <a:p>
            <a:pPr algn="ctr">
              <a:defRPr sz="975" b="0">
                <a:solidFill>
                  <a:srgbClr val="27364A"/>
                </a:solidFill>
                <a:latin typeface="微软雅黑" panose="020B0503020204020204" charset="-122"/>
                <a:ea typeface="微软雅黑" panose="020B0503020204020204" charset="-122"/>
                <a:cs typeface="微软雅黑" panose="020B0503020204020204" charset="-122"/>
              </a:defRPr>
            </a:pPr>
            <a:r>
              <a:rPr sz="975" b="0">
                <a:solidFill>
                  <a:srgbClr val="27364A"/>
                </a:solidFill>
                <a:latin typeface="微软雅黑" panose="020B0503020204020204" charset="-122"/>
                <a:ea typeface="微软雅黑" panose="020B0503020204020204" charset="-122"/>
                <a:cs typeface="微软雅黑" panose="020B0503020204020204" charset="-122"/>
              </a:rPr>
              <a:t>换任务环境时，优先更新配置、资料和知识层；主 Workflow </a:t>
            </a:r>
            <a:r>
              <a:rPr lang="zh-CN" sz="975" b="0">
                <a:solidFill>
                  <a:srgbClr val="27364A"/>
                </a:solidFill>
                <a:latin typeface="微软雅黑" panose="020B0503020204020204" charset="-122"/>
                <a:ea typeface="微软雅黑" panose="020B0503020204020204" charset="-122"/>
                <a:cs typeface="微软雅黑" panose="020B0503020204020204" charset="-122"/>
              </a:rPr>
              <a:t>尽量</a:t>
            </a:r>
            <a:r>
              <a:rPr sz="975" b="0">
                <a:solidFill>
                  <a:srgbClr val="27364A"/>
                </a:solidFill>
                <a:latin typeface="微软雅黑" panose="020B0503020204020204" charset="-122"/>
                <a:ea typeface="微软雅黑" panose="020B0503020204020204" charset="-122"/>
                <a:cs typeface="微软雅黑" panose="020B0503020204020204" charset="-122"/>
              </a:rPr>
              <a:t>只做必要的接口适配。</a:t>
            </a:r>
          </a:p>
        </p:txBody>
      </p:sp>
      <p:sp>
        <p:nvSpPr>
          <p:cNvPr id="65" name="s5-knowledge-summary"/>
          <p:cNvSpPr>
            <a:spLocks noGrp="1"/>
          </p:cNvSpPr>
          <p:nvPr/>
        </p:nvSpPr>
        <p:spPr>
          <a:xfrm>
            <a:off x="7760970" y="3876675"/>
            <a:ext cx="2190750" cy="209550"/>
          </a:xfrm>
          <a:prstGeom prst="rect">
            <a:avLst/>
          </a:prstGeom>
          <a:noFill/>
          <a:ln w="0">
            <a:noFill/>
            <a:prstDash val="solid"/>
          </a:ln>
        </p:spPr>
        <p:txBody>
          <a:bodyPr wrap="square" lIns="38100" tIns="19050" rIns="38100" bIns="19050" anchor="ctr">
            <a:normAutofit/>
          </a:bodyPr>
          <a:lstStyle/>
          <a:p>
            <a:pPr algn="ctr">
              <a:defRPr sz="975" b="1">
                <a:solidFill>
                  <a:srgbClr val="14855C"/>
                </a:solidFill>
                <a:latin typeface="微软雅黑" panose="020B0503020204020204" charset="-122"/>
                <a:ea typeface="微软雅黑" panose="020B0503020204020204" charset="-122"/>
                <a:cs typeface="微软雅黑" panose="020B0503020204020204" charset="-122"/>
              </a:defRPr>
            </a:pPr>
            <a:r>
              <a:rPr sz="975" b="1">
                <a:solidFill>
                  <a:srgbClr val="14855C"/>
                </a:solidFill>
                <a:latin typeface="微软雅黑" panose="020B0503020204020204" charset="-122"/>
                <a:ea typeface="微软雅黑" panose="020B0503020204020204" charset="-122"/>
                <a:cs typeface="微软雅黑" panose="020B0503020204020204" charset="-122"/>
              </a:rPr>
              <a:t>稳定方法  ×  可替换知识</a:t>
            </a:r>
          </a:p>
        </p:txBody>
      </p:sp>
      <p:sp>
        <p:nvSpPr>
          <p:cNvPr id="66" name="s5-transition-surface"/>
          <p:cNvSpPr>
            <a:spLocks noGrp="1"/>
          </p:cNvSpPr>
          <p:nvPr/>
        </p:nvSpPr>
        <p:spPr>
          <a:xfrm>
            <a:off x="257175" y="5781675"/>
            <a:ext cx="11610975" cy="581025"/>
          </a:xfrm>
          <a:prstGeom prst="roundRect">
            <a:avLst>
              <a:gd name="adj" fmla="val 11475"/>
            </a:avLst>
          </a:prstGeom>
          <a:solidFill>
            <a:srgbClr val="072A67"/>
          </a:solidFill>
          <a:ln w="9525">
            <a:solidFill>
              <a:srgbClr val="072A67"/>
            </a:solidFill>
            <a:prstDash val="solid"/>
          </a:ln>
        </p:spPr>
      </p:sp>
      <p:sp>
        <p:nvSpPr>
          <p:cNvPr id="67" name="s5-transition-question"/>
          <p:cNvSpPr>
            <a:spLocks noGrp="1"/>
          </p:cNvSpPr>
          <p:nvPr/>
        </p:nvSpPr>
        <p:spPr>
          <a:xfrm>
            <a:off x="672782" y="5958095"/>
            <a:ext cx="3333750" cy="209550"/>
          </a:xfrm>
          <a:prstGeom prst="rect">
            <a:avLst/>
          </a:prstGeom>
          <a:noFill/>
          <a:ln w="0">
            <a:noFill/>
            <a:prstDash val="solid"/>
          </a:ln>
        </p:spPr>
        <p:txBody>
          <a:bodyPr wrap="square" lIns="38100" tIns="19050" rIns="38100" bIns="19050" anchor="ctr">
            <a:normAutofit fontScale="97500"/>
          </a:bodyPr>
          <a:lstStyle/>
          <a:p>
            <a:pPr algn="l">
              <a:defRPr sz="1125" b="1">
                <a:solidFill>
                  <a:srgbClr val="FFFFFF"/>
                </a:solidFill>
                <a:latin typeface="微软雅黑" panose="020B0503020204020204" charset="-122"/>
                <a:ea typeface="微软雅黑" panose="020B0503020204020204" charset="-122"/>
                <a:cs typeface="微软雅黑" panose="020B0503020204020204" charset="-122"/>
              </a:defRPr>
            </a:pPr>
            <a:r>
              <a:rPr sz="1125" b="1" dirty="0" err="1">
                <a:solidFill>
                  <a:srgbClr val="FFFFFF"/>
                </a:solidFill>
                <a:latin typeface="微软雅黑" panose="020B0503020204020204" charset="-122"/>
                <a:ea typeface="微软雅黑" panose="020B0503020204020204" charset="-122"/>
                <a:cs typeface="微软雅黑" panose="020B0503020204020204" charset="-122"/>
              </a:rPr>
              <a:t>如果任务进一步变成“高性能算子开发”呢</a:t>
            </a:r>
            <a:r>
              <a:rPr sz="1125" b="1" dirty="0">
                <a:solidFill>
                  <a:srgbClr val="FFFFFF"/>
                </a:solidFill>
                <a:latin typeface="微软雅黑" panose="020B0503020204020204" charset="-122"/>
                <a:ea typeface="微软雅黑" panose="020B0503020204020204" charset="-122"/>
                <a:cs typeface="微软雅黑" panose="020B0503020204020204" charset="-122"/>
              </a:rPr>
              <a:t>？</a:t>
            </a:r>
          </a:p>
        </p:txBody>
      </p:sp>
      <p:sp>
        <p:nvSpPr>
          <p:cNvPr id="68" name="s5-transition-chip-1"/>
          <p:cNvSpPr>
            <a:spLocks noGrp="1"/>
          </p:cNvSpPr>
          <p:nvPr/>
        </p:nvSpPr>
        <p:spPr>
          <a:xfrm>
            <a:off x="3624262" y="5984240"/>
            <a:ext cx="904875" cy="209550"/>
          </a:xfrm>
          <a:prstGeom prst="roundRect">
            <a:avLst>
              <a:gd name="adj" fmla="val 31818"/>
            </a:avLst>
          </a:prstGeom>
          <a:solidFill>
            <a:srgbClr val="FFFFFF"/>
          </a:solidFill>
          <a:ln w="9525">
            <a:solidFill>
              <a:srgbClr val="E97132"/>
            </a:solidFill>
            <a:prstDash val="solid"/>
          </a:ln>
        </p:spPr>
        <p:txBody>
          <a:bodyPr wrap="square" lIns="47625" tIns="9525" rIns="47625" bIns="9525" anchor="ctr">
            <a:normAutofit/>
          </a:bodyPr>
          <a:lstStyle/>
          <a:p>
            <a:pPr algn="ctr">
              <a:defRPr sz="790" b="1">
                <a:solidFill>
                  <a:srgbClr val="E97132"/>
                </a:solidFill>
                <a:latin typeface="微软雅黑" panose="020B0503020204020204" charset="-122"/>
                <a:ea typeface="微软雅黑" panose="020B0503020204020204" charset="-122"/>
                <a:cs typeface="微软雅黑" panose="020B0503020204020204" charset="-122"/>
              </a:defRPr>
            </a:pPr>
            <a:r>
              <a:rPr sz="790" b="1" dirty="0" err="1">
                <a:solidFill>
                  <a:srgbClr val="E97132"/>
                </a:solidFill>
                <a:latin typeface="微软雅黑" panose="020B0503020204020204" charset="-122"/>
                <a:ea typeface="微软雅黑" panose="020B0503020204020204" charset="-122"/>
                <a:cs typeface="微软雅黑" panose="020B0503020204020204" charset="-122"/>
              </a:rPr>
              <a:t>代码生成</a:t>
            </a:r>
            <a:endParaRPr sz="790" b="1" dirty="0">
              <a:solidFill>
                <a:srgbClr val="E97132"/>
              </a:solidFill>
              <a:latin typeface="微软雅黑" panose="020B0503020204020204" charset="-122"/>
              <a:ea typeface="微软雅黑" panose="020B0503020204020204" charset="-122"/>
              <a:cs typeface="微软雅黑" panose="020B0503020204020204" charset="-122"/>
            </a:endParaRPr>
          </a:p>
        </p:txBody>
      </p:sp>
      <p:sp>
        <p:nvSpPr>
          <p:cNvPr id="69" name="s5-transition-chip-2"/>
          <p:cNvSpPr>
            <a:spLocks noGrp="1"/>
          </p:cNvSpPr>
          <p:nvPr/>
        </p:nvSpPr>
        <p:spPr>
          <a:xfrm>
            <a:off x="4654232" y="5978525"/>
            <a:ext cx="904875" cy="209550"/>
          </a:xfrm>
          <a:prstGeom prst="roundRect">
            <a:avLst>
              <a:gd name="adj" fmla="val 31818"/>
            </a:avLst>
          </a:prstGeom>
          <a:solidFill>
            <a:srgbClr val="FFFFFF"/>
          </a:solidFill>
          <a:ln w="9525">
            <a:solidFill>
              <a:srgbClr val="0F9ED5"/>
            </a:solidFill>
            <a:prstDash val="solid"/>
          </a:ln>
        </p:spPr>
        <p:txBody>
          <a:bodyPr wrap="square" lIns="47625" tIns="9525" rIns="47625" bIns="9525" anchor="ctr">
            <a:normAutofit/>
          </a:bodyPr>
          <a:lstStyle/>
          <a:p>
            <a:pPr algn="ctr">
              <a:defRPr sz="715" b="1">
                <a:solidFill>
                  <a:srgbClr val="0F9ED5"/>
                </a:solidFill>
                <a:latin typeface="Calibri" panose="020F0502020204030204"/>
                <a:ea typeface="Calibri" panose="020F0502020204030204"/>
                <a:cs typeface="Calibri" panose="020F0502020204030204"/>
              </a:defRPr>
            </a:pPr>
            <a:r>
              <a:rPr sz="715" b="1" dirty="0">
                <a:solidFill>
                  <a:srgbClr val="0F9ED5"/>
                </a:solidFill>
                <a:latin typeface="Calibri" panose="020F0502020204030204"/>
                <a:ea typeface="Calibri" panose="020F0502020204030204"/>
                <a:cs typeface="Calibri" panose="020F0502020204030204"/>
              </a:rPr>
              <a:t>Correctness</a:t>
            </a:r>
          </a:p>
        </p:txBody>
      </p:sp>
      <p:sp>
        <p:nvSpPr>
          <p:cNvPr id="70" name="s5-transition-chip-3"/>
          <p:cNvSpPr>
            <a:spLocks noGrp="1"/>
          </p:cNvSpPr>
          <p:nvPr/>
        </p:nvSpPr>
        <p:spPr>
          <a:xfrm>
            <a:off x="5649725" y="5978525"/>
            <a:ext cx="904875" cy="209550"/>
          </a:xfrm>
          <a:prstGeom prst="roundRect">
            <a:avLst>
              <a:gd name="adj" fmla="val 31818"/>
            </a:avLst>
          </a:prstGeom>
          <a:solidFill>
            <a:srgbClr val="FFFFFF"/>
          </a:solidFill>
          <a:ln w="9525">
            <a:solidFill>
              <a:srgbClr val="0F9ED5"/>
            </a:solidFill>
            <a:prstDash val="solid"/>
          </a:ln>
        </p:spPr>
        <p:txBody>
          <a:bodyPr wrap="square" lIns="47625" tIns="9525" rIns="47625" bIns="9525" anchor="ctr">
            <a:normAutofit/>
          </a:bodyPr>
          <a:lstStyle/>
          <a:p>
            <a:pPr algn="ctr">
              <a:defRPr sz="715" b="1">
                <a:solidFill>
                  <a:srgbClr val="0F9ED5"/>
                </a:solidFill>
                <a:latin typeface="Calibri" panose="020F0502020204030204"/>
                <a:ea typeface="Calibri" panose="020F0502020204030204"/>
                <a:cs typeface="Calibri" panose="020F0502020204030204"/>
              </a:defRPr>
            </a:pPr>
            <a:r>
              <a:rPr sz="715" b="1" dirty="0">
                <a:solidFill>
                  <a:srgbClr val="0F9ED5"/>
                </a:solidFill>
                <a:latin typeface="Calibri" panose="020F0502020204030204"/>
                <a:ea typeface="Calibri" panose="020F0502020204030204"/>
                <a:cs typeface="Calibri" panose="020F0502020204030204"/>
              </a:rPr>
              <a:t>Benchmark</a:t>
            </a:r>
          </a:p>
        </p:txBody>
      </p:sp>
      <p:sp>
        <p:nvSpPr>
          <p:cNvPr id="71" name="s5-transition-chip-4"/>
          <p:cNvSpPr>
            <a:spLocks noGrp="1"/>
          </p:cNvSpPr>
          <p:nvPr/>
        </p:nvSpPr>
        <p:spPr>
          <a:xfrm>
            <a:off x="6651307" y="6000750"/>
            <a:ext cx="904875" cy="209550"/>
          </a:xfrm>
          <a:prstGeom prst="roundRect">
            <a:avLst>
              <a:gd name="adj" fmla="val 31818"/>
            </a:avLst>
          </a:prstGeom>
          <a:solidFill>
            <a:srgbClr val="FFFFFF"/>
          </a:solidFill>
          <a:ln w="9525">
            <a:solidFill>
              <a:srgbClr val="0F9ED5"/>
            </a:solidFill>
            <a:prstDash val="solid"/>
          </a:ln>
        </p:spPr>
        <p:txBody>
          <a:bodyPr wrap="square" lIns="47625" tIns="9525" rIns="47625" bIns="9525" anchor="ctr">
            <a:normAutofit/>
          </a:bodyPr>
          <a:lstStyle/>
          <a:p>
            <a:pPr algn="ctr">
              <a:defRPr sz="790" b="1">
                <a:solidFill>
                  <a:srgbClr val="0F9ED5"/>
                </a:solidFill>
                <a:latin typeface="Calibri" panose="020F0502020204030204"/>
                <a:ea typeface="Calibri" panose="020F0502020204030204"/>
                <a:cs typeface="Calibri" panose="020F0502020204030204"/>
              </a:defRPr>
            </a:pPr>
            <a:r>
              <a:rPr sz="790" b="1" dirty="0">
                <a:solidFill>
                  <a:srgbClr val="0F9ED5"/>
                </a:solidFill>
                <a:latin typeface="Calibri" panose="020F0502020204030204"/>
                <a:ea typeface="Calibri" panose="020F0502020204030204"/>
                <a:cs typeface="Calibri" panose="020F0502020204030204"/>
              </a:rPr>
              <a:t>Profiler</a:t>
            </a:r>
          </a:p>
        </p:txBody>
      </p:sp>
      <p:sp>
        <p:nvSpPr>
          <p:cNvPr id="72" name="s5-transition-chip-5"/>
          <p:cNvSpPr>
            <a:spLocks noGrp="1"/>
          </p:cNvSpPr>
          <p:nvPr/>
        </p:nvSpPr>
        <p:spPr>
          <a:xfrm>
            <a:off x="7733030" y="5988685"/>
            <a:ext cx="904875" cy="209550"/>
          </a:xfrm>
          <a:prstGeom prst="roundRect">
            <a:avLst>
              <a:gd name="adj" fmla="val 31818"/>
            </a:avLst>
          </a:prstGeom>
          <a:solidFill>
            <a:srgbClr val="FFFFFF"/>
          </a:solidFill>
          <a:ln w="9525">
            <a:solidFill>
              <a:srgbClr val="0F9ED5"/>
            </a:solidFill>
            <a:prstDash val="solid"/>
          </a:ln>
        </p:spPr>
        <p:txBody>
          <a:bodyPr wrap="square" lIns="47625" tIns="9525" rIns="47625" bIns="9525" anchor="ctr">
            <a:normAutofit/>
          </a:bodyPr>
          <a:lstStyle/>
          <a:p>
            <a:pPr algn="ctr">
              <a:defRPr sz="790" b="1">
                <a:solidFill>
                  <a:srgbClr val="0F9ED5"/>
                </a:solidFill>
                <a:latin typeface="微软雅黑" panose="020B0503020204020204" charset="-122"/>
                <a:ea typeface="微软雅黑" panose="020B0503020204020204" charset="-122"/>
                <a:cs typeface="微软雅黑" panose="020B0503020204020204" charset="-122"/>
              </a:defRPr>
            </a:pPr>
            <a:r>
              <a:rPr sz="790" b="1" dirty="0" err="1">
                <a:solidFill>
                  <a:srgbClr val="0F9ED5"/>
                </a:solidFill>
                <a:latin typeface="微软雅黑" panose="020B0503020204020204" charset="-122"/>
                <a:ea typeface="微软雅黑" panose="020B0503020204020204" charset="-122"/>
                <a:cs typeface="微软雅黑" panose="020B0503020204020204" charset="-122"/>
              </a:rPr>
              <a:t>硬件约束</a:t>
            </a:r>
            <a:endParaRPr sz="790" b="1" dirty="0">
              <a:solidFill>
                <a:srgbClr val="0F9ED5"/>
              </a:solidFill>
              <a:latin typeface="微软雅黑" panose="020B0503020204020204" charset="-122"/>
              <a:ea typeface="微软雅黑" panose="020B0503020204020204" charset="-122"/>
              <a:cs typeface="微软雅黑" panose="020B0503020204020204" charset="-122"/>
            </a:endParaRPr>
          </a:p>
        </p:txBody>
      </p:sp>
      <p:sp>
        <p:nvSpPr>
          <p:cNvPr id="73" name="s5-transition-chip-6"/>
          <p:cNvSpPr>
            <a:spLocks noGrp="1"/>
          </p:cNvSpPr>
          <p:nvPr/>
        </p:nvSpPr>
        <p:spPr>
          <a:xfrm>
            <a:off x="8784452" y="5978525"/>
            <a:ext cx="904875" cy="209550"/>
          </a:xfrm>
          <a:prstGeom prst="roundRect">
            <a:avLst>
              <a:gd name="adj" fmla="val 31818"/>
            </a:avLst>
          </a:prstGeom>
          <a:solidFill>
            <a:srgbClr val="FFFFFF"/>
          </a:solidFill>
          <a:ln w="9525">
            <a:solidFill>
              <a:srgbClr val="E97132"/>
            </a:solidFill>
            <a:prstDash val="solid"/>
          </a:ln>
        </p:spPr>
        <p:txBody>
          <a:bodyPr wrap="square" lIns="47625" tIns="9525" rIns="47625" bIns="9525" anchor="ctr">
            <a:normAutofit/>
          </a:bodyPr>
          <a:lstStyle/>
          <a:p>
            <a:pPr algn="ctr">
              <a:defRPr sz="790" b="1">
                <a:solidFill>
                  <a:srgbClr val="E97132"/>
                </a:solidFill>
                <a:latin typeface="微软雅黑" panose="020B0503020204020204" charset="-122"/>
                <a:ea typeface="微软雅黑" panose="020B0503020204020204" charset="-122"/>
                <a:cs typeface="微软雅黑" panose="020B0503020204020204" charset="-122"/>
              </a:defRPr>
            </a:pPr>
            <a:r>
              <a:rPr sz="790" b="1" dirty="0" err="1">
                <a:solidFill>
                  <a:srgbClr val="E97132"/>
                </a:solidFill>
                <a:latin typeface="微软雅黑" panose="020B0503020204020204" charset="-122"/>
                <a:ea typeface="微软雅黑" panose="020B0503020204020204" charset="-122"/>
                <a:cs typeface="微软雅黑" panose="020B0503020204020204" charset="-122"/>
              </a:rPr>
              <a:t>持续性能优化</a:t>
            </a:r>
            <a:endParaRPr sz="790" b="1" dirty="0">
              <a:solidFill>
                <a:srgbClr val="E97132"/>
              </a:solidFill>
              <a:latin typeface="微软雅黑" panose="020B0503020204020204" charset="-122"/>
              <a:ea typeface="微软雅黑" panose="020B0503020204020204" charset="-122"/>
              <a:cs typeface="微软雅黑" panose="020B0503020204020204" charset="-122"/>
            </a:endParaRPr>
          </a:p>
        </p:txBody>
      </p:sp>
      <p:sp>
        <p:nvSpPr>
          <p:cNvPr id="79" name="s5-summary-footer"/>
          <p:cNvSpPr>
            <a:spLocks noGrp="1"/>
          </p:cNvSpPr>
          <p:nvPr/>
        </p:nvSpPr>
        <p:spPr>
          <a:xfrm>
            <a:off x="257175" y="6448425"/>
            <a:ext cx="11610975" cy="342900"/>
          </a:xfrm>
          <a:prstGeom prst="roundRect">
            <a:avLst>
              <a:gd name="adj" fmla="val 19444"/>
            </a:avLst>
          </a:prstGeom>
          <a:solidFill>
            <a:srgbClr val="EEF4FE"/>
          </a:solidFill>
          <a:ln w="9525">
            <a:solidFill>
              <a:srgbClr val="EEF4FE"/>
            </a:solidFill>
            <a:prstDash val="solid"/>
          </a:ln>
        </p:spPr>
        <p:txBody>
          <a:bodyPr wrap="square" lIns="57150" tIns="28575" rIns="57150" bIns="28575" anchor="ctr">
            <a:normAutofit/>
          </a:bodyPr>
          <a:lstStyle/>
          <a:p>
            <a:pPr algn="ctr">
              <a:defRPr sz="1275" b="1">
                <a:solidFill>
                  <a:srgbClr val="072A67"/>
                </a:solidFill>
                <a:latin typeface="微软雅黑" panose="020B0503020204020204" charset="-122"/>
                <a:ea typeface="微软雅黑" panose="020B0503020204020204" charset="-122"/>
                <a:cs typeface="微软雅黑" panose="020B0503020204020204" charset="-122"/>
              </a:defRPr>
            </a:pPr>
            <a:r>
              <a:rPr lang="zh-CN" sz="1275" b="1">
                <a:solidFill>
                  <a:srgbClr val="072A67"/>
                </a:solidFill>
                <a:latin typeface="微软雅黑" panose="020B0503020204020204" charset="-122"/>
                <a:ea typeface="微软雅黑" panose="020B0503020204020204" charset="-122"/>
                <a:cs typeface="微软雅黑" panose="020B0503020204020204" charset="-122"/>
              </a:rPr>
              <a:t>下一</a:t>
            </a:r>
            <a:r>
              <a:rPr sz="1275" b="1">
                <a:solidFill>
                  <a:srgbClr val="072A67"/>
                </a:solidFill>
                <a:latin typeface="微软雅黑" panose="020B0503020204020204" charset="-122"/>
                <a:ea typeface="微软雅黑" panose="020B0503020204020204" charset="-122"/>
                <a:cs typeface="微软雅黑" panose="020B0503020204020204" charset="-122"/>
              </a:rPr>
              <a:t>部分  ·  PART 2 · 算子开发 Skill</a:t>
            </a:r>
          </a:p>
        </p:txBody>
      </p:sp>
      <p:sp>
        <p:nvSpPr>
          <p:cNvPr id="2" name="s5-contract-surface"/>
          <p:cNvSpPr>
            <a:spLocks noGrp="1"/>
          </p:cNvSpPr>
          <p:nvPr/>
        </p:nvSpPr>
        <p:spPr>
          <a:xfrm>
            <a:off x="922020" y="4293235"/>
            <a:ext cx="10700385" cy="1286510"/>
          </a:xfrm>
          <a:prstGeom prst="roundRect">
            <a:avLst>
              <a:gd name="adj" fmla="val 2624"/>
            </a:avLst>
          </a:prstGeom>
          <a:solidFill>
            <a:srgbClr val="FFFFFF"/>
          </a:solidFill>
          <a:ln w="9525">
            <a:solidFill>
              <a:srgbClr val="CAD7EB"/>
            </a:solidFill>
            <a:prstDash val="solid"/>
          </a:ln>
        </p:spPr>
      </p:sp>
      <p:sp>
        <p:nvSpPr>
          <p:cNvPr id="3" name="s5-contract-title"/>
          <p:cNvSpPr>
            <a:spLocks noGrp="1"/>
          </p:cNvSpPr>
          <p:nvPr/>
        </p:nvSpPr>
        <p:spPr>
          <a:xfrm>
            <a:off x="1381125" y="4416922"/>
            <a:ext cx="4857750" cy="295275"/>
          </a:xfrm>
          <a:prstGeom prst="rect">
            <a:avLst/>
          </a:prstGeom>
          <a:noFill/>
          <a:ln w="0">
            <a:noFill/>
            <a:prstDash val="solid"/>
          </a:ln>
        </p:spPr>
        <p:txBody>
          <a:bodyPr wrap="square" lIns="38100" tIns="19050" rIns="38100" bIns="19050" anchor="ctr">
            <a:normAutofit fontScale="90000"/>
          </a:bodyPr>
          <a:lstStyle/>
          <a:p>
            <a:pPr algn="l">
              <a:defRPr sz="1575" b="1">
                <a:solidFill>
                  <a:srgbClr val="072A67"/>
                </a:solidFill>
                <a:latin typeface="微软雅黑" panose="020B0503020204020204" charset="-122"/>
                <a:ea typeface="微软雅黑" panose="020B0503020204020204" charset="-122"/>
                <a:cs typeface="微软雅黑" panose="020B0503020204020204" charset="-122"/>
              </a:defRPr>
            </a:pPr>
            <a:r>
              <a:rPr lang="zh-CN" sz="1575" b="1" dirty="0">
                <a:solidFill>
                  <a:srgbClr val="072A67"/>
                </a:solidFill>
                <a:latin typeface="微软雅黑" panose="020B0503020204020204" charset="-122"/>
                <a:ea typeface="微软雅黑" panose="020B0503020204020204" charset="-122"/>
                <a:cs typeface="微软雅黑" panose="020B0503020204020204" charset="-122"/>
              </a:rPr>
              <a:t>复杂</a:t>
            </a:r>
            <a:r>
              <a:rPr lang="en-US" altLang="zh-CN" sz="1575" b="1" dirty="0">
                <a:solidFill>
                  <a:srgbClr val="072A67"/>
                </a:solidFill>
                <a:latin typeface="微软雅黑" panose="020B0503020204020204" charset="-122"/>
                <a:ea typeface="微软雅黑" panose="020B0503020204020204" charset="-122"/>
                <a:cs typeface="微软雅黑" panose="020B0503020204020204" charset="-122"/>
              </a:rPr>
              <a:t>skill</a:t>
            </a:r>
            <a:r>
              <a:rPr lang="zh-CN" sz="1575" b="1" dirty="0">
                <a:solidFill>
                  <a:srgbClr val="072A67"/>
                </a:solidFill>
                <a:latin typeface="微软雅黑" panose="020B0503020204020204" charset="-122"/>
                <a:ea typeface="微软雅黑" panose="020B0503020204020204" charset="-122"/>
                <a:cs typeface="微软雅黑" panose="020B0503020204020204" charset="-122"/>
              </a:rPr>
              <a:t>关键：设置好</a:t>
            </a:r>
            <a:r>
              <a:rPr sz="1575" b="1" dirty="0">
                <a:solidFill>
                  <a:srgbClr val="072A67"/>
                </a:solidFill>
                <a:latin typeface="微软雅黑" panose="020B0503020204020204" charset="-122"/>
                <a:ea typeface="微软雅黑" panose="020B0503020204020204" charset="-122"/>
                <a:cs typeface="微软雅黑" panose="020B0503020204020204" charset="-122"/>
              </a:rPr>
              <a:t>主 Agent 与 Sub-Agent </a:t>
            </a:r>
            <a:r>
              <a:rPr sz="1575" b="1" dirty="0" err="1">
                <a:solidFill>
                  <a:srgbClr val="072A67"/>
                </a:solidFill>
                <a:latin typeface="微软雅黑" panose="020B0503020204020204" charset="-122"/>
                <a:ea typeface="微软雅黑" panose="020B0503020204020204" charset="-122"/>
                <a:cs typeface="微软雅黑" panose="020B0503020204020204" charset="-122"/>
              </a:rPr>
              <a:t>的文件契约</a:t>
            </a:r>
            <a:endParaRPr sz="1575"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4" name="s5-contract-subagent"/>
          <p:cNvSpPr>
            <a:spLocks noGrp="1"/>
          </p:cNvSpPr>
          <p:nvPr/>
        </p:nvSpPr>
        <p:spPr>
          <a:xfrm>
            <a:off x="2063115" y="5015230"/>
            <a:ext cx="3295650" cy="285750"/>
          </a:xfrm>
          <a:prstGeom prst="roundRect">
            <a:avLst>
              <a:gd name="adj" fmla="val 20000"/>
            </a:avLst>
          </a:prstGeom>
          <a:solidFill>
            <a:srgbClr val="072A67"/>
          </a:solidFill>
          <a:ln w="9525">
            <a:solidFill>
              <a:srgbClr val="072A67"/>
            </a:solidFill>
            <a:prstDash val="solid"/>
          </a:ln>
        </p:spPr>
        <p:txBody>
          <a:bodyPr wrap="square" lIns="57150" tIns="28575" rIns="57150" bIns="28575"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Sub-Agent  ·  执行任务</a:t>
            </a:r>
          </a:p>
        </p:txBody>
      </p:sp>
      <p:sp>
        <p:nvSpPr>
          <p:cNvPr id="5" name="s5-contract-output"/>
          <p:cNvSpPr>
            <a:spLocks noGrp="1"/>
          </p:cNvSpPr>
          <p:nvPr/>
        </p:nvSpPr>
        <p:spPr>
          <a:xfrm>
            <a:off x="6640195" y="4407535"/>
            <a:ext cx="4362450" cy="638175"/>
          </a:xfrm>
          <a:prstGeom prst="roundRect">
            <a:avLst>
              <a:gd name="adj" fmla="val 10448"/>
            </a:avLst>
          </a:prstGeom>
          <a:solidFill>
            <a:srgbClr val="FFF5EE"/>
          </a:solidFill>
          <a:ln w="9525">
            <a:solidFill>
              <a:srgbClr val="E97132"/>
            </a:solidFill>
            <a:prstDash val="solid"/>
          </a:ln>
        </p:spPr>
        <p:txBody>
          <a:bodyPr wrap="square" lIns="76200" tIns="38100" rIns="76200" bIns="28575" anchor="t">
            <a:normAutofit/>
          </a:bodyPr>
          <a:lstStyle/>
          <a:p>
            <a:pPr algn="ctr">
              <a:defRPr sz="975" b="1">
                <a:solidFill>
                  <a:srgbClr val="E97132"/>
                </a:solidFill>
                <a:latin typeface="Calibri" panose="020F0502020204030204"/>
                <a:ea typeface="Calibri" panose="020F0502020204030204"/>
                <a:cs typeface="Calibri" panose="020F0502020204030204"/>
              </a:defRPr>
            </a:pPr>
            <a:r>
              <a:rPr lang="zh-CN" altLang="en-US" sz="975" b="1" dirty="0" smtClean="0">
                <a:solidFill>
                  <a:srgbClr val="E97132"/>
                </a:solidFill>
                <a:latin typeface="Calibri" panose="020F0502020204030204"/>
                <a:ea typeface="Calibri" panose="020F0502020204030204"/>
                <a:cs typeface="Calibri" panose="020F0502020204030204"/>
              </a:rPr>
              <a:t>输出文件</a:t>
            </a:r>
            <a:endParaRPr sz="975" b="1" dirty="0">
              <a:solidFill>
                <a:srgbClr val="E97132"/>
              </a:solidFill>
              <a:latin typeface="Calibri" panose="020F0502020204030204"/>
              <a:ea typeface="Calibri" panose="020F0502020204030204"/>
              <a:cs typeface="Calibri" panose="020F0502020204030204"/>
            </a:endParaRPr>
          </a:p>
        </p:txBody>
      </p:sp>
      <p:sp>
        <p:nvSpPr>
          <p:cNvPr id="43" name="s5-contract-main-bottom"/>
          <p:cNvSpPr>
            <a:spLocks noGrp="1"/>
          </p:cNvSpPr>
          <p:nvPr/>
        </p:nvSpPr>
        <p:spPr>
          <a:xfrm>
            <a:off x="7320280" y="5229225"/>
            <a:ext cx="2705100" cy="219075"/>
          </a:xfrm>
          <a:prstGeom prst="roundRect">
            <a:avLst>
              <a:gd name="adj" fmla="val 26087"/>
            </a:avLst>
          </a:prstGeom>
          <a:solidFill>
            <a:srgbClr val="EEF4FE"/>
          </a:solidFill>
          <a:ln w="9525">
            <a:solidFill>
              <a:srgbClr val="1457C5"/>
            </a:solidFill>
            <a:prstDash val="solid"/>
          </a:ln>
        </p:spPr>
        <p:txBody>
          <a:bodyPr wrap="square" lIns="57150" tIns="28575" rIns="57150" bIns="28575" anchor="ctr">
            <a:normAutofit fontScale="93648"/>
          </a:bodyPr>
          <a:lstStyle/>
          <a:p>
            <a:pPr algn="ctr">
              <a:defRPr sz="900" b="1">
                <a:solidFill>
                  <a:srgbClr val="072A67"/>
                </a:solidFill>
                <a:latin typeface="微软雅黑" panose="020B0503020204020204" charset="-122"/>
                <a:ea typeface="微软雅黑" panose="020B0503020204020204" charset="-122"/>
                <a:cs typeface="微软雅黑" panose="020B0503020204020204" charset="-122"/>
              </a:defRPr>
            </a:pPr>
            <a:r>
              <a:rPr sz="900" b="1">
                <a:solidFill>
                  <a:srgbClr val="072A67"/>
                </a:solidFill>
                <a:latin typeface="微软雅黑" panose="020B0503020204020204" charset="-122"/>
                <a:ea typeface="微软雅黑" panose="020B0503020204020204" charset="-122"/>
                <a:cs typeface="微软雅黑" panose="020B0503020204020204" charset="-122"/>
              </a:rPr>
              <a:t>Main Agent 继续</a:t>
            </a:r>
            <a:r>
              <a:rPr lang="zh-CN" sz="900" b="1">
                <a:solidFill>
                  <a:srgbClr val="072A67"/>
                </a:solidFill>
                <a:latin typeface="微软雅黑" panose="020B0503020204020204" charset="-122"/>
                <a:ea typeface="微软雅黑" panose="020B0503020204020204" charset="-122"/>
                <a:cs typeface="微软雅黑" panose="020B0503020204020204" charset="-122"/>
              </a:rPr>
              <a:t>进行</a:t>
            </a:r>
            <a:r>
              <a:rPr sz="900" b="1">
                <a:solidFill>
                  <a:srgbClr val="072A67"/>
                </a:solidFill>
                <a:latin typeface="微软雅黑" panose="020B0503020204020204" charset="-122"/>
                <a:ea typeface="微软雅黑" panose="020B0503020204020204" charset="-122"/>
                <a:cs typeface="微软雅黑" panose="020B0503020204020204" charset="-122"/>
              </a:rPr>
              <a:t>流程</a:t>
            </a:r>
          </a:p>
        </p:txBody>
      </p:sp>
      <p:sp>
        <p:nvSpPr>
          <p:cNvPr id="44" name="s5-contract-output-chip-1"/>
          <p:cNvSpPr>
            <a:spLocks noGrp="1"/>
          </p:cNvSpPr>
          <p:nvPr/>
        </p:nvSpPr>
        <p:spPr>
          <a:xfrm>
            <a:off x="6751320" y="4695825"/>
            <a:ext cx="914400" cy="295275"/>
          </a:xfrm>
          <a:prstGeom prst="roundRect">
            <a:avLst>
              <a:gd name="adj" fmla="val 19355"/>
            </a:avLst>
          </a:prstGeom>
          <a:solidFill>
            <a:srgbClr val="FFFFFF"/>
          </a:solidFill>
          <a:ln w="9525">
            <a:solidFill>
              <a:srgbClr val="E97132"/>
            </a:solidFill>
            <a:prstDash val="solid"/>
          </a:ln>
        </p:spPr>
        <p:txBody>
          <a:bodyPr wrap="square" lIns="57150" tIns="28575" rIns="57150" bIns="28575" anchor="ctr">
            <a:normAutofit/>
          </a:bodyPr>
          <a:lstStyle/>
          <a:p>
            <a:pPr algn="ctr">
              <a:defRPr sz="630" b="1">
                <a:solidFill>
                  <a:srgbClr val="E97132"/>
                </a:solidFill>
                <a:latin typeface="Calibri" panose="020F0502020204030204"/>
                <a:ea typeface="Calibri" panose="020F0502020204030204"/>
                <a:cs typeface="Calibri" panose="020F0502020204030204"/>
              </a:defRPr>
            </a:pPr>
            <a:r>
              <a:rPr sz="630" b="1">
                <a:solidFill>
                  <a:srgbClr val="E97132"/>
                </a:solidFill>
                <a:latin typeface="Calibri" panose="020F0502020204030204"/>
                <a:ea typeface="Calibri" panose="020F0502020204030204"/>
                <a:cs typeface="Calibri" panose="020F0502020204030204"/>
              </a:rPr>
              <a:t>Status</a:t>
            </a:r>
          </a:p>
          <a:p>
            <a:pPr algn="ctr">
              <a:defRPr sz="630" b="1">
                <a:solidFill>
                  <a:srgbClr val="E97132"/>
                </a:solidFill>
                <a:latin typeface="Calibri" panose="020F0502020204030204"/>
                <a:ea typeface="Calibri" panose="020F0502020204030204"/>
                <a:cs typeface="Calibri" panose="020F0502020204030204"/>
              </a:defRPr>
            </a:pPr>
            <a:r>
              <a:rPr lang="zh-CN" sz="630" b="1">
                <a:solidFill>
                  <a:srgbClr val="E97132"/>
                </a:solidFill>
                <a:latin typeface="Calibri" panose="020F0502020204030204"/>
                <a:ea typeface="Calibri" panose="020F0502020204030204"/>
                <a:cs typeface="Calibri" panose="020F0502020204030204"/>
              </a:rPr>
              <a:t>成功</a:t>
            </a:r>
            <a:r>
              <a:rPr sz="630" b="1">
                <a:solidFill>
                  <a:srgbClr val="E97132"/>
                </a:solidFill>
                <a:latin typeface="Calibri" panose="020F0502020204030204"/>
                <a:ea typeface="Calibri" panose="020F0502020204030204"/>
                <a:cs typeface="Calibri" panose="020F0502020204030204"/>
              </a:rPr>
              <a:t> · </a:t>
            </a:r>
            <a:r>
              <a:rPr lang="zh-CN" sz="630" b="1">
                <a:solidFill>
                  <a:srgbClr val="E97132"/>
                </a:solidFill>
                <a:latin typeface="Calibri" panose="020F0502020204030204"/>
                <a:ea typeface="Calibri" panose="020F0502020204030204"/>
                <a:cs typeface="Calibri" panose="020F0502020204030204"/>
              </a:rPr>
              <a:t>失败</a:t>
            </a:r>
            <a:r>
              <a:rPr sz="630" b="1">
                <a:solidFill>
                  <a:srgbClr val="E97132"/>
                </a:solidFill>
                <a:latin typeface="Calibri" panose="020F0502020204030204"/>
                <a:ea typeface="Calibri" panose="020F0502020204030204"/>
                <a:cs typeface="Calibri" panose="020F0502020204030204"/>
              </a:rPr>
              <a:t> </a:t>
            </a:r>
          </a:p>
        </p:txBody>
      </p:sp>
      <p:sp>
        <p:nvSpPr>
          <p:cNvPr id="45" name="s5-contract-output-chip-2"/>
          <p:cNvSpPr>
            <a:spLocks noGrp="1"/>
          </p:cNvSpPr>
          <p:nvPr/>
        </p:nvSpPr>
        <p:spPr>
          <a:xfrm>
            <a:off x="7770495" y="4695825"/>
            <a:ext cx="914400" cy="295275"/>
          </a:xfrm>
          <a:prstGeom prst="roundRect">
            <a:avLst>
              <a:gd name="adj" fmla="val 19355"/>
            </a:avLst>
          </a:prstGeom>
          <a:solidFill>
            <a:srgbClr val="FFFFFF"/>
          </a:solidFill>
          <a:ln w="9525">
            <a:solidFill>
              <a:srgbClr val="E97132"/>
            </a:solidFill>
            <a:prstDash val="solid"/>
          </a:ln>
        </p:spPr>
        <p:txBody>
          <a:bodyPr wrap="square" lIns="57150" tIns="28575" rIns="57150" bIns="28575" anchor="ctr">
            <a:normAutofit fontScale="97307" lnSpcReduction="10000"/>
          </a:bodyPr>
          <a:lstStyle/>
          <a:p>
            <a:pPr algn="ctr">
              <a:defRPr sz="690" b="1">
                <a:solidFill>
                  <a:srgbClr val="E97132"/>
                </a:solidFill>
                <a:latin typeface="Calibri" panose="020F0502020204030204"/>
                <a:ea typeface="Calibri" panose="020F0502020204030204"/>
                <a:cs typeface="Calibri" panose="020F0502020204030204"/>
              </a:defRPr>
            </a:pPr>
            <a:r>
              <a:rPr sz="690" b="1">
                <a:solidFill>
                  <a:srgbClr val="E97132"/>
                </a:solidFill>
                <a:latin typeface="Calibri" panose="020F0502020204030204"/>
                <a:ea typeface="Calibri" panose="020F0502020204030204"/>
                <a:cs typeface="Calibri" panose="020F0502020204030204"/>
              </a:rPr>
              <a:t>Artifacts</a:t>
            </a:r>
          </a:p>
          <a:p>
            <a:pPr algn="ctr">
              <a:defRPr sz="690" b="1">
                <a:solidFill>
                  <a:srgbClr val="E97132"/>
                </a:solidFill>
                <a:latin typeface="Calibri" panose="020F0502020204030204"/>
                <a:ea typeface="Calibri" panose="020F0502020204030204"/>
                <a:cs typeface="Calibri" panose="020F0502020204030204"/>
              </a:defRPr>
            </a:pPr>
            <a:r>
              <a:rPr sz="690" b="1">
                <a:solidFill>
                  <a:srgbClr val="E97132"/>
                </a:solidFill>
                <a:latin typeface="Calibri" panose="020F0502020204030204"/>
                <a:ea typeface="Calibri" panose="020F0502020204030204"/>
                <a:cs typeface="Calibri" panose="020F0502020204030204"/>
              </a:rPr>
              <a:t>生成文件及路径</a:t>
            </a:r>
          </a:p>
        </p:txBody>
      </p:sp>
      <p:sp>
        <p:nvSpPr>
          <p:cNvPr id="46" name="s5-contract-output-chip-3"/>
          <p:cNvSpPr>
            <a:spLocks noGrp="1"/>
          </p:cNvSpPr>
          <p:nvPr/>
        </p:nvSpPr>
        <p:spPr>
          <a:xfrm>
            <a:off x="8789670" y="4695825"/>
            <a:ext cx="914400" cy="295275"/>
          </a:xfrm>
          <a:prstGeom prst="roundRect">
            <a:avLst>
              <a:gd name="adj" fmla="val 19355"/>
            </a:avLst>
          </a:prstGeom>
          <a:solidFill>
            <a:srgbClr val="FFFFFF"/>
          </a:solidFill>
          <a:ln w="9525">
            <a:solidFill>
              <a:srgbClr val="E97132"/>
            </a:solidFill>
            <a:prstDash val="solid"/>
          </a:ln>
        </p:spPr>
        <p:txBody>
          <a:bodyPr wrap="square" lIns="57150" tIns="28575" rIns="57150" bIns="28575" anchor="ctr">
            <a:normAutofit fontScale="97307" lnSpcReduction="10000"/>
          </a:bodyPr>
          <a:lstStyle/>
          <a:p>
            <a:pPr algn="ctr">
              <a:defRPr sz="690" b="1">
                <a:solidFill>
                  <a:srgbClr val="E97132"/>
                </a:solidFill>
                <a:latin typeface="Calibri" panose="020F0502020204030204"/>
                <a:ea typeface="Calibri" panose="020F0502020204030204"/>
                <a:cs typeface="Calibri" panose="020F0502020204030204"/>
              </a:defRPr>
            </a:pPr>
            <a:r>
              <a:rPr sz="690" b="1">
                <a:solidFill>
                  <a:srgbClr val="E97132"/>
                </a:solidFill>
                <a:latin typeface="Calibri" panose="020F0502020204030204"/>
                <a:ea typeface="Calibri" panose="020F0502020204030204"/>
                <a:cs typeface="Calibri" panose="020F0502020204030204"/>
              </a:rPr>
              <a:t>Results</a:t>
            </a:r>
          </a:p>
          <a:p>
            <a:pPr algn="ctr">
              <a:defRPr sz="690" b="1">
                <a:solidFill>
                  <a:srgbClr val="E97132"/>
                </a:solidFill>
                <a:latin typeface="Calibri" panose="020F0502020204030204"/>
                <a:ea typeface="Calibri" panose="020F0502020204030204"/>
                <a:cs typeface="Calibri" panose="020F0502020204030204"/>
              </a:defRPr>
            </a:pPr>
            <a:r>
              <a:rPr sz="690" b="1">
                <a:solidFill>
                  <a:srgbClr val="E97132"/>
                </a:solidFill>
                <a:latin typeface="Calibri" panose="020F0502020204030204"/>
                <a:ea typeface="Calibri" panose="020F0502020204030204"/>
                <a:cs typeface="Calibri" panose="020F0502020204030204"/>
              </a:rPr>
              <a:t>指标 / 摘要 / 错误</a:t>
            </a:r>
          </a:p>
        </p:txBody>
      </p:sp>
      <p:sp>
        <p:nvSpPr>
          <p:cNvPr id="62" name="s5-contract-output-chip-4"/>
          <p:cNvSpPr>
            <a:spLocks noGrp="1"/>
          </p:cNvSpPr>
          <p:nvPr/>
        </p:nvSpPr>
        <p:spPr>
          <a:xfrm>
            <a:off x="9808845" y="4695825"/>
            <a:ext cx="1133475" cy="295275"/>
          </a:xfrm>
          <a:prstGeom prst="roundRect">
            <a:avLst>
              <a:gd name="adj" fmla="val 19355"/>
            </a:avLst>
          </a:prstGeom>
          <a:solidFill>
            <a:srgbClr val="FFFFFF"/>
          </a:solidFill>
          <a:ln w="9525">
            <a:solidFill>
              <a:srgbClr val="E97132"/>
            </a:solidFill>
            <a:prstDash val="solid"/>
          </a:ln>
        </p:spPr>
        <p:txBody>
          <a:bodyPr wrap="square" lIns="57150" tIns="28575" rIns="57150" bIns="28575" anchor="ctr">
            <a:normAutofit/>
          </a:bodyPr>
          <a:lstStyle/>
          <a:p>
            <a:pPr algn="ctr">
              <a:defRPr sz="615" b="1">
                <a:solidFill>
                  <a:srgbClr val="E97132"/>
                </a:solidFill>
                <a:latin typeface="Calibri" panose="020F0502020204030204"/>
                <a:ea typeface="Calibri" panose="020F0502020204030204"/>
                <a:cs typeface="Calibri" panose="020F0502020204030204"/>
              </a:defRPr>
            </a:pPr>
            <a:r>
              <a:rPr sz="615" b="1">
                <a:solidFill>
                  <a:srgbClr val="E97132"/>
                </a:solidFill>
                <a:latin typeface="Calibri" panose="020F0502020204030204"/>
                <a:ea typeface="Calibri" panose="020F0502020204030204"/>
                <a:cs typeface="Calibri" panose="020F0502020204030204"/>
              </a:rPr>
              <a:t>Next Action</a:t>
            </a:r>
          </a:p>
          <a:p>
            <a:pPr algn="ctr">
              <a:defRPr sz="615" b="1">
                <a:solidFill>
                  <a:srgbClr val="E97132"/>
                </a:solidFill>
                <a:latin typeface="Calibri" panose="020F0502020204030204"/>
                <a:ea typeface="Calibri" panose="020F0502020204030204"/>
                <a:cs typeface="Calibri" panose="020F0502020204030204"/>
              </a:defRPr>
            </a:pPr>
            <a:r>
              <a:rPr sz="615" b="1">
                <a:solidFill>
                  <a:srgbClr val="E97132"/>
                </a:solidFill>
                <a:latin typeface="Calibri" panose="020F0502020204030204"/>
                <a:ea typeface="Calibri" panose="020F0502020204030204"/>
                <a:cs typeface="Calibri" panose="020F0502020204030204"/>
              </a:rPr>
              <a:t>继续 / 重试 / 回退 / 下一阶段</a:t>
            </a:r>
          </a:p>
        </p:txBody>
      </p:sp>
      <p:sp>
        <p:nvSpPr>
          <p:cNvPr id="80" name="右箭头 79"/>
          <p:cNvSpPr/>
          <p:nvPr/>
        </p:nvSpPr>
        <p:spPr>
          <a:xfrm>
            <a:off x="5447665" y="4796790"/>
            <a:ext cx="1008380" cy="3600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3</a:t>
            </a:r>
          </a:p>
        </p:txBody>
      </p:sp>
      <p:sp>
        <p:nvSpPr>
          <p:cNvPr id="27" name="s13-title-rule"/>
          <p:cNvSpPr>
            <a:spLocks noGrp="1"/>
          </p:cNvSpPr>
          <p:nvPr/>
        </p:nvSpPr>
        <p:spPr>
          <a:xfrm>
            <a:off x="247650" y="714375"/>
            <a:ext cx="11734800" cy="19050"/>
          </a:xfrm>
          <a:prstGeom prst="rect">
            <a:avLst/>
          </a:prstGeom>
          <a:solidFill>
            <a:srgbClr val="0E56C9"/>
          </a:solidFill>
          <a:ln w="0">
            <a:solidFill>
              <a:srgbClr val="0E56C9"/>
            </a:solidFill>
            <a:prstDash val="solid"/>
          </a:ln>
        </p:spPr>
      </p:sp>
      <p:sp>
        <p:nvSpPr>
          <p:cNvPr id="78" name="s5-principle-focus-number"/>
          <p:cNvSpPr>
            <a:spLocks noGrp="1"/>
          </p:cNvSpPr>
          <p:nvPr/>
        </p:nvSpPr>
        <p:spPr>
          <a:xfrm>
            <a:off x="7018020" y="980123"/>
            <a:ext cx="381000" cy="295275"/>
          </a:xfrm>
          <a:prstGeom prst="roundRect">
            <a:avLst>
              <a:gd name="adj" fmla="val 19355"/>
            </a:avLst>
          </a:prstGeom>
          <a:solidFill>
            <a:srgbClr val="6E54C8"/>
          </a:solidFill>
          <a:ln w="9525">
            <a:solidFill>
              <a:srgbClr val="6E54C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dirty="0" smtClean="0">
                <a:solidFill>
                  <a:srgbClr val="FFFFFF"/>
                </a:solidFill>
                <a:latin typeface="Calibri" panose="020F0502020204030204"/>
                <a:ea typeface="Calibri" panose="020F0502020204030204"/>
                <a:cs typeface="Calibri" panose="020F0502020204030204"/>
              </a:rPr>
              <a:t>0</a:t>
            </a:r>
            <a:r>
              <a:rPr lang="en-US" sz="1275" b="1" dirty="0" smtClean="0">
                <a:solidFill>
                  <a:srgbClr val="FFFFFF"/>
                </a:solidFill>
                <a:latin typeface="Calibri" panose="020F0502020204030204"/>
                <a:ea typeface="Calibri" panose="020F0502020204030204"/>
                <a:cs typeface="Calibri" panose="020F0502020204030204"/>
              </a:rPr>
              <a:t>3</a:t>
            </a:r>
            <a:endParaRPr sz="1275" b="1" dirty="0">
              <a:solidFill>
                <a:srgbClr val="FFFFFF"/>
              </a:solidFill>
              <a:latin typeface="Calibri" panose="020F0502020204030204"/>
              <a:ea typeface="Calibri" panose="020F0502020204030204"/>
              <a:cs typeface="Calibri" panose="020F0502020204030204"/>
            </a:endParaRPr>
          </a:p>
        </p:txBody>
      </p:sp>
      <p:sp>
        <p:nvSpPr>
          <p:cNvPr id="81" name="s5-principle-focus-number"/>
          <p:cNvSpPr>
            <a:spLocks noGrp="1"/>
          </p:cNvSpPr>
          <p:nvPr/>
        </p:nvSpPr>
        <p:spPr>
          <a:xfrm>
            <a:off x="979805" y="4400246"/>
            <a:ext cx="381000" cy="295275"/>
          </a:xfrm>
          <a:prstGeom prst="roundRect">
            <a:avLst>
              <a:gd name="adj" fmla="val 19355"/>
            </a:avLst>
          </a:prstGeom>
          <a:solidFill>
            <a:srgbClr val="6E54C8"/>
          </a:solidFill>
          <a:ln w="9525">
            <a:solidFill>
              <a:srgbClr val="6E54C8"/>
            </a:solidFill>
            <a:prstDash val="solid"/>
          </a:ln>
        </p:spPr>
        <p:txBody>
          <a:bodyPr wrap="square" lIns="57150" tIns="28575" rIns="57150" bIns="28575" anchor="ctr">
            <a:normAutofit/>
          </a:bodyPr>
          <a:lstStyle/>
          <a:p>
            <a:pPr algn="ctr">
              <a:defRPr sz="1275" b="1">
                <a:solidFill>
                  <a:srgbClr val="FFFFFF"/>
                </a:solidFill>
                <a:latin typeface="Calibri" panose="020F0502020204030204"/>
                <a:ea typeface="Calibri" panose="020F0502020204030204"/>
                <a:cs typeface="Calibri" panose="020F0502020204030204"/>
              </a:defRPr>
            </a:pPr>
            <a:r>
              <a:rPr sz="1275" b="1" dirty="0" smtClean="0">
                <a:solidFill>
                  <a:srgbClr val="FFFFFF"/>
                </a:solidFill>
                <a:latin typeface="Calibri" panose="020F0502020204030204"/>
                <a:ea typeface="Calibri" panose="020F0502020204030204"/>
                <a:cs typeface="Calibri" panose="020F0502020204030204"/>
              </a:rPr>
              <a:t>0</a:t>
            </a:r>
            <a:r>
              <a:rPr lang="en-US" sz="1275" b="1" dirty="0" smtClean="0">
                <a:solidFill>
                  <a:srgbClr val="FFFFFF"/>
                </a:solidFill>
                <a:latin typeface="Calibri" panose="020F0502020204030204"/>
                <a:ea typeface="Calibri" panose="020F0502020204030204"/>
                <a:cs typeface="Calibri" panose="020F0502020204030204"/>
              </a:rPr>
              <a:t>4</a:t>
            </a:r>
            <a:endParaRPr sz="1275" b="1" dirty="0">
              <a:solidFill>
                <a:srgbClr val="FFFFFF"/>
              </a:solidFill>
              <a:latin typeface="Calibri" panose="020F0502020204030204"/>
              <a:ea typeface="Calibri" panose="020F0502020204030204"/>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p:spPr>
        <p:txBody>
          <a:bodyPr wrap="square" lIns="0" tIns="0" rIns="0" bIns="0" anchor="ctr">
            <a:normAutofit/>
          </a:bodyPr>
          <a:lstStyle/>
          <a:p>
            <a:pPr algn="l">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p:spPr>
        <p:txBody>
          <a:bodyPr wrap="square" lIns="0" tIns="0" rIns="0" bIns="0" anchor="ctr">
            <a:normAutofit/>
          </a:bodyPr>
          <a:lstStyle/>
          <a:p>
            <a:pPr algn="l">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b="0">
                <a:solidFill>
                  <a:srgbClr val="56627A"/>
                </a:solidFill>
                <a:latin typeface="微软雅黑" panose="020B0503020204020204" charset="-122"/>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C8D9F3"/>
          </a:solidFill>
          <a:ln w="0">
            <a:noFill/>
            <a:prstDash val="solid"/>
          </a:ln>
        </p:spPr>
      </p:sp>
      <p:sp>
        <p:nvSpPr>
          <p:cNvPr id="5" name="contents-card-1"/>
          <p:cNvSpPr>
            <a:spLocks noGrp="1"/>
          </p:cNvSpPr>
          <p:nvPr/>
        </p:nvSpPr>
        <p:spPr>
          <a:xfrm>
            <a:off x="609600" y="1295400"/>
            <a:ext cx="10972800" cy="981075"/>
          </a:xfrm>
          <a:prstGeom prst="roundRect">
            <a:avLst>
              <a:gd name="adj" fmla="val 7767"/>
            </a:avLst>
          </a:prstGeom>
          <a:solidFill>
            <a:srgbClr val="FFFFFF"/>
          </a:solidFill>
          <a:ln w="9525">
            <a:solidFill>
              <a:srgbClr val="C8D9F3"/>
            </a:solidFill>
            <a:prstDash val="solid"/>
          </a:ln>
        </p:spPr>
      </p:sp>
      <p:sp>
        <p:nvSpPr>
          <p:cNvPr id="6" name="contents-card-1-accent"/>
          <p:cNvSpPr>
            <a:spLocks noGrp="1"/>
          </p:cNvSpPr>
          <p:nvPr/>
        </p:nvSpPr>
        <p:spPr>
          <a:xfrm>
            <a:off x="609600" y="1295400"/>
            <a:ext cx="66675" cy="981075"/>
          </a:xfrm>
          <a:prstGeom prst="rect">
            <a:avLst/>
          </a:prstGeom>
          <a:solidFill>
            <a:schemeClr val="bg1">
              <a:lumMod val="50000"/>
            </a:schemeClr>
          </a:solidFill>
          <a:ln w="0">
            <a:noFill/>
            <a:prstDash val="solid"/>
          </a:ln>
        </p:spPr>
      </p:sp>
      <p:sp>
        <p:nvSpPr>
          <p:cNvPr id="7" name="contents-card-1-part"/>
          <p:cNvSpPr>
            <a:spLocks noGrp="1"/>
          </p:cNvSpPr>
          <p:nvPr/>
        </p:nvSpPr>
        <p:spPr>
          <a:xfrm>
            <a:off x="839470" y="1628775"/>
            <a:ext cx="1104900" cy="266700"/>
          </a:xfrm>
          <a:prstGeom prst="rect">
            <a:avLst/>
          </a:prstGeom>
          <a:noFill/>
          <a:ln w="0">
            <a:noFill/>
            <a:prstDash val="solid"/>
          </a:ln>
        </p:spPr>
        <p:txBody>
          <a:bodyPr wrap="square" lIns="0" tIns="0" rIns="0" bIns="0" anchor="ctr">
            <a:normAutofit/>
          </a:bodyPr>
          <a:lstStyle/>
          <a:p>
            <a:pPr algn="l">
              <a:defRPr sz="1125" b="1">
                <a:solidFill>
                  <a:srgbClr val="0E56C9"/>
                </a:solidFill>
                <a:latin typeface="微软雅黑" panose="020B0503020204020204" charset="-122"/>
                <a:ea typeface="微软雅黑" panose="020B0503020204020204" charset="-122"/>
                <a:cs typeface="微软雅黑" panose="020B0503020204020204" charset="-122"/>
              </a:defRPr>
            </a:pPr>
            <a:r>
              <a:rPr sz="1125" b="1">
                <a:solidFill>
                  <a:srgbClr val="0E56C9"/>
                </a:solidFill>
                <a:latin typeface="微软雅黑" panose="020B0503020204020204" charset="-122"/>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C8D9F3"/>
          </a:solidFill>
          <a:ln w="0">
            <a:noFill/>
            <a:prstDash val="solid"/>
          </a:ln>
        </p:spPr>
      </p:sp>
      <p:sp>
        <p:nvSpPr>
          <p:cNvPr id="10" name="contents-card-1-title"/>
          <p:cNvSpPr>
            <a:spLocks noGrp="1"/>
          </p:cNvSpPr>
          <p:nvPr/>
        </p:nvSpPr>
        <p:spPr>
          <a:xfrm>
            <a:off x="2286000" y="139065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500" b="1">
                <a:solidFill>
                  <a:srgbClr val="072A67"/>
                </a:solidFill>
                <a:latin typeface="微软雅黑" panose="020B0503020204020204" charset="-122"/>
                <a:ea typeface="微软雅黑" panose="020B0503020204020204" charset="-122"/>
                <a:cs typeface="微软雅黑" panose="020B0503020204020204" charset="-122"/>
              </a:rPr>
              <a:t>Agent/</a:t>
            </a:r>
            <a:r>
              <a:rPr sz="1500" b="1">
                <a:solidFill>
                  <a:srgbClr val="072A67"/>
                </a:solidFill>
                <a:latin typeface="微软雅黑" panose="020B0503020204020204" charset="-122"/>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oundRect">
            <a:avLst>
              <a:gd name="adj" fmla="val 7767"/>
            </a:avLst>
          </a:prstGeom>
          <a:solidFill>
            <a:srgbClr val="FFFFFF"/>
          </a:solidFill>
          <a:ln w="9525">
            <a:solidFill>
              <a:srgbClr val="C8D9F3"/>
            </a:solidFill>
            <a:prstDash val="solid"/>
          </a:ln>
        </p:spPr>
      </p:sp>
      <p:sp>
        <p:nvSpPr>
          <p:cNvPr id="14" name="contents-card-2-accent"/>
          <p:cNvSpPr>
            <a:spLocks noGrp="1"/>
          </p:cNvSpPr>
          <p:nvPr/>
        </p:nvSpPr>
        <p:spPr>
          <a:xfrm>
            <a:off x="609600" y="2428875"/>
            <a:ext cx="66675" cy="981075"/>
          </a:xfrm>
          <a:prstGeom prst="rect">
            <a:avLst/>
          </a:prstGeom>
          <a:solidFill>
            <a:srgbClr val="0E56C9"/>
          </a:solidFill>
          <a:ln w="0">
            <a:noFill/>
            <a:prstDash val="solid"/>
          </a:ln>
        </p:spPr>
      </p:sp>
      <p:sp>
        <p:nvSpPr>
          <p:cNvPr id="15" name="contents-card-2-part"/>
          <p:cNvSpPr>
            <a:spLocks noGrp="1"/>
          </p:cNvSpPr>
          <p:nvPr/>
        </p:nvSpPr>
        <p:spPr>
          <a:xfrm>
            <a:off x="838200" y="2562225"/>
            <a:ext cx="1104900" cy="2667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02</a:t>
            </a:r>
            <a:endParaRPr sz="1125"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C8D9F3"/>
          </a:solidFill>
          <a:ln w="0">
            <a:noFill/>
            <a:prstDash val="solid"/>
          </a:ln>
        </p:spPr>
      </p:sp>
      <p:sp>
        <p:nvSpPr>
          <p:cNvPr id="18" name="contents-card-2-title"/>
          <p:cNvSpPr>
            <a:spLocks noGrp="1"/>
          </p:cNvSpPr>
          <p:nvPr/>
        </p:nvSpPr>
        <p:spPr>
          <a:xfrm>
            <a:off x="2286000" y="252412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500" b="1">
                <a:solidFill>
                  <a:srgbClr val="072A67"/>
                </a:solidFill>
                <a:latin typeface="微软雅黑" panose="020B0503020204020204" charset="-122"/>
                <a:ea typeface="微软雅黑" panose="020B0503020204020204" charset="-122"/>
                <a:cs typeface="微软雅黑" panose="020B0503020204020204" charset="-122"/>
              </a:rPr>
              <a:t>寒武纪</a:t>
            </a:r>
            <a:r>
              <a:rPr sz="1500" b="1">
                <a:solidFill>
                  <a:srgbClr val="072A67"/>
                </a:solidFill>
                <a:latin typeface="微软雅黑" panose="020B0503020204020204" charset="-122"/>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oundRect">
            <a:avLst>
              <a:gd name="adj" fmla="val 7767"/>
            </a:avLst>
          </a:prstGeom>
          <a:solidFill>
            <a:srgbClr val="FFFFFF"/>
          </a:solidFill>
          <a:ln w="9525">
            <a:solidFill>
              <a:srgbClr val="C8D9F3"/>
            </a:solidFill>
            <a:prstDash val="solid"/>
          </a:ln>
        </p:spPr>
      </p:sp>
      <p:sp>
        <p:nvSpPr>
          <p:cNvPr id="22" name="contents-card-3-accent"/>
          <p:cNvSpPr>
            <a:spLocks noGrp="1"/>
          </p:cNvSpPr>
          <p:nvPr/>
        </p:nvSpPr>
        <p:spPr>
          <a:xfrm>
            <a:off x="609600" y="3562350"/>
            <a:ext cx="66675" cy="981075"/>
          </a:xfrm>
          <a:prstGeom prst="rect">
            <a:avLst/>
          </a:prstGeom>
          <a:solidFill>
            <a:schemeClr val="bg1">
              <a:lumMod val="50000"/>
            </a:schemeClr>
          </a:solidFill>
          <a:ln w="0">
            <a:noFill/>
            <a:prstDash val="solid"/>
          </a:ln>
        </p:spPr>
      </p:sp>
      <p:sp>
        <p:nvSpPr>
          <p:cNvPr id="23" name="contents-card-3-part"/>
          <p:cNvSpPr>
            <a:spLocks noGrp="1"/>
          </p:cNvSpPr>
          <p:nvPr/>
        </p:nvSpPr>
        <p:spPr>
          <a:xfrm>
            <a:off x="838200" y="3695700"/>
            <a:ext cx="1104900" cy="266700"/>
          </a:xfrm>
          <a:prstGeom prst="rect">
            <a:avLst/>
          </a:prstGeom>
          <a:noFill/>
          <a:ln w="0">
            <a:noFill/>
            <a:prstDash val="solid"/>
          </a:ln>
        </p:spPr>
        <p:txBody>
          <a:bodyPr wrap="square" lIns="0" tIns="0" rIns="0" bIns="0" anchor="ctr">
            <a:normAutofit/>
          </a:bodyPr>
          <a:lstStyle/>
          <a:p>
            <a:pPr algn="l">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C8D9F3"/>
          </a:solidFill>
          <a:ln w="0">
            <a:noFill/>
            <a:prstDash val="solid"/>
          </a:ln>
        </p:spPr>
      </p:sp>
      <p:sp>
        <p:nvSpPr>
          <p:cNvPr id="26" name="contents-card-3-title"/>
          <p:cNvSpPr>
            <a:spLocks noGrp="1"/>
          </p:cNvSpPr>
          <p:nvPr/>
        </p:nvSpPr>
        <p:spPr>
          <a:xfrm>
            <a:off x="2286000" y="365760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oundRect">
            <a:avLst>
              <a:gd name="adj" fmla="val 7767"/>
            </a:avLst>
          </a:prstGeom>
          <a:solidFill>
            <a:srgbClr val="F7F9FC"/>
          </a:solidFill>
          <a:ln w="9525">
            <a:solidFill>
              <a:srgbClr val="C8D9F3"/>
            </a:solidFill>
            <a:prstDash val="solid"/>
          </a:ln>
        </p:spPr>
      </p:sp>
      <p:sp>
        <p:nvSpPr>
          <p:cNvPr id="30" name="contents-card-4-accent"/>
          <p:cNvSpPr>
            <a:spLocks noGrp="1"/>
          </p:cNvSpPr>
          <p:nvPr/>
        </p:nvSpPr>
        <p:spPr>
          <a:xfrm>
            <a:off x="609600" y="4695825"/>
            <a:ext cx="66675" cy="981075"/>
          </a:xfrm>
          <a:prstGeom prst="rect">
            <a:avLst/>
          </a:prstGeom>
          <a:solidFill>
            <a:srgbClr val="7B8799"/>
          </a:solidFill>
          <a:ln w="0">
            <a:noFill/>
            <a:prstDash val="solid"/>
          </a:ln>
        </p:spPr>
      </p:sp>
      <p:sp>
        <p:nvSpPr>
          <p:cNvPr id="31" name="contents-card-4-part"/>
          <p:cNvSpPr>
            <a:spLocks noGrp="1"/>
          </p:cNvSpPr>
          <p:nvPr/>
        </p:nvSpPr>
        <p:spPr>
          <a:xfrm>
            <a:off x="838200" y="4829175"/>
            <a:ext cx="1104900" cy="266700"/>
          </a:xfrm>
          <a:prstGeom prst="rect">
            <a:avLst/>
          </a:prstGeom>
          <a:noFill/>
          <a:ln w="0">
            <a:noFill/>
            <a:prstDash val="solid"/>
          </a:ln>
        </p:spPr>
        <p:txBody>
          <a:bodyPr wrap="square" lIns="0" tIns="0" rIns="0" bIns="0" anchor="ctr">
            <a:normAutofit/>
          </a:bodyPr>
          <a:lstStyle/>
          <a:p>
            <a:pPr algn="l">
              <a:defRPr sz="1125" b="1">
                <a:solidFill>
                  <a:srgbClr val="7B8799"/>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C8D9F3"/>
          </a:solidFill>
          <a:ln w="0">
            <a:noFill/>
            <a:prstDash val="solid"/>
          </a:ln>
        </p:spPr>
      </p:sp>
      <p:sp>
        <p:nvSpPr>
          <p:cNvPr id="34" name="contents-card-4-title"/>
          <p:cNvSpPr>
            <a:spLocks noGrp="1"/>
          </p:cNvSpPr>
          <p:nvPr/>
        </p:nvSpPr>
        <p:spPr>
          <a:xfrm>
            <a:off x="2286000" y="479107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3"/>
          <a:srcRect l="101" r="101" b="60"/>
          <a:stretch>
            <a:fillRect/>
          </a:stretch>
        </p:blipFill>
        <p:spPr>
          <a:xfrm>
            <a:off x="1209675" y="857250"/>
            <a:ext cx="3143250" cy="5324475"/>
          </a:xfrm>
          <a:prstGeom prst="rect">
            <a:avLst/>
          </a:prstGeom>
        </p:spPr>
      </p:pic>
      <p:pic>
        <p:nvPicPr>
          <p:cNvPr id="16" name="main-orchestration-module"/>
          <p:cNvPicPr>
            <a:picLocks noChangeAspect="1"/>
          </p:cNvPicPr>
          <p:nvPr/>
        </p:nvPicPr>
        <p:blipFill>
          <a:blip r:embed="rId4"/>
          <a:srcRect r="104"/>
          <a:stretch>
            <a:fillRect/>
          </a:stretch>
        </p:blipFill>
        <p:spPr>
          <a:xfrm>
            <a:off x="4572000" y="857250"/>
            <a:ext cx="3057525" cy="2552700"/>
          </a:xfrm>
          <a:prstGeom prst="rect">
            <a:avLst/>
          </a:prstGeom>
        </p:spPr>
      </p:pic>
      <p:pic>
        <p:nvPicPr>
          <p:cNvPr id="17" name="code-generation-module"/>
          <p:cNvPicPr>
            <a:picLocks noChangeAspect="1"/>
          </p:cNvPicPr>
          <p:nvPr/>
        </p:nvPicPr>
        <p:blipFill>
          <a:blip r:embed="rId5"/>
          <a:srcRect/>
          <a:stretch>
            <a:fillRect/>
          </a:stretch>
        </p:blipFill>
        <p:spPr>
          <a:xfrm>
            <a:off x="7715250" y="857250"/>
            <a:ext cx="3276600" cy="2552700"/>
          </a:xfrm>
          <a:prstGeom prst="rect">
            <a:avLst/>
          </a:prstGeom>
        </p:spPr>
      </p:pic>
      <p:pic>
        <p:nvPicPr>
          <p:cNvPr id="18" name="code-review-module"/>
          <p:cNvPicPr>
            <a:picLocks noChangeAspect="1"/>
          </p:cNvPicPr>
          <p:nvPr/>
        </p:nvPicPr>
        <p:blipFill>
          <a:blip r:embed="rId6"/>
          <a:srcRect t="119" r="104" b="119"/>
          <a:stretch>
            <a:fillRect/>
          </a:stretch>
        </p:blipFill>
        <p:spPr>
          <a:xfrm>
            <a:off x="4572000" y="3514725"/>
            <a:ext cx="3057525" cy="2667000"/>
          </a:xfrm>
          <a:prstGeom prst="rect">
            <a:avLst/>
          </a:prstGeom>
        </p:spPr>
      </p:pic>
      <p:pic>
        <p:nvPicPr>
          <p:cNvPr id="19" name="optimization-module"/>
          <p:cNvPicPr>
            <a:picLocks noChangeAspect="1"/>
          </p:cNvPicPr>
          <p:nvPr/>
        </p:nvPicPr>
        <p:blipFill>
          <a:blip r:embed="rId7"/>
          <a:srcRect t="119" b="119"/>
          <a:stretch>
            <a:fillRect/>
          </a:stretch>
        </p:blipFill>
        <p:spPr>
          <a:xfrm>
            <a:off x="7715250" y="3514725"/>
            <a:ext cx="3276600" cy="2667000"/>
          </a:xfrm>
          <a:prstGeom prst="rect">
            <a:avLst/>
          </a:prstGeom>
        </p:spPr>
      </p:pic>
      <p:sp>
        <p:nvSpPr>
          <p:cNvPr id="6" name="slide-4-title"/>
          <p:cNvSpPr>
            <a:spLocks noGrp="1"/>
          </p:cNvSpPr>
          <p:nvPr/>
        </p:nvSpPr>
        <p:spPr>
          <a:xfrm>
            <a:off x="1209675" y="260350"/>
            <a:ext cx="8048625" cy="428625"/>
          </a:xfrm>
          <a:prstGeom prst="rect">
            <a:avLst/>
          </a:prstGeom>
          <a:solidFill>
            <a:srgbClr val="FFFFFF"/>
          </a:solidFill>
          <a:ln w="0">
            <a:noFill/>
            <a:prstDash val="solid"/>
          </a:ln>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a:solidFill>
                  <a:srgbClr val="072A67"/>
                </a:solidFill>
                <a:latin typeface="微软雅黑" panose="020B0503020204020204" charset="-122"/>
                <a:ea typeface="微软雅黑" panose="020B0503020204020204" charset="-122"/>
                <a:cs typeface="微软雅黑" panose="020B0503020204020204" charset="-122"/>
              </a:rPr>
              <a:t> </a:t>
            </a:r>
            <a:r>
              <a:rPr lang="zh-CN" sz="2550" b="1">
                <a:solidFill>
                  <a:srgbClr val="072A67"/>
                </a:solidFill>
                <a:latin typeface="微软雅黑" panose="020B0503020204020204" charset="-122"/>
                <a:ea typeface="微软雅黑" panose="020B0503020204020204" charset="-122"/>
                <a:cs typeface="微软雅黑" panose="020B0503020204020204" charset="-122"/>
              </a:rPr>
              <a:t>原寒武纪</a:t>
            </a:r>
            <a:r>
              <a:rPr sz="2550" b="1">
                <a:solidFill>
                  <a:srgbClr val="072A67"/>
                </a:solidFill>
                <a:latin typeface="微软雅黑" panose="020B0503020204020204" charset="-122"/>
                <a:ea typeface="微软雅黑" panose="020B0503020204020204" charset="-122"/>
                <a:cs typeface="微软雅黑" panose="020B0503020204020204" charset="-122"/>
              </a:rPr>
              <a:t>Triton 算子开发 Skill</a:t>
            </a:r>
            <a:r>
              <a:rPr lang="zh-CN" sz="2550" b="1">
                <a:solidFill>
                  <a:srgbClr val="072A67"/>
                </a:solidFill>
                <a:latin typeface="微软雅黑" panose="020B0503020204020204" charset="-122"/>
                <a:ea typeface="微软雅黑" panose="020B0503020204020204" charset="-122"/>
                <a:cs typeface="微软雅黑" panose="020B0503020204020204" charset="-122"/>
              </a:rPr>
              <a:t>的结构</a:t>
            </a:r>
          </a:p>
        </p:txBody>
      </p:sp>
      <p:sp>
        <p:nvSpPr>
          <p:cNvPr id="8" name="slide-4-editable-footer"/>
          <p:cNvSpPr>
            <a:spLocks noGrp="1"/>
          </p:cNvSpPr>
          <p:nvPr/>
        </p:nvSpPr>
        <p:spPr>
          <a:xfrm>
            <a:off x="1209675" y="6286500"/>
            <a:ext cx="9782175" cy="428625"/>
          </a:xfrm>
          <a:prstGeom prst="roundRect">
            <a:avLst>
              <a:gd name="adj" fmla="val 13333"/>
            </a:avLst>
          </a:prstGeom>
          <a:solidFill>
            <a:srgbClr val="EEF4FE"/>
          </a:solidFill>
          <a:ln w="0">
            <a:solidFill>
              <a:srgbClr val="EEF4FE"/>
            </a:solidFill>
            <a:prstDash val="solid"/>
          </a:ln>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072A67"/>
                </a:solidFill>
                <a:latin typeface="微软雅黑" panose="020B0503020204020204" charset="-122"/>
                <a:ea typeface="微软雅黑" panose="020B0503020204020204" charset="-122"/>
                <a:cs typeface="微软雅黑" panose="020B0503020204020204" charset="-122"/>
              </a:rPr>
              <a:t>原 MLU Triton Skill 采用“主流程编排 + 阶段 Skill + 专业 Sub-Agent”的分层流水线结构，将算子开发拆分为生成、验证和优化三个连续阶段。</a:t>
            </a:r>
          </a:p>
        </p:txBody>
      </p:sp>
      <p:pic>
        <p:nvPicPr>
          <p:cNvPr id="2" name="图片 1"/>
          <p:cNvPicPr>
            <a:picLocks noChangeAspect="1"/>
          </p:cNvPicPr>
          <p:nvPr/>
        </p:nvPicPr>
        <p:blipFill>
          <a:blip r:embed="rId8"/>
          <a:stretch>
            <a:fillRect/>
          </a:stretch>
        </p:blipFill>
        <p:spPr>
          <a:xfrm>
            <a:off x="6816090" y="908685"/>
            <a:ext cx="723900" cy="857250"/>
          </a:xfrm>
          <a:prstGeom prst="rect">
            <a:avLst/>
          </a:prstGeom>
        </p:spPr>
      </p:pic>
      <p:pic>
        <p:nvPicPr>
          <p:cNvPr id="3" name="图片 2"/>
          <p:cNvPicPr>
            <a:picLocks noChangeAspect="1"/>
          </p:cNvPicPr>
          <p:nvPr/>
        </p:nvPicPr>
        <p:blipFill>
          <a:blip r:embed="rId8"/>
          <a:stretch>
            <a:fillRect/>
          </a:stretch>
        </p:blipFill>
        <p:spPr>
          <a:xfrm>
            <a:off x="10223500" y="980440"/>
            <a:ext cx="503555" cy="596265"/>
          </a:xfrm>
          <a:prstGeom prst="rect">
            <a:avLst/>
          </a:prstGeom>
        </p:spPr>
      </p:pic>
      <p:pic>
        <p:nvPicPr>
          <p:cNvPr id="4" name="图片 3"/>
          <p:cNvPicPr>
            <a:picLocks noChangeAspect="1"/>
          </p:cNvPicPr>
          <p:nvPr/>
        </p:nvPicPr>
        <p:blipFill>
          <a:blip r:embed="rId8"/>
          <a:stretch>
            <a:fillRect/>
          </a:stretch>
        </p:blipFill>
        <p:spPr>
          <a:xfrm>
            <a:off x="7049770" y="3573145"/>
            <a:ext cx="490220" cy="581025"/>
          </a:xfrm>
          <a:prstGeom prst="rect">
            <a:avLst/>
          </a:prstGeom>
        </p:spPr>
      </p:pic>
      <p:pic>
        <p:nvPicPr>
          <p:cNvPr id="5" name="图片 4"/>
          <p:cNvPicPr>
            <a:picLocks noChangeAspect="1"/>
          </p:cNvPicPr>
          <p:nvPr/>
        </p:nvPicPr>
        <p:blipFill>
          <a:blip r:embed="rId8"/>
          <a:stretch>
            <a:fillRect/>
          </a:stretch>
        </p:blipFill>
        <p:spPr>
          <a:xfrm>
            <a:off x="10344150" y="3573145"/>
            <a:ext cx="436245" cy="516890"/>
          </a:xfrm>
          <a:prstGeom prst="rect">
            <a:avLst/>
          </a:prstGeom>
        </p:spPr>
      </p:pic>
      <p:pic>
        <p:nvPicPr>
          <p:cNvPr id="47" name="title-separator-rule"/>
          <p:cNvPicPr>
            <a:picLocks noChangeAspect="1"/>
          </p:cNvPicPr>
          <p:nvPr/>
        </p:nvPicPr>
        <p:blipFill>
          <a:blip r:embed="rId9"/>
          <a:srcRect t="2941"/>
          <a:stretch>
            <a:fillRect/>
          </a:stretch>
        </p:blipFill>
        <p:spPr>
          <a:xfrm>
            <a:off x="266700" y="685800"/>
            <a:ext cx="11734800" cy="104775"/>
          </a:xfrm>
          <a:prstGeom prst="rect">
            <a:avLst/>
          </a:prstGeom>
        </p:spPr>
      </p:pic>
      <p:sp>
        <p:nvSpPr>
          <p:cNvPr id="7"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9" name="stage-01-user-input"/>
          <p:cNvPicPr>
            <a:picLocks noChangeAspect="1"/>
          </p:cNvPicPr>
          <p:nvPr/>
        </p:nvPicPr>
        <p:blipFill>
          <a:blip r:embed="rId3"/>
          <a:srcRect t="88"/>
          <a:stretch>
            <a:fillRect/>
          </a:stretch>
        </p:blipFill>
        <p:spPr>
          <a:xfrm>
            <a:off x="171450" y="923925"/>
            <a:ext cx="1485900" cy="3590925"/>
          </a:xfrm>
          <a:prstGeom prst="rect">
            <a:avLst/>
          </a:prstGeom>
        </p:spPr>
      </p:pic>
      <p:pic>
        <p:nvPicPr>
          <p:cNvPr id="40" name="connector-stage-01-to-02"/>
          <p:cNvPicPr>
            <a:picLocks noChangeAspect="1"/>
          </p:cNvPicPr>
          <p:nvPr/>
        </p:nvPicPr>
        <p:blipFill>
          <a:blip r:embed="rId4"/>
          <a:srcRect l="1064" t="862" b="862"/>
          <a:stretch>
            <a:fillRect/>
          </a:stretch>
        </p:blipFill>
        <p:spPr>
          <a:xfrm>
            <a:off x="1666875" y="1076325"/>
            <a:ext cx="295275" cy="361950"/>
          </a:xfrm>
          <a:prstGeom prst="rect">
            <a:avLst/>
          </a:prstGeom>
        </p:spPr>
      </p:pic>
      <p:pic>
        <p:nvPicPr>
          <p:cNvPr id="41" name="stage-02-environment-and-requirement"/>
          <p:cNvPicPr>
            <a:picLocks noChangeAspect="1"/>
          </p:cNvPicPr>
          <p:nvPr/>
        </p:nvPicPr>
        <p:blipFill>
          <a:blip r:embed="rId5"/>
          <a:srcRect l="176" t="88"/>
          <a:stretch>
            <a:fillRect/>
          </a:stretch>
        </p:blipFill>
        <p:spPr>
          <a:xfrm>
            <a:off x="1952625" y="923925"/>
            <a:ext cx="1800225" cy="3590925"/>
          </a:xfrm>
          <a:prstGeom prst="rect">
            <a:avLst/>
          </a:prstGeom>
        </p:spPr>
      </p:pic>
      <p:pic>
        <p:nvPicPr>
          <p:cNvPr id="42" name="connector-stage-02-to-03"/>
          <p:cNvPicPr>
            <a:picLocks noChangeAspect="1"/>
          </p:cNvPicPr>
          <p:nvPr/>
        </p:nvPicPr>
        <p:blipFill>
          <a:blip r:embed="rId6"/>
          <a:srcRect t="862" b="862"/>
          <a:stretch>
            <a:fillRect/>
          </a:stretch>
        </p:blipFill>
        <p:spPr>
          <a:xfrm>
            <a:off x="3752850" y="1076325"/>
            <a:ext cx="285750" cy="361950"/>
          </a:xfrm>
          <a:prstGeom prst="rect">
            <a:avLst/>
          </a:prstGeom>
        </p:spPr>
      </p:pic>
      <p:pic>
        <p:nvPicPr>
          <p:cNvPr id="43" name="stage-03-kernel-and-test-generation"/>
          <p:cNvPicPr>
            <a:picLocks noChangeAspect="1"/>
          </p:cNvPicPr>
          <p:nvPr/>
        </p:nvPicPr>
        <p:blipFill>
          <a:blip r:embed="rId7"/>
          <a:srcRect l="177" t="88" r="177"/>
          <a:stretch>
            <a:fillRect/>
          </a:stretch>
        </p:blipFill>
        <p:spPr>
          <a:xfrm>
            <a:off x="4022090" y="937895"/>
            <a:ext cx="1790700" cy="3590925"/>
          </a:xfrm>
          <a:prstGeom prst="rect">
            <a:avLst/>
          </a:prstGeom>
        </p:spPr>
      </p:pic>
      <p:pic>
        <p:nvPicPr>
          <p:cNvPr id="45" name="stage-04-correctness-validation"/>
          <p:cNvPicPr>
            <a:picLocks noChangeAspect="1"/>
          </p:cNvPicPr>
          <p:nvPr/>
        </p:nvPicPr>
        <p:blipFill>
          <a:blip r:embed="rId8"/>
          <a:srcRect t="88" r="156"/>
          <a:stretch>
            <a:fillRect/>
          </a:stretch>
        </p:blipFill>
        <p:spPr>
          <a:xfrm>
            <a:off x="5905500" y="923925"/>
            <a:ext cx="2028825" cy="3590925"/>
          </a:xfrm>
          <a:prstGeom prst="rect">
            <a:avLst/>
          </a:prstGeom>
        </p:spPr>
      </p:pic>
      <p:pic>
        <p:nvPicPr>
          <p:cNvPr id="47" name="stage-05-performance-optimization"/>
          <p:cNvPicPr>
            <a:picLocks noChangeAspect="1"/>
          </p:cNvPicPr>
          <p:nvPr/>
        </p:nvPicPr>
        <p:blipFill>
          <a:blip r:embed="rId9"/>
          <a:srcRect l="146" t="88" r="146"/>
          <a:stretch>
            <a:fillRect/>
          </a:stretch>
        </p:blipFill>
        <p:spPr>
          <a:xfrm>
            <a:off x="8067675" y="923925"/>
            <a:ext cx="2171700" cy="3590925"/>
          </a:xfrm>
          <a:prstGeom prst="rect">
            <a:avLst/>
          </a:prstGeom>
        </p:spPr>
      </p:pic>
      <p:pic>
        <p:nvPicPr>
          <p:cNvPr id="48" name="connector-stage-05-to-06"/>
          <p:cNvPicPr>
            <a:picLocks noChangeAspect="1"/>
          </p:cNvPicPr>
          <p:nvPr/>
        </p:nvPicPr>
        <p:blipFill>
          <a:blip r:embed="rId10"/>
          <a:srcRect l="1351" t="862" r="1351" b="862"/>
          <a:stretch>
            <a:fillRect/>
          </a:stretch>
        </p:blipFill>
        <p:spPr>
          <a:xfrm>
            <a:off x="10239375" y="1076325"/>
            <a:ext cx="228600" cy="361950"/>
          </a:xfrm>
          <a:prstGeom prst="rect">
            <a:avLst/>
          </a:prstGeom>
        </p:spPr>
      </p:pic>
      <p:pic>
        <p:nvPicPr>
          <p:cNvPr id="49" name="stage-06-final-delivery"/>
          <p:cNvPicPr>
            <a:picLocks noChangeAspect="1"/>
          </p:cNvPicPr>
          <p:nvPr/>
        </p:nvPicPr>
        <p:blipFill>
          <a:blip r:embed="rId11"/>
          <a:srcRect t="88" r="195"/>
          <a:stretch>
            <a:fillRect/>
          </a:stretch>
        </p:blipFill>
        <p:spPr>
          <a:xfrm>
            <a:off x="10458450" y="923925"/>
            <a:ext cx="1628775" cy="3590925"/>
          </a:xfrm>
          <a:prstGeom prst="rect">
            <a:avLst/>
          </a:prstGeom>
        </p:spPr>
      </p:pic>
      <p:sp>
        <p:nvSpPr>
          <p:cNvPr id="12" name="slide-5-title"/>
          <p:cNvSpPr>
            <a:spLocks noGrp="1"/>
          </p:cNvSpPr>
          <p:nvPr/>
        </p:nvSpPr>
        <p:spPr>
          <a:xfrm>
            <a:off x="1559560" y="188595"/>
            <a:ext cx="8953500" cy="495300"/>
          </a:xfrm>
          <a:prstGeom prst="rect">
            <a:avLst/>
          </a:prstGeom>
          <a:solidFill>
            <a:srgbClr val="FFFFFF"/>
          </a:solidFill>
          <a:ln w="0">
            <a:noFill/>
            <a:prstDash val="solid"/>
          </a:ln>
        </p:spPr>
        <p:txBody>
          <a:bodyPr wrap="square" lIns="0" tIns="0" rIns="0" bIns="0" anchor="ctr">
            <a:normAutofit/>
          </a:bodyPr>
          <a:lstStyle/>
          <a:p>
            <a:pPr algn="l">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sz="2700" b="1">
                <a:solidFill>
                  <a:srgbClr val="072A67"/>
                </a:solidFill>
                <a:latin typeface="微软雅黑" panose="020B0503020204020204" charset="-122"/>
                <a:ea typeface="微软雅黑" panose="020B0503020204020204" charset="-122"/>
                <a:cs typeface="微软雅黑" panose="020B0503020204020204" charset="-122"/>
              </a:rPr>
              <a:t>开发一个算子的</a:t>
            </a:r>
            <a:r>
              <a:rPr sz="2700" b="1">
                <a:solidFill>
                  <a:srgbClr val="072A67"/>
                </a:solidFill>
                <a:latin typeface="微软雅黑" panose="020B0503020204020204" charset="-122"/>
                <a:ea typeface="微软雅黑" panose="020B0503020204020204" charset="-122"/>
                <a:cs typeface="微软雅黑" panose="020B0503020204020204" charset="-122"/>
              </a:rPr>
              <a:t>流程</a:t>
            </a:r>
            <a:r>
              <a:rPr lang="zh-CN" sz="2700" b="1">
                <a:solidFill>
                  <a:srgbClr val="072A67"/>
                </a:solidFill>
                <a:latin typeface="微软雅黑" panose="020B0503020204020204" charset="-122"/>
                <a:ea typeface="微软雅黑" panose="020B0503020204020204" charset="-122"/>
                <a:cs typeface="微软雅黑" panose="020B0503020204020204" charset="-122"/>
              </a:rPr>
              <a:t>：</a:t>
            </a:r>
          </a:p>
        </p:txBody>
      </p:sp>
      <p:sp>
        <p:nvSpPr>
          <p:cNvPr id="14" name="measurement-section-frame"/>
          <p:cNvSpPr>
            <a:spLocks noGrp="1"/>
          </p:cNvSpPr>
          <p:nvPr/>
        </p:nvSpPr>
        <p:spPr>
          <a:xfrm>
            <a:off x="152400" y="4581525"/>
            <a:ext cx="11925300" cy="1666875"/>
          </a:xfrm>
          <a:prstGeom prst="roundRect">
            <a:avLst>
              <a:gd name="adj" fmla="val 4571"/>
            </a:avLst>
          </a:prstGeom>
          <a:solidFill>
            <a:srgbClr val="FFFFFF"/>
          </a:solidFill>
          <a:ln w="9525">
            <a:solidFill>
              <a:srgbClr val="8EB8F4"/>
            </a:solidFill>
            <a:prstDash val="solid"/>
          </a:ln>
        </p:spPr>
        <p:txBody>
          <a:bodyPr wrap="square" lIns="0" tIns="0" rIns="0" bIns="0" anchor="ctr">
            <a:normAutofit/>
          </a:bodyPr>
          <a:lstStyle/>
          <a:p>
            <a:endParaRPr/>
          </a:p>
        </p:txBody>
      </p:sp>
      <p:sp>
        <p:nvSpPr>
          <p:cNvPr id="15" name="measurement-title"/>
          <p:cNvSpPr>
            <a:spLocks noGrp="1"/>
          </p:cNvSpPr>
          <p:nvPr/>
        </p:nvSpPr>
        <p:spPr>
          <a:xfrm>
            <a:off x="335280" y="4615180"/>
            <a:ext cx="4667250" cy="314325"/>
          </a:xfrm>
          <a:prstGeom prst="rect">
            <a:avLst/>
          </a:prstGeom>
          <a:noFill/>
          <a:ln w="0">
            <a:noFill/>
            <a:prstDash val="solid"/>
          </a:ln>
        </p:spPr>
        <p:txBody>
          <a:bodyPr wrap="square" lIns="0" tIns="0" rIns="0" bIns="0" anchor="ctr">
            <a:normAutofit/>
          </a:bodyPr>
          <a:lstStyle/>
          <a:p>
            <a:pPr algn="l">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275" b="1">
                <a:solidFill>
                  <a:srgbClr val="0A3B88"/>
                </a:solidFill>
                <a:latin typeface="微软雅黑" panose="020B0503020204020204" charset="-122"/>
                <a:ea typeface="微软雅黑" panose="020B0503020204020204" charset="-122"/>
                <a:cs typeface="微软雅黑" panose="020B0503020204020204" charset="-122"/>
              </a:rPr>
              <a:t>已开发算子实测：开发效率与最终性能</a:t>
            </a:r>
          </a:p>
        </p:txBody>
      </p:sp>
      <p:sp>
        <p:nvSpPr>
          <p:cNvPr id="16" name="speedup-label"/>
          <p:cNvSpPr>
            <a:spLocks noGrp="1"/>
          </p:cNvSpPr>
          <p:nvPr/>
        </p:nvSpPr>
        <p:spPr>
          <a:xfrm>
            <a:off x="8858250" y="4981575"/>
            <a:ext cx="800100" cy="295275"/>
          </a:xfrm>
          <a:prstGeom prst="rect">
            <a:avLst/>
          </a:prstGeom>
          <a:noFill/>
          <a:ln w="0">
            <a:noFill/>
            <a:prstDash val="solid"/>
          </a:ln>
        </p:spPr>
        <p:txBody>
          <a:bodyPr wrap="square" lIns="0" tIns="0" rIns="0" bIns="0" anchor="ctr">
            <a:normAutofit/>
          </a:bodyPr>
          <a:lstStyle/>
          <a:p>
            <a:pPr algn="l">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15" b="1" dirty="0" err="1">
                <a:solidFill>
                  <a:srgbClr val="10244D"/>
                </a:solidFill>
                <a:latin typeface="微软雅黑" panose="020B0503020204020204" charset="-122"/>
                <a:ea typeface="微软雅黑" panose="020B0503020204020204" charset="-122"/>
                <a:cs typeface="微软雅黑" panose="020B0503020204020204" charset="-122"/>
              </a:rPr>
              <a:t>加速比</a:t>
            </a:r>
            <a:r>
              <a:rPr sz="1015" b="1" dirty="0">
                <a:solidFill>
                  <a:srgbClr val="10244D"/>
                </a:solidFill>
                <a:latin typeface="微软雅黑" panose="020B0503020204020204" charset="-122"/>
                <a:ea typeface="微软雅黑" panose="020B0503020204020204" charset="-122"/>
                <a:cs typeface="微软雅黑" panose="020B0503020204020204" charset="-122"/>
              </a:rPr>
              <a:t> =</a:t>
            </a:r>
          </a:p>
        </p:txBody>
      </p:sp>
      <p:sp>
        <p:nvSpPr>
          <p:cNvPr id="17" name="speedup-formula"/>
          <p:cNvSpPr>
            <a:spLocks noGrp="1"/>
          </p:cNvSpPr>
          <p:nvPr/>
        </p:nvSpPr>
        <p:spPr>
          <a:xfrm>
            <a:off x="9629775" y="4981575"/>
            <a:ext cx="2238375" cy="295275"/>
          </a:xfrm>
          <a:prstGeom prst="rect">
            <a:avLst/>
          </a:prstGeom>
          <a:noFill/>
          <a:ln w="0">
            <a:noFill/>
            <a:prstDash val="solid"/>
          </a:ln>
        </p:spPr>
        <p:txBody>
          <a:bodyPr wrap="square" lIns="0" tIns="0" rIns="0" bIns="0" anchor="ctr">
            <a:normAutofit/>
          </a:bodyPr>
          <a:lstStyle/>
          <a:p>
            <a:pPr algn="l">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940" b="1" dirty="0" err="1">
                <a:solidFill>
                  <a:srgbClr val="101B31"/>
                </a:solidFill>
                <a:latin typeface="微软雅黑" panose="020B0503020204020204" charset="-122"/>
                <a:ea typeface="微软雅黑" panose="020B0503020204020204" charset="-122"/>
                <a:cs typeface="微软雅黑" panose="020B0503020204020204" charset="-122"/>
              </a:rPr>
              <a:t>平台基线耗时</a:t>
            </a:r>
            <a:r>
              <a:rPr sz="940" b="1" dirty="0">
                <a:solidFill>
                  <a:srgbClr val="101B31"/>
                </a:solidFill>
                <a:latin typeface="微软雅黑" panose="020B0503020204020204" charset="-122"/>
                <a:ea typeface="微软雅黑" panose="020B0503020204020204" charset="-122"/>
                <a:cs typeface="微软雅黑" panose="020B0503020204020204" charset="-122"/>
              </a:rPr>
              <a:t> / </a:t>
            </a:r>
            <a:r>
              <a:rPr sz="940" b="1" dirty="0" err="1">
                <a:solidFill>
                  <a:srgbClr val="101B31"/>
                </a:solidFill>
                <a:latin typeface="微软雅黑" panose="020B0503020204020204" charset="-122"/>
                <a:ea typeface="微软雅黑" panose="020B0503020204020204" charset="-122"/>
                <a:cs typeface="微软雅黑" panose="020B0503020204020204" charset="-122"/>
              </a:rPr>
              <a:t>优化后</a:t>
            </a:r>
            <a:r>
              <a:rPr sz="940" b="1" dirty="0">
                <a:solidFill>
                  <a:srgbClr val="101B31"/>
                </a:solidFill>
                <a:latin typeface="微软雅黑" panose="020B0503020204020204" charset="-122"/>
                <a:ea typeface="微软雅黑" panose="020B0503020204020204" charset="-122"/>
                <a:cs typeface="微软雅黑" panose="020B0503020204020204" charset="-122"/>
              </a:rPr>
              <a:t> Kernel </a:t>
            </a:r>
            <a:r>
              <a:rPr sz="940" b="1" dirty="0" err="1">
                <a:solidFill>
                  <a:srgbClr val="101B31"/>
                </a:solidFill>
                <a:latin typeface="微软雅黑" panose="020B0503020204020204" charset="-122"/>
                <a:ea typeface="微软雅黑" panose="020B0503020204020204" charset="-122"/>
                <a:cs typeface="微软雅黑" panose="020B0503020204020204" charset="-122"/>
              </a:rPr>
              <a:t>耗时</a:t>
            </a:r>
            <a:endParaRPr sz="940" b="1" dirty="0">
              <a:solidFill>
                <a:srgbClr val="101B31"/>
              </a:solidFill>
              <a:latin typeface="微软雅黑" panose="020B0503020204020204" charset="-122"/>
              <a:ea typeface="微软雅黑" panose="020B0503020204020204" charset="-122"/>
              <a:cs typeface="微软雅黑" panose="020B0503020204020204" charset="-122"/>
            </a:endParaRPr>
          </a:p>
        </p:txBody>
      </p:sp>
      <p:sp>
        <p:nvSpPr>
          <p:cNvPr id="18" name="development-time-label"/>
          <p:cNvSpPr>
            <a:spLocks noGrp="1"/>
          </p:cNvSpPr>
          <p:nvPr/>
        </p:nvSpPr>
        <p:spPr>
          <a:xfrm>
            <a:off x="8858250" y="5486400"/>
            <a:ext cx="895350" cy="295275"/>
          </a:xfrm>
          <a:prstGeom prst="rect">
            <a:avLst/>
          </a:prstGeom>
          <a:noFill/>
          <a:ln w="0">
            <a:noFill/>
            <a:prstDash val="solid"/>
          </a:ln>
        </p:spPr>
        <p:txBody>
          <a:bodyPr wrap="square" lIns="0" tIns="0" rIns="0" bIns="0" anchor="ctr">
            <a:normAutofit/>
          </a:bodyPr>
          <a:lstStyle/>
          <a:p>
            <a:pPr algn="l">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15" b="1" dirty="0" err="1">
                <a:solidFill>
                  <a:srgbClr val="10244D"/>
                </a:solidFill>
                <a:latin typeface="微软雅黑" panose="020B0503020204020204" charset="-122"/>
                <a:ea typeface="微软雅黑" panose="020B0503020204020204" charset="-122"/>
                <a:cs typeface="微软雅黑" panose="020B0503020204020204" charset="-122"/>
              </a:rPr>
              <a:t>开发耗时</a:t>
            </a:r>
            <a:r>
              <a:rPr sz="1015" b="1" dirty="0">
                <a:solidFill>
                  <a:srgbClr val="10244D"/>
                </a:solidFill>
                <a:latin typeface="微软雅黑" panose="020B0503020204020204" charset="-122"/>
                <a:ea typeface="微软雅黑" panose="020B0503020204020204" charset="-122"/>
                <a:cs typeface="微软雅黑" panose="020B0503020204020204" charset="-122"/>
              </a:rPr>
              <a:t> =</a:t>
            </a:r>
          </a:p>
        </p:txBody>
      </p:sp>
      <p:sp>
        <p:nvSpPr>
          <p:cNvPr id="19" name="development-time-definition"/>
          <p:cNvSpPr>
            <a:spLocks noGrp="1"/>
          </p:cNvSpPr>
          <p:nvPr/>
        </p:nvSpPr>
        <p:spPr>
          <a:xfrm>
            <a:off x="9624695" y="5445125"/>
            <a:ext cx="2143125" cy="523875"/>
          </a:xfrm>
          <a:prstGeom prst="rect">
            <a:avLst/>
          </a:prstGeom>
          <a:noFill/>
          <a:ln w="0">
            <a:noFill/>
            <a:prstDash val="solid"/>
          </a:ln>
        </p:spPr>
        <p:txBody>
          <a:bodyPr wrap="square" lIns="0" tIns="0" rIns="0" bIns="0" anchor="ctr">
            <a:normAutofit/>
          </a:bodyPr>
          <a:lstStyle/>
          <a:p>
            <a:pPr algn="l">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940" b="1" dirty="0" err="1">
                <a:solidFill>
                  <a:srgbClr val="101B31"/>
                </a:solidFill>
                <a:latin typeface="微软雅黑" panose="020B0503020204020204" charset="-122"/>
                <a:ea typeface="微软雅黑" panose="020B0503020204020204" charset="-122"/>
                <a:cs typeface="微软雅黑" panose="020B0503020204020204" charset="-122"/>
              </a:rPr>
              <a:t>从需求提交到获得最终可用</a:t>
            </a:r>
            <a:endParaRPr sz="940" b="1" dirty="0">
              <a:solidFill>
                <a:srgbClr val="101B31"/>
              </a:solidFill>
              <a:latin typeface="微软雅黑" panose="020B0503020204020204" charset="-122"/>
              <a:ea typeface="微软雅黑" panose="020B0503020204020204" charset="-122"/>
              <a:cs typeface="微软雅黑" panose="020B0503020204020204" charset="-122"/>
            </a:endParaRPr>
          </a:p>
          <a:p>
            <a:pPr algn="l">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940" b="1" dirty="0">
                <a:solidFill>
                  <a:srgbClr val="101B31"/>
                </a:solidFill>
                <a:latin typeface="微软雅黑" panose="020B0503020204020204" charset="-122"/>
                <a:ea typeface="微软雅黑" panose="020B0503020204020204" charset="-122"/>
                <a:cs typeface="微软雅黑" panose="020B0503020204020204" charset="-122"/>
              </a:rPr>
              <a:t>Kernel </a:t>
            </a:r>
            <a:r>
              <a:rPr sz="940" b="1" dirty="0" err="1">
                <a:solidFill>
                  <a:srgbClr val="101B31"/>
                </a:solidFill>
                <a:latin typeface="微软雅黑" panose="020B0503020204020204" charset="-122"/>
                <a:ea typeface="微软雅黑" panose="020B0503020204020204" charset="-122"/>
                <a:cs typeface="微软雅黑" panose="020B0503020204020204" charset="-122"/>
              </a:rPr>
              <a:t>的端到端时间</a:t>
            </a:r>
            <a:endParaRPr sz="940" b="1" dirty="0">
              <a:solidFill>
                <a:srgbClr val="101B31"/>
              </a:solidFill>
              <a:latin typeface="微软雅黑" panose="020B0503020204020204" charset="-122"/>
              <a:ea typeface="微软雅黑" panose="020B0503020204020204" charset="-122"/>
              <a:cs typeface="微软雅黑" panose="020B0503020204020204" charset="-122"/>
            </a:endParaRPr>
          </a:p>
        </p:txBody>
      </p:sp>
      <p:graphicFrame>
        <p:nvGraphicFramePr>
          <p:cNvPr id="58" name="operator-measurement-table"/>
          <p:cNvGraphicFramePr/>
          <p:nvPr>
            <p:extLst>
              <p:ext uri="{D42A27DB-BD31-4B8C-83A1-F6EECF244321}">
                <p14:modId xmlns:p14="http://schemas.microsoft.com/office/powerpoint/2010/main" val="4225464845"/>
              </p:ext>
            </p:extLst>
          </p:nvPr>
        </p:nvGraphicFramePr>
        <p:xfrm>
          <a:off x="390525" y="4962525"/>
          <a:ext cx="7620000" cy="1200152"/>
        </p:xfrm>
        <a:graphic>
          <a:graphicData uri="http://schemas.openxmlformats.org/drawingml/2006/table">
            <a:tbl>
              <a:tblPr firstRow="1"/>
              <a:tblGrid>
                <a:gridCol w="1476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300038">
                <a:tc>
                  <a:txBody>
                    <a:bodyPr/>
                    <a:lstStyle/>
                    <a:p>
                      <a:pPr algn="ctr">
                        <a:buNone/>
                      </a:pPr>
                      <a:r>
                        <a:rPr sz="975" b="1">
                          <a:solidFill>
                            <a:srgbClr val="FFFFFF"/>
                          </a:solidFill>
                          <a:latin typeface="微软雅黑" panose="020B0503020204020204" charset="-122"/>
                          <a:ea typeface="微软雅黑" panose="020B0503020204020204" charset="-122"/>
                          <a:cs typeface="微软雅黑" panose="020B0503020204020204" charset="-122"/>
                        </a:rPr>
                        <a:t>算子</a:t>
                      </a:r>
                    </a:p>
                  </a:txBody>
                  <a:tcPr marL="38100" marR="38100" marT="19050" marB="19050" anchor="ctr">
                    <a:solidFill>
                      <a:srgbClr val="073F8D"/>
                    </a:solidFill>
                  </a:tcPr>
                </a:tc>
                <a:tc>
                  <a:txBody>
                    <a:bodyPr/>
                    <a:lstStyle/>
                    <a:p>
                      <a:pPr algn="ctr">
                        <a:buNone/>
                      </a:pPr>
                      <a:r>
                        <a:rPr lang="zh-CN" altLang="en-US" sz="975" b="1" dirty="0" smtClean="0">
                          <a:solidFill>
                            <a:srgbClr val="FFFFFF"/>
                          </a:solidFill>
                          <a:latin typeface="微软雅黑" panose="020B0503020204020204" charset="-122"/>
                          <a:ea typeface="微软雅黑" panose="020B0503020204020204" charset="-122"/>
                          <a:cs typeface="微软雅黑" panose="020B0503020204020204" charset="-122"/>
                        </a:rPr>
                        <a:t>误差</a:t>
                      </a:r>
                      <a:endParaRPr sz="975" b="1" dirty="0">
                        <a:solidFill>
                          <a:srgbClr val="FFFFFF"/>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073F8D"/>
                    </a:solidFill>
                  </a:tcPr>
                </a:tc>
                <a:tc>
                  <a:txBody>
                    <a:bodyPr/>
                    <a:lstStyle/>
                    <a:p>
                      <a:pPr algn="ctr">
                        <a:buNone/>
                      </a:pPr>
                      <a:r>
                        <a:rPr sz="975" b="1">
                          <a:solidFill>
                            <a:srgbClr val="FFFFFF"/>
                          </a:solidFill>
                          <a:latin typeface="微软雅黑" panose="020B0503020204020204" charset="-122"/>
                          <a:ea typeface="微软雅黑" panose="020B0503020204020204" charset="-122"/>
                          <a:cs typeface="微软雅黑" panose="020B0503020204020204" charset="-122"/>
                        </a:rPr>
                        <a:t>相对基线加速比</a:t>
                      </a:r>
                    </a:p>
                  </a:txBody>
                  <a:tcPr marL="38100" marR="38100" marT="19050" marB="19050" anchor="ctr">
                    <a:solidFill>
                      <a:srgbClr val="073F8D"/>
                    </a:solidFill>
                  </a:tcPr>
                </a:tc>
                <a:tc>
                  <a:txBody>
                    <a:bodyPr/>
                    <a:lstStyle/>
                    <a:p>
                      <a:pPr algn="ctr">
                        <a:buNone/>
                      </a:pPr>
                      <a:r>
                        <a:rPr sz="975" b="1">
                          <a:solidFill>
                            <a:srgbClr val="FFFFFF"/>
                          </a:solidFill>
                          <a:latin typeface="微软雅黑" panose="020B0503020204020204" charset="-122"/>
                          <a:ea typeface="微软雅黑" panose="020B0503020204020204" charset="-122"/>
                          <a:cs typeface="微软雅黑" panose="020B0503020204020204" charset="-122"/>
                        </a:rPr>
                        <a:t>开发耗时</a:t>
                      </a:r>
                    </a:p>
                  </a:txBody>
                  <a:tcPr marL="38100" marR="38100" marT="19050" marB="19050" anchor="ctr">
                    <a:solidFill>
                      <a:srgbClr val="073F8D"/>
                    </a:solidFill>
                  </a:tcPr>
                </a:tc>
                <a:tc>
                  <a:txBody>
                    <a:bodyPr/>
                    <a:lstStyle/>
                    <a:p>
                      <a:pPr algn="ctr">
                        <a:buNone/>
                      </a:pPr>
                      <a:r>
                        <a:rPr lang="zh-CN" altLang="en-US" sz="975" b="1" dirty="0" smtClean="0">
                          <a:solidFill>
                            <a:srgbClr val="FFFFFF"/>
                          </a:solidFill>
                          <a:latin typeface="微软雅黑" panose="020B0503020204020204" charset="-122"/>
                          <a:ea typeface="微软雅黑" panose="020B0503020204020204" charset="-122"/>
                          <a:cs typeface="微软雅黑" panose="020B0503020204020204" charset="-122"/>
                        </a:rPr>
                        <a:t>运行时间</a:t>
                      </a:r>
                      <a:endParaRPr sz="975" b="1" dirty="0">
                        <a:solidFill>
                          <a:srgbClr val="FFFFFF"/>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073F8D"/>
                    </a:solidFill>
                  </a:tcPr>
                </a:tc>
                <a:extLst>
                  <a:ext uri="{0D108BD9-81ED-4DB2-BD59-A6C34878D82A}">
                    <a16:rowId xmlns:a16="http://schemas.microsoft.com/office/drawing/2014/main" val="10000"/>
                  </a:ext>
                </a:extLst>
              </a:tr>
              <a:tr h="300038">
                <a:tc>
                  <a:txBody>
                    <a:bodyPr/>
                    <a:lstStyle/>
                    <a:p>
                      <a:pPr algn="ctr">
                        <a:buNone/>
                      </a:pPr>
                      <a:r>
                        <a:rPr sz="940" b="0">
                          <a:solidFill>
                            <a:srgbClr val="102B61"/>
                          </a:solidFill>
                          <a:latin typeface="微软雅黑" panose="020B0503020204020204" charset="-122"/>
                          <a:ea typeface="微软雅黑" panose="020B0503020204020204" charset="-122"/>
                          <a:cs typeface="微软雅黑" panose="020B0503020204020204" charset="-122"/>
                        </a:rPr>
                        <a:t>LayerNorm</a:t>
                      </a: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1</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e-6</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0.86</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3</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h33m</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0.175</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ms</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extLst>
                  <a:ext uri="{0D108BD9-81ED-4DB2-BD59-A6C34878D82A}">
                    <a16:rowId xmlns:a16="http://schemas.microsoft.com/office/drawing/2014/main" val="10001"/>
                  </a:ext>
                </a:extLst>
              </a:tr>
              <a:tr h="300038">
                <a:tc>
                  <a:txBody>
                    <a:bodyPr/>
                    <a:lstStyle/>
                    <a:p>
                      <a:pPr algn="ctr">
                        <a:buNone/>
                      </a:pPr>
                      <a:r>
                        <a:rPr sz="940" b="0">
                          <a:solidFill>
                            <a:srgbClr val="102B61"/>
                          </a:solidFill>
                          <a:latin typeface="微软雅黑" panose="020B0503020204020204" charset="-122"/>
                          <a:ea typeface="微软雅黑" panose="020B0503020204020204" charset="-122"/>
                          <a:cs typeface="微软雅黑" panose="020B0503020204020204" charset="-122"/>
                        </a:rPr>
                        <a:t>Softmax</a:t>
                      </a:r>
                    </a:p>
                  </a:txBody>
                  <a:tcPr marL="38100" marR="38100" marT="19050" marB="19050" anchor="ctr">
                    <a:solidFill>
                      <a:srgbClr val="F8FBFF"/>
                    </a:solidFill>
                  </a:tcPr>
                </a:tc>
                <a:tc>
                  <a:txBody>
                    <a:bodyPr/>
                    <a:lstStyle/>
                    <a:p>
                      <a:pPr algn="ctr">
                        <a:buNone/>
                      </a:pPr>
                      <a:r>
                        <a:rPr sz="940" b="0">
                          <a:solidFill>
                            <a:srgbClr val="102B61"/>
                          </a:solidFill>
                          <a:latin typeface="微软雅黑" panose="020B0503020204020204" charset="-122"/>
                          <a:ea typeface="微软雅黑" panose="020B0503020204020204" charset="-122"/>
                          <a:cs typeface="微软雅黑" panose="020B0503020204020204" charset="-122"/>
                        </a:rPr>
                        <a:t>待补</a:t>
                      </a: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1.23</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2</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h</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0.086</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ms</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extLst>
                  <a:ext uri="{0D108BD9-81ED-4DB2-BD59-A6C34878D82A}">
                    <a16:rowId xmlns:a16="http://schemas.microsoft.com/office/drawing/2014/main" val="10002"/>
                  </a:ext>
                </a:extLst>
              </a:tr>
              <a:tr h="300038">
                <a:tc>
                  <a:txBody>
                    <a:bodyPr/>
                    <a:lstStyle/>
                    <a:p>
                      <a:pPr algn="ctr">
                        <a:buNone/>
                      </a:pPr>
                      <a:r>
                        <a:rPr sz="940" b="0">
                          <a:solidFill>
                            <a:srgbClr val="102B61"/>
                          </a:solidFill>
                          <a:latin typeface="微软雅黑" panose="020B0503020204020204" charset="-122"/>
                          <a:ea typeface="微软雅黑" panose="020B0503020204020204" charset="-122"/>
                          <a:cs typeface="微软雅黑" panose="020B0503020204020204" charset="-122"/>
                        </a:rPr>
                        <a:t>MatMul</a:t>
                      </a:r>
                    </a:p>
                  </a:txBody>
                  <a:tcPr marL="38100" marR="38100" marT="19050" marB="19050" anchor="ctr">
                    <a:solidFill>
                      <a:srgbClr val="F8FBFF"/>
                    </a:solidFill>
                  </a:tcPr>
                </a:tc>
                <a:tc>
                  <a:txBody>
                    <a:bodyPr/>
                    <a:lstStyle/>
                    <a:p>
                      <a:pPr algn="ctr">
                        <a:buNone/>
                      </a:pPr>
                      <a:r>
                        <a:rPr sz="940" b="0">
                          <a:solidFill>
                            <a:srgbClr val="102B61"/>
                          </a:solidFill>
                          <a:latin typeface="微软雅黑" panose="020B0503020204020204" charset="-122"/>
                          <a:ea typeface="微软雅黑" panose="020B0503020204020204" charset="-122"/>
                          <a:cs typeface="微软雅黑" panose="020B0503020204020204" charset="-122"/>
                        </a:rPr>
                        <a:t>待补</a:t>
                      </a: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0.45</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2</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h55m</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tc>
                  <a:txBody>
                    <a:bodyPr/>
                    <a:lstStyle/>
                    <a:p>
                      <a:pPr algn="ctr">
                        <a:buNone/>
                      </a:pPr>
                      <a:r>
                        <a:rPr lang="en-US" sz="940" b="0" dirty="0" smtClean="0">
                          <a:solidFill>
                            <a:srgbClr val="102B61"/>
                          </a:solidFill>
                          <a:latin typeface="微软雅黑" panose="020B0503020204020204" charset="-122"/>
                          <a:ea typeface="微软雅黑" panose="020B0503020204020204" charset="-122"/>
                          <a:cs typeface="微软雅黑" panose="020B0503020204020204" charset="-122"/>
                        </a:rPr>
                        <a:t>11.84</a:t>
                      </a:r>
                      <a:r>
                        <a:rPr lang="en-US" altLang="zh-CN" sz="940" b="0" dirty="0" smtClean="0">
                          <a:solidFill>
                            <a:srgbClr val="102B61"/>
                          </a:solidFill>
                          <a:latin typeface="微软雅黑" panose="020B0503020204020204" charset="-122"/>
                          <a:ea typeface="微软雅黑" panose="020B0503020204020204" charset="-122"/>
                          <a:cs typeface="微软雅黑" panose="020B0503020204020204" charset="-122"/>
                        </a:rPr>
                        <a:t>ms</a:t>
                      </a:r>
                      <a:endParaRPr sz="940" b="0" dirty="0">
                        <a:solidFill>
                          <a:srgbClr val="102B61"/>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8FBFF"/>
                    </a:solidFill>
                  </a:tcPr>
                </a:tc>
                <a:extLst>
                  <a:ext uri="{0D108BD9-81ED-4DB2-BD59-A6C34878D82A}">
                    <a16:rowId xmlns:a16="http://schemas.microsoft.com/office/drawing/2014/main" val="10003"/>
                  </a:ext>
                </a:extLst>
              </a:tr>
            </a:tbl>
          </a:graphicData>
        </a:graphic>
      </p:graphicFrame>
      <p:sp>
        <p:nvSpPr>
          <p:cNvPr id="21" name="slide-5-editable-footer"/>
          <p:cNvSpPr>
            <a:spLocks noGrp="1"/>
          </p:cNvSpPr>
          <p:nvPr/>
        </p:nvSpPr>
        <p:spPr>
          <a:xfrm>
            <a:off x="152400" y="6334125"/>
            <a:ext cx="11925300" cy="466725"/>
          </a:xfrm>
          <a:prstGeom prst="roundRect">
            <a:avLst>
              <a:gd name="adj" fmla="val 12245"/>
            </a:avLst>
          </a:prstGeom>
          <a:solidFill>
            <a:srgbClr val="EEF4FE"/>
          </a:solidFill>
          <a:ln w="0">
            <a:solidFill>
              <a:srgbClr val="EEF4FE"/>
            </a:solidFill>
            <a:prstDash val="solid"/>
          </a:ln>
        </p:spPr>
        <p:txBody>
          <a:bodyPr wrap="square" lIns="133350" tIns="28575" rIns="133350" bIns="28575" anchor="ctr">
            <a:normAutofit/>
          </a:bodyPr>
          <a:lstStyle/>
          <a:p>
            <a:pPr algn="ctr">
              <a:buNone/>
              <a:defRPr sz="109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072A67"/>
                </a:solidFill>
                <a:latin typeface="微软雅黑" panose="020B0503020204020204" charset="-122"/>
                <a:ea typeface="微软雅黑" panose="020B0503020204020204" charset="-122"/>
                <a:cs typeface="微软雅黑" panose="020B0503020204020204" charset="-122"/>
              </a:rPr>
              <a:t>原 Skill 通过阶段输入输出、正确性</a:t>
            </a:r>
            <a:r>
              <a:rPr lang="zh-CN" sz="1600" b="1">
                <a:solidFill>
                  <a:srgbClr val="072A67"/>
                </a:solidFill>
                <a:latin typeface="微软雅黑" panose="020B0503020204020204" charset="-122"/>
                <a:ea typeface="微软雅黑" panose="020B0503020204020204" charset="-122"/>
                <a:cs typeface="微软雅黑" panose="020B0503020204020204" charset="-122"/>
              </a:rPr>
              <a:t>验证</a:t>
            </a:r>
            <a:r>
              <a:rPr sz="1600" b="1">
                <a:solidFill>
                  <a:srgbClr val="072A67"/>
                </a:solidFill>
                <a:latin typeface="微软雅黑" panose="020B0503020204020204" charset="-122"/>
                <a:ea typeface="微软雅黑" panose="020B0503020204020204" charset="-122"/>
                <a:cs typeface="微软雅黑" panose="020B0503020204020204" charset="-122"/>
              </a:rPr>
              <a:t>和性能优化循环，将需求逐步转化为最终 Kernel。</a:t>
            </a:r>
          </a:p>
        </p:txBody>
      </p:sp>
      <p:pic>
        <p:nvPicPr>
          <p:cNvPr id="63" name="footer-check-icon"/>
          <p:cNvPicPr>
            <a:picLocks noChangeAspect="1"/>
          </p:cNvPicPr>
          <p:nvPr/>
        </p:nvPicPr>
        <p:blipFill>
          <a:blip r:embed="rId12"/>
          <a:srcRect t="781" r="735" b="781"/>
          <a:stretch>
            <a:fillRect/>
          </a:stretch>
        </p:blipFill>
        <p:spPr>
          <a:xfrm>
            <a:off x="1847850" y="6372225"/>
            <a:ext cx="428625" cy="400050"/>
          </a:xfrm>
          <a:prstGeom prst="rect">
            <a:avLst/>
          </a:prstGeom>
        </p:spPr>
      </p:pic>
      <p:pic>
        <p:nvPicPr>
          <p:cNvPr id="2" name="图片 1"/>
          <p:cNvPicPr>
            <a:picLocks noChangeAspect="1"/>
          </p:cNvPicPr>
          <p:nvPr/>
        </p:nvPicPr>
        <p:blipFill>
          <a:blip r:embed="rId13"/>
          <a:stretch>
            <a:fillRect/>
          </a:stretch>
        </p:blipFill>
        <p:spPr>
          <a:xfrm>
            <a:off x="10560685" y="1556385"/>
            <a:ext cx="1468120" cy="1790065"/>
          </a:xfrm>
          <a:prstGeom prst="rect">
            <a:avLst/>
          </a:prstGeom>
        </p:spPr>
      </p:pic>
      <p:pic>
        <p:nvPicPr>
          <p:cNvPr id="3" name="图片 2"/>
          <p:cNvPicPr>
            <a:picLocks noChangeAspect="1"/>
          </p:cNvPicPr>
          <p:nvPr/>
        </p:nvPicPr>
        <p:blipFill>
          <a:blip r:embed="rId14"/>
          <a:stretch>
            <a:fillRect/>
          </a:stretch>
        </p:blipFill>
        <p:spPr>
          <a:xfrm>
            <a:off x="10560685" y="3346450"/>
            <a:ext cx="1426210" cy="480060"/>
          </a:xfrm>
          <a:prstGeom prst="rect">
            <a:avLst/>
          </a:prstGeom>
        </p:spPr>
      </p:pic>
      <p:pic>
        <p:nvPicPr>
          <p:cNvPr id="4" name="title-separator-rule"/>
          <p:cNvPicPr>
            <a:picLocks noChangeAspect="1"/>
          </p:cNvPicPr>
          <p:nvPr/>
        </p:nvPicPr>
        <p:blipFill>
          <a:blip r:embed="rId15"/>
          <a:srcRect t="2941"/>
          <a:stretch>
            <a:fillRect/>
          </a:stretch>
        </p:blipFill>
        <p:spPr>
          <a:xfrm>
            <a:off x="252095" y="687705"/>
            <a:ext cx="11734800" cy="104775"/>
          </a:xfrm>
          <a:prstGeom prst="rect">
            <a:avLst/>
          </a:prstGeom>
        </p:spPr>
      </p:pic>
      <p:sp>
        <p:nvSpPr>
          <p:cNvPr id="5"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6-title"/>
          <p:cNvSpPr>
            <a:spLocks noGrp="1"/>
          </p:cNvSpPr>
          <p:nvPr/>
        </p:nvSpPr>
        <p:spPr>
          <a:xfrm>
            <a:off x="407670" y="188595"/>
            <a:ext cx="9953625" cy="457200"/>
          </a:xfrm>
          <a:prstGeom prst="rect">
            <a:avLst/>
          </a:prstGeom>
          <a:solidFill>
            <a:srgbClr val="FFFFFF"/>
          </a:solidFill>
          <a:ln w="0">
            <a:noFill/>
            <a:prstDash val="solid"/>
          </a:ln>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072A67"/>
                </a:solidFill>
                <a:latin typeface="微软雅黑" panose="020B0503020204020204" charset="-122"/>
                <a:ea typeface="微软雅黑" panose="020B0503020204020204" charset="-122"/>
                <a:cs typeface="微软雅黑" panose="020B0503020204020204" charset="-122"/>
              </a:rPr>
              <a:t>现有算子</a:t>
            </a:r>
            <a:r>
              <a:rPr sz="2550" b="1" dirty="0">
                <a:solidFill>
                  <a:srgbClr val="072A67"/>
                </a:solidFill>
                <a:latin typeface="微软雅黑" panose="020B0503020204020204" charset="-122"/>
                <a:ea typeface="微软雅黑" panose="020B0503020204020204" charset="-122"/>
                <a:cs typeface="微软雅黑" panose="020B0503020204020204" charset="-122"/>
              </a:rPr>
              <a:t> Skill 的</a:t>
            </a:r>
            <a:r>
              <a:rPr lang="zh-CN" sz="2550" b="1" dirty="0">
                <a:solidFill>
                  <a:srgbClr val="072A67"/>
                </a:solidFill>
                <a:latin typeface="微软雅黑" panose="020B0503020204020204" charset="-122"/>
                <a:ea typeface="微软雅黑" panose="020B0503020204020204" charset="-122"/>
                <a:cs typeface="微软雅黑" panose="020B0503020204020204" charset="-122"/>
              </a:rPr>
              <a:t>优势</a:t>
            </a:r>
            <a:r>
              <a:rPr sz="2550" b="1" dirty="0" err="1" smtClean="0">
                <a:solidFill>
                  <a:srgbClr val="072A67"/>
                </a:solidFill>
                <a:latin typeface="微软雅黑" panose="020B0503020204020204" charset="-122"/>
                <a:ea typeface="微软雅黑" panose="020B0503020204020204" charset="-122"/>
                <a:cs typeface="微软雅黑" panose="020B0503020204020204" charset="-122"/>
              </a:rPr>
              <a:t>与问题</a:t>
            </a:r>
            <a:endParaRPr sz="255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2" name="left-column-heading"/>
          <p:cNvSpPr>
            <a:spLocks noGrp="1"/>
          </p:cNvSpPr>
          <p:nvPr/>
        </p:nvSpPr>
        <p:spPr>
          <a:xfrm>
            <a:off x="1524000" y="1390650"/>
            <a:ext cx="4057650" cy="304800"/>
          </a:xfrm>
          <a:prstGeom prst="rect">
            <a:avLst/>
          </a:prstGeom>
          <a:noFill/>
          <a:ln w="0">
            <a:noFill/>
            <a:prstDash val="solid"/>
          </a:ln>
        </p:spPr>
        <p:txBody>
          <a:bodyPr wrap="square" lIns="0" tIns="0" rIns="0" bIns="0" anchor="ctr">
            <a:normAutofit/>
          </a:bodyPr>
          <a:lstStyle/>
          <a:p>
            <a:pPr algn="l">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008A50"/>
                </a:solidFill>
                <a:latin typeface="微软雅黑" panose="020B0503020204020204" charset="-122"/>
                <a:ea typeface="微软雅黑" panose="020B0503020204020204" charset="-122"/>
                <a:cs typeface="微软雅黑" panose="020B0503020204020204" charset="-122"/>
              </a:rPr>
              <a:t>三大</a:t>
            </a:r>
            <a:r>
              <a:rPr lang="zh-CN" sz="1400" dirty="0" smtClean="0">
                <a:solidFill>
                  <a:srgbClr val="008A50"/>
                </a:solidFill>
                <a:latin typeface="微软雅黑" panose="020B0503020204020204" charset="-122"/>
                <a:ea typeface="微软雅黑" panose="020B0503020204020204" charset="-122"/>
                <a:cs typeface="微软雅黑" panose="020B0503020204020204" charset="-122"/>
              </a:rPr>
              <a:t>优势</a:t>
            </a:r>
            <a:endParaRPr lang="zh-CN" sz="1400" dirty="0">
              <a:solidFill>
                <a:srgbClr val="008A50"/>
              </a:solidFill>
              <a:latin typeface="微软雅黑" panose="020B0503020204020204" charset="-122"/>
              <a:ea typeface="微软雅黑" panose="020B0503020204020204" charset="-122"/>
              <a:cs typeface="微软雅黑" panose="020B0503020204020204" charset="-122"/>
            </a:endParaRPr>
          </a:p>
        </p:txBody>
      </p:sp>
      <p:sp>
        <p:nvSpPr>
          <p:cNvPr id="13" name="right-column-heading"/>
          <p:cNvSpPr>
            <a:spLocks noGrp="1"/>
          </p:cNvSpPr>
          <p:nvPr/>
        </p:nvSpPr>
        <p:spPr>
          <a:xfrm>
            <a:off x="7010400" y="1352550"/>
            <a:ext cx="4362450" cy="304800"/>
          </a:xfrm>
          <a:prstGeom prst="rect">
            <a:avLst/>
          </a:prstGeom>
          <a:noFill/>
          <a:ln w="0">
            <a:noFill/>
            <a:prstDash val="solid"/>
          </a:ln>
        </p:spPr>
        <p:txBody>
          <a:bodyPr wrap="square" lIns="0" tIns="0" rIns="0" bIns="0" anchor="ctr">
            <a:normAutofit/>
          </a:bodyPr>
          <a:lstStyle/>
          <a:p>
            <a:pPr algn="l">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0752A7"/>
                </a:solidFill>
                <a:latin typeface="微软雅黑" panose="020B0503020204020204" charset="-122"/>
                <a:ea typeface="微软雅黑" panose="020B0503020204020204" charset="-122"/>
                <a:cs typeface="微软雅黑" panose="020B0503020204020204" charset="-122"/>
              </a:rPr>
              <a:t>四个</a:t>
            </a:r>
            <a:r>
              <a:rPr sz="1400" dirty="0" err="1" smtClean="0">
                <a:solidFill>
                  <a:srgbClr val="0752A7"/>
                </a:solidFill>
                <a:latin typeface="微软雅黑" panose="020B0503020204020204" charset="-122"/>
                <a:ea typeface="微软雅黑" panose="020B0503020204020204" charset="-122"/>
                <a:cs typeface="微软雅黑" panose="020B0503020204020204" charset="-122"/>
              </a:rPr>
              <a:t>问题</a:t>
            </a:r>
            <a:endParaRPr sz="1400" dirty="0">
              <a:solidFill>
                <a:srgbClr val="0752A7"/>
              </a:solidFill>
              <a:latin typeface="微软雅黑" panose="020B0503020204020204" charset="-122"/>
              <a:ea typeface="微软雅黑" panose="020B0503020204020204" charset="-122"/>
              <a:cs typeface="微软雅黑" panose="020B0503020204020204" charset="-122"/>
            </a:endParaRPr>
          </a:p>
        </p:txBody>
      </p:sp>
      <p:sp>
        <p:nvSpPr>
          <p:cNvPr id="19" name="flow-identify-frame"/>
          <p:cNvSpPr>
            <a:spLocks noGrp="1"/>
          </p:cNvSpPr>
          <p:nvPr/>
        </p:nvSpPr>
        <p:spPr>
          <a:xfrm>
            <a:off x="2135505" y="5445125"/>
            <a:ext cx="6377305" cy="485140"/>
          </a:xfrm>
          <a:prstGeom prst="roundRect">
            <a:avLst>
              <a:gd name="adj" fmla="val 20000"/>
            </a:avLst>
          </a:prstGeom>
          <a:solidFill>
            <a:srgbClr val="F2F2FD"/>
          </a:solidFill>
          <a:ln w="9525">
            <a:solidFill>
              <a:srgbClr val="B8A8EB"/>
            </a:solidFill>
            <a:prstDash val="solid"/>
          </a:ln>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smtClean="0">
                <a:solidFill>
                  <a:srgbClr val="161B2B"/>
                </a:solidFill>
                <a:latin typeface="微软雅黑" panose="020B0503020204020204" charset="-122"/>
                <a:ea typeface="微软雅黑" panose="020B0503020204020204" charset="-122"/>
                <a:cs typeface="微软雅黑" panose="020B0503020204020204" charset="-122"/>
              </a:rPr>
              <a:t>算子</a:t>
            </a:r>
            <a:r>
              <a:rPr lang="zh-CN" sz="1400" dirty="0">
                <a:solidFill>
                  <a:srgbClr val="161B2B"/>
                </a:solidFill>
                <a:latin typeface="微软雅黑" panose="020B0503020204020204" charset="-122"/>
                <a:ea typeface="微软雅黑" panose="020B0503020204020204" charset="-122"/>
                <a:cs typeface="微软雅黑" panose="020B0503020204020204" charset="-122"/>
              </a:rPr>
              <a:t>开发指南结构</a:t>
            </a:r>
            <a:r>
              <a:rPr sz="1400" dirty="0">
                <a:solidFill>
                  <a:srgbClr val="161B2B"/>
                </a:solidFill>
                <a:latin typeface="微软雅黑" panose="020B0503020204020204" charset="-122"/>
                <a:ea typeface="微软雅黑" panose="020B0503020204020204" charset="-122"/>
                <a:cs typeface="微软雅黑" panose="020B0503020204020204" charset="-122"/>
              </a:rPr>
              <a:t>：</a:t>
            </a:r>
          </a:p>
        </p:txBody>
      </p:sp>
      <p:sp>
        <p:nvSpPr>
          <p:cNvPr id="21" name="flow-general-process"/>
          <p:cNvSpPr>
            <a:spLocks noGrp="1"/>
          </p:cNvSpPr>
          <p:nvPr/>
        </p:nvSpPr>
        <p:spPr>
          <a:xfrm>
            <a:off x="4876800" y="5589270"/>
            <a:ext cx="1438275" cy="276225"/>
          </a:xfrm>
          <a:prstGeom prst="roundRect">
            <a:avLst>
              <a:gd name="adj" fmla="val 17241"/>
            </a:avLst>
          </a:prstGeom>
          <a:solidFill>
            <a:srgbClr val="CFF0DB"/>
          </a:solidFill>
          <a:ln w="9525">
            <a:solidFill>
              <a:srgbClr val="7EC59A"/>
            </a:solidFill>
            <a:prstDash val="solid"/>
          </a:ln>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a:solidFill>
                  <a:srgbClr val="087242"/>
                </a:solidFill>
                <a:latin typeface="微软雅黑" panose="020B0503020204020204" charset="-122"/>
                <a:ea typeface="微软雅黑" panose="020B0503020204020204" charset="-122"/>
                <a:cs typeface="微软雅黑" panose="020B0503020204020204" charset="-122"/>
              </a:rPr>
              <a:t>通用开发流程</a:t>
            </a:r>
          </a:p>
        </p:txBody>
      </p:sp>
      <p:sp>
        <p:nvSpPr>
          <p:cNvPr id="22" name="flow-plus"/>
          <p:cNvSpPr>
            <a:spLocks noGrp="1"/>
          </p:cNvSpPr>
          <p:nvPr/>
        </p:nvSpPr>
        <p:spPr>
          <a:xfrm>
            <a:off x="6383655" y="5589270"/>
            <a:ext cx="304800" cy="295275"/>
          </a:xfrm>
          <a:prstGeom prst="rect">
            <a:avLst/>
          </a:prstGeom>
          <a:noFill/>
          <a:ln w="0">
            <a:noFill/>
            <a:prstDash val="solid"/>
          </a:ln>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1A1A1A"/>
                </a:solidFill>
                <a:latin typeface="微软雅黑" panose="020B0503020204020204" charset="-122"/>
                <a:ea typeface="微软雅黑" panose="020B0503020204020204" charset="-122"/>
                <a:cs typeface="微软雅黑" panose="020B0503020204020204" charset="-122"/>
              </a:rPr>
              <a:t>+</a:t>
            </a:r>
          </a:p>
        </p:txBody>
      </p:sp>
      <p:sp>
        <p:nvSpPr>
          <p:cNvPr id="23" name="flow-platform-knowledge"/>
          <p:cNvSpPr>
            <a:spLocks noGrp="1"/>
          </p:cNvSpPr>
          <p:nvPr/>
        </p:nvSpPr>
        <p:spPr>
          <a:xfrm>
            <a:off x="6743700" y="5589270"/>
            <a:ext cx="1371600" cy="276225"/>
          </a:xfrm>
          <a:prstGeom prst="roundRect">
            <a:avLst>
              <a:gd name="adj" fmla="val 17241"/>
            </a:avLst>
          </a:prstGeom>
          <a:solidFill>
            <a:srgbClr val="D9E7FF"/>
          </a:solidFill>
          <a:ln w="9525">
            <a:solidFill>
              <a:srgbClr val="8DB2F1"/>
            </a:solidFill>
            <a:prstDash val="solid"/>
          </a:ln>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a:solidFill>
                  <a:srgbClr val="124EA0"/>
                </a:solidFill>
                <a:latin typeface="微软雅黑" panose="020B0503020204020204" charset="-122"/>
                <a:ea typeface="微软雅黑" panose="020B0503020204020204" charset="-122"/>
                <a:cs typeface="微软雅黑" panose="020B0503020204020204" charset="-122"/>
              </a:rPr>
              <a:t>平台专属知识</a:t>
            </a:r>
          </a:p>
        </p:txBody>
      </p:sp>
      <p:sp>
        <p:nvSpPr>
          <p:cNvPr id="25" name="slide-6-editable-footer"/>
          <p:cNvSpPr>
            <a:spLocks noGrp="1"/>
          </p:cNvSpPr>
          <p:nvPr/>
        </p:nvSpPr>
        <p:spPr>
          <a:xfrm>
            <a:off x="219075" y="6248400"/>
            <a:ext cx="11753850" cy="523875"/>
          </a:xfrm>
          <a:prstGeom prst="roundRect">
            <a:avLst>
              <a:gd name="adj" fmla="val 10909"/>
            </a:avLst>
          </a:prstGeom>
          <a:solidFill>
            <a:srgbClr val="EEF4FE"/>
          </a:solidFill>
          <a:ln w="0">
            <a:solidFill>
              <a:srgbClr val="EEF4FE"/>
            </a:solidFill>
            <a:prstDash val="solid"/>
          </a:ln>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smtClean="0">
                <a:solidFill>
                  <a:srgbClr val="072A67"/>
                </a:solidFill>
                <a:latin typeface="微软雅黑" panose="020B0503020204020204" charset="-122"/>
                <a:ea typeface="微软雅黑" panose="020B0503020204020204" charset="-122"/>
                <a:cs typeface="微软雅黑" panose="020B0503020204020204" charset="-122"/>
              </a:rPr>
              <a:t> </a:t>
            </a:r>
            <a:r>
              <a:rPr sz="1015" b="1" dirty="0" err="1" smtClean="0">
                <a:solidFill>
                  <a:srgbClr val="072A67"/>
                </a:solidFill>
                <a:latin typeface="微软雅黑" panose="020B0503020204020204" charset="-122"/>
                <a:ea typeface="微软雅黑" panose="020B0503020204020204" charset="-122"/>
                <a:cs typeface="微软雅黑" panose="020B0503020204020204" charset="-122"/>
              </a:rPr>
              <a:t>从“开发算子</a:t>
            </a:r>
            <a:r>
              <a:rPr lang="en-US" sz="1015" b="1" dirty="0" err="1" smtClean="0">
                <a:solidFill>
                  <a:srgbClr val="072A67"/>
                </a:solidFill>
                <a:latin typeface="微软雅黑" panose="020B0503020204020204" charset="-122"/>
                <a:ea typeface="微软雅黑" panose="020B0503020204020204" charset="-122"/>
                <a:cs typeface="微软雅黑" panose="020B0503020204020204" charset="-122"/>
              </a:rPr>
              <a:t>Skill</a:t>
            </a:r>
            <a:r>
              <a:rPr sz="1015" b="1" dirty="0" err="1" smtClean="0">
                <a:solidFill>
                  <a:srgbClr val="072A67"/>
                </a:solidFill>
                <a:latin typeface="微软雅黑" panose="020B0503020204020204" charset="-122"/>
                <a:ea typeface="微软雅黑" panose="020B0503020204020204" charset="-122"/>
                <a:cs typeface="微软雅黑" panose="020B0503020204020204" charset="-122"/>
              </a:rPr>
              <a:t>”进一步到“</a:t>
            </a:r>
            <a:r>
              <a:rPr sz="1015" b="1" dirty="0" err="1">
                <a:solidFill>
                  <a:srgbClr val="072A67"/>
                </a:solidFill>
                <a:latin typeface="微软雅黑" panose="020B0503020204020204" charset="-122"/>
                <a:ea typeface="微软雅黑" panose="020B0503020204020204" charset="-122"/>
                <a:cs typeface="微软雅黑" panose="020B0503020204020204" charset="-122"/>
              </a:rPr>
              <a:t>开发算子</a:t>
            </a:r>
            <a:r>
              <a:rPr sz="1015" b="1" dirty="0">
                <a:solidFill>
                  <a:srgbClr val="072A67"/>
                </a:solidFill>
                <a:latin typeface="微软雅黑" panose="020B0503020204020204" charset="-122"/>
                <a:ea typeface="微软雅黑" panose="020B0503020204020204" charset="-122"/>
                <a:cs typeface="微软雅黑" panose="020B0503020204020204" charset="-122"/>
              </a:rPr>
              <a:t> Skill</a:t>
            </a:r>
            <a:r>
              <a:rPr lang="zh-CN" sz="1015" b="1" dirty="0">
                <a:solidFill>
                  <a:srgbClr val="072A67"/>
                </a:solidFill>
                <a:latin typeface="微软雅黑" panose="020B0503020204020204" charset="-122"/>
                <a:ea typeface="微软雅黑" panose="020B0503020204020204" charset="-122"/>
                <a:cs typeface="微软雅黑" panose="020B0503020204020204" charset="-122"/>
              </a:rPr>
              <a:t>指南</a:t>
            </a:r>
            <a:r>
              <a:rPr sz="1015" b="1" dirty="0">
                <a:solidFill>
                  <a:srgbClr val="072A67"/>
                </a:solidFill>
                <a:latin typeface="微软雅黑" panose="020B0503020204020204" charset="-122"/>
                <a:ea typeface="微软雅黑" panose="020B0503020204020204" charset="-122"/>
                <a:cs typeface="微软雅黑" panose="020B0503020204020204" charset="-122"/>
              </a:rPr>
              <a:t>”：</a:t>
            </a:r>
            <a:r>
              <a:rPr sz="1015" b="1" dirty="0" err="1">
                <a:solidFill>
                  <a:srgbClr val="072A67"/>
                </a:solidFill>
                <a:latin typeface="微软雅黑" panose="020B0503020204020204" charset="-122"/>
                <a:ea typeface="微软雅黑" panose="020B0503020204020204" charset="-122"/>
                <a:cs typeface="微软雅黑" panose="020B0503020204020204" charset="-122"/>
              </a:rPr>
              <a:t>需要解决的是通用流程如何复用、平台知识如何采集和组织</a:t>
            </a:r>
            <a:r>
              <a:rPr sz="1015" b="1" dirty="0">
                <a:solidFill>
                  <a:srgbClr val="072A67"/>
                </a:solidFill>
                <a:latin typeface="微软雅黑" panose="020B0503020204020204" charset="-122"/>
                <a:ea typeface="微软雅黑" panose="020B0503020204020204" charset="-122"/>
                <a:cs typeface="微软雅黑" panose="020B0503020204020204" charset="-122"/>
              </a:rPr>
              <a:t>。</a:t>
            </a:r>
          </a:p>
        </p:txBody>
      </p:sp>
      <p:sp>
        <p:nvSpPr>
          <p:cNvPr id="26" name="s13-title-rule"/>
          <p:cNvSpPr>
            <a:spLocks noGrp="1"/>
          </p:cNvSpPr>
          <p:nvPr/>
        </p:nvSpPr>
        <p:spPr>
          <a:xfrm>
            <a:off x="247650" y="714375"/>
            <a:ext cx="11734800" cy="19050"/>
          </a:xfrm>
          <a:prstGeom prst="rect">
            <a:avLst/>
          </a:prstGeom>
          <a:solidFill>
            <a:srgbClr val="0E56C9"/>
          </a:solidFill>
          <a:ln w="0">
            <a:solidFill>
              <a:srgbClr val="0E56C9"/>
            </a:solidFill>
            <a:prstDash val="solid"/>
          </a:ln>
        </p:spPr>
      </p:sp>
      <p:sp>
        <p:nvSpPr>
          <p:cNvPr id="27" name="s13-left-1-frame"/>
          <p:cNvSpPr>
            <a:spLocks noGrp="1"/>
          </p:cNvSpPr>
          <p:nvPr/>
        </p:nvSpPr>
        <p:spPr>
          <a:xfrm>
            <a:off x="333375" y="1724025"/>
            <a:ext cx="5514975" cy="733425"/>
          </a:xfrm>
          <a:prstGeom prst="roundRect">
            <a:avLst>
              <a:gd name="adj" fmla="val 10390"/>
            </a:avLst>
          </a:prstGeom>
          <a:solidFill>
            <a:srgbClr val="FCFEFD"/>
          </a:solidFill>
          <a:ln w="9525">
            <a:solidFill>
              <a:srgbClr val="B9DEC8"/>
            </a:solidFill>
            <a:prstDash val="solid"/>
          </a:ln>
        </p:spPr>
      </p:sp>
      <p:sp>
        <p:nvSpPr>
          <p:cNvPr id="28" name="s13-left-1-number"/>
          <p:cNvSpPr>
            <a:spLocks noGrp="1"/>
          </p:cNvSpPr>
          <p:nvPr/>
        </p:nvSpPr>
        <p:spPr>
          <a:xfrm>
            <a:off x="466725" y="1847850"/>
            <a:ext cx="419100" cy="371475"/>
          </a:xfrm>
          <a:prstGeom prst="roundRect">
            <a:avLst>
              <a:gd name="adj" fmla="val 15385"/>
            </a:avLst>
          </a:prstGeom>
          <a:solidFill>
            <a:srgbClr val="EFF8F3"/>
          </a:solidFill>
          <a:ln w="9525">
            <a:solidFill>
              <a:srgbClr val="008A50"/>
            </a:solidFill>
            <a:prstDash val="solid"/>
          </a:ln>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008A50"/>
                </a:solidFill>
                <a:latin typeface="Calibri" panose="020F0502020204030204"/>
                <a:ea typeface="Calibri" panose="020F0502020204030204"/>
                <a:cs typeface="Calibri" panose="020F0502020204030204"/>
              </a:rPr>
              <a:t>01</a:t>
            </a:r>
          </a:p>
        </p:txBody>
      </p:sp>
      <p:sp>
        <p:nvSpPr>
          <p:cNvPr id="29" name="s13-left-1-separator"/>
          <p:cNvSpPr>
            <a:spLocks noGrp="1"/>
          </p:cNvSpPr>
          <p:nvPr/>
        </p:nvSpPr>
        <p:spPr>
          <a:xfrm>
            <a:off x="1019175" y="1857375"/>
            <a:ext cx="9525" cy="466725"/>
          </a:xfrm>
          <a:prstGeom prst="rect">
            <a:avLst/>
          </a:prstGeom>
          <a:solidFill>
            <a:srgbClr val="B9DEC8"/>
          </a:solidFill>
          <a:ln w="0">
            <a:solidFill>
              <a:srgbClr val="B9DEC8"/>
            </a:solidFill>
            <a:prstDash val="solid"/>
          </a:ln>
        </p:spPr>
      </p:sp>
      <p:sp>
        <p:nvSpPr>
          <p:cNvPr id="30" name="s13-left-1-title"/>
          <p:cNvSpPr>
            <a:spLocks noGrp="1"/>
          </p:cNvSpPr>
          <p:nvPr/>
        </p:nvSpPr>
        <p:spPr>
          <a:xfrm>
            <a:off x="1171575" y="1843323"/>
            <a:ext cx="4543425" cy="266700"/>
          </a:xfrm>
          <a:prstGeom prst="rect">
            <a:avLst/>
          </a:prstGeom>
          <a:noFill/>
          <a:ln w="0">
            <a:noFill/>
            <a:prstDash val="solid"/>
          </a:ln>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008A50"/>
                </a:solidFill>
                <a:latin typeface="微软雅黑" panose="020B0503020204020204" charset="-122"/>
                <a:ea typeface="微软雅黑" panose="020B0503020204020204" charset="-122"/>
                <a:cs typeface="微软雅黑" panose="020B0503020204020204" charset="-122"/>
              </a:rPr>
              <a:t>开发流程能够跑通</a:t>
            </a:r>
            <a:endParaRPr sz="1400" dirty="0">
              <a:solidFill>
                <a:srgbClr val="008A50"/>
              </a:solidFill>
              <a:latin typeface="微软雅黑" panose="020B0503020204020204" charset="-122"/>
              <a:ea typeface="微软雅黑" panose="020B050302020402020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7364A"/>
                </a:solidFill>
                <a:latin typeface="微软雅黑" panose="020B0503020204020204" charset="-122"/>
                <a:ea typeface="微软雅黑" panose="020B0503020204020204" charset="-122"/>
                <a:cs typeface="微软雅黑" panose="020B0503020204020204" charset="-122"/>
              </a:rPr>
              <a:t>环境</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a:solidFill>
                  <a:srgbClr val="27364A"/>
                </a:solidFill>
                <a:latin typeface="微软雅黑" panose="020B0503020204020204" charset="-122"/>
                <a:ea typeface="微软雅黑" panose="020B0503020204020204" charset="-122"/>
                <a:cs typeface="微软雅黑" panose="020B0503020204020204" charset="-122"/>
              </a:rPr>
              <a:t>需求</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a:solidFill>
                  <a:srgbClr val="27364A"/>
                </a:solidFill>
                <a:latin typeface="微软雅黑" panose="020B0503020204020204" charset="-122"/>
                <a:ea typeface="微软雅黑" panose="020B0503020204020204" charset="-122"/>
                <a:cs typeface="微软雅黑" panose="020B0503020204020204" charset="-122"/>
              </a:rPr>
              <a:t>生成</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a:solidFill>
                  <a:srgbClr val="27364A"/>
                </a:solidFill>
                <a:latin typeface="微软雅黑" panose="020B0503020204020204" charset="-122"/>
                <a:ea typeface="微软雅黑" panose="020B0503020204020204" charset="-122"/>
                <a:cs typeface="微软雅黑" panose="020B0503020204020204" charset="-122"/>
              </a:rPr>
              <a:t>验证</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smtClean="0">
                <a:solidFill>
                  <a:srgbClr val="27364A"/>
                </a:solidFill>
                <a:latin typeface="微软雅黑" panose="020B0503020204020204" charset="-122"/>
                <a:ea typeface="微软雅黑" panose="020B0503020204020204" charset="-122"/>
                <a:cs typeface="微软雅黑" panose="020B0503020204020204" charset="-122"/>
              </a:rPr>
              <a:t>优化</a:t>
            </a: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32" name="s13-left-2-frame"/>
          <p:cNvSpPr>
            <a:spLocks noGrp="1"/>
          </p:cNvSpPr>
          <p:nvPr/>
        </p:nvSpPr>
        <p:spPr>
          <a:xfrm>
            <a:off x="381000" y="2852737"/>
            <a:ext cx="5514975" cy="733425"/>
          </a:xfrm>
          <a:prstGeom prst="roundRect">
            <a:avLst>
              <a:gd name="adj" fmla="val 10390"/>
            </a:avLst>
          </a:prstGeom>
          <a:solidFill>
            <a:srgbClr val="FCFEFD"/>
          </a:solidFill>
          <a:ln w="9525">
            <a:solidFill>
              <a:srgbClr val="B9DEC8"/>
            </a:solidFill>
            <a:prstDash val="solid"/>
          </a:ln>
        </p:spPr>
      </p:sp>
      <p:sp>
        <p:nvSpPr>
          <p:cNvPr id="33" name="s13-left-2-number"/>
          <p:cNvSpPr>
            <a:spLocks noGrp="1"/>
          </p:cNvSpPr>
          <p:nvPr/>
        </p:nvSpPr>
        <p:spPr>
          <a:xfrm>
            <a:off x="514350" y="2976562"/>
            <a:ext cx="419100" cy="371475"/>
          </a:xfrm>
          <a:prstGeom prst="roundRect">
            <a:avLst>
              <a:gd name="adj" fmla="val 15385"/>
            </a:avLst>
          </a:prstGeom>
          <a:solidFill>
            <a:srgbClr val="EFF8F3"/>
          </a:solidFill>
          <a:ln w="9525">
            <a:solidFill>
              <a:srgbClr val="008A50"/>
            </a:solidFill>
            <a:prstDash val="solid"/>
          </a:ln>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008A50"/>
                </a:solidFill>
                <a:latin typeface="Calibri" panose="020F0502020204030204"/>
                <a:ea typeface="Calibri" panose="020F0502020204030204"/>
                <a:cs typeface="Calibri" panose="020F0502020204030204"/>
              </a:rPr>
              <a:t>02</a:t>
            </a:r>
          </a:p>
        </p:txBody>
      </p:sp>
      <p:sp>
        <p:nvSpPr>
          <p:cNvPr id="34" name="s13-left-2-separator"/>
          <p:cNvSpPr>
            <a:spLocks noGrp="1"/>
          </p:cNvSpPr>
          <p:nvPr/>
        </p:nvSpPr>
        <p:spPr>
          <a:xfrm>
            <a:off x="1066800" y="2986087"/>
            <a:ext cx="9525" cy="466725"/>
          </a:xfrm>
          <a:prstGeom prst="rect">
            <a:avLst/>
          </a:prstGeom>
          <a:solidFill>
            <a:srgbClr val="B9DEC8"/>
          </a:solidFill>
          <a:ln w="0">
            <a:solidFill>
              <a:srgbClr val="B9DEC8"/>
            </a:solidFill>
            <a:prstDash val="solid"/>
          </a:ln>
        </p:spPr>
      </p:sp>
      <p:sp>
        <p:nvSpPr>
          <p:cNvPr id="35" name="s13-left-2-title"/>
          <p:cNvSpPr>
            <a:spLocks noGrp="1"/>
          </p:cNvSpPr>
          <p:nvPr/>
        </p:nvSpPr>
        <p:spPr>
          <a:xfrm>
            <a:off x="1219200" y="2998250"/>
            <a:ext cx="4543425" cy="266700"/>
          </a:xfrm>
          <a:prstGeom prst="rect">
            <a:avLst/>
          </a:prstGeom>
          <a:noFill/>
          <a:ln w="0">
            <a:noFill/>
            <a:prstDash val="solid"/>
          </a:ln>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008A50"/>
                </a:solidFill>
                <a:latin typeface="微软雅黑" panose="020B0503020204020204" charset="-122"/>
                <a:ea typeface="微软雅黑" panose="020B0503020204020204" charset="-122"/>
                <a:cs typeface="微软雅黑" panose="020B0503020204020204" charset="-122"/>
              </a:rPr>
              <a:t>生成与验证形成闭环</a:t>
            </a:r>
            <a:endParaRPr sz="1400" dirty="0">
              <a:solidFill>
                <a:srgbClr val="008A50"/>
              </a:solidFill>
              <a:latin typeface="微软雅黑" panose="020B0503020204020204" charset="-122"/>
              <a:ea typeface="微软雅黑" panose="020B050302020402020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7364A"/>
                </a:solidFill>
                <a:latin typeface="微软雅黑" panose="020B0503020204020204" charset="-122"/>
                <a:ea typeface="微软雅黑" panose="020B0503020204020204" charset="-122"/>
                <a:cs typeface="微软雅黑" panose="020B0503020204020204" charset="-122"/>
              </a:rPr>
              <a:t>Kernel + Test → </a:t>
            </a:r>
            <a:r>
              <a:rPr sz="1200" b="1" dirty="0" err="1">
                <a:solidFill>
                  <a:srgbClr val="27364A"/>
                </a:solidFill>
                <a:latin typeface="微软雅黑" panose="020B0503020204020204" charset="-122"/>
                <a:ea typeface="微软雅黑" panose="020B0503020204020204" charset="-122"/>
                <a:cs typeface="微软雅黑" panose="020B0503020204020204" charset="-122"/>
              </a:rPr>
              <a:t>执行</a:t>
            </a:r>
            <a:r>
              <a:rPr sz="1200" b="1" dirty="0">
                <a:solidFill>
                  <a:srgbClr val="27364A"/>
                </a:solidFill>
                <a:latin typeface="微软雅黑" panose="020B0503020204020204" charset="-122"/>
                <a:ea typeface="微软雅黑" panose="020B0503020204020204" charset="-122"/>
                <a:cs typeface="微软雅黑" panose="020B0503020204020204" charset="-122"/>
              </a:rPr>
              <a:t> → Correctness → </a:t>
            </a:r>
            <a:r>
              <a:rPr sz="1200" b="1" dirty="0" err="1">
                <a:solidFill>
                  <a:srgbClr val="27364A"/>
                </a:solidFill>
                <a:latin typeface="微软雅黑" panose="020B0503020204020204" charset="-122"/>
                <a:ea typeface="微软雅黑" panose="020B0503020204020204" charset="-122"/>
                <a:cs typeface="微软雅黑" panose="020B0503020204020204" charset="-122"/>
              </a:rPr>
              <a:t>修复</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smtClean="0">
                <a:solidFill>
                  <a:srgbClr val="27364A"/>
                </a:solidFill>
                <a:latin typeface="微软雅黑" panose="020B0503020204020204" charset="-122"/>
                <a:ea typeface="微软雅黑" panose="020B0503020204020204" charset="-122"/>
                <a:cs typeface="微软雅黑" panose="020B0503020204020204" charset="-122"/>
              </a:rPr>
              <a:t>通过</a:t>
            </a: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37" name="s13-left-3-frame"/>
          <p:cNvSpPr>
            <a:spLocks noGrp="1"/>
          </p:cNvSpPr>
          <p:nvPr/>
        </p:nvSpPr>
        <p:spPr>
          <a:xfrm>
            <a:off x="381000" y="3984582"/>
            <a:ext cx="5514975" cy="733425"/>
          </a:xfrm>
          <a:prstGeom prst="roundRect">
            <a:avLst>
              <a:gd name="adj" fmla="val 10390"/>
            </a:avLst>
          </a:prstGeom>
          <a:solidFill>
            <a:srgbClr val="FCFEFD"/>
          </a:solidFill>
          <a:ln w="9525">
            <a:solidFill>
              <a:srgbClr val="B9DEC8"/>
            </a:solidFill>
            <a:prstDash val="solid"/>
          </a:ln>
        </p:spPr>
      </p:sp>
      <p:sp>
        <p:nvSpPr>
          <p:cNvPr id="38" name="s13-left-3-number"/>
          <p:cNvSpPr>
            <a:spLocks noGrp="1"/>
          </p:cNvSpPr>
          <p:nvPr/>
        </p:nvSpPr>
        <p:spPr>
          <a:xfrm>
            <a:off x="514350" y="4108407"/>
            <a:ext cx="419100" cy="371475"/>
          </a:xfrm>
          <a:prstGeom prst="roundRect">
            <a:avLst>
              <a:gd name="adj" fmla="val 15385"/>
            </a:avLst>
          </a:prstGeom>
          <a:solidFill>
            <a:srgbClr val="EFF8F3"/>
          </a:solidFill>
          <a:ln w="9525">
            <a:solidFill>
              <a:srgbClr val="008A50"/>
            </a:solidFill>
            <a:prstDash val="solid"/>
          </a:ln>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008A50"/>
                </a:solidFill>
                <a:latin typeface="Calibri" panose="020F0502020204030204"/>
                <a:ea typeface="Calibri" panose="020F0502020204030204"/>
                <a:cs typeface="Calibri" panose="020F0502020204030204"/>
              </a:rPr>
              <a:t>03</a:t>
            </a:r>
          </a:p>
        </p:txBody>
      </p:sp>
      <p:sp>
        <p:nvSpPr>
          <p:cNvPr id="39" name="s13-left-3-separator"/>
          <p:cNvSpPr>
            <a:spLocks noGrp="1"/>
          </p:cNvSpPr>
          <p:nvPr/>
        </p:nvSpPr>
        <p:spPr>
          <a:xfrm>
            <a:off x="1066800" y="4117932"/>
            <a:ext cx="9525" cy="466725"/>
          </a:xfrm>
          <a:prstGeom prst="rect">
            <a:avLst/>
          </a:prstGeom>
          <a:solidFill>
            <a:srgbClr val="B9DEC8"/>
          </a:solidFill>
          <a:ln w="0">
            <a:solidFill>
              <a:srgbClr val="B9DEC8"/>
            </a:solidFill>
            <a:prstDash val="solid"/>
          </a:ln>
        </p:spPr>
      </p:sp>
      <p:sp>
        <p:nvSpPr>
          <p:cNvPr id="40" name="s13-left-3-title"/>
          <p:cNvSpPr>
            <a:spLocks noGrp="1"/>
          </p:cNvSpPr>
          <p:nvPr/>
        </p:nvSpPr>
        <p:spPr>
          <a:xfrm>
            <a:off x="1209675" y="4119214"/>
            <a:ext cx="4543425" cy="266700"/>
          </a:xfrm>
          <a:prstGeom prst="rect">
            <a:avLst/>
          </a:prstGeom>
          <a:noFill/>
          <a:ln w="0">
            <a:noFill/>
            <a:prstDash val="solid"/>
          </a:ln>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smtClean="0">
                <a:solidFill>
                  <a:srgbClr val="008A50"/>
                </a:solidFill>
                <a:latin typeface="微软雅黑" panose="020B0503020204020204" charset="-122"/>
                <a:ea typeface="微软雅黑" panose="020B0503020204020204" charset="-122"/>
                <a:cs typeface="微软雅黑" panose="020B0503020204020204" charset="-122"/>
              </a:rPr>
              <a:t>性能优化</a:t>
            </a:r>
            <a:r>
              <a:rPr lang="zh-CN" altLang="en-US" sz="1400" dirty="0" smtClean="0">
                <a:solidFill>
                  <a:srgbClr val="008A50"/>
                </a:solidFill>
                <a:latin typeface="微软雅黑" panose="020B0503020204020204" charset="-122"/>
                <a:ea typeface="微软雅黑" panose="020B0503020204020204" charset="-122"/>
                <a:cs typeface="微软雅黑" panose="020B0503020204020204" charset="-122"/>
              </a:rPr>
              <a:t>全面</a:t>
            </a:r>
            <a:endParaRPr sz="1400" dirty="0">
              <a:solidFill>
                <a:srgbClr val="008A50"/>
              </a:solidFill>
              <a:latin typeface="微软雅黑" panose="020B0503020204020204" charset="-122"/>
              <a:ea typeface="微软雅黑" panose="020B050302020402020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7364A"/>
                </a:solidFill>
                <a:latin typeface="微软雅黑" panose="020B0503020204020204" charset="-122"/>
                <a:ea typeface="微软雅黑" panose="020B0503020204020204" charset="-122"/>
                <a:cs typeface="微软雅黑" panose="020B0503020204020204" charset="-122"/>
              </a:rPr>
              <a:t>Benchmark → </a:t>
            </a:r>
            <a:r>
              <a:rPr sz="1200" b="1" dirty="0" err="1">
                <a:solidFill>
                  <a:srgbClr val="27364A"/>
                </a:solidFill>
                <a:latin typeface="微软雅黑" panose="020B0503020204020204" charset="-122"/>
                <a:ea typeface="微软雅黑" panose="020B0503020204020204" charset="-122"/>
                <a:cs typeface="微软雅黑" panose="020B0503020204020204" charset="-122"/>
              </a:rPr>
              <a:t>分析</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a:solidFill>
                  <a:srgbClr val="27364A"/>
                </a:solidFill>
                <a:latin typeface="微软雅黑" panose="020B0503020204020204" charset="-122"/>
                <a:ea typeface="微软雅黑" panose="020B0503020204020204" charset="-122"/>
                <a:cs typeface="微软雅黑" panose="020B0503020204020204" charset="-122"/>
              </a:rPr>
              <a:t>优化</a:t>
            </a:r>
            <a:r>
              <a:rPr sz="1200" b="1" dirty="0">
                <a:solidFill>
                  <a:srgbClr val="27364A"/>
                </a:solidFill>
                <a:latin typeface="微软雅黑" panose="020B0503020204020204" charset="-122"/>
                <a:ea typeface="微软雅黑" panose="020B0503020204020204" charset="-122"/>
                <a:cs typeface="微软雅黑" panose="020B0503020204020204" charset="-122"/>
              </a:rPr>
              <a:t> → </a:t>
            </a:r>
            <a:r>
              <a:rPr sz="1200" b="1" dirty="0" err="1" smtClean="0">
                <a:solidFill>
                  <a:srgbClr val="27364A"/>
                </a:solidFill>
                <a:latin typeface="微软雅黑" panose="020B0503020204020204" charset="-122"/>
                <a:ea typeface="微软雅黑" panose="020B0503020204020204" charset="-122"/>
                <a:cs typeface="微软雅黑" panose="020B0503020204020204" charset="-122"/>
              </a:rPr>
              <a:t>复测</a:t>
            </a: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7" name="s13-right-1-frame"/>
          <p:cNvSpPr>
            <a:spLocks noGrp="1"/>
          </p:cNvSpPr>
          <p:nvPr/>
        </p:nvSpPr>
        <p:spPr>
          <a:xfrm>
            <a:off x="6181725" y="1685925"/>
            <a:ext cx="5324475" cy="733425"/>
          </a:xfrm>
          <a:prstGeom prst="roundRect">
            <a:avLst>
              <a:gd name="adj" fmla="val 10390"/>
            </a:avLst>
          </a:prstGeom>
          <a:solidFill>
            <a:srgbClr val="FCFDFE"/>
          </a:solidFill>
          <a:ln w="9525">
            <a:solidFill>
              <a:srgbClr val="C0D5EF"/>
            </a:solidFill>
            <a:prstDash val="solid"/>
          </a:ln>
        </p:spPr>
      </p:sp>
      <p:sp>
        <p:nvSpPr>
          <p:cNvPr id="48" name="s13-right-1-number"/>
          <p:cNvSpPr>
            <a:spLocks noGrp="1"/>
          </p:cNvSpPr>
          <p:nvPr/>
        </p:nvSpPr>
        <p:spPr>
          <a:xfrm>
            <a:off x="6315075" y="1809750"/>
            <a:ext cx="419100" cy="371475"/>
          </a:xfrm>
          <a:prstGeom prst="roundRect">
            <a:avLst>
              <a:gd name="adj" fmla="val 15385"/>
            </a:avLst>
          </a:prstGeom>
          <a:solidFill>
            <a:srgbClr val="EEF4FE"/>
          </a:solidFill>
          <a:ln w="9525">
            <a:solidFill>
              <a:srgbClr val="1457C5"/>
            </a:solidFill>
            <a:prstDash val="solid"/>
          </a:ln>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1457C5"/>
                </a:solidFill>
                <a:latin typeface="Calibri" panose="020F0502020204030204"/>
                <a:ea typeface="Calibri" panose="020F0502020204030204"/>
                <a:cs typeface="Calibri" panose="020F0502020204030204"/>
              </a:rPr>
              <a:t>01</a:t>
            </a:r>
          </a:p>
        </p:txBody>
      </p:sp>
      <p:sp>
        <p:nvSpPr>
          <p:cNvPr id="49" name="s13-right-1-separator"/>
          <p:cNvSpPr>
            <a:spLocks noGrp="1"/>
          </p:cNvSpPr>
          <p:nvPr/>
        </p:nvSpPr>
        <p:spPr>
          <a:xfrm>
            <a:off x="6867525" y="1819275"/>
            <a:ext cx="9525" cy="466725"/>
          </a:xfrm>
          <a:prstGeom prst="rect">
            <a:avLst/>
          </a:prstGeom>
          <a:solidFill>
            <a:srgbClr val="C0D5EF"/>
          </a:solidFill>
          <a:ln w="0">
            <a:solidFill>
              <a:srgbClr val="C0D5EF"/>
            </a:solidFill>
            <a:prstDash val="solid"/>
          </a:ln>
        </p:spPr>
      </p:sp>
      <p:sp>
        <p:nvSpPr>
          <p:cNvPr id="50" name="s13-right-1-title"/>
          <p:cNvSpPr>
            <a:spLocks noGrp="1"/>
          </p:cNvSpPr>
          <p:nvPr/>
        </p:nvSpPr>
        <p:spPr>
          <a:xfrm>
            <a:off x="7019925" y="1891679"/>
            <a:ext cx="4352925" cy="266700"/>
          </a:xfrm>
          <a:prstGeom prst="rect">
            <a:avLst/>
          </a:prstGeom>
          <a:noFill/>
          <a:ln w="0">
            <a:noFill/>
            <a:prstDash val="solid"/>
          </a:ln>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a:solidFill>
                  <a:srgbClr val="1457C5"/>
                </a:solidFill>
                <a:latin typeface="微软雅黑" panose="020B0503020204020204" charset="-122"/>
                <a:ea typeface="微软雅黑" panose="020B0503020204020204" charset="-122"/>
                <a:cs typeface="微软雅黑" panose="020B0503020204020204" charset="-122"/>
              </a:rPr>
              <a:t>平台知识分散</a:t>
            </a:r>
            <a:endParaRPr sz="14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oundRect">
            <a:avLst>
              <a:gd name="adj" fmla="val 10390"/>
            </a:avLst>
          </a:prstGeom>
          <a:solidFill>
            <a:srgbClr val="FCFDFE"/>
          </a:solidFill>
          <a:ln w="9525">
            <a:solidFill>
              <a:srgbClr val="C0D5EF"/>
            </a:solidFill>
            <a:prstDash val="solid"/>
          </a:ln>
        </p:spPr>
      </p:sp>
      <p:sp>
        <p:nvSpPr>
          <p:cNvPr id="53" name="s13-right-2-number"/>
          <p:cNvSpPr>
            <a:spLocks noGrp="1"/>
          </p:cNvSpPr>
          <p:nvPr/>
        </p:nvSpPr>
        <p:spPr>
          <a:xfrm>
            <a:off x="6315075" y="2571750"/>
            <a:ext cx="419100" cy="371475"/>
          </a:xfrm>
          <a:prstGeom prst="roundRect">
            <a:avLst>
              <a:gd name="adj" fmla="val 15385"/>
            </a:avLst>
          </a:prstGeom>
          <a:solidFill>
            <a:srgbClr val="EEF4FE"/>
          </a:solidFill>
          <a:ln w="9525">
            <a:solidFill>
              <a:srgbClr val="1457C5"/>
            </a:solidFill>
            <a:prstDash val="solid"/>
          </a:ln>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1457C5"/>
                </a:solidFill>
                <a:latin typeface="Calibri" panose="020F0502020204030204"/>
                <a:ea typeface="Calibri" panose="020F0502020204030204"/>
                <a:cs typeface="Calibri" panose="020F0502020204030204"/>
              </a:rPr>
              <a:t>02</a:t>
            </a:r>
          </a:p>
        </p:txBody>
      </p:sp>
      <p:sp>
        <p:nvSpPr>
          <p:cNvPr id="54" name="s13-right-2-separator"/>
          <p:cNvSpPr>
            <a:spLocks noGrp="1"/>
          </p:cNvSpPr>
          <p:nvPr/>
        </p:nvSpPr>
        <p:spPr>
          <a:xfrm>
            <a:off x="6867525" y="2581275"/>
            <a:ext cx="9525" cy="466725"/>
          </a:xfrm>
          <a:prstGeom prst="rect">
            <a:avLst/>
          </a:prstGeom>
          <a:solidFill>
            <a:srgbClr val="C0D5EF"/>
          </a:solidFill>
          <a:ln w="0">
            <a:solidFill>
              <a:srgbClr val="C0D5EF"/>
            </a:solidFill>
            <a:prstDash val="solid"/>
          </a:ln>
        </p:spPr>
      </p:sp>
      <p:sp>
        <p:nvSpPr>
          <p:cNvPr id="55" name="s13-right-2-title"/>
          <p:cNvSpPr>
            <a:spLocks noGrp="1"/>
          </p:cNvSpPr>
          <p:nvPr/>
        </p:nvSpPr>
        <p:spPr>
          <a:xfrm>
            <a:off x="7019925" y="2697163"/>
            <a:ext cx="4352925" cy="266700"/>
          </a:xfrm>
          <a:prstGeom prst="rect">
            <a:avLst/>
          </a:prstGeom>
          <a:noFill/>
          <a:ln w="0">
            <a:noFill/>
            <a:prstDash val="solid"/>
          </a:ln>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a:solidFill>
                  <a:srgbClr val="1457C5"/>
                </a:solidFill>
                <a:latin typeface="微软雅黑" panose="020B0503020204020204" charset="-122"/>
                <a:ea typeface="微软雅黑" panose="020B0503020204020204" charset="-122"/>
                <a:cs typeface="微软雅黑" panose="020B0503020204020204" charset="-122"/>
              </a:rPr>
              <a:t>新平台适配修改点多</a:t>
            </a:r>
            <a:endParaRPr sz="14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oundRect">
            <a:avLst>
              <a:gd name="adj" fmla="val 10390"/>
            </a:avLst>
          </a:prstGeom>
          <a:solidFill>
            <a:srgbClr val="FCFDFE"/>
          </a:solidFill>
          <a:ln w="9525">
            <a:solidFill>
              <a:srgbClr val="C0D5EF"/>
            </a:solidFill>
            <a:prstDash val="solid"/>
          </a:ln>
        </p:spPr>
      </p:sp>
      <p:sp>
        <p:nvSpPr>
          <p:cNvPr id="58" name="s13-right-3-number"/>
          <p:cNvSpPr>
            <a:spLocks noGrp="1"/>
          </p:cNvSpPr>
          <p:nvPr/>
        </p:nvSpPr>
        <p:spPr>
          <a:xfrm>
            <a:off x="6315075" y="3333750"/>
            <a:ext cx="419100" cy="371475"/>
          </a:xfrm>
          <a:prstGeom prst="roundRect">
            <a:avLst>
              <a:gd name="adj" fmla="val 15385"/>
            </a:avLst>
          </a:prstGeom>
          <a:solidFill>
            <a:srgbClr val="EEF4FE"/>
          </a:solidFill>
          <a:ln w="9525">
            <a:solidFill>
              <a:srgbClr val="1457C5"/>
            </a:solidFill>
            <a:prstDash val="solid"/>
          </a:ln>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1457C5"/>
                </a:solidFill>
                <a:latin typeface="Calibri" panose="020F0502020204030204"/>
                <a:ea typeface="Calibri" panose="020F0502020204030204"/>
                <a:cs typeface="Calibri" panose="020F0502020204030204"/>
              </a:rPr>
              <a:t>03</a:t>
            </a:r>
          </a:p>
        </p:txBody>
      </p:sp>
      <p:sp>
        <p:nvSpPr>
          <p:cNvPr id="59" name="s13-right-3-separator"/>
          <p:cNvSpPr>
            <a:spLocks noGrp="1"/>
          </p:cNvSpPr>
          <p:nvPr/>
        </p:nvSpPr>
        <p:spPr>
          <a:xfrm>
            <a:off x="6867525" y="3343275"/>
            <a:ext cx="9525" cy="466725"/>
          </a:xfrm>
          <a:prstGeom prst="rect">
            <a:avLst/>
          </a:prstGeom>
          <a:solidFill>
            <a:srgbClr val="C0D5EF"/>
          </a:solidFill>
          <a:ln w="0">
            <a:solidFill>
              <a:srgbClr val="C0D5EF"/>
            </a:solidFill>
            <a:prstDash val="solid"/>
          </a:ln>
        </p:spPr>
      </p:sp>
      <p:sp>
        <p:nvSpPr>
          <p:cNvPr id="60" name="s13-right-3-title"/>
          <p:cNvSpPr>
            <a:spLocks noGrp="1"/>
          </p:cNvSpPr>
          <p:nvPr/>
        </p:nvSpPr>
        <p:spPr>
          <a:xfrm>
            <a:off x="6999605" y="3424237"/>
            <a:ext cx="4352925" cy="266700"/>
          </a:xfrm>
          <a:prstGeom prst="rect">
            <a:avLst/>
          </a:prstGeom>
          <a:noFill/>
          <a:ln w="0">
            <a:noFill/>
            <a:prstDash val="solid"/>
          </a:ln>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smtClean="0">
                <a:solidFill>
                  <a:srgbClr val="1457C5"/>
                </a:solidFill>
                <a:latin typeface="微软雅黑" panose="020B0503020204020204" charset="-122"/>
                <a:ea typeface="微软雅黑" panose="020B0503020204020204" charset="-122"/>
                <a:cs typeface="微软雅黑" panose="020B0503020204020204" charset="-122"/>
              </a:rPr>
              <a:t>通用流程与平台经验</a:t>
            </a:r>
            <a:r>
              <a:rPr lang="zh-CN" altLang="en-US" sz="1400" dirty="0" smtClean="0">
                <a:solidFill>
                  <a:srgbClr val="1457C5"/>
                </a:solidFill>
                <a:latin typeface="微软雅黑" panose="020B0503020204020204" charset="-122"/>
                <a:ea typeface="微软雅黑" panose="020B0503020204020204" charset="-122"/>
                <a:cs typeface="微软雅黑" panose="020B0503020204020204" charset="-122"/>
              </a:rPr>
              <a:t>需要</a:t>
            </a:r>
            <a:r>
              <a:rPr sz="1400" dirty="0" err="1" smtClean="0">
                <a:solidFill>
                  <a:srgbClr val="1457C5"/>
                </a:solidFill>
                <a:latin typeface="微软雅黑" panose="020B0503020204020204" charset="-122"/>
                <a:ea typeface="微软雅黑" panose="020B0503020204020204" charset="-122"/>
                <a:cs typeface="微软雅黑" panose="020B0503020204020204" charset="-122"/>
              </a:rPr>
              <a:t>分离</a:t>
            </a:r>
            <a:endParaRPr sz="14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63" name="s13-right-4-frame"/>
          <p:cNvSpPr>
            <a:spLocks noGrp="1"/>
          </p:cNvSpPr>
          <p:nvPr/>
        </p:nvSpPr>
        <p:spPr>
          <a:xfrm>
            <a:off x="6181725" y="3971925"/>
            <a:ext cx="5324475" cy="752475"/>
          </a:xfrm>
          <a:prstGeom prst="roundRect">
            <a:avLst>
              <a:gd name="adj" fmla="val 10127"/>
            </a:avLst>
          </a:prstGeom>
          <a:solidFill>
            <a:srgbClr val="FCFDFE"/>
          </a:solidFill>
          <a:ln w="9525">
            <a:solidFill>
              <a:srgbClr val="C0D5EF"/>
            </a:solidFill>
            <a:prstDash val="solid"/>
          </a:ln>
        </p:spPr>
      </p:sp>
      <p:sp>
        <p:nvSpPr>
          <p:cNvPr id="64" name="s13-right-4-number"/>
          <p:cNvSpPr>
            <a:spLocks noGrp="1"/>
          </p:cNvSpPr>
          <p:nvPr/>
        </p:nvSpPr>
        <p:spPr>
          <a:xfrm>
            <a:off x="6315075" y="4095750"/>
            <a:ext cx="419100" cy="371475"/>
          </a:xfrm>
          <a:prstGeom prst="roundRect">
            <a:avLst>
              <a:gd name="adj" fmla="val 15385"/>
            </a:avLst>
          </a:prstGeom>
          <a:solidFill>
            <a:srgbClr val="EEF4FE"/>
          </a:solidFill>
          <a:ln w="9525">
            <a:solidFill>
              <a:srgbClr val="1457C5"/>
            </a:solidFill>
            <a:prstDash val="solid"/>
          </a:ln>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1457C5"/>
                </a:solidFill>
                <a:latin typeface="Calibri" panose="020F0502020204030204"/>
                <a:ea typeface="Calibri" panose="020F0502020204030204"/>
                <a:cs typeface="Calibri" panose="020F0502020204030204"/>
              </a:rPr>
              <a:t>04</a:t>
            </a:r>
          </a:p>
        </p:txBody>
      </p:sp>
      <p:sp>
        <p:nvSpPr>
          <p:cNvPr id="65" name="s13-right-4-separator"/>
          <p:cNvSpPr>
            <a:spLocks noGrp="1"/>
          </p:cNvSpPr>
          <p:nvPr/>
        </p:nvSpPr>
        <p:spPr>
          <a:xfrm>
            <a:off x="6867525" y="4105275"/>
            <a:ext cx="9525" cy="485775"/>
          </a:xfrm>
          <a:prstGeom prst="rect">
            <a:avLst/>
          </a:prstGeom>
          <a:solidFill>
            <a:srgbClr val="C0D5EF"/>
          </a:solidFill>
          <a:ln w="0">
            <a:solidFill>
              <a:srgbClr val="C0D5EF"/>
            </a:solidFill>
            <a:prstDash val="solid"/>
          </a:ln>
        </p:spPr>
      </p:sp>
      <p:sp>
        <p:nvSpPr>
          <p:cNvPr id="66" name="s13-right-4-title"/>
          <p:cNvSpPr>
            <a:spLocks noGrp="1"/>
          </p:cNvSpPr>
          <p:nvPr/>
        </p:nvSpPr>
        <p:spPr>
          <a:xfrm>
            <a:off x="6999605" y="4178300"/>
            <a:ext cx="4352925" cy="266700"/>
          </a:xfrm>
          <a:prstGeom prst="rect">
            <a:avLst/>
          </a:prstGeom>
          <a:noFill/>
          <a:ln w="0">
            <a:noFill/>
            <a:prstDash val="solid"/>
          </a:ln>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1457C5"/>
                </a:solidFill>
                <a:latin typeface="微软雅黑" panose="020B0503020204020204" charset="-122"/>
                <a:ea typeface="微软雅黑" panose="020B0503020204020204" charset="-122"/>
                <a:cs typeface="微软雅黑" panose="020B0503020204020204" charset="-122"/>
              </a:rPr>
              <a:t>开发时间较长</a:t>
            </a:r>
            <a:endParaRPr sz="14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pic>
        <p:nvPicPr>
          <p:cNvPr id="2" name="left-column-header-icon"/>
          <p:cNvPicPr>
            <a:picLocks noChangeAspect="1"/>
          </p:cNvPicPr>
          <p:nvPr/>
        </p:nvPicPr>
        <p:blipFill>
          <a:blip r:embed="rId3"/>
          <a:srcRect l="1163" t="1163" r="1163" b="1163"/>
          <a:stretch>
            <a:fillRect/>
          </a:stretch>
        </p:blipFill>
        <p:spPr>
          <a:xfrm>
            <a:off x="1127125" y="1419225"/>
            <a:ext cx="266700" cy="266700"/>
          </a:xfrm>
          <a:prstGeom prst="rect">
            <a:avLst/>
          </a:prstGeom>
        </p:spPr>
      </p:pic>
      <p:pic>
        <p:nvPicPr>
          <p:cNvPr id="3" name="right-column-header-icon"/>
          <p:cNvPicPr>
            <a:picLocks noChangeAspect="1"/>
          </p:cNvPicPr>
          <p:nvPr/>
        </p:nvPicPr>
        <p:blipFill>
          <a:blip r:embed="rId4"/>
          <a:srcRect t="1136" r="1136"/>
          <a:stretch>
            <a:fillRect/>
          </a:stretch>
        </p:blipFill>
        <p:spPr>
          <a:xfrm>
            <a:off x="6671945" y="1340485"/>
            <a:ext cx="276225" cy="276225"/>
          </a:xfrm>
          <a:prstGeom prst="rect">
            <a:avLst/>
          </a:prstGeom>
        </p:spPr>
      </p:pic>
      <p:sp>
        <p:nvSpPr>
          <p:cNvPr id="4"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p:spPr>
        <p:txBody>
          <a:bodyPr wrap="square" lIns="0" tIns="0" rIns="0" bIns="0" anchor="ctr">
            <a:normAutofit/>
          </a:bodyPr>
          <a:lstStyle/>
          <a:p>
            <a:pPr algn="l">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p:spPr>
        <p:txBody>
          <a:bodyPr wrap="square" lIns="0" tIns="0" rIns="0" bIns="0" anchor="ctr">
            <a:normAutofit/>
          </a:bodyPr>
          <a:lstStyle/>
          <a:p>
            <a:pPr algn="l">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b="0">
                <a:solidFill>
                  <a:srgbClr val="56627A"/>
                </a:solidFill>
                <a:latin typeface="微软雅黑" panose="020B0503020204020204" charset="-122"/>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C8D9F3"/>
          </a:solidFill>
          <a:ln w="0">
            <a:noFill/>
            <a:prstDash val="solid"/>
          </a:ln>
        </p:spPr>
      </p:sp>
      <p:sp>
        <p:nvSpPr>
          <p:cNvPr id="5" name="contents-card-1"/>
          <p:cNvSpPr>
            <a:spLocks noGrp="1"/>
          </p:cNvSpPr>
          <p:nvPr/>
        </p:nvSpPr>
        <p:spPr>
          <a:xfrm>
            <a:off x="609600" y="1295400"/>
            <a:ext cx="10972800" cy="981075"/>
          </a:xfrm>
          <a:prstGeom prst="roundRect">
            <a:avLst>
              <a:gd name="adj" fmla="val 7767"/>
            </a:avLst>
          </a:prstGeom>
          <a:solidFill>
            <a:srgbClr val="FFFFFF"/>
          </a:solidFill>
          <a:ln w="9525">
            <a:solidFill>
              <a:srgbClr val="C8D9F3"/>
            </a:solidFill>
            <a:prstDash val="solid"/>
          </a:ln>
        </p:spPr>
      </p:sp>
      <p:sp>
        <p:nvSpPr>
          <p:cNvPr id="6" name="contents-card-1-accent"/>
          <p:cNvSpPr>
            <a:spLocks noGrp="1"/>
          </p:cNvSpPr>
          <p:nvPr/>
        </p:nvSpPr>
        <p:spPr>
          <a:xfrm>
            <a:off x="609600" y="1295400"/>
            <a:ext cx="66675" cy="981075"/>
          </a:xfrm>
          <a:prstGeom prst="rect">
            <a:avLst/>
          </a:prstGeom>
          <a:solidFill>
            <a:schemeClr val="bg1">
              <a:lumMod val="50000"/>
            </a:schemeClr>
          </a:solidFill>
          <a:ln w="0">
            <a:noFill/>
            <a:prstDash val="solid"/>
          </a:ln>
        </p:spPr>
      </p:sp>
      <p:sp>
        <p:nvSpPr>
          <p:cNvPr id="7" name="contents-card-1-part"/>
          <p:cNvSpPr>
            <a:spLocks noGrp="1"/>
          </p:cNvSpPr>
          <p:nvPr/>
        </p:nvSpPr>
        <p:spPr>
          <a:xfrm>
            <a:off x="839470" y="1628775"/>
            <a:ext cx="1104900" cy="266700"/>
          </a:xfrm>
          <a:prstGeom prst="rect">
            <a:avLst/>
          </a:prstGeom>
          <a:noFill/>
          <a:ln w="0">
            <a:noFill/>
            <a:prstDash val="solid"/>
          </a:ln>
        </p:spPr>
        <p:txBody>
          <a:bodyPr wrap="square" lIns="0" tIns="0" rIns="0" bIns="0" anchor="ctr">
            <a:normAutofit/>
          </a:bodyPr>
          <a:lstStyle/>
          <a:p>
            <a:pPr algn="l">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C8D9F3"/>
          </a:solidFill>
          <a:ln w="0">
            <a:noFill/>
            <a:prstDash val="solid"/>
          </a:ln>
        </p:spPr>
      </p:sp>
      <p:sp>
        <p:nvSpPr>
          <p:cNvPr id="10" name="contents-card-1-title"/>
          <p:cNvSpPr>
            <a:spLocks noGrp="1"/>
          </p:cNvSpPr>
          <p:nvPr/>
        </p:nvSpPr>
        <p:spPr>
          <a:xfrm>
            <a:off x="2286000" y="139065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500" b="1">
                <a:solidFill>
                  <a:srgbClr val="072A67"/>
                </a:solidFill>
                <a:latin typeface="微软雅黑" panose="020B0503020204020204" charset="-122"/>
                <a:ea typeface="微软雅黑" panose="020B0503020204020204" charset="-122"/>
                <a:cs typeface="微软雅黑" panose="020B0503020204020204" charset="-122"/>
              </a:rPr>
              <a:t>Agent/</a:t>
            </a:r>
            <a:r>
              <a:rPr sz="1500" b="1">
                <a:solidFill>
                  <a:srgbClr val="072A67"/>
                </a:solidFill>
                <a:latin typeface="微软雅黑" panose="020B0503020204020204" charset="-122"/>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oundRect">
            <a:avLst>
              <a:gd name="adj" fmla="val 7767"/>
            </a:avLst>
          </a:prstGeom>
          <a:solidFill>
            <a:srgbClr val="FFFFFF"/>
          </a:solidFill>
          <a:ln w="9525">
            <a:solidFill>
              <a:srgbClr val="C8D9F3"/>
            </a:solidFill>
            <a:prstDash val="solid"/>
          </a:ln>
        </p:spPr>
      </p:sp>
      <p:sp>
        <p:nvSpPr>
          <p:cNvPr id="14" name="contents-card-2-accent"/>
          <p:cNvSpPr>
            <a:spLocks noGrp="1"/>
          </p:cNvSpPr>
          <p:nvPr/>
        </p:nvSpPr>
        <p:spPr>
          <a:xfrm>
            <a:off x="609600" y="2428875"/>
            <a:ext cx="66675" cy="981075"/>
          </a:xfrm>
          <a:prstGeom prst="rect">
            <a:avLst/>
          </a:prstGeom>
          <a:solidFill>
            <a:schemeClr val="bg1">
              <a:lumMod val="50000"/>
            </a:schemeClr>
          </a:solidFill>
          <a:ln w="0">
            <a:noFill/>
            <a:prstDash val="solid"/>
          </a:ln>
        </p:spPr>
      </p:sp>
      <p:sp>
        <p:nvSpPr>
          <p:cNvPr id="15" name="contents-card-2-part"/>
          <p:cNvSpPr>
            <a:spLocks noGrp="1"/>
          </p:cNvSpPr>
          <p:nvPr/>
        </p:nvSpPr>
        <p:spPr>
          <a:xfrm>
            <a:off x="838200" y="2562225"/>
            <a:ext cx="1104900" cy="2667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02</a:t>
            </a:r>
            <a:endParaRPr sz="1125"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C8D9F3"/>
          </a:solidFill>
          <a:ln w="0">
            <a:noFill/>
            <a:prstDash val="solid"/>
          </a:ln>
        </p:spPr>
      </p:sp>
      <p:sp>
        <p:nvSpPr>
          <p:cNvPr id="18" name="contents-card-2-title"/>
          <p:cNvSpPr>
            <a:spLocks noGrp="1"/>
          </p:cNvSpPr>
          <p:nvPr/>
        </p:nvSpPr>
        <p:spPr>
          <a:xfrm>
            <a:off x="2286000" y="252412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500" b="1">
                <a:solidFill>
                  <a:srgbClr val="072A67"/>
                </a:solidFill>
                <a:latin typeface="微软雅黑" panose="020B0503020204020204" charset="-122"/>
                <a:ea typeface="微软雅黑" panose="020B0503020204020204" charset="-122"/>
                <a:cs typeface="微软雅黑" panose="020B0503020204020204" charset="-122"/>
              </a:rPr>
              <a:t>寒武纪</a:t>
            </a:r>
            <a:r>
              <a:rPr sz="1500" b="1">
                <a:solidFill>
                  <a:srgbClr val="072A67"/>
                </a:solidFill>
                <a:latin typeface="微软雅黑" panose="020B0503020204020204" charset="-122"/>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oundRect">
            <a:avLst>
              <a:gd name="adj" fmla="val 7767"/>
            </a:avLst>
          </a:prstGeom>
          <a:solidFill>
            <a:srgbClr val="FFFFFF"/>
          </a:solidFill>
          <a:ln w="9525">
            <a:solidFill>
              <a:srgbClr val="C8D9F3"/>
            </a:solidFill>
            <a:prstDash val="solid"/>
          </a:ln>
        </p:spPr>
      </p:sp>
      <p:sp>
        <p:nvSpPr>
          <p:cNvPr id="22" name="contents-card-3-accent"/>
          <p:cNvSpPr>
            <a:spLocks noGrp="1"/>
          </p:cNvSpPr>
          <p:nvPr/>
        </p:nvSpPr>
        <p:spPr>
          <a:xfrm>
            <a:off x="609600" y="3562350"/>
            <a:ext cx="66675" cy="981075"/>
          </a:xfrm>
          <a:prstGeom prst="rect">
            <a:avLst/>
          </a:prstGeom>
          <a:solidFill>
            <a:srgbClr val="0E56C9"/>
          </a:solidFill>
          <a:ln w="0">
            <a:noFill/>
            <a:prstDash val="solid"/>
          </a:ln>
        </p:spPr>
      </p:sp>
      <p:sp>
        <p:nvSpPr>
          <p:cNvPr id="23" name="contents-card-3-part"/>
          <p:cNvSpPr>
            <a:spLocks noGrp="1"/>
          </p:cNvSpPr>
          <p:nvPr/>
        </p:nvSpPr>
        <p:spPr>
          <a:xfrm>
            <a:off x="838200" y="3695700"/>
            <a:ext cx="1104900" cy="266700"/>
          </a:xfrm>
          <a:prstGeom prst="rect">
            <a:avLst/>
          </a:prstGeom>
          <a:noFill/>
          <a:ln w="0">
            <a:noFill/>
            <a:prstDash val="solid"/>
          </a:ln>
        </p:spPr>
        <p:txBody>
          <a:bodyPr wrap="square" lIns="0" tIns="0" rIns="0" bIns="0" anchor="ctr">
            <a:normAutofit/>
          </a:bodyPr>
          <a:lstStyle/>
          <a:p>
            <a:pPr lvl="0" algn="l">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a:sym typeface="+mn-ea"/>
              </a:rPr>
              <a:t>PART 03</a:t>
            </a:r>
          </a:p>
        </p:txBody>
      </p:sp>
      <p:sp>
        <p:nvSpPr>
          <p:cNvPr id="25" name="contents-card-3-divider"/>
          <p:cNvSpPr>
            <a:spLocks noGrp="1"/>
          </p:cNvSpPr>
          <p:nvPr/>
        </p:nvSpPr>
        <p:spPr>
          <a:xfrm>
            <a:off x="2047875" y="3705225"/>
            <a:ext cx="9525" cy="685800"/>
          </a:xfrm>
          <a:prstGeom prst="rect">
            <a:avLst/>
          </a:prstGeom>
          <a:solidFill>
            <a:srgbClr val="C8D9F3"/>
          </a:solidFill>
          <a:ln w="0">
            <a:noFill/>
            <a:prstDash val="solid"/>
          </a:ln>
        </p:spPr>
      </p:sp>
      <p:sp>
        <p:nvSpPr>
          <p:cNvPr id="26" name="contents-card-3-title"/>
          <p:cNvSpPr>
            <a:spLocks noGrp="1"/>
          </p:cNvSpPr>
          <p:nvPr/>
        </p:nvSpPr>
        <p:spPr>
          <a:xfrm>
            <a:off x="2286000" y="365760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oundRect">
            <a:avLst>
              <a:gd name="adj" fmla="val 7767"/>
            </a:avLst>
          </a:prstGeom>
          <a:solidFill>
            <a:srgbClr val="F7F9FC"/>
          </a:solidFill>
          <a:ln w="9525">
            <a:solidFill>
              <a:srgbClr val="C8D9F3"/>
            </a:solidFill>
            <a:prstDash val="solid"/>
          </a:ln>
        </p:spPr>
      </p:sp>
      <p:sp>
        <p:nvSpPr>
          <p:cNvPr id="30" name="contents-card-4-accent"/>
          <p:cNvSpPr>
            <a:spLocks noGrp="1"/>
          </p:cNvSpPr>
          <p:nvPr/>
        </p:nvSpPr>
        <p:spPr>
          <a:xfrm>
            <a:off x="609600" y="4695825"/>
            <a:ext cx="66675" cy="981075"/>
          </a:xfrm>
          <a:prstGeom prst="rect">
            <a:avLst/>
          </a:prstGeom>
          <a:solidFill>
            <a:srgbClr val="7B8799"/>
          </a:solidFill>
          <a:ln w="0">
            <a:noFill/>
            <a:prstDash val="solid"/>
          </a:ln>
        </p:spPr>
      </p:sp>
      <p:sp>
        <p:nvSpPr>
          <p:cNvPr id="31" name="contents-card-4-part"/>
          <p:cNvSpPr>
            <a:spLocks noGrp="1"/>
          </p:cNvSpPr>
          <p:nvPr/>
        </p:nvSpPr>
        <p:spPr>
          <a:xfrm>
            <a:off x="838200" y="4829175"/>
            <a:ext cx="1104900" cy="266700"/>
          </a:xfrm>
          <a:prstGeom prst="rect">
            <a:avLst/>
          </a:prstGeom>
          <a:noFill/>
          <a:ln w="0">
            <a:noFill/>
            <a:prstDash val="solid"/>
          </a:ln>
        </p:spPr>
        <p:txBody>
          <a:bodyPr wrap="square" lIns="0" tIns="0" rIns="0" bIns="0" anchor="ctr">
            <a:normAutofit/>
          </a:bodyPr>
          <a:lstStyle/>
          <a:p>
            <a:pPr algn="l">
              <a:defRPr sz="1125" b="1">
                <a:solidFill>
                  <a:srgbClr val="7B8799"/>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C8D9F3"/>
          </a:solidFill>
          <a:ln w="0">
            <a:noFill/>
            <a:prstDash val="solid"/>
          </a:ln>
        </p:spPr>
      </p:sp>
      <p:sp>
        <p:nvSpPr>
          <p:cNvPr id="34" name="contents-card-4-title"/>
          <p:cNvSpPr>
            <a:spLocks noGrp="1"/>
          </p:cNvSpPr>
          <p:nvPr/>
        </p:nvSpPr>
        <p:spPr>
          <a:xfrm>
            <a:off x="2286000" y="479107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7-title"/>
          <p:cNvSpPr>
            <a:spLocks noGrp="1"/>
          </p:cNvSpPr>
          <p:nvPr/>
        </p:nvSpPr>
        <p:spPr>
          <a:xfrm>
            <a:off x="1487170" y="165735"/>
            <a:ext cx="8763000" cy="466725"/>
          </a:xfrm>
          <a:prstGeom prst="rect">
            <a:avLst/>
          </a:prstGeom>
          <a:solidFill>
            <a:srgbClr val="FFFFFF"/>
          </a:solidFill>
          <a:ln w="0">
            <a:noFill/>
            <a:prstDash val="solid"/>
          </a:ln>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a:solidFill>
                  <a:srgbClr val="072A67"/>
                </a:solidFill>
              </a:rPr>
              <a:t>算子 Skill 开发指南：通用框架 × 平台知识 × 验证闭环</a:t>
            </a:r>
          </a:p>
        </p:txBody>
      </p:sp>
      <p:sp>
        <p:nvSpPr>
          <p:cNvPr id="14" name="framework-synthesis"/>
          <p:cNvSpPr>
            <a:spLocks noGrp="1"/>
          </p:cNvSpPr>
          <p:nvPr/>
        </p:nvSpPr>
        <p:spPr>
          <a:xfrm>
            <a:off x="3247610" y="5422830"/>
            <a:ext cx="5095875" cy="266700"/>
          </a:xfrm>
          <a:prstGeom prst="roundRect">
            <a:avLst>
              <a:gd name="adj" fmla="val 17857"/>
            </a:avLst>
          </a:prstGeom>
          <a:solidFill>
            <a:srgbClr val="EAF2FF"/>
          </a:solidFill>
          <a:ln w="9525">
            <a:solidFill>
              <a:srgbClr val="C0D6F4"/>
            </a:solidFill>
            <a:prstDash val="solid"/>
          </a:ln>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17386F"/>
                </a:solidFill>
              </a:rPr>
              <a:t>★  通用框架提供骨架，平台知识填充差异，真实验证不断校准两者。</a:t>
            </a:r>
          </a:p>
        </p:txBody>
      </p:sp>
      <p:sp>
        <p:nvSpPr>
          <p:cNvPr id="16" name="slide-7-page-number"/>
          <p:cNvSpPr>
            <a:spLocks noGrp="1"/>
          </p:cNvSpPr>
          <p:nvPr/>
        </p:nvSpPr>
        <p:spPr>
          <a:xfrm>
            <a:off x="11449050" y="21082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sz="1200">
                <a:solidFill>
                  <a:srgbClr val="FFFFFF"/>
                </a:solidFill>
                <a:cs typeface="微软雅黑" panose="020B0503020204020204" charset="-122"/>
              </a:rPr>
              <a:t>7</a:t>
            </a:r>
          </a:p>
        </p:txBody>
      </p:sp>
      <p:sp>
        <p:nvSpPr>
          <p:cNvPr id="17" name="slide-7-editable-footer"/>
          <p:cNvSpPr>
            <a:spLocks noGrp="1"/>
          </p:cNvSpPr>
          <p:nvPr/>
        </p:nvSpPr>
        <p:spPr>
          <a:xfrm>
            <a:off x="228600" y="6400800"/>
            <a:ext cx="11696700" cy="390525"/>
          </a:xfrm>
          <a:prstGeom prst="roundRect">
            <a:avLst>
              <a:gd name="adj" fmla="val 14634"/>
            </a:avLst>
          </a:prstGeom>
          <a:solidFill>
            <a:srgbClr val="EEF4FE"/>
          </a:solidFill>
          <a:ln w="0">
            <a:solidFill>
              <a:srgbClr val="EEF4FE"/>
            </a:solidFill>
            <a:prstDash val="solid"/>
          </a:ln>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072A67"/>
                </a:solidFill>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0E56C9"/>
          </a:solidFill>
          <a:ln w="0">
            <a:solidFill>
              <a:srgbClr val="0E56C9"/>
            </a:solidFill>
            <a:prstDash val="solid"/>
          </a:ln>
        </p:spPr>
      </p:sp>
      <p:sp>
        <p:nvSpPr>
          <p:cNvPr id="19" name="s15-universal-frame"/>
          <p:cNvSpPr>
            <a:spLocks noGrp="1"/>
          </p:cNvSpPr>
          <p:nvPr/>
        </p:nvSpPr>
        <p:spPr>
          <a:xfrm>
            <a:off x="3676235" y="869880"/>
            <a:ext cx="4743450" cy="990600"/>
          </a:xfrm>
          <a:prstGeom prst="roundRect">
            <a:avLst>
              <a:gd name="adj" fmla="val 8654"/>
            </a:avLst>
          </a:prstGeom>
          <a:solidFill>
            <a:srgbClr val="F8FBFF"/>
          </a:solidFill>
          <a:ln w="13335">
            <a:solidFill>
              <a:srgbClr val="1457C5"/>
            </a:solidFill>
            <a:prstDash val="solid"/>
          </a:ln>
        </p:spPr>
      </p:sp>
      <p:sp>
        <p:nvSpPr>
          <p:cNvPr id="20" name="s15-universal-title"/>
          <p:cNvSpPr>
            <a:spLocks noGrp="1"/>
          </p:cNvSpPr>
          <p:nvPr/>
        </p:nvSpPr>
        <p:spPr>
          <a:xfrm>
            <a:off x="3760573" y="953386"/>
            <a:ext cx="4514850" cy="295275"/>
          </a:xfrm>
          <a:prstGeom prst="rect">
            <a:avLst/>
          </a:prstGeom>
          <a:noFill/>
          <a:ln w="0">
            <a:noFill/>
            <a:prstDash val="solid"/>
          </a:ln>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smtClean="0">
                <a:solidFill>
                  <a:srgbClr val="1457C5"/>
                </a:solidFill>
                <a:latin typeface="微软雅黑" panose="020B0503020204020204" charset="-122"/>
                <a:ea typeface="微软雅黑" panose="020B0503020204020204" charset="-122"/>
                <a:cs typeface="微软雅黑" panose="020B0503020204020204" charset="-122"/>
              </a:rPr>
              <a:t>通用框架</a:t>
            </a:r>
            <a:endParaRPr sz="16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21" name="s15-universal-subtitle"/>
          <p:cNvSpPr>
            <a:spLocks noGrp="1"/>
          </p:cNvSpPr>
          <p:nvPr/>
        </p:nvSpPr>
        <p:spPr>
          <a:xfrm>
            <a:off x="3781010" y="1201036"/>
            <a:ext cx="4514850" cy="666750"/>
          </a:xfrm>
          <a:prstGeom prst="rect">
            <a:avLst/>
          </a:prstGeom>
          <a:noFill/>
          <a:ln w="0">
            <a:noFill/>
            <a:prstDash val="solid"/>
          </a:ln>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7364A"/>
                </a:solidFill>
              </a:rPr>
              <a:t>需求</a:t>
            </a:r>
            <a:r>
              <a:rPr sz="1400" dirty="0">
                <a:solidFill>
                  <a:srgbClr val="27364A"/>
                </a:solidFill>
              </a:rPr>
              <a:t> → </a:t>
            </a:r>
            <a:r>
              <a:rPr sz="1400" dirty="0" err="1">
                <a:solidFill>
                  <a:srgbClr val="27364A"/>
                </a:solidFill>
              </a:rPr>
              <a:t>生成</a:t>
            </a:r>
            <a:r>
              <a:rPr sz="1400" dirty="0">
                <a:solidFill>
                  <a:srgbClr val="27364A"/>
                </a:solidFill>
              </a:rPr>
              <a:t> → </a:t>
            </a:r>
            <a:r>
              <a:rPr sz="1400" dirty="0" err="1">
                <a:solidFill>
                  <a:srgbClr val="27364A"/>
                </a:solidFill>
              </a:rPr>
              <a:t>验证</a:t>
            </a:r>
            <a:r>
              <a:rPr sz="1400" dirty="0">
                <a:solidFill>
                  <a:srgbClr val="27364A"/>
                </a:solidFill>
              </a:rPr>
              <a:t> → </a:t>
            </a:r>
            <a:r>
              <a:rPr sz="1400" dirty="0" err="1">
                <a:solidFill>
                  <a:srgbClr val="27364A"/>
                </a:solidFill>
              </a:rPr>
              <a:t>优化</a:t>
            </a:r>
            <a:r>
              <a:rPr sz="1400" dirty="0">
                <a:solidFill>
                  <a:srgbClr val="27364A"/>
                </a:solidFill>
              </a:rPr>
              <a:t> → </a:t>
            </a:r>
            <a:r>
              <a:rPr sz="1400" dirty="0" err="1" smtClean="0">
                <a:solidFill>
                  <a:srgbClr val="27364A"/>
                </a:solidFill>
              </a:rPr>
              <a:t>输出</a:t>
            </a:r>
            <a:endParaRPr sz="1400" dirty="0">
              <a:solidFill>
                <a:srgbClr val="27364A"/>
              </a:solidFill>
            </a:endParaRPr>
          </a:p>
        </p:txBody>
      </p:sp>
      <p:sp>
        <p:nvSpPr>
          <p:cNvPr id="22" name="s15-arrow-1"/>
          <p:cNvSpPr>
            <a:spLocks noGrp="1"/>
          </p:cNvSpPr>
          <p:nvPr/>
        </p:nvSpPr>
        <p:spPr>
          <a:xfrm>
            <a:off x="5905085" y="1841430"/>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1457C5"/>
                </a:solidFill>
                <a:latin typeface="微软雅黑" panose="020B0503020204020204" charset="-122"/>
                <a:ea typeface="微软雅黑" panose="020B0503020204020204" charset="-122"/>
                <a:cs typeface="Calibri" panose="020F0502020204030204"/>
              </a:rPr>
              <a:t>↓</a:t>
            </a:r>
          </a:p>
        </p:txBody>
      </p:sp>
      <p:sp>
        <p:nvSpPr>
          <p:cNvPr id="23" name="s15-platform-frame"/>
          <p:cNvSpPr>
            <a:spLocks noGrp="1"/>
          </p:cNvSpPr>
          <p:nvPr/>
        </p:nvSpPr>
        <p:spPr>
          <a:xfrm>
            <a:off x="3676235" y="2060505"/>
            <a:ext cx="4743450" cy="1257300"/>
          </a:xfrm>
          <a:prstGeom prst="roundRect">
            <a:avLst>
              <a:gd name="adj" fmla="val 6818"/>
            </a:avLst>
          </a:prstGeom>
          <a:solidFill>
            <a:srgbClr val="F7FCF8"/>
          </a:solidFill>
          <a:ln w="13335">
            <a:solidFill>
              <a:srgbClr val="14855C"/>
            </a:solidFill>
            <a:prstDash val="solid"/>
          </a:ln>
        </p:spPr>
      </p:sp>
      <p:sp>
        <p:nvSpPr>
          <p:cNvPr id="24" name="s15-platform-title"/>
          <p:cNvSpPr>
            <a:spLocks noGrp="1"/>
          </p:cNvSpPr>
          <p:nvPr/>
        </p:nvSpPr>
        <p:spPr>
          <a:xfrm>
            <a:off x="3790535" y="2098605"/>
            <a:ext cx="4514850" cy="295275"/>
          </a:xfrm>
          <a:prstGeom prst="rect">
            <a:avLst/>
          </a:prstGeom>
          <a:noFill/>
          <a:ln w="0">
            <a:noFill/>
            <a:prstDash val="solid"/>
          </a:ln>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smtClean="0">
                <a:solidFill>
                  <a:srgbClr val="14855C"/>
                </a:solidFill>
                <a:latin typeface="微软雅黑" panose="020B0503020204020204" charset="-122"/>
                <a:ea typeface="微软雅黑" panose="020B0503020204020204" charset="-122"/>
                <a:cs typeface="微软雅黑" panose="020B0503020204020204" charset="-122"/>
              </a:rPr>
              <a:t>平台知识</a:t>
            </a:r>
            <a:endParaRPr sz="1600" dirty="0">
              <a:solidFill>
                <a:srgbClr val="14855C"/>
              </a:solidFill>
              <a:latin typeface="微软雅黑" panose="020B0503020204020204" charset="-122"/>
              <a:ea typeface="微软雅黑" panose="020B0503020204020204" charset="-122"/>
              <a:cs typeface="微软雅黑" panose="020B0503020204020204" charset="-122"/>
            </a:endParaRPr>
          </a:p>
        </p:txBody>
      </p:sp>
      <p:sp>
        <p:nvSpPr>
          <p:cNvPr id="25" name="s15-platform-left"/>
          <p:cNvSpPr>
            <a:spLocks noGrp="1"/>
          </p:cNvSpPr>
          <p:nvPr/>
        </p:nvSpPr>
        <p:spPr>
          <a:xfrm>
            <a:off x="4543010" y="2460555"/>
            <a:ext cx="1276350" cy="561975"/>
          </a:xfrm>
          <a:prstGeom prst="rect">
            <a:avLst/>
          </a:prstGeom>
          <a:noFill/>
          <a:ln w="0">
            <a:noFill/>
            <a:prstDash val="solid"/>
          </a:ln>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7364A"/>
                </a:solidFill>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7364A"/>
                </a:solidFill>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7364A"/>
                </a:solidFill>
                <a:cs typeface="微软雅黑" panose="020B0503020204020204" charset="-122"/>
              </a:rPr>
              <a:t>Profiler</a:t>
            </a:r>
          </a:p>
        </p:txBody>
      </p:sp>
      <p:sp>
        <p:nvSpPr>
          <p:cNvPr id="26" name="s15-platform-mid-rule"/>
          <p:cNvSpPr>
            <a:spLocks noGrp="1"/>
          </p:cNvSpPr>
          <p:nvPr/>
        </p:nvSpPr>
        <p:spPr>
          <a:xfrm>
            <a:off x="5914610" y="2479605"/>
            <a:ext cx="9525" cy="514350"/>
          </a:xfrm>
          <a:prstGeom prst="rect">
            <a:avLst/>
          </a:prstGeom>
          <a:solidFill>
            <a:srgbClr val="BBD8C5"/>
          </a:solidFill>
          <a:ln w="0">
            <a:solidFill>
              <a:srgbClr val="BBD8C5"/>
            </a:solidFill>
            <a:prstDash val="solid"/>
          </a:ln>
        </p:spPr>
      </p:sp>
      <p:sp>
        <p:nvSpPr>
          <p:cNvPr id="27" name="s15-platform-right"/>
          <p:cNvSpPr>
            <a:spLocks noGrp="1"/>
          </p:cNvSpPr>
          <p:nvPr/>
        </p:nvSpPr>
        <p:spPr>
          <a:xfrm>
            <a:off x="6209885" y="2460555"/>
            <a:ext cx="1695450" cy="561975"/>
          </a:xfrm>
          <a:prstGeom prst="rect">
            <a:avLst/>
          </a:prstGeom>
          <a:noFill/>
          <a:ln w="0">
            <a:noFill/>
            <a:prstDash val="solid"/>
          </a:ln>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7364A"/>
                </a:solidFill>
                <a:cs typeface="微软雅黑" panose="020B0503020204020204" charset="-122"/>
              </a:rPr>
              <a:t>Programming Model</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7364A"/>
                </a:solidFill>
                <a:cs typeface="微软雅黑" panose="020B0503020204020204" charset="-122"/>
              </a:rPr>
              <a:t>Environment /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7364A"/>
                </a:solidFill>
                <a:cs typeface="微软雅黑" panose="020B0503020204020204" charset="-122"/>
              </a:rPr>
              <a:t>Optimization / Examples</a:t>
            </a:r>
          </a:p>
        </p:txBody>
      </p:sp>
      <p:sp>
        <p:nvSpPr>
          <p:cNvPr id="28" name="s15-platform-sources"/>
          <p:cNvSpPr>
            <a:spLocks noGrp="1"/>
          </p:cNvSpPr>
          <p:nvPr/>
        </p:nvSpPr>
        <p:spPr>
          <a:xfrm>
            <a:off x="4390610" y="3041580"/>
            <a:ext cx="3324225" cy="209550"/>
          </a:xfrm>
          <a:prstGeom prst="roundRect">
            <a:avLst>
              <a:gd name="adj" fmla="val 22727"/>
            </a:avLst>
          </a:prstGeom>
          <a:solidFill>
            <a:srgbClr val="EFF8F3"/>
          </a:solidFill>
          <a:ln w="9525">
            <a:solidFill>
              <a:srgbClr val="B7DDBD"/>
            </a:solidFill>
            <a:prstDash val="solid"/>
          </a:ln>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14855C"/>
                </a:solidFill>
              </a:rPr>
              <a:t>官方资料 + 环境检测 + 微基准 + 算子实践</a:t>
            </a:r>
          </a:p>
        </p:txBody>
      </p:sp>
      <p:sp>
        <p:nvSpPr>
          <p:cNvPr id="29" name="s15-arrow-2"/>
          <p:cNvSpPr>
            <a:spLocks noGrp="1"/>
          </p:cNvSpPr>
          <p:nvPr/>
        </p:nvSpPr>
        <p:spPr>
          <a:xfrm>
            <a:off x="5905085" y="3298755"/>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14855C"/>
                </a:solidFill>
                <a:latin typeface="微软雅黑" panose="020B0503020204020204" charset="-122"/>
                <a:ea typeface="微软雅黑" panose="020B0503020204020204" charset="-122"/>
                <a:cs typeface="Calibri" panose="020F0502020204030204"/>
              </a:rPr>
              <a:t>↓</a:t>
            </a:r>
          </a:p>
        </p:txBody>
      </p:sp>
      <p:sp>
        <p:nvSpPr>
          <p:cNvPr id="30" name="s15-validation-frame"/>
          <p:cNvSpPr>
            <a:spLocks noGrp="1"/>
          </p:cNvSpPr>
          <p:nvPr/>
        </p:nvSpPr>
        <p:spPr>
          <a:xfrm>
            <a:off x="3676235" y="3470205"/>
            <a:ext cx="4743450" cy="1057275"/>
          </a:xfrm>
          <a:prstGeom prst="roundRect">
            <a:avLst>
              <a:gd name="adj" fmla="val 8108"/>
            </a:avLst>
          </a:prstGeom>
          <a:solidFill>
            <a:srgbClr val="F8FBFF"/>
          </a:solidFill>
          <a:ln w="13335">
            <a:solidFill>
              <a:srgbClr val="1457C5"/>
            </a:solidFill>
            <a:prstDash val="solid"/>
          </a:ln>
        </p:spPr>
      </p:sp>
      <p:sp>
        <p:nvSpPr>
          <p:cNvPr id="31" name="s15-validation-title"/>
          <p:cNvSpPr>
            <a:spLocks noGrp="1"/>
          </p:cNvSpPr>
          <p:nvPr/>
        </p:nvSpPr>
        <p:spPr>
          <a:xfrm>
            <a:off x="3790535" y="3508305"/>
            <a:ext cx="4514850" cy="295275"/>
          </a:xfrm>
          <a:prstGeom prst="rect">
            <a:avLst/>
          </a:prstGeom>
          <a:noFill/>
          <a:ln w="0">
            <a:noFill/>
            <a:prstDash val="solid"/>
          </a:ln>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smtClean="0">
                <a:solidFill>
                  <a:srgbClr val="1457C5"/>
                </a:solidFill>
                <a:latin typeface="微软雅黑" panose="020B0503020204020204" charset="-122"/>
                <a:ea typeface="微软雅黑" panose="020B0503020204020204" charset="-122"/>
                <a:cs typeface="微软雅黑" panose="020B0503020204020204" charset="-122"/>
              </a:rPr>
              <a:t>验证与校准</a:t>
            </a:r>
            <a:endParaRPr sz="16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32" name="s15-validation-subtitle"/>
          <p:cNvSpPr>
            <a:spLocks noGrp="1"/>
          </p:cNvSpPr>
          <p:nvPr/>
        </p:nvSpPr>
        <p:spPr>
          <a:xfrm>
            <a:off x="3790535" y="3755955"/>
            <a:ext cx="4514850" cy="733425"/>
          </a:xfrm>
          <a:prstGeom prst="rect">
            <a:avLst/>
          </a:prstGeom>
          <a:noFill/>
          <a:ln w="0">
            <a:noFill/>
            <a:prstDash val="solid"/>
          </a:ln>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LayerNorm · Softmax · MatMul</a:t>
            </a:r>
          </a:p>
        </p:txBody>
      </p:sp>
      <p:sp>
        <p:nvSpPr>
          <p:cNvPr id="33" name="s15-arrow-3-left"/>
          <p:cNvSpPr>
            <a:spLocks noGrp="1"/>
          </p:cNvSpPr>
          <p:nvPr/>
        </p:nvSpPr>
        <p:spPr>
          <a:xfrm>
            <a:off x="4685885" y="4508430"/>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1457C5"/>
                </a:solidFill>
                <a:latin typeface="微软雅黑" panose="020B0503020204020204" charset="-122"/>
                <a:ea typeface="微软雅黑" panose="020B0503020204020204" charset="-122"/>
                <a:cs typeface="Calibri" panose="020F0502020204030204"/>
              </a:rPr>
              <a:t>↓</a:t>
            </a:r>
          </a:p>
        </p:txBody>
      </p:sp>
      <p:sp>
        <p:nvSpPr>
          <p:cNvPr id="34" name="s15-arrow-3-right"/>
          <p:cNvSpPr>
            <a:spLocks noGrp="1"/>
          </p:cNvSpPr>
          <p:nvPr/>
        </p:nvSpPr>
        <p:spPr>
          <a:xfrm>
            <a:off x="7067135" y="4508430"/>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1457C5"/>
                </a:solidFill>
                <a:latin typeface="微软雅黑" panose="020B0503020204020204" charset="-122"/>
                <a:ea typeface="微软雅黑" panose="020B0503020204020204" charset="-122"/>
                <a:cs typeface="Calibri" panose="020F0502020204030204"/>
              </a:rPr>
              <a:t>↓</a:t>
            </a:r>
          </a:p>
        </p:txBody>
      </p:sp>
      <p:sp>
        <p:nvSpPr>
          <p:cNvPr id="35" name="s15-update-knowledge"/>
          <p:cNvSpPr>
            <a:spLocks noGrp="1"/>
          </p:cNvSpPr>
          <p:nvPr/>
        </p:nvSpPr>
        <p:spPr>
          <a:xfrm>
            <a:off x="3733385" y="4698930"/>
            <a:ext cx="1847850" cy="428625"/>
          </a:xfrm>
          <a:prstGeom prst="roundRect">
            <a:avLst>
              <a:gd name="adj" fmla="val 15556"/>
            </a:avLst>
          </a:prstGeom>
          <a:solidFill>
            <a:srgbClr val="FFFDF7"/>
          </a:solidFill>
          <a:ln w="11430">
            <a:solidFill>
              <a:srgbClr val="F0A640"/>
            </a:solidFill>
            <a:prstDash val="solid"/>
          </a:ln>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Update Knowledge</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更新平台知识</a:t>
            </a:r>
          </a:p>
        </p:txBody>
      </p:sp>
      <p:sp>
        <p:nvSpPr>
          <p:cNvPr id="36" name="s15-adjust-workflow"/>
          <p:cNvSpPr>
            <a:spLocks noGrp="1"/>
          </p:cNvSpPr>
          <p:nvPr/>
        </p:nvSpPr>
        <p:spPr>
          <a:xfrm>
            <a:off x="6381335" y="4698930"/>
            <a:ext cx="1752600" cy="428625"/>
          </a:xfrm>
          <a:prstGeom prst="roundRect">
            <a:avLst>
              <a:gd name="adj" fmla="val 15556"/>
            </a:avLst>
          </a:prstGeom>
          <a:solidFill>
            <a:srgbClr val="FFFDF7"/>
          </a:solidFill>
          <a:ln w="11430">
            <a:solidFill>
              <a:srgbClr val="F0A640"/>
            </a:solidFill>
            <a:prstDash val="solid"/>
          </a:ln>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Adjust Workflow</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修正通用流程</a:t>
            </a:r>
          </a:p>
        </p:txBody>
      </p:sp>
      <p:sp>
        <p:nvSpPr>
          <p:cNvPr id="37" name="s15-feedback-loop"/>
          <p:cNvSpPr>
            <a:spLocks noGrp="1"/>
          </p:cNvSpPr>
          <p:nvPr/>
        </p:nvSpPr>
        <p:spPr>
          <a:xfrm>
            <a:off x="3800060" y="5146605"/>
            <a:ext cx="4248150" cy="228600"/>
          </a:xfrm>
          <a:prstGeom prst="rect">
            <a:avLst/>
          </a:prstGeom>
          <a:noFill/>
          <a:ln w="0">
            <a:noFill/>
            <a:prstDash val="solid"/>
          </a:ln>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072A67"/>
                </a:solidFill>
              </a:rPr>
              <a:t>↺  反馈校准：按问题类型回到框架或平台知识</a:t>
            </a:r>
          </a:p>
        </p:txBody>
      </p:sp>
      <p:sp>
        <p:nvSpPr>
          <p:cNvPr id="83" name="s15-feedback-label"/>
          <p:cNvSpPr>
            <a:spLocks noGrp="1"/>
          </p:cNvSpPr>
          <p:nvPr/>
        </p:nvSpPr>
        <p:spPr>
          <a:xfrm>
            <a:off x="1628775" y="5800725"/>
            <a:ext cx="1304925" cy="514350"/>
          </a:xfrm>
          <a:prstGeom prst="roundRect">
            <a:avLst>
              <a:gd name="adj" fmla="val 12963"/>
            </a:avLst>
          </a:prstGeom>
          <a:solidFill>
            <a:srgbClr val="072A67"/>
          </a:solidFill>
          <a:ln w="0">
            <a:solidFill>
              <a:srgbClr val="072A67"/>
            </a:solidFill>
            <a:prstDash val="solid"/>
          </a:ln>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a:solidFill>
                  <a:srgbClr val="FFFFFF"/>
                </a:solidFill>
                <a:cs typeface="微软雅黑" panose="020B0503020204020204" charset="-122"/>
              </a:rPr>
              <a:t>反馈规则</a:t>
            </a:r>
          </a:p>
        </p:txBody>
      </p:sp>
      <p:sp>
        <p:nvSpPr>
          <p:cNvPr id="84" name="s15-feedback-1-title"/>
          <p:cNvSpPr>
            <a:spLocks noGrp="1"/>
          </p:cNvSpPr>
          <p:nvPr/>
        </p:nvSpPr>
        <p:spPr>
          <a:xfrm>
            <a:off x="3086100" y="5838825"/>
            <a:ext cx="1885950" cy="190500"/>
          </a:xfrm>
          <a:prstGeom prst="rect">
            <a:avLst/>
          </a:prstGeom>
          <a:noFill/>
          <a:ln w="0">
            <a:noFill/>
            <a:prstDash val="solid"/>
          </a:ln>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14855C"/>
                </a:solidFill>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072A67"/>
                </a:solidFill>
              </a:rPr>
              <a:t>→ 更新 Platform Knowledge</a:t>
            </a:r>
          </a:p>
        </p:txBody>
      </p:sp>
      <p:sp>
        <p:nvSpPr>
          <p:cNvPr id="86" name="s15-feedback-divider-1"/>
          <p:cNvSpPr>
            <a:spLocks noGrp="1"/>
          </p:cNvSpPr>
          <p:nvPr/>
        </p:nvSpPr>
        <p:spPr>
          <a:xfrm>
            <a:off x="5124450" y="5867400"/>
            <a:ext cx="9525" cy="381000"/>
          </a:xfrm>
          <a:prstGeom prst="rect">
            <a:avLst/>
          </a:prstGeom>
          <a:solidFill>
            <a:srgbClr val="C6D1E0"/>
          </a:solidFill>
          <a:ln w="0">
            <a:solidFill>
              <a:srgbClr val="C6D1E0"/>
            </a:solidFill>
            <a:prstDash val="solid"/>
          </a:ln>
        </p:spPr>
      </p:sp>
      <p:sp>
        <p:nvSpPr>
          <p:cNvPr id="87" name="s15-feedback-2-title"/>
          <p:cNvSpPr>
            <a:spLocks noGrp="1"/>
          </p:cNvSpPr>
          <p:nvPr/>
        </p:nvSpPr>
        <p:spPr>
          <a:xfrm>
            <a:off x="5276850" y="5838825"/>
            <a:ext cx="1885950" cy="190500"/>
          </a:xfrm>
          <a:prstGeom prst="rect">
            <a:avLst/>
          </a:prstGeom>
          <a:noFill/>
          <a:ln w="0">
            <a:noFill/>
            <a:prstDash val="solid"/>
          </a:ln>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E97132"/>
                </a:solidFill>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072A67"/>
                </a:solidFill>
              </a:rPr>
              <a:t>→ 更新 Optimization Rules</a:t>
            </a:r>
          </a:p>
        </p:txBody>
      </p:sp>
      <p:sp>
        <p:nvSpPr>
          <p:cNvPr id="89" name="s15-feedback-divider-2"/>
          <p:cNvSpPr>
            <a:spLocks noGrp="1"/>
          </p:cNvSpPr>
          <p:nvPr/>
        </p:nvSpPr>
        <p:spPr>
          <a:xfrm>
            <a:off x="7315200" y="5867400"/>
            <a:ext cx="9525" cy="381000"/>
          </a:xfrm>
          <a:prstGeom prst="rect">
            <a:avLst/>
          </a:prstGeom>
          <a:solidFill>
            <a:srgbClr val="C6D1E0"/>
          </a:solidFill>
          <a:ln w="0">
            <a:solidFill>
              <a:srgbClr val="C6D1E0"/>
            </a:solidFill>
            <a:prstDash val="solid"/>
          </a:ln>
        </p:spPr>
      </p:sp>
      <p:sp>
        <p:nvSpPr>
          <p:cNvPr id="90" name="s15-feedback-3-title"/>
          <p:cNvSpPr>
            <a:spLocks noGrp="1"/>
          </p:cNvSpPr>
          <p:nvPr/>
        </p:nvSpPr>
        <p:spPr>
          <a:xfrm>
            <a:off x="7467600" y="5838825"/>
            <a:ext cx="1885950" cy="190500"/>
          </a:xfrm>
          <a:prstGeom prst="rect">
            <a:avLst/>
          </a:prstGeom>
          <a:noFill/>
          <a:ln w="0">
            <a:noFill/>
            <a:prstDash val="solid"/>
          </a:ln>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1457C5"/>
                </a:solidFill>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072A67"/>
                </a:solidFill>
              </a:rPr>
              <a:t>→ 调整 Workflow / Contract</a:t>
            </a:r>
          </a:p>
        </p:txBody>
      </p:sp>
    </p:spTree>
    <p:extLst>
      <p:ext uri="{BB962C8B-B14F-4D97-AF65-F5344CB8AC3E}">
        <p14:creationId xmlns:p14="http://schemas.microsoft.com/office/powerpoint/2010/main" val="3006313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7-title"/>
          <p:cNvSpPr>
            <a:spLocks noGrp="1"/>
          </p:cNvSpPr>
          <p:nvPr/>
        </p:nvSpPr>
        <p:spPr>
          <a:xfrm>
            <a:off x="1487170" y="165735"/>
            <a:ext cx="8763000" cy="466725"/>
          </a:xfrm>
          <a:prstGeom prst="rect">
            <a:avLst/>
          </a:prstGeom>
          <a:solidFill>
            <a:srgbClr val="FFFFFF"/>
          </a:solidFill>
          <a:ln w="0">
            <a:noFill/>
            <a:prstDash val="solid"/>
          </a:ln>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a:solidFill>
                  <a:srgbClr val="072A67"/>
                </a:solidFill>
              </a:rPr>
              <a:t>算子 Skill 开发指南：通用框架 × 平台知识 × 验证闭环</a:t>
            </a:r>
          </a:p>
        </p:txBody>
      </p:sp>
      <p:sp>
        <p:nvSpPr>
          <p:cNvPr id="8" name="universal-framework-question"/>
          <p:cNvSpPr>
            <a:spLocks noGrp="1"/>
          </p:cNvSpPr>
          <p:nvPr/>
        </p:nvSpPr>
        <p:spPr>
          <a:xfrm>
            <a:off x="6477000" y="885825"/>
            <a:ext cx="5095875" cy="257175"/>
          </a:xfrm>
          <a:prstGeom prst="rect">
            <a:avLst/>
          </a:prstGeom>
          <a:noFill/>
          <a:ln w="0">
            <a:noFill/>
            <a:prstDash val="solid"/>
          </a:ln>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0A43A0"/>
                </a:solidFill>
              </a:rPr>
              <a:t>① 通用框架｜什么东西应该保持稳定？</a:t>
            </a:r>
          </a:p>
        </p:txBody>
      </p:sp>
      <p:sp>
        <p:nvSpPr>
          <p:cNvPr id="9" name="universal-framework-takeaway"/>
          <p:cNvSpPr>
            <a:spLocks noGrp="1"/>
          </p:cNvSpPr>
          <p:nvPr/>
        </p:nvSpPr>
        <p:spPr>
          <a:xfrm>
            <a:off x="6600190" y="2095500"/>
            <a:ext cx="4257675" cy="228600"/>
          </a:xfrm>
          <a:prstGeom prst="roundRect">
            <a:avLst>
              <a:gd name="adj" fmla="val 20833"/>
            </a:avLst>
          </a:prstGeom>
          <a:solidFill>
            <a:srgbClr val="E5F0FF"/>
          </a:solidFill>
          <a:ln w="9525">
            <a:solidFill>
              <a:srgbClr val="BAD3F6"/>
            </a:solidFill>
            <a:prstDash val="solid"/>
          </a:ln>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17386F"/>
                </a:solidFill>
                <a:cs typeface="微软雅黑" panose="020B0503020204020204" charset="-122"/>
              </a:rPr>
              <a:t>框架有时也需要根据实际情况进行微调。</a:t>
            </a:r>
          </a:p>
        </p:txBody>
      </p:sp>
      <p:sp>
        <p:nvSpPr>
          <p:cNvPr id="10" name="platform-knowledge-question"/>
          <p:cNvSpPr>
            <a:spLocks noGrp="1"/>
          </p:cNvSpPr>
          <p:nvPr/>
        </p:nvSpPr>
        <p:spPr>
          <a:xfrm>
            <a:off x="6477000" y="2390775"/>
            <a:ext cx="5095875" cy="257175"/>
          </a:xfrm>
          <a:prstGeom prst="rect">
            <a:avLst/>
          </a:prstGeom>
          <a:noFill/>
          <a:ln w="0">
            <a:noFill/>
            <a:prstDash val="solid"/>
          </a:ln>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087B35"/>
                </a:solidFill>
              </a:rPr>
              <a:t>② 平台知识｜换平台时到底要补什么？</a:t>
            </a:r>
          </a:p>
        </p:txBody>
      </p:sp>
      <p:sp>
        <p:nvSpPr>
          <p:cNvPr id="11" name="platform-knowledge-takeaway"/>
          <p:cNvSpPr>
            <a:spLocks noGrp="1"/>
          </p:cNvSpPr>
          <p:nvPr/>
        </p:nvSpPr>
        <p:spPr>
          <a:xfrm>
            <a:off x="6686550" y="3838575"/>
            <a:ext cx="4895850" cy="219075"/>
          </a:xfrm>
          <a:prstGeom prst="roundRect">
            <a:avLst>
              <a:gd name="adj" fmla="val 21739"/>
            </a:avLst>
          </a:prstGeom>
          <a:solidFill>
            <a:srgbClr val="EEF8EA"/>
          </a:solidFill>
          <a:ln w="9525">
            <a:solidFill>
              <a:srgbClr val="C5E0BE"/>
            </a:solidFill>
            <a:prstDash val="solid"/>
          </a:ln>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176B31"/>
                </a:solidFill>
              </a:rPr>
              <a:t>官方资料定义“支持什么”，真实测试补充“实际表现如何”。</a:t>
            </a:r>
          </a:p>
        </p:txBody>
      </p:sp>
      <p:sp>
        <p:nvSpPr>
          <p:cNvPr id="12" name="validation-loop-question"/>
          <p:cNvSpPr>
            <a:spLocks noGrp="1"/>
          </p:cNvSpPr>
          <p:nvPr/>
        </p:nvSpPr>
        <p:spPr>
          <a:xfrm>
            <a:off x="6477000" y="4143375"/>
            <a:ext cx="5219700" cy="257175"/>
          </a:xfrm>
          <a:prstGeom prst="rect">
            <a:avLst/>
          </a:prstGeom>
          <a:noFill/>
          <a:ln w="0">
            <a:noFill/>
            <a:prstDash val="solid"/>
          </a:ln>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0A43A0"/>
                </a:solidFill>
              </a:rPr>
              <a:t>③ 验证闭环｜怎么确认收到的知识真的能用？</a:t>
            </a:r>
          </a:p>
        </p:txBody>
      </p:sp>
      <p:sp>
        <p:nvSpPr>
          <p:cNvPr id="13" name="validation-loop-takeaway"/>
          <p:cNvSpPr>
            <a:spLocks noGrp="1"/>
          </p:cNvSpPr>
          <p:nvPr/>
        </p:nvSpPr>
        <p:spPr>
          <a:xfrm>
            <a:off x="6896100" y="5438775"/>
            <a:ext cx="4686300" cy="228600"/>
          </a:xfrm>
          <a:prstGeom prst="roundRect">
            <a:avLst>
              <a:gd name="adj" fmla="val 20833"/>
            </a:avLst>
          </a:prstGeom>
          <a:solidFill>
            <a:srgbClr val="E5F0FF"/>
          </a:solidFill>
          <a:ln w="9525">
            <a:solidFill>
              <a:srgbClr val="BAD3F6"/>
            </a:solidFill>
            <a:prstDash val="solid"/>
          </a:ln>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17386F"/>
                </a:solidFill>
                <a:cs typeface="微软雅黑" panose="020B0503020204020204" charset="-122"/>
              </a:rPr>
              <a:t>后续不同平台统一使用这三个算子，保证评价口径一致。</a:t>
            </a:r>
          </a:p>
        </p:txBody>
      </p:sp>
      <p:sp>
        <p:nvSpPr>
          <p:cNvPr id="14" name="framework-synthesis"/>
          <p:cNvSpPr>
            <a:spLocks noGrp="1"/>
          </p:cNvSpPr>
          <p:nvPr/>
        </p:nvSpPr>
        <p:spPr>
          <a:xfrm>
            <a:off x="514350" y="5419725"/>
            <a:ext cx="5095875" cy="266700"/>
          </a:xfrm>
          <a:prstGeom prst="roundRect">
            <a:avLst>
              <a:gd name="adj" fmla="val 17857"/>
            </a:avLst>
          </a:prstGeom>
          <a:solidFill>
            <a:srgbClr val="EAF2FF"/>
          </a:solidFill>
          <a:ln w="9525">
            <a:solidFill>
              <a:srgbClr val="C0D6F4"/>
            </a:solidFill>
            <a:prstDash val="solid"/>
          </a:ln>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17386F"/>
                </a:solidFill>
              </a:rPr>
              <a:t>★  通用框架提供骨架，平台知识填充差异，真实验证不断校准两者。</a:t>
            </a:r>
          </a:p>
        </p:txBody>
      </p:sp>
      <p:sp>
        <p:nvSpPr>
          <p:cNvPr id="16" name="slide-7-page-number"/>
          <p:cNvSpPr>
            <a:spLocks noGrp="1"/>
          </p:cNvSpPr>
          <p:nvPr/>
        </p:nvSpPr>
        <p:spPr>
          <a:xfrm>
            <a:off x="11449050" y="21082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sz="1200">
                <a:solidFill>
                  <a:srgbClr val="FFFFFF"/>
                </a:solidFill>
                <a:cs typeface="微软雅黑" panose="020B0503020204020204" charset="-122"/>
              </a:rPr>
              <a:t>7</a:t>
            </a:r>
          </a:p>
        </p:txBody>
      </p:sp>
      <p:sp>
        <p:nvSpPr>
          <p:cNvPr id="17" name="slide-7-editable-footer"/>
          <p:cNvSpPr>
            <a:spLocks noGrp="1"/>
          </p:cNvSpPr>
          <p:nvPr/>
        </p:nvSpPr>
        <p:spPr>
          <a:xfrm>
            <a:off x="228600" y="6400800"/>
            <a:ext cx="11696700" cy="390525"/>
          </a:xfrm>
          <a:prstGeom prst="roundRect">
            <a:avLst>
              <a:gd name="adj" fmla="val 14634"/>
            </a:avLst>
          </a:prstGeom>
          <a:solidFill>
            <a:srgbClr val="EEF4FE"/>
          </a:solidFill>
          <a:ln w="0">
            <a:solidFill>
              <a:srgbClr val="EEF4FE"/>
            </a:solidFill>
            <a:prstDash val="solid"/>
          </a:ln>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072A67"/>
                </a:solidFill>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0E56C9"/>
          </a:solidFill>
          <a:ln w="0">
            <a:solidFill>
              <a:srgbClr val="0E56C9"/>
            </a:solidFill>
            <a:prstDash val="solid"/>
          </a:ln>
        </p:spPr>
      </p:sp>
      <p:sp>
        <p:nvSpPr>
          <p:cNvPr id="19" name="s15-universal-frame"/>
          <p:cNvSpPr>
            <a:spLocks noGrp="1"/>
          </p:cNvSpPr>
          <p:nvPr/>
        </p:nvSpPr>
        <p:spPr>
          <a:xfrm>
            <a:off x="942975" y="866775"/>
            <a:ext cx="4743450" cy="990600"/>
          </a:xfrm>
          <a:prstGeom prst="roundRect">
            <a:avLst>
              <a:gd name="adj" fmla="val 8654"/>
            </a:avLst>
          </a:prstGeom>
          <a:solidFill>
            <a:srgbClr val="F8FBFF"/>
          </a:solidFill>
          <a:ln w="13335">
            <a:solidFill>
              <a:srgbClr val="1457C5"/>
            </a:solidFill>
            <a:prstDash val="solid"/>
          </a:ln>
        </p:spPr>
      </p:sp>
      <p:sp>
        <p:nvSpPr>
          <p:cNvPr id="20" name="s15-universal-title"/>
          <p:cNvSpPr>
            <a:spLocks noGrp="1"/>
          </p:cNvSpPr>
          <p:nvPr/>
        </p:nvSpPr>
        <p:spPr>
          <a:xfrm>
            <a:off x="1027313" y="950281"/>
            <a:ext cx="4514850" cy="295275"/>
          </a:xfrm>
          <a:prstGeom prst="rect">
            <a:avLst/>
          </a:prstGeom>
          <a:noFill/>
          <a:ln w="0">
            <a:noFill/>
            <a:prstDash val="solid"/>
          </a:ln>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smtClean="0">
                <a:solidFill>
                  <a:srgbClr val="1457C5"/>
                </a:solidFill>
                <a:latin typeface="微软雅黑" panose="020B0503020204020204" charset="-122"/>
                <a:ea typeface="微软雅黑" panose="020B0503020204020204" charset="-122"/>
                <a:cs typeface="微软雅黑" panose="020B0503020204020204" charset="-122"/>
              </a:rPr>
              <a:t>通用框架</a:t>
            </a:r>
            <a:endParaRPr sz="16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21" name="s15-universal-subtitle"/>
          <p:cNvSpPr>
            <a:spLocks noGrp="1"/>
          </p:cNvSpPr>
          <p:nvPr/>
        </p:nvSpPr>
        <p:spPr>
          <a:xfrm>
            <a:off x="1047750" y="1197931"/>
            <a:ext cx="4514850" cy="666750"/>
          </a:xfrm>
          <a:prstGeom prst="rect">
            <a:avLst/>
          </a:prstGeom>
          <a:noFill/>
          <a:ln w="0">
            <a:noFill/>
            <a:prstDash val="solid"/>
          </a:ln>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7364A"/>
                </a:solidFill>
              </a:rPr>
              <a:t>需求</a:t>
            </a:r>
            <a:r>
              <a:rPr sz="1400" dirty="0">
                <a:solidFill>
                  <a:srgbClr val="27364A"/>
                </a:solidFill>
              </a:rPr>
              <a:t> → </a:t>
            </a:r>
            <a:r>
              <a:rPr sz="1400" dirty="0" err="1">
                <a:solidFill>
                  <a:srgbClr val="27364A"/>
                </a:solidFill>
              </a:rPr>
              <a:t>生成</a:t>
            </a:r>
            <a:r>
              <a:rPr sz="1400" dirty="0">
                <a:solidFill>
                  <a:srgbClr val="27364A"/>
                </a:solidFill>
              </a:rPr>
              <a:t> → </a:t>
            </a:r>
            <a:r>
              <a:rPr sz="1400" dirty="0" err="1">
                <a:solidFill>
                  <a:srgbClr val="27364A"/>
                </a:solidFill>
              </a:rPr>
              <a:t>验证</a:t>
            </a:r>
            <a:r>
              <a:rPr sz="1400" dirty="0">
                <a:solidFill>
                  <a:srgbClr val="27364A"/>
                </a:solidFill>
              </a:rPr>
              <a:t> → </a:t>
            </a:r>
            <a:r>
              <a:rPr sz="1400" dirty="0" err="1">
                <a:solidFill>
                  <a:srgbClr val="27364A"/>
                </a:solidFill>
              </a:rPr>
              <a:t>优化</a:t>
            </a:r>
            <a:r>
              <a:rPr sz="1400" dirty="0">
                <a:solidFill>
                  <a:srgbClr val="27364A"/>
                </a:solidFill>
              </a:rPr>
              <a:t> → </a:t>
            </a:r>
            <a:r>
              <a:rPr sz="1400" dirty="0" err="1" smtClean="0">
                <a:solidFill>
                  <a:srgbClr val="27364A"/>
                </a:solidFill>
              </a:rPr>
              <a:t>输出</a:t>
            </a:r>
            <a:endParaRPr sz="1400" dirty="0">
              <a:solidFill>
                <a:srgbClr val="27364A"/>
              </a:solidFill>
            </a:endParaRPr>
          </a:p>
        </p:txBody>
      </p:sp>
      <p:sp>
        <p:nvSpPr>
          <p:cNvPr id="22" name="s15-arrow-1"/>
          <p:cNvSpPr>
            <a:spLocks noGrp="1"/>
          </p:cNvSpPr>
          <p:nvPr/>
        </p:nvSpPr>
        <p:spPr>
          <a:xfrm>
            <a:off x="3171825" y="1838325"/>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1457C5"/>
                </a:solidFill>
                <a:latin typeface="微软雅黑" panose="020B0503020204020204" charset="-122"/>
                <a:ea typeface="微软雅黑" panose="020B0503020204020204" charset="-122"/>
                <a:cs typeface="Calibri" panose="020F0502020204030204"/>
              </a:rPr>
              <a:t>↓</a:t>
            </a:r>
          </a:p>
        </p:txBody>
      </p:sp>
      <p:sp>
        <p:nvSpPr>
          <p:cNvPr id="23" name="s15-platform-frame"/>
          <p:cNvSpPr>
            <a:spLocks noGrp="1"/>
          </p:cNvSpPr>
          <p:nvPr/>
        </p:nvSpPr>
        <p:spPr>
          <a:xfrm>
            <a:off x="942975" y="2057400"/>
            <a:ext cx="4743450" cy="1257300"/>
          </a:xfrm>
          <a:prstGeom prst="roundRect">
            <a:avLst>
              <a:gd name="adj" fmla="val 6818"/>
            </a:avLst>
          </a:prstGeom>
          <a:solidFill>
            <a:srgbClr val="F7FCF8"/>
          </a:solidFill>
          <a:ln w="13335">
            <a:solidFill>
              <a:srgbClr val="14855C"/>
            </a:solidFill>
            <a:prstDash val="solid"/>
          </a:ln>
        </p:spPr>
      </p:sp>
      <p:sp>
        <p:nvSpPr>
          <p:cNvPr id="24" name="s15-platform-title"/>
          <p:cNvSpPr>
            <a:spLocks noGrp="1"/>
          </p:cNvSpPr>
          <p:nvPr/>
        </p:nvSpPr>
        <p:spPr>
          <a:xfrm>
            <a:off x="1057275" y="2095500"/>
            <a:ext cx="4514850" cy="295275"/>
          </a:xfrm>
          <a:prstGeom prst="rect">
            <a:avLst/>
          </a:prstGeom>
          <a:noFill/>
          <a:ln w="0">
            <a:noFill/>
            <a:prstDash val="solid"/>
          </a:ln>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smtClean="0">
                <a:solidFill>
                  <a:srgbClr val="14855C"/>
                </a:solidFill>
                <a:latin typeface="微软雅黑" panose="020B0503020204020204" charset="-122"/>
                <a:ea typeface="微软雅黑" panose="020B0503020204020204" charset="-122"/>
                <a:cs typeface="微软雅黑" panose="020B0503020204020204" charset="-122"/>
              </a:rPr>
              <a:t>平台知识</a:t>
            </a:r>
            <a:endParaRPr sz="1600" dirty="0">
              <a:solidFill>
                <a:srgbClr val="14855C"/>
              </a:solidFill>
              <a:latin typeface="微软雅黑" panose="020B0503020204020204" charset="-122"/>
              <a:ea typeface="微软雅黑" panose="020B0503020204020204" charset="-122"/>
              <a:cs typeface="微软雅黑" panose="020B0503020204020204" charset="-122"/>
            </a:endParaRPr>
          </a:p>
        </p:txBody>
      </p:sp>
      <p:sp>
        <p:nvSpPr>
          <p:cNvPr id="25" name="s15-platform-left"/>
          <p:cNvSpPr>
            <a:spLocks noGrp="1"/>
          </p:cNvSpPr>
          <p:nvPr/>
        </p:nvSpPr>
        <p:spPr>
          <a:xfrm>
            <a:off x="1809750" y="2457450"/>
            <a:ext cx="1276350" cy="561975"/>
          </a:xfrm>
          <a:prstGeom prst="rect">
            <a:avLst/>
          </a:prstGeom>
          <a:noFill/>
          <a:ln w="0">
            <a:noFill/>
            <a:prstDash val="solid"/>
          </a:ln>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7364A"/>
                </a:solidFill>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7364A"/>
                </a:solidFill>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7364A"/>
                </a:solidFill>
                <a:cs typeface="微软雅黑" panose="020B0503020204020204" charset="-122"/>
              </a:rPr>
              <a:t>Profiler</a:t>
            </a:r>
          </a:p>
        </p:txBody>
      </p:sp>
      <p:sp>
        <p:nvSpPr>
          <p:cNvPr id="26" name="s15-platform-mid-rule"/>
          <p:cNvSpPr>
            <a:spLocks noGrp="1"/>
          </p:cNvSpPr>
          <p:nvPr/>
        </p:nvSpPr>
        <p:spPr>
          <a:xfrm>
            <a:off x="3181350" y="2476500"/>
            <a:ext cx="9525" cy="514350"/>
          </a:xfrm>
          <a:prstGeom prst="rect">
            <a:avLst/>
          </a:prstGeom>
          <a:solidFill>
            <a:srgbClr val="BBD8C5"/>
          </a:solidFill>
          <a:ln w="0">
            <a:solidFill>
              <a:srgbClr val="BBD8C5"/>
            </a:solidFill>
            <a:prstDash val="solid"/>
          </a:ln>
        </p:spPr>
      </p:sp>
      <p:sp>
        <p:nvSpPr>
          <p:cNvPr id="27" name="s15-platform-right"/>
          <p:cNvSpPr>
            <a:spLocks noGrp="1"/>
          </p:cNvSpPr>
          <p:nvPr/>
        </p:nvSpPr>
        <p:spPr>
          <a:xfrm>
            <a:off x="3476625" y="2457450"/>
            <a:ext cx="1695450" cy="561975"/>
          </a:xfrm>
          <a:prstGeom prst="rect">
            <a:avLst/>
          </a:prstGeom>
          <a:noFill/>
          <a:ln w="0">
            <a:noFill/>
            <a:prstDash val="solid"/>
          </a:ln>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7364A"/>
                </a:solidFill>
                <a:cs typeface="微软雅黑" panose="020B0503020204020204" charset="-122"/>
              </a:rPr>
              <a:t>Programming Model</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7364A"/>
                </a:solidFill>
                <a:cs typeface="微软雅黑" panose="020B0503020204020204" charset="-122"/>
              </a:rPr>
              <a:t>Environment /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7364A"/>
                </a:solidFill>
                <a:cs typeface="微软雅黑" panose="020B0503020204020204" charset="-122"/>
              </a:rPr>
              <a:t>Optimization / Examples</a:t>
            </a:r>
          </a:p>
        </p:txBody>
      </p:sp>
      <p:sp>
        <p:nvSpPr>
          <p:cNvPr id="28" name="s15-platform-sources"/>
          <p:cNvSpPr>
            <a:spLocks noGrp="1"/>
          </p:cNvSpPr>
          <p:nvPr/>
        </p:nvSpPr>
        <p:spPr>
          <a:xfrm>
            <a:off x="1657350" y="3038475"/>
            <a:ext cx="3324225" cy="209550"/>
          </a:xfrm>
          <a:prstGeom prst="roundRect">
            <a:avLst>
              <a:gd name="adj" fmla="val 22727"/>
            </a:avLst>
          </a:prstGeom>
          <a:solidFill>
            <a:srgbClr val="EFF8F3"/>
          </a:solidFill>
          <a:ln w="9525">
            <a:solidFill>
              <a:srgbClr val="B7DDBD"/>
            </a:solidFill>
            <a:prstDash val="solid"/>
          </a:ln>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14855C"/>
                </a:solidFill>
              </a:rPr>
              <a:t>官方资料 + 环境检测 + 微基准 + 算子实践</a:t>
            </a:r>
          </a:p>
        </p:txBody>
      </p:sp>
      <p:sp>
        <p:nvSpPr>
          <p:cNvPr id="29" name="s15-arrow-2"/>
          <p:cNvSpPr>
            <a:spLocks noGrp="1"/>
          </p:cNvSpPr>
          <p:nvPr/>
        </p:nvSpPr>
        <p:spPr>
          <a:xfrm>
            <a:off x="3171825" y="3295650"/>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14855C"/>
                </a:solidFill>
                <a:latin typeface="微软雅黑" panose="020B0503020204020204" charset="-122"/>
                <a:ea typeface="微软雅黑" panose="020B0503020204020204" charset="-122"/>
                <a:cs typeface="Calibri" panose="020F0502020204030204"/>
              </a:rPr>
              <a:t>↓</a:t>
            </a:r>
          </a:p>
        </p:txBody>
      </p:sp>
      <p:sp>
        <p:nvSpPr>
          <p:cNvPr id="30" name="s15-validation-frame"/>
          <p:cNvSpPr>
            <a:spLocks noGrp="1"/>
          </p:cNvSpPr>
          <p:nvPr/>
        </p:nvSpPr>
        <p:spPr>
          <a:xfrm>
            <a:off x="942975" y="3467100"/>
            <a:ext cx="4743450" cy="1057275"/>
          </a:xfrm>
          <a:prstGeom prst="roundRect">
            <a:avLst>
              <a:gd name="adj" fmla="val 8108"/>
            </a:avLst>
          </a:prstGeom>
          <a:solidFill>
            <a:srgbClr val="F8FBFF"/>
          </a:solidFill>
          <a:ln w="13335">
            <a:solidFill>
              <a:srgbClr val="1457C5"/>
            </a:solidFill>
            <a:prstDash val="solid"/>
          </a:ln>
        </p:spPr>
      </p:sp>
      <p:sp>
        <p:nvSpPr>
          <p:cNvPr id="31" name="s15-validation-title"/>
          <p:cNvSpPr>
            <a:spLocks noGrp="1"/>
          </p:cNvSpPr>
          <p:nvPr/>
        </p:nvSpPr>
        <p:spPr>
          <a:xfrm>
            <a:off x="1057275" y="3505200"/>
            <a:ext cx="4514850" cy="295275"/>
          </a:xfrm>
          <a:prstGeom prst="rect">
            <a:avLst/>
          </a:prstGeom>
          <a:noFill/>
          <a:ln w="0">
            <a:noFill/>
            <a:prstDash val="solid"/>
          </a:ln>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smtClean="0">
                <a:solidFill>
                  <a:srgbClr val="1457C5"/>
                </a:solidFill>
                <a:latin typeface="微软雅黑" panose="020B0503020204020204" charset="-122"/>
                <a:ea typeface="微软雅黑" panose="020B0503020204020204" charset="-122"/>
                <a:cs typeface="微软雅黑" panose="020B0503020204020204" charset="-122"/>
              </a:rPr>
              <a:t>验证与校准</a:t>
            </a:r>
            <a:endParaRPr sz="1600" dirty="0">
              <a:solidFill>
                <a:srgbClr val="1457C5"/>
              </a:solidFill>
              <a:latin typeface="微软雅黑" panose="020B0503020204020204" charset="-122"/>
              <a:ea typeface="微软雅黑" panose="020B0503020204020204" charset="-122"/>
              <a:cs typeface="微软雅黑" panose="020B0503020204020204" charset="-122"/>
            </a:endParaRPr>
          </a:p>
        </p:txBody>
      </p:sp>
      <p:sp>
        <p:nvSpPr>
          <p:cNvPr id="32" name="s15-validation-subtitle"/>
          <p:cNvSpPr>
            <a:spLocks noGrp="1"/>
          </p:cNvSpPr>
          <p:nvPr/>
        </p:nvSpPr>
        <p:spPr>
          <a:xfrm>
            <a:off x="1057275" y="3752850"/>
            <a:ext cx="4514850" cy="733425"/>
          </a:xfrm>
          <a:prstGeom prst="rect">
            <a:avLst/>
          </a:prstGeom>
          <a:noFill/>
          <a:ln w="0">
            <a:noFill/>
            <a:prstDash val="solid"/>
          </a:ln>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7364A"/>
                </a:solidFill>
              </a:rPr>
              <a:t>LayerNorm · Softmax · MatMul</a:t>
            </a:r>
          </a:p>
        </p:txBody>
      </p:sp>
      <p:sp>
        <p:nvSpPr>
          <p:cNvPr id="33" name="s15-arrow-3-left"/>
          <p:cNvSpPr>
            <a:spLocks noGrp="1"/>
          </p:cNvSpPr>
          <p:nvPr/>
        </p:nvSpPr>
        <p:spPr>
          <a:xfrm>
            <a:off x="1952625" y="4505325"/>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1457C5"/>
                </a:solidFill>
                <a:latin typeface="微软雅黑" panose="020B0503020204020204" charset="-122"/>
                <a:ea typeface="微软雅黑" panose="020B0503020204020204" charset="-122"/>
                <a:cs typeface="Calibri" panose="020F0502020204030204"/>
              </a:rPr>
              <a:t>↓</a:t>
            </a:r>
          </a:p>
        </p:txBody>
      </p:sp>
      <p:sp>
        <p:nvSpPr>
          <p:cNvPr id="34" name="s15-arrow-3-right"/>
          <p:cNvSpPr>
            <a:spLocks noGrp="1"/>
          </p:cNvSpPr>
          <p:nvPr/>
        </p:nvSpPr>
        <p:spPr>
          <a:xfrm>
            <a:off x="4333875" y="4505325"/>
            <a:ext cx="285750" cy="228600"/>
          </a:xfrm>
          <a:prstGeom prst="rect">
            <a:avLst/>
          </a:prstGeom>
          <a:noFill/>
          <a:ln w="0">
            <a:noFill/>
            <a:prstDash val="solid"/>
          </a:ln>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1457C5"/>
                </a:solidFill>
                <a:latin typeface="微软雅黑" panose="020B0503020204020204" charset="-122"/>
                <a:ea typeface="微软雅黑" panose="020B0503020204020204" charset="-122"/>
                <a:cs typeface="Calibri" panose="020F0502020204030204"/>
              </a:rPr>
              <a:t>↓</a:t>
            </a:r>
          </a:p>
        </p:txBody>
      </p:sp>
      <p:sp>
        <p:nvSpPr>
          <p:cNvPr id="35" name="s15-update-knowledge"/>
          <p:cNvSpPr>
            <a:spLocks noGrp="1"/>
          </p:cNvSpPr>
          <p:nvPr/>
        </p:nvSpPr>
        <p:spPr>
          <a:xfrm>
            <a:off x="1000125" y="4695825"/>
            <a:ext cx="1847850" cy="428625"/>
          </a:xfrm>
          <a:prstGeom prst="roundRect">
            <a:avLst>
              <a:gd name="adj" fmla="val 15556"/>
            </a:avLst>
          </a:prstGeom>
          <a:solidFill>
            <a:srgbClr val="FFFDF7"/>
          </a:solidFill>
          <a:ln w="11430">
            <a:solidFill>
              <a:srgbClr val="F0A640"/>
            </a:solidFill>
            <a:prstDash val="solid"/>
          </a:ln>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Update Knowledge</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更新平台知识</a:t>
            </a:r>
          </a:p>
        </p:txBody>
      </p:sp>
      <p:sp>
        <p:nvSpPr>
          <p:cNvPr id="36" name="s15-adjust-workflow"/>
          <p:cNvSpPr>
            <a:spLocks noGrp="1"/>
          </p:cNvSpPr>
          <p:nvPr/>
        </p:nvSpPr>
        <p:spPr>
          <a:xfrm>
            <a:off x="3648075" y="4695825"/>
            <a:ext cx="1752600" cy="428625"/>
          </a:xfrm>
          <a:prstGeom prst="roundRect">
            <a:avLst>
              <a:gd name="adj" fmla="val 15556"/>
            </a:avLst>
          </a:prstGeom>
          <a:solidFill>
            <a:srgbClr val="FFFDF7"/>
          </a:solidFill>
          <a:ln w="11430">
            <a:solidFill>
              <a:srgbClr val="F0A640"/>
            </a:solidFill>
            <a:prstDash val="solid"/>
          </a:ln>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Adjust Workflow</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7364A"/>
                </a:solidFill>
              </a:rPr>
              <a:t>修正通用流程</a:t>
            </a:r>
          </a:p>
        </p:txBody>
      </p:sp>
      <p:sp>
        <p:nvSpPr>
          <p:cNvPr id="37" name="s15-feedback-loop"/>
          <p:cNvSpPr>
            <a:spLocks noGrp="1"/>
          </p:cNvSpPr>
          <p:nvPr/>
        </p:nvSpPr>
        <p:spPr>
          <a:xfrm>
            <a:off x="1066800" y="5143500"/>
            <a:ext cx="4248150" cy="228600"/>
          </a:xfrm>
          <a:prstGeom prst="rect">
            <a:avLst/>
          </a:prstGeom>
          <a:noFill/>
          <a:ln w="0">
            <a:noFill/>
            <a:prstDash val="solid"/>
          </a:ln>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072A67"/>
                </a:solidFill>
              </a:rPr>
              <a:t>↺  反馈校准：按问题类型回到框架或平台知识</a:t>
            </a:r>
          </a:p>
        </p:txBody>
      </p:sp>
      <p:sp>
        <p:nvSpPr>
          <p:cNvPr id="38" name="s15-universal-details-frame"/>
          <p:cNvSpPr>
            <a:spLocks noGrp="1"/>
          </p:cNvSpPr>
          <p:nvPr/>
        </p:nvSpPr>
        <p:spPr>
          <a:xfrm>
            <a:off x="6257925" y="1133475"/>
            <a:ext cx="5543550" cy="942975"/>
          </a:xfrm>
          <a:prstGeom prst="roundRect">
            <a:avLst>
              <a:gd name="adj" fmla="val 6061"/>
            </a:avLst>
          </a:prstGeom>
          <a:solidFill>
            <a:srgbClr val="FCFDFF"/>
          </a:solidFill>
          <a:ln w="9525">
            <a:solidFill>
              <a:srgbClr val="D2DDEC"/>
            </a:solidFill>
            <a:prstDash val="solid"/>
          </a:ln>
        </p:spPr>
      </p:sp>
      <p:sp>
        <p:nvSpPr>
          <p:cNvPr id="39" name="s15-detail-1-label"/>
          <p:cNvSpPr>
            <a:spLocks noGrp="1"/>
          </p:cNvSpPr>
          <p:nvPr/>
        </p:nvSpPr>
        <p:spPr>
          <a:xfrm>
            <a:off x="6496050" y="1181100"/>
            <a:ext cx="800100" cy="161925"/>
          </a:xfrm>
          <a:prstGeom prst="rect">
            <a:avLst/>
          </a:prstGeom>
          <a:noFill/>
          <a:ln w="0">
            <a:noFill/>
            <a:prstDash val="solid"/>
          </a:ln>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1457C5"/>
                </a:solidFill>
                <a:cs typeface="微软雅黑" panose="020B0503020204020204" charset="-122"/>
              </a:rPr>
              <a:t>任务编排：</a:t>
            </a:r>
          </a:p>
        </p:txBody>
      </p:sp>
      <p:sp>
        <p:nvSpPr>
          <p:cNvPr id="40" name="s15-detail-1-value"/>
          <p:cNvSpPr>
            <a:spLocks noGrp="1"/>
          </p:cNvSpPr>
          <p:nvPr/>
        </p:nvSpPr>
        <p:spPr>
          <a:xfrm>
            <a:off x="7296150" y="1181100"/>
            <a:ext cx="4267200" cy="161925"/>
          </a:xfrm>
          <a:prstGeom prst="rect">
            <a:avLst/>
          </a:prstGeom>
          <a:noFill/>
          <a:ln w="0">
            <a:noFill/>
            <a:prstDash val="solid"/>
          </a:ln>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7364A"/>
                </a:solidFill>
              </a:rPr>
              <a:t>需求 → 生成 → 验证 → 优化 → 输出</a:t>
            </a:r>
          </a:p>
        </p:txBody>
      </p:sp>
      <p:sp>
        <p:nvSpPr>
          <p:cNvPr id="41" name="s15-detail-2-label"/>
          <p:cNvSpPr>
            <a:spLocks noGrp="1"/>
          </p:cNvSpPr>
          <p:nvPr/>
        </p:nvSpPr>
        <p:spPr>
          <a:xfrm>
            <a:off x="6496050" y="1352550"/>
            <a:ext cx="800100" cy="161925"/>
          </a:xfrm>
          <a:prstGeom prst="rect">
            <a:avLst/>
          </a:prstGeom>
          <a:noFill/>
          <a:ln w="0">
            <a:noFill/>
            <a:prstDash val="solid"/>
          </a:ln>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1457C5"/>
                </a:solidFill>
                <a:cs typeface="微软雅黑" panose="020B0503020204020204" charset="-122"/>
              </a:rPr>
              <a:t>模块边界：</a:t>
            </a:r>
          </a:p>
        </p:txBody>
      </p:sp>
      <p:sp>
        <p:nvSpPr>
          <p:cNvPr id="42" name="s15-detail-2-value"/>
          <p:cNvSpPr>
            <a:spLocks noGrp="1"/>
          </p:cNvSpPr>
          <p:nvPr/>
        </p:nvSpPr>
        <p:spPr>
          <a:xfrm>
            <a:off x="7296150" y="1352550"/>
            <a:ext cx="4267200" cy="161925"/>
          </a:xfrm>
          <a:prstGeom prst="rect">
            <a:avLst/>
          </a:prstGeom>
          <a:noFill/>
          <a:ln w="0">
            <a:noFill/>
            <a:prstDash val="solid"/>
          </a:ln>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7364A"/>
                </a:solidFill>
                <a:cs typeface="微软雅黑" panose="020B0503020204020204" charset="-122"/>
              </a:rPr>
              <a:t>每个阶段负责解决什么问题</a:t>
            </a:r>
          </a:p>
        </p:txBody>
      </p:sp>
      <p:sp>
        <p:nvSpPr>
          <p:cNvPr id="43" name="s15-detail-3-label"/>
          <p:cNvSpPr>
            <a:spLocks noGrp="1"/>
          </p:cNvSpPr>
          <p:nvPr/>
        </p:nvSpPr>
        <p:spPr>
          <a:xfrm>
            <a:off x="6496050" y="1524000"/>
            <a:ext cx="800100" cy="161925"/>
          </a:xfrm>
          <a:prstGeom prst="rect">
            <a:avLst/>
          </a:prstGeom>
          <a:noFill/>
          <a:ln w="0">
            <a:noFill/>
            <a:prstDash val="solid"/>
          </a:ln>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1457C5"/>
                </a:solidFill>
                <a:cs typeface="微软雅黑" panose="020B0503020204020204" charset="-122"/>
              </a:rPr>
              <a:t>阶段契约：</a:t>
            </a:r>
          </a:p>
        </p:txBody>
      </p:sp>
      <p:sp>
        <p:nvSpPr>
          <p:cNvPr id="44" name="s15-detail-3-value"/>
          <p:cNvSpPr>
            <a:spLocks noGrp="1"/>
          </p:cNvSpPr>
          <p:nvPr/>
        </p:nvSpPr>
        <p:spPr>
          <a:xfrm>
            <a:off x="7296150" y="1524000"/>
            <a:ext cx="4267200" cy="161925"/>
          </a:xfrm>
          <a:prstGeom prst="rect">
            <a:avLst/>
          </a:prstGeom>
          <a:noFill/>
          <a:ln w="0">
            <a:noFill/>
            <a:prstDash val="solid"/>
          </a:ln>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7364A"/>
                </a:solidFill>
                <a:cs typeface="微软雅黑" panose="020B0503020204020204" charset="-122"/>
              </a:rPr>
              <a:t>上一阶段输出什么，下一阶段需要什么</a:t>
            </a:r>
          </a:p>
        </p:txBody>
      </p:sp>
      <p:sp>
        <p:nvSpPr>
          <p:cNvPr id="45" name="s15-detail-4-label"/>
          <p:cNvSpPr>
            <a:spLocks noGrp="1"/>
          </p:cNvSpPr>
          <p:nvPr/>
        </p:nvSpPr>
        <p:spPr>
          <a:xfrm>
            <a:off x="6496050" y="1695450"/>
            <a:ext cx="800100" cy="161925"/>
          </a:xfrm>
          <a:prstGeom prst="rect">
            <a:avLst/>
          </a:prstGeom>
          <a:noFill/>
          <a:ln w="0">
            <a:noFill/>
            <a:prstDash val="solid"/>
          </a:ln>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1457C5"/>
                </a:solidFill>
                <a:cs typeface="微软雅黑" panose="020B0503020204020204" charset="-122"/>
              </a:rPr>
              <a:t>子任务分工：</a:t>
            </a:r>
          </a:p>
        </p:txBody>
      </p:sp>
      <p:sp>
        <p:nvSpPr>
          <p:cNvPr id="46" name="s15-detail-4-value"/>
          <p:cNvSpPr>
            <a:spLocks noGrp="1"/>
          </p:cNvSpPr>
          <p:nvPr/>
        </p:nvSpPr>
        <p:spPr>
          <a:xfrm>
            <a:off x="7296150" y="1695450"/>
            <a:ext cx="4267200" cy="161925"/>
          </a:xfrm>
          <a:prstGeom prst="rect">
            <a:avLst/>
          </a:prstGeom>
          <a:noFill/>
          <a:ln w="0">
            <a:noFill/>
            <a:prstDash val="solid"/>
          </a:ln>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7364A"/>
                </a:solidFill>
              </a:rPr>
              <a:t>复杂阶段允许进一步拆分 Sub-Agent</a:t>
            </a:r>
          </a:p>
        </p:txBody>
      </p:sp>
      <p:sp>
        <p:nvSpPr>
          <p:cNvPr id="47" name="s15-detail-5-label"/>
          <p:cNvSpPr>
            <a:spLocks noGrp="1"/>
          </p:cNvSpPr>
          <p:nvPr/>
        </p:nvSpPr>
        <p:spPr>
          <a:xfrm>
            <a:off x="6496050" y="1866900"/>
            <a:ext cx="800100" cy="161925"/>
          </a:xfrm>
          <a:prstGeom prst="rect">
            <a:avLst/>
          </a:prstGeom>
          <a:noFill/>
          <a:ln w="0">
            <a:noFill/>
            <a:prstDash val="solid"/>
          </a:ln>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1457C5"/>
                </a:solidFill>
                <a:cs typeface="微软雅黑" panose="020B0503020204020204" charset="-122"/>
              </a:rPr>
              <a:t>输出规范：</a:t>
            </a:r>
          </a:p>
        </p:txBody>
      </p:sp>
      <p:sp>
        <p:nvSpPr>
          <p:cNvPr id="48" name="s15-detail-5-value"/>
          <p:cNvSpPr>
            <a:spLocks noGrp="1"/>
          </p:cNvSpPr>
          <p:nvPr/>
        </p:nvSpPr>
        <p:spPr>
          <a:xfrm>
            <a:off x="7296150" y="1866900"/>
            <a:ext cx="4267200" cy="161925"/>
          </a:xfrm>
          <a:prstGeom prst="rect">
            <a:avLst/>
          </a:prstGeom>
          <a:noFill/>
          <a:ln w="0">
            <a:noFill/>
            <a:prstDash val="solid"/>
          </a:ln>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7364A"/>
                </a:solidFill>
              </a:rPr>
              <a:t>Kernel、Test、Correctness、Benchmark、Report</a:t>
            </a:r>
          </a:p>
        </p:txBody>
      </p:sp>
      <p:sp>
        <p:nvSpPr>
          <p:cNvPr id="49" name="s15-knowledge-1-frame"/>
          <p:cNvSpPr>
            <a:spLocks noGrp="1"/>
          </p:cNvSpPr>
          <p:nvPr/>
        </p:nvSpPr>
        <p:spPr>
          <a:xfrm>
            <a:off x="6353175" y="2647950"/>
            <a:ext cx="1724025" cy="438150"/>
          </a:xfrm>
          <a:prstGeom prst="roundRect">
            <a:avLst>
              <a:gd name="adj" fmla="val 15217"/>
            </a:avLst>
          </a:prstGeom>
          <a:solidFill>
            <a:srgbClr val="F8FCF8"/>
          </a:solidFill>
          <a:ln w="9525">
            <a:solidFill>
              <a:srgbClr val="AED4B8"/>
            </a:solidFill>
            <a:prstDash val="solid"/>
          </a:ln>
        </p:spPr>
      </p:sp>
      <p:sp>
        <p:nvSpPr>
          <p:cNvPr id="50" name="s15-knowledge-1-title"/>
          <p:cNvSpPr>
            <a:spLocks noGrp="1"/>
          </p:cNvSpPr>
          <p:nvPr/>
        </p:nvSpPr>
        <p:spPr>
          <a:xfrm>
            <a:off x="6438900" y="2667000"/>
            <a:ext cx="1571625" cy="171450"/>
          </a:xfrm>
          <a:prstGeom prst="rect">
            <a:avLst/>
          </a:prstGeom>
          <a:noFill/>
          <a:ln w="0">
            <a:noFill/>
            <a:prstDash val="solid"/>
          </a:ln>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14855C"/>
                </a:solidFill>
                <a:cs typeface="微软雅黑" panose="020B0503020204020204" charset="-122"/>
              </a:rPr>
              <a:t>1. Hardware</a:t>
            </a:r>
          </a:p>
        </p:txBody>
      </p:sp>
      <p:sp>
        <p:nvSpPr>
          <p:cNvPr id="51" name="s15-knowledge-1-body"/>
          <p:cNvSpPr>
            <a:spLocks noGrp="1"/>
          </p:cNvSpPr>
          <p:nvPr/>
        </p:nvSpPr>
        <p:spPr>
          <a:xfrm>
            <a:off x="6438900" y="2828925"/>
            <a:ext cx="1571625" cy="238125"/>
          </a:xfrm>
          <a:prstGeom prst="rect">
            <a:avLst/>
          </a:prstGeom>
          <a:noFill/>
          <a:ln w="0">
            <a:noFill/>
            <a:prstDash val="solid"/>
          </a:ln>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cs typeface="微软雅黑" panose="020B0503020204020204" charset="-122"/>
              </a:rPr>
              <a:t>计算单元、存储、</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cs typeface="微软雅黑" panose="020B0503020204020204" charset="-122"/>
              </a:rPr>
              <a:t>并行结构</a:t>
            </a:r>
          </a:p>
        </p:txBody>
      </p:sp>
      <p:sp>
        <p:nvSpPr>
          <p:cNvPr id="52" name="s15-knowledge-2-frame"/>
          <p:cNvSpPr>
            <a:spLocks noGrp="1"/>
          </p:cNvSpPr>
          <p:nvPr/>
        </p:nvSpPr>
        <p:spPr>
          <a:xfrm>
            <a:off x="8162925" y="2647950"/>
            <a:ext cx="1724025" cy="438150"/>
          </a:xfrm>
          <a:prstGeom prst="roundRect">
            <a:avLst>
              <a:gd name="adj" fmla="val 15217"/>
            </a:avLst>
          </a:prstGeom>
          <a:solidFill>
            <a:srgbClr val="F8FCF8"/>
          </a:solidFill>
          <a:ln w="9525">
            <a:solidFill>
              <a:srgbClr val="AED4B8"/>
            </a:solidFill>
            <a:prstDash val="solid"/>
          </a:ln>
        </p:spPr>
      </p:sp>
      <p:sp>
        <p:nvSpPr>
          <p:cNvPr id="53" name="s15-knowledge-2-title"/>
          <p:cNvSpPr>
            <a:spLocks noGrp="1"/>
          </p:cNvSpPr>
          <p:nvPr/>
        </p:nvSpPr>
        <p:spPr>
          <a:xfrm>
            <a:off x="8248650" y="2667000"/>
            <a:ext cx="1571625" cy="171450"/>
          </a:xfrm>
          <a:prstGeom prst="rect">
            <a:avLst/>
          </a:prstGeom>
          <a:noFill/>
          <a:ln w="0">
            <a:noFill/>
            <a:prstDash val="solid"/>
          </a:ln>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14855C"/>
                </a:solidFill>
                <a:cs typeface="微软雅黑" panose="020B0503020204020204" charset="-122"/>
              </a:rPr>
              <a:t>2. Programming Model</a:t>
            </a:r>
          </a:p>
        </p:txBody>
      </p:sp>
      <p:sp>
        <p:nvSpPr>
          <p:cNvPr id="54" name="s15-knowledge-2-body"/>
          <p:cNvSpPr>
            <a:spLocks noGrp="1"/>
          </p:cNvSpPr>
          <p:nvPr/>
        </p:nvSpPr>
        <p:spPr>
          <a:xfrm>
            <a:off x="8248650" y="2828925"/>
            <a:ext cx="1571625" cy="238125"/>
          </a:xfrm>
          <a:prstGeom prst="rect">
            <a:avLst/>
          </a:prstGeom>
          <a:noFill/>
          <a:ln w="0">
            <a:noFill/>
            <a:prstDash val="solid"/>
          </a:ln>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Grid、Tile、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执行模型</a:t>
            </a:r>
          </a:p>
        </p:txBody>
      </p:sp>
      <p:sp>
        <p:nvSpPr>
          <p:cNvPr id="55" name="s15-knowledge-3-frame"/>
          <p:cNvSpPr>
            <a:spLocks noGrp="1"/>
          </p:cNvSpPr>
          <p:nvPr/>
        </p:nvSpPr>
        <p:spPr>
          <a:xfrm>
            <a:off x="9972675" y="2647950"/>
            <a:ext cx="1724025" cy="438150"/>
          </a:xfrm>
          <a:prstGeom prst="roundRect">
            <a:avLst>
              <a:gd name="adj" fmla="val 15217"/>
            </a:avLst>
          </a:prstGeom>
          <a:solidFill>
            <a:srgbClr val="F8FCF8"/>
          </a:solidFill>
          <a:ln w="9525">
            <a:solidFill>
              <a:srgbClr val="AED4B8"/>
            </a:solidFill>
            <a:prstDash val="solid"/>
          </a:ln>
        </p:spPr>
      </p:sp>
      <p:sp>
        <p:nvSpPr>
          <p:cNvPr id="56" name="s15-knowledge-3-title"/>
          <p:cNvSpPr>
            <a:spLocks noGrp="1"/>
          </p:cNvSpPr>
          <p:nvPr/>
        </p:nvSpPr>
        <p:spPr>
          <a:xfrm>
            <a:off x="10058400" y="2667000"/>
            <a:ext cx="1571625" cy="171450"/>
          </a:xfrm>
          <a:prstGeom prst="rect">
            <a:avLst/>
          </a:prstGeom>
          <a:noFill/>
          <a:ln w="0">
            <a:noFill/>
            <a:prstDash val="solid"/>
          </a:ln>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14855C"/>
                </a:solidFill>
                <a:cs typeface="微软雅黑" panose="020B0503020204020204" charset="-122"/>
              </a:rPr>
              <a:t>3. API / Primitive</a:t>
            </a:r>
          </a:p>
        </p:txBody>
      </p:sp>
      <p:sp>
        <p:nvSpPr>
          <p:cNvPr id="57" name="s15-knowledge-3-body"/>
          <p:cNvSpPr>
            <a:spLocks noGrp="1"/>
          </p:cNvSpPr>
          <p:nvPr/>
        </p:nvSpPr>
        <p:spPr>
          <a:xfrm>
            <a:off x="10058400" y="2828925"/>
            <a:ext cx="1571625" cy="238125"/>
          </a:xfrm>
          <a:prstGeom prst="rect">
            <a:avLst/>
          </a:prstGeom>
          <a:noFill/>
          <a:ln w="0">
            <a:noFill/>
            <a:prstDash val="solid"/>
          </a:ln>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cs typeface="微软雅黑" panose="020B0503020204020204" charset="-122"/>
              </a:rPr>
              <a:t>支持能力、限制、</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cs typeface="微软雅黑" panose="020B0503020204020204" charset="-122"/>
              </a:rPr>
              <a:t>特殊行为</a:t>
            </a:r>
          </a:p>
        </p:txBody>
      </p:sp>
      <p:sp>
        <p:nvSpPr>
          <p:cNvPr id="58" name="s15-knowledge-4-frame"/>
          <p:cNvSpPr>
            <a:spLocks noGrp="1"/>
          </p:cNvSpPr>
          <p:nvPr/>
        </p:nvSpPr>
        <p:spPr>
          <a:xfrm>
            <a:off x="6353175" y="3133725"/>
            <a:ext cx="1724025" cy="438150"/>
          </a:xfrm>
          <a:prstGeom prst="roundRect">
            <a:avLst>
              <a:gd name="adj" fmla="val 15217"/>
            </a:avLst>
          </a:prstGeom>
          <a:solidFill>
            <a:srgbClr val="F8FCF8"/>
          </a:solidFill>
          <a:ln w="9525">
            <a:solidFill>
              <a:srgbClr val="AED4B8"/>
            </a:solidFill>
            <a:prstDash val="solid"/>
          </a:ln>
        </p:spPr>
      </p:sp>
      <p:sp>
        <p:nvSpPr>
          <p:cNvPr id="59" name="s15-knowledge-4-title"/>
          <p:cNvSpPr>
            <a:spLocks noGrp="1"/>
          </p:cNvSpPr>
          <p:nvPr/>
        </p:nvSpPr>
        <p:spPr>
          <a:xfrm>
            <a:off x="6438900" y="3152775"/>
            <a:ext cx="1571625" cy="171450"/>
          </a:xfrm>
          <a:prstGeom prst="rect">
            <a:avLst/>
          </a:prstGeom>
          <a:noFill/>
          <a:ln w="0">
            <a:noFill/>
            <a:prstDash val="solid"/>
          </a:ln>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14855C"/>
                </a:solidFill>
                <a:cs typeface="微软雅黑" panose="020B0503020204020204" charset="-122"/>
              </a:rPr>
              <a:t>4. Environment</a:t>
            </a:r>
          </a:p>
        </p:txBody>
      </p:sp>
      <p:sp>
        <p:nvSpPr>
          <p:cNvPr id="60" name="s15-knowledge-4-body"/>
          <p:cNvSpPr>
            <a:spLocks noGrp="1"/>
          </p:cNvSpPr>
          <p:nvPr/>
        </p:nvSpPr>
        <p:spPr>
          <a:xfrm>
            <a:off x="6438900" y="3314700"/>
            <a:ext cx="1571625" cy="238125"/>
          </a:xfrm>
          <a:prstGeom prst="rect">
            <a:avLst/>
          </a:prstGeom>
          <a:noFill/>
          <a:ln w="0">
            <a:noFill/>
            <a:prstDash val="solid"/>
          </a:ln>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Compiler、Runtime、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Version</a:t>
            </a:r>
          </a:p>
        </p:txBody>
      </p:sp>
      <p:sp>
        <p:nvSpPr>
          <p:cNvPr id="61" name="s15-knowledge-5-frame"/>
          <p:cNvSpPr>
            <a:spLocks noGrp="1"/>
          </p:cNvSpPr>
          <p:nvPr/>
        </p:nvSpPr>
        <p:spPr>
          <a:xfrm>
            <a:off x="8162925" y="3133725"/>
            <a:ext cx="1724025" cy="438150"/>
          </a:xfrm>
          <a:prstGeom prst="roundRect">
            <a:avLst>
              <a:gd name="adj" fmla="val 15217"/>
            </a:avLst>
          </a:prstGeom>
          <a:solidFill>
            <a:srgbClr val="F8FCF8"/>
          </a:solidFill>
          <a:ln w="9525">
            <a:solidFill>
              <a:srgbClr val="AED4B8"/>
            </a:solidFill>
            <a:prstDash val="solid"/>
          </a:ln>
        </p:spPr>
      </p:sp>
      <p:sp>
        <p:nvSpPr>
          <p:cNvPr id="62" name="s15-knowledge-5-title"/>
          <p:cNvSpPr>
            <a:spLocks noGrp="1"/>
          </p:cNvSpPr>
          <p:nvPr/>
        </p:nvSpPr>
        <p:spPr>
          <a:xfrm>
            <a:off x="8248650" y="3152775"/>
            <a:ext cx="1571625" cy="171450"/>
          </a:xfrm>
          <a:prstGeom prst="rect">
            <a:avLst/>
          </a:prstGeom>
          <a:noFill/>
          <a:ln w="0">
            <a:noFill/>
            <a:prstDash val="solid"/>
          </a:ln>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14855C"/>
                </a:solidFill>
                <a:cs typeface="微软雅黑" panose="020B0503020204020204" charset="-122"/>
              </a:rPr>
              <a:t>5. Profiler</a:t>
            </a:r>
          </a:p>
        </p:txBody>
      </p:sp>
      <p:sp>
        <p:nvSpPr>
          <p:cNvPr id="63" name="s15-knowledge-5-body"/>
          <p:cNvSpPr>
            <a:spLocks noGrp="1"/>
          </p:cNvSpPr>
          <p:nvPr/>
        </p:nvSpPr>
        <p:spPr>
          <a:xfrm>
            <a:off x="8248650" y="3314700"/>
            <a:ext cx="1571625" cy="238125"/>
          </a:xfrm>
          <a:prstGeom prst="rect">
            <a:avLst/>
          </a:prstGeom>
          <a:noFill/>
          <a:ln w="0">
            <a:noFill/>
            <a:prstDash val="solid"/>
          </a:ln>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Benchmark、Counter、</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计时</a:t>
            </a:r>
          </a:p>
        </p:txBody>
      </p:sp>
      <p:sp>
        <p:nvSpPr>
          <p:cNvPr id="64" name="s15-knowledge-6-frame"/>
          <p:cNvSpPr>
            <a:spLocks noGrp="1"/>
          </p:cNvSpPr>
          <p:nvPr/>
        </p:nvSpPr>
        <p:spPr>
          <a:xfrm>
            <a:off x="9972675" y="3133725"/>
            <a:ext cx="1724025" cy="438150"/>
          </a:xfrm>
          <a:prstGeom prst="roundRect">
            <a:avLst>
              <a:gd name="adj" fmla="val 15217"/>
            </a:avLst>
          </a:prstGeom>
          <a:solidFill>
            <a:srgbClr val="F8FCF8"/>
          </a:solidFill>
          <a:ln w="9525">
            <a:solidFill>
              <a:srgbClr val="AED4B8"/>
            </a:solidFill>
            <a:prstDash val="solid"/>
          </a:ln>
        </p:spPr>
      </p:sp>
      <p:sp>
        <p:nvSpPr>
          <p:cNvPr id="65" name="s15-knowledge-6-title"/>
          <p:cNvSpPr>
            <a:spLocks noGrp="1"/>
          </p:cNvSpPr>
          <p:nvPr/>
        </p:nvSpPr>
        <p:spPr>
          <a:xfrm>
            <a:off x="10058400" y="3152775"/>
            <a:ext cx="1571625" cy="171450"/>
          </a:xfrm>
          <a:prstGeom prst="rect">
            <a:avLst/>
          </a:prstGeom>
          <a:noFill/>
          <a:ln w="0">
            <a:noFill/>
            <a:prstDash val="solid"/>
          </a:ln>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14855C"/>
                </a:solidFill>
                <a:cs typeface="微软雅黑" panose="020B0503020204020204" charset="-122"/>
              </a:rPr>
              <a:t>6. Optimization</a:t>
            </a:r>
          </a:p>
        </p:txBody>
      </p:sp>
      <p:sp>
        <p:nvSpPr>
          <p:cNvPr id="66" name="s15-knowledge-6-body"/>
          <p:cNvSpPr>
            <a:spLocks noGrp="1"/>
          </p:cNvSpPr>
          <p:nvPr/>
        </p:nvSpPr>
        <p:spPr>
          <a:xfrm>
            <a:off x="10058400" y="3314700"/>
            <a:ext cx="1571625" cy="238125"/>
          </a:xfrm>
          <a:prstGeom prst="rect">
            <a:avLst/>
          </a:prstGeom>
          <a:noFill/>
          <a:ln w="0">
            <a:noFill/>
            <a:prstDash val="solid"/>
          </a:ln>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Tile、Layout、</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7364A"/>
                </a:solidFill>
              </a:rPr>
              <a:t>Pipeline、案例</a:t>
            </a:r>
          </a:p>
        </p:txBody>
      </p:sp>
      <p:sp>
        <p:nvSpPr>
          <p:cNvPr id="67" name="s15-knowledge-sources"/>
          <p:cNvSpPr>
            <a:spLocks noGrp="1"/>
          </p:cNvSpPr>
          <p:nvPr/>
        </p:nvSpPr>
        <p:spPr>
          <a:xfrm>
            <a:off x="6486525" y="3609975"/>
            <a:ext cx="4991100" cy="190500"/>
          </a:xfrm>
          <a:prstGeom prst="rect">
            <a:avLst/>
          </a:prstGeom>
          <a:noFill/>
          <a:ln w="0">
            <a:noFill/>
            <a:prstDash val="solid"/>
          </a:ln>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7364A"/>
                </a:solidFill>
              </a:rPr>
              <a:t>Platform Knowledge 来源 = 官方资料 + 环境检测 + 微基准 + 实际算子开发经验</a:t>
            </a:r>
          </a:p>
        </p:txBody>
      </p:sp>
      <p:sp>
        <p:nvSpPr>
          <p:cNvPr id="68" name="s15-level-1-frame"/>
          <p:cNvSpPr>
            <a:spLocks noGrp="1"/>
          </p:cNvSpPr>
          <p:nvPr/>
        </p:nvSpPr>
        <p:spPr>
          <a:xfrm>
            <a:off x="6353175" y="4391025"/>
            <a:ext cx="5353050" cy="295275"/>
          </a:xfrm>
          <a:prstGeom prst="roundRect">
            <a:avLst>
              <a:gd name="adj" fmla="val 16129"/>
            </a:avLst>
          </a:prstGeom>
          <a:solidFill>
            <a:srgbClr val="FCFDFF"/>
          </a:solidFill>
          <a:ln w="9525">
            <a:solidFill>
              <a:srgbClr val="C5D7EE"/>
            </a:solidFill>
            <a:prstDash val="solid"/>
          </a:ln>
        </p:spPr>
      </p:sp>
      <p:sp>
        <p:nvSpPr>
          <p:cNvPr id="69" name="s15-level-1-badge"/>
          <p:cNvSpPr>
            <a:spLocks noGrp="1"/>
          </p:cNvSpPr>
          <p:nvPr/>
        </p:nvSpPr>
        <p:spPr>
          <a:xfrm>
            <a:off x="6448425" y="4429125"/>
            <a:ext cx="400050" cy="219075"/>
          </a:xfrm>
          <a:prstGeom prst="roundRect">
            <a:avLst>
              <a:gd name="adj" fmla="val 21739"/>
            </a:avLst>
          </a:prstGeom>
          <a:solidFill>
            <a:srgbClr val="EEF4FE"/>
          </a:solidFill>
          <a:ln w="9525">
            <a:solidFill>
              <a:srgbClr val="AFC9E9"/>
            </a:solidFill>
            <a:prstDash val="solid"/>
          </a:ln>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1457C5"/>
                </a:solidFill>
                <a:cs typeface="微软雅黑" panose="020B0503020204020204" charset="-122"/>
              </a:rPr>
              <a:t>L1</a:t>
            </a:r>
          </a:p>
        </p:txBody>
      </p:sp>
      <p:sp>
        <p:nvSpPr>
          <p:cNvPr id="70" name="s15-level-1-title"/>
          <p:cNvSpPr>
            <a:spLocks noGrp="1"/>
          </p:cNvSpPr>
          <p:nvPr/>
        </p:nvSpPr>
        <p:spPr>
          <a:xfrm>
            <a:off x="6934200" y="4400550"/>
            <a:ext cx="1123950" cy="152400"/>
          </a:xfrm>
          <a:prstGeom prst="rect">
            <a:avLst/>
          </a:prstGeom>
          <a:noFill/>
          <a:ln w="0">
            <a:noFill/>
            <a:prstDash val="solid"/>
          </a:ln>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1457C5"/>
                </a:solidFill>
                <a:cs typeface="微软雅黑" panose="020B0503020204020204" charset="-122"/>
              </a:rPr>
              <a:t>环境验证</a:t>
            </a:r>
          </a:p>
        </p:txBody>
      </p:sp>
      <p:sp>
        <p:nvSpPr>
          <p:cNvPr id="71" name="s15-level-1-question"/>
          <p:cNvSpPr>
            <a:spLocks noGrp="1"/>
          </p:cNvSpPr>
          <p:nvPr/>
        </p:nvSpPr>
        <p:spPr>
          <a:xfrm>
            <a:off x="8058150" y="4400550"/>
            <a:ext cx="3390900" cy="152400"/>
          </a:xfrm>
          <a:prstGeom prst="rect">
            <a:avLst/>
          </a:prstGeom>
          <a:noFill/>
          <a:ln w="0">
            <a:noFill/>
            <a:prstDash val="solid"/>
          </a:ln>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072A67"/>
                </a:solidFill>
                <a:cs typeface="微软雅黑" panose="020B0503020204020204" charset="-122"/>
              </a:rPr>
              <a:t>能不能跑？</a:t>
            </a:r>
          </a:p>
        </p:txBody>
      </p:sp>
      <p:sp>
        <p:nvSpPr>
          <p:cNvPr id="72" name="s15-level-1-detail"/>
          <p:cNvSpPr>
            <a:spLocks noGrp="1"/>
          </p:cNvSpPr>
          <p:nvPr/>
        </p:nvSpPr>
        <p:spPr>
          <a:xfrm>
            <a:off x="6934200" y="4533900"/>
            <a:ext cx="4533900" cy="133350"/>
          </a:xfrm>
          <a:prstGeom prst="rect">
            <a:avLst/>
          </a:prstGeom>
          <a:noFill/>
          <a:ln w="0">
            <a:noFill/>
            <a:prstDash val="solid"/>
          </a:ln>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5E6B80"/>
                </a:solidFill>
                <a:cs typeface="微软雅黑" panose="020B0503020204020204" charset="-122"/>
              </a:rPr>
              <a:t>Device · Compiler · Framework · Profiler · Smoke Test</a:t>
            </a:r>
          </a:p>
        </p:txBody>
      </p:sp>
      <p:sp>
        <p:nvSpPr>
          <p:cNvPr id="73" name="s15-level-2-frame"/>
          <p:cNvSpPr>
            <a:spLocks noGrp="1"/>
          </p:cNvSpPr>
          <p:nvPr/>
        </p:nvSpPr>
        <p:spPr>
          <a:xfrm>
            <a:off x="6353175" y="4724400"/>
            <a:ext cx="5353050" cy="295275"/>
          </a:xfrm>
          <a:prstGeom prst="roundRect">
            <a:avLst>
              <a:gd name="adj" fmla="val 16129"/>
            </a:avLst>
          </a:prstGeom>
          <a:solidFill>
            <a:srgbClr val="F9FCFF"/>
          </a:solidFill>
          <a:ln w="9525">
            <a:solidFill>
              <a:srgbClr val="C5D7EE"/>
            </a:solidFill>
            <a:prstDash val="solid"/>
          </a:ln>
        </p:spPr>
      </p:sp>
      <p:sp>
        <p:nvSpPr>
          <p:cNvPr id="74" name="s15-level-2-badge"/>
          <p:cNvSpPr>
            <a:spLocks noGrp="1"/>
          </p:cNvSpPr>
          <p:nvPr/>
        </p:nvSpPr>
        <p:spPr>
          <a:xfrm>
            <a:off x="6448425" y="4762500"/>
            <a:ext cx="400050" cy="219075"/>
          </a:xfrm>
          <a:prstGeom prst="roundRect">
            <a:avLst>
              <a:gd name="adj" fmla="val 21739"/>
            </a:avLst>
          </a:prstGeom>
          <a:solidFill>
            <a:srgbClr val="EEF4FE"/>
          </a:solidFill>
          <a:ln w="9525">
            <a:solidFill>
              <a:srgbClr val="AFC9E9"/>
            </a:solidFill>
            <a:prstDash val="solid"/>
          </a:ln>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1457C5"/>
                </a:solidFill>
                <a:cs typeface="微软雅黑" panose="020B0503020204020204" charset="-122"/>
              </a:rPr>
              <a:t>L2</a:t>
            </a:r>
          </a:p>
        </p:txBody>
      </p:sp>
      <p:sp>
        <p:nvSpPr>
          <p:cNvPr id="75" name="s15-level-2-title"/>
          <p:cNvSpPr>
            <a:spLocks noGrp="1"/>
          </p:cNvSpPr>
          <p:nvPr/>
        </p:nvSpPr>
        <p:spPr>
          <a:xfrm>
            <a:off x="6934200" y="4733925"/>
            <a:ext cx="1123950" cy="152400"/>
          </a:xfrm>
          <a:prstGeom prst="rect">
            <a:avLst/>
          </a:prstGeom>
          <a:noFill/>
          <a:ln w="0">
            <a:noFill/>
            <a:prstDash val="solid"/>
          </a:ln>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1457C5"/>
                </a:solidFill>
                <a:cs typeface="微软雅黑" panose="020B0503020204020204" charset="-122"/>
              </a:rPr>
              <a:t>平台事实验证</a:t>
            </a:r>
          </a:p>
        </p:txBody>
      </p:sp>
      <p:sp>
        <p:nvSpPr>
          <p:cNvPr id="76" name="s15-level-2-question"/>
          <p:cNvSpPr>
            <a:spLocks noGrp="1"/>
          </p:cNvSpPr>
          <p:nvPr/>
        </p:nvSpPr>
        <p:spPr>
          <a:xfrm>
            <a:off x="8058150" y="4733925"/>
            <a:ext cx="3390900" cy="152400"/>
          </a:xfrm>
          <a:prstGeom prst="rect">
            <a:avLst/>
          </a:prstGeom>
          <a:noFill/>
          <a:ln w="0">
            <a:noFill/>
            <a:prstDash val="solid"/>
          </a:ln>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072A67"/>
                </a:solidFill>
                <a:cs typeface="微软雅黑" panose="020B0503020204020204" charset="-122"/>
              </a:rPr>
              <a:t>我们理解的平台行为对不对？</a:t>
            </a:r>
          </a:p>
        </p:txBody>
      </p:sp>
      <p:sp>
        <p:nvSpPr>
          <p:cNvPr id="77" name="s15-level-2-detail"/>
          <p:cNvSpPr>
            <a:spLocks noGrp="1"/>
          </p:cNvSpPr>
          <p:nvPr/>
        </p:nvSpPr>
        <p:spPr>
          <a:xfrm>
            <a:off x="6934200" y="4867275"/>
            <a:ext cx="4533900" cy="133350"/>
          </a:xfrm>
          <a:prstGeom prst="rect">
            <a:avLst/>
          </a:prstGeom>
          <a:noFill/>
          <a:ln w="0">
            <a:noFill/>
            <a:prstDash val="solid"/>
          </a:ln>
        </p:spPr>
        <p:txBody>
          <a:bodyPr wrap="square" lIns="0" tIns="0" rIns="0" bIns="0" anchor="ctr">
            <a:normAutofit/>
          </a:bodyPr>
          <a:lstStyle/>
          <a:p>
            <a:pPr algn="l">
              <a:defRPr sz="660" b="0">
                <a:solidFill>
                  <a:srgbClr val="5E6B80"/>
                </a:solidFill>
                <a:latin typeface="微软雅黑" panose="020B0503020204020204" charset="-122"/>
                <a:ea typeface="微软雅黑" panose="020B0503020204020204" charset="-122"/>
                <a:cs typeface="微软雅黑" panose="020B0503020204020204" charset="-122"/>
              </a:defRPr>
            </a:pPr>
            <a:r>
              <a:rPr sz="660" b="1">
                <a:solidFill>
                  <a:srgbClr val="5E6B80"/>
                </a:solidFill>
                <a:cs typeface="微软雅黑" panose="020B0503020204020204" charset="-122"/>
              </a:rPr>
              <a:t>Memory · Compute · Reduction · Layout · Pipeline · Synchronization</a:t>
            </a:r>
          </a:p>
        </p:txBody>
      </p:sp>
      <p:sp>
        <p:nvSpPr>
          <p:cNvPr id="78" name="s15-level-3-frame"/>
          <p:cNvSpPr>
            <a:spLocks noGrp="1"/>
          </p:cNvSpPr>
          <p:nvPr/>
        </p:nvSpPr>
        <p:spPr>
          <a:xfrm>
            <a:off x="6353175" y="5057775"/>
            <a:ext cx="5353050" cy="295275"/>
          </a:xfrm>
          <a:prstGeom prst="roundRect">
            <a:avLst>
              <a:gd name="adj" fmla="val 16129"/>
            </a:avLst>
          </a:prstGeom>
          <a:solidFill>
            <a:srgbClr val="FCFDFF"/>
          </a:solidFill>
          <a:ln w="9525">
            <a:solidFill>
              <a:srgbClr val="C5D7EE"/>
            </a:solidFill>
            <a:prstDash val="solid"/>
          </a:ln>
        </p:spPr>
      </p:sp>
      <p:sp>
        <p:nvSpPr>
          <p:cNvPr id="79" name="s15-level-3-badge"/>
          <p:cNvSpPr>
            <a:spLocks noGrp="1"/>
          </p:cNvSpPr>
          <p:nvPr/>
        </p:nvSpPr>
        <p:spPr>
          <a:xfrm>
            <a:off x="6448425" y="5095875"/>
            <a:ext cx="400050" cy="219075"/>
          </a:xfrm>
          <a:prstGeom prst="roundRect">
            <a:avLst>
              <a:gd name="adj" fmla="val 21739"/>
            </a:avLst>
          </a:prstGeom>
          <a:solidFill>
            <a:srgbClr val="EEF4FE"/>
          </a:solidFill>
          <a:ln w="9525">
            <a:solidFill>
              <a:srgbClr val="AFC9E9"/>
            </a:solidFill>
            <a:prstDash val="solid"/>
          </a:ln>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1457C5"/>
                </a:solidFill>
                <a:cs typeface="微软雅黑" panose="020B0503020204020204" charset="-122"/>
              </a:rPr>
              <a:t>L3</a:t>
            </a:r>
          </a:p>
        </p:txBody>
      </p:sp>
      <p:sp>
        <p:nvSpPr>
          <p:cNvPr id="80" name="s15-level-3-title"/>
          <p:cNvSpPr>
            <a:spLocks noGrp="1"/>
          </p:cNvSpPr>
          <p:nvPr/>
        </p:nvSpPr>
        <p:spPr>
          <a:xfrm>
            <a:off x="6934200" y="5067300"/>
            <a:ext cx="1123950" cy="152400"/>
          </a:xfrm>
          <a:prstGeom prst="rect">
            <a:avLst/>
          </a:prstGeom>
          <a:noFill/>
          <a:ln w="0">
            <a:noFill/>
            <a:prstDash val="solid"/>
          </a:ln>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1457C5"/>
                </a:solidFill>
                <a:cs typeface="微软雅黑" panose="020B0503020204020204" charset="-122"/>
              </a:rPr>
              <a:t>算子验证</a:t>
            </a:r>
          </a:p>
        </p:txBody>
      </p:sp>
      <p:sp>
        <p:nvSpPr>
          <p:cNvPr id="81" name="s15-level-3-question"/>
          <p:cNvSpPr>
            <a:spLocks noGrp="1"/>
          </p:cNvSpPr>
          <p:nvPr/>
        </p:nvSpPr>
        <p:spPr>
          <a:xfrm>
            <a:off x="8058150" y="5067300"/>
            <a:ext cx="3390900" cy="152400"/>
          </a:xfrm>
          <a:prstGeom prst="rect">
            <a:avLst/>
          </a:prstGeom>
          <a:noFill/>
          <a:ln w="0">
            <a:noFill/>
            <a:prstDash val="solid"/>
          </a:ln>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072A67"/>
                </a:solidFill>
                <a:cs typeface="微软雅黑" panose="020B0503020204020204" charset="-122"/>
              </a:rPr>
              <a:t>这些知识能不能真正支撑算子开发？</a:t>
            </a:r>
          </a:p>
        </p:txBody>
      </p:sp>
      <p:sp>
        <p:nvSpPr>
          <p:cNvPr id="82" name="s15-level-3-detail"/>
          <p:cNvSpPr>
            <a:spLocks noGrp="1"/>
          </p:cNvSpPr>
          <p:nvPr/>
        </p:nvSpPr>
        <p:spPr>
          <a:xfrm>
            <a:off x="6934200" y="5200650"/>
            <a:ext cx="4533900" cy="133350"/>
          </a:xfrm>
          <a:prstGeom prst="rect">
            <a:avLst/>
          </a:prstGeom>
          <a:noFill/>
          <a:ln w="0">
            <a:noFill/>
            <a:prstDash val="solid"/>
          </a:ln>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5E6B80"/>
                </a:solidFill>
                <a:cs typeface="微软雅黑" panose="020B0503020204020204" charset="-122"/>
              </a:rPr>
              <a:t>LayerNorm · Softmax · MatMul</a:t>
            </a:r>
          </a:p>
        </p:txBody>
      </p:sp>
      <p:sp>
        <p:nvSpPr>
          <p:cNvPr id="83" name="s15-feedback-label"/>
          <p:cNvSpPr>
            <a:spLocks noGrp="1"/>
          </p:cNvSpPr>
          <p:nvPr/>
        </p:nvSpPr>
        <p:spPr>
          <a:xfrm>
            <a:off x="1628775" y="5800725"/>
            <a:ext cx="1304925" cy="514350"/>
          </a:xfrm>
          <a:prstGeom prst="roundRect">
            <a:avLst>
              <a:gd name="adj" fmla="val 12963"/>
            </a:avLst>
          </a:prstGeom>
          <a:solidFill>
            <a:srgbClr val="072A67"/>
          </a:solidFill>
          <a:ln w="0">
            <a:solidFill>
              <a:srgbClr val="072A67"/>
            </a:solidFill>
            <a:prstDash val="solid"/>
          </a:ln>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a:solidFill>
                  <a:srgbClr val="FFFFFF"/>
                </a:solidFill>
                <a:cs typeface="微软雅黑" panose="020B0503020204020204" charset="-122"/>
              </a:rPr>
              <a:t>反馈规则</a:t>
            </a:r>
          </a:p>
        </p:txBody>
      </p:sp>
      <p:sp>
        <p:nvSpPr>
          <p:cNvPr id="84" name="s15-feedback-1-title"/>
          <p:cNvSpPr>
            <a:spLocks noGrp="1"/>
          </p:cNvSpPr>
          <p:nvPr/>
        </p:nvSpPr>
        <p:spPr>
          <a:xfrm>
            <a:off x="3086100" y="5838825"/>
            <a:ext cx="1885950" cy="190500"/>
          </a:xfrm>
          <a:prstGeom prst="rect">
            <a:avLst/>
          </a:prstGeom>
          <a:noFill/>
          <a:ln w="0">
            <a:noFill/>
            <a:prstDash val="solid"/>
          </a:ln>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14855C"/>
                </a:solidFill>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072A67"/>
                </a:solidFill>
              </a:rPr>
              <a:t>→ 更新 Platform Knowledge</a:t>
            </a:r>
          </a:p>
        </p:txBody>
      </p:sp>
      <p:sp>
        <p:nvSpPr>
          <p:cNvPr id="86" name="s15-feedback-divider-1"/>
          <p:cNvSpPr>
            <a:spLocks noGrp="1"/>
          </p:cNvSpPr>
          <p:nvPr/>
        </p:nvSpPr>
        <p:spPr>
          <a:xfrm>
            <a:off x="5124450" y="5867400"/>
            <a:ext cx="9525" cy="381000"/>
          </a:xfrm>
          <a:prstGeom prst="rect">
            <a:avLst/>
          </a:prstGeom>
          <a:solidFill>
            <a:srgbClr val="C6D1E0"/>
          </a:solidFill>
          <a:ln w="0">
            <a:solidFill>
              <a:srgbClr val="C6D1E0"/>
            </a:solidFill>
            <a:prstDash val="solid"/>
          </a:ln>
        </p:spPr>
      </p:sp>
      <p:sp>
        <p:nvSpPr>
          <p:cNvPr id="87" name="s15-feedback-2-title"/>
          <p:cNvSpPr>
            <a:spLocks noGrp="1"/>
          </p:cNvSpPr>
          <p:nvPr/>
        </p:nvSpPr>
        <p:spPr>
          <a:xfrm>
            <a:off x="5276850" y="5838825"/>
            <a:ext cx="1885950" cy="190500"/>
          </a:xfrm>
          <a:prstGeom prst="rect">
            <a:avLst/>
          </a:prstGeom>
          <a:noFill/>
          <a:ln w="0">
            <a:noFill/>
            <a:prstDash val="solid"/>
          </a:ln>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E97132"/>
                </a:solidFill>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072A67"/>
                </a:solidFill>
              </a:rPr>
              <a:t>→ 更新 Optimization Rules</a:t>
            </a:r>
          </a:p>
        </p:txBody>
      </p:sp>
      <p:sp>
        <p:nvSpPr>
          <p:cNvPr id="89" name="s15-feedback-divider-2"/>
          <p:cNvSpPr>
            <a:spLocks noGrp="1"/>
          </p:cNvSpPr>
          <p:nvPr/>
        </p:nvSpPr>
        <p:spPr>
          <a:xfrm>
            <a:off x="7315200" y="5867400"/>
            <a:ext cx="9525" cy="381000"/>
          </a:xfrm>
          <a:prstGeom prst="rect">
            <a:avLst/>
          </a:prstGeom>
          <a:solidFill>
            <a:srgbClr val="C6D1E0"/>
          </a:solidFill>
          <a:ln w="0">
            <a:solidFill>
              <a:srgbClr val="C6D1E0"/>
            </a:solidFill>
            <a:prstDash val="solid"/>
          </a:ln>
        </p:spPr>
      </p:sp>
      <p:sp>
        <p:nvSpPr>
          <p:cNvPr id="90" name="s15-feedback-3-title"/>
          <p:cNvSpPr>
            <a:spLocks noGrp="1"/>
          </p:cNvSpPr>
          <p:nvPr/>
        </p:nvSpPr>
        <p:spPr>
          <a:xfrm>
            <a:off x="7467600" y="5838825"/>
            <a:ext cx="1885950" cy="190500"/>
          </a:xfrm>
          <a:prstGeom prst="rect">
            <a:avLst/>
          </a:prstGeom>
          <a:noFill/>
          <a:ln w="0">
            <a:noFill/>
            <a:prstDash val="solid"/>
          </a:ln>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1457C5"/>
                </a:solidFill>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072A67"/>
                </a:solidFill>
              </a:rPr>
              <a:t>→ 调整 Workflow / Contract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8-title"/>
          <p:cNvSpPr>
            <a:spLocks noGrp="1"/>
          </p:cNvSpPr>
          <p:nvPr/>
        </p:nvSpPr>
        <p:spPr>
          <a:xfrm>
            <a:off x="409575" y="38100"/>
            <a:ext cx="8572500" cy="409575"/>
          </a:xfrm>
          <a:prstGeom prst="rect">
            <a:avLst/>
          </a:prstGeom>
          <a:noFill/>
          <a:ln w="0">
            <a:noFill/>
            <a:prstDash val="solid"/>
          </a:ln>
        </p:spPr>
        <p:txBody>
          <a:bodyPr wrap="square" lIns="0" tIns="0" rIns="0" bIns="0" anchor="ctr">
            <a:normAutofit fontScale="99298" lnSpcReduction="10000"/>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如何根据指南开发一个新平台 Skill？</a:t>
            </a:r>
          </a:p>
        </p:txBody>
      </p:sp>
      <p:sp>
        <p:nvSpPr>
          <p:cNvPr id="9" name="footer-background"/>
          <p:cNvSpPr>
            <a:spLocks noGrp="1"/>
          </p:cNvSpPr>
          <p:nvPr/>
        </p:nvSpPr>
        <p:spPr>
          <a:xfrm>
            <a:off x="200025" y="6172200"/>
            <a:ext cx="11791950" cy="600075"/>
          </a:xfrm>
          <a:prstGeom prst="roundRect">
            <a:avLst>
              <a:gd name="adj" fmla="val 9524"/>
            </a:avLst>
          </a:prstGeom>
          <a:solidFill>
            <a:srgbClr val="EEF4FE"/>
          </a:solidFill>
          <a:ln w="0">
            <a:solidFill>
              <a:srgbClr val="EEF4FE"/>
            </a:solidFill>
            <a:prstDash val="solid"/>
          </a:ln>
        </p:spPr>
        <p:txBody>
          <a:bodyPr wrap="square" lIns="0" tIns="0" rIns="0" bIns="0" anchor="ctr">
            <a:normAutofit/>
          </a:bodyPr>
          <a:lstStyle/>
          <a:p>
            <a:endParaRPr/>
          </a:p>
        </p:txBody>
      </p:sp>
      <p:sp>
        <p:nvSpPr>
          <p:cNvPr id="11" name="slide-8-editable-footer"/>
          <p:cNvSpPr>
            <a:spLocks noGrp="1"/>
          </p:cNvSpPr>
          <p:nvPr/>
        </p:nvSpPr>
        <p:spPr>
          <a:xfrm>
            <a:off x="1171575" y="6181725"/>
            <a:ext cx="10620375" cy="523875"/>
          </a:xfrm>
          <a:prstGeom prst="roundRect">
            <a:avLst>
              <a:gd name="adj" fmla="val 15385"/>
            </a:avLst>
          </a:prstGeom>
          <a:solidFill>
            <a:srgbClr val="EEF4FE"/>
          </a:solidFill>
          <a:ln w="0">
            <a:noFill/>
            <a:prstDash val="solid"/>
          </a:ln>
        </p:spPr>
        <p:txBody>
          <a:bodyPr wrap="square" lIns="95250" tIns="19050" rIns="95250" bIns="19050" anchor="ctr">
            <a:normAutofit/>
          </a:bodyPr>
          <a:lstStyle/>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072A67"/>
                </a:solidFill>
                <a:latin typeface="微软雅黑" panose="020B0503020204020204" charset="-122"/>
                <a:ea typeface="微软雅黑" panose="020B0503020204020204" charset="-122"/>
                <a:cs typeface="微软雅黑" panose="020B0503020204020204" charset="-122"/>
              </a:rPr>
              <a:t>新平台 Skill 是通</a:t>
            </a:r>
            <a:r>
              <a:rPr lang="zh-CN" sz="1200" b="1">
                <a:solidFill>
                  <a:srgbClr val="072A67"/>
                </a:solidFill>
                <a:latin typeface="微软雅黑" panose="020B0503020204020204" charset="-122"/>
                <a:ea typeface="微软雅黑" panose="020B0503020204020204" charset="-122"/>
                <a:cs typeface="微软雅黑" panose="020B0503020204020204" charset="-122"/>
              </a:rPr>
              <a:t>在</a:t>
            </a:r>
            <a:r>
              <a:rPr sz="1200" b="1">
                <a:solidFill>
                  <a:srgbClr val="072A67"/>
                </a:solidFill>
                <a:latin typeface="微软雅黑" panose="020B0503020204020204" charset="-122"/>
                <a:ea typeface="微软雅黑" panose="020B0503020204020204" charset="-122"/>
                <a:cs typeface="微软雅黑" panose="020B0503020204020204" charset="-122"/>
              </a:rPr>
              <a:t>用框架上补齐目标平台知识，并通过真实验证不断校准。</a:t>
            </a:r>
          </a:p>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endParaRPr sz="1200"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20" name="knowledge-source-1"/>
          <p:cNvSpPr>
            <a:spLocks noGrp="1"/>
          </p:cNvSpPr>
          <p:nvPr/>
        </p:nvSpPr>
        <p:spPr>
          <a:xfrm>
            <a:off x="1759585" y="764540"/>
            <a:ext cx="2857500" cy="514350"/>
          </a:xfrm>
          <a:prstGeom prst="roundRect">
            <a:avLst>
              <a:gd name="adj" fmla="val 14815"/>
            </a:avLst>
          </a:prstGeom>
          <a:solidFill>
            <a:srgbClr val="FFFFFF"/>
          </a:solidFill>
          <a:ln w="9525">
            <a:solidFill>
              <a:srgbClr val="CAD7EB"/>
            </a:solidFill>
            <a:prstDash val="solid"/>
          </a:ln>
        </p:spPr>
      </p:sp>
      <p:sp>
        <p:nvSpPr>
          <p:cNvPr id="22" name="knowledge-source-1-title"/>
          <p:cNvSpPr>
            <a:spLocks noGrp="1"/>
          </p:cNvSpPr>
          <p:nvPr/>
        </p:nvSpPr>
        <p:spPr>
          <a:xfrm>
            <a:off x="2445385" y="802640"/>
            <a:ext cx="2000250" cy="2286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072A67"/>
                </a:solidFill>
                <a:latin typeface="微软雅黑" panose="020B0503020204020204" charset="-122"/>
                <a:ea typeface="微软雅黑" panose="020B0503020204020204" charset="-122"/>
                <a:cs typeface="微软雅黑" panose="020B0503020204020204" charset="-122"/>
              </a:rPr>
              <a:t>官方 / 网络资料</a:t>
            </a:r>
          </a:p>
        </p:txBody>
      </p:sp>
      <p:sp>
        <p:nvSpPr>
          <p:cNvPr id="23" name="knowledge-source-1-note"/>
          <p:cNvSpPr>
            <a:spLocks noGrp="1"/>
          </p:cNvSpPr>
          <p:nvPr/>
        </p:nvSpPr>
        <p:spPr>
          <a:xfrm>
            <a:off x="2445385" y="1021715"/>
            <a:ext cx="2000250" cy="171450"/>
          </a:xfrm>
          <a:prstGeom prst="rect">
            <a:avLst/>
          </a:prstGeom>
          <a:noFill/>
          <a:ln w="0">
            <a:noFill/>
            <a:prstDash val="solid"/>
          </a:ln>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56627A"/>
                </a:solidFill>
                <a:latin typeface="微软雅黑" panose="020B0503020204020204" charset="-122"/>
                <a:ea typeface="微软雅黑" panose="020B0503020204020204" charset="-122"/>
                <a:cs typeface="微软雅黑" panose="020B0503020204020204" charset="-122"/>
              </a:rPr>
              <a:t>定义能力边界</a:t>
            </a:r>
          </a:p>
        </p:txBody>
      </p:sp>
      <p:sp>
        <p:nvSpPr>
          <p:cNvPr id="24" name="knowledge-source-2"/>
          <p:cNvSpPr>
            <a:spLocks noGrp="1"/>
          </p:cNvSpPr>
          <p:nvPr/>
        </p:nvSpPr>
        <p:spPr>
          <a:xfrm>
            <a:off x="4683760" y="764540"/>
            <a:ext cx="2857500" cy="514350"/>
          </a:xfrm>
          <a:prstGeom prst="roundRect">
            <a:avLst>
              <a:gd name="adj" fmla="val 14815"/>
            </a:avLst>
          </a:prstGeom>
          <a:solidFill>
            <a:srgbClr val="FFFFFF"/>
          </a:solidFill>
          <a:ln w="9525">
            <a:solidFill>
              <a:srgbClr val="CAD7EB"/>
            </a:solidFill>
            <a:prstDash val="solid"/>
          </a:ln>
        </p:spPr>
      </p:sp>
      <p:sp>
        <p:nvSpPr>
          <p:cNvPr id="26" name="knowledge-source-2-title"/>
          <p:cNvSpPr>
            <a:spLocks noGrp="1"/>
          </p:cNvSpPr>
          <p:nvPr/>
        </p:nvSpPr>
        <p:spPr>
          <a:xfrm>
            <a:off x="5369560" y="802640"/>
            <a:ext cx="2000250" cy="2286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072A67"/>
                </a:solidFill>
                <a:latin typeface="微软雅黑" panose="020B0503020204020204" charset="-122"/>
                <a:ea typeface="微软雅黑" panose="020B0503020204020204" charset="-122"/>
                <a:cs typeface="微软雅黑" panose="020B0503020204020204" charset="-122"/>
              </a:rPr>
              <a:t>真实平台测试</a:t>
            </a:r>
          </a:p>
        </p:txBody>
      </p:sp>
      <p:sp>
        <p:nvSpPr>
          <p:cNvPr id="27" name="knowledge-source-2-note"/>
          <p:cNvSpPr>
            <a:spLocks noGrp="1"/>
          </p:cNvSpPr>
          <p:nvPr/>
        </p:nvSpPr>
        <p:spPr>
          <a:xfrm>
            <a:off x="5369560" y="1021715"/>
            <a:ext cx="2000250" cy="171450"/>
          </a:xfrm>
          <a:prstGeom prst="rect">
            <a:avLst/>
          </a:prstGeom>
          <a:noFill/>
          <a:ln w="0">
            <a:noFill/>
            <a:prstDash val="solid"/>
          </a:ln>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56627A"/>
                </a:solidFill>
                <a:latin typeface="微软雅黑" panose="020B0503020204020204" charset="-122"/>
                <a:ea typeface="微软雅黑" panose="020B0503020204020204" charset="-122"/>
                <a:cs typeface="微软雅黑" panose="020B0503020204020204" charset="-122"/>
              </a:rPr>
              <a:t>校准实际行为</a:t>
            </a:r>
          </a:p>
        </p:txBody>
      </p:sp>
      <p:sp>
        <p:nvSpPr>
          <p:cNvPr id="28" name="knowledge-source-3"/>
          <p:cNvSpPr>
            <a:spLocks noGrp="1"/>
          </p:cNvSpPr>
          <p:nvPr/>
        </p:nvSpPr>
        <p:spPr>
          <a:xfrm>
            <a:off x="7607935" y="764540"/>
            <a:ext cx="2857500" cy="514350"/>
          </a:xfrm>
          <a:prstGeom prst="roundRect">
            <a:avLst>
              <a:gd name="adj" fmla="val 14815"/>
            </a:avLst>
          </a:prstGeom>
          <a:solidFill>
            <a:srgbClr val="FFFFFF"/>
          </a:solidFill>
          <a:ln w="9525">
            <a:solidFill>
              <a:srgbClr val="CAD7EB"/>
            </a:solidFill>
            <a:prstDash val="solid"/>
          </a:ln>
        </p:spPr>
        <p:txBody>
          <a:bodyPr/>
          <a:lstStyle/>
          <a:p>
            <a:endParaRPr lang="zh-CN" altLang="en-US"/>
          </a:p>
        </p:txBody>
      </p:sp>
      <p:sp>
        <p:nvSpPr>
          <p:cNvPr id="30" name="knowledge-source-3-title"/>
          <p:cNvSpPr>
            <a:spLocks noGrp="1"/>
          </p:cNvSpPr>
          <p:nvPr/>
        </p:nvSpPr>
        <p:spPr>
          <a:xfrm>
            <a:off x="8293735" y="802640"/>
            <a:ext cx="2000250" cy="2286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072A67"/>
                </a:solidFill>
                <a:latin typeface="微软雅黑" panose="020B0503020204020204" charset="-122"/>
                <a:ea typeface="微软雅黑" panose="020B0503020204020204" charset="-122"/>
                <a:cs typeface="微软雅黑" panose="020B0503020204020204" charset="-122"/>
              </a:rPr>
              <a:t>已有工程经验</a:t>
            </a:r>
          </a:p>
        </p:txBody>
      </p:sp>
      <p:sp>
        <p:nvSpPr>
          <p:cNvPr id="31" name="knowledge-source-3-note"/>
          <p:cNvSpPr>
            <a:spLocks noGrp="1"/>
          </p:cNvSpPr>
          <p:nvPr/>
        </p:nvSpPr>
        <p:spPr>
          <a:xfrm>
            <a:off x="8293735" y="1021715"/>
            <a:ext cx="2000250" cy="171450"/>
          </a:xfrm>
          <a:prstGeom prst="rect">
            <a:avLst/>
          </a:prstGeom>
          <a:noFill/>
          <a:ln w="0">
            <a:noFill/>
            <a:prstDash val="solid"/>
          </a:ln>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56627A"/>
                </a:solidFill>
                <a:latin typeface="微软雅黑" panose="020B0503020204020204" charset="-122"/>
                <a:ea typeface="微软雅黑" panose="020B0503020204020204" charset="-122"/>
                <a:cs typeface="微软雅黑" panose="020B0503020204020204" charset="-122"/>
              </a:rPr>
              <a:t>减少重复试错</a:t>
            </a:r>
          </a:p>
        </p:txBody>
      </p:sp>
      <p:sp>
        <p:nvSpPr>
          <p:cNvPr id="32" name="platform-knowledge-node"/>
          <p:cNvSpPr>
            <a:spLocks noGrp="1"/>
          </p:cNvSpPr>
          <p:nvPr/>
        </p:nvSpPr>
        <p:spPr>
          <a:xfrm>
            <a:off x="4762500" y="1508760"/>
            <a:ext cx="2667000" cy="238125"/>
          </a:xfrm>
          <a:prstGeom prst="roundRect">
            <a:avLst>
              <a:gd name="adj" fmla="val 24000"/>
            </a:avLst>
          </a:prstGeom>
          <a:solidFill>
            <a:srgbClr val="0B2E70"/>
          </a:solidFill>
          <a:ln w="9525">
            <a:solidFill>
              <a:srgbClr val="0B2E70"/>
            </a:solidFill>
            <a:prstDash val="solid"/>
          </a:ln>
        </p:spPr>
        <p:txBody>
          <a:bodyPr wrap="square" lIns="47625" tIns="19050" rIns="47625" bIns="19050" anchor="ctr">
            <a:noAutofit/>
          </a:bodyPr>
          <a:lstStyle/>
          <a:p>
            <a:pPr algn="ctr">
              <a:defRPr sz="1050" b="1">
                <a:solidFill>
                  <a:srgbClr val="FFFFFF"/>
                </a:solidFill>
                <a:latin typeface="Calibri" panose="020F0502020204030204"/>
                <a:ea typeface="Calibri" panose="020F0502020204030204"/>
                <a:cs typeface="Calibri" panose="020F0502020204030204"/>
              </a:defRPr>
            </a:pPr>
            <a:r>
              <a:rPr lang="zh-CN" altLang="en-US" sz="1400" b="1" dirty="0" smtClean="0">
                <a:solidFill>
                  <a:srgbClr val="FFFFFF"/>
                </a:solidFill>
                <a:latin typeface="Calibri" panose="020F0502020204030204"/>
                <a:ea typeface="Calibri" panose="020F0502020204030204"/>
                <a:cs typeface="Calibri" panose="020F0502020204030204"/>
              </a:rPr>
              <a:t>平台知识</a:t>
            </a:r>
            <a:endParaRPr sz="1400" b="1" dirty="0">
              <a:solidFill>
                <a:srgbClr val="FFFFFF"/>
              </a:solidFill>
              <a:latin typeface="Calibri" panose="020F0502020204030204"/>
              <a:ea typeface="Calibri" panose="020F0502020204030204"/>
              <a:cs typeface="Calibri" panose="020F0502020204030204"/>
            </a:endParaRPr>
          </a:p>
        </p:txBody>
      </p:sp>
      <p:cxnSp>
        <p:nvCxnSpPr>
          <p:cNvPr id="183" name="knowledge-source-1-to-platform"/>
          <p:cNvCxnSpPr>
            <a:stCxn id="20" idx="2"/>
            <a:endCxn id="32" idx="0"/>
          </p:cNvCxnSpPr>
          <p:nvPr/>
        </p:nvCxnSpPr>
        <p:spPr>
          <a:xfrm rot="5400000" flipV="1">
            <a:off x="4527233" y="-60007"/>
            <a:ext cx="229870" cy="2907665"/>
          </a:xfrm>
          <a:prstGeom prst="bentConnector3">
            <a:avLst>
              <a:gd name="adj1" fmla="val 49862"/>
            </a:avLst>
          </a:prstGeom>
          <a:ln w="10478">
            <a:solidFill>
              <a:srgbClr val="1457C5"/>
            </a:solidFill>
            <a:prstDash val="solid"/>
            <a:tailEnd type="triangle" w="sm" len="sm"/>
          </a:ln>
        </p:spPr>
      </p:cxnSp>
      <p:cxnSp>
        <p:nvCxnSpPr>
          <p:cNvPr id="184" name="knowledge-source-2-to-platform"/>
          <p:cNvCxnSpPr>
            <a:stCxn id="24" idx="2"/>
            <a:endCxn id="32" idx="0"/>
          </p:cNvCxnSpPr>
          <p:nvPr/>
        </p:nvCxnSpPr>
        <p:spPr>
          <a:xfrm rot="5400000">
            <a:off x="5989320" y="1385570"/>
            <a:ext cx="229870" cy="16510"/>
          </a:xfrm>
          <a:prstGeom prst="bentConnector3">
            <a:avLst>
              <a:gd name="adj1" fmla="val 50000"/>
            </a:avLst>
          </a:prstGeom>
          <a:ln w="10478">
            <a:solidFill>
              <a:srgbClr val="1457C5"/>
            </a:solidFill>
            <a:prstDash val="solid"/>
            <a:tailEnd type="triangle" w="sm" len="sm"/>
          </a:ln>
        </p:spPr>
      </p:cxnSp>
      <p:cxnSp>
        <p:nvCxnSpPr>
          <p:cNvPr id="185" name="knowledge-source-3-to-platform"/>
          <p:cNvCxnSpPr>
            <a:stCxn id="28" idx="2"/>
            <a:endCxn id="32" idx="0"/>
          </p:cNvCxnSpPr>
          <p:nvPr/>
        </p:nvCxnSpPr>
        <p:spPr>
          <a:xfrm rot="5400000">
            <a:off x="7451408" y="-76517"/>
            <a:ext cx="229870" cy="2940685"/>
          </a:xfrm>
          <a:prstGeom prst="bentConnector3">
            <a:avLst>
              <a:gd name="adj1" fmla="val 49862"/>
            </a:avLst>
          </a:prstGeom>
          <a:ln w="10478">
            <a:solidFill>
              <a:srgbClr val="1457C5"/>
            </a:solidFill>
            <a:prstDash val="solid"/>
            <a:tailEnd type="triangle" w="sm" len="sm"/>
          </a:ln>
        </p:spPr>
      </p:cxnSp>
      <p:sp>
        <p:nvSpPr>
          <p:cNvPr id="37" name="phase-a-surface"/>
          <p:cNvSpPr>
            <a:spLocks noGrp="1"/>
          </p:cNvSpPr>
          <p:nvPr/>
        </p:nvSpPr>
        <p:spPr>
          <a:xfrm>
            <a:off x="1295400" y="1844675"/>
            <a:ext cx="9601200" cy="1000125"/>
          </a:xfrm>
          <a:prstGeom prst="roundRect">
            <a:avLst>
              <a:gd name="adj" fmla="val 7619"/>
            </a:avLst>
          </a:prstGeom>
          <a:solidFill>
            <a:srgbClr val="F7FAFE"/>
          </a:solidFill>
          <a:ln w="9525">
            <a:solidFill>
              <a:srgbClr val="AFC7EE"/>
            </a:solidFill>
            <a:prstDash val="solid"/>
          </a:ln>
        </p:spPr>
      </p:sp>
      <p:sp>
        <p:nvSpPr>
          <p:cNvPr id="38" name="phase-a-accent"/>
          <p:cNvSpPr>
            <a:spLocks noGrp="1"/>
          </p:cNvSpPr>
          <p:nvPr/>
        </p:nvSpPr>
        <p:spPr>
          <a:xfrm>
            <a:off x="1295400" y="1844675"/>
            <a:ext cx="57150" cy="1000125"/>
          </a:xfrm>
          <a:prstGeom prst="roundRect">
            <a:avLst>
              <a:gd name="adj" fmla="val 50000"/>
            </a:avLst>
          </a:prstGeom>
          <a:solidFill>
            <a:srgbClr val="1457C5"/>
          </a:solidFill>
          <a:ln w="9525">
            <a:solidFill>
              <a:srgbClr val="1457C5"/>
            </a:solidFill>
            <a:prstDash val="solid"/>
          </a:ln>
        </p:spPr>
      </p:sp>
      <p:sp>
        <p:nvSpPr>
          <p:cNvPr id="39" name="phase-a-letter"/>
          <p:cNvSpPr>
            <a:spLocks noGrp="1"/>
          </p:cNvSpPr>
          <p:nvPr/>
        </p:nvSpPr>
        <p:spPr>
          <a:xfrm>
            <a:off x="1438275" y="1968500"/>
            <a:ext cx="295275" cy="295275"/>
          </a:xfrm>
          <a:prstGeom prst="roundRect">
            <a:avLst>
              <a:gd name="adj" fmla="val 19355"/>
            </a:avLst>
          </a:prstGeom>
          <a:solidFill>
            <a:srgbClr val="1457C5"/>
          </a:solidFill>
          <a:ln w="9525">
            <a:solidFill>
              <a:srgbClr val="1457C5"/>
            </a:solidFill>
            <a:prstDash val="solid"/>
          </a:ln>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a:solidFill>
                  <a:srgbClr val="FFFFFF"/>
                </a:solidFill>
                <a:latin typeface="Calibri" panose="020F0502020204030204"/>
                <a:ea typeface="Calibri" panose="020F0502020204030204"/>
                <a:cs typeface="Calibri" panose="020F0502020204030204"/>
              </a:rPr>
              <a:t>A</a:t>
            </a:r>
          </a:p>
        </p:txBody>
      </p:sp>
      <p:sp>
        <p:nvSpPr>
          <p:cNvPr id="41" name="phase-a-chinese"/>
          <p:cNvSpPr>
            <a:spLocks noGrp="1"/>
          </p:cNvSpPr>
          <p:nvPr/>
        </p:nvSpPr>
        <p:spPr>
          <a:xfrm>
            <a:off x="1476375" y="2149475"/>
            <a:ext cx="1304925" cy="285750"/>
          </a:xfrm>
          <a:prstGeom prst="rect">
            <a:avLst/>
          </a:prstGeom>
          <a:noFill/>
          <a:ln w="0">
            <a:noFill/>
            <a:prstDash val="solid"/>
          </a:ln>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1457C5"/>
                </a:solidFill>
                <a:latin typeface="微软雅黑" panose="020B0503020204020204" charset="-122"/>
                <a:ea typeface="微软雅黑" panose="020B0503020204020204" charset="-122"/>
                <a:cs typeface="微软雅黑" panose="020B0503020204020204" charset="-122"/>
              </a:rPr>
              <a:t>平台认知</a:t>
            </a:r>
          </a:p>
        </p:txBody>
      </p:sp>
      <p:sp>
        <p:nvSpPr>
          <p:cNvPr id="42" name="phase-a-sidebar-divider"/>
          <p:cNvSpPr>
            <a:spLocks noGrp="1"/>
          </p:cNvSpPr>
          <p:nvPr/>
        </p:nvSpPr>
        <p:spPr>
          <a:xfrm>
            <a:off x="2847975" y="1939925"/>
            <a:ext cx="9525" cy="9525"/>
          </a:xfrm>
          <a:prstGeom prst="rect">
            <a:avLst/>
          </a:prstGeom>
          <a:solidFill>
            <a:srgbClr val="CAD7EB"/>
          </a:solidFill>
          <a:ln w="9525">
            <a:solidFill>
              <a:srgbClr val="CAD7EB"/>
            </a:solidFill>
            <a:prstDash val="solid"/>
          </a:ln>
        </p:spPr>
      </p:sp>
      <p:sp>
        <p:nvSpPr>
          <p:cNvPr id="43" name="phase-a-step-divider"/>
          <p:cNvSpPr>
            <a:spLocks noGrp="1"/>
          </p:cNvSpPr>
          <p:nvPr/>
        </p:nvSpPr>
        <p:spPr>
          <a:xfrm>
            <a:off x="6924675" y="1939925"/>
            <a:ext cx="9525" cy="9525"/>
          </a:xfrm>
          <a:prstGeom prst="rect">
            <a:avLst/>
          </a:prstGeom>
          <a:solidFill>
            <a:srgbClr val="CAD7EB"/>
          </a:solidFill>
          <a:ln w="9525">
            <a:solidFill>
              <a:srgbClr val="CAD7EB"/>
            </a:solidFill>
            <a:prstDash val="solid"/>
          </a:ln>
        </p:spPr>
      </p:sp>
      <p:sp>
        <p:nvSpPr>
          <p:cNvPr id="44" name="step-01-number"/>
          <p:cNvSpPr>
            <a:spLocks noGrp="1"/>
          </p:cNvSpPr>
          <p:nvPr/>
        </p:nvSpPr>
        <p:spPr>
          <a:xfrm>
            <a:off x="3009900" y="1939925"/>
            <a:ext cx="342900" cy="276225"/>
          </a:xfrm>
          <a:prstGeom prst="roundRect">
            <a:avLst>
              <a:gd name="adj" fmla="val 20690"/>
            </a:avLst>
          </a:prstGeom>
          <a:solidFill>
            <a:srgbClr val="1457C5"/>
          </a:solidFill>
          <a:ln w="9525">
            <a:solidFill>
              <a:srgbClr val="1457C5"/>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01</a:t>
            </a:r>
          </a:p>
        </p:txBody>
      </p:sp>
      <p:sp>
        <p:nvSpPr>
          <p:cNvPr id="45" name="step-01-title"/>
          <p:cNvSpPr>
            <a:spLocks noGrp="1"/>
          </p:cNvSpPr>
          <p:nvPr/>
        </p:nvSpPr>
        <p:spPr>
          <a:xfrm>
            <a:off x="3429000" y="1920875"/>
            <a:ext cx="2000250" cy="190500"/>
          </a:xfrm>
          <a:prstGeom prst="rect">
            <a:avLst/>
          </a:prstGeom>
          <a:noFill/>
          <a:ln w="0">
            <a:noFill/>
            <a:prstDash val="solid"/>
          </a:ln>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1457C5"/>
                </a:solidFill>
                <a:latin typeface="微软雅黑" panose="020B0503020204020204" charset="-122"/>
                <a:ea typeface="微软雅黑" panose="020B0503020204020204" charset="-122"/>
                <a:cs typeface="微软雅黑" panose="020B0503020204020204" charset="-122"/>
              </a:rPr>
              <a:t>平台定位</a:t>
            </a:r>
          </a:p>
        </p:txBody>
      </p:sp>
      <p:sp>
        <p:nvSpPr>
          <p:cNvPr id="46" name="step-01-subtitle"/>
          <p:cNvSpPr>
            <a:spLocks noGrp="1"/>
          </p:cNvSpPr>
          <p:nvPr/>
        </p:nvSpPr>
        <p:spPr>
          <a:xfrm>
            <a:off x="3429000" y="2111375"/>
            <a:ext cx="2952750"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7364A"/>
                </a:solidFill>
                <a:latin typeface="微软雅黑" panose="020B0503020204020204" charset="-122"/>
                <a:ea typeface="微软雅黑" panose="020B0503020204020204" charset="-122"/>
                <a:cs typeface="微软雅黑" panose="020B0503020204020204" charset="-122"/>
              </a:rPr>
              <a:t>锁定平台与编程模型</a:t>
            </a:r>
          </a:p>
        </p:txBody>
      </p:sp>
      <p:sp>
        <p:nvSpPr>
          <p:cNvPr id="47" name="step-01-hardware"/>
          <p:cNvSpPr>
            <a:spLocks noGrp="1"/>
          </p:cNvSpPr>
          <p:nvPr/>
        </p:nvSpPr>
        <p:spPr>
          <a:xfrm>
            <a:off x="3448050" y="2282825"/>
            <a:ext cx="838200" cy="190500"/>
          </a:xfrm>
          <a:prstGeom prst="roundRect">
            <a:avLst>
              <a:gd name="adj" fmla="val 30000"/>
            </a:avLst>
          </a:prstGeom>
          <a:solidFill>
            <a:srgbClr val="FFFFFF"/>
          </a:solidFill>
          <a:ln w="9525">
            <a:solidFill>
              <a:srgbClr val="AFC7EE"/>
            </a:solidFill>
            <a:prstDash val="solid"/>
          </a:ln>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072A67"/>
                </a:solidFill>
                <a:latin typeface="Calibri" panose="020F0502020204030204"/>
                <a:ea typeface="Calibri" panose="020F0502020204030204"/>
                <a:cs typeface="Calibri" panose="020F0502020204030204"/>
              </a:rPr>
              <a:t>Hardware</a:t>
            </a:r>
          </a:p>
        </p:txBody>
      </p:sp>
      <p:sp>
        <p:nvSpPr>
          <p:cNvPr id="48" name="step-01-programming"/>
          <p:cNvSpPr>
            <a:spLocks noGrp="1"/>
          </p:cNvSpPr>
          <p:nvPr/>
        </p:nvSpPr>
        <p:spPr>
          <a:xfrm>
            <a:off x="4343400" y="2282825"/>
            <a:ext cx="1219200" cy="190500"/>
          </a:xfrm>
          <a:prstGeom prst="roundRect">
            <a:avLst>
              <a:gd name="adj" fmla="val 30000"/>
            </a:avLst>
          </a:prstGeom>
          <a:solidFill>
            <a:srgbClr val="FFFFFF"/>
          </a:solidFill>
          <a:ln w="9525">
            <a:solidFill>
              <a:srgbClr val="AFC7EE"/>
            </a:solidFill>
            <a:prstDash val="solid"/>
          </a:ln>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072A67"/>
                </a:solidFill>
                <a:latin typeface="Calibri" panose="020F0502020204030204"/>
                <a:ea typeface="Calibri" panose="020F0502020204030204"/>
                <a:cs typeface="Calibri" panose="020F0502020204030204"/>
              </a:rPr>
              <a:t>Programming Model</a:t>
            </a:r>
          </a:p>
        </p:txBody>
      </p:sp>
      <p:sp>
        <p:nvSpPr>
          <p:cNvPr id="49" name="step-01-stack"/>
          <p:cNvSpPr>
            <a:spLocks noGrp="1"/>
          </p:cNvSpPr>
          <p:nvPr/>
        </p:nvSpPr>
        <p:spPr>
          <a:xfrm>
            <a:off x="5619750" y="2282825"/>
            <a:ext cx="1066800" cy="190500"/>
          </a:xfrm>
          <a:prstGeom prst="roundRect">
            <a:avLst>
              <a:gd name="adj" fmla="val 30000"/>
            </a:avLst>
          </a:prstGeom>
          <a:solidFill>
            <a:srgbClr val="FFFFFF"/>
          </a:solidFill>
          <a:ln w="9525">
            <a:solidFill>
              <a:srgbClr val="AFC7EE"/>
            </a:solidFill>
            <a:prstDash val="solid"/>
          </a:ln>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072A67"/>
                </a:solidFill>
                <a:latin typeface="Calibri" panose="020F0502020204030204"/>
                <a:ea typeface="Calibri" panose="020F0502020204030204"/>
                <a:cs typeface="Calibri" panose="020F0502020204030204"/>
              </a:rPr>
              <a:t>Software Stack</a:t>
            </a:r>
          </a:p>
        </p:txBody>
      </p:sp>
      <p:sp>
        <p:nvSpPr>
          <p:cNvPr id="50" name="step-01-output"/>
          <p:cNvSpPr>
            <a:spLocks noGrp="1"/>
          </p:cNvSpPr>
          <p:nvPr/>
        </p:nvSpPr>
        <p:spPr>
          <a:xfrm>
            <a:off x="3429000" y="2511425"/>
            <a:ext cx="3276600" cy="152400"/>
          </a:xfrm>
          <a:prstGeom prst="rect">
            <a:avLst/>
          </a:prstGeom>
          <a:noFill/>
          <a:ln w="0">
            <a:noFill/>
            <a:prstDash val="solid"/>
          </a:ln>
        </p:spPr>
        <p:txBody>
          <a:bodyPr wrap="square" lIns="0" tIns="0" rIns="0" bIns="0" anchor="ctr">
            <a:normAutofit/>
          </a:bodyPr>
          <a:lstStyle/>
          <a:p>
            <a:pPr algn="ctr">
              <a:defRPr sz="865" b="1">
                <a:solidFill>
                  <a:srgbClr val="072A67"/>
                </a:solidFill>
                <a:latin typeface="Calibri" panose="020F0502020204030204"/>
                <a:ea typeface="Calibri" panose="020F0502020204030204"/>
                <a:cs typeface="Calibri" panose="020F0502020204030204"/>
              </a:defRPr>
            </a:pPr>
            <a:r>
              <a:rPr sz="865" b="1">
                <a:solidFill>
                  <a:srgbClr val="072A67"/>
                </a:solidFill>
                <a:latin typeface="Calibri" panose="020F0502020204030204"/>
                <a:ea typeface="Calibri" panose="020F0502020204030204"/>
                <a:cs typeface="Calibri" panose="020F0502020204030204"/>
              </a:rPr>
              <a:t>Output · Platform Card</a:t>
            </a:r>
          </a:p>
        </p:txBody>
      </p:sp>
      <p:sp>
        <p:nvSpPr>
          <p:cNvPr id="52" name="step-02-number"/>
          <p:cNvSpPr>
            <a:spLocks noGrp="1"/>
          </p:cNvSpPr>
          <p:nvPr/>
        </p:nvSpPr>
        <p:spPr>
          <a:xfrm>
            <a:off x="7067550" y="1939925"/>
            <a:ext cx="342900" cy="276225"/>
          </a:xfrm>
          <a:prstGeom prst="roundRect">
            <a:avLst>
              <a:gd name="adj" fmla="val 20690"/>
            </a:avLst>
          </a:prstGeom>
          <a:solidFill>
            <a:srgbClr val="1457C5"/>
          </a:solidFill>
          <a:ln w="9525">
            <a:solidFill>
              <a:srgbClr val="1457C5"/>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02</a:t>
            </a:r>
          </a:p>
        </p:txBody>
      </p:sp>
      <p:sp>
        <p:nvSpPr>
          <p:cNvPr id="53" name="step-02-title"/>
          <p:cNvSpPr>
            <a:spLocks noGrp="1"/>
          </p:cNvSpPr>
          <p:nvPr/>
        </p:nvSpPr>
        <p:spPr>
          <a:xfrm>
            <a:off x="7486650" y="1920875"/>
            <a:ext cx="2000250" cy="190500"/>
          </a:xfrm>
          <a:prstGeom prst="rect">
            <a:avLst/>
          </a:prstGeom>
          <a:noFill/>
          <a:ln w="0">
            <a:noFill/>
            <a:prstDash val="solid"/>
          </a:ln>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1457C5"/>
                </a:solidFill>
                <a:latin typeface="微软雅黑" panose="020B0503020204020204" charset="-122"/>
                <a:ea typeface="微软雅黑" panose="020B0503020204020204" charset="-122"/>
                <a:cs typeface="微软雅黑" panose="020B0503020204020204" charset="-122"/>
              </a:rPr>
              <a:t>知识收集</a:t>
            </a:r>
          </a:p>
        </p:txBody>
      </p:sp>
      <p:sp>
        <p:nvSpPr>
          <p:cNvPr id="54" name="step-02-subtitle"/>
          <p:cNvSpPr>
            <a:spLocks noGrp="1"/>
          </p:cNvSpPr>
          <p:nvPr/>
        </p:nvSpPr>
        <p:spPr>
          <a:xfrm>
            <a:off x="7486650" y="2111375"/>
            <a:ext cx="2952750"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7364A"/>
                </a:solidFill>
                <a:latin typeface="微软雅黑" panose="020B0503020204020204" charset="-122"/>
                <a:ea typeface="微软雅黑" panose="020B0503020204020204" charset="-122"/>
                <a:cs typeface="微软雅黑" panose="020B0503020204020204" charset="-122"/>
              </a:rPr>
              <a:t>系统收集平台资料</a:t>
            </a:r>
          </a:p>
        </p:txBody>
      </p:sp>
      <p:sp>
        <p:nvSpPr>
          <p:cNvPr id="55" name="step-02-tag-1"/>
          <p:cNvSpPr>
            <a:spLocks noGrp="1"/>
          </p:cNvSpPr>
          <p:nvPr/>
        </p:nvSpPr>
        <p:spPr>
          <a:xfrm>
            <a:off x="7505700" y="2254250"/>
            <a:ext cx="838200" cy="180975"/>
          </a:xfrm>
          <a:prstGeom prst="roundRect">
            <a:avLst>
              <a:gd name="adj" fmla="val 31579"/>
            </a:avLst>
          </a:prstGeom>
          <a:solidFill>
            <a:srgbClr val="FFFFFF"/>
          </a:solidFill>
          <a:ln w="9525">
            <a:solidFill>
              <a:srgbClr val="AFC7EE"/>
            </a:solidFill>
            <a:prstDash val="solid"/>
          </a:ln>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072A67"/>
                </a:solidFill>
                <a:latin typeface="Calibri" panose="020F0502020204030204"/>
                <a:ea typeface="Calibri" panose="020F0502020204030204"/>
                <a:cs typeface="Calibri" panose="020F0502020204030204"/>
              </a:rPr>
              <a:t>Hardware</a:t>
            </a:r>
          </a:p>
        </p:txBody>
      </p:sp>
      <p:sp>
        <p:nvSpPr>
          <p:cNvPr id="56" name="step-02-tag-2"/>
          <p:cNvSpPr>
            <a:spLocks noGrp="1"/>
          </p:cNvSpPr>
          <p:nvPr/>
        </p:nvSpPr>
        <p:spPr>
          <a:xfrm>
            <a:off x="8391525" y="2254250"/>
            <a:ext cx="1066800" cy="180975"/>
          </a:xfrm>
          <a:prstGeom prst="roundRect">
            <a:avLst>
              <a:gd name="adj" fmla="val 31579"/>
            </a:avLst>
          </a:prstGeom>
          <a:solidFill>
            <a:srgbClr val="FFFFFF"/>
          </a:solidFill>
          <a:ln w="9525">
            <a:solidFill>
              <a:srgbClr val="AFC7EE"/>
            </a:solidFill>
            <a:prstDash val="solid"/>
          </a:ln>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072A67"/>
                </a:solidFill>
                <a:latin typeface="Calibri" panose="020F0502020204030204"/>
                <a:ea typeface="Calibri" panose="020F0502020204030204"/>
                <a:cs typeface="Calibri" panose="020F0502020204030204"/>
              </a:rPr>
              <a:t>Programming</a:t>
            </a:r>
          </a:p>
        </p:txBody>
      </p:sp>
      <p:sp>
        <p:nvSpPr>
          <p:cNvPr id="57" name="step-02-tag-3"/>
          <p:cNvSpPr>
            <a:spLocks noGrp="1"/>
          </p:cNvSpPr>
          <p:nvPr/>
        </p:nvSpPr>
        <p:spPr>
          <a:xfrm>
            <a:off x="9505950" y="2254250"/>
            <a:ext cx="666750" cy="180975"/>
          </a:xfrm>
          <a:prstGeom prst="roundRect">
            <a:avLst>
              <a:gd name="adj" fmla="val 31579"/>
            </a:avLst>
          </a:prstGeom>
          <a:solidFill>
            <a:srgbClr val="FFFFFF"/>
          </a:solidFill>
          <a:ln w="9525">
            <a:solidFill>
              <a:srgbClr val="AFC7EE"/>
            </a:solidFill>
            <a:prstDash val="solid"/>
          </a:ln>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072A67"/>
                </a:solidFill>
                <a:latin typeface="Calibri" panose="020F0502020204030204"/>
                <a:ea typeface="Calibri" panose="020F0502020204030204"/>
                <a:cs typeface="Calibri" panose="020F0502020204030204"/>
              </a:rPr>
              <a:t>API</a:t>
            </a:r>
          </a:p>
        </p:txBody>
      </p:sp>
      <p:sp>
        <p:nvSpPr>
          <p:cNvPr id="58" name="step-02-tag-4"/>
          <p:cNvSpPr>
            <a:spLocks noGrp="1"/>
          </p:cNvSpPr>
          <p:nvPr/>
        </p:nvSpPr>
        <p:spPr>
          <a:xfrm>
            <a:off x="7505700" y="2463800"/>
            <a:ext cx="990600" cy="180975"/>
          </a:xfrm>
          <a:prstGeom prst="roundRect">
            <a:avLst>
              <a:gd name="adj" fmla="val 31579"/>
            </a:avLst>
          </a:prstGeom>
          <a:solidFill>
            <a:srgbClr val="FFFFFF"/>
          </a:solidFill>
          <a:ln w="9525">
            <a:solidFill>
              <a:srgbClr val="AFC7EE"/>
            </a:solidFill>
            <a:prstDash val="solid"/>
          </a:ln>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072A67"/>
                </a:solidFill>
                <a:latin typeface="Calibri" panose="020F0502020204030204"/>
                <a:ea typeface="Calibri" panose="020F0502020204030204"/>
                <a:cs typeface="Calibri" panose="020F0502020204030204"/>
              </a:rPr>
              <a:t>Environment</a:t>
            </a:r>
          </a:p>
        </p:txBody>
      </p:sp>
      <p:sp>
        <p:nvSpPr>
          <p:cNvPr id="59" name="step-02-tag-5"/>
          <p:cNvSpPr>
            <a:spLocks noGrp="1"/>
          </p:cNvSpPr>
          <p:nvPr/>
        </p:nvSpPr>
        <p:spPr>
          <a:xfrm>
            <a:off x="8543925" y="2463800"/>
            <a:ext cx="819150" cy="180975"/>
          </a:xfrm>
          <a:prstGeom prst="roundRect">
            <a:avLst>
              <a:gd name="adj" fmla="val 31579"/>
            </a:avLst>
          </a:prstGeom>
          <a:solidFill>
            <a:srgbClr val="FFFFFF"/>
          </a:solidFill>
          <a:ln w="9525">
            <a:solidFill>
              <a:srgbClr val="AFC7EE"/>
            </a:solidFill>
            <a:prstDash val="solid"/>
          </a:ln>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072A67"/>
                </a:solidFill>
                <a:latin typeface="Calibri" panose="020F0502020204030204"/>
                <a:ea typeface="Calibri" panose="020F0502020204030204"/>
                <a:cs typeface="Calibri" panose="020F0502020204030204"/>
              </a:rPr>
              <a:t>Profiler</a:t>
            </a:r>
          </a:p>
        </p:txBody>
      </p:sp>
      <p:sp>
        <p:nvSpPr>
          <p:cNvPr id="60" name="step-02-tag-6"/>
          <p:cNvSpPr>
            <a:spLocks noGrp="1"/>
          </p:cNvSpPr>
          <p:nvPr/>
        </p:nvSpPr>
        <p:spPr>
          <a:xfrm>
            <a:off x="9410700" y="2463800"/>
            <a:ext cx="990600" cy="180975"/>
          </a:xfrm>
          <a:prstGeom prst="roundRect">
            <a:avLst>
              <a:gd name="adj" fmla="val 31579"/>
            </a:avLst>
          </a:prstGeom>
          <a:solidFill>
            <a:srgbClr val="FFFFFF"/>
          </a:solidFill>
          <a:ln w="9525">
            <a:solidFill>
              <a:srgbClr val="AFC7EE"/>
            </a:solidFill>
            <a:prstDash val="solid"/>
          </a:ln>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072A67"/>
                </a:solidFill>
                <a:latin typeface="Calibri" panose="020F0502020204030204"/>
                <a:ea typeface="Calibri" panose="020F0502020204030204"/>
                <a:cs typeface="Calibri" panose="020F0502020204030204"/>
              </a:rPr>
              <a:t>Optimization</a:t>
            </a:r>
          </a:p>
        </p:txBody>
      </p:sp>
      <p:sp>
        <p:nvSpPr>
          <p:cNvPr id="63" name="phase-b-surface"/>
          <p:cNvSpPr>
            <a:spLocks noGrp="1"/>
          </p:cNvSpPr>
          <p:nvPr/>
        </p:nvSpPr>
        <p:spPr>
          <a:xfrm>
            <a:off x="1295400" y="2892425"/>
            <a:ext cx="9601200" cy="971550"/>
          </a:xfrm>
          <a:prstGeom prst="roundRect">
            <a:avLst>
              <a:gd name="adj" fmla="val 7843"/>
            </a:avLst>
          </a:prstGeom>
          <a:solidFill>
            <a:srgbClr val="F0FAFC"/>
          </a:solidFill>
          <a:ln w="9525">
            <a:solidFill>
              <a:srgbClr val="8ED4DC"/>
            </a:solidFill>
            <a:prstDash val="solid"/>
          </a:ln>
        </p:spPr>
      </p:sp>
      <p:sp>
        <p:nvSpPr>
          <p:cNvPr id="64" name="phase-b-accent"/>
          <p:cNvSpPr>
            <a:spLocks noGrp="1"/>
          </p:cNvSpPr>
          <p:nvPr/>
        </p:nvSpPr>
        <p:spPr>
          <a:xfrm>
            <a:off x="1295400" y="2892425"/>
            <a:ext cx="57150" cy="971550"/>
          </a:xfrm>
          <a:prstGeom prst="roundRect">
            <a:avLst>
              <a:gd name="adj" fmla="val 50000"/>
            </a:avLst>
          </a:prstGeom>
          <a:solidFill>
            <a:srgbClr val="0B8B99"/>
          </a:solidFill>
          <a:ln w="9525">
            <a:solidFill>
              <a:srgbClr val="0B8B99"/>
            </a:solidFill>
            <a:prstDash val="solid"/>
          </a:ln>
        </p:spPr>
      </p:sp>
      <p:sp>
        <p:nvSpPr>
          <p:cNvPr id="65" name="phase-b-letter"/>
          <p:cNvSpPr>
            <a:spLocks noGrp="1"/>
          </p:cNvSpPr>
          <p:nvPr/>
        </p:nvSpPr>
        <p:spPr>
          <a:xfrm>
            <a:off x="1438275" y="3016250"/>
            <a:ext cx="295275" cy="295275"/>
          </a:xfrm>
          <a:prstGeom prst="roundRect">
            <a:avLst>
              <a:gd name="adj" fmla="val 19355"/>
            </a:avLst>
          </a:prstGeom>
          <a:solidFill>
            <a:srgbClr val="0B8B99"/>
          </a:solidFill>
          <a:ln w="9525">
            <a:solidFill>
              <a:srgbClr val="0B8B99"/>
            </a:solidFill>
            <a:prstDash val="solid"/>
          </a:ln>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a:solidFill>
                  <a:srgbClr val="FFFFFF"/>
                </a:solidFill>
                <a:latin typeface="Calibri" panose="020F0502020204030204"/>
                <a:ea typeface="Calibri" panose="020F0502020204030204"/>
                <a:cs typeface="Calibri" panose="020F0502020204030204"/>
              </a:rPr>
              <a:t>B</a:t>
            </a:r>
          </a:p>
        </p:txBody>
      </p:sp>
      <p:sp>
        <p:nvSpPr>
          <p:cNvPr id="67" name="phase-b-chinese"/>
          <p:cNvSpPr>
            <a:spLocks noGrp="1"/>
          </p:cNvSpPr>
          <p:nvPr/>
        </p:nvSpPr>
        <p:spPr>
          <a:xfrm>
            <a:off x="1552575" y="3254375"/>
            <a:ext cx="1304925" cy="285750"/>
          </a:xfrm>
          <a:prstGeom prst="rect">
            <a:avLst/>
          </a:prstGeom>
          <a:noFill/>
          <a:ln w="0">
            <a:noFill/>
            <a:prstDash val="solid"/>
          </a:ln>
        </p:spPr>
        <p:txBody>
          <a:bodyPr wrap="square" lIns="0" tIns="0" rIns="0" bIns="0" anchor="ctr">
            <a:normAutofit/>
          </a:bodyPr>
          <a:lstStyle/>
          <a:p>
            <a:pPr algn="ctr">
              <a:defRPr sz="1275" b="1">
                <a:solidFill>
                  <a:srgbClr val="0B8B99"/>
                </a:solidFill>
                <a:latin typeface="微软雅黑" panose="020B0503020204020204" charset="-122"/>
                <a:ea typeface="微软雅黑" panose="020B0503020204020204" charset="-122"/>
                <a:cs typeface="微软雅黑" panose="020B0503020204020204" charset="-122"/>
              </a:defRPr>
            </a:pPr>
            <a:r>
              <a:rPr sz="1275" b="1">
                <a:solidFill>
                  <a:srgbClr val="0B8B99"/>
                </a:solidFill>
                <a:latin typeface="微软雅黑" panose="020B0503020204020204" charset="-122"/>
                <a:ea typeface="微软雅黑" panose="020B0503020204020204" charset="-122"/>
                <a:cs typeface="微软雅黑" panose="020B0503020204020204" charset="-122"/>
              </a:rPr>
              <a:t>事实验证</a:t>
            </a:r>
          </a:p>
        </p:txBody>
      </p:sp>
      <p:sp>
        <p:nvSpPr>
          <p:cNvPr id="68" name="phase-b-sidebar-divider"/>
          <p:cNvSpPr>
            <a:spLocks noGrp="1"/>
          </p:cNvSpPr>
          <p:nvPr/>
        </p:nvSpPr>
        <p:spPr>
          <a:xfrm>
            <a:off x="2847975" y="2987675"/>
            <a:ext cx="9525" cy="9525"/>
          </a:xfrm>
          <a:prstGeom prst="rect">
            <a:avLst/>
          </a:prstGeom>
          <a:solidFill>
            <a:srgbClr val="CAD7EB"/>
          </a:solidFill>
          <a:ln w="9525">
            <a:solidFill>
              <a:srgbClr val="CAD7EB"/>
            </a:solidFill>
            <a:prstDash val="solid"/>
          </a:ln>
        </p:spPr>
      </p:sp>
      <p:sp>
        <p:nvSpPr>
          <p:cNvPr id="69" name="phase-b-step-divider"/>
          <p:cNvSpPr>
            <a:spLocks noGrp="1"/>
          </p:cNvSpPr>
          <p:nvPr/>
        </p:nvSpPr>
        <p:spPr>
          <a:xfrm>
            <a:off x="6924675" y="2978150"/>
            <a:ext cx="9525" cy="9525"/>
          </a:xfrm>
          <a:prstGeom prst="rect">
            <a:avLst/>
          </a:prstGeom>
          <a:solidFill>
            <a:srgbClr val="B8DDE1"/>
          </a:solidFill>
          <a:ln w="9525">
            <a:solidFill>
              <a:srgbClr val="B8DDE1"/>
            </a:solidFill>
            <a:prstDash val="solid"/>
          </a:ln>
        </p:spPr>
      </p:sp>
      <p:sp>
        <p:nvSpPr>
          <p:cNvPr id="70" name="step-03-number"/>
          <p:cNvSpPr>
            <a:spLocks noGrp="1"/>
          </p:cNvSpPr>
          <p:nvPr/>
        </p:nvSpPr>
        <p:spPr>
          <a:xfrm>
            <a:off x="3009900" y="2978150"/>
            <a:ext cx="342900" cy="276225"/>
          </a:xfrm>
          <a:prstGeom prst="roundRect">
            <a:avLst>
              <a:gd name="adj" fmla="val 20690"/>
            </a:avLst>
          </a:prstGeom>
          <a:solidFill>
            <a:srgbClr val="0B8B99"/>
          </a:solidFill>
          <a:ln w="9525">
            <a:solidFill>
              <a:srgbClr val="0B8B99"/>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03</a:t>
            </a:r>
          </a:p>
        </p:txBody>
      </p:sp>
      <p:sp>
        <p:nvSpPr>
          <p:cNvPr id="71" name="step-03-title"/>
          <p:cNvSpPr>
            <a:spLocks noGrp="1"/>
          </p:cNvSpPr>
          <p:nvPr/>
        </p:nvSpPr>
        <p:spPr>
          <a:xfrm>
            <a:off x="3429000" y="2959100"/>
            <a:ext cx="2000250" cy="190500"/>
          </a:xfrm>
          <a:prstGeom prst="rect">
            <a:avLst/>
          </a:prstGeom>
          <a:noFill/>
          <a:ln w="0">
            <a:noFill/>
            <a:prstDash val="solid"/>
          </a:ln>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0B8B99"/>
                </a:solidFill>
                <a:latin typeface="微软雅黑" panose="020B0503020204020204" charset="-122"/>
                <a:ea typeface="微软雅黑" panose="020B0503020204020204" charset="-122"/>
                <a:cs typeface="微软雅黑" panose="020B0503020204020204" charset="-122"/>
              </a:rPr>
              <a:t>环境验证</a:t>
            </a:r>
          </a:p>
        </p:txBody>
      </p:sp>
      <p:sp>
        <p:nvSpPr>
          <p:cNvPr id="72" name="step-03-subtitle"/>
          <p:cNvSpPr>
            <a:spLocks noGrp="1"/>
          </p:cNvSpPr>
          <p:nvPr/>
        </p:nvSpPr>
        <p:spPr>
          <a:xfrm>
            <a:off x="3429000" y="3149600"/>
            <a:ext cx="2952750"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7364A"/>
                </a:solidFill>
                <a:latin typeface="微软雅黑" panose="020B0503020204020204" charset="-122"/>
                <a:ea typeface="微软雅黑" panose="020B0503020204020204" charset="-122"/>
                <a:cs typeface="微软雅黑" panose="020B0503020204020204" charset="-122"/>
              </a:rPr>
              <a:t>真实环境与工具链检测</a:t>
            </a:r>
          </a:p>
        </p:txBody>
      </p:sp>
      <p:sp>
        <p:nvSpPr>
          <p:cNvPr id="74" name="step-03-tag-1"/>
          <p:cNvSpPr>
            <a:spLocks noGrp="1"/>
          </p:cNvSpPr>
          <p:nvPr/>
        </p:nvSpPr>
        <p:spPr>
          <a:xfrm>
            <a:off x="3448050" y="3321050"/>
            <a:ext cx="552450" cy="190500"/>
          </a:xfrm>
          <a:prstGeom prst="roundRect">
            <a:avLst>
              <a:gd name="adj" fmla="val 30000"/>
            </a:avLst>
          </a:prstGeom>
          <a:solidFill>
            <a:srgbClr val="FFFFFF"/>
          </a:solidFill>
          <a:ln w="9525">
            <a:solidFill>
              <a:srgbClr val="8ED4DC"/>
            </a:solidFill>
            <a:prstDash val="solid"/>
          </a:ln>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0B6B75"/>
                </a:solidFill>
                <a:latin typeface="Calibri" panose="020F0502020204030204"/>
                <a:ea typeface="Calibri" panose="020F0502020204030204"/>
                <a:cs typeface="Calibri" panose="020F0502020204030204"/>
              </a:rPr>
              <a:t>Device</a:t>
            </a:r>
          </a:p>
        </p:txBody>
      </p:sp>
      <p:sp>
        <p:nvSpPr>
          <p:cNvPr id="75" name="step-03-tag-2"/>
          <p:cNvSpPr>
            <a:spLocks noGrp="1"/>
          </p:cNvSpPr>
          <p:nvPr/>
        </p:nvSpPr>
        <p:spPr>
          <a:xfrm>
            <a:off x="4048125" y="3321050"/>
            <a:ext cx="628650" cy="190500"/>
          </a:xfrm>
          <a:prstGeom prst="roundRect">
            <a:avLst>
              <a:gd name="adj" fmla="val 30000"/>
            </a:avLst>
          </a:prstGeom>
          <a:solidFill>
            <a:srgbClr val="FFFFFF"/>
          </a:solidFill>
          <a:ln w="9525">
            <a:solidFill>
              <a:srgbClr val="8ED4DC"/>
            </a:solidFill>
            <a:prstDash val="solid"/>
          </a:ln>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0B6B75"/>
                </a:solidFill>
                <a:latin typeface="Calibri" panose="020F0502020204030204"/>
                <a:ea typeface="Calibri" panose="020F0502020204030204"/>
                <a:cs typeface="Calibri" panose="020F0502020204030204"/>
              </a:rPr>
              <a:t>Compiler</a:t>
            </a:r>
          </a:p>
        </p:txBody>
      </p:sp>
      <p:sp>
        <p:nvSpPr>
          <p:cNvPr id="76" name="step-03-tag-3"/>
          <p:cNvSpPr>
            <a:spLocks noGrp="1"/>
          </p:cNvSpPr>
          <p:nvPr/>
        </p:nvSpPr>
        <p:spPr>
          <a:xfrm>
            <a:off x="4724400" y="3321050"/>
            <a:ext cx="571500" cy="190500"/>
          </a:xfrm>
          <a:prstGeom prst="roundRect">
            <a:avLst>
              <a:gd name="adj" fmla="val 30000"/>
            </a:avLst>
          </a:prstGeom>
          <a:solidFill>
            <a:srgbClr val="FFFFFF"/>
          </a:solidFill>
          <a:ln w="9525">
            <a:solidFill>
              <a:srgbClr val="8ED4DC"/>
            </a:solidFill>
            <a:prstDash val="solid"/>
          </a:ln>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0B6B75"/>
                </a:solidFill>
                <a:latin typeface="Calibri" panose="020F0502020204030204"/>
                <a:ea typeface="Calibri" panose="020F0502020204030204"/>
                <a:cs typeface="Calibri" panose="020F0502020204030204"/>
              </a:rPr>
              <a:t>Runtime</a:t>
            </a:r>
          </a:p>
        </p:txBody>
      </p:sp>
      <p:sp>
        <p:nvSpPr>
          <p:cNvPr id="77" name="step-03-tag-4"/>
          <p:cNvSpPr>
            <a:spLocks noGrp="1"/>
          </p:cNvSpPr>
          <p:nvPr/>
        </p:nvSpPr>
        <p:spPr>
          <a:xfrm>
            <a:off x="5343525" y="3321050"/>
            <a:ext cx="723900" cy="190500"/>
          </a:xfrm>
          <a:prstGeom prst="roundRect">
            <a:avLst>
              <a:gd name="adj" fmla="val 30000"/>
            </a:avLst>
          </a:prstGeom>
          <a:solidFill>
            <a:srgbClr val="FFFFFF"/>
          </a:solidFill>
          <a:ln w="9525">
            <a:solidFill>
              <a:srgbClr val="8ED4DC"/>
            </a:solidFill>
            <a:prstDash val="solid"/>
          </a:ln>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0B6B75"/>
                </a:solidFill>
                <a:latin typeface="Calibri" panose="020F0502020204030204"/>
                <a:ea typeface="Calibri" panose="020F0502020204030204"/>
                <a:cs typeface="Calibri" panose="020F0502020204030204"/>
              </a:rPr>
              <a:t>Framework</a:t>
            </a:r>
          </a:p>
        </p:txBody>
      </p:sp>
      <p:sp>
        <p:nvSpPr>
          <p:cNvPr id="78" name="step-03-tag-5"/>
          <p:cNvSpPr>
            <a:spLocks noGrp="1"/>
          </p:cNvSpPr>
          <p:nvPr/>
        </p:nvSpPr>
        <p:spPr>
          <a:xfrm>
            <a:off x="6115050" y="3321050"/>
            <a:ext cx="552450" cy="190500"/>
          </a:xfrm>
          <a:prstGeom prst="roundRect">
            <a:avLst>
              <a:gd name="adj" fmla="val 30000"/>
            </a:avLst>
          </a:prstGeom>
          <a:solidFill>
            <a:srgbClr val="FFFFFF"/>
          </a:solidFill>
          <a:ln w="9525">
            <a:solidFill>
              <a:srgbClr val="8ED4DC"/>
            </a:solidFill>
            <a:prstDash val="solid"/>
          </a:ln>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0B6B75"/>
                </a:solidFill>
                <a:latin typeface="Calibri" panose="020F0502020204030204"/>
                <a:ea typeface="Calibri" panose="020F0502020204030204"/>
                <a:cs typeface="Calibri" panose="020F0502020204030204"/>
              </a:rPr>
              <a:t>Profiler</a:t>
            </a:r>
          </a:p>
        </p:txBody>
      </p:sp>
      <p:sp>
        <p:nvSpPr>
          <p:cNvPr id="79" name="step-03-smoke"/>
          <p:cNvSpPr>
            <a:spLocks noGrp="1"/>
          </p:cNvSpPr>
          <p:nvPr/>
        </p:nvSpPr>
        <p:spPr>
          <a:xfrm>
            <a:off x="4705350" y="3530600"/>
            <a:ext cx="876300" cy="180975"/>
          </a:xfrm>
          <a:prstGeom prst="roundRect">
            <a:avLst>
              <a:gd name="adj" fmla="val 31579"/>
            </a:avLst>
          </a:prstGeom>
          <a:solidFill>
            <a:srgbClr val="E9F8F7"/>
          </a:solidFill>
          <a:ln w="9525">
            <a:solidFill>
              <a:srgbClr val="0B8B99"/>
            </a:solidFill>
            <a:prstDash val="solid"/>
          </a:ln>
        </p:spPr>
        <p:txBody>
          <a:bodyPr wrap="square" lIns="28575" tIns="9525" rIns="28575" bIns="9525" anchor="ctr">
            <a:normAutofit/>
          </a:bodyPr>
          <a:lstStyle/>
          <a:p>
            <a:pPr algn="ctr">
              <a:defRPr sz="715" b="1">
                <a:solidFill>
                  <a:srgbClr val="0B8B99"/>
                </a:solidFill>
                <a:latin typeface="Calibri" panose="020F0502020204030204"/>
                <a:ea typeface="Calibri" panose="020F0502020204030204"/>
                <a:cs typeface="Calibri" panose="020F0502020204030204"/>
              </a:defRPr>
            </a:pPr>
            <a:r>
              <a:rPr sz="715" b="1">
                <a:solidFill>
                  <a:srgbClr val="0B8B99"/>
                </a:solidFill>
                <a:latin typeface="Calibri" panose="020F0502020204030204"/>
                <a:ea typeface="Calibri" panose="020F0502020204030204"/>
                <a:cs typeface="Calibri" panose="020F0502020204030204"/>
              </a:rPr>
              <a:t>Smoke Test</a:t>
            </a:r>
          </a:p>
        </p:txBody>
      </p:sp>
      <p:sp>
        <p:nvSpPr>
          <p:cNvPr id="81" name="step-04-number"/>
          <p:cNvSpPr>
            <a:spLocks noGrp="1"/>
          </p:cNvSpPr>
          <p:nvPr/>
        </p:nvSpPr>
        <p:spPr>
          <a:xfrm>
            <a:off x="7067550" y="2978150"/>
            <a:ext cx="342900" cy="276225"/>
          </a:xfrm>
          <a:prstGeom prst="roundRect">
            <a:avLst>
              <a:gd name="adj" fmla="val 20690"/>
            </a:avLst>
          </a:prstGeom>
          <a:solidFill>
            <a:srgbClr val="0B8B99"/>
          </a:solidFill>
          <a:ln w="9525">
            <a:solidFill>
              <a:srgbClr val="0B8B99"/>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04</a:t>
            </a:r>
          </a:p>
        </p:txBody>
      </p:sp>
      <p:sp>
        <p:nvSpPr>
          <p:cNvPr id="82" name="step-04-title"/>
          <p:cNvSpPr>
            <a:spLocks noGrp="1"/>
          </p:cNvSpPr>
          <p:nvPr/>
        </p:nvSpPr>
        <p:spPr>
          <a:xfrm>
            <a:off x="7486650" y="2959100"/>
            <a:ext cx="2000250" cy="190500"/>
          </a:xfrm>
          <a:prstGeom prst="rect">
            <a:avLst/>
          </a:prstGeom>
          <a:noFill/>
          <a:ln w="0">
            <a:noFill/>
            <a:prstDash val="solid"/>
          </a:ln>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0B8B99"/>
                </a:solidFill>
                <a:latin typeface="微软雅黑" panose="020B0503020204020204" charset="-122"/>
                <a:ea typeface="微软雅黑" panose="020B0503020204020204" charset="-122"/>
                <a:cs typeface="微软雅黑" panose="020B0503020204020204" charset="-122"/>
              </a:rPr>
              <a:t>微基准</a:t>
            </a:r>
          </a:p>
        </p:txBody>
      </p:sp>
      <p:sp>
        <p:nvSpPr>
          <p:cNvPr id="83" name="step-04-subtitle"/>
          <p:cNvSpPr>
            <a:spLocks noGrp="1"/>
          </p:cNvSpPr>
          <p:nvPr/>
        </p:nvSpPr>
        <p:spPr>
          <a:xfrm>
            <a:off x="7486650" y="3149600"/>
            <a:ext cx="2952750"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7364A"/>
                </a:solidFill>
                <a:latin typeface="微软雅黑" panose="020B0503020204020204" charset="-122"/>
                <a:ea typeface="微软雅黑" panose="020B0503020204020204" charset="-122"/>
                <a:cs typeface="微软雅黑" panose="020B0503020204020204" charset="-122"/>
              </a:rPr>
              <a:t>验证关键平台事实</a:t>
            </a:r>
          </a:p>
        </p:txBody>
      </p:sp>
      <p:sp>
        <p:nvSpPr>
          <p:cNvPr id="84" name="step-04-tag-1"/>
          <p:cNvSpPr>
            <a:spLocks noGrp="1"/>
          </p:cNvSpPr>
          <p:nvPr/>
        </p:nvSpPr>
        <p:spPr>
          <a:xfrm>
            <a:off x="7505700" y="3302000"/>
            <a:ext cx="838200" cy="180975"/>
          </a:xfrm>
          <a:prstGeom prst="roundRect">
            <a:avLst>
              <a:gd name="adj" fmla="val 31579"/>
            </a:avLst>
          </a:prstGeom>
          <a:solidFill>
            <a:srgbClr val="FFFFFF"/>
          </a:solidFill>
          <a:ln w="9525">
            <a:solidFill>
              <a:srgbClr val="8ED4DC"/>
            </a:solidFill>
            <a:prstDash val="solid"/>
          </a:ln>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0B6B75"/>
                </a:solidFill>
                <a:latin typeface="Calibri" panose="020F0502020204030204"/>
                <a:ea typeface="Calibri" panose="020F0502020204030204"/>
                <a:cs typeface="Calibri" panose="020F0502020204030204"/>
              </a:rPr>
              <a:t>Memory</a:t>
            </a:r>
          </a:p>
        </p:txBody>
      </p:sp>
      <p:sp>
        <p:nvSpPr>
          <p:cNvPr id="85" name="step-04-tag-2"/>
          <p:cNvSpPr>
            <a:spLocks noGrp="1"/>
          </p:cNvSpPr>
          <p:nvPr/>
        </p:nvSpPr>
        <p:spPr>
          <a:xfrm>
            <a:off x="8391525" y="3302000"/>
            <a:ext cx="876300" cy="180975"/>
          </a:xfrm>
          <a:prstGeom prst="roundRect">
            <a:avLst>
              <a:gd name="adj" fmla="val 31579"/>
            </a:avLst>
          </a:prstGeom>
          <a:solidFill>
            <a:srgbClr val="FFFFFF"/>
          </a:solidFill>
          <a:ln w="9525">
            <a:solidFill>
              <a:srgbClr val="8ED4DC"/>
            </a:solidFill>
            <a:prstDash val="solid"/>
          </a:ln>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0B6B75"/>
                </a:solidFill>
                <a:latin typeface="Calibri" panose="020F0502020204030204"/>
                <a:ea typeface="Calibri" panose="020F0502020204030204"/>
                <a:cs typeface="Calibri" panose="020F0502020204030204"/>
              </a:rPr>
              <a:t>Compute</a:t>
            </a:r>
          </a:p>
        </p:txBody>
      </p:sp>
      <p:sp>
        <p:nvSpPr>
          <p:cNvPr id="86" name="step-04-tag-3"/>
          <p:cNvSpPr>
            <a:spLocks noGrp="1"/>
          </p:cNvSpPr>
          <p:nvPr/>
        </p:nvSpPr>
        <p:spPr>
          <a:xfrm>
            <a:off x="9315450" y="3302000"/>
            <a:ext cx="1028700" cy="180975"/>
          </a:xfrm>
          <a:prstGeom prst="roundRect">
            <a:avLst>
              <a:gd name="adj" fmla="val 31579"/>
            </a:avLst>
          </a:prstGeom>
          <a:solidFill>
            <a:srgbClr val="FFFFFF"/>
          </a:solidFill>
          <a:ln w="9525">
            <a:solidFill>
              <a:srgbClr val="8ED4DC"/>
            </a:solidFill>
            <a:prstDash val="solid"/>
          </a:ln>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0B6B75"/>
                </a:solidFill>
                <a:latin typeface="Calibri" panose="020F0502020204030204"/>
                <a:ea typeface="Calibri" panose="020F0502020204030204"/>
                <a:cs typeface="Calibri" panose="020F0502020204030204"/>
              </a:rPr>
              <a:t>Reduction</a:t>
            </a:r>
          </a:p>
        </p:txBody>
      </p:sp>
      <p:sp>
        <p:nvSpPr>
          <p:cNvPr id="87" name="step-04-tag-4"/>
          <p:cNvSpPr>
            <a:spLocks noGrp="1"/>
          </p:cNvSpPr>
          <p:nvPr/>
        </p:nvSpPr>
        <p:spPr>
          <a:xfrm>
            <a:off x="7505700" y="3511550"/>
            <a:ext cx="838200" cy="180975"/>
          </a:xfrm>
          <a:prstGeom prst="roundRect">
            <a:avLst>
              <a:gd name="adj" fmla="val 31579"/>
            </a:avLst>
          </a:prstGeom>
          <a:solidFill>
            <a:srgbClr val="FFFFFF"/>
          </a:solidFill>
          <a:ln w="9525">
            <a:solidFill>
              <a:srgbClr val="8ED4DC"/>
            </a:solidFill>
            <a:prstDash val="solid"/>
          </a:ln>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0B6B75"/>
                </a:solidFill>
                <a:latin typeface="Calibri" panose="020F0502020204030204"/>
                <a:ea typeface="Calibri" panose="020F0502020204030204"/>
                <a:cs typeface="Calibri" panose="020F0502020204030204"/>
              </a:rPr>
              <a:t>Layout</a:t>
            </a:r>
          </a:p>
        </p:txBody>
      </p:sp>
      <p:sp>
        <p:nvSpPr>
          <p:cNvPr id="88" name="step-04-tag-5"/>
          <p:cNvSpPr>
            <a:spLocks noGrp="1"/>
          </p:cNvSpPr>
          <p:nvPr/>
        </p:nvSpPr>
        <p:spPr>
          <a:xfrm>
            <a:off x="8391525" y="3511550"/>
            <a:ext cx="895350" cy="180975"/>
          </a:xfrm>
          <a:prstGeom prst="roundRect">
            <a:avLst>
              <a:gd name="adj" fmla="val 31579"/>
            </a:avLst>
          </a:prstGeom>
          <a:solidFill>
            <a:srgbClr val="FFFFFF"/>
          </a:solidFill>
          <a:ln w="9525">
            <a:solidFill>
              <a:srgbClr val="8ED4DC"/>
            </a:solidFill>
            <a:prstDash val="solid"/>
          </a:ln>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0B6B75"/>
                </a:solidFill>
                <a:latin typeface="Calibri" panose="020F0502020204030204"/>
                <a:ea typeface="Calibri" panose="020F0502020204030204"/>
                <a:cs typeface="Calibri" panose="020F0502020204030204"/>
              </a:rPr>
              <a:t>Pipeline</a:t>
            </a:r>
          </a:p>
        </p:txBody>
      </p:sp>
      <p:sp>
        <p:nvSpPr>
          <p:cNvPr id="89" name="step-04-tag-6"/>
          <p:cNvSpPr>
            <a:spLocks noGrp="1"/>
          </p:cNvSpPr>
          <p:nvPr/>
        </p:nvSpPr>
        <p:spPr>
          <a:xfrm>
            <a:off x="9334500" y="3511550"/>
            <a:ext cx="1314450" cy="180975"/>
          </a:xfrm>
          <a:prstGeom prst="roundRect">
            <a:avLst>
              <a:gd name="adj" fmla="val 31579"/>
            </a:avLst>
          </a:prstGeom>
          <a:solidFill>
            <a:srgbClr val="FFFFFF"/>
          </a:solidFill>
          <a:ln w="9525">
            <a:solidFill>
              <a:srgbClr val="8ED4DC"/>
            </a:solidFill>
            <a:prstDash val="solid"/>
          </a:ln>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0B6B75"/>
                </a:solidFill>
                <a:latin typeface="Calibri" panose="020F0502020204030204"/>
                <a:ea typeface="Calibri" panose="020F0502020204030204"/>
                <a:cs typeface="Calibri" panose="020F0502020204030204"/>
              </a:rPr>
              <a:t>Synchronization</a:t>
            </a:r>
          </a:p>
        </p:txBody>
      </p:sp>
      <p:sp>
        <p:nvSpPr>
          <p:cNvPr id="92" name="phase-c-surface"/>
          <p:cNvSpPr>
            <a:spLocks noGrp="1"/>
          </p:cNvSpPr>
          <p:nvPr/>
        </p:nvSpPr>
        <p:spPr>
          <a:xfrm>
            <a:off x="1295400" y="3911600"/>
            <a:ext cx="9601200" cy="1000125"/>
          </a:xfrm>
          <a:prstGeom prst="roundRect">
            <a:avLst>
              <a:gd name="adj" fmla="val 7619"/>
            </a:avLst>
          </a:prstGeom>
          <a:solidFill>
            <a:srgbClr val="F4F7FE"/>
          </a:solidFill>
          <a:ln w="9525">
            <a:solidFill>
              <a:srgbClr val="AFC7EE"/>
            </a:solidFill>
            <a:prstDash val="solid"/>
          </a:ln>
        </p:spPr>
      </p:sp>
      <p:sp>
        <p:nvSpPr>
          <p:cNvPr id="93" name="phase-c-accent"/>
          <p:cNvSpPr>
            <a:spLocks noGrp="1"/>
          </p:cNvSpPr>
          <p:nvPr/>
        </p:nvSpPr>
        <p:spPr>
          <a:xfrm>
            <a:off x="1295400" y="3911600"/>
            <a:ext cx="57150" cy="1000125"/>
          </a:xfrm>
          <a:prstGeom prst="roundRect">
            <a:avLst>
              <a:gd name="adj" fmla="val 50000"/>
            </a:avLst>
          </a:prstGeom>
          <a:solidFill>
            <a:srgbClr val="1457C5"/>
          </a:solidFill>
          <a:ln w="9525">
            <a:solidFill>
              <a:srgbClr val="1457C5"/>
            </a:solidFill>
            <a:prstDash val="solid"/>
          </a:ln>
        </p:spPr>
      </p:sp>
      <p:sp>
        <p:nvSpPr>
          <p:cNvPr id="94" name="phase-c-letter"/>
          <p:cNvSpPr>
            <a:spLocks noGrp="1"/>
          </p:cNvSpPr>
          <p:nvPr/>
        </p:nvSpPr>
        <p:spPr>
          <a:xfrm>
            <a:off x="1438275" y="4035425"/>
            <a:ext cx="295275" cy="295275"/>
          </a:xfrm>
          <a:prstGeom prst="roundRect">
            <a:avLst>
              <a:gd name="adj" fmla="val 19355"/>
            </a:avLst>
          </a:prstGeom>
          <a:solidFill>
            <a:srgbClr val="1457C5"/>
          </a:solidFill>
          <a:ln w="9525">
            <a:solidFill>
              <a:srgbClr val="1457C5"/>
            </a:solidFill>
            <a:prstDash val="solid"/>
          </a:ln>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a:solidFill>
                  <a:srgbClr val="FFFFFF"/>
                </a:solidFill>
                <a:latin typeface="Calibri" panose="020F0502020204030204"/>
                <a:ea typeface="Calibri" panose="020F0502020204030204"/>
                <a:cs typeface="Calibri" panose="020F0502020204030204"/>
              </a:rPr>
              <a:t>C</a:t>
            </a:r>
          </a:p>
        </p:txBody>
      </p:sp>
      <p:sp>
        <p:nvSpPr>
          <p:cNvPr id="96" name="phase-c-chinese"/>
          <p:cNvSpPr>
            <a:spLocks noGrp="1"/>
          </p:cNvSpPr>
          <p:nvPr/>
        </p:nvSpPr>
        <p:spPr>
          <a:xfrm>
            <a:off x="1476375" y="4302125"/>
            <a:ext cx="1304925" cy="285750"/>
          </a:xfrm>
          <a:prstGeom prst="rect">
            <a:avLst/>
          </a:prstGeom>
          <a:noFill/>
          <a:ln w="0">
            <a:noFill/>
            <a:prstDash val="solid"/>
          </a:ln>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1457C5"/>
                </a:solidFill>
                <a:latin typeface="微软雅黑" panose="020B0503020204020204" charset="-122"/>
                <a:ea typeface="微软雅黑" panose="020B0503020204020204" charset="-122"/>
                <a:cs typeface="微软雅黑" panose="020B0503020204020204" charset="-122"/>
              </a:rPr>
              <a:t>Skill 构建</a:t>
            </a:r>
          </a:p>
        </p:txBody>
      </p:sp>
      <p:sp>
        <p:nvSpPr>
          <p:cNvPr id="97" name="phase-c-sidebar-divider"/>
          <p:cNvSpPr>
            <a:spLocks noGrp="1"/>
          </p:cNvSpPr>
          <p:nvPr/>
        </p:nvSpPr>
        <p:spPr>
          <a:xfrm>
            <a:off x="2847975" y="4006850"/>
            <a:ext cx="9525" cy="9525"/>
          </a:xfrm>
          <a:prstGeom prst="rect">
            <a:avLst/>
          </a:prstGeom>
          <a:solidFill>
            <a:srgbClr val="CAD7EB"/>
          </a:solidFill>
          <a:ln w="9525">
            <a:solidFill>
              <a:srgbClr val="CAD7EB"/>
            </a:solidFill>
            <a:prstDash val="solid"/>
          </a:ln>
        </p:spPr>
      </p:sp>
      <p:sp>
        <p:nvSpPr>
          <p:cNvPr id="98" name="phase-c-step-divider"/>
          <p:cNvSpPr>
            <a:spLocks noGrp="1"/>
          </p:cNvSpPr>
          <p:nvPr/>
        </p:nvSpPr>
        <p:spPr>
          <a:xfrm>
            <a:off x="6924675" y="4006850"/>
            <a:ext cx="9525" cy="9525"/>
          </a:xfrm>
          <a:prstGeom prst="rect">
            <a:avLst/>
          </a:prstGeom>
          <a:solidFill>
            <a:srgbClr val="CAD7EB"/>
          </a:solidFill>
          <a:ln w="9525">
            <a:solidFill>
              <a:srgbClr val="CAD7EB"/>
            </a:solidFill>
            <a:prstDash val="solid"/>
          </a:ln>
        </p:spPr>
      </p:sp>
      <p:sp>
        <p:nvSpPr>
          <p:cNvPr id="99" name="step-05-number"/>
          <p:cNvSpPr>
            <a:spLocks noGrp="1"/>
          </p:cNvSpPr>
          <p:nvPr/>
        </p:nvSpPr>
        <p:spPr>
          <a:xfrm>
            <a:off x="3009900" y="4006850"/>
            <a:ext cx="342900" cy="276225"/>
          </a:xfrm>
          <a:prstGeom prst="roundRect">
            <a:avLst>
              <a:gd name="adj" fmla="val 20690"/>
            </a:avLst>
          </a:prstGeom>
          <a:solidFill>
            <a:srgbClr val="1457C5"/>
          </a:solidFill>
          <a:ln w="9525">
            <a:solidFill>
              <a:srgbClr val="1457C5"/>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05</a:t>
            </a:r>
          </a:p>
        </p:txBody>
      </p:sp>
      <p:sp>
        <p:nvSpPr>
          <p:cNvPr id="100" name="step-05-title"/>
          <p:cNvSpPr>
            <a:spLocks noGrp="1"/>
          </p:cNvSpPr>
          <p:nvPr/>
        </p:nvSpPr>
        <p:spPr>
          <a:xfrm>
            <a:off x="3429000" y="3987800"/>
            <a:ext cx="2000250" cy="190500"/>
          </a:xfrm>
          <a:prstGeom prst="rect">
            <a:avLst/>
          </a:prstGeom>
          <a:noFill/>
          <a:ln w="0">
            <a:noFill/>
            <a:prstDash val="solid"/>
          </a:ln>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1457C5"/>
                </a:solidFill>
                <a:latin typeface="微软雅黑" panose="020B0503020204020204" charset="-122"/>
                <a:ea typeface="微软雅黑" panose="020B0503020204020204" charset="-122"/>
                <a:cs typeface="微软雅黑" panose="020B0503020204020204" charset="-122"/>
              </a:rPr>
              <a:t>Platform Knowledge</a:t>
            </a:r>
          </a:p>
        </p:txBody>
      </p:sp>
      <p:sp>
        <p:nvSpPr>
          <p:cNvPr id="101" name="step-05-subtitle"/>
          <p:cNvSpPr>
            <a:spLocks noGrp="1"/>
          </p:cNvSpPr>
          <p:nvPr/>
        </p:nvSpPr>
        <p:spPr>
          <a:xfrm>
            <a:off x="3429000" y="4178300"/>
            <a:ext cx="2952750"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7364A"/>
                </a:solidFill>
                <a:latin typeface="微软雅黑" panose="020B0503020204020204" charset="-122"/>
                <a:ea typeface="微软雅黑" panose="020B0503020204020204" charset="-122"/>
                <a:cs typeface="微软雅黑" panose="020B0503020204020204" charset="-122"/>
              </a:rPr>
              <a:t>知识结构化</a:t>
            </a:r>
          </a:p>
        </p:txBody>
      </p:sp>
      <p:sp>
        <p:nvSpPr>
          <p:cNvPr id="107" name="step-06-number"/>
          <p:cNvSpPr>
            <a:spLocks noGrp="1"/>
          </p:cNvSpPr>
          <p:nvPr/>
        </p:nvSpPr>
        <p:spPr>
          <a:xfrm>
            <a:off x="7067550" y="4006850"/>
            <a:ext cx="342900" cy="276225"/>
          </a:xfrm>
          <a:prstGeom prst="roundRect">
            <a:avLst>
              <a:gd name="adj" fmla="val 20690"/>
            </a:avLst>
          </a:prstGeom>
          <a:solidFill>
            <a:srgbClr val="1457C5"/>
          </a:solidFill>
          <a:ln w="9525">
            <a:solidFill>
              <a:srgbClr val="1457C5"/>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06</a:t>
            </a:r>
          </a:p>
        </p:txBody>
      </p:sp>
      <p:sp>
        <p:nvSpPr>
          <p:cNvPr id="108" name="step-06-title"/>
          <p:cNvSpPr>
            <a:spLocks noGrp="1"/>
          </p:cNvSpPr>
          <p:nvPr/>
        </p:nvSpPr>
        <p:spPr>
          <a:xfrm>
            <a:off x="7486650" y="3987800"/>
            <a:ext cx="2000250" cy="190500"/>
          </a:xfrm>
          <a:prstGeom prst="rect">
            <a:avLst/>
          </a:prstGeom>
          <a:noFill/>
          <a:ln w="0">
            <a:noFill/>
            <a:prstDash val="solid"/>
          </a:ln>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1457C5"/>
                </a:solidFill>
                <a:latin typeface="微软雅黑" panose="020B0503020204020204" charset="-122"/>
                <a:ea typeface="微软雅黑" panose="020B0503020204020204" charset="-122"/>
                <a:cs typeface="微软雅黑" panose="020B0503020204020204" charset="-122"/>
              </a:rPr>
              <a:t>Workflow Integration</a:t>
            </a:r>
          </a:p>
        </p:txBody>
      </p:sp>
      <p:sp>
        <p:nvSpPr>
          <p:cNvPr id="109" name="step-06-subtitle"/>
          <p:cNvSpPr>
            <a:spLocks noGrp="1"/>
          </p:cNvSpPr>
          <p:nvPr/>
        </p:nvSpPr>
        <p:spPr>
          <a:xfrm>
            <a:off x="7486650" y="4178300"/>
            <a:ext cx="2143125"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a:solidFill>
                  <a:srgbClr val="27364A"/>
                </a:solidFill>
                <a:latin typeface="微软雅黑" panose="020B0503020204020204" charset="-122"/>
                <a:ea typeface="微软雅黑" panose="020B0503020204020204" charset="-122"/>
                <a:cs typeface="微软雅黑" panose="020B0503020204020204" charset="-122"/>
              </a:rPr>
              <a:t>接入通用</a:t>
            </a:r>
            <a:r>
              <a:rPr sz="825" b="1" dirty="0">
                <a:solidFill>
                  <a:srgbClr val="27364A"/>
                </a:solidFill>
                <a:latin typeface="微软雅黑" panose="020B0503020204020204" charset="-122"/>
                <a:ea typeface="微软雅黑" panose="020B0503020204020204" charset="-122"/>
                <a:cs typeface="微软雅黑" panose="020B0503020204020204" charset="-122"/>
              </a:rPr>
              <a:t> Workflow</a:t>
            </a:r>
          </a:p>
        </p:txBody>
      </p:sp>
      <p:sp>
        <p:nvSpPr>
          <p:cNvPr id="111" name="step-06-universal"/>
          <p:cNvSpPr>
            <a:spLocks noGrp="1"/>
          </p:cNvSpPr>
          <p:nvPr/>
        </p:nvSpPr>
        <p:spPr>
          <a:xfrm>
            <a:off x="4676775" y="4481513"/>
            <a:ext cx="952500" cy="276225"/>
          </a:xfrm>
          <a:prstGeom prst="roundRect">
            <a:avLst>
              <a:gd name="adj" fmla="val 20690"/>
            </a:avLst>
          </a:prstGeom>
          <a:solidFill>
            <a:srgbClr val="EEF4FE"/>
          </a:solidFill>
          <a:ln w="9525">
            <a:solidFill>
              <a:srgbClr val="1457C5"/>
            </a:solidFill>
            <a:prstDash val="solid"/>
          </a:ln>
        </p:spPr>
        <p:txBody>
          <a:bodyPr wrap="square" lIns="28575" tIns="9525" rIns="28575" bIns="9525" anchor="ctr">
            <a:normAutofit/>
          </a:bodyPr>
          <a:lstStyle/>
          <a:p>
            <a:pPr algn="ctr">
              <a:defRPr sz="715" b="1">
                <a:solidFill>
                  <a:srgbClr val="072A67"/>
                </a:solidFill>
                <a:latin typeface="Calibri" panose="020F0502020204030204"/>
                <a:ea typeface="Calibri" panose="020F0502020204030204"/>
                <a:cs typeface="Calibri" panose="020F0502020204030204"/>
              </a:defRPr>
            </a:pPr>
            <a:r>
              <a:rPr sz="715" b="1" dirty="0">
                <a:solidFill>
                  <a:srgbClr val="072A67"/>
                </a:solidFill>
                <a:latin typeface="Calibri" panose="020F0502020204030204"/>
                <a:ea typeface="Calibri" panose="020F0502020204030204"/>
                <a:cs typeface="Calibri" panose="020F0502020204030204"/>
              </a:rPr>
              <a:t>Universal</a:t>
            </a:r>
          </a:p>
          <a:p>
            <a:pPr algn="ctr">
              <a:defRPr sz="715" b="1">
                <a:solidFill>
                  <a:srgbClr val="072A67"/>
                </a:solidFill>
                <a:latin typeface="Calibri" panose="020F0502020204030204"/>
                <a:ea typeface="Calibri" panose="020F0502020204030204"/>
                <a:cs typeface="Calibri" panose="020F0502020204030204"/>
              </a:defRPr>
            </a:pPr>
            <a:r>
              <a:rPr sz="715" b="1" dirty="0">
                <a:solidFill>
                  <a:srgbClr val="072A67"/>
                </a:solidFill>
                <a:latin typeface="Calibri" panose="020F0502020204030204"/>
                <a:ea typeface="Calibri" panose="020F0502020204030204"/>
                <a:cs typeface="Calibri" panose="020F0502020204030204"/>
              </a:rPr>
              <a:t>Workflow</a:t>
            </a:r>
          </a:p>
        </p:txBody>
      </p:sp>
      <p:sp>
        <p:nvSpPr>
          <p:cNvPr id="112" name="step-06-plus"/>
          <p:cNvSpPr>
            <a:spLocks noGrp="1"/>
          </p:cNvSpPr>
          <p:nvPr/>
        </p:nvSpPr>
        <p:spPr>
          <a:xfrm>
            <a:off x="5676900" y="4491038"/>
            <a:ext cx="190500" cy="238125"/>
          </a:xfrm>
          <a:prstGeom prst="rect">
            <a:avLst/>
          </a:prstGeom>
          <a:noFill/>
          <a:ln w="0">
            <a:noFill/>
            <a:prstDash val="solid"/>
          </a:ln>
        </p:spPr>
        <p:txBody>
          <a:bodyPr wrap="square" lIns="38100" tIns="19050" rIns="38100" bIns="19050" anchor="ctr">
            <a:normAutofit fontScale="97222"/>
          </a:bodyPr>
          <a:lstStyle/>
          <a:p>
            <a:pPr algn="ctr">
              <a:defRPr sz="1350" b="1">
                <a:solidFill>
                  <a:srgbClr val="072A67"/>
                </a:solidFill>
                <a:latin typeface="Calibri" panose="020F0502020204030204"/>
                <a:ea typeface="Calibri" panose="020F0502020204030204"/>
                <a:cs typeface="Calibri" panose="020F0502020204030204"/>
              </a:defRPr>
            </a:pPr>
            <a:r>
              <a:rPr sz="1350" b="1">
                <a:solidFill>
                  <a:srgbClr val="072A67"/>
                </a:solidFill>
                <a:latin typeface="Calibri" panose="020F0502020204030204"/>
                <a:ea typeface="Calibri" panose="020F0502020204030204"/>
                <a:cs typeface="Calibri" panose="020F0502020204030204"/>
              </a:rPr>
              <a:t>+</a:t>
            </a:r>
          </a:p>
        </p:txBody>
      </p:sp>
      <p:sp>
        <p:nvSpPr>
          <p:cNvPr id="113" name="step-06-platform"/>
          <p:cNvSpPr>
            <a:spLocks noGrp="1"/>
          </p:cNvSpPr>
          <p:nvPr/>
        </p:nvSpPr>
        <p:spPr>
          <a:xfrm>
            <a:off x="5905500" y="4481513"/>
            <a:ext cx="1000125" cy="276225"/>
          </a:xfrm>
          <a:prstGeom prst="roundRect">
            <a:avLst>
              <a:gd name="adj" fmla="val 20690"/>
            </a:avLst>
          </a:prstGeom>
          <a:solidFill>
            <a:srgbClr val="EEF4FE"/>
          </a:solidFill>
          <a:ln w="9525">
            <a:solidFill>
              <a:srgbClr val="1457C5"/>
            </a:solidFill>
            <a:prstDash val="solid"/>
          </a:ln>
        </p:spPr>
        <p:txBody>
          <a:bodyPr wrap="square" lIns="28575" tIns="9525" rIns="28575" bIns="9525" anchor="ctr">
            <a:normAutofit/>
          </a:bodyPr>
          <a:lstStyle/>
          <a:p>
            <a:pPr algn="ctr">
              <a:defRPr sz="715" b="1">
                <a:solidFill>
                  <a:srgbClr val="072A67"/>
                </a:solidFill>
                <a:latin typeface="Calibri" panose="020F0502020204030204"/>
                <a:ea typeface="Calibri" panose="020F0502020204030204"/>
                <a:cs typeface="Calibri" panose="020F0502020204030204"/>
              </a:defRPr>
            </a:pPr>
            <a:r>
              <a:rPr sz="715" b="1">
                <a:solidFill>
                  <a:srgbClr val="072A67"/>
                </a:solidFill>
                <a:latin typeface="Calibri" panose="020F0502020204030204"/>
                <a:ea typeface="Calibri" panose="020F0502020204030204"/>
                <a:cs typeface="Calibri" panose="020F0502020204030204"/>
              </a:rPr>
              <a:t>Platform</a:t>
            </a:r>
          </a:p>
          <a:p>
            <a:pPr algn="ctr">
              <a:defRPr sz="715" b="1">
                <a:solidFill>
                  <a:srgbClr val="072A67"/>
                </a:solidFill>
                <a:latin typeface="Calibri" panose="020F0502020204030204"/>
                <a:ea typeface="Calibri" panose="020F0502020204030204"/>
                <a:cs typeface="Calibri" panose="020F0502020204030204"/>
              </a:defRPr>
            </a:pPr>
            <a:r>
              <a:rPr sz="715" b="1">
                <a:solidFill>
                  <a:srgbClr val="072A67"/>
                </a:solidFill>
                <a:latin typeface="Calibri" panose="020F0502020204030204"/>
                <a:ea typeface="Calibri" panose="020F0502020204030204"/>
                <a:cs typeface="Calibri" panose="020F0502020204030204"/>
              </a:rPr>
              <a:t>Knowledge</a:t>
            </a:r>
          </a:p>
        </p:txBody>
      </p:sp>
      <p:sp>
        <p:nvSpPr>
          <p:cNvPr id="114" name="step-06-new-skill"/>
          <p:cNvSpPr>
            <a:spLocks noGrp="1"/>
          </p:cNvSpPr>
          <p:nvPr/>
        </p:nvSpPr>
        <p:spPr>
          <a:xfrm>
            <a:off x="7096125" y="4481513"/>
            <a:ext cx="876300" cy="276225"/>
          </a:xfrm>
          <a:prstGeom prst="roundRect">
            <a:avLst>
              <a:gd name="adj" fmla="val 20690"/>
            </a:avLst>
          </a:prstGeom>
          <a:solidFill>
            <a:srgbClr val="EEF4FE"/>
          </a:solidFill>
          <a:ln w="9525">
            <a:solidFill>
              <a:srgbClr val="1457C5"/>
            </a:solidFill>
            <a:prstDash val="solid"/>
          </a:ln>
        </p:spPr>
        <p:txBody>
          <a:bodyPr wrap="square" lIns="28575" tIns="9525" rIns="28575" bIns="9525" anchor="ctr">
            <a:normAutofit/>
          </a:bodyPr>
          <a:lstStyle/>
          <a:p>
            <a:pPr algn="ctr">
              <a:defRPr sz="715" b="1">
                <a:solidFill>
                  <a:srgbClr val="1457C5"/>
                </a:solidFill>
                <a:latin typeface="Calibri" panose="020F0502020204030204"/>
                <a:ea typeface="Calibri" panose="020F0502020204030204"/>
                <a:cs typeface="Calibri" panose="020F0502020204030204"/>
              </a:defRPr>
            </a:pPr>
            <a:r>
              <a:rPr sz="715" b="1">
                <a:solidFill>
                  <a:srgbClr val="1457C5"/>
                </a:solidFill>
                <a:latin typeface="Calibri" panose="020F0502020204030204"/>
                <a:ea typeface="Calibri" panose="020F0502020204030204"/>
                <a:cs typeface="Calibri" panose="020F0502020204030204"/>
              </a:rPr>
              <a:t>New Platform</a:t>
            </a:r>
          </a:p>
          <a:p>
            <a:pPr algn="ctr">
              <a:defRPr sz="715" b="1">
                <a:solidFill>
                  <a:srgbClr val="1457C5"/>
                </a:solidFill>
                <a:latin typeface="Calibri" panose="020F0502020204030204"/>
                <a:ea typeface="Calibri" panose="020F0502020204030204"/>
                <a:cs typeface="Calibri" panose="020F0502020204030204"/>
              </a:defRPr>
            </a:pPr>
            <a:r>
              <a:rPr sz="715" b="1">
                <a:solidFill>
                  <a:srgbClr val="1457C5"/>
                </a:solidFill>
                <a:latin typeface="Calibri" panose="020F0502020204030204"/>
                <a:ea typeface="Calibri" panose="020F0502020204030204"/>
                <a:cs typeface="Calibri" panose="020F0502020204030204"/>
              </a:rPr>
              <a:t>Skill</a:t>
            </a:r>
          </a:p>
        </p:txBody>
      </p:sp>
      <p:cxnSp>
        <p:nvCxnSpPr>
          <p:cNvPr id="265" name="step-06-platform-to-new-skill"/>
          <p:cNvCxnSpPr>
            <a:stCxn id="113" idx="3"/>
            <a:endCxn id="114" idx="1"/>
          </p:cNvCxnSpPr>
          <p:nvPr/>
        </p:nvCxnSpPr>
        <p:spPr>
          <a:xfrm>
            <a:off x="6905625" y="4619626"/>
            <a:ext cx="190500" cy="0"/>
          </a:xfrm>
          <a:prstGeom prst="straightConnector1">
            <a:avLst/>
          </a:prstGeom>
          <a:ln w="11430">
            <a:solidFill>
              <a:srgbClr val="1457C5"/>
            </a:solidFill>
            <a:prstDash val="solid"/>
            <a:tailEnd type="triangle" w="sm" len="sm"/>
          </a:ln>
        </p:spPr>
      </p:cxnSp>
      <p:sp>
        <p:nvSpPr>
          <p:cNvPr id="118" name="phase-d-surface"/>
          <p:cNvSpPr>
            <a:spLocks noGrp="1"/>
          </p:cNvSpPr>
          <p:nvPr/>
        </p:nvSpPr>
        <p:spPr>
          <a:xfrm>
            <a:off x="1295400" y="4959350"/>
            <a:ext cx="9601200" cy="889000"/>
          </a:xfrm>
          <a:prstGeom prst="roundRect">
            <a:avLst>
              <a:gd name="adj" fmla="val 6452"/>
            </a:avLst>
          </a:prstGeom>
          <a:solidFill>
            <a:srgbClr val="F1F9F5"/>
          </a:solidFill>
          <a:ln w="9525">
            <a:solidFill>
              <a:srgbClr val="A8D5B6"/>
            </a:solidFill>
            <a:prstDash val="solid"/>
          </a:ln>
        </p:spPr>
      </p:sp>
      <p:sp>
        <p:nvSpPr>
          <p:cNvPr id="119" name="phase-d-accent"/>
          <p:cNvSpPr>
            <a:spLocks noGrp="1"/>
          </p:cNvSpPr>
          <p:nvPr/>
        </p:nvSpPr>
        <p:spPr>
          <a:xfrm>
            <a:off x="1295400" y="4959350"/>
            <a:ext cx="57150" cy="889000"/>
          </a:xfrm>
          <a:prstGeom prst="roundRect">
            <a:avLst>
              <a:gd name="adj" fmla="val 50000"/>
            </a:avLst>
          </a:prstGeom>
          <a:solidFill>
            <a:srgbClr val="14855C"/>
          </a:solidFill>
          <a:ln w="9525">
            <a:solidFill>
              <a:srgbClr val="14855C"/>
            </a:solidFill>
            <a:prstDash val="solid"/>
          </a:ln>
        </p:spPr>
      </p:sp>
      <p:sp>
        <p:nvSpPr>
          <p:cNvPr id="120" name="phase-d-letter"/>
          <p:cNvSpPr>
            <a:spLocks noGrp="1"/>
          </p:cNvSpPr>
          <p:nvPr/>
        </p:nvSpPr>
        <p:spPr>
          <a:xfrm>
            <a:off x="1438275" y="5083175"/>
            <a:ext cx="295275" cy="295275"/>
          </a:xfrm>
          <a:prstGeom prst="roundRect">
            <a:avLst>
              <a:gd name="adj" fmla="val 19355"/>
            </a:avLst>
          </a:prstGeom>
          <a:solidFill>
            <a:srgbClr val="14855C"/>
          </a:solidFill>
          <a:ln w="9525">
            <a:solidFill>
              <a:srgbClr val="14855C"/>
            </a:solidFill>
            <a:prstDash val="solid"/>
          </a:ln>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a:solidFill>
                  <a:srgbClr val="FFFFFF"/>
                </a:solidFill>
                <a:latin typeface="Calibri" panose="020F0502020204030204"/>
                <a:ea typeface="Calibri" panose="020F0502020204030204"/>
                <a:cs typeface="Calibri" panose="020F0502020204030204"/>
              </a:rPr>
              <a:t>D</a:t>
            </a:r>
          </a:p>
        </p:txBody>
      </p:sp>
      <p:sp>
        <p:nvSpPr>
          <p:cNvPr id="122" name="phase-d-chinese"/>
          <p:cNvSpPr>
            <a:spLocks noGrp="1"/>
          </p:cNvSpPr>
          <p:nvPr/>
        </p:nvSpPr>
        <p:spPr>
          <a:xfrm>
            <a:off x="1474470" y="5378450"/>
            <a:ext cx="1304925" cy="285750"/>
          </a:xfrm>
          <a:prstGeom prst="rect">
            <a:avLst/>
          </a:prstGeom>
          <a:noFill/>
          <a:ln w="0">
            <a:noFill/>
            <a:prstDash val="solid"/>
          </a:ln>
        </p:spPr>
        <p:txBody>
          <a:bodyPr wrap="square" lIns="0" tIns="0" rIns="0" bIns="0" anchor="ctr">
            <a:normAutofit/>
          </a:bodyPr>
          <a:lstStyle/>
          <a:p>
            <a:pPr algn="ctr">
              <a:defRPr sz="1275" b="1">
                <a:solidFill>
                  <a:srgbClr val="14855C"/>
                </a:solidFill>
                <a:latin typeface="微软雅黑" panose="020B0503020204020204" charset="-122"/>
                <a:ea typeface="微软雅黑" panose="020B0503020204020204" charset="-122"/>
                <a:cs typeface="微软雅黑" panose="020B0503020204020204" charset="-122"/>
              </a:defRPr>
            </a:pPr>
            <a:r>
              <a:rPr lang="zh-CN" sz="1275" b="1">
                <a:solidFill>
                  <a:srgbClr val="14855C"/>
                </a:solidFill>
                <a:latin typeface="微软雅黑" panose="020B0503020204020204" charset="-122"/>
                <a:ea typeface="微软雅黑" panose="020B0503020204020204" charset="-122"/>
                <a:cs typeface="微软雅黑" panose="020B0503020204020204" charset="-122"/>
              </a:rPr>
              <a:t>最终</a:t>
            </a:r>
            <a:r>
              <a:rPr sz="1275" b="1">
                <a:solidFill>
                  <a:srgbClr val="14855C"/>
                </a:solidFill>
                <a:latin typeface="微软雅黑" panose="020B0503020204020204" charset="-122"/>
                <a:ea typeface="微软雅黑" panose="020B0503020204020204" charset="-122"/>
                <a:cs typeface="微软雅黑" panose="020B0503020204020204" charset="-122"/>
              </a:rPr>
              <a:t>验收</a:t>
            </a:r>
          </a:p>
        </p:txBody>
      </p:sp>
      <p:sp>
        <p:nvSpPr>
          <p:cNvPr id="123" name="phase-d-sidebar-divider"/>
          <p:cNvSpPr>
            <a:spLocks noGrp="1"/>
          </p:cNvSpPr>
          <p:nvPr/>
        </p:nvSpPr>
        <p:spPr>
          <a:xfrm>
            <a:off x="2847975" y="5054600"/>
            <a:ext cx="9525" cy="9525"/>
          </a:xfrm>
          <a:prstGeom prst="rect">
            <a:avLst/>
          </a:prstGeom>
          <a:solidFill>
            <a:srgbClr val="CAD7EB"/>
          </a:solidFill>
          <a:ln w="9525">
            <a:solidFill>
              <a:srgbClr val="CAD7EB"/>
            </a:solidFill>
            <a:prstDash val="solid"/>
          </a:ln>
        </p:spPr>
      </p:sp>
      <p:sp>
        <p:nvSpPr>
          <p:cNvPr id="124" name="phase-d-step-divider"/>
          <p:cNvSpPr>
            <a:spLocks noGrp="1"/>
          </p:cNvSpPr>
          <p:nvPr/>
        </p:nvSpPr>
        <p:spPr>
          <a:xfrm>
            <a:off x="6924675" y="5054600"/>
            <a:ext cx="9525" cy="9525"/>
          </a:xfrm>
          <a:prstGeom prst="rect">
            <a:avLst/>
          </a:prstGeom>
          <a:solidFill>
            <a:srgbClr val="B9DDC4"/>
          </a:solidFill>
          <a:ln w="9525">
            <a:solidFill>
              <a:srgbClr val="B9DDC4"/>
            </a:solidFill>
            <a:prstDash val="solid"/>
          </a:ln>
        </p:spPr>
      </p:sp>
      <p:sp>
        <p:nvSpPr>
          <p:cNvPr id="125" name="step-07-number"/>
          <p:cNvSpPr>
            <a:spLocks noGrp="1"/>
          </p:cNvSpPr>
          <p:nvPr/>
        </p:nvSpPr>
        <p:spPr>
          <a:xfrm>
            <a:off x="3009900" y="5054600"/>
            <a:ext cx="342900" cy="276225"/>
          </a:xfrm>
          <a:prstGeom prst="roundRect">
            <a:avLst>
              <a:gd name="adj" fmla="val 20690"/>
            </a:avLst>
          </a:prstGeom>
          <a:solidFill>
            <a:srgbClr val="14855C"/>
          </a:solidFill>
          <a:ln w="9525">
            <a:solidFill>
              <a:srgbClr val="14855C"/>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07</a:t>
            </a:r>
          </a:p>
        </p:txBody>
      </p:sp>
      <p:sp>
        <p:nvSpPr>
          <p:cNvPr id="126" name="step-07-title"/>
          <p:cNvSpPr>
            <a:spLocks noGrp="1"/>
          </p:cNvSpPr>
          <p:nvPr/>
        </p:nvSpPr>
        <p:spPr>
          <a:xfrm>
            <a:off x="3429000" y="5035550"/>
            <a:ext cx="2000250" cy="190500"/>
          </a:xfrm>
          <a:prstGeom prst="rect">
            <a:avLst/>
          </a:prstGeom>
          <a:noFill/>
          <a:ln w="0">
            <a:noFill/>
            <a:prstDash val="solid"/>
          </a:ln>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dirty="0" err="1">
                <a:solidFill>
                  <a:srgbClr val="14855C"/>
                </a:solidFill>
                <a:latin typeface="微软雅黑" panose="020B0503020204020204" charset="-122"/>
                <a:ea typeface="微软雅黑" panose="020B0503020204020204" charset="-122"/>
                <a:cs typeface="微软雅黑" panose="020B0503020204020204" charset="-122"/>
              </a:rPr>
              <a:t>典型算子验证</a:t>
            </a:r>
            <a:endParaRPr sz="1125" b="1" dirty="0">
              <a:solidFill>
                <a:srgbClr val="14855C"/>
              </a:solidFill>
              <a:latin typeface="微软雅黑" panose="020B0503020204020204" charset="-122"/>
              <a:ea typeface="微软雅黑" panose="020B0503020204020204" charset="-122"/>
              <a:cs typeface="微软雅黑" panose="020B0503020204020204" charset="-122"/>
            </a:endParaRPr>
          </a:p>
        </p:txBody>
      </p:sp>
      <p:sp>
        <p:nvSpPr>
          <p:cNvPr id="128" name="step-07-operator-1"/>
          <p:cNvSpPr>
            <a:spLocks noGrp="1"/>
          </p:cNvSpPr>
          <p:nvPr/>
        </p:nvSpPr>
        <p:spPr>
          <a:xfrm>
            <a:off x="3429000" y="5378450"/>
            <a:ext cx="1028700" cy="361950"/>
          </a:xfrm>
          <a:prstGeom prst="roundRect">
            <a:avLst>
              <a:gd name="adj" fmla="val 15789"/>
            </a:avLst>
          </a:prstGeom>
          <a:solidFill>
            <a:srgbClr val="FFFFFF"/>
          </a:solidFill>
          <a:ln w="9525">
            <a:solidFill>
              <a:srgbClr val="8FC6A1"/>
            </a:solidFill>
            <a:prstDash val="solid"/>
          </a:ln>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14855C"/>
                </a:solidFill>
                <a:latin typeface="Calibri" panose="020F0502020204030204"/>
                <a:ea typeface="Calibri" panose="020F0502020204030204"/>
                <a:cs typeface="Calibri" panose="020F0502020204030204"/>
              </a:rPr>
              <a:t>LayerNorm</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14855C"/>
                </a:solidFill>
                <a:latin typeface="Calibri" panose="020F0502020204030204"/>
                <a:ea typeface="Calibri" panose="020F0502020204030204"/>
                <a:cs typeface="Calibri" panose="020F0502020204030204"/>
              </a:rPr>
              <a:t>Memory + Reduction</a:t>
            </a:r>
          </a:p>
        </p:txBody>
      </p:sp>
      <p:sp>
        <p:nvSpPr>
          <p:cNvPr id="129" name="step-07-operator-2"/>
          <p:cNvSpPr>
            <a:spLocks noGrp="1"/>
          </p:cNvSpPr>
          <p:nvPr/>
        </p:nvSpPr>
        <p:spPr>
          <a:xfrm>
            <a:off x="4543425" y="5378450"/>
            <a:ext cx="1028700" cy="361950"/>
          </a:xfrm>
          <a:prstGeom prst="roundRect">
            <a:avLst>
              <a:gd name="adj" fmla="val 15789"/>
            </a:avLst>
          </a:prstGeom>
          <a:solidFill>
            <a:srgbClr val="FFFFFF"/>
          </a:solidFill>
          <a:ln w="9525">
            <a:solidFill>
              <a:srgbClr val="8FC6A1"/>
            </a:solidFill>
            <a:prstDash val="solid"/>
          </a:ln>
        </p:spPr>
        <p:txBody>
          <a:bodyPr wrap="square" lIns="47625" tIns="19050" rIns="47625" bIns="19050" anchor="ctr">
            <a:normAutofit fontScale="98375" lnSpcReduction="10000"/>
          </a:bodyPr>
          <a:lstStyle/>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14855C"/>
                </a:solidFill>
                <a:latin typeface="Calibri" panose="020F0502020204030204"/>
                <a:ea typeface="Calibri" panose="020F0502020204030204"/>
                <a:cs typeface="Calibri" panose="020F0502020204030204"/>
              </a:rPr>
              <a:t>Softmax</a:t>
            </a:r>
          </a:p>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14855C"/>
                </a:solidFill>
                <a:latin typeface="Calibri" panose="020F0502020204030204"/>
                <a:ea typeface="Calibri" panose="020F0502020204030204"/>
                <a:cs typeface="Calibri" panose="020F0502020204030204"/>
              </a:rPr>
              <a:t>Elementwise + Reduction</a:t>
            </a:r>
          </a:p>
        </p:txBody>
      </p:sp>
      <p:sp>
        <p:nvSpPr>
          <p:cNvPr id="130" name="step-07-operator-3"/>
          <p:cNvSpPr>
            <a:spLocks noGrp="1"/>
          </p:cNvSpPr>
          <p:nvPr/>
        </p:nvSpPr>
        <p:spPr>
          <a:xfrm>
            <a:off x="5657850" y="5378450"/>
            <a:ext cx="1028700" cy="361950"/>
          </a:xfrm>
          <a:prstGeom prst="roundRect">
            <a:avLst>
              <a:gd name="adj" fmla="val 15789"/>
            </a:avLst>
          </a:prstGeom>
          <a:solidFill>
            <a:srgbClr val="FFFFFF"/>
          </a:solidFill>
          <a:ln w="9525">
            <a:solidFill>
              <a:srgbClr val="8FC6A1"/>
            </a:solidFill>
            <a:prstDash val="solid"/>
          </a:ln>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14855C"/>
                </a:solidFill>
                <a:latin typeface="Calibri" panose="020F0502020204030204"/>
                <a:ea typeface="Calibri" panose="020F0502020204030204"/>
                <a:cs typeface="Calibri" panose="020F0502020204030204"/>
              </a:rPr>
              <a:t>MatMul</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14855C"/>
                </a:solidFill>
                <a:latin typeface="Calibri" panose="020F0502020204030204"/>
                <a:ea typeface="Calibri" panose="020F0502020204030204"/>
                <a:cs typeface="Calibri" panose="020F0502020204030204"/>
              </a:rPr>
              <a:t>Compute + Tiling</a:t>
            </a:r>
          </a:p>
        </p:txBody>
      </p:sp>
      <p:sp>
        <p:nvSpPr>
          <p:cNvPr id="133" name="step-08-number"/>
          <p:cNvSpPr>
            <a:spLocks noGrp="1"/>
          </p:cNvSpPr>
          <p:nvPr/>
        </p:nvSpPr>
        <p:spPr>
          <a:xfrm>
            <a:off x="7067550" y="5054600"/>
            <a:ext cx="342900" cy="276225"/>
          </a:xfrm>
          <a:prstGeom prst="roundRect">
            <a:avLst>
              <a:gd name="adj" fmla="val 20690"/>
            </a:avLst>
          </a:prstGeom>
          <a:solidFill>
            <a:srgbClr val="14855C"/>
          </a:solidFill>
          <a:ln w="9525">
            <a:solidFill>
              <a:srgbClr val="14855C"/>
            </a:solidFill>
            <a:prstDash val="solid"/>
          </a:ln>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a:solidFill>
                  <a:srgbClr val="FFFFFF"/>
                </a:solidFill>
                <a:latin typeface="Calibri" panose="020F0502020204030204"/>
                <a:ea typeface="Calibri" panose="020F0502020204030204"/>
                <a:cs typeface="Calibri" panose="020F0502020204030204"/>
              </a:rPr>
              <a:t>08</a:t>
            </a:r>
          </a:p>
        </p:txBody>
      </p:sp>
      <p:sp>
        <p:nvSpPr>
          <p:cNvPr id="134" name="step-08-title"/>
          <p:cNvSpPr>
            <a:spLocks noGrp="1"/>
          </p:cNvSpPr>
          <p:nvPr/>
        </p:nvSpPr>
        <p:spPr>
          <a:xfrm>
            <a:off x="7486650" y="5035550"/>
            <a:ext cx="2000250" cy="190500"/>
          </a:xfrm>
          <a:prstGeom prst="rect">
            <a:avLst/>
          </a:prstGeom>
          <a:noFill/>
          <a:ln w="0">
            <a:noFill/>
            <a:prstDash val="solid"/>
          </a:ln>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a:solidFill>
                  <a:srgbClr val="14855C"/>
                </a:solidFill>
                <a:latin typeface="微软雅黑" panose="020B0503020204020204" charset="-122"/>
                <a:ea typeface="微软雅黑" panose="020B0503020204020204" charset="-122"/>
                <a:cs typeface="微软雅黑" panose="020B0503020204020204" charset="-122"/>
              </a:rPr>
              <a:t>Feedback &amp; Iterate</a:t>
            </a:r>
          </a:p>
        </p:txBody>
      </p:sp>
      <p:sp>
        <p:nvSpPr>
          <p:cNvPr id="135" name="step-08-subtitle"/>
          <p:cNvSpPr>
            <a:spLocks noGrp="1"/>
          </p:cNvSpPr>
          <p:nvPr/>
        </p:nvSpPr>
        <p:spPr>
          <a:xfrm>
            <a:off x="7486650" y="5226050"/>
            <a:ext cx="2952750" cy="152400"/>
          </a:xfrm>
          <a:prstGeom prst="rect">
            <a:avLst/>
          </a:prstGeom>
          <a:noFill/>
          <a:ln w="0">
            <a:noFill/>
            <a:prstDash val="solid"/>
          </a:ln>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7364A"/>
                </a:solidFill>
                <a:latin typeface="微软雅黑" panose="020B0503020204020204" charset="-122"/>
                <a:ea typeface="微软雅黑" panose="020B0503020204020204" charset="-122"/>
                <a:cs typeface="微软雅黑" panose="020B0503020204020204" charset="-122"/>
              </a:rPr>
              <a:t>分类反馈并迭代</a:t>
            </a:r>
          </a:p>
        </p:txBody>
      </p:sp>
      <p:sp>
        <p:nvSpPr>
          <p:cNvPr id="136" name="step-08-branch-1"/>
          <p:cNvSpPr>
            <a:spLocks noGrp="1"/>
          </p:cNvSpPr>
          <p:nvPr/>
        </p:nvSpPr>
        <p:spPr>
          <a:xfrm>
            <a:off x="7496175" y="5378450"/>
            <a:ext cx="1009650" cy="381000"/>
          </a:xfrm>
          <a:prstGeom prst="roundRect">
            <a:avLst>
              <a:gd name="adj" fmla="val 15000"/>
            </a:avLst>
          </a:prstGeom>
          <a:solidFill>
            <a:srgbClr val="FFF7F1"/>
          </a:solidFill>
          <a:ln w="9525">
            <a:solidFill>
              <a:srgbClr val="E97132"/>
            </a:solidFill>
            <a:prstDash val="solid"/>
          </a:ln>
        </p:spPr>
        <p:txBody>
          <a:bodyPr wrap="square" lIns="47625" tIns="19050" rIns="47625" bIns="19050" anchor="ctr">
            <a:normAutofit/>
          </a:bodyPr>
          <a:lstStyle/>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E97132"/>
                </a:solidFill>
                <a:latin typeface="微软雅黑" panose="020B0503020204020204" charset="-122"/>
                <a:ea typeface="微软雅黑" panose="020B0503020204020204" charset="-122"/>
                <a:cs typeface="微软雅黑" panose="020B0503020204020204" charset="-122"/>
              </a:rPr>
              <a:t>平台事实偏差</a:t>
            </a:r>
          </a:p>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E97132"/>
                </a:solidFill>
                <a:latin typeface="微软雅黑" panose="020B0503020204020204" charset="-122"/>
                <a:ea typeface="微软雅黑" panose="020B0503020204020204" charset="-122"/>
                <a:cs typeface="微软雅黑" panose="020B0503020204020204" charset="-122"/>
              </a:rPr>
              <a:t>→ Update Knowledge</a:t>
            </a:r>
          </a:p>
        </p:txBody>
      </p:sp>
      <p:sp>
        <p:nvSpPr>
          <p:cNvPr id="137" name="step-08-branch-2"/>
          <p:cNvSpPr>
            <a:spLocks noGrp="1"/>
          </p:cNvSpPr>
          <p:nvPr/>
        </p:nvSpPr>
        <p:spPr>
          <a:xfrm>
            <a:off x="8572500" y="5378450"/>
            <a:ext cx="1009650" cy="381000"/>
          </a:xfrm>
          <a:prstGeom prst="roundRect">
            <a:avLst>
              <a:gd name="adj" fmla="val 15000"/>
            </a:avLst>
          </a:prstGeom>
          <a:solidFill>
            <a:srgbClr val="FFF7F1"/>
          </a:solidFill>
          <a:ln w="9525">
            <a:solidFill>
              <a:srgbClr val="E97132"/>
            </a:solidFill>
            <a:prstDash val="solid"/>
          </a:ln>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7364A"/>
                </a:solidFill>
                <a:latin typeface="微软雅黑" panose="020B0503020204020204" charset="-122"/>
                <a:ea typeface="微软雅黑" panose="020B0503020204020204" charset="-122"/>
                <a:cs typeface="微软雅黑" panose="020B0503020204020204" charset="-122"/>
              </a:rPr>
              <a:t>优化策略失效</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7364A"/>
                </a:solidFill>
                <a:latin typeface="微软雅黑" panose="020B0503020204020204" charset="-122"/>
                <a:ea typeface="微软雅黑" panose="020B0503020204020204" charset="-122"/>
                <a:cs typeface="微软雅黑" panose="020B0503020204020204" charset="-122"/>
              </a:rPr>
              <a:t>→ Update Rules</a:t>
            </a:r>
          </a:p>
        </p:txBody>
      </p:sp>
      <p:sp>
        <p:nvSpPr>
          <p:cNvPr id="138" name="step-08-branch-3"/>
          <p:cNvSpPr>
            <a:spLocks noGrp="1"/>
          </p:cNvSpPr>
          <p:nvPr/>
        </p:nvSpPr>
        <p:spPr>
          <a:xfrm>
            <a:off x="9648825" y="5378450"/>
            <a:ext cx="1009650" cy="381000"/>
          </a:xfrm>
          <a:prstGeom prst="roundRect">
            <a:avLst>
              <a:gd name="adj" fmla="val 15000"/>
            </a:avLst>
          </a:prstGeom>
          <a:solidFill>
            <a:srgbClr val="FFF7F1"/>
          </a:solidFill>
          <a:ln w="9525">
            <a:solidFill>
              <a:srgbClr val="E97132"/>
            </a:solidFill>
            <a:prstDash val="solid"/>
          </a:ln>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7364A"/>
                </a:solidFill>
                <a:latin typeface="微软雅黑" panose="020B0503020204020204" charset="-122"/>
                <a:ea typeface="微软雅黑" panose="020B0503020204020204" charset="-122"/>
                <a:cs typeface="微软雅黑" panose="020B0503020204020204" charset="-122"/>
              </a:rPr>
              <a:t>流程 / 契约不足</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7364A"/>
                </a:solidFill>
                <a:latin typeface="微软雅黑" panose="020B0503020204020204" charset="-122"/>
                <a:ea typeface="微软雅黑" panose="020B0503020204020204" charset="-122"/>
                <a:cs typeface="微软雅黑" panose="020B0503020204020204" charset="-122"/>
              </a:rPr>
              <a:t>→ Adjust Workflow</a:t>
            </a:r>
          </a:p>
        </p:txBody>
      </p:sp>
      <p:cxnSp>
        <p:nvCxnSpPr>
          <p:cNvPr id="291" name="phase-a-to-b"/>
          <p:cNvCxnSpPr>
            <a:stCxn id="37" idx="2"/>
            <a:endCxn id="63" idx="0"/>
          </p:cNvCxnSpPr>
          <p:nvPr/>
        </p:nvCxnSpPr>
        <p:spPr>
          <a:xfrm>
            <a:off x="6096000" y="2844800"/>
            <a:ext cx="0" cy="47625"/>
          </a:xfrm>
          <a:prstGeom prst="straightConnector1">
            <a:avLst/>
          </a:prstGeom>
          <a:ln w="11430">
            <a:solidFill>
              <a:srgbClr val="1457C5"/>
            </a:solidFill>
            <a:prstDash val="solid"/>
            <a:tailEnd type="triangle" w="sm" len="sm"/>
          </a:ln>
        </p:spPr>
      </p:cxnSp>
      <p:cxnSp>
        <p:nvCxnSpPr>
          <p:cNvPr id="292" name="phase-b-to-c"/>
          <p:cNvCxnSpPr>
            <a:stCxn id="63" idx="2"/>
            <a:endCxn id="92" idx="0"/>
          </p:cNvCxnSpPr>
          <p:nvPr/>
        </p:nvCxnSpPr>
        <p:spPr>
          <a:xfrm>
            <a:off x="6096000" y="3863975"/>
            <a:ext cx="0" cy="47625"/>
          </a:xfrm>
          <a:prstGeom prst="straightConnector1">
            <a:avLst/>
          </a:prstGeom>
          <a:ln w="11430">
            <a:solidFill>
              <a:srgbClr val="0B8B99"/>
            </a:solidFill>
            <a:prstDash val="solid"/>
            <a:tailEnd type="triangle" w="sm" len="sm"/>
          </a:ln>
        </p:spPr>
      </p:cxnSp>
      <p:cxnSp>
        <p:nvCxnSpPr>
          <p:cNvPr id="293" name="phase-c-to-d"/>
          <p:cNvCxnSpPr>
            <a:stCxn id="92" idx="2"/>
            <a:endCxn id="118" idx="0"/>
          </p:cNvCxnSpPr>
          <p:nvPr/>
        </p:nvCxnSpPr>
        <p:spPr>
          <a:xfrm>
            <a:off x="6096000" y="4911725"/>
            <a:ext cx="0" cy="47625"/>
          </a:xfrm>
          <a:prstGeom prst="straightConnector1">
            <a:avLst/>
          </a:prstGeom>
          <a:ln w="11430">
            <a:solidFill>
              <a:srgbClr val="14855C"/>
            </a:solidFill>
            <a:prstDash val="solid"/>
            <a:tailEnd type="triangle" w="sm" len="sm"/>
          </a:ln>
        </p:spPr>
      </p:cxnSp>
      <p:pic>
        <p:nvPicPr>
          <p:cNvPr id="4" name="title-separator-rule"/>
          <p:cNvPicPr>
            <a:picLocks noChangeAspect="1"/>
          </p:cNvPicPr>
          <p:nvPr/>
        </p:nvPicPr>
        <p:blipFill>
          <a:blip r:embed="rId3"/>
          <a:srcRect t="2941"/>
          <a:stretch>
            <a:fillRect/>
          </a:stretch>
        </p:blipFill>
        <p:spPr>
          <a:xfrm>
            <a:off x="263525" y="582930"/>
            <a:ext cx="11734800" cy="104775"/>
          </a:xfrm>
          <a:prstGeom prst="rect">
            <a:avLst/>
          </a:prstGeom>
        </p:spPr>
      </p:pic>
      <p:sp>
        <p:nvSpPr>
          <p:cNvPr id="3" name="slide-7-page-number"/>
          <p:cNvSpPr>
            <a:spLocks noGrp="1"/>
          </p:cNvSpPr>
          <p:nvPr/>
        </p:nvSpPr>
        <p:spPr>
          <a:xfrm>
            <a:off x="11352530" y="260985"/>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8</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9-title"/>
          <p:cNvSpPr>
            <a:spLocks noGrp="1"/>
          </p:cNvSpPr>
          <p:nvPr/>
        </p:nvSpPr>
        <p:spPr>
          <a:xfrm>
            <a:off x="47625" y="260350"/>
            <a:ext cx="5635625" cy="373380"/>
          </a:xfrm>
          <a:prstGeom prst="rect">
            <a:avLst/>
          </a:prstGeom>
          <a:solidFill>
            <a:srgbClr val="FFFFFF"/>
          </a:solidFill>
          <a:ln w="0">
            <a:noFill/>
            <a:prstDash val="solid"/>
          </a:ln>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t>当前四个平台的算子 Skill开发情况</a:t>
            </a:r>
          </a:p>
        </p:txBody>
      </p:sp>
      <p:sp>
        <p:nvSpPr>
          <p:cNvPr id="8" name="takeaway_band_background"/>
          <p:cNvSpPr>
            <a:spLocks noGrp="1"/>
          </p:cNvSpPr>
          <p:nvPr/>
        </p:nvSpPr>
        <p:spPr>
          <a:xfrm>
            <a:off x="152400" y="6076950"/>
            <a:ext cx="11887200" cy="361950"/>
          </a:xfrm>
          <a:prstGeom prst="roundRect">
            <a:avLst>
              <a:gd name="adj" fmla="val 21053"/>
            </a:avLst>
          </a:prstGeom>
          <a:solidFill>
            <a:srgbClr val="F4F7FC"/>
          </a:solidFill>
          <a:ln w="7620">
            <a:solidFill>
              <a:srgbClr val="E4EBF6"/>
            </a:solidFill>
            <a:prstDash val="solid"/>
          </a:ln>
        </p:spPr>
        <p:txBody>
          <a:bodyPr wrap="square" lIns="0" tIns="0" rIns="0" bIns="0" anchor="ctr">
            <a:normAutofit/>
          </a:bodyPr>
          <a:lstStyle/>
          <a:p>
            <a:endParaRPr/>
          </a:p>
        </p:txBody>
      </p:sp>
      <p:sp>
        <p:nvSpPr>
          <p:cNvPr id="9" name="takeaway_1_badge"/>
          <p:cNvSpPr>
            <a:spLocks noGrp="1"/>
          </p:cNvSpPr>
          <p:nvPr/>
        </p:nvSpPr>
        <p:spPr>
          <a:xfrm>
            <a:off x="1304925" y="6153150"/>
            <a:ext cx="228600" cy="228600"/>
          </a:xfrm>
          <a:prstGeom prst="roundRect">
            <a:avLst>
              <a:gd name="adj" fmla="val 50000"/>
            </a:avLst>
          </a:prstGeom>
          <a:solidFill>
            <a:srgbClr val="0E56C9"/>
          </a:solidFill>
          <a:ln w="0">
            <a:solidFill>
              <a:srgbClr val="0E56C9"/>
            </a:solidFill>
            <a:prstDash val="solid"/>
          </a:ln>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1</a:t>
            </a:r>
          </a:p>
        </p:txBody>
      </p:sp>
      <p:sp>
        <p:nvSpPr>
          <p:cNvPr id="10" name="takeaway_1_text"/>
          <p:cNvSpPr>
            <a:spLocks noGrp="1"/>
          </p:cNvSpPr>
          <p:nvPr/>
        </p:nvSpPr>
        <p:spPr>
          <a:xfrm>
            <a:off x="1619250" y="6124575"/>
            <a:ext cx="2952750" cy="276225"/>
          </a:xfrm>
          <a:prstGeom prst="rect">
            <a:avLst/>
          </a:prstGeom>
          <a:noFill/>
          <a:ln w="0">
            <a:noFill/>
            <a:prstDash val="solid"/>
          </a:ln>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123376"/>
                </a:solidFill>
                <a:latin typeface="微软雅黑" panose="020B0503020204020204" charset="-122"/>
                <a:ea typeface="微软雅黑" panose="020B0503020204020204" charset="-122"/>
                <a:cs typeface="微软雅黑" panose="020B0503020204020204" charset="-122"/>
              </a:rPr>
              <a:t>MLU Triton 是当前方法的实践起点</a:t>
            </a:r>
          </a:p>
        </p:txBody>
      </p:sp>
      <p:sp>
        <p:nvSpPr>
          <p:cNvPr id="11" name="takeaway_2_badge"/>
          <p:cNvSpPr>
            <a:spLocks noGrp="1"/>
          </p:cNvSpPr>
          <p:nvPr/>
        </p:nvSpPr>
        <p:spPr>
          <a:xfrm>
            <a:off x="4695825" y="6153150"/>
            <a:ext cx="228600" cy="228600"/>
          </a:xfrm>
          <a:prstGeom prst="roundRect">
            <a:avLst>
              <a:gd name="adj" fmla="val 50000"/>
            </a:avLst>
          </a:prstGeom>
          <a:solidFill>
            <a:srgbClr val="0E56C9"/>
          </a:solidFill>
          <a:ln w="0">
            <a:solidFill>
              <a:srgbClr val="0E56C9"/>
            </a:solidFill>
            <a:prstDash val="solid"/>
          </a:ln>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2</a:t>
            </a:r>
          </a:p>
        </p:txBody>
      </p:sp>
      <p:sp>
        <p:nvSpPr>
          <p:cNvPr id="12" name="takeaway_2_text"/>
          <p:cNvSpPr>
            <a:spLocks noGrp="1"/>
          </p:cNvSpPr>
          <p:nvPr/>
        </p:nvSpPr>
        <p:spPr>
          <a:xfrm>
            <a:off x="5019675" y="6124575"/>
            <a:ext cx="3095625" cy="276225"/>
          </a:xfrm>
          <a:prstGeom prst="rect">
            <a:avLst/>
          </a:prstGeom>
          <a:noFill/>
          <a:ln w="0">
            <a:noFill/>
            <a:prstDash val="solid"/>
          </a:ln>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123376"/>
                </a:solidFill>
                <a:latin typeface="微软雅黑" panose="020B0503020204020204" charset="-122"/>
                <a:ea typeface="微软雅黑" panose="020B0503020204020204" charset="-122"/>
                <a:cs typeface="微软雅黑" panose="020B0503020204020204" charset="-122"/>
              </a:rPr>
              <a:t>平台差异主要体现在平台知识成熟度</a:t>
            </a:r>
          </a:p>
        </p:txBody>
      </p:sp>
      <p:sp>
        <p:nvSpPr>
          <p:cNvPr id="13" name="takeaway_3_badge"/>
          <p:cNvSpPr>
            <a:spLocks noGrp="1"/>
          </p:cNvSpPr>
          <p:nvPr/>
        </p:nvSpPr>
        <p:spPr>
          <a:xfrm>
            <a:off x="8201025" y="6153150"/>
            <a:ext cx="228600" cy="228600"/>
          </a:xfrm>
          <a:prstGeom prst="roundRect">
            <a:avLst>
              <a:gd name="adj" fmla="val 50000"/>
            </a:avLst>
          </a:prstGeom>
          <a:solidFill>
            <a:srgbClr val="0E56C9"/>
          </a:solidFill>
          <a:ln w="0">
            <a:solidFill>
              <a:srgbClr val="0E56C9"/>
            </a:solidFill>
            <a:prstDash val="solid"/>
          </a:ln>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3</a:t>
            </a:r>
          </a:p>
        </p:txBody>
      </p:sp>
      <p:sp>
        <p:nvSpPr>
          <p:cNvPr id="14" name="takeaway_3_text"/>
          <p:cNvSpPr>
            <a:spLocks noGrp="1"/>
          </p:cNvSpPr>
          <p:nvPr/>
        </p:nvSpPr>
        <p:spPr>
          <a:xfrm>
            <a:off x="8524875" y="6124575"/>
            <a:ext cx="2619375" cy="276225"/>
          </a:xfrm>
          <a:prstGeom prst="rect">
            <a:avLst/>
          </a:prstGeom>
          <a:noFill/>
          <a:ln w="0">
            <a:noFill/>
            <a:prstDash val="solid"/>
          </a:ln>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123376"/>
                </a:solidFill>
                <a:latin typeface="微软雅黑" panose="020B0503020204020204" charset="-122"/>
                <a:ea typeface="微软雅黑" panose="020B0503020204020204" charset="-122"/>
                <a:cs typeface="微软雅黑" panose="020B0503020204020204" charset="-122"/>
              </a:rPr>
              <a:t>Skill 仍需多次算子开发验证</a:t>
            </a:r>
          </a:p>
        </p:txBody>
      </p:sp>
      <p:sp>
        <p:nvSpPr>
          <p:cNvPr id="15" name="slide-9-editable-footer"/>
          <p:cNvSpPr>
            <a:spLocks noGrp="1"/>
          </p:cNvSpPr>
          <p:nvPr/>
        </p:nvSpPr>
        <p:spPr>
          <a:xfrm>
            <a:off x="152400" y="6467475"/>
            <a:ext cx="11887200" cy="323850"/>
          </a:xfrm>
          <a:prstGeom prst="roundRect">
            <a:avLst>
              <a:gd name="adj" fmla="val 17647"/>
            </a:avLst>
          </a:prstGeom>
          <a:solidFill>
            <a:srgbClr val="EEF4FE"/>
          </a:solidFill>
          <a:ln w="0">
            <a:solidFill>
              <a:srgbClr val="EEF4FE"/>
            </a:solidFill>
            <a:prstDash val="solid"/>
          </a:ln>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072A67"/>
                </a:solidFill>
                <a:latin typeface="微软雅黑" panose="020B0503020204020204" charset="-122"/>
                <a:ea typeface="微软雅黑" panose="020B0503020204020204" charset="-122"/>
                <a:cs typeface="微软雅黑" panose="020B0503020204020204" charset="-122"/>
              </a:rPr>
              <a:t>四个平台已经处于不同成熟阶段：MLU Triton 已形成较完整闭环，BANG C 已跑通基础真机链路，CUDA 基础 Skill 已完成，GPU Triton 正在进行平台知识迁移与验证。</a:t>
            </a:r>
          </a:p>
        </p:txBody>
      </p:sp>
      <p:sp>
        <p:nvSpPr>
          <p:cNvPr id="17" name="s18-mlu-frame"/>
          <p:cNvSpPr>
            <a:spLocks noGrp="1"/>
          </p:cNvSpPr>
          <p:nvPr/>
        </p:nvSpPr>
        <p:spPr>
          <a:xfrm>
            <a:off x="95250" y="1122362"/>
            <a:ext cx="5743575" cy="2286000"/>
          </a:xfrm>
          <a:prstGeom prst="roundRect">
            <a:avLst>
              <a:gd name="adj" fmla="val 3333"/>
            </a:avLst>
          </a:prstGeom>
          <a:solidFill>
            <a:srgbClr val="072A67"/>
          </a:solidFill>
          <a:ln w="11430">
            <a:solidFill>
              <a:srgbClr val="1457C5"/>
            </a:solidFill>
            <a:prstDash val="solid"/>
          </a:ln>
        </p:spPr>
      </p:sp>
      <p:sp>
        <p:nvSpPr>
          <p:cNvPr id="18" name="s18-mlu-body-fill"/>
          <p:cNvSpPr>
            <a:spLocks noGrp="1"/>
          </p:cNvSpPr>
          <p:nvPr/>
        </p:nvSpPr>
        <p:spPr>
          <a:xfrm>
            <a:off x="104775" y="1693862"/>
            <a:ext cx="5724525" cy="1704975"/>
          </a:xfrm>
          <a:prstGeom prst="rect">
            <a:avLst/>
          </a:prstGeom>
          <a:solidFill>
            <a:srgbClr val="FFFFFF"/>
          </a:solidFill>
          <a:ln w="0">
            <a:solidFill>
              <a:srgbClr val="FFFFFF"/>
            </a:solidFill>
            <a:prstDash val="solid"/>
          </a:ln>
        </p:spPr>
      </p:sp>
      <p:sp>
        <p:nvSpPr>
          <p:cNvPr id="19" name="s18-mlu-header-rule"/>
          <p:cNvSpPr>
            <a:spLocks noGrp="1"/>
          </p:cNvSpPr>
          <p:nvPr/>
        </p:nvSpPr>
        <p:spPr>
          <a:xfrm>
            <a:off x="104775" y="1684337"/>
            <a:ext cx="5724525" cy="9525"/>
          </a:xfrm>
          <a:prstGeom prst="rect">
            <a:avLst/>
          </a:prstGeom>
          <a:solidFill>
            <a:srgbClr val="1457C5"/>
          </a:solidFill>
          <a:ln w="0">
            <a:solidFill>
              <a:srgbClr val="1457C5"/>
            </a:solidFill>
            <a:prstDash val="solid"/>
          </a:ln>
        </p:spPr>
      </p:sp>
      <p:sp>
        <p:nvSpPr>
          <p:cNvPr id="20" name="s18-mlu-title"/>
          <p:cNvSpPr>
            <a:spLocks noGrp="1"/>
          </p:cNvSpPr>
          <p:nvPr/>
        </p:nvSpPr>
        <p:spPr>
          <a:xfrm>
            <a:off x="142875" y="1271904"/>
            <a:ext cx="5591175" cy="295275"/>
          </a:xfrm>
          <a:prstGeom prst="rect">
            <a:avLst/>
          </a:prstGeom>
          <a:noFill/>
          <a:ln w="0">
            <a:noFill/>
            <a:prstDash val="solid"/>
          </a:ln>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Calibri" panose="020F0502020204030204"/>
                <a:ea typeface="Calibri" panose="020F0502020204030204"/>
                <a:cs typeface="Calibri" panose="020F0502020204030204"/>
              </a:rPr>
              <a:t>MLU Triton</a:t>
            </a:r>
          </a:p>
        </p:txBody>
      </p:sp>
      <p:sp>
        <p:nvSpPr>
          <p:cNvPr id="22" name="s18-mlu-divider-1"/>
          <p:cNvSpPr>
            <a:spLocks noGrp="1"/>
          </p:cNvSpPr>
          <p:nvPr/>
        </p:nvSpPr>
        <p:spPr>
          <a:xfrm>
            <a:off x="1247775" y="1760537"/>
            <a:ext cx="9525" cy="1562100"/>
          </a:xfrm>
          <a:prstGeom prst="rect">
            <a:avLst/>
          </a:prstGeom>
          <a:solidFill>
            <a:srgbClr val="C9D8EC"/>
          </a:solidFill>
          <a:ln w="0">
            <a:solidFill>
              <a:srgbClr val="C9D8EC"/>
            </a:solidFill>
            <a:prstDash val="solid"/>
          </a:ln>
        </p:spPr>
      </p:sp>
      <p:sp>
        <p:nvSpPr>
          <p:cNvPr id="23" name="s18-mlu-divider-2"/>
          <p:cNvSpPr>
            <a:spLocks noGrp="1"/>
          </p:cNvSpPr>
          <p:nvPr/>
        </p:nvSpPr>
        <p:spPr>
          <a:xfrm>
            <a:off x="3276600" y="1760537"/>
            <a:ext cx="9525" cy="1562100"/>
          </a:xfrm>
          <a:prstGeom prst="rect">
            <a:avLst/>
          </a:prstGeom>
          <a:solidFill>
            <a:srgbClr val="C9D8EC"/>
          </a:solidFill>
          <a:ln w="0">
            <a:solidFill>
              <a:srgbClr val="C9D8EC"/>
            </a:solidFill>
            <a:prstDash val="solid"/>
          </a:ln>
        </p:spPr>
      </p:sp>
      <p:sp>
        <p:nvSpPr>
          <p:cNvPr id="24" name="s18-mlu-divider-3"/>
          <p:cNvSpPr>
            <a:spLocks noGrp="1"/>
          </p:cNvSpPr>
          <p:nvPr/>
        </p:nvSpPr>
        <p:spPr>
          <a:xfrm>
            <a:off x="4543425" y="1760537"/>
            <a:ext cx="9525" cy="1562100"/>
          </a:xfrm>
          <a:prstGeom prst="rect">
            <a:avLst/>
          </a:prstGeom>
          <a:solidFill>
            <a:srgbClr val="C9D8EC"/>
          </a:solidFill>
          <a:ln w="0">
            <a:solidFill>
              <a:srgbClr val="C9D8EC"/>
            </a:solidFill>
            <a:prstDash val="solid"/>
          </a:ln>
        </p:spPr>
      </p:sp>
      <p:sp>
        <p:nvSpPr>
          <p:cNvPr id="25" name="s18-mlu-c1-number"/>
          <p:cNvSpPr>
            <a:spLocks noGrp="1"/>
          </p:cNvSpPr>
          <p:nvPr/>
        </p:nvSpPr>
        <p:spPr>
          <a:xfrm>
            <a:off x="190500"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1</a:t>
            </a:r>
          </a:p>
        </p:txBody>
      </p:sp>
      <p:sp>
        <p:nvSpPr>
          <p:cNvPr id="26" name="s18-mlu-c1-title"/>
          <p:cNvSpPr>
            <a:spLocks noGrp="1"/>
          </p:cNvSpPr>
          <p:nvPr/>
        </p:nvSpPr>
        <p:spPr>
          <a:xfrm>
            <a:off x="438150" y="1751012"/>
            <a:ext cx="76200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当前阶段</a:t>
            </a:r>
          </a:p>
        </p:txBody>
      </p:sp>
      <p:sp>
        <p:nvSpPr>
          <p:cNvPr id="27" name="s18-mlu-c2-number"/>
          <p:cNvSpPr>
            <a:spLocks noGrp="1"/>
          </p:cNvSpPr>
          <p:nvPr/>
        </p:nvSpPr>
        <p:spPr>
          <a:xfrm>
            <a:off x="1333500"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2</a:t>
            </a:r>
          </a:p>
        </p:txBody>
      </p:sp>
      <p:sp>
        <p:nvSpPr>
          <p:cNvPr id="28" name="s18-mlu-c2-title"/>
          <p:cNvSpPr>
            <a:spLocks noGrp="1"/>
          </p:cNvSpPr>
          <p:nvPr/>
        </p:nvSpPr>
        <p:spPr>
          <a:xfrm>
            <a:off x="1581150" y="1751012"/>
            <a:ext cx="16192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已完成</a:t>
            </a:r>
          </a:p>
        </p:txBody>
      </p:sp>
      <p:sp>
        <p:nvSpPr>
          <p:cNvPr id="29" name="s18-mlu-c3-number"/>
          <p:cNvSpPr>
            <a:spLocks noGrp="1"/>
          </p:cNvSpPr>
          <p:nvPr/>
        </p:nvSpPr>
        <p:spPr>
          <a:xfrm>
            <a:off x="3371850"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3</a:t>
            </a:r>
          </a:p>
        </p:txBody>
      </p:sp>
      <p:sp>
        <p:nvSpPr>
          <p:cNvPr id="30" name="s18-mlu-c3-title"/>
          <p:cNvSpPr>
            <a:spLocks noGrp="1"/>
          </p:cNvSpPr>
          <p:nvPr/>
        </p:nvSpPr>
        <p:spPr>
          <a:xfrm>
            <a:off x="3619500" y="1751012"/>
            <a:ext cx="8572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验证程度</a:t>
            </a:r>
          </a:p>
        </p:txBody>
      </p:sp>
      <p:sp>
        <p:nvSpPr>
          <p:cNvPr id="31" name="s18-mlu-c4-number"/>
          <p:cNvSpPr>
            <a:spLocks noGrp="1"/>
          </p:cNvSpPr>
          <p:nvPr/>
        </p:nvSpPr>
        <p:spPr>
          <a:xfrm>
            <a:off x="4638675"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4</a:t>
            </a:r>
          </a:p>
        </p:txBody>
      </p:sp>
      <p:sp>
        <p:nvSpPr>
          <p:cNvPr id="32" name="s18-mlu-c4-title"/>
          <p:cNvSpPr>
            <a:spLocks noGrp="1"/>
          </p:cNvSpPr>
          <p:nvPr/>
        </p:nvSpPr>
        <p:spPr>
          <a:xfrm>
            <a:off x="4886325" y="1751012"/>
            <a:ext cx="8191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下一步</a:t>
            </a:r>
          </a:p>
        </p:txBody>
      </p:sp>
      <p:sp>
        <p:nvSpPr>
          <p:cNvPr id="33" name="s18-mlu-stage"/>
          <p:cNvSpPr>
            <a:spLocks noGrp="1"/>
          </p:cNvSpPr>
          <p:nvPr/>
        </p:nvSpPr>
        <p:spPr>
          <a:xfrm>
            <a:off x="190500" y="2036762"/>
            <a:ext cx="971550" cy="400050"/>
          </a:xfrm>
          <a:prstGeom prst="rect">
            <a:avLst/>
          </a:prstGeom>
          <a:noFill/>
          <a:ln w="0">
            <a:noFill/>
            <a:prstDash val="solid"/>
          </a:ln>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4344D"/>
                </a:solidFill>
                <a:latin typeface="微软雅黑" panose="020B0503020204020204" charset="-122"/>
                <a:ea typeface="微软雅黑" panose="020B0503020204020204" charset="-122"/>
                <a:cs typeface="微软雅黑" panose="020B0503020204020204" charset="-122"/>
              </a:rPr>
              <a:t>完成基础闭环验证</a:t>
            </a:r>
            <a:endParaRPr sz="865" b="1" dirty="0">
              <a:solidFill>
                <a:srgbClr val="24344D"/>
              </a:solidFill>
              <a:latin typeface="微软雅黑" panose="020B0503020204020204" charset="-122"/>
              <a:ea typeface="微软雅黑" panose="020B0503020204020204" charset="-122"/>
              <a:cs typeface="微软雅黑" panose="020B0503020204020204" charset="-122"/>
            </a:endParaRPr>
          </a:p>
        </p:txBody>
      </p:sp>
      <p:sp>
        <p:nvSpPr>
          <p:cNvPr id="34" name="s18-mlu-done-1-symbol"/>
          <p:cNvSpPr>
            <a:spLocks noGrp="1"/>
          </p:cNvSpPr>
          <p:nvPr/>
        </p:nvSpPr>
        <p:spPr>
          <a:xfrm>
            <a:off x="1352550" y="20177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35" name="s18-mlu-done-1-text"/>
          <p:cNvSpPr>
            <a:spLocks noGrp="1"/>
          </p:cNvSpPr>
          <p:nvPr/>
        </p:nvSpPr>
        <p:spPr>
          <a:xfrm>
            <a:off x="1514475" y="2017712"/>
            <a:ext cx="1724025" cy="190500"/>
          </a:xfrm>
          <a:prstGeom prst="rect">
            <a:avLst/>
          </a:prstGeom>
          <a:noFill/>
          <a:ln w="0">
            <a:noFill/>
            <a:prstDash val="solid"/>
          </a:ln>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Main / Code-Gen / Review / Optimize</a:t>
            </a:r>
          </a:p>
        </p:txBody>
      </p:sp>
      <p:sp>
        <p:nvSpPr>
          <p:cNvPr id="36" name="s18-mlu-done-2-symbol"/>
          <p:cNvSpPr>
            <a:spLocks noGrp="1"/>
          </p:cNvSpPr>
          <p:nvPr/>
        </p:nvSpPr>
        <p:spPr>
          <a:xfrm>
            <a:off x="1352550" y="22463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37" name="s18-mlu-done-2-text"/>
          <p:cNvSpPr>
            <a:spLocks noGrp="1"/>
          </p:cNvSpPr>
          <p:nvPr/>
        </p:nvSpPr>
        <p:spPr>
          <a:xfrm>
            <a:off x="1514475" y="2246312"/>
            <a:ext cx="1724025" cy="190500"/>
          </a:xfrm>
          <a:prstGeom prst="rect">
            <a:avLst/>
          </a:prstGeom>
          <a:noFill/>
          <a:ln w="0">
            <a:noFill/>
            <a:prstDash val="solid"/>
          </a:ln>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4344D"/>
                </a:solidFill>
                <a:latin typeface="微软雅黑" panose="020B0503020204020204" charset="-122"/>
                <a:ea typeface="微软雅黑" panose="020B0503020204020204" charset="-122"/>
                <a:cs typeface="微软雅黑" panose="020B0503020204020204" charset="-122"/>
              </a:rPr>
              <a:t>平台知识与开发规则已积累</a:t>
            </a:r>
          </a:p>
        </p:txBody>
      </p:sp>
      <p:sp>
        <p:nvSpPr>
          <p:cNvPr id="38" name="s18-mlu-done-3-symbol"/>
          <p:cNvSpPr>
            <a:spLocks noGrp="1"/>
          </p:cNvSpPr>
          <p:nvPr/>
        </p:nvSpPr>
        <p:spPr>
          <a:xfrm>
            <a:off x="1352550" y="24749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39" name="s18-mlu-done-3-text"/>
          <p:cNvSpPr>
            <a:spLocks noGrp="1"/>
          </p:cNvSpPr>
          <p:nvPr/>
        </p:nvSpPr>
        <p:spPr>
          <a:xfrm>
            <a:off x="1514475" y="2474912"/>
            <a:ext cx="172402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已进行多类算子开发与优化实践</a:t>
            </a:r>
          </a:p>
        </p:txBody>
      </p:sp>
      <p:sp>
        <p:nvSpPr>
          <p:cNvPr id="40" name="s18-mlu-done-4-symbol"/>
          <p:cNvSpPr>
            <a:spLocks noGrp="1"/>
          </p:cNvSpPr>
          <p:nvPr/>
        </p:nvSpPr>
        <p:spPr>
          <a:xfrm>
            <a:off x="1352550" y="2703512"/>
            <a:ext cx="133350" cy="20955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41" name="s18-mlu-done-4-text"/>
          <p:cNvSpPr>
            <a:spLocks noGrp="1"/>
          </p:cNvSpPr>
          <p:nvPr/>
        </p:nvSpPr>
        <p:spPr>
          <a:xfrm>
            <a:off x="1514475" y="2703512"/>
            <a:ext cx="1724025" cy="209550"/>
          </a:xfrm>
          <a:prstGeom prst="rect">
            <a:avLst/>
          </a:prstGeom>
          <a:noFill/>
          <a:ln w="0">
            <a:noFill/>
            <a:prstDash val="solid"/>
          </a:ln>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Benchmark / Profiling 能进入优化流程</a:t>
            </a:r>
          </a:p>
        </p:txBody>
      </p:sp>
      <p:sp>
        <p:nvSpPr>
          <p:cNvPr id="42" name="s18-mlu-validation-1-symbol"/>
          <p:cNvSpPr>
            <a:spLocks noGrp="1"/>
          </p:cNvSpPr>
          <p:nvPr/>
        </p:nvSpPr>
        <p:spPr>
          <a:xfrm>
            <a:off x="3381375" y="20081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43" name="s18-mlu-validation-1-text"/>
          <p:cNvSpPr>
            <a:spLocks noGrp="1"/>
          </p:cNvSpPr>
          <p:nvPr/>
        </p:nvSpPr>
        <p:spPr>
          <a:xfrm>
            <a:off x="3543300" y="2008187"/>
            <a:ext cx="942975" cy="180975"/>
          </a:xfrm>
          <a:prstGeom prst="rect">
            <a:avLst/>
          </a:prstGeom>
          <a:noFill/>
          <a:ln w="0">
            <a:noFill/>
            <a:prstDash val="solid"/>
          </a:ln>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4344D"/>
                </a:solidFill>
                <a:latin typeface="微软雅黑" panose="020B0503020204020204" charset="-122"/>
                <a:ea typeface="微软雅黑" panose="020B0503020204020204" charset="-122"/>
                <a:cs typeface="微软雅黑" panose="020B0503020204020204" charset="-122"/>
              </a:rPr>
              <a:t>环境  ✓</a:t>
            </a:r>
          </a:p>
        </p:txBody>
      </p:sp>
      <p:sp>
        <p:nvSpPr>
          <p:cNvPr id="44" name="s18-mlu-validation-2-symbol"/>
          <p:cNvSpPr>
            <a:spLocks noGrp="1"/>
          </p:cNvSpPr>
          <p:nvPr/>
        </p:nvSpPr>
        <p:spPr>
          <a:xfrm>
            <a:off x="3381375" y="21986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45" name="s18-mlu-validation-2-text"/>
          <p:cNvSpPr>
            <a:spLocks noGrp="1"/>
          </p:cNvSpPr>
          <p:nvPr/>
        </p:nvSpPr>
        <p:spPr>
          <a:xfrm>
            <a:off x="3543300" y="2198687"/>
            <a:ext cx="942975" cy="180975"/>
          </a:xfrm>
          <a:prstGeom prst="rect">
            <a:avLst/>
          </a:prstGeom>
          <a:noFill/>
          <a:ln w="0">
            <a:noFill/>
            <a:prstDash val="solid"/>
          </a:ln>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4344D"/>
                </a:solidFill>
                <a:latin typeface="微软雅黑" panose="020B0503020204020204" charset="-122"/>
                <a:ea typeface="微软雅黑" panose="020B0503020204020204" charset="-122"/>
                <a:cs typeface="微软雅黑" panose="020B0503020204020204" charset="-122"/>
              </a:rPr>
              <a:t>代码生成  ✓</a:t>
            </a:r>
          </a:p>
        </p:txBody>
      </p:sp>
      <p:sp>
        <p:nvSpPr>
          <p:cNvPr id="46" name="s18-mlu-validation-3-symbol"/>
          <p:cNvSpPr>
            <a:spLocks noGrp="1"/>
          </p:cNvSpPr>
          <p:nvPr/>
        </p:nvSpPr>
        <p:spPr>
          <a:xfrm>
            <a:off x="3381375" y="23891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47" name="s18-mlu-validation-3-text"/>
          <p:cNvSpPr>
            <a:spLocks noGrp="1"/>
          </p:cNvSpPr>
          <p:nvPr/>
        </p:nvSpPr>
        <p:spPr>
          <a:xfrm>
            <a:off x="3543300" y="2389187"/>
            <a:ext cx="942975" cy="180975"/>
          </a:xfrm>
          <a:prstGeom prst="rect">
            <a:avLst/>
          </a:prstGeom>
          <a:noFill/>
          <a:ln w="0">
            <a:noFill/>
            <a:prstDash val="solid"/>
          </a:ln>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4344D"/>
                </a:solidFill>
                <a:latin typeface="微软雅黑" panose="020B0503020204020204" charset="-122"/>
                <a:ea typeface="微软雅黑" panose="020B0503020204020204" charset="-122"/>
                <a:cs typeface="微软雅黑" panose="020B0503020204020204" charset="-122"/>
              </a:rPr>
              <a:t>Correctness  ✓</a:t>
            </a:r>
          </a:p>
        </p:txBody>
      </p:sp>
      <p:sp>
        <p:nvSpPr>
          <p:cNvPr id="48" name="s18-mlu-validation-4-symbol"/>
          <p:cNvSpPr>
            <a:spLocks noGrp="1"/>
          </p:cNvSpPr>
          <p:nvPr/>
        </p:nvSpPr>
        <p:spPr>
          <a:xfrm>
            <a:off x="3381375" y="25796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49" name="s18-mlu-validation-4-text"/>
          <p:cNvSpPr>
            <a:spLocks noGrp="1"/>
          </p:cNvSpPr>
          <p:nvPr/>
        </p:nvSpPr>
        <p:spPr>
          <a:xfrm>
            <a:off x="3543300" y="2579687"/>
            <a:ext cx="942975" cy="180975"/>
          </a:xfrm>
          <a:prstGeom prst="rect">
            <a:avLst/>
          </a:prstGeom>
          <a:noFill/>
          <a:ln w="0">
            <a:noFill/>
            <a:prstDash val="solid"/>
          </a:ln>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4344D"/>
                </a:solidFill>
                <a:latin typeface="微软雅黑" panose="020B0503020204020204" charset="-122"/>
                <a:ea typeface="微软雅黑" panose="020B0503020204020204" charset="-122"/>
                <a:cs typeface="微软雅黑" panose="020B0503020204020204" charset="-122"/>
              </a:rPr>
              <a:t>Benchmark  ✓</a:t>
            </a:r>
          </a:p>
        </p:txBody>
      </p:sp>
      <p:sp>
        <p:nvSpPr>
          <p:cNvPr id="50" name="s18-mlu-validation-5-symbol"/>
          <p:cNvSpPr>
            <a:spLocks noGrp="1"/>
          </p:cNvSpPr>
          <p:nvPr/>
        </p:nvSpPr>
        <p:spPr>
          <a:xfrm>
            <a:off x="3381375" y="27701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51" name="s18-mlu-validation-5-text"/>
          <p:cNvSpPr>
            <a:spLocks noGrp="1"/>
          </p:cNvSpPr>
          <p:nvPr/>
        </p:nvSpPr>
        <p:spPr>
          <a:xfrm>
            <a:off x="3543300" y="2770187"/>
            <a:ext cx="942975" cy="180975"/>
          </a:xfrm>
          <a:prstGeom prst="rect">
            <a:avLst/>
          </a:prstGeom>
          <a:noFill/>
          <a:ln w="0">
            <a:noFill/>
            <a:prstDash val="solid"/>
          </a:ln>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4344D"/>
                </a:solidFill>
                <a:latin typeface="微软雅黑" panose="020B0503020204020204" charset="-122"/>
                <a:ea typeface="微软雅黑" panose="020B0503020204020204" charset="-122"/>
                <a:cs typeface="微软雅黑" panose="020B0503020204020204" charset="-122"/>
              </a:rPr>
              <a:t>Optimize  ✓</a:t>
            </a:r>
          </a:p>
        </p:txBody>
      </p:sp>
      <p:sp>
        <p:nvSpPr>
          <p:cNvPr id="54" name="s18-mlu-next-1-symbol"/>
          <p:cNvSpPr>
            <a:spLocks noGrp="1"/>
          </p:cNvSpPr>
          <p:nvPr/>
        </p:nvSpPr>
        <p:spPr>
          <a:xfrm>
            <a:off x="4648200" y="2008187"/>
            <a:ext cx="133350" cy="352425"/>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55" name="s18-mlu-next-1-text"/>
          <p:cNvSpPr>
            <a:spLocks noGrp="1"/>
          </p:cNvSpPr>
          <p:nvPr/>
        </p:nvSpPr>
        <p:spPr>
          <a:xfrm>
            <a:off x="4810125" y="2008187"/>
            <a:ext cx="895350" cy="352425"/>
          </a:xfrm>
          <a:prstGeom prst="rect">
            <a:avLst/>
          </a:prstGeom>
          <a:noFill/>
          <a:ln w="0">
            <a:noFill/>
            <a:prstDash val="solid"/>
          </a:ln>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进一步整理</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Platform Knowledge</a:t>
            </a:r>
          </a:p>
        </p:txBody>
      </p:sp>
      <p:sp>
        <p:nvSpPr>
          <p:cNvPr id="56" name="s18-mlu-next-2-symbol"/>
          <p:cNvSpPr>
            <a:spLocks noGrp="1"/>
          </p:cNvSpPr>
          <p:nvPr/>
        </p:nvSpPr>
        <p:spPr>
          <a:xfrm>
            <a:off x="4648200" y="2408237"/>
            <a:ext cx="133350" cy="238125"/>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57" name="s18-mlu-next-2-text"/>
          <p:cNvSpPr>
            <a:spLocks noGrp="1"/>
          </p:cNvSpPr>
          <p:nvPr/>
        </p:nvSpPr>
        <p:spPr>
          <a:xfrm>
            <a:off x="4810125" y="2408237"/>
            <a:ext cx="895350" cy="238125"/>
          </a:xfrm>
          <a:prstGeom prst="rect">
            <a:avLst/>
          </a:prstGeom>
          <a:noFill/>
          <a:ln w="0">
            <a:noFill/>
            <a:prstDash val="solid"/>
          </a:ln>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补齐复杂算子经验</a:t>
            </a:r>
          </a:p>
        </p:txBody>
      </p:sp>
      <p:sp>
        <p:nvSpPr>
          <p:cNvPr id="58" name="s18-mlu-next-3-symbol"/>
          <p:cNvSpPr>
            <a:spLocks noGrp="1"/>
          </p:cNvSpPr>
          <p:nvPr/>
        </p:nvSpPr>
        <p:spPr>
          <a:xfrm>
            <a:off x="4648200" y="2684462"/>
            <a:ext cx="133350" cy="40005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59" name="s18-mlu-next-3-text"/>
          <p:cNvSpPr>
            <a:spLocks noGrp="1"/>
          </p:cNvSpPr>
          <p:nvPr/>
        </p:nvSpPr>
        <p:spPr>
          <a:xfrm>
            <a:off x="4810125" y="2684462"/>
            <a:ext cx="895350" cy="400050"/>
          </a:xfrm>
          <a:prstGeom prst="rect">
            <a:avLst/>
          </a:prstGeom>
          <a:noFill/>
          <a:ln w="0">
            <a:noFill/>
            <a:prstDash val="solid"/>
          </a:ln>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统一不同算子的</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评估与归档方式</a:t>
            </a:r>
          </a:p>
        </p:txBody>
      </p:sp>
      <p:sp>
        <p:nvSpPr>
          <p:cNvPr id="60" name="s18-bang-frame"/>
          <p:cNvSpPr>
            <a:spLocks noGrp="1"/>
          </p:cNvSpPr>
          <p:nvPr/>
        </p:nvSpPr>
        <p:spPr>
          <a:xfrm>
            <a:off x="5943600" y="1122362"/>
            <a:ext cx="6038850" cy="2286000"/>
          </a:xfrm>
          <a:prstGeom prst="roundRect">
            <a:avLst>
              <a:gd name="adj" fmla="val 3333"/>
            </a:avLst>
          </a:prstGeom>
          <a:solidFill>
            <a:srgbClr val="FFFFFF"/>
          </a:solidFill>
          <a:ln w="11430">
            <a:solidFill>
              <a:srgbClr val="1457C5"/>
            </a:solidFill>
            <a:prstDash val="solid"/>
          </a:ln>
        </p:spPr>
      </p:sp>
      <p:sp>
        <p:nvSpPr>
          <p:cNvPr id="61" name="s18-bang-header-fill"/>
          <p:cNvSpPr>
            <a:spLocks noGrp="1"/>
          </p:cNvSpPr>
          <p:nvPr/>
        </p:nvSpPr>
        <p:spPr>
          <a:xfrm>
            <a:off x="5953125" y="1131887"/>
            <a:ext cx="6019800" cy="561975"/>
          </a:xfrm>
          <a:prstGeom prst="rect">
            <a:avLst/>
          </a:prstGeom>
          <a:solidFill>
            <a:srgbClr val="FFFFFF"/>
          </a:solidFill>
          <a:ln w="0">
            <a:solidFill>
              <a:srgbClr val="FFFFFF"/>
            </a:solidFill>
            <a:prstDash val="solid"/>
          </a:ln>
        </p:spPr>
      </p:sp>
      <p:sp>
        <p:nvSpPr>
          <p:cNvPr id="62" name="s18-bang-body-fill"/>
          <p:cNvSpPr>
            <a:spLocks noGrp="1"/>
          </p:cNvSpPr>
          <p:nvPr/>
        </p:nvSpPr>
        <p:spPr>
          <a:xfrm>
            <a:off x="5953125" y="1693862"/>
            <a:ext cx="6019800" cy="1704975"/>
          </a:xfrm>
          <a:prstGeom prst="rect">
            <a:avLst/>
          </a:prstGeom>
          <a:solidFill>
            <a:srgbClr val="FFFFFF"/>
          </a:solidFill>
          <a:ln w="0">
            <a:solidFill>
              <a:srgbClr val="FFFFFF"/>
            </a:solidFill>
            <a:prstDash val="solid"/>
          </a:ln>
        </p:spPr>
        <p:txBody>
          <a:bodyPr/>
          <a:lstStyle/>
          <a:p>
            <a:endParaRPr lang="zh-CN" altLang="en-US"/>
          </a:p>
        </p:txBody>
      </p:sp>
      <p:sp>
        <p:nvSpPr>
          <p:cNvPr id="63" name="s18-bang-header-rule"/>
          <p:cNvSpPr>
            <a:spLocks noGrp="1"/>
          </p:cNvSpPr>
          <p:nvPr/>
        </p:nvSpPr>
        <p:spPr>
          <a:xfrm>
            <a:off x="5953125" y="1684337"/>
            <a:ext cx="6019800" cy="9525"/>
          </a:xfrm>
          <a:prstGeom prst="rect">
            <a:avLst/>
          </a:prstGeom>
          <a:solidFill>
            <a:srgbClr val="1457C5"/>
          </a:solidFill>
          <a:ln w="0">
            <a:solidFill>
              <a:srgbClr val="1457C5"/>
            </a:solidFill>
            <a:prstDash val="solid"/>
          </a:ln>
        </p:spPr>
      </p:sp>
      <p:sp>
        <p:nvSpPr>
          <p:cNvPr id="64" name="s18-bang-title"/>
          <p:cNvSpPr>
            <a:spLocks noGrp="1"/>
          </p:cNvSpPr>
          <p:nvPr/>
        </p:nvSpPr>
        <p:spPr>
          <a:xfrm>
            <a:off x="6019800" y="1150937"/>
            <a:ext cx="5886450" cy="295275"/>
          </a:xfrm>
          <a:prstGeom prst="rect">
            <a:avLst/>
          </a:prstGeom>
          <a:noFill/>
          <a:ln w="0">
            <a:noFill/>
            <a:prstDash val="solid"/>
          </a:ln>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1457C5"/>
                </a:solidFill>
                <a:latin typeface="Calibri" panose="020F0502020204030204"/>
                <a:ea typeface="Calibri" panose="020F0502020204030204"/>
                <a:cs typeface="Calibri" panose="020F0502020204030204"/>
              </a:rPr>
              <a:t>BANG C</a:t>
            </a:r>
          </a:p>
        </p:txBody>
      </p:sp>
      <p:sp>
        <p:nvSpPr>
          <p:cNvPr id="66" name="s18-bang-divider-1"/>
          <p:cNvSpPr>
            <a:spLocks noGrp="1"/>
          </p:cNvSpPr>
          <p:nvPr/>
        </p:nvSpPr>
        <p:spPr>
          <a:xfrm>
            <a:off x="7181850" y="1760537"/>
            <a:ext cx="9525" cy="1562100"/>
          </a:xfrm>
          <a:prstGeom prst="rect">
            <a:avLst/>
          </a:prstGeom>
          <a:solidFill>
            <a:srgbClr val="C9D8EC"/>
          </a:solidFill>
          <a:ln w="0">
            <a:solidFill>
              <a:srgbClr val="C9D8EC"/>
            </a:solidFill>
            <a:prstDash val="solid"/>
          </a:ln>
        </p:spPr>
      </p:sp>
      <p:sp>
        <p:nvSpPr>
          <p:cNvPr id="67" name="s18-bang-divider-2"/>
          <p:cNvSpPr>
            <a:spLocks noGrp="1"/>
          </p:cNvSpPr>
          <p:nvPr/>
        </p:nvSpPr>
        <p:spPr>
          <a:xfrm>
            <a:off x="8715375" y="1760537"/>
            <a:ext cx="9525" cy="1562100"/>
          </a:xfrm>
          <a:prstGeom prst="rect">
            <a:avLst/>
          </a:prstGeom>
          <a:solidFill>
            <a:srgbClr val="C9D8EC"/>
          </a:solidFill>
          <a:ln w="0">
            <a:solidFill>
              <a:srgbClr val="C9D8EC"/>
            </a:solidFill>
            <a:prstDash val="solid"/>
          </a:ln>
        </p:spPr>
      </p:sp>
      <p:sp>
        <p:nvSpPr>
          <p:cNvPr id="68" name="s18-bang-divider-3"/>
          <p:cNvSpPr>
            <a:spLocks noGrp="1"/>
          </p:cNvSpPr>
          <p:nvPr/>
        </p:nvSpPr>
        <p:spPr>
          <a:xfrm>
            <a:off x="10782300" y="1760537"/>
            <a:ext cx="9525" cy="1562100"/>
          </a:xfrm>
          <a:prstGeom prst="rect">
            <a:avLst/>
          </a:prstGeom>
          <a:solidFill>
            <a:srgbClr val="C9D8EC"/>
          </a:solidFill>
          <a:ln w="0">
            <a:solidFill>
              <a:srgbClr val="C9D8EC"/>
            </a:solidFill>
            <a:prstDash val="solid"/>
          </a:ln>
        </p:spPr>
      </p:sp>
      <p:sp>
        <p:nvSpPr>
          <p:cNvPr id="69" name="s18-bang-c1-number"/>
          <p:cNvSpPr>
            <a:spLocks noGrp="1"/>
          </p:cNvSpPr>
          <p:nvPr/>
        </p:nvSpPr>
        <p:spPr>
          <a:xfrm>
            <a:off x="6038850"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1</a:t>
            </a:r>
          </a:p>
        </p:txBody>
      </p:sp>
      <p:sp>
        <p:nvSpPr>
          <p:cNvPr id="70" name="s18-bang-c1-title"/>
          <p:cNvSpPr>
            <a:spLocks noGrp="1"/>
          </p:cNvSpPr>
          <p:nvPr/>
        </p:nvSpPr>
        <p:spPr>
          <a:xfrm>
            <a:off x="6286500" y="1751012"/>
            <a:ext cx="83820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当前阶段</a:t>
            </a:r>
          </a:p>
        </p:txBody>
      </p:sp>
      <p:sp>
        <p:nvSpPr>
          <p:cNvPr id="71" name="s18-bang-c2-number"/>
          <p:cNvSpPr>
            <a:spLocks noGrp="1"/>
          </p:cNvSpPr>
          <p:nvPr/>
        </p:nvSpPr>
        <p:spPr>
          <a:xfrm>
            <a:off x="7277100"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2</a:t>
            </a:r>
          </a:p>
        </p:txBody>
      </p:sp>
      <p:sp>
        <p:nvSpPr>
          <p:cNvPr id="72" name="s18-bang-c2-title"/>
          <p:cNvSpPr>
            <a:spLocks noGrp="1"/>
          </p:cNvSpPr>
          <p:nvPr/>
        </p:nvSpPr>
        <p:spPr>
          <a:xfrm>
            <a:off x="7524750" y="1751012"/>
            <a:ext cx="1114425"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已完成</a:t>
            </a:r>
          </a:p>
        </p:txBody>
      </p:sp>
      <p:sp>
        <p:nvSpPr>
          <p:cNvPr id="73" name="s18-bang-c3-number"/>
          <p:cNvSpPr>
            <a:spLocks noGrp="1"/>
          </p:cNvSpPr>
          <p:nvPr/>
        </p:nvSpPr>
        <p:spPr>
          <a:xfrm>
            <a:off x="8810625"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3</a:t>
            </a:r>
          </a:p>
        </p:txBody>
      </p:sp>
      <p:sp>
        <p:nvSpPr>
          <p:cNvPr id="74" name="s18-bang-c3-title"/>
          <p:cNvSpPr>
            <a:spLocks noGrp="1"/>
          </p:cNvSpPr>
          <p:nvPr/>
        </p:nvSpPr>
        <p:spPr>
          <a:xfrm>
            <a:off x="9058275" y="1751012"/>
            <a:ext cx="16573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验证程度</a:t>
            </a:r>
          </a:p>
        </p:txBody>
      </p:sp>
      <p:sp>
        <p:nvSpPr>
          <p:cNvPr id="75" name="s18-bang-c4-number"/>
          <p:cNvSpPr>
            <a:spLocks noGrp="1"/>
          </p:cNvSpPr>
          <p:nvPr/>
        </p:nvSpPr>
        <p:spPr>
          <a:xfrm>
            <a:off x="10877550" y="17605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4</a:t>
            </a:r>
          </a:p>
        </p:txBody>
      </p:sp>
      <p:sp>
        <p:nvSpPr>
          <p:cNvPr id="76" name="s18-bang-c4-title"/>
          <p:cNvSpPr>
            <a:spLocks noGrp="1"/>
          </p:cNvSpPr>
          <p:nvPr/>
        </p:nvSpPr>
        <p:spPr>
          <a:xfrm>
            <a:off x="11125200" y="1751012"/>
            <a:ext cx="76200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下一步</a:t>
            </a:r>
          </a:p>
        </p:txBody>
      </p:sp>
      <p:sp>
        <p:nvSpPr>
          <p:cNvPr id="77" name="s18-bang-stage"/>
          <p:cNvSpPr>
            <a:spLocks noGrp="1"/>
          </p:cNvSpPr>
          <p:nvPr/>
        </p:nvSpPr>
        <p:spPr>
          <a:xfrm>
            <a:off x="6038850" y="2017712"/>
            <a:ext cx="1066800" cy="504825"/>
          </a:xfrm>
          <a:prstGeom prst="rect">
            <a:avLst/>
          </a:prstGeom>
          <a:noFill/>
          <a:ln w="0">
            <a:noFill/>
            <a:prstDash val="solid"/>
          </a:ln>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4344D"/>
                </a:solidFill>
                <a:latin typeface="微软雅黑" panose="020B0503020204020204" charset="-122"/>
                <a:ea typeface="微软雅黑" panose="020B0503020204020204" charset="-122"/>
                <a:cs typeface="微软雅黑" panose="020B0503020204020204" charset="-122"/>
              </a:rPr>
              <a:t>从“能开发”向</a:t>
            </a: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4344D"/>
                </a:solidFill>
                <a:latin typeface="微软雅黑" panose="020B0503020204020204" charset="-122"/>
                <a:ea typeface="微软雅黑" panose="020B0503020204020204" charset="-122"/>
                <a:cs typeface="微软雅黑" panose="020B0503020204020204" charset="-122"/>
              </a:rPr>
              <a:t>“高性能开发”推进</a:t>
            </a:r>
          </a:p>
        </p:txBody>
      </p:sp>
      <p:sp>
        <p:nvSpPr>
          <p:cNvPr id="78" name="s18-bang-done-1-symbol"/>
          <p:cNvSpPr>
            <a:spLocks noGrp="1"/>
          </p:cNvSpPr>
          <p:nvPr/>
        </p:nvSpPr>
        <p:spPr>
          <a:xfrm>
            <a:off x="7296150" y="2008187"/>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79" name="s18-bang-done-1-text"/>
          <p:cNvSpPr>
            <a:spLocks noGrp="1"/>
          </p:cNvSpPr>
          <p:nvPr/>
        </p:nvSpPr>
        <p:spPr>
          <a:xfrm>
            <a:off x="7458075" y="2008187"/>
            <a:ext cx="1209675" cy="190500"/>
          </a:xfrm>
          <a:prstGeom prst="rect">
            <a:avLst/>
          </a:prstGeom>
          <a:noFill/>
          <a:ln w="0">
            <a:noFill/>
            <a:prstDash val="solid"/>
          </a:ln>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4344D"/>
                </a:solidFill>
                <a:latin typeface="微软雅黑" panose="020B0503020204020204" charset="-122"/>
                <a:ea typeface="微软雅黑" panose="020B0503020204020204" charset="-122"/>
                <a:cs typeface="微软雅黑" panose="020B0503020204020204" charset="-122"/>
              </a:rPr>
              <a:t>基础 Skill 结构</a:t>
            </a:r>
          </a:p>
        </p:txBody>
      </p:sp>
      <p:sp>
        <p:nvSpPr>
          <p:cNvPr id="80" name="s18-bang-done-2-symbol"/>
          <p:cNvSpPr>
            <a:spLocks noGrp="1"/>
          </p:cNvSpPr>
          <p:nvPr/>
        </p:nvSpPr>
        <p:spPr>
          <a:xfrm>
            <a:off x="7296150" y="222726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81" name="s18-bang-done-2-text"/>
          <p:cNvSpPr>
            <a:spLocks noGrp="1"/>
          </p:cNvSpPr>
          <p:nvPr/>
        </p:nvSpPr>
        <p:spPr>
          <a:xfrm>
            <a:off x="7458075" y="2227262"/>
            <a:ext cx="1209675" cy="190500"/>
          </a:xfrm>
          <a:prstGeom prst="rect">
            <a:avLst/>
          </a:prstGeom>
          <a:noFill/>
          <a:ln w="0">
            <a:noFill/>
            <a:prstDash val="solid"/>
          </a:ln>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4344D"/>
                </a:solidFill>
                <a:latin typeface="微软雅黑" panose="020B0503020204020204" charset="-122"/>
                <a:ea typeface="微软雅黑" panose="020B0503020204020204" charset="-122"/>
                <a:cs typeface="微软雅黑" panose="020B0503020204020204" charset="-122"/>
              </a:rPr>
              <a:t>真机编译 / 执行</a:t>
            </a:r>
          </a:p>
        </p:txBody>
      </p:sp>
      <p:sp>
        <p:nvSpPr>
          <p:cNvPr id="82" name="s18-bang-done-3-symbol"/>
          <p:cNvSpPr>
            <a:spLocks noGrp="1"/>
          </p:cNvSpPr>
          <p:nvPr/>
        </p:nvSpPr>
        <p:spPr>
          <a:xfrm>
            <a:off x="7296150" y="2446337"/>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83" name="s18-bang-done-3-text"/>
          <p:cNvSpPr>
            <a:spLocks noGrp="1"/>
          </p:cNvSpPr>
          <p:nvPr/>
        </p:nvSpPr>
        <p:spPr>
          <a:xfrm>
            <a:off x="7458075" y="2446337"/>
            <a:ext cx="1209675" cy="190500"/>
          </a:xfrm>
          <a:prstGeom prst="rect">
            <a:avLst/>
          </a:prstGeom>
          <a:noFill/>
          <a:ln w="0">
            <a:noFill/>
            <a:prstDash val="solid"/>
          </a:ln>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4344D"/>
                </a:solidFill>
                <a:latin typeface="微软雅黑" panose="020B0503020204020204" charset="-122"/>
                <a:ea typeface="微软雅黑" panose="020B0503020204020204" charset="-122"/>
                <a:cs typeface="微软雅黑" panose="020B0503020204020204" charset="-122"/>
              </a:rPr>
              <a:t>Correctness</a:t>
            </a:r>
          </a:p>
        </p:txBody>
      </p:sp>
      <p:sp>
        <p:nvSpPr>
          <p:cNvPr id="84" name="s18-bang-done-4-symbol"/>
          <p:cNvSpPr>
            <a:spLocks noGrp="1"/>
          </p:cNvSpPr>
          <p:nvPr/>
        </p:nvSpPr>
        <p:spPr>
          <a:xfrm>
            <a:off x="7296150" y="26654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85" name="s18-bang-done-4-text"/>
          <p:cNvSpPr>
            <a:spLocks noGrp="1"/>
          </p:cNvSpPr>
          <p:nvPr/>
        </p:nvSpPr>
        <p:spPr>
          <a:xfrm>
            <a:off x="7458075" y="2665412"/>
            <a:ext cx="1209675" cy="190500"/>
          </a:xfrm>
          <a:prstGeom prst="rect">
            <a:avLst/>
          </a:prstGeom>
          <a:noFill/>
          <a:ln w="0">
            <a:noFill/>
            <a:prstDash val="solid"/>
          </a:ln>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4344D"/>
                </a:solidFill>
                <a:latin typeface="微软雅黑" panose="020B0503020204020204" charset="-122"/>
                <a:ea typeface="微软雅黑" panose="020B0503020204020204" charset="-122"/>
                <a:cs typeface="微软雅黑" panose="020B0503020204020204" charset="-122"/>
              </a:rPr>
              <a:t>Benchmark</a:t>
            </a:r>
          </a:p>
        </p:txBody>
      </p:sp>
      <p:sp>
        <p:nvSpPr>
          <p:cNvPr id="86" name="s18-bang-done-5-symbol"/>
          <p:cNvSpPr>
            <a:spLocks noGrp="1"/>
          </p:cNvSpPr>
          <p:nvPr/>
        </p:nvSpPr>
        <p:spPr>
          <a:xfrm>
            <a:off x="7296150" y="2884487"/>
            <a:ext cx="133350" cy="3048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87" name="s18-bang-done-5-text"/>
          <p:cNvSpPr>
            <a:spLocks noGrp="1"/>
          </p:cNvSpPr>
          <p:nvPr/>
        </p:nvSpPr>
        <p:spPr>
          <a:xfrm>
            <a:off x="7458075" y="2884487"/>
            <a:ext cx="1209675" cy="304800"/>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LayerNorm 等实际算子测试</a:t>
            </a:r>
          </a:p>
        </p:txBody>
      </p:sp>
      <p:sp>
        <p:nvSpPr>
          <p:cNvPr id="88" name="s18-bang-val-1-symbol"/>
          <p:cNvSpPr>
            <a:spLocks noGrp="1"/>
          </p:cNvSpPr>
          <p:nvPr/>
        </p:nvSpPr>
        <p:spPr>
          <a:xfrm>
            <a:off x="8829675" y="20081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89" name="s18-bang-val-1-text"/>
          <p:cNvSpPr>
            <a:spLocks noGrp="1"/>
          </p:cNvSpPr>
          <p:nvPr/>
        </p:nvSpPr>
        <p:spPr>
          <a:xfrm>
            <a:off x="8991600" y="2008187"/>
            <a:ext cx="638175" cy="180975"/>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环境  </a:t>
            </a:r>
          </a:p>
        </p:txBody>
      </p:sp>
      <p:sp>
        <p:nvSpPr>
          <p:cNvPr id="90" name="s18-bang-val-2-symbol"/>
          <p:cNvSpPr>
            <a:spLocks noGrp="1"/>
          </p:cNvSpPr>
          <p:nvPr/>
        </p:nvSpPr>
        <p:spPr>
          <a:xfrm>
            <a:off x="8829675" y="21986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91" name="s18-bang-val-2-text"/>
          <p:cNvSpPr>
            <a:spLocks noGrp="1"/>
          </p:cNvSpPr>
          <p:nvPr/>
        </p:nvSpPr>
        <p:spPr>
          <a:xfrm>
            <a:off x="8991600" y="2198687"/>
            <a:ext cx="638175" cy="180975"/>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代码生成  </a:t>
            </a:r>
          </a:p>
        </p:txBody>
      </p:sp>
      <p:sp>
        <p:nvSpPr>
          <p:cNvPr id="92" name="s18-bang-val-3-symbol"/>
          <p:cNvSpPr>
            <a:spLocks noGrp="1"/>
          </p:cNvSpPr>
          <p:nvPr/>
        </p:nvSpPr>
        <p:spPr>
          <a:xfrm>
            <a:off x="8829675" y="23891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93" name="s18-bang-val-3-text"/>
          <p:cNvSpPr>
            <a:spLocks noGrp="1"/>
          </p:cNvSpPr>
          <p:nvPr/>
        </p:nvSpPr>
        <p:spPr>
          <a:xfrm>
            <a:off x="8991600" y="2389187"/>
            <a:ext cx="638175" cy="180975"/>
          </a:xfrm>
          <a:prstGeom prst="rect">
            <a:avLst/>
          </a:prstGeom>
          <a:noFill/>
          <a:ln w="0">
            <a:noFill/>
            <a:prstDash val="solid"/>
          </a:ln>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4344D"/>
                </a:solidFill>
                <a:latin typeface="微软雅黑" panose="020B0503020204020204" charset="-122"/>
                <a:ea typeface="微软雅黑" panose="020B0503020204020204" charset="-122"/>
                <a:cs typeface="微软雅黑" panose="020B0503020204020204" charset="-122"/>
              </a:rPr>
              <a:t>Correctness  </a:t>
            </a:r>
          </a:p>
        </p:txBody>
      </p:sp>
      <p:sp>
        <p:nvSpPr>
          <p:cNvPr id="94" name="s18-bang-val-4-symbol"/>
          <p:cNvSpPr>
            <a:spLocks noGrp="1"/>
          </p:cNvSpPr>
          <p:nvPr/>
        </p:nvSpPr>
        <p:spPr>
          <a:xfrm>
            <a:off x="8829675" y="2579687"/>
            <a:ext cx="133350" cy="18097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95" name="s18-bang-val-4-text"/>
          <p:cNvSpPr>
            <a:spLocks noGrp="1"/>
          </p:cNvSpPr>
          <p:nvPr/>
        </p:nvSpPr>
        <p:spPr>
          <a:xfrm>
            <a:off x="8991600" y="2579687"/>
            <a:ext cx="638175" cy="180975"/>
          </a:xfrm>
          <a:prstGeom prst="rect">
            <a:avLst/>
          </a:prstGeom>
          <a:noFill/>
          <a:ln w="0">
            <a:noFill/>
            <a:prstDash val="solid"/>
          </a:ln>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4344D"/>
                </a:solidFill>
                <a:latin typeface="微软雅黑" panose="020B0503020204020204" charset="-122"/>
                <a:ea typeface="微软雅黑" panose="020B0503020204020204" charset="-122"/>
                <a:cs typeface="微软雅黑" panose="020B0503020204020204" charset="-122"/>
              </a:rPr>
              <a:t>Benchmark  </a:t>
            </a:r>
          </a:p>
        </p:txBody>
      </p:sp>
      <p:sp>
        <p:nvSpPr>
          <p:cNvPr id="96" name="s18-bang-val-5-symbol"/>
          <p:cNvSpPr>
            <a:spLocks noGrp="1"/>
          </p:cNvSpPr>
          <p:nvPr/>
        </p:nvSpPr>
        <p:spPr>
          <a:xfrm>
            <a:off x="8829675" y="2770187"/>
            <a:ext cx="133350" cy="200025"/>
          </a:xfrm>
          <a:prstGeom prst="rect">
            <a:avLst/>
          </a:prstGeom>
          <a:noFill/>
          <a:ln w="0">
            <a:noFill/>
            <a:prstDash val="solid"/>
          </a:ln>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F07818"/>
                </a:solidFill>
                <a:latin typeface="微软雅黑" panose="020B0503020204020204" charset="-122"/>
                <a:ea typeface="微软雅黑" panose="020B0503020204020204" charset="-122"/>
                <a:cs typeface="微软雅黑" panose="020B0503020204020204" charset="-122"/>
              </a:rPr>
              <a:t>△</a:t>
            </a:r>
          </a:p>
        </p:txBody>
      </p:sp>
      <p:sp>
        <p:nvSpPr>
          <p:cNvPr id="97" name="s18-bang-val-5-text"/>
          <p:cNvSpPr>
            <a:spLocks noGrp="1"/>
          </p:cNvSpPr>
          <p:nvPr/>
        </p:nvSpPr>
        <p:spPr>
          <a:xfrm>
            <a:off x="8991600" y="2770187"/>
            <a:ext cx="638175" cy="200025"/>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高性能优化</a:t>
            </a:r>
          </a:p>
        </p:txBody>
      </p:sp>
      <p:sp>
        <p:nvSpPr>
          <p:cNvPr id="98" name="s18-bang-gap"/>
          <p:cNvSpPr>
            <a:spLocks noGrp="1"/>
          </p:cNvSpPr>
          <p:nvPr/>
        </p:nvSpPr>
        <p:spPr>
          <a:xfrm>
            <a:off x="9658350" y="2253297"/>
            <a:ext cx="1038225" cy="974090"/>
          </a:xfrm>
          <a:prstGeom prst="roundRect">
            <a:avLst>
              <a:gd name="adj" fmla="val 5505"/>
            </a:avLst>
          </a:prstGeom>
          <a:solidFill>
            <a:srgbClr val="FFF9F5"/>
          </a:solidFill>
          <a:ln w="9525">
            <a:solidFill>
              <a:srgbClr val="F29A50"/>
            </a:solidFill>
            <a:prstDash val="solid"/>
          </a:ln>
        </p:spPr>
        <p:txBody>
          <a:bodyPr wrap="square" lIns="38100" tIns="28575" rIns="38100" bIns="28575" anchor="ctr">
            <a:normAutofit/>
          </a:bodyPr>
          <a:lstStyle/>
          <a:p>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显式片上存储管理、</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DMA / Pipeline、</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Core / Cluster 分工</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及高性能算子案例</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仍需进一步沉淀。</a:t>
            </a:r>
          </a:p>
        </p:txBody>
      </p:sp>
      <p:sp>
        <p:nvSpPr>
          <p:cNvPr id="99" name="s18-bang-gap-title-overlay"/>
          <p:cNvSpPr>
            <a:spLocks noGrp="1"/>
          </p:cNvSpPr>
          <p:nvPr/>
        </p:nvSpPr>
        <p:spPr>
          <a:xfrm>
            <a:off x="9686925" y="2351087"/>
            <a:ext cx="942975" cy="171450"/>
          </a:xfrm>
          <a:prstGeom prst="rect">
            <a:avLst/>
          </a:prstGeom>
          <a:noFill/>
          <a:ln w="0">
            <a:noFill/>
            <a:prstDash val="solid"/>
          </a:ln>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F07818"/>
                </a:solidFill>
                <a:latin typeface="微软雅黑" panose="020B0503020204020204" charset="-122"/>
                <a:ea typeface="微软雅黑" panose="020B0503020204020204" charset="-122"/>
                <a:cs typeface="微软雅黑" panose="020B0503020204020204" charset="-122"/>
              </a:rPr>
              <a:t>当前主要缺口</a:t>
            </a:r>
            <a:endParaRPr sz="765" b="1" dirty="0">
              <a:solidFill>
                <a:srgbClr val="F07818"/>
              </a:solidFill>
              <a:latin typeface="微软雅黑" panose="020B0503020204020204" charset="-122"/>
              <a:ea typeface="微软雅黑" panose="020B0503020204020204" charset="-122"/>
              <a:cs typeface="微软雅黑" panose="020B0503020204020204" charset="-122"/>
            </a:endParaRPr>
          </a:p>
        </p:txBody>
      </p:sp>
      <p:sp>
        <p:nvSpPr>
          <p:cNvPr id="100" name="s18-bang-next-1-symbol"/>
          <p:cNvSpPr>
            <a:spLocks noGrp="1"/>
          </p:cNvSpPr>
          <p:nvPr/>
        </p:nvSpPr>
        <p:spPr>
          <a:xfrm>
            <a:off x="10887075" y="2008187"/>
            <a:ext cx="133350" cy="36195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01" name="s18-bang-next-1-text"/>
          <p:cNvSpPr>
            <a:spLocks noGrp="1"/>
          </p:cNvSpPr>
          <p:nvPr/>
        </p:nvSpPr>
        <p:spPr>
          <a:xfrm>
            <a:off x="11049000" y="2008187"/>
            <a:ext cx="828675" cy="361950"/>
          </a:xfrm>
          <a:prstGeom prst="rect">
            <a:avLst/>
          </a:prstGeom>
          <a:noFill/>
          <a:ln w="0">
            <a:noFill/>
            <a:prstDash val="solid"/>
          </a:ln>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4344D"/>
                </a:solidFill>
                <a:latin typeface="微软雅黑" panose="020B0503020204020204" charset="-122"/>
                <a:ea typeface="微软雅黑" panose="020B0503020204020204" charset="-122"/>
                <a:cs typeface="微软雅黑" panose="020B0503020204020204" charset="-122"/>
              </a:rPr>
              <a:t>补高性能</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4344D"/>
                </a:solidFill>
                <a:latin typeface="微软雅黑" panose="020B0503020204020204" charset="-122"/>
                <a:ea typeface="微软雅黑" panose="020B0503020204020204" charset="-122"/>
                <a:cs typeface="微软雅黑" panose="020B0503020204020204" charset="-122"/>
              </a:rPr>
              <a:t>BANG C Reference</a:t>
            </a:r>
          </a:p>
        </p:txBody>
      </p:sp>
      <p:sp>
        <p:nvSpPr>
          <p:cNvPr id="102" name="s18-bang-next-2-symbol"/>
          <p:cNvSpPr>
            <a:spLocks noGrp="1"/>
          </p:cNvSpPr>
          <p:nvPr/>
        </p:nvSpPr>
        <p:spPr>
          <a:xfrm>
            <a:off x="10887075" y="2427287"/>
            <a:ext cx="133350" cy="40005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03" name="s18-bang-next-2-text"/>
          <p:cNvSpPr>
            <a:spLocks noGrp="1"/>
          </p:cNvSpPr>
          <p:nvPr/>
        </p:nvSpPr>
        <p:spPr>
          <a:xfrm>
            <a:off x="11049000" y="2427287"/>
            <a:ext cx="828675" cy="400050"/>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将微基准结果转化为</a:t>
            </a:r>
          </a:p>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优化规则</a:t>
            </a:r>
          </a:p>
        </p:txBody>
      </p:sp>
      <p:sp>
        <p:nvSpPr>
          <p:cNvPr id="104" name="s18-bang-next-3-symbol"/>
          <p:cNvSpPr>
            <a:spLocks noGrp="1"/>
          </p:cNvSpPr>
          <p:nvPr/>
        </p:nvSpPr>
        <p:spPr>
          <a:xfrm>
            <a:off x="10887075" y="2865437"/>
            <a:ext cx="133350" cy="36195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05" name="s18-bang-next-3-text"/>
          <p:cNvSpPr>
            <a:spLocks noGrp="1"/>
          </p:cNvSpPr>
          <p:nvPr/>
        </p:nvSpPr>
        <p:spPr>
          <a:xfrm>
            <a:off x="11049000" y="2865437"/>
            <a:ext cx="828675" cy="361950"/>
          </a:xfrm>
          <a:prstGeom prst="rect">
            <a:avLst/>
          </a:prstGeom>
          <a:noFill/>
          <a:ln w="0">
            <a:noFill/>
            <a:prstDash val="solid"/>
          </a:ln>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4344D"/>
                </a:solidFill>
                <a:latin typeface="微软雅黑" panose="020B0503020204020204" charset="-122"/>
                <a:ea typeface="微软雅黑" panose="020B0503020204020204" charset="-122"/>
                <a:cs typeface="微软雅黑" panose="020B0503020204020204" charset="-122"/>
              </a:rPr>
              <a:t>完成三典型算子</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4344D"/>
                </a:solidFill>
                <a:latin typeface="微软雅黑" panose="020B0503020204020204" charset="-122"/>
                <a:ea typeface="微软雅黑" panose="020B0503020204020204" charset="-122"/>
                <a:cs typeface="微软雅黑" panose="020B0503020204020204" charset="-122"/>
              </a:rPr>
              <a:t>统一验证</a:t>
            </a:r>
          </a:p>
        </p:txBody>
      </p:sp>
      <p:sp>
        <p:nvSpPr>
          <p:cNvPr id="106" name="s18-cuda-frame"/>
          <p:cNvSpPr>
            <a:spLocks noGrp="1"/>
          </p:cNvSpPr>
          <p:nvPr/>
        </p:nvSpPr>
        <p:spPr>
          <a:xfrm>
            <a:off x="95250" y="3513137"/>
            <a:ext cx="5743575" cy="1905000"/>
          </a:xfrm>
          <a:prstGeom prst="roundRect">
            <a:avLst>
              <a:gd name="adj" fmla="val 4000"/>
            </a:avLst>
          </a:prstGeom>
          <a:solidFill>
            <a:srgbClr val="FFFFFF"/>
          </a:solidFill>
          <a:ln w="11430">
            <a:solidFill>
              <a:srgbClr val="6F8FBF"/>
            </a:solidFill>
            <a:prstDash val="solid"/>
          </a:ln>
        </p:spPr>
      </p:sp>
      <p:sp>
        <p:nvSpPr>
          <p:cNvPr id="107" name="s18-cuda-header-fill"/>
          <p:cNvSpPr>
            <a:spLocks noGrp="1"/>
          </p:cNvSpPr>
          <p:nvPr/>
        </p:nvSpPr>
        <p:spPr>
          <a:xfrm>
            <a:off x="104775" y="3522662"/>
            <a:ext cx="5724525" cy="495300"/>
          </a:xfrm>
          <a:prstGeom prst="rect">
            <a:avLst/>
          </a:prstGeom>
          <a:solidFill>
            <a:srgbClr val="FFFFFF"/>
          </a:solidFill>
          <a:ln w="0">
            <a:solidFill>
              <a:srgbClr val="FFFFFF"/>
            </a:solidFill>
            <a:prstDash val="solid"/>
          </a:ln>
        </p:spPr>
      </p:sp>
      <p:sp>
        <p:nvSpPr>
          <p:cNvPr id="108" name="s18-cuda-body-fill"/>
          <p:cNvSpPr>
            <a:spLocks noGrp="1"/>
          </p:cNvSpPr>
          <p:nvPr/>
        </p:nvSpPr>
        <p:spPr>
          <a:xfrm>
            <a:off x="104775" y="4017962"/>
            <a:ext cx="5724525" cy="1390650"/>
          </a:xfrm>
          <a:prstGeom prst="rect">
            <a:avLst/>
          </a:prstGeom>
          <a:solidFill>
            <a:srgbClr val="FFFFFF"/>
          </a:solidFill>
          <a:ln w="0">
            <a:solidFill>
              <a:srgbClr val="FFFFFF"/>
            </a:solidFill>
            <a:prstDash val="solid"/>
          </a:ln>
        </p:spPr>
      </p:sp>
      <p:sp>
        <p:nvSpPr>
          <p:cNvPr id="109" name="s18-cuda-header-rule"/>
          <p:cNvSpPr>
            <a:spLocks noGrp="1"/>
          </p:cNvSpPr>
          <p:nvPr/>
        </p:nvSpPr>
        <p:spPr>
          <a:xfrm>
            <a:off x="104775" y="4008437"/>
            <a:ext cx="5724525" cy="9525"/>
          </a:xfrm>
          <a:prstGeom prst="rect">
            <a:avLst/>
          </a:prstGeom>
          <a:solidFill>
            <a:srgbClr val="6F8FBF"/>
          </a:solidFill>
          <a:ln w="0">
            <a:solidFill>
              <a:srgbClr val="6F8FBF"/>
            </a:solidFill>
            <a:prstDash val="solid"/>
          </a:ln>
        </p:spPr>
      </p:sp>
      <p:sp>
        <p:nvSpPr>
          <p:cNvPr id="110" name="s18-cuda-title"/>
          <p:cNvSpPr>
            <a:spLocks noGrp="1"/>
          </p:cNvSpPr>
          <p:nvPr/>
        </p:nvSpPr>
        <p:spPr>
          <a:xfrm>
            <a:off x="171450" y="3541712"/>
            <a:ext cx="5591175" cy="295275"/>
          </a:xfrm>
          <a:prstGeom prst="rect">
            <a:avLst/>
          </a:prstGeom>
          <a:noFill/>
          <a:ln w="0">
            <a:noFill/>
            <a:prstDash val="solid"/>
          </a:ln>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1457C5"/>
                </a:solidFill>
                <a:latin typeface="Calibri" panose="020F0502020204030204"/>
                <a:ea typeface="Calibri" panose="020F0502020204030204"/>
                <a:cs typeface="Calibri" panose="020F0502020204030204"/>
              </a:rPr>
              <a:t>CUDA</a:t>
            </a:r>
          </a:p>
        </p:txBody>
      </p:sp>
      <p:sp>
        <p:nvSpPr>
          <p:cNvPr id="112" name="s18-cuda-divider-1"/>
          <p:cNvSpPr>
            <a:spLocks noGrp="1"/>
          </p:cNvSpPr>
          <p:nvPr/>
        </p:nvSpPr>
        <p:spPr>
          <a:xfrm>
            <a:off x="1228725" y="4084637"/>
            <a:ext cx="9525" cy="1257300"/>
          </a:xfrm>
          <a:prstGeom prst="rect">
            <a:avLst/>
          </a:prstGeom>
          <a:solidFill>
            <a:srgbClr val="C9D8EC"/>
          </a:solidFill>
          <a:ln w="0">
            <a:solidFill>
              <a:srgbClr val="C9D8EC"/>
            </a:solidFill>
            <a:prstDash val="solid"/>
          </a:ln>
        </p:spPr>
      </p:sp>
      <p:sp>
        <p:nvSpPr>
          <p:cNvPr id="113" name="s18-cuda-divider-2"/>
          <p:cNvSpPr>
            <a:spLocks noGrp="1"/>
          </p:cNvSpPr>
          <p:nvPr/>
        </p:nvSpPr>
        <p:spPr>
          <a:xfrm>
            <a:off x="3086100" y="4084637"/>
            <a:ext cx="9525" cy="1257300"/>
          </a:xfrm>
          <a:prstGeom prst="rect">
            <a:avLst/>
          </a:prstGeom>
          <a:solidFill>
            <a:srgbClr val="C9D8EC"/>
          </a:solidFill>
          <a:ln w="0">
            <a:solidFill>
              <a:srgbClr val="C9D8EC"/>
            </a:solidFill>
            <a:prstDash val="solid"/>
          </a:ln>
        </p:spPr>
      </p:sp>
      <p:sp>
        <p:nvSpPr>
          <p:cNvPr id="114" name="s18-cuda-divider-3"/>
          <p:cNvSpPr>
            <a:spLocks noGrp="1"/>
          </p:cNvSpPr>
          <p:nvPr/>
        </p:nvSpPr>
        <p:spPr>
          <a:xfrm>
            <a:off x="4467225" y="4084637"/>
            <a:ext cx="9525" cy="1257300"/>
          </a:xfrm>
          <a:prstGeom prst="rect">
            <a:avLst/>
          </a:prstGeom>
          <a:solidFill>
            <a:srgbClr val="C9D8EC"/>
          </a:solidFill>
          <a:ln w="0">
            <a:solidFill>
              <a:srgbClr val="C9D8EC"/>
            </a:solidFill>
            <a:prstDash val="solid"/>
          </a:ln>
        </p:spPr>
      </p:sp>
      <p:sp>
        <p:nvSpPr>
          <p:cNvPr id="115" name="s18-cuda-c1-number"/>
          <p:cNvSpPr>
            <a:spLocks noGrp="1"/>
          </p:cNvSpPr>
          <p:nvPr/>
        </p:nvSpPr>
        <p:spPr>
          <a:xfrm>
            <a:off x="190500"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1</a:t>
            </a:r>
          </a:p>
        </p:txBody>
      </p:sp>
      <p:sp>
        <p:nvSpPr>
          <p:cNvPr id="116" name="s18-cuda-c1-title"/>
          <p:cNvSpPr>
            <a:spLocks noGrp="1"/>
          </p:cNvSpPr>
          <p:nvPr/>
        </p:nvSpPr>
        <p:spPr>
          <a:xfrm>
            <a:off x="438150" y="4075112"/>
            <a:ext cx="733425"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当前阶段</a:t>
            </a:r>
          </a:p>
        </p:txBody>
      </p:sp>
      <p:sp>
        <p:nvSpPr>
          <p:cNvPr id="117" name="s18-cuda-c2-number"/>
          <p:cNvSpPr>
            <a:spLocks noGrp="1"/>
          </p:cNvSpPr>
          <p:nvPr/>
        </p:nvSpPr>
        <p:spPr>
          <a:xfrm>
            <a:off x="1323975"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2</a:t>
            </a:r>
          </a:p>
        </p:txBody>
      </p:sp>
      <p:sp>
        <p:nvSpPr>
          <p:cNvPr id="118" name="s18-cuda-c2-title"/>
          <p:cNvSpPr>
            <a:spLocks noGrp="1"/>
          </p:cNvSpPr>
          <p:nvPr/>
        </p:nvSpPr>
        <p:spPr>
          <a:xfrm>
            <a:off x="1571625" y="4075112"/>
            <a:ext cx="144780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已完成</a:t>
            </a:r>
          </a:p>
        </p:txBody>
      </p:sp>
      <p:sp>
        <p:nvSpPr>
          <p:cNvPr id="119" name="s18-cuda-c3-number"/>
          <p:cNvSpPr>
            <a:spLocks noGrp="1"/>
          </p:cNvSpPr>
          <p:nvPr/>
        </p:nvSpPr>
        <p:spPr>
          <a:xfrm>
            <a:off x="3181350"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3</a:t>
            </a:r>
          </a:p>
        </p:txBody>
      </p:sp>
      <p:sp>
        <p:nvSpPr>
          <p:cNvPr id="120" name="s18-cuda-c3-title"/>
          <p:cNvSpPr>
            <a:spLocks noGrp="1"/>
          </p:cNvSpPr>
          <p:nvPr/>
        </p:nvSpPr>
        <p:spPr>
          <a:xfrm>
            <a:off x="3429000" y="4075112"/>
            <a:ext cx="9715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验证程度</a:t>
            </a:r>
          </a:p>
        </p:txBody>
      </p:sp>
      <p:sp>
        <p:nvSpPr>
          <p:cNvPr id="121" name="s18-cuda-c4-number"/>
          <p:cNvSpPr>
            <a:spLocks noGrp="1"/>
          </p:cNvSpPr>
          <p:nvPr/>
        </p:nvSpPr>
        <p:spPr>
          <a:xfrm>
            <a:off x="4562475"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4</a:t>
            </a:r>
          </a:p>
        </p:txBody>
      </p:sp>
      <p:sp>
        <p:nvSpPr>
          <p:cNvPr id="122" name="s18-cuda-c4-title"/>
          <p:cNvSpPr>
            <a:spLocks noGrp="1"/>
          </p:cNvSpPr>
          <p:nvPr/>
        </p:nvSpPr>
        <p:spPr>
          <a:xfrm>
            <a:off x="4810125" y="4075112"/>
            <a:ext cx="91440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下一步</a:t>
            </a:r>
          </a:p>
        </p:txBody>
      </p:sp>
      <p:sp>
        <p:nvSpPr>
          <p:cNvPr id="123" name="s18-cuda-stage"/>
          <p:cNvSpPr>
            <a:spLocks noGrp="1"/>
          </p:cNvSpPr>
          <p:nvPr/>
        </p:nvSpPr>
        <p:spPr>
          <a:xfrm>
            <a:off x="190500" y="4351337"/>
            <a:ext cx="962025" cy="304800"/>
          </a:xfrm>
          <a:prstGeom prst="rect">
            <a:avLst/>
          </a:prstGeom>
          <a:noFill/>
          <a:ln w="0">
            <a:noFill/>
            <a:prstDash val="solid"/>
          </a:ln>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smtClean="0">
                <a:solidFill>
                  <a:srgbClr val="24344D"/>
                </a:solidFill>
                <a:latin typeface="微软雅黑" panose="020B0503020204020204" charset="-122"/>
                <a:ea typeface="微软雅黑" panose="020B0503020204020204" charset="-122"/>
                <a:cs typeface="微软雅黑" panose="020B0503020204020204" charset="-122"/>
              </a:rPr>
              <a:t>基础框架完成</a:t>
            </a:r>
            <a:endParaRPr sz="865" b="1" dirty="0">
              <a:solidFill>
                <a:srgbClr val="24344D"/>
              </a:solidFill>
              <a:latin typeface="微软雅黑" panose="020B0503020204020204" charset="-122"/>
              <a:ea typeface="微软雅黑" panose="020B0503020204020204" charset="-122"/>
              <a:cs typeface="微软雅黑" panose="020B0503020204020204" charset="-122"/>
            </a:endParaRPr>
          </a:p>
        </p:txBody>
      </p:sp>
      <p:sp>
        <p:nvSpPr>
          <p:cNvPr id="124" name="s18-cuda-done-1-symbol"/>
          <p:cNvSpPr>
            <a:spLocks noGrp="1"/>
          </p:cNvSpPr>
          <p:nvPr/>
        </p:nvSpPr>
        <p:spPr>
          <a:xfrm>
            <a:off x="1343025" y="4341812"/>
            <a:ext cx="133350" cy="200025"/>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25" name="s18-cuda-done-1-text"/>
          <p:cNvSpPr>
            <a:spLocks noGrp="1"/>
          </p:cNvSpPr>
          <p:nvPr/>
        </p:nvSpPr>
        <p:spPr>
          <a:xfrm>
            <a:off x="1504950" y="4341812"/>
            <a:ext cx="1543050" cy="200025"/>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CUDA 算子开发 Skill 基础版本</a:t>
            </a:r>
          </a:p>
        </p:txBody>
      </p:sp>
      <p:sp>
        <p:nvSpPr>
          <p:cNvPr id="126" name="s18-cuda-done-2-symbol"/>
          <p:cNvSpPr>
            <a:spLocks noGrp="1"/>
          </p:cNvSpPr>
          <p:nvPr/>
        </p:nvSpPr>
        <p:spPr>
          <a:xfrm>
            <a:off x="1343025" y="455136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27" name="s18-cuda-done-2-text"/>
          <p:cNvSpPr>
            <a:spLocks noGrp="1"/>
          </p:cNvSpPr>
          <p:nvPr/>
        </p:nvSpPr>
        <p:spPr>
          <a:xfrm>
            <a:off x="1504950" y="4551362"/>
            <a:ext cx="1543050" cy="190500"/>
          </a:xfrm>
          <a:prstGeom prst="rect">
            <a:avLst/>
          </a:prstGeom>
          <a:noFill/>
          <a:ln w="0">
            <a:noFill/>
            <a:prstDash val="solid"/>
          </a:ln>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基础 Workflow</a:t>
            </a:r>
          </a:p>
        </p:txBody>
      </p:sp>
      <p:sp>
        <p:nvSpPr>
          <p:cNvPr id="128" name="s18-cuda-done-3-symbol"/>
          <p:cNvSpPr>
            <a:spLocks noGrp="1"/>
          </p:cNvSpPr>
          <p:nvPr/>
        </p:nvSpPr>
        <p:spPr>
          <a:xfrm>
            <a:off x="1343025" y="4760912"/>
            <a:ext cx="133350" cy="20955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29" name="s18-cuda-done-3-text"/>
          <p:cNvSpPr>
            <a:spLocks noGrp="1"/>
          </p:cNvSpPr>
          <p:nvPr/>
        </p:nvSpPr>
        <p:spPr>
          <a:xfrm>
            <a:off x="1504950" y="4760912"/>
            <a:ext cx="1543050" cy="209550"/>
          </a:xfrm>
          <a:prstGeom prst="rect">
            <a:avLst/>
          </a:prstGeom>
          <a:noFill/>
          <a:ln w="0">
            <a:noFill/>
            <a:prstDash val="solid"/>
          </a:ln>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4344D"/>
                </a:solidFill>
                <a:latin typeface="微软雅黑" panose="020B0503020204020204" charset="-122"/>
                <a:ea typeface="微软雅黑" panose="020B0503020204020204" charset="-122"/>
                <a:cs typeface="微软雅黑" panose="020B0503020204020204" charset="-122"/>
              </a:rPr>
              <a:t>CUDA 平台开发规则 / 工具链框架</a:t>
            </a:r>
          </a:p>
        </p:txBody>
      </p:sp>
      <p:sp>
        <p:nvSpPr>
          <p:cNvPr id="130" name="s18-cuda-done-4-symbol"/>
          <p:cNvSpPr>
            <a:spLocks noGrp="1"/>
          </p:cNvSpPr>
          <p:nvPr/>
        </p:nvSpPr>
        <p:spPr>
          <a:xfrm>
            <a:off x="1343025" y="4989512"/>
            <a:ext cx="133350" cy="20955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31" name="s18-cuda-done-4-text"/>
          <p:cNvSpPr>
            <a:spLocks noGrp="1"/>
          </p:cNvSpPr>
          <p:nvPr/>
        </p:nvSpPr>
        <p:spPr>
          <a:xfrm>
            <a:off x="1504950" y="4989512"/>
            <a:ext cx="1543050" cy="209550"/>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环境和开发提示信息已整理</a:t>
            </a:r>
          </a:p>
        </p:txBody>
      </p:sp>
      <p:sp>
        <p:nvSpPr>
          <p:cNvPr id="132" name="s18-cuda-val-1-symbol"/>
          <p:cNvSpPr>
            <a:spLocks noGrp="1"/>
          </p:cNvSpPr>
          <p:nvPr/>
        </p:nvSpPr>
        <p:spPr>
          <a:xfrm>
            <a:off x="3200400" y="43418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33" name="s18-cuda-val-1-text"/>
          <p:cNvSpPr>
            <a:spLocks noGrp="1"/>
          </p:cNvSpPr>
          <p:nvPr/>
        </p:nvSpPr>
        <p:spPr>
          <a:xfrm>
            <a:off x="3362325" y="4341812"/>
            <a:ext cx="1038225" cy="190500"/>
          </a:xfrm>
          <a:prstGeom prst="rect">
            <a:avLst/>
          </a:prstGeom>
          <a:noFill/>
          <a:ln w="0">
            <a:noFill/>
            <a:prstDash val="solid"/>
          </a:ln>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4344D"/>
                </a:solidFill>
                <a:latin typeface="微软雅黑" panose="020B0503020204020204" charset="-122"/>
                <a:ea typeface="微软雅黑" panose="020B0503020204020204" charset="-122"/>
                <a:cs typeface="微软雅黑" panose="020B0503020204020204" charset="-122"/>
              </a:rPr>
              <a:t>Skill 框架  ✓</a:t>
            </a:r>
          </a:p>
        </p:txBody>
      </p:sp>
      <p:sp>
        <p:nvSpPr>
          <p:cNvPr id="134" name="s18-cuda-val-2-symbol"/>
          <p:cNvSpPr>
            <a:spLocks noGrp="1"/>
          </p:cNvSpPr>
          <p:nvPr/>
        </p:nvSpPr>
        <p:spPr>
          <a:xfrm>
            <a:off x="3200400" y="4551362"/>
            <a:ext cx="133350" cy="19050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35" name="s18-cuda-val-2-text"/>
          <p:cNvSpPr>
            <a:spLocks noGrp="1"/>
          </p:cNvSpPr>
          <p:nvPr/>
        </p:nvSpPr>
        <p:spPr>
          <a:xfrm>
            <a:off x="3362325" y="4551362"/>
            <a:ext cx="103822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平台知识  初版</a:t>
            </a:r>
          </a:p>
        </p:txBody>
      </p:sp>
      <p:sp>
        <p:nvSpPr>
          <p:cNvPr id="136" name="s18-cuda-val-3-symbol"/>
          <p:cNvSpPr>
            <a:spLocks noGrp="1"/>
          </p:cNvSpPr>
          <p:nvPr/>
        </p:nvSpPr>
        <p:spPr>
          <a:xfrm>
            <a:off x="3200400" y="4760912"/>
            <a:ext cx="133350" cy="209550"/>
          </a:xfrm>
          <a:prstGeom prst="rect">
            <a:avLst/>
          </a:prstGeom>
          <a:noFill/>
          <a:ln w="0">
            <a:noFill/>
            <a:prstDash val="solid"/>
          </a:ln>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F07818"/>
                </a:solidFill>
                <a:latin typeface="微软雅黑" panose="020B0503020204020204" charset="-122"/>
                <a:ea typeface="微软雅黑" panose="020B0503020204020204" charset="-122"/>
                <a:cs typeface="微软雅黑" panose="020B0503020204020204" charset="-122"/>
              </a:rPr>
              <a:t>△</a:t>
            </a:r>
          </a:p>
        </p:txBody>
      </p:sp>
      <p:sp>
        <p:nvSpPr>
          <p:cNvPr id="137" name="s18-cuda-val-3-text"/>
          <p:cNvSpPr>
            <a:spLocks noGrp="1"/>
          </p:cNvSpPr>
          <p:nvPr/>
        </p:nvSpPr>
        <p:spPr>
          <a:xfrm>
            <a:off x="3362325" y="4760912"/>
            <a:ext cx="1038225" cy="209550"/>
          </a:xfrm>
          <a:prstGeom prst="rect">
            <a:avLst/>
          </a:prstGeom>
          <a:noFill/>
          <a:ln w="0">
            <a:noFill/>
            <a:prstDash val="solid"/>
          </a:ln>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4344D"/>
                </a:solidFill>
                <a:latin typeface="微软雅黑" panose="020B0503020204020204" charset="-122"/>
                <a:ea typeface="微软雅黑" panose="020B0503020204020204" charset="-122"/>
                <a:cs typeface="微软雅黑" panose="020B0503020204020204" charset="-122"/>
              </a:rPr>
              <a:t>真实算子  待系统验证</a:t>
            </a:r>
          </a:p>
        </p:txBody>
      </p:sp>
      <p:sp>
        <p:nvSpPr>
          <p:cNvPr id="138" name="s18-cuda-val-4-symbol"/>
          <p:cNvSpPr>
            <a:spLocks noGrp="1"/>
          </p:cNvSpPr>
          <p:nvPr/>
        </p:nvSpPr>
        <p:spPr>
          <a:xfrm>
            <a:off x="3200400" y="4989512"/>
            <a:ext cx="133350" cy="190500"/>
          </a:xfrm>
          <a:prstGeom prst="rect">
            <a:avLst/>
          </a:prstGeom>
          <a:noFill/>
          <a:ln w="0">
            <a:noFill/>
            <a:prstDash val="solid"/>
          </a:ln>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F07818"/>
                </a:solidFill>
                <a:latin typeface="微软雅黑" panose="020B0503020204020204" charset="-122"/>
                <a:ea typeface="微软雅黑" panose="020B0503020204020204" charset="-122"/>
                <a:cs typeface="微软雅黑" panose="020B0503020204020204" charset="-122"/>
              </a:rPr>
              <a:t>△</a:t>
            </a:r>
          </a:p>
        </p:txBody>
      </p:sp>
      <p:sp>
        <p:nvSpPr>
          <p:cNvPr id="139" name="s18-cuda-val-4-text"/>
          <p:cNvSpPr>
            <a:spLocks noGrp="1"/>
          </p:cNvSpPr>
          <p:nvPr/>
        </p:nvSpPr>
        <p:spPr>
          <a:xfrm>
            <a:off x="3362325" y="4989512"/>
            <a:ext cx="103822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性能评价  待补</a:t>
            </a:r>
          </a:p>
        </p:txBody>
      </p:sp>
      <p:sp>
        <p:nvSpPr>
          <p:cNvPr id="140" name="s18-cuda-next-1-symbol"/>
          <p:cNvSpPr>
            <a:spLocks noGrp="1"/>
          </p:cNvSpPr>
          <p:nvPr/>
        </p:nvSpPr>
        <p:spPr>
          <a:xfrm>
            <a:off x="4581525" y="4341812"/>
            <a:ext cx="133350" cy="19050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41" name="s18-cuda-next-1-text"/>
          <p:cNvSpPr>
            <a:spLocks noGrp="1"/>
          </p:cNvSpPr>
          <p:nvPr/>
        </p:nvSpPr>
        <p:spPr>
          <a:xfrm>
            <a:off x="4743450" y="4341812"/>
            <a:ext cx="971550"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4344D"/>
                </a:solidFill>
                <a:latin typeface="微软雅黑" panose="020B0503020204020204" charset="-122"/>
                <a:ea typeface="微软雅黑" panose="020B0503020204020204" charset="-122"/>
                <a:cs typeface="微软雅黑" panose="020B0503020204020204" charset="-122"/>
              </a:rPr>
              <a:t>统一环境验证</a:t>
            </a:r>
          </a:p>
        </p:txBody>
      </p:sp>
      <p:sp>
        <p:nvSpPr>
          <p:cNvPr id="142" name="s18-cuda-next-2-symbol"/>
          <p:cNvSpPr>
            <a:spLocks noGrp="1"/>
          </p:cNvSpPr>
          <p:nvPr/>
        </p:nvSpPr>
        <p:spPr>
          <a:xfrm>
            <a:off x="4581525" y="4541837"/>
            <a:ext cx="133350" cy="32385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43" name="s18-cuda-next-2-text"/>
          <p:cNvSpPr>
            <a:spLocks noGrp="1"/>
          </p:cNvSpPr>
          <p:nvPr/>
        </p:nvSpPr>
        <p:spPr>
          <a:xfrm>
            <a:off x="4743450" y="4541837"/>
            <a:ext cx="971550" cy="323850"/>
          </a:xfrm>
          <a:prstGeom prst="rect">
            <a:avLst/>
          </a:prstGeom>
          <a:noFill/>
          <a:ln w="0">
            <a:noFill/>
            <a:prstDash val="solid"/>
          </a:ln>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4344D"/>
                </a:solidFill>
                <a:latin typeface="微软雅黑" panose="020B0503020204020204" charset="-122"/>
                <a:ea typeface="微软雅黑" panose="020B0503020204020204" charset="-122"/>
                <a:cs typeface="微软雅黑" panose="020B0503020204020204" charset="-122"/>
              </a:rPr>
              <a:t>LayerNorm / Softmax </a:t>
            </a: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4344D"/>
                </a:solidFill>
                <a:latin typeface="微软雅黑" panose="020B0503020204020204" charset="-122"/>
                <a:ea typeface="微软雅黑" panose="020B0503020204020204" charset="-122"/>
                <a:cs typeface="微软雅黑" panose="020B0503020204020204" charset="-122"/>
              </a:rPr>
              <a:t>MatMul 实测</a:t>
            </a:r>
          </a:p>
        </p:txBody>
      </p:sp>
      <p:sp>
        <p:nvSpPr>
          <p:cNvPr id="144" name="s18-cuda-next-3-symbol"/>
          <p:cNvSpPr>
            <a:spLocks noGrp="1"/>
          </p:cNvSpPr>
          <p:nvPr/>
        </p:nvSpPr>
        <p:spPr>
          <a:xfrm>
            <a:off x="4581525" y="4875212"/>
            <a:ext cx="133350" cy="32385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45" name="s18-cuda-next-3-text"/>
          <p:cNvSpPr>
            <a:spLocks noGrp="1"/>
          </p:cNvSpPr>
          <p:nvPr/>
        </p:nvSpPr>
        <p:spPr>
          <a:xfrm>
            <a:off x="4762500" y="4836477"/>
            <a:ext cx="971550" cy="323850"/>
          </a:xfrm>
          <a:prstGeom prst="rect">
            <a:avLst/>
          </a:prstGeom>
          <a:noFill/>
          <a:ln w="0">
            <a:noFill/>
            <a:prstDash val="solid"/>
          </a:ln>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4344D"/>
                </a:solidFill>
                <a:latin typeface="微软雅黑" panose="020B0503020204020204" charset="-122"/>
                <a:ea typeface="微软雅黑" panose="020B0503020204020204" charset="-122"/>
                <a:cs typeface="微软雅黑" panose="020B0503020204020204" charset="-122"/>
              </a:rPr>
              <a:t>补齐 Nsight / Profiling</a:t>
            </a:r>
          </a:p>
        </p:txBody>
      </p:sp>
      <p:sp>
        <p:nvSpPr>
          <p:cNvPr id="146" name="s18-cuda-next-4-symbol"/>
          <p:cNvSpPr>
            <a:spLocks noGrp="1"/>
          </p:cNvSpPr>
          <p:nvPr/>
        </p:nvSpPr>
        <p:spPr>
          <a:xfrm>
            <a:off x="4581525" y="5199062"/>
            <a:ext cx="133350" cy="15240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47" name="s18-cuda-next-4-text"/>
          <p:cNvSpPr>
            <a:spLocks noGrp="1"/>
          </p:cNvSpPr>
          <p:nvPr/>
        </p:nvSpPr>
        <p:spPr>
          <a:xfrm>
            <a:off x="4742815" y="5160962"/>
            <a:ext cx="1372870" cy="209550"/>
          </a:xfrm>
          <a:prstGeom prst="rect">
            <a:avLst/>
          </a:prstGeom>
          <a:noFill/>
          <a:ln w="0">
            <a:noFill/>
            <a:prstDash val="solid"/>
          </a:ln>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4344D"/>
                </a:solidFill>
                <a:latin typeface="微软雅黑" panose="020B0503020204020204" charset="-122"/>
                <a:ea typeface="微软雅黑" panose="020B0503020204020204" charset="-122"/>
                <a:cs typeface="微软雅黑" panose="020B0503020204020204" charset="-122"/>
              </a:rPr>
              <a:t>形成 CUDA Platform Knowledge</a:t>
            </a:r>
          </a:p>
        </p:txBody>
      </p:sp>
      <p:sp>
        <p:nvSpPr>
          <p:cNvPr id="148" name="s18-gpu-frame"/>
          <p:cNvSpPr>
            <a:spLocks noGrp="1"/>
          </p:cNvSpPr>
          <p:nvPr/>
        </p:nvSpPr>
        <p:spPr>
          <a:xfrm>
            <a:off x="5943600" y="3513137"/>
            <a:ext cx="6038850" cy="1905000"/>
          </a:xfrm>
          <a:prstGeom prst="roundRect">
            <a:avLst>
              <a:gd name="adj" fmla="val 4000"/>
            </a:avLst>
          </a:prstGeom>
          <a:solidFill>
            <a:srgbClr val="FFFFFF"/>
          </a:solidFill>
          <a:ln w="11430">
            <a:solidFill>
              <a:srgbClr val="0F9ED5"/>
            </a:solidFill>
            <a:prstDash val="solid"/>
          </a:ln>
        </p:spPr>
      </p:sp>
      <p:sp>
        <p:nvSpPr>
          <p:cNvPr id="149" name="s18-gpu-header-fill"/>
          <p:cNvSpPr>
            <a:spLocks noGrp="1"/>
          </p:cNvSpPr>
          <p:nvPr/>
        </p:nvSpPr>
        <p:spPr>
          <a:xfrm>
            <a:off x="5953125" y="3522662"/>
            <a:ext cx="6019800" cy="495300"/>
          </a:xfrm>
          <a:prstGeom prst="rect">
            <a:avLst/>
          </a:prstGeom>
          <a:solidFill>
            <a:srgbClr val="FFFFFF"/>
          </a:solidFill>
          <a:ln w="0">
            <a:solidFill>
              <a:srgbClr val="FFFFFF"/>
            </a:solidFill>
            <a:prstDash val="solid"/>
          </a:ln>
        </p:spPr>
      </p:sp>
      <p:sp>
        <p:nvSpPr>
          <p:cNvPr id="150" name="s18-gpu-body-fill"/>
          <p:cNvSpPr>
            <a:spLocks noGrp="1"/>
          </p:cNvSpPr>
          <p:nvPr/>
        </p:nvSpPr>
        <p:spPr>
          <a:xfrm>
            <a:off x="5953125" y="4017962"/>
            <a:ext cx="6019800" cy="1390650"/>
          </a:xfrm>
          <a:prstGeom prst="rect">
            <a:avLst/>
          </a:prstGeom>
          <a:solidFill>
            <a:srgbClr val="FFFFFF"/>
          </a:solidFill>
          <a:ln w="0">
            <a:solidFill>
              <a:srgbClr val="FFFFFF"/>
            </a:solidFill>
            <a:prstDash val="solid"/>
          </a:ln>
        </p:spPr>
      </p:sp>
      <p:sp>
        <p:nvSpPr>
          <p:cNvPr id="151" name="s18-gpu-header-rule"/>
          <p:cNvSpPr>
            <a:spLocks noGrp="1"/>
          </p:cNvSpPr>
          <p:nvPr/>
        </p:nvSpPr>
        <p:spPr>
          <a:xfrm>
            <a:off x="5953125" y="4008437"/>
            <a:ext cx="6019800" cy="9525"/>
          </a:xfrm>
          <a:prstGeom prst="rect">
            <a:avLst/>
          </a:prstGeom>
          <a:solidFill>
            <a:srgbClr val="0F9ED5"/>
          </a:solidFill>
          <a:ln w="0">
            <a:solidFill>
              <a:srgbClr val="0F9ED5"/>
            </a:solidFill>
            <a:prstDash val="solid"/>
          </a:ln>
        </p:spPr>
      </p:sp>
      <p:sp>
        <p:nvSpPr>
          <p:cNvPr id="152" name="s18-gpu-title"/>
          <p:cNvSpPr>
            <a:spLocks noGrp="1"/>
          </p:cNvSpPr>
          <p:nvPr/>
        </p:nvSpPr>
        <p:spPr>
          <a:xfrm>
            <a:off x="6019800" y="3541712"/>
            <a:ext cx="5886450" cy="295275"/>
          </a:xfrm>
          <a:prstGeom prst="rect">
            <a:avLst/>
          </a:prstGeom>
          <a:noFill/>
          <a:ln w="0">
            <a:noFill/>
            <a:prstDash val="solid"/>
          </a:ln>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1457C5"/>
                </a:solidFill>
                <a:latin typeface="Calibri" panose="020F0502020204030204"/>
                <a:ea typeface="Calibri" panose="020F0502020204030204"/>
                <a:cs typeface="Calibri" panose="020F0502020204030204"/>
              </a:rPr>
              <a:t>GPU Triton</a:t>
            </a:r>
          </a:p>
        </p:txBody>
      </p:sp>
      <p:sp>
        <p:nvSpPr>
          <p:cNvPr id="154" name="s18-gpu-divider-1"/>
          <p:cNvSpPr>
            <a:spLocks noGrp="1"/>
          </p:cNvSpPr>
          <p:nvPr/>
        </p:nvSpPr>
        <p:spPr>
          <a:xfrm>
            <a:off x="7048500" y="4084637"/>
            <a:ext cx="9525" cy="1257300"/>
          </a:xfrm>
          <a:prstGeom prst="rect">
            <a:avLst/>
          </a:prstGeom>
          <a:solidFill>
            <a:srgbClr val="C9D8EC"/>
          </a:solidFill>
          <a:ln w="0">
            <a:solidFill>
              <a:srgbClr val="C9D8EC"/>
            </a:solidFill>
            <a:prstDash val="solid"/>
          </a:ln>
        </p:spPr>
      </p:sp>
      <p:sp>
        <p:nvSpPr>
          <p:cNvPr id="155" name="s18-gpu-divider-2"/>
          <p:cNvSpPr>
            <a:spLocks noGrp="1"/>
          </p:cNvSpPr>
          <p:nvPr/>
        </p:nvSpPr>
        <p:spPr>
          <a:xfrm>
            <a:off x="8924925" y="4084637"/>
            <a:ext cx="9525" cy="1257300"/>
          </a:xfrm>
          <a:prstGeom prst="rect">
            <a:avLst/>
          </a:prstGeom>
          <a:solidFill>
            <a:srgbClr val="C9D8EC"/>
          </a:solidFill>
          <a:ln w="0">
            <a:solidFill>
              <a:srgbClr val="C9D8EC"/>
            </a:solidFill>
            <a:prstDash val="solid"/>
          </a:ln>
        </p:spPr>
      </p:sp>
      <p:sp>
        <p:nvSpPr>
          <p:cNvPr id="156" name="s18-gpu-divider-3"/>
          <p:cNvSpPr>
            <a:spLocks noGrp="1"/>
          </p:cNvSpPr>
          <p:nvPr/>
        </p:nvSpPr>
        <p:spPr>
          <a:xfrm>
            <a:off x="10382250" y="4084637"/>
            <a:ext cx="9525" cy="1257300"/>
          </a:xfrm>
          <a:prstGeom prst="rect">
            <a:avLst/>
          </a:prstGeom>
          <a:solidFill>
            <a:srgbClr val="C9D8EC"/>
          </a:solidFill>
          <a:ln w="0">
            <a:solidFill>
              <a:srgbClr val="C9D8EC"/>
            </a:solidFill>
            <a:prstDash val="solid"/>
          </a:ln>
        </p:spPr>
      </p:sp>
      <p:sp>
        <p:nvSpPr>
          <p:cNvPr id="157" name="s18-gpu-c1-number"/>
          <p:cNvSpPr>
            <a:spLocks noGrp="1"/>
          </p:cNvSpPr>
          <p:nvPr/>
        </p:nvSpPr>
        <p:spPr>
          <a:xfrm>
            <a:off x="6038850"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1</a:t>
            </a:r>
          </a:p>
        </p:txBody>
      </p:sp>
      <p:sp>
        <p:nvSpPr>
          <p:cNvPr id="158" name="s18-gpu-c1-title"/>
          <p:cNvSpPr>
            <a:spLocks noGrp="1"/>
          </p:cNvSpPr>
          <p:nvPr/>
        </p:nvSpPr>
        <p:spPr>
          <a:xfrm>
            <a:off x="6286500" y="4075112"/>
            <a:ext cx="7048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当前阶段</a:t>
            </a:r>
          </a:p>
        </p:txBody>
      </p:sp>
      <p:sp>
        <p:nvSpPr>
          <p:cNvPr id="159" name="s18-gpu-c2-number"/>
          <p:cNvSpPr>
            <a:spLocks noGrp="1"/>
          </p:cNvSpPr>
          <p:nvPr/>
        </p:nvSpPr>
        <p:spPr>
          <a:xfrm>
            <a:off x="7143750"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2</a:t>
            </a:r>
          </a:p>
        </p:txBody>
      </p:sp>
      <p:sp>
        <p:nvSpPr>
          <p:cNvPr id="160" name="s18-gpu-c2-title"/>
          <p:cNvSpPr>
            <a:spLocks noGrp="1"/>
          </p:cNvSpPr>
          <p:nvPr/>
        </p:nvSpPr>
        <p:spPr>
          <a:xfrm>
            <a:off x="7391400" y="4075112"/>
            <a:ext cx="14668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已完成</a:t>
            </a:r>
          </a:p>
        </p:txBody>
      </p:sp>
      <p:sp>
        <p:nvSpPr>
          <p:cNvPr id="161" name="s18-gpu-c3-number"/>
          <p:cNvSpPr>
            <a:spLocks noGrp="1"/>
          </p:cNvSpPr>
          <p:nvPr/>
        </p:nvSpPr>
        <p:spPr>
          <a:xfrm>
            <a:off x="9020175"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3</a:t>
            </a:r>
          </a:p>
        </p:txBody>
      </p:sp>
      <p:sp>
        <p:nvSpPr>
          <p:cNvPr id="162" name="s18-gpu-c3-title"/>
          <p:cNvSpPr>
            <a:spLocks noGrp="1"/>
          </p:cNvSpPr>
          <p:nvPr/>
        </p:nvSpPr>
        <p:spPr>
          <a:xfrm>
            <a:off x="9267825" y="4075112"/>
            <a:ext cx="104775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验证程度</a:t>
            </a:r>
          </a:p>
        </p:txBody>
      </p:sp>
      <p:sp>
        <p:nvSpPr>
          <p:cNvPr id="163" name="s18-gpu-c4-number"/>
          <p:cNvSpPr>
            <a:spLocks noGrp="1"/>
          </p:cNvSpPr>
          <p:nvPr/>
        </p:nvSpPr>
        <p:spPr>
          <a:xfrm>
            <a:off x="10477500" y="4084637"/>
            <a:ext cx="200025" cy="200025"/>
          </a:xfrm>
          <a:prstGeom prst="roundRect">
            <a:avLst>
              <a:gd name="adj" fmla="val 47619"/>
            </a:avLst>
          </a:prstGeom>
          <a:solidFill>
            <a:srgbClr val="0E56C9"/>
          </a:solidFill>
          <a:ln w="0">
            <a:solidFill>
              <a:srgbClr val="0E56C9"/>
            </a:solidFill>
            <a:prstDash val="solid"/>
          </a:ln>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Calibri" panose="020F0502020204030204"/>
                <a:ea typeface="Calibri" panose="020F0502020204030204"/>
                <a:cs typeface="Calibri" panose="020F0502020204030204"/>
              </a:rPr>
              <a:t>4</a:t>
            </a:r>
          </a:p>
        </p:txBody>
      </p:sp>
      <p:sp>
        <p:nvSpPr>
          <p:cNvPr id="164" name="s18-gpu-c4-title"/>
          <p:cNvSpPr>
            <a:spLocks noGrp="1"/>
          </p:cNvSpPr>
          <p:nvPr/>
        </p:nvSpPr>
        <p:spPr>
          <a:xfrm>
            <a:off x="10725150" y="4075112"/>
            <a:ext cx="1143000" cy="219075"/>
          </a:xfrm>
          <a:prstGeom prst="rect">
            <a:avLst/>
          </a:prstGeom>
          <a:noFill/>
          <a:ln w="0">
            <a:noFill/>
            <a:prstDash val="solid"/>
          </a:ln>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0E56C9"/>
                </a:solidFill>
                <a:latin typeface="微软雅黑" panose="020B0503020204020204" charset="-122"/>
                <a:ea typeface="微软雅黑" panose="020B0503020204020204" charset="-122"/>
                <a:cs typeface="微软雅黑" panose="020B0503020204020204" charset="-122"/>
              </a:rPr>
              <a:t>下一步</a:t>
            </a:r>
          </a:p>
        </p:txBody>
      </p:sp>
      <p:sp>
        <p:nvSpPr>
          <p:cNvPr id="165" name="s18-gpu-stage"/>
          <p:cNvSpPr>
            <a:spLocks noGrp="1"/>
          </p:cNvSpPr>
          <p:nvPr/>
        </p:nvSpPr>
        <p:spPr>
          <a:xfrm>
            <a:off x="6038850" y="4341812"/>
            <a:ext cx="942975" cy="666750"/>
          </a:xfrm>
          <a:prstGeom prst="rect">
            <a:avLst/>
          </a:prstGeom>
          <a:noFill/>
          <a:ln w="0">
            <a:noFill/>
            <a:prstDash val="solid"/>
          </a:ln>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4344D"/>
                </a:solidFill>
                <a:latin typeface="微软雅黑" panose="020B0503020204020204" charset="-122"/>
                <a:ea typeface="微软雅黑" panose="020B0503020204020204" charset="-122"/>
                <a:cs typeface="微软雅黑" panose="020B0503020204020204" charset="-122"/>
              </a:rPr>
              <a:t>基础框架完成</a:t>
            </a:r>
            <a:endParaRPr lang="zh-CN" altLang="en-US" sz="865" b="1" dirty="0">
              <a:solidFill>
                <a:srgbClr val="24344D"/>
              </a:solidFill>
              <a:latin typeface="微软雅黑" panose="020B0503020204020204" charset="-122"/>
              <a:ea typeface="微软雅黑" panose="020B0503020204020204" charset="-122"/>
              <a:cs typeface="微软雅黑" panose="020B0503020204020204" charset="-122"/>
            </a:endParaRPr>
          </a:p>
        </p:txBody>
      </p:sp>
      <p:sp>
        <p:nvSpPr>
          <p:cNvPr id="166" name="s18-gpu-done-1-symbol"/>
          <p:cNvSpPr>
            <a:spLocks noGrp="1"/>
          </p:cNvSpPr>
          <p:nvPr/>
        </p:nvSpPr>
        <p:spPr>
          <a:xfrm>
            <a:off x="7162800" y="43418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67" name="s18-gpu-done-1-text"/>
          <p:cNvSpPr>
            <a:spLocks noGrp="1"/>
          </p:cNvSpPr>
          <p:nvPr/>
        </p:nvSpPr>
        <p:spPr>
          <a:xfrm>
            <a:off x="7324725" y="4341812"/>
            <a:ext cx="155257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GPU 环境信息采集</a:t>
            </a:r>
          </a:p>
        </p:txBody>
      </p:sp>
      <p:sp>
        <p:nvSpPr>
          <p:cNvPr id="168" name="s18-gpu-done-2-symbol"/>
          <p:cNvSpPr>
            <a:spLocks noGrp="1"/>
          </p:cNvSpPr>
          <p:nvPr/>
        </p:nvSpPr>
        <p:spPr>
          <a:xfrm>
            <a:off x="7162800" y="455136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69" name="s18-gpu-done-2-text"/>
          <p:cNvSpPr>
            <a:spLocks noGrp="1"/>
          </p:cNvSpPr>
          <p:nvPr/>
        </p:nvSpPr>
        <p:spPr>
          <a:xfrm>
            <a:off x="7324725" y="4551362"/>
            <a:ext cx="155257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基础迁移框架</a:t>
            </a:r>
          </a:p>
        </p:txBody>
      </p:sp>
      <p:sp>
        <p:nvSpPr>
          <p:cNvPr id="170" name="s18-gpu-done-3-symbol"/>
          <p:cNvSpPr>
            <a:spLocks noGrp="1"/>
          </p:cNvSpPr>
          <p:nvPr/>
        </p:nvSpPr>
        <p:spPr>
          <a:xfrm>
            <a:off x="7162800" y="4760912"/>
            <a:ext cx="133350" cy="28575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71" name="s18-gpu-done-3-text"/>
          <p:cNvSpPr>
            <a:spLocks noGrp="1"/>
          </p:cNvSpPr>
          <p:nvPr/>
        </p:nvSpPr>
        <p:spPr>
          <a:xfrm>
            <a:off x="7324725" y="4760912"/>
            <a:ext cx="1552575" cy="285750"/>
          </a:xfrm>
          <a:prstGeom prst="rect">
            <a:avLst/>
          </a:prstGeom>
          <a:noFill/>
          <a:ln w="0">
            <a:noFill/>
            <a:prstDash val="solid"/>
          </a:ln>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4344D"/>
                </a:solidFill>
                <a:latin typeface="微软雅黑" panose="020B0503020204020204" charset="-122"/>
                <a:ea typeface="微软雅黑" panose="020B0503020204020204" charset="-122"/>
                <a:cs typeface="微软雅黑" panose="020B0503020204020204" charset="-122"/>
              </a:rPr>
              <a:t>GPU 平台 Shared / Knowledge 初步整理</a:t>
            </a:r>
          </a:p>
        </p:txBody>
      </p:sp>
      <p:sp>
        <p:nvSpPr>
          <p:cNvPr id="172" name="s18-gpu-done-4-symbol"/>
          <p:cNvSpPr>
            <a:spLocks noGrp="1"/>
          </p:cNvSpPr>
          <p:nvPr/>
        </p:nvSpPr>
        <p:spPr>
          <a:xfrm>
            <a:off x="7162800" y="5065712"/>
            <a:ext cx="133350" cy="2667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73" name="s18-gpu-done-4-text"/>
          <p:cNvSpPr>
            <a:spLocks noGrp="1"/>
          </p:cNvSpPr>
          <p:nvPr/>
        </p:nvSpPr>
        <p:spPr>
          <a:xfrm>
            <a:off x="7324725" y="5065712"/>
            <a:ext cx="1552575" cy="266700"/>
          </a:xfrm>
          <a:prstGeom prst="rect">
            <a:avLst/>
          </a:prstGeom>
          <a:noFill/>
          <a:ln w="0">
            <a:noFill/>
            <a:prstDash val="solid"/>
          </a:ln>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4344D"/>
                </a:solidFill>
                <a:latin typeface="微软雅黑" panose="020B0503020204020204" charset="-122"/>
                <a:ea typeface="微软雅黑" panose="020B0503020204020204" charset="-122"/>
                <a:cs typeface="微软雅黑" panose="020B0503020204020204" charset="-122"/>
              </a:rPr>
              <a:t>保留 Triton 算子开发主 Workflow</a:t>
            </a:r>
          </a:p>
        </p:txBody>
      </p:sp>
      <p:sp>
        <p:nvSpPr>
          <p:cNvPr id="174" name="s18-gpu-val-1-symbol"/>
          <p:cNvSpPr>
            <a:spLocks noGrp="1"/>
          </p:cNvSpPr>
          <p:nvPr/>
        </p:nvSpPr>
        <p:spPr>
          <a:xfrm>
            <a:off x="9039225" y="4341812"/>
            <a:ext cx="133350" cy="190500"/>
          </a:xfrm>
          <a:prstGeom prst="rect">
            <a:avLst/>
          </a:prstGeom>
          <a:noFill/>
          <a:ln w="0">
            <a:noFill/>
            <a:prstDash val="solid"/>
          </a:ln>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14855C"/>
                </a:solidFill>
                <a:latin typeface="微软雅黑" panose="020B0503020204020204" charset="-122"/>
                <a:ea typeface="微软雅黑" panose="020B0503020204020204" charset="-122"/>
                <a:cs typeface="微软雅黑" panose="020B0503020204020204" charset="-122"/>
              </a:rPr>
              <a:t>✓</a:t>
            </a:r>
          </a:p>
        </p:txBody>
      </p:sp>
      <p:sp>
        <p:nvSpPr>
          <p:cNvPr id="175" name="s18-gpu-val-1-text"/>
          <p:cNvSpPr>
            <a:spLocks noGrp="1"/>
          </p:cNvSpPr>
          <p:nvPr/>
        </p:nvSpPr>
        <p:spPr>
          <a:xfrm>
            <a:off x="9201150" y="4341812"/>
            <a:ext cx="1114425" cy="190500"/>
          </a:xfrm>
          <a:prstGeom prst="rect">
            <a:avLst/>
          </a:prstGeom>
          <a:noFill/>
          <a:ln w="0">
            <a:noFill/>
            <a:prstDash val="solid"/>
          </a:ln>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4344D"/>
                </a:solidFill>
                <a:latin typeface="微软雅黑" panose="020B0503020204020204" charset="-122"/>
                <a:ea typeface="微软雅黑" panose="020B0503020204020204" charset="-122"/>
                <a:cs typeface="微软雅黑" panose="020B0503020204020204" charset="-122"/>
              </a:rPr>
              <a:t>Workflow 复用  </a:t>
            </a:r>
          </a:p>
        </p:txBody>
      </p:sp>
      <p:sp>
        <p:nvSpPr>
          <p:cNvPr id="176" name="s18-gpu-val-2-symbol"/>
          <p:cNvSpPr>
            <a:spLocks noGrp="1"/>
          </p:cNvSpPr>
          <p:nvPr/>
        </p:nvSpPr>
        <p:spPr>
          <a:xfrm>
            <a:off x="9039225" y="4551362"/>
            <a:ext cx="133350" cy="190500"/>
          </a:xfrm>
          <a:prstGeom prst="rect">
            <a:avLst/>
          </a:prstGeom>
          <a:noFill/>
          <a:ln w="0">
            <a:noFill/>
            <a:prstDash val="solid"/>
          </a:ln>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0F9ED5"/>
                </a:solidFill>
                <a:latin typeface="微软雅黑" panose="020B0503020204020204" charset="-122"/>
                <a:ea typeface="微软雅黑" panose="020B0503020204020204" charset="-122"/>
                <a:cs typeface="微软雅黑" panose="020B0503020204020204" charset="-122"/>
              </a:rPr>
              <a:t>●</a:t>
            </a:r>
          </a:p>
        </p:txBody>
      </p:sp>
      <p:sp>
        <p:nvSpPr>
          <p:cNvPr id="177" name="s18-gpu-val-2-text"/>
          <p:cNvSpPr>
            <a:spLocks noGrp="1"/>
          </p:cNvSpPr>
          <p:nvPr/>
        </p:nvSpPr>
        <p:spPr>
          <a:xfrm>
            <a:off x="9201150" y="4551362"/>
            <a:ext cx="111442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环境采集  </a:t>
            </a:r>
          </a:p>
        </p:txBody>
      </p:sp>
      <p:sp>
        <p:nvSpPr>
          <p:cNvPr id="178" name="s18-gpu-val-3-symbol"/>
          <p:cNvSpPr>
            <a:spLocks noGrp="1"/>
          </p:cNvSpPr>
          <p:nvPr/>
        </p:nvSpPr>
        <p:spPr>
          <a:xfrm>
            <a:off x="9039225" y="4760912"/>
            <a:ext cx="133350" cy="190500"/>
          </a:xfrm>
          <a:prstGeom prst="rect">
            <a:avLst/>
          </a:prstGeom>
          <a:noFill/>
          <a:ln w="0">
            <a:noFill/>
            <a:prstDash val="solid"/>
          </a:ln>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F07818"/>
                </a:solidFill>
                <a:latin typeface="微软雅黑" panose="020B0503020204020204" charset="-122"/>
                <a:ea typeface="微软雅黑" panose="020B0503020204020204" charset="-122"/>
                <a:cs typeface="微软雅黑" panose="020B0503020204020204" charset="-122"/>
              </a:rPr>
              <a:t>△</a:t>
            </a:r>
          </a:p>
        </p:txBody>
      </p:sp>
      <p:sp>
        <p:nvSpPr>
          <p:cNvPr id="179" name="s18-gpu-val-3-text"/>
          <p:cNvSpPr>
            <a:spLocks noGrp="1"/>
          </p:cNvSpPr>
          <p:nvPr/>
        </p:nvSpPr>
        <p:spPr>
          <a:xfrm>
            <a:off x="9201150" y="4760912"/>
            <a:ext cx="1114425"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平台知识  △</a:t>
            </a:r>
          </a:p>
        </p:txBody>
      </p:sp>
      <p:sp>
        <p:nvSpPr>
          <p:cNvPr id="180" name="s18-gpu-val-4-symbol"/>
          <p:cNvSpPr>
            <a:spLocks noGrp="1"/>
          </p:cNvSpPr>
          <p:nvPr/>
        </p:nvSpPr>
        <p:spPr>
          <a:xfrm>
            <a:off x="9039225" y="4970462"/>
            <a:ext cx="133350" cy="190500"/>
          </a:xfrm>
          <a:prstGeom prst="rect">
            <a:avLst/>
          </a:prstGeom>
          <a:noFill/>
          <a:ln w="0">
            <a:noFill/>
            <a:prstDash val="solid"/>
          </a:ln>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F07818"/>
                </a:solidFill>
                <a:latin typeface="微软雅黑" panose="020B0503020204020204" charset="-122"/>
                <a:ea typeface="微软雅黑" panose="020B0503020204020204" charset="-122"/>
                <a:cs typeface="微软雅黑" panose="020B0503020204020204" charset="-122"/>
              </a:rPr>
              <a:t>△</a:t>
            </a:r>
          </a:p>
        </p:txBody>
      </p:sp>
      <p:sp>
        <p:nvSpPr>
          <p:cNvPr id="181" name="s18-gpu-val-4-text"/>
          <p:cNvSpPr>
            <a:spLocks noGrp="1"/>
          </p:cNvSpPr>
          <p:nvPr/>
        </p:nvSpPr>
        <p:spPr>
          <a:xfrm>
            <a:off x="9201150" y="4970462"/>
            <a:ext cx="1114425" cy="190500"/>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三算子验证  待补</a:t>
            </a:r>
          </a:p>
        </p:txBody>
      </p:sp>
      <p:sp>
        <p:nvSpPr>
          <p:cNvPr id="182" name="s18-gpu-val-5-symbol"/>
          <p:cNvSpPr>
            <a:spLocks noGrp="1"/>
          </p:cNvSpPr>
          <p:nvPr/>
        </p:nvSpPr>
        <p:spPr>
          <a:xfrm>
            <a:off x="9039225" y="5180012"/>
            <a:ext cx="133350" cy="171450"/>
          </a:xfrm>
          <a:prstGeom prst="rect">
            <a:avLst/>
          </a:prstGeom>
          <a:noFill/>
          <a:ln w="0">
            <a:noFill/>
            <a:prstDash val="solid"/>
          </a:ln>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F07818"/>
                </a:solidFill>
                <a:latin typeface="微软雅黑" panose="020B0503020204020204" charset="-122"/>
                <a:ea typeface="微软雅黑" panose="020B0503020204020204" charset="-122"/>
                <a:cs typeface="微软雅黑" panose="020B0503020204020204" charset="-122"/>
              </a:rPr>
              <a:t>△</a:t>
            </a:r>
          </a:p>
        </p:txBody>
      </p:sp>
      <p:sp>
        <p:nvSpPr>
          <p:cNvPr id="183" name="s18-gpu-val-5-text"/>
          <p:cNvSpPr>
            <a:spLocks noGrp="1"/>
          </p:cNvSpPr>
          <p:nvPr/>
        </p:nvSpPr>
        <p:spPr>
          <a:xfrm>
            <a:off x="9201150" y="5180012"/>
            <a:ext cx="1114425" cy="171450"/>
          </a:xfrm>
          <a:prstGeom prst="rect">
            <a:avLst/>
          </a:prstGeom>
          <a:noFill/>
          <a:ln w="0">
            <a:noFill/>
            <a:prstDash val="solid"/>
          </a:ln>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4344D"/>
                </a:solidFill>
                <a:latin typeface="微软雅黑" panose="020B0503020204020204" charset="-122"/>
                <a:ea typeface="微软雅黑" panose="020B0503020204020204" charset="-122"/>
                <a:cs typeface="微软雅黑" panose="020B0503020204020204" charset="-122"/>
              </a:rPr>
              <a:t>性能规则  待校准</a:t>
            </a:r>
          </a:p>
        </p:txBody>
      </p:sp>
      <p:sp>
        <p:nvSpPr>
          <p:cNvPr id="184" name="s18-gpu-next-1-symbol"/>
          <p:cNvSpPr>
            <a:spLocks noGrp="1"/>
          </p:cNvSpPr>
          <p:nvPr/>
        </p:nvSpPr>
        <p:spPr>
          <a:xfrm>
            <a:off x="10496550" y="4341812"/>
            <a:ext cx="133350" cy="314325"/>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85" name="s18-gpu-next-1-text"/>
          <p:cNvSpPr>
            <a:spLocks noGrp="1"/>
          </p:cNvSpPr>
          <p:nvPr/>
        </p:nvSpPr>
        <p:spPr>
          <a:xfrm>
            <a:off x="10658475" y="4341812"/>
            <a:ext cx="1200150" cy="314325"/>
          </a:xfrm>
          <a:prstGeom prst="rect">
            <a:avLst/>
          </a:prstGeom>
          <a:noFill/>
          <a:ln w="0">
            <a:noFill/>
            <a:prstDash val="solid"/>
          </a:ln>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4344D"/>
                </a:solidFill>
                <a:latin typeface="微软雅黑" panose="020B0503020204020204" charset="-122"/>
                <a:ea typeface="微软雅黑" panose="020B0503020204020204" charset="-122"/>
                <a:cs typeface="微软雅黑" panose="020B0503020204020204" charset="-122"/>
              </a:rPr>
              <a:t>补 GPU Hardware / Memory Profiler 信息</a:t>
            </a:r>
          </a:p>
        </p:txBody>
      </p:sp>
      <p:sp>
        <p:nvSpPr>
          <p:cNvPr id="186" name="s18-gpu-next-2-symbol"/>
          <p:cNvSpPr>
            <a:spLocks noGrp="1"/>
          </p:cNvSpPr>
          <p:nvPr/>
        </p:nvSpPr>
        <p:spPr>
          <a:xfrm>
            <a:off x="10496550" y="4665662"/>
            <a:ext cx="133350" cy="19050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87" name="s18-gpu-next-2-text"/>
          <p:cNvSpPr>
            <a:spLocks noGrp="1"/>
          </p:cNvSpPr>
          <p:nvPr/>
        </p:nvSpPr>
        <p:spPr>
          <a:xfrm>
            <a:off x="10658475" y="4665662"/>
            <a:ext cx="1200150" cy="190500"/>
          </a:xfrm>
          <a:prstGeom prst="rect">
            <a:avLst/>
          </a:prstGeom>
          <a:noFill/>
          <a:ln w="0">
            <a:noFill/>
            <a:prstDash val="solid"/>
          </a:ln>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4344D"/>
                </a:solidFill>
                <a:latin typeface="微软雅黑" panose="020B0503020204020204" charset="-122"/>
                <a:ea typeface="微软雅黑" panose="020B0503020204020204" charset="-122"/>
                <a:cs typeface="微软雅黑" panose="020B0503020204020204" charset="-122"/>
              </a:rPr>
              <a:t>跑平台微基准</a:t>
            </a:r>
          </a:p>
        </p:txBody>
      </p:sp>
      <p:sp>
        <p:nvSpPr>
          <p:cNvPr id="188" name="s18-gpu-next-3-symbol"/>
          <p:cNvSpPr>
            <a:spLocks noGrp="1"/>
          </p:cNvSpPr>
          <p:nvPr/>
        </p:nvSpPr>
        <p:spPr>
          <a:xfrm>
            <a:off x="10496550" y="4875212"/>
            <a:ext cx="133350" cy="257175"/>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89" name="s18-gpu-next-3-text"/>
          <p:cNvSpPr>
            <a:spLocks noGrp="1"/>
          </p:cNvSpPr>
          <p:nvPr/>
        </p:nvSpPr>
        <p:spPr>
          <a:xfrm>
            <a:off x="10658475" y="4875212"/>
            <a:ext cx="1200150" cy="257175"/>
          </a:xfrm>
          <a:prstGeom prst="rect">
            <a:avLst/>
          </a:prstGeom>
          <a:noFill/>
          <a:ln w="0">
            <a:noFill/>
            <a:prstDash val="solid"/>
          </a:ln>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4344D"/>
                </a:solidFill>
                <a:latin typeface="微软雅黑" panose="020B0503020204020204" charset="-122"/>
                <a:ea typeface="微软雅黑" panose="020B0503020204020204" charset="-122"/>
                <a:cs typeface="微软雅黑" panose="020B0503020204020204" charset="-122"/>
              </a:rPr>
              <a:t>用三个标准算子完成闭环验证</a:t>
            </a:r>
          </a:p>
        </p:txBody>
      </p:sp>
      <p:sp>
        <p:nvSpPr>
          <p:cNvPr id="190" name="s18-gpu-next-4-symbol"/>
          <p:cNvSpPr>
            <a:spLocks noGrp="1"/>
          </p:cNvSpPr>
          <p:nvPr/>
        </p:nvSpPr>
        <p:spPr>
          <a:xfrm>
            <a:off x="10496550" y="5141912"/>
            <a:ext cx="133350" cy="228600"/>
          </a:xfrm>
          <a:prstGeom prst="rect">
            <a:avLst/>
          </a:prstGeom>
          <a:noFill/>
          <a:ln w="0">
            <a:noFill/>
            <a:prstDash val="solid"/>
          </a:ln>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1457C5"/>
                </a:solidFill>
                <a:latin typeface="微软雅黑" panose="020B0503020204020204" charset="-122"/>
                <a:ea typeface="微软雅黑" panose="020B0503020204020204" charset="-122"/>
                <a:cs typeface="微软雅黑" panose="020B0503020204020204" charset="-122"/>
              </a:rPr>
              <a:t>○</a:t>
            </a:r>
          </a:p>
        </p:txBody>
      </p:sp>
      <p:sp>
        <p:nvSpPr>
          <p:cNvPr id="191" name="s18-gpu-next-4-text"/>
          <p:cNvSpPr>
            <a:spLocks noGrp="1"/>
          </p:cNvSpPr>
          <p:nvPr/>
        </p:nvSpPr>
        <p:spPr>
          <a:xfrm>
            <a:off x="10658475" y="5141912"/>
            <a:ext cx="1200150" cy="228600"/>
          </a:xfrm>
          <a:prstGeom prst="rect">
            <a:avLst/>
          </a:prstGeom>
          <a:noFill/>
          <a:ln w="0">
            <a:noFill/>
            <a:prstDash val="solid"/>
          </a:ln>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重新校准 Tile / Pipeline /</a:t>
            </a: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4344D"/>
                </a:solidFill>
                <a:latin typeface="微软雅黑" panose="020B0503020204020204" charset="-122"/>
                <a:ea typeface="微软雅黑" panose="020B0503020204020204" charset="-122"/>
                <a:cs typeface="微软雅黑" panose="020B0503020204020204" charset="-122"/>
              </a:rPr>
              <a:t>Autotune 经验</a:t>
            </a:r>
          </a:p>
        </p:txBody>
      </p:sp>
      <p:pic>
        <p:nvPicPr>
          <p:cNvPr id="4" name="title-separator-rule"/>
          <p:cNvPicPr>
            <a:picLocks noChangeAspect="1"/>
          </p:cNvPicPr>
          <p:nvPr/>
        </p:nvPicPr>
        <p:blipFill>
          <a:blip r:embed="rId3"/>
          <a:srcRect t="2941"/>
          <a:stretch>
            <a:fillRect/>
          </a:stretch>
        </p:blipFill>
        <p:spPr>
          <a:xfrm>
            <a:off x="247650" y="687705"/>
            <a:ext cx="11734800" cy="104775"/>
          </a:xfrm>
          <a:prstGeom prst="rect">
            <a:avLst/>
          </a:prstGeom>
        </p:spPr>
      </p:pic>
      <p:sp>
        <p:nvSpPr>
          <p:cNvPr id="3"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9</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1200150" y="123825"/>
            <a:ext cx="9144000" cy="476250"/>
          </a:xfrm>
          <a:prstGeom prst="rect">
            <a:avLst/>
          </a:prstGeom>
          <a:solidFill>
            <a:srgbClr val="FFFFFF"/>
          </a:solid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四类 Skill 生成 Kernel：性能结果对比</a:t>
            </a:r>
          </a:p>
        </p:txBody>
      </p:sp>
      <p:sp>
        <p:nvSpPr>
          <p:cNvPr id="3" name="measurement_and_baseline_note"/>
          <p:cNvSpPr>
            <a:spLocks noGrp="1"/>
          </p:cNvSpPr>
          <p:nvPr/>
        </p:nvSpPr>
        <p:spPr>
          <a:xfrm>
            <a:off x="1200150" y="5362575"/>
            <a:ext cx="9772650" cy="295275"/>
          </a:xfrm>
          <a:prstGeom prst="rect">
            <a:avLst/>
          </a:prstGeom>
          <a:noFill/>
          <a:ln w="0">
            <a:noFill/>
            <a:prstDash val="solid"/>
          </a:ln>
        </p:spPr>
        <p:txBody>
          <a:bodyPr wrap="square" lIns="0" tIns="0" rIns="0" bIns="0" anchor="ctr">
            <a:normAutofit/>
          </a:bodyPr>
          <a:lstStyle/>
          <a:p>
            <a:pPr algn="l">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b="0">
                <a:solidFill>
                  <a:srgbClr val="555D69"/>
                </a:solidFill>
                <a:latin typeface="微软雅黑" panose="020B0503020204020204" charset="-122"/>
                <a:ea typeface="微软雅黑" panose="020B0503020204020204" charset="-122"/>
                <a:cs typeface="微软雅黑" panose="020B0503020204020204" charset="-122"/>
              </a:rPr>
              <a:t>单元格：Kernel / PyTorch  |  Baseline：MLU  → PyTorch-MLU  |  GPU → PyTorch-CUDA</a:t>
            </a:r>
          </a:p>
        </p:txBody>
      </p:sp>
      <p:graphicFrame>
        <p:nvGraphicFramePr>
          <p:cNvPr id="13" name="kernel_vs_pytorch_performance"/>
          <p:cNvGraphicFramePr/>
          <p:nvPr>
            <p:extLst>
              <p:ext uri="{D42A27DB-BD31-4B8C-83A1-F6EECF244321}">
                <p14:modId xmlns:p14="http://schemas.microsoft.com/office/powerpoint/2010/main" val="353067038"/>
              </p:ext>
            </p:extLst>
          </p:nvPr>
        </p:nvGraphicFramePr>
        <p:xfrm>
          <a:off x="1200150" y="1028700"/>
          <a:ext cx="9772650" cy="4238625"/>
        </p:xfrm>
        <a:graphic>
          <a:graphicData uri="http://schemas.openxmlformats.org/drawingml/2006/table">
            <a:tbl>
              <a:tblPr firstRow="1"/>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438150">
                <a:tc>
                  <a:txBody>
                    <a:bodyPr/>
                    <a:lstStyle/>
                    <a:p>
                      <a:pPr algn="ctr">
                        <a:buNone/>
                      </a:pPr>
                      <a:r>
                        <a:rPr lang="zh-CN" sz="1500" b="1">
                          <a:solidFill>
                            <a:srgbClr val="FFFFFF"/>
                          </a:solidFill>
                          <a:latin typeface="微软雅黑" panose="020B0503020204020204" charset="-122"/>
                          <a:ea typeface="微软雅黑" panose="020B0503020204020204" charset="-122"/>
                          <a:cs typeface="微软雅黑" panose="020B0503020204020204" charset="-122"/>
                        </a:rPr>
                        <a:t>平台</a:t>
                      </a: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算子输入</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LayerNorm</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Softmax</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MatMul</a:t>
                      </a:r>
                    </a:p>
                  </a:txBody>
                  <a:tcPr marL="38100" marR="38100" marT="19050" marB="19050" anchor="ctr">
                    <a:solidFill>
                      <a:srgbClr val="0A3676"/>
                    </a:solidFill>
                  </a:tcPr>
                </a:tc>
                <a:extLst>
                  <a:ext uri="{0D108BD9-81ED-4DB2-BD59-A6C34878D82A}">
                    <a16:rowId xmlns:a16="http://schemas.microsoft.com/office/drawing/2014/main" val="10000"/>
                  </a:ext>
                </a:extLst>
              </a:tr>
              <a:tr h="523875">
                <a:tc>
                  <a:txBody>
                    <a:bodyPr/>
                    <a:lstStyle/>
                    <a:p>
                      <a:pPr algn="ctr">
                        <a:buNone/>
                      </a:pPr>
                      <a:r>
                        <a:rPr lang="zh-CN" sz="1575" b="1">
                          <a:solidFill>
                            <a:srgbClr val="0A3473"/>
                          </a:solidFill>
                          <a:latin typeface="微软雅黑" panose="020B0503020204020204" charset="-122"/>
                          <a:ea typeface="微软雅黑" panose="020B0503020204020204" charset="-122"/>
                          <a:cs typeface="微软雅黑" panose="020B0503020204020204" charset="-122"/>
                        </a:rPr>
                        <a:t>精度</a:t>
                      </a:r>
                    </a:p>
                  </a:txBody>
                  <a:tcPr marL="38100" marR="38100" marT="19050" marB="19050" anchor="ctr">
                    <a:solidFill>
                      <a:srgbClr val="F4F7FC"/>
                    </a:solidFill>
                  </a:tcPr>
                </a:tc>
                <a:tc>
                  <a:txBody>
                    <a:bodyPr/>
                    <a:lstStyle/>
                    <a:p>
                      <a:pPr algn="ctr">
                        <a:buNone/>
                      </a:pPr>
                      <a:r>
                        <a:rPr lang="en-US" sz="1350" b="0">
                          <a:solidFill>
                            <a:srgbClr val="4A515C"/>
                          </a:solidFill>
                          <a:latin typeface="微软雅黑" panose="020B0503020204020204" charset="-122"/>
                          <a:ea typeface="微软雅黑" panose="020B0503020204020204" charset="-122"/>
                          <a:cs typeface="微软雅黑" panose="020B0503020204020204" charset="-122"/>
                        </a:rPr>
                        <a:t>FP32</a:t>
                      </a:r>
                    </a:p>
                  </a:txBody>
                  <a:tcPr marL="38100" marR="38100" marT="19050" marB="19050" anchor="ctr">
                    <a:solidFill>
                      <a:srgbClr val="FFFFFF"/>
                    </a:solidFill>
                  </a:tcPr>
                </a:tc>
                <a:tc>
                  <a:txBody>
                    <a:bodyPr/>
                    <a:lstStyle/>
                    <a:p>
                      <a:pPr algn="ctr">
                        <a:buNone/>
                      </a:pPr>
                      <a:r>
                        <a:rPr lang="en-US" sz="1350">
                          <a:solidFill>
                            <a:srgbClr val="4A515C"/>
                          </a:solidFill>
                          <a:latin typeface="微软雅黑" panose="020B0503020204020204" charset="-122"/>
                          <a:ea typeface="微软雅黑" panose="020B0503020204020204" charset="-122"/>
                          <a:cs typeface="微软雅黑" panose="020B0503020204020204" charset="-122"/>
                          <a:sym typeface="+mn-ea"/>
                        </a:rPr>
                        <a:t>FP32</a:t>
                      </a:r>
                      <a:endParaRPr sz="1350" b="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a:solidFill>
                            <a:srgbClr val="4A515C"/>
                          </a:solidFill>
                          <a:latin typeface="微软雅黑" panose="020B0503020204020204" charset="-122"/>
                          <a:ea typeface="微软雅黑" panose="020B0503020204020204" charset="-122"/>
                          <a:cs typeface="微软雅黑" panose="020B0503020204020204" charset="-122"/>
                        </a:rPr>
                        <a:t>FP16</a:t>
                      </a:r>
                    </a:p>
                  </a:txBody>
                  <a:tcPr marL="38100" marR="38100" marT="19050" marB="19050" anchor="ctr">
                    <a:solidFill>
                      <a:srgbClr val="FFFFFF"/>
                    </a:solidFill>
                  </a:tcPr>
                </a:tc>
                <a:extLst>
                  <a:ext uri="{0D108BD9-81ED-4DB2-BD59-A6C34878D82A}">
                    <a16:rowId xmlns:a16="http://schemas.microsoft.com/office/drawing/2014/main" val="10001"/>
                  </a:ext>
                </a:extLst>
              </a:tr>
              <a:tr h="523875">
                <a:tc>
                  <a:txBody>
                    <a:bodyPr/>
                    <a:lstStyle/>
                    <a:p>
                      <a:pPr algn="ctr">
                        <a:buNone/>
                      </a:pPr>
                      <a:r>
                        <a:rPr lang="zh-CN" sz="1575" b="1">
                          <a:solidFill>
                            <a:srgbClr val="0A3473"/>
                          </a:solidFill>
                          <a:latin typeface="微软雅黑" panose="020B0503020204020204" charset="-122"/>
                          <a:ea typeface="微软雅黑" panose="020B0503020204020204" charset="-122"/>
                          <a:cs typeface="微软雅黑" panose="020B0503020204020204" charset="-122"/>
                        </a:rPr>
                        <a:t>输入结构</a:t>
                      </a:r>
                    </a:p>
                  </a:txBody>
                  <a:tcPr marL="38100" marR="38100" marT="19050" marB="19050" anchor="ctr">
                    <a:solidFill>
                      <a:srgbClr val="F4F7FC"/>
                    </a:solidFill>
                  </a:tcPr>
                </a:tc>
                <a:tc>
                  <a:txBody>
                    <a:bodyPr/>
                    <a:lstStyle/>
                    <a:p>
                      <a:pPr algn="ctr">
                        <a:buNone/>
                      </a:pP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64</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512</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1024</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4096</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4096</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8192</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8192</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2"/>
                  </a:ext>
                </a:extLst>
              </a:tr>
              <a:tr h="6858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MLU Triton</a:t>
                      </a:r>
                    </a:p>
                  </a:txBody>
                  <a:tcPr marL="38100" marR="38100" marT="19050" marB="19050" anchor="ctr">
                    <a:solidFill>
                      <a:srgbClr val="F4F7FC"/>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0.15</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0.15</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0.086</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0.11</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11.84</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5.3</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3"/>
                  </a:ext>
                </a:extLst>
              </a:tr>
              <a:tr h="6858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BANG C</a:t>
                      </a:r>
                    </a:p>
                  </a:txBody>
                  <a:tcPr marL="38100" marR="38100" marT="19050" marB="19050" anchor="ctr">
                    <a:solidFill>
                      <a:srgbClr val="F4F7FC"/>
                    </a:solidFill>
                  </a:tcPr>
                </a:tc>
                <a:tc>
                  <a:txBody>
                    <a:bodyPr/>
                    <a:lstStyle/>
                    <a:p>
                      <a:pPr algn="ctr">
                        <a:buNone/>
                      </a:pP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25.53</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0.15</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3.68</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0.11</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16.24</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5.3</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4"/>
                  </a:ext>
                </a:extLst>
              </a:tr>
              <a:tr h="6858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CUDA C</a:t>
                      </a:r>
                    </a:p>
                  </a:txBody>
                  <a:tcPr marL="38100" marR="38100" marT="19050" marB="19050" anchor="ctr">
                    <a:solidFill>
                      <a:srgbClr val="F4F7FC"/>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0.32</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21.85</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0.162</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0.17</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29.43</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15.59</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5"/>
                  </a:ext>
                </a:extLst>
              </a:tr>
              <a:tr h="695325">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GPU Triton</a:t>
                      </a:r>
                    </a:p>
                  </a:txBody>
                  <a:tcPr marL="38100" marR="38100" marT="19050" marB="19050" anchor="ctr">
                    <a:solidFill>
                      <a:srgbClr val="F4F7FC"/>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0.31</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21.85</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0.16</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0.17</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48.26</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15.59</a:t>
                      </a: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sz="1350" b="0" dirty="0" err="1">
                          <a:solidFill>
                            <a:srgbClr val="4A515C"/>
                          </a:solidFill>
                          <a:latin typeface="微软雅黑" panose="020B0503020204020204" charset="-122"/>
                          <a:ea typeface="微软雅黑" panose="020B0503020204020204" charset="-122"/>
                          <a:cs typeface="微软雅黑" panose="020B0503020204020204" charset="-122"/>
                        </a:rPr>
                        <a:t>ms</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6"/>
                  </a:ext>
                </a:extLst>
              </a:tr>
            </a:tbl>
          </a:graphicData>
        </a:graphic>
      </p:graphicFrame>
      <p:sp>
        <p:nvSpPr>
          <p:cNvPr id="5" name="slide-11-editable-footer"/>
          <p:cNvSpPr>
            <a:spLocks noGrp="1"/>
          </p:cNvSpPr>
          <p:nvPr/>
        </p:nvSpPr>
        <p:spPr>
          <a:xfrm>
            <a:off x="1200150" y="5800725"/>
            <a:ext cx="9782175" cy="617220"/>
          </a:xfrm>
          <a:prstGeom prst="roundRect">
            <a:avLst>
              <a:gd name="adj" fmla="val 6593"/>
            </a:avLst>
          </a:prstGeom>
          <a:solidFill>
            <a:srgbClr val="EEF4FE"/>
          </a:solidFill>
          <a:ln w="0">
            <a:solidFill>
              <a:srgbClr val="EEF4FE"/>
            </a:solidFill>
            <a:prstDash val="solid"/>
          </a:ln>
        </p:spPr>
        <p:txBody>
          <a:bodyPr wrap="square" lIns="209550" tIns="47625" rIns="209550" bIns="47625" anchor="ctr">
            <a:noAutofit/>
          </a:bodyPr>
          <a:lstStyle/>
          <a:p>
            <a:pPr algn="l">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072A67"/>
                </a:solidFill>
                <a:latin typeface="微软雅黑" panose="020B0503020204020204" charset="-122"/>
                <a:ea typeface="微软雅黑" panose="020B0503020204020204" charset="-122"/>
                <a:cs typeface="微软雅黑" panose="020B0503020204020204" charset="-122"/>
              </a:rPr>
              <a:t> 四类 Skill 均能够完成算子开发，但生成 Kernel 的性能质量存在明显差异；Triton Skill </a:t>
            </a:r>
            <a:r>
              <a:rPr lang="zh-CN" sz="1600" b="1">
                <a:solidFill>
                  <a:srgbClr val="072A67"/>
                </a:solidFill>
                <a:latin typeface="微软雅黑" panose="020B0503020204020204" charset="-122"/>
                <a:ea typeface="微软雅黑" panose="020B0503020204020204" charset="-122"/>
                <a:cs typeface="微软雅黑" panose="020B0503020204020204" charset="-122"/>
              </a:rPr>
              <a:t>和</a:t>
            </a:r>
            <a:r>
              <a:rPr sz="1600">
                <a:sym typeface="+mn-ea"/>
              </a:rPr>
              <a:t>CUDA C</a:t>
            </a:r>
            <a:r>
              <a:rPr lang="en-US" sz="1600">
                <a:sym typeface="+mn-ea"/>
              </a:rPr>
              <a:t> </a:t>
            </a:r>
            <a:r>
              <a:rPr sz="1600" b="1">
                <a:solidFill>
                  <a:srgbClr val="072A67"/>
                </a:solidFill>
                <a:latin typeface="微软雅黑" panose="020B0503020204020204" charset="-122"/>
                <a:ea typeface="微软雅黑" panose="020B0503020204020204" charset="-122"/>
                <a:cs typeface="微软雅黑" panose="020B0503020204020204" charset="-122"/>
              </a:rPr>
              <a:t>当前整体表现</a:t>
            </a:r>
            <a:r>
              <a:rPr lang="zh-CN" sz="1600" b="1">
                <a:solidFill>
                  <a:srgbClr val="072A67"/>
                </a:solidFill>
                <a:latin typeface="微软雅黑" panose="020B0503020204020204" charset="-122"/>
                <a:ea typeface="微软雅黑" panose="020B0503020204020204" charset="-122"/>
                <a:cs typeface="微软雅黑" panose="020B0503020204020204" charset="-122"/>
              </a:rPr>
              <a:t>较</a:t>
            </a:r>
            <a:r>
              <a:rPr sz="1600" b="1">
                <a:solidFill>
                  <a:srgbClr val="072A67"/>
                </a:solidFill>
                <a:latin typeface="微软雅黑" panose="020B0503020204020204" charset="-122"/>
                <a:ea typeface="微软雅黑" panose="020B0503020204020204" charset="-122"/>
                <a:cs typeface="微软雅黑" panose="020B0503020204020204" charset="-122"/>
              </a:rPr>
              <a:t>稳定，</a:t>
            </a:r>
            <a:r>
              <a:rPr lang="zh-CN" sz="1600" b="1">
                <a:solidFill>
                  <a:srgbClr val="072A67"/>
                </a:solidFill>
                <a:latin typeface="微软雅黑" panose="020B0503020204020204" charset="-122"/>
                <a:ea typeface="微软雅黑" panose="020B0503020204020204" charset="-122"/>
                <a:cs typeface="微软雅黑" panose="020B0503020204020204" charset="-122"/>
              </a:rPr>
              <a:t>但是</a:t>
            </a:r>
            <a:r>
              <a:rPr lang="en-US" altLang="zh-CN" sz="1600" b="1">
                <a:solidFill>
                  <a:srgbClr val="072A67"/>
                </a:solidFill>
                <a:latin typeface="微软雅黑" panose="020B0503020204020204" charset="-122"/>
                <a:ea typeface="微软雅黑" panose="020B0503020204020204" charset="-122"/>
                <a:cs typeface="微软雅黑" panose="020B0503020204020204" charset="-122"/>
              </a:rPr>
              <a:t>bangc</a:t>
            </a:r>
            <a:r>
              <a:rPr sz="1600" b="1">
                <a:solidFill>
                  <a:srgbClr val="072A67"/>
                </a:solidFill>
                <a:latin typeface="微软雅黑" panose="020B0503020204020204" charset="-122"/>
                <a:ea typeface="微软雅黑" panose="020B0503020204020204" charset="-122"/>
                <a:cs typeface="微软雅黑" panose="020B0503020204020204" charset="-122"/>
              </a:rPr>
              <a:t> 的高性能</a:t>
            </a:r>
            <a:r>
              <a:rPr lang="zh-CN" sz="1600" b="1">
                <a:solidFill>
                  <a:srgbClr val="072A67"/>
                </a:solidFill>
                <a:latin typeface="微软雅黑" panose="020B0503020204020204" charset="-122"/>
                <a:ea typeface="微软雅黑" panose="020B0503020204020204" charset="-122"/>
                <a:cs typeface="微软雅黑" panose="020B0503020204020204" charset="-122"/>
              </a:rPr>
              <a:t>算子</a:t>
            </a:r>
            <a:r>
              <a:rPr sz="1600" b="1">
                <a:solidFill>
                  <a:srgbClr val="072A67"/>
                </a:solidFill>
                <a:latin typeface="微软雅黑" panose="020B0503020204020204" charset="-122"/>
                <a:ea typeface="微软雅黑" panose="020B0503020204020204" charset="-122"/>
                <a:cs typeface="微软雅黑" panose="020B0503020204020204" charset="-122"/>
              </a:rPr>
              <a:t>优化能力仍需补强。</a:t>
            </a:r>
          </a:p>
        </p:txBody>
      </p:sp>
      <p:sp>
        <p:nvSpPr>
          <p:cNvPr id="9" name="body-p11-evaluation-meta"/>
          <p:cNvSpPr>
            <a:spLocks noGrp="1"/>
          </p:cNvSpPr>
          <p:nvPr/>
        </p:nvSpPr>
        <p:spPr>
          <a:xfrm>
            <a:off x="7905750" y="57150"/>
            <a:ext cx="4057650" cy="133350"/>
          </a:xfrm>
          <a:prstGeom prst="rect">
            <a:avLst/>
          </a:prstGeom>
          <a:noFill/>
          <a:ln w="0">
            <a:noFill/>
            <a:prstDash val="solid"/>
          </a:ln>
        </p:spPr>
        <p:txBody>
          <a:bodyPr wrap="square" lIns="0" tIns="0" rIns="0" bIns="0" anchor="t">
            <a:normAutofit/>
          </a:bodyPr>
          <a:lstStyle/>
          <a:p>
            <a:pPr algn="r">
              <a:defRPr sz="640" b="1">
                <a:solidFill>
                  <a:srgbClr val="6F86A8"/>
                </a:solidFill>
                <a:latin typeface="微软雅黑" panose="020B0503020204020204" charset="-122"/>
                <a:ea typeface="微软雅黑" panose="020B0503020204020204" charset="-122"/>
                <a:cs typeface="微软雅黑" panose="020B0503020204020204" charset="-122"/>
              </a:defRPr>
            </a:pPr>
            <a:r>
              <a:rPr sz="640" b="1">
                <a:solidFill>
                  <a:srgbClr val="6F86A8"/>
                </a:solidFill>
                <a:latin typeface="微软雅黑" panose="020B0503020204020204" charset="-122"/>
                <a:ea typeface="微软雅黑" panose="020B0503020204020204" charset="-122"/>
                <a:cs typeface="微软雅黑" panose="020B0503020204020204" charset="-122"/>
              </a:rPr>
              <a:t>EVALUATION 02 · Kernel Performance</a:t>
            </a:r>
          </a:p>
        </p:txBody>
      </p:sp>
      <p:pic>
        <p:nvPicPr>
          <p:cNvPr id="4" name="title-separator-rule"/>
          <p:cNvPicPr>
            <a:picLocks noChangeAspect="1"/>
          </p:cNvPicPr>
          <p:nvPr/>
        </p:nvPicPr>
        <p:blipFill>
          <a:blip r:embed="rId3"/>
          <a:srcRect t="2941"/>
          <a:stretch>
            <a:fillRect/>
          </a:stretch>
        </p:blipFill>
        <p:spPr>
          <a:xfrm>
            <a:off x="252095" y="687705"/>
            <a:ext cx="11734800" cy="104775"/>
          </a:xfrm>
          <a:prstGeom prst="rect">
            <a:avLst/>
          </a:prstGeom>
        </p:spPr>
      </p:pic>
      <p:sp>
        <p:nvSpPr>
          <p:cNvPr id="2"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10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11-title"/>
          <p:cNvSpPr>
            <a:spLocks noGrp="1"/>
          </p:cNvSpPr>
          <p:nvPr/>
        </p:nvSpPr>
        <p:spPr>
          <a:xfrm>
            <a:off x="1200150" y="123825"/>
            <a:ext cx="9144000" cy="476250"/>
          </a:xfrm>
          <a:prstGeom prst="rect">
            <a:avLst/>
          </a:prstGeom>
          <a:solidFill>
            <a:srgbClr val="FFFFFF"/>
          </a:solid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四类 Skill 生成 Kernel：性能结果对比</a:t>
            </a:r>
          </a:p>
        </p:txBody>
      </p:sp>
      <p:sp>
        <p:nvSpPr>
          <p:cNvPr id="3" name="measurement_and_baseline_note"/>
          <p:cNvSpPr>
            <a:spLocks noGrp="1"/>
          </p:cNvSpPr>
          <p:nvPr/>
        </p:nvSpPr>
        <p:spPr>
          <a:xfrm>
            <a:off x="1200150" y="5362575"/>
            <a:ext cx="9772650" cy="295275"/>
          </a:xfrm>
          <a:prstGeom prst="rect">
            <a:avLst/>
          </a:prstGeom>
          <a:noFill/>
          <a:ln w="0">
            <a:noFill/>
            <a:prstDash val="solid"/>
          </a:ln>
        </p:spPr>
        <p:txBody>
          <a:bodyPr wrap="square" lIns="0" tIns="0" rIns="0" bIns="0" anchor="ctr">
            <a:normAutofit/>
          </a:bodyPr>
          <a:lstStyle/>
          <a:p>
            <a:pPr algn="l">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b="0" dirty="0" err="1">
                <a:solidFill>
                  <a:srgbClr val="555D69"/>
                </a:solidFill>
                <a:latin typeface="微软雅黑" panose="020B0503020204020204" charset="-122"/>
                <a:ea typeface="微软雅黑" panose="020B0503020204020204" charset="-122"/>
                <a:cs typeface="微软雅黑" panose="020B0503020204020204" charset="-122"/>
              </a:rPr>
              <a:t>单元格：Kernel</a:t>
            </a:r>
            <a:r>
              <a:rPr sz="1050" b="0" dirty="0">
                <a:solidFill>
                  <a:srgbClr val="555D69"/>
                </a:solidFill>
                <a:latin typeface="微软雅黑" panose="020B0503020204020204" charset="-122"/>
                <a:ea typeface="微软雅黑" panose="020B0503020204020204" charset="-122"/>
                <a:cs typeface="微软雅黑" panose="020B0503020204020204" charset="-122"/>
              </a:rPr>
              <a:t> / </a:t>
            </a:r>
            <a:r>
              <a:rPr sz="1050" b="0" dirty="0" err="1">
                <a:solidFill>
                  <a:srgbClr val="555D69"/>
                </a:solidFill>
                <a:latin typeface="微软雅黑" panose="020B0503020204020204" charset="-122"/>
                <a:ea typeface="微软雅黑" panose="020B0503020204020204" charset="-122"/>
                <a:cs typeface="微软雅黑" panose="020B0503020204020204" charset="-122"/>
              </a:rPr>
              <a:t>PyTorch</a:t>
            </a:r>
            <a:r>
              <a:rPr sz="1050" b="0" dirty="0">
                <a:solidFill>
                  <a:srgbClr val="555D69"/>
                </a:solidFill>
                <a:latin typeface="微软雅黑" panose="020B0503020204020204" charset="-122"/>
                <a:ea typeface="微软雅黑" panose="020B0503020204020204" charset="-122"/>
                <a:cs typeface="微软雅黑" panose="020B0503020204020204" charset="-122"/>
              </a:rPr>
              <a:t> </a:t>
            </a:r>
            <a:r>
              <a:rPr lang="zh-CN" altLang="en-US" sz="1050" b="0" dirty="0" smtClean="0">
                <a:solidFill>
                  <a:srgbClr val="555D69"/>
                </a:solidFill>
                <a:latin typeface="微软雅黑" panose="020B0503020204020204" charset="-122"/>
                <a:ea typeface="微软雅黑" panose="020B0503020204020204" charset="-122"/>
                <a:cs typeface="微软雅黑" panose="020B0503020204020204" charset="-122"/>
              </a:rPr>
              <a:t>加速比</a:t>
            </a:r>
            <a:endParaRPr sz="1050" b="0" dirty="0">
              <a:solidFill>
                <a:srgbClr val="555D69"/>
              </a:solidFill>
              <a:latin typeface="微软雅黑" panose="020B0503020204020204" charset="-122"/>
              <a:ea typeface="微软雅黑" panose="020B0503020204020204" charset="-122"/>
              <a:cs typeface="微软雅黑" panose="020B0503020204020204" charset="-122"/>
            </a:endParaRPr>
          </a:p>
        </p:txBody>
      </p:sp>
      <p:graphicFrame>
        <p:nvGraphicFramePr>
          <p:cNvPr id="13" name="kernel_vs_pytorch_performance"/>
          <p:cNvGraphicFramePr/>
          <p:nvPr>
            <p:extLst>
              <p:ext uri="{D42A27DB-BD31-4B8C-83A1-F6EECF244321}">
                <p14:modId xmlns:p14="http://schemas.microsoft.com/office/powerpoint/2010/main" val="1816309596"/>
              </p:ext>
            </p:extLst>
          </p:nvPr>
        </p:nvGraphicFramePr>
        <p:xfrm>
          <a:off x="1200150" y="1028700"/>
          <a:ext cx="9772650" cy="4238625"/>
        </p:xfrm>
        <a:graphic>
          <a:graphicData uri="http://schemas.openxmlformats.org/drawingml/2006/table">
            <a:tbl>
              <a:tblPr firstRow="1"/>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438150">
                <a:tc>
                  <a:txBody>
                    <a:bodyPr/>
                    <a:lstStyle/>
                    <a:p>
                      <a:pPr algn="ctr">
                        <a:buNone/>
                      </a:pPr>
                      <a:r>
                        <a:rPr lang="zh-CN" sz="1500" b="1">
                          <a:solidFill>
                            <a:srgbClr val="FFFFFF"/>
                          </a:solidFill>
                          <a:latin typeface="微软雅黑" panose="020B0503020204020204" charset="-122"/>
                          <a:ea typeface="微软雅黑" panose="020B0503020204020204" charset="-122"/>
                          <a:cs typeface="微软雅黑" panose="020B0503020204020204" charset="-122"/>
                        </a:rPr>
                        <a:t>平台</a:t>
                      </a: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算子输入</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LayerNorm</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Softmax</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MatMul</a:t>
                      </a:r>
                    </a:p>
                  </a:txBody>
                  <a:tcPr marL="38100" marR="38100" marT="19050" marB="19050" anchor="ctr">
                    <a:solidFill>
                      <a:srgbClr val="0A3676"/>
                    </a:solidFill>
                  </a:tcPr>
                </a:tc>
                <a:extLst>
                  <a:ext uri="{0D108BD9-81ED-4DB2-BD59-A6C34878D82A}">
                    <a16:rowId xmlns:a16="http://schemas.microsoft.com/office/drawing/2014/main" val="10000"/>
                  </a:ext>
                </a:extLst>
              </a:tr>
              <a:tr h="523875">
                <a:tc>
                  <a:txBody>
                    <a:bodyPr/>
                    <a:lstStyle/>
                    <a:p>
                      <a:pPr algn="ctr">
                        <a:buNone/>
                      </a:pPr>
                      <a:r>
                        <a:rPr lang="zh-CN" sz="1575" b="1">
                          <a:solidFill>
                            <a:srgbClr val="0A3473"/>
                          </a:solidFill>
                          <a:latin typeface="微软雅黑" panose="020B0503020204020204" charset="-122"/>
                          <a:ea typeface="微软雅黑" panose="020B0503020204020204" charset="-122"/>
                          <a:cs typeface="微软雅黑" panose="020B0503020204020204" charset="-122"/>
                        </a:rPr>
                        <a:t>精度</a:t>
                      </a:r>
                    </a:p>
                  </a:txBody>
                  <a:tcPr marL="38100" marR="38100" marT="19050" marB="19050" anchor="ctr">
                    <a:solidFill>
                      <a:srgbClr val="F4F7FC"/>
                    </a:solidFill>
                  </a:tcPr>
                </a:tc>
                <a:tc>
                  <a:txBody>
                    <a:bodyPr/>
                    <a:lstStyle/>
                    <a:p>
                      <a:pPr algn="ctr">
                        <a:buNone/>
                      </a:pPr>
                      <a:r>
                        <a:rPr lang="en-US" sz="1350" b="0">
                          <a:solidFill>
                            <a:srgbClr val="4A515C"/>
                          </a:solidFill>
                          <a:latin typeface="微软雅黑" panose="020B0503020204020204" charset="-122"/>
                          <a:ea typeface="微软雅黑" panose="020B0503020204020204" charset="-122"/>
                          <a:cs typeface="微软雅黑" panose="020B0503020204020204" charset="-122"/>
                        </a:rPr>
                        <a:t>FP32</a:t>
                      </a:r>
                    </a:p>
                  </a:txBody>
                  <a:tcPr marL="38100" marR="38100" marT="19050" marB="19050" anchor="ctr">
                    <a:solidFill>
                      <a:srgbClr val="FFFFFF"/>
                    </a:solidFill>
                  </a:tcPr>
                </a:tc>
                <a:tc>
                  <a:txBody>
                    <a:bodyPr/>
                    <a:lstStyle/>
                    <a:p>
                      <a:pPr algn="ctr">
                        <a:buNone/>
                      </a:pPr>
                      <a:r>
                        <a:rPr lang="en-US" sz="1350">
                          <a:solidFill>
                            <a:srgbClr val="4A515C"/>
                          </a:solidFill>
                          <a:latin typeface="微软雅黑" panose="020B0503020204020204" charset="-122"/>
                          <a:ea typeface="微软雅黑" panose="020B0503020204020204" charset="-122"/>
                          <a:cs typeface="微软雅黑" panose="020B0503020204020204" charset="-122"/>
                          <a:sym typeface="+mn-ea"/>
                        </a:rPr>
                        <a:t>FP32</a:t>
                      </a:r>
                      <a:endParaRPr sz="1350" b="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a:solidFill>
                            <a:srgbClr val="4A515C"/>
                          </a:solidFill>
                          <a:latin typeface="微软雅黑" panose="020B0503020204020204" charset="-122"/>
                          <a:ea typeface="微软雅黑" panose="020B0503020204020204" charset="-122"/>
                          <a:cs typeface="微软雅黑" panose="020B0503020204020204" charset="-122"/>
                        </a:rPr>
                        <a:t>FP16</a:t>
                      </a:r>
                    </a:p>
                  </a:txBody>
                  <a:tcPr marL="38100" marR="38100" marT="19050" marB="19050" anchor="ctr">
                    <a:solidFill>
                      <a:srgbClr val="FFFFFF"/>
                    </a:solidFill>
                  </a:tcPr>
                </a:tc>
                <a:extLst>
                  <a:ext uri="{0D108BD9-81ED-4DB2-BD59-A6C34878D82A}">
                    <a16:rowId xmlns:a16="http://schemas.microsoft.com/office/drawing/2014/main" val="10001"/>
                  </a:ext>
                </a:extLst>
              </a:tr>
              <a:tr h="523875">
                <a:tc>
                  <a:txBody>
                    <a:bodyPr/>
                    <a:lstStyle/>
                    <a:p>
                      <a:pPr algn="ctr">
                        <a:buNone/>
                      </a:pPr>
                      <a:r>
                        <a:rPr lang="zh-CN" sz="1575" b="1">
                          <a:solidFill>
                            <a:srgbClr val="0A3473"/>
                          </a:solidFill>
                          <a:latin typeface="微软雅黑" panose="020B0503020204020204" charset="-122"/>
                          <a:ea typeface="微软雅黑" panose="020B0503020204020204" charset="-122"/>
                          <a:cs typeface="微软雅黑" panose="020B0503020204020204" charset="-122"/>
                        </a:rPr>
                        <a:t>输入结构</a:t>
                      </a:r>
                    </a:p>
                  </a:txBody>
                  <a:tcPr marL="38100" marR="38100" marT="19050" marB="19050" anchor="ctr">
                    <a:solidFill>
                      <a:srgbClr val="F4F7FC"/>
                    </a:solidFill>
                  </a:tcPr>
                </a:tc>
                <a:tc>
                  <a:txBody>
                    <a:bodyPr/>
                    <a:lstStyle/>
                    <a:p>
                      <a:pPr algn="ctr">
                        <a:buNone/>
                      </a:pP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64</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512</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1024</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4096</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4096</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8192</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8192</a:t>
                      </a:r>
                      <a:r>
                        <a:rPr lang="zh-CN" altLang="en-US" sz="1350" b="0" dirty="0" smtClean="0">
                          <a:solidFill>
                            <a:srgbClr val="4A515C"/>
                          </a:solidFill>
                          <a:latin typeface="微软雅黑" panose="020B0503020204020204" charset="-122"/>
                          <a:ea typeface="微软雅黑" panose="020B0503020204020204" charset="-122"/>
                          <a:cs typeface="微软雅黑" panose="020B0503020204020204" charset="-122"/>
                        </a:rPr>
                        <a:t>）</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2"/>
                  </a:ext>
                </a:extLst>
              </a:tr>
              <a:tr h="6858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MLU Triton</a:t>
                      </a:r>
                    </a:p>
                  </a:txBody>
                  <a:tcPr marL="38100" marR="38100" marT="19050" marB="19050" anchor="ctr">
                    <a:solidFill>
                      <a:srgbClr val="F4F7FC"/>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1.23</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0.45</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3"/>
                  </a:ext>
                </a:extLst>
              </a:tr>
              <a:tr h="6858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BANG C</a:t>
                      </a:r>
                    </a:p>
                  </a:txBody>
                  <a:tcPr marL="38100" marR="38100" marT="19050" marB="19050" anchor="ctr">
                    <a:solidFill>
                      <a:srgbClr val="F4F7FC"/>
                    </a:solidFill>
                  </a:tcPr>
                </a:tc>
                <a:tc>
                  <a:txBody>
                    <a:bodyPr/>
                    <a:lstStyle/>
                    <a:p>
                      <a:pPr algn="ctr">
                        <a:buNone/>
                      </a:pPr>
                      <a:r>
                        <a:rPr sz="1350" b="0" dirty="0" smtClean="0">
                          <a:solidFill>
                            <a:srgbClr val="4A515C"/>
                          </a:solidFill>
                          <a:latin typeface="微软雅黑" panose="020B0503020204020204" charset="-122"/>
                          <a:ea typeface="微软雅黑" panose="020B0503020204020204" charset="-122"/>
                          <a:cs typeface="微软雅黑" panose="020B0503020204020204" charset="-122"/>
                        </a:rPr>
                        <a:t> </a:t>
                      </a: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0.001</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0.05</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0.33</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4"/>
                  </a:ext>
                </a:extLst>
              </a:tr>
              <a:tr h="6858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CUDA C</a:t>
                      </a:r>
                    </a:p>
                  </a:txBody>
                  <a:tcPr marL="38100" marR="38100" marT="19050" marB="19050" anchor="ctr">
                    <a:solidFill>
                      <a:srgbClr val="F4F7FC"/>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1.43</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1.06</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0.53x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5"/>
                  </a:ext>
                </a:extLst>
              </a:tr>
              <a:tr h="695325">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GPU Triton</a:t>
                      </a:r>
                    </a:p>
                  </a:txBody>
                  <a:tcPr marL="38100" marR="38100" marT="19050" marB="19050" anchor="ctr">
                    <a:solidFill>
                      <a:srgbClr val="F4F7FC"/>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1.45</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1.06</a:t>
                      </a:r>
                      <a:r>
                        <a:rPr lang="en-US" altLang="zh-CN" sz="1350" b="0" dirty="0" smtClean="0">
                          <a:solidFill>
                            <a:srgbClr val="4A515C"/>
                          </a:solidFill>
                          <a:latin typeface="微软雅黑" panose="020B0503020204020204" charset="-122"/>
                          <a:ea typeface="微软雅黑" panose="020B0503020204020204" charset="-122"/>
                          <a:cs typeface="微软雅黑" panose="020B0503020204020204" charset="-122"/>
                        </a:rPr>
                        <a:t>x</a:t>
                      </a:r>
                      <a:endParaRPr sz="1350" b="0" dirty="0">
                        <a:solidFill>
                          <a:srgbClr val="4A515C"/>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350" b="0" dirty="0" smtClean="0">
                          <a:solidFill>
                            <a:srgbClr val="4A515C"/>
                          </a:solidFill>
                          <a:latin typeface="微软雅黑" panose="020B0503020204020204" charset="-122"/>
                          <a:ea typeface="微软雅黑" panose="020B0503020204020204" charset="-122"/>
                          <a:cs typeface="微软雅黑" panose="020B0503020204020204" charset="-122"/>
                        </a:rPr>
                        <a:t>0.33x</a:t>
                      </a:r>
                    </a:p>
                  </a:txBody>
                  <a:tcPr marL="38100" marR="38100" marT="19050" marB="19050" anchor="ctr">
                    <a:solidFill>
                      <a:srgbClr val="FFFFFF"/>
                    </a:solidFill>
                  </a:tcPr>
                </a:tc>
                <a:extLst>
                  <a:ext uri="{0D108BD9-81ED-4DB2-BD59-A6C34878D82A}">
                    <a16:rowId xmlns:a16="http://schemas.microsoft.com/office/drawing/2014/main" val="10006"/>
                  </a:ext>
                </a:extLst>
              </a:tr>
            </a:tbl>
          </a:graphicData>
        </a:graphic>
      </p:graphicFrame>
      <p:sp>
        <p:nvSpPr>
          <p:cNvPr id="5" name="slide-11-editable-footer"/>
          <p:cNvSpPr>
            <a:spLocks noGrp="1"/>
          </p:cNvSpPr>
          <p:nvPr/>
        </p:nvSpPr>
        <p:spPr>
          <a:xfrm>
            <a:off x="1200150" y="5800725"/>
            <a:ext cx="9782175" cy="617220"/>
          </a:xfrm>
          <a:prstGeom prst="roundRect">
            <a:avLst>
              <a:gd name="adj" fmla="val 6593"/>
            </a:avLst>
          </a:prstGeom>
          <a:solidFill>
            <a:srgbClr val="EEF4FE"/>
          </a:solidFill>
          <a:ln w="0">
            <a:solidFill>
              <a:srgbClr val="EEF4FE"/>
            </a:solidFill>
            <a:prstDash val="solid"/>
          </a:ln>
        </p:spPr>
        <p:txBody>
          <a:bodyPr wrap="square" lIns="209550" tIns="47625" rIns="209550" bIns="47625" anchor="ctr">
            <a:noAutofit/>
          </a:bodyPr>
          <a:lstStyle/>
          <a:p>
            <a:pPr algn="l">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072A67"/>
                </a:solidFill>
                <a:latin typeface="微软雅黑" panose="020B0503020204020204" charset="-122"/>
                <a:ea typeface="微软雅黑" panose="020B0503020204020204" charset="-122"/>
                <a:cs typeface="微软雅黑" panose="020B0503020204020204" charset="-122"/>
              </a:rPr>
              <a:t> 四类 Skill 均能够完成算子开发，但生成 Kernel 的性能质量存在明显差异；Triton Skill </a:t>
            </a:r>
            <a:r>
              <a:rPr lang="zh-CN" sz="1600" b="1">
                <a:solidFill>
                  <a:srgbClr val="072A67"/>
                </a:solidFill>
                <a:latin typeface="微软雅黑" panose="020B0503020204020204" charset="-122"/>
                <a:ea typeface="微软雅黑" panose="020B0503020204020204" charset="-122"/>
                <a:cs typeface="微软雅黑" panose="020B0503020204020204" charset="-122"/>
              </a:rPr>
              <a:t>和</a:t>
            </a:r>
            <a:r>
              <a:rPr sz="1600">
                <a:sym typeface="+mn-ea"/>
              </a:rPr>
              <a:t>CUDA C</a:t>
            </a:r>
            <a:r>
              <a:rPr lang="en-US" sz="1600">
                <a:sym typeface="+mn-ea"/>
              </a:rPr>
              <a:t> </a:t>
            </a:r>
            <a:r>
              <a:rPr sz="1600" b="1">
                <a:solidFill>
                  <a:srgbClr val="072A67"/>
                </a:solidFill>
                <a:latin typeface="微软雅黑" panose="020B0503020204020204" charset="-122"/>
                <a:ea typeface="微软雅黑" panose="020B0503020204020204" charset="-122"/>
                <a:cs typeface="微软雅黑" panose="020B0503020204020204" charset="-122"/>
              </a:rPr>
              <a:t>当前整体表现</a:t>
            </a:r>
            <a:r>
              <a:rPr lang="zh-CN" sz="1600" b="1">
                <a:solidFill>
                  <a:srgbClr val="072A67"/>
                </a:solidFill>
                <a:latin typeface="微软雅黑" panose="020B0503020204020204" charset="-122"/>
                <a:ea typeface="微软雅黑" panose="020B0503020204020204" charset="-122"/>
                <a:cs typeface="微软雅黑" panose="020B0503020204020204" charset="-122"/>
              </a:rPr>
              <a:t>较</a:t>
            </a:r>
            <a:r>
              <a:rPr sz="1600" b="1">
                <a:solidFill>
                  <a:srgbClr val="072A67"/>
                </a:solidFill>
                <a:latin typeface="微软雅黑" panose="020B0503020204020204" charset="-122"/>
                <a:ea typeface="微软雅黑" panose="020B0503020204020204" charset="-122"/>
                <a:cs typeface="微软雅黑" panose="020B0503020204020204" charset="-122"/>
              </a:rPr>
              <a:t>稳定，</a:t>
            </a:r>
            <a:r>
              <a:rPr lang="zh-CN" sz="1600" b="1">
                <a:solidFill>
                  <a:srgbClr val="072A67"/>
                </a:solidFill>
                <a:latin typeface="微软雅黑" panose="020B0503020204020204" charset="-122"/>
                <a:ea typeface="微软雅黑" panose="020B0503020204020204" charset="-122"/>
                <a:cs typeface="微软雅黑" panose="020B0503020204020204" charset="-122"/>
              </a:rPr>
              <a:t>但是</a:t>
            </a:r>
            <a:r>
              <a:rPr lang="en-US" altLang="zh-CN" sz="1600" b="1">
                <a:solidFill>
                  <a:srgbClr val="072A67"/>
                </a:solidFill>
                <a:latin typeface="微软雅黑" panose="020B0503020204020204" charset="-122"/>
                <a:ea typeface="微软雅黑" panose="020B0503020204020204" charset="-122"/>
                <a:cs typeface="微软雅黑" panose="020B0503020204020204" charset="-122"/>
              </a:rPr>
              <a:t>bangc</a:t>
            </a:r>
            <a:r>
              <a:rPr sz="1600" b="1">
                <a:solidFill>
                  <a:srgbClr val="072A67"/>
                </a:solidFill>
                <a:latin typeface="微软雅黑" panose="020B0503020204020204" charset="-122"/>
                <a:ea typeface="微软雅黑" panose="020B0503020204020204" charset="-122"/>
                <a:cs typeface="微软雅黑" panose="020B0503020204020204" charset="-122"/>
              </a:rPr>
              <a:t> 的高性能</a:t>
            </a:r>
            <a:r>
              <a:rPr lang="zh-CN" sz="1600" b="1">
                <a:solidFill>
                  <a:srgbClr val="072A67"/>
                </a:solidFill>
                <a:latin typeface="微软雅黑" panose="020B0503020204020204" charset="-122"/>
                <a:ea typeface="微软雅黑" panose="020B0503020204020204" charset="-122"/>
                <a:cs typeface="微软雅黑" panose="020B0503020204020204" charset="-122"/>
              </a:rPr>
              <a:t>算子</a:t>
            </a:r>
            <a:r>
              <a:rPr sz="1600" b="1">
                <a:solidFill>
                  <a:srgbClr val="072A67"/>
                </a:solidFill>
                <a:latin typeface="微软雅黑" panose="020B0503020204020204" charset="-122"/>
                <a:ea typeface="微软雅黑" panose="020B0503020204020204" charset="-122"/>
                <a:cs typeface="微软雅黑" panose="020B0503020204020204" charset="-122"/>
              </a:rPr>
              <a:t>优化能力仍需补强。</a:t>
            </a:r>
          </a:p>
        </p:txBody>
      </p:sp>
      <p:sp>
        <p:nvSpPr>
          <p:cNvPr id="9" name="body-p11-evaluation-meta"/>
          <p:cNvSpPr>
            <a:spLocks noGrp="1"/>
          </p:cNvSpPr>
          <p:nvPr/>
        </p:nvSpPr>
        <p:spPr>
          <a:xfrm>
            <a:off x="7905750" y="57150"/>
            <a:ext cx="4057650" cy="133350"/>
          </a:xfrm>
          <a:prstGeom prst="rect">
            <a:avLst/>
          </a:prstGeom>
          <a:noFill/>
          <a:ln w="0">
            <a:noFill/>
            <a:prstDash val="solid"/>
          </a:ln>
        </p:spPr>
        <p:txBody>
          <a:bodyPr wrap="square" lIns="0" tIns="0" rIns="0" bIns="0" anchor="t">
            <a:normAutofit/>
          </a:bodyPr>
          <a:lstStyle/>
          <a:p>
            <a:pPr algn="r">
              <a:defRPr sz="640" b="1">
                <a:solidFill>
                  <a:srgbClr val="6F86A8"/>
                </a:solidFill>
                <a:latin typeface="微软雅黑" panose="020B0503020204020204" charset="-122"/>
                <a:ea typeface="微软雅黑" panose="020B0503020204020204" charset="-122"/>
                <a:cs typeface="微软雅黑" panose="020B0503020204020204" charset="-122"/>
              </a:defRPr>
            </a:pPr>
            <a:r>
              <a:rPr sz="640" b="1">
                <a:solidFill>
                  <a:srgbClr val="6F86A8"/>
                </a:solidFill>
                <a:latin typeface="微软雅黑" panose="020B0503020204020204" charset="-122"/>
                <a:ea typeface="微软雅黑" panose="020B0503020204020204" charset="-122"/>
                <a:cs typeface="微软雅黑" panose="020B0503020204020204" charset="-122"/>
              </a:rPr>
              <a:t>EVALUATION 02 · Kernel Performance</a:t>
            </a:r>
          </a:p>
        </p:txBody>
      </p:sp>
      <p:pic>
        <p:nvPicPr>
          <p:cNvPr id="4" name="title-separator-rule"/>
          <p:cNvPicPr>
            <a:picLocks noChangeAspect="1"/>
          </p:cNvPicPr>
          <p:nvPr/>
        </p:nvPicPr>
        <p:blipFill>
          <a:blip r:embed="rId3"/>
          <a:srcRect t="2941"/>
          <a:stretch>
            <a:fillRect/>
          </a:stretch>
        </p:blipFill>
        <p:spPr>
          <a:xfrm>
            <a:off x="252095" y="687705"/>
            <a:ext cx="11734800" cy="104775"/>
          </a:xfrm>
          <a:prstGeom prst="rect">
            <a:avLst/>
          </a:prstGeom>
        </p:spPr>
      </p:pic>
      <p:sp>
        <p:nvSpPr>
          <p:cNvPr id="2"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10</a:t>
            </a:r>
          </a:p>
        </p:txBody>
      </p:sp>
    </p:spTree>
    <p:extLst>
      <p:ext uri="{BB962C8B-B14F-4D97-AF65-F5344CB8AC3E}">
        <p14:creationId xmlns:p14="http://schemas.microsoft.com/office/powerpoint/2010/main" val="735913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1199515" y="260985"/>
            <a:ext cx="8096250" cy="476250"/>
          </a:xfrm>
          <a:prstGeom prst="rect">
            <a:avLst/>
          </a:prstGeom>
          <a:solidFill>
            <a:srgbClr val="FFFFFF"/>
          </a:solidFill>
          <a:ln w="0">
            <a:noFill/>
            <a:prstDash val="solid"/>
          </a:ln>
        </p:spPr>
        <p:txBody>
          <a:bodyPr wrap="square" lIns="0" tIns="0" rIns="0" bIns="0" anchor="ctr">
            <a:normAutofit/>
          </a:bodyPr>
          <a:lstStyle/>
          <a:p>
            <a:pPr algn="l">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sz="3000" b="1">
                <a:solidFill>
                  <a:srgbClr val="072A67"/>
                </a:solidFill>
                <a:latin typeface="微软雅黑" panose="020B0503020204020204" charset="-122"/>
                <a:ea typeface="微软雅黑" panose="020B0503020204020204" charset="-122"/>
                <a:cs typeface="微软雅黑" panose="020B0503020204020204" charset="-122"/>
              </a:rPr>
              <a:t>四类算子 Skill：开发效率对比</a:t>
            </a:r>
          </a:p>
        </p:txBody>
      </p:sp>
      <p:sp>
        <p:nvSpPr>
          <p:cNvPr id="3" name="elapsed_time_definition"/>
          <p:cNvSpPr>
            <a:spLocks noGrp="1"/>
          </p:cNvSpPr>
          <p:nvPr/>
        </p:nvSpPr>
        <p:spPr>
          <a:xfrm>
            <a:off x="1199515" y="4580890"/>
            <a:ext cx="2562225" cy="276225"/>
          </a:xfrm>
          <a:prstGeom prst="rect">
            <a:avLst/>
          </a:prstGeom>
          <a:noFill/>
          <a:ln w="0">
            <a:noFill/>
            <a:prstDash val="solid"/>
          </a:ln>
        </p:spPr>
        <p:txBody>
          <a:bodyPr wrap="square" lIns="0" tIns="0" rIns="0" bIns="0" anchor="ctr">
            <a:normAutofit/>
          </a:bodyPr>
          <a:lstStyle/>
          <a:p>
            <a:pPr algn="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b="0">
                <a:solidFill>
                  <a:srgbClr val="59616D"/>
                </a:solidFill>
                <a:latin typeface="微软雅黑" panose="020B0503020204020204" charset="-122"/>
                <a:ea typeface="微软雅黑" panose="020B0503020204020204" charset="-122"/>
                <a:cs typeface="微软雅黑" panose="020B0503020204020204" charset="-122"/>
              </a:rPr>
              <a:t>端到端耗时：需求提交 → 最终交付</a:t>
            </a:r>
          </a:p>
        </p:txBody>
      </p:sp>
      <p:sp>
        <p:nvSpPr>
          <p:cNvPr id="5" name="overall_efficiency_card_background"/>
          <p:cNvSpPr>
            <a:spLocks noGrp="1"/>
          </p:cNvSpPr>
          <p:nvPr/>
        </p:nvSpPr>
        <p:spPr>
          <a:xfrm>
            <a:off x="1200150" y="4914900"/>
            <a:ext cx="4686300" cy="1104900"/>
          </a:xfrm>
          <a:prstGeom prst="roundRect">
            <a:avLst>
              <a:gd name="adj" fmla="val 8621"/>
            </a:avLst>
          </a:prstGeom>
          <a:solidFill>
            <a:srgbClr val="FFFFFF"/>
          </a:solidFill>
          <a:ln w="9525">
            <a:solidFill>
              <a:srgbClr val="C8D9F3"/>
            </a:solidFill>
            <a:prstDash val="solid"/>
          </a:ln>
        </p:spPr>
        <p:txBody>
          <a:bodyPr wrap="square" lIns="0" tIns="0" rIns="0" bIns="0" anchor="t">
            <a:normAutofit/>
          </a:bodyPr>
          <a:lstStyle/>
          <a:p>
            <a:endParaRPr/>
          </a:p>
        </p:txBody>
      </p:sp>
      <p:sp>
        <p:nvSpPr>
          <p:cNvPr id="7" name="overall_efficiency_card_title"/>
          <p:cNvSpPr>
            <a:spLocks noGrp="1"/>
          </p:cNvSpPr>
          <p:nvPr/>
        </p:nvSpPr>
        <p:spPr>
          <a:xfrm>
            <a:off x="1559560" y="5010150"/>
            <a:ext cx="2857500" cy="333375"/>
          </a:xfrm>
          <a:prstGeom prst="rect">
            <a:avLst/>
          </a:prstGeom>
          <a:noFill/>
          <a:ln w="0">
            <a:noFill/>
            <a:prstDash val="solid"/>
          </a:ln>
        </p:spPr>
        <p:txBody>
          <a:bodyPr wrap="square" lIns="0" tIns="0" rIns="0" bIns="0" anchor="ctr">
            <a:normAutofit/>
          </a:bodyPr>
          <a:lstStyle/>
          <a:p>
            <a:pPr algn="l">
              <a:buNone/>
              <a:defRPr sz="1800" b="1">
                <a:solidFill>
                  <a:srgbClr val="073477"/>
                </a:solidFill>
                <a:latin typeface="微软雅黑" panose="020B0503020204020204" charset="-122"/>
                <a:ea typeface="微软雅黑" panose="020B0503020204020204" charset="-122"/>
                <a:cs typeface="微软雅黑" panose="020B0503020204020204" charset="-122"/>
              </a:defRPr>
            </a:pPr>
            <a:r>
              <a:rPr sz="1800" b="1">
                <a:solidFill>
                  <a:srgbClr val="073477"/>
                </a:solidFill>
                <a:latin typeface="微软雅黑" panose="020B0503020204020204" charset="-122"/>
                <a:ea typeface="微软雅黑" panose="020B0503020204020204" charset="-122"/>
                <a:cs typeface="微软雅黑" panose="020B0503020204020204" charset="-122"/>
              </a:rPr>
              <a:t>整体效率</a:t>
            </a:r>
          </a:p>
        </p:txBody>
      </p:sp>
      <p:sp>
        <p:nvSpPr>
          <p:cNvPr id="8" name="overall_efficiency_question"/>
          <p:cNvSpPr>
            <a:spLocks noGrp="1"/>
          </p:cNvSpPr>
          <p:nvPr/>
        </p:nvSpPr>
        <p:spPr>
          <a:xfrm>
            <a:off x="1559560" y="5353050"/>
            <a:ext cx="3276600" cy="295275"/>
          </a:xfrm>
          <a:prstGeom prst="rect">
            <a:avLst/>
          </a:prstGeom>
          <a:noFill/>
          <a:ln w="0">
            <a:noFill/>
            <a:prstDash val="solid"/>
          </a:ln>
        </p:spPr>
        <p:txBody>
          <a:bodyPr wrap="square" lIns="0" tIns="0" rIns="0" bIns="0" anchor="ctr">
            <a:normAutofit/>
          </a:bodyPr>
          <a:lstStyle/>
          <a:p>
            <a:pPr algn="l">
              <a:buNone/>
              <a:defRPr sz="1315" b="0">
                <a:solidFill>
                  <a:srgbClr val="151E30"/>
                </a:solidFill>
                <a:latin typeface="微软雅黑" panose="020B0503020204020204" charset="-122"/>
                <a:ea typeface="微软雅黑" panose="020B0503020204020204" charset="-122"/>
                <a:cs typeface="微软雅黑" panose="020B0503020204020204" charset="-122"/>
              </a:defRPr>
            </a:pPr>
            <a:r>
              <a:rPr lang="en-US" sz="1315" b="0">
                <a:solidFill>
                  <a:srgbClr val="151E30"/>
                </a:solidFill>
                <a:latin typeface="微软雅黑" panose="020B0503020204020204" charset="-122"/>
                <a:ea typeface="微软雅黑" panose="020B0503020204020204" charset="-122"/>
                <a:cs typeface="微软雅黑" panose="020B0503020204020204" charset="-122"/>
              </a:rPr>
              <a:t>Triton </a:t>
            </a:r>
            <a:r>
              <a:rPr sz="1315" b="0">
                <a:solidFill>
                  <a:srgbClr val="151E30"/>
                </a:solidFill>
                <a:latin typeface="微软雅黑" panose="020B0503020204020204" charset="-122"/>
                <a:ea typeface="微软雅黑" panose="020B0503020204020204" charset="-122"/>
                <a:cs typeface="微软雅黑" panose="020B0503020204020204" charset="-122"/>
              </a:rPr>
              <a:t>Skill 的平均开发耗时</a:t>
            </a:r>
            <a:r>
              <a:rPr lang="zh-CN" sz="1315" b="0">
                <a:solidFill>
                  <a:srgbClr val="151E30"/>
                </a:solidFill>
                <a:latin typeface="微软雅黑" panose="020B0503020204020204" charset="-122"/>
                <a:ea typeface="微软雅黑" panose="020B0503020204020204" charset="-122"/>
                <a:cs typeface="微软雅黑" panose="020B0503020204020204" charset="-122"/>
              </a:rPr>
              <a:t>高低</a:t>
            </a:r>
          </a:p>
        </p:txBody>
      </p:sp>
      <p:sp>
        <p:nvSpPr>
          <p:cNvPr id="9" name="overall_efficiency_answer_placeholder"/>
          <p:cNvSpPr>
            <a:spLocks noGrp="1"/>
          </p:cNvSpPr>
          <p:nvPr/>
        </p:nvSpPr>
        <p:spPr>
          <a:xfrm>
            <a:off x="1559560" y="5657850"/>
            <a:ext cx="2619375" cy="276225"/>
          </a:xfrm>
          <a:prstGeom prst="rect">
            <a:avLst/>
          </a:prstGeom>
          <a:noFill/>
          <a:ln w="0">
            <a:noFill/>
            <a:prstDash val="solid"/>
          </a:ln>
        </p:spPr>
        <p:txBody>
          <a:bodyPr wrap="square" lIns="0" tIns="0" rIns="0" bIns="0" anchor="ctr">
            <a:normAutofit/>
          </a:bodyPr>
          <a:lstStyle/>
          <a:p>
            <a:pPr algn="l">
              <a:buNone/>
              <a:defRPr sz="1275" b="1">
                <a:solidFill>
                  <a:srgbClr val="0D59D0"/>
                </a:solidFill>
                <a:latin typeface="微软雅黑" panose="020B0503020204020204" charset="-122"/>
                <a:ea typeface="微软雅黑" panose="020B0503020204020204" charset="-122"/>
                <a:cs typeface="微软雅黑" panose="020B0503020204020204" charset="-122"/>
              </a:defRPr>
            </a:pPr>
            <a:r>
              <a:rPr lang="en-US" sz="1275" b="1">
                <a:solidFill>
                  <a:srgbClr val="0D59D0"/>
                </a:solidFill>
                <a:latin typeface="微软雅黑" panose="020B0503020204020204" charset="-122"/>
                <a:ea typeface="微软雅黑" panose="020B0503020204020204" charset="-122"/>
                <a:cs typeface="微软雅黑" panose="020B0503020204020204" charset="-122"/>
              </a:rPr>
              <a:t>BANG C Cuda c </a:t>
            </a:r>
            <a:r>
              <a:rPr lang="zh-CN" altLang="en-US" sz="1275" b="1">
                <a:solidFill>
                  <a:srgbClr val="0D59D0"/>
                </a:solidFill>
                <a:latin typeface="微软雅黑" panose="020B0503020204020204" charset="-122"/>
                <a:ea typeface="微软雅黑" panose="020B0503020204020204" charset="-122"/>
                <a:cs typeface="微软雅黑" panose="020B0503020204020204" charset="-122"/>
              </a:rPr>
              <a:t>效率较低</a:t>
            </a:r>
          </a:p>
        </p:txBody>
      </p:sp>
      <p:sp>
        <p:nvSpPr>
          <p:cNvPr id="10" name="operator_difference_card_background"/>
          <p:cNvSpPr>
            <a:spLocks noGrp="1"/>
          </p:cNvSpPr>
          <p:nvPr/>
        </p:nvSpPr>
        <p:spPr>
          <a:xfrm>
            <a:off x="6162675" y="4914900"/>
            <a:ext cx="4838700" cy="1104900"/>
          </a:xfrm>
          <a:prstGeom prst="roundRect">
            <a:avLst>
              <a:gd name="adj" fmla="val 8621"/>
            </a:avLst>
          </a:prstGeom>
          <a:solidFill>
            <a:srgbClr val="FFFFFF"/>
          </a:solidFill>
          <a:ln w="9525">
            <a:solidFill>
              <a:srgbClr val="C8D9F3"/>
            </a:solidFill>
            <a:prstDash val="solid"/>
          </a:ln>
        </p:spPr>
        <p:txBody>
          <a:bodyPr wrap="square" lIns="0" tIns="0" rIns="0" bIns="0" anchor="t">
            <a:normAutofit/>
          </a:bodyPr>
          <a:lstStyle/>
          <a:p>
            <a:endParaRPr/>
          </a:p>
        </p:txBody>
      </p:sp>
      <p:sp>
        <p:nvSpPr>
          <p:cNvPr id="12" name="operator_difference_card_title"/>
          <p:cNvSpPr>
            <a:spLocks noGrp="1"/>
          </p:cNvSpPr>
          <p:nvPr/>
        </p:nvSpPr>
        <p:spPr>
          <a:xfrm>
            <a:off x="6456045" y="5029835"/>
            <a:ext cx="2857500" cy="333375"/>
          </a:xfrm>
          <a:prstGeom prst="rect">
            <a:avLst/>
          </a:prstGeom>
          <a:noFill/>
          <a:ln w="0">
            <a:noFill/>
            <a:prstDash val="solid"/>
          </a:ln>
        </p:spPr>
        <p:txBody>
          <a:bodyPr wrap="square" lIns="0" tIns="0" rIns="0" bIns="0" anchor="ctr">
            <a:normAutofit/>
          </a:bodyPr>
          <a:lstStyle/>
          <a:p>
            <a:pPr algn="l">
              <a:buNone/>
              <a:defRPr sz="1800" b="1">
                <a:solidFill>
                  <a:srgbClr val="073477"/>
                </a:solidFill>
                <a:latin typeface="微软雅黑" panose="020B0503020204020204" charset="-122"/>
                <a:ea typeface="微软雅黑" panose="020B0503020204020204" charset="-122"/>
                <a:cs typeface="微软雅黑" panose="020B0503020204020204" charset="-122"/>
              </a:defRPr>
            </a:pPr>
            <a:r>
              <a:rPr lang="en-US" sz="1800" b="1">
                <a:solidFill>
                  <a:srgbClr val="073477"/>
                </a:solidFill>
                <a:latin typeface="微软雅黑" panose="020B0503020204020204" charset="-122"/>
                <a:ea typeface="微软雅黑" panose="020B0503020204020204" charset="-122"/>
                <a:cs typeface="微软雅黑" panose="020B0503020204020204" charset="-122"/>
              </a:rPr>
              <a:t>Matmul</a:t>
            </a:r>
            <a:r>
              <a:rPr sz="1800" b="1">
                <a:solidFill>
                  <a:srgbClr val="073477"/>
                </a:solidFill>
                <a:latin typeface="微软雅黑" panose="020B0503020204020204" charset="-122"/>
                <a:ea typeface="微软雅黑" panose="020B0503020204020204" charset="-122"/>
                <a:cs typeface="微软雅黑" panose="020B0503020204020204" charset="-122"/>
              </a:rPr>
              <a:t>算子</a:t>
            </a:r>
          </a:p>
        </p:txBody>
      </p:sp>
      <p:sp>
        <p:nvSpPr>
          <p:cNvPr id="13" name="operator_difference_question"/>
          <p:cNvSpPr>
            <a:spLocks noGrp="1"/>
          </p:cNvSpPr>
          <p:nvPr/>
        </p:nvSpPr>
        <p:spPr>
          <a:xfrm>
            <a:off x="6456045" y="5372735"/>
            <a:ext cx="3505200" cy="295275"/>
          </a:xfrm>
          <a:prstGeom prst="rect">
            <a:avLst/>
          </a:prstGeom>
          <a:noFill/>
          <a:ln w="0">
            <a:noFill/>
            <a:prstDash val="solid"/>
          </a:ln>
        </p:spPr>
        <p:txBody>
          <a:bodyPr wrap="square" lIns="0" tIns="0" rIns="0" bIns="0" anchor="ctr">
            <a:normAutofit/>
          </a:bodyPr>
          <a:lstStyle/>
          <a:p>
            <a:pPr algn="l">
              <a:buNone/>
              <a:defRPr sz="1315" b="0">
                <a:solidFill>
                  <a:srgbClr val="151E30"/>
                </a:solidFill>
                <a:latin typeface="微软雅黑" panose="020B0503020204020204" charset="-122"/>
                <a:ea typeface="微软雅黑" panose="020B0503020204020204" charset="-122"/>
                <a:cs typeface="微软雅黑" panose="020B0503020204020204" charset="-122"/>
              </a:defRPr>
            </a:pPr>
            <a:r>
              <a:rPr lang="zh-CN" sz="1315" b="0">
                <a:solidFill>
                  <a:srgbClr val="151E30"/>
                </a:solidFill>
                <a:latin typeface="微软雅黑" panose="020B0503020204020204" charset="-122"/>
                <a:ea typeface="微软雅黑" panose="020B0503020204020204" charset="-122"/>
                <a:cs typeface="微软雅黑" panose="020B0503020204020204" charset="-122"/>
              </a:rPr>
              <a:t>加速效率不好，需要优化</a:t>
            </a:r>
          </a:p>
        </p:txBody>
      </p:sp>
      <p:sp>
        <p:nvSpPr>
          <p:cNvPr id="15" name="next_page_navigation_background"/>
          <p:cNvSpPr>
            <a:spLocks noGrp="1"/>
          </p:cNvSpPr>
          <p:nvPr/>
        </p:nvSpPr>
        <p:spPr>
          <a:xfrm>
            <a:off x="1200150" y="6172200"/>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a:endParaRPr/>
          </a:p>
        </p:txBody>
      </p:sp>
      <p:graphicFrame>
        <p:nvGraphicFramePr>
          <p:cNvPr id="54" name="development_time_by_skill_and_operator"/>
          <p:cNvGraphicFramePr/>
          <p:nvPr>
            <p:extLst>
              <p:ext uri="{D42A27DB-BD31-4B8C-83A1-F6EECF244321}">
                <p14:modId xmlns:p14="http://schemas.microsoft.com/office/powerpoint/2010/main" val="3401826619"/>
              </p:ext>
            </p:extLst>
          </p:nvPr>
        </p:nvGraphicFramePr>
        <p:xfrm>
          <a:off x="1200150" y="1066800"/>
          <a:ext cx="7600950" cy="3343275"/>
        </p:xfrm>
        <a:graphic>
          <a:graphicData uri="http://schemas.openxmlformats.org/drawingml/2006/table">
            <a:tbl>
              <a:tblPr firstRow="1"/>
              <a:tblGrid>
                <a:gridCol w="19812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tblGrid>
              <a:tr h="476250">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Skill</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LayerNorm</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Softmax</a:t>
                      </a:r>
                    </a:p>
                  </a:txBody>
                  <a:tcPr marL="38100" marR="38100" marT="19050" marB="19050" anchor="ctr">
                    <a:solidFill>
                      <a:srgbClr val="0A3676"/>
                    </a:solidFill>
                  </a:tcPr>
                </a:tc>
                <a:tc>
                  <a:txBody>
                    <a:bodyPr/>
                    <a:lstStyle/>
                    <a:p>
                      <a:pPr algn="ctr">
                        <a:buNone/>
                      </a:pPr>
                      <a:r>
                        <a:rPr sz="1500" b="1">
                          <a:solidFill>
                            <a:srgbClr val="FFFFFF"/>
                          </a:solidFill>
                          <a:latin typeface="微软雅黑" panose="020B0503020204020204" charset="-122"/>
                          <a:ea typeface="微软雅黑" panose="020B0503020204020204" charset="-122"/>
                          <a:cs typeface="微软雅黑" panose="020B0503020204020204" charset="-122"/>
                        </a:rPr>
                        <a:t>MatMul</a:t>
                      </a:r>
                    </a:p>
                  </a:txBody>
                  <a:tcPr marL="38100" marR="38100" marT="19050" marB="19050" anchor="ctr">
                    <a:solidFill>
                      <a:srgbClr val="0A3676"/>
                    </a:solidFill>
                  </a:tcPr>
                </a:tc>
                <a:extLst>
                  <a:ext uri="{0D108BD9-81ED-4DB2-BD59-A6C34878D82A}">
                    <a16:rowId xmlns:a16="http://schemas.microsoft.com/office/drawing/2014/main" val="10000"/>
                  </a:ext>
                </a:extLst>
              </a:tr>
              <a:tr h="714375">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MLU Triton</a:t>
                      </a:r>
                    </a:p>
                  </a:txBody>
                  <a:tcPr marL="38100" marR="38100" marT="19050" marB="19050" anchor="ctr">
                    <a:solidFill>
                      <a:srgbClr val="F4F7FC"/>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3</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2</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3</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h26</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1"/>
                  </a:ext>
                </a:extLst>
              </a:tr>
              <a:tr h="723900">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BANG C</a:t>
                      </a:r>
                    </a:p>
                  </a:txBody>
                  <a:tcPr marL="38100" marR="38100" marT="19050" marB="19050" anchor="ctr">
                    <a:solidFill>
                      <a:srgbClr val="F4F7FC"/>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7</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7</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10</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a:t>
                      </a:r>
                    </a:p>
                  </a:txBody>
                  <a:tcPr marL="38100" marR="38100" marT="19050" marB="19050" anchor="ctr">
                    <a:solidFill>
                      <a:srgbClr val="FFFFFF"/>
                    </a:solidFill>
                  </a:tcPr>
                </a:tc>
                <a:extLst>
                  <a:ext uri="{0D108BD9-81ED-4DB2-BD59-A6C34878D82A}">
                    <a16:rowId xmlns:a16="http://schemas.microsoft.com/office/drawing/2014/main" val="10002"/>
                  </a:ext>
                </a:extLst>
              </a:tr>
              <a:tr h="714375">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CUDA C</a:t>
                      </a:r>
                    </a:p>
                  </a:txBody>
                  <a:tcPr marL="38100" marR="38100" marT="19050" marB="19050" anchor="ctr">
                    <a:solidFill>
                      <a:srgbClr val="F4F7FC"/>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1</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h57</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1</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h10m</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1</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h20m</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3"/>
                  </a:ext>
                </a:extLst>
              </a:tr>
              <a:tr h="714375">
                <a:tc>
                  <a:txBody>
                    <a:bodyPr/>
                    <a:lstStyle/>
                    <a:p>
                      <a:pPr algn="ctr">
                        <a:buNone/>
                      </a:pPr>
                      <a:r>
                        <a:rPr sz="1575" b="1">
                          <a:solidFill>
                            <a:srgbClr val="0A3473"/>
                          </a:solidFill>
                          <a:latin typeface="微软雅黑" panose="020B0503020204020204" charset="-122"/>
                          <a:ea typeface="微软雅黑" panose="020B0503020204020204" charset="-122"/>
                          <a:cs typeface="微软雅黑" panose="020B0503020204020204" charset="-122"/>
                        </a:rPr>
                        <a:t>GPU Triton</a:t>
                      </a:r>
                    </a:p>
                  </a:txBody>
                  <a:tcPr marL="38100" marR="38100" marT="19050" marB="19050" anchor="ctr">
                    <a:solidFill>
                      <a:srgbClr val="F4F7FC"/>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2</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h30m</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3</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tc>
                  <a:txBody>
                    <a:bodyPr/>
                    <a:lstStyle/>
                    <a:p>
                      <a:pPr algn="ctr">
                        <a:buNone/>
                      </a:pPr>
                      <a:r>
                        <a:rPr lang="en-US" sz="1425" b="0" dirty="0" smtClean="0">
                          <a:solidFill>
                            <a:srgbClr val="4D535D"/>
                          </a:solidFill>
                          <a:latin typeface="微软雅黑" panose="020B0503020204020204" charset="-122"/>
                          <a:ea typeface="微软雅黑" panose="020B0503020204020204" charset="-122"/>
                          <a:cs typeface="微软雅黑" panose="020B0503020204020204" charset="-122"/>
                        </a:rPr>
                        <a:t>1</a:t>
                      </a:r>
                      <a:r>
                        <a:rPr lang="en-US" altLang="zh-CN" sz="1425" b="0" dirty="0" smtClean="0">
                          <a:solidFill>
                            <a:srgbClr val="4D535D"/>
                          </a:solidFill>
                          <a:latin typeface="微软雅黑" panose="020B0503020204020204" charset="-122"/>
                          <a:ea typeface="微软雅黑" panose="020B0503020204020204" charset="-122"/>
                          <a:cs typeface="微软雅黑" panose="020B0503020204020204" charset="-122"/>
                        </a:rPr>
                        <a:t>h30m</a:t>
                      </a:r>
                      <a:endParaRPr sz="1425" b="0" dirty="0">
                        <a:solidFill>
                          <a:srgbClr val="4D535D"/>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55" name="average_development_time"/>
          <p:cNvGraphicFramePr/>
          <p:nvPr>
            <p:extLst>
              <p:ext uri="{D42A27DB-BD31-4B8C-83A1-F6EECF244321}">
                <p14:modId xmlns:p14="http://schemas.microsoft.com/office/powerpoint/2010/main" val="603556539"/>
              </p:ext>
            </p:extLst>
          </p:nvPr>
        </p:nvGraphicFramePr>
        <p:xfrm>
          <a:off x="8801100" y="1066800"/>
          <a:ext cx="2200275" cy="3343275"/>
        </p:xfrm>
        <a:graphic>
          <a:graphicData uri="http://schemas.openxmlformats.org/drawingml/2006/table">
            <a:tbl>
              <a:tblPr firstRow="1"/>
              <a:tblGrid>
                <a:gridCol w="2200275">
                  <a:extLst>
                    <a:ext uri="{9D8B030D-6E8A-4147-A177-3AD203B41FA5}">
                      <a16:colId xmlns:a16="http://schemas.microsoft.com/office/drawing/2014/main" val="20000"/>
                    </a:ext>
                  </a:extLst>
                </a:gridCol>
              </a:tblGrid>
              <a:tr h="476250">
                <a:tc>
                  <a:txBody>
                    <a:bodyPr/>
                    <a:lstStyle/>
                    <a:p>
                      <a:pPr algn="ctr">
                        <a:buNone/>
                      </a:pPr>
                      <a:r>
                        <a:rPr sz="1725" b="1">
                          <a:solidFill>
                            <a:srgbClr val="FFFFFF"/>
                          </a:solidFill>
                          <a:latin typeface="微软雅黑" panose="020B0503020204020204" charset="-122"/>
                          <a:ea typeface="微软雅黑" panose="020B0503020204020204" charset="-122"/>
                          <a:cs typeface="微软雅黑" panose="020B0503020204020204" charset="-122"/>
                        </a:rPr>
                        <a:t>平均耗时</a:t>
                      </a:r>
                    </a:p>
                  </a:txBody>
                  <a:tcPr marL="38100" marR="38100" marT="19050" marB="19050" anchor="ctr">
                    <a:solidFill>
                      <a:srgbClr val="2E66D1"/>
                    </a:solidFill>
                  </a:tcPr>
                </a:tc>
                <a:extLst>
                  <a:ext uri="{0D108BD9-81ED-4DB2-BD59-A6C34878D82A}">
                    <a16:rowId xmlns:a16="http://schemas.microsoft.com/office/drawing/2014/main" val="10000"/>
                  </a:ext>
                </a:extLst>
              </a:tr>
              <a:tr h="714375">
                <a:tc>
                  <a:txBody>
                    <a:bodyPr/>
                    <a:lstStyle/>
                    <a:p>
                      <a:pPr algn="ctr">
                        <a:buNone/>
                      </a:pPr>
                      <a:r>
                        <a:rPr lang="en-US" sz="1875" b="1" dirty="0" smtClean="0">
                          <a:solidFill>
                            <a:srgbClr val="073477"/>
                          </a:solidFill>
                          <a:latin typeface="微软雅黑" panose="020B0503020204020204" charset="-122"/>
                          <a:ea typeface="微软雅黑" panose="020B0503020204020204" charset="-122"/>
                          <a:cs typeface="微软雅黑" panose="020B0503020204020204" charset="-122"/>
                        </a:rPr>
                        <a:t>2h 49m</a:t>
                      </a:r>
                      <a:endParaRPr sz="1875" b="1" dirty="0">
                        <a:solidFill>
                          <a:srgbClr val="073477"/>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2F6FF"/>
                    </a:solidFill>
                  </a:tcPr>
                </a:tc>
                <a:extLst>
                  <a:ext uri="{0D108BD9-81ED-4DB2-BD59-A6C34878D82A}">
                    <a16:rowId xmlns:a16="http://schemas.microsoft.com/office/drawing/2014/main" val="10001"/>
                  </a:ext>
                </a:extLst>
              </a:tr>
              <a:tr h="723900">
                <a:tc>
                  <a:txBody>
                    <a:bodyPr/>
                    <a:lstStyle/>
                    <a:p>
                      <a:pPr algn="ctr">
                        <a:buNone/>
                      </a:pPr>
                      <a:r>
                        <a:rPr lang="en-US" sz="1875" b="1" dirty="0" smtClean="0">
                          <a:solidFill>
                            <a:srgbClr val="073477"/>
                          </a:solidFill>
                          <a:latin typeface="微软雅黑" panose="020B0503020204020204" charset="-122"/>
                          <a:ea typeface="微软雅黑" panose="020B0503020204020204" charset="-122"/>
                          <a:cs typeface="微软雅黑" panose="020B0503020204020204" charset="-122"/>
                        </a:rPr>
                        <a:t>8</a:t>
                      </a:r>
                      <a:r>
                        <a:rPr lang="en-US" altLang="zh-CN" sz="1875" b="1" dirty="0" smtClean="0">
                          <a:solidFill>
                            <a:srgbClr val="073477"/>
                          </a:solidFill>
                          <a:latin typeface="微软雅黑" panose="020B0503020204020204" charset="-122"/>
                          <a:ea typeface="微软雅黑" panose="020B0503020204020204" charset="-122"/>
                          <a:cs typeface="微软雅黑" panose="020B0503020204020204" charset="-122"/>
                        </a:rPr>
                        <a:t>h</a:t>
                      </a:r>
                      <a:endParaRPr sz="1875" b="1" dirty="0">
                        <a:solidFill>
                          <a:srgbClr val="073477"/>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2F6FF"/>
                    </a:solidFill>
                  </a:tcPr>
                </a:tc>
                <a:extLst>
                  <a:ext uri="{0D108BD9-81ED-4DB2-BD59-A6C34878D82A}">
                    <a16:rowId xmlns:a16="http://schemas.microsoft.com/office/drawing/2014/main" val="10002"/>
                  </a:ext>
                </a:extLst>
              </a:tr>
              <a:tr h="714375">
                <a:tc>
                  <a:txBody>
                    <a:bodyPr/>
                    <a:lstStyle/>
                    <a:p>
                      <a:pPr algn="ctr">
                        <a:buNone/>
                      </a:pPr>
                      <a:r>
                        <a:rPr lang="en-US" sz="1875" b="1" dirty="0" smtClean="0">
                          <a:solidFill>
                            <a:srgbClr val="073477"/>
                          </a:solidFill>
                          <a:latin typeface="微软雅黑" panose="020B0503020204020204" charset="-122"/>
                          <a:ea typeface="微软雅黑" panose="020B0503020204020204" charset="-122"/>
                          <a:cs typeface="微软雅黑" panose="020B0503020204020204" charset="-122"/>
                        </a:rPr>
                        <a:t>1h 29m</a:t>
                      </a:r>
                      <a:endParaRPr sz="1875" b="1" dirty="0">
                        <a:solidFill>
                          <a:srgbClr val="073477"/>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2F6FF"/>
                    </a:solidFill>
                  </a:tcPr>
                </a:tc>
                <a:extLst>
                  <a:ext uri="{0D108BD9-81ED-4DB2-BD59-A6C34878D82A}">
                    <a16:rowId xmlns:a16="http://schemas.microsoft.com/office/drawing/2014/main" val="10003"/>
                  </a:ext>
                </a:extLst>
              </a:tr>
              <a:tr h="714375">
                <a:tc>
                  <a:txBody>
                    <a:bodyPr/>
                    <a:lstStyle/>
                    <a:p>
                      <a:pPr algn="ctr">
                        <a:buNone/>
                      </a:pPr>
                      <a:r>
                        <a:rPr lang="en-US" sz="1875" b="1" dirty="0" smtClean="0">
                          <a:solidFill>
                            <a:srgbClr val="073477"/>
                          </a:solidFill>
                          <a:latin typeface="微软雅黑" panose="020B0503020204020204" charset="-122"/>
                          <a:ea typeface="微软雅黑" panose="020B0503020204020204" charset="-122"/>
                          <a:cs typeface="微软雅黑" panose="020B0503020204020204" charset="-122"/>
                        </a:rPr>
                        <a:t>2h 20m</a:t>
                      </a:r>
                      <a:endParaRPr sz="1875" b="1" dirty="0">
                        <a:solidFill>
                          <a:srgbClr val="073477"/>
                        </a:solidFill>
                        <a:latin typeface="微软雅黑" panose="020B0503020204020204" charset="-122"/>
                        <a:ea typeface="微软雅黑" panose="020B0503020204020204" charset="-122"/>
                        <a:cs typeface="微软雅黑" panose="020B0503020204020204" charset="-122"/>
                      </a:endParaRPr>
                    </a:p>
                  </a:txBody>
                  <a:tcPr marL="38100" marR="38100" marT="19050" marB="19050" anchor="ctr">
                    <a:solidFill>
                      <a:srgbClr val="F2F6FF"/>
                    </a:solidFill>
                  </a:tcPr>
                </a:tc>
                <a:extLst>
                  <a:ext uri="{0D108BD9-81ED-4DB2-BD59-A6C34878D82A}">
                    <a16:rowId xmlns:a16="http://schemas.microsoft.com/office/drawing/2014/main" val="10004"/>
                  </a:ext>
                </a:extLst>
              </a:tr>
            </a:tbl>
          </a:graphicData>
        </a:graphic>
      </p:graphicFrame>
      <p:pic>
        <p:nvPicPr>
          <p:cNvPr id="21" name="title-separator-rule"/>
          <p:cNvPicPr>
            <a:picLocks noChangeAspect="1"/>
          </p:cNvPicPr>
          <p:nvPr/>
        </p:nvPicPr>
        <p:blipFill>
          <a:blip r:embed="rId3"/>
          <a:srcRect t="2941"/>
          <a:stretch>
            <a:fillRect/>
          </a:stretch>
        </p:blipFill>
        <p:spPr>
          <a:xfrm>
            <a:off x="252095" y="687705"/>
            <a:ext cx="11734800" cy="104775"/>
          </a:xfrm>
          <a:prstGeom prst="rect">
            <a:avLst/>
          </a:prstGeom>
        </p:spPr>
      </p:pic>
      <p:sp>
        <p:nvSpPr>
          <p:cNvPr id="2"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p:spPr>
        <p:txBody>
          <a:bodyPr wrap="square" lIns="0" tIns="0" rIns="0" bIns="0" anchor="ctr">
            <a:normAutofit/>
          </a:bodyPr>
          <a:lstStyle/>
          <a:p>
            <a:pPr algn="l">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072A67"/>
                </a:solidFill>
                <a:latin typeface="微软雅黑" panose="020B0503020204020204" charset="-122"/>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p:spPr>
        <p:txBody>
          <a:bodyPr wrap="square" lIns="0" tIns="0" rIns="0" bIns="0" anchor="ctr">
            <a:normAutofit/>
          </a:bodyPr>
          <a:lstStyle/>
          <a:p>
            <a:pPr algn="l">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b="0">
                <a:solidFill>
                  <a:srgbClr val="56627A"/>
                </a:solidFill>
                <a:latin typeface="微软雅黑" panose="020B0503020204020204" charset="-122"/>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C8D9F3"/>
          </a:solidFill>
          <a:ln w="0">
            <a:noFill/>
            <a:prstDash val="solid"/>
          </a:ln>
        </p:spPr>
      </p:sp>
      <p:sp>
        <p:nvSpPr>
          <p:cNvPr id="5" name="contents-card-1"/>
          <p:cNvSpPr>
            <a:spLocks noGrp="1"/>
          </p:cNvSpPr>
          <p:nvPr/>
        </p:nvSpPr>
        <p:spPr>
          <a:xfrm>
            <a:off x="609600" y="1295400"/>
            <a:ext cx="10972800" cy="981075"/>
          </a:xfrm>
          <a:prstGeom prst="roundRect">
            <a:avLst>
              <a:gd name="adj" fmla="val 7767"/>
            </a:avLst>
          </a:prstGeom>
          <a:solidFill>
            <a:srgbClr val="FFFFFF"/>
          </a:solidFill>
          <a:ln w="9525">
            <a:solidFill>
              <a:srgbClr val="C8D9F3"/>
            </a:solidFill>
            <a:prstDash val="solid"/>
          </a:ln>
        </p:spPr>
      </p:sp>
      <p:sp>
        <p:nvSpPr>
          <p:cNvPr id="6" name="contents-card-1-accent"/>
          <p:cNvSpPr>
            <a:spLocks noGrp="1"/>
          </p:cNvSpPr>
          <p:nvPr/>
        </p:nvSpPr>
        <p:spPr>
          <a:xfrm>
            <a:off x="609600" y="1295400"/>
            <a:ext cx="66675" cy="981075"/>
          </a:xfrm>
          <a:prstGeom prst="rect">
            <a:avLst/>
          </a:prstGeom>
          <a:solidFill>
            <a:schemeClr val="bg1">
              <a:lumMod val="50000"/>
            </a:schemeClr>
          </a:solidFill>
          <a:ln w="0">
            <a:noFill/>
            <a:prstDash val="solid"/>
          </a:ln>
        </p:spPr>
      </p:sp>
      <p:sp>
        <p:nvSpPr>
          <p:cNvPr id="7" name="contents-card-1-part"/>
          <p:cNvSpPr>
            <a:spLocks noGrp="1"/>
          </p:cNvSpPr>
          <p:nvPr/>
        </p:nvSpPr>
        <p:spPr>
          <a:xfrm>
            <a:off x="839470" y="1628775"/>
            <a:ext cx="1104900" cy="266700"/>
          </a:xfrm>
          <a:prstGeom prst="rect">
            <a:avLst/>
          </a:prstGeom>
          <a:noFill/>
          <a:ln w="0">
            <a:noFill/>
            <a:prstDash val="solid"/>
          </a:ln>
        </p:spPr>
        <p:txBody>
          <a:bodyPr wrap="square" lIns="0" tIns="0" rIns="0" bIns="0" anchor="ctr">
            <a:normAutofit/>
          </a:bodyPr>
          <a:lstStyle/>
          <a:p>
            <a:pPr algn="l">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C8D9F3"/>
          </a:solidFill>
          <a:ln w="0">
            <a:noFill/>
            <a:prstDash val="solid"/>
          </a:ln>
        </p:spPr>
      </p:sp>
      <p:sp>
        <p:nvSpPr>
          <p:cNvPr id="10" name="contents-card-1-title"/>
          <p:cNvSpPr>
            <a:spLocks noGrp="1"/>
          </p:cNvSpPr>
          <p:nvPr/>
        </p:nvSpPr>
        <p:spPr>
          <a:xfrm>
            <a:off x="2286000" y="139065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500" b="1">
                <a:solidFill>
                  <a:srgbClr val="072A67"/>
                </a:solidFill>
                <a:latin typeface="微软雅黑" panose="020B0503020204020204" charset="-122"/>
                <a:ea typeface="微软雅黑" panose="020B0503020204020204" charset="-122"/>
                <a:cs typeface="微软雅黑" panose="020B0503020204020204" charset="-122"/>
              </a:rPr>
              <a:t>Agent/</a:t>
            </a:r>
            <a:r>
              <a:rPr sz="1500" b="1">
                <a:solidFill>
                  <a:srgbClr val="072A67"/>
                </a:solidFill>
                <a:latin typeface="微软雅黑" panose="020B0503020204020204" charset="-122"/>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oundRect">
            <a:avLst>
              <a:gd name="adj" fmla="val 7767"/>
            </a:avLst>
          </a:prstGeom>
          <a:solidFill>
            <a:srgbClr val="FFFFFF"/>
          </a:solidFill>
          <a:ln w="9525">
            <a:solidFill>
              <a:srgbClr val="C8D9F3"/>
            </a:solidFill>
            <a:prstDash val="solid"/>
          </a:ln>
        </p:spPr>
      </p:sp>
      <p:sp>
        <p:nvSpPr>
          <p:cNvPr id="14" name="contents-card-2-accent"/>
          <p:cNvSpPr>
            <a:spLocks noGrp="1"/>
          </p:cNvSpPr>
          <p:nvPr/>
        </p:nvSpPr>
        <p:spPr>
          <a:xfrm>
            <a:off x="609600" y="2428875"/>
            <a:ext cx="66675" cy="981075"/>
          </a:xfrm>
          <a:prstGeom prst="rect">
            <a:avLst/>
          </a:prstGeom>
          <a:solidFill>
            <a:schemeClr val="bg1">
              <a:lumMod val="50000"/>
            </a:schemeClr>
          </a:solidFill>
          <a:ln w="0">
            <a:noFill/>
            <a:prstDash val="solid"/>
          </a:ln>
        </p:spPr>
      </p:sp>
      <p:sp>
        <p:nvSpPr>
          <p:cNvPr id="15" name="contents-card-2-part"/>
          <p:cNvSpPr>
            <a:spLocks noGrp="1"/>
          </p:cNvSpPr>
          <p:nvPr/>
        </p:nvSpPr>
        <p:spPr>
          <a:xfrm>
            <a:off x="838200" y="2562225"/>
            <a:ext cx="1104900" cy="266700"/>
          </a:xfrm>
          <a:prstGeom prst="rect">
            <a:avLst/>
          </a:prstGeom>
          <a:noFill/>
          <a:ln w="0">
            <a:noFill/>
            <a:prstDash val="solid"/>
          </a:ln>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7B8799"/>
                </a:solidFill>
                <a:latin typeface="微软雅黑" panose="020B0503020204020204" charset="-122"/>
                <a:ea typeface="微软雅黑" panose="020B0503020204020204" charset="-122"/>
                <a:cs typeface="微软雅黑" panose="020B0503020204020204" charset="-122"/>
              </a:rPr>
              <a:t>PART 02</a:t>
            </a:r>
            <a:endParaRPr sz="1125"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C8D9F3"/>
          </a:solidFill>
          <a:ln w="0">
            <a:noFill/>
            <a:prstDash val="solid"/>
          </a:ln>
        </p:spPr>
      </p:sp>
      <p:sp>
        <p:nvSpPr>
          <p:cNvPr id="18" name="contents-card-2-title"/>
          <p:cNvSpPr>
            <a:spLocks noGrp="1"/>
          </p:cNvSpPr>
          <p:nvPr/>
        </p:nvSpPr>
        <p:spPr>
          <a:xfrm>
            <a:off x="2286000" y="252412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500" b="1">
                <a:solidFill>
                  <a:srgbClr val="072A67"/>
                </a:solidFill>
                <a:latin typeface="微软雅黑" panose="020B0503020204020204" charset="-122"/>
                <a:ea typeface="微软雅黑" panose="020B0503020204020204" charset="-122"/>
                <a:cs typeface="微软雅黑" panose="020B0503020204020204" charset="-122"/>
              </a:rPr>
              <a:t>寒武纪</a:t>
            </a:r>
            <a:r>
              <a:rPr sz="1500" b="1">
                <a:solidFill>
                  <a:srgbClr val="072A67"/>
                </a:solidFill>
                <a:latin typeface="微软雅黑" panose="020B0503020204020204" charset="-122"/>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oundRect">
            <a:avLst>
              <a:gd name="adj" fmla="val 7767"/>
            </a:avLst>
          </a:prstGeom>
          <a:solidFill>
            <a:srgbClr val="FFFFFF"/>
          </a:solidFill>
          <a:ln w="9525">
            <a:solidFill>
              <a:srgbClr val="C8D9F3"/>
            </a:solidFill>
            <a:prstDash val="solid"/>
          </a:ln>
        </p:spPr>
      </p:sp>
      <p:sp>
        <p:nvSpPr>
          <p:cNvPr id="22" name="contents-card-3-accent"/>
          <p:cNvSpPr>
            <a:spLocks noGrp="1"/>
          </p:cNvSpPr>
          <p:nvPr/>
        </p:nvSpPr>
        <p:spPr>
          <a:xfrm>
            <a:off x="609600" y="3562350"/>
            <a:ext cx="66675" cy="981075"/>
          </a:xfrm>
          <a:prstGeom prst="rect">
            <a:avLst/>
          </a:prstGeom>
          <a:solidFill>
            <a:schemeClr val="bg1">
              <a:lumMod val="50000"/>
            </a:schemeClr>
          </a:solidFill>
          <a:ln w="0">
            <a:noFill/>
            <a:prstDash val="solid"/>
          </a:ln>
        </p:spPr>
      </p:sp>
      <p:sp>
        <p:nvSpPr>
          <p:cNvPr id="23" name="contents-card-3-part"/>
          <p:cNvSpPr>
            <a:spLocks noGrp="1"/>
          </p:cNvSpPr>
          <p:nvPr/>
        </p:nvSpPr>
        <p:spPr>
          <a:xfrm>
            <a:off x="838200" y="3695700"/>
            <a:ext cx="1104900" cy="266700"/>
          </a:xfrm>
          <a:prstGeom prst="rect">
            <a:avLst/>
          </a:prstGeom>
          <a:noFill/>
          <a:ln w="0">
            <a:noFill/>
            <a:prstDash val="solid"/>
          </a:ln>
        </p:spPr>
        <p:txBody>
          <a:bodyPr wrap="square" lIns="0" tIns="0" rIns="0" bIns="0" anchor="ctr">
            <a:normAutofit/>
          </a:bodyPr>
          <a:lstStyle/>
          <a:p>
            <a:pPr lvl="0" algn="l">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a:solidFill>
                  <a:srgbClr val="7B8799"/>
                </a:solidFill>
                <a:sym typeface="+mn-ea"/>
              </a:rPr>
              <a:t>PART 03</a:t>
            </a:r>
          </a:p>
        </p:txBody>
      </p:sp>
      <p:sp>
        <p:nvSpPr>
          <p:cNvPr id="25" name="contents-card-3-divider"/>
          <p:cNvSpPr>
            <a:spLocks noGrp="1"/>
          </p:cNvSpPr>
          <p:nvPr/>
        </p:nvSpPr>
        <p:spPr>
          <a:xfrm>
            <a:off x="2047875" y="3705225"/>
            <a:ext cx="9525" cy="685800"/>
          </a:xfrm>
          <a:prstGeom prst="rect">
            <a:avLst/>
          </a:prstGeom>
          <a:solidFill>
            <a:srgbClr val="C8D9F3"/>
          </a:solidFill>
          <a:ln w="0">
            <a:noFill/>
            <a:prstDash val="solid"/>
          </a:ln>
        </p:spPr>
      </p:sp>
      <p:sp>
        <p:nvSpPr>
          <p:cNvPr id="26" name="contents-card-3-title"/>
          <p:cNvSpPr>
            <a:spLocks noGrp="1"/>
          </p:cNvSpPr>
          <p:nvPr/>
        </p:nvSpPr>
        <p:spPr>
          <a:xfrm>
            <a:off x="2286000" y="3657600"/>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oundRect">
            <a:avLst>
              <a:gd name="adj" fmla="val 7767"/>
            </a:avLst>
          </a:prstGeom>
          <a:solidFill>
            <a:srgbClr val="F7F9FC"/>
          </a:solidFill>
          <a:ln w="9525">
            <a:solidFill>
              <a:srgbClr val="C8D9F3"/>
            </a:solidFill>
            <a:prstDash val="solid"/>
          </a:ln>
        </p:spPr>
      </p:sp>
      <p:sp>
        <p:nvSpPr>
          <p:cNvPr id="30" name="contents-card-4-accent"/>
          <p:cNvSpPr>
            <a:spLocks noGrp="1"/>
          </p:cNvSpPr>
          <p:nvPr/>
        </p:nvSpPr>
        <p:spPr>
          <a:xfrm>
            <a:off x="609600" y="4695825"/>
            <a:ext cx="66675" cy="981075"/>
          </a:xfrm>
          <a:prstGeom prst="rect">
            <a:avLst/>
          </a:prstGeom>
          <a:solidFill>
            <a:srgbClr val="0E56C9"/>
          </a:solidFill>
          <a:ln w="0">
            <a:noFill/>
            <a:prstDash val="solid"/>
          </a:ln>
        </p:spPr>
      </p:sp>
      <p:sp>
        <p:nvSpPr>
          <p:cNvPr id="31" name="contents-card-4-part"/>
          <p:cNvSpPr>
            <a:spLocks noGrp="1"/>
          </p:cNvSpPr>
          <p:nvPr/>
        </p:nvSpPr>
        <p:spPr>
          <a:xfrm>
            <a:off x="838200" y="4829175"/>
            <a:ext cx="1104900" cy="266700"/>
          </a:xfrm>
          <a:prstGeom prst="rect">
            <a:avLst/>
          </a:prstGeom>
          <a:noFill/>
          <a:ln w="0">
            <a:noFill/>
            <a:prstDash val="solid"/>
          </a:ln>
        </p:spPr>
        <p:txBody>
          <a:bodyPr wrap="square" lIns="0" tIns="0" rIns="0" bIns="0" anchor="ctr">
            <a:normAutofit/>
          </a:bodyPr>
          <a:lstStyle/>
          <a:p>
            <a:pPr algn="l">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125" b="1">
                <a:solidFill>
                  <a:srgbClr val="0E56C9"/>
                </a:solidFill>
                <a:latin typeface="微软雅黑" panose="020B0503020204020204" charset="-122"/>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C8D9F3"/>
          </a:solidFill>
          <a:ln w="0">
            <a:noFill/>
            <a:prstDash val="solid"/>
          </a:ln>
        </p:spPr>
      </p:sp>
      <p:sp>
        <p:nvSpPr>
          <p:cNvPr id="34" name="contents-card-4-title"/>
          <p:cNvSpPr>
            <a:spLocks noGrp="1"/>
          </p:cNvSpPr>
          <p:nvPr/>
        </p:nvSpPr>
        <p:spPr>
          <a:xfrm>
            <a:off x="2286000" y="4791075"/>
            <a:ext cx="8953500" cy="304800"/>
          </a:xfrm>
          <a:prstGeom prst="rect">
            <a:avLst/>
          </a:prstGeom>
          <a:noFill/>
          <a:ln w="0">
            <a:noFill/>
            <a:prstDash val="solid"/>
          </a:ln>
        </p:spPr>
        <p:txBody>
          <a:bodyPr wrap="square" lIns="0" tIns="0" rIns="0" bIns="0" anchor="ctr">
            <a:normAutofit/>
          </a:bodyPr>
          <a:lstStyle/>
          <a:p>
            <a:pPr algn="l">
              <a:defRPr sz="1500" b="1">
                <a:solidFill>
                  <a:srgbClr val="072A67"/>
                </a:solidFill>
                <a:latin typeface="微软雅黑" panose="020B0503020204020204" charset="-122"/>
                <a:ea typeface="微软雅黑" panose="020B0503020204020204" charset="-122"/>
                <a:cs typeface="微软雅黑" panose="020B0503020204020204" charset="-122"/>
              </a:defRPr>
            </a:pPr>
            <a:r>
              <a:rPr sz="1500" b="1">
                <a:solidFill>
                  <a:srgbClr val="072A67"/>
                </a:solidFill>
                <a:latin typeface="微软雅黑" panose="020B0503020204020204" charset="-122"/>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628650"/>
            <a:ext cx="10382250" cy="609600"/>
          </a:xfrm>
          <a:prstGeom prst="rect">
            <a:avLst/>
          </a:prstGeom>
          <a:noFill/>
          <a:ln w="0">
            <a:noFill/>
            <a:prstDash val="solid"/>
          </a:ln>
        </p:spPr>
        <p:txBody>
          <a:bodyPr wrap="square" lIns="0" tIns="0" rIns="0" bIns="0" anchor="t">
            <a:noAutofit/>
          </a:bodyPr>
          <a:lstStyle/>
          <a:p>
            <a:pPr algn="l">
              <a:lnSpc>
                <a:spcPct val="98000"/>
              </a:lnSpc>
              <a:buNone/>
              <a:defRPr sz="3450" b="1">
                <a:solidFill>
                  <a:srgbClr val="FFFFFF"/>
                </a:solidFill>
                <a:latin typeface="微软雅黑" panose="020B0503020204020204" charset="-122"/>
                <a:ea typeface="微软雅黑" panose="020B0503020204020204" charset="-122"/>
                <a:cs typeface="微软雅黑" panose="020B0503020204020204" charset="-122"/>
              </a:defRPr>
            </a:pPr>
            <a:r>
              <a:rPr sz="3450" b="1">
                <a:solidFill>
                  <a:schemeClr val="tx1"/>
                </a:solidFill>
                <a:latin typeface="微软雅黑" panose="020B0503020204020204" charset="-122"/>
                <a:ea typeface="微软雅黑" panose="020B0503020204020204" charset="-122"/>
                <a:cs typeface="微软雅黑" panose="020B0503020204020204" charset="-122"/>
              </a:rPr>
              <a:t>未来</a:t>
            </a:r>
            <a:r>
              <a:rPr lang="zh-CN" sz="3450" b="1">
                <a:solidFill>
                  <a:schemeClr val="tx1"/>
                </a:solidFill>
                <a:latin typeface="微软雅黑" panose="020B0503020204020204" charset="-122"/>
                <a:ea typeface="微软雅黑" panose="020B0503020204020204" charset="-122"/>
                <a:cs typeface="微软雅黑" panose="020B0503020204020204" charset="-122"/>
              </a:rPr>
              <a:t>完成一个</a:t>
            </a:r>
            <a:r>
              <a:rPr lang="zh-CN" altLang="en-US" sz="3450" b="1">
                <a:solidFill>
                  <a:schemeClr val="tx1"/>
                </a:solidFill>
                <a:latin typeface="微软雅黑" panose="020B0503020204020204" charset="-122"/>
                <a:ea typeface="微软雅黑" panose="020B0503020204020204" charset="-122"/>
                <a:cs typeface="微软雅黑" panose="020B0503020204020204" charset="-122"/>
              </a:rPr>
              <a:t>自动化完成任意平台模型基础部署</a:t>
            </a:r>
          </a:p>
        </p:txBody>
      </p:sp>
      <p:sp>
        <p:nvSpPr>
          <p:cNvPr id="3" name="矩形 2"/>
          <p:cNvSpPr>
            <a:spLocks noGrp="1"/>
          </p:cNvSpPr>
          <p:nvPr/>
        </p:nvSpPr>
        <p:spPr>
          <a:xfrm>
            <a:off x="11201400" y="41910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sz="1200" b="1">
                <a:solidFill>
                  <a:srgbClr val="AFC2D5"/>
                </a:solidFill>
                <a:latin typeface="微软雅黑" panose="020B0503020204020204" charset="-122"/>
                <a:ea typeface="微软雅黑" panose="020B0503020204020204" charset="-122"/>
                <a:cs typeface="微软雅黑" panose="020B0503020204020204" charset="-122"/>
              </a:rPr>
              <a:t>11</a:t>
            </a:r>
          </a:p>
        </p:txBody>
      </p:sp>
      <p:sp>
        <p:nvSpPr>
          <p:cNvPr id="4" name="直接连接符 3"/>
          <p:cNvSpPr>
            <a:spLocks noGrp="1"/>
          </p:cNvSpPr>
          <p:nvPr/>
        </p:nvSpPr>
        <p:spPr>
          <a:xfrm>
            <a:off x="685800" y="1257300"/>
            <a:ext cx="10820400" cy="0"/>
          </a:xfrm>
          <a:prstGeom prst="line">
            <a:avLst/>
          </a:prstGeom>
          <a:noFill/>
          <a:ln w="8573">
            <a:solidFill>
              <a:srgbClr val="416987"/>
            </a:solidFill>
            <a:prstDash val="solid"/>
          </a:ln>
        </p:spPr>
      </p:sp>
      <p:sp>
        <p:nvSpPr>
          <p:cNvPr id="5" name="矩形 4"/>
          <p:cNvSpPr>
            <a:spLocks noGrp="1"/>
          </p:cNvSpPr>
          <p:nvPr/>
        </p:nvSpPr>
        <p:spPr>
          <a:xfrm>
            <a:off x="8382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全平台 Skill 架构</a:t>
            </a: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p>
        </p:txBody>
      </p:sp>
      <p:sp>
        <p:nvSpPr>
          <p:cNvPr id="8" name="直接连接符 7"/>
          <p:cNvSpPr>
            <a:spLocks noGrp="1"/>
          </p:cNvSpPr>
          <p:nvPr/>
        </p:nvSpPr>
        <p:spPr>
          <a:xfrm>
            <a:off x="3314700" y="2352675"/>
            <a:ext cx="0" cy="247650"/>
          </a:xfrm>
          <a:prstGeom prst="line">
            <a:avLst/>
          </a:prstGeom>
          <a:noFill/>
          <a:ln w="11430">
            <a:solidFill>
              <a:srgbClr val="5F9BFF"/>
            </a:solidFill>
            <a:prstDash val="solid"/>
          </a:ln>
        </p:spPr>
      </p:sp>
      <p:sp>
        <p:nvSpPr>
          <p:cNvPr id="9" name="直接连接符 8"/>
          <p:cNvSpPr>
            <a:spLocks noGrp="1"/>
          </p:cNvSpPr>
          <p:nvPr/>
        </p:nvSpPr>
        <p:spPr>
          <a:xfrm>
            <a:off x="1714500" y="2600325"/>
            <a:ext cx="3200400" cy="0"/>
          </a:xfrm>
          <a:prstGeom prst="line">
            <a:avLst/>
          </a:prstGeom>
          <a:noFill/>
          <a:ln w="11430">
            <a:solidFill>
              <a:srgbClr val="5F9BFF"/>
            </a:solidFill>
            <a:prstDash val="solid"/>
          </a:ln>
        </p:spPr>
      </p:sp>
      <p:sp>
        <p:nvSpPr>
          <p:cNvPr id="10" name="直接连接符 9"/>
          <p:cNvSpPr>
            <a:spLocks noGrp="1"/>
          </p:cNvSpPr>
          <p:nvPr/>
        </p:nvSpPr>
        <p:spPr>
          <a:xfrm>
            <a:off x="1714500" y="2600325"/>
            <a:ext cx="0" cy="238125"/>
          </a:xfrm>
          <a:prstGeom prst="line">
            <a:avLst/>
          </a:prstGeom>
          <a:noFill/>
          <a:ln w="11430">
            <a:solidFill>
              <a:srgbClr val="5F9BFF"/>
            </a:solidFill>
            <a:prstDash val="solid"/>
          </a:ln>
        </p:spPr>
      </p:sp>
      <p:sp>
        <p:nvSpPr>
          <p:cNvPr id="11" name="直接连接符 10"/>
          <p:cNvSpPr>
            <a:spLocks noGrp="1"/>
          </p:cNvSpPr>
          <p:nvPr/>
        </p:nvSpPr>
        <p:spPr>
          <a:xfrm>
            <a:off x="3314700" y="2600325"/>
            <a:ext cx="0" cy="238125"/>
          </a:xfrm>
          <a:prstGeom prst="line">
            <a:avLst/>
          </a:prstGeom>
          <a:noFill/>
          <a:ln w="11430">
            <a:solidFill>
              <a:srgbClr val="5F9BFF"/>
            </a:solidFill>
            <a:prstDash val="solid"/>
          </a:ln>
        </p:spPr>
      </p:sp>
      <p:sp>
        <p:nvSpPr>
          <p:cNvPr id="12" name="直接连接符 11"/>
          <p:cNvSpPr>
            <a:spLocks noGrp="1"/>
          </p:cNvSpPr>
          <p:nvPr/>
        </p:nvSpPr>
        <p:spPr>
          <a:xfrm>
            <a:off x="4914900" y="2600325"/>
            <a:ext cx="0" cy="238125"/>
          </a:xfrm>
          <a:prstGeom prst="line">
            <a:avLst/>
          </a:prstGeom>
          <a:noFill/>
          <a:ln w="11430">
            <a:solidFill>
              <a:srgbClr val="5F9BFF"/>
            </a:solidFill>
            <a:prstDash val="solid"/>
          </a:ln>
        </p:spPr>
      </p:sp>
      <p:sp>
        <p:nvSpPr>
          <p:cNvPr id="13" name="圆角矩形 12"/>
          <p:cNvSpPr>
            <a:spLocks noGrp="1"/>
          </p:cNvSpPr>
          <p:nvPr/>
        </p:nvSpPr>
        <p:spPr>
          <a:xfrm>
            <a:off x="1676400" y="1866900"/>
            <a:ext cx="3276600" cy="514350"/>
          </a:xfrm>
          <a:prstGeom prst="roundRect">
            <a:avLst>
              <a:gd name="adj" fmla="val 11111"/>
            </a:avLst>
          </a:prstGeom>
          <a:solidFill>
            <a:srgbClr val="1F5EFF"/>
          </a:solidFill>
          <a:ln w="9525">
            <a:solidFill>
              <a:srgbClr val="1F5EFF"/>
            </a:solidFill>
            <a:prstDash val="solid"/>
          </a:ln>
        </p:spPr>
        <p:txBody>
          <a:bodyPr wrap="square" lIns="0" tIns="0" rIns="0" bIns="0" anchor="ctr">
            <a:noAutofit/>
          </a:bodyPr>
          <a:lstStyle/>
          <a:p>
            <a:pPr algn="ctr">
              <a:lnSpc>
                <a:spcPct val="108000"/>
              </a:lnSpc>
              <a:buNone/>
              <a:defRPr sz="1725" b="1">
                <a:solidFill>
                  <a:srgbClr val="FFFFFF"/>
                </a:solidFill>
                <a:latin typeface="Consolas" panose="020B0609020204030204"/>
                <a:ea typeface="Consolas" panose="020B0609020204030204"/>
                <a:cs typeface="Consolas" panose="020B0609020204030204"/>
              </a:defRPr>
            </a:pPr>
            <a:r>
              <a:rPr sz="1725" b="1">
                <a:solidFill>
                  <a:srgbClr val="FFFFFF"/>
                </a:solidFill>
                <a:latin typeface="Consolas" panose="020B0609020204030204"/>
                <a:ea typeface="Consolas" panose="020B0609020204030204"/>
                <a:cs typeface="Consolas" panose="020B0609020204030204"/>
              </a:rPr>
              <a:t>Universal Workflow</a:t>
            </a:r>
          </a:p>
        </p:txBody>
      </p:sp>
      <p:sp>
        <p:nvSpPr>
          <p:cNvPr id="14" name="圆角矩形 13"/>
          <p:cNvSpPr>
            <a:spLocks noGrp="1"/>
          </p:cNvSpPr>
          <p:nvPr/>
        </p:nvSpPr>
        <p:spPr>
          <a:xfrm>
            <a:off x="971550" y="2838450"/>
            <a:ext cx="1485900" cy="476250"/>
          </a:xfrm>
          <a:prstGeom prst="roundRect">
            <a:avLst>
              <a:gd name="adj" fmla="val 10000"/>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275" b="1">
                <a:solidFill>
                  <a:srgbClr val="FFFFFF"/>
                </a:solidFill>
                <a:latin typeface="Consolas" panose="020B0609020204030204"/>
                <a:ea typeface="Consolas" panose="020B0609020204030204"/>
                <a:cs typeface="Consolas" panose="020B0609020204030204"/>
              </a:defRPr>
            </a:pPr>
            <a:r>
              <a:rPr sz="1275" b="1">
                <a:solidFill>
                  <a:srgbClr val="FFFFFF"/>
                </a:solidFill>
                <a:latin typeface="Consolas" panose="020B0609020204030204"/>
                <a:ea typeface="Consolas" panose="020B0609020204030204"/>
                <a:cs typeface="Consolas" panose="020B0609020204030204"/>
              </a:rPr>
              <a:t>MLU Shared</a:t>
            </a:r>
          </a:p>
        </p:txBody>
      </p:sp>
      <p:sp>
        <p:nvSpPr>
          <p:cNvPr id="15" name="圆角矩形 14"/>
          <p:cNvSpPr>
            <a:spLocks noGrp="1"/>
          </p:cNvSpPr>
          <p:nvPr/>
        </p:nvSpPr>
        <p:spPr>
          <a:xfrm>
            <a:off x="2571750" y="2838450"/>
            <a:ext cx="1485900" cy="476250"/>
          </a:xfrm>
          <a:prstGeom prst="roundRect">
            <a:avLst>
              <a:gd name="adj" fmla="val 10000"/>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275" b="1">
                <a:solidFill>
                  <a:srgbClr val="FFFFFF"/>
                </a:solidFill>
                <a:latin typeface="Consolas" panose="020B0609020204030204"/>
                <a:ea typeface="Consolas" panose="020B0609020204030204"/>
                <a:cs typeface="Consolas" panose="020B0609020204030204"/>
              </a:defRPr>
            </a:pPr>
            <a:r>
              <a:rPr sz="1275" b="1">
                <a:solidFill>
                  <a:srgbClr val="FFFFFF"/>
                </a:solidFill>
                <a:latin typeface="Consolas" panose="020B0609020204030204"/>
                <a:ea typeface="Consolas" panose="020B0609020204030204"/>
                <a:cs typeface="Consolas" panose="020B0609020204030204"/>
              </a:rPr>
              <a:t>GPU Shared</a:t>
            </a:r>
          </a:p>
        </p:txBody>
      </p:sp>
      <p:sp>
        <p:nvSpPr>
          <p:cNvPr id="16" name="圆角矩形 15"/>
          <p:cNvSpPr>
            <a:spLocks noGrp="1"/>
          </p:cNvSpPr>
          <p:nvPr/>
        </p:nvSpPr>
        <p:spPr>
          <a:xfrm>
            <a:off x="4171950" y="2838450"/>
            <a:ext cx="1485900" cy="476250"/>
          </a:xfrm>
          <a:prstGeom prst="roundRect">
            <a:avLst>
              <a:gd name="adj" fmla="val 10000"/>
            </a:avLst>
          </a:prstGeom>
          <a:solidFill>
            <a:srgbClr val="153B5D"/>
          </a:solidFill>
          <a:ln w="7620">
            <a:solidFill>
              <a:srgbClr val="416987"/>
            </a:solidFill>
            <a:prstDash val="dash"/>
          </a:ln>
        </p:spPr>
        <p:txBody>
          <a:bodyPr wrap="square" lIns="0" tIns="0" rIns="0" bIns="0" anchor="ctr">
            <a:noAutofit/>
          </a:bodyPr>
          <a:lstStyle/>
          <a:p>
            <a:pPr algn="ctr">
              <a:lnSpc>
                <a:spcPct val="108000"/>
              </a:lnSpc>
              <a:buNone/>
              <a:defRPr sz="1275" b="1">
                <a:solidFill>
                  <a:srgbClr val="AFC2D5"/>
                </a:solidFill>
                <a:latin typeface="Consolas" panose="020B0609020204030204"/>
                <a:ea typeface="Consolas" panose="020B0609020204030204"/>
                <a:cs typeface="Consolas" panose="020B0609020204030204"/>
              </a:defRPr>
            </a:pPr>
            <a:r>
              <a:rPr sz="1275" b="1">
                <a:solidFill>
                  <a:srgbClr val="AFC2D5"/>
                </a:solidFill>
                <a:latin typeface="Consolas" panose="020B0609020204030204"/>
                <a:ea typeface="Consolas" panose="020B0609020204030204"/>
                <a:cs typeface="Consolas" panose="020B0609020204030204"/>
              </a:rPr>
              <a:t>Future</a:t>
            </a:r>
          </a:p>
        </p:txBody>
      </p:sp>
      <p:sp>
        <p:nvSpPr>
          <p:cNvPr id="17" name="矩形 16"/>
          <p:cNvSpPr>
            <a:spLocks noGrp="1"/>
          </p:cNvSpPr>
          <p:nvPr/>
        </p:nvSpPr>
        <p:spPr>
          <a:xfrm>
            <a:off x="971550" y="3476625"/>
            <a:ext cx="1485900" cy="285750"/>
          </a:xfrm>
          <a:prstGeom prst="rect">
            <a:avLst/>
          </a:prstGeom>
          <a:noFill/>
          <a:ln w="0">
            <a:noFill/>
            <a:prstDash val="solid"/>
          </a:ln>
        </p:spPr>
        <p:txBody>
          <a:bodyPr wrap="square" lIns="0" tIns="0" rIns="0" bIns="0" anchor="t">
            <a:noAutofit/>
          </a:bodyPr>
          <a:lstStyle/>
          <a:p>
            <a:pPr algn="ctr">
              <a:lnSpc>
                <a:spcPct val="105000"/>
              </a:lnSpc>
              <a:buNone/>
              <a:defRPr sz="1200" b="1">
                <a:solidFill>
                  <a:srgbClr val="B5C5D6"/>
                </a:solidFill>
                <a:latin typeface="Consolas" panose="020B0609020204030204"/>
                <a:ea typeface="Consolas" panose="020B0609020204030204"/>
                <a:cs typeface="Consolas" panose="020B0609020204030204"/>
              </a:defRPr>
            </a:pPr>
            <a:r>
              <a:rPr sz="1200" b="1">
                <a:solidFill>
                  <a:srgbClr val="B5C5D6"/>
                </a:solidFill>
                <a:latin typeface="Consolas" panose="020B0609020204030204"/>
                <a:ea typeface="Consolas" panose="020B0609020204030204"/>
                <a:cs typeface="Consolas" panose="020B0609020204030204"/>
              </a:rPr>
              <a:t>Triton · BANG C</a:t>
            </a:r>
          </a:p>
        </p:txBody>
      </p:sp>
      <p:sp>
        <p:nvSpPr>
          <p:cNvPr id="18" name="矩形 17"/>
          <p:cNvSpPr>
            <a:spLocks noGrp="1"/>
          </p:cNvSpPr>
          <p:nvPr/>
        </p:nvSpPr>
        <p:spPr>
          <a:xfrm>
            <a:off x="2571750" y="3476625"/>
            <a:ext cx="1485900" cy="285750"/>
          </a:xfrm>
          <a:prstGeom prst="rect">
            <a:avLst/>
          </a:prstGeom>
          <a:noFill/>
          <a:ln w="0">
            <a:noFill/>
            <a:prstDash val="solid"/>
          </a:ln>
        </p:spPr>
        <p:txBody>
          <a:bodyPr wrap="square" lIns="0" tIns="0" rIns="0" bIns="0" anchor="t">
            <a:noAutofit/>
          </a:bodyPr>
          <a:lstStyle/>
          <a:p>
            <a:pPr algn="ctr">
              <a:lnSpc>
                <a:spcPct val="105000"/>
              </a:lnSpc>
              <a:buNone/>
              <a:defRPr sz="1200" b="1">
                <a:solidFill>
                  <a:srgbClr val="B5C5D6"/>
                </a:solidFill>
                <a:latin typeface="Consolas" panose="020B0609020204030204"/>
                <a:ea typeface="Consolas" panose="020B0609020204030204"/>
                <a:cs typeface="Consolas" panose="020B0609020204030204"/>
              </a:defRPr>
            </a:pPr>
            <a:r>
              <a:rPr sz="1200" b="1">
                <a:solidFill>
                  <a:srgbClr val="B5C5D6"/>
                </a:solidFill>
                <a:latin typeface="Consolas" panose="020B0609020204030204"/>
                <a:ea typeface="Consolas" panose="020B0609020204030204"/>
                <a:cs typeface="Consolas" panose="020B0609020204030204"/>
              </a:rPr>
              <a:t>Triton · CUDA</a:t>
            </a:r>
          </a:p>
        </p:txBody>
      </p:sp>
      <p:sp>
        <p:nvSpPr>
          <p:cNvPr id="19" name="矩形 18"/>
          <p:cNvSpPr>
            <a:spLocks noGrp="1"/>
          </p:cNvSpPr>
          <p:nvPr/>
        </p:nvSpPr>
        <p:spPr>
          <a:xfrm>
            <a:off x="4171950" y="3476625"/>
            <a:ext cx="1485900" cy="285750"/>
          </a:xfrm>
          <a:prstGeom prst="rect">
            <a:avLst/>
          </a:prstGeom>
          <a:noFill/>
          <a:ln w="0">
            <a:noFill/>
            <a:prstDash val="solid"/>
          </a:ln>
        </p:spPr>
        <p:txBody>
          <a:bodyPr wrap="square" lIns="0" tIns="0" rIns="0" bIns="0" anchor="t">
            <a:noAutofit/>
          </a:bodyPr>
          <a:lstStyle/>
          <a:p>
            <a:pPr algn="ctr">
              <a:lnSpc>
                <a:spcPct val="105000"/>
              </a:lnSpc>
              <a:buNone/>
              <a:defRPr sz="1800" b="1">
                <a:solidFill>
                  <a:srgbClr val="B5C5D6"/>
                </a:solidFill>
                <a:latin typeface="微软雅黑" panose="020B0503020204020204" charset="-122"/>
                <a:ea typeface="微软雅黑" panose="020B0503020204020204" charset="-122"/>
                <a:cs typeface="微软雅黑" panose="020B0503020204020204" charset="-122"/>
              </a:defRPr>
            </a:pPr>
            <a:r>
              <a:rPr sz="1800" b="1">
                <a:solidFill>
                  <a:srgbClr val="B5C5D6"/>
                </a:solidFill>
                <a:latin typeface="微软雅黑" panose="020B0503020204020204" charset="-122"/>
                <a:ea typeface="微软雅黑" panose="020B0503020204020204" charset="-122"/>
                <a:cs typeface="微软雅黑" panose="020B0503020204020204" charset="-122"/>
              </a:rPr>
              <a:t>…</a:t>
            </a:r>
          </a:p>
        </p:txBody>
      </p:sp>
      <p:sp>
        <p:nvSpPr>
          <p:cNvPr id="20" name="矩形 19"/>
          <p:cNvSpPr>
            <a:spLocks noGrp="1"/>
          </p:cNvSpPr>
          <p:nvPr/>
        </p:nvSpPr>
        <p:spPr>
          <a:xfrm>
            <a:off x="1104900" y="3943350"/>
            <a:ext cx="4419600" cy="571500"/>
          </a:xfrm>
          <a:prstGeom prst="rect">
            <a:avLst/>
          </a:prstGeom>
          <a:noFill/>
          <a:ln w="0">
            <a:noFill/>
            <a:prstDash val="solid"/>
          </a:ln>
        </p:spPr>
        <p:txBody>
          <a:bodyPr wrap="square" lIns="0" tIns="0" rIns="0" bIns="0" anchor="t">
            <a:noAutofit/>
          </a:bodyPr>
          <a:lstStyle/>
          <a:p>
            <a:pPr algn="ctr">
              <a:lnSpc>
                <a:spcPct val="112000"/>
              </a:lnSpc>
              <a:buNone/>
              <a:defRPr sz="1650" b="1">
                <a:solidFill>
                  <a:srgbClr val="A9C7FF"/>
                </a:solidFill>
                <a:latin typeface="微软雅黑" panose="020B0503020204020204" charset="-122"/>
                <a:ea typeface="微软雅黑" panose="020B0503020204020204" charset="-122"/>
                <a:cs typeface="微软雅黑" panose="020B0503020204020204" charset="-122"/>
              </a:defRPr>
            </a:pPr>
            <a:r>
              <a:rPr sz="1650" b="1">
                <a:solidFill>
                  <a:srgbClr val="A9C7FF"/>
                </a:solidFill>
                <a:latin typeface="微软雅黑" panose="020B0503020204020204" charset="-122"/>
                <a:ea typeface="微软雅黑" panose="020B0503020204020204" charset="-122"/>
                <a:cs typeface="微软雅黑" panose="020B0503020204020204" charset="-122"/>
              </a:rPr>
              <a:t>通用 Workflow + 平台适配层</a:t>
            </a:r>
          </a:p>
          <a:p>
            <a:pPr algn="ctr">
              <a:lnSpc>
                <a:spcPct val="112000"/>
              </a:lnSpc>
              <a:buNone/>
              <a:defRPr sz="1650" b="1">
                <a:solidFill>
                  <a:srgbClr val="A9C7FF"/>
                </a:solidFill>
                <a:latin typeface="微软雅黑" panose="020B0503020204020204" charset="-122"/>
                <a:ea typeface="微软雅黑" panose="020B0503020204020204" charset="-122"/>
                <a:cs typeface="微软雅黑" panose="020B0503020204020204" charset="-122"/>
              </a:defRPr>
            </a:pPr>
            <a:r>
              <a:rPr sz="1650" b="1">
                <a:solidFill>
                  <a:srgbClr val="A9C7FF"/>
                </a:solidFill>
                <a:latin typeface="微软雅黑" panose="020B0503020204020204" charset="-122"/>
                <a:ea typeface="微软雅黑" panose="020B0503020204020204" charset="-122"/>
                <a:cs typeface="微软雅黑" panose="020B0503020204020204" charset="-122"/>
              </a:rPr>
              <a:t>+ 硬件知识库 + 算子经验库</a:t>
            </a:r>
          </a:p>
        </p:txBody>
      </p:sp>
      <p:sp>
        <p:nvSpPr>
          <p:cNvPr id="21" name="下箭头 20"/>
          <p:cNvSpPr>
            <a:spLocks noGrp="1"/>
          </p:cNvSpPr>
          <p:nvPr/>
        </p:nvSpPr>
        <p:spPr>
          <a:xfrm>
            <a:off x="8896350" y="2381250"/>
            <a:ext cx="171450" cy="190500"/>
          </a:xfrm>
          <a:prstGeom prst="downArrow">
            <a:avLst/>
          </a:prstGeom>
          <a:solidFill>
            <a:srgbClr val="5F9BFF"/>
          </a:solidFill>
          <a:ln w="0">
            <a:noFill/>
            <a:prstDash val="solid"/>
          </a:ln>
        </p:spPr>
      </p:sp>
      <p:sp>
        <p:nvSpPr>
          <p:cNvPr id="22" name="下箭头 21"/>
          <p:cNvSpPr>
            <a:spLocks noGrp="1"/>
          </p:cNvSpPr>
          <p:nvPr/>
        </p:nvSpPr>
        <p:spPr>
          <a:xfrm>
            <a:off x="8896350" y="3143250"/>
            <a:ext cx="171450" cy="190500"/>
          </a:xfrm>
          <a:prstGeom prst="downArrow">
            <a:avLst/>
          </a:prstGeom>
          <a:solidFill>
            <a:srgbClr val="5F9BFF"/>
          </a:solidFill>
          <a:ln w="0">
            <a:noFill/>
            <a:prstDash val="solid"/>
          </a:ln>
        </p:spPr>
      </p:sp>
      <p:sp>
        <p:nvSpPr>
          <p:cNvPr id="23" name="下箭头 22"/>
          <p:cNvSpPr>
            <a:spLocks noGrp="1"/>
          </p:cNvSpPr>
          <p:nvPr/>
        </p:nvSpPr>
        <p:spPr>
          <a:xfrm>
            <a:off x="8896350" y="3905250"/>
            <a:ext cx="171450" cy="190500"/>
          </a:xfrm>
          <a:prstGeom prst="downArrow">
            <a:avLst/>
          </a:prstGeom>
          <a:solidFill>
            <a:srgbClr val="5F9BFF"/>
          </a:solidFill>
          <a:ln w="0">
            <a:noFill/>
            <a:prstDash val="solid"/>
          </a:ln>
        </p:spPr>
      </p:sp>
      <p:sp>
        <p:nvSpPr>
          <p:cNvPr id="24" name="右箭头 23"/>
          <p:cNvSpPr>
            <a:spLocks noGrp="1"/>
          </p:cNvSpPr>
          <p:nvPr/>
        </p:nvSpPr>
        <p:spPr>
          <a:xfrm>
            <a:off x="10687050" y="4257675"/>
            <a:ext cx="228600" cy="152400"/>
          </a:xfrm>
          <a:prstGeom prst="rightArrow">
            <a:avLst/>
          </a:prstGeom>
          <a:solidFill>
            <a:srgbClr val="5F9BFF"/>
          </a:solidFill>
          <a:ln w="0">
            <a:noFill/>
            <a:prstDash val="solid"/>
          </a:ln>
        </p:spPr>
      </p:sp>
      <p:sp>
        <p:nvSpPr>
          <p:cNvPr id="25" name="直接连接符 24"/>
          <p:cNvSpPr>
            <a:spLocks noGrp="1"/>
          </p:cNvSpPr>
          <p:nvPr/>
        </p:nvSpPr>
        <p:spPr>
          <a:xfrm>
            <a:off x="10915650" y="1962150"/>
            <a:ext cx="0" cy="2381250"/>
          </a:xfrm>
          <a:prstGeom prst="line">
            <a:avLst/>
          </a:prstGeom>
          <a:noFill/>
          <a:ln w="11430">
            <a:solidFill>
              <a:srgbClr val="5F9BFF"/>
            </a:solidFill>
            <a:prstDash val="solid"/>
          </a:ln>
        </p:spPr>
      </p:sp>
      <p:sp>
        <p:nvSpPr>
          <p:cNvPr id="26" name="右箭头 25"/>
          <p:cNvSpPr>
            <a:spLocks noGrp="1"/>
          </p:cNvSpPr>
          <p:nvPr/>
        </p:nvSpPr>
        <p:spPr>
          <a:xfrm>
            <a:off x="10687050" y="1962150"/>
            <a:ext cx="228600" cy="152400"/>
          </a:xfrm>
          <a:prstGeom prst="rightArrow">
            <a:avLst/>
          </a:prstGeom>
          <a:solidFill>
            <a:srgbClr val="5F9BFF"/>
          </a:solidFill>
          <a:ln w="0">
            <a:noFill/>
            <a:prstDash val="solid"/>
          </a:ln>
        </p:spPr>
      </p:sp>
      <p:sp>
        <p:nvSpPr>
          <p:cNvPr id="27" name="圆角矩形 26"/>
          <p:cNvSpPr>
            <a:spLocks noGrp="1"/>
          </p:cNvSpPr>
          <p:nvPr/>
        </p:nvSpPr>
        <p:spPr>
          <a:xfrm>
            <a:off x="7219950" y="1924050"/>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工程师  ·  目标 · 经验 · 判断</a:t>
            </a:r>
          </a:p>
        </p:txBody>
      </p:sp>
      <p:sp>
        <p:nvSpPr>
          <p:cNvPr id="28" name="圆角矩形 27"/>
          <p:cNvSpPr>
            <a:spLocks noGrp="1"/>
          </p:cNvSpPr>
          <p:nvPr/>
        </p:nvSpPr>
        <p:spPr>
          <a:xfrm>
            <a:off x="7219950" y="2686050"/>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Agent  ·  生成 · 搜索 · 修改</a:t>
            </a:r>
          </a:p>
        </p:txBody>
      </p:sp>
      <p:sp>
        <p:nvSpPr>
          <p:cNvPr id="29" name="圆角矩形 28"/>
          <p:cNvSpPr>
            <a:spLocks noGrp="1"/>
          </p:cNvSpPr>
          <p:nvPr/>
        </p:nvSpPr>
        <p:spPr>
          <a:xfrm>
            <a:off x="7219950" y="3448050"/>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Hardware  ·  Benchmark · Profiling</a:t>
            </a:r>
          </a:p>
        </p:txBody>
      </p:sp>
      <p:sp>
        <p:nvSpPr>
          <p:cNvPr id="30" name="圆角矩形 29"/>
          <p:cNvSpPr>
            <a:spLocks noGrp="1"/>
          </p:cNvSpPr>
          <p:nvPr/>
        </p:nvSpPr>
        <p:spPr>
          <a:xfrm>
            <a:off x="7219950" y="4210050"/>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Data  ·  真实性能反馈</a:t>
            </a:r>
          </a:p>
        </p:txBody>
      </p:sp>
      <p:sp>
        <p:nvSpPr>
          <p:cNvPr id="31" name="矩形 30"/>
          <p:cNvSpPr>
            <a:spLocks noGrp="1"/>
          </p:cNvSpPr>
          <p:nvPr/>
        </p:nvSpPr>
        <p:spPr>
          <a:xfrm>
            <a:off x="781050" y="4933950"/>
            <a:ext cx="419100" cy="304800"/>
          </a:xfrm>
          <a:prstGeom prst="rect">
            <a:avLst/>
          </a:prstGeom>
          <a:noFill/>
          <a:ln w="0">
            <a:noFill/>
            <a:prstDash val="solid"/>
          </a:ln>
        </p:spPr>
        <p:txBody>
          <a:bodyPr wrap="square" lIns="0" tIns="0" rIns="0" bIns="0" anchor="t">
            <a:noAutofit/>
          </a:bodyPr>
          <a:lstStyle/>
          <a:p>
            <a:pPr algn="l">
              <a:lnSpc>
                <a:spcPct val="108000"/>
              </a:lnSpc>
              <a:buNone/>
              <a:defRPr sz="1350" b="1">
                <a:solidFill>
                  <a:srgbClr val="5F9BFF"/>
                </a:solidFill>
                <a:latin typeface="Consolas" panose="020B0609020204030204"/>
                <a:ea typeface="Consolas" panose="020B0609020204030204"/>
                <a:cs typeface="Consolas" panose="020B0609020204030204"/>
              </a:defRPr>
            </a:pPr>
            <a:r>
              <a:rPr sz="1350" b="1">
                <a:solidFill>
                  <a:srgbClr val="5F9BFF"/>
                </a:solidFill>
                <a:latin typeface="Consolas" panose="020B0609020204030204"/>
                <a:ea typeface="Consolas" panose="020B0609020204030204"/>
                <a:cs typeface="Consolas" panose="020B0609020204030204"/>
              </a:rPr>
              <a:t>01</a:t>
            </a:r>
          </a:p>
        </p:txBody>
      </p:sp>
      <p:sp>
        <p:nvSpPr>
          <p:cNvPr id="32" name="矩形 31"/>
          <p:cNvSpPr>
            <a:spLocks noGrp="1"/>
          </p:cNvSpPr>
          <p:nvPr/>
        </p:nvSpPr>
        <p:spPr>
          <a:xfrm>
            <a:off x="1257300" y="4933950"/>
            <a:ext cx="3095625" cy="304800"/>
          </a:xfrm>
          <a:prstGeom prst="rect">
            <a:avLst/>
          </a:prstGeom>
          <a:noFill/>
          <a:ln w="0">
            <a:noFill/>
            <a:prstDash val="solid"/>
          </a:ln>
        </p:spPr>
        <p:txBody>
          <a:bodyPr wrap="square" lIns="0" tIns="0" rIns="0" bIns="0" anchor="t">
            <a:noAutofit/>
          </a:bodyPr>
          <a:lstStyle/>
          <a:p>
            <a:pPr algn="l">
              <a:lnSpc>
                <a:spcPct val="108000"/>
              </a:lnSpc>
              <a:buNone/>
              <a:defRPr sz="1350" b="1">
                <a:solidFill>
                  <a:srgbClr val="AFC2D5"/>
                </a:solidFill>
                <a:latin typeface="微软雅黑" panose="020B0503020204020204" charset="-122"/>
                <a:ea typeface="微软雅黑" panose="020B0503020204020204" charset="-122"/>
                <a:cs typeface="微软雅黑" panose="020B0503020204020204" charset="-122"/>
              </a:defRPr>
            </a:pPr>
            <a:r>
              <a:rPr sz="1350" b="1">
                <a:solidFill>
                  <a:srgbClr val="AFC2D5"/>
                </a:solidFill>
                <a:latin typeface="微软雅黑" panose="020B0503020204020204" charset="-122"/>
                <a:ea typeface="微软雅黑" panose="020B0503020204020204" charset="-122"/>
                <a:cs typeface="微软雅黑" panose="020B0503020204020204" charset="-122"/>
              </a:rPr>
              <a:t>更多平台 Shared</a:t>
            </a:r>
          </a:p>
        </p:txBody>
      </p:sp>
      <p:sp>
        <p:nvSpPr>
          <p:cNvPr id="33" name="矩形 32"/>
          <p:cNvSpPr>
            <a:spLocks noGrp="1"/>
          </p:cNvSpPr>
          <p:nvPr/>
        </p:nvSpPr>
        <p:spPr>
          <a:xfrm>
            <a:off x="4448175" y="4933950"/>
            <a:ext cx="419100" cy="304800"/>
          </a:xfrm>
          <a:prstGeom prst="rect">
            <a:avLst/>
          </a:prstGeom>
          <a:noFill/>
          <a:ln w="0">
            <a:noFill/>
            <a:prstDash val="solid"/>
          </a:ln>
        </p:spPr>
        <p:txBody>
          <a:bodyPr wrap="square" lIns="0" tIns="0" rIns="0" bIns="0" anchor="t">
            <a:noAutofit/>
          </a:bodyPr>
          <a:lstStyle/>
          <a:p>
            <a:pPr algn="l">
              <a:lnSpc>
                <a:spcPct val="108000"/>
              </a:lnSpc>
              <a:buNone/>
              <a:defRPr sz="1350" b="1">
                <a:solidFill>
                  <a:srgbClr val="5F9BFF"/>
                </a:solidFill>
                <a:latin typeface="Consolas" panose="020B0609020204030204"/>
                <a:ea typeface="Consolas" panose="020B0609020204030204"/>
                <a:cs typeface="Consolas" panose="020B0609020204030204"/>
              </a:defRPr>
            </a:pPr>
            <a:r>
              <a:rPr sz="1350" b="1">
                <a:solidFill>
                  <a:srgbClr val="5F9BFF"/>
                </a:solidFill>
                <a:latin typeface="Consolas" panose="020B0609020204030204"/>
                <a:ea typeface="Consolas" panose="020B0609020204030204"/>
                <a:cs typeface="Consolas" panose="020B0609020204030204"/>
              </a:rPr>
              <a:t>02</a:t>
            </a:r>
          </a:p>
        </p:txBody>
      </p:sp>
      <p:sp>
        <p:nvSpPr>
          <p:cNvPr id="34" name="矩形 33"/>
          <p:cNvSpPr>
            <a:spLocks noGrp="1"/>
          </p:cNvSpPr>
          <p:nvPr/>
        </p:nvSpPr>
        <p:spPr>
          <a:xfrm>
            <a:off x="4924425" y="4933950"/>
            <a:ext cx="3095625" cy="304800"/>
          </a:xfrm>
          <a:prstGeom prst="rect">
            <a:avLst/>
          </a:prstGeom>
          <a:noFill/>
          <a:ln w="0">
            <a:noFill/>
            <a:prstDash val="solid"/>
          </a:ln>
        </p:spPr>
        <p:txBody>
          <a:bodyPr wrap="square" lIns="0" tIns="0" rIns="0" bIns="0" anchor="t">
            <a:noAutofit/>
          </a:bodyPr>
          <a:lstStyle/>
          <a:p>
            <a:pPr algn="l">
              <a:lnSpc>
                <a:spcPct val="108000"/>
              </a:lnSpc>
              <a:buNone/>
              <a:defRPr sz="1350" b="1">
                <a:solidFill>
                  <a:srgbClr val="AFC2D5"/>
                </a:solidFill>
                <a:latin typeface="微软雅黑" panose="020B0503020204020204" charset="-122"/>
                <a:ea typeface="微软雅黑" panose="020B0503020204020204" charset="-122"/>
                <a:cs typeface="微软雅黑" panose="020B0503020204020204" charset="-122"/>
              </a:defRPr>
            </a:pPr>
            <a:r>
              <a:rPr sz="1350" b="1">
                <a:solidFill>
                  <a:srgbClr val="AFC2D5"/>
                </a:solidFill>
                <a:latin typeface="微软雅黑" panose="020B0503020204020204" charset="-122"/>
                <a:ea typeface="微软雅黑" panose="020B0503020204020204" charset="-122"/>
                <a:cs typeface="微软雅黑" panose="020B0503020204020204" charset="-122"/>
              </a:rPr>
              <a:t>更完整的硬件 / 算子知识库</a:t>
            </a:r>
          </a:p>
        </p:txBody>
      </p:sp>
      <p:sp>
        <p:nvSpPr>
          <p:cNvPr id="35" name="矩形 34"/>
          <p:cNvSpPr>
            <a:spLocks noGrp="1"/>
          </p:cNvSpPr>
          <p:nvPr/>
        </p:nvSpPr>
        <p:spPr>
          <a:xfrm>
            <a:off x="8115300" y="4933950"/>
            <a:ext cx="419100" cy="304800"/>
          </a:xfrm>
          <a:prstGeom prst="rect">
            <a:avLst/>
          </a:prstGeom>
          <a:noFill/>
          <a:ln w="0">
            <a:noFill/>
            <a:prstDash val="solid"/>
          </a:ln>
        </p:spPr>
        <p:txBody>
          <a:bodyPr wrap="square" lIns="0" tIns="0" rIns="0" bIns="0" anchor="t">
            <a:noAutofit/>
          </a:bodyPr>
          <a:lstStyle/>
          <a:p>
            <a:pPr algn="l">
              <a:lnSpc>
                <a:spcPct val="108000"/>
              </a:lnSpc>
              <a:buNone/>
              <a:defRPr sz="1350" b="1">
                <a:solidFill>
                  <a:srgbClr val="5F9BFF"/>
                </a:solidFill>
                <a:latin typeface="Consolas" panose="020B0609020204030204"/>
                <a:ea typeface="Consolas" panose="020B0609020204030204"/>
                <a:cs typeface="Consolas" panose="020B0609020204030204"/>
              </a:defRPr>
            </a:pPr>
            <a:r>
              <a:rPr sz="1350" b="1">
                <a:solidFill>
                  <a:srgbClr val="5F9BFF"/>
                </a:solidFill>
                <a:latin typeface="Consolas" panose="020B0609020204030204"/>
                <a:ea typeface="Consolas" panose="020B0609020204030204"/>
                <a:cs typeface="Consolas" panose="020B0609020204030204"/>
              </a:rPr>
              <a:t>03</a:t>
            </a:r>
          </a:p>
        </p:txBody>
      </p:sp>
      <p:sp>
        <p:nvSpPr>
          <p:cNvPr id="36" name="矩形 35"/>
          <p:cNvSpPr>
            <a:spLocks noGrp="1"/>
          </p:cNvSpPr>
          <p:nvPr/>
        </p:nvSpPr>
        <p:spPr>
          <a:xfrm>
            <a:off x="8591550" y="4933950"/>
            <a:ext cx="3095625" cy="304800"/>
          </a:xfrm>
          <a:prstGeom prst="rect">
            <a:avLst/>
          </a:prstGeom>
          <a:noFill/>
          <a:ln w="0">
            <a:noFill/>
            <a:prstDash val="solid"/>
          </a:ln>
        </p:spPr>
        <p:txBody>
          <a:bodyPr wrap="square" lIns="0" tIns="0" rIns="0" bIns="0" anchor="t">
            <a:noAutofit/>
          </a:bodyPr>
          <a:lstStyle/>
          <a:p>
            <a:pPr algn="l">
              <a:lnSpc>
                <a:spcPct val="108000"/>
              </a:lnSpc>
              <a:buNone/>
              <a:defRPr sz="1350" b="1">
                <a:solidFill>
                  <a:srgbClr val="AFC2D5"/>
                </a:solidFill>
                <a:latin typeface="微软雅黑" panose="020B0503020204020204" charset="-122"/>
                <a:ea typeface="微软雅黑" panose="020B0503020204020204" charset="-122"/>
                <a:cs typeface="微软雅黑" panose="020B0503020204020204" charset="-122"/>
              </a:defRPr>
            </a:pPr>
            <a:r>
              <a:rPr sz="1350" b="1">
                <a:solidFill>
                  <a:srgbClr val="AFC2D5"/>
                </a:solidFill>
                <a:latin typeface="微软雅黑" panose="020B0503020204020204" charset="-122"/>
                <a:ea typeface="微软雅黑" panose="020B0503020204020204" charset="-122"/>
                <a:cs typeface="微软雅黑" panose="020B0503020204020204" charset="-122"/>
              </a:rPr>
              <a:t>Agent × Benchmark × Profiler 自动闭环</a:t>
            </a:r>
          </a:p>
        </p:txBody>
      </p:sp>
      <p:sp>
        <p:nvSpPr>
          <p:cNvPr id="37" name="圆角矩形 36"/>
          <p:cNvSpPr>
            <a:spLocks noGrp="1"/>
          </p:cNvSpPr>
          <p:nvPr/>
        </p:nvSpPr>
        <p:spPr>
          <a:xfrm>
            <a:off x="819150" y="5429250"/>
            <a:ext cx="10553700" cy="781050"/>
          </a:xfrm>
          <a:prstGeom prst="roundRect">
            <a:avLst>
              <a:gd name="adj" fmla="val 7317"/>
            </a:avLst>
          </a:prstGeom>
          <a:solidFill>
            <a:srgbClr val="1F5EFF"/>
          </a:solidFill>
          <a:ln w="9525">
            <a:solidFill>
              <a:srgbClr val="1F5EFF"/>
            </a:solidFill>
            <a:prstDash val="solid"/>
          </a:ln>
        </p:spPr>
      </p:sp>
      <p:sp>
        <p:nvSpPr>
          <p:cNvPr id="38" name="矩形 37"/>
          <p:cNvSpPr>
            <a:spLocks noGrp="1"/>
          </p:cNvSpPr>
          <p:nvPr/>
        </p:nvSpPr>
        <p:spPr>
          <a:xfrm>
            <a:off x="1104900" y="5562600"/>
            <a:ext cx="9982200" cy="285750"/>
          </a:xfrm>
          <a:prstGeom prst="rect">
            <a:avLst/>
          </a:prstGeom>
          <a:noFill/>
          <a:ln w="0">
            <a:noFill/>
            <a:prstDash val="solid"/>
          </a:ln>
        </p:spPr>
        <p:txBody>
          <a:bodyPr wrap="square" lIns="0" tIns="0" rIns="0" bIns="0" anchor="t">
            <a:noAutofit/>
          </a:bodyPr>
          <a:lstStyle/>
          <a:p>
            <a:pPr algn="ctr">
              <a:lnSpc>
                <a:spcPct val="108000"/>
              </a:lnSpc>
              <a:buNone/>
              <a:defRPr sz="1875" b="1">
                <a:solidFill>
                  <a:srgbClr val="FFFFFF"/>
                </a:solidFill>
                <a:latin typeface="微软雅黑" panose="020B0503020204020204" charset="-122"/>
                <a:ea typeface="微软雅黑" panose="020B0503020204020204" charset="-122"/>
                <a:cs typeface="微软雅黑" panose="020B0503020204020204" charset="-122"/>
              </a:defRPr>
            </a:pPr>
            <a:r>
              <a:rPr sz="1875" b="1">
                <a:solidFill>
                  <a:srgbClr val="FFFFFF"/>
                </a:solidFill>
                <a:latin typeface="微软雅黑" panose="020B0503020204020204" charset="-122"/>
                <a:ea typeface="微软雅黑" panose="020B0503020204020204" charset="-122"/>
                <a:cs typeface="微软雅黑" panose="020B0503020204020204" charset="-122"/>
              </a:rPr>
              <a:t>目标不是为每个平台重写 Skill，而是构建可迁移的算子开发方法。</a:t>
            </a:r>
          </a:p>
        </p:txBody>
      </p:sp>
      <p:sp>
        <p:nvSpPr>
          <p:cNvPr id="39" name="矩形 38"/>
          <p:cNvSpPr>
            <a:spLocks noGrp="1"/>
          </p:cNvSpPr>
          <p:nvPr/>
        </p:nvSpPr>
        <p:spPr>
          <a:xfrm>
            <a:off x="1104900" y="5886450"/>
            <a:ext cx="9982200" cy="228600"/>
          </a:xfrm>
          <a:prstGeom prst="rect">
            <a:avLst/>
          </a:prstGeom>
          <a:noFill/>
          <a:ln w="0">
            <a:noFill/>
            <a:prstDash val="solid"/>
          </a:ln>
        </p:spPr>
        <p:txBody>
          <a:bodyPr wrap="square" lIns="0" tIns="0" rIns="0" bIns="0" anchor="t">
            <a:noAutofit/>
          </a:bodyPr>
          <a:lstStyle/>
          <a:p>
            <a:pPr algn="ctr">
              <a:lnSpc>
                <a:spcPct val="108000"/>
              </a:lnSpc>
              <a:buNone/>
              <a:defRPr sz="1350" b="0">
                <a:solidFill>
                  <a:srgbClr val="C5D8EA"/>
                </a:solidFill>
                <a:latin typeface="微软雅黑" panose="020B0503020204020204" charset="-122"/>
                <a:ea typeface="微软雅黑" panose="020B0503020204020204" charset="-122"/>
                <a:cs typeface="微软雅黑" panose="020B0503020204020204" charset="-122"/>
              </a:defRPr>
            </a:pPr>
            <a:r>
              <a:rPr sz="1350" b="0">
                <a:solidFill>
                  <a:srgbClr val="C5D8EA"/>
                </a:solidFill>
                <a:latin typeface="微软雅黑" panose="020B0503020204020204" charset="-122"/>
                <a:ea typeface="微软雅黑" panose="020B0503020204020204" charset="-122"/>
                <a:cs typeface="微软雅黑" panose="020B0503020204020204" charset="-122"/>
              </a:rPr>
              <a:t>人的经验负责方向，Agent 负责重复开发，真实硬件数据负责验证结果。</a:t>
            </a: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1" name="矩形 40"/>
          <p:cNvSpPr>
            <a:spLocks noGrp="1"/>
          </p:cNvSpPr>
          <p:nvPr/>
        </p:nvSpPr>
        <p:spPr>
          <a:xfrm>
            <a:off x="685800" y="6515100"/>
            <a:ext cx="9810750" cy="190500"/>
          </a:xfrm>
          <a:prstGeom prst="rect">
            <a:avLst/>
          </a:prstGeom>
          <a:noFill/>
          <a:ln w="0">
            <a:noFill/>
            <a:prstDash val="solid"/>
          </a:ln>
        </p:spPr>
        <p:txBody>
          <a:bodyPr wrap="square" lIns="0" tIns="0" rIns="0" bIns="0" anchor="t">
            <a:noAutofit/>
          </a:bodyPr>
          <a:lstStyle/>
          <a:p>
            <a:pPr algn="l">
              <a:lnSpc>
                <a:spcPct val="108000"/>
              </a:lnSpc>
              <a:buNone/>
              <a:defRPr sz="975" b="0">
                <a:solidFill>
                  <a:srgbClr val="AFC2D5"/>
                </a:solidFill>
                <a:latin typeface="微软雅黑" panose="020B0503020204020204" charset="-122"/>
                <a:ea typeface="微软雅黑" panose="020B0503020204020204" charset="-122"/>
                <a:cs typeface="微软雅黑" panose="020B0503020204020204" charset="-122"/>
              </a:defRPr>
            </a:pPr>
            <a:r>
              <a:rPr sz="975" b="0">
                <a:solidFill>
                  <a:srgbClr val="AFC2D5"/>
                </a:solidFill>
                <a:latin typeface="微软雅黑" panose="020B0503020204020204" charset="-122"/>
                <a:ea typeface="微软雅黑" panose="020B0503020204020204" charset="-122"/>
                <a:cs typeface="微软雅黑" panose="020B0503020204020204" charset="-122"/>
              </a:rPr>
              <a:t>Future-state synthesis based on the Workflow + Shared architecture</a:t>
            </a:r>
          </a:p>
        </p:txBody>
      </p:sp>
      <p:sp>
        <p:nvSpPr>
          <p:cNvPr id="42" name="矩形 41"/>
          <p:cNvSpPr>
            <a:spLocks noGrp="1"/>
          </p:cNvSpPr>
          <p:nvPr/>
        </p:nvSpPr>
        <p:spPr>
          <a:xfrm>
            <a:off x="11049000" y="6515100"/>
            <a:ext cx="457200" cy="190500"/>
          </a:xfrm>
          <a:prstGeom prst="rect">
            <a:avLst/>
          </a:prstGeom>
          <a:noFill/>
          <a:ln w="0">
            <a:noFill/>
            <a:prstDash val="solid"/>
          </a:ln>
        </p:spPr>
        <p:txBody>
          <a:bodyPr wrap="square" lIns="0" tIns="0" rIns="0" bIns="0" anchor="t">
            <a:noAutofit/>
          </a:bodyPr>
          <a:lstStyle/>
          <a:p>
            <a:pPr algn="r">
              <a:lnSpc>
                <a:spcPct val="108000"/>
              </a:lnSpc>
              <a:buNone/>
              <a:defRPr sz="975" b="1">
                <a:solidFill>
                  <a:srgbClr val="5F9BFF"/>
                </a:solidFill>
                <a:latin typeface="微软雅黑" panose="020B0503020204020204" charset="-122"/>
                <a:ea typeface="微软雅黑" panose="020B0503020204020204" charset="-122"/>
                <a:cs typeface="微软雅黑" panose="020B0503020204020204" charset="-122"/>
              </a:defRPr>
            </a:pPr>
            <a:r>
              <a:rPr sz="975" b="1">
                <a:solidFill>
                  <a:srgbClr val="5F9BFF"/>
                </a:solidFill>
                <a:latin typeface="微软雅黑" panose="020B0503020204020204" charset="-122"/>
                <a:ea typeface="微软雅黑" panose="020B0503020204020204" charset="-122"/>
                <a:cs typeface="微软雅黑" panose="020B0503020204020204" charset="-122"/>
              </a:rPr>
              <a:t>11</a:t>
            </a:r>
          </a:p>
        </p:txBody>
      </p:sp>
      <p:sp>
        <p:nvSpPr>
          <p:cNvPr id="44" name="slide-7-page-number"/>
          <p:cNvSpPr>
            <a:spLocks noGrp="1"/>
          </p:cNvSpPr>
          <p:nvPr/>
        </p:nvSpPr>
        <p:spPr>
          <a:xfrm>
            <a:off x="11352530" y="332740"/>
            <a:ext cx="352425" cy="323850"/>
          </a:xfrm>
          <a:prstGeom prst="roundRect">
            <a:avLst>
              <a:gd name="adj" fmla="val 14706"/>
            </a:avLst>
          </a:prstGeom>
          <a:solidFill>
            <a:srgbClr val="001B55"/>
          </a:solidFill>
          <a:ln w="9525">
            <a:solidFill>
              <a:srgbClr val="001B55"/>
            </a:solidFill>
            <a:prstDash val="solid"/>
          </a:ln>
        </p:spPr>
        <p:txBody>
          <a:bodyPr wrap="square" lIns="0" tIns="0" rIns="0" bIns="0" anchor="ctr">
            <a:norm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a:solidFill>
                  <a:srgbClr val="FFFFFF"/>
                </a:solidFill>
                <a:cs typeface="微软雅黑" panose="020B0503020204020204" charset="-122"/>
              </a:rPr>
              <a:t>12</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3237</Words>
  <Application>Microsoft Office PowerPoint</Application>
  <PresentationFormat>宽屏</PresentationFormat>
  <Paragraphs>867</Paragraphs>
  <Slides>19</Slides>
  <Notes>19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楷体_GB2312</vt:lpstr>
      <vt:lpstr>微软雅黑</vt:lpstr>
      <vt:lpstr>Calibri</vt:lpstr>
      <vt:lpstr>Consolas</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霍子昂</cp:lastModifiedBy>
  <cp:revision>75</cp:revision>
  <dcterms:created xsi:type="dcterms:W3CDTF">2026-08-17T11:31:00Z</dcterms:created>
  <dcterms:modified xsi:type="dcterms:W3CDTF">2026-08-18T02:57:23Z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
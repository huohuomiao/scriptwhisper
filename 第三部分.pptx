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98" r:id="rId2"/>
    <p:sldId id="299" r:id="rId3"/>
    <p:sldId id="300" r:id="rId4"/>
    <p:sldId id="289" r:id="rId5"/>
    <p:sldId id="279" r:id="rId6"/>
    <p:sldId id="268" r:id="rId7"/>
    <p:sldId id="288" r:id="rId8"/>
    <p:sldId id="267" r:id="rId9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胡 燕鹏" initials="胡" lastIdx="0" clrIdx="0"/>
  <p:cmAuthor id="2" name="李浩宇" initials="李" lastIdx="0" clrIdx="1"/>
  <p:cmAuthor id="3" name="win10" initials="w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112" autoAdjust="0"/>
  </p:normalViewPr>
  <p:slideViewPr>
    <p:cSldViewPr snapToGrid="0">
      <p:cViewPr varScale="1">
        <p:scale>
          <a:sx n="96" d="100"/>
          <a:sy n="96" d="100"/>
        </p:scale>
        <p:origin x="111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0" dirty="0" smtClean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实际开发一个 </a:t>
            </a:r>
            <a:r>
              <a:rPr lang="en-US" altLang="zh-CN" sz="1200" b="0" dirty="0" smtClean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</a:t>
            </a:r>
            <a:r>
              <a:rPr lang="zh-CN" altLang="en-US" sz="1200" b="0" dirty="0" smtClean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时，首先按照 </a:t>
            </a:r>
            <a:r>
              <a:rPr lang="en-US" altLang="zh-CN" sz="1200" b="0" dirty="0" smtClean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WHAT</a:t>
            </a:r>
            <a:r>
              <a:rPr lang="zh-CN" altLang="en-US" sz="1200" b="0" dirty="0" smtClean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200" b="0" dirty="0" smtClean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HOW</a:t>
            </a:r>
            <a:r>
              <a:rPr lang="zh-CN" altLang="en-US" sz="1200" b="0" dirty="0" smtClean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200" b="0" dirty="0" smtClean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WHO </a:t>
            </a:r>
            <a:r>
              <a:rPr lang="zh-CN" altLang="en-US" sz="1200" b="0" dirty="0" smtClean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三个问题来拆。第一步是明确做什么，也就是确定任务目标、输入、输出、边界和通过标准。例如最终要生成代码还是报告，哪些内容允许修改，怎样算任务完成。第二步是设计最小可运行的 </a:t>
            </a:r>
            <a:r>
              <a:rPr lang="en-US" altLang="zh-CN" sz="1200" b="0" dirty="0" smtClean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Workflow</a:t>
            </a:r>
            <a:r>
              <a:rPr lang="zh-CN" altLang="en-US" sz="1200" b="0" dirty="0" smtClean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，把任务划成若干 </a:t>
            </a:r>
            <a:r>
              <a:rPr lang="en-US" altLang="zh-CN" sz="1200" b="0" dirty="0" smtClean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</a:t>
            </a:r>
            <a:r>
              <a:rPr lang="zh-CN" altLang="en-US" sz="1200" b="0" dirty="0" smtClean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，并写清楚每个阶段的输入、动作、输出、</a:t>
            </a:r>
            <a:r>
              <a:rPr lang="en-US" altLang="zh-CN" sz="1200" b="0" dirty="0" smtClean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Gate </a:t>
            </a:r>
            <a:r>
              <a:rPr lang="zh-CN" altLang="en-US" sz="1200" b="0" dirty="0" smtClean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和失败路径。第三步再决定谁来做：简单判断和编排由主 </a:t>
            </a:r>
            <a:r>
              <a:rPr lang="en-US" altLang="zh-CN" sz="1200" b="0" dirty="0" smtClean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</a:t>
            </a:r>
            <a:r>
              <a:rPr lang="zh-CN" altLang="en-US" sz="1200" b="0" dirty="0" smtClean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完成，确定性操作交给 </a:t>
            </a:r>
            <a:r>
              <a:rPr lang="en-US" altLang="zh-CN" sz="1200" b="0" dirty="0" smtClean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Script</a:t>
            </a:r>
            <a:r>
              <a:rPr lang="zh-CN" altLang="en-US" sz="1200" b="0" dirty="0" smtClean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，复杂独立任务交给 </a:t>
            </a:r>
            <a:r>
              <a:rPr lang="en-US" altLang="zh-CN" sz="1200" b="0" dirty="0" smtClean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Subagent</a:t>
            </a:r>
            <a:r>
              <a:rPr lang="zh-CN" altLang="en-US" sz="1200" b="0" dirty="0" smtClean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，完整能力则直接调用其他 </a:t>
            </a:r>
            <a:r>
              <a:rPr lang="en-US" altLang="zh-CN" sz="1200" b="0" dirty="0" smtClean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</a:t>
            </a:r>
            <a:r>
              <a:rPr lang="zh-CN" altLang="en-US" sz="1200" b="0" dirty="0" smtClean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。这样可以避免一开始就把结构设计得过重。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基础 </a:t>
            </a:r>
            <a:r>
              <a:rPr lang="en-US" dirty="0" smtClean="0"/>
              <a:t>Workflow </a:t>
            </a:r>
            <a:r>
              <a:rPr lang="zh-CN" altLang="en-US" dirty="0" smtClean="0"/>
              <a:t>能跑以后，再补三个部分。第一是资源和知识：如果 </a:t>
            </a:r>
            <a:r>
              <a:rPr lang="en-US" dirty="0" smtClean="0"/>
              <a:t>Agent </a:t>
            </a:r>
            <a:r>
              <a:rPr lang="zh-CN" altLang="en-US" dirty="0" smtClean="0"/>
              <a:t>缺平台知识就补 </a:t>
            </a:r>
            <a:r>
              <a:rPr lang="en-US" dirty="0" smtClean="0"/>
              <a:t>Reference，</a:t>
            </a:r>
            <a:r>
              <a:rPr lang="zh-CN" altLang="en-US" dirty="0" smtClean="0"/>
              <a:t>缺成熟案例就补 </a:t>
            </a:r>
            <a:r>
              <a:rPr lang="en-US" dirty="0" smtClean="0"/>
              <a:t>Example，</a:t>
            </a:r>
            <a:r>
              <a:rPr lang="zh-CN" altLang="en-US" dirty="0" smtClean="0"/>
              <a:t>缺稳定的真实执行就补 </a:t>
            </a:r>
            <a:r>
              <a:rPr lang="en-US" dirty="0" smtClean="0"/>
              <a:t>Script。</a:t>
            </a:r>
            <a:r>
              <a:rPr lang="zh-CN" altLang="en-US" dirty="0" smtClean="0"/>
              <a:t>第二是约束和触发规则，需要明确 </a:t>
            </a:r>
            <a:r>
              <a:rPr lang="en-US" dirty="0" err="1" smtClean="0"/>
              <a:t>Boundary、Contract、Policy、Gate</a:t>
            </a:r>
            <a:r>
              <a:rPr lang="en-US" dirty="0" smtClean="0"/>
              <a:t>，</a:t>
            </a:r>
            <a:r>
              <a:rPr lang="zh-CN" altLang="en-US" dirty="0" smtClean="0"/>
              <a:t>以及 合适</a:t>
            </a:r>
            <a:r>
              <a:rPr lang="en-US" dirty="0" smtClean="0"/>
              <a:t>name </a:t>
            </a:r>
            <a:r>
              <a:rPr lang="zh-CN" altLang="en-US" dirty="0" smtClean="0"/>
              <a:t>和 </a:t>
            </a:r>
            <a:r>
              <a:rPr lang="en-US" dirty="0" smtClean="0"/>
              <a:t>description，</a:t>
            </a:r>
            <a:r>
              <a:rPr lang="zh-CN" altLang="en-US" dirty="0" smtClean="0"/>
              <a:t>避免 </a:t>
            </a:r>
            <a:r>
              <a:rPr lang="en-US" dirty="0" smtClean="0"/>
              <a:t>Skill </a:t>
            </a:r>
            <a:r>
              <a:rPr lang="zh-CN" altLang="en-US" dirty="0" smtClean="0"/>
              <a:t>误触发。第三是真实验证，包括 </a:t>
            </a:r>
            <a:r>
              <a:rPr lang="en-US" dirty="0" smtClean="0"/>
              <a:t>Trigger </a:t>
            </a:r>
            <a:r>
              <a:rPr lang="en-US" dirty="0" err="1" smtClean="0"/>
              <a:t>Test、Workflow</a:t>
            </a:r>
            <a:r>
              <a:rPr lang="en-US" dirty="0" smtClean="0"/>
              <a:t> Test </a:t>
            </a:r>
            <a:r>
              <a:rPr lang="zh-CN" altLang="en-US" dirty="0" smtClean="0"/>
              <a:t>和 </a:t>
            </a:r>
            <a:r>
              <a:rPr lang="en-US" dirty="0" smtClean="0"/>
              <a:t>Result Test。</a:t>
            </a:r>
            <a:r>
              <a:rPr lang="zh-CN" altLang="en-US" dirty="0" smtClean="0"/>
              <a:t>发现问题以后，不是简单修改 </a:t>
            </a:r>
            <a:r>
              <a:rPr lang="en-US" dirty="0" smtClean="0"/>
              <a:t>Prompt，</a:t>
            </a:r>
            <a:r>
              <a:rPr lang="zh-CN" altLang="en-US" dirty="0" smtClean="0"/>
              <a:t>而是判断究竟缺资源、缺约束，还是流程本身需要调整，然后回到真实任务重新测试。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这一页把前面的过程串成一个完整闭环。最开始只是一个 </a:t>
            </a:r>
            <a:r>
              <a:rPr lang="en-US" dirty="0" smtClean="0"/>
              <a:t>Task，</a:t>
            </a:r>
            <a:r>
              <a:rPr lang="zh-CN" altLang="en-US" dirty="0" smtClean="0"/>
              <a:t>也就是明确输入和输出；然后把任务拆成 </a:t>
            </a:r>
            <a:r>
              <a:rPr lang="en-US" dirty="0" smtClean="0"/>
              <a:t>Basic Workflow；</a:t>
            </a:r>
            <a:r>
              <a:rPr lang="zh-CN" altLang="en-US" dirty="0" smtClean="0"/>
              <a:t>再加入 </a:t>
            </a:r>
            <a:r>
              <a:rPr lang="en-US" dirty="0" err="1" smtClean="0"/>
              <a:t>Artifact、Gate、Retry</a:t>
            </a:r>
            <a:r>
              <a:rPr lang="en-US" dirty="0" smtClean="0"/>
              <a:t> </a:t>
            </a:r>
            <a:r>
              <a:rPr lang="zh-CN" altLang="en-US" dirty="0" smtClean="0"/>
              <a:t>和 </a:t>
            </a:r>
            <a:r>
              <a:rPr lang="en-US" dirty="0" smtClean="0"/>
              <a:t>Fallback，</a:t>
            </a:r>
            <a:r>
              <a:rPr lang="zh-CN" altLang="en-US" dirty="0" smtClean="0"/>
              <a:t>形成 </a:t>
            </a:r>
            <a:r>
              <a:rPr lang="en-US" dirty="0" smtClean="0"/>
              <a:t>Executable Workflow。</a:t>
            </a:r>
            <a:r>
              <a:rPr lang="zh-CN" altLang="en-US" dirty="0" smtClean="0"/>
              <a:t>之后在这个 </a:t>
            </a:r>
            <a:r>
              <a:rPr lang="en-US" dirty="0" smtClean="0"/>
              <a:t>Workflow </a:t>
            </a:r>
            <a:r>
              <a:rPr lang="zh-CN" altLang="en-US" dirty="0" smtClean="0"/>
              <a:t>上补资源、约束和 </a:t>
            </a:r>
            <a:r>
              <a:rPr lang="en-US" dirty="0" smtClean="0"/>
              <a:t>Metadata，</a:t>
            </a:r>
            <a:r>
              <a:rPr lang="zh-CN" altLang="en-US" dirty="0" smtClean="0"/>
              <a:t>才真正形成 </a:t>
            </a:r>
            <a:r>
              <a:rPr lang="en-US" dirty="0" smtClean="0"/>
              <a:t>Complete Skill。</a:t>
            </a:r>
            <a:r>
              <a:rPr lang="zh-CN" altLang="en-US" dirty="0" smtClean="0"/>
              <a:t>最后通过实际任务进行 </a:t>
            </a:r>
            <a:r>
              <a:rPr lang="en-US" dirty="0" smtClean="0"/>
              <a:t>Evaluation，</a:t>
            </a:r>
            <a:r>
              <a:rPr lang="zh-CN" altLang="en-US" dirty="0" smtClean="0"/>
              <a:t>如果测试失败，就要定位问题是在 </a:t>
            </a:r>
            <a:r>
              <a:rPr lang="en-US" dirty="0" err="1" smtClean="0"/>
              <a:t>Trigger、Workflow</a:t>
            </a:r>
            <a:r>
              <a:rPr lang="en-US" dirty="0" smtClean="0"/>
              <a:t> </a:t>
            </a:r>
            <a:r>
              <a:rPr lang="zh-CN" altLang="en-US" dirty="0" smtClean="0"/>
              <a:t>还是 </a:t>
            </a:r>
            <a:r>
              <a:rPr lang="en-US" dirty="0" smtClean="0"/>
              <a:t>Resource。</a:t>
            </a:r>
            <a:r>
              <a:rPr lang="zh-CN" altLang="en-US" dirty="0" smtClean="0"/>
              <a:t>修改以后继续 </a:t>
            </a:r>
            <a:r>
              <a:rPr lang="en-US" dirty="0" smtClean="0"/>
              <a:t>Re-test，</a:t>
            </a:r>
            <a:r>
              <a:rPr lang="zh-CN" altLang="en-US" dirty="0" smtClean="0"/>
              <a:t>直到形成稳定、可调用、可复用的 </a:t>
            </a:r>
            <a:r>
              <a:rPr lang="en-US" dirty="0" smtClean="0"/>
              <a:t>Skill。</a:t>
            </a:r>
            <a:r>
              <a:rPr lang="zh-CN" altLang="en-US" dirty="0" smtClean="0"/>
              <a:t>所以 </a:t>
            </a:r>
            <a:r>
              <a:rPr lang="en-US" dirty="0" smtClean="0"/>
              <a:t>Skill </a:t>
            </a:r>
            <a:r>
              <a:rPr lang="zh-CN" altLang="en-US" dirty="0" smtClean="0"/>
              <a:t>开发本质上是 </a:t>
            </a:r>
            <a:r>
              <a:rPr lang="en-US" dirty="0" err="1" smtClean="0"/>
              <a:t>Task、Workflow</a:t>
            </a:r>
            <a:r>
              <a:rPr lang="en-US" dirty="0" smtClean="0"/>
              <a:t>、</a:t>
            </a:r>
            <a:r>
              <a:rPr lang="zh-CN" altLang="en-US" dirty="0" smtClean="0"/>
              <a:t>封装、验证和迭代不断循环。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一个好用的</a:t>
            </a:r>
            <a:r>
              <a:rPr lang="en-US" altLang="zh-CN" dirty="0" smtClean="0"/>
              <a:t>skill</a:t>
            </a:r>
            <a:r>
              <a:rPr lang="zh-CN" altLang="en-US" dirty="0" smtClean="0"/>
              <a:t>要有这三个特点。设计了一个新框架，新框架如右图所示，入口只有一个，不再依赖多个顶层 </a:t>
            </a:r>
            <a:r>
              <a:rPr lang="en-US" altLang="zh-CN" dirty="0" smtClean="0"/>
              <a:t>Skill </a:t>
            </a:r>
            <a:r>
              <a:rPr lang="zh-CN" altLang="en-US" dirty="0" smtClean="0"/>
              <a:t>互相调用，触发和调度逻辑更明确一点。流程、角色、策略、设备知识和脚本分别管理，减少内容混放。阶段顺序和产物交接契约不变，结构调整不会影响现有执行结果。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这一页是整个算子 </a:t>
            </a:r>
            <a:r>
              <a:rPr lang="en-US" altLang="zh-CN" dirty="0" smtClean="0"/>
              <a:t>Skill </a:t>
            </a:r>
            <a:r>
              <a:rPr lang="zh-CN" altLang="en-US" dirty="0" smtClean="0"/>
              <a:t>开发指南的核心框架。第一部分是通用框架，也就是“需求、生成、验证、优化、输出”。这条主流程在不同平台之间基本可以复用。第二部分是平台知识。真正需要随着平台变化的主要是 </a:t>
            </a:r>
            <a:r>
              <a:rPr lang="en-US" altLang="zh-CN" dirty="0" smtClean="0"/>
              <a:t>Hardware</a:t>
            </a:r>
            <a:r>
              <a:rPr lang="zh-CN" altLang="en-US" dirty="0" smtClean="0"/>
              <a:t>、</a:t>
            </a:r>
            <a:r>
              <a:rPr lang="en-US" altLang="zh-CN" dirty="0" smtClean="0"/>
              <a:t>Programming Model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API</a:t>
            </a:r>
            <a:r>
              <a:rPr lang="zh-CN" altLang="en-US" dirty="0" smtClean="0"/>
              <a:t>、</a:t>
            </a:r>
            <a:r>
              <a:rPr lang="en-US" altLang="zh-CN" dirty="0" smtClean="0"/>
              <a:t>Environment</a:t>
            </a:r>
            <a:r>
              <a:rPr lang="zh-CN" altLang="en-US" dirty="0" smtClean="0"/>
              <a:t>、</a:t>
            </a:r>
            <a:r>
              <a:rPr lang="en-US" altLang="zh-CN" dirty="0" smtClean="0"/>
              <a:t>Profiler </a:t>
            </a:r>
            <a:r>
              <a:rPr lang="zh-CN" altLang="en-US" dirty="0" smtClean="0"/>
              <a:t>和 </a:t>
            </a:r>
            <a:r>
              <a:rPr lang="en-US" altLang="zh-CN" dirty="0" smtClean="0"/>
              <a:t>Optimization </a:t>
            </a:r>
            <a:r>
              <a:rPr lang="zh-CN" altLang="en-US" dirty="0" smtClean="0"/>
              <a:t>等内容。第三部分是验证与校准。我把验证分成三层：</a:t>
            </a:r>
            <a:r>
              <a:rPr lang="en-US" altLang="zh-CN" dirty="0" smtClean="0"/>
              <a:t>L1 </a:t>
            </a:r>
            <a:r>
              <a:rPr lang="zh-CN" altLang="en-US" dirty="0" smtClean="0"/>
              <a:t>验证环境能不能正常运行；</a:t>
            </a:r>
            <a:r>
              <a:rPr lang="en-US" altLang="zh-CN" dirty="0" smtClean="0"/>
              <a:t>L2 </a:t>
            </a:r>
            <a:r>
              <a:rPr lang="zh-CN" altLang="en-US" dirty="0" smtClean="0"/>
              <a:t>通过微基准验证我们理解的平台行为是否正确；</a:t>
            </a:r>
            <a:r>
              <a:rPr lang="en-US" altLang="zh-CN" dirty="0" smtClean="0"/>
              <a:t>L3 </a:t>
            </a:r>
            <a:r>
              <a:rPr lang="zh-CN" altLang="en-US" dirty="0" smtClean="0"/>
              <a:t>再用 </a:t>
            </a:r>
            <a:r>
              <a:rPr lang="en-US" altLang="zh-CN" dirty="0" err="1" smtClean="0"/>
              <a:t>LayerNorm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Softmax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MatMul</a:t>
            </a:r>
            <a:r>
              <a:rPr lang="zh-CN" altLang="en-US" dirty="0" smtClean="0"/>
              <a:t> 三个典型算子做实际验证。如果验证发现平台知识不对，就更新 </a:t>
            </a:r>
            <a:r>
              <a:rPr lang="en-US" altLang="zh-CN" dirty="0" smtClean="0"/>
              <a:t>Knowledge</a:t>
            </a:r>
            <a:r>
              <a:rPr lang="zh-CN" altLang="en-US" dirty="0" smtClean="0"/>
              <a:t>；优化策略无效，就更新优化规则；流程本身有问题，就调整 </a:t>
            </a:r>
            <a:r>
              <a:rPr lang="en-US" altLang="zh-CN" dirty="0" smtClean="0"/>
              <a:t>Workflow</a:t>
            </a:r>
            <a:r>
              <a:rPr lang="zh-CN" altLang="en-US" dirty="0" smtClean="0"/>
              <a:t>。所以核心思想就是：通用框架提供骨架，平台知识负责平台差异，真实硬件测试不断校准两者。当然  </a:t>
            </a:r>
            <a:r>
              <a:rPr lang="zh-CN" altLang="en-US" sz="1200" dirty="0" smtClean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算子开发</a:t>
            </a:r>
            <a:r>
              <a:rPr lang="en-US" altLang="zh-CN" sz="1200" dirty="0" smtClean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skill</a:t>
            </a:r>
            <a:r>
              <a:rPr lang="zh-CN" altLang="en-US" sz="1200" dirty="0" smtClean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的开发不是一蹴而就的，需要不断的完善和更新迭代。平台事实验证和环境验证看起来复杂，实际上可以通过一类模板指令让大模型进行检测。</a:t>
            </a:r>
            <a:endParaRPr lang="zh-CN" altLang="en-US" dirty="0" smtClean="0"/>
          </a:p>
          <a:p>
            <a:r>
              <a:rPr lang="zh-CN" altLang="en-US" dirty="0" smtClean="0"/>
              <a:t>左边也详细列出来我们在进行算子</a:t>
            </a:r>
            <a:r>
              <a:rPr lang="en-US" altLang="zh-CN" dirty="0" smtClean="0"/>
              <a:t>skill</a:t>
            </a:r>
            <a:r>
              <a:rPr lang="zh-CN" altLang="en-US" dirty="0" smtClean="0"/>
              <a:t>开发时，需要真正去收集的资料。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这一页比较的是四类 </a:t>
            </a:r>
            <a:r>
              <a:rPr lang="en-US" dirty="0" smtClean="0"/>
              <a:t>Skill </a:t>
            </a:r>
            <a:r>
              <a:rPr lang="zh-CN" altLang="en-US" dirty="0" smtClean="0"/>
              <a:t>生成 </a:t>
            </a:r>
            <a:r>
              <a:rPr lang="en-US" dirty="0" smtClean="0"/>
              <a:t>Kernel </a:t>
            </a:r>
            <a:r>
              <a:rPr lang="zh-CN" altLang="en-US" dirty="0" smtClean="0"/>
              <a:t>的绝对运行时间。测试都是统一精度 同意输入的。</a:t>
            </a:r>
            <a:r>
              <a:rPr lang="en-US" dirty="0" smtClean="0"/>
              <a:t>MLU </a:t>
            </a:r>
            <a:r>
              <a:rPr lang="zh-CN" altLang="en-US" dirty="0" smtClean="0"/>
              <a:t>平台使用 </a:t>
            </a:r>
            <a:r>
              <a:rPr lang="en-US" dirty="0" err="1" smtClean="0"/>
              <a:t>PyTorch</a:t>
            </a:r>
            <a:r>
              <a:rPr lang="en-US" dirty="0" smtClean="0"/>
              <a:t>-MLU </a:t>
            </a:r>
            <a:r>
              <a:rPr lang="zh-CN" altLang="en-US" dirty="0" smtClean="0"/>
              <a:t>作为 </a:t>
            </a:r>
            <a:r>
              <a:rPr lang="en-US" dirty="0" err="1" smtClean="0"/>
              <a:t>Baseline，GPU</a:t>
            </a:r>
            <a:r>
              <a:rPr lang="en-US" dirty="0" smtClean="0"/>
              <a:t> </a:t>
            </a:r>
            <a:r>
              <a:rPr lang="zh-CN" altLang="en-US" dirty="0" smtClean="0"/>
              <a:t>平台使用 </a:t>
            </a:r>
            <a:r>
              <a:rPr lang="en-US" dirty="0" err="1" smtClean="0"/>
              <a:t>PyTorch</a:t>
            </a:r>
            <a:r>
              <a:rPr lang="en-US" dirty="0" smtClean="0"/>
              <a:t>-CUDA </a:t>
            </a:r>
            <a:r>
              <a:rPr lang="zh-CN" altLang="en-US" dirty="0" smtClean="0"/>
              <a:t>作为 </a:t>
            </a:r>
            <a:r>
              <a:rPr lang="en-US" dirty="0" smtClean="0"/>
              <a:t>Baseline。</a:t>
            </a:r>
            <a:r>
              <a:rPr lang="zh-CN" altLang="en-US" dirty="0" smtClean="0"/>
              <a:t>表格里的格式是“</a:t>
            </a:r>
            <a:r>
              <a:rPr lang="en-US" dirty="0" smtClean="0"/>
              <a:t>Kernel </a:t>
            </a:r>
            <a:r>
              <a:rPr lang="zh-CN" altLang="en-US" dirty="0" smtClean="0"/>
              <a:t>时间 </a:t>
            </a:r>
            <a:r>
              <a:rPr lang="en-US" altLang="zh-CN" dirty="0" smtClean="0"/>
              <a:t>/ </a:t>
            </a:r>
            <a:r>
              <a:rPr lang="en-US" dirty="0" err="1" smtClean="0"/>
              <a:t>PyTorch</a:t>
            </a:r>
            <a:r>
              <a:rPr lang="en-US" dirty="0" smtClean="0"/>
              <a:t> </a:t>
            </a:r>
            <a:r>
              <a:rPr lang="zh-CN" altLang="en-US" dirty="0" smtClean="0"/>
              <a:t>时间”。先看 </a:t>
            </a:r>
            <a:r>
              <a:rPr lang="en-US" dirty="0" smtClean="0"/>
              <a:t>MLU </a:t>
            </a:r>
            <a:r>
              <a:rPr lang="en-US" dirty="0" err="1" smtClean="0"/>
              <a:t>Triton。LayerNorm</a:t>
            </a:r>
            <a:r>
              <a:rPr lang="en-US" dirty="0" smtClean="0"/>
              <a:t> </a:t>
            </a:r>
            <a:r>
              <a:rPr lang="zh-CN" altLang="en-US" dirty="0" smtClean="0"/>
              <a:t>是 </a:t>
            </a:r>
            <a:r>
              <a:rPr lang="en-US" altLang="zh-CN" dirty="0" smtClean="0"/>
              <a:t>0.15 </a:t>
            </a:r>
            <a:r>
              <a:rPr lang="en-US" dirty="0" err="1" smtClean="0"/>
              <a:t>ms</a:t>
            </a:r>
            <a:r>
              <a:rPr lang="en-US" dirty="0" smtClean="0"/>
              <a:t> </a:t>
            </a:r>
            <a:r>
              <a:rPr lang="zh-CN" altLang="en-US" dirty="0" smtClean="0"/>
              <a:t>对 </a:t>
            </a:r>
            <a:r>
              <a:rPr lang="en-US" altLang="zh-CN" dirty="0" smtClean="0"/>
              <a:t>0.15 </a:t>
            </a:r>
            <a:r>
              <a:rPr lang="en-US" dirty="0" err="1" smtClean="0"/>
              <a:t>ms</a:t>
            </a:r>
            <a:r>
              <a:rPr lang="en-US" dirty="0" smtClean="0"/>
              <a:t>，</a:t>
            </a:r>
            <a:r>
              <a:rPr lang="zh-CN" altLang="en-US" dirty="0" smtClean="0"/>
              <a:t>基本持平；</a:t>
            </a:r>
            <a:r>
              <a:rPr lang="en-US" dirty="0" err="1" smtClean="0"/>
              <a:t>Softmax</a:t>
            </a:r>
            <a:r>
              <a:rPr lang="en-US" dirty="0" smtClean="0"/>
              <a:t> </a:t>
            </a:r>
            <a:r>
              <a:rPr lang="zh-CN" altLang="en-US" dirty="0" smtClean="0"/>
              <a:t>是 </a:t>
            </a:r>
            <a:r>
              <a:rPr lang="en-US" altLang="zh-CN" dirty="0" smtClean="0"/>
              <a:t>0.086 </a:t>
            </a:r>
            <a:r>
              <a:rPr lang="en-US" dirty="0" err="1" smtClean="0"/>
              <a:t>ms</a:t>
            </a:r>
            <a:r>
              <a:rPr lang="en-US" dirty="0" smtClean="0"/>
              <a:t> </a:t>
            </a:r>
            <a:r>
              <a:rPr lang="zh-CN" altLang="en-US" dirty="0" smtClean="0"/>
              <a:t>对 </a:t>
            </a:r>
            <a:r>
              <a:rPr lang="en-US" altLang="zh-CN" dirty="0" smtClean="0"/>
              <a:t>0.11 </a:t>
            </a:r>
            <a:r>
              <a:rPr lang="en-US" dirty="0" err="1" smtClean="0"/>
              <a:t>ms</a:t>
            </a:r>
            <a:r>
              <a:rPr lang="en-US" dirty="0" smtClean="0"/>
              <a:t>，</a:t>
            </a:r>
            <a:r>
              <a:rPr lang="zh-CN" altLang="en-US" dirty="0" smtClean="0"/>
              <a:t>已经快于 </a:t>
            </a:r>
            <a:r>
              <a:rPr lang="en-US" dirty="0" err="1" smtClean="0"/>
              <a:t>PyTorch</a:t>
            </a:r>
            <a:r>
              <a:rPr lang="en-US" dirty="0" smtClean="0"/>
              <a:t>-MLU；</a:t>
            </a:r>
            <a:r>
              <a:rPr lang="zh-CN" altLang="en-US" dirty="0" smtClean="0"/>
              <a:t>所以 </a:t>
            </a:r>
            <a:r>
              <a:rPr lang="en-US" dirty="0" smtClean="0"/>
              <a:t>MLU Triton </a:t>
            </a:r>
            <a:r>
              <a:rPr lang="zh-CN" altLang="en-US" dirty="0" smtClean="0"/>
              <a:t>在相对简单的归一化和 </a:t>
            </a:r>
            <a:r>
              <a:rPr lang="en-US" dirty="0" err="1" smtClean="0"/>
              <a:t>Softmax</a:t>
            </a:r>
            <a:r>
              <a:rPr lang="en-US" dirty="0" smtClean="0"/>
              <a:t> </a:t>
            </a:r>
            <a:r>
              <a:rPr lang="zh-CN" altLang="en-US" dirty="0" smtClean="0"/>
              <a:t>上表现已经可以，但 </a:t>
            </a:r>
            <a:r>
              <a:rPr lang="en-US" dirty="0" err="1" smtClean="0"/>
              <a:t>MatMul</a:t>
            </a:r>
            <a:r>
              <a:rPr lang="en-US" dirty="0" smtClean="0"/>
              <a:t> </a:t>
            </a:r>
            <a:r>
              <a:rPr lang="zh-CN" altLang="en-US" dirty="0" smtClean="0"/>
              <a:t>还没有达到平台库的性能水平。再看 </a:t>
            </a:r>
            <a:r>
              <a:rPr lang="en-US" dirty="0" smtClean="0"/>
              <a:t>BANG C</a:t>
            </a:r>
            <a:r>
              <a:rPr lang="zh-CN" altLang="en-US" dirty="0" smtClean="0"/>
              <a:t>三个算子都明显慢于同平台 </a:t>
            </a:r>
            <a:r>
              <a:rPr lang="en-US" dirty="0" err="1" smtClean="0"/>
              <a:t>PyTorch</a:t>
            </a:r>
            <a:r>
              <a:rPr lang="en-US" dirty="0" smtClean="0"/>
              <a:t>，</a:t>
            </a:r>
            <a:r>
              <a:rPr lang="zh-CN" altLang="en-US" dirty="0" smtClean="0"/>
              <a:t>尤其 </a:t>
            </a:r>
            <a:r>
              <a:rPr lang="en-US" dirty="0" err="1" smtClean="0"/>
              <a:t>LayerNorm</a:t>
            </a:r>
            <a:r>
              <a:rPr lang="en-US" dirty="0" smtClean="0"/>
              <a:t> </a:t>
            </a:r>
            <a:r>
              <a:rPr lang="zh-CN" altLang="en-US" dirty="0" smtClean="0"/>
              <a:t>和 </a:t>
            </a:r>
            <a:r>
              <a:rPr lang="en-US" dirty="0" err="1" smtClean="0"/>
              <a:t>Softmax</a:t>
            </a:r>
            <a:r>
              <a:rPr lang="en-US" dirty="0" smtClean="0"/>
              <a:t> </a:t>
            </a:r>
            <a:r>
              <a:rPr lang="zh-CN" altLang="en-US" dirty="0" smtClean="0"/>
              <a:t>差距很大。这说明当前 </a:t>
            </a:r>
            <a:r>
              <a:rPr lang="en-US" dirty="0" smtClean="0"/>
              <a:t>BANG C Skill </a:t>
            </a:r>
            <a:r>
              <a:rPr lang="zh-CN" altLang="en-US" dirty="0" smtClean="0"/>
              <a:t>的问题不是“不能生成正确代码”，而是缺少足够成熟的高性能实现知识。</a:t>
            </a:r>
            <a:r>
              <a:rPr lang="en-US" dirty="0" smtClean="0"/>
              <a:t>GPU Triton </a:t>
            </a:r>
            <a:r>
              <a:rPr lang="zh-CN" altLang="en-US" dirty="0" smtClean="0"/>
              <a:t>与 </a:t>
            </a:r>
            <a:r>
              <a:rPr lang="en-US" dirty="0" smtClean="0"/>
              <a:t>CUDA C </a:t>
            </a:r>
            <a:r>
              <a:rPr lang="zh-CN" altLang="en-US" dirty="0" smtClean="0"/>
              <a:t>类似。</a:t>
            </a:r>
            <a:r>
              <a:rPr lang="en-US" dirty="0" err="1" smtClean="0"/>
              <a:t>LayerNorm</a:t>
            </a:r>
            <a:r>
              <a:rPr lang="en-US" dirty="0" smtClean="0"/>
              <a:t> ，</a:t>
            </a:r>
            <a:r>
              <a:rPr lang="en-US" dirty="0" err="1" smtClean="0"/>
              <a:t>Softmax</a:t>
            </a:r>
            <a:r>
              <a:rPr lang="en-US" dirty="0" smtClean="0"/>
              <a:t> </a:t>
            </a:r>
            <a:r>
              <a:rPr lang="zh-CN" altLang="en-US" dirty="0" smtClean="0"/>
              <a:t>都比较接近或者超过基线；从绝对时间上看，</a:t>
            </a:r>
            <a:r>
              <a:rPr lang="en-US" dirty="0" err="1" smtClean="0"/>
              <a:t>LayerNorm</a:t>
            </a:r>
            <a:r>
              <a:rPr lang="en-US" dirty="0" smtClean="0"/>
              <a:t> </a:t>
            </a:r>
            <a:r>
              <a:rPr lang="zh-CN" altLang="en-US" dirty="0" smtClean="0"/>
              <a:t>和 </a:t>
            </a:r>
            <a:r>
              <a:rPr lang="en-US" dirty="0" err="1" smtClean="0"/>
              <a:t>Softmax</a:t>
            </a:r>
            <a:r>
              <a:rPr lang="en-US" dirty="0" smtClean="0"/>
              <a:t> </a:t>
            </a:r>
            <a:r>
              <a:rPr lang="zh-CN" altLang="en-US" dirty="0" smtClean="0"/>
              <a:t>已经能体现出 </a:t>
            </a:r>
            <a:r>
              <a:rPr lang="en-US" dirty="0" smtClean="0"/>
              <a:t>Skill </a:t>
            </a:r>
            <a:r>
              <a:rPr lang="zh-CN" altLang="en-US" dirty="0" smtClean="0"/>
              <a:t>的实际可用性，但 </a:t>
            </a:r>
            <a:r>
              <a:rPr lang="en-US" dirty="0" err="1" smtClean="0"/>
              <a:t>MatMul</a:t>
            </a:r>
            <a:r>
              <a:rPr lang="en-US" dirty="0" smtClean="0"/>
              <a:t> </a:t>
            </a:r>
            <a:r>
              <a:rPr lang="zh-CN" altLang="en-US" dirty="0" smtClean="0"/>
              <a:t>在四类 </a:t>
            </a:r>
            <a:r>
              <a:rPr lang="en-US" dirty="0" smtClean="0"/>
              <a:t>Skill </a:t>
            </a:r>
            <a:r>
              <a:rPr lang="zh-CN" altLang="en-US" dirty="0" smtClean="0"/>
              <a:t>上都是难点。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这一页把上一页的数据换成加速比，更容易横向比较。</a:t>
            </a:r>
            <a:r>
              <a:rPr lang="en-US" altLang="zh-CN" dirty="0" err="1" smtClean="0"/>
              <a:t>LayerNorm</a:t>
            </a:r>
            <a:r>
              <a:rPr lang="en-US" altLang="zh-CN" dirty="0" smtClean="0"/>
              <a:t> </a:t>
            </a:r>
            <a:r>
              <a:rPr lang="zh-CN" altLang="en-US" dirty="0" smtClean="0"/>
              <a:t>中，</a:t>
            </a:r>
            <a:r>
              <a:rPr lang="en-US" altLang="zh-CN" dirty="0" smtClean="0"/>
              <a:t>GPU Triton </a:t>
            </a:r>
            <a:r>
              <a:rPr lang="zh-CN" altLang="en-US" dirty="0" smtClean="0"/>
              <a:t>是 </a:t>
            </a:r>
            <a:r>
              <a:rPr lang="en-US" altLang="zh-CN" dirty="0" smtClean="0"/>
              <a:t>1.45 </a:t>
            </a:r>
            <a:r>
              <a:rPr lang="zh-CN" altLang="en-US" dirty="0" smtClean="0"/>
              <a:t>倍，</a:t>
            </a:r>
            <a:r>
              <a:rPr lang="en-US" altLang="zh-CN" dirty="0" smtClean="0"/>
              <a:t>CUDA C </a:t>
            </a:r>
            <a:r>
              <a:rPr lang="zh-CN" altLang="en-US" dirty="0" smtClean="0"/>
              <a:t>是 </a:t>
            </a:r>
            <a:r>
              <a:rPr lang="en-US" altLang="zh-CN" dirty="0" smtClean="0"/>
              <a:t>1.43 </a:t>
            </a:r>
            <a:r>
              <a:rPr lang="zh-CN" altLang="en-US" dirty="0" smtClean="0"/>
              <a:t>倍，</a:t>
            </a:r>
            <a:r>
              <a:rPr lang="en-US" altLang="zh-CN" dirty="0" smtClean="0"/>
              <a:t>MLU Triton </a:t>
            </a:r>
            <a:r>
              <a:rPr lang="zh-CN" altLang="en-US" dirty="0" smtClean="0"/>
              <a:t>与基线基本持平，对于</a:t>
            </a:r>
            <a:r>
              <a:rPr lang="en-US" altLang="zh-CN" dirty="0" err="1" smtClean="0"/>
              <a:t>layernorm</a:t>
            </a:r>
            <a:r>
              <a:rPr lang="en-US" altLang="zh-CN" dirty="0" smtClean="0"/>
              <a:t> </a:t>
            </a:r>
            <a:r>
              <a:rPr lang="zh-CN" altLang="en-US" dirty="0" smtClean="0"/>
              <a:t>（注意 原先版本的 加速比是</a:t>
            </a:r>
            <a:r>
              <a:rPr lang="en-US" altLang="zh-CN" dirty="0" smtClean="0"/>
              <a:t>0.86</a:t>
            </a:r>
            <a:r>
              <a:rPr lang="zh-CN" altLang="en-US" dirty="0" smtClean="0"/>
              <a:t>）。</a:t>
            </a:r>
            <a:r>
              <a:rPr lang="en-US" altLang="zh-CN" dirty="0" err="1" smtClean="0"/>
              <a:t>Softmax</a:t>
            </a:r>
            <a:r>
              <a:rPr lang="en-US" altLang="zh-CN" dirty="0" smtClean="0"/>
              <a:t> </a:t>
            </a:r>
            <a:r>
              <a:rPr lang="zh-CN" altLang="en-US" dirty="0" smtClean="0"/>
              <a:t>中，</a:t>
            </a:r>
            <a:r>
              <a:rPr lang="en-US" altLang="zh-CN" dirty="0" smtClean="0"/>
              <a:t>MLU Triton </a:t>
            </a:r>
            <a:r>
              <a:rPr lang="zh-CN" altLang="en-US" dirty="0" smtClean="0"/>
              <a:t>达到 </a:t>
            </a:r>
            <a:r>
              <a:rPr lang="en-US" altLang="zh-CN" dirty="0" smtClean="0"/>
              <a:t>1.23 </a:t>
            </a:r>
            <a:r>
              <a:rPr lang="zh-CN" altLang="en-US" dirty="0" smtClean="0"/>
              <a:t>倍，</a:t>
            </a:r>
            <a:r>
              <a:rPr lang="en-US" altLang="zh-CN" dirty="0" smtClean="0"/>
              <a:t>CUDA C </a:t>
            </a:r>
            <a:r>
              <a:rPr lang="zh-CN" altLang="en-US" dirty="0" smtClean="0"/>
              <a:t>和 </a:t>
            </a:r>
            <a:r>
              <a:rPr lang="en-US" altLang="zh-CN" dirty="0" smtClean="0"/>
              <a:t>GPU Triton </a:t>
            </a:r>
            <a:r>
              <a:rPr lang="zh-CN" altLang="en-US" dirty="0" smtClean="0"/>
              <a:t>都在 </a:t>
            </a:r>
            <a:r>
              <a:rPr lang="en-US" altLang="zh-CN" dirty="0" smtClean="0"/>
              <a:t>1.06 </a:t>
            </a:r>
            <a:r>
              <a:rPr lang="zh-CN" altLang="en-US" dirty="0" smtClean="0"/>
              <a:t>倍左右。但 </a:t>
            </a:r>
            <a:r>
              <a:rPr lang="en-US" altLang="zh-CN" dirty="0" err="1" smtClean="0"/>
              <a:t>MatMul</a:t>
            </a:r>
            <a:r>
              <a:rPr lang="en-US" altLang="zh-CN" dirty="0" smtClean="0"/>
              <a:t> </a:t>
            </a:r>
            <a:r>
              <a:rPr lang="zh-CN" altLang="en-US" dirty="0" smtClean="0"/>
              <a:t>四个平台全部低于 </a:t>
            </a:r>
            <a:r>
              <a:rPr lang="en-US" altLang="zh-CN" dirty="0" smtClean="0"/>
              <a:t>1 </a:t>
            </a:r>
            <a:r>
              <a:rPr lang="zh-CN" altLang="en-US" dirty="0" smtClean="0"/>
              <a:t>倍，最高的 </a:t>
            </a:r>
            <a:r>
              <a:rPr lang="en-US" altLang="zh-CN" dirty="0" smtClean="0"/>
              <a:t>CUDA C </a:t>
            </a:r>
            <a:r>
              <a:rPr lang="zh-CN" altLang="en-US" dirty="0" smtClean="0"/>
              <a:t>也只有 </a:t>
            </a:r>
            <a:r>
              <a:rPr lang="en-US" altLang="zh-CN" dirty="0" smtClean="0"/>
              <a:t>0.53 </a:t>
            </a:r>
            <a:r>
              <a:rPr lang="zh-CN" altLang="en-US" dirty="0" smtClean="0"/>
              <a:t>倍。所以目前可以看到一个比较明确的规律：对于 </a:t>
            </a:r>
            <a:r>
              <a:rPr lang="en-US" altLang="zh-CN" dirty="0" err="1" smtClean="0"/>
              <a:t>LayerNorm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Softmax</a:t>
            </a:r>
            <a:r>
              <a:rPr lang="en-US" altLang="zh-CN" dirty="0" smtClean="0"/>
              <a:t> </a:t>
            </a:r>
            <a:r>
              <a:rPr lang="zh-CN" altLang="en-US" dirty="0" smtClean="0"/>
              <a:t>这类算子，</a:t>
            </a:r>
            <a:r>
              <a:rPr lang="en-US" altLang="zh-CN" dirty="0" smtClean="0"/>
              <a:t>Skill </a:t>
            </a:r>
            <a:r>
              <a:rPr lang="zh-CN" altLang="en-US" dirty="0" smtClean="0"/>
              <a:t>已经能够生成有竞争力的实现；但 </a:t>
            </a:r>
            <a:r>
              <a:rPr lang="en-US" altLang="zh-CN" dirty="0" err="1" smtClean="0"/>
              <a:t>MatMul</a:t>
            </a:r>
            <a:r>
              <a:rPr lang="en-US" altLang="zh-CN" dirty="0" smtClean="0"/>
              <a:t> </a:t>
            </a:r>
            <a:r>
              <a:rPr lang="zh-CN" altLang="en-US" dirty="0" smtClean="0"/>
              <a:t>这种更依赖 </a:t>
            </a:r>
            <a:r>
              <a:rPr lang="en-US" altLang="zh-CN" dirty="0" smtClean="0"/>
              <a:t>Tiling</a:t>
            </a:r>
            <a:r>
              <a:rPr lang="zh-CN" altLang="en-US" dirty="0" smtClean="0"/>
              <a:t>、数据搬运和硬件计算能力的算子，仅靠通用开发流程还不够。另外 </a:t>
            </a:r>
            <a:r>
              <a:rPr lang="en-US" altLang="zh-CN" dirty="0" smtClean="0"/>
              <a:t>BANG C </a:t>
            </a:r>
            <a:r>
              <a:rPr lang="zh-CN" altLang="en-US" dirty="0" smtClean="0"/>
              <a:t>三项都低于基线，也说明后续需要重点补充高性能 </a:t>
            </a:r>
            <a:r>
              <a:rPr lang="en-US" altLang="zh-CN" dirty="0" smtClean="0"/>
              <a:t>Reference </a:t>
            </a:r>
            <a:r>
              <a:rPr lang="zh-CN" altLang="en-US" dirty="0" smtClean="0"/>
              <a:t>和平台优化规则。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除了最终性能，我还统计了从需求提交到最终交付的开发时间。目前 </a:t>
            </a:r>
            <a:r>
              <a:rPr lang="en-US" altLang="zh-CN" dirty="0" smtClean="0"/>
              <a:t>CUDA C </a:t>
            </a:r>
            <a:r>
              <a:rPr lang="zh-CN" altLang="en-US" dirty="0" smtClean="0"/>
              <a:t>平均约 </a:t>
            </a:r>
            <a:r>
              <a:rPr lang="en-US" altLang="zh-CN" dirty="0" smtClean="0"/>
              <a:t>1 </a:t>
            </a:r>
            <a:r>
              <a:rPr lang="zh-CN" altLang="en-US" dirty="0" smtClean="0"/>
              <a:t>小时 </a:t>
            </a:r>
            <a:r>
              <a:rPr lang="en-US" altLang="zh-CN" dirty="0" smtClean="0"/>
              <a:t>29 </a:t>
            </a:r>
            <a:r>
              <a:rPr lang="zh-CN" altLang="en-US" dirty="0" smtClean="0"/>
              <a:t>分，开发时间最短；</a:t>
            </a:r>
            <a:r>
              <a:rPr lang="en-US" altLang="zh-CN" dirty="0" smtClean="0"/>
              <a:t>GPU Triton </a:t>
            </a:r>
            <a:r>
              <a:rPr lang="zh-CN" altLang="en-US" dirty="0" smtClean="0"/>
              <a:t>大约 </a:t>
            </a:r>
            <a:r>
              <a:rPr lang="en-US" altLang="zh-CN" dirty="0" smtClean="0"/>
              <a:t>2 </a:t>
            </a:r>
            <a:r>
              <a:rPr lang="zh-CN" altLang="en-US" dirty="0" smtClean="0"/>
              <a:t>小时 </a:t>
            </a:r>
            <a:r>
              <a:rPr lang="en-US" altLang="zh-CN" dirty="0" smtClean="0"/>
              <a:t>20 </a:t>
            </a:r>
            <a:r>
              <a:rPr lang="zh-CN" altLang="en-US" dirty="0" smtClean="0"/>
              <a:t>分；</a:t>
            </a:r>
            <a:r>
              <a:rPr lang="en-US" altLang="zh-CN" dirty="0" smtClean="0"/>
              <a:t>MLU Triton </a:t>
            </a:r>
            <a:r>
              <a:rPr lang="zh-CN" altLang="en-US" dirty="0" smtClean="0"/>
              <a:t>大约 </a:t>
            </a:r>
            <a:r>
              <a:rPr lang="en-US" altLang="zh-CN" dirty="0" smtClean="0"/>
              <a:t>2 </a:t>
            </a:r>
            <a:r>
              <a:rPr lang="zh-CN" altLang="en-US" dirty="0" smtClean="0"/>
              <a:t>小时 </a:t>
            </a:r>
            <a:r>
              <a:rPr lang="en-US" altLang="zh-CN" dirty="0" smtClean="0"/>
              <a:t>49 </a:t>
            </a:r>
            <a:r>
              <a:rPr lang="zh-CN" altLang="en-US" dirty="0" smtClean="0"/>
              <a:t>分；</a:t>
            </a:r>
            <a:r>
              <a:rPr lang="en-US" altLang="zh-CN" dirty="0" smtClean="0"/>
              <a:t>BANG C </a:t>
            </a:r>
            <a:r>
              <a:rPr lang="zh-CN" altLang="en-US" dirty="0" smtClean="0"/>
              <a:t>平均约 </a:t>
            </a:r>
            <a:r>
              <a:rPr lang="en-US" altLang="zh-CN" dirty="0" smtClean="0"/>
              <a:t>8 </a:t>
            </a:r>
            <a:r>
              <a:rPr lang="zh-CN" altLang="en-US" dirty="0" smtClean="0"/>
              <a:t>小时，耗时最长。但这里需要注意，开发快并不代表最终性能一定好，但是开发效率在实际开发中也十分重要。我个人认为目前 </a:t>
            </a:r>
            <a:r>
              <a:rPr lang="en-US" altLang="zh-CN" dirty="0" smtClean="0"/>
              <a:t>MLU Triton</a:t>
            </a:r>
            <a:r>
              <a:rPr lang="zh-CN" altLang="en-US" dirty="0" smtClean="0"/>
              <a:t>、</a:t>
            </a:r>
            <a:r>
              <a:rPr lang="en-US" altLang="zh-CN" dirty="0" smtClean="0"/>
              <a:t>CUDA C </a:t>
            </a:r>
            <a:r>
              <a:rPr lang="zh-CN" altLang="en-US" dirty="0" smtClean="0"/>
              <a:t>和 </a:t>
            </a:r>
            <a:r>
              <a:rPr lang="en-US" altLang="zh-CN" dirty="0" smtClean="0"/>
              <a:t>GPU Triton </a:t>
            </a:r>
            <a:r>
              <a:rPr lang="zh-CN" altLang="en-US" dirty="0" smtClean="0"/>
              <a:t>的开发效率已经比较可用，但仍然需要更多算子验证；</a:t>
            </a:r>
            <a:r>
              <a:rPr lang="en-US" altLang="zh-CN" dirty="0" smtClean="0"/>
              <a:t>BANG C </a:t>
            </a:r>
            <a:r>
              <a:rPr lang="zh-CN" altLang="en-US" dirty="0" smtClean="0"/>
              <a:t>当前主要需要继续补平台知识和优化经验。此外本周对结构进行了进一步优化，相对于原版减低了</a:t>
            </a:r>
            <a:r>
              <a:rPr lang="en-US" altLang="zh-CN" dirty="0" smtClean="0"/>
              <a:t>20%</a:t>
            </a:r>
            <a:r>
              <a:rPr lang="zh-CN" altLang="en-US" dirty="0" smtClean="0"/>
              <a:t>的</a:t>
            </a:r>
            <a:r>
              <a:rPr lang="en-US" altLang="zh-CN" dirty="0" smtClean="0"/>
              <a:t>token</a:t>
            </a:r>
            <a:r>
              <a:rPr lang="zh-CN" altLang="en-US" dirty="0" smtClean="0"/>
              <a:t>消耗。目前正在进行多组算子测试和进一步结构优化。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pPr fontAlgn="auto">
              <a:defRPr/>
            </a:pPr>
            <a:fld id="{BF415795-042F-4949-9313-AD09E35C5059}" type="datetime1">
              <a:rPr lang="zh-CN" altLang="en-US" strike="noStrike" noProof="1">
                <a:latin typeface="+mn-lt"/>
                <a:ea typeface="+mn-ea"/>
                <a:cs typeface="+mn-cs"/>
              </a:rPr>
              <a:t>2026/9/15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pPr fontAlgn="auto">
              <a:defRPr/>
            </a:pPr>
            <a:fld id="{E6EDE1DC-439A-425E-8995-2DD3A7B9393D}" type="slidenum">
              <a:rPr lang="zh-CN" altLang="en-US" strike="noStrike" noProof="1">
                <a:latin typeface="Times New Roman" panose="02020603050405020304" pitchFamily="18" charset="0"/>
                <a:ea typeface="楷体_GB2312" pitchFamily="1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/>
          <p:cNvSpPr>
            <a:spLocks noGrp="1"/>
          </p:cNvSpPr>
          <p:nvPr/>
        </p:nvSpPr>
        <p:spPr>
          <a:xfrm>
            <a:off x="1085850" y="172729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9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dirty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Skill </a:t>
            </a:r>
            <a:r>
              <a:rPr sz="2700" b="1" dirty="0" err="1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开发流程</a:t>
            </a:r>
            <a:r>
              <a:rPr sz="2700" b="1" dirty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①</a:t>
            </a:r>
          </a:p>
        </p:txBody>
      </p:sp>
      <p:sp>
        <p:nvSpPr>
          <p:cNvPr id="3" name="subtitle-prefix"/>
          <p:cNvSpPr>
            <a:spLocks noGrp="1"/>
          </p:cNvSpPr>
          <p:nvPr/>
        </p:nvSpPr>
        <p:spPr>
          <a:xfrm>
            <a:off x="800100" y="752475"/>
            <a:ext cx="6286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90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390" b="0" dirty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ubtitle-suffix"/>
          <p:cNvSpPr>
            <a:spLocks noGrp="1"/>
          </p:cNvSpPr>
          <p:nvPr/>
        </p:nvSpPr>
        <p:spPr>
          <a:xfrm>
            <a:off x="3067050" y="752475"/>
            <a:ext cx="4000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90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390" b="0" dirty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what-how-line"/>
          <p:cNvSpPr>
            <a:spLocks noGrp="1"/>
          </p:cNvSpPr>
          <p:nvPr/>
        </p:nvSpPr>
        <p:spPr>
          <a:xfrm>
            <a:off x="2809875" y="1225412"/>
            <a:ext cx="2133600" cy="0"/>
          </a:xfrm>
          <a:prstGeom prst="line">
            <a:avLst/>
          </a:prstGeom>
          <a:noFill/>
          <a:ln w="12383">
            <a:solidFill>
              <a:srgbClr val="7F9DB2"/>
            </a:solidFill>
            <a:prstDash val="solid"/>
          </a:ln>
        </p:spPr>
      </p:sp>
      <p:sp>
        <p:nvSpPr>
          <p:cNvPr id="8" name="what-how-arrow"/>
          <p:cNvSpPr>
            <a:spLocks noGrp="1"/>
          </p:cNvSpPr>
          <p:nvPr/>
        </p:nvSpPr>
        <p:spPr>
          <a:xfrm rot="5400000">
            <a:off x="4905375" y="1187312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9" name="how-who-line"/>
          <p:cNvSpPr>
            <a:spLocks noGrp="1"/>
          </p:cNvSpPr>
          <p:nvPr/>
        </p:nvSpPr>
        <p:spPr>
          <a:xfrm>
            <a:off x="6962775" y="1225412"/>
            <a:ext cx="1971675" cy="0"/>
          </a:xfrm>
          <a:prstGeom prst="line">
            <a:avLst/>
          </a:prstGeom>
          <a:noFill/>
          <a:ln w="12383">
            <a:solidFill>
              <a:srgbClr val="7F9DB2"/>
            </a:solidFill>
            <a:prstDash val="solid"/>
          </a:ln>
        </p:spPr>
      </p:sp>
      <p:sp>
        <p:nvSpPr>
          <p:cNvPr id="10" name="how-who-arrow"/>
          <p:cNvSpPr>
            <a:spLocks noGrp="1"/>
          </p:cNvSpPr>
          <p:nvPr/>
        </p:nvSpPr>
        <p:spPr>
          <a:xfrm rot="5400000">
            <a:off x="8896350" y="1187312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1" name="what-how-label"/>
          <p:cNvSpPr>
            <a:spLocks noGrp="1"/>
          </p:cNvSpPr>
          <p:nvPr/>
        </p:nvSpPr>
        <p:spPr>
          <a:xfrm>
            <a:off x="3267075" y="977762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得到目标与边界</a:t>
            </a:r>
          </a:p>
        </p:txBody>
      </p:sp>
      <p:sp>
        <p:nvSpPr>
          <p:cNvPr id="12" name="how-who-label"/>
          <p:cNvSpPr>
            <a:spLocks noGrp="1"/>
          </p:cNvSpPr>
          <p:nvPr/>
        </p:nvSpPr>
        <p:spPr>
          <a:xfrm>
            <a:off x="7334250" y="977762"/>
            <a:ext cx="1276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015" dirty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划分</a:t>
            </a:r>
            <a:r>
              <a:rPr sz="1015" b="0" dirty="0" smtClean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</a:t>
            </a:r>
            <a:r>
              <a:rPr sz="1015" b="0" dirty="0" err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与交接</a:t>
            </a:r>
            <a:endParaRPr sz="1015" b="0" dirty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what-en"/>
          <p:cNvSpPr>
            <a:spLocks noGrp="1"/>
          </p:cNvSpPr>
          <p:nvPr/>
        </p:nvSpPr>
        <p:spPr>
          <a:xfrm>
            <a:off x="1552575" y="958712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WHAT</a:t>
            </a:r>
          </a:p>
        </p:txBody>
      </p:sp>
      <p:sp>
        <p:nvSpPr>
          <p:cNvPr id="14" name="what-cn"/>
          <p:cNvSpPr>
            <a:spLocks noGrp="1"/>
          </p:cNvSpPr>
          <p:nvPr/>
        </p:nvSpPr>
        <p:spPr>
          <a:xfrm>
            <a:off x="1552575" y="1130162"/>
            <a:ext cx="1238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做什么</a:t>
            </a:r>
          </a:p>
        </p:txBody>
      </p:sp>
      <p:sp>
        <p:nvSpPr>
          <p:cNvPr id="15" name="how-en"/>
          <p:cNvSpPr>
            <a:spLocks noGrp="1"/>
          </p:cNvSpPr>
          <p:nvPr/>
        </p:nvSpPr>
        <p:spPr>
          <a:xfrm>
            <a:off x="5381625" y="958712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HOW</a:t>
            </a:r>
          </a:p>
        </p:txBody>
      </p:sp>
      <p:sp>
        <p:nvSpPr>
          <p:cNvPr id="16" name="how-cn"/>
          <p:cNvSpPr>
            <a:spLocks noGrp="1"/>
          </p:cNvSpPr>
          <p:nvPr/>
        </p:nvSpPr>
        <p:spPr>
          <a:xfrm>
            <a:off x="5381625" y="1130162"/>
            <a:ext cx="1238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怎么做</a:t>
            </a:r>
          </a:p>
        </p:txBody>
      </p:sp>
      <p:sp>
        <p:nvSpPr>
          <p:cNvPr id="17" name="who-en"/>
          <p:cNvSpPr>
            <a:spLocks noGrp="1"/>
          </p:cNvSpPr>
          <p:nvPr/>
        </p:nvSpPr>
        <p:spPr>
          <a:xfrm>
            <a:off x="9191625" y="958712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WHO</a:t>
            </a:r>
          </a:p>
        </p:txBody>
      </p:sp>
      <p:sp>
        <p:nvSpPr>
          <p:cNvPr id="18" name="who-cn"/>
          <p:cNvSpPr>
            <a:spLocks noGrp="1"/>
          </p:cNvSpPr>
          <p:nvPr/>
        </p:nvSpPr>
        <p:spPr>
          <a:xfrm>
            <a:off x="9191625" y="1130162"/>
            <a:ext cx="1238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谁来做</a:t>
            </a:r>
          </a:p>
        </p:txBody>
      </p:sp>
      <p:sp>
        <p:nvSpPr>
          <p:cNvPr id="19" name="define-frame"/>
          <p:cNvSpPr>
            <a:spLocks noGrp="1"/>
          </p:cNvSpPr>
          <p:nvPr/>
        </p:nvSpPr>
        <p:spPr>
          <a:xfrm>
            <a:off x="609600" y="1828800"/>
            <a:ext cx="3333750" cy="398145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20" name="define-accent"/>
          <p:cNvSpPr>
            <a:spLocks noGrp="1"/>
          </p:cNvSpPr>
          <p:nvPr/>
        </p:nvSpPr>
        <p:spPr>
          <a:xfrm>
            <a:off x="609600" y="1828800"/>
            <a:ext cx="3333750" cy="28575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21" name="define-number"/>
          <p:cNvSpPr>
            <a:spLocks noGrp="1"/>
          </p:cNvSpPr>
          <p:nvPr/>
        </p:nvSpPr>
        <p:spPr>
          <a:xfrm>
            <a:off x="762000" y="1924050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22" name="define-title"/>
          <p:cNvSpPr>
            <a:spLocks noGrp="1"/>
          </p:cNvSpPr>
          <p:nvPr/>
        </p:nvSpPr>
        <p:spPr>
          <a:xfrm>
            <a:off x="1162050" y="1905000"/>
            <a:ext cx="26289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6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定义任务</a:t>
            </a:r>
          </a:p>
        </p:txBody>
      </p:sp>
      <p:sp>
        <p:nvSpPr>
          <p:cNvPr id="23" name="define-subtitle"/>
          <p:cNvSpPr>
            <a:spLocks noGrp="1"/>
          </p:cNvSpPr>
          <p:nvPr/>
        </p:nvSpPr>
        <p:spPr>
          <a:xfrm>
            <a:off x="762000" y="2209800"/>
            <a:ext cx="3028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先明确“做什么”</a:t>
            </a:r>
          </a:p>
        </p:txBody>
      </p:sp>
      <p:sp>
        <p:nvSpPr>
          <p:cNvPr id="24" name="define-header-line"/>
          <p:cNvSpPr>
            <a:spLocks noGrp="1"/>
          </p:cNvSpPr>
          <p:nvPr/>
        </p:nvSpPr>
        <p:spPr>
          <a:xfrm>
            <a:off x="762000" y="2486025"/>
            <a:ext cx="3028950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25" name="workflow-frame"/>
          <p:cNvSpPr>
            <a:spLocks noGrp="1"/>
          </p:cNvSpPr>
          <p:nvPr/>
        </p:nvSpPr>
        <p:spPr>
          <a:xfrm>
            <a:off x="4200525" y="1828800"/>
            <a:ext cx="3781425" cy="3981450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26" name="workflow-accent"/>
          <p:cNvSpPr>
            <a:spLocks noGrp="1"/>
          </p:cNvSpPr>
          <p:nvPr/>
        </p:nvSpPr>
        <p:spPr>
          <a:xfrm>
            <a:off x="4200525" y="1828800"/>
            <a:ext cx="3781425" cy="28575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27" name="workflow-number"/>
          <p:cNvSpPr>
            <a:spLocks noGrp="1"/>
          </p:cNvSpPr>
          <p:nvPr/>
        </p:nvSpPr>
        <p:spPr>
          <a:xfrm>
            <a:off x="4352925" y="1924050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28" name="workflow-title"/>
          <p:cNvSpPr>
            <a:spLocks noGrp="1"/>
          </p:cNvSpPr>
          <p:nvPr/>
        </p:nvSpPr>
        <p:spPr>
          <a:xfrm>
            <a:off x="4752975" y="1905000"/>
            <a:ext cx="30765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6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设计基础 Workflow</a:t>
            </a:r>
          </a:p>
        </p:txBody>
      </p:sp>
      <p:sp>
        <p:nvSpPr>
          <p:cNvPr id="29" name="workflow-subtitle"/>
          <p:cNvSpPr>
            <a:spLocks noGrp="1"/>
          </p:cNvSpPr>
          <p:nvPr/>
        </p:nvSpPr>
        <p:spPr>
          <a:xfrm>
            <a:off x="4352925" y="2209800"/>
            <a:ext cx="3476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00" b="1" dirty="0" smtClean="0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划分具体阶段，</a:t>
            </a:r>
            <a:r>
              <a:rPr sz="1200" b="1" dirty="0" err="1" smtClean="0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</a:t>
            </a:r>
            <a:r>
              <a:rPr sz="1200" b="1" dirty="0" err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“怎么做</a:t>
            </a:r>
            <a:r>
              <a:rPr sz="1200" b="1" dirty="0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</a:p>
        </p:txBody>
      </p:sp>
      <p:sp>
        <p:nvSpPr>
          <p:cNvPr id="30" name="workflow-header-line"/>
          <p:cNvSpPr>
            <a:spLocks noGrp="1"/>
          </p:cNvSpPr>
          <p:nvPr/>
        </p:nvSpPr>
        <p:spPr>
          <a:xfrm>
            <a:off x="4352925" y="2486025"/>
            <a:ext cx="3476625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31" name="roles-frame"/>
          <p:cNvSpPr>
            <a:spLocks noGrp="1"/>
          </p:cNvSpPr>
          <p:nvPr/>
        </p:nvSpPr>
        <p:spPr>
          <a:xfrm>
            <a:off x="8239125" y="1828800"/>
            <a:ext cx="3343275" cy="3981450"/>
          </a:xfrm>
          <a:prstGeom prst="roundRect">
            <a:avLst>
              <a:gd name="adj" fmla="val 1425"/>
            </a:avLst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32" name="roles-accent"/>
          <p:cNvSpPr>
            <a:spLocks noGrp="1"/>
          </p:cNvSpPr>
          <p:nvPr/>
        </p:nvSpPr>
        <p:spPr>
          <a:xfrm>
            <a:off x="8239125" y="1828800"/>
            <a:ext cx="3343275" cy="28575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33" name="roles-number"/>
          <p:cNvSpPr>
            <a:spLocks noGrp="1"/>
          </p:cNvSpPr>
          <p:nvPr/>
        </p:nvSpPr>
        <p:spPr>
          <a:xfrm>
            <a:off x="8391525" y="1924050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34" name="roles-title"/>
          <p:cNvSpPr>
            <a:spLocks noGrp="1"/>
          </p:cNvSpPr>
          <p:nvPr/>
        </p:nvSpPr>
        <p:spPr>
          <a:xfrm>
            <a:off x="8791575" y="1905000"/>
            <a:ext cx="26384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6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划分执行职责</a:t>
            </a:r>
          </a:p>
        </p:txBody>
      </p:sp>
      <p:sp>
        <p:nvSpPr>
          <p:cNvPr id="35" name="roles-subtitle"/>
          <p:cNvSpPr>
            <a:spLocks noGrp="1"/>
          </p:cNvSpPr>
          <p:nvPr/>
        </p:nvSpPr>
        <p:spPr>
          <a:xfrm>
            <a:off x="8391525" y="2209800"/>
            <a:ext cx="3038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明确“谁来做”</a:t>
            </a:r>
          </a:p>
        </p:txBody>
      </p:sp>
      <p:sp>
        <p:nvSpPr>
          <p:cNvPr id="36" name="roles-header-line"/>
          <p:cNvSpPr>
            <a:spLocks noGrp="1"/>
          </p:cNvSpPr>
          <p:nvPr/>
        </p:nvSpPr>
        <p:spPr>
          <a:xfrm>
            <a:off x="8334375" y="2488095"/>
            <a:ext cx="3038475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37" name="define-equation-band"/>
          <p:cNvSpPr>
            <a:spLocks noGrp="1"/>
          </p:cNvSpPr>
          <p:nvPr/>
        </p:nvSpPr>
        <p:spPr>
          <a:xfrm>
            <a:off x="762000" y="2571750"/>
            <a:ext cx="3028950" cy="323850"/>
          </a:xfrm>
          <a:prstGeom prst="rect">
            <a:avLst/>
          </a:prstGeom>
          <a:solidFill>
            <a:srgbClr val="F2F6F8"/>
          </a:solidFill>
          <a:ln w="0">
            <a:noFill/>
            <a:prstDash val="solid"/>
          </a:ln>
        </p:spPr>
      </p:sp>
      <p:sp>
        <p:nvSpPr>
          <p:cNvPr id="38" name="define-equation"/>
          <p:cNvSpPr>
            <a:spLocks noGrp="1"/>
          </p:cNvSpPr>
          <p:nvPr/>
        </p:nvSpPr>
        <p:spPr>
          <a:xfrm>
            <a:off x="876300" y="2581275"/>
            <a:ext cx="2800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 X   →   处理过程   →   输出 Y</a:t>
            </a:r>
          </a:p>
        </p:txBody>
      </p:sp>
      <p:sp>
        <p:nvSpPr>
          <p:cNvPr id="39" name="goal-label"/>
          <p:cNvSpPr>
            <a:spLocks noGrp="1"/>
          </p:cNvSpPr>
          <p:nvPr/>
        </p:nvSpPr>
        <p:spPr>
          <a:xfrm>
            <a:off x="762000" y="3009900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任务目标</a:t>
            </a:r>
          </a:p>
        </p:txBody>
      </p:sp>
      <p:sp>
        <p:nvSpPr>
          <p:cNvPr id="40" name="goal-detail"/>
          <p:cNvSpPr>
            <a:spLocks noGrp="1"/>
          </p:cNvSpPr>
          <p:nvPr/>
        </p:nvSpPr>
        <p:spPr>
          <a:xfrm>
            <a:off x="1676400" y="3009900"/>
            <a:ext cx="2114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1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1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最终解决什么问题？</a:t>
            </a:r>
          </a:p>
        </p:txBody>
      </p:sp>
      <p:sp>
        <p:nvSpPr>
          <p:cNvPr id="41" name="goal-line"/>
          <p:cNvSpPr>
            <a:spLocks noGrp="1"/>
          </p:cNvSpPr>
          <p:nvPr/>
        </p:nvSpPr>
        <p:spPr>
          <a:xfrm>
            <a:off x="762000" y="3305175"/>
            <a:ext cx="3028950" cy="0"/>
          </a:xfrm>
          <a:prstGeom prst="line">
            <a:avLst/>
          </a:prstGeom>
          <a:noFill/>
          <a:ln w="6668">
            <a:solidFill>
              <a:srgbClr val="D8DEE3"/>
            </a:solidFill>
            <a:prstDash val="solid"/>
          </a:ln>
        </p:spPr>
      </p:sp>
      <p:sp>
        <p:nvSpPr>
          <p:cNvPr id="42" name="input-label"/>
          <p:cNvSpPr>
            <a:spLocks noGrp="1"/>
          </p:cNvSpPr>
          <p:nvPr/>
        </p:nvSpPr>
        <p:spPr>
          <a:xfrm>
            <a:off x="762000" y="3409950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Input</a:t>
            </a:r>
          </a:p>
        </p:txBody>
      </p:sp>
      <p:sp>
        <p:nvSpPr>
          <p:cNvPr id="43" name="input-detail"/>
          <p:cNvSpPr>
            <a:spLocks noGrp="1"/>
          </p:cNvSpPr>
          <p:nvPr/>
        </p:nvSpPr>
        <p:spPr>
          <a:xfrm>
            <a:off x="1676400" y="3409950"/>
            <a:ext cx="2114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1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1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 / 文件 / 代码 / 参数 / 数据</a:t>
            </a:r>
          </a:p>
        </p:txBody>
      </p:sp>
      <p:sp>
        <p:nvSpPr>
          <p:cNvPr id="44" name="input-line"/>
          <p:cNvSpPr>
            <a:spLocks noGrp="1"/>
          </p:cNvSpPr>
          <p:nvPr/>
        </p:nvSpPr>
        <p:spPr>
          <a:xfrm>
            <a:off x="762000" y="3705225"/>
            <a:ext cx="3028950" cy="0"/>
          </a:xfrm>
          <a:prstGeom prst="line">
            <a:avLst/>
          </a:prstGeom>
          <a:noFill/>
          <a:ln w="6668">
            <a:solidFill>
              <a:srgbClr val="D8DEE3"/>
            </a:solidFill>
            <a:prstDash val="solid"/>
          </a:ln>
        </p:spPr>
      </p:sp>
      <p:sp>
        <p:nvSpPr>
          <p:cNvPr id="45" name="output-label"/>
          <p:cNvSpPr>
            <a:spLocks noGrp="1"/>
          </p:cNvSpPr>
          <p:nvPr/>
        </p:nvSpPr>
        <p:spPr>
          <a:xfrm>
            <a:off x="762000" y="3810000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</a:t>
            </a:r>
          </a:p>
        </p:txBody>
      </p:sp>
      <p:sp>
        <p:nvSpPr>
          <p:cNvPr id="46" name="output-detail"/>
          <p:cNvSpPr>
            <a:spLocks noGrp="1"/>
          </p:cNvSpPr>
          <p:nvPr/>
        </p:nvSpPr>
        <p:spPr>
          <a:xfrm>
            <a:off x="1676400" y="3810000"/>
            <a:ext cx="2114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1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1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 / 文档 / 文件 / 结果 / 报告</a:t>
            </a:r>
          </a:p>
        </p:txBody>
      </p:sp>
      <p:sp>
        <p:nvSpPr>
          <p:cNvPr id="47" name="output-line"/>
          <p:cNvSpPr>
            <a:spLocks noGrp="1"/>
          </p:cNvSpPr>
          <p:nvPr/>
        </p:nvSpPr>
        <p:spPr>
          <a:xfrm>
            <a:off x="762000" y="4105275"/>
            <a:ext cx="3028950" cy="0"/>
          </a:xfrm>
          <a:prstGeom prst="line">
            <a:avLst/>
          </a:prstGeom>
          <a:noFill/>
          <a:ln w="6668">
            <a:solidFill>
              <a:srgbClr val="D8DEE3"/>
            </a:solidFill>
            <a:prstDash val="solid"/>
          </a:ln>
        </p:spPr>
      </p:sp>
      <p:sp>
        <p:nvSpPr>
          <p:cNvPr id="48" name="boundary-label"/>
          <p:cNvSpPr>
            <a:spLocks noGrp="1"/>
          </p:cNvSpPr>
          <p:nvPr/>
        </p:nvSpPr>
        <p:spPr>
          <a:xfrm>
            <a:off x="762000" y="4210050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Boundary</a:t>
            </a:r>
          </a:p>
        </p:txBody>
      </p:sp>
      <p:sp>
        <p:nvSpPr>
          <p:cNvPr id="49" name="boundary-detail"/>
          <p:cNvSpPr>
            <a:spLocks noGrp="1"/>
          </p:cNvSpPr>
          <p:nvPr/>
        </p:nvSpPr>
        <p:spPr>
          <a:xfrm>
            <a:off x="1676400" y="4210050"/>
            <a:ext cx="2114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1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1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负责什么；不修改未指定内容</a:t>
            </a:r>
          </a:p>
        </p:txBody>
      </p:sp>
      <p:sp>
        <p:nvSpPr>
          <p:cNvPr id="50" name="boundary-line"/>
          <p:cNvSpPr>
            <a:spLocks noGrp="1"/>
          </p:cNvSpPr>
          <p:nvPr/>
        </p:nvSpPr>
        <p:spPr>
          <a:xfrm>
            <a:off x="762000" y="4505325"/>
            <a:ext cx="3028950" cy="0"/>
          </a:xfrm>
          <a:prstGeom prst="line">
            <a:avLst/>
          </a:prstGeom>
          <a:noFill/>
          <a:ln w="6668">
            <a:solidFill>
              <a:srgbClr val="D8DEE3"/>
            </a:solidFill>
            <a:prstDash val="solid"/>
          </a:ln>
        </p:spPr>
      </p:sp>
      <p:sp>
        <p:nvSpPr>
          <p:cNvPr id="51" name="success-label"/>
          <p:cNvSpPr>
            <a:spLocks noGrp="1"/>
          </p:cNvSpPr>
          <p:nvPr/>
        </p:nvSpPr>
        <p:spPr>
          <a:xfrm>
            <a:off x="762000" y="4610100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Success</a:t>
            </a:r>
          </a:p>
        </p:txBody>
      </p:sp>
      <p:sp>
        <p:nvSpPr>
          <p:cNvPr id="52" name="success-detail"/>
          <p:cNvSpPr>
            <a:spLocks noGrp="1"/>
          </p:cNvSpPr>
          <p:nvPr/>
        </p:nvSpPr>
        <p:spPr>
          <a:xfrm>
            <a:off x="1676400" y="4610100"/>
            <a:ext cx="2114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1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1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文件存在 · 测试通过 · 格式合规</a:t>
            </a:r>
          </a:p>
        </p:txBody>
      </p:sp>
      <p:sp>
        <p:nvSpPr>
          <p:cNvPr id="53" name="success-line"/>
          <p:cNvSpPr>
            <a:spLocks noGrp="1"/>
          </p:cNvSpPr>
          <p:nvPr/>
        </p:nvSpPr>
        <p:spPr>
          <a:xfrm>
            <a:off x="762000" y="4905375"/>
            <a:ext cx="3028950" cy="0"/>
          </a:xfrm>
          <a:prstGeom prst="line">
            <a:avLst/>
          </a:prstGeom>
          <a:noFill/>
          <a:ln w="6668">
            <a:solidFill>
              <a:srgbClr val="D8DEE3"/>
            </a:solidFill>
            <a:prstDash val="solid"/>
          </a:ln>
        </p:spPr>
      </p:sp>
      <p:sp>
        <p:nvSpPr>
          <p:cNvPr id="54" name="define-product-band"/>
          <p:cNvSpPr>
            <a:spLocks noGrp="1"/>
          </p:cNvSpPr>
          <p:nvPr/>
        </p:nvSpPr>
        <p:spPr>
          <a:xfrm>
            <a:off x="762000" y="5314950"/>
            <a:ext cx="3028950" cy="333375"/>
          </a:xfrm>
          <a:prstGeom prst="rect">
            <a:avLst/>
          </a:prstGeom>
          <a:solidFill>
            <a:srgbClr val="F7F9FA"/>
          </a:solidFill>
          <a:ln w="6668">
            <a:solidFill>
              <a:srgbClr val="D8DEE3"/>
            </a:solidFill>
            <a:prstDash val="solid"/>
          </a:ln>
        </p:spPr>
      </p:sp>
      <p:sp>
        <p:nvSpPr>
          <p:cNvPr id="55" name="define-product"/>
          <p:cNvSpPr>
            <a:spLocks noGrp="1"/>
          </p:cNvSpPr>
          <p:nvPr/>
        </p:nvSpPr>
        <p:spPr>
          <a:xfrm>
            <a:off x="876300" y="5334000"/>
            <a:ext cx="28003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11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110" b="1" dirty="0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sz="1110" b="1" dirty="0" smtClean="0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110" b="1" dirty="0" err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任务定义</a:t>
            </a:r>
            <a:r>
              <a:rPr sz="1110" b="1" dirty="0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sz="1110" b="1" dirty="0" err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初始输入输出契约</a:t>
            </a:r>
            <a:endParaRPr sz="1110" b="1" dirty="0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workflow-flow-line-0"/>
          <p:cNvSpPr>
            <a:spLocks noGrp="1"/>
          </p:cNvSpPr>
          <p:nvPr/>
        </p:nvSpPr>
        <p:spPr>
          <a:xfrm>
            <a:off x="4867275" y="2781300"/>
            <a:ext cx="15240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57" name="workflow-flow-arrow-0"/>
          <p:cNvSpPr>
            <a:spLocks noGrp="1"/>
          </p:cNvSpPr>
          <p:nvPr/>
        </p:nvSpPr>
        <p:spPr>
          <a:xfrm rot="5400000">
            <a:off x="4972050" y="27432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58" name="workflow-flow-line-1"/>
          <p:cNvSpPr>
            <a:spLocks noGrp="1"/>
          </p:cNvSpPr>
          <p:nvPr/>
        </p:nvSpPr>
        <p:spPr>
          <a:xfrm>
            <a:off x="5610225" y="2781300"/>
            <a:ext cx="15240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59" name="workflow-flow-arrow-1"/>
          <p:cNvSpPr>
            <a:spLocks noGrp="1"/>
          </p:cNvSpPr>
          <p:nvPr/>
        </p:nvSpPr>
        <p:spPr>
          <a:xfrm rot="5400000">
            <a:off x="5715000" y="27432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60" name="workflow-flow-line-2"/>
          <p:cNvSpPr>
            <a:spLocks noGrp="1"/>
          </p:cNvSpPr>
          <p:nvPr/>
        </p:nvSpPr>
        <p:spPr>
          <a:xfrm>
            <a:off x="6467475" y="2781300"/>
            <a:ext cx="15240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61" name="workflow-flow-arrow-2"/>
          <p:cNvSpPr>
            <a:spLocks noGrp="1"/>
          </p:cNvSpPr>
          <p:nvPr/>
        </p:nvSpPr>
        <p:spPr>
          <a:xfrm rot="5400000">
            <a:off x="6572250" y="27432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62" name="workflow-flow-line-3"/>
          <p:cNvSpPr>
            <a:spLocks noGrp="1"/>
          </p:cNvSpPr>
          <p:nvPr/>
        </p:nvSpPr>
        <p:spPr>
          <a:xfrm>
            <a:off x="7210425" y="2781300"/>
            <a:ext cx="15240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63" name="workflow-flow-arrow-3"/>
          <p:cNvSpPr>
            <a:spLocks noGrp="1"/>
          </p:cNvSpPr>
          <p:nvPr/>
        </p:nvSpPr>
        <p:spPr>
          <a:xfrm rot="5400000">
            <a:off x="7315200" y="27432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64" name="input-node-box"/>
          <p:cNvSpPr>
            <a:spLocks noGrp="1"/>
          </p:cNvSpPr>
          <p:nvPr/>
        </p:nvSpPr>
        <p:spPr>
          <a:xfrm>
            <a:off x="4362450" y="2628900"/>
            <a:ext cx="504825" cy="304800"/>
          </a:xfrm>
          <a:prstGeom prst="roundRect">
            <a:avLst>
              <a:gd name="adj" fmla="val 12500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65" name="input-node-text"/>
          <p:cNvSpPr>
            <a:spLocks noGrp="1"/>
          </p:cNvSpPr>
          <p:nvPr/>
        </p:nvSpPr>
        <p:spPr>
          <a:xfrm>
            <a:off x="4391025" y="2647950"/>
            <a:ext cx="4476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Input</a:t>
            </a:r>
          </a:p>
        </p:txBody>
      </p:sp>
      <p:sp>
        <p:nvSpPr>
          <p:cNvPr id="66" name="stage-a-node-box"/>
          <p:cNvSpPr>
            <a:spLocks noGrp="1"/>
          </p:cNvSpPr>
          <p:nvPr/>
        </p:nvSpPr>
        <p:spPr>
          <a:xfrm>
            <a:off x="5019675" y="2628900"/>
            <a:ext cx="590550" cy="304800"/>
          </a:xfrm>
          <a:prstGeom prst="roundRect">
            <a:avLst>
              <a:gd name="adj" fmla="val 12500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67" name="stage-a-node-text"/>
          <p:cNvSpPr>
            <a:spLocks noGrp="1"/>
          </p:cNvSpPr>
          <p:nvPr/>
        </p:nvSpPr>
        <p:spPr>
          <a:xfrm>
            <a:off x="5048250" y="26479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A</a:t>
            </a:r>
          </a:p>
        </p:txBody>
      </p:sp>
      <p:sp>
        <p:nvSpPr>
          <p:cNvPr id="68" name="artifact-node-box"/>
          <p:cNvSpPr>
            <a:spLocks noGrp="1"/>
          </p:cNvSpPr>
          <p:nvPr/>
        </p:nvSpPr>
        <p:spPr>
          <a:xfrm>
            <a:off x="5762625" y="2628900"/>
            <a:ext cx="704850" cy="304800"/>
          </a:xfrm>
          <a:prstGeom prst="roundRect">
            <a:avLst>
              <a:gd name="adj" fmla="val 12500"/>
            </a:avLst>
          </a:prstGeom>
          <a:solidFill>
            <a:srgbClr val="F2F6F8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69" name="artifact-node-text"/>
          <p:cNvSpPr>
            <a:spLocks noGrp="1"/>
          </p:cNvSpPr>
          <p:nvPr/>
        </p:nvSpPr>
        <p:spPr>
          <a:xfrm>
            <a:off x="5791200" y="2647950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5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5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Artifact A</a:t>
            </a:r>
          </a:p>
        </p:txBody>
      </p:sp>
      <p:sp>
        <p:nvSpPr>
          <p:cNvPr id="70" name="stage-b-node-box"/>
          <p:cNvSpPr>
            <a:spLocks noGrp="1"/>
          </p:cNvSpPr>
          <p:nvPr/>
        </p:nvSpPr>
        <p:spPr>
          <a:xfrm>
            <a:off x="6619875" y="2628900"/>
            <a:ext cx="590550" cy="304800"/>
          </a:xfrm>
          <a:prstGeom prst="roundRect">
            <a:avLst>
              <a:gd name="adj" fmla="val 12500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71" name="stage-b-node-text"/>
          <p:cNvSpPr>
            <a:spLocks noGrp="1"/>
          </p:cNvSpPr>
          <p:nvPr/>
        </p:nvSpPr>
        <p:spPr>
          <a:xfrm>
            <a:off x="6648450" y="2647950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B</a:t>
            </a:r>
          </a:p>
        </p:txBody>
      </p:sp>
      <p:sp>
        <p:nvSpPr>
          <p:cNvPr id="72" name="output-node-box"/>
          <p:cNvSpPr>
            <a:spLocks noGrp="1"/>
          </p:cNvSpPr>
          <p:nvPr/>
        </p:nvSpPr>
        <p:spPr>
          <a:xfrm>
            <a:off x="7362825" y="2628900"/>
            <a:ext cx="495300" cy="304800"/>
          </a:xfrm>
          <a:prstGeom prst="roundRect">
            <a:avLst>
              <a:gd name="adj" fmla="val 12500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73" name="output-node-text"/>
          <p:cNvSpPr>
            <a:spLocks noGrp="1"/>
          </p:cNvSpPr>
          <p:nvPr/>
        </p:nvSpPr>
        <p:spPr>
          <a:xfrm>
            <a:off x="7391400" y="2647950"/>
            <a:ext cx="438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398"/>
          </a:bodyPr>
          <a:lstStyle/>
          <a:p>
            <a:pPr algn="ctr">
              <a:def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</a:t>
            </a:r>
          </a:p>
        </p:txBody>
      </p:sp>
      <p:sp>
        <p:nvSpPr>
          <p:cNvPr id="75" name="stage-row-label"/>
          <p:cNvSpPr>
            <a:spLocks noGrp="1"/>
          </p:cNvSpPr>
          <p:nvPr/>
        </p:nvSpPr>
        <p:spPr>
          <a:xfrm>
            <a:off x="4371975" y="3190875"/>
            <a:ext cx="800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8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8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</a:t>
            </a:r>
          </a:p>
        </p:txBody>
      </p:sp>
      <p:sp>
        <p:nvSpPr>
          <p:cNvPr id="76" name="stage-row-detail"/>
          <p:cNvSpPr>
            <a:spLocks noGrp="1"/>
          </p:cNvSpPr>
          <p:nvPr/>
        </p:nvSpPr>
        <p:spPr>
          <a:xfrm>
            <a:off x="5191125" y="3190875"/>
            <a:ext cx="2628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9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每阶段明确 Input · Action · Output</a:t>
            </a:r>
          </a:p>
        </p:txBody>
      </p:sp>
      <p:sp>
        <p:nvSpPr>
          <p:cNvPr id="77" name="stage-row-line"/>
          <p:cNvSpPr>
            <a:spLocks noGrp="1"/>
          </p:cNvSpPr>
          <p:nvPr/>
        </p:nvSpPr>
        <p:spPr>
          <a:xfrm>
            <a:off x="4371975" y="3486150"/>
            <a:ext cx="3448050" cy="0"/>
          </a:xfrm>
          <a:prstGeom prst="line">
            <a:avLst/>
          </a:prstGeom>
          <a:noFill/>
          <a:ln w="6668">
            <a:solidFill>
              <a:srgbClr val="D8DEE3"/>
            </a:solidFill>
            <a:prstDash val="solid"/>
          </a:ln>
        </p:spPr>
      </p:sp>
      <p:sp>
        <p:nvSpPr>
          <p:cNvPr id="78" name="handoff-row-label"/>
          <p:cNvSpPr>
            <a:spLocks noGrp="1"/>
          </p:cNvSpPr>
          <p:nvPr/>
        </p:nvSpPr>
        <p:spPr>
          <a:xfrm>
            <a:off x="4371975" y="3590925"/>
            <a:ext cx="800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8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8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Handoff</a:t>
            </a:r>
          </a:p>
        </p:txBody>
      </p:sp>
      <p:sp>
        <p:nvSpPr>
          <p:cNvPr id="79" name="handoff-row-detail"/>
          <p:cNvSpPr>
            <a:spLocks noGrp="1"/>
          </p:cNvSpPr>
          <p:nvPr/>
        </p:nvSpPr>
        <p:spPr>
          <a:xfrm>
            <a:off x="5191125" y="3590925"/>
            <a:ext cx="2628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5808"/>
          </a:bodyPr>
          <a:lstStyle/>
          <a:p>
            <a:pPr algn="l">
              <a:defRPr sz="109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 Contract → Artifact → Input Contract</a:t>
            </a:r>
          </a:p>
        </p:txBody>
      </p:sp>
      <p:sp>
        <p:nvSpPr>
          <p:cNvPr id="80" name="handoff-row-line"/>
          <p:cNvSpPr>
            <a:spLocks noGrp="1"/>
          </p:cNvSpPr>
          <p:nvPr/>
        </p:nvSpPr>
        <p:spPr>
          <a:xfrm>
            <a:off x="4371975" y="3886200"/>
            <a:ext cx="3448050" cy="0"/>
          </a:xfrm>
          <a:prstGeom prst="line">
            <a:avLst/>
          </a:prstGeom>
          <a:noFill/>
          <a:ln w="6668">
            <a:solidFill>
              <a:srgbClr val="D8DEE3"/>
            </a:solidFill>
            <a:prstDash val="solid"/>
          </a:ln>
        </p:spPr>
      </p:sp>
      <p:sp>
        <p:nvSpPr>
          <p:cNvPr id="81" name="gate-row-label"/>
          <p:cNvSpPr>
            <a:spLocks noGrp="1"/>
          </p:cNvSpPr>
          <p:nvPr/>
        </p:nvSpPr>
        <p:spPr>
          <a:xfrm>
            <a:off x="4371975" y="3990975"/>
            <a:ext cx="800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8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8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Gate</a:t>
            </a:r>
          </a:p>
        </p:txBody>
      </p:sp>
      <p:sp>
        <p:nvSpPr>
          <p:cNvPr id="82" name="gate-row-detail"/>
          <p:cNvSpPr>
            <a:spLocks noGrp="1"/>
          </p:cNvSpPr>
          <p:nvPr/>
        </p:nvSpPr>
        <p:spPr>
          <a:xfrm>
            <a:off x="5191125" y="3990975"/>
            <a:ext cx="2628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9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PASS 才推进；FAIL 转入失败路径</a:t>
            </a:r>
          </a:p>
        </p:txBody>
      </p:sp>
      <p:sp>
        <p:nvSpPr>
          <p:cNvPr id="83" name="gate-row-line"/>
          <p:cNvSpPr>
            <a:spLocks noGrp="1"/>
          </p:cNvSpPr>
          <p:nvPr/>
        </p:nvSpPr>
        <p:spPr>
          <a:xfrm>
            <a:off x="4371975" y="4286250"/>
            <a:ext cx="3448050" cy="0"/>
          </a:xfrm>
          <a:prstGeom prst="line">
            <a:avLst/>
          </a:prstGeom>
          <a:noFill/>
          <a:ln w="6668">
            <a:solidFill>
              <a:srgbClr val="D8DEE3"/>
            </a:solidFill>
            <a:prstDash val="solid"/>
          </a:ln>
        </p:spPr>
      </p:sp>
      <p:sp>
        <p:nvSpPr>
          <p:cNvPr id="84" name="failure-row-label"/>
          <p:cNvSpPr>
            <a:spLocks noGrp="1"/>
          </p:cNvSpPr>
          <p:nvPr/>
        </p:nvSpPr>
        <p:spPr>
          <a:xfrm>
            <a:off x="4371975" y="4391025"/>
            <a:ext cx="800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8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8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Failure</a:t>
            </a:r>
          </a:p>
        </p:txBody>
      </p:sp>
      <p:sp>
        <p:nvSpPr>
          <p:cNvPr id="85" name="failure-row-detail"/>
          <p:cNvSpPr>
            <a:spLocks noGrp="1"/>
          </p:cNvSpPr>
          <p:nvPr/>
        </p:nvSpPr>
        <p:spPr>
          <a:xfrm>
            <a:off x="5191125" y="4391025"/>
            <a:ext cx="2628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9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Retry 当前阶段 · Fallback 前一阶段</a:t>
            </a:r>
          </a:p>
        </p:txBody>
      </p:sp>
      <p:sp>
        <p:nvSpPr>
          <p:cNvPr id="86" name="failure-row-line"/>
          <p:cNvSpPr>
            <a:spLocks noGrp="1"/>
          </p:cNvSpPr>
          <p:nvPr/>
        </p:nvSpPr>
        <p:spPr>
          <a:xfrm>
            <a:off x="4371975" y="4686300"/>
            <a:ext cx="3448050" cy="0"/>
          </a:xfrm>
          <a:prstGeom prst="line">
            <a:avLst/>
          </a:prstGeom>
          <a:noFill/>
          <a:ln w="6668">
            <a:solidFill>
              <a:srgbClr val="D8DEE3"/>
            </a:solidFill>
            <a:prstDash val="solid"/>
          </a:ln>
        </p:spPr>
      </p:sp>
      <p:sp>
        <p:nvSpPr>
          <p:cNvPr id="87" name="routing-note-band"/>
          <p:cNvSpPr>
            <a:spLocks noGrp="1"/>
          </p:cNvSpPr>
          <p:nvPr/>
        </p:nvSpPr>
        <p:spPr>
          <a:xfrm>
            <a:off x="4352925" y="4857750"/>
            <a:ext cx="3476625" cy="352425"/>
          </a:xfrm>
          <a:prstGeom prst="rect">
            <a:avLst/>
          </a:prstGeom>
          <a:solidFill>
            <a:srgbClr val="F7F9FA"/>
          </a:solidFill>
          <a:ln w="0">
            <a:noFill/>
            <a:prstDash val="solid"/>
          </a:ln>
        </p:spPr>
      </p:sp>
      <p:sp>
        <p:nvSpPr>
          <p:cNvPr id="88" name="routing-note"/>
          <p:cNvSpPr>
            <a:spLocks noGrp="1"/>
          </p:cNvSpPr>
          <p:nvPr/>
        </p:nvSpPr>
        <p:spPr>
          <a:xfrm>
            <a:off x="4476750" y="4876800"/>
            <a:ext cx="32289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35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1" dirty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Routing </a:t>
            </a:r>
            <a:r>
              <a:rPr lang="zh-CN" altLang="en-US" sz="1035" b="1" dirty="0" smtClean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一般</a:t>
            </a:r>
            <a:r>
              <a:rPr sz="1035" b="1" dirty="0" err="1" smtClean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仅在多分支时设计</a:t>
            </a:r>
            <a:r>
              <a:rPr sz="1035" b="1" dirty="0" smtClean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035" b="1" dirty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workflow-product-band"/>
          <p:cNvSpPr>
            <a:spLocks noGrp="1"/>
          </p:cNvSpPr>
          <p:nvPr/>
        </p:nvSpPr>
        <p:spPr>
          <a:xfrm>
            <a:off x="4352925" y="5314950"/>
            <a:ext cx="3476625" cy="333375"/>
          </a:xfrm>
          <a:prstGeom prst="rect">
            <a:avLst/>
          </a:prstGeom>
          <a:solidFill>
            <a:srgbClr val="F2F6F8"/>
          </a:solidFill>
          <a:ln w="6668">
            <a:solidFill>
              <a:srgbClr val="D8DEE3"/>
            </a:solidFill>
            <a:prstDash val="solid"/>
          </a:ln>
        </p:spPr>
      </p:sp>
      <p:sp>
        <p:nvSpPr>
          <p:cNvPr id="90" name="workflow-product"/>
          <p:cNvSpPr>
            <a:spLocks noGrp="1"/>
          </p:cNvSpPr>
          <p:nvPr/>
        </p:nvSpPr>
        <p:spPr>
          <a:xfrm>
            <a:off x="4453973" y="5381624"/>
            <a:ext cx="326707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6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060" b="1" dirty="0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sz="1060" b="1" dirty="0" smtClean="0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060" b="1" dirty="0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 Input 到 Output </a:t>
            </a:r>
            <a:r>
              <a:rPr sz="1060" b="1" dirty="0" err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的最小可运行</a:t>
            </a:r>
            <a:r>
              <a:rPr sz="1060" b="1" dirty="0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Workflow</a:t>
            </a:r>
          </a:p>
        </p:txBody>
      </p:sp>
      <p:sp>
        <p:nvSpPr>
          <p:cNvPr id="92" name="roles-intro"/>
          <p:cNvSpPr>
            <a:spLocks noGrp="1"/>
          </p:cNvSpPr>
          <p:nvPr/>
        </p:nvSpPr>
        <p:spPr>
          <a:xfrm>
            <a:off x="8391525" y="2765562"/>
            <a:ext cx="2990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110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10" b="0" dirty="0" err="1" smtClean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逐个判断每个</a:t>
            </a:r>
            <a:r>
              <a:rPr sz="1110" b="0" dirty="0" smtClean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10" dirty="0" smtClean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阶段要做什么</a:t>
            </a:r>
            <a:r>
              <a:rPr lang="zh-CN" altLang="en-US" sz="1110" b="0" dirty="0" smtClean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，需要什么</a:t>
            </a:r>
            <a:endParaRPr sz="1110" b="0" dirty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role-stage-down"/>
          <p:cNvSpPr>
            <a:spLocks noGrp="1"/>
          </p:cNvSpPr>
          <p:nvPr/>
        </p:nvSpPr>
        <p:spPr>
          <a:xfrm>
            <a:off x="9896475" y="3279912"/>
            <a:ext cx="0" cy="11430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94" name="role-branch"/>
          <p:cNvSpPr>
            <a:spLocks noGrp="1"/>
          </p:cNvSpPr>
          <p:nvPr/>
        </p:nvSpPr>
        <p:spPr>
          <a:xfrm>
            <a:off x="8724900" y="3394212"/>
            <a:ext cx="2295525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95" name="role-drop-0"/>
          <p:cNvSpPr>
            <a:spLocks noGrp="1"/>
          </p:cNvSpPr>
          <p:nvPr/>
        </p:nvSpPr>
        <p:spPr>
          <a:xfrm>
            <a:off x="8724900" y="3394212"/>
            <a:ext cx="0" cy="85725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96" name="role-arrow-0"/>
          <p:cNvSpPr>
            <a:spLocks noGrp="1"/>
          </p:cNvSpPr>
          <p:nvPr/>
        </p:nvSpPr>
        <p:spPr>
          <a:xfrm rot="10800000">
            <a:off x="8686800" y="3441837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97" name="role-drop-1"/>
          <p:cNvSpPr>
            <a:spLocks noGrp="1"/>
          </p:cNvSpPr>
          <p:nvPr/>
        </p:nvSpPr>
        <p:spPr>
          <a:xfrm>
            <a:off x="9477375" y="3394212"/>
            <a:ext cx="0" cy="85725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98" name="role-arrow-1"/>
          <p:cNvSpPr>
            <a:spLocks noGrp="1"/>
          </p:cNvSpPr>
          <p:nvPr/>
        </p:nvSpPr>
        <p:spPr>
          <a:xfrm rot="10800000">
            <a:off x="9439275" y="3441837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99" name="role-drop-2"/>
          <p:cNvSpPr>
            <a:spLocks noGrp="1"/>
          </p:cNvSpPr>
          <p:nvPr/>
        </p:nvSpPr>
        <p:spPr>
          <a:xfrm>
            <a:off x="10229850" y="3394212"/>
            <a:ext cx="0" cy="85725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00" name="role-arrow-2"/>
          <p:cNvSpPr>
            <a:spLocks noGrp="1"/>
          </p:cNvSpPr>
          <p:nvPr/>
        </p:nvSpPr>
        <p:spPr>
          <a:xfrm rot="10800000">
            <a:off x="10191750" y="3441837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01" name="role-drop-3"/>
          <p:cNvSpPr>
            <a:spLocks noGrp="1"/>
          </p:cNvSpPr>
          <p:nvPr/>
        </p:nvSpPr>
        <p:spPr>
          <a:xfrm>
            <a:off x="11020425" y="3394212"/>
            <a:ext cx="0" cy="85725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02" name="role-arrow-3"/>
          <p:cNvSpPr>
            <a:spLocks noGrp="1"/>
          </p:cNvSpPr>
          <p:nvPr/>
        </p:nvSpPr>
        <p:spPr>
          <a:xfrm rot="10800000">
            <a:off x="10982325" y="3441837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03" name="stage-owner-box"/>
          <p:cNvSpPr>
            <a:spLocks noGrp="1"/>
          </p:cNvSpPr>
          <p:nvPr/>
        </p:nvSpPr>
        <p:spPr>
          <a:xfrm>
            <a:off x="9544050" y="2994162"/>
            <a:ext cx="704850" cy="285750"/>
          </a:xfrm>
          <a:prstGeom prst="roundRect">
            <a:avLst>
              <a:gd name="adj" fmla="val 13333"/>
            </a:avLst>
          </a:prstGeom>
          <a:solidFill>
            <a:srgbClr val="F2F6F8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04" name="stage-owner-text"/>
          <p:cNvSpPr>
            <a:spLocks noGrp="1"/>
          </p:cNvSpPr>
          <p:nvPr/>
        </p:nvSpPr>
        <p:spPr>
          <a:xfrm>
            <a:off x="9572625" y="3013212"/>
            <a:ext cx="647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</a:t>
            </a:r>
          </a:p>
        </p:txBody>
      </p:sp>
      <p:sp>
        <p:nvSpPr>
          <p:cNvPr id="105" name="main-agent-node-box"/>
          <p:cNvSpPr>
            <a:spLocks noGrp="1"/>
          </p:cNvSpPr>
          <p:nvPr/>
        </p:nvSpPr>
        <p:spPr>
          <a:xfrm>
            <a:off x="8382000" y="3518037"/>
            <a:ext cx="685800" cy="342900"/>
          </a:xfrm>
          <a:prstGeom prst="roundRect">
            <a:avLst>
              <a:gd name="adj" fmla="val 11111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06" name="main-agent-node-text"/>
          <p:cNvSpPr>
            <a:spLocks noGrp="1"/>
          </p:cNvSpPr>
          <p:nvPr/>
        </p:nvSpPr>
        <p:spPr>
          <a:xfrm>
            <a:off x="8410575" y="3537087"/>
            <a:ext cx="628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Main</a:t>
            </a:r>
          </a:p>
          <a:p>
            <a:pPr algn="ctr">
              <a:defRPr sz="9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</a:p>
        </p:txBody>
      </p:sp>
      <p:sp>
        <p:nvSpPr>
          <p:cNvPr id="107" name="script-node-box"/>
          <p:cNvSpPr>
            <a:spLocks noGrp="1"/>
          </p:cNvSpPr>
          <p:nvPr/>
        </p:nvSpPr>
        <p:spPr>
          <a:xfrm>
            <a:off x="9134475" y="3518037"/>
            <a:ext cx="685800" cy="342900"/>
          </a:xfrm>
          <a:prstGeom prst="roundRect">
            <a:avLst>
              <a:gd name="adj" fmla="val 11111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08" name="script-node-text"/>
          <p:cNvSpPr>
            <a:spLocks noGrp="1"/>
          </p:cNvSpPr>
          <p:nvPr/>
        </p:nvSpPr>
        <p:spPr>
          <a:xfrm>
            <a:off x="9163050" y="3537087"/>
            <a:ext cx="628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Script</a:t>
            </a:r>
          </a:p>
        </p:txBody>
      </p:sp>
      <p:sp>
        <p:nvSpPr>
          <p:cNvPr id="109" name="subagent-node-box"/>
          <p:cNvSpPr>
            <a:spLocks noGrp="1"/>
          </p:cNvSpPr>
          <p:nvPr/>
        </p:nvSpPr>
        <p:spPr>
          <a:xfrm>
            <a:off x="9886950" y="3518037"/>
            <a:ext cx="685800" cy="342900"/>
          </a:xfrm>
          <a:prstGeom prst="roundRect">
            <a:avLst>
              <a:gd name="adj" fmla="val 11111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10" name="subagent-node-text"/>
          <p:cNvSpPr>
            <a:spLocks noGrp="1"/>
          </p:cNvSpPr>
          <p:nvPr/>
        </p:nvSpPr>
        <p:spPr>
          <a:xfrm>
            <a:off x="9915525" y="3537087"/>
            <a:ext cx="628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3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3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Subagent</a:t>
            </a:r>
          </a:p>
        </p:txBody>
      </p:sp>
      <p:sp>
        <p:nvSpPr>
          <p:cNvPr id="111" name="other-skill-node-box"/>
          <p:cNvSpPr>
            <a:spLocks noGrp="1"/>
          </p:cNvSpPr>
          <p:nvPr/>
        </p:nvSpPr>
        <p:spPr>
          <a:xfrm>
            <a:off x="10639425" y="3518037"/>
            <a:ext cx="762000" cy="342900"/>
          </a:xfrm>
          <a:prstGeom prst="roundRect">
            <a:avLst>
              <a:gd name="adj" fmla="val 11111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12" name="other-skill-node-text"/>
          <p:cNvSpPr>
            <a:spLocks noGrp="1"/>
          </p:cNvSpPr>
          <p:nvPr/>
        </p:nvSpPr>
        <p:spPr>
          <a:xfrm>
            <a:off x="10668000" y="3537087"/>
            <a:ext cx="704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Other</a:t>
            </a:r>
          </a:p>
          <a:p>
            <a:pPr algn="ctr">
              <a:defRPr sz="9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</a:t>
            </a:r>
          </a:p>
        </p:txBody>
      </p:sp>
      <p:sp>
        <p:nvSpPr>
          <p:cNvPr id="113" name="main-agent-row-label"/>
          <p:cNvSpPr>
            <a:spLocks noGrp="1"/>
          </p:cNvSpPr>
          <p:nvPr/>
        </p:nvSpPr>
        <p:spPr>
          <a:xfrm>
            <a:off x="8391525" y="3965712"/>
            <a:ext cx="8763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Main Agent</a:t>
            </a:r>
          </a:p>
        </p:txBody>
      </p:sp>
      <p:sp>
        <p:nvSpPr>
          <p:cNvPr id="114" name="main-agent-row-detail"/>
          <p:cNvSpPr>
            <a:spLocks noGrp="1"/>
          </p:cNvSpPr>
          <p:nvPr/>
        </p:nvSpPr>
        <p:spPr>
          <a:xfrm>
            <a:off x="9296400" y="3965712"/>
            <a:ext cx="20859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7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75" b="0" dirty="0" err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简单判断</a:t>
            </a:r>
            <a:r>
              <a:rPr sz="1075" b="0" dirty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075" b="0" dirty="0" err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编排</a:t>
            </a:r>
            <a:r>
              <a:rPr sz="1075" b="0" dirty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075" b="0" dirty="0" err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轻量推理</a:t>
            </a:r>
            <a:endParaRPr sz="1075" b="0" dirty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" name="main-agent-row-line"/>
          <p:cNvSpPr>
            <a:spLocks noGrp="1"/>
          </p:cNvSpPr>
          <p:nvPr/>
        </p:nvSpPr>
        <p:spPr>
          <a:xfrm>
            <a:off x="8391525" y="4232412"/>
            <a:ext cx="2990850" cy="0"/>
          </a:xfrm>
          <a:prstGeom prst="line">
            <a:avLst/>
          </a:prstGeom>
          <a:noFill/>
          <a:ln w="6668">
            <a:solidFill>
              <a:srgbClr val="D8DEE3"/>
            </a:solidFill>
            <a:prstDash val="solid"/>
          </a:ln>
        </p:spPr>
      </p:sp>
      <p:sp>
        <p:nvSpPr>
          <p:cNvPr id="116" name="script-row-label"/>
          <p:cNvSpPr>
            <a:spLocks noGrp="1"/>
          </p:cNvSpPr>
          <p:nvPr/>
        </p:nvSpPr>
        <p:spPr>
          <a:xfrm>
            <a:off x="8391525" y="4280037"/>
            <a:ext cx="8763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Script</a:t>
            </a:r>
          </a:p>
        </p:txBody>
      </p:sp>
      <p:sp>
        <p:nvSpPr>
          <p:cNvPr id="117" name="script-row-detail"/>
          <p:cNvSpPr>
            <a:spLocks noGrp="1"/>
          </p:cNvSpPr>
          <p:nvPr/>
        </p:nvSpPr>
        <p:spPr>
          <a:xfrm>
            <a:off x="9296400" y="4280037"/>
            <a:ext cx="20859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7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7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确定性 / 程序化 / 真实执行</a:t>
            </a:r>
          </a:p>
        </p:txBody>
      </p:sp>
      <p:sp>
        <p:nvSpPr>
          <p:cNvPr id="118" name="script-row-line"/>
          <p:cNvSpPr>
            <a:spLocks noGrp="1"/>
          </p:cNvSpPr>
          <p:nvPr/>
        </p:nvSpPr>
        <p:spPr>
          <a:xfrm>
            <a:off x="8391525" y="4546737"/>
            <a:ext cx="2990850" cy="0"/>
          </a:xfrm>
          <a:prstGeom prst="line">
            <a:avLst/>
          </a:prstGeom>
          <a:noFill/>
          <a:ln w="6668">
            <a:solidFill>
              <a:srgbClr val="D8DEE3"/>
            </a:solidFill>
            <a:prstDash val="solid"/>
          </a:ln>
        </p:spPr>
      </p:sp>
      <p:sp>
        <p:nvSpPr>
          <p:cNvPr id="119" name="subagent-row-label"/>
          <p:cNvSpPr>
            <a:spLocks noGrp="1"/>
          </p:cNvSpPr>
          <p:nvPr/>
        </p:nvSpPr>
        <p:spPr>
          <a:xfrm>
            <a:off x="8391525" y="4594362"/>
            <a:ext cx="8763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Subagent</a:t>
            </a:r>
          </a:p>
        </p:txBody>
      </p:sp>
      <p:sp>
        <p:nvSpPr>
          <p:cNvPr id="120" name="subagent-row-detail"/>
          <p:cNvSpPr>
            <a:spLocks noGrp="1"/>
          </p:cNvSpPr>
          <p:nvPr/>
        </p:nvSpPr>
        <p:spPr>
          <a:xfrm>
            <a:off x="9296400" y="4594362"/>
            <a:ext cx="20859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7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7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独立复杂任务 / 上下文隔离</a:t>
            </a:r>
          </a:p>
        </p:txBody>
      </p:sp>
      <p:sp>
        <p:nvSpPr>
          <p:cNvPr id="121" name="subagent-row-line"/>
          <p:cNvSpPr>
            <a:spLocks noGrp="1"/>
          </p:cNvSpPr>
          <p:nvPr/>
        </p:nvSpPr>
        <p:spPr>
          <a:xfrm>
            <a:off x="8391525" y="4861062"/>
            <a:ext cx="2990850" cy="0"/>
          </a:xfrm>
          <a:prstGeom prst="line">
            <a:avLst/>
          </a:prstGeom>
          <a:noFill/>
          <a:ln w="6668">
            <a:solidFill>
              <a:srgbClr val="D8DEE3"/>
            </a:solidFill>
            <a:prstDash val="solid"/>
          </a:ln>
        </p:spPr>
      </p:sp>
      <p:sp>
        <p:nvSpPr>
          <p:cNvPr id="122" name="other-skill-row-label"/>
          <p:cNvSpPr>
            <a:spLocks noGrp="1"/>
          </p:cNvSpPr>
          <p:nvPr/>
        </p:nvSpPr>
        <p:spPr>
          <a:xfrm>
            <a:off x="8391525" y="4908687"/>
            <a:ext cx="8763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Other Skill</a:t>
            </a:r>
          </a:p>
        </p:txBody>
      </p:sp>
      <p:sp>
        <p:nvSpPr>
          <p:cNvPr id="123" name="other-skill-row-detail"/>
          <p:cNvSpPr>
            <a:spLocks noGrp="1"/>
          </p:cNvSpPr>
          <p:nvPr/>
        </p:nvSpPr>
        <p:spPr>
          <a:xfrm>
            <a:off x="9296400" y="4908687"/>
            <a:ext cx="20859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7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7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完整能力 / 自有 Workflow / 复用</a:t>
            </a:r>
          </a:p>
        </p:txBody>
      </p:sp>
      <p:sp>
        <p:nvSpPr>
          <p:cNvPr id="124" name="other-skill-row-line"/>
          <p:cNvSpPr>
            <a:spLocks noGrp="1"/>
          </p:cNvSpPr>
          <p:nvPr/>
        </p:nvSpPr>
        <p:spPr>
          <a:xfrm>
            <a:off x="8391525" y="5175387"/>
            <a:ext cx="2990850" cy="0"/>
          </a:xfrm>
          <a:prstGeom prst="line">
            <a:avLst/>
          </a:prstGeom>
          <a:noFill/>
          <a:ln w="6668">
            <a:solidFill>
              <a:srgbClr val="D8DEE3"/>
            </a:solidFill>
            <a:prstDash val="solid"/>
          </a:ln>
        </p:spPr>
      </p:sp>
      <p:sp>
        <p:nvSpPr>
          <p:cNvPr id="126" name="role-decision-1"/>
          <p:cNvSpPr>
            <a:spLocks noGrp="1"/>
          </p:cNvSpPr>
          <p:nvPr/>
        </p:nvSpPr>
        <p:spPr>
          <a:xfrm>
            <a:off x="8496300" y="5000625"/>
            <a:ext cx="28289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6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960" b="1" dirty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7" name="role-decision-2"/>
          <p:cNvSpPr>
            <a:spLocks noGrp="1"/>
          </p:cNvSpPr>
          <p:nvPr/>
        </p:nvSpPr>
        <p:spPr>
          <a:xfrm>
            <a:off x="8496300" y="5172075"/>
            <a:ext cx="282892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3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930" b="1" dirty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8" name="role-principle-band"/>
          <p:cNvSpPr>
            <a:spLocks noGrp="1"/>
          </p:cNvSpPr>
          <p:nvPr/>
        </p:nvSpPr>
        <p:spPr>
          <a:xfrm>
            <a:off x="8391525" y="5327788"/>
            <a:ext cx="3038475" cy="358637"/>
          </a:xfrm>
          <a:prstGeom prst="rect">
            <a:avLst/>
          </a:prstGeom>
          <a:solidFill>
            <a:srgbClr val="F2F6F8"/>
          </a:solidFill>
          <a:ln w="0">
            <a:noFill/>
            <a:prstDash val="solid"/>
          </a:ln>
        </p:spPr>
      </p:sp>
      <p:sp>
        <p:nvSpPr>
          <p:cNvPr id="129" name="role-principle"/>
          <p:cNvSpPr>
            <a:spLocks noGrp="1"/>
          </p:cNvSpPr>
          <p:nvPr/>
        </p:nvSpPr>
        <p:spPr>
          <a:xfrm>
            <a:off x="8496300" y="5318263"/>
            <a:ext cx="2828925" cy="3586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4019"/>
          </a:bodyPr>
          <a:lstStyle/>
          <a:p>
            <a:pPr algn="ctr">
              <a:defRPr sz="9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100" b="1" dirty="0" smtClean="0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增加一些固定化的内容</a:t>
            </a:r>
            <a:r>
              <a:rPr sz="975" b="1" dirty="0" smtClean="0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975" b="1" dirty="0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0" name="summary-band"/>
          <p:cNvSpPr>
            <a:spLocks noGrp="1"/>
          </p:cNvSpPr>
          <p:nvPr/>
        </p:nvSpPr>
        <p:spPr>
          <a:xfrm>
            <a:off x="609600" y="6000750"/>
            <a:ext cx="10972800" cy="609600"/>
          </a:xfrm>
          <a:prstGeom prst="rect">
            <a:avLst/>
          </a:prstGeom>
          <a:solidFill>
            <a:srgbClr val="F3F4F5"/>
          </a:solidFill>
          <a:ln w="0">
            <a:noFill/>
            <a:prstDash val="solid"/>
          </a:ln>
        </p:spPr>
      </p:sp>
      <p:sp>
        <p:nvSpPr>
          <p:cNvPr id="131" name="summary-accent"/>
          <p:cNvSpPr>
            <a:spLocks noGrp="1"/>
          </p:cNvSpPr>
          <p:nvPr/>
        </p:nvSpPr>
        <p:spPr>
          <a:xfrm>
            <a:off x="609600" y="6000750"/>
            <a:ext cx="38100" cy="60960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134" name="summary-body"/>
          <p:cNvSpPr>
            <a:spLocks noGrp="1"/>
          </p:cNvSpPr>
          <p:nvPr/>
        </p:nvSpPr>
        <p:spPr>
          <a:xfrm>
            <a:off x="1714914" y="5905500"/>
            <a:ext cx="8124411" cy="7191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9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400" b="1" dirty="0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从任务定义到基础 </a:t>
            </a:r>
            <a:r>
              <a:rPr lang="en-US" altLang="zh-CN" sz="1400" b="1" dirty="0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Workflow</a:t>
            </a:r>
          </a:p>
          <a:p>
            <a:pPr algn="ctr">
              <a:defRPr sz="129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90" b="1" dirty="0" err="1" smtClean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先得到目标与边界</a:t>
            </a:r>
            <a:r>
              <a:rPr sz="1290" b="1" dirty="0" err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，再形成最小可运行</a:t>
            </a:r>
            <a:r>
              <a:rPr sz="1290" b="1" dirty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90" b="1" dirty="0" err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Workflow，最后按复杂度分配执行者</a:t>
            </a:r>
            <a:r>
              <a:rPr sz="1290" b="1" dirty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136" name="s13-title-rule"/>
          <p:cNvSpPr>
            <a:spLocks noGrp="1"/>
          </p:cNvSpPr>
          <p:nvPr/>
        </p:nvSpPr>
        <p:spPr>
          <a:xfrm>
            <a:off x="247650" y="714375"/>
            <a:ext cx="11734800" cy="19050"/>
          </a:xfrm>
          <a:prstGeom prst="rect">
            <a:avLst/>
          </a:prstGeom>
          <a:solidFill>
            <a:srgbClr val="5B7188"/>
          </a:solidFill>
          <a:ln w="0">
            <a:solidFill>
              <a:srgbClr val="294A6D"/>
            </a:solidFill>
            <a:prstDash val="solid"/>
          </a:ln>
          <a:effectLst/>
        </p:spPr>
      </p:sp>
      <p:sp>
        <p:nvSpPr>
          <p:cNvPr id="138" name="slide-1-title"/>
          <p:cNvSpPr>
            <a:spLocks noGrp="1"/>
          </p:cNvSpPr>
          <p:nvPr/>
        </p:nvSpPr>
        <p:spPr>
          <a:xfrm>
            <a:off x="342900" y="223460"/>
            <a:ext cx="635000" cy="4953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0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000" b="1" dirty="0" smtClean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1.5</a:t>
            </a:r>
            <a:endParaRPr sz="3000" b="1" dirty="0">
              <a:solidFill>
                <a:srgbClr val="243B53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9" name="slide-7-page-number"/>
          <p:cNvSpPr>
            <a:spLocks noGrp="1"/>
          </p:cNvSpPr>
          <p:nvPr/>
        </p:nvSpPr>
        <p:spPr>
          <a:xfrm>
            <a:off x="11366500" y="317500"/>
            <a:ext cx="330200" cy="279400"/>
          </a:xfrm>
          <a:prstGeom prst="roundRect">
            <a:avLst>
              <a:gd name="adj" fmla="val 14706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4A6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200" b="1" dirty="0">
                <a:solidFill>
                  <a:srgbClr val="66737F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/>
          <p:cNvSpPr>
            <a:spLocks noGrp="1"/>
          </p:cNvSpPr>
          <p:nvPr/>
        </p:nvSpPr>
        <p:spPr>
          <a:xfrm>
            <a:off x="1004887" y="171035"/>
            <a:ext cx="10572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9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dirty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Skill </a:t>
            </a:r>
            <a:r>
              <a:rPr sz="2700" b="1" dirty="0" err="1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开发流程</a:t>
            </a:r>
            <a:r>
              <a:rPr sz="2700" b="1" dirty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②</a:t>
            </a:r>
          </a:p>
        </p:txBody>
      </p:sp>
      <p:sp>
        <p:nvSpPr>
          <p:cNvPr id="5" name="resources-constraints-line"/>
          <p:cNvSpPr>
            <a:spLocks noGrp="1"/>
          </p:cNvSpPr>
          <p:nvPr/>
        </p:nvSpPr>
        <p:spPr>
          <a:xfrm>
            <a:off x="2809875" y="1183998"/>
            <a:ext cx="2133600" cy="0"/>
          </a:xfrm>
          <a:prstGeom prst="line">
            <a:avLst/>
          </a:prstGeom>
          <a:noFill/>
          <a:ln w="11430">
            <a:solidFill>
              <a:srgbClr val="7F9DB2"/>
            </a:solidFill>
            <a:prstDash val="solid"/>
          </a:ln>
        </p:spPr>
      </p:sp>
      <p:sp>
        <p:nvSpPr>
          <p:cNvPr id="6" name="resources-constraints-arrow"/>
          <p:cNvSpPr>
            <a:spLocks noGrp="1"/>
          </p:cNvSpPr>
          <p:nvPr/>
        </p:nvSpPr>
        <p:spPr>
          <a:xfrm rot="5400000">
            <a:off x="4905375" y="1145898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7" name="constraints-validation-line"/>
          <p:cNvSpPr>
            <a:spLocks noGrp="1"/>
          </p:cNvSpPr>
          <p:nvPr/>
        </p:nvSpPr>
        <p:spPr>
          <a:xfrm>
            <a:off x="6962775" y="1183998"/>
            <a:ext cx="1971675" cy="0"/>
          </a:xfrm>
          <a:prstGeom prst="line">
            <a:avLst/>
          </a:prstGeom>
          <a:noFill/>
          <a:ln w="11430">
            <a:solidFill>
              <a:srgbClr val="7F9DB2"/>
            </a:solidFill>
            <a:prstDash val="solid"/>
          </a:ln>
        </p:spPr>
      </p:sp>
      <p:sp>
        <p:nvSpPr>
          <p:cNvPr id="8" name="constraints-validation-arrow"/>
          <p:cNvSpPr>
            <a:spLocks noGrp="1"/>
          </p:cNvSpPr>
          <p:nvPr/>
        </p:nvSpPr>
        <p:spPr>
          <a:xfrm rot="5400000">
            <a:off x="8896350" y="1145898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9" name="resources-en"/>
          <p:cNvSpPr>
            <a:spLocks noGrp="1"/>
          </p:cNvSpPr>
          <p:nvPr/>
        </p:nvSpPr>
        <p:spPr>
          <a:xfrm>
            <a:off x="1552575" y="945873"/>
            <a:ext cx="1238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RESOURCES</a:t>
            </a:r>
          </a:p>
        </p:txBody>
      </p:sp>
      <p:sp>
        <p:nvSpPr>
          <p:cNvPr id="10" name="resources-cn"/>
          <p:cNvSpPr>
            <a:spLocks noGrp="1"/>
          </p:cNvSpPr>
          <p:nvPr/>
        </p:nvSpPr>
        <p:spPr>
          <a:xfrm>
            <a:off x="1552575" y="1107798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3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补“缺什么”</a:t>
            </a:r>
          </a:p>
        </p:txBody>
      </p:sp>
      <p:sp>
        <p:nvSpPr>
          <p:cNvPr id="11" name="constraints-en"/>
          <p:cNvSpPr>
            <a:spLocks noGrp="1"/>
          </p:cNvSpPr>
          <p:nvPr/>
        </p:nvSpPr>
        <p:spPr>
          <a:xfrm>
            <a:off x="5114925" y="945873"/>
            <a:ext cx="17526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CONSTRAINTS + TRIGGER</a:t>
            </a:r>
          </a:p>
        </p:txBody>
      </p:sp>
      <p:sp>
        <p:nvSpPr>
          <p:cNvPr id="12" name="constraints-cn"/>
          <p:cNvSpPr>
            <a:spLocks noGrp="1"/>
          </p:cNvSpPr>
          <p:nvPr/>
        </p:nvSpPr>
        <p:spPr>
          <a:xfrm>
            <a:off x="5114925" y="1107798"/>
            <a:ext cx="175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3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补“不能乱做什么”</a:t>
            </a:r>
          </a:p>
        </p:txBody>
      </p:sp>
      <p:sp>
        <p:nvSpPr>
          <p:cNvPr id="13" name="validation-en"/>
          <p:cNvSpPr>
            <a:spLocks noGrp="1"/>
          </p:cNvSpPr>
          <p:nvPr/>
        </p:nvSpPr>
        <p:spPr>
          <a:xfrm>
            <a:off x="9096375" y="945873"/>
            <a:ext cx="1428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VALIDATION</a:t>
            </a:r>
          </a:p>
        </p:txBody>
      </p:sp>
      <p:sp>
        <p:nvSpPr>
          <p:cNvPr id="14" name="validation-cn"/>
          <p:cNvSpPr>
            <a:spLocks noGrp="1"/>
          </p:cNvSpPr>
          <p:nvPr/>
        </p:nvSpPr>
        <p:spPr>
          <a:xfrm>
            <a:off x="9001125" y="1107798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589"/>
          </a:bodyPr>
          <a:lstStyle/>
          <a:p>
            <a:pPr algn="ctr">
              <a:defRPr sz="13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验证“是否真的好用”</a:t>
            </a:r>
          </a:p>
        </p:txBody>
      </p:sp>
      <p:sp>
        <p:nvSpPr>
          <p:cNvPr id="15" name="resources-frame"/>
          <p:cNvSpPr>
            <a:spLocks noGrp="1"/>
          </p:cNvSpPr>
          <p:nvPr/>
        </p:nvSpPr>
        <p:spPr>
          <a:xfrm>
            <a:off x="609600" y="1562100"/>
            <a:ext cx="3333750" cy="390525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16" name="resources-accent"/>
          <p:cNvSpPr>
            <a:spLocks noGrp="1"/>
          </p:cNvSpPr>
          <p:nvPr/>
        </p:nvSpPr>
        <p:spPr>
          <a:xfrm>
            <a:off x="609600" y="1562100"/>
            <a:ext cx="3333750" cy="28575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17" name="resources-number"/>
          <p:cNvSpPr>
            <a:spLocks noGrp="1"/>
          </p:cNvSpPr>
          <p:nvPr/>
        </p:nvSpPr>
        <p:spPr>
          <a:xfrm>
            <a:off x="762000" y="1657350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</a:p>
        </p:txBody>
      </p:sp>
      <p:sp>
        <p:nvSpPr>
          <p:cNvPr id="18" name="resources-title"/>
          <p:cNvSpPr>
            <a:spLocks noGrp="1"/>
          </p:cNvSpPr>
          <p:nvPr/>
        </p:nvSpPr>
        <p:spPr>
          <a:xfrm>
            <a:off x="1162050" y="1638300"/>
            <a:ext cx="26289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6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补充资源与知识</a:t>
            </a:r>
          </a:p>
        </p:txBody>
      </p:sp>
      <p:sp>
        <p:nvSpPr>
          <p:cNvPr id="19" name="resources-subtitle"/>
          <p:cNvSpPr>
            <a:spLocks noGrp="1"/>
          </p:cNvSpPr>
          <p:nvPr/>
        </p:nvSpPr>
        <p:spPr>
          <a:xfrm>
            <a:off x="762000" y="1943100"/>
            <a:ext cx="3028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165" b="1" dirty="0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constraints-frame"/>
          <p:cNvSpPr>
            <a:spLocks noGrp="1"/>
          </p:cNvSpPr>
          <p:nvPr/>
        </p:nvSpPr>
        <p:spPr>
          <a:xfrm>
            <a:off x="4200525" y="1562100"/>
            <a:ext cx="3781425" cy="3905250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22" name="constraints-accent"/>
          <p:cNvSpPr>
            <a:spLocks noGrp="1"/>
          </p:cNvSpPr>
          <p:nvPr/>
        </p:nvSpPr>
        <p:spPr>
          <a:xfrm>
            <a:off x="4200525" y="1562100"/>
            <a:ext cx="3781425" cy="28575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23" name="constraints-number"/>
          <p:cNvSpPr>
            <a:spLocks noGrp="1"/>
          </p:cNvSpPr>
          <p:nvPr/>
        </p:nvSpPr>
        <p:spPr>
          <a:xfrm>
            <a:off x="4352925" y="1657350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</a:p>
        </p:txBody>
      </p:sp>
      <p:sp>
        <p:nvSpPr>
          <p:cNvPr id="24" name="constraints-title"/>
          <p:cNvSpPr>
            <a:spLocks noGrp="1"/>
          </p:cNvSpPr>
          <p:nvPr/>
        </p:nvSpPr>
        <p:spPr>
          <a:xfrm>
            <a:off x="4752975" y="1638300"/>
            <a:ext cx="30765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6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15" b="1" dirty="0" err="1" smtClean="0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完善约束与</a:t>
            </a:r>
            <a:r>
              <a:rPr lang="zh-CN" altLang="en-US" sz="1615" b="1" dirty="0" smtClean="0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调用规则</a:t>
            </a:r>
            <a:endParaRPr sz="1615" b="1" dirty="0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constraints-subtitle"/>
          <p:cNvSpPr>
            <a:spLocks noGrp="1"/>
          </p:cNvSpPr>
          <p:nvPr/>
        </p:nvSpPr>
        <p:spPr>
          <a:xfrm>
            <a:off x="4352925" y="1943100"/>
            <a:ext cx="3476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165" b="1" dirty="0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constraints-header-line"/>
          <p:cNvSpPr>
            <a:spLocks noGrp="1"/>
          </p:cNvSpPr>
          <p:nvPr/>
        </p:nvSpPr>
        <p:spPr>
          <a:xfrm>
            <a:off x="4352925" y="2219325"/>
            <a:ext cx="3476625" cy="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27" name="validation-frame"/>
          <p:cNvSpPr>
            <a:spLocks noGrp="1"/>
          </p:cNvSpPr>
          <p:nvPr/>
        </p:nvSpPr>
        <p:spPr>
          <a:xfrm>
            <a:off x="8239125" y="1562100"/>
            <a:ext cx="3343275" cy="3905250"/>
          </a:xfrm>
          <a:prstGeom prst="roundRect">
            <a:avLst>
              <a:gd name="adj" fmla="val 1425"/>
            </a:avLst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28" name="validation-accent"/>
          <p:cNvSpPr>
            <a:spLocks noGrp="1"/>
          </p:cNvSpPr>
          <p:nvPr/>
        </p:nvSpPr>
        <p:spPr>
          <a:xfrm>
            <a:off x="8239125" y="1562100"/>
            <a:ext cx="3343275" cy="28575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29" name="validation-number"/>
          <p:cNvSpPr>
            <a:spLocks noGrp="1"/>
          </p:cNvSpPr>
          <p:nvPr/>
        </p:nvSpPr>
        <p:spPr>
          <a:xfrm>
            <a:off x="8391525" y="1657350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</a:p>
        </p:txBody>
      </p:sp>
      <p:sp>
        <p:nvSpPr>
          <p:cNvPr id="30" name="validation-title"/>
          <p:cNvSpPr>
            <a:spLocks noGrp="1"/>
          </p:cNvSpPr>
          <p:nvPr/>
        </p:nvSpPr>
        <p:spPr>
          <a:xfrm>
            <a:off x="8791575" y="1638300"/>
            <a:ext cx="26384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6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1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实测验证与迭代</a:t>
            </a:r>
          </a:p>
        </p:txBody>
      </p:sp>
      <p:sp>
        <p:nvSpPr>
          <p:cNvPr id="31" name="validation-subtitle"/>
          <p:cNvSpPr>
            <a:spLocks noGrp="1"/>
          </p:cNvSpPr>
          <p:nvPr/>
        </p:nvSpPr>
        <p:spPr>
          <a:xfrm>
            <a:off x="8391525" y="1943100"/>
            <a:ext cx="30384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165" b="1" dirty="0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stage-question-line"/>
          <p:cNvSpPr>
            <a:spLocks noGrp="1"/>
          </p:cNvSpPr>
          <p:nvPr/>
        </p:nvSpPr>
        <p:spPr>
          <a:xfrm>
            <a:off x="2276475" y="2600325"/>
            <a:ext cx="0" cy="85725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34" name="question-branch-down"/>
          <p:cNvSpPr>
            <a:spLocks noGrp="1"/>
          </p:cNvSpPr>
          <p:nvPr/>
        </p:nvSpPr>
        <p:spPr>
          <a:xfrm>
            <a:off x="2276475" y="2943225"/>
            <a:ext cx="0" cy="9525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35" name="resource-branch"/>
          <p:cNvSpPr>
            <a:spLocks noGrp="1"/>
          </p:cNvSpPr>
          <p:nvPr/>
        </p:nvSpPr>
        <p:spPr>
          <a:xfrm>
            <a:off x="1228725" y="3038475"/>
            <a:ext cx="209550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36" name="resource-drop-0"/>
          <p:cNvSpPr>
            <a:spLocks noGrp="1"/>
          </p:cNvSpPr>
          <p:nvPr/>
        </p:nvSpPr>
        <p:spPr>
          <a:xfrm>
            <a:off x="1228725" y="3038475"/>
            <a:ext cx="0" cy="7620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37" name="resource-arrow-0"/>
          <p:cNvSpPr>
            <a:spLocks noGrp="1"/>
          </p:cNvSpPr>
          <p:nvPr/>
        </p:nvSpPr>
        <p:spPr>
          <a:xfrm rot="10800000">
            <a:off x="1190625" y="3076575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38" name="resource-drop-1"/>
          <p:cNvSpPr>
            <a:spLocks noGrp="1"/>
          </p:cNvSpPr>
          <p:nvPr/>
        </p:nvSpPr>
        <p:spPr>
          <a:xfrm>
            <a:off x="2276475" y="3038475"/>
            <a:ext cx="0" cy="7620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39" name="resource-arrow-1"/>
          <p:cNvSpPr>
            <a:spLocks noGrp="1"/>
          </p:cNvSpPr>
          <p:nvPr/>
        </p:nvSpPr>
        <p:spPr>
          <a:xfrm rot="10800000">
            <a:off x="2238375" y="3076575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40" name="resource-drop-2"/>
          <p:cNvSpPr>
            <a:spLocks noGrp="1"/>
          </p:cNvSpPr>
          <p:nvPr/>
        </p:nvSpPr>
        <p:spPr>
          <a:xfrm>
            <a:off x="3324225" y="3038475"/>
            <a:ext cx="0" cy="7620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41" name="resource-arrow-2"/>
          <p:cNvSpPr>
            <a:spLocks noGrp="1"/>
          </p:cNvSpPr>
          <p:nvPr/>
        </p:nvSpPr>
        <p:spPr>
          <a:xfrm rot="10800000">
            <a:off x="3286125" y="3076575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42" name="resource-stage-box"/>
          <p:cNvSpPr>
            <a:spLocks noGrp="1"/>
          </p:cNvSpPr>
          <p:nvPr/>
        </p:nvSpPr>
        <p:spPr>
          <a:xfrm>
            <a:off x="1857375" y="2324100"/>
            <a:ext cx="838200" cy="276225"/>
          </a:xfrm>
          <a:prstGeom prst="roundRect">
            <a:avLst>
              <a:gd name="adj" fmla="val 13793"/>
            </a:avLst>
          </a:prstGeom>
          <a:solidFill>
            <a:srgbClr val="F2F6F8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43" name="resource-stage-text"/>
          <p:cNvSpPr>
            <a:spLocks noGrp="1"/>
          </p:cNvSpPr>
          <p:nvPr/>
        </p:nvSpPr>
        <p:spPr>
          <a:xfrm>
            <a:off x="1885950" y="2343150"/>
            <a:ext cx="781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1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某个 Stage</a:t>
            </a:r>
          </a:p>
        </p:txBody>
      </p:sp>
      <p:sp>
        <p:nvSpPr>
          <p:cNvPr id="44" name="resource-question-band"/>
          <p:cNvSpPr>
            <a:spLocks noGrp="1"/>
          </p:cNvSpPr>
          <p:nvPr/>
        </p:nvSpPr>
        <p:spPr>
          <a:xfrm>
            <a:off x="1209675" y="2686050"/>
            <a:ext cx="2133600" cy="257175"/>
          </a:xfrm>
          <a:prstGeom prst="rect">
            <a:avLst/>
          </a:prstGeom>
          <a:solidFill>
            <a:srgbClr val="F7F9FA"/>
          </a:solidFill>
          <a:ln w="0">
            <a:noFill/>
            <a:prstDash val="solid"/>
          </a:ln>
        </p:spPr>
      </p:sp>
      <p:sp>
        <p:nvSpPr>
          <p:cNvPr id="45" name="resource-question"/>
          <p:cNvSpPr>
            <a:spLocks noGrp="1"/>
          </p:cNvSpPr>
          <p:nvPr/>
        </p:nvSpPr>
        <p:spPr>
          <a:xfrm>
            <a:off x="1323975" y="26955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9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还缺什么？</a:t>
            </a:r>
          </a:p>
        </p:txBody>
      </p:sp>
      <p:sp>
        <p:nvSpPr>
          <p:cNvPr id="46" name="references-node-box"/>
          <p:cNvSpPr>
            <a:spLocks noGrp="1"/>
          </p:cNvSpPr>
          <p:nvPr/>
        </p:nvSpPr>
        <p:spPr>
          <a:xfrm>
            <a:off x="781050" y="3143250"/>
            <a:ext cx="895350" cy="352425"/>
          </a:xfrm>
          <a:prstGeom prst="roundRect">
            <a:avLst>
              <a:gd name="adj" fmla="val 10811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47" name="references-node-text"/>
          <p:cNvSpPr>
            <a:spLocks noGrp="1"/>
          </p:cNvSpPr>
          <p:nvPr/>
        </p:nvSpPr>
        <p:spPr>
          <a:xfrm>
            <a:off x="809625" y="3162300"/>
            <a:ext cx="8382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缺知识</a:t>
            </a:r>
          </a:p>
          <a:p>
            <a:pPr algn="ctr">
              <a:defRPr sz="9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References</a:t>
            </a:r>
          </a:p>
        </p:txBody>
      </p:sp>
      <p:sp>
        <p:nvSpPr>
          <p:cNvPr id="48" name="examples-node-box"/>
          <p:cNvSpPr>
            <a:spLocks noGrp="1"/>
          </p:cNvSpPr>
          <p:nvPr/>
        </p:nvSpPr>
        <p:spPr>
          <a:xfrm>
            <a:off x="1828800" y="3143250"/>
            <a:ext cx="895350" cy="352425"/>
          </a:xfrm>
          <a:prstGeom prst="roundRect">
            <a:avLst>
              <a:gd name="adj" fmla="val 10811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49" name="examples-node-text"/>
          <p:cNvSpPr>
            <a:spLocks noGrp="1"/>
          </p:cNvSpPr>
          <p:nvPr/>
        </p:nvSpPr>
        <p:spPr>
          <a:xfrm>
            <a:off x="1857375" y="3162300"/>
            <a:ext cx="8382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缺案例</a:t>
            </a:r>
          </a:p>
          <a:p>
            <a:pPr algn="ctr">
              <a:defRPr sz="9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Examples</a:t>
            </a:r>
          </a:p>
        </p:txBody>
      </p:sp>
      <p:sp>
        <p:nvSpPr>
          <p:cNvPr id="50" name="scripts-node-box"/>
          <p:cNvSpPr>
            <a:spLocks noGrp="1"/>
          </p:cNvSpPr>
          <p:nvPr/>
        </p:nvSpPr>
        <p:spPr>
          <a:xfrm>
            <a:off x="2876550" y="3143250"/>
            <a:ext cx="895350" cy="352425"/>
          </a:xfrm>
          <a:prstGeom prst="roundRect">
            <a:avLst>
              <a:gd name="adj" fmla="val 10811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51" name="scripts-node-text"/>
          <p:cNvSpPr>
            <a:spLocks noGrp="1"/>
          </p:cNvSpPr>
          <p:nvPr/>
        </p:nvSpPr>
        <p:spPr>
          <a:xfrm>
            <a:off x="2905125" y="3162300"/>
            <a:ext cx="8382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0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缺确定执行</a:t>
            </a:r>
          </a:p>
          <a:p>
            <a:pPr algn="ctr">
              <a:defRPr sz="90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Scripts</a:t>
            </a:r>
          </a:p>
        </p:txBody>
      </p:sp>
      <p:sp>
        <p:nvSpPr>
          <p:cNvPr id="52" name="references-keywords"/>
          <p:cNvSpPr>
            <a:spLocks noGrp="1"/>
          </p:cNvSpPr>
          <p:nvPr/>
        </p:nvSpPr>
        <p:spPr>
          <a:xfrm>
            <a:off x="781050" y="3543300"/>
            <a:ext cx="8953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4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领域 / API</a:t>
            </a:r>
          </a:p>
          <a:p>
            <a:pPr algn="ctr">
              <a:defRPr sz="94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 / 限制</a:t>
            </a:r>
          </a:p>
        </p:txBody>
      </p:sp>
      <p:sp>
        <p:nvSpPr>
          <p:cNvPr id="53" name="examples-keywords"/>
          <p:cNvSpPr>
            <a:spLocks noGrp="1"/>
          </p:cNvSpPr>
          <p:nvPr/>
        </p:nvSpPr>
        <p:spPr>
          <a:xfrm>
            <a:off x="1828800" y="3543300"/>
            <a:ext cx="8953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4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 / I-O</a:t>
            </a:r>
          </a:p>
          <a:p>
            <a:pPr algn="ctr">
              <a:defRPr sz="94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解法 / 实现</a:t>
            </a:r>
          </a:p>
        </p:txBody>
      </p:sp>
      <p:sp>
        <p:nvSpPr>
          <p:cNvPr id="54" name="scripts-keywords"/>
          <p:cNvSpPr>
            <a:spLocks noGrp="1"/>
          </p:cNvSpPr>
          <p:nvPr/>
        </p:nvSpPr>
        <p:spPr>
          <a:xfrm>
            <a:off x="2876550" y="3543300"/>
            <a:ext cx="8953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4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 / 执行</a:t>
            </a:r>
          </a:p>
          <a:p>
            <a:pPr algn="ctr">
              <a:defRPr sz="94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 / Bench</a:t>
            </a:r>
          </a:p>
        </p:txBody>
      </p:sp>
      <p:sp>
        <p:nvSpPr>
          <p:cNvPr id="55" name="templates-band"/>
          <p:cNvSpPr>
            <a:spLocks noGrp="1"/>
          </p:cNvSpPr>
          <p:nvPr/>
        </p:nvSpPr>
        <p:spPr>
          <a:xfrm>
            <a:off x="847725" y="4352925"/>
            <a:ext cx="2990850" cy="400050"/>
          </a:xfrm>
          <a:prstGeom prst="rect">
            <a:avLst/>
          </a:prstGeom>
          <a:solidFill>
            <a:srgbClr val="F7F9FA"/>
          </a:solidFill>
          <a:ln w="6668">
            <a:solidFill>
              <a:srgbClr val="D8DEE3"/>
            </a:solidFill>
            <a:prstDash val="solid"/>
          </a:ln>
        </p:spPr>
      </p:sp>
      <p:sp>
        <p:nvSpPr>
          <p:cNvPr id="56" name="templates-title"/>
          <p:cNvSpPr>
            <a:spLocks noGrp="1"/>
          </p:cNvSpPr>
          <p:nvPr/>
        </p:nvSpPr>
        <p:spPr>
          <a:xfrm>
            <a:off x="1013791" y="4457700"/>
            <a:ext cx="876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2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dirty="0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Templates</a:t>
            </a:r>
          </a:p>
        </p:txBody>
      </p:sp>
      <p:sp>
        <p:nvSpPr>
          <p:cNvPr id="57" name="templates-detail"/>
          <p:cNvSpPr>
            <a:spLocks noGrp="1"/>
          </p:cNvSpPr>
          <p:nvPr/>
        </p:nvSpPr>
        <p:spPr>
          <a:xfrm>
            <a:off x="1752600" y="4414837"/>
            <a:ext cx="18288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4395"/>
          </a:bodyPr>
          <a:lstStyle/>
          <a:p>
            <a:pPr algn="r">
              <a:defRPr sz="96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960" b="0" dirty="0" smtClean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定义输出，中间生成文件的模板</a:t>
            </a:r>
            <a:endParaRPr sz="960" b="0" dirty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resources-product-band"/>
          <p:cNvSpPr>
            <a:spLocks noGrp="1"/>
          </p:cNvSpPr>
          <p:nvPr/>
        </p:nvSpPr>
        <p:spPr>
          <a:xfrm>
            <a:off x="781050" y="5029200"/>
            <a:ext cx="2990850" cy="295275"/>
          </a:xfrm>
          <a:prstGeom prst="rect">
            <a:avLst/>
          </a:prstGeom>
          <a:solidFill>
            <a:srgbClr val="F7F9FA"/>
          </a:solidFill>
          <a:ln w="6668">
            <a:solidFill>
              <a:srgbClr val="D8DEE3"/>
            </a:solidFill>
            <a:prstDash val="solid"/>
          </a:ln>
        </p:spPr>
      </p:sp>
      <p:sp>
        <p:nvSpPr>
          <p:cNvPr id="61" name="resources-product"/>
          <p:cNvSpPr>
            <a:spLocks noGrp="1"/>
          </p:cNvSpPr>
          <p:nvPr/>
        </p:nvSpPr>
        <p:spPr>
          <a:xfrm>
            <a:off x="895350" y="5038725"/>
            <a:ext cx="2762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65" b="1" dirty="0" err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产物：支撑各</a:t>
            </a:r>
            <a:r>
              <a:rPr sz="1065" b="1" dirty="0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Stage </a:t>
            </a:r>
            <a:r>
              <a:rPr sz="1065" b="1" dirty="0" err="1" smtClean="0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的资源</a:t>
            </a:r>
            <a:r>
              <a:rPr lang="zh-CN" altLang="en-US" sz="1065" b="1" dirty="0" smtClean="0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endParaRPr sz="1065" b="1" dirty="0">
              <a:solidFill>
                <a:srgbClr val="557A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trigger-line-0"/>
          <p:cNvSpPr>
            <a:spLocks noGrp="1"/>
          </p:cNvSpPr>
          <p:nvPr/>
        </p:nvSpPr>
        <p:spPr>
          <a:xfrm>
            <a:off x="5191125" y="2514600"/>
            <a:ext cx="238125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63" name="trigger-arrow-0"/>
          <p:cNvSpPr>
            <a:spLocks noGrp="1"/>
          </p:cNvSpPr>
          <p:nvPr/>
        </p:nvSpPr>
        <p:spPr>
          <a:xfrm rot="5400000">
            <a:off x="5381625" y="24765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64" name="trigger-line-1"/>
          <p:cNvSpPr>
            <a:spLocks noGrp="1"/>
          </p:cNvSpPr>
          <p:nvPr/>
        </p:nvSpPr>
        <p:spPr>
          <a:xfrm>
            <a:off x="6496050" y="2514600"/>
            <a:ext cx="238125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65" name="trigger-arrow-1"/>
          <p:cNvSpPr>
            <a:spLocks noGrp="1"/>
          </p:cNvSpPr>
          <p:nvPr/>
        </p:nvSpPr>
        <p:spPr>
          <a:xfrm rot="5400000">
            <a:off x="6686550" y="24765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66" name="request-node-box"/>
          <p:cNvSpPr>
            <a:spLocks noGrp="1"/>
          </p:cNvSpPr>
          <p:nvPr/>
        </p:nvSpPr>
        <p:spPr>
          <a:xfrm>
            <a:off x="4371975" y="2371725"/>
            <a:ext cx="819150" cy="285750"/>
          </a:xfrm>
          <a:prstGeom prst="roundRect">
            <a:avLst>
              <a:gd name="adj" fmla="val 1333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67" name="request-node-text"/>
          <p:cNvSpPr>
            <a:spLocks noGrp="1"/>
          </p:cNvSpPr>
          <p:nvPr/>
        </p:nvSpPr>
        <p:spPr>
          <a:xfrm>
            <a:off x="4400550" y="2390775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2673"/>
          </a:bodyPr>
          <a:lstStyle/>
          <a:p>
            <a:pPr algn="ctr">
              <a:defRPr sz="9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User Request</a:t>
            </a:r>
          </a:p>
        </p:txBody>
      </p:sp>
      <p:sp>
        <p:nvSpPr>
          <p:cNvPr id="68" name="description-node-box"/>
          <p:cNvSpPr>
            <a:spLocks noGrp="1"/>
          </p:cNvSpPr>
          <p:nvPr/>
        </p:nvSpPr>
        <p:spPr>
          <a:xfrm>
            <a:off x="5429250" y="2371725"/>
            <a:ext cx="1066800" cy="285750"/>
          </a:xfrm>
          <a:prstGeom prst="roundRect">
            <a:avLst>
              <a:gd name="adj" fmla="val 13333"/>
            </a:avLst>
          </a:prstGeom>
          <a:solidFill>
            <a:srgbClr val="F2F6F8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69" name="description-node-text"/>
          <p:cNvSpPr>
            <a:spLocks noGrp="1"/>
          </p:cNvSpPr>
          <p:nvPr/>
        </p:nvSpPr>
        <p:spPr>
          <a:xfrm>
            <a:off x="5457825" y="2390775"/>
            <a:ext cx="1009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description</a:t>
            </a:r>
          </a:p>
        </p:txBody>
      </p:sp>
      <p:sp>
        <p:nvSpPr>
          <p:cNvPr id="70" name="skill-node-box"/>
          <p:cNvSpPr>
            <a:spLocks noGrp="1"/>
          </p:cNvSpPr>
          <p:nvPr/>
        </p:nvSpPr>
        <p:spPr>
          <a:xfrm>
            <a:off x="6734175" y="2371725"/>
            <a:ext cx="895350" cy="285750"/>
          </a:xfrm>
          <a:prstGeom prst="roundRect">
            <a:avLst>
              <a:gd name="adj" fmla="val 1333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71" name="skill-node-text"/>
          <p:cNvSpPr>
            <a:spLocks noGrp="1"/>
          </p:cNvSpPr>
          <p:nvPr/>
        </p:nvSpPr>
        <p:spPr>
          <a:xfrm>
            <a:off x="6762750" y="2390775"/>
            <a:ext cx="838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</a:t>
            </a:r>
          </a:p>
        </p:txBody>
      </p:sp>
      <p:sp>
        <p:nvSpPr>
          <p:cNvPr id="73" name="boundary-row-label"/>
          <p:cNvSpPr>
            <a:spLocks noGrp="1"/>
          </p:cNvSpPr>
          <p:nvPr/>
        </p:nvSpPr>
        <p:spPr>
          <a:xfrm>
            <a:off x="4371975" y="2943225"/>
            <a:ext cx="1257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9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Boundary</a:t>
            </a:r>
          </a:p>
        </p:txBody>
      </p:sp>
      <p:sp>
        <p:nvSpPr>
          <p:cNvPr id="74" name="boundary-row-detail"/>
          <p:cNvSpPr>
            <a:spLocks noGrp="1"/>
          </p:cNvSpPr>
          <p:nvPr/>
        </p:nvSpPr>
        <p:spPr>
          <a:xfrm>
            <a:off x="5676900" y="2943225"/>
            <a:ext cx="2143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5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明确做什么 / 不做什么</a:t>
            </a:r>
          </a:p>
        </p:txBody>
      </p:sp>
      <p:sp>
        <p:nvSpPr>
          <p:cNvPr id="75" name="boundary-row-line"/>
          <p:cNvSpPr>
            <a:spLocks noGrp="1"/>
          </p:cNvSpPr>
          <p:nvPr/>
        </p:nvSpPr>
        <p:spPr>
          <a:xfrm>
            <a:off x="4371975" y="3238500"/>
            <a:ext cx="3448050" cy="0"/>
          </a:xfrm>
          <a:prstGeom prst="line">
            <a:avLst/>
          </a:prstGeom>
          <a:noFill/>
          <a:ln w="6668">
            <a:solidFill>
              <a:srgbClr val="D8DEE3"/>
            </a:solidFill>
            <a:prstDash val="solid"/>
          </a:ln>
        </p:spPr>
      </p:sp>
      <p:sp>
        <p:nvSpPr>
          <p:cNvPr id="76" name="contract-policy-row-label"/>
          <p:cNvSpPr>
            <a:spLocks noGrp="1"/>
          </p:cNvSpPr>
          <p:nvPr/>
        </p:nvSpPr>
        <p:spPr>
          <a:xfrm>
            <a:off x="4371975" y="3343275"/>
            <a:ext cx="1257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9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Contract / Policy</a:t>
            </a:r>
          </a:p>
        </p:txBody>
      </p:sp>
      <p:sp>
        <p:nvSpPr>
          <p:cNvPr id="77" name="contract-policy-row-detail"/>
          <p:cNvSpPr>
            <a:spLocks noGrp="1"/>
          </p:cNvSpPr>
          <p:nvPr/>
        </p:nvSpPr>
        <p:spPr>
          <a:xfrm>
            <a:off x="5676900" y="3343275"/>
            <a:ext cx="2143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5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接受什么 / 产出什么 / 如何执行</a:t>
            </a:r>
          </a:p>
        </p:txBody>
      </p:sp>
      <p:sp>
        <p:nvSpPr>
          <p:cNvPr id="78" name="contract-policy-row-line"/>
          <p:cNvSpPr>
            <a:spLocks noGrp="1"/>
          </p:cNvSpPr>
          <p:nvPr/>
        </p:nvSpPr>
        <p:spPr>
          <a:xfrm>
            <a:off x="4371975" y="3638550"/>
            <a:ext cx="3448050" cy="0"/>
          </a:xfrm>
          <a:prstGeom prst="line">
            <a:avLst/>
          </a:prstGeom>
          <a:noFill/>
          <a:ln w="6668">
            <a:solidFill>
              <a:srgbClr val="D8DEE3"/>
            </a:solidFill>
            <a:prstDash val="solid"/>
          </a:ln>
        </p:spPr>
      </p:sp>
      <p:sp>
        <p:nvSpPr>
          <p:cNvPr id="79" name="constraint-gate-row-label"/>
          <p:cNvSpPr>
            <a:spLocks noGrp="1"/>
          </p:cNvSpPr>
          <p:nvPr/>
        </p:nvSpPr>
        <p:spPr>
          <a:xfrm>
            <a:off x="4371975" y="3743325"/>
            <a:ext cx="1257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9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Gate</a:t>
            </a:r>
          </a:p>
        </p:txBody>
      </p:sp>
      <p:sp>
        <p:nvSpPr>
          <p:cNvPr id="80" name="constraint-gate-row-detail"/>
          <p:cNvSpPr>
            <a:spLocks noGrp="1"/>
          </p:cNvSpPr>
          <p:nvPr/>
        </p:nvSpPr>
        <p:spPr>
          <a:xfrm>
            <a:off x="5676900" y="3743325"/>
            <a:ext cx="2143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5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条件未满足时绝不推进</a:t>
            </a:r>
          </a:p>
        </p:txBody>
      </p:sp>
      <p:sp>
        <p:nvSpPr>
          <p:cNvPr id="81" name="constraint-gate-row-line"/>
          <p:cNvSpPr>
            <a:spLocks noGrp="1"/>
          </p:cNvSpPr>
          <p:nvPr/>
        </p:nvSpPr>
        <p:spPr>
          <a:xfrm>
            <a:off x="4371975" y="4038600"/>
            <a:ext cx="3448050" cy="0"/>
          </a:xfrm>
          <a:prstGeom prst="line">
            <a:avLst/>
          </a:prstGeom>
          <a:noFill/>
          <a:ln w="6668">
            <a:solidFill>
              <a:srgbClr val="D8DEE3"/>
            </a:solidFill>
            <a:prstDash val="solid"/>
          </a:ln>
        </p:spPr>
      </p:sp>
      <p:sp>
        <p:nvSpPr>
          <p:cNvPr id="82" name="identity-row-label"/>
          <p:cNvSpPr>
            <a:spLocks noGrp="1"/>
          </p:cNvSpPr>
          <p:nvPr/>
        </p:nvSpPr>
        <p:spPr>
          <a:xfrm>
            <a:off x="4371975" y="4143375"/>
            <a:ext cx="1257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5463"/>
          </a:bodyPr>
          <a:lstStyle/>
          <a:p>
            <a:pPr algn="l">
              <a:defRPr sz="109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name / description</a:t>
            </a:r>
          </a:p>
        </p:txBody>
      </p:sp>
      <p:sp>
        <p:nvSpPr>
          <p:cNvPr id="83" name="identity-row-detail"/>
          <p:cNvSpPr>
            <a:spLocks noGrp="1"/>
          </p:cNvSpPr>
          <p:nvPr/>
        </p:nvSpPr>
        <p:spPr>
          <a:xfrm>
            <a:off x="5676900" y="4143375"/>
            <a:ext cx="2143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5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能力身份 + 触发边界</a:t>
            </a:r>
          </a:p>
        </p:txBody>
      </p:sp>
      <p:sp>
        <p:nvSpPr>
          <p:cNvPr id="84" name="identity-row-line"/>
          <p:cNvSpPr>
            <a:spLocks noGrp="1"/>
          </p:cNvSpPr>
          <p:nvPr/>
        </p:nvSpPr>
        <p:spPr>
          <a:xfrm>
            <a:off x="4371975" y="4438650"/>
            <a:ext cx="3448050" cy="0"/>
          </a:xfrm>
          <a:prstGeom prst="line">
            <a:avLst/>
          </a:prstGeom>
          <a:noFill/>
          <a:ln w="6668">
            <a:solidFill>
              <a:srgbClr val="D8DEE3"/>
            </a:solidFill>
            <a:prstDash val="solid"/>
          </a:ln>
        </p:spPr>
      </p:sp>
      <p:sp>
        <p:nvSpPr>
          <p:cNvPr id="85" name="constraints-principle-band"/>
          <p:cNvSpPr>
            <a:spLocks noGrp="1"/>
          </p:cNvSpPr>
          <p:nvPr/>
        </p:nvSpPr>
        <p:spPr>
          <a:xfrm>
            <a:off x="4352925" y="4572000"/>
            <a:ext cx="3476625" cy="333375"/>
          </a:xfrm>
          <a:prstGeom prst="rect">
            <a:avLst/>
          </a:prstGeom>
          <a:solidFill>
            <a:srgbClr val="F2F6F8"/>
          </a:solidFill>
          <a:ln w="0">
            <a:noFill/>
            <a:prstDash val="solid"/>
          </a:ln>
        </p:spPr>
      </p:sp>
      <p:sp>
        <p:nvSpPr>
          <p:cNvPr id="86" name="constraints-principle"/>
          <p:cNvSpPr>
            <a:spLocks noGrp="1"/>
          </p:cNvSpPr>
          <p:nvPr/>
        </p:nvSpPr>
        <p:spPr>
          <a:xfrm>
            <a:off x="4476750" y="4581525"/>
            <a:ext cx="32289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15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约束越清楚，运行越稳定；描述越准确，触发越可靠。</a:t>
            </a:r>
          </a:p>
        </p:txBody>
      </p:sp>
      <p:sp>
        <p:nvSpPr>
          <p:cNvPr id="87" name="constraints-product-band"/>
          <p:cNvSpPr>
            <a:spLocks noGrp="1"/>
          </p:cNvSpPr>
          <p:nvPr/>
        </p:nvSpPr>
        <p:spPr>
          <a:xfrm>
            <a:off x="4352925" y="5029200"/>
            <a:ext cx="3476625" cy="295275"/>
          </a:xfrm>
          <a:prstGeom prst="rect">
            <a:avLst/>
          </a:prstGeom>
          <a:solidFill>
            <a:srgbClr val="F7F9FA"/>
          </a:solidFill>
          <a:ln w="6668">
            <a:solidFill>
              <a:srgbClr val="D8DEE3"/>
            </a:solidFill>
            <a:prstDash val="solid"/>
          </a:ln>
        </p:spPr>
      </p:sp>
      <p:sp>
        <p:nvSpPr>
          <p:cNvPr id="88" name="constraints-product"/>
          <p:cNvSpPr>
            <a:spLocks noGrp="1"/>
          </p:cNvSpPr>
          <p:nvPr/>
        </p:nvSpPr>
        <p:spPr>
          <a:xfrm>
            <a:off x="4476750" y="5038725"/>
            <a:ext cx="32289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产物：稳定边界 + 可发现、可调用入口</a:t>
            </a:r>
          </a:p>
        </p:txBody>
      </p:sp>
      <p:sp>
        <p:nvSpPr>
          <p:cNvPr id="89" name="test-line-0"/>
          <p:cNvSpPr>
            <a:spLocks noGrp="1"/>
          </p:cNvSpPr>
          <p:nvPr/>
        </p:nvSpPr>
        <p:spPr>
          <a:xfrm>
            <a:off x="9906000" y="2714625"/>
            <a:ext cx="0" cy="104775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90" name="test-arrow-0"/>
          <p:cNvSpPr>
            <a:spLocks noGrp="1"/>
          </p:cNvSpPr>
          <p:nvPr/>
        </p:nvSpPr>
        <p:spPr>
          <a:xfrm rot="10800000">
            <a:off x="9867900" y="27813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91" name="test-line-1"/>
          <p:cNvSpPr>
            <a:spLocks noGrp="1"/>
          </p:cNvSpPr>
          <p:nvPr/>
        </p:nvSpPr>
        <p:spPr>
          <a:xfrm>
            <a:off x="9906000" y="3190875"/>
            <a:ext cx="0" cy="104775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92" name="test-arrow-1"/>
          <p:cNvSpPr>
            <a:spLocks noGrp="1"/>
          </p:cNvSpPr>
          <p:nvPr/>
        </p:nvSpPr>
        <p:spPr>
          <a:xfrm rot="10800000">
            <a:off x="9867900" y="325755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93" name="test-line-2"/>
          <p:cNvSpPr>
            <a:spLocks noGrp="1"/>
          </p:cNvSpPr>
          <p:nvPr/>
        </p:nvSpPr>
        <p:spPr>
          <a:xfrm>
            <a:off x="9906000" y="3667125"/>
            <a:ext cx="0" cy="104775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94" name="test-arrow-2"/>
          <p:cNvSpPr>
            <a:spLocks noGrp="1"/>
          </p:cNvSpPr>
          <p:nvPr/>
        </p:nvSpPr>
        <p:spPr>
          <a:xfrm rot="10800000">
            <a:off x="9867900" y="37338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95" name="trigger-test-band"/>
          <p:cNvSpPr>
            <a:spLocks noGrp="1"/>
          </p:cNvSpPr>
          <p:nvPr/>
        </p:nvSpPr>
        <p:spPr>
          <a:xfrm>
            <a:off x="8410575" y="2343150"/>
            <a:ext cx="2990850" cy="371475"/>
          </a:xfrm>
          <a:prstGeom prst="rect">
            <a:avLst/>
          </a:prstGeom>
          <a:solidFill>
            <a:srgbClr val="F7F9FA"/>
          </a:solidFill>
          <a:ln w="6668">
            <a:solidFill>
              <a:srgbClr val="D8DEE3"/>
            </a:solidFill>
            <a:prstDash val="solid"/>
          </a:ln>
        </p:spPr>
      </p:sp>
      <p:sp>
        <p:nvSpPr>
          <p:cNvPr id="96" name="trigger-test-label"/>
          <p:cNvSpPr>
            <a:spLocks noGrp="1"/>
          </p:cNvSpPr>
          <p:nvPr/>
        </p:nvSpPr>
        <p:spPr>
          <a:xfrm>
            <a:off x="8524875" y="2381250"/>
            <a:ext cx="11049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Trigger Test</a:t>
            </a:r>
          </a:p>
        </p:txBody>
      </p:sp>
      <p:sp>
        <p:nvSpPr>
          <p:cNvPr id="97" name="trigger-test-detail"/>
          <p:cNvSpPr>
            <a:spLocks noGrp="1"/>
          </p:cNvSpPr>
          <p:nvPr/>
        </p:nvSpPr>
        <p:spPr>
          <a:xfrm>
            <a:off x="9658350" y="2381250"/>
            <a:ext cx="16287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03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0" dirty="0" err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应触发</a:t>
            </a:r>
            <a:r>
              <a:rPr sz="1035" b="0" dirty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035" b="0" dirty="0" err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不应触发</a:t>
            </a:r>
            <a:endParaRPr sz="1035" b="0" dirty="0">
              <a:solidFill>
                <a:srgbClr val="4149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workflow-test-band"/>
          <p:cNvSpPr>
            <a:spLocks noGrp="1"/>
          </p:cNvSpPr>
          <p:nvPr/>
        </p:nvSpPr>
        <p:spPr>
          <a:xfrm>
            <a:off x="8410575" y="2819400"/>
            <a:ext cx="2990850" cy="371475"/>
          </a:xfrm>
          <a:prstGeom prst="rect">
            <a:avLst/>
          </a:prstGeom>
          <a:solidFill>
            <a:srgbClr val="F7F9FA"/>
          </a:solidFill>
          <a:ln w="6668">
            <a:solidFill>
              <a:srgbClr val="D8DEE3"/>
            </a:solidFill>
            <a:prstDash val="solid"/>
          </a:ln>
        </p:spPr>
      </p:sp>
      <p:sp>
        <p:nvSpPr>
          <p:cNvPr id="99" name="workflow-test-label"/>
          <p:cNvSpPr>
            <a:spLocks noGrp="1"/>
          </p:cNvSpPr>
          <p:nvPr/>
        </p:nvSpPr>
        <p:spPr>
          <a:xfrm>
            <a:off x="8524875" y="2857500"/>
            <a:ext cx="11049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Workflow Test</a:t>
            </a:r>
          </a:p>
        </p:txBody>
      </p:sp>
      <p:sp>
        <p:nvSpPr>
          <p:cNvPr id="100" name="workflow-test-detail"/>
          <p:cNvSpPr>
            <a:spLocks noGrp="1"/>
          </p:cNvSpPr>
          <p:nvPr/>
        </p:nvSpPr>
        <p:spPr>
          <a:xfrm>
            <a:off x="9658350" y="2857500"/>
            <a:ext cx="16287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03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0" dirty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/ Handoff / Gate</a:t>
            </a:r>
          </a:p>
        </p:txBody>
      </p:sp>
      <p:sp>
        <p:nvSpPr>
          <p:cNvPr id="101" name="result-test-band"/>
          <p:cNvSpPr>
            <a:spLocks noGrp="1"/>
          </p:cNvSpPr>
          <p:nvPr/>
        </p:nvSpPr>
        <p:spPr>
          <a:xfrm>
            <a:off x="8410575" y="3295650"/>
            <a:ext cx="2990850" cy="371475"/>
          </a:xfrm>
          <a:prstGeom prst="rect">
            <a:avLst/>
          </a:prstGeom>
          <a:solidFill>
            <a:srgbClr val="F7F9FA"/>
          </a:solidFill>
          <a:ln w="6668">
            <a:solidFill>
              <a:srgbClr val="D8DEE3"/>
            </a:solidFill>
            <a:prstDash val="solid"/>
          </a:ln>
        </p:spPr>
      </p:sp>
      <p:sp>
        <p:nvSpPr>
          <p:cNvPr id="102" name="result-test-label"/>
          <p:cNvSpPr>
            <a:spLocks noGrp="1"/>
          </p:cNvSpPr>
          <p:nvPr/>
        </p:nvSpPr>
        <p:spPr>
          <a:xfrm>
            <a:off x="8524875" y="3333750"/>
            <a:ext cx="11049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Result Test</a:t>
            </a:r>
          </a:p>
        </p:txBody>
      </p:sp>
      <p:sp>
        <p:nvSpPr>
          <p:cNvPr id="103" name="result-test-detail"/>
          <p:cNvSpPr>
            <a:spLocks noGrp="1"/>
          </p:cNvSpPr>
          <p:nvPr/>
        </p:nvSpPr>
        <p:spPr>
          <a:xfrm>
            <a:off x="9658350" y="3333750"/>
            <a:ext cx="16287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03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 / 格式 / 测试</a:t>
            </a:r>
          </a:p>
        </p:txBody>
      </p:sp>
      <p:sp>
        <p:nvSpPr>
          <p:cNvPr id="104" name="failure-fix-band"/>
          <p:cNvSpPr>
            <a:spLocks noGrp="1"/>
          </p:cNvSpPr>
          <p:nvPr/>
        </p:nvSpPr>
        <p:spPr>
          <a:xfrm>
            <a:off x="8410575" y="3771900"/>
            <a:ext cx="2990850" cy="371475"/>
          </a:xfrm>
          <a:prstGeom prst="rect">
            <a:avLst/>
          </a:prstGeom>
          <a:solidFill>
            <a:srgbClr val="F7F9FA"/>
          </a:solidFill>
          <a:ln w="6668">
            <a:solidFill>
              <a:srgbClr val="D8DEE3"/>
            </a:solidFill>
            <a:prstDash val="solid"/>
          </a:ln>
        </p:spPr>
      </p:sp>
      <p:sp>
        <p:nvSpPr>
          <p:cNvPr id="105" name="failure-fix-label"/>
          <p:cNvSpPr>
            <a:spLocks noGrp="1"/>
          </p:cNvSpPr>
          <p:nvPr/>
        </p:nvSpPr>
        <p:spPr>
          <a:xfrm>
            <a:off x="8524875" y="3810000"/>
            <a:ext cx="11049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1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Failure Fix  ↺</a:t>
            </a:r>
          </a:p>
        </p:txBody>
      </p:sp>
      <p:sp>
        <p:nvSpPr>
          <p:cNvPr id="106" name="failure-fix-detail"/>
          <p:cNvSpPr>
            <a:spLocks noGrp="1"/>
          </p:cNvSpPr>
          <p:nvPr/>
        </p:nvSpPr>
        <p:spPr>
          <a:xfrm>
            <a:off x="9658350" y="3810000"/>
            <a:ext cx="16287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defRPr sz="103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补资源 / 修约束 / 调流程</a:t>
            </a:r>
          </a:p>
        </p:txBody>
      </p:sp>
      <p:sp>
        <p:nvSpPr>
          <p:cNvPr id="107" name="iteration-loop-label"/>
          <p:cNvSpPr>
            <a:spLocks noGrp="1"/>
          </p:cNvSpPr>
          <p:nvPr/>
        </p:nvSpPr>
        <p:spPr>
          <a:xfrm>
            <a:off x="8553450" y="4269271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75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dirty="0" err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发现问题</a:t>
            </a:r>
            <a:r>
              <a:rPr sz="975" b="1" dirty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sz="975" b="1" dirty="0" err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修正</a:t>
            </a:r>
            <a:r>
              <a:rPr sz="975" b="1" dirty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sz="975" b="1" dirty="0" err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回到真实任务再测</a:t>
            </a:r>
            <a:endParaRPr sz="975" b="1" dirty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validation-product-band"/>
          <p:cNvSpPr>
            <a:spLocks noGrp="1"/>
          </p:cNvSpPr>
          <p:nvPr/>
        </p:nvSpPr>
        <p:spPr>
          <a:xfrm>
            <a:off x="8391525" y="5029200"/>
            <a:ext cx="3038475" cy="295275"/>
          </a:xfrm>
          <a:prstGeom prst="rect">
            <a:avLst/>
          </a:prstGeom>
          <a:solidFill>
            <a:srgbClr val="F7F9FA"/>
          </a:solidFill>
          <a:ln w="6668">
            <a:solidFill>
              <a:srgbClr val="D8DEE3"/>
            </a:solidFill>
            <a:prstDash val="solid"/>
          </a:ln>
        </p:spPr>
      </p:sp>
      <p:sp>
        <p:nvSpPr>
          <p:cNvPr id="111" name="validation-product"/>
          <p:cNvSpPr>
            <a:spLocks noGrp="1"/>
          </p:cNvSpPr>
          <p:nvPr/>
        </p:nvSpPr>
        <p:spPr>
          <a:xfrm>
            <a:off x="8505825" y="5038725"/>
            <a:ext cx="28098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产物：经实测验证、可持续迭代的 Skill</a:t>
            </a:r>
          </a:p>
        </p:txBody>
      </p:sp>
      <p:sp>
        <p:nvSpPr>
          <p:cNvPr id="140" name="s13-title-rule"/>
          <p:cNvSpPr>
            <a:spLocks noGrp="1"/>
          </p:cNvSpPr>
          <p:nvPr/>
        </p:nvSpPr>
        <p:spPr>
          <a:xfrm>
            <a:off x="247650" y="714375"/>
            <a:ext cx="11734800" cy="19050"/>
          </a:xfrm>
          <a:prstGeom prst="rect">
            <a:avLst/>
          </a:prstGeom>
          <a:solidFill>
            <a:srgbClr val="5B7188"/>
          </a:solidFill>
          <a:ln w="0">
            <a:solidFill>
              <a:srgbClr val="294A6D"/>
            </a:solidFill>
            <a:prstDash val="solid"/>
          </a:ln>
          <a:effectLst/>
        </p:spPr>
      </p:sp>
      <p:sp>
        <p:nvSpPr>
          <p:cNvPr id="150" name="summary-band"/>
          <p:cNvSpPr>
            <a:spLocks noGrp="1"/>
          </p:cNvSpPr>
          <p:nvPr/>
        </p:nvSpPr>
        <p:spPr>
          <a:xfrm>
            <a:off x="609600" y="6000750"/>
            <a:ext cx="10972800" cy="609600"/>
          </a:xfrm>
          <a:prstGeom prst="rect">
            <a:avLst/>
          </a:prstGeom>
          <a:solidFill>
            <a:srgbClr val="F3F4F5"/>
          </a:solidFill>
          <a:ln w="0">
            <a:noFill/>
            <a:prstDash val="solid"/>
          </a:ln>
        </p:spPr>
      </p:sp>
      <p:sp>
        <p:nvSpPr>
          <p:cNvPr id="151" name="summary-accent"/>
          <p:cNvSpPr>
            <a:spLocks noGrp="1"/>
          </p:cNvSpPr>
          <p:nvPr/>
        </p:nvSpPr>
        <p:spPr>
          <a:xfrm>
            <a:off x="609600" y="6000750"/>
            <a:ext cx="38100" cy="60960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152" name="文本框 151"/>
          <p:cNvSpPr txBox="1"/>
          <p:nvPr/>
        </p:nvSpPr>
        <p:spPr>
          <a:xfrm>
            <a:off x="4041591" y="6134784"/>
            <a:ext cx="4108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每次修正都应回到真实任务重新验证。</a:t>
            </a:r>
          </a:p>
          <a:p>
            <a:endParaRPr lang="zh-CN" altLang="en-US" dirty="0"/>
          </a:p>
        </p:txBody>
      </p:sp>
      <p:sp>
        <p:nvSpPr>
          <p:cNvPr id="153" name="slide-1-title"/>
          <p:cNvSpPr>
            <a:spLocks noGrp="1"/>
          </p:cNvSpPr>
          <p:nvPr/>
        </p:nvSpPr>
        <p:spPr>
          <a:xfrm>
            <a:off x="342900" y="223460"/>
            <a:ext cx="635000" cy="4953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0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000" b="1" dirty="0" smtClean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1.5</a:t>
            </a:r>
            <a:endParaRPr sz="3000" b="1" dirty="0">
              <a:solidFill>
                <a:srgbClr val="243B53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4" name="slide-7-page-number"/>
          <p:cNvSpPr>
            <a:spLocks noGrp="1"/>
          </p:cNvSpPr>
          <p:nvPr/>
        </p:nvSpPr>
        <p:spPr>
          <a:xfrm>
            <a:off x="11366500" y="317500"/>
            <a:ext cx="330200" cy="279400"/>
          </a:xfrm>
          <a:prstGeom prst="roundRect">
            <a:avLst>
              <a:gd name="adj" fmla="val 14706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4A6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200" b="1" dirty="0">
                <a:solidFill>
                  <a:srgbClr val="66737F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/>
          <p:cNvSpPr>
            <a:spLocks noGrp="1"/>
          </p:cNvSpPr>
          <p:nvPr/>
        </p:nvSpPr>
        <p:spPr>
          <a:xfrm>
            <a:off x="1200150" y="171450"/>
            <a:ext cx="10572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9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 dirty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Skill</a:t>
            </a:r>
            <a:r>
              <a:rPr lang="en-US" sz="2700" b="1" dirty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700" b="1" dirty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开发流程</a:t>
            </a:r>
            <a:r>
              <a:rPr sz="2700" b="1" dirty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dirty="0" err="1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的完整演化</a:t>
            </a:r>
            <a:endParaRPr sz="2700" b="1" dirty="0">
              <a:solidFill>
                <a:srgbClr val="243B53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slide-subtitle"/>
          <p:cNvSpPr>
            <a:spLocks noGrp="1"/>
          </p:cNvSpPr>
          <p:nvPr/>
        </p:nvSpPr>
        <p:spPr>
          <a:xfrm>
            <a:off x="800100" y="714375"/>
            <a:ext cx="781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3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335" b="0" dirty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main-column-divider"/>
          <p:cNvSpPr>
            <a:spLocks noGrp="1"/>
          </p:cNvSpPr>
          <p:nvPr/>
        </p:nvSpPr>
        <p:spPr>
          <a:xfrm>
            <a:off x="8610600" y="1162050"/>
            <a:ext cx="0" cy="4933950"/>
          </a:xfrm>
          <a:prstGeom prst="line">
            <a:avLst/>
          </a:prstGeom>
          <a:noFill/>
          <a:ln w="9525">
            <a:solidFill>
              <a:srgbClr val="D8DEE3"/>
            </a:solidFill>
            <a:prstDash val="solid"/>
          </a:ln>
        </p:spPr>
      </p:sp>
      <p:sp>
        <p:nvSpPr>
          <p:cNvPr id="6" name="main-heading"/>
          <p:cNvSpPr>
            <a:spLocks noGrp="1"/>
          </p:cNvSpPr>
          <p:nvPr/>
        </p:nvSpPr>
        <p:spPr>
          <a:xfrm>
            <a:off x="609600" y="11430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6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 dirty="0" err="1" smtClean="0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</a:t>
            </a:r>
            <a:r>
              <a:rPr lang="en-US" altLang="zh-CN" sz="1650" b="1" dirty="0" err="1" smtClean="0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</a:t>
            </a:r>
            <a:r>
              <a:rPr sz="1650" b="1" dirty="0" err="1" smtClean="0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到稳定</a:t>
            </a:r>
            <a:r>
              <a:rPr sz="1650" b="1" dirty="0" smtClean="0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50" b="1" dirty="0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</a:t>
            </a:r>
          </a:p>
        </p:txBody>
      </p:sp>
      <p:sp>
        <p:nvSpPr>
          <p:cNvPr id="8" name="iteration-heading"/>
          <p:cNvSpPr>
            <a:spLocks noGrp="1"/>
          </p:cNvSpPr>
          <p:nvPr/>
        </p:nvSpPr>
        <p:spPr>
          <a:xfrm>
            <a:off x="8724900" y="11430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6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失败定位与迭代</a:t>
            </a:r>
          </a:p>
        </p:txBody>
      </p:sp>
      <p:sp>
        <p:nvSpPr>
          <p:cNvPr id="9" name="task-band"/>
          <p:cNvSpPr>
            <a:spLocks noGrp="1"/>
          </p:cNvSpPr>
          <p:nvPr/>
        </p:nvSpPr>
        <p:spPr>
          <a:xfrm>
            <a:off x="609600" y="1485900"/>
            <a:ext cx="78867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10" name="task-accent"/>
          <p:cNvSpPr>
            <a:spLocks noGrp="1"/>
          </p:cNvSpPr>
          <p:nvPr/>
        </p:nvSpPr>
        <p:spPr>
          <a:xfrm>
            <a:off x="609600" y="1485900"/>
            <a:ext cx="28575" cy="66675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11" name="task-number"/>
          <p:cNvSpPr>
            <a:spLocks noGrp="1"/>
          </p:cNvSpPr>
          <p:nvPr/>
        </p:nvSpPr>
        <p:spPr>
          <a:xfrm>
            <a:off x="762000" y="1562100"/>
            <a:ext cx="3238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12" name="task-title"/>
          <p:cNvSpPr>
            <a:spLocks noGrp="1"/>
          </p:cNvSpPr>
          <p:nvPr/>
        </p:nvSpPr>
        <p:spPr>
          <a:xfrm>
            <a:off x="1143000" y="1543050"/>
            <a:ext cx="1571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4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</a:t>
            </a:r>
          </a:p>
        </p:txBody>
      </p:sp>
      <p:sp>
        <p:nvSpPr>
          <p:cNvPr id="13" name="task-subtitle"/>
          <p:cNvSpPr>
            <a:spLocks noGrp="1"/>
          </p:cNvSpPr>
          <p:nvPr/>
        </p:nvSpPr>
        <p:spPr>
          <a:xfrm>
            <a:off x="762000" y="1809750"/>
            <a:ext cx="1952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明确任务起点和终点</a:t>
            </a:r>
          </a:p>
        </p:txBody>
      </p:sp>
      <p:sp>
        <p:nvSpPr>
          <p:cNvPr id="14" name="basic-workflow-band"/>
          <p:cNvSpPr>
            <a:spLocks noGrp="1"/>
          </p:cNvSpPr>
          <p:nvPr/>
        </p:nvSpPr>
        <p:spPr>
          <a:xfrm>
            <a:off x="609600" y="2209800"/>
            <a:ext cx="78867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15" name="basic-workflow-accent"/>
          <p:cNvSpPr>
            <a:spLocks noGrp="1"/>
          </p:cNvSpPr>
          <p:nvPr/>
        </p:nvSpPr>
        <p:spPr>
          <a:xfrm>
            <a:off x="609600" y="2209800"/>
            <a:ext cx="28575" cy="66675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16" name="basic-workflow-number"/>
          <p:cNvSpPr>
            <a:spLocks noGrp="1"/>
          </p:cNvSpPr>
          <p:nvPr/>
        </p:nvSpPr>
        <p:spPr>
          <a:xfrm>
            <a:off x="762000" y="2286000"/>
            <a:ext cx="3238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17" name="basic-workflow-title"/>
          <p:cNvSpPr>
            <a:spLocks noGrp="1"/>
          </p:cNvSpPr>
          <p:nvPr/>
        </p:nvSpPr>
        <p:spPr>
          <a:xfrm>
            <a:off x="1143000" y="2266950"/>
            <a:ext cx="1571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4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Basic Workflow</a:t>
            </a:r>
          </a:p>
        </p:txBody>
      </p:sp>
      <p:sp>
        <p:nvSpPr>
          <p:cNvPr id="18" name="basic-workflow-subtitle"/>
          <p:cNvSpPr>
            <a:spLocks noGrp="1"/>
          </p:cNvSpPr>
          <p:nvPr/>
        </p:nvSpPr>
        <p:spPr>
          <a:xfrm>
            <a:off x="762000" y="2533650"/>
            <a:ext cx="1952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把任务拆成明确 Stage</a:t>
            </a:r>
          </a:p>
        </p:txBody>
      </p:sp>
      <p:sp>
        <p:nvSpPr>
          <p:cNvPr id="19" name="executable-band"/>
          <p:cNvSpPr>
            <a:spLocks noGrp="1"/>
          </p:cNvSpPr>
          <p:nvPr/>
        </p:nvSpPr>
        <p:spPr>
          <a:xfrm>
            <a:off x="609600" y="2933700"/>
            <a:ext cx="7886700" cy="1276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20" name="executable-accent"/>
          <p:cNvSpPr>
            <a:spLocks noGrp="1"/>
          </p:cNvSpPr>
          <p:nvPr/>
        </p:nvSpPr>
        <p:spPr>
          <a:xfrm>
            <a:off x="609600" y="2933700"/>
            <a:ext cx="28575" cy="127635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21" name="executable-number"/>
          <p:cNvSpPr>
            <a:spLocks noGrp="1"/>
          </p:cNvSpPr>
          <p:nvPr/>
        </p:nvSpPr>
        <p:spPr>
          <a:xfrm>
            <a:off x="762000" y="3009900"/>
            <a:ext cx="3238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22" name="executable-title"/>
          <p:cNvSpPr>
            <a:spLocks noGrp="1"/>
          </p:cNvSpPr>
          <p:nvPr/>
        </p:nvSpPr>
        <p:spPr>
          <a:xfrm>
            <a:off x="1143000" y="2990850"/>
            <a:ext cx="1571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545"/>
          </a:bodyPr>
          <a:lstStyle/>
          <a:p>
            <a:pPr algn="l">
              <a:defRPr sz="14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425" b="1" dirty="0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</a:t>
            </a:r>
            <a:r>
              <a:rPr sz="1425" b="1" dirty="0" smtClean="0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25" b="1" dirty="0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Workflow</a:t>
            </a:r>
          </a:p>
        </p:txBody>
      </p:sp>
      <p:sp>
        <p:nvSpPr>
          <p:cNvPr id="23" name="executable-subtitle"/>
          <p:cNvSpPr>
            <a:spLocks noGrp="1"/>
          </p:cNvSpPr>
          <p:nvPr/>
        </p:nvSpPr>
        <p:spPr>
          <a:xfrm>
            <a:off x="762000" y="3257550"/>
            <a:ext cx="1952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 dirty="0" err="1" smtClean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加入</a:t>
            </a:r>
            <a:r>
              <a:rPr lang="zh-CN" altLang="en-US" sz="1015" b="0" dirty="0" smtClean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中间</a:t>
            </a:r>
            <a:r>
              <a:rPr sz="1015" b="0" dirty="0" err="1" smtClean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产物</a:t>
            </a:r>
            <a:r>
              <a:rPr sz="1015" b="0" dirty="0" err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、门禁与失败路径</a:t>
            </a:r>
            <a:endParaRPr sz="1015" b="0" dirty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packaging-band"/>
          <p:cNvSpPr>
            <a:spLocks noGrp="1"/>
          </p:cNvSpPr>
          <p:nvPr/>
        </p:nvSpPr>
        <p:spPr>
          <a:xfrm>
            <a:off x="609600" y="4267200"/>
            <a:ext cx="78867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25" name="packaging-accent"/>
          <p:cNvSpPr>
            <a:spLocks noGrp="1"/>
          </p:cNvSpPr>
          <p:nvPr/>
        </p:nvSpPr>
        <p:spPr>
          <a:xfrm>
            <a:off x="609600" y="4267200"/>
            <a:ext cx="28575" cy="125730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26" name="packaging-number"/>
          <p:cNvSpPr>
            <a:spLocks noGrp="1"/>
          </p:cNvSpPr>
          <p:nvPr/>
        </p:nvSpPr>
        <p:spPr>
          <a:xfrm>
            <a:off x="762000" y="4343400"/>
            <a:ext cx="3238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</a:p>
        </p:txBody>
      </p:sp>
      <p:sp>
        <p:nvSpPr>
          <p:cNvPr id="27" name="packaging-title"/>
          <p:cNvSpPr>
            <a:spLocks noGrp="1"/>
          </p:cNvSpPr>
          <p:nvPr/>
        </p:nvSpPr>
        <p:spPr>
          <a:xfrm>
            <a:off x="1143000" y="4324350"/>
            <a:ext cx="1571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4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dirty="0" smtClean="0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</a:t>
            </a:r>
            <a:r>
              <a:rPr lang="zh-CN" altLang="en-US" sz="1425" b="1" dirty="0" smtClean="0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封装</a:t>
            </a:r>
            <a:endParaRPr sz="1425" b="1" dirty="0">
              <a:solidFill>
                <a:srgbClr val="252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packaging-subtitle"/>
          <p:cNvSpPr>
            <a:spLocks noGrp="1"/>
          </p:cNvSpPr>
          <p:nvPr/>
        </p:nvSpPr>
        <p:spPr>
          <a:xfrm>
            <a:off x="762000" y="4591050"/>
            <a:ext cx="1952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 Workflow 封装成完整 Skill</a:t>
            </a:r>
          </a:p>
        </p:txBody>
      </p:sp>
      <p:sp>
        <p:nvSpPr>
          <p:cNvPr id="29" name="evaluation-band"/>
          <p:cNvSpPr>
            <a:spLocks noGrp="1"/>
          </p:cNvSpPr>
          <p:nvPr/>
        </p:nvSpPr>
        <p:spPr>
          <a:xfrm>
            <a:off x="609600" y="5581650"/>
            <a:ext cx="78867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30" name="evaluation-accent"/>
          <p:cNvSpPr>
            <a:spLocks noGrp="1"/>
          </p:cNvSpPr>
          <p:nvPr/>
        </p:nvSpPr>
        <p:spPr>
          <a:xfrm>
            <a:off x="609600" y="5581650"/>
            <a:ext cx="28575" cy="514350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31" name="evaluation-number"/>
          <p:cNvSpPr>
            <a:spLocks noGrp="1"/>
          </p:cNvSpPr>
          <p:nvPr/>
        </p:nvSpPr>
        <p:spPr>
          <a:xfrm>
            <a:off x="762000" y="5657850"/>
            <a:ext cx="3238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</a:p>
        </p:txBody>
      </p:sp>
      <p:sp>
        <p:nvSpPr>
          <p:cNvPr id="32" name="evaluation-title"/>
          <p:cNvSpPr>
            <a:spLocks noGrp="1"/>
          </p:cNvSpPr>
          <p:nvPr/>
        </p:nvSpPr>
        <p:spPr>
          <a:xfrm>
            <a:off x="1143000" y="5638800"/>
            <a:ext cx="1571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4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Evaluation</a:t>
            </a:r>
          </a:p>
        </p:txBody>
      </p:sp>
      <p:sp>
        <p:nvSpPr>
          <p:cNvPr id="33" name="evaluation-subtitle"/>
          <p:cNvSpPr>
            <a:spLocks noGrp="1"/>
          </p:cNvSpPr>
          <p:nvPr/>
        </p:nvSpPr>
        <p:spPr>
          <a:xfrm>
            <a:off x="762000" y="5905500"/>
            <a:ext cx="1952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真实任务验证</a:t>
            </a:r>
          </a:p>
        </p:txBody>
      </p:sp>
      <p:sp>
        <p:nvSpPr>
          <p:cNvPr id="34" name="task-input-output-line"/>
          <p:cNvSpPr>
            <a:spLocks noGrp="1"/>
          </p:cNvSpPr>
          <p:nvPr/>
        </p:nvSpPr>
        <p:spPr>
          <a:xfrm>
            <a:off x="3714750" y="1819275"/>
            <a:ext cx="2514600" cy="0"/>
          </a:xfrm>
          <a:prstGeom prst="line">
            <a:avLst/>
          </a:prstGeom>
          <a:noFill/>
          <a:ln w="12383">
            <a:solidFill>
              <a:srgbClr val="557A96"/>
            </a:solidFill>
            <a:prstDash val="solid"/>
          </a:ln>
        </p:spPr>
      </p:sp>
      <p:sp>
        <p:nvSpPr>
          <p:cNvPr id="35" name="task-input-output-arrow"/>
          <p:cNvSpPr>
            <a:spLocks noGrp="1"/>
          </p:cNvSpPr>
          <p:nvPr/>
        </p:nvSpPr>
        <p:spPr>
          <a:xfrm rot="5400000">
            <a:off x="6191250" y="1781175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36" name="task-input-box"/>
          <p:cNvSpPr>
            <a:spLocks noGrp="1"/>
          </p:cNvSpPr>
          <p:nvPr/>
        </p:nvSpPr>
        <p:spPr>
          <a:xfrm>
            <a:off x="3067050" y="1676400"/>
            <a:ext cx="647700" cy="285750"/>
          </a:xfrm>
          <a:prstGeom prst="roundRect">
            <a:avLst>
              <a:gd name="adj" fmla="val 1333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37" name="task-input-text"/>
          <p:cNvSpPr>
            <a:spLocks noGrp="1"/>
          </p:cNvSpPr>
          <p:nvPr/>
        </p:nvSpPr>
        <p:spPr>
          <a:xfrm>
            <a:off x="3095625" y="1695450"/>
            <a:ext cx="590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Input</a:t>
            </a:r>
          </a:p>
        </p:txBody>
      </p:sp>
      <p:sp>
        <p:nvSpPr>
          <p:cNvPr id="38" name="task-output-box"/>
          <p:cNvSpPr>
            <a:spLocks noGrp="1"/>
          </p:cNvSpPr>
          <p:nvPr/>
        </p:nvSpPr>
        <p:spPr>
          <a:xfrm>
            <a:off x="6267450" y="1676400"/>
            <a:ext cx="723900" cy="285750"/>
          </a:xfrm>
          <a:prstGeom prst="roundRect">
            <a:avLst>
              <a:gd name="adj" fmla="val 1333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39" name="task-output-text"/>
          <p:cNvSpPr>
            <a:spLocks noGrp="1"/>
          </p:cNvSpPr>
          <p:nvPr/>
        </p:nvSpPr>
        <p:spPr>
          <a:xfrm>
            <a:off x="6296025" y="1695450"/>
            <a:ext cx="66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</a:t>
            </a:r>
          </a:p>
        </p:txBody>
      </p:sp>
      <p:sp>
        <p:nvSpPr>
          <p:cNvPr id="41" name="basic-line-0"/>
          <p:cNvSpPr>
            <a:spLocks noGrp="1"/>
          </p:cNvSpPr>
          <p:nvPr/>
        </p:nvSpPr>
        <p:spPr>
          <a:xfrm>
            <a:off x="3505200" y="2552700"/>
            <a:ext cx="20955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42" name="basic-arrow-0"/>
          <p:cNvSpPr>
            <a:spLocks noGrp="1"/>
          </p:cNvSpPr>
          <p:nvPr/>
        </p:nvSpPr>
        <p:spPr>
          <a:xfrm rot="5400000">
            <a:off x="3667125" y="25146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43" name="basic-line-1"/>
          <p:cNvSpPr>
            <a:spLocks noGrp="1"/>
          </p:cNvSpPr>
          <p:nvPr/>
        </p:nvSpPr>
        <p:spPr>
          <a:xfrm>
            <a:off x="4381500" y="2552700"/>
            <a:ext cx="20955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44" name="basic-arrow-1"/>
          <p:cNvSpPr>
            <a:spLocks noGrp="1"/>
          </p:cNvSpPr>
          <p:nvPr/>
        </p:nvSpPr>
        <p:spPr>
          <a:xfrm rot="5400000">
            <a:off x="4543425" y="25146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45" name="basic-line-2"/>
          <p:cNvSpPr>
            <a:spLocks noGrp="1"/>
          </p:cNvSpPr>
          <p:nvPr/>
        </p:nvSpPr>
        <p:spPr>
          <a:xfrm>
            <a:off x="5257800" y="2552700"/>
            <a:ext cx="20955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46" name="basic-arrow-2"/>
          <p:cNvSpPr>
            <a:spLocks noGrp="1"/>
          </p:cNvSpPr>
          <p:nvPr/>
        </p:nvSpPr>
        <p:spPr>
          <a:xfrm rot="5400000">
            <a:off x="5419725" y="25146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47" name="basic-line-3"/>
          <p:cNvSpPr>
            <a:spLocks noGrp="1"/>
          </p:cNvSpPr>
          <p:nvPr/>
        </p:nvSpPr>
        <p:spPr>
          <a:xfrm>
            <a:off x="6134100" y="2552700"/>
            <a:ext cx="20955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48" name="basic-arrow-3"/>
          <p:cNvSpPr>
            <a:spLocks noGrp="1"/>
          </p:cNvSpPr>
          <p:nvPr/>
        </p:nvSpPr>
        <p:spPr>
          <a:xfrm rot="5400000">
            <a:off x="6296025" y="25146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49" name="basic-input-box"/>
          <p:cNvSpPr>
            <a:spLocks noGrp="1"/>
          </p:cNvSpPr>
          <p:nvPr/>
        </p:nvSpPr>
        <p:spPr>
          <a:xfrm>
            <a:off x="2952750" y="2409825"/>
            <a:ext cx="552450" cy="285750"/>
          </a:xfrm>
          <a:prstGeom prst="roundRect">
            <a:avLst>
              <a:gd name="adj" fmla="val 1333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50" name="basic-input-text"/>
          <p:cNvSpPr>
            <a:spLocks noGrp="1"/>
          </p:cNvSpPr>
          <p:nvPr/>
        </p:nvSpPr>
        <p:spPr>
          <a:xfrm>
            <a:off x="2981325" y="2428875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Input</a:t>
            </a:r>
          </a:p>
        </p:txBody>
      </p:sp>
      <p:sp>
        <p:nvSpPr>
          <p:cNvPr id="51" name="basic-stage-a-box"/>
          <p:cNvSpPr>
            <a:spLocks noGrp="1"/>
          </p:cNvSpPr>
          <p:nvPr/>
        </p:nvSpPr>
        <p:spPr>
          <a:xfrm>
            <a:off x="3714750" y="2409825"/>
            <a:ext cx="666750" cy="285750"/>
          </a:xfrm>
          <a:prstGeom prst="roundRect">
            <a:avLst>
              <a:gd name="adj" fmla="val 1333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52" name="basic-stage-a-text"/>
          <p:cNvSpPr>
            <a:spLocks noGrp="1"/>
          </p:cNvSpPr>
          <p:nvPr/>
        </p:nvSpPr>
        <p:spPr>
          <a:xfrm>
            <a:off x="3743325" y="2428875"/>
            <a:ext cx="60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A</a:t>
            </a:r>
          </a:p>
        </p:txBody>
      </p:sp>
      <p:sp>
        <p:nvSpPr>
          <p:cNvPr id="53" name="basic-stage-b-box"/>
          <p:cNvSpPr>
            <a:spLocks noGrp="1"/>
          </p:cNvSpPr>
          <p:nvPr/>
        </p:nvSpPr>
        <p:spPr>
          <a:xfrm>
            <a:off x="4591050" y="2409825"/>
            <a:ext cx="666750" cy="285750"/>
          </a:xfrm>
          <a:prstGeom prst="roundRect">
            <a:avLst>
              <a:gd name="adj" fmla="val 1333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54" name="basic-stage-b-text"/>
          <p:cNvSpPr>
            <a:spLocks noGrp="1"/>
          </p:cNvSpPr>
          <p:nvPr/>
        </p:nvSpPr>
        <p:spPr>
          <a:xfrm>
            <a:off x="4619625" y="2428875"/>
            <a:ext cx="60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B</a:t>
            </a:r>
          </a:p>
        </p:txBody>
      </p:sp>
      <p:sp>
        <p:nvSpPr>
          <p:cNvPr id="55" name="basic-stage-c-box"/>
          <p:cNvSpPr>
            <a:spLocks noGrp="1"/>
          </p:cNvSpPr>
          <p:nvPr/>
        </p:nvSpPr>
        <p:spPr>
          <a:xfrm>
            <a:off x="5467350" y="2409825"/>
            <a:ext cx="666750" cy="285750"/>
          </a:xfrm>
          <a:prstGeom prst="roundRect">
            <a:avLst>
              <a:gd name="adj" fmla="val 1333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56" name="basic-stage-c-text"/>
          <p:cNvSpPr>
            <a:spLocks noGrp="1"/>
          </p:cNvSpPr>
          <p:nvPr/>
        </p:nvSpPr>
        <p:spPr>
          <a:xfrm>
            <a:off x="5495925" y="2428875"/>
            <a:ext cx="60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C</a:t>
            </a:r>
          </a:p>
        </p:txBody>
      </p:sp>
      <p:sp>
        <p:nvSpPr>
          <p:cNvPr id="57" name="basic-output-box"/>
          <p:cNvSpPr>
            <a:spLocks noGrp="1"/>
          </p:cNvSpPr>
          <p:nvPr/>
        </p:nvSpPr>
        <p:spPr>
          <a:xfrm>
            <a:off x="6343650" y="2409825"/>
            <a:ext cx="647700" cy="285750"/>
          </a:xfrm>
          <a:prstGeom prst="roundRect">
            <a:avLst>
              <a:gd name="adj" fmla="val 1333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58" name="basic-output-text"/>
          <p:cNvSpPr>
            <a:spLocks noGrp="1"/>
          </p:cNvSpPr>
          <p:nvPr/>
        </p:nvSpPr>
        <p:spPr>
          <a:xfrm>
            <a:off x="6372225" y="2428875"/>
            <a:ext cx="590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</a:t>
            </a:r>
          </a:p>
        </p:txBody>
      </p:sp>
      <p:sp>
        <p:nvSpPr>
          <p:cNvPr id="60" name="exec-line-0"/>
          <p:cNvSpPr>
            <a:spLocks noGrp="1"/>
          </p:cNvSpPr>
          <p:nvPr/>
        </p:nvSpPr>
        <p:spPr>
          <a:xfrm>
            <a:off x="3371850" y="3333750"/>
            <a:ext cx="19050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61" name="exec-arrow-0"/>
          <p:cNvSpPr>
            <a:spLocks noGrp="1"/>
          </p:cNvSpPr>
          <p:nvPr/>
        </p:nvSpPr>
        <p:spPr>
          <a:xfrm rot="5400000">
            <a:off x="3514725" y="329565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62" name="exec-line-1"/>
          <p:cNvSpPr>
            <a:spLocks noGrp="1"/>
          </p:cNvSpPr>
          <p:nvPr/>
        </p:nvSpPr>
        <p:spPr>
          <a:xfrm>
            <a:off x="4210050" y="3333750"/>
            <a:ext cx="19050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63" name="exec-arrow-1"/>
          <p:cNvSpPr>
            <a:spLocks noGrp="1"/>
          </p:cNvSpPr>
          <p:nvPr/>
        </p:nvSpPr>
        <p:spPr>
          <a:xfrm rot="5400000">
            <a:off x="4352925" y="329565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64" name="exec-line-2"/>
          <p:cNvSpPr>
            <a:spLocks noGrp="1"/>
          </p:cNvSpPr>
          <p:nvPr/>
        </p:nvSpPr>
        <p:spPr>
          <a:xfrm>
            <a:off x="5143500" y="3333750"/>
            <a:ext cx="19050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65" name="exec-arrow-2"/>
          <p:cNvSpPr>
            <a:spLocks noGrp="1"/>
          </p:cNvSpPr>
          <p:nvPr/>
        </p:nvSpPr>
        <p:spPr>
          <a:xfrm rot="5400000">
            <a:off x="5286375" y="329565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66" name="exec-line-3"/>
          <p:cNvSpPr>
            <a:spLocks noGrp="1"/>
          </p:cNvSpPr>
          <p:nvPr/>
        </p:nvSpPr>
        <p:spPr>
          <a:xfrm>
            <a:off x="5886450" y="3333750"/>
            <a:ext cx="57150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67" name="exec-arrow-3"/>
          <p:cNvSpPr>
            <a:spLocks noGrp="1"/>
          </p:cNvSpPr>
          <p:nvPr/>
        </p:nvSpPr>
        <p:spPr>
          <a:xfrm rot="5400000">
            <a:off x="6410325" y="329565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68" name="exec-line-4"/>
          <p:cNvSpPr>
            <a:spLocks noGrp="1"/>
          </p:cNvSpPr>
          <p:nvPr/>
        </p:nvSpPr>
        <p:spPr>
          <a:xfrm>
            <a:off x="7105650" y="3333750"/>
            <a:ext cx="19050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69" name="exec-arrow-4"/>
          <p:cNvSpPr>
            <a:spLocks noGrp="1"/>
          </p:cNvSpPr>
          <p:nvPr/>
        </p:nvSpPr>
        <p:spPr>
          <a:xfrm rot="5400000">
            <a:off x="7248525" y="329565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70" name="gate-fail-line"/>
          <p:cNvSpPr>
            <a:spLocks noGrp="1"/>
          </p:cNvSpPr>
          <p:nvPr/>
        </p:nvSpPr>
        <p:spPr>
          <a:xfrm>
            <a:off x="5610225" y="3476625"/>
            <a:ext cx="0" cy="142875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71" name="gate-fail-arrow"/>
          <p:cNvSpPr>
            <a:spLocks noGrp="1"/>
          </p:cNvSpPr>
          <p:nvPr/>
        </p:nvSpPr>
        <p:spPr>
          <a:xfrm rot="10800000">
            <a:off x="5572125" y="35814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72" name="exec-input-box"/>
          <p:cNvSpPr>
            <a:spLocks noGrp="1"/>
          </p:cNvSpPr>
          <p:nvPr/>
        </p:nvSpPr>
        <p:spPr>
          <a:xfrm>
            <a:off x="2857500" y="3190875"/>
            <a:ext cx="514350" cy="285750"/>
          </a:xfrm>
          <a:prstGeom prst="roundRect">
            <a:avLst>
              <a:gd name="adj" fmla="val 1333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73" name="exec-input-text"/>
          <p:cNvSpPr>
            <a:spLocks noGrp="1"/>
          </p:cNvSpPr>
          <p:nvPr/>
        </p:nvSpPr>
        <p:spPr>
          <a:xfrm>
            <a:off x="2886075" y="3209925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Input</a:t>
            </a:r>
          </a:p>
        </p:txBody>
      </p:sp>
      <p:sp>
        <p:nvSpPr>
          <p:cNvPr id="74" name="exec-stage-a-box"/>
          <p:cNvSpPr>
            <a:spLocks noGrp="1"/>
          </p:cNvSpPr>
          <p:nvPr/>
        </p:nvSpPr>
        <p:spPr>
          <a:xfrm>
            <a:off x="3562350" y="3190875"/>
            <a:ext cx="647700" cy="285750"/>
          </a:xfrm>
          <a:prstGeom prst="roundRect">
            <a:avLst>
              <a:gd name="adj" fmla="val 1333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75" name="exec-stage-a-text"/>
          <p:cNvSpPr>
            <a:spLocks noGrp="1"/>
          </p:cNvSpPr>
          <p:nvPr/>
        </p:nvSpPr>
        <p:spPr>
          <a:xfrm>
            <a:off x="3590925" y="3209925"/>
            <a:ext cx="590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A</a:t>
            </a:r>
          </a:p>
        </p:txBody>
      </p:sp>
      <p:sp>
        <p:nvSpPr>
          <p:cNvPr id="76" name="exec-artifact-box"/>
          <p:cNvSpPr>
            <a:spLocks noGrp="1"/>
          </p:cNvSpPr>
          <p:nvPr/>
        </p:nvSpPr>
        <p:spPr>
          <a:xfrm>
            <a:off x="4400550" y="3190875"/>
            <a:ext cx="742950" cy="285750"/>
          </a:xfrm>
          <a:prstGeom prst="roundRect">
            <a:avLst>
              <a:gd name="adj" fmla="val 13333"/>
            </a:avLst>
          </a:prstGeom>
          <a:solidFill>
            <a:srgbClr val="F2F6F8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77" name="exec-artifact-text"/>
          <p:cNvSpPr>
            <a:spLocks noGrp="1"/>
          </p:cNvSpPr>
          <p:nvPr/>
        </p:nvSpPr>
        <p:spPr>
          <a:xfrm>
            <a:off x="4429125" y="3209925"/>
            <a:ext cx="685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3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3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Artifact A</a:t>
            </a:r>
          </a:p>
        </p:txBody>
      </p:sp>
      <p:sp>
        <p:nvSpPr>
          <p:cNvPr id="78" name="exec-gate-box"/>
          <p:cNvSpPr>
            <a:spLocks noGrp="1"/>
          </p:cNvSpPr>
          <p:nvPr/>
        </p:nvSpPr>
        <p:spPr>
          <a:xfrm>
            <a:off x="5334000" y="3190875"/>
            <a:ext cx="552450" cy="285750"/>
          </a:xfrm>
          <a:prstGeom prst="roundRect">
            <a:avLst>
              <a:gd name="adj" fmla="val 13333"/>
            </a:avLst>
          </a:prstGeom>
          <a:solidFill>
            <a:srgbClr val="F2F6F8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79" name="exec-gate-text"/>
          <p:cNvSpPr>
            <a:spLocks noGrp="1"/>
          </p:cNvSpPr>
          <p:nvPr/>
        </p:nvSpPr>
        <p:spPr>
          <a:xfrm>
            <a:off x="5362575" y="3209925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Gate</a:t>
            </a:r>
          </a:p>
        </p:txBody>
      </p:sp>
      <p:sp>
        <p:nvSpPr>
          <p:cNvPr id="80" name="exec-stage-b-box"/>
          <p:cNvSpPr>
            <a:spLocks noGrp="1"/>
          </p:cNvSpPr>
          <p:nvPr/>
        </p:nvSpPr>
        <p:spPr>
          <a:xfrm>
            <a:off x="6457950" y="3190875"/>
            <a:ext cx="647700" cy="285750"/>
          </a:xfrm>
          <a:prstGeom prst="roundRect">
            <a:avLst>
              <a:gd name="adj" fmla="val 1333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81" name="exec-stage-b-text"/>
          <p:cNvSpPr>
            <a:spLocks noGrp="1"/>
          </p:cNvSpPr>
          <p:nvPr/>
        </p:nvSpPr>
        <p:spPr>
          <a:xfrm>
            <a:off x="6486525" y="3209925"/>
            <a:ext cx="590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B</a:t>
            </a:r>
          </a:p>
        </p:txBody>
      </p:sp>
      <p:sp>
        <p:nvSpPr>
          <p:cNvPr id="82" name="exec-output-box"/>
          <p:cNvSpPr>
            <a:spLocks noGrp="1"/>
          </p:cNvSpPr>
          <p:nvPr/>
        </p:nvSpPr>
        <p:spPr>
          <a:xfrm>
            <a:off x="7296150" y="3190875"/>
            <a:ext cx="628650" cy="285750"/>
          </a:xfrm>
          <a:prstGeom prst="roundRect">
            <a:avLst>
              <a:gd name="adj" fmla="val 1333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83" name="exec-output-text"/>
          <p:cNvSpPr>
            <a:spLocks noGrp="1"/>
          </p:cNvSpPr>
          <p:nvPr/>
        </p:nvSpPr>
        <p:spPr>
          <a:xfrm>
            <a:off x="7324725" y="3209925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</a:t>
            </a:r>
          </a:p>
        </p:txBody>
      </p:sp>
      <p:sp>
        <p:nvSpPr>
          <p:cNvPr id="84" name="exec-fail-box"/>
          <p:cNvSpPr>
            <a:spLocks noGrp="1"/>
          </p:cNvSpPr>
          <p:nvPr/>
        </p:nvSpPr>
        <p:spPr>
          <a:xfrm>
            <a:off x="5238750" y="3629025"/>
            <a:ext cx="742950" cy="238125"/>
          </a:xfrm>
          <a:prstGeom prst="roundRect">
            <a:avLst>
              <a:gd name="adj" fmla="val 16000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85" name="exec-fail-text"/>
          <p:cNvSpPr>
            <a:spLocks noGrp="1"/>
          </p:cNvSpPr>
          <p:nvPr/>
        </p:nvSpPr>
        <p:spPr>
          <a:xfrm>
            <a:off x="5267325" y="3648075"/>
            <a:ext cx="6858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4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FAIL  ↺</a:t>
            </a:r>
          </a:p>
        </p:txBody>
      </p:sp>
      <p:sp>
        <p:nvSpPr>
          <p:cNvPr id="86" name="exec-pass"/>
          <p:cNvSpPr>
            <a:spLocks noGrp="1"/>
          </p:cNvSpPr>
          <p:nvPr/>
        </p:nvSpPr>
        <p:spPr>
          <a:xfrm>
            <a:off x="5962650" y="31242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88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PASS</a:t>
            </a:r>
          </a:p>
        </p:txBody>
      </p:sp>
      <p:sp>
        <p:nvSpPr>
          <p:cNvPr id="88" name="exec-failure-caption"/>
          <p:cNvSpPr>
            <a:spLocks noGrp="1"/>
          </p:cNvSpPr>
          <p:nvPr/>
        </p:nvSpPr>
        <p:spPr>
          <a:xfrm>
            <a:off x="6057900" y="3648075"/>
            <a:ext cx="11239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94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Retry / Fallback</a:t>
            </a:r>
          </a:p>
        </p:txBody>
      </p:sp>
      <p:sp>
        <p:nvSpPr>
          <p:cNvPr id="89" name="minimum-workflow-band"/>
          <p:cNvSpPr>
            <a:spLocks noGrp="1"/>
          </p:cNvSpPr>
          <p:nvPr/>
        </p:nvSpPr>
        <p:spPr>
          <a:xfrm>
            <a:off x="2857500" y="3914775"/>
            <a:ext cx="5067300" cy="219075"/>
          </a:xfrm>
          <a:prstGeom prst="rect">
            <a:avLst/>
          </a:prstGeom>
          <a:solidFill>
            <a:srgbClr val="F2F6F8"/>
          </a:solidFill>
          <a:ln w="0">
            <a:noFill/>
            <a:prstDash val="solid"/>
          </a:ln>
        </p:spPr>
      </p:sp>
      <p:sp>
        <p:nvSpPr>
          <p:cNvPr id="90" name="minimum-workflow"/>
          <p:cNvSpPr>
            <a:spLocks noGrp="1"/>
          </p:cNvSpPr>
          <p:nvPr/>
        </p:nvSpPr>
        <p:spPr>
          <a:xfrm>
            <a:off x="3000375" y="3924300"/>
            <a:ext cx="47815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0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005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</a:t>
            </a:r>
            <a:r>
              <a:rPr sz="1005" b="1" dirty="0" err="1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最小可运行</a:t>
            </a:r>
            <a:r>
              <a:rPr sz="1005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5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Workflow</a:t>
            </a:r>
          </a:p>
        </p:txBody>
      </p:sp>
      <p:sp>
        <p:nvSpPr>
          <p:cNvPr id="91" name="base-to-branches"/>
          <p:cNvSpPr>
            <a:spLocks noGrp="1"/>
          </p:cNvSpPr>
          <p:nvPr/>
        </p:nvSpPr>
        <p:spPr>
          <a:xfrm>
            <a:off x="5448300" y="4600575"/>
            <a:ext cx="0" cy="161925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92" name="package-top-branch"/>
          <p:cNvSpPr>
            <a:spLocks noGrp="1"/>
          </p:cNvSpPr>
          <p:nvPr/>
        </p:nvSpPr>
        <p:spPr>
          <a:xfrm>
            <a:off x="3657600" y="4762500"/>
            <a:ext cx="358140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93" name="package-down-0"/>
          <p:cNvSpPr>
            <a:spLocks noGrp="1"/>
          </p:cNvSpPr>
          <p:nvPr/>
        </p:nvSpPr>
        <p:spPr>
          <a:xfrm>
            <a:off x="3657600" y="4762500"/>
            <a:ext cx="0" cy="7620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94" name="package-arrow-0"/>
          <p:cNvSpPr>
            <a:spLocks noGrp="1"/>
          </p:cNvSpPr>
          <p:nvPr/>
        </p:nvSpPr>
        <p:spPr>
          <a:xfrm rot="10800000">
            <a:off x="3619500" y="48006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95" name="package-converge-0"/>
          <p:cNvSpPr>
            <a:spLocks noGrp="1"/>
          </p:cNvSpPr>
          <p:nvPr/>
        </p:nvSpPr>
        <p:spPr>
          <a:xfrm>
            <a:off x="3657600" y="5162550"/>
            <a:ext cx="0" cy="7620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96" name="package-down-1"/>
          <p:cNvSpPr>
            <a:spLocks noGrp="1"/>
          </p:cNvSpPr>
          <p:nvPr/>
        </p:nvSpPr>
        <p:spPr>
          <a:xfrm>
            <a:off x="5448300" y="4762500"/>
            <a:ext cx="0" cy="7620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97" name="package-arrow-1"/>
          <p:cNvSpPr>
            <a:spLocks noGrp="1"/>
          </p:cNvSpPr>
          <p:nvPr/>
        </p:nvSpPr>
        <p:spPr>
          <a:xfrm rot="10800000">
            <a:off x="5410200" y="48006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98" name="package-converge-1"/>
          <p:cNvSpPr>
            <a:spLocks noGrp="1"/>
          </p:cNvSpPr>
          <p:nvPr/>
        </p:nvSpPr>
        <p:spPr>
          <a:xfrm>
            <a:off x="5448300" y="5162550"/>
            <a:ext cx="0" cy="7620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99" name="package-down-2"/>
          <p:cNvSpPr>
            <a:spLocks noGrp="1"/>
          </p:cNvSpPr>
          <p:nvPr/>
        </p:nvSpPr>
        <p:spPr>
          <a:xfrm>
            <a:off x="7239000" y="4762500"/>
            <a:ext cx="0" cy="7620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00" name="package-arrow-2"/>
          <p:cNvSpPr>
            <a:spLocks noGrp="1"/>
          </p:cNvSpPr>
          <p:nvPr/>
        </p:nvSpPr>
        <p:spPr>
          <a:xfrm rot="10800000">
            <a:off x="7200900" y="48006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01" name="package-converge-2"/>
          <p:cNvSpPr>
            <a:spLocks noGrp="1"/>
          </p:cNvSpPr>
          <p:nvPr/>
        </p:nvSpPr>
        <p:spPr>
          <a:xfrm>
            <a:off x="7239000" y="5162550"/>
            <a:ext cx="0" cy="7620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02" name="package-bottom-branch"/>
          <p:cNvSpPr>
            <a:spLocks noGrp="1"/>
          </p:cNvSpPr>
          <p:nvPr/>
        </p:nvSpPr>
        <p:spPr>
          <a:xfrm>
            <a:off x="3657600" y="5238750"/>
            <a:ext cx="358140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03" name="package-to-complete"/>
          <p:cNvSpPr>
            <a:spLocks noGrp="1"/>
          </p:cNvSpPr>
          <p:nvPr/>
        </p:nvSpPr>
        <p:spPr>
          <a:xfrm>
            <a:off x="5448300" y="5238750"/>
            <a:ext cx="0" cy="5715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04" name="package-complete-arrow"/>
          <p:cNvSpPr>
            <a:spLocks noGrp="1"/>
          </p:cNvSpPr>
          <p:nvPr/>
        </p:nvSpPr>
        <p:spPr>
          <a:xfrm rot="10800000">
            <a:off x="5410200" y="52578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05" name="package-base-box"/>
          <p:cNvSpPr>
            <a:spLocks noGrp="1"/>
          </p:cNvSpPr>
          <p:nvPr/>
        </p:nvSpPr>
        <p:spPr>
          <a:xfrm>
            <a:off x="4781550" y="4362450"/>
            <a:ext cx="1333500" cy="247650"/>
          </a:xfrm>
          <a:prstGeom prst="roundRect">
            <a:avLst>
              <a:gd name="adj" fmla="val 15385"/>
            </a:avLst>
          </a:prstGeom>
          <a:solidFill>
            <a:srgbClr val="F2F6F8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06" name="package-base-text"/>
          <p:cNvSpPr>
            <a:spLocks noGrp="1"/>
          </p:cNvSpPr>
          <p:nvPr/>
        </p:nvSpPr>
        <p:spPr>
          <a:xfrm>
            <a:off x="4810125" y="4381500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1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 Workflow</a:t>
            </a:r>
          </a:p>
        </p:txBody>
      </p:sp>
      <p:sp>
        <p:nvSpPr>
          <p:cNvPr id="107" name="package-resources-box"/>
          <p:cNvSpPr>
            <a:spLocks noGrp="1"/>
          </p:cNvSpPr>
          <p:nvPr/>
        </p:nvSpPr>
        <p:spPr>
          <a:xfrm>
            <a:off x="3086100" y="4848225"/>
            <a:ext cx="1143000" cy="323850"/>
          </a:xfrm>
          <a:prstGeom prst="roundRect">
            <a:avLst>
              <a:gd name="adj" fmla="val 11765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08" name="package-resources-text"/>
          <p:cNvSpPr>
            <a:spLocks noGrp="1"/>
          </p:cNvSpPr>
          <p:nvPr/>
        </p:nvSpPr>
        <p:spPr>
          <a:xfrm>
            <a:off x="3114675" y="4867275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444"/>
          </a:bodyPr>
          <a:lstStyle/>
          <a:p>
            <a:pPr algn="ctr">
              <a:defRPr sz="87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70" dirty="0">
                <a:solidFill>
                  <a:srgbClr val="252B3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Resources</a:t>
            </a:r>
          </a:p>
          <a:p>
            <a:pPr algn="ctr">
              <a:defRPr sz="87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70" dirty="0">
                <a:solidFill>
                  <a:srgbClr val="252B3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Ref · Example · Script</a:t>
            </a:r>
          </a:p>
        </p:txBody>
      </p:sp>
      <p:sp>
        <p:nvSpPr>
          <p:cNvPr id="109" name="package-constraints-box"/>
          <p:cNvSpPr>
            <a:spLocks noGrp="1"/>
          </p:cNvSpPr>
          <p:nvPr/>
        </p:nvSpPr>
        <p:spPr>
          <a:xfrm>
            <a:off x="4819650" y="4848225"/>
            <a:ext cx="1257300" cy="323850"/>
          </a:xfrm>
          <a:prstGeom prst="roundRect">
            <a:avLst>
              <a:gd name="adj" fmla="val 11765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10" name="package-constraints-text"/>
          <p:cNvSpPr>
            <a:spLocks noGrp="1"/>
          </p:cNvSpPr>
          <p:nvPr/>
        </p:nvSpPr>
        <p:spPr>
          <a:xfrm>
            <a:off x="4848225" y="4867275"/>
            <a:ext cx="1200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8300"/>
          </a:bodyPr>
          <a:lstStyle/>
          <a:p>
            <a:pPr algn="ctr">
              <a:defRPr sz="8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" dirty="0">
                <a:solidFill>
                  <a:srgbClr val="252B3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Constraints</a:t>
            </a:r>
          </a:p>
          <a:p>
            <a:pPr algn="ctr">
              <a:defRPr sz="85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" dirty="0">
                <a:solidFill>
                  <a:srgbClr val="252B3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Boundary · </a:t>
            </a:r>
            <a:r>
              <a:rPr sz="850" dirty="0" smtClean="0">
                <a:solidFill>
                  <a:srgbClr val="252B3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Policy</a:t>
            </a:r>
            <a:endParaRPr sz="850" dirty="0">
              <a:solidFill>
                <a:srgbClr val="252B3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11" name="package-metadata-box"/>
          <p:cNvSpPr>
            <a:spLocks noGrp="1"/>
          </p:cNvSpPr>
          <p:nvPr/>
        </p:nvSpPr>
        <p:spPr>
          <a:xfrm>
            <a:off x="6477000" y="4848225"/>
            <a:ext cx="1524000" cy="323850"/>
          </a:xfrm>
          <a:prstGeom prst="roundRect">
            <a:avLst>
              <a:gd name="adj" fmla="val 11765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12" name="package-metadata-text"/>
          <p:cNvSpPr>
            <a:spLocks noGrp="1"/>
          </p:cNvSpPr>
          <p:nvPr/>
        </p:nvSpPr>
        <p:spPr>
          <a:xfrm>
            <a:off x="6553200" y="4857750"/>
            <a:ext cx="137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8622"/>
          </a:bodyPr>
          <a:lstStyle/>
          <a:p>
            <a:pPr algn="ctr">
              <a:defRPr sz="83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30" dirty="0">
                <a:solidFill>
                  <a:srgbClr val="252B3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Metadata</a:t>
            </a:r>
          </a:p>
          <a:p>
            <a:pPr algn="ctr">
              <a:defRPr sz="83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30" dirty="0">
                <a:solidFill>
                  <a:srgbClr val="252B3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name · description · trigger</a:t>
            </a:r>
          </a:p>
        </p:txBody>
      </p:sp>
      <p:sp>
        <p:nvSpPr>
          <p:cNvPr id="113" name="package-complete-box"/>
          <p:cNvSpPr>
            <a:spLocks noGrp="1"/>
          </p:cNvSpPr>
          <p:nvPr/>
        </p:nvSpPr>
        <p:spPr>
          <a:xfrm>
            <a:off x="4686300" y="5295900"/>
            <a:ext cx="1524000" cy="238125"/>
          </a:xfrm>
          <a:prstGeom prst="roundRect">
            <a:avLst>
              <a:gd name="adj" fmla="val 16000"/>
            </a:avLst>
          </a:prstGeom>
          <a:solidFill>
            <a:srgbClr val="F2F6F8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14" name="package-complete-text"/>
          <p:cNvSpPr>
            <a:spLocks noGrp="1"/>
          </p:cNvSpPr>
          <p:nvPr/>
        </p:nvSpPr>
        <p:spPr>
          <a:xfrm>
            <a:off x="4714875" y="5314950"/>
            <a:ext cx="14668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9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Complete Skill</a:t>
            </a:r>
          </a:p>
        </p:txBody>
      </p:sp>
      <p:sp>
        <p:nvSpPr>
          <p:cNvPr id="115" name="complete-evaluation-line"/>
          <p:cNvSpPr>
            <a:spLocks noGrp="1"/>
          </p:cNvSpPr>
          <p:nvPr/>
        </p:nvSpPr>
        <p:spPr>
          <a:xfrm>
            <a:off x="4000500" y="5838825"/>
            <a:ext cx="523875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16" name="complete-evaluation-arrow"/>
          <p:cNvSpPr>
            <a:spLocks noGrp="1"/>
          </p:cNvSpPr>
          <p:nvPr/>
        </p:nvSpPr>
        <p:spPr>
          <a:xfrm rot="5400000">
            <a:off x="4486275" y="5800725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17" name="evaluation-stable-line"/>
          <p:cNvSpPr>
            <a:spLocks noGrp="1"/>
          </p:cNvSpPr>
          <p:nvPr/>
        </p:nvSpPr>
        <p:spPr>
          <a:xfrm>
            <a:off x="5572125" y="5838825"/>
            <a:ext cx="1000125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18" name="evaluation-stable-arrow"/>
          <p:cNvSpPr>
            <a:spLocks noGrp="1"/>
          </p:cNvSpPr>
          <p:nvPr/>
        </p:nvSpPr>
        <p:spPr>
          <a:xfrm rot="5400000">
            <a:off x="6534150" y="5800725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19" name="evaluation-fail-line"/>
          <p:cNvSpPr>
            <a:spLocks noGrp="1"/>
          </p:cNvSpPr>
          <p:nvPr/>
        </p:nvSpPr>
        <p:spPr>
          <a:xfrm>
            <a:off x="5048250" y="5972175"/>
            <a:ext cx="0" cy="76200"/>
          </a:xfrm>
          <a:prstGeom prst="line">
            <a:avLst/>
          </a:prstGeom>
          <a:noFill/>
          <a:ln w="10478">
            <a:solidFill>
              <a:srgbClr val="557A96"/>
            </a:solidFill>
            <a:prstDash val="solid"/>
          </a:ln>
        </p:spPr>
      </p:sp>
      <p:sp>
        <p:nvSpPr>
          <p:cNvPr id="120" name="evaluation-complete-box"/>
          <p:cNvSpPr>
            <a:spLocks noGrp="1"/>
          </p:cNvSpPr>
          <p:nvPr/>
        </p:nvSpPr>
        <p:spPr>
          <a:xfrm>
            <a:off x="2857500" y="5705475"/>
            <a:ext cx="1143000" cy="266700"/>
          </a:xfrm>
          <a:prstGeom prst="roundRect">
            <a:avLst>
              <a:gd name="adj" fmla="val 14286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21" name="evaluation-complete-text"/>
          <p:cNvSpPr>
            <a:spLocks noGrp="1"/>
          </p:cNvSpPr>
          <p:nvPr/>
        </p:nvSpPr>
        <p:spPr>
          <a:xfrm>
            <a:off x="2886075" y="5724525"/>
            <a:ext cx="1085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6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6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Complete Skill</a:t>
            </a:r>
          </a:p>
        </p:txBody>
      </p:sp>
      <p:sp>
        <p:nvSpPr>
          <p:cNvPr id="122" name="evaluation-node-box"/>
          <p:cNvSpPr>
            <a:spLocks noGrp="1"/>
          </p:cNvSpPr>
          <p:nvPr/>
        </p:nvSpPr>
        <p:spPr>
          <a:xfrm>
            <a:off x="4524375" y="5705475"/>
            <a:ext cx="1047750" cy="266700"/>
          </a:xfrm>
          <a:prstGeom prst="roundRect">
            <a:avLst>
              <a:gd name="adj" fmla="val 14286"/>
            </a:avLst>
          </a:prstGeom>
          <a:solidFill>
            <a:srgbClr val="F2F6F8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23" name="evaluation-node-text"/>
          <p:cNvSpPr>
            <a:spLocks noGrp="1"/>
          </p:cNvSpPr>
          <p:nvPr/>
        </p:nvSpPr>
        <p:spPr>
          <a:xfrm>
            <a:off x="4552950" y="5724525"/>
            <a:ext cx="990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Evaluation</a:t>
            </a:r>
          </a:p>
        </p:txBody>
      </p:sp>
      <p:sp>
        <p:nvSpPr>
          <p:cNvPr id="124" name="stable-skill-box"/>
          <p:cNvSpPr>
            <a:spLocks noGrp="1"/>
          </p:cNvSpPr>
          <p:nvPr/>
        </p:nvSpPr>
        <p:spPr>
          <a:xfrm>
            <a:off x="6572250" y="5667375"/>
            <a:ext cx="1714500" cy="342900"/>
          </a:xfrm>
          <a:prstGeom prst="roundRect">
            <a:avLst>
              <a:gd name="adj" fmla="val 11111"/>
            </a:avLst>
          </a:prstGeom>
          <a:solidFill>
            <a:srgbClr val="F2F6F8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25" name="stable-skill-text"/>
          <p:cNvSpPr>
            <a:spLocks noGrp="1"/>
          </p:cNvSpPr>
          <p:nvPr/>
        </p:nvSpPr>
        <p:spPr>
          <a:xfrm>
            <a:off x="6600825" y="5686425"/>
            <a:ext cx="1657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4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Stable Skill</a:t>
            </a:r>
          </a:p>
          <a:p>
            <a:pPr algn="ctr">
              <a:defRPr sz="94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 · 可调用 · 可复用</a:t>
            </a:r>
          </a:p>
        </p:txBody>
      </p:sp>
      <p:sp>
        <p:nvSpPr>
          <p:cNvPr id="126" name="evaluation-pass"/>
          <p:cNvSpPr>
            <a:spLocks noGrp="1"/>
          </p:cNvSpPr>
          <p:nvPr/>
        </p:nvSpPr>
        <p:spPr>
          <a:xfrm>
            <a:off x="5772150" y="5657850"/>
            <a:ext cx="5334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88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PASS</a:t>
            </a:r>
          </a:p>
        </p:txBody>
      </p:sp>
      <p:sp>
        <p:nvSpPr>
          <p:cNvPr id="127" name="evaluation-fail"/>
          <p:cNvSpPr>
            <a:spLocks noGrp="1"/>
          </p:cNvSpPr>
          <p:nvPr/>
        </p:nvSpPr>
        <p:spPr>
          <a:xfrm>
            <a:off x="5429250" y="5972175"/>
            <a:ext cx="1333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810" b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10" b="1" dirty="0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FAIL → </a:t>
            </a:r>
            <a:r>
              <a:rPr sz="810" b="1" dirty="0" err="1">
                <a:solidFill>
                  <a:srgbClr val="6872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右侧定位与修正</a:t>
            </a:r>
            <a:endParaRPr sz="810" b="1" dirty="0">
              <a:solidFill>
                <a:srgbClr val="6872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8" name="iteration-frame"/>
          <p:cNvSpPr>
            <a:spLocks noGrp="1"/>
          </p:cNvSpPr>
          <p:nvPr/>
        </p:nvSpPr>
        <p:spPr>
          <a:xfrm>
            <a:off x="8715374" y="1485900"/>
            <a:ext cx="2857500" cy="461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  <a:prstDash val="solid"/>
          </a:ln>
        </p:spPr>
      </p:sp>
      <p:sp>
        <p:nvSpPr>
          <p:cNvPr id="129" name="iteration-accent"/>
          <p:cNvSpPr>
            <a:spLocks noGrp="1"/>
          </p:cNvSpPr>
          <p:nvPr/>
        </p:nvSpPr>
        <p:spPr>
          <a:xfrm>
            <a:off x="8724900" y="1485900"/>
            <a:ext cx="2857500" cy="28575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133" name="test-fail-down"/>
          <p:cNvSpPr>
            <a:spLocks noGrp="1"/>
          </p:cNvSpPr>
          <p:nvPr/>
        </p:nvSpPr>
        <p:spPr>
          <a:xfrm>
            <a:off x="10153650" y="2581275"/>
            <a:ext cx="0" cy="219075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34" name="test-fail-arrow"/>
          <p:cNvSpPr>
            <a:spLocks noGrp="1"/>
          </p:cNvSpPr>
          <p:nvPr/>
        </p:nvSpPr>
        <p:spPr>
          <a:xfrm rot="10800000">
            <a:off x="10115550" y="276225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35" name="locate-branch-down"/>
          <p:cNvSpPr>
            <a:spLocks noGrp="1"/>
          </p:cNvSpPr>
          <p:nvPr/>
        </p:nvSpPr>
        <p:spPr>
          <a:xfrm>
            <a:off x="10153650" y="3124200"/>
            <a:ext cx="0" cy="104775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36" name="diagnosis-branch"/>
          <p:cNvSpPr>
            <a:spLocks noGrp="1"/>
          </p:cNvSpPr>
          <p:nvPr/>
        </p:nvSpPr>
        <p:spPr>
          <a:xfrm>
            <a:off x="9239250" y="3228975"/>
            <a:ext cx="182880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37" name="diagnosis-drop-0"/>
          <p:cNvSpPr>
            <a:spLocks noGrp="1"/>
          </p:cNvSpPr>
          <p:nvPr/>
        </p:nvSpPr>
        <p:spPr>
          <a:xfrm>
            <a:off x="9239250" y="3228975"/>
            <a:ext cx="0" cy="85725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38" name="diagnosis-arrow-0"/>
          <p:cNvSpPr>
            <a:spLocks noGrp="1"/>
          </p:cNvSpPr>
          <p:nvPr/>
        </p:nvSpPr>
        <p:spPr>
          <a:xfrm rot="10800000">
            <a:off x="9201150" y="32766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39" name="diagnosis-converge-0"/>
          <p:cNvSpPr>
            <a:spLocks noGrp="1"/>
          </p:cNvSpPr>
          <p:nvPr/>
        </p:nvSpPr>
        <p:spPr>
          <a:xfrm>
            <a:off x="9258299" y="3676650"/>
            <a:ext cx="0" cy="15240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40" name="diagnosis-drop-1"/>
          <p:cNvSpPr>
            <a:spLocks noGrp="1"/>
          </p:cNvSpPr>
          <p:nvPr/>
        </p:nvSpPr>
        <p:spPr>
          <a:xfrm>
            <a:off x="10153650" y="3228975"/>
            <a:ext cx="0" cy="85725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41" name="diagnosis-arrow-1"/>
          <p:cNvSpPr>
            <a:spLocks noGrp="1"/>
          </p:cNvSpPr>
          <p:nvPr/>
        </p:nvSpPr>
        <p:spPr>
          <a:xfrm rot="10800000">
            <a:off x="10115550" y="32766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42" name="diagnosis-converge-1"/>
          <p:cNvSpPr>
            <a:spLocks noGrp="1"/>
          </p:cNvSpPr>
          <p:nvPr/>
        </p:nvSpPr>
        <p:spPr>
          <a:xfrm>
            <a:off x="10172699" y="3676650"/>
            <a:ext cx="0" cy="15240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43" name="diagnosis-drop-2"/>
          <p:cNvSpPr>
            <a:spLocks noGrp="1"/>
          </p:cNvSpPr>
          <p:nvPr/>
        </p:nvSpPr>
        <p:spPr>
          <a:xfrm>
            <a:off x="11068050" y="3228975"/>
            <a:ext cx="0" cy="85725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44" name="diagnosis-arrow-2"/>
          <p:cNvSpPr>
            <a:spLocks noGrp="1"/>
          </p:cNvSpPr>
          <p:nvPr/>
        </p:nvSpPr>
        <p:spPr>
          <a:xfrm rot="10800000">
            <a:off x="11029950" y="327660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45" name="diagnosis-converge-2"/>
          <p:cNvSpPr>
            <a:spLocks noGrp="1"/>
          </p:cNvSpPr>
          <p:nvPr/>
        </p:nvSpPr>
        <p:spPr>
          <a:xfrm>
            <a:off x="11087099" y="3676650"/>
            <a:ext cx="0" cy="15240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46" name="diagnosis-converge-bar"/>
          <p:cNvSpPr>
            <a:spLocks noGrp="1"/>
          </p:cNvSpPr>
          <p:nvPr/>
        </p:nvSpPr>
        <p:spPr>
          <a:xfrm>
            <a:off x="9258299" y="3819525"/>
            <a:ext cx="1828800" cy="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47" name="diagnosis-to-modify"/>
          <p:cNvSpPr>
            <a:spLocks noGrp="1"/>
          </p:cNvSpPr>
          <p:nvPr/>
        </p:nvSpPr>
        <p:spPr>
          <a:xfrm>
            <a:off x="10172699" y="3829050"/>
            <a:ext cx="0" cy="15240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48" name="diagnosis-modify-arrow"/>
          <p:cNvSpPr>
            <a:spLocks noGrp="1"/>
          </p:cNvSpPr>
          <p:nvPr/>
        </p:nvSpPr>
        <p:spPr>
          <a:xfrm rot="10800000">
            <a:off x="10134599" y="394335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49" name="modify-retest-line"/>
          <p:cNvSpPr>
            <a:spLocks noGrp="1"/>
          </p:cNvSpPr>
          <p:nvPr/>
        </p:nvSpPr>
        <p:spPr>
          <a:xfrm>
            <a:off x="10172699" y="4267200"/>
            <a:ext cx="0" cy="171450"/>
          </a:xfrm>
          <a:prstGeom prst="line">
            <a:avLst/>
          </a:prstGeom>
          <a:noFill/>
          <a:ln w="11430">
            <a:solidFill>
              <a:srgbClr val="557A96"/>
            </a:solidFill>
            <a:prstDash val="solid"/>
          </a:ln>
        </p:spPr>
      </p:sp>
      <p:sp>
        <p:nvSpPr>
          <p:cNvPr id="150" name="modify-retest-arrow"/>
          <p:cNvSpPr>
            <a:spLocks noGrp="1"/>
          </p:cNvSpPr>
          <p:nvPr/>
        </p:nvSpPr>
        <p:spPr>
          <a:xfrm rot="10800000">
            <a:off x="10134599" y="4400550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51" name="retest-loop-right"/>
          <p:cNvSpPr>
            <a:spLocks noGrp="1"/>
          </p:cNvSpPr>
          <p:nvPr/>
        </p:nvSpPr>
        <p:spPr>
          <a:xfrm>
            <a:off x="10829925" y="4610100"/>
            <a:ext cx="581025" cy="0"/>
          </a:xfrm>
          <a:prstGeom prst="line">
            <a:avLst/>
          </a:prstGeom>
          <a:noFill/>
          <a:ln w="10478">
            <a:solidFill>
              <a:srgbClr val="7F9DB2"/>
            </a:solidFill>
            <a:prstDash val="solid"/>
          </a:ln>
        </p:spPr>
      </p:sp>
      <p:sp>
        <p:nvSpPr>
          <p:cNvPr id="152" name="retest-loop-up"/>
          <p:cNvSpPr>
            <a:spLocks noGrp="1"/>
          </p:cNvSpPr>
          <p:nvPr/>
        </p:nvSpPr>
        <p:spPr>
          <a:xfrm>
            <a:off x="11410950" y="2428876"/>
            <a:ext cx="0" cy="2171700"/>
          </a:xfrm>
          <a:prstGeom prst="line">
            <a:avLst/>
          </a:prstGeom>
          <a:noFill/>
          <a:ln w="10478">
            <a:solidFill>
              <a:srgbClr val="7F9DB2"/>
            </a:solidFill>
            <a:prstDash val="solid"/>
          </a:ln>
        </p:spPr>
      </p:sp>
      <p:sp>
        <p:nvSpPr>
          <p:cNvPr id="153" name="retest-loop-left"/>
          <p:cNvSpPr>
            <a:spLocks noGrp="1"/>
          </p:cNvSpPr>
          <p:nvPr/>
        </p:nvSpPr>
        <p:spPr>
          <a:xfrm>
            <a:off x="10782300" y="2428875"/>
            <a:ext cx="628650" cy="0"/>
          </a:xfrm>
          <a:prstGeom prst="line">
            <a:avLst/>
          </a:prstGeom>
          <a:noFill/>
          <a:ln w="10478">
            <a:solidFill>
              <a:srgbClr val="7F9DB2"/>
            </a:solidFill>
            <a:prstDash val="solid"/>
          </a:ln>
        </p:spPr>
      </p:sp>
      <p:sp>
        <p:nvSpPr>
          <p:cNvPr id="154" name="retest-loop-arrow"/>
          <p:cNvSpPr>
            <a:spLocks noGrp="1"/>
          </p:cNvSpPr>
          <p:nvPr/>
        </p:nvSpPr>
        <p:spPr>
          <a:xfrm rot="16200000">
            <a:off x="10744200" y="2390775"/>
            <a:ext cx="76200" cy="76200"/>
          </a:xfrm>
          <a:prstGeom prst="triangle">
            <a:avLst/>
          </a:prstGeom>
          <a:solidFill>
            <a:srgbClr val="557A96"/>
          </a:solidFill>
          <a:ln w="0">
            <a:solidFill>
              <a:srgbClr val="557A96"/>
            </a:solidFill>
            <a:prstDash val="solid"/>
          </a:ln>
        </p:spPr>
      </p:sp>
      <p:sp>
        <p:nvSpPr>
          <p:cNvPr id="155" name="test-node-box"/>
          <p:cNvSpPr>
            <a:spLocks noGrp="1"/>
          </p:cNvSpPr>
          <p:nvPr/>
        </p:nvSpPr>
        <p:spPr>
          <a:xfrm>
            <a:off x="9525000" y="2276475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2F6F8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56" name="test-node-text"/>
          <p:cNvSpPr>
            <a:spLocks noGrp="1"/>
          </p:cNvSpPr>
          <p:nvPr/>
        </p:nvSpPr>
        <p:spPr>
          <a:xfrm>
            <a:off x="9553575" y="2295525"/>
            <a:ext cx="120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Test</a:t>
            </a:r>
          </a:p>
        </p:txBody>
      </p:sp>
      <p:sp>
        <p:nvSpPr>
          <p:cNvPr id="157" name="fail-label"/>
          <p:cNvSpPr>
            <a:spLocks noGrp="1"/>
          </p:cNvSpPr>
          <p:nvPr/>
        </p:nvSpPr>
        <p:spPr>
          <a:xfrm>
            <a:off x="10106025" y="26289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4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 dirty="0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FAIL</a:t>
            </a:r>
          </a:p>
        </p:txBody>
      </p:sp>
      <p:sp>
        <p:nvSpPr>
          <p:cNvPr id="158" name="locate-node-box"/>
          <p:cNvSpPr>
            <a:spLocks noGrp="1"/>
          </p:cNvSpPr>
          <p:nvPr/>
        </p:nvSpPr>
        <p:spPr>
          <a:xfrm>
            <a:off x="9477375" y="2838450"/>
            <a:ext cx="1352550" cy="285750"/>
          </a:xfrm>
          <a:prstGeom prst="roundRect">
            <a:avLst>
              <a:gd name="adj" fmla="val 1333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59" name="locate-node-text"/>
          <p:cNvSpPr>
            <a:spLocks noGrp="1"/>
          </p:cNvSpPr>
          <p:nvPr/>
        </p:nvSpPr>
        <p:spPr>
          <a:xfrm>
            <a:off x="9505950" y="2857500"/>
            <a:ext cx="1295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定位原因</a:t>
            </a:r>
          </a:p>
        </p:txBody>
      </p:sp>
      <p:sp>
        <p:nvSpPr>
          <p:cNvPr id="160" name="trigger-node-box"/>
          <p:cNvSpPr>
            <a:spLocks noGrp="1"/>
          </p:cNvSpPr>
          <p:nvPr/>
        </p:nvSpPr>
        <p:spPr>
          <a:xfrm>
            <a:off x="8858250" y="3333750"/>
            <a:ext cx="762000" cy="285750"/>
          </a:xfrm>
          <a:prstGeom prst="roundRect">
            <a:avLst>
              <a:gd name="adj" fmla="val 1333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61" name="trigger-node-text"/>
          <p:cNvSpPr>
            <a:spLocks noGrp="1"/>
          </p:cNvSpPr>
          <p:nvPr/>
        </p:nvSpPr>
        <p:spPr>
          <a:xfrm>
            <a:off x="8886825" y="3352800"/>
            <a:ext cx="704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Trigger</a:t>
            </a:r>
          </a:p>
        </p:txBody>
      </p:sp>
      <p:sp>
        <p:nvSpPr>
          <p:cNvPr id="162" name="workflow-node-box"/>
          <p:cNvSpPr>
            <a:spLocks noGrp="1"/>
          </p:cNvSpPr>
          <p:nvPr/>
        </p:nvSpPr>
        <p:spPr>
          <a:xfrm>
            <a:off x="9725025" y="3333750"/>
            <a:ext cx="857250" cy="285750"/>
          </a:xfrm>
          <a:prstGeom prst="roundRect">
            <a:avLst>
              <a:gd name="adj" fmla="val 1333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63" name="workflow-node-text"/>
          <p:cNvSpPr>
            <a:spLocks noGrp="1"/>
          </p:cNvSpPr>
          <p:nvPr/>
        </p:nvSpPr>
        <p:spPr>
          <a:xfrm>
            <a:off x="9753600" y="3352800"/>
            <a:ext cx="80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Workflow</a:t>
            </a:r>
          </a:p>
        </p:txBody>
      </p:sp>
      <p:sp>
        <p:nvSpPr>
          <p:cNvPr id="164" name="resource-node-box"/>
          <p:cNvSpPr>
            <a:spLocks noGrp="1"/>
          </p:cNvSpPr>
          <p:nvPr/>
        </p:nvSpPr>
        <p:spPr>
          <a:xfrm>
            <a:off x="10687050" y="3333750"/>
            <a:ext cx="762000" cy="285750"/>
          </a:xfrm>
          <a:prstGeom prst="roundRect">
            <a:avLst>
              <a:gd name="adj" fmla="val 13333"/>
            </a:avLst>
          </a:prstGeom>
          <a:solidFill>
            <a:srgbClr val="F7F9FA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65" name="resource-node-text"/>
          <p:cNvSpPr>
            <a:spLocks noGrp="1"/>
          </p:cNvSpPr>
          <p:nvPr/>
        </p:nvSpPr>
        <p:spPr>
          <a:xfrm>
            <a:off x="10715625" y="3352800"/>
            <a:ext cx="704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>
                <a:solidFill>
                  <a:srgbClr val="252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Resource</a:t>
            </a:r>
          </a:p>
        </p:txBody>
      </p:sp>
      <p:sp>
        <p:nvSpPr>
          <p:cNvPr id="169" name="modify-node-box"/>
          <p:cNvSpPr>
            <a:spLocks noGrp="1"/>
          </p:cNvSpPr>
          <p:nvPr/>
        </p:nvSpPr>
        <p:spPr>
          <a:xfrm>
            <a:off x="9496424" y="3990975"/>
            <a:ext cx="1352550" cy="285750"/>
          </a:xfrm>
          <a:prstGeom prst="roundRect">
            <a:avLst>
              <a:gd name="adj" fmla="val 13333"/>
            </a:avLst>
          </a:prstGeom>
          <a:solidFill>
            <a:srgbClr val="F2F6F8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70" name="modify-node-text"/>
          <p:cNvSpPr>
            <a:spLocks noGrp="1"/>
          </p:cNvSpPr>
          <p:nvPr/>
        </p:nvSpPr>
        <p:spPr>
          <a:xfrm>
            <a:off x="9524999" y="4010025"/>
            <a:ext cx="1295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65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修改 Skill</a:t>
            </a:r>
          </a:p>
        </p:txBody>
      </p:sp>
      <p:sp>
        <p:nvSpPr>
          <p:cNvPr id="171" name="retest-node-box"/>
          <p:cNvSpPr>
            <a:spLocks noGrp="1"/>
          </p:cNvSpPr>
          <p:nvPr/>
        </p:nvSpPr>
        <p:spPr>
          <a:xfrm>
            <a:off x="9496424" y="4448175"/>
            <a:ext cx="1352550" cy="304800"/>
          </a:xfrm>
          <a:prstGeom prst="roundRect">
            <a:avLst>
              <a:gd name="adj" fmla="val 12500"/>
            </a:avLst>
          </a:prstGeom>
          <a:solidFill>
            <a:srgbClr val="F2F6F8"/>
          </a:solidFill>
          <a:ln w="9525">
            <a:solidFill>
              <a:srgbClr val="7F9DB2"/>
            </a:solidFill>
            <a:prstDash val="solid"/>
          </a:ln>
        </p:spPr>
      </p:sp>
      <p:sp>
        <p:nvSpPr>
          <p:cNvPr id="172" name="retest-node-text"/>
          <p:cNvSpPr>
            <a:spLocks noGrp="1"/>
          </p:cNvSpPr>
          <p:nvPr/>
        </p:nvSpPr>
        <p:spPr>
          <a:xfrm>
            <a:off x="9524999" y="4467225"/>
            <a:ext cx="129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09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557A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Re-test</a:t>
            </a:r>
          </a:p>
        </p:txBody>
      </p:sp>
      <p:sp>
        <p:nvSpPr>
          <p:cNvPr id="173" name="iteration-principle-band"/>
          <p:cNvSpPr>
            <a:spLocks noGrp="1"/>
          </p:cNvSpPr>
          <p:nvPr/>
        </p:nvSpPr>
        <p:spPr>
          <a:xfrm>
            <a:off x="8877300" y="5391150"/>
            <a:ext cx="2552700" cy="533400"/>
          </a:xfrm>
          <a:prstGeom prst="rect">
            <a:avLst/>
          </a:prstGeom>
          <a:solidFill>
            <a:srgbClr val="F2F6F8"/>
          </a:solidFill>
          <a:ln w="0">
            <a:noFill/>
            <a:prstDash val="solid"/>
          </a:ln>
        </p:spPr>
      </p:sp>
      <p:sp>
        <p:nvSpPr>
          <p:cNvPr id="174" name="iteration-principle"/>
          <p:cNvSpPr>
            <a:spLocks noGrp="1"/>
          </p:cNvSpPr>
          <p:nvPr/>
        </p:nvSpPr>
        <p:spPr>
          <a:xfrm>
            <a:off x="9010650" y="542925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99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 dirty="0" err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测试不只判断</a:t>
            </a:r>
            <a:r>
              <a:rPr sz="990" b="1" dirty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PASS / FAIL，</a:t>
            </a:r>
          </a:p>
          <a:p>
            <a:pPr algn="ctr">
              <a:defRPr sz="99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90" b="1" dirty="0" err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更要定位</a:t>
            </a:r>
            <a:r>
              <a:rPr sz="990" b="1" dirty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Skill </a:t>
            </a:r>
            <a:r>
              <a:rPr sz="990" b="1" dirty="0" err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的哪一层出了问题</a:t>
            </a:r>
            <a:r>
              <a:rPr sz="990" b="1" dirty="0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175" name="summary-band"/>
          <p:cNvSpPr>
            <a:spLocks noGrp="1"/>
          </p:cNvSpPr>
          <p:nvPr/>
        </p:nvSpPr>
        <p:spPr>
          <a:xfrm>
            <a:off x="609600" y="6257925"/>
            <a:ext cx="10972800" cy="371475"/>
          </a:xfrm>
          <a:prstGeom prst="rect">
            <a:avLst/>
          </a:prstGeom>
          <a:solidFill>
            <a:srgbClr val="F3F4F5"/>
          </a:solidFill>
          <a:ln w="0">
            <a:noFill/>
            <a:prstDash val="solid"/>
          </a:ln>
        </p:spPr>
      </p:sp>
      <p:sp>
        <p:nvSpPr>
          <p:cNvPr id="176" name="summary-accent"/>
          <p:cNvSpPr>
            <a:spLocks noGrp="1"/>
          </p:cNvSpPr>
          <p:nvPr/>
        </p:nvSpPr>
        <p:spPr>
          <a:xfrm>
            <a:off x="609600" y="6257925"/>
            <a:ext cx="38100" cy="371475"/>
          </a:xfrm>
          <a:prstGeom prst="rect">
            <a:avLst/>
          </a:prstGeom>
          <a:solidFill>
            <a:srgbClr val="557A96"/>
          </a:solidFill>
          <a:ln w="0">
            <a:noFill/>
            <a:prstDash val="solid"/>
          </a:ln>
        </p:spPr>
      </p:sp>
      <p:sp>
        <p:nvSpPr>
          <p:cNvPr id="177" name="summary-text"/>
          <p:cNvSpPr>
            <a:spLocks noGrp="1"/>
          </p:cNvSpPr>
          <p:nvPr/>
        </p:nvSpPr>
        <p:spPr>
          <a:xfrm>
            <a:off x="819150" y="6286500"/>
            <a:ext cx="105346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9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90" b="1">
                <a:solidFill>
                  <a:srgbClr val="4149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 → Workflow → Complete Skill → Evaluation → Iteration，构成 Skill 开发的完整闭环。</a:t>
            </a:r>
          </a:p>
        </p:txBody>
      </p:sp>
      <p:sp>
        <p:nvSpPr>
          <p:cNvPr id="179" name="s13-title-rule"/>
          <p:cNvSpPr>
            <a:spLocks noGrp="1"/>
          </p:cNvSpPr>
          <p:nvPr/>
        </p:nvSpPr>
        <p:spPr>
          <a:xfrm>
            <a:off x="247650" y="714375"/>
            <a:ext cx="11734800" cy="19050"/>
          </a:xfrm>
          <a:prstGeom prst="rect">
            <a:avLst/>
          </a:prstGeom>
          <a:solidFill>
            <a:srgbClr val="5B7188"/>
          </a:solidFill>
          <a:ln w="0">
            <a:solidFill>
              <a:srgbClr val="294A6D"/>
            </a:solidFill>
            <a:prstDash val="solid"/>
          </a:ln>
          <a:effectLst/>
        </p:spPr>
      </p:sp>
      <p:sp>
        <p:nvSpPr>
          <p:cNvPr id="180" name="slide-1-title"/>
          <p:cNvSpPr>
            <a:spLocks noGrp="1"/>
          </p:cNvSpPr>
          <p:nvPr/>
        </p:nvSpPr>
        <p:spPr>
          <a:xfrm>
            <a:off x="342900" y="223460"/>
            <a:ext cx="635000" cy="4953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0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000" b="1" dirty="0" smtClean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1.5</a:t>
            </a:r>
            <a:endParaRPr sz="3000" b="1" dirty="0">
              <a:solidFill>
                <a:srgbClr val="243B53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1" name="slide-7-page-number"/>
          <p:cNvSpPr>
            <a:spLocks noGrp="1"/>
          </p:cNvSpPr>
          <p:nvPr/>
        </p:nvSpPr>
        <p:spPr>
          <a:xfrm>
            <a:off x="11366500" y="317500"/>
            <a:ext cx="330200" cy="279400"/>
          </a:xfrm>
          <a:prstGeom prst="roundRect">
            <a:avLst>
              <a:gd name="adj" fmla="val 14706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4A6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200" b="1" dirty="0">
                <a:solidFill>
                  <a:srgbClr val="66737F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7-title"/>
          <p:cNvSpPr>
            <a:spLocks noGrp="1"/>
          </p:cNvSpPr>
          <p:nvPr/>
        </p:nvSpPr>
        <p:spPr>
          <a:xfrm>
            <a:off x="977900" y="245409"/>
            <a:ext cx="8763000" cy="466725"/>
          </a:xfrm>
          <a:prstGeom prst="rect">
            <a:avLst/>
          </a:prstGeom>
          <a:noFill/>
          <a:ln w="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 dirty="0" err="1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</a:rPr>
              <a:t>算子</a:t>
            </a:r>
            <a:r>
              <a:rPr sz="2550" b="1" dirty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</a:rPr>
              <a:t> Skill </a:t>
            </a:r>
            <a:r>
              <a:rPr sz="2550" b="1" dirty="0" err="1" smtClean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</a:rPr>
              <a:t>开发指南</a:t>
            </a:r>
            <a:r>
              <a:rPr lang="zh-CN" altLang="en-US" sz="2550" b="1" dirty="0" smtClean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</a:rPr>
              <a:t>：开发一个好用的</a:t>
            </a:r>
            <a:r>
              <a:rPr lang="en-US" altLang="zh-CN" sz="2550" b="1" dirty="0" smtClean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</a:rPr>
              <a:t>skill</a:t>
            </a:r>
            <a:endParaRPr sz="2550" b="1" dirty="0">
              <a:solidFill>
                <a:srgbClr val="243B53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6" name="slide-7-page-number"/>
          <p:cNvSpPr>
            <a:spLocks noGrp="1"/>
          </p:cNvSpPr>
          <p:nvPr/>
        </p:nvSpPr>
        <p:spPr>
          <a:xfrm>
            <a:off x="11366500" y="317500"/>
            <a:ext cx="330200" cy="279400"/>
          </a:xfrm>
          <a:prstGeom prst="roundRect">
            <a:avLst>
              <a:gd name="adj" fmla="val 14706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4A6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200" b="1" dirty="0" smtClean="0">
                <a:solidFill>
                  <a:srgbClr val="66737F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200" b="1" dirty="0">
              <a:solidFill>
                <a:srgbClr val="66737F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15-title-rule"/>
          <p:cNvSpPr>
            <a:spLocks noGrp="1"/>
          </p:cNvSpPr>
          <p:nvPr/>
        </p:nvSpPr>
        <p:spPr>
          <a:xfrm>
            <a:off x="247650" y="714375"/>
            <a:ext cx="11734800" cy="19050"/>
          </a:xfrm>
          <a:prstGeom prst="rect">
            <a:avLst/>
          </a:prstGeom>
          <a:solidFill>
            <a:srgbClr val="5B7188"/>
          </a:solidFill>
          <a:ln w="0">
            <a:solidFill>
              <a:srgbClr val="294A6D"/>
            </a:solidFill>
            <a:prstDash val="solid"/>
          </a:ln>
          <a:effectLst/>
        </p:spPr>
      </p:sp>
      <p:sp>
        <p:nvSpPr>
          <p:cNvPr id="19" name="s15-universal-frame"/>
          <p:cNvSpPr>
            <a:spLocks noGrp="1"/>
          </p:cNvSpPr>
          <p:nvPr/>
        </p:nvSpPr>
        <p:spPr>
          <a:xfrm>
            <a:off x="1171574" y="1747642"/>
            <a:ext cx="4743450" cy="990600"/>
          </a:xfrm>
          <a:prstGeom prst="rect">
            <a:avLst/>
          </a:prstGeom>
          <a:solidFill>
            <a:srgbClr val="EEF2F5"/>
          </a:solidFill>
          <a:ln w="13335">
            <a:solidFill>
              <a:srgbClr val="D6DEE6"/>
            </a:solidFill>
            <a:prstDash val="solid"/>
          </a:ln>
          <a:effectLst/>
        </p:spPr>
      </p:sp>
      <p:sp>
        <p:nvSpPr>
          <p:cNvPr id="20" name="s15-universal-title"/>
          <p:cNvSpPr>
            <a:spLocks noGrp="1"/>
          </p:cNvSpPr>
          <p:nvPr/>
        </p:nvSpPr>
        <p:spPr>
          <a:xfrm>
            <a:off x="1255912" y="1831148"/>
            <a:ext cx="4514850" cy="2952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defRPr sz="1165" b="1">
                <a:solidFill>
                  <a:srgbClr val="1457C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lang="en-US" sz="1600" dirty="0" smtClean="0">
                <a:solidFill>
                  <a:srgbClr val="294A6D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600" dirty="0" smtClean="0">
                <a:solidFill>
                  <a:srgbClr val="294A6D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、成本低</a:t>
            </a:r>
            <a:endParaRPr sz="1600" dirty="0">
              <a:solidFill>
                <a:srgbClr val="294A6D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s15-universal-subtitle"/>
          <p:cNvSpPr>
            <a:spLocks noGrp="1"/>
          </p:cNvSpPr>
          <p:nvPr/>
        </p:nvSpPr>
        <p:spPr>
          <a:xfrm>
            <a:off x="1276349" y="2078798"/>
            <a:ext cx="4514850" cy="6667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19050" tIns="0" rIns="19050" bIns="9525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1125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400" dirty="0" smtClean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消耗</a:t>
            </a:r>
            <a:r>
              <a:rPr lang="en-US" altLang="zh-CN" sz="1400" dirty="0" smtClean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token</a:t>
            </a:r>
            <a:r>
              <a:rPr lang="zh-CN" altLang="en-US" sz="1400" dirty="0" smtClean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少，开发时间短</a:t>
            </a:r>
            <a:endParaRPr sz="1400" dirty="0">
              <a:solidFill>
                <a:srgbClr val="2F3A45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2" name="s15-arrow-1"/>
          <p:cNvSpPr>
            <a:spLocks noGrp="1"/>
          </p:cNvSpPr>
          <p:nvPr/>
        </p:nvSpPr>
        <p:spPr>
          <a:xfrm>
            <a:off x="3400424" y="2719192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 fontScale="98409" lnSpcReduction="10000"/>
          </a:bodyPr>
          <a:lstStyle/>
          <a:p>
            <a:pPr algn="ctr">
              <a:defRPr sz="1650" b="1">
                <a:solidFill>
                  <a:srgbClr val="1457C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endParaRPr sz="1650" dirty="0">
              <a:solidFill>
                <a:srgbClr val="294A6D"/>
              </a:solidFill>
              <a:latin typeface="Arial" panose="020B0604020202020204" pitchFamily="34" charset="0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23" name="s15-platform-frame"/>
          <p:cNvSpPr>
            <a:spLocks noGrp="1"/>
          </p:cNvSpPr>
          <p:nvPr/>
        </p:nvSpPr>
        <p:spPr>
          <a:xfrm>
            <a:off x="1171574" y="2938267"/>
            <a:ext cx="4743450" cy="1257300"/>
          </a:xfrm>
          <a:prstGeom prst="rect">
            <a:avLst/>
          </a:prstGeom>
          <a:solidFill>
            <a:srgbClr val="EAF3F1"/>
          </a:solidFill>
          <a:ln w="13335">
            <a:solidFill>
              <a:srgbClr val="D6DEE6"/>
            </a:solidFill>
            <a:prstDash val="solid"/>
          </a:ln>
          <a:effectLst/>
        </p:spPr>
      </p:sp>
      <p:sp>
        <p:nvSpPr>
          <p:cNvPr id="24" name="s15-platform-title"/>
          <p:cNvSpPr>
            <a:spLocks noGrp="1"/>
          </p:cNvSpPr>
          <p:nvPr/>
        </p:nvSpPr>
        <p:spPr>
          <a:xfrm>
            <a:off x="1285874" y="2976367"/>
            <a:ext cx="4514850" cy="2952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 fontScale="95797"/>
          </a:bodyPr>
          <a:lstStyle/>
          <a:p>
            <a:pPr algn="ctr">
              <a:defRPr sz="1165" b="1">
                <a:solidFill>
                  <a:srgbClr val="14855C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lang="en-US" sz="1600" dirty="0" smtClean="0">
                <a:solidFill>
                  <a:srgbClr val="4F8A8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600" dirty="0" smtClean="0">
                <a:solidFill>
                  <a:srgbClr val="4F8A8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、验证快</a:t>
            </a:r>
            <a:endParaRPr sz="1600" dirty="0">
              <a:solidFill>
                <a:srgbClr val="4F8A83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s15-platform-left"/>
          <p:cNvSpPr>
            <a:spLocks noGrp="1"/>
          </p:cNvSpPr>
          <p:nvPr/>
        </p:nvSpPr>
        <p:spPr>
          <a:xfrm>
            <a:off x="2038349" y="3338317"/>
            <a:ext cx="1276350" cy="5619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95000"/>
              </a:lnSpc>
              <a:buNone/>
              <a:defRPr sz="94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945" b="1" dirty="0">
              <a:solidFill>
                <a:srgbClr val="2F3A45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s15-platform-right"/>
          <p:cNvSpPr>
            <a:spLocks noGrp="1"/>
          </p:cNvSpPr>
          <p:nvPr/>
        </p:nvSpPr>
        <p:spPr>
          <a:xfrm>
            <a:off x="2387642" y="3385315"/>
            <a:ext cx="2419349" cy="8191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19050" tIns="9525" rIns="19050" bIns="9525" anchor="t">
            <a:normAutofit/>
          </a:bodyPr>
          <a:lstStyle/>
          <a:p>
            <a:pPr>
              <a:lnSpc>
                <a:spcPct val="95000"/>
              </a:lnSpc>
              <a:defRPr sz="92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900" b="1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新增每阶段缓存</a:t>
            </a:r>
            <a:r>
              <a:rPr lang="zh-CN" altLang="en-US" sz="900" b="1" dirty="0" smtClean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925" b="1" dirty="0" smtClean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可以直接从中间进行验证。</a:t>
            </a:r>
            <a:endParaRPr lang="en-US" altLang="zh-CN" sz="925" b="1" dirty="0" smtClean="0">
              <a:solidFill>
                <a:srgbClr val="2F3A45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5000"/>
              </a:lnSpc>
              <a:defRPr sz="92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925" b="1" dirty="0" smtClean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根据修改程度大小采取不同的级别的验证方式</a:t>
            </a:r>
            <a:endParaRPr sz="925" b="1" dirty="0">
              <a:solidFill>
                <a:srgbClr val="2F3A45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s15-validation-frame"/>
          <p:cNvSpPr>
            <a:spLocks noGrp="1"/>
          </p:cNvSpPr>
          <p:nvPr/>
        </p:nvSpPr>
        <p:spPr>
          <a:xfrm>
            <a:off x="1171574" y="4347967"/>
            <a:ext cx="4743450" cy="1057275"/>
          </a:xfrm>
          <a:prstGeom prst="rect">
            <a:avLst/>
          </a:prstGeom>
          <a:solidFill>
            <a:srgbClr val="EEF2F5"/>
          </a:solidFill>
          <a:ln w="13335">
            <a:solidFill>
              <a:srgbClr val="D6DEE6"/>
            </a:solidFill>
            <a:prstDash val="solid"/>
          </a:ln>
          <a:effectLst/>
        </p:spPr>
      </p:sp>
      <p:sp>
        <p:nvSpPr>
          <p:cNvPr id="31" name="s15-validation-title"/>
          <p:cNvSpPr>
            <a:spLocks noGrp="1"/>
          </p:cNvSpPr>
          <p:nvPr/>
        </p:nvSpPr>
        <p:spPr>
          <a:xfrm>
            <a:off x="1285874" y="4386067"/>
            <a:ext cx="4514850" cy="2952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 fontScale="96540"/>
          </a:bodyPr>
          <a:lstStyle/>
          <a:p>
            <a:pPr algn="ctr">
              <a:defRPr sz="1090" b="1">
                <a:solidFill>
                  <a:srgbClr val="1457C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lang="en-US" sz="1600" dirty="0" smtClean="0">
                <a:solidFill>
                  <a:srgbClr val="294A6D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600" dirty="0" smtClean="0">
                <a:solidFill>
                  <a:srgbClr val="294A6D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、算子性能高</a:t>
            </a:r>
            <a:endParaRPr sz="1600" dirty="0">
              <a:solidFill>
                <a:srgbClr val="294A6D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s15-validation-subtitle"/>
          <p:cNvSpPr>
            <a:spLocks noGrp="1"/>
          </p:cNvSpPr>
          <p:nvPr/>
        </p:nvSpPr>
        <p:spPr>
          <a:xfrm>
            <a:off x="2647949" y="4654021"/>
            <a:ext cx="1790700" cy="7334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19050" tIns="0" rIns="19050" bIns="9525" anchor="ctr">
            <a:normAutofit/>
          </a:bodyPr>
          <a:lstStyle/>
          <a:p>
            <a:pPr indent="0" algn="ctr" fontAlgn="auto">
              <a:lnSpc>
                <a:spcPct val="125000"/>
              </a:lnSpc>
              <a:buNone/>
              <a:defRPr sz="885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885" dirty="0" smtClean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加入</a:t>
            </a:r>
            <a:r>
              <a:rPr lang="en-US" altLang="zh-CN" sz="885" dirty="0" smtClean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profiler</a:t>
            </a:r>
            <a:r>
              <a:rPr lang="zh-CN" altLang="en-US" sz="885" dirty="0" smtClean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阶段，根据初步优化的结果和</a:t>
            </a:r>
            <a:r>
              <a:rPr lang="en-US" altLang="zh-CN" sz="885" dirty="0" smtClean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profiler</a:t>
            </a:r>
            <a:r>
              <a:rPr lang="zh-CN" altLang="en-US" sz="885" dirty="0" smtClean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阶段的分析，选择性的采取优化方式</a:t>
            </a:r>
            <a:endParaRPr sz="885" dirty="0">
              <a:solidFill>
                <a:srgbClr val="2F3A45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8" name="slide-1-title"/>
          <p:cNvSpPr>
            <a:spLocks noGrp="1"/>
          </p:cNvSpPr>
          <p:nvPr/>
        </p:nvSpPr>
        <p:spPr>
          <a:xfrm>
            <a:off x="342900" y="223460"/>
            <a:ext cx="635000" cy="4953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0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000" b="1" dirty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3.1</a:t>
            </a:r>
            <a:endParaRPr sz="3000" b="1" dirty="0">
              <a:solidFill>
                <a:srgbClr val="243B53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799" y="1905090"/>
            <a:ext cx="3752962" cy="290455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42900" y="1064581"/>
            <a:ext cx="32544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一、怎么算一个好用的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skill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378436" y="1019187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二、要有一个清晰的结构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7-title"/>
          <p:cNvSpPr>
            <a:spLocks noGrp="1"/>
          </p:cNvSpPr>
          <p:nvPr/>
        </p:nvSpPr>
        <p:spPr>
          <a:xfrm>
            <a:off x="1057275" y="205090"/>
            <a:ext cx="8763000" cy="466725"/>
          </a:xfrm>
          <a:prstGeom prst="rect">
            <a:avLst/>
          </a:prstGeom>
          <a:noFill/>
          <a:ln w="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550" b="1" dirty="0" smtClean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</a:rPr>
              <a:t>开发</a:t>
            </a:r>
            <a:r>
              <a:rPr lang="en-US" altLang="zh-CN" sz="2550" b="1" dirty="0" smtClean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</a:rPr>
              <a:t>Skill</a:t>
            </a:r>
            <a:r>
              <a:rPr lang="zh-CN" altLang="en-US" sz="2550" b="1" dirty="0" smtClean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</a:rPr>
              <a:t>指南细节</a:t>
            </a:r>
            <a:endParaRPr sz="2550" b="1" dirty="0">
              <a:solidFill>
                <a:srgbClr val="243B53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" name="universal-framework-question"/>
          <p:cNvSpPr>
            <a:spLocks noGrp="1"/>
          </p:cNvSpPr>
          <p:nvPr/>
        </p:nvSpPr>
        <p:spPr>
          <a:xfrm>
            <a:off x="5791200" y="1271890"/>
            <a:ext cx="5095875" cy="2571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65" b="1">
                <a:solidFill>
                  <a:srgbClr val="0A4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294A6D"/>
                </a:solidFill>
                <a:latin typeface="Arial" panose="020B0604020202020204" pitchFamily="34" charset="0"/>
                <a:ea typeface="微软雅黑" panose="020B0503020204020204" charset="-122"/>
              </a:rPr>
              <a:t>① 通用框架｜什么东西应该保持稳定？</a:t>
            </a:r>
          </a:p>
        </p:txBody>
      </p:sp>
      <p:sp>
        <p:nvSpPr>
          <p:cNvPr id="9" name="universal-framework-takeaway"/>
          <p:cNvSpPr>
            <a:spLocks noGrp="1"/>
          </p:cNvSpPr>
          <p:nvPr/>
        </p:nvSpPr>
        <p:spPr>
          <a:xfrm>
            <a:off x="5914390" y="2481565"/>
            <a:ext cx="4257675" cy="228600"/>
          </a:xfrm>
          <a:prstGeom prst="rect">
            <a:avLst/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  <a:effectLst/>
        </p:spPr>
        <p:txBody>
          <a:bodyPr wrap="square" lIns="38100" tIns="0" rIns="38100" bIns="0" anchor="ctr">
            <a:normAutofit/>
          </a:bodyPr>
          <a:lstStyle/>
          <a:p>
            <a:pPr algn="ctr">
              <a:buNone/>
              <a:defRPr sz="940" b="1">
                <a:solidFill>
                  <a:srgbClr val="1738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框架有时也需要根据实际情况进行微调。</a:t>
            </a:r>
          </a:p>
        </p:txBody>
      </p:sp>
      <p:sp>
        <p:nvSpPr>
          <p:cNvPr id="10" name="platform-knowledge-question"/>
          <p:cNvSpPr>
            <a:spLocks noGrp="1"/>
          </p:cNvSpPr>
          <p:nvPr/>
        </p:nvSpPr>
        <p:spPr>
          <a:xfrm>
            <a:off x="5791200" y="2776840"/>
            <a:ext cx="5095875" cy="2571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65" b="1">
                <a:solidFill>
                  <a:srgbClr val="087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② 平台知识｜换平台时到底要补什么？</a:t>
            </a:r>
          </a:p>
        </p:txBody>
      </p:sp>
      <p:sp>
        <p:nvSpPr>
          <p:cNvPr id="11" name="platform-knowledge-takeaway"/>
          <p:cNvSpPr>
            <a:spLocks noGrp="1"/>
          </p:cNvSpPr>
          <p:nvPr/>
        </p:nvSpPr>
        <p:spPr>
          <a:xfrm>
            <a:off x="6000750" y="4224640"/>
            <a:ext cx="4895850" cy="219075"/>
          </a:xfrm>
          <a:prstGeom prst="roundRect">
            <a:avLst>
              <a:gd name="adj" fmla="val 21739"/>
            </a:avLst>
          </a:prstGeom>
          <a:solidFill>
            <a:srgbClr val="EAF3F1"/>
          </a:solidFill>
          <a:ln w="9525">
            <a:solidFill>
              <a:srgbClr val="D6DEE6"/>
            </a:solidFill>
            <a:prstDash val="solid"/>
          </a:ln>
          <a:effectLst/>
        </p:spPr>
        <p:txBody>
          <a:bodyPr wrap="square" lIns="38100" tIns="0" rIns="38100" bIns="0" anchor="ctr">
            <a:normAutofit/>
          </a:bodyPr>
          <a:lstStyle/>
          <a:p>
            <a:pPr algn="ctr">
              <a:buNone/>
              <a:defRPr sz="940" b="1">
                <a:solidFill>
                  <a:srgbClr val="176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官方资料定义“支持什么”，真实测试补充“实际表现如何”。</a:t>
            </a:r>
          </a:p>
        </p:txBody>
      </p:sp>
      <p:sp>
        <p:nvSpPr>
          <p:cNvPr id="12" name="validation-loop-question"/>
          <p:cNvSpPr>
            <a:spLocks noGrp="1"/>
          </p:cNvSpPr>
          <p:nvPr/>
        </p:nvSpPr>
        <p:spPr>
          <a:xfrm>
            <a:off x="5791200" y="4529440"/>
            <a:ext cx="5219700" cy="2571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65" b="1">
                <a:solidFill>
                  <a:srgbClr val="0A43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294A6D"/>
                </a:solidFill>
                <a:latin typeface="Arial" panose="020B0604020202020204" pitchFamily="34" charset="0"/>
                <a:ea typeface="微软雅黑" panose="020B0503020204020204" charset="-122"/>
              </a:rPr>
              <a:t>③ 验证闭环｜怎么确认收到的知识真的能用？</a:t>
            </a:r>
          </a:p>
        </p:txBody>
      </p:sp>
      <p:sp>
        <p:nvSpPr>
          <p:cNvPr id="16" name="slide-7-page-number"/>
          <p:cNvSpPr>
            <a:spLocks noGrp="1"/>
          </p:cNvSpPr>
          <p:nvPr/>
        </p:nvSpPr>
        <p:spPr>
          <a:xfrm>
            <a:off x="11366500" y="317500"/>
            <a:ext cx="330200" cy="279400"/>
          </a:xfrm>
          <a:prstGeom prst="roundRect">
            <a:avLst>
              <a:gd name="adj" fmla="val 14706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4A6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200" b="1" dirty="0" smtClean="0">
                <a:solidFill>
                  <a:srgbClr val="66737F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1200" b="1" dirty="0">
              <a:solidFill>
                <a:srgbClr val="66737F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lide-7-editable-footer"/>
          <p:cNvSpPr>
            <a:spLocks noGrp="1"/>
          </p:cNvSpPr>
          <p:nvPr/>
        </p:nvSpPr>
        <p:spPr>
          <a:xfrm>
            <a:off x="228600" y="6400800"/>
            <a:ext cx="11696700" cy="390525"/>
          </a:xfrm>
          <a:prstGeom prst="rect">
            <a:avLst/>
          </a:prstGeom>
          <a:solidFill>
            <a:srgbClr val="EEF2F5"/>
          </a:solidFill>
          <a:ln w="0">
            <a:solidFill>
              <a:srgbClr val="D6DEE6"/>
            </a:solidFill>
            <a:prstDash val="solid"/>
          </a:ln>
          <a:effectLst/>
        </p:spPr>
        <p:txBody>
          <a:bodyPr wrap="square" lIns="133350" tIns="28575" rIns="133350" bIns="28575" anchor="ctr">
            <a:normAutofit/>
          </a:bodyPr>
          <a:lstStyle/>
          <a:p>
            <a:pPr algn="ctr">
              <a:buNone/>
              <a:defRPr sz="975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算子skill的开发不是一蹴而就的，需要不断的完善和更新迭代。平台事实验证和环境验证看起来复杂，实际上可以通过一类模板指令让大模型进行检测。</a:t>
            </a:r>
          </a:p>
        </p:txBody>
      </p:sp>
      <p:sp>
        <p:nvSpPr>
          <p:cNvPr id="18" name="s15-title-rule"/>
          <p:cNvSpPr>
            <a:spLocks noGrp="1"/>
          </p:cNvSpPr>
          <p:nvPr/>
        </p:nvSpPr>
        <p:spPr>
          <a:xfrm>
            <a:off x="247650" y="714375"/>
            <a:ext cx="11734800" cy="19050"/>
          </a:xfrm>
          <a:prstGeom prst="rect">
            <a:avLst/>
          </a:prstGeom>
          <a:solidFill>
            <a:srgbClr val="5B7188"/>
          </a:solidFill>
          <a:ln w="0">
            <a:solidFill>
              <a:srgbClr val="294A6D"/>
            </a:solidFill>
            <a:prstDash val="solid"/>
          </a:ln>
          <a:effectLst/>
        </p:spPr>
      </p:sp>
      <p:sp>
        <p:nvSpPr>
          <p:cNvPr id="38" name="s15-universal-details-frame"/>
          <p:cNvSpPr>
            <a:spLocks noGrp="1"/>
          </p:cNvSpPr>
          <p:nvPr/>
        </p:nvSpPr>
        <p:spPr>
          <a:xfrm>
            <a:off x="5572125" y="1519540"/>
            <a:ext cx="5543550" cy="942975"/>
          </a:xfrm>
          <a:prstGeom prst="rect">
            <a:avLst/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39" name="s15-detail-1-label"/>
          <p:cNvSpPr>
            <a:spLocks noGrp="1"/>
          </p:cNvSpPr>
          <p:nvPr/>
        </p:nvSpPr>
        <p:spPr>
          <a:xfrm>
            <a:off x="5810250" y="1567165"/>
            <a:ext cx="800100" cy="1619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l">
              <a:defRPr sz="850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>
                <a:solidFill>
                  <a:srgbClr val="294A6D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任务编排：</a:t>
            </a:r>
          </a:p>
        </p:txBody>
      </p:sp>
      <p:sp>
        <p:nvSpPr>
          <p:cNvPr id="40" name="s15-detail-1-value"/>
          <p:cNvSpPr>
            <a:spLocks noGrp="1"/>
          </p:cNvSpPr>
          <p:nvPr/>
        </p:nvSpPr>
        <p:spPr>
          <a:xfrm>
            <a:off x="6610350" y="1567165"/>
            <a:ext cx="4267200" cy="1619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l">
              <a:defRPr sz="830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需求 → 生成 → 验证 → 优化 → 输出</a:t>
            </a:r>
          </a:p>
        </p:txBody>
      </p:sp>
      <p:sp>
        <p:nvSpPr>
          <p:cNvPr id="41" name="s15-detail-2-label"/>
          <p:cNvSpPr>
            <a:spLocks noGrp="1"/>
          </p:cNvSpPr>
          <p:nvPr/>
        </p:nvSpPr>
        <p:spPr>
          <a:xfrm>
            <a:off x="5810250" y="1738615"/>
            <a:ext cx="800100" cy="1619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l">
              <a:defRPr sz="850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>
                <a:solidFill>
                  <a:srgbClr val="294A6D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模块边界：</a:t>
            </a:r>
          </a:p>
        </p:txBody>
      </p:sp>
      <p:sp>
        <p:nvSpPr>
          <p:cNvPr id="42" name="s15-detail-2-value"/>
          <p:cNvSpPr>
            <a:spLocks noGrp="1"/>
          </p:cNvSpPr>
          <p:nvPr/>
        </p:nvSpPr>
        <p:spPr>
          <a:xfrm>
            <a:off x="6610350" y="1738615"/>
            <a:ext cx="4267200" cy="1619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l">
              <a:defRPr sz="830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C77C59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每个阶段负责解决什么问题</a:t>
            </a:r>
          </a:p>
        </p:txBody>
      </p:sp>
      <p:sp>
        <p:nvSpPr>
          <p:cNvPr id="43" name="s15-detail-3-label"/>
          <p:cNvSpPr>
            <a:spLocks noGrp="1"/>
          </p:cNvSpPr>
          <p:nvPr/>
        </p:nvSpPr>
        <p:spPr>
          <a:xfrm>
            <a:off x="5810250" y="1910065"/>
            <a:ext cx="800100" cy="1619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l">
              <a:defRPr sz="850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>
                <a:solidFill>
                  <a:srgbClr val="294A6D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阶段契约：</a:t>
            </a:r>
          </a:p>
        </p:txBody>
      </p:sp>
      <p:sp>
        <p:nvSpPr>
          <p:cNvPr id="44" name="s15-detail-3-value"/>
          <p:cNvSpPr>
            <a:spLocks noGrp="1"/>
          </p:cNvSpPr>
          <p:nvPr/>
        </p:nvSpPr>
        <p:spPr>
          <a:xfrm>
            <a:off x="6610350" y="1910065"/>
            <a:ext cx="4267200" cy="1619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l">
              <a:defRPr sz="830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上一阶段输出什么，下一阶段需要什么</a:t>
            </a:r>
          </a:p>
        </p:txBody>
      </p:sp>
      <p:sp>
        <p:nvSpPr>
          <p:cNvPr id="45" name="s15-detail-4-label"/>
          <p:cNvSpPr>
            <a:spLocks noGrp="1"/>
          </p:cNvSpPr>
          <p:nvPr/>
        </p:nvSpPr>
        <p:spPr>
          <a:xfrm>
            <a:off x="5810250" y="2081515"/>
            <a:ext cx="800100" cy="1619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l">
              <a:defRPr sz="850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>
                <a:solidFill>
                  <a:srgbClr val="294A6D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子任务分工：</a:t>
            </a:r>
          </a:p>
        </p:txBody>
      </p:sp>
      <p:sp>
        <p:nvSpPr>
          <p:cNvPr id="46" name="s15-detail-4-value"/>
          <p:cNvSpPr>
            <a:spLocks noGrp="1"/>
          </p:cNvSpPr>
          <p:nvPr/>
        </p:nvSpPr>
        <p:spPr>
          <a:xfrm>
            <a:off x="6610350" y="2081515"/>
            <a:ext cx="4267200" cy="1619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l">
              <a:defRPr sz="830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复杂阶段允许进一步拆分 Sub-Agent</a:t>
            </a:r>
          </a:p>
        </p:txBody>
      </p:sp>
      <p:sp>
        <p:nvSpPr>
          <p:cNvPr id="47" name="s15-detail-5-label"/>
          <p:cNvSpPr>
            <a:spLocks noGrp="1"/>
          </p:cNvSpPr>
          <p:nvPr/>
        </p:nvSpPr>
        <p:spPr>
          <a:xfrm>
            <a:off x="5810250" y="2252965"/>
            <a:ext cx="800100" cy="1619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l">
              <a:defRPr sz="850" b="1">
                <a:solidFill>
                  <a:srgbClr val="145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>
                <a:solidFill>
                  <a:srgbClr val="294A6D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输出规范：</a:t>
            </a:r>
          </a:p>
        </p:txBody>
      </p:sp>
      <p:sp>
        <p:nvSpPr>
          <p:cNvPr id="48" name="s15-detail-5-value"/>
          <p:cNvSpPr>
            <a:spLocks noGrp="1"/>
          </p:cNvSpPr>
          <p:nvPr/>
        </p:nvSpPr>
        <p:spPr>
          <a:xfrm>
            <a:off x="6610350" y="2252965"/>
            <a:ext cx="4267200" cy="1619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l">
              <a:defRPr sz="830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Kernel、Test、Correctness、Benchmark、Report</a:t>
            </a:r>
          </a:p>
        </p:txBody>
      </p:sp>
      <p:sp>
        <p:nvSpPr>
          <p:cNvPr id="49" name="s15-knowledge-1-frame"/>
          <p:cNvSpPr>
            <a:spLocks noGrp="1"/>
          </p:cNvSpPr>
          <p:nvPr/>
        </p:nvSpPr>
        <p:spPr>
          <a:xfrm>
            <a:off x="5667375" y="3034015"/>
            <a:ext cx="1724025" cy="438150"/>
          </a:xfrm>
          <a:prstGeom prst="rect">
            <a:avLst/>
          </a:prstGeom>
          <a:solidFill>
            <a:srgbClr val="EAF3F1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50" name="s15-knowledge-1-title"/>
          <p:cNvSpPr>
            <a:spLocks noGrp="1"/>
          </p:cNvSpPr>
          <p:nvPr/>
        </p:nvSpPr>
        <p:spPr>
          <a:xfrm>
            <a:off x="5753100" y="3053065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80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4F8A8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1. Hardware</a:t>
            </a:r>
          </a:p>
        </p:txBody>
      </p:sp>
      <p:sp>
        <p:nvSpPr>
          <p:cNvPr id="51" name="s15-knowledge-1-body"/>
          <p:cNvSpPr>
            <a:spLocks noGrp="1"/>
          </p:cNvSpPr>
          <p:nvPr/>
        </p:nvSpPr>
        <p:spPr>
          <a:xfrm>
            <a:off x="5753100" y="3214990"/>
            <a:ext cx="1571625" cy="2381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730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" b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计算单元、存储、</a:t>
            </a:r>
          </a:p>
          <a:p>
            <a:pPr algn="l">
              <a:lnSpc>
                <a:spcPct val="90000"/>
              </a:lnSpc>
              <a:buNone/>
              <a:defRPr sz="730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" b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并行结构</a:t>
            </a:r>
          </a:p>
        </p:txBody>
      </p:sp>
      <p:sp>
        <p:nvSpPr>
          <p:cNvPr id="52" name="s15-knowledge-2-frame"/>
          <p:cNvSpPr>
            <a:spLocks noGrp="1"/>
          </p:cNvSpPr>
          <p:nvPr/>
        </p:nvSpPr>
        <p:spPr>
          <a:xfrm>
            <a:off x="7477125" y="3034015"/>
            <a:ext cx="1724025" cy="438150"/>
          </a:xfrm>
          <a:prstGeom prst="rect">
            <a:avLst/>
          </a:prstGeom>
          <a:solidFill>
            <a:srgbClr val="EAF3F1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53" name="s15-knowledge-2-title"/>
          <p:cNvSpPr>
            <a:spLocks noGrp="1"/>
          </p:cNvSpPr>
          <p:nvPr/>
        </p:nvSpPr>
        <p:spPr>
          <a:xfrm>
            <a:off x="7562850" y="3053065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5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5">
                <a:solidFill>
                  <a:srgbClr val="4F8A8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2. Programming Model</a:t>
            </a:r>
          </a:p>
        </p:txBody>
      </p:sp>
      <p:sp>
        <p:nvSpPr>
          <p:cNvPr id="54" name="s15-knowledge-2-body"/>
          <p:cNvSpPr>
            <a:spLocks noGrp="1"/>
          </p:cNvSpPr>
          <p:nvPr/>
        </p:nvSpPr>
        <p:spPr>
          <a:xfrm>
            <a:off x="7562850" y="3214990"/>
            <a:ext cx="1571625" cy="2381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730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" b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Grid、Tile、</a:t>
            </a:r>
          </a:p>
          <a:p>
            <a:pPr algn="l">
              <a:lnSpc>
                <a:spcPct val="90000"/>
              </a:lnSpc>
              <a:buNone/>
              <a:defRPr sz="730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" b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执行模型</a:t>
            </a:r>
          </a:p>
        </p:txBody>
      </p:sp>
      <p:sp>
        <p:nvSpPr>
          <p:cNvPr id="55" name="s15-knowledge-3-frame"/>
          <p:cNvSpPr>
            <a:spLocks noGrp="1"/>
          </p:cNvSpPr>
          <p:nvPr/>
        </p:nvSpPr>
        <p:spPr>
          <a:xfrm>
            <a:off x="9286875" y="3034015"/>
            <a:ext cx="1724025" cy="438150"/>
          </a:xfrm>
          <a:prstGeom prst="rect">
            <a:avLst/>
          </a:prstGeom>
          <a:solidFill>
            <a:srgbClr val="EAF3F1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56" name="s15-knowledge-3-title"/>
          <p:cNvSpPr>
            <a:spLocks noGrp="1"/>
          </p:cNvSpPr>
          <p:nvPr/>
        </p:nvSpPr>
        <p:spPr>
          <a:xfrm>
            <a:off x="9372600" y="3053065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80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4F8A8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3. API / Primitive</a:t>
            </a:r>
          </a:p>
        </p:txBody>
      </p:sp>
      <p:sp>
        <p:nvSpPr>
          <p:cNvPr id="57" name="s15-knowledge-3-body"/>
          <p:cNvSpPr>
            <a:spLocks noGrp="1"/>
          </p:cNvSpPr>
          <p:nvPr/>
        </p:nvSpPr>
        <p:spPr>
          <a:xfrm>
            <a:off x="9372600" y="3214990"/>
            <a:ext cx="1571625" cy="2381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730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" b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支持能力、限制、</a:t>
            </a:r>
          </a:p>
          <a:p>
            <a:pPr algn="l">
              <a:lnSpc>
                <a:spcPct val="90000"/>
              </a:lnSpc>
              <a:buNone/>
              <a:defRPr sz="730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" b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特殊行为</a:t>
            </a:r>
          </a:p>
        </p:txBody>
      </p:sp>
      <p:sp>
        <p:nvSpPr>
          <p:cNvPr id="58" name="s15-knowledge-4-frame"/>
          <p:cNvSpPr>
            <a:spLocks noGrp="1"/>
          </p:cNvSpPr>
          <p:nvPr/>
        </p:nvSpPr>
        <p:spPr>
          <a:xfrm>
            <a:off x="5667375" y="3519790"/>
            <a:ext cx="1724025" cy="438150"/>
          </a:xfrm>
          <a:prstGeom prst="rect">
            <a:avLst/>
          </a:prstGeom>
          <a:solidFill>
            <a:srgbClr val="EAF3F1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59" name="s15-knowledge-4-title"/>
          <p:cNvSpPr>
            <a:spLocks noGrp="1"/>
          </p:cNvSpPr>
          <p:nvPr/>
        </p:nvSpPr>
        <p:spPr>
          <a:xfrm>
            <a:off x="5753100" y="3538840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80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4F8A8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4. Environment</a:t>
            </a:r>
          </a:p>
        </p:txBody>
      </p:sp>
      <p:sp>
        <p:nvSpPr>
          <p:cNvPr id="60" name="s15-knowledge-4-body"/>
          <p:cNvSpPr>
            <a:spLocks noGrp="1"/>
          </p:cNvSpPr>
          <p:nvPr/>
        </p:nvSpPr>
        <p:spPr>
          <a:xfrm>
            <a:off x="5753100" y="3700765"/>
            <a:ext cx="1571625" cy="2381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730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" b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Compiler、Runtime、</a:t>
            </a:r>
          </a:p>
          <a:p>
            <a:pPr algn="l">
              <a:lnSpc>
                <a:spcPct val="90000"/>
              </a:lnSpc>
              <a:buNone/>
              <a:defRPr sz="730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" b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Version</a:t>
            </a:r>
          </a:p>
        </p:txBody>
      </p:sp>
      <p:sp>
        <p:nvSpPr>
          <p:cNvPr id="61" name="s15-knowledge-5-frame"/>
          <p:cNvSpPr>
            <a:spLocks noGrp="1"/>
          </p:cNvSpPr>
          <p:nvPr/>
        </p:nvSpPr>
        <p:spPr>
          <a:xfrm>
            <a:off x="7477125" y="3519790"/>
            <a:ext cx="1724025" cy="438150"/>
          </a:xfrm>
          <a:prstGeom prst="rect">
            <a:avLst/>
          </a:prstGeom>
          <a:solidFill>
            <a:srgbClr val="EAF3F1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62" name="s15-knowledge-5-title"/>
          <p:cNvSpPr>
            <a:spLocks noGrp="1"/>
          </p:cNvSpPr>
          <p:nvPr/>
        </p:nvSpPr>
        <p:spPr>
          <a:xfrm>
            <a:off x="7562850" y="3538840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80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4F8A8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5. Profiler</a:t>
            </a:r>
          </a:p>
        </p:txBody>
      </p:sp>
      <p:sp>
        <p:nvSpPr>
          <p:cNvPr id="63" name="s15-knowledge-5-body"/>
          <p:cNvSpPr>
            <a:spLocks noGrp="1"/>
          </p:cNvSpPr>
          <p:nvPr/>
        </p:nvSpPr>
        <p:spPr>
          <a:xfrm>
            <a:off x="7562850" y="3700765"/>
            <a:ext cx="1571625" cy="2381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730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" b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Benchmark、Counter、</a:t>
            </a:r>
          </a:p>
          <a:p>
            <a:pPr algn="l">
              <a:lnSpc>
                <a:spcPct val="90000"/>
              </a:lnSpc>
              <a:buNone/>
              <a:defRPr sz="730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" b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计时</a:t>
            </a:r>
          </a:p>
        </p:txBody>
      </p:sp>
      <p:sp>
        <p:nvSpPr>
          <p:cNvPr id="64" name="s15-knowledge-6-frame"/>
          <p:cNvSpPr>
            <a:spLocks noGrp="1"/>
          </p:cNvSpPr>
          <p:nvPr/>
        </p:nvSpPr>
        <p:spPr>
          <a:xfrm>
            <a:off x="9286875" y="3519790"/>
            <a:ext cx="1724025" cy="438150"/>
          </a:xfrm>
          <a:prstGeom prst="rect">
            <a:avLst/>
          </a:prstGeom>
          <a:solidFill>
            <a:srgbClr val="EAF3F1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65" name="s15-knowledge-6-title"/>
          <p:cNvSpPr>
            <a:spLocks noGrp="1"/>
          </p:cNvSpPr>
          <p:nvPr/>
        </p:nvSpPr>
        <p:spPr>
          <a:xfrm>
            <a:off x="9372600" y="3538840"/>
            <a:ext cx="1571625" cy="1714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805" b="1">
                <a:solidFill>
                  <a:srgbClr val="1485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>
                <a:solidFill>
                  <a:srgbClr val="4F8A8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6. Optimization</a:t>
            </a:r>
          </a:p>
        </p:txBody>
      </p:sp>
      <p:sp>
        <p:nvSpPr>
          <p:cNvPr id="66" name="s15-knowledge-6-body"/>
          <p:cNvSpPr>
            <a:spLocks noGrp="1"/>
          </p:cNvSpPr>
          <p:nvPr/>
        </p:nvSpPr>
        <p:spPr>
          <a:xfrm>
            <a:off x="9372600" y="3700765"/>
            <a:ext cx="1571625" cy="2381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730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" b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Tile、Layout、</a:t>
            </a:r>
          </a:p>
          <a:p>
            <a:pPr algn="l">
              <a:lnSpc>
                <a:spcPct val="90000"/>
              </a:lnSpc>
              <a:buNone/>
              <a:defRPr sz="730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0" b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Pipeline、案例</a:t>
            </a:r>
          </a:p>
        </p:txBody>
      </p:sp>
      <p:sp>
        <p:nvSpPr>
          <p:cNvPr id="67" name="s15-knowledge-sources"/>
          <p:cNvSpPr>
            <a:spLocks noGrp="1"/>
          </p:cNvSpPr>
          <p:nvPr/>
        </p:nvSpPr>
        <p:spPr>
          <a:xfrm>
            <a:off x="5800725" y="3996040"/>
            <a:ext cx="4991100" cy="1905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19050" tIns="9525" rIns="19050" bIns="9525" anchor="ctr">
            <a:normAutofit/>
          </a:bodyPr>
          <a:lstStyle/>
          <a:p>
            <a:pPr algn="ctr">
              <a:defRPr sz="790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Platform Knowledge 来源 = 官方资料 + 环境检测 + 微基准 + 实际算子开发经验</a:t>
            </a:r>
          </a:p>
        </p:txBody>
      </p:sp>
      <p:sp>
        <p:nvSpPr>
          <p:cNvPr id="68" name="s15-level-1-frame"/>
          <p:cNvSpPr>
            <a:spLocks noGrp="1"/>
          </p:cNvSpPr>
          <p:nvPr/>
        </p:nvSpPr>
        <p:spPr>
          <a:xfrm>
            <a:off x="5657850" y="4888869"/>
            <a:ext cx="5353050" cy="295275"/>
          </a:xfrm>
          <a:prstGeom prst="rect">
            <a:avLst/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71" name="s15-level-1-question"/>
          <p:cNvSpPr>
            <a:spLocks noGrp="1"/>
          </p:cNvSpPr>
          <p:nvPr/>
        </p:nvSpPr>
        <p:spPr>
          <a:xfrm>
            <a:off x="5810250" y="4955544"/>
            <a:ext cx="3390900" cy="1524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9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能不能跑？</a:t>
            </a:r>
          </a:p>
        </p:txBody>
      </p:sp>
      <p:sp>
        <p:nvSpPr>
          <p:cNvPr id="73" name="s15-level-2-frame"/>
          <p:cNvSpPr>
            <a:spLocks noGrp="1"/>
          </p:cNvSpPr>
          <p:nvPr/>
        </p:nvSpPr>
        <p:spPr>
          <a:xfrm>
            <a:off x="5657850" y="5222244"/>
            <a:ext cx="5353050" cy="295275"/>
          </a:xfrm>
          <a:prstGeom prst="rect">
            <a:avLst/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76" name="s15-level-2-question"/>
          <p:cNvSpPr>
            <a:spLocks noGrp="1"/>
          </p:cNvSpPr>
          <p:nvPr/>
        </p:nvSpPr>
        <p:spPr>
          <a:xfrm>
            <a:off x="5810250" y="5288919"/>
            <a:ext cx="3390900" cy="1524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9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我们理解的平台行为对不对？</a:t>
            </a:r>
          </a:p>
        </p:txBody>
      </p:sp>
      <p:sp>
        <p:nvSpPr>
          <p:cNvPr id="78" name="s15-level-3-frame"/>
          <p:cNvSpPr>
            <a:spLocks noGrp="1"/>
          </p:cNvSpPr>
          <p:nvPr/>
        </p:nvSpPr>
        <p:spPr>
          <a:xfrm>
            <a:off x="5657850" y="5555619"/>
            <a:ext cx="5353050" cy="295275"/>
          </a:xfrm>
          <a:prstGeom prst="rect">
            <a:avLst/>
          </a:prstGeom>
          <a:solidFill>
            <a:srgbClr val="EEF2F5"/>
          </a:solidFill>
          <a:ln w="9525">
            <a:solidFill>
              <a:srgbClr val="D6DEE6"/>
            </a:solidFill>
            <a:prstDash val="solid"/>
          </a:ln>
          <a:effectLst/>
        </p:spPr>
      </p:sp>
      <p:sp>
        <p:nvSpPr>
          <p:cNvPr id="81" name="s15-level-3-question"/>
          <p:cNvSpPr>
            <a:spLocks noGrp="1"/>
          </p:cNvSpPr>
          <p:nvPr/>
        </p:nvSpPr>
        <p:spPr>
          <a:xfrm>
            <a:off x="5810250" y="5622294"/>
            <a:ext cx="3390900" cy="1524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l">
              <a:defRPr sz="79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90" dirty="0" err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这些知识能不能真正支撑算子开发</a:t>
            </a:r>
            <a:r>
              <a:rPr sz="79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？</a:t>
            </a:r>
          </a:p>
        </p:txBody>
      </p:sp>
      <p:sp>
        <p:nvSpPr>
          <p:cNvPr id="92" name="slide-1-title"/>
          <p:cNvSpPr>
            <a:spLocks noGrp="1"/>
          </p:cNvSpPr>
          <p:nvPr/>
        </p:nvSpPr>
        <p:spPr>
          <a:xfrm>
            <a:off x="342900" y="223460"/>
            <a:ext cx="635000" cy="4953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0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000" b="1" dirty="0" smtClean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3.1</a:t>
            </a:r>
            <a:endParaRPr sz="3000" b="1" dirty="0">
              <a:solidFill>
                <a:srgbClr val="243B53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s15-universal-frame"/>
          <p:cNvSpPr>
            <a:spLocks noGrp="1"/>
          </p:cNvSpPr>
          <p:nvPr/>
        </p:nvSpPr>
        <p:spPr>
          <a:xfrm>
            <a:off x="630037" y="1297921"/>
            <a:ext cx="4743450" cy="990600"/>
          </a:xfrm>
          <a:prstGeom prst="rect">
            <a:avLst/>
          </a:prstGeom>
          <a:solidFill>
            <a:srgbClr val="EEF2F5"/>
          </a:solidFill>
          <a:ln w="13335">
            <a:solidFill>
              <a:srgbClr val="D6DEE6"/>
            </a:solidFill>
            <a:prstDash val="solid"/>
          </a:ln>
          <a:effectLst/>
        </p:spPr>
      </p:sp>
      <p:sp>
        <p:nvSpPr>
          <p:cNvPr id="95" name="s15-universal-title"/>
          <p:cNvSpPr>
            <a:spLocks noGrp="1"/>
          </p:cNvSpPr>
          <p:nvPr/>
        </p:nvSpPr>
        <p:spPr>
          <a:xfrm>
            <a:off x="714375" y="1381427"/>
            <a:ext cx="4514850" cy="2952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defRPr sz="1165" b="1">
                <a:solidFill>
                  <a:srgbClr val="1457C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600" dirty="0" err="1">
                <a:solidFill>
                  <a:srgbClr val="294A6D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通用框架</a:t>
            </a:r>
            <a:endParaRPr sz="1600" dirty="0">
              <a:solidFill>
                <a:srgbClr val="294A6D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s15-universal-subtitle"/>
          <p:cNvSpPr>
            <a:spLocks noGrp="1"/>
          </p:cNvSpPr>
          <p:nvPr/>
        </p:nvSpPr>
        <p:spPr>
          <a:xfrm>
            <a:off x="734812" y="1629077"/>
            <a:ext cx="4514850" cy="66675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19050" tIns="0" rIns="19050" bIns="9525" anchor="ctr">
            <a:normAutofit/>
          </a:bodyPr>
          <a:lstStyle/>
          <a:p>
            <a:pPr algn="ctr">
              <a:lnSpc>
                <a:spcPct val="95000"/>
              </a:lnSpc>
              <a:buNone/>
              <a:defRPr sz="1125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dirty="0" err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需求</a:t>
            </a:r>
            <a:r>
              <a:rPr sz="140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 → </a:t>
            </a:r>
            <a:r>
              <a:rPr sz="1400" dirty="0" err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生成</a:t>
            </a:r>
            <a:r>
              <a:rPr sz="140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 → </a:t>
            </a:r>
            <a:r>
              <a:rPr sz="1400" dirty="0" err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验证</a:t>
            </a:r>
            <a:r>
              <a:rPr sz="140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 → </a:t>
            </a:r>
            <a:r>
              <a:rPr sz="1400" dirty="0" err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优化</a:t>
            </a:r>
            <a:r>
              <a:rPr sz="140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 → </a:t>
            </a:r>
            <a:r>
              <a:rPr sz="1400" dirty="0" err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输出</a:t>
            </a:r>
            <a:endParaRPr sz="1400" dirty="0">
              <a:solidFill>
                <a:srgbClr val="2F3A45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97" name="s15-arrow-1"/>
          <p:cNvSpPr>
            <a:spLocks noGrp="1"/>
          </p:cNvSpPr>
          <p:nvPr/>
        </p:nvSpPr>
        <p:spPr>
          <a:xfrm>
            <a:off x="2858887" y="2269471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 fontScale="98409" lnSpcReduction="10000"/>
          </a:bodyPr>
          <a:lstStyle/>
          <a:p>
            <a:pPr algn="ctr">
              <a:defRPr sz="1650" b="1">
                <a:solidFill>
                  <a:srgbClr val="1457C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endParaRPr sz="1650" dirty="0">
              <a:solidFill>
                <a:srgbClr val="294A6D"/>
              </a:solidFill>
              <a:latin typeface="Arial" panose="020B0604020202020204" pitchFamily="34" charset="0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98" name="s15-platform-frame"/>
          <p:cNvSpPr>
            <a:spLocks noGrp="1"/>
          </p:cNvSpPr>
          <p:nvPr/>
        </p:nvSpPr>
        <p:spPr>
          <a:xfrm>
            <a:off x="630037" y="2488546"/>
            <a:ext cx="4743450" cy="1257300"/>
          </a:xfrm>
          <a:prstGeom prst="rect">
            <a:avLst/>
          </a:prstGeom>
          <a:solidFill>
            <a:srgbClr val="EAF3F1"/>
          </a:solidFill>
          <a:ln w="13335">
            <a:solidFill>
              <a:srgbClr val="D6DEE6"/>
            </a:solidFill>
            <a:prstDash val="solid"/>
          </a:ln>
          <a:effectLst/>
        </p:spPr>
      </p:sp>
      <p:sp>
        <p:nvSpPr>
          <p:cNvPr id="99" name="s15-platform-title"/>
          <p:cNvSpPr>
            <a:spLocks noGrp="1"/>
          </p:cNvSpPr>
          <p:nvPr/>
        </p:nvSpPr>
        <p:spPr>
          <a:xfrm>
            <a:off x="744337" y="2526646"/>
            <a:ext cx="4514850" cy="2952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 fontScale="95797"/>
          </a:bodyPr>
          <a:lstStyle/>
          <a:p>
            <a:pPr algn="ctr">
              <a:defRPr sz="1165" b="1">
                <a:solidFill>
                  <a:srgbClr val="14855C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600" dirty="0" err="1">
                <a:solidFill>
                  <a:srgbClr val="4F8A8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平台知识</a:t>
            </a:r>
            <a:endParaRPr sz="1600" dirty="0">
              <a:solidFill>
                <a:srgbClr val="4F8A83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s15-platform-left"/>
          <p:cNvSpPr>
            <a:spLocks noGrp="1"/>
          </p:cNvSpPr>
          <p:nvPr/>
        </p:nvSpPr>
        <p:spPr>
          <a:xfrm>
            <a:off x="1496812" y="2888596"/>
            <a:ext cx="1276350" cy="5619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95000"/>
              </a:lnSpc>
              <a:buNone/>
              <a:defRPr sz="94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5" b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Hardware</a:t>
            </a:r>
          </a:p>
          <a:p>
            <a:pPr algn="l">
              <a:lnSpc>
                <a:spcPct val="95000"/>
              </a:lnSpc>
              <a:buNone/>
              <a:defRPr sz="94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5" b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API / Primitive</a:t>
            </a:r>
          </a:p>
          <a:p>
            <a:pPr algn="l">
              <a:lnSpc>
                <a:spcPct val="95000"/>
              </a:lnSpc>
              <a:buNone/>
              <a:defRPr sz="94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5" b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Profiler</a:t>
            </a:r>
          </a:p>
        </p:txBody>
      </p:sp>
      <p:sp>
        <p:nvSpPr>
          <p:cNvPr id="101" name="s15-platform-mid-rule"/>
          <p:cNvSpPr>
            <a:spLocks noGrp="1"/>
          </p:cNvSpPr>
          <p:nvPr/>
        </p:nvSpPr>
        <p:spPr>
          <a:xfrm>
            <a:off x="2868412" y="2907646"/>
            <a:ext cx="9525" cy="514350"/>
          </a:xfrm>
          <a:prstGeom prst="rect">
            <a:avLst/>
          </a:prstGeom>
          <a:solidFill>
            <a:srgbClr val="EAF3F1"/>
          </a:solidFill>
          <a:ln w="0">
            <a:solidFill>
              <a:srgbClr val="D6DEE6"/>
            </a:solidFill>
            <a:prstDash val="solid"/>
          </a:ln>
          <a:effectLst/>
        </p:spPr>
      </p:sp>
      <p:sp>
        <p:nvSpPr>
          <p:cNvPr id="102" name="s15-platform-right"/>
          <p:cNvSpPr>
            <a:spLocks noGrp="1"/>
          </p:cNvSpPr>
          <p:nvPr/>
        </p:nvSpPr>
        <p:spPr>
          <a:xfrm>
            <a:off x="3163687" y="2888596"/>
            <a:ext cx="1695450" cy="5619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95000"/>
              </a:lnSpc>
              <a:buNone/>
              <a:defRPr sz="92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25" b="1" dirty="0" smtClean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Environment </a:t>
            </a:r>
            <a:r>
              <a:rPr sz="925" b="1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/ Toolchain</a:t>
            </a:r>
          </a:p>
          <a:p>
            <a:pPr algn="l">
              <a:lnSpc>
                <a:spcPct val="95000"/>
              </a:lnSpc>
              <a:buNone/>
              <a:defRPr sz="925" b="0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25" b="1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Optimization / Examples</a:t>
            </a:r>
          </a:p>
        </p:txBody>
      </p:sp>
      <p:sp>
        <p:nvSpPr>
          <p:cNvPr id="103" name="s15-validation-frame"/>
          <p:cNvSpPr>
            <a:spLocks noGrp="1"/>
          </p:cNvSpPr>
          <p:nvPr/>
        </p:nvSpPr>
        <p:spPr>
          <a:xfrm>
            <a:off x="630037" y="3898246"/>
            <a:ext cx="4743450" cy="1057275"/>
          </a:xfrm>
          <a:prstGeom prst="rect">
            <a:avLst/>
          </a:prstGeom>
          <a:solidFill>
            <a:srgbClr val="EEF2F5"/>
          </a:solidFill>
          <a:ln w="13335">
            <a:solidFill>
              <a:srgbClr val="D6DEE6"/>
            </a:solidFill>
            <a:prstDash val="solid"/>
          </a:ln>
          <a:effectLst/>
        </p:spPr>
      </p:sp>
      <p:sp>
        <p:nvSpPr>
          <p:cNvPr id="104" name="s15-validation-title"/>
          <p:cNvSpPr>
            <a:spLocks noGrp="1"/>
          </p:cNvSpPr>
          <p:nvPr/>
        </p:nvSpPr>
        <p:spPr>
          <a:xfrm>
            <a:off x="744337" y="3936346"/>
            <a:ext cx="4514850" cy="29527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 fontScale="96540"/>
          </a:bodyPr>
          <a:lstStyle/>
          <a:p>
            <a:pPr algn="ctr">
              <a:defRPr sz="1090" b="1">
                <a:solidFill>
                  <a:srgbClr val="1457C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lang="zh-CN" altLang="en-US" sz="1600" dirty="0" smtClean="0">
                <a:solidFill>
                  <a:srgbClr val="294A6D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修改与</a:t>
            </a:r>
            <a:r>
              <a:rPr sz="1600" dirty="0" err="1" smtClean="0">
                <a:solidFill>
                  <a:srgbClr val="294A6D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验证</a:t>
            </a:r>
            <a:endParaRPr sz="1600" dirty="0">
              <a:solidFill>
                <a:srgbClr val="294A6D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s15-validation-subtitle"/>
          <p:cNvSpPr>
            <a:spLocks noGrp="1"/>
          </p:cNvSpPr>
          <p:nvPr/>
        </p:nvSpPr>
        <p:spPr>
          <a:xfrm>
            <a:off x="744337" y="4183996"/>
            <a:ext cx="4514850" cy="733425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19050" tIns="0" rIns="19050" bIns="9525" anchor="ctr">
            <a:normAutofit/>
          </a:bodyPr>
          <a:lstStyle/>
          <a:p>
            <a:pPr indent="0" algn="ctr" fontAlgn="auto">
              <a:lnSpc>
                <a:spcPct val="125000"/>
              </a:lnSpc>
              <a:buNone/>
              <a:defRPr sz="885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L1  </a:t>
            </a:r>
            <a:r>
              <a:rPr lang="zh-CN" altLang="en-US" sz="885" dirty="0" smtClean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基础修改（门禁，契约）</a:t>
            </a:r>
            <a:endParaRPr sz="885" dirty="0">
              <a:solidFill>
                <a:srgbClr val="2F3A45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indent="0" algn="ctr" fontAlgn="auto">
              <a:lnSpc>
                <a:spcPct val="125000"/>
              </a:lnSpc>
              <a:buNone/>
              <a:defRPr sz="885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 dirty="0" smtClean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L2</a:t>
            </a:r>
            <a:r>
              <a:rPr lang="zh-CN" altLang="en-US" sz="885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zh-CN" altLang="en-US" sz="885" dirty="0" smtClean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简单算子小</a:t>
            </a:r>
            <a:r>
              <a:rPr lang="en-US" altLang="zh-CN" sz="885" dirty="0" smtClean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shape</a:t>
            </a:r>
            <a:endParaRPr sz="885" dirty="0">
              <a:solidFill>
                <a:srgbClr val="2F3A45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indent="0" algn="ctr" fontAlgn="auto">
              <a:lnSpc>
                <a:spcPct val="125000"/>
              </a:lnSpc>
              <a:buNone/>
              <a:defRPr sz="885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L3  </a:t>
            </a:r>
            <a:r>
              <a:rPr sz="885" dirty="0" err="1" smtClean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典型算子验证</a:t>
            </a:r>
            <a:endParaRPr sz="885" dirty="0">
              <a:solidFill>
                <a:srgbClr val="2F3A45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06" name="s15-arrow-3-left"/>
          <p:cNvSpPr>
            <a:spLocks noGrp="1"/>
          </p:cNvSpPr>
          <p:nvPr/>
        </p:nvSpPr>
        <p:spPr>
          <a:xfrm>
            <a:off x="1639687" y="4936471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 fontScale="98409" lnSpcReduction="10000"/>
          </a:bodyPr>
          <a:lstStyle/>
          <a:p>
            <a:pPr algn="ctr">
              <a:defRPr sz="1650" b="1">
                <a:solidFill>
                  <a:srgbClr val="1457C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650">
                <a:solidFill>
                  <a:srgbClr val="294A6D"/>
                </a:solidFill>
                <a:latin typeface="Arial" panose="020B0604020202020204" pitchFamily="34" charset="0"/>
                <a:ea typeface="微软雅黑" panose="020B0503020204020204" charset="-122"/>
                <a:cs typeface="Calibri" panose="020F0502020204030204"/>
              </a:rPr>
              <a:t>↓</a:t>
            </a:r>
          </a:p>
        </p:txBody>
      </p:sp>
      <p:sp>
        <p:nvSpPr>
          <p:cNvPr id="107" name="s15-arrow-3-right"/>
          <p:cNvSpPr>
            <a:spLocks noGrp="1"/>
          </p:cNvSpPr>
          <p:nvPr/>
        </p:nvSpPr>
        <p:spPr>
          <a:xfrm>
            <a:off x="4020937" y="4936471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ctr">
            <a:normAutofit fontScale="98409" lnSpcReduction="10000"/>
          </a:bodyPr>
          <a:lstStyle/>
          <a:p>
            <a:pPr algn="ctr">
              <a:defRPr sz="1650" b="1">
                <a:solidFill>
                  <a:srgbClr val="1457C5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1650">
                <a:solidFill>
                  <a:srgbClr val="294A6D"/>
                </a:solidFill>
                <a:latin typeface="Arial" panose="020B0604020202020204" pitchFamily="34" charset="0"/>
                <a:ea typeface="微软雅黑" panose="020B0503020204020204" charset="-122"/>
                <a:cs typeface="Calibri" panose="020F0502020204030204"/>
              </a:rPr>
              <a:t>↓</a:t>
            </a:r>
          </a:p>
        </p:txBody>
      </p:sp>
      <p:sp>
        <p:nvSpPr>
          <p:cNvPr id="108" name="s15-update-knowledge"/>
          <p:cNvSpPr>
            <a:spLocks noGrp="1"/>
          </p:cNvSpPr>
          <p:nvPr/>
        </p:nvSpPr>
        <p:spPr>
          <a:xfrm>
            <a:off x="687187" y="5126971"/>
            <a:ext cx="1847850" cy="428625"/>
          </a:xfrm>
          <a:prstGeom prst="roundRect">
            <a:avLst>
              <a:gd name="adj" fmla="val 15556"/>
            </a:avLst>
          </a:prstGeom>
          <a:solidFill>
            <a:srgbClr val="F6ECE6"/>
          </a:solidFill>
          <a:ln w="11430">
            <a:solidFill>
              <a:srgbClr val="D6DEE6"/>
            </a:solidFill>
            <a:prstDash val="solid"/>
          </a:ln>
          <a:effectLst/>
        </p:spPr>
        <p:txBody>
          <a:bodyPr wrap="square" lIns="47625" tIns="19050" rIns="47625" bIns="19050" anchor="ctr">
            <a:normAutofit/>
          </a:bodyPr>
          <a:lstStyle/>
          <a:p>
            <a:pPr algn="ctr">
              <a:defRPr sz="915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15" dirty="0" err="1" smtClean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更新平台知识</a:t>
            </a:r>
            <a:endParaRPr sz="915" dirty="0">
              <a:solidFill>
                <a:srgbClr val="2F3A45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09" name="s15-adjust-workflow"/>
          <p:cNvSpPr>
            <a:spLocks noGrp="1"/>
          </p:cNvSpPr>
          <p:nvPr/>
        </p:nvSpPr>
        <p:spPr>
          <a:xfrm>
            <a:off x="3335137" y="5126971"/>
            <a:ext cx="1752600" cy="428625"/>
          </a:xfrm>
          <a:prstGeom prst="roundRect">
            <a:avLst>
              <a:gd name="adj" fmla="val 15556"/>
            </a:avLst>
          </a:prstGeom>
          <a:solidFill>
            <a:srgbClr val="F6ECE6"/>
          </a:solidFill>
          <a:ln w="11430">
            <a:solidFill>
              <a:srgbClr val="D6DEE6"/>
            </a:solidFill>
            <a:prstDash val="solid"/>
          </a:ln>
          <a:effectLst/>
        </p:spPr>
        <p:txBody>
          <a:bodyPr wrap="square" lIns="47625" tIns="19050" rIns="47625" bIns="19050" anchor="ctr">
            <a:normAutofit/>
          </a:bodyPr>
          <a:lstStyle/>
          <a:p>
            <a:pPr algn="ctr">
              <a:defRPr sz="915" b="1">
                <a:solidFill>
                  <a:srgbClr val="2736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15" dirty="0" err="1" smtClean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修正通用流程</a:t>
            </a:r>
            <a:endParaRPr sz="915" dirty="0">
              <a:solidFill>
                <a:srgbClr val="2F3A45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11-title"/>
          <p:cNvSpPr>
            <a:spLocks noGrp="1"/>
          </p:cNvSpPr>
          <p:nvPr/>
        </p:nvSpPr>
        <p:spPr>
          <a:xfrm>
            <a:off x="977900" y="242510"/>
            <a:ext cx="9144000" cy="495300"/>
          </a:xfrm>
          <a:prstGeom prst="rect">
            <a:avLst/>
          </a:prstGeom>
          <a:noFill/>
          <a:ln w="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85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600" b="1" dirty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四类 </a:t>
            </a:r>
            <a:r>
              <a:rPr lang="en-US" sz="2600" b="1" dirty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Skill </a:t>
            </a:r>
            <a:r>
              <a:rPr lang="zh-CN" altLang="en-US" sz="2600" b="1" dirty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生成 </a:t>
            </a:r>
            <a:r>
              <a:rPr lang="en-US" sz="2600" b="1" dirty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Kernel：</a:t>
            </a:r>
            <a:r>
              <a:rPr lang="zh-CN" altLang="en-US" sz="2600" b="1" dirty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性能结果对比</a:t>
            </a:r>
            <a:endParaRPr sz="2600" b="1" dirty="0">
              <a:solidFill>
                <a:srgbClr val="243B53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easurement_and_baseline_note"/>
          <p:cNvSpPr>
            <a:spLocks noGrp="1"/>
          </p:cNvSpPr>
          <p:nvPr/>
        </p:nvSpPr>
        <p:spPr>
          <a:xfrm>
            <a:off x="1200150" y="4749800"/>
            <a:ext cx="9772650" cy="2540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555D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6737F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单元格：Kernel / PyTorch  |  Baseline：MLU  → PyTorch-MLU  |  GPU → PyTorch-CUDA</a:t>
            </a:r>
          </a:p>
        </p:txBody>
      </p:sp>
      <p:graphicFrame>
        <p:nvGraphicFramePr>
          <p:cNvPr id="13" name="kernel_vs_pytorch_performance"/>
          <p:cNvGraphicFramePr/>
          <p:nvPr/>
        </p:nvGraphicFramePr>
        <p:xfrm>
          <a:off x="1200150" y="990600"/>
          <a:ext cx="9772650" cy="3657598"/>
        </p:xfrm>
        <a:graphic>
          <a:graphicData uri="http://schemas.openxmlformats.org/drawingml/2006/table">
            <a:tbl>
              <a:tblPr firstRow="1">
                <a:effectLst/>
              </a:tblPr>
              <a:tblGrid>
                <a:gridCol w="221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平台</a:t>
                      </a:r>
                      <a:r>
                        <a:rPr lang="en-US" altLang="zh-CN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算子输入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5B71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LayerNorm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5B71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Softmax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5B71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MatMul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5B71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b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精度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FP32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FP32</a:t>
                      </a:r>
                      <a:endParaRPr sz="1400" b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FP16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b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输入结构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64</a:t>
                      </a: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512</a:t>
                      </a: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1024</a:t>
                      </a: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4096</a:t>
                      </a: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4096</a:t>
                      </a: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8192</a:t>
                      </a: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8192</a:t>
                      </a: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MLU </a:t>
                      </a:r>
                      <a:r>
                        <a:rPr sz="1400" b="1" dirty="0" smtClean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Triton</a:t>
                      </a:r>
                      <a:r>
                        <a:rPr lang="zh-CN" altLang="en-US" sz="1400" b="1" dirty="0" smtClean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（新结构）</a:t>
                      </a:r>
                      <a:endParaRPr sz="1400" b="1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0.15</a:t>
                      </a:r>
                      <a:r>
                        <a:rPr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 /  </a:t>
                      </a:r>
                      <a:r>
                        <a:rPr lang="en-US"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0.15</a:t>
                      </a:r>
                      <a:r>
                        <a:rPr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ms</a:t>
                      </a:r>
                      <a:endParaRPr sz="1400" b="1" dirty="0">
                        <a:solidFill>
                          <a:srgbClr val="4F8A83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0.086</a:t>
                      </a:r>
                      <a:r>
                        <a:rPr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 /  </a:t>
                      </a:r>
                      <a:r>
                        <a:rPr lang="en-US"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0.11</a:t>
                      </a:r>
                      <a:r>
                        <a:rPr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ms</a:t>
                      </a:r>
                      <a:endParaRPr sz="1400" b="1" dirty="0">
                        <a:solidFill>
                          <a:srgbClr val="4F8A83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11.84</a:t>
                      </a:r>
                      <a:r>
                        <a:rPr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 /  </a:t>
                      </a: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5.3</a:t>
                      </a:r>
                      <a:r>
                        <a:rPr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ms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BANG C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25.53</a:t>
                      </a:r>
                      <a:r>
                        <a:rPr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/  </a:t>
                      </a:r>
                      <a:r>
                        <a:rPr lang="en-US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0.15</a:t>
                      </a:r>
                      <a:r>
                        <a:rPr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ms</a:t>
                      </a:r>
                      <a:endParaRPr sz="1400" b="1" dirty="0">
                        <a:solidFill>
                          <a:srgbClr val="C77C59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6E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3.68</a:t>
                      </a:r>
                      <a:r>
                        <a:rPr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 /  </a:t>
                      </a:r>
                      <a:r>
                        <a:rPr lang="en-US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0.11</a:t>
                      </a:r>
                      <a:r>
                        <a:rPr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ms</a:t>
                      </a:r>
                      <a:endParaRPr sz="1400" b="1" dirty="0">
                        <a:solidFill>
                          <a:srgbClr val="C77C59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6E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16.24</a:t>
                      </a:r>
                      <a:r>
                        <a:rPr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 /  </a:t>
                      </a:r>
                      <a:r>
                        <a:rPr lang="en-US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5.3</a:t>
                      </a:r>
                      <a:r>
                        <a:rPr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ms</a:t>
                      </a:r>
                      <a:endParaRPr sz="1400" b="1" dirty="0">
                        <a:solidFill>
                          <a:srgbClr val="C77C59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6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 smtClean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GPU Triton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0.32</a:t>
                      </a:r>
                      <a:r>
                        <a:rPr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 /  </a:t>
                      </a: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0.45</a:t>
                      </a:r>
                      <a:r>
                        <a:rPr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ms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0.162</a:t>
                      </a:r>
                      <a:r>
                        <a:rPr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 /  </a:t>
                      </a: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0.17</a:t>
                      </a:r>
                      <a:r>
                        <a:rPr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ms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29.43</a:t>
                      </a:r>
                      <a:r>
                        <a:rPr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 /  </a:t>
                      </a: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15.59</a:t>
                      </a:r>
                      <a:r>
                        <a:rPr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ms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 dirty="0" smtClean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CUDA C</a:t>
                      </a:r>
                      <a:endParaRPr sz="1400" b="1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0.31</a:t>
                      </a:r>
                      <a:r>
                        <a:rPr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 /  </a:t>
                      </a: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0.45</a:t>
                      </a:r>
                      <a:r>
                        <a:rPr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ms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0.16</a:t>
                      </a:r>
                      <a:r>
                        <a:rPr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 /  </a:t>
                      </a: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0.17</a:t>
                      </a:r>
                      <a:r>
                        <a:rPr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ms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48.26</a:t>
                      </a:r>
                      <a:r>
                        <a:rPr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 /  </a:t>
                      </a: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15.59</a:t>
                      </a:r>
                      <a:r>
                        <a:rPr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ms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slide-7-page-number"/>
          <p:cNvSpPr>
            <a:spLocks noGrp="1"/>
          </p:cNvSpPr>
          <p:nvPr/>
        </p:nvSpPr>
        <p:spPr>
          <a:xfrm>
            <a:off x="11366500" y="317500"/>
            <a:ext cx="330200" cy="279400"/>
          </a:xfrm>
          <a:prstGeom prst="roundRect">
            <a:avLst>
              <a:gd name="adj" fmla="val 14706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4A6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200" b="1" dirty="0" smtClean="0">
                <a:solidFill>
                  <a:srgbClr val="66737F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lang="en-US" sz="1200" b="1" dirty="0">
              <a:solidFill>
                <a:srgbClr val="66737F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15-observation-heading"/>
          <p:cNvSpPr txBox="1"/>
          <p:nvPr/>
        </p:nvSpPr>
        <p:spPr>
          <a:xfrm>
            <a:off x="1193800" y="5105400"/>
            <a:ext cx="977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 b="1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</a:rPr>
              <a:t>结果观察</a:t>
            </a:r>
          </a:p>
        </p:txBody>
      </p:sp>
      <p:sp>
        <p:nvSpPr>
          <p:cNvPr id="10" name="s15-observation-body"/>
          <p:cNvSpPr txBox="1"/>
          <p:nvPr/>
        </p:nvSpPr>
        <p:spPr>
          <a:xfrm>
            <a:off x="1193800" y="5448300"/>
            <a:ext cx="9779000" cy="939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125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• MLU Triton</a:t>
            </a:r>
            <a:r>
              <a:rPr lang="zh-CN" altLang="en-US" sz="125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r>
              <a:rPr lang="en-US" altLang="zh-CN" sz="1250" dirty="0" err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LayerNorm</a:t>
            </a:r>
            <a:r>
              <a:rPr lang="en-US" altLang="zh-CN" sz="125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zh-CN" altLang="en-US" sz="125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与 </a:t>
            </a:r>
            <a:r>
              <a:rPr lang="en-US" altLang="zh-CN" sz="1250" dirty="0" err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PyTorch</a:t>
            </a:r>
            <a:r>
              <a:rPr lang="en-US" altLang="zh-CN" sz="125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-MLU </a:t>
            </a:r>
            <a:r>
              <a:rPr lang="zh-CN" altLang="en-US" sz="125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持平，</a:t>
            </a:r>
            <a:r>
              <a:rPr lang="en-US" altLang="zh-CN" sz="125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0.15 / 0.15 </a:t>
            </a:r>
            <a:r>
              <a:rPr lang="en-US" altLang="zh-CN" sz="1250" dirty="0" err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ms</a:t>
            </a:r>
            <a:r>
              <a:rPr lang="zh-CN" altLang="en-US" sz="125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；</a:t>
            </a:r>
            <a:r>
              <a:rPr lang="en-US" altLang="zh-CN" sz="1250" dirty="0" err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Softmax</a:t>
            </a:r>
            <a:r>
              <a:rPr lang="en-US" altLang="zh-CN" sz="125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zh-CN" altLang="en-US" sz="125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更快，</a:t>
            </a:r>
            <a:r>
              <a:rPr lang="en-US" altLang="zh-CN" sz="125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0.086 / 0.11 </a:t>
            </a:r>
            <a:r>
              <a:rPr lang="en-US" altLang="zh-CN" sz="1250" dirty="0" err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ms</a:t>
            </a:r>
            <a:r>
              <a:rPr lang="zh-CN" altLang="en-US" sz="125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；</a:t>
            </a:r>
            <a:r>
              <a:rPr lang="en-US" altLang="zh-CN" sz="1250" dirty="0" err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MatMul</a:t>
            </a:r>
            <a:r>
              <a:rPr lang="en-US" altLang="zh-CN" sz="125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zh-CN" altLang="en-US" sz="125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仍较慢，</a:t>
            </a:r>
            <a:r>
              <a:rPr lang="en-US" altLang="zh-CN" sz="125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11.84 / 5.3 </a:t>
            </a:r>
            <a:r>
              <a:rPr lang="en-US" altLang="zh-CN" sz="1250" dirty="0" err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ms</a:t>
            </a:r>
            <a:r>
              <a:rPr lang="zh-CN" altLang="en-US" sz="125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。</a:t>
            </a:r>
          </a:p>
          <a:p>
            <a:pPr>
              <a:spcAft>
                <a:spcPts val="500"/>
              </a:spcAft>
            </a:pPr>
            <a:r>
              <a:rPr lang="en-US" altLang="zh-CN" sz="125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• BANG C </a:t>
            </a:r>
            <a:r>
              <a:rPr lang="zh-CN" altLang="en-US" sz="125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三项 </a:t>
            </a:r>
            <a:r>
              <a:rPr lang="en-US" altLang="zh-CN" sz="125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Kernel </a:t>
            </a:r>
            <a:r>
              <a:rPr lang="zh-CN" altLang="en-US" sz="125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耗时均高于同平台 </a:t>
            </a:r>
            <a:r>
              <a:rPr lang="en-US" altLang="zh-CN" sz="1250" dirty="0" err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PyTorch</a:t>
            </a:r>
            <a:r>
              <a:rPr lang="zh-CN" altLang="en-US" sz="125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；</a:t>
            </a:r>
            <a:r>
              <a:rPr lang="en-US" altLang="zh-CN" sz="1250" dirty="0" err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LayerNorm</a:t>
            </a:r>
            <a:r>
              <a:rPr lang="en-US" altLang="zh-CN" sz="125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zh-CN" altLang="en-US" sz="125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与 </a:t>
            </a:r>
            <a:r>
              <a:rPr lang="en-US" altLang="zh-CN" sz="1250" dirty="0" err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Softmax</a:t>
            </a:r>
            <a:r>
              <a:rPr lang="en-US" altLang="zh-CN" sz="125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zh-CN" altLang="en-US" sz="125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差距最突出。</a:t>
            </a:r>
          </a:p>
        </p:txBody>
      </p:sp>
      <p:sp>
        <p:nvSpPr>
          <p:cNvPr id="11" name="slide-1-title"/>
          <p:cNvSpPr>
            <a:spLocks noGrp="1"/>
          </p:cNvSpPr>
          <p:nvPr/>
        </p:nvSpPr>
        <p:spPr>
          <a:xfrm>
            <a:off x="342900" y="223460"/>
            <a:ext cx="635000" cy="4953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0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000" b="1" dirty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3.4</a:t>
            </a:r>
            <a:endParaRPr sz="3000" b="1" dirty="0">
              <a:solidFill>
                <a:srgbClr val="243B53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15-title-rule"/>
          <p:cNvSpPr>
            <a:spLocks noGrp="1"/>
          </p:cNvSpPr>
          <p:nvPr/>
        </p:nvSpPr>
        <p:spPr>
          <a:xfrm>
            <a:off x="247650" y="714375"/>
            <a:ext cx="11734800" cy="19050"/>
          </a:xfrm>
          <a:prstGeom prst="rect">
            <a:avLst/>
          </a:prstGeom>
          <a:solidFill>
            <a:srgbClr val="5B7188"/>
          </a:solidFill>
          <a:ln w="0">
            <a:solidFill>
              <a:srgbClr val="294A6D"/>
            </a:solidFill>
            <a:prstDash val="solid"/>
          </a:ln>
          <a:effectLst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11-title"/>
          <p:cNvSpPr>
            <a:spLocks noGrp="1"/>
          </p:cNvSpPr>
          <p:nvPr/>
        </p:nvSpPr>
        <p:spPr>
          <a:xfrm>
            <a:off x="977900" y="241755"/>
            <a:ext cx="9144000" cy="495300"/>
          </a:xfrm>
          <a:prstGeom prst="rect">
            <a:avLst/>
          </a:prstGeom>
          <a:noFill/>
          <a:ln w="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85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600" b="1" dirty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四类 </a:t>
            </a:r>
            <a:r>
              <a:rPr lang="en-US" sz="2600" b="1" dirty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Skill </a:t>
            </a:r>
            <a:r>
              <a:rPr lang="zh-CN" altLang="en-US" sz="2600" b="1" dirty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生成 </a:t>
            </a:r>
            <a:r>
              <a:rPr lang="en-US" sz="2600" b="1" dirty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Kernel：</a:t>
            </a:r>
            <a:r>
              <a:rPr lang="zh-CN" altLang="en-US" sz="2600" b="1" dirty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性能结果对比</a:t>
            </a:r>
            <a:endParaRPr sz="2600" b="1" dirty="0">
              <a:solidFill>
                <a:srgbClr val="243B53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easurement_and_baseline_note"/>
          <p:cNvSpPr>
            <a:spLocks noGrp="1"/>
          </p:cNvSpPr>
          <p:nvPr/>
        </p:nvSpPr>
        <p:spPr>
          <a:xfrm>
            <a:off x="1200150" y="4749800"/>
            <a:ext cx="9772650" cy="2540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555D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dirty="0" err="1">
                <a:solidFill>
                  <a:srgbClr val="66737F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单元格：Kernel</a:t>
            </a:r>
            <a:r>
              <a:rPr sz="1050" dirty="0">
                <a:solidFill>
                  <a:srgbClr val="66737F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050" dirty="0" err="1">
                <a:solidFill>
                  <a:srgbClr val="66737F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PyTorch</a:t>
            </a:r>
            <a:r>
              <a:rPr sz="1050" dirty="0">
                <a:solidFill>
                  <a:srgbClr val="66737F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050" dirty="0">
                <a:solidFill>
                  <a:srgbClr val="66737F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加速比</a:t>
            </a:r>
            <a:endParaRPr sz="1050" dirty="0">
              <a:solidFill>
                <a:srgbClr val="66737F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3" name="kernel_vs_pytorch_performance"/>
          <p:cNvGraphicFramePr/>
          <p:nvPr/>
        </p:nvGraphicFramePr>
        <p:xfrm>
          <a:off x="1200150" y="990600"/>
          <a:ext cx="9772650" cy="3657598"/>
        </p:xfrm>
        <a:graphic>
          <a:graphicData uri="http://schemas.openxmlformats.org/drawingml/2006/table">
            <a:tbl>
              <a:tblPr firstRow="1">
                <a:effectLst/>
              </a:tblPr>
              <a:tblGrid>
                <a:gridCol w="221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平台</a:t>
                      </a:r>
                      <a:r>
                        <a:rPr lang="en-US" altLang="zh-CN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算子输入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5B71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LayerNorm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5B71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Softmax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5B71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MatMul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5B71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b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精度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FP32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FP32</a:t>
                      </a:r>
                      <a:endParaRPr sz="1400" b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FP16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400" b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输入结构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64</a:t>
                      </a: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512</a:t>
                      </a: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1024</a:t>
                      </a: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4096</a:t>
                      </a: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4096</a:t>
                      </a: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8192</a:t>
                      </a: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8192</a:t>
                      </a:r>
                      <a:r>
                        <a:rPr lang="zh-CN" alt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MLU Triton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x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1.23</a:t>
                      </a:r>
                      <a:endParaRPr sz="1400" b="1" dirty="0">
                        <a:solidFill>
                          <a:srgbClr val="4F8A83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0.45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x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BANG C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0.01</a:t>
                      </a:r>
                      <a:r>
                        <a:rPr lang="en-US" altLang="zh-CN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x</a:t>
                      </a:r>
                      <a:endParaRPr sz="1400" b="1" dirty="0">
                        <a:solidFill>
                          <a:srgbClr val="C77C59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6E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0.05</a:t>
                      </a:r>
                      <a:r>
                        <a:rPr lang="en-US" altLang="zh-CN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x</a:t>
                      </a:r>
                      <a:endParaRPr sz="1400" b="1" dirty="0">
                        <a:solidFill>
                          <a:srgbClr val="C77C59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6E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0.33</a:t>
                      </a:r>
                      <a:r>
                        <a:rPr lang="en-US" altLang="zh-CN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x</a:t>
                      </a:r>
                      <a:endParaRPr sz="1400" b="1" dirty="0">
                        <a:solidFill>
                          <a:srgbClr val="C77C59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6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 smtClean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GPU Triton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1.43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x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1.06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x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0.53x</a:t>
                      </a:r>
                      <a:endParaRPr sz="1400" b="1" dirty="0">
                        <a:solidFill>
                          <a:srgbClr val="4F8A83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 dirty="0" smtClean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CUDA C</a:t>
                      </a:r>
                      <a:endParaRPr sz="1400" b="1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1.45</a:t>
                      </a:r>
                      <a:r>
                        <a:rPr lang="en-US" altLang="zh-CN"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x</a:t>
                      </a:r>
                      <a:endParaRPr sz="1400" b="1" dirty="0">
                        <a:solidFill>
                          <a:srgbClr val="4F8A83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1.06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x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0.33x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slide-7-page-number"/>
          <p:cNvSpPr>
            <a:spLocks noGrp="1"/>
          </p:cNvSpPr>
          <p:nvPr/>
        </p:nvSpPr>
        <p:spPr>
          <a:xfrm>
            <a:off x="11366500" y="317500"/>
            <a:ext cx="330200" cy="279400"/>
          </a:xfrm>
          <a:prstGeom prst="roundRect">
            <a:avLst>
              <a:gd name="adj" fmla="val 14706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4A6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200" b="1" dirty="0" smtClean="0">
                <a:solidFill>
                  <a:srgbClr val="66737F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lang="en-US" sz="1200" b="1" dirty="0">
              <a:solidFill>
                <a:srgbClr val="66737F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16-observation-heading"/>
          <p:cNvSpPr txBox="1"/>
          <p:nvPr/>
        </p:nvSpPr>
        <p:spPr>
          <a:xfrm>
            <a:off x="1193800" y="5067300"/>
            <a:ext cx="977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 b="1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</a:rPr>
              <a:t>结果观察</a:t>
            </a:r>
          </a:p>
        </p:txBody>
      </p:sp>
      <p:sp>
        <p:nvSpPr>
          <p:cNvPr id="10" name="s16-observation-left"/>
          <p:cNvSpPr txBox="1"/>
          <p:nvPr/>
        </p:nvSpPr>
        <p:spPr>
          <a:xfrm>
            <a:off x="1193800" y="5410200"/>
            <a:ext cx="46736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• LayerNorm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GPU Triton 1.45× 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最优，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CUDA C 1.43× 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紧随；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MLU Triton 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与基线持平。</a:t>
            </a:r>
          </a:p>
          <a:p>
            <a:pPr>
              <a:spcAft>
                <a:spcPts val="500"/>
              </a:spcAft>
            </a:pP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• Softmax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：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MLU Triton 1.23×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；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CUDA C 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与 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GPU Triton 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均为 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1.06×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，接近或超过基线。</a:t>
            </a:r>
          </a:p>
        </p:txBody>
      </p:sp>
      <p:sp>
        <p:nvSpPr>
          <p:cNvPr id="11" name="s16-observation-right"/>
          <p:cNvSpPr txBox="1"/>
          <p:nvPr/>
        </p:nvSpPr>
        <p:spPr>
          <a:xfrm>
            <a:off x="6299200" y="5410200"/>
            <a:ext cx="46736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• MatMul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：四类 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Skill 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全部低于 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1×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；最高 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CUDA C 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也只有 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0.53×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。</a:t>
            </a:r>
          </a:p>
          <a:p>
            <a:pPr>
              <a:spcAft>
                <a:spcPts val="500"/>
              </a:spcAft>
            </a:pP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• BANG C 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三项均低于基线；当前主要短板是高性能优化。</a:t>
            </a:r>
          </a:p>
        </p:txBody>
      </p:sp>
      <p:sp>
        <p:nvSpPr>
          <p:cNvPr id="12" name="slide-1-title"/>
          <p:cNvSpPr>
            <a:spLocks noGrp="1"/>
          </p:cNvSpPr>
          <p:nvPr/>
        </p:nvSpPr>
        <p:spPr>
          <a:xfrm>
            <a:off x="342900" y="223460"/>
            <a:ext cx="635000" cy="4953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0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000" b="1" dirty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3.4</a:t>
            </a:r>
            <a:endParaRPr sz="3000" b="1" dirty="0">
              <a:solidFill>
                <a:srgbClr val="243B53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15-title-rule"/>
          <p:cNvSpPr>
            <a:spLocks noGrp="1"/>
          </p:cNvSpPr>
          <p:nvPr/>
        </p:nvSpPr>
        <p:spPr>
          <a:xfrm>
            <a:off x="247650" y="714375"/>
            <a:ext cx="11734800" cy="19050"/>
          </a:xfrm>
          <a:prstGeom prst="rect">
            <a:avLst/>
          </a:prstGeom>
          <a:solidFill>
            <a:srgbClr val="5B7188"/>
          </a:solidFill>
          <a:ln w="0">
            <a:solidFill>
              <a:srgbClr val="294A6D"/>
            </a:solidFill>
            <a:prstDash val="solid"/>
          </a:ln>
          <a:effectLst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-10-title"/>
          <p:cNvSpPr>
            <a:spLocks noGrp="1"/>
          </p:cNvSpPr>
          <p:nvPr/>
        </p:nvSpPr>
        <p:spPr>
          <a:xfrm>
            <a:off x="977900" y="274260"/>
            <a:ext cx="9144000" cy="495300"/>
          </a:xfrm>
          <a:prstGeom prst="rect">
            <a:avLst/>
          </a:prstGeom>
          <a:noFill/>
          <a:ln w="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0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600" b="1" dirty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四类算子 </a:t>
            </a:r>
            <a:r>
              <a:rPr lang="en-US" altLang="zh-CN" sz="2600" b="1" dirty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Skill</a:t>
            </a:r>
            <a:r>
              <a:rPr lang="zh-CN" altLang="en-US" sz="2600" b="1" dirty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：开发效率对比</a:t>
            </a:r>
            <a:endParaRPr sz="2600" b="1" dirty="0">
              <a:solidFill>
                <a:srgbClr val="243B53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apsed_time_definition"/>
          <p:cNvSpPr>
            <a:spLocks noGrp="1"/>
          </p:cNvSpPr>
          <p:nvPr/>
        </p:nvSpPr>
        <p:spPr>
          <a:xfrm>
            <a:off x="1200149" y="4241800"/>
            <a:ext cx="6350000" cy="2540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5961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66737F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端到端耗时：需求提交 → 最终交付</a:t>
            </a:r>
          </a:p>
        </p:txBody>
      </p:sp>
      <p:graphicFrame>
        <p:nvGraphicFramePr>
          <p:cNvPr id="54" name="development_time_by_skill_and_operator"/>
          <p:cNvGraphicFramePr/>
          <p:nvPr/>
        </p:nvGraphicFramePr>
        <p:xfrm>
          <a:off x="1200150" y="990600"/>
          <a:ext cx="7600950" cy="3149600"/>
        </p:xfrm>
        <a:graphic>
          <a:graphicData uri="http://schemas.openxmlformats.org/drawingml/2006/table">
            <a:tbl>
              <a:tblPr firstRow="1">
                <a:effectLst/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6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9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Skill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5B71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LayerNorm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5B71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Softmax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5B71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MatMul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5B71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MLU Triton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h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h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h59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BANG C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6E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7</a:t>
                      </a:r>
                      <a:r>
                        <a:rPr lang="en-US" altLang="zh-CN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h</a:t>
                      </a:r>
                      <a:endParaRPr sz="1400" b="1" dirty="0">
                        <a:solidFill>
                          <a:srgbClr val="C77C59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6E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7</a:t>
                      </a:r>
                      <a:r>
                        <a:rPr lang="en-US" altLang="zh-CN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h</a:t>
                      </a:r>
                      <a:endParaRPr sz="1400" b="1" dirty="0">
                        <a:solidFill>
                          <a:srgbClr val="C77C59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6E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10</a:t>
                      </a:r>
                      <a:r>
                        <a:rPr lang="en-US" altLang="zh-CN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h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6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92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 smtClean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GPU Triton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r>
                        <a:rPr lang="en-US" altLang="zh-CN"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h57</a:t>
                      </a:r>
                      <a:endParaRPr sz="1400" b="1" dirty="0">
                        <a:solidFill>
                          <a:srgbClr val="4F8A83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r>
                        <a:rPr lang="en-US" altLang="zh-CN"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h10m</a:t>
                      </a:r>
                      <a:endParaRPr sz="1400" b="1" dirty="0">
                        <a:solidFill>
                          <a:srgbClr val="4F8A83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r>
                        <a:rPr lang="en-US" altLang="zh-CN"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h20m</a:t>
                      </a:r>
                      <a:endParaRPr sz="1400" b="1" dirty="0">
                        <a:solidFill>
                          <a:srgbClr val="4F8A83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 dirty="0" smtClean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CUDA C</a:t>
                      </a:r>
                      <a:endParaRPr sz="1400" b="1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h30m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h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r>
                        <a:rPr lang="en-US" altLang="zh-CN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h30m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5" name="average_development_time"/>
          <p:cNvGraphicFramePr/>
          <p:nvPr/>
        </p:nvGraphicFramePr>
        <p:xfrm>
          <a:off x="8801100" y="990600"/>
          <a:ext cx="2199640" cy="3149600"/>
        </p:xfrm>
        <a:graphic>
          <a:graphicData uri="http://schemas.openxmlformats.org/drawingml/2006/table">
            <a:tbl>
              <a:tblPr firstRow="1">
                <a:effectLst/>
              </a:tblPr>
              <a:tblGrid>
                <a:gridCol w="2199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9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平均耗时</a:t>
                      </a: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5B71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2h 49m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8</a:t>
                      </a:r>
                      <a:r>
                        <a:rPr lang="en-US" altLang="zh-CN" sz="1400" b="1" dirty="0">
                          <a:solidFill>
                            <a:srgbClr val="C77C59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h</a:t>
                      </a:r>
                      <a:endParaRPr sz="1400" b="1" dirty="0">
                        <a:solidFill>
                          <a:srgbClr val="C77C59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6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4F8A83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1h 29m</a:t>
                      </a:r>
                      <a:endParaRPr sz="1400" b="1" dirty="0">
                        <a:solidFill>
                          <a:srgbClr val="4F8A83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rgbClr val="2F3A45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cs typeface="微软雅黑" panose="020B0503020204020204" charset="-122"/>
                        </a:rPr>
                        <a:t>2h 20m</a:t>
                      </a:r>
                      <a:endParaRPr sz="1400" b="0" dirty="0">
                        <a:solidFill>
                          <a:srgbClr val="2F3A45"/>
                        </a:solidFill>
                        <a:latin typeface="Arial" panose="020B0604020202020204" pitchFamily="34" charset="0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12700" marB="12700" anchor="ctr">
                    <a:lnL w="9525" cmpd="sng">
                      <a:solidFill>
                        <a:srgbClr val="D6DEE6"/>
                      </a:solidFill>
                      <a:prstDash val="solid"/>
                    </a:lnL>
                    <a:lnR w="9525" cmpd="sng">
                      <a:solidFill>
                        <a:srgbClr val="D6DEE6"/>
                      </a:solidFill>
                      <a:prstDash val="solid"/>
                    </a:lnR>
                    <a:lnT w="9525" cmpd="sng">
                      <a:solidFill>
                        <a:srgbClr val="D6DEE6"/>
                      </a:solidFill>
                      <a:prstDash val="solid"/>
                    </a:lnT>
                    <a:lnB w="9525" cmpd="sng">
                      <a:solidFill>
                        <a:srgbClr val="D6DEE6"/>
                      </a:solidFill>
                      <a:prstDash val="soli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slide-7-page-number"/>
          <p:cNvSpPr>
            <a:spLocks noGrp="1"/>
          </p:cNvSpPr>
          <p:nvPr/>
        </p:nvSpPr>
        <p:spPr>
          <a:xfrm>
            <a:off x="11366500" y="317500"/>
            <a:ext cx="330200" cy="279400"/>
          </a:xfrm>
          <a:prstGeom prst="roundRect">
            <a:avLst>
              <a:gd name="adj" fmla="val 14706"/>
            </a:avLst>
          </a:prstGeom>
          <a:noFill/>
          <a:ln w="9525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4A6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94A6D"/>
                </a:solidFill>
                <a:prstDash val="solid"/>
              </a14:hiddenLine>
            </a:ext>
          </a:extLst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200" b="1" dirty="0" smtClean="0">
                <a:solidFill>
                  <a:srgbClr val="66737F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lang="en-US" sz="1200" b="1" dirty="0">
              <a:solidFill>
                <a:srgbClr val="66737F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17-observation-heading"/>
          <p:cNvSpPr txBox="1"/>
          <p:nvPr/>
        </p:nvSpPr>
        <p:spPr>
          <a:xfrm>
            <a:off x="1193800" y="4597400"/>
            <a:ext cx="977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 b="1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</a:rPr>
              <a:t>效率观察</a:t>
            </a:r>
          </a:p>
        </p:txBody>
      </p:sp>
      <p:sp>
        <p:nvSpPr>
          <p:cNvPr id="11" name="s17-observation-left"/>
          <p:cNvSpPr txBox="1"/>
          <p:nvPr/>
        </p:nvSpPr>
        <p:spPr>
          <a:xfrm>
            <a:off x="1193800" y="4940300"/>
            <a:ext cx="46736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• CUDA C 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平均 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1h29m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，开发耗时最短；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BANG C 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平均 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8h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，耗时最长。</a:t>
            </a:r>
          </a:p>
          <a:p>
            <a:pPr>
              <a:spcAft>
                <a:spcPts val="500"/>
              </a:spcAft>
            </a:pP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• 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开发时间与最终性能并非完全正相关：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CUDA C 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最快，但 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MatMul 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仍只有 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0.53×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。</a:t>
            </a:r>
          </a:p>
          <a:p>
            <a:pPr>
              <a:spcAft>
                <a:spcPts val="500"/>
              </a:spcAft>
            </a:pP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• </a:t>
            </a:r>
            <a:r>
              <a:rPr lang="zh-CN" altLang="en-US" sz="118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新版</a:t>
            </a:r>
            <a:r>
              <a:rPr lang="en-US" altLang="zh-CN" sz="118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mlu</a:t>
            </a:r>
            <a:r>
              <a:rPr lang="zh-CN" altLang="en-US" sz="118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算子进行了消耗</a:t>
            </a:r>
            <a:r>
              <a:rPr lang="en-US" altLang="zh-CN" sz="118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token</a:t>
            </a:r>
            <a:r>
              <a:rPr lang="zh-CN" altLang="en-US" sz="118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和生成时间方面的优化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layerNorm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算子开发时间由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3.6h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降低到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3h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。其余算子没有变化。</a:t>
            </a:r>
          </a:p>
        </p:txBody>
      </p:sp>
      <p:sp>
        <p:nvSpPr>
          <p:cNvPr id="14" name="s17-observation-right"/>
          <p:cNvSpPr txBox="1"/>
          <p:nvPr/>
        </p:nvSpPr>
        <p:spPr>
          <a:xfrm>
            <a:off x="6327140" y="4940300"/>
            <a:ext cx="4673600" cy="120032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• GPU Triton 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的 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MatMul 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开发仅 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1h30m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，却只有 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0.33×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；快速生成不等于高性能。</a:t>
            </a:r>
          </a:p>
          <a:p>
            <a:pPr>
              <a:spcAft>
                <a:spcPts val="500"/>
              </a:spcAft>
            </a:pP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• BANG C 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已能生成并验证 </a:t>
            </a:r>
            <a:r>
              <a:rPr lang="en-US" altLang="zh-CN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Kernel</a:t>
            </a:r>
            <a:r>
              <a:rPr lang="zh-CN" altLang="en-US" sz="118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；当前主要瓶颈是优化知识与规则不足。</a:t>
            </a:r>
          </a:p>
        </p:txBody>
      </p:sp>
      <p:sp>
        <p:nvSpPr>
          <p:cNvPr id="12" name="slide-7-editable-footer"/>
          <p:cNvSpPr>
            <a:spLocks noGrp="1"/>
          </p:cNvSpPr>
          <p:nvPr/>
        </p:nvSpPr>
        <p:spPr>
          <a:xfrm>
            <a:off x="234950" y="6433833"/>
            <a:ext cx="11696700" cy="390525"/>
          </a:xfrm>
          <a:prstGeom prst="rect">
            <a:avLst/>
          </a:prstGeom>
          <a:solidFill>
            <a:srgbClr val="EEF2F5"/>
          </a:solidFill>
          <a:ln w="0">
            <a:solidFill>
              <a:srgbClr val="D6DEE6"/>
            </a:solidFill>
            <a:prstDash val="solid"/>
          </a:ln>
          <a:effectLst/>
        </p:spPr>
        <p:txBody>
          <a:bodyPr wrap="square" lIns="133350" tIns="28575" rIns="133350" bIns="28575" anchor="ctr">
            <a:normAutofit/>
          </a:bodyPr>
          <a:lstStyle/>
          <a:p>
            <a:pPr algn="ctr">
              <a:buNone/>
              <a:defRPr sz="975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0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总结：结果显示 </a:t>
            </a:r>
            <a:r>
              <a:rPr lang="en-US" altLang="zh-CN" sz="1600" dirty="0" err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mlu</a:t>
            </a:r>
            <a:r>
              <a:rPr lang="en-US" altLang="zh-CN" sz="160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 triton </a:t>
            </a:r>
            <a:r>
              <a:rPr lang="en-US" altLang="zh-CN" sz="1600" dirty="0" err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cuda</a:t>
            </a:r>
            <a:r>
              <a:rPr lang="en-US" altLang="zh-CN" sz="160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 c </a:t>
            </a:r>
            <a:r>
              <a:rPr lang="en-US" altLang="zh-CN" sz="1600" dirty="0" err="1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gpu</a:t>
            </a:r>
            <a:r>
              <a:rPr lang="en-US" altLang="zh-CN" sz="160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 triton</a:t>
            </a:r>
            <a:r>
              <a:rPr lang="zh-CN" altLang="en-US" sz="160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的</a:t>
            </a:r>
            <a:r>
              <a:rPr lang="en-US" altLang="zh-CN" sz="160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skill</a:t>
            </a:r>
            <a:r>
              <a:rPr lang="zh-CN" altLang="en-US" sz="160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开发效率尚可，但仍需大量算子测试。</a:t>
            </a:r>
            <a:r>
              <a:rPr lang="en-US" altLang="zh-CN" sz="160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Bang c</a:t>
            </a:r>
            <a:r>
              <a:rPr lang="zh-CN" altLang="en-US" sz="160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算子缺口较大，正在完善</a:t>
            </a:r>
            <a:r>
              <a:rPr sz="1600" dirty="0">
                <a:solidFill>
                  <a:srgbClr val="2F3A45"/>
                </a:solidFill>
                <a:latin typeface="Arial" panose="020B0604020202020204" pitchFamily="34" charset="0"/>
                <a:ea typeface="微软雅黑" panose="020B0503020204020204" charset="-122"/>
              </a:rPr>
              <a:t>。</a:t>
            </a:r>
          </a:p>
        </p:txBody>
      </p:sp>
      <p:sp>
        <p:nvSpPr>
          <p:cNvPr id="13" name="slide-1-title"/>
          <p:cNvSpPr>
            <a:spLocks noGrp="1"/>
          </p:cNvSpPr>
          <p:nvPr/>
        </p:nvSpPr>
        <p:spPr>
          <a:xfrm>
            <a:off x="342900" y="223460"/>
            <a:ext cx="635000" cy="495300"/>
          </a:xfrm>
          <a:prstGeom prst="rect">
            <a:avLst/>
          </a:prstGeom>
          <a:noFill/>
          <a:ln w="0">
            <a:noFill/>
            <a:prstDash val="solid"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000" b="1">
                <a:solidFill>
                  <a:srgbClr val="072A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000" b="1" dirty="0">
                <a:solidFill>
                  <a:srgbClr val="243B53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3.4</a:t>
            </a:r>
            <a:endParaRPr sz="3000" b="1" dirty="0">
              <a:solidFill>
                <a:srgbClr val="243B53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15-title-rule"/>
          <p:cNvSpPr>
            <a:spLocks noGrp="1"/>
          </p:cNvSpPr>
          <p:nvPr/>
        </p:nvSpPr>
        <p:spPr>
          <a:xfrm>
            <a:off x="247650" y="714375"/>
            <a:ext cx="11734800" cy="19050"/>
          </a:xfrm>
          <a:prstGeom prst="rect">
            <a:avLst/>
          </a:prstGeom>
          <a:solidFill>
            <a:srgbClr val="5B7188"/>
          </a:solidFill>
          <a:ln w="0">
            <a:solidFill>
              <a:srgbClr val="294A6D"/>
            </a:solidFill>
            <a:prstDash val="solid"/>
          </a:ln>
          <a:effectLst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2452</Words>
  <Application>Microsoft Office PowerPoint</Application>
  <PresentationFormat>宽屏</PresentationFormat>
  <Paragraphs>370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楷体_GB2312</vt:lpstr>
      <vt:lpstr>微软雅黑</vt:lpstr>
      <vt:lpstr>Arial</vt:lpstr>
      <vt:lpstr>Calibri</vt:lpstr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霍子昂</cp:lastModifiedBy>
  <cp:revision>206</cp:revision>
  <dcterms:created xsi:type="dcterms:W3CDTF">2026-08-17T11:31:00Z</dcterms:created>
  <dcterms:modified xsi:type="dcterms:W3CDTF">2026-09-15T03:26:31Z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EB95D0488D594F14AB70C2DE36E43D4E_12</vt:lpwstr>
  </property>
</Properties>
</file>
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91" r:id="rId2"/>
    <p:sldId id="257" r:id="rId3"/>
    <p:sldId id="273" r:id="rId4"/>
    <p:sldId id="292" r:id="rId5"/>
    <p:sldId id="276" r:id="rId6"/>
    <p:sldId id="284" r:id="rId7"/>
    <p:sldId id="261" r:id="rId8"/>
    <p:sldId id="262" r:id="rId9"/>
    <p:sldId id="280" r:id="rId10"/>
    <p:sldId id="285" r:id="rId11"/>
    <p:sldId id="289" r:id="rId12"/>
    <p:sldId id="279" r:id="rId13"/>
    <p:sldId id="277" r:id="rId14"/>
    <p:sldId id="278" r:id="rId15"/>
    <p:sldId id="268" r:id="rId16"/>
    <p:sldId id="288" r:id="rId17"/>
    <p:sldId id="267" r:id="rId18"/>
    <p:sldId id="286" r:id="rId19"/>
    <p:sldId id="290" r:id="rId20"/>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胡 燕鹏" initials="胡" lastIdx="0" clrIdx="0"/>
  <p:cmAuthor id="2" name="李浩宇" initials="李" lastIdx="0" clrIdx="1"/>
  <p:cmAuthor id="3" name="win10" initials="w"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112" autoAdjust="0"/>
  </p:normalViewPr>
  <p:slideViewPr>
    <p:cSldViewPr snapToGrid="0">
      <p:cViewPr>
        <p:scale>
          <a:sx n="100" d="100"/>
          <a:sy n="100" d="100"/>
        </p:scale>
        <p:origin x="95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C:\Users\huo\Downloads\a386ce03-4b21-4b93-bc52-69891015feef.pptx (user-provided deck, visual style basis)</a:t>
            </a:r>
          </a:p>
          <a:p>
            <a:r>
              <a:t>- User-provided brief (cover wording)</a:t>
            </a:r>
          </a:p>
          <a:p>
            <a:r>
              <a:t>[/Sources]</a:t>
            </a:r>
          </a:p>
          <a:p>
            <a:endParaRPr/>
          </a:p>
          <a:p>
            <a:r>
              <a:t>Cover is fully editable and intentionally minimal.</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61348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C:\Users\huo\Downloads\a386ce03-4b21-4b93-bc52-69891015feef.pptx (user-provided deck, body slide scope)</a:t>
            </a:r>
          </a:p>
          <a:p>
            <a:r>
              <a:t>- User-provided brief (four-part contents wording)</a:t>
            </a:r>
          </a:p>
          <a:p>
            <a:r>
              <a:t>[/Sources]</a:t>
            </a:r>
          </a:p>
          <a:p>
            <a:endParaRPr/>
          </a:p>
          <a:p>
            <a:r>
              <a:t>PART 04 is intentionally directory-only; no P12 body slide is present.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solidFill>
                  <a:srgbClr val="56627A"/>
                </a:solidFill>
                <a:latin typeface="微软雅黑" panose="020B0503020204020204" charset="-122"/>
                <a:ea typeface="微软雅黑" panose="020B0503020204020204" charset="-122"/>
                <a:cs typeface="微软雅黑" panose="020B0503020204020204" charset="-122"/>
              </a:rPr>
              <a:t>Agent </a:t>
            </a:r>
            <a:r>
              <a:rPr dirty="0" err="1">
                <a:solidFill>
                  <a:srgbClr val="56627A"/>
                </a:solidFill>
                <a:latin typeface="微软雅黑" panose="020B0503020204020204" charset="-122"/>
                <a:ea typeface="微软雅黑" panose="020B0503020204020204" charset="-122"/>
                <a:cs typeface="微软雅黑" panose="020B0503020204020204" charset="-122"/>
              </a:rPr>
              <a:t>负责理解和组织任务</a:t>
            </a:r>
            <a:r>
              <a:rPr lang="zh-CN" altLang="en-US" dirty="0">
                <a:solidFill>
                  <a:srgbClr val="56627A"/>
                </a:solidFill>
                <a:latin typeface="微软雅黑" panose="020B0503020204020204" charset="-122"/>
                <a:ea typeface="微软雅黑" panose="020B0503020204020204" charset="-122"/>
                <a:cs typeface="微软雅黑" panose="020B0503020204020204" charset="-122"/>
              </a:rPr>
              <a:t>是</a:t>
            </a:r>
            <a:r>
              <a:rPr lang="zh-CN" altLang="en-US" sz="1200" b="1" dirty="0">
                <a:solidFill>
                  <a:srgbClr val="072A67"/>
                </a:solidFill>
                <a:latin typeface="微软雅黑" panose="020B0503020204020204" charset="-122"/>
                <a:ea typeface="微软雅黑" panose="020B0503020204020204" charset="-122"/>
                <a:cs typeface="微软雅黑" panose="020B0503020204020204" charset="-122"/>
              </a:rPr>
              <a:t>决策与执行主体</a:t>
            </a:r>
          </a:p>
          <a:p>
            <a:r>
              <a:rPr dirty="0">
                <a:solidFill>
                  <a:srgbClr val="56627A"/>
                </a:solidFill>
                <a:latin typeface="微软雅黑" panose="020B0503020204020204" charset="-122"/>
                <a:ea typeface="微软雅黑" panose="020B0503020204020204" charset="-122"/>
                <a:cs typeface="微软雅黑" panose="020B0503020204020204" charset="-122"/>
              </a:rPr>
              <a:t>，Skill </a:t>
            </a:r>
            <a:r>
              <a:rPr dirty="0" err="1">
                <a:solidFill>
                  <a:srgbClr val="56627A"/>
                </a:solidFill>
                <a:latin typeface="微软雅黑" panose="020B0503020204020204" charset="-122"/>
                <a:ea typeface="微软雅黑" panose="020B0503020204020204" charset="-122"/>
                <a:cs typeface="微软雅黑" panose="020B0503020204020204" charset="-122"/>
              </a:rPr>
              <a:t>提供特定任务的专业方法</a:t>
            </a:r>
            <a:endParaRPr b="0" dirty="0">
              <a:solidFill>
                <a:srgbClr val="56627A"/>
              </a:solidFill>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rgbClr val="27364A"/>
                </a:solidFill>
                <a:latin typeface="微软雅黑" panose="020B0503020204020204" charset="-122"/>
                <a:ea typeface="微软雅黑" panose="020B0503020204020204" charset="-122"/>
                <a:cs typeface="微软雅黑" panose="020B0503020204020204" charset="-122"/>
              </a:rPr>
              <a:t>理解真正目标，并根据当前状态决定下一步动作。</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rgbClr val="27364A"/>
                </a:solidFill>
                <a:latin typeface="微软雅黑" panose="020B0503020204020204" charset="-122"/>
                <a:ea typeface="微软雅黑" panose="020B0503020204020204" charset="-122"/>
                <a:cs typeface="微软雅黑" panose="020B0503020204020204" charset="-122"/>
              </a:rPr>
              <a:t>通过计划 → 执行 → 观察 → 调整循环推进复杂任务。</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rgbClr val="27364A"/>
                </a:solidFill>
                <a:latin typeface="微软雅黑" panose="020B0503020204020204" charset="-122"/>
                <a:ea typeface="微软雅黑" panose="020B0503020204020204" charset="-122"/>
                <a:cs typeface="微软雅黑" panose="020B0503020204020204" charset="-122"/>
              </a:rPr>
              <a:t>调用 </a:t>
            </a:r>
            <a:r>
              <a:rPr lang="en-US" altLang="zh-CN" sz="1200" b="0" dirty="0">
                <a:solidFill>
                  <a:srgbClr val="27364A"/>
                </a:solidFill>
                <a:latin typeface="微软雅黑" panose="020B0503020204020204" charset="-122"/>
                <a:ea typeface="微软雅黑" panose="020B0503020204020204" charset="-122"/>
                <a:cs typeface="微软雅黑" panose="020B0503020204020204" charset="-122"/>
              </a:rPr>
              <a:t>Skill</a:t>
            </a:r>
            <a:r>
              <a:rPr lang="zh-CN" altLang="en-US" sz="1200" b="0" dirty="0">
                <a:solidFill>
                  <a:srgbClr val="27364A"/>
                </a:solidFill>
                <a:latin typeface="微软雅黑" panose="020B0503020204020204" charset="-122"/>
                <a:ea typeface="微软雅黑" panose="020B0503020204020204" charset="-122"/>
                <a:cs typeface="微软雅黑" panose="020B0503020204020204" charset="-122"/>
              </a:rPr>
              <a:t>、</a:t>
            </a:r>
            <a:r>
              <a:rPr lang="en-US" altLang="zh-CN" sz="1200" b="0" dirty="0">
                <a:solidFill>
                  <a:srgbClr val="27364A"/>
                </a:solidFill>
                <a:latin typeface="微软雅黑" panose="020B0503020204020204" charset="-122"/>
                <a:ea typeface="微软雅黑" panose="020B0503020204020204" charset="-122"/>
                <a:cs typeface="微软雅黑" panose="020B0503020204020204" charset="-122"/>
              </a:rPr>
              <a:t>Tool </a:t>
            </a:r>
            <a:r>
              <a:rPr lang="zh-CN" altLang="en-US" sz="1200" b="0" dirty="0">
                <a:solidFill>
                  <a:srgbClr val="27364A"/>
                </a:solidFill>
                <a:latin typeface="微软雅黑" panose="020B0503020204020204" charset="-122"/>
                <a:ea typeface="微软雅黑" panose="020B0503020204020204" charset="-122"/>
                <a:cs typeface="微软雅黑" panose="020B0503020204020204" charset="-122"/>
              </a:rPr>
              <a:t>与 </a:t>
            </a:r>
            <a:r>
              <a:rPr lang="en-US" altLang="zh-CN" sz="1200" b="0" dirty="0">
                <a:solidFill>
                  <a:srgbClr val="27364A"/>
                </a:solidFill>
                <a:latin typeface="微软雅黑" panose="020B0503020204020204" charset="-122"/>
                <a:ea typeface="微软雅黑" panose="020B0503020204020204" charset="-122"/>
                <a:cs typeface="微软雅黑" panose="020B0503020204020204" charset="-122"/>
              </a:rPr>
              <a:t>Context</a:t>
            </a:r>
            <a:r>
              <a:rPr lang="zh-CN" altLang="en-US" sz="1200" b="0" dirty="0">
                <a:solidFill>
                  <a:srgbClr val="27364A"/>
                </a:solidFill>
                <a:latin typeface="微软雅黑" panose="020B0503020204020204" charset="-122"/>
                <a:ea typeface="微软雅黑" panose="020B0503020204020204" charset="-122"/>
                <a:cs typeface="微软雅黑" panose="020B0503020204020204" charset="-122"/>
              </a:rPr>
              <a:t>，并整合中间结果。</a:t>
            </a:r>
          </a:p>
          <a:p>
            <a:endParaRPr b="0" dirty="0">
              <a:solidFill>
                <a:srgbClr val="56627A"/>
              </a:solidFill>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dirty="0"/>
              <a:t>
</a:t>
            </a:r>
            <a:r>
              <a:rPr lang="zh-CN" altLang="en-US" sz="1200" b="0" dirty="0">
                <a:solidFill>
                  <a:srgbClr val="27364A"/>
                </a:solidFill>
                <a:latin typeface="微软雅黑" panose="020B0503020204020204" charset="-122"/>
                <a:ea typeface="微软雅黑" panose="020B0503020204020204" charset="-122"/>
                <a:cs typeface="微软雅黑" panose="020B0503020204020204" charset="-122"/>
              </a:rPr>
              <a:t>面向明确任务类型：</a:t>
            </a:r>
            <a:r>
              <a:rPr lang="en-US" altLang="zh-CN" sz="1200" b="0" dirty="0">
                <a:solidFill>
                  <a:srgbClr val="27364A"/>
                </a:solidFill>
                <a:latin typeface="微软雅黑" panose="020B0503020204020204" charset="-122"/>
                <a:ea typeface="微软雅黑" panose="020B0503020204020204" charset="-122"/>
                <a:cs typeface="微软雅黑" panose="020B0503020204020204" charset="-122"/>
              </a:rPr>
              <a:t>PDF · Presentation · Review · Analysis</a:t>
            </a:r>
            <a:r>
              <a:rPr lang="zh-CN" altLang="en-US" sz="1200" b="0" dirty="0">
                <a:solidFill>
                  <a:srgbClr val="27364A"/>
                </a:solidFill>
                <a:latin typeface="微软雅黑" panose="020B0503020204020204" charset="-122"/>
                <a:ea typeface="微软雅黑" panose="020B0503020204020204" charset="-122"/>
                <a:cs typeface="微软雅黑" panose="020B050302020402020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rgbClr val="27364A"/>
                </a:solidFill>
                <a:latin typeface="微软雅黑" panose="020B0503020204020204" charset="-122"/>
                <a:ea typeface="微软雅黑" panose="020B0503020204020204" charset="-122"/>
                <a:cs typeface="微软雅黑" panose="020B0503020204020204" charset="-122"/>
              </a:rPr>
              <a:t>识别任务 → 匹配 </a:t>
            </a:r>
            <a:r>
              <a:rPr lang="en-US" altLang="zh-CN" sz="1200" b="0" dirty="0">
                <a:solidFill>
                  <a:srgbClr val="27364A"/>
                </a:solidFill>
                <a:latin typeface="微软雅黑" panose="020B0503020204020204" charset="-122"/>
                <a:ea typeface="微软雅黑" panose="020B0503020204020204" charset="-122"/>
                <a:cs typeface="微软雅黑" panose="020B0503020204020204" charset="-122"/>
              </a:rPr>
              <a:t>Skill → </a:t>
            </a:r>
            <a:r>
              <a:rPr lang="zh-CN" altLang="en-US" sz="1200" b="0" dirty="0">
                <a:solidFill>
                  <a:srgbClr val="27364A"/>
                </a:solidFill>
                <a:latin typeface="微软雅黑" panose="020B0503020204020204" charset="-122"/>
                <a:ea typeface="微软雅黑" panose="020B0503020204020204" charset="-122"/>
                <a:cs typeface="微软雅黑" panose="020B0503020204020204" charset="-122"/>
              </a:rPr>
              <a:t>读取当前所需说明与资源。</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dirty="0">
                <a:solidFill>
                  <a:srgbClr val="27364A"/>
                </a:solidFill>
                <a:latin typeface="微软雅黑" panose="020B0503020204020204" charset="-122"/>
                <a:ea typeface="微软雅黑" panose="020B0503020204020204" charset="-122"/>
                <a:cs typeface="微软雅黑" panose="020B0503020204020204" charset="-122"/>
              </a:rPr>
              <a:t>Instructions · References · Scripts · Assets</a:t>
            </a:r>
            <a:r>
              <a:rPr lang="zh-CN" altLang="en-US" sz="1200" b="0" dirty="0">
                <a:solidFill>
                  <a:srgbClr val="27364A"/>
                </a:solidFill>
                <a:latin typeface="微软雅黑" panose="020B0503020204020204" charset="-122"/>
                <a:ea typeface="微软雅黑" panose="020B0503020204020204" charset="-122"/>
                <a:cs typeface="微软雅黑" panose="020B0503020204020204" charset="-122"/>
              </a:rPr>
              <a:t>；不等同于单个 </a:t>
            </a:r>
            <a:r>
              <a:rPr lang="en-US" altLang="zh-CN" sz="1200" b="0" dirty="0">
                <a:solidFill>
                  <a:srgbClr val="27364A"/>
                </a:solidFill>
                <a:latin typeface="微软雅黑" panose="020B0503020204020204" charset="-122"/>
                <a:ea typeface="微软雅黑" panose="020B0503020204020204" charset="-122"/>
                <a:cs typeface="微软雅黑" panose="020B0503020204020204" charset="-122"/>
              </a:rPr>
              <a:t>Tool</a:t>
            </a:r>
            <a:r>
              <a:rPr lang="zh-CN" altLang="en-US" sz="1200" b="0" dirty="0">
                <a:solidFill>
                  <a:srgbClr val="27364A"/>
                </a:solidFill>
                <a:latin typeface="微软雅黑" panose="020B0503020204020204" charset="-122"/>
                <a:ea typeface="微软雅黑" panose="020B0503020204020204" charset="-122"/>
                <a:cs typeface="微软雅黑" panose="020B0503020204020204" charset="-122"/>
              </a:rPr>
              <a:t>。</a:t>
            </a:r>
          </a:p>
          <a:p>
            <a:r>
              <a:rPr dirty="0"/>
              <a:t>
[Sources]
- Anthropic, “Equipping agents for the real world with Agent Skills,” 2025-10-16 (updated 2025-12-18), https://www.anthropic.com/engineering/equipping-agents-for-the-real-world-with-agent-skills
- Anthropic, “Building effective agents,” 2024-12-19, https://www.anthropic.com/engineering/building-effective-agents
- D:\1工作\11skill开发\cudatritonskill\Skill_使用开发和经验分享_13页_轻量优化.pptx, slide 3 (user-provided visual source)
[/Sources]
</a:t>
            </a:r>
            <a:r>
              <a:rPr dirty="0" err="1"/>
              <a:t>讲述顺序：先区分</a:t>
            </a:r>
            <a:r>
              <a:rPr dirty="0"/>
              <a:t> </a:t>
            </a:r>
            <a:r>
              <a:rPr dirty="0" err="1"/>
              <a:t>Agent、Skill</a:t>
            </a:r>
            <a:r>
              <a:rPr dirty="0"/>
              <a:t> 与 </a:t>
            </a:r>
            <a:r>
              <a:rPr dirty="0" err="1"/>
              <a:t>Tool，再沿底部流程强调</a:t>
            </a:r>
            <a:r>
              <a:rPr dirty="0"/>
              <a:t> Skill 由 Agent </a:t>
            </a:r>
            <a:r>
              <a:rPr dirty="0" err="1"/>
              <a:t>在任务执行中按需识别、加载和使用</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D:\1工作\11skill开发\cudatritonskill\Agent_Skill_Operator_Development_11pages.pptx, slide 2 (user-provided source deck)</a:t>
            </a:r>
          </a:p>
          <a:p>
            <a:r>
              <a:t>[/Sources]</a:t>
            </a:r>
          </a:p>
          <a:p>
            <a:endParaRPr/>
          </a:p>
          <a:p>
            <a:r>
              <a:t>Editable/module reconstruction: title, subtitle, 4 text/callout objects, 0 native tables, 7 independent image modules.</a:t>
            </a:r>
          </a:p>
          <a:p>
            <a:r>
              <a:t>说明一个 Skill 的四类核心组成，并补充阶段协作契约与复杂任务的 Sub-Agent 编排方式。四个蓝色问题句保留为可编辑文本。</a:t>
            </a:r>
          </a:p>
          <a:p>
            <a:r>
              <a:t>
[Modification]
Light style unification: added PART 01 · SKILL 基础; preserved body structure, tables, diagrams, placeholders, and conclusion wording.
[/Modification]</a:t>
            </a:r>
          </a:p>
          <a:p>
            <a:r>
              <a:t>
[Sources]
- Anthropic, “Equipping agents for the real world with Agent Skills,” 2025-10-16 (updated 2025-12-18), https://www.anthropic.com/engineering/equipping-agents-for-the-real-world-with-agent-skills
- Anthropic, “Building effective agents,” 2024-12-19, https://www.anthropic.com/engineering/building-effective-agents
- D:\1工作\11skill开发\cudatritonskill\Skill_使用开发和经验分享_13页_轻量优化.pptx, slide 4 (user-provided visual source)
[/Sources]
讲述顺序：先解释 Metadata、Instructions、References、Scripts/Assets 的分工，再说明契约与可选 Sub-Agent 编排。强调 Input 可以是自然语言、文件或任务参数，不限定为 JSON Schema。</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75289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清晰的workflow</a:t>
            </a:r>
            <a:r>
              <a:rPr dirty="0"/>
              <a:t> </a:t>
            </a:r>
            <a:r>
              <a:rPr dirty="0" err="1"/>
              <a:t>稳定agent与子agent之间契约</a:t>
            </a:r>
            <a:r>
              <a:rPr dirty="0"/>
              <a:t> </a:t>
            </a:r>
            <a:r>
              <a:rPr dirty="0" err="1"/>
              <a:t>以及可以替换的平台知识</a:t>
            </a:r>
            <a:endParaRPr dirty="0"/>
          </a:p>
          <a:p>
            <a:r>
              <a:rPr dirty="0" err="1">
                <a:solidFill>
                  <a:srgbClr val="56627A"/>
                </a:solidFill>
                <a:latin typeface="微软雅黑" panose="020B0503020204020204" charset="-122"/>
                <a:ea typeface="微软雅黑" panose="020B0503020204020204" charset="-122"/>
                <a:cs typeface="微软雅黑" panose="020B0503020204020204" charset="-122"/>
                <a:sym typeface="+mn-ea"/>
              </a:rPr>
              <a:t>复杂工程型</a:t>
            </a:r>
            <a:r>
              <a:rPr dirty="0">
                <a:solidFill>
                  <a:srgbClr val="56627A"/>
                </a:solidFill>
                <a:latin typeface="微软雅黑" panose="020B0503020204020204" charset="-122"/>
                <a:ea typeface="微软雅黑" panose="020B0503020204020204" charset="-122"/>
                <a:cs typeface="微软雅黑" panose="020B0503020204020204" charset="-122"/>
                <a:sym typeface="+mn-ea"/>
              </a:rPr>
              <a:t> Skill </a:t>
            </a:r>
            <a:r>
              <a:rPr dirty="0" err="1">
                <a:solidFill>
                  <a:srgbClr val="56627A"/>
                </a:solidFill>
                <a:latin typeface="微软雅黑" panose="020B0503020204020204" charset="-122"/>
                <a:ea typeface="微软雅黑" panose="020B0503020204020204" charset="-122"/>
                <a:cs typeface="微软雅黑" panose="020B0503020204020204" charset="-122"/>
                <a:sym typeface="+mn-ea"/>
              </a:rPr>
              <a:t>中，文件可以成为阶段间传递状态、参数和产物的稳定接口。清晰流程、稳定契约与可替换知识</a:t>
            </a:r>
            <a:endParaRPr lang="en-US" dirty="0">
              <a:solidFill>
                <a:srgbClr val="56627A"/>
              </a:solidFill>
              <a:latin typeface="微软雅黑" panose="020B0503020204020204" charset="-122"/>
              <a:ea typeface="微软雅黑" panose="020B0503020204020204" charset="-122"/>
              <a:cs typeface="微软雅黑" panose="020B0503020204020204" charset="-122"/>
              <a:sym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FFFFFF"/>
                </a:solidFill>
                <a:latin typeface="微软雅黑" panose="020B0503020204020204" charset="-122"/>
                <a:ea typeface="微软雅黑" panose="020B0503020204020204" charset="-122"/>
                <a:cs typeface="微软雅黑" panose="020B0503020204020204" charset="-122"/>
              </a:rPr>
              <a:t>多阶段 </a:t>
            </a:r>
            <a:r>
              <a:rPr lang="en-US" altLang="zh-CN" sz="1200" b="1" dirty="0">
                <a:solidFill>
                  <a:srgbClr val="FFFFFF"/>
                </a:solidFill>
                <a:latin typeface="微软雅黑" panose="020B0503020204020204" charset="-122"/>
                <a:ea typeface="微软雅黑" panose="020B0503020204020204" charset="-122"/>
                <a:cs typeface="微软雅黑" panose="020B0503020204020204" charset="-122"/>
              </a:rPr>
              <a:t>· </a:t>
            </a:r>
            <a:r>
              <a:rPr lang="zh-CN" altLang="en-US" sz="1200" b="1" dirty="0">
                <a:solidFill>
                  <a:srgbClr val="FFFFFF"/>
                </a:solidFill>
                <a:latin typeface="微软雅黑" panose="020B0503020204020204" charset="-122"/>
                <a:ea typeface="微软雅黑" panose="020B0503020204020204" charset="-122"/>
                <a:cs typeface="微软雅黑" panose="020B0503020204020204" charset="-122"/>
              </a:rPr>
              <a:t>强契约 </a:t>
            </a:r>
            <a:r>
              <a:rPr lang="en-US" altLang="zh-CN" sz="1200" b="1" dirty="0">
                <a:solidFill>
                  <a:srgbClr val="FFFFFF"/>
                </a:solidFill>
                <a:latin typeface="微软雅黑" panose="020B0503020204020204" charset="-122"/>
                <a:ea typeface="微软雅黑" panose="020B0503020204020204" charset="-122"/>
                <a:cs typeface="微软雅黑" panose="020B0503020204020204" charset="-122"/>
              </a:rPr>
              <a:t>· </a:t>
            </a:r>
            <a:r>
              <a:rPr lang="zh-CN" altLang="en-US" sz="1200" b="1" dirty="0">
                <a:solidFill>
                  <a:srgbClr val="FFFFFF"/>
                </a:solidFill>
                <a:latin typeface="微软雅黑" panose="020B0503020204020204" charset="-122"/>
                <a:ea typeface="微软雅黑" panose="020B0503020204020204" charset="-122"/>
                <a:cs typeface="微软雅黑" panose="020B0503020204020204" charset="-122"/>
              </a:rPr>
              <a:t>强平台依赖</a:t>
            </a:r>
          </a:p>
          <a:p>
            <a:endParaRPr b="0" dirty="0">
              <a:solidFill>
                <a:srgbClr val="56627A"/>
              </a:solidFill>
              <a:latin typeface="微软雅黑" panose="020B0503020204020204" charset="-122"/>
              <a:ea typeface="微软雅黑" panose="020B0503020204020204" charset="-122"/>
              <a:cs typeface="微软雅黑" panose="020B0503020204020204" charset="-122"/>
            </a:endParaRPr>
          </a:p>
          <a:p>
            <a:endParaRPr b="0" dirty="0">
              <a:solidFill>
                <a:srgbClr val="56627A"/>
              </a:solidFill>
              <a:latin typeface="微软雅黑" panose="020B0503020204020204" charset="-122"/>
              <a:ea typeface="微软雅黑" panose="020B0503020204020204" charset="-122"/>
              <a:cs typeface="微软雅黑" panose="020B0503020204020204" charset="-122"/>
            </a:endParaRPr>
          </a:p>
          <a:p>
            <a:endParaRPr b="0" dirty="0">
              <a:solidFill>
                <a:srgbClr val="56627A"/>
              </a:solidFill>
              <a:latin typeface="微软雅黑" panose="020B0503020204020204" charset="-122"/>
              <a:ea typeface="微软雅黑" panose="020B0503020204020204" charset="-122"/>
              <a:cs typeface="微软雅黑" panose="020B050302020402020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C:\Users\huo\Downloads\a386ce03-4b21-4b93-bc52-69891015feef.pptx (user-provided deck, body slide scope)</a:t>
            </a:r>
          </a:p>
          <a:p>
            <a:r>
              <a:t>- User-provided brief (four-part contents wording)</a:t>
            </a:r>
          </a:p>
          <a:p>
            <a:r>
              <a:t>[/Sources]</a:t>
            </a:r>
          </a:p>
          <a:p>
            <a:endParaRPr/>
          </a:p>
          <a:p>
            <a:r>
              <a:t>PART 04 is intentionally directory-only; no P12 body slide is present.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D:\1工作\11skill开发\cudatritonskill\Agent_Skill_Operator_Development_11pages.pptx, slide 4 (user-provided source deck)</a:t>
            </a:r>
          </a:p>
          <a:p>
            <a:r>
              <a:t>[/Sources]</a:t>
            </a:r>
          </a:p>
          <a:p>
            <a:endParaRPr/>
          </a:p>
          <a:p>
            <a:r>
              <a:t>Editable/module reconstruction: title, subtitle, 0 text/callout objects, 0 native tables, 5 independent image modules.</a:t>
            </a:r>
          </a:p>
          <a:p>
            <a:r>
              <a:t>展示原 MLU Triton 算子开发 Skill 的五块架构：总体调用链，以及 Main、Code-Gen、Code-Review、Optimize 四个模块。</a:t>
            </a:r>
          </a:p>
          <a:p>
            <a:r>
              <a:t>
[Modification]
Light style unification: added PART 02 · 原算子 SKILL 实践; preserved body structure, tables, diagrams, placeholders, and conclusion wording.
[/Modification]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solidFill>
                  <a:srgbClr val="56627A"/>
                </a:solidFill>
                <a:latin typeface="微软雅黑" panose="020B0503020204020204" charset="-122"/>
                <a:ea typeface="微软雅黑" panose="020B0503020204020204" charset="-122"/>
                <a:cs typeface="微软雅黑" panose="020B0503020204020204" charset="-122"/>
                <a:sym typeface="+mn-ea"/>
              </a:rPr>
              <a:t>通过阶段输入输出、正确性门禁与性能优化循环，将需求逐步转化为最终可用 Kernel</a:t>
            </a:r>
            <a:endParaRPr b="0">
              <a:solidFill>
                <a:srgbClr val="56627A"/>
              </a:solidFill>
              <a:latin typeface="微软雅黑" panose="020B0503020204020204" charset="-122"/>
              <a:ea typeface="微软雅黑" panose="020B0503020204020204" charset="-122"/>
              <a:cs typeface="微软雅黑" panose="020B0503020204020204" charset="-122"/>
            </a:endParaRPr>
          </a:p>
          <a:p>
            <a:endParaRPr b="0">
              <a:solidFill>
                <a:srgbClr val="56627A"/>
              </a:solidFill>
              <a:latin typeface="微软雅黑" panose="020B0503020204020204" charset="-122"/>
              <a:ea typeface="微软雅黑" panose="020B0503020204020204" charset="-122"/>
              <a:cs typeface="微软雅黑" panose="020B050302020402020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27364A"/>
                </a:solidFill>
                <a:latin typeface="微软雅黑" panose="020B0503020204020204" charset="-122"/>
                <a:ea typeface="微软雅黑" panose="020B0503020204020204" charset="-122"/>
                <a:cs typeface="微软雅黑" panose="020B0503020204020204" charset="-122"/>
              </a:rPr>
              <a:t>多阶段流水线能够支撑实际算子从需求到最终 </a:t>
            </a:r>
            <a:r>
              <a:rPr lang="en-US" altLang="zh-CN" sz="1200" b="1" dirty="0">
                <a:solidFill>
                  <a:srgbClr val="27364A"/>
                </a:solidFill>
                <a:latin typeface="微软雅黑" panose="020B0503020204020204" charset="-122"/>
                <a:ea typeface="微软雅黑" panose="020B0503020204020204" charset="-122"/>
                <a:cs typeface="微软雅黑" panose="020B0503020204020204" charset="-122"/>
              </a:rPr>
              <a:t>Kernel</a:t>
            </a:r>
            <a:r>
              <a:rPr lang="zh-CN" altLang="en-US" sz="1200" b="1" dirty="0">
                <a:solidFill>
                  <a:srgbClr val="27364A"/>
                </a:solidFill>
                <a:latin typeface="微软雅黑" panose="020B0503020204020204" charset="-122"/>
                <a:ea typeface="微软雅黑" panose="020B0503020204020204" charset="-122"/>
                <a:cs typeface="微软雅黑" panose="020B050302020402020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27364A"/>
                </a:solidFill>
                <a:latin typeface="微软雅黑" panose="020B0503020204020204" charset="-122"/>
                <a:ea typeface="微软雅黑" panose="020B0503020204020204" charset="-122"/>
                <a:cs typeface="微软雅黑" panose="020B0503020204020204" charset="-122"/>
              </a:rPr>
              <a:t>真实执行结果驱动修复，而不是只依赖静态判断。</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27364A"/>
                </a:solidFill>
                <a:latin typeface="微软雅黑" panose="020B0503020204020204" charset="-122"/>
                <a:ea typeface="微软雅黑" panose="020B0503020204020204" charset="-122"/>
                <a:cs typeface="微软雅黑" panose="020B0503020204020204" charset="-122"/>
              </a:rPr>
              <a:t>在保证正确性的基础上持续迭代性能。</a:t>
            </a:r>
          </a:p>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r>
              <a:rPr lang="zh-CN" altLang="en-US" sz="1200" b="1" dirty="0">
                <a:solidFill>
                  <a:srgbClr val="27364A"/>
                </a:solidFill>
                <a:latin typeface="微软雅黑" panose="020B0503020204020204" charset="-122"/>
                <a:ea typeface="微软雅黑" panose="020B0503020204020204" charset="-122"/>
                <a:cs typeface="微软雅黑" panose="020B0503020204020204" charset="-122"/>
              </a:rPr>
              <a:t>硬件约束、</a:t>
            </a:r>
            <a:r>
              <a:rPr lang="en-US" altLang="zh-CN" sz="1200" b="1" dirty="0">
                <a:solidFill>
                  <a:srgbClr val="27364A"/>
                </a:solidFill>
                <a:latin typeface="微软雅黑" panose="020B0503020204020204" charset="-122"/>
                <a:ea typeface="微软雅黑" panose="020B0503020204020204" charset="-122"/>
                <a:cs typeface="微软雅黑" panose="020B0503020204020204" charset="-122"/>
              </a:rPr>
              <a:t>Primitive</a:t>
            </a:r>
            <a:r>
              <a:rPr lang="zh-CN" altLang="en-US" sz="1200" b="1" dirty="0">
                <a:solidFill>
                  <a:srgbClr val="27364A"/>
                </a:solidFill>
                <a:latin typeface="微软雅黑" panose="020B0503020204020204" charset="-122"/>
                <a:ea typeface="微软雅黑" panose="020B0503020204020204" charset="-122"/>
                <a:cs typeface="微软雅黑" panose="020B0503020204020204" charset="-122"/>
              </a:rPr>
              <a:t>、平台规则和优化经验散落在多个</a:t>
            </a:r>
          </a:p>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r>
              <a:rPr lang="en-US" altLang="zh-CN" sz="1200" b="1" dirty="0">
                <a:solidFill>
                  <a:srgbClr val="27364A"/>
                </a:solidFill>
                <a:latin typeface="微软雅黑" panose="020B0503020204020204" charset="-122"/>
                <a:ea typeface="微软雅黑" panose="020B0503020204020204" charset="-122"/>
                <a:cs typeface="微软雅黑" panose="020B0503020204020204" charset="-122"/>
              </a:rPr>
              <a:t>Skill / Sub-Agent </a:t>
            </a:r>
            <a:r>
              <a:rPr lang="zh-CN" altLang="en-US" sz="1200" b="1" dirty="0">
                <a:solidFill>
                  <a:srgbClr val="27364A"/>
                </a:solidFill>
                <a:latin typeface="微软雅黑" panose="020B0503020204020204" charset="-122"/>
                <a:ea typeface="微软雅黑" panose="020B0503020204020204" charset="-122"/>
                <a:cs typeface="微软雅黑" panose="020B0503020204020204" charset="-122"/>
              </a:rPr>
              <a:t>中。</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27364A"/>
                </a:solidFill>
                <a:latin typeface="微软雅黑" panose="020B0503020204020204" charset="-122"/>
                <a:ea typeface="微软雅黑" panose="020B0503020204020204" charset="-122"/>
                <a:cs typeface="微软雅黑" panose="020B0503020204020204" charset="-122"/>
              </a:rPr>
              <a:t>环境、生成约束、测试工具和优化策略都需要重新检查与适配。</a:t>
            </a:r>
          </a:p>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r>
              <a:rPr lang="zh-CN" altLang="en-US" sz="1200" b="1" dirty="0">
                <a:solidFill>
                  <a:srgbClr val="27364A"/>
                </a:solidFill>
                <a:latin typeface="微软雅黑" panose="020B0503020204020204" charset="-122"/>
                <a:ea typeface="微软雅黑" panose="020B0503020204020204" charset="-122"/>
                <a:cs typeface="微软雅黑" panose="020B0503020204020204" charset="-122"/>
              </a:rPr>
              <a:t>通用优化思想可以复用，但具体参数和性能结论必须在</a:t>
            </a:r>
          </a:p>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r>
              <a:rPr lang="zh-CN" altLang="en-US" sz="1200" b="1" dirty="0">
                <a:solidFill>
                  <a:srgbClr val="27364A"/>
                </a:solidFill>
                <a:latin typeface="微软雅黑" panose="020B0503020204020204" charset="-122"/>
                <a:ea typeface="微软雅黑" panose="020B0503020204020204" charset="-122"/>
                <a:cs typeface="微软雅黑" panose="020B0503020204020204" charset="-122"/>
              </a:rPr>
              <a:t>目标平台重新验证。</a:t>
            </a:r>
          </a:p>
          <a:p>
            <a:r>
              <a:rPr dirty="0"/>
              <a:t>
[Modification]
Light style unification: added PART 02 · </a:t>
            </a:r>
            <a:r>
              <a:rPr dirty="0" err="1"/>
              <a:t>原算子</a:t>
            </a:r>
            <a:r>
              <a:rPr dirty="0"/>
              <a:t> SKILL </a:t>
            </a:r>
            <a:r>
              <a:rPr dirty="0" err="1"/>
              <a:t>实践</a:t>
            </a:r>
            <a:r>
              <a:rPr dirty="0"/>
              <a:t>; preserved body structure, tables, diagrams, placeholders, and conclusion wording.
[/Modification]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C:\Users\huo\Downloads\a386ce03-4b21-4b93-bc52-69891015feef.pptx (user-provided deck, body slide scope)</a:t>
            </a:r>
          </a:p>
          <a:p>
            <a:r>
              <a:t>- User-provided brief (four-part contents wording)</a:t>
            </a:r>
          </a:p>
          <a:p>
            <a:r>
              <a:t>[/Sources]</a:t>
            </a:r>
          </a:p>
          <a:p>
            <a:endParaRPr/>
          </a:p>
          <a:p>
            <a:r>
              <a:t>PART 04 is intentionally directory-only; no P12 body slide is present.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D:\1工作\11skill开发\cudatritonskill\Agent_Skill_Operator_Development_11pages.pptx, slide 7 (user-provided source deck)</a:t>
            </a:r>
          </a:p>
          <a:p>
            <a:r>
              <a:t>[/Sources]</a:t>
            </a:r>
          </a:p>
          <a:p>
            <a:endParaRPr/>
          </a:p>
          <a:p>
            <a:r>
              <a:t>Editable/module reconstruction: title, subtitle, 8 text/callout objects, 0 native tables, 6 independent image modules.</a:t>
            </a:r>
          </a:p>
          <a:p>
            <a:r>
              <a:t>混合重建。标题、副标题、页码、右侧三段问题标题与结论条、左侧综合结论、反馈规则重点结论和底部总论均可编辑；左侧闭环、三段高密度明细及反馈规则主体按语义分区裁切为独立图片模块。</a:t>
            </a:r>
          </a:p>
          <a:p>
            <a:r>
              <a:t>
[Modification]
Light style unification: added PART 03 · 开发指南与多平台实践; preserved body structure, tables, diagrams, placeholders, and conclusion wording.
[/Modification]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819515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D:\1工作\11skill开发\cudatritonskill\Agent_Skill_Operator_Development_11pages.pptx, slide 7 (user-provided source deck)</a:t>
            </a:r>
          </a:p>
          <a:p>
            <a:r>
              <a:t>[/Sources]</a:t>
            </a:r>
          </a:p>
          <a:p>
            <a:endParaRPr/>
          </a:p>
          <a:p>
            <a:r>
              <a:t>Editable/module reconstruction: title, subtitle, 8 text/callout objects, 0 native tables, 6 independent image modules.</a:t>
            </a:r>
          </a:p>
          <a:p>
            <a:r>
              <a:t>混合重建。标题、副标题、页码、右侧三段问题标题与结论条、左侧综合结论、反馈规则重点结论和底部总论均可编辑；左侧闭环、三段高密度明细及反馈规则主体按语义分区裁切为独立图片模块。</a:t>
            </a:r>
          </a:p>
          <a:p>
            <a:r>
              <a:t>
[Modification]
Light style unification: added PART 03 · 开发指南与多平台实践; preserved body structure, tables, diagrams, placeholders, and conclusion wording.
[/Modification]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lnSpc>
                <a:spcPct val="102000"/>
              </a:lnSpc>
              <a:buNone/>
              <a:defRPr sz="825" b="0">
                <a:solidFill>
                  <a:srgbClr val="27364A"/>
                </a:solidFill>
                <a:latin typeface="微软雅黑" panose="020B0503020204020204" charset="-122"/>
                <a:ea typeface="微软雅黑" panose="020B0503020204020204" charset="-122"/>
                <a:cs typeface="微软雅黑" panose="020B0503020204020204" charset="-122"/>
              </a:defRPr>
            </a:pPr>
            <a:r>
              <a:rPr sz="1200">
                <a:solidFill>
                  <a:srgbClr val="27364A"/>
                </a:solidFill>
                <a:latin typeface="微软雅黑" panose="020B0503020204020204" charset="-122"/>
                <a:ea typeface="微软雅黑" panose="020B0503020204020204" charset="-122"/>
                <a:cs typeface="微软雅黑" panose="020B0503020204020204" charset="-122"/>
                <a:sym typeface="+mn-ea"/>
              </a:rPr>
              <a:t>第 8 步不是流程终点</a:t>
            </a:r>
            <a:endParaRPr sz="1200" b="0">
              <a:solidFill>
                <a:srgbClr val="27364A"/>
              </a:solidFill>
              <a:latin typeface="微软雅黑" panose="020B0503020204020204" charset="-122"/>
              <a:ea typeface="微软雅黑" panose="020B0503020204020204" charset="-122"/>
              <a:cs typeface="微软雅黑" panose="020B0503020204020204" charset="-122"/>
            </a:endParaRPr>
          </a:p>
          <a:p>
            <a:pPr algn="ctr">
              <a:lnSpc>
                <a:spcPct val="102000"/>
              </a:lnSpc>
              <a:buNone/>
              <a:defRPr sz="825" b="0">
                <a:solidFill>
                  <a:srgbClr val="27364A"/>
                </a:solidFill>
                <a:latin typeface="微软雅黑" panose="020B0503020204020204" charset="-122"/>
                <a:ea typeface="微软雅黑" panose="020B0503020204020204" charset="-122"/>
                <a:cs typeface="微软雅黑" panose="020B0503020204020204" charset="-122"/>
              </a:defRPr>
            </a:pPr>
            <a:r>
              <a:rPr sz="1200">
                <a:solidFill>
                  <a:srgbClr val="27364A"/>
                </a:solidFill>
                <a:latin typeface="微软雅黑" panose="020B0503020204020204" charset="-122"/>
                <a:ea typeface="微软雅黑" panose="020B0503020204020204" charset="-122"/>
                <a:cs typeface="微软雅黑" panose="020B0503020204020204" charset="-122"/>
                <a:sym typeface="+mn-ea"/>
              </a:rPr>
              <a:t>按问题回到知识采集、平台验证</a:t>
            </a:r>
            <a:endParaRPr sz="1200" b="0">
              <a:solidFill>
                <a:srgbClr val="27364A"/>
              </a:solidFill>
              <a:latin typeface="微软雅黑" panose="020B0503020204020204" charset="-122"/>
              <a:ea typeface="微软雅黑" panose="020B0503020204020204" charset="-122"/>
              <a:cs typeface="微软雅黑" panose="020B0503020204020204" charset="-122"/>
            </a:endParaRPr>
          </a:p>
          <a:p>
            <a:pPr algn="ctr">
              <a:lnSpc>
                <a:spcPct val="102000"/>
              </a:lnSpc>
              <a:buNone/>
              <a:defRPr sz="825" b="0">
                <a:solidFill>
                  <a:srgbClr val="27364A"/>
                </a:solidFill>
                <a:latin typeface="微软雅黑" panose="020B0503020204020204" charset="-122"/>
                <a:ea typeface="微软雅黑" panose="020B0503020204020204" charset="-122"/>
                <a:cs typeface="微软雅黑" panose="020B0503020204020204" charset="-122"/>
              </a:defRPr>
            </a:pPr>
            <a:r>
              <a:rPr sz="1200">
                <a:solidFill>
                  <a:srgbClr val="27364A"/>
                </a:solidFill>
                <a:latin typeface="微软雅黑" panose="020B0503020204020204" charset="-122"/>
                <a:ea typeface="微软雅黑" panose="020B0503020204020204" charset="-122"/>
                <a:cs typeface="微软雅黑" panose="020B0503020204020204" charset="-122"/>
                <a:sym typeface="+mn-ea"/>
              </a:rPr>
              <a:t>或 Workflow 适配阶段</a:t>
            </a:r>
            <a:endParaRPr sz="1200" b="0">
              <a:solidFill>
                <a:srgbClr val="27364A"/>
              </a:solidFill>
              <a:latin typeface="微软雅黑" panose="020B0503020204020204" charset="-122"/>
              <a:ea typeface="微软雅黑" panose="020B0503020204020204" charset="-122"/>
              <a:cs typeface="微软雅黑" panose="020B0503020204020204" charset="-122"/>
            </a:endParaRPr>
          </a:p>
          <a:p>
            <a:endParaRPr sz="12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D:\1工作\11skill开发\cudatritonskill\Agent_Skill_Operator_Development_11pages.pptx, slide 9 (user-provided source deck)</a:t>
            </a:r>
          </a:p>
          <a:p>
            <a:r>
              <a:t>[/Sources]</a:t>
            </a:r>
          </a:p>
          <a:p>
            <a:endParaRPr/>
          </a:p>
          <a:p>
            <a:r>
              <a:t>Editable/module reconstruction: title, subtitle, 7 text/callout objects, 0 native tables, 5 independent image modules.</a:t>
            </a:r>
          </a:p>
          <a:p>
            <a:r>
              <a:t>混合重建：四个平台的高密度进展面板与成熟度路径保留为五个可独立替换的裁剪图片模块；页标题、副标题、三条编号判断和页底结论均为原生可编辑文本。</a:t>
            </a:r>
          </a:p>
          <a:p>
            <a:r>
              <a:t>
[Modification]
Light style unification: added PART 03 · 开发指南与多平台实践; preserved body structure, tables, diagrams, placeholders, and conclusion wording.
[/Modification]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D:\1工作\11skill开发\cudatritonskill\Agent_Skill_Operator_Development_11pages.pptx, slide 11 (user-provided source deck)</a:t>
            </a:r>
          </a:p>
          <a:p>
            <a:r>
              <a:t>[/Sources]</a:t>
            </a:r>
          </a:p>
          <a:p>
            <a:endParaRPr/>
          </a:p>
          <a:p>
            <a:r>
              <a:t>Editable/module reconstruction: title, subtitle, 1 text/callout objects, 1 native tables, 0 independent image modules.</a:t>
            </a:r>
          </a:p>
          <a:p>
            <a:r>
              <a:t>全原生可编辑结果页：平台、输入形状、精度以及 Kernel/PyTorch 时间全部置于 PowerPoint 表格单元格中；测量口径与两行结论也为可编辑文本，未使用整表栅格图。</a:t>
            </a:r>
          </a:p>
          <a:p>
            <a:r>
              <a:t>
[Modification]
Light style unification: added PART 03 · 开发指南与多平台实践; added requested evaluation metadata; preserved body structure, tables, diagrams, placeholders, and conclusion wording.
[/Modification]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D:\1工作\11skill开发\cudatritonskill\Agent_Skill_Operator_Development_11pages.pptx, slide 11 (user-provided source deck)</a:t>
            </a:r>
          </a:p>
          <a:p>
            <a:r>
              <a:t>[/Sources]</a:t>
            </a:r>
          </a:p>
          <a:p>
            <a:endParaRPr/>
          </a:p>
          <a:p>
            <a:r>
              <a:t>Editable/module reconstruction: title, subtitle, 1 text/callout objects, 1 native tables, 0 independent image modules.</a:t>
            </a:r>
          </a:p>
          <a:p>
            <a:r>
              <a:t>全原生可编辑结果页：平台、输入形状、精度以及 Kernel/PyTorch 时间全部置于 PowerPoint 表格单元格中；测量口径与两行结论也为可编辑文本，未使用整表栅格图。</a:t>
            </a:r>
          </a:p>
          <a:p>
            <a:r>
              <a:t>
[Modification]
Light style unification: added PART 03 · 开发指南与多平台实践; added requested evaluation metadata; preserved body structure, tables, diagrams, placeholders, and conclusion wording.
[/Modification]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088449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D:\1工作\11skill开发\cudatritonskill\Agent_Skill_Operator_Development_11pages.pptx, slide 10 (user-provided source deck)</a:t>
            </a:r>
          </a:p>
          <a:p>
            <a:r>
              <a:t>[/Sources]</a:t>
            </a:r>
          </a:p>
          <a:p>
            <a:endParaRPr/>
          </a:p>
          <a:p>
            <a:r>
              <a:t>Editable/module reconstruction: title, subtitle, 18 text/callout objects, 2 native tables, 3 independent image modules.</a:t>
            </a:r>
          </a:p>
          <a:p>
            <a:r>
              <a:t>原生可编辑数据页：主表拆成四列开发耗时表和一列平均耗时强调表，所有待补单元格均可直接填写；两个问题卡、数据占位回答和底部页间提示均为可编辑文本，仅三个装饰图标保留为独立小图片模块。</a:t>
            </a:r>
          </a:p>
          <a:p>
            <a:r>
              <a:t>
[Modification]
Light style unification: added PART 03 · 开发指南与多平台实践; added requested evaluation metadata; preserved body structure, tables, diagrams, placeholders, and conclusion wording.
[/Modification]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C:\Users\huo\Downloads\a386ce03-4b21-4b93-bc52-69891015feef.pptx (user-provided deck, body slide scope)</a:t>
            </a:r>
          </a:p>
          <a:p>
            <a:r>
              <a:t>- User-provided brief (four-part contents wording)</a:t>
            </a:r>
          </a:p>
          <a:p>
            <a:r>
              <a:t>[/Sources]</a:t>
            </a:r>
          </a:p>
          <a:p>
            <a:endParaRPr/>
          </a:p>
          <a:p>
            <a:r>
              <a:t>PART 04 is intentionally directory-only; no P12 body slide is present.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Local Skill family architecture and user-provided future-state framing.</a:t>
            </a:r>
          </a:p>
          <a:p>
            <a:r>
              <a:t>[/Sources]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200796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0"/>
            <a:ext cx="2844800" cy="365125"/>
          </a:xfrm>
        </p:spPr>
        <p:txBody>
          <a:bodyPr/>
          <a:lstStyle/>
          <a:p>
            <a:pPr fontAlgn="auto">
              <a:defRPr/>
            </a:pPr>
            <a:fld id="{BF415795-042F-4949-9313-AD09E35C5059}" type="datetime1">
              <a:rPr lang="zh-CN" altLang="en-US" strike="noStrike" noProof="1">
                <a:latin typeface="+mn-lt"/>
                <a:ea typeface="+mn-ea"/>
                <a:cs typeface="+mn-cs"/>
              </a:rPr>
              <a:t>2026/8/18</a:t>
            </a:fld>
            <a:endParaRPr lang="zh-CN" altLang="en-US" strike="noStrike" noProof="1"/>
          </a:p>
        </p:txBody>
      </p:sp>
      <p:sp>
        <p:nvSpPr>
          <p:cNvPr id="3" name="页脚占位符 2"/>
          <p:cNvSpPr>
            <a:spLocks noGrp="1"/>
          </p:cNvSpPr>
          <p:nvPr>
            <p:ph type="ftr" sz="quarter" idx="11"/>
          </p:nvPr>
        </p:nvSpPr>
        <p:spPr>
          <a:xfrm>
            <a:off x="4165600" y="6356350"/>
            <a:ext cx="3860800" cy="365125"/>
          </a:xfrm>
        </p:spPr>
        <p:txBody>
          <a:bodyPr/>
          <a:lstStyle/>
          <a:p>
            <a:pPr fontAlgn="auto">
              <a:defRPr/>
            </a:pPr>
            <a:endParaRPr lang="en-US" altLang="zh-CN" strike="noStrike" noProof="1"/>
          </a:p>
        </p:txBody>
      </p:sp>
      <p:sp>
        <p:nvSpPr>
          <p:cNvPr id="4" name="灯片编号占位符 3"/>
          <p:cNvSpPr>
            <a:spLocks noGrp="1"/>
          </p:cNvSpPr>
          <p:nvPr>
            <p:ph type="sldNum" sz="quarter" idx="12"/>
          </p:nvPr>
        </p:nvSpPr>
        <p:spPr>
          <a:xfrm>
            <a:off x="8737600" y="6356350"/>
            <a:ext cx="2844800" cy="365125"/>
          </a:xfrm>
        </p:spPr>
        <p:txBody>
          <a:bodyPr/>
          <a:lstStyle/>
          <a:p>
            <a:pPr fontAlgn="auto">
              <a:defRPr/>
            </a:pPr>
            <a:fld id="{E6EDE1DC-439A-425E-8995-2DD3A7B9393D}" type="slidenum">
              <a:rPr lang="zh-CN" altLang="en-US" strike="noStrike" noProof="1">
                <a:latin typeface="Times New Roman" panose="02020603050405020304" pitchFamily="18" charset="0"/>
                <a:ea typeface="楷体_GB2312" pitchFamily="1" charset="-122"/>
                <a:cs typeface="+mn-cs"/>
              </a:rPr>
              <a:t>‹#›</a:t>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ver-title"/>
          <p:cNvSpPr>
            <a:spLocks noGrp="1"/>
          </p:cNvSpPr>
          <p:nvPr/>
        </p:nvSpPr>
        <p:spPr>
          <a:xfrm>
            <a:off x="3408680" y="1701165"/>
            <a:ext cx="7048500" cy="876300"/>
          </a:xfrm>
          <a:prstGeom prst="rect">
            <a:avLst/>
          </a:prstGeom>
          <a:noFill/>
          <a:ln w="0">
            <a:noFill/>
            <a:prstDash val="solid"/>
          </a:ln>
        </p:spPr>
        <p:txBody>
          <a:bodyPr wrap="square" lIns="0" tIns="0" rIns="0" bIns="0" anchor="ctr">
            <a:normAutofit/>
          </a:bodyPr>
          <a:lstStyle/>
          <a:p>
            <a:pPr algn="l">
              <a:defRPr sz="3450" b="1">
                <a:solidFill>
                  <a:srgbClr val="072A67"/>
                </a:solidFill>
                <a:latin typeface="微软雅黑" panose="020B0503020204020204" charset="-122"/>
                <a:ea typeface="微软雅黑" panose="020B0503020204020204" charset="-122"/>
                <a:cs typeface="微软雅黑" panose="020B0503020204020204" charset="-122"/>
              </a:defRPr>
            </a:pPr>
            <a:r>
              <a:rPr sz="3450" b="1">
                <a:solidFill>
                  <a:srgbClr val="072A67"/>
                </a:solidFill>
                <a:latin typeface="微软雅黑" panose="020B0503020204020204" charset="-122"/>
                <a:ea typeface="微软雅黑" panose="020B0503020204020204" charset="-122"/>
                <a:cs typeface="微软雅黑" panose="020B0503020204020204" charset="-122"/>
              </a:rPr>
              <a:t>Skill 使用、开发和经验分享</a:t>
            </a:r>
          </a:p>
        </p:txBody>
      </p:sp>
      <p:sp>
        <p:nvSpPr>
          <p:cNvPr id="4" name="cover-subtitle"/>
          <p:cNvSpPr>
            <a:spLocks noGrp="1"/>
          </p:cNvSpPr>
          <p:nvPr/>
        </p:nvSpPr>
        <p:spPr>
          <a:xfrm>
            <a:off x="4295775" y="2708910"/>
            <a:ext cx="6858000" cy="419100"/>
          </a:xfrm>
          <a:prstGeom prst="rect">
            <a:avLst/>
          </a:prstGeom>
          <a:noFill/>
          <a:ln w="0">
            <a:noFill/>
            <a:prstDash val="solid"/>
          </a:ln>
        </p:spPr>
        <p:txBody>
          <a:bodyPr wrap="square" lIns="0" tIns="0" rIns="0" bIns="0" anchor="ctr">
            <a:normAutofit/>
          </a:bodyPr>
          <a:lstStyle/>
          <a:p>
            <a:pPr algn="l">
              <a:defRPr sz="1650" b="0">
                <a:solidFill>
                  <a:srgbClr val="56627A"/>
                </a:solidFill>
                <a:latin typeface="微软雅黑" panose="020B0503020204020204" charset="-122"/>
                <a:ea typeface="微软雅黑" panose="020B0503020204020204" charset="-122"/>
                <a:cs typeface="微软雅黑" panose="020B0503020204020204" charset="-122"/>
              </a:defRPr>
            </a:pPr>
            <a:r>
              <a:rPr sz="1650" b="0">
                <a:solidFill>
                  <a:srgbClr val="56627A"/>
                </a:solidFill>
                <a:latin typeface="微软雅黑" panose="020B0503020204020204" charset="-122"/>
                <a:ea typeface="微软雅黑" panose="020B0503020204020204" charset="-122"/>
                <a:cs typeface="微软雅黑" panose="020B0503020204020204" charset="-122"/>
              </a:rPr>
              <a:t>从 Agent Skill 基础到跨平台算子开发</a:t>
            </a:r>
            <a:r>
              <a:rPr lang="zh-CN" sz="1650" b="0">
                <a:solidFill>
                  <a:srgbClr val="56627A"/>
                </a:solidFill>
                <a:latin typeface="微软雅黑" panose="020B0503020204020204" charset="-122"/>
                <a:ea typeface="微软雅黑" panose="020B0503020204020204" charset="-122"/>
                <a:cs typeface="微软雅黑" panose="020B0503020204020204" charset="-122"/>
              </a:rPr>
              <a:t>指南</a:t>
            </a:r>
          </a:p>
        </p:txBody>
      </p:sp>
      <p:sp>
        <p:nvSpPr>
          <p:cNvPr id="14" name="cover-bottom-rule"/>
          <p:cNvSpPr>
            <a:spLocks noGrp="1"/>
          </p:cNvSpPr>
          <p:nvPr/>
        </p:nvSpPr>
        <p:spPr>
          <a:xfrm>
            <a:off x="723900" y="5905500"/>
            <a:ext cx="10363200" cy="14288"/>
          </a:xfrm>
          <a:prstGeom prst="rect">
            <a:avLst/>
          </a:prstGeom>
          <a:solidFill>
            <a:srgbClr val="C8D9F3"/>
          </a:solidFill>
          <a:ln w="0">
            <a:noFill/>
            <a:prstDash val="solid"/>
          </a:ln>
        </p:spPr>
      </p:sp>
      <p:sp>
        <p:nvSpPr>
          <p:cNvPr id="15" name="cover-meta-left"/>
          <p:cNvSpPr>
            <a:spLocks noGrp="1"/>
          </p:cNvSpPr>
          <p:nvPr/>
        </p:nvSpPr>
        <p:spPr>
          <a:xfrm>
            <a:off x="723900" y="6105525"/>
            <a:ext cx="5143500" cy="266700"/>
          </a:xfrm>
          <a:prstGeom prst="rect">
            <a:avLst/>
          </a:prstGeom>
          <a:noFill/>
          <a:ln w="0">
            <a:noFill/>
            <a:prstDash val="solid"/>
          </a:ln>
        </p:spPr>
        <p:txBody>
          <a:bodyPr wrap="square" lIns="0" tIns="0" rIns="0" bIns="0" anchor="ctr">
            <a:normAutofit/>
          </a:bodyPr>
          <a:lstStyle/>
          <a:p>
            <a:pPr algn="l">
              <a:defRPr sz="975" b="1">
                <a:solidFill>
                  <a:srgbClr val="072A67"/>
                </a:solidFill>
                <a:latin typeface="微软雅黑" panose="020B0503020204020204" charset="-122"/>
                <a:ea typeface="微软雅黑" panose="020B0503020204020204" charset="-122"/>
                <a:cs typeface="微软雅黑" panose="020B0503020204020204" charset="-122"/>
              </a:defRPr>
            </a:pPr>
            <a:r>
              <a:rPr lang="en-US" sz="1400" b="1">
                <a:solidFill>
                  <a:srgbClr val="072A67"/>
                </a:solidFill>
                <a:latin typeface="微软雅黑" panose="020B0503020204020204" charset="-122"/>
                <a:ea typeface="微软雅黑" panose="020B0503020204020204" charset="-122"/>
                <a:cs typeface="微软雅黑" panose="020B0503020204020204" charset="-122"/>
              </a:rPr>
              <a:t>2026</a:t>
            </a:r>
            <a:r>
              <a:rPr sz="1400" b="1">
                <a:solidFill>
                  <a:srgbClr val="072A67"/>
                </a:solidFill>
                <a:latin typeface="微软雅黑" panose="020B0503020204020204" charset="-122"/>
                <a:ea typeface="微软雅黑" panose="020B0503020204020204" charset="-122"/>
                <a:cs typeface="微软雅黑" panose="020B0503020204020204" charset="-122"/>
              </a:rPr>
              <a:t>  ·  </a:t>
            </a:r>
            <a:r>
              <a:rPr lang="en-US" sz="1400" b="1">
                <a:solidFill>
                  <a:srgbClr val="072A67"/>
                </a:solidFill>
                <a:latin typeface="微软雅黑" panose="020B0503020204020204" charset="-122"/>
                <a:ea typeface="微软雅黑" panose="020B0503020204020204" charset="-122"/>
                <a:cs typeface="微软雅黑" panose="020B0503020204020204" charset="-122"/>
              </a:rPr>
              <a:t>08</a:t>
            </a:r>
            <a:r>
              <a:rPr sz="1400" b="1">
                <a:solidFill>
                  <a:srgbClr val="072A67"/>
                </a:solidFill>
                <a:latin typeface="微软雅黑" panose="020B0503020204020204" charset="-122"/>
                <a:ea typeface="微软雅黑" panose="020B0503020204020204" charset="-122"/>
                <a:cs typeface="微软雅黑" panose="020B0503020204020204" charset="-122"/>
              </a:rPr>
              <a:t> ·  </a:t>
            </a:r>
            <a:r>
              <a:rPr lang="en-US" sz="1400" b="1">
                <a:solidFill>
                  <a:srgbClr val="072A67"/>
                </a:solidFill>
                <a:latin typeface="微软雅黑" panose="020B0503020204020204" charset="-122"/>
                <a:ea typeface="微软雅黑" panose="020B0503020204020204" charset="-122"/>
                <a:cs typeface="微软雅黑" panose="020B0503020204020204" charset="-122"/>
              </a:rPr>
              <a:t>19</a:t>
            </a:r>
          </a:p>
        </p:txBody>
      </p:sp>
      <p:sp>
        <p:nvSpPr>
          <p:cNvPr id="16" name="cover-meta-right"/>
          <p:cNvSpPr>
            <a:spLocks noGrp="1"/>
          </p:cNvSpPr>
          <p:nvPr/>
        </p:nvSpPr>
        <p:spPr>
          <a:xfrm>
            <a:off x="6629400" y="6105525"/>
            <a:ext cx="4457700" cy="266700"/>
          </a:xfrm>
          <a:prstGeom prst="rect">
            <a:avLst/>
          </a:prstGeom>
          <a:noFill/>
          <a:ln w="0">
            <a:noFill/>
            <a:prstDash val="solid"/>
          </a:ln>
        </p:spPr>
        <p:txBody>
          <a:bodyPr wrap="square" lIns="0" tIns="0" rIns="0" bIns="0" anchor="ctr">
            <a:normAutofit/>
          </a:bodyPr>
          <a:lstStyle/>
          <a:p>
            <a:pPr algn="r">
              <a:defRPr sz="940" b="0">
                <a:solidFill>
                  <a:srgbClr val="56627A"/>
                </a:solidFill>
                <a:latin typeface="微软雅黑" panose="020B0503020204020204" charset="-122"/>
                <a:ea typeface="微软雅黑" panose="020B0503020204020204" charset="-122"/>
                <a:cs typeface="微软雅黑" panose="020B0503020204020204" charset="-122"/>
              </a:defRPr>
            </a:pPr>
            <a:r>
              <a:rPr sz="1400" b="1">
                <a:solidFill>
                  <a:srgbClr val="56627A"/>
                </a:solidFill>
                <a:latin typeface="微软雅黑" panose="020B0503020204020204" charset="-122"/>
                <a:ea typeface="微软雅黑" panose="020B0503020204020204" charset="-122"/>
                <a:cs typeface="微软雅黑" panose="020B0503020204020204" charset="-122"/>
              </a:rPr>
              <a:t>汇报人：</a:t>
            </a:r>
            <a:r>
              <a:rPr lang="zh-CN" sz="1400" b="1">
                <a:solidFill>
                  <a:srgbClr val="56627A"/>
                </a:solidFill>
                <a:latin typeface="微软雅黑" panose="020B0503020204020204" charset="-122"/>
                <a:ea typeface="微软雅黑" panose="020B0503020204020204" charset="-122"/>
                <a:cs typeface="微软雅黑" panose="020B0503020204020204" charset="-122"/>
              </a:rPr>
              <a:t>霍子昂</a:t>
            </a:r>
            <a:r>
              <a:rPr sz="1400" b="1">
                <a:solidFill>
                  <a:srgbClr val="56627A"/>
                </a:solidFill>
                <a:latin typeface="微软雅黑" panose="020B0503020204020204" charset="-122"/>
                <a:ea typeface="微软雅黑" panose="020B0503020204020204" charset="-122"/>
                <a:cs typeface="微软雅黑" panose="020B0503020204020204" charset="-122"/>
              </a:rPr>
              <a:t>   _</a:t>
            </a:r>
          </a:p>
        </p:txBody>
      </p:sp>
      <p:sp>
        <p:nvSpPr>
          <p:cNvPr id="17" name="cover-bottom-accent"/>
          <p:cNvSpPr>
            <a:spLocks noGrp="1"/>
          </p:cNvSpPr>
          <p:nvPr/>
        </p:nvSpPr>
        <p:spPr>
          <a:xfrm>
            <a:off x="0" y="6743700"/>
            <a:ext cx="12192000" cy="114300"/>
          </a:xfrm>
          <a:prstGeom prst="rect">
            <a:avLst/>
          </a:prstGeom>
          <a:solidFill>
            <a:srgbClr val="072A67"/>
          </a:solidFill>
          <a:ln w="0">
            <a:noFill/>
            <a:prstDash val="solid"/>
          </a:ln>
        </p:spPr>
      </p:sp>
    </p:spTree>
    <p:extLst>
      <p:ext uri="{BB962C8B-B14F-4D97-AF65-F5344CB8AC3E}">
        <p14:creationId xmlns:p14="http://schemas.microsoft.com/office/powerpoint/2010/main" val="14858682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Microsoft YaHei" panose="020B0503020204020204" pitchFamily="3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EEF2F5"/>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5B7188"/>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Microsoft YaHei" panose="020B0503020204020204" pitchFamily="3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b="1">
                <a:solidFill>
                  <a:srgbClr val="243B53"/>
                </a:solidFill>
                <a:latin typeface="Arial" panose="020B0604020202020204" pitchFamily="34" charset="0"/>
                <a:ea typeface="Microsoft YaHei" panose="020B0503020204020204" pitchFamily="34" charset="-122"/>
                <a:cs typeface="微软雅黑" panose="020B0503020204020204" charset="-122"/>
              </a:rPr>
              <a:t>Agent/</a:t>
            </a:r>
            <a:r>
              <a:rPr sz="1600" b="1">
                <a:solidFill>
                  <a:srgbClr val="243B53"/>
                </a:solidFill>
                <a:latin typeface="Arial" panose="020B0604020202020204" pitchFamily="34" charset="0"/>
                <a:ea typeface="Microsoft YaHei" panose="020B0503020204020204" pitchFamily="3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ect">
            <a:avLst/>
          </a:prstGeom>
          <a:solidFill>
            <a:srgbClr val="FFFFFF"/>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D6DEE6"/>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02</a:t>
            </a: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a:solidFill>
                  <a:srgbClr val="2F3A45"/>
                </a:solidFill>
                <a:latin typeface="Arial" panose="020B0604020202020204" pitchFamily="34" charset="0"/>
                <a:ea typeface="Microsoft YaHei" panose="020B0503020204020204" pitchFamily="34" charset="-122"/>
                <a:cs typeface="微软雅黑" panose="020B0503020204020204" charset="-122"/>
              </a:rPr>
              <a:t>寒武纪</a:t>
            </a:r>
            <a:r>
              <a:rPr sz="1600">
                <a:solidFill>
                  <a:srgbClr val="2F3A45"/>
                </a:solidFill>
                <a:latin typeface="Arial" panose="020B0604020202020204" pitchFamily="34" charset="0"/>
                <a:ea typeface="Microsoft YaHei" panose="020B0503020204020204" pitchFamily="3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ect">
            <a:avLst/>
          </a:prstGeom>
          <a:solidFill>
            <a:srgbClr val="FFFFFF"/>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D6DEE6"/>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16805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03</a:t>
            </a: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Microsoft YaHei" panose="020B0503020204020204" pitchFamily="3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ect">
            <a:avLst/>
          </a:prstGeom>
          <a:solidFill>
            <a:srgbClr val="FFFFFF"/>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D6DEE6"/>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Microsoft YaHei" panose="020B0503020204020204" pitchFamily="34" charset="-122"/>
                <a:cs typeface="微软雅黑" panose="020B0503020204020204" charset="-122"/>
              </a:rPr>
              <a:t>未来展望</a:t>
            </a: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3" name="s3-agent-surface"/>
          <p:cNvSpPr>
            <a:spLocks noGrp="1"/>
          </p:cNvSpPr>
          <p:nvPr/>
        </p:nvSpPr>
        <p:spPr>
          <a:xfrm>
            <a:off x="6192839" y="1440378"/>
            <a:ext cx="5543550" cy="2894569"/>
          </a:xfrm>
          <a:prstGeom prst="roundRect">
            <a:avLst>
              <a:gd name="adj" fmla="val 2717"/>
            </a:avLst>
          </a:prstGeom>
          <a:noFill/>
          <a:ln w="28575">
            <a:solidFill>
              <a:srgbClr val="CAD7EB"/>
            </a:solidFill>
            <a:prstDash val="dash"/>
          </a:ln>
        </p:spPr>
      </p:sp>
      <p:sp>
        <p:nvSpPr>
          <p:cNvPr id="29" name="s3-agent-surface"/>
          <p:cNvSpPr>
            <a:spLocks noGrp="1"/>
          </p:cNvSpPr>
          <p:nvPr/>
        </p:nvSpPr>
        <p:spPr>
          <a:xfrm>
            <a:off x="481012" y="1423431"/>
            <a:ext cx="5543550" cy="2894569"/>
          </a:xfrm>
          <a:prstGeom prst="roundRect">
            <a:avLst>
              <a:gd name="adj" fmla="val 2717"/>
            </a:avLst>
          </a:prstGeom>
          <a:noFill/>
          <a:ln w="28575">
            <a:solidFill>
              <a:srgbClr val="CAD7EB"/>
            </a:solidFill>
            <a:prstDash val="dash"/>
          </a:ln>
        </p:spPr>
      </p:sp>
      <p:sp>
        <p:nvSpPr>
          <p:cNvPr id="4" name="slide-1-title"/>
          <p:cNvSpPr>
            <a:spLocks noGrp="1"/>
          </p:cNvSpPr>
          <p:nvPr/>
        </p:nvSpPr>
        <p:spPr>
          <a:xfrm>
            <a:off x="1028700" y="235129"/>
            <a:ext cx="9652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Agent </a:t>
            </a:r>
            <a:r>
              <a:rPr lang="zh-CN" alt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与 </a:t>
            </a: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Skill</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3"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a:solidFill>
                  <a:srgbClr val="66737F"/>
                </a:solidFill>
                <a:latin typeface="Arial" panose="020B0604020202020204" pitchFamily="34" charset="0"/>
                <a:ea typeface="Microsoft YaHei" panose="020B0503020204020204" pitchFamily="34" charset="-122"/>
                <a:cs typeface="微软雅黑" panose="020B0503020204020204" charset="-122"/>
              </a:rPr>
              <a:t>1</a:t>
            </a:r>
          </a:p>
        </p:txBody>
      </p:sp>
      <p:sp>
        <p:nvSpPr>
          <p:cNvPr id="6" name="s3-definition">
            <a:extLst>
              <a:ext uri="{FF2B5EF4-FFF2-40B4-BE49-F238E27FC236}">
                <a16:creationId xmlns:a16="http://schemas.microsoft.com/office/drawing/2014/main" id="{E54BDF52-368B-6A50-E254-935A4E8D6C64}"/>
              </a:ext>
            </a:extLst>
          </p:cNvPr>
          <p:cNvSpPr txBox="1"/>
          <p:nvPr/>
        </p:nvSpPr>
        <p:spPr>
          <a:xfrm>
            <a:off x="762000" y="939800"/>
            <a:ext cx="10668000" cy="369332"/>
          </a:xfrm>
          <a:prstGeom prst="rect">
            <a:avLst/>
          </a:prstGeom>
          <a:noFill/>
        </p:spPr>
        <p:txBody>
          <a:bodyPr vert="horz" wrap="square" lIns="0" tIns="0" rIns="0" bIns="0" rtlCol="0" anchor="t">
            <a:noAutofit/>
          </a:bodyPr>
          <a:lstStyle/>
          <a:p>
            <a:r>
              <a:rPr lang="en-US" altLang="zh-CN" sz="1500">
                <a:solidFill>
                  <a:srgbClr val="66737F"/>
                </a:solidFill>
                <a:latin typeface="Arial" panose="020B0604020202020204" pitchFamily="34" charset="0"/>
                <a:ea typeface="Microsoft YaHei" panose="020B0503020204020204" pitchFamily="34" charset="-122"/>
              </a:rPr>
              <a:t>Agent </a:t>
            </a:r>
            <a:r>
              <a:rPr lang="zh-CN" altLang="en-US" sz="1500">
                <a:solidFill>
                  <a:srgbClr val="66737F"/>
                </a:solidFill>
                <a:latin typeface="Arial" panose="020B0604020202020204" pitchFamily="34" charset="0"/>
                <a:ea typeface="Microsoft YaHei" panose="020B0503020204020204" pitchFamily="34" charset="-122"/>
              </a:rPr>
              <a:t>决定当前需要做什么；</a:t>
            </a:r>
            <a:r>
              <a:rPr lang="en-US" altLang="zh-CN" sz="1500">
                <a:solidFill>
                  <a:srgbClr val="66737F"/>
                </a:solidFill>
                <a:latin typeface="Arial" panose="020B0604020202020204" pitchFamily="34" charset="0"/>
                <a:ea typeface="Microsoft YaHei" panose="020B0503020204020204" pitchFamily="34" charset="-122"/>
              </a:rPr>
              <a:t>Skill </a:t>
            </a:r>
            <a:r>
              <a:rPr lang="zh-CN" altLang="en-US" sz="1500">
                <a:solidFill>
                  <a:srgbClr val="66737F"/>
                </a:solidFill>
                <a:latin typeface="Arial" panose="020B0604020202020204" pitchFamily="34" charset="0"/>
                <a:ea typeface="Microsoft YaHei" panose="020B0503020204020204" pitchFamily="34" charset="-122"/>
              </a:rPr>
              <a:t>提供这类任务应该怎么做。</a:t>
            </a:r>
          </a:p>
        </p:txBody>
      </p:sp>
      <p:cxnSp>
        <p:nvCxnSpPr>
          <p:cNvPr id="7" name="s3-column-divider">
            <a:extLst>
              <a:ext uri="{FF2B5EF4-FFF2-40B4-BE49-F238E27FC236}">
                <a16:creationId xmlns:a16="http://schemas.microsoft.com/office/drawing/2014/main" id="{D1B9581D-1229-8B2C-3752-258162232F08}"/>
              </a:ext>
            </a:extLst>
          </p:cNvPr>
          <p:cNvCxnSpPr/>
          <p:nvPr/>
        </p:nvCxnSpPr>
        <p:spPr>
          <a:xfrm>
            <a:off x="6096000" y="1473200"/>
            <a:ext cx="0" cy="2565400"/>
          </a:xfrm>
          <a:prstGeom prst="line">
            <a:avLst/>
          </a:prstGeom>
          <a:ln w="1270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9" name="s3-agent-heading">
            <a:extLst>
              <a:ext uri="{FF2B5EF4-FFF2-40B4-BE49-F238E27FC236}">
                <a16:creationId xmlns:a16="http://schemas.microsoft.com/office/drawing/2014/main" id="{580CC07D-8A4F-85CF-61CA-231DEB7B3E3D}"/>
              </a:ext>
            </a:extLst>
          </p:cNvPr>
          <p:cNvSpPr txBox="1"/>
          <p:nvPr/>
        </p:nvSpPr>
        <p:spPr>
          <a:xfrm>
            <a:off x="914400" y="1473200"/>
            <a:ext cx="4064000" cy="381000"/>
          </a:xfrm>
          <a:prstGeom prst="rect">
            <a:avLst/>
          </a:prstGeom>
          <a:noFill/>
        </p:spPr>
        <p:txBody>
          <a:bodyPr vert="horz" wrap="square" lIns="0" tIns="0" rIns="0" bIns="0" rtlCol="0" anchor="t">
            <a:noAutofit/>
          </a:bodyPr>
          <a:lstStyle/>
          <a:p>
            <a:r>
              <a:rPr lang="en-US" altLang="zh-CN" sz="2200" b="1">
                <a:solidFill>
                  <a:srgbClr val="294A6D"/>
                </a:solidFill>
                <a:latin typeface="Arial" panose="020B0604020202020204" pitchFamily="34" charset="0"/>
                <a:ea typeface="Microsoft YaHei" panose="020B0503020204020204" pitchFamily="34" charset="-122"/>
              </a:rPr>
              <a:t>AGENT</a:t>
            </a:r>
            <a:endParaRPr lang="zh-CN" altLang="en-US" sz="2200" b="1">
              <a:solidFill>
                <a:srgbClr val="294A6D"/>
              </a:solidFill>
              <a:latin typeface="Arial" panose="020B0604020202020204" pitchFamily="34" charset="0"/>
              <a:ea typeface="Microsoft YaHei" panose="020B0503020204020204" pitchFamily="34" charset="-122"/>
            </a:endParaRPr>
          </a:p>
        </p:txBody>
      </p:sp>
      <p:sp>
        <p:nvSpPr>
          <p:cNvPr id="13" name="s3-agent-definition">
            <a:extLst>
              <a:ext uri="{FF2B5EF4-FFF2-40B4-BE49-F238E27FC236}">
                <a16:creationId xmlns:a16="http://schemas.microsoft.com/office/drawing/2014/main" id="{409B72D7-8088-38C9-84A6-DFB1DD3B3CB8}"/>
              </a:ext>
            </a:extLst>
          </p:cNvPr>
          <p:cNvSpPr txBox="1"/>
          <p:nvPr/>
        </p:nvSpPr>
        <p:spPr>
          <a:xfrm>
            <a:off x="914400" y="1917700"/>
            <a:ext cx="4445000" cy="369332"/>
          </a:xfrm>
          <a:prstGeom prst="rect">
            <a:avLst/>
          </a:prstGeom>
          <a:noFill/>
        </p:spPr>
        <p:txBody>
          <a:bodyPr vert="horz" wrap="square" lIns="0" tIns="0" rIns="0" bIns="0" rtlCol="0" anchor="t">
            <a:noAutofit/>
          </a:bodyPr>
          <a:lstStyle/>
          <a:p>
            <a:r>
              <a:rPr lang="zh-CN" altLang="en-US" sz="1400">
                <a:solidFill>
                  <a:srgbClr val="66737F"/>
                </a:solidFill>
                <a:latin typeface="Arial" panose="020B0604020202020204" pitchFamily="34" charset="0"/>
                <a:ea typeface="Microsoft YaHei" panose="020B0503020204020204" pitchFamily="34" charset="-122"/>
              </a:rPr>
              <a:t>围绕目标进行判断、执行与调整</a:t>
            </a:r>
          </a:p>
        </p:txBody>
      </p:sp>
      <p:sp>
        <p:nvSpPr>
          <p:cNvPr id="32" name="s3-agent-bullets">
            <a:extLst>
              <a:ext uri="{FF2B5EF4-FFF2-40B4-BE49-F238E27FC236}">
                <a16:creationId xmlns:a16="http://schemas.microsoft.com/office/drawing/2014/main" id="{2C86A1D6-D661-55AB-BADD-1721BCC778FC}"/>
              </a:ext>
            </a:extLst>
          </p:cNvPr>
          <p:cNvSpPr txBox="1"/>
          <p:nvPr/>
        </p:nvSpPr>
        <p:spPr>
          <a:xfrm>
            <a:off x="914400" y="2413000"/>
            <a:ext cx="4191000" cy="1200329"/>
          </a:xfrm>
          <a:prstGeom prst="rect">
            <a:avLst/>
          </a:prstGeom>
          <a:noFill/>
        </p:spPr>
        <p:txBody>
          <a:bodyPr vert="horz" wrap="square" lIns="0" tIns="0" rIns="0" bIns="0" rtlCol="0" anchor="t">
            <a:noAutofit/>
          </a:bodyPr>
          <a:lstStyle/>
          <a:p>
            <a:pPr>
              <a:spcAft>
                <a:spcPts val="800"/>
              </a:spcAft>
            </a:pPr>
            <a:r>
              <a:rPr lang="en-US" altLang="zh-CN" sz="1700">
                <a:solidFill>
                  <a:srgbClr val="2F3A45"/>
                </a:solidFill>
                <a:latin typeface="Arial" panose="020B0604020202020204" pitchFamily="34" charset="0"/>
                <a:ea typeface="Microsoft YaHei" panose="020B0503020204020204" pitchFamily="34" charset="-122"/>
              </a:rPr>
              <a:t>• </a:t>
            </a:r>
            <a:r>
              <a:rPr lang="zh-CN" altLang="en-US" sz="1700">
                <a:solidFill>
                  <a:srgbClr val="2F3A45"/>
                </a:solidFill>
                <a:latin typeface="Arial" panose="020B0604020202020204" pitchFamily="34" charset="0"/>
                <a:ea typeface="Microsoft YaHei" panose="020B0503020204020204" pitchFamily="34" charset="-122"/>
              </a:rPr>
              <a:t>理解目标</a:t>
            </a:r>
          </a:p>
          <a:p>
            <a:pPr>
              <a:spcAft>
                <a:spcPts val="800"/>
              </a:spcAft>
            </a:pPr>
            <a:r>
              <a:rPr lang="en-US" altLang="zh-CN" sz="1700">
                <a:solidFill>
                  <a:srgbClr val="2F3A45"/>
                </a:solidFill>
                <a:latin typeface="Arial" panose="020B0604020202020204" pitchFamily="34" charset="0"/>
                <a:ea typeface="Microsoft YaHei" panose="020B0503020204020204" pitchFamily="34" charset="-122"/>
              </a:rPr>
              <a:t>• </a:t>
            </a:r>
            <a:r>
              <a:rPr lang="zh-CN" altLang="en-US" sz="1700">
                <a:solidFill>
                  <a:srgbClr val="2F3A45"/>
                </a:solidFill>
                <a:latin typeface="Arial" panose="020B0604020202020204" pitchFamily="34" charset="0"/>
                <a:ea typeface="Microsoft YaHei" panose="020B0503020204020204" pitchFamily="34" charset="-122"/>
              </a:rPr>
              <a:t>规划与决策</a:t>
            </a:r>
          </a:p>
          <a:p>
            <a:pPr>
              <a:spcAft>
                <a:spcPts val="800"/>
              </a:spcAft>
            </a:pPr>
            <a:r>
              <a:rPr lang="en-US" altLang="zh-CN" sz="1700">
                <a:solidFill>
                  <a:srgbClr val="2F3A45"/>
                </a:solidFill>
                <a:latin typeface="Arial" panose="020B0604020202020204" pitchFamily="34" charset="0"/>
                <a:ea typeface="Microsoft YaHei" panose="020B0503020204020204" pitchFamily="34" charset="-122"/>
              </a:rPr>
              <a:t>• </a:t>
            </a:r>
            <a:r>
              <a:rPr lang="zh-CN" altLang="en-US" sz="1700">
                <a:solidFill>
                  <a:srgbClr val="2F3A45"/>
                </a:solidFill>
                <a:latin typeface="Arial" panose="020B0604020202020204" pitchFamily="34" charset="0"/>
                <a:ea typeface="Microsoft YaHei" panose="020B0503020204020204" pitchFamily="34" charset="-122"/>
              </a:rPr>
              <a:t>调度能力</a:t>
            </a:r>
          </a:p>
          <a:p>
            <a:pPr>
              <a:spcAft>
                <a:spcPts val="800"/>
              </a:spcAft>
            </a:pPr>
            <a:r>
              <a:rPr lang="en-US" altLang="zh-CN" sz="1700">
                <a:solidFill>
                  <a:srgbClr val="2F3A45"/>
                </a:solidFill>
                <a:latin typeface="Arial" panose="020B0604020202020204" pitchFamily="34" charset="0"/>
                <a:ea typeface="Microsoft YaHei" panose="020B0503020204020204" pitchFamily="34" charset="-122"/>
              </a:rPr>
              <a:t>• </a:t>
            </a:r>
            <a:r>
              <a:rPr lang="zh-CN" altLang="en-US" sz="1700">
                <a:solidFill>
                  <a:srgbClr val="2F3A45"/>
                </a:solidFill>
                <a:latin typeface="Arial" panose="020B0604020202020204" pitchFamily="34" charset="0"/>
                <a:ea typeface="Microsoft YaHei" panose="020B0503020204020204" pitchFamily="34" charset="-122"/>
              </a:rPr>
              <a:t>整合结果</a:t>
            </a:r>
          </a:p>
        </p:txBody>
      </p:sp>
      <p:sp>
        <p:nvSpPr>
          <p:cNvPr id="37" name="s3-skill-heading">
            <a:extLst>
              <a:ext uri="{FF2B5EF4-FFF2-40B4-BE49-F238E27FC236}">
                <a16:creationId xmlns:a16="http://schemas.microsoft.com/office/drawing/2014/main" id="{80407789-4837-F0E0-64CF-7D4F4ADCC732}"/>
              </a:ext>
            </a:extLst>
          </p:cNvPr>
          <p:cNvSpPr txBox="1"/>
          <p:nvPr/>
        </p:nvSpPr>
        <p:spPr>
          <a:xfrm>
            <a:off x="6807200" y="1473200"/>
            <a:ext cx="4064000" cy="381000"/>
          </a:xfrm>
          <a:prstGeom prst="rect">
            <a:avLst/>
          </a:prstGeom>
          <a:noFill/>
        </p:spPr>
        <p:txBody>
          <a:bodyPr vert="horz" wrap="square" lIns="0" tIns="0" rIns="0" bIns="0" rtlCol="0" anchor="t">
            <a:noAutofit/>
          </a:bodyPr>
          <a:lstStyle/>
          <a:p>
            <a:r>
              <a:rPr lang="en-US" altLang="zh-CN" sz="2200" b="1">
                <a:solidFill>
                  <a:srgbClr val="4F8A83"/>
                </a:solidFill>
                <a:latin typeface="Arial" panose="020B0604020202020204" pitchFamily="34" charset="0"/>
                <a:ea typeface="Microsoft YaHei" panose="020B0503020204020204" pitchFamily="34" charset="-122"/>
              </a:rPr>
              <a:t>SKILL</a:t>
            </a:r>
            <a:endParaRPr lang="zh-CN" altLang="en-US" sz="2200" b="1">
              <a:solidFill>
                <a:srgbClr val="4F8A83"/>
              </a:solidFill>
              <a:latin typeface="Arial" panose="020B0604020202020204" pitchFamily="34" charset="0"/>
              <a:ea typeface="Microsoft YaHei" panose="020B0503020204020204" pitchFamily="34" charset="-122"/>
            </a:endParaRPr>
          </a:p>
        </p:txBody>
      </p:sp>
      <p:sp>
        <p:nvSpPr>
          <p:cNvPr id="55" name="s3-skill-definition">
            <a:extLst>
              <a:ext uri="{FF2B5EF4-FFF2-40B4-BE49-F238E27FC236}">
                <a16:creationId xmlns:a16="http://schemas.microsoft.com/office/drawing/2014/main" id="{24F83402-0258-67CC-5267-C6F20097C18A}"/>
              </a:ext>
            </a:extLst>
          </p:cNvPr>
          <p:cNvSpPr txBox="1"/>
          <p:nvPr/>
        </p:nvSpPr>
        <p:spPr>
          <a:xfrm>
            <a:off x="6807200" y="1917700"/>
            <a:ext cx="4445000" cy="369332"/>
          </a:xfrm>
          <a:prstGeom prst="rect">
            <a:avLst/>
          </a:prstGeom>
          <a:noFill/>
        </p:spPr>
        <p:txBody>
          <a:bodyPr vert="horz" wrap="square" lIns="0" tIns="0" rIns="0" bIns="0" rtlCol="0" anchor="t">
            <a:noAutofit/>
          </a:bodyPr>
          <a:lstStyle/>
          <a:p>
            <a:r>
              <a:rPr lang="zh-CN" altLang="en-US" sz="1400">
                <a:solidFill>
                  <a:srgbClr val="66737F"/>
                </a:solidFill>
                <a:latin typeface="Arial" panose="020B0604020202020204" pitchFamily="34" charset="0"/>
                <a:ea typeface="Microsoft YaHei" panose="020B0503020204020204" pitchFamily="34" charset="-122"/>
              </a:rPr>
              <a:t>封装特定任务的方法、知识、脚本与资源</a:t>
            </a:r>
          </a:p>
        </p:txBody>
      </p:sp>
      <p:sp>
        <p:nvSpPr>
          <p:cNvPr id="57" name="s3-skill-bullets">
            <a:extLst>
              <a:ext uri="{FF2B5EF4-FFF2-40B4-BE49-F238E27FC236}">
                <a16:creationId xmlns:a16="http://schemas.microsoft.com/office/drawing/2014/main" id="{EF610075-16F7-19C0-2CB9-15A22D29E36B}"/>
              </a:ext>
            </a:extLst>
          </p:cNvPr>
          <p:cNvSpPr txBox="1"/>
          <p:nvPr/>
        </p:nvSpPr>
        <p:spPr>
          <a:xfrm>
            <a:off x="6807200" y="2413000"/>
            <a:ext cx="4191000" cy="1200329"/>
          </a:xfrm>
          <a:prstGeom prst="rect">
            <a:avLst/>
          </a:prstGeom>
          <a:noFill/>
        </p:spPr>
        <p:txBody>
          <a:bodyPr vert="horz" wrap="square" lIns="0" tIns="0" rIns="0" bIns="0" rtlCol="0" anchor="t">
            <a:noAutofit/>
          </a:bodyPr>
          <a:lstStyle/>
          <a:p>
            <a:pPr>
              <a:spcAft>
                <a:spcPts val="800"/>
              </a:spcAft>
            </a:pPr>
            <a:r>
              <a:rPr lang="en-US" altLang="zh-CN" sz="1700">
                <a:solidFill>
                  <a:srgbClr val="2F3A45"/>
                </a:solidFill>
                <a:latin typeface="Arial" panose="020B0604020202020204" pitchFamily="34" charset="0"/>
                <a:ea typeface="Microsoft YaHei" panose="020B0503020204020204" pitchFamily="34" charset="-122"/>
              </a:rPr>
              <a:t>• </a:t>
            </a:r>
            <a:r>
              <a:rPr lang="zh-CN" altLang="en-US" sz="1700">
                <a:solidFill>
                  <a:srgbClr val="2F3A45"/>
                </a:solidFill>
                <a:latin typeface="Arial" panose="020B0604020202020204" pitchFamily="34" charset="0"/>
                <a:ea typeface="Microsoft YaHei" panose="020B0503020204020204" pitchFamily="34" charset="-122"/>
              </a:rPr>
              <a:t>聚焦特定任务</a:t>
            </a:r>
          </a:p>
          <a:p>
            <a:pPr>
              <a:spcAft>
                <a:spcPts val="800"/>
              </a:spcAft>
            </a:pPr>
            <a:r>
              <a:rPr lang="en-US" altLang="zh-CN" sz="1700">
                <a:solidFill>
                  <a:srgbClr val="2F3A45"/>
                </a:solidFill>
                <a:latin typeface="Arial" panose="020B0604020202020204" pitchFamily="34" charset="0"/>
                <a:ea typeface="Microsoft YaHei" panose="020B0503020204020204" pitchFamily="34" charset="-122"/>
              </a:rPr>
              <a:t>• </a:t>
            </a:r>
            <a:r>
              <a:rPr lang="zh-CN" altLang="en-US" sz="1700">
                <a:solidFill>
                  <a:srgbClr val="2F3A45"/>
                </a:solidFill>
                <a:latin typeface="Arial" panose="020B0604020202020204" pitchFamily="34" charset="0"/>
                <a:ea typeface="Microsoft YaHei" panose="020B0503020204020204" pitchFamily="34" charset="-122"/>
              </a:rPr>
              <a:t>封装 </a:t>
            </a:r>
            <a:r>
              <a:rPr lang="en-US" altLang="zh-CN" sz="1700">
                <a:solidFill>
                  <a:srgbClr val="2F3A45"/>
                </a:solidFill>
                <a:latin typeface="Arial" panose="020B0604020202020204" pitchFamily="34" charset="0"/>
                <a:ea typeface="Microsoft YaHei" panose="020B0503020204020204" pitchFamily="34" charset="-122"/>
              </a:rPr>
              <a:t>Workflow</a:t>
            </a:r>
          </a:p>
          <a:p>
            <a:pPr>
              <a:spcAft>
                <a:spcPts val="800"/>
              </a:spcAft>
            </a:pPr>
            <a:r>
              <a:rPr lang="en-US" altLang="zh-CN" sz="1700">
                <a:solidFill>
                  <a:srgbClr val="2F3A45"/>
                </a:solidFill>
                <a:latin typeface="Arial" panose="020B0604020202020204" pitchFamily="34" charset="0"/>
                <a:ea typeface="Microsoft YaHei" panose="020B0503020204020204" pitchFamily="34" charset="-122"/>
              </a:rPr>
              <a:t>• </a:t>
            </a:r>
            <a:r>
              <a:rPr lang="zh-CN" altLang="en-US" sz="1700">
                <a:solidFill>
                  <a:srgbClr val="2F3A45"/>
                </a:solidFill>
                <a:latin typeface="Arial" panose="020B0604020202020204" pitchFamily="34" charset="0"/>
                <a:ea typeface="Microsoft YaHei" panose="020B0503020204020204" pitchFamily="34" charset="-122"/>
              </a:rPr>
              <a:t>封装 </a:t>
            </a:r>
            <a:r>
              <a:rPr lang="en-US" altLang="zh-CN" sz="1700">
                <a:solidFill>
                  <a:srgbClr val="2F3A45"/>
                </a:solidFill>
                <a:latin typeface="Arial" panose="020B0604020202020204" pitchFamily="34" charset="0"/>
                <a:ea typeface="Microsoft YaHei" panose="020B0503020204020204" pitchFamily="34" charset="-122"/>
              </a:rPr>
              <a:t>Knowledge / Tools</a:t>
            </a:r>
          </a:p>
          <a:p>
            <a:pPr>
              <a:spcAft>
                <a:spcPts val="800"/>
              </a:spcAft>
            </a:pPr>
            <a:r>
              <a:rPr lang="en-US" altLang="zh-CN" sz="1700">
                <a:solidFill>
                  <a:srgbClr val="2F3A45"/>
                </a:solidFill>
                <a:latin typeface="Arial" panose="020B0604020202020204" pitchFamily="34" charset="0"/>
                <a:ea typeface="Microsoft YaHei" panose="020B0503020204020204" pitchFamily="34" charset="-122"/>
              </a:rPr>
              <a:t>• </a:t>
            </a:r>
            <a:r>
              <a:rPr lang="zh-CN" altLang="en-US" sz="1700">
                <a:solidFill>
                  <a:srgbClr val="2F3A45"/>
                </a:solidFill>
                <a:latin typeface="Arial" panose="020B0604020202020204" pitchFamily="34" charset="0"/>
                <a:ea typeface="Microsoft YaHei" panose="020B0503020204020204" pitchFamily="34" charset="-122"/>
              </a:rPr>
              <a:t>按需加载</a:t>
            </a:r>
          </a:p>
        </p:txBody>
      </p:sp>
      <p:sp>
        <p:nvSpPr>
          <p:cNvPr id="58" name="s3-flow-heading">
            <a:extLst>
              <a:ext uri="{FF2B5EF4-FFF2-40B4-BE49-F238E27FC236}">
                <a16:creationId xmlns:a16="http://schemas.microsoft.com/office/drawing/2014/main" id="{0209B451-E6E6-C9E2-AFF7-B27D976587D3}"/>
              </a:ext>
            </a:extLst>
          </p:cNvPr>
          <p:cNvSpPr txBox="1"/>
          <p:nvPr/>
        </p:nvSpPr>
        <p:spPr>
          <a:xfrm>
            <a:off x="762000" y="4432300"/>
            <a:ext cx="10668000" cy="369332"/>
          </a:xfrm>
          <a:prstGeom prst="rect">
            <a:avLst/>
          </a:prstGeom>
          <a:noFill/>
        </p:spPr>
        <p:txBody>
          <a:bodyPr vert="horz" wrap="square" lIns="0" tIns="0" rIns="0" bIns="0" rtlCol="0" anchor="t">
            <a:noAutofit/>
          </a:bodyPr>
          <a:lstStyle/>
          <a:p>
            <a:r>
              <a:rPr lang="zh-CN" altLang="en-US" sz="1600" b="1">
                <a:solidFill>
                  <a:srgbClr val="294A6D"/>
                </a:solidFill>
                <a:latin typeface="Arial" panose="020B0604020202020204" pitchFamily="34" charset="0"/>
                <a:ea typeface="Microsoft YaHei" panose="020B0503020204020204" pitchFamily="34" charset="-122"/>
              </a:rPr>
              <a:t>调用流程</a:t>
            </a:r>
          </a:p>
        </p:txBody>
      </p:sp>
      <p:cxnSp>
        <p:nvCxnSpPr>
          <p:cNvPr id="59" name="s3-flow-line">
            <a:extLst>
              <a:ext uri="{FF2B5EF4-FFF2-40B4-BE49-F238E27FC236}">
                <a16:creationId xmlns:a16="http://schemas.microsoft.com/office/drawing/2014/main" id="{03934A3C-079A-42E5-A0CB-CF63685C2C67}"/>
              </a:ext>
            </a:extLst>
          </p:cNvPr>
          <p:cNvCxnSpPr/>
          <p:nvPr/>
        </p:nvCxnSpPr>
        <p:spPr>
          <a:xfrm>
            <a:off x="939800" y="5194300"/>
            <a:ext cx="10312400" cy="0"/>
          </a:xfrm>
          <a:prstGeom prst="line">
            <a:avLst/>
          </a:prstGeom>
          <a:ln w="1524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0" name="s3-flow-dot-1">
            <a:extLst>
              <a:ext uri="{FF2B5EF4-FFF2-40B4-BE49-F238E27FC236}">
                <a16:creationId xmlns:a16="http://schemas.microsoft.com/office/drawing/2014/main" id="{99A9DF20-DFD7-CF26-D16C-7FADD1385F31}"/>
              </a:ext>
            </a:extLst>
          </p:cNvPr>
          <p:cNvSpPr/>
          <p:nvPr/>
        </p:nvSpPr>
        <p:spPr>
          <a:xfrm>
            <a:off x="901700" y="5156200"/>
            <a:ext cx="76200" cy="76200"/>
          </a:xfrm>
          <a:prstGeom prst="ellipse">
            <a:avLst/>
          </a:prstGeom>
          <a:solidFill>
            <a:srgbClr val="294A6D"/>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s3-flow-label-1">
            <a:extLst>
              <a:ext uri="{FF2B5EF4-FFF2-40B4-BE49-F238E27FC236}">
                <a16:creationId xmlns:a16="http://schemas.microsoft.com/office/drawing/2014/main" id="{C70EE1FD-A3CE-BE4E-BAC0-85DDFF4A20E6}"/>
              </a:ext>
            </a:extLst>
          </p:cNvPr>
          <p:cNvSpPr txBox="1"/>
          <p:nvPr/>
        </p:nvSpPr>
        <p:spPr>
          <a:xfrm>
            <a:off x="266700" y="5346700"/>
            <a:ext cx="1346200" cy="369332"/>
          </a:xfrm>
          <a:prstGeom prst="rect">
            <a:avLst/>
          </a:prstGeom>
          <a:noFill/>
        </p:spPr>
        <p:txBody>
          <a:bodyPr vert="horz" wrap="square" lIns="0" tIns="0" rIns="0" bIns="0" rtlCol="0" anchor="t">
            <a:noAutofit/>
          </a:bodyPr>
          <a:lstStyle/>
          <a:p>
            <a:pPr algn="ctr"/>
            <a:r>
              <a:rPr lang="zh-CN" altLang="en-US" sz="1250">
                <a:solidFill>
                  <a:srgbClr val="2F3A45"/>
                </a:solidFill>
                <a:latin typeface="Arial" panose="020B0604020202020204" pitchFamily="34" charset="0"/>
                <a:ea typeface="Microsoft YaHei" panose="020B0503020204020204" pitchFamily="34" charset="-122"/>
              </a:rPr>
              <a:t>用户任务</a:t>
            </a:r>
          </a:p>
        </p:txBody>
      </p:sp>
      <p:sp>
        <p:nvSpPr>
          <p:cNvPr id="62" name="s3-flow-dot-2">
            <a:extLst>
              <a:ext uri="{FF2B5EF4-FFF2-40B4-BE49-F238E27FC236}">
                <a16:creationId xmlns:a16="http://schemas.microsoft.com/office/drawing/2014/main" id="{B2AB375A-EE4F-90F4-FF8A-DF68FD11C1F9}"/>
              </a:ext>
            </a:extLst>
          </p:cNvPr>
          <p:cNvSpPr/>
          <p:nvPr/>
        </p:nvSpPr>
        <p:spPr>
          <a:xfrm>
            <a:off x="2616200" y="5156200"/>
            <a:ext cx="76200" cy="76200"/>
          </a:xfrm>
          <a:prstGeom prst="ellipse">
            <a:avLst/>
          </a:prstGeom>
          <a:solidFill>
            <a:srgbClr val="294A6D"/>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s3-flow-label-2">
            <a:extLst>
              <a:ext uri="{FF2B5EF4-FFF2-40B4-BE49-F238E27FC236}">
                <a16:creationId xmlns:a16="http://schemas.microsoft.com/office/drawing/2014/main" id="{00B43D5B-1CEC-185E-A175-7591607B8C49}"/>
              </a:ext>
            </a:extLst>
          </p:cNvPr>
          <p:cNvSpPr txBox="1"/>
          <p:nvPr/>
        </p:nvSpPr>
        <p:spPr>
          <a:xfrm>
            <a:off x="1981200" y="5346700"/>
            <a:ext cx="1346200" cy="646331"/>
          </a:xfrm>
          <a:prstGeom prst="rect">
            <a:avLst/>
          </a:prstGeom>
          <a:noFill/>
        </p:spPr>
        <p:txBody>
          <a:bodyPr vert="horz" wrap="square" lIns="0" tIns="0" rIns="0" bIns="0" rtlCol="0" anchor="t">
            <a:noAutofit/>
          </a:bodyPr>
          <a:lstStyle/>
          <a:p>
            <a:pPr algn="ctr"/>
            <a:r>
              <a:rPr lang="en-US" altLang="zh-CN" sz="1250" b="1">
                <a:solidFill>
                  <a:srgbClr val="2F3A45"/>
                </a:solidFill>
                <a:latin typeface="Arial" panose="020B0604020202020204" pitchFamily="34" charset="0"/>
                <a:ea typeface="Microsoft YaHei" panose="020B0503020204020204" pitchFamily="34" charset="-122"/>
              </a:rPr>
              <a:t>Agent</a:t>
            </a:r>
          </a:p>
          <a:p>
            <a:pPr algn="ctr"/>
            <a:r>
              <a:rPr lang="zh-CN" altLang="en-US" sz="1250" b="1">
                <a:solidFill>
                  <a:srgbClr val="2F3A45"/>
                </a:solidFill>
                <a:latin typeface="Arial" panose="020B0604020202020204" pitchFamily="34" charset="0"/>
                <a:ea typeface="Microsoft YaHei" panose="020B0503020204020204" pitchFamily="34" charset="-122"/>
              </a:rPr>
              <a:t>理解目标</a:t>
            </a:r>
          </a:p>
        </p:txBody>
      </p:sp>
      <p:sp>
        <p:nvSpPr>
          <p:cNvPr id="64" name="s3-flow-dot-3">
            <a:extLst>
              <a:ext uri="{FF2B5EF4-FFF2-40B4-BE49-F238E27FC236}">
                <a16:creationId xmlns:a16="http://schemas.microsoft.com/office/drawing/2014/main" id="{75645599-5B17-F080-5991-A6788949F5B6}"/>
              </a:ext>
            </a:extLst>
          </p:cNvPr>
          <p:cNvSpPr/>
          <p:nvPr/>
        </p:nvSpPr>
        <p:spPr>
          <a:xfrm>
            <a:off x="4330700" y="5156200"/>
            <a:ext cx="76200" cy="76200"/>
          </a:xfrm>
          <a:prstGeom prst="ellipse">
            <a:avLst/>
          </a:prstGeom>
          <a:solidFill>
            <a:srgbClr val="294A6D"/>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s3-flow-label-3">
            <a:extLst>
              <a:ext uri="{FF2B5EF4-FFF2-40B4-BE49-F238E27FC236}">
                <a16:creationId xmlns:a16="http://schemas.microsoft.com/office/drawing/2014/main" id="{ED9EF801-B3B0-E998-C3F0-9C5AAFDCDD76}"/>
              </a:ext>
            </a:extLst>
          </p:cNvPr>
          <p:cNvSpPr txBox="1"/>
          <p:nvPr/>
        </p:nvSpPr>
        <p:spPr>
          <a:xfrm>
            <a:off x="3695700" y="5346700"/>
            <a:ext cx="1346200" cy="646331"/>
          </a:xfrm>
          <a:prstGeom prst="rect">
            <a:avLst/>
          </a:prstGeom>
          <a:noFill/>
        </p:spPr>
        <p:txBody>
          <a:bodyPr vert="horz" wrap="square" lIns="0" tIns="0" rIns="0" bIns="0" rtlCol="0" anchor="t">
            <a:noAutofit/>
          </a:bodyPr>
          <a:lstStyle/>
          <a:p>
            <a:pPr algn="ctr"/>
            <a:r>
              <a:rPr lang="zh-CN" altLang="en-US" sz="1250">
                <a:solidFill>
                  <a:srgbClr val="2F3A45"/>
                </a:solidFill>
                <a:latin typeface="Arial" panose="020B0604020202020204" pitchFamily="34" charset="0"/>
                <a:ea typeface="Microsoft YaHei" panose="020B0503020204020204" pitchFamily="34" charset="-122"/>
              </a:rPr>
              <a:t>判断</a:t>
            </a:r>
          </a:p>
          <a:p>
            <a:pPr algn="ctr"/>
            <a:r>
              <a:rPr lang="zh-CN" altLang="en-US" sz="1250">
                <a:solidFill>
                  <a:srgbClr val="2F3A45"/>
                </a:solidFill>
                <a:latin typeface="Arial" panose="020B0604020202020204" pitchFamily="34" charset="0"/>
                <a:ea typeface="Microsoft YaHei" panose="020B0503020204020204" pitchFamily="34" charset="-122"/>
              </a:rPr>
              <a:t>所需能力</a:t>
            </a:r>
          </a:p>
        </p:txBody>
      </p:sp>
      <p:sp>
        <p:nvSpPr>
          <p:cNvPr id="66" name="s3-flow-dot-4">
            <a:extLst>
              <a:ext uri="{FF2B5EF4-FFF2-40B4-BE49-F238E27FC236}">
                <a16:creationId xmlns:a16="http://schemas.microsoft.com/office/drawing/2014/main" id="{E54FED57-62F7-9E22-698D-A57B30F0CBFF}"/>
              </a:ext>
            </a:extLst>
          </p:cNvPr>
          <p:cNvSpPr/>
          <p:nvPr/>
        </p:nvSpPr>
        <p:spPr>
          <a:xfrm>
            <a:off x="6045200" y="5156200"/>
            <a:ext cx="76200" cy="76200"/>
          </a:xfrm>
          <a:prstGeom prst="ellipse">
            <a:avLst/>
          </a:prstGeom>
          <a:solidFill>
            <a:srgbClr val="4F8A83"/>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s3-flow-label-4">
            <a:extLst>
              <a:ext uri="{FF2B5EF4-FFF2-40B4-BE49-F238E27FC236}">
                <a16:creationId xmlns:a16="http://schemas.microsoft.com/office/drawing/2014/main" id="{0367F6EF-865D-0976-788C-7AFDC655F1B3}"/>
              </a:ext>
            </a:extLst>
          </p:cNvPr>
          <p:cNvSpPr txBox="1"/>
          <p:nvPr/>
        </p:nvSpPr>
        <p:spPr>
          <a:xfrm>
            <a:off x="5410200" y="5346700"/>
            <a:ext cx="1346200" cy="369332"/>
          </a:xfrm>
          <a:prstGeom prst="rect">
            <a:avLst/>
          </a:prstGeom>
          <a:noFill/>
        </p:spPr>
        <p:txBody>
          <a:bodyPr vert="horz" wrap="square" lIns="0" tIns="0" rIns="0" bIns="0" rtlCol="0" anchor="t">
            <a:noAutofit/>
          </a:bodyPr>
          <a:lstStyle/>
          <a:p>
            <a:pPr algn="ctr"/>
            <a:r>
              <a:rPr lang="zh-CN" altLang="en-US" sz="1250">
                <a:solidFill>
                  <a:srgbClr val="2F3A45"/>
                </a:solidFill>
                <a:latin typeface="Arial" panose="020B0604020202020204" pitchFamily="34" charset="0"/>
                <a:ea typeface="Microsoft YaHei" panose="020B0503020204020204" pitchFamily="34" charset="-122"/>
              </a:rPr>
              <a:t>加载 </a:t>
            </a:r>
            <a:r>
              <a:rPr lang="en-US" altLang="zh-CN" sz="1250">
                <a:solidFill>
                  <a:srgbClr val="2F3A45"/>
                </a:solidFill>
                <a:latin typeface="Arial" panose="020B0604020202020204" pitchFamily="34" charset="0"/>
                <a:ea typeface="Microsoft YaHei" panose="020B0503020204020204" pitchFamily="34" charset="-122"/>
              </a:rPr>
              <a:t>Skill</a:t>
            </a:r>
            <a:endParaRPr lang="zh-CN" altLang="en-US" sz="1250">
              <a:solidFill>
                <a:srgbClr val="2F3A45"/>
              </a:solidFill>
              <a:latin typeface="Arial" panose="020B0604020202020204" pitchFamily="34" charset="0"/>
              <a:ea typeface="Microsoft YaHei" panose="020B0503020204020204" pitchFamily="34" charset="-122"/>
            </a:endParaRPr>
          </a:p>
        </p:txBody>
      </p:sp>
      <p:sp>
        <p:nvSpPr>
          <p:cNvPr id="68" name="s3-flow-dot-5">
            <a:extLst>
              <a:ext uri="{FF2B5EF4-FFF2-40B4-BE49-F238E27FC236}">
                <a16:creationId xmlns:a16="http://schemas.microsoft.com/office/drawing/2014/main" id="{CA670B38-E184-C8D7-F1F1-3191CF8E11E2}"/>
              </a:ext>
            </a:extLst>
          </p:cNvPr>
          <p:cNvSpPr/>
          <p:nvPr/>
        </p:nvSpPr>
        <p:spPr>
          <a:xfrm>
            <a:off x="7759700" y="5156200"/>
            <a:ext cx="76200" cy="76200"/>
          </a:xfrm>
          <a:prstGeom prst="ellipse">
            <a:avLst/>
          </a:prstGeom>
          <a:solidFill>
            <a:srgbClr val="4F8A83"/>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s3-flow-label-5">
            <a:extLst>
              <a:ext uri="{FF2B5EF4-FFF2-40B4-BE49-F238E27FC236}">
                <a16:creationId xmlns:a16="http://schemas.microsoft.com/office/drawing/2014/main" id="{CD97E7A6-7B68-7103-71DD-4F2743C272FF}"/>
              </a:ext>
            </a:extLst>
          </p:cNvPr>
          <p:cNvSpPr txBox="1"/>
          <p:nvPr/>
        </p:nvSpPr>
        <p:spPr>
          <a:xfrm>
            <a:off x="7124700" y="5346700"/>
            <a:ext cx="1346200" cy="923330"/>
          </a:xfrm>
          <a:prstGeom prst="rect">
            <a:avLst/>
          </a:prstGeom>
          <a:noFill/>
        </p:spPr>
        <p:txBody>
          <a:bodyPr vert="horz" wrap="square" lIns="0" tIns="0" rIns="0" bIns="0" rtlCol="0" anchor="t">
            <a:noAutofit/>
          </a:bodyPr>
          <a:lstStyle/>
          <a:p>
            <a:pPr algn="ctr"/>
            <a:r>
              <a:rPr lang="zh-CN" altLang="en-US" sz="1250" b="1">
                <a:solidFill>
                  <a:srgbClr val="2F3A45"/>
                </a:solidFill>
                <a:latin typeface="Arial" panose="020B0604020202020204" pitchFamily="34" charset="0"/>
                <a:ea typeface="Microsoft YaHei" panose="020B0503020204020204" pitchFamily="34" charset="-122"/>
              </a:rPr>
              <a:t>按 </a:t>
            </a:r>
            <a:r>
              <a:rPr lang="en-US" altLang="zh-CN" sz="1250" b="1">
                <a:solidFill>
                  <a:srgbClr val="2F3A45"/>
                </a:solidFill>
                <a:latin typeface="Arial" panose="020B0604020202020204" pitchFamily="34" charset="0"/>
                <a:ea typeface="Microsoft YaHei" panose="020B0503020204020204" pitchFamily="34" charset="-122"/>
              </a:rPr>
              <a:t>Workflow</a:t>
            </a:r>
          </a:p>
          <a:p>
            <a:pPr algn="ctr"/>
            <a:r>
              <a:rPr lang="zh-CN" altLang="en-US" sz="1250" b="1">
                <a:solidFill>
                  <a:srgbClr val="2F3A45"/>
                </a:solidFill>
                <a:latin typeface="Arial" panose="020B0604020202020204" pitchFamily="34" charset="0"/>
                <a:ea typeface="Microsoft YaHei" panose="020B0503020204020204" pitchFamily="34" charset="-122"/>
              </a:rPr>
              <a:t>执行</a:t>
            </a:r>
          </a:p>
        </p:txBody>
      </p:sp>
      <p:sp>
        <p:nvSpPr>
          <p:cNvPr id="70" name="s3-flow-dot-6">
            <a:extLst>
              <a:ext uri="{FF2B5EF4-FFF2-40B4-BE49-F238E27FC236}">
                <a16:creationId xmlns:a16="http://schemas.microsoft.com/office/drawing/2014/main" id="{ADD22976-6C3C-C3A9-E968-2723D259D963}"/>
              </a:ext>
            </a:extLst>
          </p:cNvPr>
          <p:cNvSpPr/>
          <p:nvPr/>
        </p:nvSpPr>
        <p:spPr>
          <a:xfrm>
            <a:off x="9474200" y="5156200"/>
            <a:ext cx="76200" cy="76200"/>
          </a:xfrm>
          <a:prstGeom prst="ellipse">
            <a:avLst/>
          </a:prstGeom>
          <a:solidFill>
            <a:srgbClr val="4F8A83"/>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s3-flow-label-6">
            <a:extLst>
              <a:ext uri="{FF2B5EF4-FFF2-40B4-BE49-F238E27FC236}">
                <a16:creationId xmlns:a16="http://schemas.microsoft.com/office/drawing/2014/main" id="{6405D34E-AF43-854F-A252-1B7E3F885A8C}"/>
              </a:ext>
            </a:extLst>
          </p:cNvPr>
          <p:cNvSpPr txBox="1"/>
          <p:nvPr/>
        </p:nvSpPr>
        <p:spPr>
          <a:xfrm>
            <a:off x="8839200" y="5346700"/>
            <a:ext cx="1346200" cy="369332"/>
          </a:xfrm>
          <a:prstGeom prst="rect">
            <a:avLst/>
          </a:prstGeom>
          <a:noFill/>
        </p:spPr>
        <p:txBody>
          <a:bodyPr vert="horz" wrap="square" lIns="0" tIns="0" rIns="0" bIns="0" rtlCol="0" anchor="t">
            <a:noAutofit/>
          </a:bodyPr>
          <a:lstStyle/>
          <a:p>
            <a:pPr algn="ctr"/>
            <a:r>
              <a:rPr lang="zh-CN" altLang="en-US" sz="1250">
                <a:solidFill>
                  <a:srgbClr val="2F3A45"/>
                </a:solidFill>
                <a:latin typeface="Arial" panose="020B0604020202020204" pitchFamily="34" charset="0"/>
                <a:ea typeface="Microsoft YaHei" panose="020B0503020204020204" pitchFamily="34" charset="-122"/>
              </a:rPr>
              <a:t>观察结果</a:t>
            </a:r>
          </a:p>
        </p:txBody>
      </p:sp>
      <p:sp>
        <p:nvSpPr>
          <p:cNvPr id="72" name="s3-flow-dot-7">
            <a:extLst>
              <a:ext uri="{FF2B5EF4-FFF2-40B4-BE49-F238E27FC236}">
                <a16:creationId xmlns:a16="http://schemas.microsoft.com/office/drawing/2014/main" id="{521F33EB-54D3-0304-45A8-339860149CBE}"/>
              </a:ext>
            </a:extLst>
          </p:cNvPr>
          <p:cNvSpPr/>
          <p:nvPr/>
        </p:nvSpPr>
        <p:spPr>
          <a:xfrm>
            <a:off x="11188700" y="5156200"/>
            <a:ext cx="76200" cy="76200"/>
          </a:xfrm>
          <a:prstGeom prst="ellipse">
            <a:avLst/>
          </a:prstGeom>
          <a:solidFill>
            <a:srgbClr val="4F8A83"/>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s3-flow-label-7">
            <a:extLst>
              <a:ext uri="{FF2B5EF4-FFF2-40B4-BE49-F238E27FC236}">
                <a16:creationId xmlns:a16="http://schemas.microsoft.com/office/drawing/2014/main" id="{E194AFC8-EBE6-447F-4730-FBCE642FF47F}"/>
              </a:ext>
            </a:extLst>
          </p:cNvPr>
          <p:cNvSpPr txBox="1"/>
          <p:nvPr/>
        </p:nvSpPr>
        <p:spPr>
          <a:xfrm>
            <a:off x="10553700" y="5346700"/>
            <a:ext cx="1346200" cy="369332"/>
          </a:xfrm>
          <a:prstGeom prst="rect">
            <a:avLst/>
          </a:prstGeom>
          <a:noFill/>
        </p:spPr>
        <p:txBody>
          <a:bodyPr vert="horz" wrap="square" lIns="0" tIns="0" rIns="0" bIns="0" rtlCol="0" anchor="t">
            <a:noAutofit/>
          </a:bodyPr>
          <a:lstStyle/>
          <a:p>
            <a:pPr algn="ctr"/>
            <a:r>
              <a:rPr lang="zh-CN" altLang="en-US" sz="1250">
                <a:solidFill>
                  <a:srgbClr val="2F3A45"/>
                </a:solidFill>
                <a:latin typeface="Arial" panose="020B0604020202020204" pitchFamily="34" charset="0"/>
                <a:ea typeface="Microsoft YaHei" panose="020B0503020204020204" pitchFamily="34" charset="-122"/>
              </a:rPr>
              <a:t>输出 </a:t>
            </a:r>
            <a:r>
              <a:rPr lang="en-US" altLang="zh-CN" sz="1250">
                <a:solidFill>
                  <a:srgbClr val="2F3A45"/>
                </a:solidFill>
                <a:latin typeface="Arial" panose="020B0604020202020204" pitchFamily="34" charset="0"/>
                <a:ea typeface="Microsoft YaHei" panose="020B0503020204020204" pitchFamily="34" charset="-122"/>
              </a:rPr>
              <a:t>/ </a:t>
            </a:r>
            <a:r>
              <a:rPr lang="zh-CN" altLang="en-US" sz="1250">
                <a:solidFill>
                  <a:srgbClr val="2F3A45"/>
                </a:solidFill>
                <a:latin typeface="Arial" panose="020B0604020202020204" pitchFamily="34" charset="0"/>
                <a:ea typeface="Microsoft YaHei" panose="020B0503020204020204" pitchFamily="34" charset="-122"/>
              </a:rPr>
              <a:t>继续</a:t>
            </a:r>
          </a:p>
        </p:txBody>
      </p:sp>
      <p:sp>
        <p:nvSpPr>
          <p:cNvPr id="31"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34"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1.1</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s4-instructions-surface"/>
          <p:cNvSpPr>
            <a:spLocks noGrp="1"/>
          </p:cNvSpPr>
          <p:nvPr/>
        </p:nvSpPr>
        <p:spPr>
          <a:xfrm>
            <a:off x="228600" y="1361861"/>
            <a:ext cx="2752725" cy="2028825"/>
          </a:xfrm>
          <a:prstGeom prst="roundRect">
            <a:avLst>
              <a:gd name="adj" fmla="val 3756"/>
            </a:avLst>
          </a:prstGeom>
          <a:solidFill>
            <a:srgbClr val="FFFFFF"/>
          </a:solidFill>
          <a:ln w="28575">
            <a:solidFill>
              <a:srgbClr val="CAD7EB"/>
            </a:solidFill>
            <a:prstDash val="dash"/>
          </a:ln>
        </p:spPr>
      </p:sp>
      <p:sp>
        <p:nvSpPr>
          <p:cNvPr id="81" name="s4-instructions-surface"/>
          <p:cNvSpPr>
            <a:spLocks noGrp="1"/>
          </p:cNvSpPr>
          <p:nvPr/>
        </p:nvSpPr>
        <p:spPr>
          <a:xfrm>
            <a:off x="6057900" y="1381526"/>
            <a:ext cx="2752725" cy="2028825"/>
          </a:xfrm>
          <a:prstGeom prst="roundRect">
            <a:avLst>
              <a:gd name="adj" fmla="val 3756"/>
            </a:avLst>
          </a:prstGeom>
          <a:solidFill>
            <a:srgbClr val="FFFFFF"/>
          </a:solidFill>
          <a:ln w="28575">
            <a:solidFill>
              <a:srgbClr val="CAD7EB"/>
            </a:solidFill>
            <a:prstDash val="dash"/>
          </a:ln>
        </p:spPr>
      </p:sp>
      <p:sp>
        <p:nvSpPr>
          <p:cNvPr id="82" name="s4-instructions-surface"/>
          <p:cNvSpPr>
            <a:spLocks noGrp="1"/>
          </p:cNvSpPr>
          <p:nvPr/>
        </p:nvSpPr>
        <p:spPr>
          <a:xfrm>
            <a:off x="9039225" y="1381125"/>
            <a:ext cx="2752725" cy="2028825"/>
          </a:xfrm>
          <a:prstGeom prst="roundRect">
            <a:avLst>
              <a:gd name="adj" fmla="val 3756"/>
            </a:avLst>
          </a:prstGeom>
          <a:solidFill>
            <a:srgbClr val="FFFFFF"/>
          </a:solidFill>
          <a:ln w="28575">
            <a:solidFill>
              <a:srgbClr val="CAD7EB"/>
            </a:solidFill>
            <a:prstDash val="dash"/>
          </a:ln>
        </p:spPr>
      </p:sp>
      <p:sp>
        <p:nvSpPr>
          <p:cNvPr id="14" name="slide-2-editable-footer"/>
          <p:cNvSpPr>
            <a:spLocks noGrp="1"/>
          </p:cNvSpPr>
          <p:nvPr/>
        </p:nvSpPr>
        <p:spPr>
          <a:xfrm>
            <a:off x="238125" y="6457950"/>
            <a:ext cx="11696700" cy="342900"/>
          </a:xfrm>
          <a:prstGeom prst="roundRect">
            <a:avLst>
              <a:gd name="adj" fmla="val 19444"/>
            </a:avLst>
          </a:prstGeom>
          <a:solidFill>
            <a:srgbClr val="EEF4FE"/>
          </a:solidFill>
          <a:ln w="0">
            <a:noFill/>
            <a:prstDash val="solid"/>
          </a:ln>
        </p:spPr>
        <p:txBody>
          <a:bodyPr wrap="square" lIns="114300" tIns="28575" rIns="114300" bIns="28575" anchor="ctr">
            <a:normAutofit/>
          </a:bodyPr>
          <a:lstStyle/>
          <a:p>
            <a:pPr algn="ctr">
              <a:buNone/>
              <a:defRPr sz="1350" b="1">
                <a:solidFill>
                  <a:srgbClr val="072A67"/>
                </a:solidFill>
                <a:latin typeface="微软雅黑" panose="020B0503020204020204" charset="-122"/>
                <a:ea typeface="微软雅黑" panose="020B0503020204020204" charset="-122"/>
                <a:cs typeface="微软雅黑" panose="020B0503020204020204" charset="-122"/>
              </a:defRPr>
            </a:pPr>
            <a:r>
              <a:rPr sz="1350" b="1">
                <a:solidFill>
                  <a:srgbClr val="072A67"/>
                </a:solidFill>
                <a:latin typeface="微软雅黑" panose="020B0503020204020204" charset="-122"/>
                <a:ea typeface="微软雅黑" panose="020B0503020204020204" charset="-122"/>
                <a:cs typeface="微软雅黑" panose="020B0503020204020204" charset="-122"/>
              </a:rPr>
              <a:t>开发 Skill 需定义结构、契约与拆分；结构清楚只是第一步，下一步是稳定、易维护、易协作。</a:t>
            </a:r>
            <a:endParaRPr sz="1090" b="1">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17" name="s4-metadata-number"/>
          <p:cNvSpPr>
            <a:spLocks noGrp="1"/>
          </p:cNvSpPr>
          <p:nvPr/>
        </p:nvSpPr>
        <p:spPr>
          <a:xfrm>
            <a:off x="381000" y="1476375"/>
            <a:ext cx="342900" cy="295275"/>
          </a:xfrm>
          <a:prstGeom prst="roundRect">
            <a:avLst>
              <a:gd name="adj" fmla="val 19355"/>
            </a:avLst>
          </a:prstGeom>
          <a:solidFill>
            <a:srgbClr val="1457C5"/>
          </a:solidFill>
          <a:ln w="9525">
            <a:solidFill>
              <a:srgbClr val="1457C5"/>
            </a:solidFill>
            <a:prstDash val="solid"/>
          </a:ln>
        </p:spPr>
        <p:txBody>
          <a:bodyPr wrap="square" lIns="57150" tIns="28575" rIns="57150" bIns="28575" anchor="ctr">
            <a:normAutofit/>
          </a:bodyPr>
          <a:lstStyle/>
          <a:p>
            <a:pPr algn="ctr">
              <a:defRPr sz="1275" b="1">
                <a:solidFill>
                  <a:srgbClr val="FFFFFF"/>
                </a:solidFill>
                <a:latin typeface="Calibri" panose="020F0502020204030204"/>
                <a:ea typeface="Calibri" panose="020F0502020204030204"/>
                <a:cs typeface="Calibri" panose="020F0502020204030204"/>
              </a:defRPr>
            </a:pPr>
            <a:r>
              <a:rPr sz="1275" b="1">
                <a:solidFill>
                  <a:srgbClr val="FFFFFF"/>
                </a:solidFill>
                <a:latin typeface="Calibri" panose="020F0502020204030204"/>
                <a:ea typeface="Calibri" panose="020F0502020204030204"/>
                <a:cs typeface="Calibri" panose="020F0502020204030204"/>
              </a:rPr>
              <a:t>01</a:t>
            </a:r>
          </a:p>
        </p:txBody>
      </p:sp>
      <p:sp>
        <p:nvSpPr>
          <p:cNvPr id="19" name="s4-metadata-question"/>
          <p:cNvSpPr>
            <a:spLocks noGrp="1"/>
          </p:cNvSpPr>
          <p:nvPr/>
        </p:nvSpPr>
        <p:spPr>
          <a:xfrm>
            <a:off x="400050" y="1538701"/>
            <a:ext cx="2447925" cy="209550"/>
          </a:xfrm>
          <a:prstGeom prst="rect">
            <a:avLst/>
          </a:prstGeom>
          <a:noFill/>
          <a:ln w="0">
            <a:noFill/>
            <a:prstDash val="solid"/>
          </a:ln>
        </p:spPr>
        <p:txBody>
          <a:bodyPr wrap="square" lIns="38100" tIns="19050" rIns="38100" bIns="19050" anchor="ctr">
            <a:noAutofit/>
          </a:bodyPr>
          <a:lstStyle/>
          <a:p>
            <a:pPr algn="ctr">
              <a:defRPr sz="900" b="1">
                <a:solidFill>
                  <a:srgbClr val="1457C5"/>
                </a:solidFill>
                <a:latin typeface="微软雅黑" panose="020B0503020204020204" charset="-122"/>
                <a:ea typeface="微软雅黑" panose="020B0503020204020204" charset="-122"/>
                <a:cs typeface="微软雅黑" panose="020B0503020204020204" charset="-122"/>
              </a:defRPr>
            </a:pPr>
            <a:r>
              <a:rPr sz="1400" b="1" dirty="0" err="1">
                <a:solidFill>
                  <a:srgbClr val="1457C5"/>
                </a:solidFill>
                <a:latin typeface="微软雅黑" panose="020B0503020204020204" charset="-122"/>
                <a:ea typeface="微软雅黑" panose="020B0503020204020204" charset="-122"/>
                <a:cs typeface="微软雅黑" panose="020B0503020204020204" charset="-122"/>
              </a:rPr>
              <a:t>是什么？何时使用</a:t>
            </a:r>
            <a:r>
              <a:rPr sz="1400" b="1" dirty="0">
                <a:solidFill>
                  <a:srgbClr val="1457C5"/>
                </a:solidFill>
                <a:latin typeface="微软雅黑" panose="020B0503020204020204" charset="-122"/>
                <a:ea typeface="微软雅黑" panose="020B0503020204020204" charset="-122"/>
                <a:cs typeface="微软雅黑" panose="020B0503020204020204" charset="-122"/>
              </a:rPr>
              <a:t>？</a:t>
            </a:r>
          </a:p>
        </p:txBody>
      </p:sp>
      <p:sp>
        <p:nvSpPr>
          <p:cNvPr id="20" name="s4-metadata-keyword-1"/>
          <p:cNvSpPr>
            <a:spLocks noGrp="1"/>
          </p:cNvSpPr>
          <p:nvPr/>
        </p:nvSpPr>
        <p:spPr>
          <a:xfrm>
            <a:off x="419100" y="2076450"/>
            <a:ext cx="2409825" cy="190500"/>
          </a:xfrm>
          <a:prstGeom prst="roundRect">
            <a:avLst>
              <a:gd name="adj" fmla="val 35000"/>
            </a:avLst>
          </a:prstGeom>
          <a:solidFill>
            <a:srgbClr val="F5F8FC"/>
          </a:solidFill>
          <a:ln w="9525">
            <a:solidFill>
              <a:srgbClr val="1457C5"/>
            </a:solidFill>
            <a:prstDash val="solid"/>
          </a:ln>
        </p:spPr>
        <p:txBody>
          <a:bodyPr wrap="square" lIns="47625" tIns="9525" rIns="47625" bIns="9525" anchor="ctr">
            <a:normAutofit/>
          </a:bodyPr>
          <a:lstStyle/>
          <a:p>
            <a:pPr algn="ctr">
              <a:defRPr sz="865" b="1">
                <a:solidFill>
                  <a:srgbClr val="1457C5"/>
                </a:solidFill>
                <a:latin typeface="Calibri" panose="020F0502020204030204"/>
                <a:ea typeface="Calibri" panose="020F0502020204030204"/>
                <a:cs typeface="Calibri" panose="020F0502020204030204"/>
              </a:defRPr>
            </a:pPr>
            <a:r>
              <a:rPr sz="865" b="1">
                <a:solidFill>
                  <a:srgbClr val="1457C5"/>
                </a:solidFill>
                <a:latin typeface="Calibri" panose="020F0502020204030204"/>
                <a:ea typeface="Calibri" panose="020F0502020204030204"/>
                <a:cs typeface="Calibri" panose="020F0502020204030204"/>
              </a:rPr>
              <a:t>Name</a:t>
            </a:r>
          </a:p>
        </p:txBody>
      </p:sp>
      <p:sp>
        <p:nvSpPr>
          <p:cNvPr id="21" name="s4-metadata-keyword-2"/>
          <p:cNvSpPr>
            <a:spLocks noGrp="1"/>
          </p:cNvSpPr>
          <p:nvPr/>
        </p:nvSpPr>
        <p:spPr>
          <a:xfrm>
            <a:off x="419100" y="2314575"/>
            <a:ext cx="2409825" cy="190500"/>
          </a:xfrm>
          <a:prstGeom prst="roundRect">
            <a:avLst>
              <a:gd name="adj" fmla="val 35000"/>
            </a:avLst>
          </a:prstGeom>
          <a:solidFill>
            <a:srgbClr val="FFFFFF"/>
          </a:solidFill>
          <a:ln w="9525">
            <a:solidFill>
              <a:srgbClr val="1457C5"/>
            </a:solidFill>
            <a:prstDash val="solid"/>
          </a:ln>
        </p:spPr>
        <p:txBody>
          <a:bodyPr wrap="square" lIns="47625" tIns="9525" rIns="47625" bIns="9525" anchor="ctr">
            <a:normAutofit/>
          </a:bodyPr>
          <a:lstStyle/>
          <a:p>
            <a:pPr algn="ctr">
              <a:defRPr sz="865" b="1">
                <a:solidFill>
                  <a:srgbClr val="1457C5"/>
                </a:solidFill>
                <a:latin typeface="Calibri" panose="020F0502020204030204"/>
                <a:ea typeface="Calibri" panose="020F0502020204030204"/>
                <a:cs typeface="Calibri" panose="020F0502020204030204"/>
              </a:defRPr>
            </a:pPr>
            <a:r>
              <a:rPr sz="865" b="1">
                <a:solidFill>
                  <a:srgbClr val="1457C5"/>
                </a:solidFill>
                <a:latin typeface="Calibri" panose="020F0502020204030204"/>
                <a:ea typeface="Calibri" panose="020F0502020204030204"/>
                <a:cs typeface="Calibri" panose="020F0502020204030204"/>
              </a:rPr>
              <a:t>Description</a:t>
            </a:r>
          </a:p>
        </p:txBody>
      </p:sp>
      <p:sp>
        <p:nvSpPr>
          <p:cNvPr id="22" name="s4-metadata-keyword-3"/>
          <p:cNvSpPr>
            <a:spLocks noGrp="1"/>
          </p:cNvSpPr>
          <p:nvPr/>
        </p:nvSpPr>
        <p:spPr>
          <a:xfrm>
            <a:off x="419100" y="2552700"/>
            <a:ext cx="2409825" cy="190500"/>
          </a:xfrm>
          <a:prstGeom prst="roundRect">
            <a:avLst>
              <a:gd name="adj" fmla="val 35000"/>
            </a:avLst>
          </a:prstGeom>
          <a:solidFill>
            <a:srgbClr val="F5F8FC"/>
          </a:solidFill>
          <a:ln w="9525">
            <a:solidFill>
              <a:srgbClr val="1457C5"/>
            </a:solidFill>
            <a:prstDash val="solid"/>
          </a:ln>
        </p:spPr>
        <p:txBody>
          <a:bodyPr wrap="square" lIns="47625" tIns="9525" rIns="47625" bIns="9525" anchor="ctr">
            <a:normAutofit/>
          </a:bodyPr>
          <a:lstStyle/>
          <a:p>
            <a:pPr algn="ctr">
              <a:defRPr sz="865" b="1">
                <a:solidFill>
                  <a:srgbClr val="1457C5"/>
                </a:solidFill>
                <a:latin typeface="Calibri" panose="020F0502020204030204"/>
                <a:ea typeface="Calibri" panose="020F0502020204030204"/>
                <a:cs typeface="Calibri" panose="020F0502020204030204"/>
              </a:defRPr>
            </a:pPr>
            <a:r>
              <a:rPr sz="865" b="1">
                <a:solidFill>
                  <a:srgbClr val="1457C5"/>
                </a:solidFill>
                <a:latin typeface="Calibri" panose="020F0502020204030204"/>
                <a:ea typeface="Calibri" panose="020F0502020204030204"/>
                <a:cs typeface="Calibri" panose="020F0502020204030204"/>
              </a:rPr>
              <a:t>Scope / Trigger</a:t>
            </a:r>
          </a:p>
        </p:txBody>
      </p:sp>
      <p:sp>
        <p:nvSpPr>
          <p:cNvPr id="23" name="s4-metadata-divider"/>
          <p:cNvSpPr>
            <a:spLocks noGrp="1"/>
          </p:cNvSpPr>
          <p:nvPr/>
        </p:nvSpPr>
        <p:spPr>
          <a:xfrm>
            <a:off x="381000" y="3048000"/>
            <a:ext cx="2486025" cy="9525"/>
          </a:xfrm>
          <a:prstGeom prst="rect">
            <a:avLst/>
          </a:prstGeom>
          <a:solidFill>
            <a:srgbClr val="CAD7EB"/>
          </a:solidFill>
          <a:ln w="9525">
            <a:solidFill>
              <a:srgbClr val="CAD7EB"/>
            </a:solidFill>
            <a:prstDash val="solid"/>
          </a:ln>
        </p:spPr>
      </p:sp>
      <p:sp>
        <p:nvSpPr>
          <p:cNvPr id="24" name="s4-metadata-summary"/>
          <p:cNvSpPr>
            <a:spLocks noGrp="1"/>
          </p:cNvSpPr>
          <p:nvPr/>
        </p:nvSpPr>
        <p:spPr>
          <a:xfrm>
            <a:off x="419100" y="3086100"/>
            <a:ext cx="2409825" cy="276225"/>
          </a:xfrm>
          <a:prstGeom prst="rect">
            <a:avLst/>
          </a:prstGeom>
          <a:noFill/>
          <a:ln w="0">
            <a:noFill/>
            <a:prstDash val="solid"/>
          </a:ln>
        </p:spPr>
        <p:txBody>
          <a:bodyPr wrap="square" lIns="38100" tIns="19050" rIns="38100" bIns="19050" anchor="ctr">
            <a:normAutofit/>
          </a:bodyPr>
          <a:lstStyle/>
          <a:p>
            <a:pPr algn="ctr">
              <a:defRPr sz="940" b="1">
                <a:solidFill>
                  <a:srgbClr val="56627A"/>
                </a:solidFill>
                <a:latin typeface="微软雅黑" panose="020B0503020204020204" charset="-122"/>
                <a:ea typeface="微软雅黑" panose="020B0503020204020204" charset="-122"/>
                <a:cs typeface="微软雅黑" panose="020B0503020204020204" charset="-122"/>
              </a:defRPr>
            </a:pPr>
            <a:r>
              <a:rPr sz="940" b="1">
                <a:solidFill>
                  <a:srgbClr val="56627A"/>
                </a:solidFill>
                <a:latin typeface="微软雅黑" panose="020B0503020204020204" charset="-122"/>
                <a:ea typeface="微软雅黑" panose="020B0503020204020204" charset="-122"/>
                <a:cs typeface="微软雅黑" panose="020B0503020204020204" charset="-122"/>
              </a:rPr>
              <a:t>定义 Skill 身份、适用任务与触发边界。</a:t>
            </a:r>
          </a:p>
        </p:txBody>
      </p:sp>
      <p:sp>
        <p:nvSpPr>
          <p:cNvPr id="25" name="s4-instructions-surface"/>
          <p:cNvSpPr>
            <a:spLocks noGrp="1"/>
          </p:cNvSpPr>
          <p:nvPr/>
        </p:nvSpPr>
        <p:spPr>
          <a:xfrm>
            <a:off x="3133725" y="1371600"/>
            <a:ext cx="2752725" cy="2028825"/>
          </a:xfrm>
          <a:prstGeom prst="roundRect">
            <a:avLst>
              <a:gd name="adj" fmla="val 3756"/>
            </a:avLst>
          </a:prstGeom>
          <a:solidFill>
            <a:srgbClr val="FFFFFF"/>
          </a:solidFill>
          <a:ln w="28575">
            <a:solidFill>
              <a:srgbClr val="CAD7EB"/>
            </a:solidFill>
            <a:prstDash val="dash"/>
          </a:ln>
        </p:spPr>
      </p:sp>
      <p:sp>
        <p:nvSpPr>
          <p:cNvPr id="26" name="s4-instructions-number"/>
          <p:cNvSpPr>
            <a:spLocks noGrp="1"/>
          </p:cNvSpPr>
          <p:nvPr/>
        </p:nvSpPr>
        <p:spPr>
          <a:xfrm>
            <a:off x="3267075" y="1476375"/>
            <a:ext cx="342900" cy="295275"/>
          </a:xfrm>
          <a:prstGeom prst="roundRect">
            <a:avLst>
              <a:gd name="adj" fmla="val 19355"/>
            </a:avLst>
          </a:prstGeom>
          <a:solidFill>
            <a:srgbClr val="1359B8"/>
          </a:solidFill>
          <a:ln w="9525">
            <a:solidFill>
              <a:srgbClr val="1359B8"/>
            </a:solidFill>
            <a:prstDash val="solid"/>
          </a:ln>
        </p:spPr>
        <p:txBody>
          <a:bodyPr wrap="square" lIns="57150" tIns="28575" rIns="57150" bIns="28575" anchor="ctr">
            <a:normAutofit/>
          </a:bodyPr>
          <a:lstStyle/>
          <a:p>
            <a:pPr algn="ctr">
              <a:defRPr sz="1275" b="1">
                <a:solidFill>
                  <a:srgbClr val="FFFFFF"/>
                </a:solidFill>
                <a:latin typeface="Calibri" panose="020F0502020204030204"/>
                <a:ea typeface="Calibri" panose="020F0502020204030204"/>
                <a:cs typeface="Calibri" panose="020F0502020204030204"/>
              </a:defRPr>
            </a:pPr>
            <a:r>
              <a:rPr sz="1275" b="1" dirty="0">
                <a:solidFill>
                  <a:srgbClr val="FFFFFF"/>
                </a:solidFill>
                <a:latin typeface="Calibri" panose="020F0502020204030204"/>
                <a:ea typeface="Calibri" panose="020F0502020204030204"/>
                <a:cs typeface="Calibri" panose="020F0502020204030204"/>
              </a:rPr>
              <a:t>02</a:t>
            </a:r>
          </a:p>
        </p:txBody>
      </p:sp>
      <p:sp>
        <p:nvSpPr>
          <p:cNvPr id="27" name="s4-instructions-title"/>
          <p:cNvSpPr>
            <a:spLocks noGrp="1"/>
          </p:cNvSpPr>
          <p:nvPr/>
        </p:nvSpPr>
        <p:spPr>
          <a:xfrm>
            <a:off x="3714750" y="1476375"/>
            <a:ext cx="2057400" cy="352425"/>
          </a:xfrm>
          <a:prstGeom prst="rect">
            <a:avLst/>
          </a:prstGeom>
          <a:noFill/>
          <a:ln w="0">
            <a:noFill/>
            <a:prstDash val="solid"/>
          </a:ln>
        </p:spPr>
        <p:txBody>
          <a:bodyPr wrap="square" lIns="38100" tIns="19050" rIns="38100" bIns="19050" anchor="ctr">
            <a:normAutofit/>
          </a:bodyPr>
          <a:lstStyle/>
          <a:p>
            <a:pPr>
              <a:defRPr sz="1200" b="1">
                <a:solidFill>
                  <a:srgbClr val="072A67"/>
                </a:solidFill>
                <a:latin typeface="Calibri" panose="020F0502020204030204"/>
                <a:ea typeface="Calibri" panose="020F0502020204030204"/>
                <a:cs typeface="Calibri" panose="020F0502020204030204"/>
              </a:defRPr>
            </a:pPr>
            <a:r>
              <a:rPr lang="zh-CN" altLang="en-US" sz="1400" b="1" dirty="0">
                <a:solidFill>
                  <a:srgbClr val="1359B8"/>
                </a:solidFill>
                <a:latin typeface="微软雅黑" panose="020B0503020204020204" charset="-122"/>
                <a:ea typeface="微软雅黑" panose="020B0503020204020204" charset="-122"/>
                <a:cs typeface="微软雅黑" panose="020B0503020204020204" charset="-122"/>
              </a:rPr>
              <a:t>任务具体怎么做</a:t>
            </a:r>
            <a:r>
              <a:rPr lang="zh-CN" altLang="en-US" sz="1400" b="1" dirty="0" smtClean="0">
                <a:solidFill>
                  <a:srgbClr val="1359B8"/>
                </a:solidFill>
                <a:latin typeface="微软雅黑" panose="020B0503020204020204" charset="-122"/>
                <a:ea typeface="微软雅黑" panose="020B0503020204020204" charset="-122"/>
                <a:cs typeface="微软雅黑" panose="020B0503020204020204" charset="-122"/>
              </a:rPr>
              <a:t>？</a:t>
            </a:r>
            <a:endParaRPr lang="zh-CN" altLang="en-US" sz="1400" b="1" dirty="0">
              <a:solidFill>
                <a:srgbClr val="1359B8"/>
              </a:solidFill>
              <a:latin typeface="微软雅黑" panose="020B0503020204020204" charset="-122"/>
              <a:ea typeface="微软雅黑" panose="020B0503020204020204" charset="-122"/>
              <a:cs typeface="微软雅黑" panose="020B0503020204020204" charset="-122"/>
            </a:endParaRPr>
          </a:p>
        </p:txBody>
      </p:sp>
      <p:sp>
        <p:nvSpPr>
          <p:cNvPr id="28" name="s4-instructions-question"/>
          <p:cNvSpPr>
            <a:spLocks noGrp="1"/>
          </p:cNvSpPr>
          <p:nvPr/>
        </p:nvSpPr>
        <p:spPr>
          <a:xfrm>
            <a:off x="3286125" y="1800225"/>
            <a:ext cx="2447925" cy="209550"/>
          </a:xfrm>
          <a:prstGeom prst="rect">
            <a:avLst/>
          </a:prstGeom>
          <a:noFill/>
          <a:ln w="0">
            <a:noFill/>
            <a:prstDash val="solid"/>
          </a:ln>
        </p:spPr>
        <p:txBody>
          <a:bodyPr wrap="square" lIns="38100" tIns="19050" rIns="38100" bIns="19050" anchor="ctr">
            <a:normAutofit/>
          </a:bodyPr>
          <a:lstStyle/>
          <a:p>
            <a:pPr algn="ctr">
              <a:defRPr sz="900" b="1">
                <a:solidFill>
                  <a:srgbClr val="1359B8"/>
                </a:solidFill>
                <a:latin typeface="微软雅黑" panose="020B0503020204020204" charset="-122"/>
                <a:ea typeface="微软雅黑" panose="020B0503020204020204" charset="-122"/>
                <a:cs typeface="微软雅黑" panose="020B0503020204020204" charset="-122"/>
              </a:defRPr>
            </a:pPr>
            <a:endParaRPr sz="900" b="1" dirty="0">
              <a:solidFill>
                <a:srgbClr val="1359B8"/>
              </a:solidFill>
              <a:latin typeface="微软雅黑" panose="020B0503020204020204" charset="-122"/>
              <a:ea typeface="微软雅黑" panose="020B0503020204020204" charset="-122"/>
              <a:cs typeface="微软雅黑" panose="020B0503020204020204" charset="-122"/>
            </a:endParaRPr>
          </a:p>
        </p:txBody>
      </p:sp>
      <p:sp>
        <p:nvSpPr>
          <p:cNvPr id="29" name="s4-instructions-keyword-1"/>
          <p:cNvSpPr>
            <a:spLocks noGrp="1"/>
          </p:cNvSpPr>
          <p:nvPr/>
        </p:nvSpPr>
        <p:spPr>
          <a:xfrm>
            <a:off x="3305175" y="2076450"/>
            <a:ext cx="2409825" cy="190500"/>
          </a:xfrm>
          <a:prstGeom prst="roundRect">
            <a:avLst>
              <a:gd name="adj" fmla="val 35000"/>
            </a:avLst>
          </a:prstGeom>
          <a:solidFill>
            <a:srgbClr val="F5F8FC"/>
          </a:solidFill>
          <a:ln w="9525">
            <a:solidFill>
              <a:srgbClr val="1359B8"/>
            </a:solidFill>
            <a:prstDash val="solid"/>
          </a:ln>
        </p:spPr>
        <p:txBody>
          <a:bodyPr wrap="square" lIns="47625" tIns="9525" rIns="47625" bIns="9525" anchor="ctr">
            <a:normAutofit/>
          </a:bodyPr>
          <a:lstStyle/>
          <a:p>
            <a:pPr algn="ctr">
              <a:defRPr sz="865" b="1">
                <a:solidFill>
                  <a:srgbClr val="1359B8"/>
                </a:solidFill>
                <a:latin typeface="Calibri" panose="020F0502020204030204"/>
                <a:ea typeface="Calibri" panose="020F0502020204030204"/>
                <a:cs typeface="Calibri" panose="020F0502020204030204"/>
              </a:defRPr>
            </a:pPr>
            <a:r>
              <a:rPr sz="865" b="1" dirty="0">
                <a:solidFill>
                  <a:srgbClr val="1359B8"/>
                </a:solidFill>
                <a:latin typeface="Calibri" panose="020F0502020204030204"/>
                <a:ea typeface="Calibri" panose="020F0502020204030204"/>
                <a:cs typeface="Calibri" panose="020F0502020204030204"/>
              </a:rPr>
              <a:t>Workflow / Rules</a:t>
            </a:r>
          </a:p>
        </p:txBody>
      </p:sp>
      <p:sp>
        <p:nvSpPr>
          <p:cNvPr id="30" name="s4-instructions-keyword-2"/>
          <p:cNvSpPr>
            <a:spLocks noGrp="1"/>
          </p:cNvSpPr>
          <p:nvPr/>
        </p:nvSpPr>
        <p:spPr>
          <a:xfrm>
            <a:off x="3305175" y="2314575"/>
            <a:ext cx="2409825" cy="190500"/>
          </a:xfrm>
          <a:prstGeom prst="roundRect">
            <a:avLst>
              <a:gd name="adj" fmla="val 35000"/>
            </a:avLst>
          </a:prstGeom>
          <a:solidFill>
            <a:srgbClr val="FFFFFF"/>
          </a:solidFill>
          <a:ln w="9525">
            <a:solidFill>
              <a:srgbClr val="1359B8"/>
            </a:solidFill>
            <a:prstDash val="solid"/>
          </a:ln>
        </p:spPr>
        <p:txBody>
          <a:bodyPr wrap="square" lIns="47625" tIns="9525" rIns="47625" bIns="9525" anchor="ctr">
            <a:normAutofit/>
          </a:bodyPr>
          <a:lstStyle/>
          <a:p>
            <a:pPr algn="ctr">
              <a:defRPr sz="865" b="1">
                <a:solidFill>
                  <a:srgbClr val="1359B8"/>
                </a:solidFill>
                <a:latin typeface="Calibri" panose="020F0502020204030204"/>
                <a:ea typeface="Calibri" panose="020F0502020204030204"/>
                <a:cs typeface="Calibri" panose="020F0502020204030204"/>
              </a:defRPr>
            </a:pPr>
            <a:r>
              <a:rPr sz="865" b="1">
                <a:solidFill>
                  <a:srgbClr val="1359B8"/>
                </a:solidFill>
                <a:latin typeface="Calibri" panose="020F0502020204030204"/>
                <a:ea typeface="Calibri" panose="020F0502020204030204"/>
                <a:cs typeface="Calibri" panose="020F0502020204030204"/>
              </a:rPr>
              <a:t>Constraints</a:t>
            </a:r>
          </a:p>
        </p:txBody>
      </p:sp>
      <p:sp>
        <p:nvSpPr>
          <p:cNvPr id="31" name="s4-instructions-keyword-3"/>
          <p:cNvSpPr>
            <a:spLocks noGrp="1"/>
          </p:cNvSpPr>
          <p:nvPr/>
        </p:nvSpPr>
        <p:spPr>
          <a:xfrm>
            <a:off x="3305175" y="2552700"/>
            <a:ext cx="2409825" cy="190500"/>
          </a:xfrm>
          <a:prstGeom prst="roundRect">
            <a:avLst>
              <a:gd name="adj" fmla="val 35000"/>
            </a:avLst>
          </a:prstGeom>
          <a:solidFill>
            <a:srgbClr val="F5F8FC"/>
          </a:solidFill>
          <a:ln w="9525">
            <a:solidFill>
              <a:srgbClr val="1359B8"/>
            </a:solidFill>
            <a:prstDash val="solid"/>
          </a:ln>
        </p:spPr>
        <p:txBody>
          <a:bodyPr wrap="square" lIns="47625" tIns="9525" rIns="47625" bIns="9525" anchor="ctr">
            <a:normAutofit/>
          </a:bodyPr>
          <a:lstStyle/>
          <a:p>
            <a:pPr algn="ctr">
              <a:defRPr sz="865" b="1">
                <a:solidFill>
                  <a:srgbClr val="1359B8"/>
                </a:solidFill>
                <a:latin typeface="Calibri" panose="020F0502020204030204"/>
                <a:ea typeface="Calibri" panose="020F0502020204030204"/>
                <a:cs typeface="Calibri" panose="020F0502020204030204"/>
              </a:defRPr>
            </a:pPr>
            <a:r>
              <a:rPr sz="865" b="1">
                <a:solidFill>
                  <a:srgbClr val="1359B8"/>
                </a:solidFill>
                <a:latin typeface="Calibri" panose="020F0502020204030204"/>
                <a:ea typeface="Calibri" panose="020F0502020204030204"/>
                <a:cs typeface="Calibri" panose="020F0502020204030204"/>
              </a:rPr>
              <a:t>Resource Routing</a:t>
            </a:r>
          </a:p>
        </p:txBody>
      </p:sp>
      <p:sp>
        <p:nvSpPr>
          <p:cNvPr id="32" name="s4-instructions-divider"/>
          <p:cNvSpPr>
            <a:spLocks noGrp="1"/>
          </p:cNvSpPr>
          <p:nvPr/>
        </p:nvSpPr>
        <p:spPr>
          <a:xfrm>
            <a:off x="3267075" y="3048000"/>
            <a:ext cx="2486025" cy="9525"/>
          </a:xfrm>
          <a:prstGeom prst="rect">
            <a:avLst/>
          </a:prstGeom>
          <a:solidFill>
            <a:srgbClr val="CAD7EB"/>
          </a:solidFill>
          <a:ln w="9525">
            <a:solidFill>
              <a:srgbClr val="CAD7EB"/>
            </a:solidFill>
            <a:prstDash val="solid"/>
          </a:ln>
        </p:spPr>
      </p:sp>
      <p:sp>
        <p:nvSpPr>
          <p:cNvPr id="33" name="s4-instructions-summary"/>
          <p:cNvSpPr>
            <a:spLocks noGrp="1"/>
          </p:cNvSpPr>
          <p:nvPr/>
        </p:nvSpPr>
        <p:spPr>
          <a:xfrm>
            <a:off x="3305175" y="3086100"/>
            <a:ext cx="2409825" cy="276225"/>
          </a:xfrm>
          <a:prstGeom prst="rect">
            <a:avLst/>
          </a:prstGeom>
          <a:noFill/>
          <a:ln w="0">
            <a:noFill/>
            <a:prstDash val="solid"/>
          </a:ln>
        </p:spPr>
        <p:txBody>
          <a:bodyPr wrap="square" lIns="38100" tIns="19050" rIns="38100" bIns="19050" anchor="ctr">
            <a:normAutofit/>
          </a:bodyPr>
          <a:lstStyle/>
          <a:p>
            <a:pPr algn="ctr">
              <a:defRPr sz="940" b="1">
                <a:solidFill>
                  <a:srgbClr val="56627A"/>
                </a:solidFill>
                <a:latin typeface="微软雅黑" panose="020B0503020204020204" charset="-122"/>
                <a:ea typeface="微软雅黑" panose="020B0503020204020204" charset="-122"/>
                <a:cs typeface="微软雅黑" panose="020B0503020204020204" charset="-122"/>
              </a:defRPr>
            </a:pPr>
            <a:r>
              <a:rPr sz="940" b="1" dirty="0" err="1">
                <a:solidFill>
                  <a:srgbClr val="56627A"/>
                </a:solidFill>
                <a:latin typeface="微软雅黑" panose="020B0503020204020204" charset="-122"/>
                <a:ea typeface="微软雅黑" panose="020B0503020204020204" charset="-122"/>
                <a:cs typeface="微软雅黑" panose="020B0503020204020204" charset="-122"/>
              </a:rPr>
              <a:t>定义工作步骤、判断逻辑与最终产出</a:t>
            </a:r>
            <a:r>
              <a:rPr sz="940" b="1" dirty="0">
                <a:solidFill>
                  <a:srgbClr val="56627A"/>
                </a:solidFill>
                <a:latin typeface="微软雅黑" panose="020B0503020204020204" charset="-122"/>
                <a:ea typeface="微软雅黑" panose="020B0503020204020204" charset="-122"/>
                <a:cs typeface="微软雅黑" panose="020B0503020204020204" charset="-122"/>
              </a:rPr>
              <a:t>。</a:t>
            </a:r>
          </a:p>
        </p:txBody>
      </p:sp>
      <p:sp>
        <p:nvSpPr>
          <p:cNvPr id="35" name="s4-references-number"/>
          <p:cNvSpPr>
            <a:spLocks noGrp="1"/>
          </p:cNvSpPr>
          <p:nvPr/>
        </p:nvSpPr>
        <p:spPr>
          <a:xfrm>
            <a:off x="6153150" y="1476375"/>
            <a:ext cx="342900" cy="295275"/>
          </a:xfrm>
          <a:prstGeom prst="roundRect">
            <a:avLst>
              <a:gd name="adj" fmla="val 19355"/>
            </a:avLst>
          </a:prstGeom>
          <a:solidFill>
            <a:srgbClr val="1359B8"/>
          </a:solidFill>
          <a:ln w="9525">
            <a:solidFill>
              <a:srgbClr val="1359B8"/>
            </a:solidFill>
            <a:prstDash val="solid"/>
          </a:ln>
        </p:spPr>
        <p:txBody>
          <a:bodyPr wrap="square" lIns="57150" tIns="28575" rIns="57150" bIns="28575" anchor="ctr">
            <a:normAutofit/>
          </a:bodyPr>
          <a:lstStyle/>
          <a:p>
            <a:pPr algn="ctr"/>
            <a:r>
              <a:rPr sz="1275" b="1" dirty="0">
                <a:solidFill>
                  <a:srgbClr val="FFFFFF"/>
                </a:solidFill>
                <a:latin typeface="Calibri" panose="020F0502020204030204"/>
                <a:ea typeface="Calibri" panose="020F0502020204030204"/>
                <a:cs typeface="Calibri" panose="020F0502020204030204"/>
              </a:rPr>
              <a:t>03</a:t>
            </a:r>
          </a:p>
        </p:txBody>
      </p:sp>
      <p:sp>
        <p:nvSpPr>
          <p:cNvPr id="36" name="s4-references-title"/>
          <p:cNvSpPr>
            <a:spLocks noGrp="1"/>
          </p:cNvSpPr>
          <p:nvPr/>
        </p:nvSpPr>
        <p:spPr>
          <a:xfrm>
            <a:off x="6600825" y="1447800"/>
            <a:ext cx="2057400" cy="352425"/>
          </a:xfrm>
          <a:prstGeom prst="rect">
            <a:avLst/>
          </a:prstGeom>
          <a:noFill/>
          <a:ln w="0">
            <a:noFill/>
            <a:prstDash val="solid"/>
          </a:ln>
        </p:spPr>
        <p:txBody>
          <a:bodyPr wrap="square" lIns="38100" tIns="19050" rIns="38100" bIns="19050" anchor="ctr">
            <a:normAutofit/>
          </a:bodyPr>
          <a:lstStyle/>
          <a:p>
            <a:pPr>
              <a:defRPr sz="1350" b="1">
                <a:solidFill>
                  <a:srgbClr val="072A67"/>
                </a:solidFill>
                <a:latin typeface="Calibri" panose="020F0502020204030204"/>
                <a:ea typeface="Calibri" panose="020F0502020204030204"/>
                <a:cs typeface="Calibri" panose="020F0502020204030204"/>
              </a:defRPr>
            </a:pPr>
            <a:r>
              <a:rPr lang="zh-CN" altLang="en-US" sz="1400" b="1" dirty="0">
                <a:solidFill>
                  <a:srgbClr val="1359B8"/>
                </a:solidFill>
                <a:latin typeface="微软雅黑" panose="020B0503020204020204" charset="-122"/>
                <a:ea typeface="微软雅黑" panose="020B0503020204020204" charset="-122"/>
                <a:cs typeface="微软雅黑" panose="020B0503020204020204" charset="-122"/>
              </a:rPr>
              <a:t>需要知道什么</a:t>
            </a:r>
            <a:r>
              <a:rPr lang="zh-CN" altLang="en-US" sz="1400" b="1" dirty="0">
                <a:solidFill>
                  <a:srgbClr val="1359B8"/>
                </a:solidFill>
                <a:latin typeface="微软雅黑" panose="020B0503020204020204" charset="-122"/>
                <a:ea typeface="微软雅黑" panose="020B0503020204020204" charset="-122"/>
                <a:cs typeface="微软雅黑" panose="020B0503020204020204" charset="-122"/>
              </a:rPr>
              <a:t>？</a:t>
            </a:r>
            <a:endParaRPr lang="zh-CN" altLang="en-US" sz="1400" b="1" dirty="0">
              <a:solidFill>
                <a:srgbClr val="1359B8"/>
              </a:solidFill>
              <a:latin typeface="微软雅黑" panose="020B0503020204020204" charset="-122"/>
              <a:ea typeface="微软雅黑" panose="020B0503020204020204" charset="-122"/>
              <a:cs typeface="微软雅黑" panose="020B0503020204020204" charset="-122"/>
            </a:endParaRPr>
          </a:p>
        </p:txBody>
      </p:sp>
      <p:sp>
        <p:nvSpPr>
          <p:cNvPr id="37" name="s4-references-question"/>
          <p:cNvSpPr>
            <a:spLocks noGrp="1"/>
          </p:cNvSpPr>
          <p:nvPr/>
        </p:nvSpPr>
        <p:spPr>
          <a:xfrm>
            <a:off x="6172200" y="1800225"/>
            <a:ext cx="2447925" cy="209550"/>
          </a:xfrm>
          <a:prstGeom prst="rect">
            <a:avLst/>
          </a:prstGeom>
          <a:noFill/>
          <a:ln w="0">
            <a:noFill/>
            <a:prstDash val="solid"/>
          </a:ln>
        </p:spPr>
        <p:txBody>
          <a:bodyPr wrap="square" lIns="38100" tIns="19050" rIns="38100" bIns="19050" anchor="ctr">
            <a:normAutofit/>
          </a:bodyPr>
          <a:lstStyle/>
          <a:p>
            <a:pPr algn="ctr">
              <a:defRPr sz="900" b="1">
                <a:solidFill>
                  <a:srgbClr val="6E54C8"/>
                </a:solidFill>
                <a:latin typeface="微软雅黑" panose="020B0503020204020204" charset="-122"/>
                <a:ea typeface="微软雅黑" panose="020B0503020204020204" charset="-122"/>
                <a:cs typeface="微软雅黑" panose="020B0503020204020204" charset="-122"/>
              </a:defRPr>
            </a:pPr>
            <a:endParaRPr sz="900" b="1" dirty="0">
              <a:solidFill>
                <a:srgbClr val="6E54C8"/>
              </a:solidFill>
              <a:latin typeface="微软雅黑" panose="020B0503020204020204" charset="-122"/>
              <a:ea typeface="微软雅黑" panose="020B0503020204020204" charset="-122"/>
              <a:cs typeface="微软雅黑" panose="020B0503020204020204" charset="-122"/>
            </a:endParaRPr>
          </a:p>
        </p:txBody>
      </p:sp>
      <p:sp>
        <p:nvSpPr>
          <p:cNvPr id="38" name="s4-references-keyword-1"/>
          <p:cNvSpPr>
            <a:spLocks noGrp="1"/>
          </p:cNvSpPr>
          <p:nvPr/>
        </p:nvSpPr>
        <p:spPr>
          <a:xfrm>
            <a:off x="6191250" y="2076450"/>
            <a:ext cx="2409825" cy="190500"/>
          </a:xfrm>
          <a:prstGeom prst="roundRect">
            <a:avLst>
              <a:gd name="adj" fmla="val 35000"/>
            </a:avLst>
          </a:prstGeom>
          <a:solidFill>
            <a:srgbClr val="F5F8FC"/>
          </a:solidFill>
          <a:ln w="9525">
            <a:solidFill>
              <a:srgbClr val="1359B8"/>
            </a:solidFill>
            <a:prstDash val="solid"/>
          </a:ln>
        </p:spPr>
        <p:txBody>
          <a:bodyPr wrap="square" lIns="47625" tIns="9525" rIns="47625" bIns="9525" anchor="ctr">
            <a:normAutofit/>
          </a:bodyPr>
          <a:lstStyle/>
          <a:p>
            <a:pPr algn="ctr"/>
            <a:r>
              <a:rPr sz="865" b="1">
                <a:solidFill>
                  <a:srgbClr val="1359B8"/>
                </a:solidFill>
                <a:latin typeface="Calibri" panose="020F0502020204030204"/>
                <a:ea typeface="Calibri" panose="020F0502020204030204"/>
                <a:cs typeface="Calibri" panose="020F0502020204030204"/>
              </a:rPr>
              <a:t>Domain Knowledge</a:t>
            </a:r>
          </a:p>
        </p:txBody>
      </p:sp>
      <p:sp>
        <p:nvSpPr>
          <p:cNvPr id="39" name="s4-references-keyword-2"/>
          <p:cNvSpPr>
            <a:spLocks noGrp="1"/>
          </p:cNvSpPr>
          <p:nvPr/>
        </p:nvSpPr>
        <p:spPr>
          <a:xfrm>
            <a:off x="6191250" y="2314575"/>
            <a:ext cx="2409825" cy="190500"/>
          </a:xfrm>
          <a:prstGeom prst="roundRect">
            <a:avLst>
              <a:gd name="adj" fmla="val 35000"/>
            </a:avLst>
          </a:prstGeom>
          <a:solidFill>
            <a:srgbClr val="F5F8FC"/>
          </a:solidFill>
          <a:ln w="9525">
            <a:solidFill>
              <a:srgbClr val="1359B8"/>
            </a:solidFill>
            <a:prstDash val="solid"/>
          </a:ln>
        </p:spPr>
        <p:txBody>
          <a:bodyPr wrap="square" lIns="47625" tIns="9525" rIns="47625" bIns="9525" anchor="ctr">
            <a:normAutofit/>
          </a:bodyPr>
          <a:lstStyle/>
          <a:p>
            <a:pPr algn="ctr"/>
            <a:r>
              <a:rPr sz="865" b="1">
                <a:solidFill>
                  <a:srgbClr val="1359B8"/>
                </a:solidFill>
                <a:latin typeface="Calibri" panose="020F0502020204030204"/>
                <a:ea typeface="Calibri" panose="020F0502020204030204"/>
                <a:cs typeface="Calibri" panose="020F0502020204030204"/>
              </a:rPr>
              <a:t>Guidelines / Examples</a:t>
            </a:r>
          </a:p>
        </p:txBody>
      </p:sp>
      <p:sp>
        <p:nvSpPr>
          <p:cNvPr id="40" name="s4-references-keyword-3"/>
          <p:cNvSpPr>
            <a:spLocks noGrp="1"/>
          </p:cNvSpPr>
          <p:nvPr/>
        </p:nvSpPr>
        <p:spPr>
          <a:xfrm>
            <a:off x="6191250" y="2552700"/>
            <a:ext cx="2409825" cy="190500"/>
          </a:xfrm>
          <a:prstGeom prst="roundRect">
            <a:avLst>
              <a:gd name="adj" fmla="val 35000"/>
            </a:avLst>
          </a:prstGeom>
          <a:solidFill>
            <a:srgbClr val="F5F8FC"/>
          </a:solidFill>
          <a:ln w="9525">
            <a:solidFill>
              <a:srgbClr val="1359B8"/>
            </a:solidFill>
            <a:prstDash val="solid"/>
          </a:ln>
        </p:spPr>
        <p:txBody>
          <a:bodyPr wrap="square" lIns="47625" tIns="9525" rIns="47625" bIns="9525" anchor="ctr">
            <a:normAutofit/>
          </a:bodyPr>
          <a:lstStyle/>
          <a:p>
            <a:pPr algn="ctr"/>
            <a:r>
              <a:rPr sz="865" b="1" dirty="0">
                <a:solidFill>
                  <a:srgbClr val="1359B8"/>
                </a:solidFill>
                <a:latin typeface="Calibri" panose="020F0502020204030204"/>
                <a:ea typeface="Calibri" panose="020F0502020204030204"/>
                <a:cs typeface="Calibri" panose="020F0502020204030204"/>
              </a:rPr>
              <a:t>Best Practices</a:t>
            </a:r>
          </a:p>
        </p:txBody>
      </p:sp>
      <p:sp>
        <p:nvSpPr>
          <p:cNvPr id="41" name="s4-references-divider"/>
          <p:cNvSpPr>
            <a:spLocks noGrp="1"/>
          </p:cNvSpPr>
          <p:nvPr/>
        </p:nvSpPr>
        <p:spPr>
          <a:xfrm>
            <a:off x="6153150" y="3048000"/>
            <a:ext cx="2486025" cy="9525"/>
          </a:xfrm>
          <a:prstGeom prst="rect">
            <a:avLst/>
          </a:prstGeom>
          <a:solidFill>
            <a:srgbClr val="CAD7EB"/>
          </a:solidFill>
          <a:ln w="9525">
            <a:solidFill>
              <a:srgbClr val="CAD7EB"/>
            </a:solidFill>
            <a:prstDash val="solid"/>
          </a:ln>
        </p:spPr>
      </p:sp>
      <p:sp>
        <p:nvSpPr>
          <p:cNvPr id="42" name="s4-references-summary"/>
          <p:cNvSpPr>
            <a:spLocks noGrp="1"/>
          </p:cNvSpPr>
          <p:nvPr/>
        </p:nvSpPr>
        <p:spPr>
          <a:xfrm>
            <a:off x="6191250" y="3086100"/>
            <a:ext cx="2409825" cy="276225"/>
          </a:xfrm>
          <a:prstGeom prst="rect">
            <a:avLst/>
          </a:prstGeom>
          <a:noFill/>
          <a:ln w="0">
            <a:noFill/>
            <a:prstDash val="solid"/>
          </a:ln>
        </p:spPr>
        <p:txBody>
          <a:bodyPr wrap="square" lIns="38100" tIns="19050" rIns="38100" bIns="19050" anchor="ctr">
            <a:normAutofit fontScale="92500"/>
          </a:bodyPr>
          <a:lstStyle/>
          <a:p>
            <a:pPr algn="ctr">
              <a:defRPr sz="940" b="1">
                <a:solidFill>
                  <a:srgbClr val="56627A"/>
                </a:solidFill>
                <a:latin typeface="微软雅黑" panose="020B0503020204020204" charset="-122"/>
                <a:ea typeface="微软雅黑" panose="020B0503020204020204" charset="-122"/>
                <a:cs typeface="微软雅黑" panose="020B0503020204020204" charset="-122"/>
              </a:defRPr>
            </a:pPr>
            <a:r>
              <a:rPr sz="940" b="1">
                <a:solidFill>
                  <a:srgbClr val="56627A"/>
                </a:solidFill>
                <a:latin typeface="微软雅黑" panose="020B0503020204020204" charset="-122"/>
                <a:ea typeface="微软雅黑" panose="020B0503020204020204" charset="-122"/>
                <a:cs typeface="微软雅黑" panose="020B0503020204020204" charset="-122"/>
              </a:rPr>
              <a:t>详细知识按需读取，不全部堆进 SKILL.md。</a:t>
            </a:r>
          </a:p>
        </p:txBody>
      </p:sp>
      <p:sp>
        <p:nvSpPr>
          <p:cNvPr id="44" name="s4-scripts-assets-number"/>
          <p:cNvSpPr>
            <a:spLocks noGrp="1"/>
          </p:cNvSpPr>
          <p:nvPr/>
        </p:nvSpPr>
        <p:spPr>
          <a:xfrm>
            <a:off x="9039225" y="1476375"/>
            <a:ext cx="342900" cy="295275"/>
          </a:xfrm>
          <a:prstGeom prst="roundRect">
            <a:avLst>
              <a:gd name="adj" fmla="val 19355"/>
            </a:avLst>
          </a:prstGeom>
          <a:solidFill>
            <a:srgbClr val="1359B8"/>
          </a:solidFill>
          <a:ln w="9525">
            <a:solidFill>
              <a:srgbClr val="1359B8"/>
            </a:solidFill>
            <a:prstDash val="solid"/>
          </a:ln>
        </p:spPr>
        <p:txBody>
          <a:bodyPr wrap="square" lIns="57150" tIns="28575" rIns="57150" bIns="28575" anchor="ctr">
            <a:normAutofit/>
          </a:bodyPr>
          <a:lstStyle/>
          <a:p>
            <a:pPr algn="ctr"/>
            <a:r>
              <a:rPr sz="1275" b="1" dirty="0">
                <a:solidFill>
                  <a:srgbClr val="FFFFFF"/>
                </a:solidFill>
                <a:latin typeface="Calibri" panose="020F0502020204030204"/>
                <a:ea typeface="Calibri" panose="020F0502020204030204"/>
                <a:cs typeface="Calibri" panose="020F0502020204030204"/>
              </a:rPr>
              <a:t>04</a:t>
            </a:r>
          </a:p>
        </p:txBody>
      </p:sp>
      <p:sp>
        <p:nvSpPr>
          <p:cNvPr id="45" name="s4-scripts-assets-title"/>
          <p:cNvSpPr>
            <a:spLocks noGrp="1"/>
          </p:cNvSpPr>
          <p:nvPr/>
        </p:nvSpPr>
        <p:spPr>
          <a:xfrm>
            <a:off x="9086850" y="1457325"/>
            <a:ext cx="2324100" cy="352425"/>
          </a:xfrm>
          <a:prstGeom prst="rect">
            <a:avLst/>
          </a:prstGeom>
          <a:noFill/>
          <a:ln w="0">
            <a:noFill/>
            <a:prstDash val="solid"/>
          </a:ln>
        </p:spPr>
        <p:txBody>
          <a:bodyPr wrap="square" lIns="38100" tIns="19050" rIns="38100" bIns="19050" anchor="ctr">
            <a:normAutofit/>
          </a:bodyPr>
          <a:lstStyle/>
          <a:p>
            <a:pPr algn="ctr">
              <a:defRPr sz="900" b="1">
                <a:solidFill>
                  <a:srgbClr val="0F9ED5"/>
                </a:solidFill>
                <a:latin typeface="微软雅黑" panose="020B0503020204020204" charset="-122"/>
                <a:ea typeface="微软雅黑" panose="020B0503020204020204" charset="-122"/>
                <a:cs typeface="微软雅黑" panose="020B0503020204020204" charset="-122"/>
              </a:defRPr>
            </a:pPr>
            <a:r>
              <a:rPr lang="zh-CN" altLang="en-US" sz="1400" b="1" dirty="0">
                <a:solidFill>
                  <a:srgbClr val="1359B8"/>
                </a:solidFill>
                <a:latin typeface="微软雅黑" panose="020B0503020204020204" charset="-122"/>
                <a:ea typeface="微软雅黑" panose="020B0503020204020204" charset="-122"/>
                <a:cs typeface="微软雅黑" panose="020B0503020204020204" charset="-122"/>
              </a:rPr>
              <a:t>怎样可靠执行？</a:t>
            </a:r>
          </a:p>
        </p:txBody>
      </p:sp>
      <p:sp>
        <p:nvSpPr>
          <p:cNvPr id="46" name="s4-scripts-assets-question"/>
          <p:cNvSpPr>
            <a:spLocks noGrp="1"/>
          </p:cNvSpPr>
          <p:nvPr/>
        </p:nvSpPr>
        <p:spPr>
          <a:xfrm>
            <a:off x="9058275" y="1800225"/>
            <a:ext cx="2714625" cy="209550"/>
          </a:xfrm>
          <a:prstGeom prst="rect">
            <a:avLst/>
          </a:prstGeom>
          <a:noFill/>
          <a:ln w="0">
            <a:noFill/>
            <a:prstDash val="solid"/>
          </a:ln>
        </p:spPr>
        <p:txBody>
          <a:bodyPr wrap="square" lIns="38100" tIns="19050" rIns="38100" bIns="19050" anchor="ctr">
            <a:normAutofit/>
          </a:bodyPr>
          <a:lstStyle/>
          <a:p>
            <a:pPr algn="ctr">
              <a:defRPr sz="900" b="1">
                <a:solidFill>
                  <a:srgbClr val="0F9ED5"/>
                </a:solidFill>
                <a:latin typeface="微软雅黑" panose="020B0503020204020204" charset="-122"/>
                <a:ea typeface="微软雅黑" panose="020B0503020204020204" charset="-122"/>
                <a:cs typeface="微软雅黑" panose="020B0503020204020204" charset="-122"/>
              </a:defRPr>
            </a:pPr>
            <a:endParaRPr sz="900" b="1" dirty="0">
              <a:solidFill>
                <a:srgbClr val="0F9ED5"/>
              </a:solidFill>
              <a:latin typeface="微软雅黑" panose="020B0503020204020204" charset="-122"/>
              <a:ea typeface="微软雅黑" panose="020B0503020204020204" charset="-122"/>
              <a:cs typeface="微软雅黑" panose="020B0503020204020204" charset="-122"/>
            </a:endParaRPr>
          </a:p>
        </p:txBody>
      </p:sp>
      <p:sp>
        <p:nvSpPr>
          <p:cNvPr id="47" name="s4-scripts-assets-keyword-1"/>
          <p:cNvSpPr>
            <a:spLocks noGrp="1"/>
          </p:cNvSpPr>
          <p:nvPr/>
        </p:nvSpPr>
        <p:spPr>
          <a:xfrm>
            <a:off x="9077325" y="2076450"/>
            <a:ext cx="2676525" cy="190500"/>
          </a:xfrm>
          <a:prstGeom prst="roundRect">
            <a:avLst>
              <a:gd name="adj" fmla="val 35000"/>
            </a:avLst>
          </a:prstGeom>
          <a:solidFill>
            <a:srgbClr val="F5F8FC"/>
          </a:solidFill>
          <a:ln w="9525">
            <a:solidFill>
              <a:srgbClr val="1359B8"/>
            </a:solidFill>
            <a:prstDash val="solid"/>
          </a:ln>
        </p:spPr>
        <p:txBody>
          <a:bodyPr wrap="square" lIns="47625" tIns="9525" rIns="47625" bIns="9525" anchor="ctr">
            <a:normAutofit/>
          </a:bodyPr>
          <a:lstStyle/>
          <a:p>
            <a:pPr algn="ctr"/>
            <a:r>
              <a:rPr sz="865" b="1" dirty="0">
                <a:solidFill>
                  <a:srgbClr val="1359B8"/>
                </a:solidFill>
                <a:latin typeface="Calibri" panose="020F0502020204030204"/>
                <a:ea typeface="Calibri" panose="020F0502020204030204"/>
                <a:cs typeface="Calibri" panose="020F0502020204030204"/>
              </a:rPr>
              <a:t>check_env.py · benchmark.py · validate_output.py</a:t>
            </a:r>
          </a:p>
        </p:txBody>
      </p:sp>
      <p:sp>
        <p:nvSpPr>
          <p:cNvPr id="48" name="s4-scripts-assets-keyword-2"/>
          <p:cNvSpPr>
            <a:spLocks noGrp="1"/>
          </p:cNvSpPr>
          <p:nvPr/>
        </p:nvSpPr>
        <p:spPr>
          <a:xfrm>
            <a:off x="9077325" y="2314575"/>
            <a:ext cx="2676525" cy="190500"/>
          </a:xfrm>
          <a:prstGeom prst="roundRect">
            <a:avLst>
              <a:gd name="adj" fmla="val 35000"/>
            </a:avLst>
          </a:prstGeom>
          <a:solidFill>
            <a:srgbClr val="F5F8FC"/>
          </a:solidFill>
          <a:ln w="9525">
            <a:solidFill>
              <a:srgbClr val="1359B8"/>
            </a:solidFill>
            <a:prstDash val="solid"/>
          </a:ln>
        </p:spPr>
        <p:txBody>
          <a:bodyPr wrap="square" lIns="47625" tIns="9525" rIns="47625" bIns="9525" anchor="ctr">
            <a:normAutofit/>
          </a:bodyPr>
          <a:lstStyle/>
          <a:p>
            <a:pPr algn="ctr"/>
            <a:r>
              <a:rPr sz="865" b="1" dirty="0">
                <a:solidFill>
                  <a:srgbClr val="1359B8"/>
                </a:solidFill>
                <a:latin typeface="Calibri" panose="020F0502020204030204"/>
                <a:ea typeface="Calibri" panose="020F0502020204030204"/>
                <a:cs typeface="Calibri" panose="020F0502020204030204"/>
              </a:rPr>
              <a:t>Assets · template / </a:t>
            </a:r>
            <a:r>
              <a:rPr sz="865" b="1" dirty="0" err="1">
                <a:solidFill>
                  <a:srgbClr val="1359B8"/>
                </a:solidFill>
                <a:latin typeface="Calibri" panose="020F0502020204030204"/>
                <a:ea typeface="Calibri" panose="020F0502020204030204"/>
                <a:cs typeface="Calibri" panose="020F0502020204030204"/>
              </a:rPr>
              <a:t>config</a:t>
            </a:r>
            <a:r>
              <a:rPr sz="865" b="1" dirty="0">
                <a:solidFill>
                  <a:srgbClr val="1359B8"/>
                </a:solidFill>
                <a:latin typeface="Calibri" panose="020F0502020204030204"/>
                <a:ea typeface="Calibri" panose="020F0502020204030204"/>
                <a:cs typeface="Calibri" panose="020F0502020204030204"/>
              </a:rPr>
              <a:t> / examples</a:t>
            </a:r>
          </a:p>
        </p:txBody>
      </p:sp>
      <p:sp>
        <p:nvSpPr>
          <p:cNvPr id="49" name="s4-scripts-assets-keyword-3"/>
          <p:cNvSpPr>
            <a:spLocks noGrp="1"/>
          </p:cNvSpPr>
          <p:nvPr/>
        </p:nvSpPr>
        <p:spPr>
          <a:xfrm>
            <a:off x="9077325" y="2552700"/>
            <a:ext cx="2676525" cy="190500"/>
          </a:xfrm>
          <a:prstGeom prst="roundRect">
            <a:avLst>
              <a:gd name="adj" fmla="val 35000"/>
            </a:avLst>
          </a:prstGeom>
          <a:solidFill>
            <a:srgbClr val="F5F8FC"/>
          </a:solidFill>
          <a:ln w="9525">
            <a:solidFill>
              <a:srgbClr val="1359B8"/>
            </a:solidFill>
            <a:prstDash val="solid"/>
          </a:ln>
        </p:spPr>
        <p:txBody>
          <a:bodyPr wrap="square" lIns="47625" tIns="9525" rIns="47625" bIns="9525" anchor="ctr">
            <a:normAutofit/>
          </a:bodyPr>
          <a:lstStyle/>
          <a:p>
            <a:pPr algn="ctr"/>
            <a:r>
              <a:rPr sz="865" b="1">
                <a:solidFill>
                  <a:srgbClr val="1359B8"/>
                </a:solidFill>
                <a:latin typeface="Calibri" panose="020F0502020204030204"/>
                <a:ea typeface="Calibri" panose="020F0502020204030204"/>
                <a:cs typeface="Calibri" panose="020F0502020204030204"/>
              </a:rPr>
              <a:t>确定性、重复性操作交给程序</a:t>
            </a:r>
          </a:p>
        </p:txBody>
      </p:sp>
      <p:sp>
        <p:nvSpPr>
          <p:cNvPr id="50" name="s4-scripts-assets-divider"/>
          <p:cNvSpPr>
            <a:spLocks noGrp="1"/>
          </p:cNvSpPr>
          <p:nvPr/>
        </p:nvSpPr>
        <p:spPr>
          <a:xfrm>
            <a:off x="9039225" y="3048000"/>
            <a:ext cx="2752725" cy="9525"/>
          </a:xfrm>
          <a:prstGeom prst="rect">
            <a:avLst/>
          </a:prstGeom>
          <a:solidFill>
            <a:srgbClr val="CAD7EB"/>
          </a:solidFill>
          <a:ln w="9525">
            <a:solidFill>
              <a:srgbClr val="CAD7EB"/>
            </a:solidFill>
            <a:prstDash val="solid"/>
          </a:ln>
        </p:spPr>
      </p:sp>
      <p:sp>
        <p:nvSpPr>
          <p:cNvPr id="51" name="s4-scripts-assets-summary"/>
          <p:cNvSpPr>
            <a:spLocks noGrp="1"/>
          </p:cNvSpPr>
          <p:nvPr/>
        </p:nvSpPr>
        <p:spPr>
          <a:xfrm>
            <a:off x="9077325" y="3086100"/>
            <a:ext cx="2676525" cy="276225"/>
          </a:xfrm>
          <a:prstGeom prst="rect">
            <a:avLst/>
          </a:prstGeom>
          <a:noFill/>
          <a:ln w="0">
            <a:noFill/>
            <a:prstDash val="solid"/>
          </a:ln>
        </p:spPr>
        <p:txBody>
          <a:bodyPr wrap="square" lIns="38100" tIns="19050" rIns="38100" bIns="19050" anchor="ctr">
            <a:normAutofit/>
          </a:bodyPr>
          <a:lstStyle/>
          <a:p>
            <a:pPr algn="ctr">
              <a:defRPr sz="940" b="1">
                <a:solidFill>
                  <a:srgbClr val="56627A"/>
                </a:solidFill>
                <a:latin typeface="微软雅黑" panose="020B0503020204020204" charset="-122"/>
                <a:ea typeface="微软雅黑" panose="020B0503020204020204" charset="-122"/>
                <a:cs typeface="微软雅黑" panose="020B0503020204020204" charset="-122"/>
              </a:defRPr>
            </a:pPr>
            <a:r>
              <a:rPr sz="940" b="1" dirty="0" err="1" smtClean="0">
                <a:solidFill>
                  <a:srgbClr val="56627A"/>
                </a:solidFill>
                <a:latin typeface="微软雅黑" panose="020B0503020204020204" charset="-122"/>
                <a:ea typeface="微软雅黑" panose="020B0503020204020204" charset="-122"/>
                <a:cs typeface="微软雅黑" panose="020B0503020204020204" charset="-122"/>
              </a:rPr>
              <a:t>提供稳定执行</a:t>
            </a:r>
            <a:r>
              <a:rPr lang="zh-CN" altLang="en-US" sz="940" b="1" dirty="0" smtClean="0">
                <a:solidFill>
                  <a:srgbClr val="56627A"/>
                </a:solidFill>
                <a:latin typeface="微软雅黑" panose="020B0503020204020204" charset="-122"/>
                <a:ea typeface="微软雅黑" panose="020B0503020204020204" charset="-122"/>
                <a:cs typeface="微软雅黑" panose="020B0503020204020204" charset="-122"/>
              </a:rPr>
              <a:t>程序</a:t>
            </a:r>
            <a:r>
              <a:rPr sz="940" b="1" dirty="0" smtClean="0">
                <a:solidFill>
                  <a:srgbClr val="56627A"/>
                </a:solidFill>
                <a:latin typeface="微软雅黑" panose="020B0503020204020204" charset="-122"/>
                <a:ea typeface="微软雅黑" panose="020B0503020204020204" charset="-122"/>
                <a:cs typeface="微软雅黑" panose="020B0503020204020204" charset="-122"/>
              </a:rPr>
              <a:t>。</a:t>
            </a:r>
            <a:endParaRPr sz="940" b="1" dirty="0">
              <a:solidFill>
                <a:srgbClr val="56627A"/>
              </a:solidFill>
              <a:latin typeface="微软雅黑" panose="020B0503020204020204" charset="-122"/>
              <a:ea typeface="微软雅黑" panose="020B0503020204020204" charset="-122"/>
              <a:cs typeface="微软雅黑" panose="020B0503020204020204" charset="-122"/>
            </a:endParaRPr>
          </a:p>
        </p:txBody>
      </p:sp>
      <p:sp>
        <p:nvSpPr>
          <p:cNvPr id="64" name="s4-contract-surface"/>
          <p:cNvSpPr>
            <a:spLocks noGrp="1"/>
          </p:cNvSpPr>
          <p:nvPr/>
        </p:nvSpPr>
        <p:spPr>
          <a:xfrm>
            <a:off x="257175" y="3886200"/>
            <a:ext cx="5810250" cy="2466975"/>
          </a:xfrm>
          <a:prstGeom prst="roundRect">
            <a:avLst>
              <a:gd name="adj" fmla="val 3475"/>
            </a:avLst>
          </a:prstGeom>
          <a:solidFill>
            <a:srgbClr val="FFFFFF"/>
          </a:solidFill>
          <a:ln w="9525">
            <a:solidFill>
              <a:srgbClr val="CAD7EB"/>
            </a:solidFill>
            <a:prstDash val="solid"/>
          </a:ln>
        </p:spPr>
      </p:sp>
      <p:sp>
        <p:nvSpPr>
          <p:cNvPr id="65" name="s4-contract-number"/>
          <p:cNvSpPr>
            <a:spLocks noGrp="1"/>
          </p:cNvSpPr>
          <p:nvPr/>
        </p:nvSpPr>
        <p:spPr>
          <a:xfrm>
            <a:off x="409575" y="4010025"/>
            <a:ext cx="361950" cy="285750"/>
          </a:xfrm>
          <a:prstGeom prst="roundRect">
            <a:avLst>
              <a:gd name="adj" fmla="val 20000"/>
            </a:avLst>
          </a:prstGeom>
          <a:solidFill>
            <a:srgbClr val="1457C5"/>
          </a:solidFill>
          <a:ln w="9525">
            <a:solidFill>
              <a:srgbClr val="1457C5"/>
            </a:solidFill>
            <a:prstDash val="solid"/>
          </a:ln>
        </p:spPr>
        <p:txBody>
          <a:bodyPr wrap="square" lIns="57150" tIns="28575" rIns="57150" bIns="28575" anchor="ctr">
            <a:normAutofit/>
          </a:bodyPr>
          <a:lstStyle/>
          <a:p>
            <a:pPr algn="ctr"/>
            <a:r>
              <a:rPr sz="1275" b="1">
                <a:solidFill>
                  <a:srgbClr val="FFFFFF"/>
                </a:solidFill>
                <a:latin typeface="Calibri" panose="020F0502020204030204"/>
                <a:ea typeface="Calibri" panose="020F0502020204030204"/>
                <a:cs typeface="Calibri" panose="020F0502020204030204"/>
              </a:rPr>
              <a:t>A</a:t>
            </a:r>
          </a:p>
        </p:txBody>
      </p:sp>
      <p:sp>
        <p:nvSpPr>
          <p:cNvPr id="66" name="s4-contract-title"/>
          <p:cNvSpPr>
            <a:spLocks noGrp="1"/>
          </p:cNvSpPr>
          <p:nvPr/>
        </p:nvSpPr>
        <p:spPr>
          <a:xfrm>
            <a:off x="885825" y="4000500"/>
            <a:ext cx="2190750" cy="304800"/>
          </a:xfrm>
          <a:prstGeom prst="rect">
            <a:avLst/>
          </a:prstGeom>
          <a:noFill/>
          <a:ln w="0">
            <a:noFill/>
            <a:prstDash val="solid"/>
          </a:ln>
        </p:spPr>
        <p:txBody>
          <a:bodyPr wrap="square" lIns="38100" tIns="19050" rIns="38100" bIns="19050" anchor="ctr">
            <a:normAutofit/>
          </a:bodyPr>
          <a:lstStyle/>
          <a:p>
            <a:pPr algn="l">
              <a:defRPr sz="1575" b="1">
                <a:solidFill>
                  <a:srgbClr val="14855C"/>
                </a:solidFill>
                <a:latin typeface="微软雅黑" panose="020B0503020204020204" charset="-122"/>
                <a:ea typeface="微软雅黑" panose="020B0503020204020204" charset="-122"/>
                <a:cs typeface="微软雅黑" panose="020B0503020204020204" charset="-122"/>
              </a:defRPr>
            </a:pPr>
            <a:r>
              <a:rPr sz="1400" b="1" dirty="0">
                <a:solidFill>
                  <a:srgbClr val="1457C5"/>
                </a:solidFill>
                <a:latin typeface="微软雅黑" panose="020B0503020204020204" charset="-122"/>
                <a:ea typeface="微软雅黑" panose="020B0503020204020204" charset="-122"/>
                <a:cs typeface="微软雅黑" panose="020B0503020204020204" charset="-122"/>
              </a:rPr>
              <a:t>Skill </a:t>
            </a:r>
            <a:r>
              <a:rPr sz="1400" b="1" dirty="0" err="1">
                <a:solidFill>
                  <a:srgbClr val="1457C5"/>
                </a:solidFill>
                <a:latin typeface="微软雅黑" panose="020B0503020204020204" charset="-122"/>
                <a:ea typeface="微软雅黑" panose="020B0503020204020204" charset="-122"/>
                <a:cs typeface="微软雅黑" panose="020B0503020204020204" charset="-122"/>
              </a:rPr>
              <a:t>的契约</a:t>
            </a:r>
            <a:endParaRPr sz="1400" b="1" dirty="0">
              <a:solidFill>
                <a:srgbClr val="1457C5"/>
              </a:solidFill>
              <a:latin typeface="微软雅黑" panose="020B0503020204020204" charset="-122"/>
              <a:ea typeface="微软雅黑" panose="020B0503020204020204" charset="-122"/>
              <a:cs typeface="微软雅黑" panose="020B0503020204020204" charset="-122"/>
            </a:endParaRPr>
          </a:p>
        </p:txBody>
      </p:sp>
      <p:sp>
        <p:nvSpPr>
          <p:cNvPr id="68" name="s4-contract-scope-surface"/>
          <p:cNvSpPr>
            <a:spLocks noGrp="1"/>
          </p:cNvSpPr>
          <p:nvPr/>
        </p:nvSpPr>
        <p:spPr>
          <a:xfrm>
            <a:off x="400050" y="4371975"/>
            <a:ext cx="2686050" cy="476250"/>
          </a:xfrm>
          <a:prstGeom prst="roundRect">
            <a:avLst>
              <a:gd name="adj" fmla="val 14000"/>
            </a:avLst>
          </a:prstGeom>
          <a:solidFill>
            <a:srgbClr val="FFFFFF"/>
          </a:solidFill>
          <a:ln w="9525">
            <a:solidFill>
              <a:srgbClr val="CAD7EB"/>
            </a:solidFill>
            <a:prstDash val="solid"/>
          </a:ln>
        </p:spPr>
      </p:sp>
      <p:sp>
        <p:nvSpPr>
          <p:cNvPr id="69" name="s4-contract-scope-title"/>
          <p:cNvSpPr>
            <a:spLocks noGrp="1"/>
          </p:cNvSpPr>
          <p:nvPr/>
        </p:nvSpPr>
        <p:spPr>
          <a:xfrm>
            <a:off x="495300" y="4419600"/>
            <a:ext cx="933450" cy="190500"/>
          </a:xfrm>
          <a:prstGeom prst="rect">
            <a:avLst/>
          </a:prstGeom>
          <a:noFill/>
          <a:ln w="0">
            <a:noFill/>
            <a:prstDash val="solid"/>
          </a:ln>
        </p:spPr>
        <p:txBody>
          <a:bodyPr wrap="square" lIns="38100" tIns="19050" rIns="38100" bIns="19050" anchor="ctr">
            <a:normAutofit fontScale="95238"/>
          </a:bodyPr>
          <a:lstStyle/>
          <a:p>
            <a:pPr algn="l">
              <a:defRPr sz="1050" b="1">
                <a:solidFill>
                  <a:srgbClr val="14855C"/>
                </a:solidFill>
                <a:latin typeface="Calibri" panose="020F0502020204030204"/>
                <a:ea typeface="Calibri" panose="020F0502020204030204"/>
                <a:cs typeface="Calibri" panose="020F0502020204030204"/>
              </a:defRPr>
            </a:pPr>
            <a:r>
              <a:rPr lang="zh-CN" altLang="en-US" sz="865" b="1" dirty="0">
                <a:solidFill>
                  <a:srgbClr val="1359B8"/>
                </a:solidFill>
                <a:latin typeface="Calibri" panose="020F0502020204030204"/>
                <a:ea typeface="Calibri" panose="020F0502020204030204"/>
                <a:cs typeface="Calibri" panose="020F0502020204030204"/>
              </a:rPr>
              <a:t>范围</a:t>
            </a:r>
            <a:endParaRPr sz="865" b="1" dirty="0">
              <a:solidFill>
                <a:srgbClr val="1359B8"/>
              </a:solidFill>
              <a:latin typeface="Calibri" panose="020F0502020204030204"/>
              <a:ea typeface="Calibri" panose="020F0502020204030204"/>
              <a:cs typeface="Calibri" panose="020F0502020204030204"/>
            </a:endParaRPr>
          </a:p>
        </p:txBody>
      </p:sp>
      <p:sp>
        <p:nvSpPr>
          <p:cNvPr id="70" name="s4-contract-scope-detail"/>
          <p:cNvSpPr>
            <a:spLocks noGrp="1"/>
          </p:cNvSpPr>
          <p:nvPr/>
        </p:nvSpPr>
        <p:spPr>
          <a:xfrm>
            <a:off x="1390650" y="4410075"/>
            <a:ext cx="1600200" cy="390525"/>
          </a:xfrm>
          <a:prstGeom prst="rect">
            <a:avLst/>
          </a:prstGeom>
          <a:noFill/>
          <a:ln w="0">
            <a:noFill/>
            <a:prstDash val="solid"/>
          </a:ln>
        </p:spPr>
        <p:txBody>
          <a:bodyPr wrap="square" lIns="38100" tIns="19050" rIns="38100" bIns="19050" anchor="ctr">
            <a:normAutofit/>
          </a:bodyPr>
          <a:lstStyle/>
          <a:p>
            <a:pPr algn="l">
              <a:defRPr sz="865" b="0">
                <a:solidFill>
                  <a:srgbClr val="27364A"/>
                </a:solidFill>
                <a:latin typeface="微软雅黑" panose="020B0503020204020204" charset="-122"/>
                <a:ea typeface="微软雅黑" panose="020B0503020204020204" charset="-122"/>
                <a:cs typeface="微软雅黑" panose="020B0503020204020204" charset="-122"/>
              </a:defRPr>
            </a:pPr>
            <a:r>
              <a:rPr sz="865" b="0">
                <a:solidFill>
                  <a:srgbClr val="27364A"/>
                </a:solidFill>
                <a:latin typeface="微软雅黑" panose="020B0503020204020204" charset="-122"/>
                <a:ea typeface="微软雅黑" panose="020B0503020204020204" charset="-122"/>
                <a:cs typeface="微软雅黑" panose="020B0503020204020204" charset="-122"/>
              </a:rPr>
              <a:t>能做什么？不能做什么？</a:t>
            </a:r>
          </a:p>
          <a:p>
            <a:pPr algn="l">
              <a:defRPr sz="865" b="0">
                <a:solidFill>
                  <a:srgbClr val="27364A"/>
                </a:solidFill>
                <a:latin typeface="微软雅黑" panose="020B0503020204020204" charset="-122"/>
                <a:ea typeface="微软雅黑" panose="020B0503020204020204" charset="-122"/>
                <a:cs typeface="微软雅黑" panose="020B0503020204020204" charset="-122"/>
              </a:defRPr>
            </a:pPr>
            <a:r>
              <a:rPr sz="865" b="0">
                <a:solidFill>
                  <a:srgbClr val="27364A"/>
                </a:solidFill>
                <a:latin typeface="微软雅黑" panose="020B0503020204020204" charset="-122"/>
                <a:ea typeface="微软雅黑" panose="020B0503020204020204" charset="-122"/>
                <a:cs typeface="微软雅黑" panose="020B0503020204020204" charset="-122"/>
              </a:rPr>
              <a:t>什么时候应该调用？</a:t>
            </a:r>
          </a:p>
        </p:txBody>
      </p:sp>
      <p:sp>
        <p:nvSpPr>
          <p:cNvPr id="71" name="s4-contract-input-surface"/>
          <p:cNvSpPr>
            <a:spLocks noGrp="1"/>
          </p:cNvSpPr>
          <p:nvPr/>
        </p:nvSpPr>
        <p:spPr>
          <a:xfrm>
            <a:off x="3238500" y="4371975"/>
            <a:ext cx="2686050" cy="476250"/>
          </a:xfrm>
          <a:prstGeom prst="roundRect">
            <a:avLst>
              <a:gd name="adj" fmla="val 14000"/>
            </a:avLst>
          </a:prstGeom>
          <a:solidFill>
            <a:srgbClr val="FFFFFF"/>
          </a:solidFill>
          <a:ln w="9525">
            <a:solidFill>
              <a:srgbClr val="CAD7EB"/>
            </a:solidFill>
            <a:prstDash val="solid"/>
          </a:ln>
        </p:spPr>
      </p:sp>
      <p:sp>
        <p:nvSpPr>
          <p:cNvPr id="72" name="s4-contract-input-title"/>
          <p:cNvSpPr>
            <a:spLocks noGrp="1"/>
          </p:cNvSpPr>
          <p:nvPr/>
        </p:nvSpPr>
        <p:spPr>
          <a:xfrm>
            <a:off x="3333750" y="4419600"/>
            <a:ext cx="933450" cy="190500"/>
          </a:xfrm>
          <a:prstGeom prst="rect">
            <a:avLst/>
          </a:prstGeom>
          <a:noFill/>
          <a:ln w="0">
            <a:noFill/>
            <a:prstDash val="solid"/>
          </a:ln>
        </p:spPr>
        <p:txBody>
          <a:bodyPr wrap="square" lIns="38100" tIns="19050" rIns="38100" bIns="19050" anchor="ctr">
            <a:normAutofit fontScale="95238"/>
          </a:bodyPr>
          <a:lstStyle/>
          <a:p>
            <a:pPr algn="l">
              <a:defRPr sz="1050" b="1">
                <a:solidFill>
                  <a:srgbClr val="14855C"/>
                </a:solidFill>
                <a:latin typeface="Calibri" panose="020F0502020204030204"/>
                <a:ea typeface="Calibri" panose="020F0502020204030204"/>
                <a:cs typeface="Calibri" panose="020F0502020204030204"/>
              </a:defRPr>
            </a:pPr>
            <a:r>
              <a:rPr lang="zh-CN" altLang="en-US" sz="865" b="1" dirty="0">
                <a:solidFill>
                  <a:srgbClr val="1359B8"/>
                </a:solidFill>
                <a:latin typeface="Calibri" panose="020F0502020204030204"/>
                <a:ea typeface="Calibri" panose="020F0502020204030204"/>
                <a:cs typeface="Calibri" panose="020F0502020204030204"/>
              </a:rPr>
              <a:t>输入</a:t>
            </a:r>
            <a:endParaRPr sz="865" b="1" dirty="0">
              <a:solidFill>
                <a:srgbClr val="1359B8"/>
              </a:solidFill>
              <a:latin typeface="Calibri" panose="020F0502020204030204"/>
              <a:ea typeface="Calibri" panose="020F0502020204030204"/>
              <a:cs typeface="Calibri" panose="020F0502020204030204"/>
            </a:endParaRPr>
          </a:p>
        </p:txBody>
      </p:sp>
      <p:sp>
        <p:nvSpPr>
          <p:cNvPr id="73" name="s4-contract-input-detail"/>
          <p:cNvSpPr>
            <a:spLocks noGrp="1"/>
          </p:cNvSpPr>
          <p:nvPr/>
        </p:nvSpPr>
        <p:spPr>
          <a:xfrm>
            <a:off x="4229100" y="4410075"/>
            <a:ext cx="1600200" cy="390525"/>
          </a:xfrm>
          <a:prstGeom prst="rect">
            <a:avLst/>
          </a:prstGeom>
          <a:noFill/>
          <a:ln w="0">
            <a:noFill/>
            <a:prstDash val="solid"/>
          </a:ln>
        </p:spPr>
        <p:txBody>
          <a:bodyPr wrap="square" lIns="38100" tIns="19050" rIns="38100" bIns="19050" anchor="ctr">
            <a:normAutofit fontScale="89320" lnSpcReduction="10000"/>
          </a:bodyPr>
          <a:lstStyle/>
          <a:p>
            <a:pPr algn="l">
              <a:defRPr sz="865" b="0">
                <a:solidFill>
                  <a:srgbClr val="27364A"/>
                </a:solidFill>
                <a:latin typeface="微软雅黑" panose="020B0503020204020204" charset="-122"/>
                <a:ea typeface="微软雅黑" panose="020B0503020204020204" charset="-122"/>
                <a:cs typeface="微软雅黑" panose="020B0503020204020204" charset="-122"/>
              </a:defRPr>
            </a:pPr>
            <a:r>
              <a:rPr sz="865" b="0">
                <a:solidFill>
                  <a:srgbClr val="27364A"/>
                </a:solidFill>
                <a:latin typeface="微软雅黑" panose="020B0503020204020204" charset="-122"/>
                <a:ea typeface="微软雅黑" panose="020B0503020204020204" charset="-122"/>
                <a:cs typeface="微软雅黑" panose="020B0503020204020204" charset="-122"/>
              </a:rPr>
              <a:t>开始前必须知道什么？</a:t>
            </a:r>
          </a:p>
          <a:p>
            <a:pPr algn="l">
              <a:defRPr sz="865" b="0">
                <a:solidFill>
                  <a:srgbClr val="27364A"/>
                </a:solidFill>
                <a:latin typeface="微软雅黑" panose="020B0503020204020204" charset="-122"/>
                <a:ea typeface="微软雅黑" panose="020B0503020204020204" charset="-122"/>
                <a:cs typeface="微软雅黑" panose="020B0503020204020204" charset="-122"/>
              </a:defRPr>
            </a:pPr>
            <a:r>
              <a:rPr sz="865" b="0">
                <a:solidFill>
                  <a:srgbClr val="27364A"/>
                </a:solidFill>
                <a:latin typeface="微软雅黑" panose="020B0503020204020204" charset="-122"/>
                <a:ea typeface="微软雅黑" panose="020B0503020204020204" charset="-122"/>
                <a:cs typeface="微软雅黑" panose="020B0503020204020204" charset="-122"/>
              </a:rPr>
              <a:t>自然语言 / 文件 / 参数均可</a:t>
            </a:r>
          </a:p>
          <a:p>
            <a:pPr algn="l">
              <a:defRPr sz="865" b="0">
                <a:solidFill>
                  <a:srgbClr val="27364A"/>
                </a:solidFill>
                <a:latin typeface="微软雅黑" panose="020B0503020204020204" charset="-122"/>
                <a:ea typeface="微软雅黑" panose="020B0503020204020204" charset="-122"/>
                <a:cs typeface="微软雅黑" panose="020B0503020204020204" charset="-122"/>
              </a:defRPr>
            </a:pPr>
            <a:r>
              <a:rPr sz="865" b="0">
                <a:solidFill>
                  <a:srgbClr val="27364A"/>
                </a:solidFill>
                <a:latin typeface="微软雅黑" panose="020B0503020204020204" charset="-122"/>
                <a:ea typeface="微软雅黑" panose="020B0503020204020204" charset="-122"/>
                <a:cs typeface="微软雅黑" panose="020B0503020204020204" charset="-122"/>
              </a:rPr>
              <a:t>不限定 JSON Schema</a:t>
            </a:r>
          </a:p>
        </p:txBody>
      </p:sp>
      <p:sp>
        <p:nvSpPr>
          <p:cNvPr id="74" name="s4-contract-output-surface"/>
          <p:cNvSpPr>
            <a:spLocks noGrp="1"/>
          </p:cNvSpPr>
          <p:nvPr/>
        </p:nvSpPr>
        <p:spPr>
          <a:xfrm>
            <a:off x="400050" y="4933950"/>
            <a:ext cx="2686050" cy="476250"/>
          </a:xfrm>
          <a:prstGeom prst="roundRect">
            <a:avLst>
              <a:gd name="adj" fmla="val 14000"/>
            </a:avLst>
          </a:prstGeom>
          <a:solidFill>
            <a:srgbClr val="FFFFFF"/>
          </a:solidFill>
          <a:ln w="9525">
            <a:solidFill>
              <a:srgbClr val="CAD7EB"/>
            </a:solidFill>
            <a:prstDash val="solid"/>
          </a:ln>
        </p:spPr>
      </p:sp>
      <p:sp>
        <p:nvSpPr>
          <p:cNvPr id="75" name="s4-contract-output-title"/>
          <p:cNvSpPr>
            <a:spLocks noGrp="1"/>
          </p:cNvSpPr>
          <p:nvPr/>
        </p:nvSpPr>
        <p:spPr>
          <a:xfrm>
            <a:off x="495300" y="4981575"/>
            <a:ext cx="933450" cy="190500"/>
          </a:xfrm>
          <a:prstGeom prst="rect">
            <a:avLst/>
          </a:prstGeom>
          <a:noFill/>
          <a:ln w="0">
            <a:noFill/>
            <a:prstDash val="solid"/>
          </a:ln>
        </p:spPr>
        <p:txBody>
          <a:bodyPr wrap="square" lIns="38100" tIns="19050" rIns="38100" bIns="19050" anchor="ctr">
            <a:normAutofit fontScale="95238"/>
          </a:bodyPr>
          <a:lstStyle/>
          <a:p>
            <a:pPr algn="l">
              <a:defRPr sz="1050" b="1">
                <a:solidFill>
                  <a:srgbClr val="14855C"/>
                </a:solidFill>
                <a:latin typeface="Calibri" panose="020F0502020204030204"/>
                <a:ea typeface="Calibri" panose="020F0502020204030204"/>
                <a:cs typeface="Calibri" panose="020F0502020204030204"/>
              </a:defRPr>
            </a:pPr>
            <a:r>
              <a:rPr lang="zh-CN" altLang="en-US" sz="865" b="1" dirty="0">
                <a:solidFill>
                  <a:srgbClr val="1359B8"/>
                </a:solidFill>
                <a:latin typeface="Calibri" panose="020F0502020204030204"/>
                <a:ea typeface="Calibri" panose="020F0502020204030204"/>
                <a:cs typeface="Calibri" panose="020F0502020204030204"/>
              </a:rPr>
              <a:t>输出</a:t>
            </a:r>
            <a:endParaRPr sz="865" b="1" dirty="0">
              <a:solidFill>
                <a:srgbClr val="1359B8"/>
              </a:solidFill>
              <a:latin typeface="Calibri" panose="020F0502020204030204"/>
              <a:ea typeface="Calibri" panose="020F0502020204030204"/>
              <a:cs typeface="Calibri" panose="020F0502020204030204"/>
            </a:endParaRPr>
          </a:p>
        </p:txBody>
      </p:sp>
      <p:sp>
        <p:nvSpPr>
          <p:cNvPr id="76" name="s4-contract-output-detail"/>
          <p:cNvSpPr>
            <a:spLocks noGrp="1"/>
          </p:cNvSpPr>
          <p:nvPr/>
        </p:nvSpPr>
        <p:spPr>
          <a:xfrm>
            <a:off x="1390650" y="4972050"/>
            <a:ext cx="1600200" cy="390525"/>
          </a:xfrm>
          <a:prstGeom prst="rect">
            <a:avLst/>
          </a:prstGeom>
          <a:noFill/>
          <a:ln w="0">
            <a:noFill/>
            <a:prstDash val="solid"/>
          </a:ln>
        </p:spPr>
        <p:txBody>
          <a:bodyPr wrap="square" lIns="38100" tIns="19050" rIns="38100" bIns="19050" anchor="ctr">
            <a:normAutofit/>
          </a:bodyPr>
          <a:lstStyle/>
          <a:p>
            <a:pPr algn="l">
              <a:defRPr sz="865" b="0">
                <a:solidFill>
                  <a:srgbClr val="27364A"/>
                </a:solidFill>
                <a:latin typeface="微软雅黑" panose="020B0503020204020204" charset="-122"/>
                <a:ea typeface="微软雅黑" panose="020B0503020204020204" charset="-122"/>
                <a:cs typeface="微软雅黑" panose="020B0503020204020204" charset="-122"/>
              </a:defRPr>
            </a:pPr>
            <a:r>
              <a:rPr sz="865" b="0">
                <a:solidFill>
                  <a:srgbClr val="27364A"/>
                </a:solidFill>
                <a:latin typeface="微软雅黑" panose="020B0503020204020204" charset="-122"/>
                <a:ea typeface="微软雅黑" panose="020B0503020204020204" charset="-122"/>
                <a:cs typeface="微软雅黑" panose="020B0503020204020204" charset="-122"/>
              </a:rPr>
              <a:t>结果 · 文件 · 报告 · 状态</a:t>
            </a:r>
          </a:p>
          <a:p>
            <a:pPr algn="l">
              <a:defRPr sz="865" b="0">
                <a:solidFill>
                  <a:srgbClr val="27364A"/>
                </a:solidFill>
                <a:latin typeface="微软雅黑" panose="020B0503020204020204" charset="-122"/>
                <a:ea typeface="微软雅黑" panose="020B0503020204020204" charset="-122"/>
                <a:cs typeface="微软雅黑" panose="020B0503020204020204" charset="-122"/>
              </a:defRPr>
            </a:pPr>
            <a:r>
              <a:rPr sz="865" b="0">
                <a:solidFill>
                  <a:srgbClr val="27364A"/>
                </a:solidFill>
                <a:latin typeface="微软雅黑" panose="020B0503020204020204" charset="-122"/>
                <a:ea typeface="微软雅黑" panose="020B0503020204020204" charset="-122"/>
                <a:cs typeface="微软雅黑" panose="020B0503020204020204" charset="-122"/>
              </a:rPr>
              <a:t>任务完成后必须交付什么？</a:t>
            </a:r>
          </a:p>
        </p:txBody>
      </p:sp>
      <p:sp>
        <p:nvSpPr>
          <p:cNvPr id="78" name="s4-contract-stage-title"/>
          <p:cNvSpPr>
            <a:spLocks noGrp="1"/>
          </p:cNvSpPr>
          <p:nvPr/>
        </p:nvSpPr>
        <p:spPr>
          <a:xfrm>
            <a:off x="3333750" y="4981575"/>
            <a:ext cx="933450" cy="190500"/>
          </a:xfrm>
          <a:prstGeom prst="rect">
            <a:avLst/>
          </a:prstGeom>
          <a:noFill/>
          <a:ln w="0">
            <a:noFill/>
            <a:prstDash val="solid"/>
          </a:ln>
        </p:spPr>
        <p:txBody>
          <a:bodyPr wrap="square" lIns="38100" tIns="19050" rIns="38100" bIns="19050" anchor="ctr">
            <a:normAutofit fontScale="95238"/>
          </a:bodyPr>
          <a:lstStyle/>
          <a:p>
            <a:pPr algn="l">
              <a:defRPr sz="1050" b="1">
                <a:solidFill>
                  <a:srgbClr val="14855C"/>
                </a:solidFill>
                <a:latin typeface="Calibri" panose="020F0502020204030204"/>
                <a:ea typeface="Calibri" panose="020F0502020204030204"/>
                <a:cs typeface="Calibri" panose="020F0502020204030204"/>
              </a:defRPr>
            </a:pPr>
            <a:endParaRPr sz="1050" b="1" dirty="0">
              <a:solidFill>
                <a:srgbClr val="14855C"/>
              </a:solidFill>
              <a:latin typeface="Calibri" panose="020F0502020204030204"/>
              <a:ea typeface="Calibri" panose="020F0502020204030204"/>
              <a:cs typeface="Calibri" panose="020F0502020204030204"/>
            </a:endParaRPr>
          </a:p>
        </p:txBody>
      </p:sp>
      <p:sp>
        <p:nvSpPr>
          <p:cNvPr id="85" name="s4-contract-summary"/>
          <p:cNvSpPr>
            <a:spLocks noGrp="1"/>
          </p:cNvSpPr>
          <p:nvPr/>
        </p:nvSpPr>
        <p:spPr>
          <a:xfrm>
            <a:off x="847725" y="6010275"/>
            <a:ext cx="4629150" cy="228600"/>
          </a:xfrm>
          <a:prstGeom prst="rect">
            <a:avLst/>
          </a:prstGeom>
          <a:noFill/>
          <a:ln w="0">
            <a:noFill/>
            <a:prstDash val="solid"/>
          </a:ln>
        </p:spPr>
        <p:txBody>
          <a:bodyPr wrap="square" lIns="38100" tIns="19050" rIns="38100" bIns="19050" anchor="ctr">
            <a:normAutofit/>
          </a:bodyPr>
          <a:lstStyle/>
          <a:p>
            <a:pPr algn="ctr">
              <a:defRPr sz="975" b="1">
                <a:solidFill>
                  <a:srgbClr val="14855C"/>
                </a:solidFill>
                <a:latin typeface="微软雅黑" panose="020B0503020204020204" charset="-122"/>
                <a:ea typeface="微软雅黑" panose="020B0503020204020204" charset="-122"/>
                <a:cs typeface="微软雅黑" panose="020B0503020204020204" charset="-122"/>
              </a:defRPr>
            </a:pPr>
            <a:r>
              <a:rPr sz="940" b="1" dirty="0" err="1">
                <a:solidFill>
                  <a:srgbClr val="56627A"/>
                </a:solidFill>
                <a:latin typeface="微软雅黑" panose="020B0503020204020204" charset="-122"/>
                <a:ea typeface="微软雅黑" panose="020B0503020204020204" charset="-122"/>
                <a:cs typeface="微软雅黑" panose="020B0503020204020204" charset="-122"/>
              </a:rPr>
              <a:t>契约让不同阶段和不同能力之间稳定衔接</a:t>
            </a:r>
            <a:r>
              <a:rPr sz="975" b="1" dirty="0">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86" name="s4-subagent-surface"/>
          <p:cNvSpPr>
            <a:spLocks noGrp="1"/>
          </p:cNvSpPr>
          <p:nvPr/>
        </p:nvSpPr>
        <p:spPr>
          <a:xfrm>
            <a:off x="6210300" y="3886200"/>
            <a:ext cx="5715000" cy="2466975"/>
          </a:xfrm>
          <a:prstGeom prst="roundRect">
            <a:avLst>
              <a:gd name="adj" fmla="val 3475"/>
            </a:avLst>
          </a:prstGeom>
          <a:solidFill>
            <a:srgbClr val="FFFFFF"/>
          </a:solidFill>
          <a:ln w="9525">
            <a:solidFill>
              <a:srgbClr val="CAD7EB"/>
            </a:solidFill>
            <a:prstDash val="solid"/>
          </a:ln>
        </p:spPr>
      </p:sp>
      <p:sp>
        <p:nvSpPr>
          <p:cNvPr id="87" name="s4-subagent-number"/>
          <p:cNvSpPr>
            <a:spLocks noGrp="1"/>
          </p:cNvSpPr>
          <p:nvPr/>
        </p:nvSpPr>
        <p:spPr>
          <a:xfrm>
            <a:off x="6372225" y="4010025"/>
            <a:ext cx="361950" cy="285750"/>
          </a:xfrm>
          <a:prstGeom prst="roundRect">
            <a:avLst>
              <a:gd name="adj" fmla="val 20000"/>
            </a:avLst>
          </a:prstGeom>
          <a:solidFill>
            <a:srgbClr val="1457C5"/>
          </a:solidFill>
          <a:ln w="9525">
            <a:solidFill>
              <a:srgbClr val="1457C5"/>
            </a:solidFill>
            <a:prstDash val="solid"/>
          </a:ln>
        </p:spPr>
        <p:txBody>
          <a:bodyPr wrap="square" lIns="57150" tIns="28575" rIns="57150" bIns="28575" anchor="ctr">
            <a:normAutofit/>
          </a:bodyPr>
          <a:lstStyle/>
          <a:p>
            <a:pPr algn="ctr"/>
            <a:r>
              <a:rPr sz="1275" b="1" dirty="0">
                <a:solidFill>
                  <a:srgbClr val="FFFFFF"/>
                </a:solidFill>
                <a:latin typeface="Calibri" panose="020F0502020204030204"/>
                <a:ea typeface="Calibri" panose="020F0502020204030204"/>
                <a:cs typeface="Calibri" panose="020F0502020204030204"/>
              </a:rPr>
              <a:t>B</a:t>
            </a:r>
          </a:p>
        </p:txBody>
      </p:sp>
      <p:sp>
        <p:nvSpPr>
          <p:cNvPr id="88" name="s4-subagent-title"/>
          <p:cNvSpPr>
            <a:spLocks noGrp="1"/>
          </p:cNvSpPr>
          <p:nvPr/>
        </p:nvSpPr>
        <p:spPr>
          <a:xfrm>
            <a:off x="6848475" y="4000500"/>
            <a:ext cx="4095750" cy="304800"/>
          </a:xfrm>
          <a:prstGeom prst="rect">
            <a:avLst/>
          </a:prstGeom>
          <a:noFill/>
          <a:ln w="0">
            <a:noFill/>
            <a:prstDash val="solid"/>
          </a:ln>
        </p:spPr>
        <p:txBody>
          <a:bodyPr wrap="square" lIns="38100" tIns="19050" rIns="38100" bIns="19050" anchor="ctr">
            <a:normAutofit/>
          </a:bodyPr>
          <a:lstStyle/>
          <a:p>
            <a:pPr algn="l">
              <a:defRPr sz="1575" b="1">
                <a:solidFill>
                  <a:srgbClr val="6E54C8"/>
                </a:solidFill>
                <a:latin typeface="微软雅黑" panose="020B0503020204020204" charset="-122"/>
                <a:ea typeface="微软雅黑" panose="020B0503020204020204" charset="-122"/>
                <a:cs typeface="微软雅黑" panose="020B0503020204020204" charset="-122"/>
              </a:defRPr>
            </a:pPr>
            <a:r>
              <a:rPr sz="1400" b="1" dirty="0" err="1">
                <a:solidFill>
                  <a:srgbClr val="1457C5"/>
                </a:solidFill>
                <a:latin typeface="微软雅黑" panose="020B0503020204020204" charset="-122"/>
                <a:ea typeface="微软雅黑" panose="020B0503020204020204" charset="-122"/>
                <a:cs typeface="微软雅黑" panose="020B0503020204020204" charset="-122"/>
              </a:rPr>
              <a:t>复杂</a:t>
            </a:r>
            <a:r>
              <a:rPr lang="zh-CN" altLang="en-US" sz="1400" b="1" dirty="0">
                <a:solidFill>
                  <a:srgbClr val="1457C5"/>
                </a:solidFill>
                <a:latin typeface="微软雅黑" panose="020B0503020204020204" charset="-122"/>
                <a:ea typeface="微软雅黑" panose="020B0503020204020204" charset="-122"/>
                <a:cs typeface="微软雅黑" panose="020B0503020204020204" charset="-122"/>
              </a:rPr>
              <a:t>功能</a:t>
            </a:r>
            <a:r>
              <a:rPr sz="1400" b="1" dirty="0" err="1">
                <a:solidFill>
                  <a:srgbClr val="1457C5"/>
                </a:solidFill>
                <a:latin typeface="微软雅黑" panose="020B0503020204020204" charset="-122"/>
                <a:ea typeface="微软雅黑" panose="020B0503020204020204" charset="-122"/>
                <a:cs typeface="微软雅黑" panose="020B0503020204020204" charset="-122"/>
              </a:rPr>
              <a:t>扩展</a:t>
            </a:r>
            <a:r>
              <a:rPr sz="1400" b="1" dirty="0" err="1">
                <a:solidFill>
                  <a:srgbClr val="1457C5"/>
                </a:solidFill>
                <a:latin typeface="微软雅黑" panose="020B0503020204020204" charset="-122"/>
                <a:ea typeface="微软雅黑" panose="020B0503020204020204" charset="-122"/>
                <a:cs typeface="微软雅黑" panose="020B0503020204020204" charset="-122"/>
              </a:rPr>
              <a:t>：</a:t>
            </a:r>
            <a:r>
              <a:rPr sz="1400" b="1" dirty="0" err="1">
                <a:solidFill>
                  <a:srgbClr val="1457C5"/>
                </a:solidFill>
                <a:latin typeface="微软雅黑" panose="020B0503020204020204" charset="-122"/>
                <a:ea typeface="微软雅黑" panose="020B0503020204020204" charset="-122"/>
                <a:cs typeface="微软雅黑" panose="020B0503020204020204" charset="-122"/>
              </a:rPr>
              <a:t>Sub-Agent</a:t>
            </a:r>
            <a:endParaRPr sz="1400" b="1" dirty="0">
              <a:solidFill>
                <a:srgbClr val="1457C5"/>
              </a:solidFill>
              <a:latin typeface="微软雅黑" panose="020B0503020204020204" charset="-122"/>
              <a:ea typeface="微软雅黑" panose="020B0503020204020204" charset="-122"/>
              <a:cs typeface="微软雅黑" panose="020B0503020204020204" charset="-122"/>
            </a:endParaRPr>
          </a:p>
        </p:txBody>
      </p:sp>
      <p:sp>
        <p:nvSpPr>
          <p:cNvPr id="89" name="s4-subagent-definition"/>
          <p:cNvSpPr>
            <a:spLocks noGrp="1"/>
          </p:cNvSpPr>
          <p:nvPr/>
        </p:nvSpPr>
        <p:spPr>
          <a:xfrm>
            <a:off x="6410325" y="4324350"/>
            <a:ext cx="5286375" cy="247650"/>
          </a:xfrm>
          <a:prstGeom prst="rect">
            <a:avLst/>
          </a:prstGeom>
          <a:noFill/>
          <a:ln w="0">
            <a:noFill/>
            <a:prstDash val="solid"/>
          </a:ln>
        </p:spPr>
        <p:txBody>
          <a:bodyPr wrap="square" lIns="38100" tIns="19050" rIns="38100" bIns="19050" anchor="ctr">
            <a:normAutofit/>
          </a:bodyPr>
          <a:lstStyle/>
          <a:p>
            <a:pPr algn="ctr">
              <a:defRPr sz="940" b="0">
                <a:solidFill>
                  <a:srgbClr val="56627A"/>
                </a:solidFill>
                <a:latin typeface="微软雅黑" panose="020B0503020204020204" charset="-122"/>
                <a:ea typeface="微软雅黑" panose="020B0503020204020204" charset="-122"/>
                <a:cs typeface="微软雅黑" panose="020B0503020204020204" charset="-122"/>
              </a:defRPr>
            </a:pPr>
            <a:r>
              <a:rPr sz="940" b="0">
                <a:solidFill>
                  <a:srgbClr val="56627A"/>
                </a:solidFill>
                <a:latin typeface="微软雅黑" panose="020B0503020204020204" charset="-122"/>
                <a:ea typeface="微软雅黑" panose="020B0503020204020204" charset="-122"/>
                <a:cs typeface="微软雅黑" panose="020B0503020204020204" charset="-122"/>
              </a:rPr>
              <a:t>将复杂、相对独立的子任务交给专业 Sub-Agent，再由主 Agent 汇总结果。</a:t>
            </a:r>
          </a:p>
        </p:txBody>
      </p:sp>
      <p:sp>
        <p:nvSpPr>
          <p:cNvPr id="90" name="s4-subagent-main"/>
          <p:cNvSpPr>
            <a:spLocks noGrp="1"/>
          </p:cNvSpPr>
          <p:nvPr/>
        </p:nvSpPr>
        <p:spPr>
          <a:xfrm>
            <a:off x="7953375" y="4725229"/>
            <a:ext cx="1905000" cy="276225"/>
          </a:xfrm>
          <a:prstGeom prst="roundRect">
            <a:avLst>
              <a:gd name="adj" fmla="val 20690"/>
            </a:avLst>
          </a:prstGeom>
          <a:solidFill>
            <a:srgbClr val="EEF4FE"/>
          </a:solidFill>
          <a:ln w="9525">
            <a:solidFill>
              <a:srgbClr val="1457C5"/>
            </a:solidFill>
            <a:prstDash val="solid"/>
          </a:ln>
        </p:spPr>
        <p:txBody>
          <a:bodyPr wrap="square" lIns="57150" tIns="28575" rIns="57150" bIns="28575" anchor="ctr">
            <a:normAutofit/>
          </a:bodyPr>
          <a:lstStyle/>
          <a:p>
            <a:pPr algn="ctr">
              <a:defRPr sz="975" b="1">
                <a:solidFill>
                  <a:srgbClr val="072A67"/>
                </a:solidFill>
                <a:latin typeface="Calibri" panose="020F0502020204030204"/>
                <a:ea typeface="Calibri" panose="020F0502020204030204"/>
                <a:cs typeface="Calibri" panose="020F0502020204030204"/>
              </a:defRPr>
            </a:pPr>
            <a:r>
              <a:rPr sz="975" b="1">
                <a:solidFill>
                  <a:srgbClr val="072A67"/>
                </a:solidFill>
                <a:latin typeface="Calibri" panose="020F0502020204030204"/>
                <a:ea typeface="Calibri" panose="020F0502020204030204"/>
                <a:cs typeface="Calibri" panose="020F0502020204030204"/>
              </a:rPr>
              <a:t>Main Agent</a:t>
            </a:r>
          </a:p>
        </p:txBody>
      </p:sp>
      <p:sp>
        <p:nvSpPr>
          <p:cNvPr id="91" name="s4-subagent-skill"/>
          <p:cNvSpPr>
            <a:spLocks noGrp="1"/>
          </p:cNvSpPr>
          <p:nvPr/>
        </p:nvSpPr>
        <p:spPr>
          <a:xfrm>
            <a:off x="8258175" y="5106229"/>
            <a:ext cx="1295400" cy="257175"/>
          </a:xfrm>
          <a:prstGeom prst="roundRect">
            <a:avLst>
              <a:gd name="adj" fmla="val 22222"/>
            </a:avLst>
          </a:prstGeom>
          <a:solidFill>
            <a:srgbClr val="F5F2FC"/>
          </a:solidFill>
          <a:ln w="9525">
            <a:solidFill>
              <a:srgbClr val="6E54C8"/>
            </a:solidFill>
            <a:prstDash val="solid"/>
          </a:ln>
        </p:spPr>
        <p:txBody>
          <a:bodyPr wrap="square" lIns="57150" tIns="28575" rIns="57150" bIns="28575" anchor="ctr">
            <a:normAutofit/>
          </a:bodyPr>
          <a:lstStyle/>
          <a:p>
            <a:pPr algn="ctr">
              <a:defRPr sz="975" b="1">
                <a:solidFill>
                  <a:srgbClr val="6E54C8"/>
                </a:solidFill>
                <a:latin typeface="Calibri" panose="020F0502020204030204"/>
                <a:ea typeface="Calibri" panose="020F0502020204030204"/>
                <a:cs typeface="Calibri" panose="020F0502020204030204"/>
              </a:defRPr>
            </a:pPr>
            <a:r>
              <a:rPr sz="975" b="1">
                <a:solidFill>
                  <a:srgbClr val="6E54C8"/>
                </a:solidFill>
                <a:latin typeface="Calibri" panose="020F0502020204030204"/>
                <a:ea typeface="Calibri" panose="020F0502020204030204"/>
                <a:cs typeface="Calibri" panose="020F0502020204030204"/>
              </a:rPr>
              <a:t>Skill</a:t>
            </a:r>
          </a:p>
        </p:txBody>
      </p:sp>
      <p:cxnSp>
        <p:nvCxnSpPr>
          <p:cNvPr id="184" name="s4-subagent-edge-main-skill"/>
          <p:cNvCxnSpPr>
            <a:stCxn id="90" idx="2"/>
            <a:endCxn id="91" idx="0"/>
          </p:cNvCxnSpPr>
          <p:nvPr/>
        </p:nvCxnSpPr>
        <p:spPr>
          <a:xfrm>
            <a:off x="8905875" y="5001454"/>
            <a:ext cx="0" cy="104775"/>
          </a:xfrm>
          <a:prstGeom prst="straightConnector1">
            <a:avLst/>
          </a:prstGeom>
          <a:ln w="12383">
            <a:solidFill>
              <a:srgbClr val="6E54C8"/>
            </a:solidFill>
            <a:prstDash val="solid"/>
            <a:tailEnd type="triangle" w="sm" len="sm"/>
          </a:ln>
        </p:spPr>
      </p:cxnSp>
      <p:sp>
        <p:nvSpPr>
          <p:cNvPr id="93" name="s4-subagent-role-1"/>
          <p:cNvSpPr>
            <a:spLocks noGrp="1"/>
          </p:cNvSpPr>
          <p:nvPr/>
        </p:nvSpPr>
        <p:spPr>
          <a:xfrm>
            <a:off x="7791450" y="5515804"/>
            <a:ext cx="895350" cy="428625"/>
          </a:xfrm>
          <a:prstGeom prst="roundRect">
            <a:avLst>
              <a:gd name="adj" fmla="val 15556"/>
            </a:avLst>
          </a:prstGeom>
          <a:solidFill>
            <a:srgbClr val="FFFFFF"/>
          </a:solidFill>
          <a:ln w="9525">
            <a:solidFill>
              <a:srgbClr val="6E54C8"/>
            </a:solidFill>
            <a:prstDash val="solid"/>
          </a:ln>
        </p:spPr>
        <p:txBody>
          <a:bodyPr wrap="square" lIns="57150" tIns="28575" rIns="57150" bIns="28575" anchor="ctr">
            <a:normAutofit/>
          </a:bodyPr>
          <a:lstStyle/>
          <a:p>
            <a:pPr algn="ctr">
              <a:defRPr sz="790" b="1">
                <a:solidFill>
                  <a:srgbClr val="6E54C8"/>
                </a:solidFill>
                <a:latin typeface="Calibri" panose="020F0502020204030204"/>
                <a:ea typeface="Calibri" panose="020F0502020204030204"/>
                <a:cs typeface="Calibri" panose="020F0502020204030204"/>
              </a:defRPr>
            </a:pPr>
            <a:r>
              <a:rPr sz="790" b="1">
                <a:solidFill>
                  <a:srgbClr val="6E54C8"/>
                </a:solidFill>
                <a:latin typeface="Calibri" panose="020F0502020204030204"/>
                <a:ea typeface="Calibri" panose="020F0502020204030204"/>
                <a:cs typeface="Calibri" panose="020F0502020204030204"/>
              </a:rPr>
              <a:t>Sub-Agent</a:t>
            </a:r>
          </a:p>
          <a:p>
            <a:pPr algn="ctr">
              <a:defRPr sz="790" b="1">
                <a:solidFill>
                  <a:srgbClr val="6E54C8"/>
                </a:solidFill>
                <a:latin typeface="Calibri" panose="020F0502020204030204"/>
                <a:ea typeface="Calibri" panose="020F0502020204030204"/>
                <a:cs typeface="Calibri" panose="020F0502020204030204"/>
              </a:defRPr>
            </a:pPr>
            <a:r>
              <a:rPr sz="790" b="1">
                <a:solidFill>
                  <a:srgbClr val="6E54C8"/>
                </a:solidFill>
                <a:latin typeface="Calibri" panose="020F0502020204030204"/>
                <a:ea typeface="Calibri" panose="020F0502020204030204"/>
                <a:cs typeface="Calibri" panose="020F0502020204030204"/>
              </a:rPr>
              <a:t>Generator</a:t>
            </a:r>
          </a:p>
        </p:txBody>
      </p:sp>
      <p:sp>
        <p:nvSpPr>
          <p:cNvPr id="94" name="s4-subagent-role-2"/>
          <p:cNvSpPr>
            <a:spLocks noGrp="1"/>
          </p:cNvSpPr>
          <p:nvPr/>
        </p:nvSpPr>
        <p:spPr>
          <a:xfrm>
            <a:off x="8782050" y="5515804"/>
            <a:ext cx="895350" cy="428625"/>
          </a:xfrm>
          <a:prstGeom prst="roundRect">
            <a:avLst>
              <a:gd name="adj" fmla="val 15556"/>
            </a:avLst>
          </a:prstGeom>
          <a:solidFill>
            <a:srgbClr val="FFFFFF"/>
          </a:solidFill>
          <a:ln w="9525">
            <a:solidFill>
              <a:srgbClr val="6E54C8"/>
            </a:solidFill>
            <a:prstDash val="solid"/>
          </a:ln>
        </p:spPr>
        <p:txBody>
          <a:bodyPr wrap="square" lIns="57150" tIns="28575" rIns="57150" bIns="28575" anchor="ctr">
            <a:normAutofit/>
          </a:bodyPr>
          <a:lstStyle/>
          <a:p>
            <a:pPr algn="ctr">
              <a:defRPr sz="790" b="1">
                <a:solidFill>
                  <a:srgbClr val="6E54C8"/>
                </a:solidFill>
                <a:latin typeface="Calibri" panose="020F0502020204030204"/>
                <a:ea typeface="Calibri" panose="020F0502020204030204"/>
                <a:cs typeface="Calibri" panose="020F0502020204030204"/>
              </a:defRPr>
            </a:pPr>
            <a:r>
              <a:rPr sz="790" b="1">
                <a:solidFill>
                  <a:srgbClr val="6E54C8"/>
                </a:solidFill>
                <a:latin typeface="Calibri" panose="020F0502020204030204"/>
                <a:ea typeface="Calibri" panose="020F0502020204030204"/>
                <a:cs typeface="Calibri" panose="020F0502020204030204"/>
              </a:rPr>
              <a:t>Sub-Agent</a:t>
            </a:r>
          </a:p>
          <a:p>
            <a:pPr algn="ctr">
              <a:defRPr sz="790" b="1">
                <a:solidFill>
                  <a:srgbClr val="6E54C8"/>
                </a:solidFill>
                <a:latin typeface="Calibri" panose="020F0502020204030204"/>
                <a:ea typeface="Calibri" panose="020F0502020204030204"/>
                <a:cs typeface="Calibri" panose="020F0502020204030204"/>
              </a:defRPr>
            </a:pPr>
            <a:r>
              <a:rPr sz="790" b="1">
                <a:solidFill>
                  <a:srgbClr val="6E54C8"/>
                </a:solidFill>
                <a:latin typeface="Calibri" panose="020F0502020204030204"/>
                <a:ea typeface="Calibri" panose="020F0502020204030204"/>
                <a:cs typeface="Calibri" panose="020F0502020204030204"/>
              </a:rPr>
              <a:t>Reviewer</a:t>
            </a:r>
          </a:p>
        </p:txBody>
      </p:sp>
      <p:sp>
        <p:nvSpPr>
          <p:cNvPr id="95" name="s4-subagent-role-3"/>
          <p:cNvSpPr>
            <a:spLocks noGrp="1"/>
          </p:cNvSpPr>
          <p:nvPr/>
        </p:nvSpPr>
        <p:spPr>
          <a:xfrm>
            <a:off x="9772650" y="5515804"/>
            <a:ext cx="895350" cy="428625"/>
          </a:xfrm>
          <a:prstGeom prst="roundRect">
            <a:avLst>
              <a:gd name="adj" fmla="val 15556"/>
            </a:avLst>
          </a:prstGeom>
          <a:solidFill>
            <a:srgbClr val="FFFFFF"/>
          </a:solidFill>
          <a:ln w="9525">
            <a:solidFill>
              <a:srgbClr val="6E54C8"/>
            </a:solidFill>
            <a:prstDash val="solid"/>
          </a:ln>
        </p:spPr>
        <p:txBody>
          <a:bodyPr wrap="square" lIns="57150" tIns="28575" rIns="57150" bIns="28575" anchor="ctr">
            <a:normAutofit/>
          </a:bodyPr>
          <a:lstStyle/>
          <a:p>
            <a:pPr algn="ctr">
              <a:defRPr sz="790" b="1">
                <a:solidFill>
                  <a:srgbClr val="6E54C8"/>
                </a:solidFill>
                <a:latin typeface="Calibri" panose="020F0502020204030204"/>
                <a:ea typeface="Calibri" panose="020F0502020204030204"/>
                <a:cs typeface="Calibri" panose="020F0502020204030204"/>
              </a:defRPr>
            </a:pPr>
            <a:r>
              <a:rPr sz="790" b="1">
                <a:solidFill>
                  <a:srgbClr val="6E54C8"/>
                </a:solidFill>
                <a:latin typeface="Calibri" panose="020F0502020204030204"/>
                <a:ea typeface="Calibri" panose="020F0502020204030204"/>
                <a:cs typeface="Calibri" panose="020F0502020204030204"/>
              </a:rPr>
              <a:t>Sub-Agent</a:t>
            </a:r>
          </a:p>
          <a:p>
            <a:pPr algn="ctr">
              <a:defRPr sz="790" b="1">
                <a:solidFill>
                  <a:srgbClr val="6E54C8"/>
                </a:solidFill>
                <a:latin typeface="Calibri" panose="020F0502020204030204"/>
                <a:ea typeface="Calibri" panose="020F0502020204030204"/>
                <a:cs typeface="Calibri" panose="020F0502020204030204"/>
              </a:defRPr>
            </a:pPr>
            <a:r>
              <a:rPr sz="790" b="1">
                <a:solidFill>
                  <a:srgbClr val="6E54C8"/>
                </a:solidFill>
                <a:latin typeface="Calibri" panose="020F0502020204030204"/>
                <a:ea typeface="Calibri" panose="020F0502020204030204"/>
                <a:cs typeface="Calibri" panose="020F0502020204030204"/>
              </a:rPr>
              <a:t>Analyzer</a:t>
            </a:r>
          </a:p>
        </p:txBody>
      </p:sp>
      <p:cxnSp>
        <p:nvCxnSpPr>
          <p:cNvPr id="188" name="s4-subagent-edge-skill-1"/>
          <p:cNvCxnSpPr>
            <a:stCxn id="91" idx="2"/>
            <a:endCxn id="93" idx="0"/>
          </p:cNvCxnSpPr>
          <p:nvPr/>
        </p:nvCxnSpPr>
        <p:spPr>
          <a:xfrm rot="5400000">
            <a:off x="8496300" y="5106229"/>
            <a:ext cx="152400" cy="666750"/>
          </a:xfrm>
          <a:prstGeom prst="bentConnector3">
            <a:avLst>
              <a:gd name="adj1" fmla="val 50000"/>
            </a:avLst>
          </a:prstGeom>
          <a:ln w="10478">
            <a:solidFill>
              <a:srgbClr val="6E54C8"/>
            </a:solidFill>
            <a:prstDash val="solid"/>
            <a:tailEnd type="triangle" w="sm" len="sm"/>
          </a:ln>
        </p:spPr>
      </p:cxnSp>
      <p:cxnSp>
        <p:nvCxnSpPr>
          <p:cNvPr id="189" name="s4-subagent-edge-skill-2"/>
          <p:cNvCxnSpPr>
            <a:stCxn id="91" idx="2"/>
            <a:endCxn id="94" idx="0"/>
          </p:cNvCxnSpPr>
          <p:nvPr/>
        </p:nvCxnSpPr>
        <p:spPr>
          <a:xfrm rot="16200000" flipH="1">
            <a:off x="8991600" y="5277679"/>
            <a:ext cx="152400" cy="323850"/>
          </a:xfrm>
          <a:prstGeom prst="bentConnector3">
            <a:avLst>
              <a:gd name="adj1" fmla="val 50000"/>
            </a:avLst>
          </a:prstGeom>
          <a:ln w="10478">
            <a:solidFill>
              <a:srgbClr val="6E54C8"/>
            </a:solidFill>
            <a:prstDash val="solid"/>
            <a:tailEnd type="triangle" w="sm" len="sm"/>
          </a:ln>
        </p:spPr>
      </p:cxnSp>
      <p:cxnSp>
        <p:nvCxnSpPr>
          <p:cNvPr id="190" name="s4-subagent-edge-skill-3"/>
          <p:cNvCxnSpPr>
            <a:stCxn id="91" idx="2"/>
            <a:endCxn id="95" idx="0"/>
          </p:cNvCxnSpPr>
          <p:nvPr/>
        </p:nvCxnSpPr>
        <p:spPr>
          <a:xfrm>
            <a:off x="8905875" y="5363404"/>
            <a:ext cx="1314450" cy="152400"/>
          </a:xfrm>
          <a:prstGeom prst="bentConnector4">
            <a:avLst>
              <a:gd name="adj1" fmla="val 0"/>
              <a:gd name="adj2" fmla="val 50000"/>
            </a:avLst>
          </a:prstGeom>
          <a:ln w="10478">
            <a:solidFill>
              <a:srgbClr val="6E54C8"/>
            </a:solidFill>
            <a:prstDash val="solid"/>
            <a:tailEnd type="triangle" w="sm" len="sm"/>
          </a:ln>
        </p:spPr>
      </p:cxnSp>
      <p:sp>
        <p:nvSpPr>
          <p:cNvPr id="99" name="s4-subagent-result"/>
          <p:cNvSpPr>
            <a:spLocks noGrp="1"/>
          </p:cNvSpPr>
          <p:nvPr/>
        </p:nvSpPr>
        <p:spPr>
          <a:xfrm>
            <a:off x="8553450" y="6058729"/>
            <a:ext cx="1371600" cy="238125"/>
          </a:xfrm>
          <a:prstGeom prst="roundRect">
            <a:avLst>
              <a:gd name="adj" fmla="val 24000"/>
            </a:avLst>
          </a:prstGeom>
          <a:solidFill>
            <a:srgbClr val="EEF4FE"/>
          </a:solidFill>
          <a:ln w="9525">
            <a:solidFill>
              <a:srgbClr val="1457C5"/>
            </a:solidFill>
            <a:prstDash val="solid"/>
          </a:ln>
        </p:spPr>
        <p:txBody>
          <a:bodyPr wrap="square" lIns="57150" tIns="28575" rIns="57150" bIns="28575" anchor="ctr">
            <a:normAutofit/>
          </a:bodyPr>
          <a:lstStyle/>
          <a:p>
            <a:pPr algn="ctr">
              <a:defRPr sz="900" b="1">
                <a:solidFill>
                  <a:srgbClr val="072A67"/>
                </a:solidFill>
                <a:latin typeface="Calibri" panose="020F0502020204030204"/>
                <a:ea typeface="Calibri" panose="020F0502020204030204"/>
                <a:cs typeface="Calibri" panose="020F0502020204030204"/>
              </a:defRPr>
            </a:pPr>
            <a:r>
              <a:rPr sz="900" b="1">
                <a:solidFill>
                  <a:srgbClr val="072A67"/>
                </a:solidFill>
                <a:latin typeface="Calibri" panose="020F0502020204030204"/>
                <a:ea typeface="Calibri" panose="020F0502020204030204"/>
                <a:cs typeface="Calibri" panose="020F0502020204030204"/>
              </a:rPr>
              <a:t>Result</a:t>
            </a:r>
          </a:p>
        </p:txBody>
      </p:sp>
      <p:cxnSp>
        <p:nvCxnSpPr>
          <p:cNvPr id="192" name="s4-subagent-edge-result-1"/>
          <p:cNvCxnSpPr>
            <a:stCxn id="93" idx="2"/>
            <a:endCxn id="99" idx="0"/>
          </p:cNvCxnSpPr>
          <p:nvPr/>
        </p:nvCxnSpPr>
        <p:spPr>
          <a:xfrm>
            <a:off x="8239125" y="5944429"/>
            <a:ext cx="1000125" cy="114300"/>
          </a:xfrm>
          <a:prstGeom prst="bentConnector4">
            <a:avLst>
              <a:gd name="adj1" fmla="val 0"/>
              <a:gd name="adj2" fmla="val 50000"/>
            </a:avLst>
          </a:prstGeom>
          <a:ln w="9525">
            <a:solidFill>
              <a:srgbClr val="6E54C8"/>
            </a:solidFill>
            <a:prstDash val="solid"/>
          </a:ln>
        </p:spPr>
      </p:cxnSp>
      <p:cxnSp>
        <p:nvCxnSpPr>
          <p:cNvPr id="193" name="s4-subagent-edge-result-2"/>
          <p:cNvCxnSpPr>
            <a:stCxn id="94" idx="2"/>
            <a:endCxn id="99" idx="0"/>
          </p:cNvCxnSpPr>
          <p:nvPr/>
        </p:nvCxnSpPr>
        <p:spPr>
          <a:xfrm rot="16200000" flipH="1">
            <a:off x="9177337" y="5996816"/>
            <a:ext cx="114300" cy="9525"/>
          </a:xfrm>
          <a:prstGeom prst="bentConnector3">
            <a:avLst>
              <a:gd name="adj1" fmla="val 50000"/>
            </a:avLst>
          </a:prstGeom>
          <a:ln w="9525">
            <a:solidFill>
              <a:srgbClr val="6E54C8"/>
            </a:solidFill>
            <a:prstDash val="solid"/>
            <a:tailEnd type="triangle" w="sm" len="sm"/>
          </a:ln>
        </p:spPr>
      </p:cxnSp>
      <p:cxnSp>
        <p:nvCxnSpPr>
          <p:cNvPr id="194" name="s4-subagent-edge-result-3"/>
          <p:cNvCxnSpPr>
            <a:stCxn id="95" idx="2"/>
            <a:endCxn id="99" idx="0"/>
          </p:cNvCxnSpPr>
          <p:nvPr/>
        </p:nvCxnSpPr>
        <p:spPr>
          <a:xfrm flipH="1">
            <a:off x="9239250" y="5944429"/>
            <a:ext cx="981075" cy="114300"/>
          </a:xfrm>
          <a:prstGeom prst="bentConnector4">
            <a:avLst>
              <a:gd name="adj1" fmla="val 0"/>
              <a:gd name="adj2" fmla="val 50000"/>
            </a:avLst>
          </a:prstGeom>
          <a:ln w="9525">
            <a:solidFill>
              <a:srgbClr val="6E54C8"/>
            </a:solidFill>
            <a:prstDash val="solid"/>
          </a:ln>
        </p:spPr>
      </p:cxnSp>
      <p:sp>
        <p:nvSpPr>
          <p:cNvPr id="3" name="slide-7-page-number"/>
          <p:cNvSpPr>
            <a:spLocks noGrp="1"/>
          </p:cNvSpPr>
          <p:nvPr/>
        </p:nvSpPr>
        <p:spPr>
          <a:xfrm>
            <a:off x="11352530" y="332740"/>
            <a:ext cx="352425" cy="323850"/>
          </a:xfrm>
          <a:prstGeom prst="roundRect">
            <a:avLst>
              <a:gd name="adj" fmla="val 14706"/>
            </a:avLst>
          </a:prstGeom>
          <a:solidFill>
            <a:srgbClr val="001B55"/>
          </a:solidFill>
          <a:ln w="9525">
            <a:solidFill>
              <a:srgbClr val="001B55"/>
            </a:solidFill>
            <a:prstDash val="solid"/>
          </a:ln>
        </p:spPr>
        <p:txBody>
          <a:bodyPr wrap="square" lIns="0" tIns="0" rIns="0" bIns="0" anchor="ctr">
            <a:norm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a:solidFill>
                  <a:srgbClr val="FFFFFF"/>
                </a:solidFill>
                <a:cs typeface="微软雅黑" panose="020B0503020204020204" charset="-122"/>
              </a:rPr>
              <a:t>2</a:t>
            </a:r>
          </a:p>
        </p:txBody>
      </p:sp>
      <p:sp>
        <p:nvSpPr>
          <p:cNvPr id="97" name="slide-2-title"/>
          <p:cNvSpPr>
            <a:spLocks noGrp="1"/>
          </p:cNvSpPr>
          <p:nvPr/>
        </p:nvSpPr>
        <p:spPr>
          <a:xfrm>
            <a:off x="276225" y="829904"/>
            <a:ext cx="9525000" cy="523875"/>
          </a:xfrm>
          <a:prstGeom prst="rect">
            <a:avLst/>
          </a:prstGeom>
          <a:noFill/>
          <a:ln w="0">
            <a:noFill/>
            <a:prstDash val="solid"/>
          </a:ln>
        </p:spPr>
        <p:txBody>
          <a:bodyPr wrap="square" lIns="0" tIns="0" rIns="0" bIns="0" anchor="ctr">
            <a:normAutofit/>
          </a:bodyPr>
          <a:lstStyle/>
          <a:p>
            <a:pPr algn="l">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1600" b="1" dirty="0" smtClean="0">
                <a:solidFill>
                  <a:srgbClr val="072A67"/>
                </a:solidFill>
                <a:latin typeface="微软雅黑" panose="020B0503020204020204" charset="-122"/>
                <a:ea typeface="微软雅黑" panose="020B0503020204020204" charset="-122"/>
                <a:cs typeface="微软雅黑" panose="020B0503020204020204" charset="-122"/>
              </a:rPr>
              <a:t>①</a:t>
            </a:r>
            <a:r>
              <a:rPr lang="en-US" altLang="zh-CN" sz="1600" b="1" dirty="0" smtClean="0">
                <a:solidFill>
                  <a:srgbClr val="072A67"/>
                </a:solidFill>
                <a:latin typeface="微软雅黑" panose="020B0503020204020204" charset="-122"/>
                <a:ea typeface="微软雅黑" panose="020B0503020204020204" charset="-122"/>
                <a:cs typeface="微软雅黑" panose="020B0503020204020204" charset="-122"/>
              </a:rPr>
              <a:t>Skill</a:t>
            </a:r>
            <a:r>
              <a:rPr lang="zh-CN" altLang="en-US" sz="1600" b="1" dirty="0" smtClean="0">
                <a:solidFill>
                  <a:srgbClr val="072A67"/>
                </a:solidFill>
                <a:latin typeface="微软雅黑" panose="020B0503020204020204" charset="-122"/>
                <a:ea typeface="微软雅黑" panose="020B0503020204020204" charset="-122"/>
                <a:cs typeface="微软雅黑" panose="020B0503020204020204" charset="-122"/>
              </a:rPr>
              <a:t>的结构</a:t>
            </a:r>
            <a:endParaRPr sz="1600" b="1" dirty="0">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98" name="slide-2-title"/>
          <p:cNvSpPr>
            <a:spLocks noGrp="1"/>
          </p:cNvSpPr>
          <p:nvPr/>
        </p:nvSpPr>
        <p:spPr>
          <a:xfrm>
            <a:off x="238125" y="3398768"/>
            <a:ext cx="9525000" cy="523875"/>
          </a:xfrm>
          <a:prstGeom prst="rect">
            <a:avLst/>
          </a:prstGeom>
          <a:noFill/>
          <a:ln w="0">
            <a:noFill/>
            <a:prstDash val="solid"/>
          </a:ln>
        </p:spPr>
        <p:txBody>
          <a:bodyPr wrap="square" lIns="0" tIns="0" rIns="0" bIns="0" anchor="ctr">
            <a:normAutofit/>
          </a:bodyPr>
          <a:lstStyle/>
          <a:p>
            <a:pPr algn="l">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1600" b="1" dirty="0">
                <a:solidFill>
                  <a:srgbClr val="072A67"/>
                </a:solidFill>
                <a:latin typeface="微软雅黑" panose="020B0503020204020204" charset="-122"/>
                <a:ea typeface="微软雅黑" panose="020B0503020204020204" charset="-122"/>
                <a:cs typeface="微软雅黑" panose="020B0503020204020204" charset="-122"/>
              </a:rPr>
              <a:t>②</a:t>
            </a:r>
            <a:r>
              <a:rPr lang="en-US" altLang="zh-CN" sz="1600" b="1" dirty="0" smtClean="0">
                <a:solidFill>
                  <a:srgbClr val="072A67"/>
                </a:solidFill>
                <a:latin typeface="微软雅黑" panose="020B0503020204020204" charset="-122"/>
                <a:ea typeface="微软雅黑" panose="020B0503020204020204" charset="-122"/>
                <a:cs typeface="微软雅黑" panose="020B0503020204020204" charset="-122"/>
              </a:rPr>
              <a:t>Skill</a:t>
            </a:r>
            <a:r>
              <a:rPr lang="zh-CN" altLang="en-US" sz="1600" b="1" dirty="0" smtClean="0">
                <a:solidFill>
                  <a:srgbClr val="072A67"/>
                </a:solidFill>
                <a:latin typeface="微软雅黑" panose="020B0503020204020204" charset="-122"/>
                <a:ea typeface="微软雅黑" panose="020B0503020204020204" charset="-122"/>
                <a:cs typeface="微软雅黑" panose="020B0503020204020204" charset="-122"/>
              </a:rPr>
              <a:t>的契约与扩展</a:t>
            </a:r>
            <a:endParaRPr sz="1600" b="1" dirty="0">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77"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79" name="slide-3-title"/>
          <p:cNvSpPr>
            <a:spLocks noGrp="1"/>
          </p:cNvSpPr>
          <p:nvPr/>
        </p:nvSpPr>
        <p:spPr>
          <a:xfrm>
            <a:off x="276225" y="161096"/>
            <a:ext cx="9652000" cy="495300"/>
          </a:xfrm>
          <a:prstGeom prst="rect">
            <a:avLst/>
          </a:prstGeom>
          <a:noFill/>
          <a:ln w="0">
            <a:noFill/>
            <a:prstDash val="solid"/>
          </a:ln>
          <a:effectLst/>
        </p:spPr>
        <p:txBody>
          <a:bodyPr wrap="square" lIns="0" tIns="0" rIns="0" bIns="0" anchor="t">
            <a:noAutofit/>
          </a:bodyPr>
          <a:lstStyle/>
          <a:p>
            <a:pPr>
              <a:buNone/>
              <a:defRPr sz="2775" b="1">
                <a:solidFill>
                  <a:srgbClr val="072A67"/>
                </a:solidFill>
                <a:latin typeface="微软雅黑" panose="020B0503020204020204" charset="-122"/>
                <a:ea typeface="微软雅黑" panose="020B0503020204020204" charset="-122"/>
                <a:cs typeface="微软雅黑" panose="020B0503020204020204" charset="-122"/>
              </a:defRPr>
            </a:pPr>
            <a:r>
              <a:rPr lang="en-US" altLang="zh-CN"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1.2  Skill</a:t>
            </a:r>
            <a:r>
              <a:rPr lang="zh-CN" alt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的结构、契约与扩展能力</a:t>
            </a:r>
          </a:p>
          <a:p>
            <a:pPr>
              <a:buNone/>
              <a:defRPr sz="2775" b="1">
                <a:solidFill>
                  <a:srgbClr val="072A67"/>
                </a:solidFill>
                <a:latin typeface="微软雅黑" panose="020B0503020204020204" charset="-122"/>
                <a:ea typeface="微软雅黑" panose="020B0503020204020204" charset="-122"/>
                <a:cs typeface="微软雅黑" panose="020B0503020204020204" charset="-122"/>
              </a:defRPr>
            </a:pP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Tree>
    <p:extLst>
      <p:ext uri="{BB962C8B-B14F-4D97-AF65-F5344CB8AC3E}">
        <p14:creationId xmlns:p14="http://schemas.microsoft.com/office/powerpoint/2010/main" val="16375472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3-title"/>
          <p:cNvSpPr>
            <a:spLocks noGrp="1"/>
          </p:cNvSpPr>
          <p:nvPr/>
        </p:nvSpPr>
        <p:spPr>
          <a:xfrm>
            <a:off x="1219200" y="207407"/>
            <a:ext cx="9652000" cy="495300"/>
          </a:xfrm>
          <a:prstGeom prst="rect">
            <a:avLst/>
          </a:prstGeom>
          <a:noFill/>
          <a:ln w="0">
            <a:noFill/>
            <a:prstDash val="solid"/>
          </a:ln>
          <a:effectLst/>
        </p:spPr>
        <p:txBody>
          <a:bodyPr wrap="square" lIns="0" tIns="0" rIns="0" bIns="0" anchor="t">
            <a:noAutofit/>
          </a:bodyPr>
          <a:lstStyle/>
          <a:p>
            <a:pPr>
              <a:buNone/>
              <a:defRPr sz="2775"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如何</a:t>
            </a:r>
            <a:r>
              <a:rPr lang="zh-CN" alt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开发一个好用的</a:t>
            </a: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Skill </a:t>
            </a:r>
            <a:r>
              <a:rPr lang="zh-CN" alt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7"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a:solidFill>
                  <a:srgbClr val="66737F"/>
                </a:solidFill>
                <a:latin typeface="Arial" panose="020B0604020202020204" pitchFamily="34" charset="0"/>
                <a:ea typeface="Microsoft YaHei" panose="020B0503020204020204" pitchFamily="34" charset="-122"/>
                <a:cs typeface="微软雅黑" panose="020B0503020204020204" charset="-122"/>
              </a:rPr>
              <a:t>3</a:t>
            </a:r>
          </a:p>
        </p:txBody>
      </p:sp>
      <p:sp>
        <p:nvSpPr>
          <p:cNvPr id="28" name="s5-number-1">
            <a:extLst>
              <a:ext uri="{FF2B5EF4-FFF2-40B4-BE49-F238E27FC236}">
                <a16:creationId xmlns:a16="http://schemas.microsoft.com/office/drawing/2014/main" id="{63B68E7B-1AD0-4686-8421-3306ACA52CA1}"/>
              </a:ext>
            </a:extLst>
          </p:cNvPr>
          <p:cNvSpPr txBox="1"/>
          <p:nvPr/>
        </p:nvSpPr>
        <p:spPr>
          <a:xfrm>
            <a:off x="762000" y="1041400"/>
            <a:ext cx="584200" cy="369332"/>
          </a:xfrm>
          <a:prstGeom prst="rect">
            <a:avLst/>
          </a:prstGeom>
          <a:noFill/>
        </p:spPr>
        <p:txBody>
          <a:bodyPr vert="horz" wrap="square" lIns="0" tIns="0" rIns="0" bIns="0" rtlCol="0" anchor="t">
            <a:noAutofit/>
          </a:bodyPr>
          <a:lstStyle/>
          <a:p>
            <a:r>
              <a:rPr lang="en-US" altLang="zh-CN" sz="1700" b="1">
                <a:solidFill>
                  <a:srgbClr val="294A6D"/>
                </a:solidFill>
                <a:latin typeface="Arial" panose="020B0604020202020204" pitchFamily="34" charset="0"/>
                <a:ea typeface="Microsoft YaHei" panose="020B0503020204020204" pitchFamily="34" charset="-122"/>
              </a:rPr>
              <a:t>01.</a:t>
            </a:r>
            <a:endParaRPr lang="zh-CN" altLang="en-US" sz="1700" b="1">
              <a:solidFill>
                <a:srgbClr val="294A6D"/>
              </a:solidFill>
              <a:latin typeface="Arial" panose="020B0604020202020204" pitchFamily="34" charset="0"/>
              <a:ea typeface="Microsoft YaHei" panose="020B0503020204020204" pitchFamily="34" charset="-122"/>
            </a:endParaRPr>
          </a:p>
        </p:txBody>
      </p:sp>
      <p:sp>
        <p:nvSpPr>
          <p:cNvPr id="29" name="s5-title-1">
            <a:extLst>
              <a:ext uri="{FF2B5EF4-FFF2-40B4-BE49-F238E27FC236}">
                <a16:creationId xmlns:a16="http://schemas.microsoft.com/office/drawing/2014/main" id="{B01C2F0E-AB1A-25B8-F379-4FBB76774C7B}"/>
              </a:ext>
            </a:extLst>
          </p:cNvPr>
          <p:cNvSpPr txBox="1"/>
          <p:nvPr/>
        </p:nvSpPr>
        <p:spPr>
          <a:xfrm>
            <a:off x="1473200" y="1041400"/>
            <a:ext cx="4191000" cy="369332"/>
          </a:xfrm>
          <a:prstGeom prst="rect">
            <a:avLst/>
          </a:prstGeom>
          <a:noFill/>
        </p:spPr>
        <p:txBody>
          <a:bodyPr vert="horz" wrap="square" lIns="0" tIns="0" rIns="0" bIns="0" rtlCol="0" anchor="t">
            <a:noAutofit/>
          </a:bodyPr>
          <a:lstStyle/>
          <a:p>
            <a:r>
              <a:rPr lang="zh-CN" altLang="en-US" sz="1900" b="1">
                <a:solidFill>
                  <a:srgbClr val="243B53"/>
                </a:solidFill>
                <a:latin typeface="Arial" panose="020B0604020202020204" pitchFamily="34" charset="0"/>
                <a:ea typeface="Microsoft YaHei" panose="020B0503020204020204" pitchFamily="34" charset="-122"/>
              </a:rPr>
              <a:t>流程清晰</a:t>
            </a:r>
          </a:p>
        </p:txBody>
      </p:sp>
      <p:sp>
        <p:nvSpPr>
          <p:cNvPr id="30" name="s5-detail-1">
            <a:extLst>
              <a:ext uri="{FF2B5EF4-FFF2-40B4-BE49-F238E27FC236}">
                <a16:creationId xmlns:a16="http://schemas.microsoft.com/office/drawing/2014/main" id="{0F250DAE-78D3-64AE-80A2-D0B187C91C12}"/>
              </a:ext>
            </a:extLst>
          </p:cNvPr>
          <p:cNvSpPr txBox="1"/>
          <p:nvPr/>
        </p:nvSpPr>
        <p:spPr>
          <a:xfrm>
            <a:off x="1473200" y="1511300"/>
            <a:ext cx="9144000" cy="369332"/>
          </a:xfrm>
          <a:prstGeom prst="rect">
            <a:avLst/>
          </a:prstGeom>
          <a:noFill/>
        </p:spPr>
        <p:txBody>
          <a:bodyPr vert="horz" wrap="square" lIns="0" tIns="0" rIns="0" bIns="0" rtlCol="0" anchor="t">
            <a:noAutofit/>
          </a:bodyPr>
          <a:lstStyle/>
          <a:p>
            <a:r>
              <a:rPr lang="zh-CN" altLang="en-US" sz="1600">
                <a:solidFill>
                  <a:srgbClr val="2F3A45"/>
                </a:solidFill>
                <a:latin typeface="Arial" panose="020B0604020202020204" pitchFamily="34" charset="0"/>
                <a:ea typeface="Microsoft YaHei" panose="020B0503020204020204" pitchFamily="34" charset="-122"/>
              </a:rPr>
              <a:t>做什么  →  输入什么  →  输出什么  →  失败怎么办</a:t>
            </a:r>
          </a:p>
        </p:txBody>
      </p:sp>
      <p:cxnSp>
        <p:nvCxnSpPr>
          <p:cNvPr id="31" name="s5-rule-1">
            <a:extLst>
              <a:ext uri="{FF2B5EF4-FFF2-40B4-BE49-F238E27FC236}">
                <a16:creationId xmlns:a16="http://schemas.microsoft.com/office/drawing/2014/main" id="{40A0A5DD-83D0-9D9F-E248-68D9E9959820}"/>
              </a:ext>
            </a:extLst>
          </p:cNvPr>
          <p:cNvCxnSpPr/>
          <p:nvPr/>
        </p:nvCxnSpPr>
        <p:spPr>
          <a:xfrm>
            <a:off x="762000" y="2095500"/>
            <a:ext cx="10668000" cy="0"/>
          </a:xfrm>
          <a:prstGeom prst="line">
            <a:avLst/>
          </a:prstGeom>
          <a:ln w="5715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2" name="s5-number-2">
            <a:extLst>
              <a:ext uri="{FF2B5EF4-FFF2-40B4-BE49-F238E27FC236}">
                <a16:creationId xmlns:a16="http://schemas.microsoft.com/office/drawing/2014/main" id="{33141730-4713-568C-9CEB-50FE85C35E27}"/>
              </a:ext>
            </a:extLst>
          </p:cNvPr>
          <p:cNvSpPr txBox="1"/>
          <p:nvPr/>
        </p:nvSpPr>
        <p:spPr>
          <a:xfrm>
            <a:off x="762000" y="2336800"/>
            <a:ext cx="584200" cy="369332"/>
          </a:xfrm>
          <a:prstGeom prst="rect">
            <a:avLst/>
          </a:prstGeom>
          <a:noFill/>
        </p:spPr>
        <p:txBody>
          <a:bodyPr vert="horz" wrap="square" lIns="0" tIns="0" rIns="0" bIns="0" rtlCol="0" anchor="t">
            <a:noAutofit/>
          </a:bodyPr>
          <a:lstStyle/>
          <a:p>
            <a:r>
              <a:rPr lang="en-US" altLang="zh-CN" sz="1700" b="1">
                <a:solidFill>
                  <a:srgbClr val="294A6D"/>
                </a:solidFill>
                <a:latin typeface="Arial" panose="020B0604020202020204" pitchFamily="34" charset="0"/>
                <a:ea typeface="Microsoft YaHei" panose="020B0503020204020204" pitchFamily="34" charset="-122"/>
              </a:rPr>
              <a:t>02.</a:t>
            </a:r>
            <a:endParaRPr lang="zh-CN" altLang="en-US" sz="1700" b="1">
              <a:solidFill>
                <a:srgbClr val="294A6D"/>
              </a:solidFill>
              <a:latin typeface="Arial" panose="020B0604020202020204" pitchFamily="34" charset="0"/>
              <a:ea typeface="Microsoft YaHei" panose="020B0503020204020204" pitchFamily="34" charset="-122"/>
            </a:endParaRPr>
          </a:p>
        </p:txBody>
      </p:sp>
      <p:sp>
        <p:nvSpPr>
          <p:cNvPr id="33" name="s5-title-2">
            <a:extLst>
              <a:ext uri="{FF2B5EF4-FFF2-40B4-BE49-F238E27FC236}">
                <a16:creationId xmlns:a16="http://schemas.microsoft.com/office/drawing/2014/main" id="{8245F12A-64AA-01CE-D043-1A779EF32278}"/>
              </a:ext>
            </a:extLst>
          </p:cNvPr>
          <p:cNvSpPr txBox="1"/>
          <p:nvPr/>
        </p:nvSpPr>
        <p:spPr>
          <a:xfrm>
            <a:off x="1473200" y="2336800"/>
            <a:ext cx="4191000" cy="369332"/>
          </a:xfrm>
          <a:prstGeom prst="rect">
            <a:avLst/>
          </a:prstGeom>
          <a:noFill/>
        </p:spPr>
        <p:txBody>
          <a:bodyPr vert="horz" wrap="square" lIns="0" tIns="0" rIns="0" bIns="0" rtlCol="0" anchor="t">
            <a:noAutofit/>
          </a:bodyPr>
          <a:lstStyle/>
          <a:p>
            <a:r>
              <a:rPr lang="zh-CN" altLang="en-US" sz="1900" b="1">
                <a:solidFill>
                  <a:srgbClr val="243B53"/>
                </a:solidFill>
                <a:latin typeface="Arial" panose="020B0604020202020204" pitchFamily="34" charset="0"/>
                <a:ea typeface="Microsoft YaHei" panose="020B0503020204020204" pitchFamily="34" charset="-122"/>
              </a:rPr>
              <a:t>职责聚焦、参数化</a:t>
            </a:r>
          </a:p>
        </p:txBody>
      </p:sp>
      <p:sp>
        <p:nvSpPr>
          <p:cNvPr id="34" name="s5-detail-2a">
            <a:extLst>
              <a:ext uri="{FF2B5EF4-FFF2-40B4-BE49-F238E27FC236}">
                <a16:creationId xmlns:a16="http://schemas.microsoft.com/office/drawing/2014/main" id="{F9AAC228-2E78-913B-332E-DDB06B8A33FA}"/>
              </a:ext>
            </a:extLst>
          </p:cNvPr>
          <p:cNvSpPr txBox="1"/>
          <p:nvPr/>
        </p:nvSpPr>
        <p:spPr>
          <a:xfrm>
            <a:off x="1473200" y="2794000"/>
            <a:ext cx="9144000" cy="369332"/>
          </a:xfrm>
          <a:prstGeom prst="rect">
            <a:avLst/>
          </a:prstGeom>
          <a:noFill/>
        </p:spPr>
        <p:txBody>
          <a:bodyPr vert="horz" wrap="square" lIns="0" tIns="0" rIns="0" bIns="0" rtlCol="0" anchor="t">
            <a:noAutofit/>
          </a:bodyPr>
          <a:lstStyle/>
          <a:p>
            <a:r>
              <a:rPr lang="zh-CN" altLang="en-US" sz="1500">
                <a:solidFill>
                  <a:srgbClr val="66737F"/>
                </a:solidFill>
                <a:latin typeface="Arial" panose="020B0604020202020204" pitchFamily="34" charset="0"/>
                <a:ea typeface="Microsoft YaHei" panose="020B0503020204020204" pitchFamily="34" charset="-122"/>
              </a:rPr>
              <a:t>一个 </a:t>
            </a:r>
            <a:r>
              <a:rPr lang="en-US" altLang="zh-CN" sz="1500">
                <a:solidFill>
                  <a:srgbClr val="66737F"/>
                </a:solidFill>
                <a:latin typeface="Arial" panose="020B0604020202020204" pitchFamily="34" charset="0"/>
                <a:ea typeface="Microsoft YaHei" panose="020B0503020204020204" pitchFamily="34" charset="-122"/>
              </a:rPr>
              <a:t>Skill </a:t>
            </a:r>
            <a:r>
              <a:rPr lang="zh-CN" altLang="en-US" sz="1500">
                <a:solidFill>
                  <a:srgbClr val="66737F"/>
                </a:solidFill>
                <a:latin typeface="Arial" panose="020B0604020202020204" pitchFamily="34" charset="0"/>
                <a:ea typeface="Microsoft YaHei" panose="020B0503020204020204" pitchFamily="34" charset="-122"/>
              </a:rPr>
              <a:t>聚焦一类任务</a:t>
            </a:r>
          </a:p>
        </p:txBody>
      </p:sp>
      <p:sp>
        <p:nvSpPr>
          <p:cNvPr id="35" name="s5-detail-2b">
            <a:extLst>
              <a:ext uri="{FF2B5EF4-FFF2-40B4-BE49-F238E27FC236}">
                <a16:creationId xmlns:a16="http://schemas.microsoft.com/office/drawing/2014/main" id="{2F243283-9D39-EB98-EAB7-3C727B1EE7E2}"/>
              </a:ext>
            </a:extLst>
          </p:cNvPr>
          <p:cNvSpPr txBox="1"/>
          <p:nvPr/>
        </p:nvSpPr>
        <p:spPr>
          <a:xfrm>
            <a:off x="1473200" y="3187700"/>
            <a:ext cx="4572000" cy="369332"/>
          </a:xfrm>
          <a:prstGeom prst="rect">
            <a:avLst/>
          </a:prstGeom>
          <a:noFill/>
        </p:spPr>
        <p:txBody>
          <a:bodyPr vert="horz" wrap="square" lIns="0" tIns="0" rIns="0" bIns="0" rtlCol="0" anchor="t">
            <a:noAutofit/>
          </a:bodyPr>
          <a:lstStyle/>
          <a:p>
            <a:r>
              <a:rPr lang="zh-CN" altLang="en-US" sz="1500">
                <a:solidFill>
                  <a:srgbClr val="2F3A45"/>
                </a:solidFill>
                <a:latin typeface="Arial" panose="020B0604020202020204" pitchFamily="34" charset="0"/>
                <a:ea typeface="Microsoft YaHei" panose="020B0503020204020204" pitchFamily="34" charset="-122"/>
              </a:rPr>
              <a:t>稳定：</a:t>
            </a:r>
            <a:r>
              <a:rPr lang="en-US" altLang="zh-CN" sz="1500">
                <a:solidFill>
                  <a:srgbClr val="2F3A45"/>
                </a:solidFill>
                <a:latin typeface="Arial" panose="020B0604020202020204" pitchFamily="34" charset="0"/>
                <a:ea typeface="Microsoft YaHei" panose="020B0503020204020204" pitchFamily="34" charset="-122"/>
              </a:rPr>
              <a:t>Workflow / Method / Decision Rules</a:t>
            </a:r>
            <a:endParaRPr lang="zh-CN" altLang="en-US" sz="1500">
              <a:solidFill>
                <a:srgbClr val="2F3A45"/>
              </a:solidFill>
              <a:latin typeface="Arial" panose="020B0604020202020204" pitchFamily="34" charset="0"/>
              <a:ea typeface="Microsoft YaHei" panose="020B0503020204020204" pitchFamily="34" charset="-122"/>
            </a:endParaRPr>
          </a:p>
        </p:txBody>
      </p:sp>
      <p:sp>
        <p:nvSpPr>
          <p:cNvPr id="36" name="s5-detail-2c">
            <a:extLst>
              <a:ext uri="{FF2B5EF4-FFF2-40B4-BE49-F238E27FC236}">
                <a16:creationId xmlns:a16="http://schemas.microsoft.com/office/drawing/2014/main" id="{8CFD6CE4-8B76-B9A9-71D1-EC6E5574F536}"/>
              </a:ext>
            </a:extLst>
          </p:cNvPr>
          <p:cNvSpPr txBox="1"/>
          <p:nvPr/>
        </p:nvSpPr>
        <p:spPr>
          <a:xfrm>
            <a:off x="6350000" y="3187700"/>
            <a:ext cx="4826000" cy="369332"/>
          </a:xfrm>
          <a:prstGeom prst="rect">
            <a:avLst/>
          </a:prstGeom>
          <a:noFill/>
        </p:spPr>
        <p:txBody>
          <a:bodyPr vert="horz" wrap="square" lIns="0" tIns="0" rIns="0" bIns="0" rtlCol="0" anchor="t">
            <a:noAutofit/>
          </a:bodyPr>
          <a:lstStyle/>
          <a:p>
            <a:r>
              <a:rPr lang="zh-CN" altLang="en-US" sz="1500">
                <a:solidFill>
                  <a:srgbClr val="2F3A45"/>
                </a:solidFill>
                <a:latin typeface="Arial" panose="020B0604020202020204" pitchFamily="34" charset="0"/>
                <a:ea typeface="Microsoft YaHei" panose="020B0503020204020204" pitchFamily="34" charset="-122"/>
              </a:rPr>
              <a:t>变化：</a:t>
            </a:r>
            <a:r>
              <a:rPr lang="en-US" altLang="zh-CN" sz="1500">
                <a:solidFill>
                  <a:srgbClr val="2F3A45"/>
                </a:solidFill>
                <a:latin typeface="Arial" panose="020B0604020202020204" pitchFamily="34" charset="0"/>
                <a:ea typeface="Microsoft YaHei" panose="020B0503020204020204" pitchFamily="34" charset="-122"/>
              </a:rPr>
              <a:t>Parameters / Config / Environment / Data</a:t>
            </a:r>
            <a:endParaRPr lang="zh-CN" altLang="en-US" sz="1500">
              <a:solidFill>
                <a:srgbClr val="2F3A45"/>
              </a:solidFill>
              <a:latin typeface="Arial" panose="020B0604020202020204" pitchFamily="34" charset="0"/>
              <a:ea typeface="Microsoft YaHei" panose="020B0503020204020204" pitchFamily="34" charset="-122"/>
            </a:endParaRPr>
          </a:p>
        </p:txBody>
      </p:sp>
      <p:cxnSp>
        <p:nvCxnSpPr>
          <p:cNvPr id="37" name="s5-rule-2">
            <a:extLst>
              <a:ext uri="{FF2B5EF4-FFF2-40B4-BE49-F238E27FC236}">
                <a16:creationId xmlns:a16="http://schemas.microsoft.com/office/drawing/2014/main" id="{A502D1DD-D160-E15F-BE37-1283B8C802BC}"/>
              </a:ext>
            </a:extLst>
          </p:cNvPr>
          <p:cNvCxnSpPr/>
          <p:nvPr/>
        </p:nvCxnSpPr>
        <p:spPr>
          <a:xfrm>
            <a:off x="762000" y="3733800"/>
            <a:ext cx="10668000" cy="0"/>
          </a:xfrm>
          <a:prstGeom prst="line">
            <a:avLst/>
          </a:prstGeom>
          <a:ln w="5715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8" name="s5-number-3">
            <a:extLst>
              <a:ext uri="{FF2B5EF4-FFF2-40B4-BE49-F238E27FC236}">
                <a16:creationId xmlns:a16="http://schemas.microsoft.com/office/drawing/2014/main" id="{24033F4A-49FA-C155-D751-2E1DCB134822}"/>
              </a:ext>
            </a:extLst>
          </p:cNvPr>
          <p:cNvSpPr txBox="1"/>
          <p:nvPr/>
        </p:nvSpPr>
        <p:spPr>
          <a:xfrm>
            <a:off x="762000" y="3975100"/>
            <a:ext cx="584200" cy="369332"/>
          </a:xfrm>
          <a:prstGeom prst="rect">
            <a:avLst/>
          </a:prstGeom>
          <a:noFill/>
        </p:spPr>
        <p:txBody>
          <a:bodyPr vert="horz" wrap="square" lIns="0" tIns="0" rIns="0" bIns="0" rtlCol="0" anchor="t">
            <a:noAutofit/>
          </a:bodyPr>
          <a:lstStyle/>
          <a:p>
            <a:r>
              <a:rPr lang="en-US" altLang="zh-CN" sz="1700" b="1">
                <a:solidFill>
                  <a:srgbClr val="4F8A83"/>
                </a:solidFill>
                <a:latin typeface="Arial" panose="020B0604020202020204" pitchFamily="34" charset="0"/>
                <a:ea typeface="Microsoft YaHei" panose="020B0503020204020204" pitchFamily="34" charset="-122"/>
              </a:rPr>
              <a:t>03.</a:t>
            </a:r>
            <a:endParaRPr lang="zh-CN" altLang="en-US" sz="1700" b="1">
              <a:solidFill>
                <a:srgbClr val="4F8A83"/>
              </a:solidFill>
              <a:latin typeface="Arial" panose="020B0604020202020204" pitchFamily="34" charset="0"/>
              <a:ea typeface="Microsoft YaHei" panose="020B0503020204020204" pitchFamily="34" charset="-122"/>
            </a:endParaRPr>
          </a:p>
        </p:txBody>
      </p:sp>
      <p:sp>
        <p:nvSpPr>
          <p:cNvPr id="39" name="s5-title-3">
            <a:extLst>
              <a:ext uri="{FF2B5EF4-FFF2-40B4-BE49-F238E27FC236}">
                <a16:creationId xmlns:a16="http://schemas.microsoft.com/office/drawing/2014/main" id="{5E131107-7F5D-A6D4-055E-5F8F24C15959}"/>
              </a:ext>
            </a:extLst>
          </p:cNvPr>
          <p:cNvSpPr txBox="1"/>
          <p:nvPr/>
        </p:nvSpPr>
        <p:spPr>
          <a:xfrm>
            <a:off x="1473200" y="3975100"/>
            <a:ext cx="5334000" cy="369332"/>
          </a:xfrm>
          <a:prstGeom prst="rect">
            <a:avLst/>
          </a:prstGeom>
          <a:noFill/>
        </p:spPr>
        <p:txBody>
          <a:bodyPr vert="horz" wrap="square" lIns="0" tIns="0" rIns="0" bIns="0" rtlCol="0" anchor="t">
            <a:noAutofit/>
          </a:bodyPr>
          <a:lstStyle/>
          <a:p>
            <a:r>
              <a:rPr lang="en-US" altLang="zh-CN" sz="1900" b="1">
                <a:solidFill>
                  <a:srgbClr val="243B53"/>
                </a:solidFill>
                <a:latin typeface="Arial" panose="020B0604020202020204" pitchFamily="34" charset="0"/>
                <a:ea typeface="Microsoft YaHei" panose="020B0503020204020204" pitchFamily="34" charset="-122"/>
              </a:rPr>
              <a:t>Workflow </a:t>
            </a:r>
            <a:r>
              <a:rPr lang="zh-CN" altLang="en-US" sz="1900" b="1">
                <a:solidFill>
                  <a:srgbClr val="243B53"/>
                </a:solidFill>
                <a:latin typeface="Arial" panose="020B0604020202020204" pitchFamily="34" charset="0"/>
                <a:ea typeface="Microsoft YaHei" panose="020B0503020204020204" pitchFamily="34" charset="-122"/>
              </a:rPr>
              <a:t>与 </a:t>
            </a:r>
            <a:r>
              <a:rPr lang="en-US" altLang="zh-CN" sz="1900" b="1">
                <a:solidFill>
                  <a:srgbClr val="243B53"/>
                </a:solidFill>
                <a:latin typeface="Arial" panose="020B0604020202020204" pitchFamily="34" charset="0"/>
                <a:ea typeface="Microsoft YaHei" panose="020B0503020204020204" pitchFamily="34" charset="-122"/>
              </a:rPr>
              <a:t>Knowledge </a:t>
            </a:r>
            <a:r>
              <a:rPr lang="zh-CN" altLang="en-US" sz="1900" b="1">
                <a:solidFill>
                  <a:srgbClr val="243B53"/>
                </a:solidFill>
                <a:latin typeface="Arial" panose="020B0604020202020204" pitchFamily="34" charset="0"/>
                <a:ea typeface="Microsoft YaHei" panose="020B0503020204020204" pitchFamily="34" charset="-122"/>
              </a:rPr>
              <a:t>分离</a:t>
            </a:r>
          </a:p>
        </p:txBody>
      </p:sp>
      <p:sp>
        <p:nvSpPr>
          <p:cNvPr id="40" name="s5-detail-3a">
            <a:extLst>
              <a:ext uri="{FF2B5EF4-FFF2-40B4-BE49-F238E27FC236}">
                <a16:creationId xmlns:a16="http://schemas.microsoft.com/office/drawing/2014/main" id="{27B65A7B-7552-13E4-6813-4E37F50F03BA}"/>
              </a:ext>
            </a:extLst>
          </p:cNvPr>
          <p:cNvSpPr txBox="1"/>
          <p:nvPr/>
        </p:nvSpPr>
        <p:spPr>
          <a:xfrm>
            <a:off x="1473200" y="4432300"/>
            <a:ext cx="4572000" cy="369332"/>
          </a:xfrm>
          <a:prstGeom prst="rect">
            <a:avLst/>
          </a:prstGeom>
          <a:noFill/>
        </p:spPr>
        <p:txBody>
          <a:bodyPr vert="horz" wrap="square" lIns="0" tIns="0" rIns="0" bIns="0" rtlCol="0" anchor="t">
            <a:noAutofit/>
          </a:bodyPr>
          <a:lstStyle/>
          <a:p>
            <a:r>
              <a:rPr lang="en-US" altLang="zh-CN" sz="1500">
                <a:solidFill>
                  <a:srgbClr val="2F3A45"/>
                </a:solidFill>
                <a:latin typeface="Arial" panose="020B0604020202020204" pitchFamily="34" charset="0"/>
                <a:ea typeface="Microsoft YaHei" panose="020B0503020204020204" pitchFamily="34" charset="-122"/>
              </a:rPr>
              <a:t>Workflow</a:t>
            </a:r>
            <a:r>
              <a:rPr lang="zh-CN" altLang="en-US" sz="1500">
                <a:solidFill>
                  <a:srgbClr val="2F3A45"/>
                </a:solidFill>
                <a:latin typeface="Arial" panose="020B0604020202020204" pitchFamily="34" charset="0"/>
                <a:ea typeface="Microsoft YaHei" panose="020B0503020204020204" pitchFamily="34" charset="-122"/>
              </a:rPr>
              <a:t>：流程、判断、契约、编排</a:t>
            </a:r>
          </a:p>
        </p:txBody>
      </p:sp>
      <p:sp>
        <p:nvSpPr>
          <p:cNvPr id="41" name="s5-detail-3b">
            <a:extLst>
              <a:ext uri="{FF2B5EF4-FFF2-40B4-BE49-F238E27FC236}">
                <a16:creationId xmlns:a16="http://schemas.microsoft.com/office/drawing/2014/main" id="{AA8F4BD6-CFF3-3C46-6DB3-4478FB80720E}"/>
              </a:ext>
            </a:extLst>
          </p:cNvPr>
          <p:cNvSpPr txBox="1"/>
          <p:nvPr/>
        </p:nvSpPr>
        <p:spPr>
          <a:xfrm>
            <a:off x="6350000" y="4432300"/>
            <a:ext cx="4953000" cy="369332"/>
          </a:xfrm>
          <a:prstGeom prst="rect">
            <a:avLst/>
          </a:prstGeom>
          <a:noFill/>
        </p:spPr>
        <p:txBody>
          <a:bodyPr vert="horz" wrap="square" lIns="0" tIns="0" rIns="0" bIns="0" rtlCol="0" anchor="t">
            <a:noAutofit/>
          </a:bodyPr>
          <a:lstStyle/>
          <a:p>
            <a:r>
              <a:rPr lang="en-US" altLang="zh-CN" sz="1500">
                <a:solidFill>
                  <a:srgbClr val="2F3A45"/>
                </a:solidFill>
                <a:latin typeface="Arial" panose="020B0604020202020204" pitchFamily="34" charset="0"/>
                <a:ea typeface="Microsoft YaHei" panose="020B0503020204020204" pitchFamily="34" charset="-122"/>
              </a:rPr>
              <a:t>Knowledge</a:t>
            </a:r>
            <a:r>
              <a:rPr lang="zh-CN" altLang="en-US" sz="1500">
                <a:solidFill>
                  <a:srgbClr val="2F3A45"/>
                </a:solidFill>
                <a:latin typeface="Arial" panose="020B0604020202020204" pitchFamily="34" charset="0"/>
                <a:ea typeface="Microsoft YaHei" panose="020B0503020204020204" pitchFamily="34" charset="-122"/>
              </a:rPr>
              <a:t>：环境、</a:t>
            </a:r>
            <a:r>
              <a:rPr lang="en-US" altLang="zh-CN" sz="1500">
                <a:solidFill>
                  <a:srgbClr val="2F3A45"/>
                </a:solidFill>
                <a:latin typeface="Arial" panose="020B0604020202020204" pitchFamily="34" charset="0"/>
                <a:ea typeface="Microsoft YaHei" panose="020B0503020204020204" pitchFamily="34" charset="-122"/>
              </a:rPr>
              <a:t>API</a:t>
            </a:r>
            <a:r>
              <a:rPr lang="zh-CN" altLang="en-US" sz="1500">
                <a:solidFill>
                  <a:srgbClr val="2F3A45"/>
                </a:solidFill>
                <a:latin typeface="Arial" panose="020B0604020202020204" pitchFamily="34" charset="0"/>
                <a:ea typeface="Microsoft YaHei" panose="020B0503020204020204" pitchFamily="34" charset="-122"/>
              </a:rPr>
              <a:t>、配置、案例、平台知识</a:t>
            </a:r>
          </a:p>
        </p:txBody>
      </p:sp>
      <p:sp>
        <p:nvSpPr>
          <p:cNvPr id="42" name="s5-stable-knowledge">
            <a:extLst>
              <a:ext uri="{FF2B5EF4-FFF2-40B4-BE49-F238E27FC236}">
                <a16:creationId xmlns:a16="http://schemas.microsoft.com/office/drawing/2014/main" id="{BC183A43-B992-92CF-58C6-C4741B4EF32F}"/>
              </a:ext>
            </a:extLst>
          </p:cNvPr>
          <p:cNvSpPr txBox="1"/>
          <p:nvPr/>
        </p:nvSpPr>
        <p:spPr>
          <a:xfrm>
            <a:off x="1473200" y="4851400"/>
            <a:ext cx="6350000" cy="369332"/>
          </a:xfrm>
          <a:prstGeom prst="rect">
            <a:avLst/>
          </a:prstGeom>
          <a:noFill/>
        </p:spPr>
        <p:txBody>
          <a:bodyPr vert="horz" wrap="square" lIns="0" tIns="0" rIns="0" bIns="0" rtlCol="0" anchor="t">
            <a:noAutofit/>
          </a:bodyPr>
          <a:lstStyle/>
          <a:p>
            <a:r>
              <a:rPr lang="zh-CN" altLang="en-US" sz="1600" b="1" dirty="0">
                <a:solidFill>
                  <a:srgbClr val="4F8A83"/>
                </a:solidFill>
                <a:latin typeface="Arial" panose="020B0604020202020204" pitchFamily="34" charset="0"/>
                <a:ea typeface="Microsoft YaHei" panose="020B0503020204020204" pitchFamily="34" charset="-122"/>
              </a:rPr>
              <a:t>稳定方法 </a:t>
            </a:r>
            <a:r>
              <a:rPr lang="en-US" altLang="zh-CN" sz="1600" b="1" dirty="0">
                <a:solidFill>
                  <a:srgbClr val="4F8A83"/>
                </a:solidFill>
                <a:latin typeface="Arial" panose="020B0604020202020204" pitchFamily="34" charset="0"/>
                <a:ea typeface="Microsoft YaHei" panose="020B0503020204020204" pitchFamily="34" charset="-122"/>
              </a:rPr>
              <a:t>× </a:t>
            </a:r>
            <a:r>
              <a:rPr lang="zh-CN" altLang="en-US" sz="1600" b="1" dirty="0">
                <a:solidFill>
                  <a:srgbClr val="4F8A83"/>
                </a:solidFill>
                <a:latin typeface="Arial" panose="020B0604020202020204" pitchFamily="34" charset="0"/>
                <a:ea typeface="Microsoft YaHei" panose="020B0503020204020204" pitchFamily="34" charset="-122"/>
              </a:rPr>
              <a:t>可替换知识</a:t>
            </a:r>
          </a:p>
        </p:txBody>
      </p:sp>
      <p:cxnSp>
        <p:nvCxnSpPr>
          <p:cNvPr id="47" name="s5-transition-rule">
            <a:extLst>
              <a:ext uri="{FF2B5EF4-FFF2-40B4-BE49-F238E27FC236}">
                <a16:creationId xmlns:a16="http://schemas.microsoft.com/office/drawing/2014/main" id="{102A2EDE-E553-201D-895E-D25B2384275E}"/>
              </a:ext>
            </a:extLst>
          </p:cNvPr>
          <p:cNvCxnSpPr/>
          <p:nvPr/>
        </p:nvCxnSpPr>
        <p:spPr>
          <a:xfrm>
            <a:off x="762000" y="5308600"/>
            <a:ext cx="10668000" cy="0"/>
          </a:xfrm>
          <a:prstGeom prst="line">
            <a:avLst/>
          </a:prstGeom>
          <a:ln w="5715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8" name="s5-stage-1">
            <a:extLst>
              <a:ext uri="{FF2B5EF4-FFF2-40B4-BE49-F238E27FC236}">
                <a16:creationId xmlns:a16="http://schemas.microsoft.com/office/drawing/2014/main" id="{89F421E0-8BAB-5F92-AD5F-B92B282AA127}"/>
              </a:ext>
            </a:extLst>
          </p:cNvPr>
          <p:cNvSpPr txBox="1"/>
          <p:nvPr/>
        </p:nvSpPr>
        <p:spPr>
          <a:xfrm>
            <a:off x="4318000" y="5397500"/>
            <a:ext cx="3556000" cy="369332"/>
          </a:xfrm>
          <a:prstGeom prst="rect">
            <a:avLst/>
          </a:prstGeom>
          <a:noFill/>
        </p:spPr>
        <p:txBody>
          <a:bodyPr vert="horz" wrap="square" lIns="0" tIns="0" rIns="0" bIns="0" rtlCol="0" anchor="t">
            <a:noAutofit/>
          </a:bodyPr>
          <a:lstStyle/>
          <a:p>
            <a:pPr algn="ctr"/>
            <a:r>
              <a:rPr lang="zh-CN" altLang="en-US" sz="1500" b="1">
                <a:solidFill>
                  <a:srgbClr val="66737F"/>
                </a:solidFill>
                <a:latin typeface="Arial" panose="020B0604020202020204" pitchFamily="34" charset="0"/>
                <a:ea typeface="Microsoft YaHei" panose="020B0503020204020204" pitchFamily="34" charset="-122"/>
              </a:rPr>
              <a:t>普通 </a:t>
            </a:r>
            <a:r>
              <a:rPr lang="en-US" altLang="zh-CN" sz="1500" b="1">
                <a:solidFill>
                  <a:srgbClr val="66737F"/>
                </a:solidFill>
                <a:latin typeface="Arial" panose="020B0604020202020204" pitchFamily="34" charset="0"/>
                <a:ea typeface="Microsoft YaHei" panose="020B0503020204020204" pitchFamily="34" charset="-122"/>
              </a:rPr>
              <a:t>Skill</a:t>
            </a:r>
            <a:endParaRPr lang="zh-CN" altLang="en-US" sz="1500" b="1">
              <a:solidFill>
                <a:srgbClr val="66737F"/>
              </a:solidFill>
              <a:latin typeface="Arial" panose="020B0604020202020204" pitchFamily="34" charset="0"/>
              <a:ea typeface="Microsoft YaHei" panose="020B0503020204020204" pitchFamily="34" charset="-122"/>
            </a:endParaRPr>
          </a:p>
        </p:txBody>
      </p:sp>
      <p:sp>
        <p:nvSpPr>
          <p:cNvPr id="49" name="s5-arrow-1">
            <a:extLst>
              <a:ext uri="{FF2B5EF4-FFF2-40B4-BE49-F238E27FC236}">
                <a16:creationId xmlns:a16="http://schemas.microsoft.com/office/drawing/2014/main" id="{F1974127-9F8B-9A6C-0409-3B971D451069}"/>
              </a:ext>
            </a:extLst>
          </p:cNvPr>
          <p:cNvSpPr txBox="1"/>
          <p:nvPr/>
        </p:nvSpPr>
        <p:spPr>
          <a:xfrm>
            <a:off x="5651500" y="5676900"/>
            <a:ext cx="889000" cy="369332"/>
          </a:xfrm>
          <a:prstGeom prst="rect">
            <a:avLst/>
          </a:prstGeom>
          <a:noFill/>
        </p:spPr>
        <p:txBody>
          <a:bodyPr vert="horz" wrap="square" lIns="0" tIns="0" rIns="0" bIns="0" rtlCol="0" anchor="t">
            <a:noAutofit/>
          </a:bodyPr>
          <a:lstStyle/>
          <a:p>
            <a:pPr algn="ctr"/>
            <a:r>
              <a:rPr lang="zh-CN" altLang="en-US" sz="1500">
                <a:solidFill>
                  <a:srgbClr val="66737F"/>
                </a:solidFill>
                <a:latin typeface="Arial" panose="020B0604020202020204" pitchFamily="34" charset="0"/>
                <a:ea typeface="Microsoft YaHei" panose="020B0503020204020204" pitchFamily="34" charset="-122"/>
              </a:rPr>
              <a:t>↓</a:t>
            </a:r>
          </a:p>
        </p:txBody>
      </p:sp>
      <p:sp>
        <p:nvSpPr>
          <p:cNvPr id="50" name="s5-stage-2">
            <a:extLst>
              <a:ext uri="{FF2B5EF4-FFF2-40B4-BE49-F238E27FC236}">
                <a16:creationId xmlns:a16="http://schemas.microsoft.com/office/drawing/2014/main" id="{A8F27299-81E7-6F3C-D86D-33671EF0A388}"/>
              </a:ext>
            </a:extLst>
          </p:cNvPr>
          <p:cNvSpPr txBox="1"/>
          <p:nvPr/>
        </p:nvSpPr>
        <p:spPr>
          <a:xfrm>
            <a:off x="3810000" y="5867400"/>
            <a:ext cx="4572000" cy="369332"/>
          </a:xfrm>
          <a:prstGeom prst="rect">
            <a:avLst/>
          </a:prstGeom>
          <a:noFill/>
        </p:spPr>
        <p:txBody>
          <a:bodyPr vert="horz" wrap="square" lIns="0" tIns="0" rIns="0" bIns="0" rtlCol="0" anchor="t">
            <a:noAutofit/>
          </a:bodyPr>
          <a:lstStyle/>
          <a:p>
            <a:pPr algn="ctr"/>
            <a:r>
              <a:rPr lang="zh-CN" altLang="en-US" sz="1700" b="1">
                <a:solidFill>
                  <a:srgbClr val="294A6D"/>
                </a:solidFill>
                <a:latin typeface="Arial" panose="020B0604020202020204" pitchFamily="34" charset="0"/>
                <a:ea typeface="Microsoft YaHei" panose="020B0503020204020204" pitchFamily="34" charset="-122"/>
              </a:rPr>
              <a:t>高性能算子开发 </a:t>
            </a:r>
            <a:r>
              <a:rPr lang="en-US" altLang="zh-CN" sz="1700" b="1">
                <a:solidFill>
                  <a:srgbClr val="294A6D"/>
                </a:solidFill>
                <a:latin typeface="Arial" panose="020B0604020202020204" pitchFamily="34" charset="0"/>
                <a:ea typeface="Microsoft YaHei" panose="020B0503020204020204" pitchFamily="34" charset="-122"/>
              </a:rPr>
              <a:t>Skill</a:t>
            </a:r>
            <a:endParaRPr lang="zh-CN" altLang="en-US" sz="1700" b="1">
              <a:solidFill>
                <a:srgbClr val="294A6D"/>
              </a:solidFill>
              <a:latin typeface="Arial" panose="020B0604020202020204" pitchFamily="34" charset="0"/>
              <a:ea typeface="Microsoft YaHei" panose="020B0503020204020204" pitchFamily="34" charset="-122"/>
            </a:endParaRPr>
          </a:p>
        </p:txBody>
      </p:sp>
      <p:sp>
        <p:nvSpPr>
          <p:cNvPr id="51" name="s5-arrow-2">
            <a:extLst>
              <a:ext uri="{FF2B5EF4-FFF2-40B4-BE49-F238E27FC236}">
                <a16:creationId xmlns:a16="http://schemas.microsoft.com/office/drawing/2014/main" id="{D70C1037-2886-0B05-1518-7558C2E3B644}"/>
              </a:ext>
            </a:extLst>
          </p:cNvPr>
          <p:cNvSpPr txBox="1"/>
          <p:nvPr/>
        </p:nvSpPr>
        <p:spPr>
          <a:xfrm>
            <a:off x="5651500" y="6172200"/>
            <a:ext cx="889000" cy="369332"/>
          </a:xfrm>
          <a:prstGeom prst="rect">
            <a:avLst/>
          </a:prstGeom>
          <a:noFill/>
        </p:spPr>
        <p:txBody>
          <a:bodyPr vert="horz" wrap="square" lIns="0" tIns="0" rIns="0" bIns="0" rtlCol="0" anchor="t">
            <a:noAutofit/>
          </a:bodyPr>
          <a:lstStyle/>
          <a:p>
            <a:pPr algn="ctr"/>
            <a:r>
              <a:rPr lang="zh-CN" altLang="en-US" sz="1500">
                <a:solidFill>
                  <a:srgbClr val="66737F"/>
                </a:solidFill>
                <a:latin typeface="Arial" panose="020B0604020202020204" pitchFamily="34" charset="0"/>
                <a:ea typeface="Microsoft YaHei" panose="020B0503020204020204" pitchFamily="34" charset="-122"/>
              </a:rPr>
              <a:t>↓</a:t>
            </a:r>
          </a:p>
        </p:txBody>
      </p:sp>
      <p:sp>
        <p:nvSpPr>
          <p:cNvPr id="52" name="s5-stage-3">
            <a:extLst>
              <a:ext uri="{FF2B5EF4-FFF2-40B4-BE49-F238E27FC236}">
                <a16:creationId xmlns:a16="http://schemas.microsoft.com/office/drawing/2014/main" id="{AE25CFB0-60BE-CB5C-7E71-756571B7C681}"/>
              </a:ext>
            </a:extLst>
          </p:cNvPr>
          <p:cNvSpPr txBox="1"/>
          <p:nvPr/>
        </p:nvSpPr>
        <p:spPr>
          <a:xfrm>
            <a:off x="2159000" y="6426200"/>
            <a:ext cx="7874000" cy="369332"/>
          </a:xfrm>
          <a:prstGeom prst="rect">
            <a:avLst/>
          </a:prstGeom>
          <a:noFill/>
        </p:spPr>
        <p:txBody>
          <a:bodyPr vert="horz" wrap="square" lIns="0" tIns="0" rIns="0" bIns="0" rtlCol="0" anchor="t">
            <a:noAutofit/>
          </a:bodyPr>
          <a:lstStyle/>
          <a:p>
            <a:pPr algn="ctr"/>
            <a:r>
              <a:rPr lang="zh-CN" altLang="en-US" sz="1450" b="1">
                <a:solidFill>
                  <a:srgbClr val="2F3A45"/>
                </a:solidFill>
                <a:latin typeface="Arial" panose="020B0604020202020204" pitchFamily="34" charset="0"/>
                <a:ea typeface="Microsoft YaHei" panose="020B0503020204020204" pitchFamily="34" charset="-122"/>
              </a:rPr>
              <a:t>代码生成 </a:t>
            </a:r>
            <a:r>
              <a:rPr lang="en-US" altLang="zh-CN" sz="1450" b="1">
                <a:solidFill>
                  <a:srgbClr val="2F3A45"/>
                </a:solidFill>
                <a:latin typeface="Arial" panose="020B0604020202020204" pitchFamily="34" charset="0"/>
                <a:ea typeface="Microsoft YaHei" panose="020B0503020204020204" pitchFamily="34" charset="-122"/>
              </a:rPr>
              <a:t>+ </a:t>
            </a:r>
            <a:r>
              <a:rPr lang="zh-CN" altLang="en-US" sz="1450" b="1">
                <a:solidFill>
                  <a:srgbClr val="2F3A45"/>
                </a:solidFill>
                <a:latin typeface="Arial" panose="020B0604020202020204" pitchFamily="34" charset="0"/>
                <a:ea typeface="Microsoft YaHei" panose="020B0503020204020204" pitchFamily="34" charset="-122"/>
              </a:rPr>
              <a:t>正确性验证 </a:t>
            </a:r>
            <a:r>
              <a:rPr lang="en-US" altLang="zh-CN" sz="1450" b="1">
                <a:solidFill>
                  <a:srgbClr val="2F3A45"/>
                </a:solidFill>
                <a:latin typeface="Arial" panose="020B0604020202020204" pitchFamily="34" charset="0"/>
                <a:ea typeface="Microsoft YaHei" panose="020B0503020204020204" pitchFamily="34" charset="-122"/>
              </a:rPr>
              <a:t>+ Benchmark + Profiler + </a:t>
            </a:r>
            <a:r>
              <a:rPr lang="zh-CN" altLang="en-US" sz="1450" b="1">
                <a:solidFill>
                  <a:srgbClr val="2F3A45"/>
                </a:solidFill>
                <a:latin typeface="Arial" panose="020B0604020202020204" pitchFamily="34" charset="0"/>
                <a:ea typeface="Microsoft YaHei" panose="020B0503020204020204" pitchFamily="34" charset="-122"/>
              </a:rPr>
              <a:t>性能优化</a:t>
            </a:r>
          </a:p>
        </p:txBody>
      </p:sp>
      <p:sp>
        <p:nvSpPr>
          <p:cNvPr id="26"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27"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1.3</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Microsoft YaHei" panose="020B0503020204020204" pitchFamily="3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FFFFFF"/>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D6DEE6"/>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a:solidFill>
                  <a:srgbClr val="2F3A45"/>
                </a:solidFill>
                <a:latin typeface="Arial" panose="020B0604020202020204" pitchFamily="34" charset="0"/>
                <a:ea typeface="Microsoft YaHei" panose="020B0503020204020204" pitchFamily="34" charset="-122"/>
                <a:cs typeface="微软雅黑" panose="020B0503020204020204" charset="-122"/>
              </a:rPr>
              <a:t>Agent/</a:t>
            </a:r>
            <a:r>
              <a:rPr sz="1600">
                <a:solidFill>
                  <a:srgbClr val="2F3A45"/>
                </a:solidFill>
                <a:latin typeface="Arial" panose="020B0604020202020204" pitchFamily="34" charset="0"/>
                <a:ea typeface="Microsoft YaHei" panose="020B0503020204020204" pitchFamily="3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ect">
            <a:avLst/>
          </a:prstGeom>
          <a:solidFill>
            <a:srgbClr val="EEF2F5"/>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5B7188"/>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Microsoft YaHei" panose="020B0503020204020204" pitchFamily="34" charset="-122"/>
                <a:cs typeface="微软雅黑" panose="020B0503020204020204" charset="-122"/>
              </a:rPr>
              <a:t>PART 02</a:t>
            </a: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b="1">
                <a:solidFill>
                  <a:srgbClr val="243B53"/>
                </a:solidFill>
                <a:latin typeface="Arial" panose="020B0604020202020204" pitchFamily="34" charset="0"/>
                <a:ea typeface="Microsoft YaHei" panose="020B0503020204020204" pitchFamily="34" charset="-122"/>
                <a:cs typeface="微软雅黑" panose="020B0503020204020204" charset="-122"/>
              </a:rPr>
              <a:t>寒武纪</a:t>
            </a:r>
            <a:r>
              <a:rPr sz="1600" b="1">
                <a:solidFill>
                  <a:srgbClr val="243B53"/>
                </a:solidFill>
                <a:latin typeface="Arial" panose="020B0604020202020204" pitchFamily="34" charset="0"/>
                <a:ea typeface="Microsoft YaHei" panose="020B0503020204020204" pitchFamily="3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ect">
            <a:avLst/>
          </a:prstGeom>
          <a:solidFill>
            <a:srgbClr val="FFFFFF"/>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D6DEE6"/>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16805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03</a:t>
            </a: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Microsoft YaHei" panose="020B0503020204020204" pitchFamily="3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ect">
            <a:avLst/>
          </a:prstGeom>
          <a:solidFill>
            <a:srgbClr val="FFFFFF"/>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D6DEE6"/>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Microsoft YaHei" panose="020B0503020204020204" pitchFamily="34" charset="-122"/>
                <a:cs typeface="微软雅黑" panose="020B0503020204020204" charset="-122"/>
              </a:rPr>
              <a:t>未来展望</a:t>
            </a: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pic>
        <p:nvPicPr>
          <p:cNvPr id="15" name="overall-orchestration-architecture"/>
          <p:cNvPicPr>
            <a:picLocks noChangeAspect="1"/>
          </p:cNvPicPr>
          <p:nvPr/>
        </p:nvPicPr>
        <p:blipFill>
          <a:blip r:embed="rId3">
            <a:grayscl/>
          </a:blip>
          <a:srcRect l="101" r="101" b="60"/>
          <a:stretch>
            <a:fillRect/>
          </a:stretch>
        </p:blipFill>
        <p:spPr>
          <a:xfrm>
            <a:off x="1209675" y="857250"/>
            <a:ext cx="3143250" cy="5324475"/>
          </a:xfrm>
          <a:prstGeom prst="rect">
            <a:avLst/>
          </a:prstGeom>
          <a:effectLst/>
        </p:spPr>
      </p:pic>
      <p:pic>
        <p:nvPicPr>
          <p:cNvPr id="16" name="main-orchestration-module"/>
          <p:cNvPicPr>
            <a:picLocks noChangeAspect="1"/>
          </p:cNvPicPr>
          <p:nvPr/>
        </p:nvPicPr>
        <p:blipFill>
          <a:blip r:embed="rId4">
            <a:grayscl/>
          </a:blip>
          <a:srcRect r="104"/>
          <a:stretch>
            <a:fillRect/>
          </a:stretch>
        </p:blipFill>
        <p:spPr>
          <a:xfrm>
            <a:off x="4572000" y="857250"/>
            <a:ext cx="3057525" cy="2552700"/>
          </a:xfrm>
          <a:prstGeom prst="rect">
            <a:avLst/>
          </a:prstGeom>
          <a:effectLst/>
        </p:spPr>
      </p:pic>
      <p:pic>
        <p:nvPicPr>
          <p:cNvPr id="17" name="code-generation-module"/>
          <p:cNvPicPr>
            <a:picLocks noChangeAspect="1"/>
          </p:cNvPicPr>
          <p:nvPr/>
        </p:nvPicPr>
        <p:blipFill>
          <a:blip r:embed="rId5">
            <a:grayscl/>
          </a:blip>
          <a:srcRect/>
          <a:stretch>
            <a:fillRect/>
          </a:stretch>
        </p:blipFill>
        <p:spPr>
          <a:xfrm>
            <a:off x="7715250" y="857250"/>
            <a:ext cx="3276600" cy="2552700"/>
          </a:xfrm>
          <a:prstGeom prst="rect">
            <a:avLst/>
          </a:prstGeom>
          <a:effectLst/>
        </p:spPr>
      </p:pic>
      <p:pic>
        <p:nvPicPr>
          <p:cNvPr id="18" name="code-review-module"/>
          <p:cNvPicPr>
            <a:picLocks noChangeAspect="1"/>
          </p:cNvPicPr>
          <p:nvPr/>
        </p:nvPicPr>
        <p:blipFill>
          <a:blip r:embed="rId6">
            <a:grayscl/>
          </a:blip>
          <a:srcRect t="119" r="104" b="119"/>
          <a:stretch>
            <a:fillRect/>
          </a:stretch>
        </p:blipFill>
        <p:spPr>
          <a:xfrm>
            <a:off x="4572000" y="3514725"/>
            <a:ext cx="3057525" cy="2667000"/>
          </a:xfrm>
          <a:prstGeom prst="rect">
            <a:avLst/>
          </a:prstGeom>
          <a:effectLst/>
        </p:spPr>
      </p:pic>
      <p:pic>
        <p:nvPicPr>
          <p:cNvPr id="19" name="optimization-module"/>
          <p:cNvPicPr>
            <a:picLocks noChangeAspect="1"/>
          </p:cNvPicPr>
          <p:nvPr/>
        </p:nvPicPr>
        <p:blipFill>
          <a:blip r:embed="rId7">
            <a:grayscl/>
          </a:blip>
          <a:srcRect t="119" b="119"/>
          <a:stretch>
            <a:fillRect/>
          </a:stretch>
        </p:blipFill>
        <p:spPr>
          <a:xfrm>
            <a:off x="7715250" y="3514725"/>
            <a:ext cx="3276600" cy="2667000"/>
          </a:xfrm>
          <a:prstGeom prst="rect">
            <a:avLst/>
          </a:prstGeom>
          <a:effectLst/>
        </p:spPr>
      </p:pic>
      <p:sp>
        <p:nvSpPr>
          <p:cNvPr id="6" name="slide-4-title"/>
          <p:cNvSpPr>
            <a:spLocks noGrp="1"/>
          </p:cNvSpPr>
          <p:nvPr/>
        </p:nvSpPr>
        <p:spPr>
          <a:xfrm>
            <a:off x="1209675" y="260350"/>
            <a:ext cx="8048625" cy="428625"/>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700" b="1">
                <a:solidFill>
                  <a:srgbClr val="243B53"/>
                </a:solidFill>
                <a:latin typeface="Arial" panose="020B0604020202020204" pitchFamily="34" charset="0"/>
                <a:ea typeface="Microsoft YaHei" panose="020B0503020204020204" pitchFamily="34" charset="-122"/>
                <a:cs typeface="微软雅黑" panose="020B0503020204020204" charset="-122"/>
              </a:rPr>
              <a:t>原寒武纪 </a:t>
            </a:r>
            <a:r>
              <a:rPr lang="en-US" sz="2700" b="1">
                <a:solidFill>
                  <a:srgbClr val="243B53"/>
                </a:solidFill>
                <a:latin typeface="Arial" panose="020B0604020202020204" pitchFamily="34" charset="0"/>
                <a:ea typeface="Microsoft YaHei" panose="020B0503020204020204" pitchFamily="34" charset="-122"/>
                <a:cs typeface="微软雅黑" panose="020B0503020204020204" charset="-122"/>
              </a:rPr>
              <a:t>Triton </a:t>
            </a:r>
            <a:r>
              <a:rPr lang="zh-CN" altLang="en-US" sz="2700" b="1">
                <a:solidFill>
                  <a:srgbClr val="243B53"/>
                </a:solidFill>
                <a:latin typeface="Arial" panose="020B0604020202020204" pitchFamily="34" charset="0"/>
                <a:ea typeface="Microsoft YaHei" panose="020B0503020204020204" pitchFamily="34" charset="-122"/>
                <a:cs typeface="微软雅黑" panose="020B0503020204020204" charset="-122"/>
              </a:rPr>
              <a:t>算子开发 </a:t>
            </a:r>
            <a:r>
              <a:rPr lang="en-US" sz="2700" b="1">
                <a:solidFill>
                  <a:srgbClr val="243B53"/>
                </a:solidFill>
                <a:latin typeface="Arial" panose="020B0604020202020204" pitchFamily="34" charset="0"/>
                <a:ea typeface="Microsoft YaHei" panose="020B0503020204020204" pitchFamily="34" charset="-122"/>
                <a:cs typeface="微软雅黑" panose="020B0503020204020204" charset="-122"/>
              </a:rPr>
              <a:t>Skill </a:t>
            </a:r>
            <a:r>
              <a:rPr lang="zh-CN" altLang="en-US" sz="2700" b="1">
                <a:solidFill>
                  <a:srgbClr val="243B53"/>
                </a:solidFill>
                <a:latin typeface="Arial" panose="020B0604020202020204" pitchFamily="34" charset="0"/>
                <a:ea typeface="Microsoft YaHei" panose="020B0503020204020204" pitchFamily="34" charset="-122"/>
                <a:cs typeface="微软雅黑" panose="020B0503020204020204" charset="-122"/>
              </a:rPr>
              <a:t>的结构</a:t>
            </a:r>
            <a:endParaRPr lang="zh-CN" sz="2700" b="1">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8" name="slide-4-editable-footer"/>
          <p:cNvSpPr>
            <a:spLocks noGrp="1"/>
          </p:cNvSpPr>
          <p:nvPr/>
        </p:nvSpPr>
        <p:spPr>
          <a:xfrm>
            <a:off x="1209675" y="6286500"/>
            <a:ext cx="9782175" cy="428625"/>
          </a:xfrm>
          <a:prstGeom prst="rect">
            <a:avLst/>
          </a:prstGeom>
          <a:solidFill>
            <a:srgbClr val="EEF2F5"/>
          </a:solidFill>
          <a:ln w="0">
            <a:solidFill>
              <a:srgbClr val="D6DEE6"/>
            </a:solidFill>
            <a:prstDash val="solid"/>
          </a:ln>
          <a:effectLst/>
        </p:spPr>
        <p:txBody>
          <a:bodyPr wrap="square" lIns="133350" tIns="28575" rIns="133350" bIns="28575" anchor="ctr">
            <a:noAutofit/>
          </a:bodyPr>
          <a:lstStyle/>
          <a:p>
            <a:pPr algn="ctr">
              <a:buNone/>
              <a:defRPr sz="900" b="1">
                <a:solidFill>
                  <a:srgbClr val="072A67"/>
                </a:solidFill>
                <a:latin typeface="微软雅黑" panose="020B0503020204020204" charset="-122"/>
                <a:ea typeface="微软雅黑" panose="020B0503020204020204" charset="-122"/>
                <a:cs typeface="微软雅黑" panose="020B0503020204020204" charset="-122"/>
              </a:defRPr>
            </a:pPr>
            <a:r>
              <a:rPr sz="1400" b="1">
                <a:solidFill>
                  <a:srgbClr val="2F3A45"/>
                </a:solidFill>
                <a:latin typeface="Arial" panose="020B0604020202020204" pitchFamily="34" charset="0"/>
                <a:ea typeface="Microsoft YaHei" panose="020B0503020204020204" pitchFamily="34" charset="-122"/>
                <a:cs typeface="微软雅黑" panose="020B0503020204020204" charset="-122"/>
              </a:rPr>
              <a:t>原 MLU Triton Skill 采用“主流程编排 + 阶段 Skill + 专业 Sub-Agent”的分层流水线结构，将算子开发拆分为生成、验证和优化三个连续阶段。</a:t>
            </a:r>
          </a:p>
        </p:txBody>
      </p:sp>
      <p:pic>
        <p:nvPicPr>
          <p:cNvPr id="2" name="图片 1"/>
          <p:cNvPicPr>
            <a:picLocks noChangeAspect="1"/>
          </p:cNvPicPr>
          <p:nvPr/>
        </p:nvPicPr>
        <p:blipFill>
          <a:blip r:embed="rId8">
            <a:grayscl/>
          </a:blip>
          <a:stretch>
            <a:fillRect/>
          </a:stretch>
        </p:blipFill>
        <p:spPr>
          <a:xfrm>
            <a:off x="6816090" y="908685"/>
            <a:ext cx="723900" cy="857250"/>
          </a:xfrm>
          <a:prstGeom prst="rect">
            <a:avLst/>
          </a:prstGeom>
          <a:effectLst/>
        </p:spPr>
      </p:pic>
      <p:pic>
        <p:nvPicPr>
          <p:cNvPr id="3" name="图片 2"/>
          <p:cNvPicPr>
            <a:picLocks noChangeAspect="1"/>
          </p:cNvPicPr>
          <p:nvPr/>
        </p:nvPicPr>
        <p:blipFill>
          <a:blip r:embed="rId8">
            <a:grayscl/>
          </a:blip>
          <a:stretch>
            <a:fillRect/>
          </a:stretch>
        </p:blipFill>
        <p:spPr>
          <a:xfrm>
            <a:off x="10223500" y="980440"/>
            <a:ext cx="503555" cy="596265"/>
          </a:xfrm>
          <a:prstGeom prst="rect">
            <a:avLst/>
          </a:prstGeom>
          <a:effectLst/>
        </p:spPr>
      </p:pic>
      <p:pic>
        <p:nvPicPr>
          <p:cNvPr id="4" name="图片 3"/>
          <p:cNvPicPr>
            <a:picLocks noChangeAspect="1"/>
          </p:cNvPicPr>
          <p:nvPr/>
        </p:nvPicPr>
        <p:blipFill>
          <a:blip r:embed="rId8">
            <a:grayscl/>
          </a:blip>
          <a:stretch>
            <a:fillRect/>
          </a:stretch>
        </p:blipFill>
        <p:spPr>
          <a:xfrm>
            <a:off x="7049770" y="3573145"/>
            <a:ext cx="490220" cy="581025"/>
          </a:xfrm>
          <a:prstGeom prst="rect">
            <a:avLst/>
          </a:prstGeom>
          <a:effectLst/>
        </p:spPr>
      </p:pic>
      <p:pic>
        <p:nvPicPr>
          <p:cNvPr id="5" name="图片 4"/>
          <p:cNvPicPr>
            <a:picLocks noChangeAspect="1"/>
          </p:cNvPicPr>
          <p:nvPr/>
        </p:nvPicPr>
        <p:blipFill>
          <a:blip r:embed="rId8">
            <a:grayscl/>
          </a:blip>
          <a:stretch>
            <a:fillRect/>
          </a:stretch>
        </p:blipFill>
        <p:spPr>
          <a:xfrm>
            <a:off x="10344150" y="3573145"/>
            <a:ext cx="436245" cy="516890"/>
          </a:xfrm>
          <a:prstGeom prst="rect">
            <a:avLst/>
          </a:prstGeom>
          <a:effectLst/>
        </p:spPr>
      </p:pic>
      <p:sp>
        <p:nvSpPr>
          <p:cNvPr id="7"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a:solidFill>
                  <a:srgbClr val="66737F"/>
                </a:solidFill>
                <a:latin typeface="Arial" panose="020B0604020202020204" pitchFamily="34" charset="0"/>
                <a:ea typeface="Microsoft YaHei" panose="020B0503020204020204" pitchFamily="34" charset="-122"/>
                <a:cs typeface="微软雅黑" panose="020B0503020204020204" charset="-122"/>
              </a:rPr>
              <a:t>4</a:t>
            </a:r>
          </a:p>
        </p:txBody>
      </p:sp>
      <p:sp>
        <p:nvSpPr>
          <p:cNvPr id="20"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21"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2</a:t>
            </a: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.1</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2" name="slide-5-title"/>
          <p:cNvSpPr>
            <a:spLocks noGrp="1"/>
          </p:cNvSpPr>
          <p:nvPr/>
        </p:nvSpPr>
        <p:spPr>
          <a:xfrm>
            <a:off x="996949" y="196255"/>
            <a:ext cx="9652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70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开发一个算子的流程</a:t>
            </a:r>
            <a:endParaRPr lang="zh-CN"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4" name="measurement-section-frame"/>
          <p:cNvSpPr>
            <a:spLocks noGrp="1"/>
          </p:cNvSpPr>
          <p:nvPr/>
        </p:nvSpPr>
        <p:spPr>
          <a:xfrm>
            <a:off x="254000" y="4533900"/>
            <a:ext cx="11684000" cy="1651000"/>
          </a:xfrm>
          <a:prstGeom prst="rect">
            <a:avLst/>
          </a:prstGeom>
          <a:noFill/>
          <a:ln w="12700">
            <a:solidFill>
              <a:srgbClr val="D6DEE6"/>
            </a:solid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endParaRPr/>
          </a:p>
        </p:txBody>
      </p:sp>
      <p:sp>
        <p:nvSpPr>
          <p:cNvPr id="15" name="measurement-title"/>
          <p:cNvSpPr>
            <a:spLocks noGrp="1"/>
          </p:cNvSpPr>
          <p:nvPr/>
        </p:nvSpPr>
        <p:spPr>
          <a:xfrm>
            <a:off x="381000" y="4597400"/>
            <a:ext cx="4572000" cy="279400"/>
          </a:xfrm>
          <a:prstGeom prst="rect">
            <a:avLst/>
          </a:prstGeom>
          <a:noFill/>
          <a:ln w="0">
            <a:noFill/>
            <a:prstDash val="solid"/>
          </a:ln>
          <a:effectLst/>
        </p:spPr>
        <p:txBody>
          <a:bodyPr wrap="square" lIns="0" tIns="0" rIns="0" bIns="0" anchor="t">
            <a:noAutofit/>
          </a:bodyPr>
          <a:lstStyle/>
          <a:p>
            <a:pPr>
              <a:buNone/>
              <a:defRPr sz="1275" b="1">
                <a:solidFill>
                  <a:srgbClr val="0A3B88"/>
                </a:solidFill>
                <a:latin typeface="微软雅黑" panose="020B0503020204020204" charset="-122"/>
                <a:ea typeface="微软雅黑" panose="020B0503020204020204" charset="-122"/>
                <a:cs typeface="微软雅黑" panose="020B0503020204020204" charset="-122"/>
              </a:defRPr>
            </a:pPr>
            <a:r>
              <a:rPr sz="1400" b="1">
                <a:solidFill>
                  <a:srgbClr val="243B53"/>
                </a:solidFill>
                <a:latin typeface="Arial" panose="020B0604020202020204" pitchFamily="34" charset="0"/>
                <a:ea typeface="Microsoft YaHei" panose="020B0503020204020204" pitchFamily="34" charset="-122"/>
                <a:cs typeface="微软雅黑" panose="020B0503020204020204" charset="-122"/>
              </a:rPr>
              <a:t>已开发算子实测：开发效率与最终性能</a:t>
            </a:r>
          </a:p>
        </p:txBody>
      </p:sp>
      <p:sp>
        <p:nvSpPr>
          <p:cNvPr id="16" name="speedup-label"/>
          <p:cNvSpPr>
            <a:spLocks noGrp="1"/>
          </p:cNvSpPr>
          <p:nvPr/>
        </p:nvSpPr>
        <p:spPr>
          <a:xfrm>
            <a:off x="8661400" y="5054600"/>
            <a:ext cx="762000" cy="254000"/>
          </a:xfrm>
          <a:prstGeom prst="rect">
            <a:avLst/>
          </a:prstGeom>
          <a:noFill/>
          <a:ln w="0">
            <a:noFill/>
            <a:prstDash val="solid"/>
          </a:ln>
          <a:effectLst/>
        </p:spPr>
        <p:txBody>
          <a:bodyPr wrap="square" lIns="0" tIns="0" rIns="0" bIns="0" anchor="t">
            <a:noAutofit/>
          </a:bodyPr>
          <a:lstStyle/>
          <a:p>
            <a:pPr>
              <a:buNone/>
              <a:defRPr sz="1015" b="1">
                <a:solidFill>
                  <a:srgbClr val="10244D"/>
                </a:solidFill>
                <a:latin typeface="微软雅黑" panose="020B0503020204020204" charset="-122"/>
                <a:ea typeface="微软雅黑" panose="020B0503020204020204" charset="-122"/>
                <a:cs typeface="微软雅黑" panose="020B0503020204020204" charset="-122"/>
              </a:defRPr>
            </a:pPr>
            <a:r>
              <a:rPr sz="1050" b="1" dirty="0" err="1">
                <a:solidFill>
                  <a:srgbClr val="66737F"/>
                </a:solidFill>
                <a:latin typeface="Arial" panose="020B0604020202020204" pitchFamily="34" charset="0"/>
                <a:ea typeface="Microsoft YaHei" panose="020B0503020204020204" pitchFamily="34" charset="-122"/>
                <a:cs typeface="微软雅黑" panose="020B0503020204020204" charset="-122"/>
              </a:rPr>
              <a:t>加速比</a:t>
            </a:r>
            <a:r>
              <a:rPr sz="1050" b="1" dirty="0">
                <a:solidFill>
                  <a:srgbClr val="66737F"/>
                </a:solidFill>
                <a:latin typeface="Arial" panose="020B0604020202020204" pitchFamily="34" charset="0"/>
                <a:ea typeface="Microsoft YaHei" panose="020B0503020204020204" pitchFamily="34" charset="-122"/>
                <a:cs typeface="微软雅黑" panose="020B0503020204020204" charset="-122"/>
              </a:rPr>
              <a:t> =</a:t>
            </a:r>
          </a:p>
        </p:txBody>
      </p:sp>
      <p:sp>
        <p:nvSpPr>
          <p:cNvPr id="17" name="speedup-formula"/>
          <p:cNvSpPr>
            <a:spLocks noGrp="1"/>
          </p:cNvSpPr>
          <p:nvPr/>
        </p:nvSpPr>
        <p:spPr>
          <a:xfrm>
            <a:off x="9423399" y="5054600"/>
            <a:ext cx="2387600" cy="254000"/>
          </a:xfrm>
          <a:prstGeom prst="rect">
            <a:avLst/>
          </a:prstGeom>
          <a:noFill/>
          <a:ln w="0">
            <a:noFill/>
            <a:prstDash val="solid"/>
          </a:ln>
          <a:effectLst/>
        </p:spPr>
        <p:txBody>
          <a:bodyPr wrap="square" lIns="0" tIns="0" rIns="0" bIns="0" anchor="t">
            <a:noAutofit/>
          </a:bodyPr>
          <a:lstStyle/>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sz="1050" dirty="0" err="1">
                <a:solidFill>
                  <a:srgbClr val="2F3A45"/>
                </a:solidFill>
                <a:latin typeface="Arial" panose="020B0604020202020204" pitchFamily="34" charset="0"/>
                <a:ea typeface="Microsoft YaHei" panose="020B0503020204020204" pitchFamily="34" charset="-122"/>
                <a:cs typeface="微软雅黑" panose="020B0503020204020204" charset="-122"/>
              </a:rPr>
              <a:t>平台基线耗时</a:t>
            </a:r>
            <a:r>
              <a:rPr sz="105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050" dirty="0" err="1">
                <a:solidFill>
                  <a:srgbClr val="2F3A45"/>
                </a:solidFill>
                <a:latin typeface="Arial" panose="020B0604020202020204" pitchFamily="34" charset="0"/>
                <a:ea typeface="Microsoft YaHei" panose="020B0503020204020204" pitchFamily="34" charset="-122"/>
                <a:cs typeface="微软雅黑" panose="020B0503020204020204" charset="-122"/>
              </a:rPr>
              <a:t>优化后</a:t>
            </a:r>
            <a:r>
              <a:rPr sz="1050" dirty="0">
                <a:solidFill>
                  <a:srgbClr val="2F3A45"/>
                </a:solidFill>
                <a:latin typeface="Arial" panose="020B0604020202020204" pitchFamily="34" charset="0"/>
                <a:ea typeface="Microsoft YaHei" panose="020B0503020204020204" pitchFamily="34" charset="-122"/>
                <a:cs typeface="微软雅黑" panose="020B0503020204020204" charset="-122"/>
              </a:rPr>
              <a:t> Kernel </a:t>
            </a:r>
            <a:r>
              <a:rPr sz="1050" dirty="0" err="1">
                <a:solidFill>
                  <a:srgbClr val="2F3A45"/>
                </a:solidFill>
                <a:latin typeface="Arial" panose="020B0604020202020204" pitchFamily="34" charset="0"/>
                <a:ea typeface="Microsoft YaHei" panose="020B0503020204020204" pitchFamily="34" charset="-122"/>
                <a:cs typeface="微软雅黑" panose="020B0503020204020204" charset="-122"/>
              </a:rPr>
              <a:t>耗时</a:t>
            </a:r>
            <a:endParaRPr sz="1050"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18" name="development-time-label"/>
          <p:cNvSpPr>
            <a:spLocks noGrp="1"/>
          </p:cNvSpPr>
          <p:nvPr/>
        </p:nvSpPr>
        <p:spPr>
          <a:xfrm>
            <a:off x="8661400" y="5549900"/>
            <a:ext cx="825500" cy="254000"/>
          </a:xfrm>
          <a:prstGeom prst="rect">
            <a:avLst/>
          </a:prstGeom>
          <a:noFill/>
          <a:ln w="0">
            <a:noFill/>
            <a:prstDash val="solid"/>
          </a:ln>
          <a:effectLst/>
        </p:spPr>
        <p:txBody>
          <a:bodyPr wrap="square" lIns="0" tIns="0" rIns="0" bIns="0" anchor="t">
            <a:noAutofit/>
          </a:bodyPr>
          <a:lstStyle/>
          <a:p>
            <a:pPr>
              <a:buNone/>
              <a:defRPr sz="1015" b="1">
                <a:solidFill>
                  <a:srgbClr val="10244D"/>
                </a:solidFill>
                <a:latin typeface="微软雅黑" panose="020B0503020204020204" charset="-122"/>
                <a:ea typeface="微软雅黑" panose="020B0503020204020204" charset="-122"/>
                <a:cs typeface="微软雅黑" panose="020B0503020204020204" charset="-122"/>
              </a:defRPr>
            </a:pPr>
            <a:r>
              <a:rPr sz="1050" b="1" dirty="0" err="1">
                <a:solidFill>
                  <a:srgbClr val="66737F"/>
                </a:solidFill>
                <a:latin typeface="Arial" panose="020B0604020202020204" pitchFamily="34" charset="0"/>
                <a:ea typeface="Microsoft YaHei" panose="020B0503020204020204" pitchFamily="34" charset="-122"/>
                <a:cs typeface="微软雅黑" panose="020B0503020204020204" charset="-122"/>
              </a:rPr>
              <a:t>开发耗时</a:t>
            </a:r>
            <a:r>
              <a:rPr sz="1050" b="1" dirty="0">
                <a:solidFill>
                  <a:srgbClr val="66737F"/>
                </a:solidFill>
                <a:latin typeface="Arial" panose="020B0604020202020204" pitchFamily="34" charset="0"/>
                <a:ea typeface="Microsoft YaHei" panose="020B0503020204020204" pitchFamily="34" charset="-122"/>
                <a:cs typeface="微软雅黑" panose="020B0503020204020204" charset="-122"/>
              </a:rPr>
              <a:t> =</a:t>
            </a:r>
          </a:p>
        </p:txBody>
      </p:sp>
      <p:sp>
        <p:nvSpPr>
          <p:cNvPr id="19" name="development-time-definition"/>
          <p:cNvSpPr>
            <a:spLocks noGrp="1"/>
          </p:cNvSpPr>
          <p:nvPr/>
        </p:nvSpPr>
        <p:spPr>
          <a:xfrm>
            <a:off x="9486899" y="5511800"/>
            <a:ext cx="2324100" cy="482600"/>
          </a:xfrm>
          <a:prstGeom prst="rect">
            <a:avLst/>
          </a:prstGeom>
          <a:noFill/>
          <a:ln w="0">
            <a:noFill/>
            <a:prstDash val="solid"/>
          </a:ln>
          <a:effectLst/>
        </p:spPr>
        <p:txBody>
          <a:bodyPr wrap="square" lIns="0" tIns="0" rIns="0" bIns="0" anchor="t">
            <a:noAutofit/>
          </a:bodyPr>
          <a:lstStyle/>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sz="1050" dirty="0" err="1">
                <a:solidFill>
                  <a:srgbClr val="2F3A45"/>
                </a:solidFill>
                <a:latin typeface="Arial" panose="020B0604020202020204" pitchFamily="34" charset="0"/>
                <a:ea typeface="Microsoft YaHei" panose="020B0503020204020204" pitchFamily="34" charset="-122"/>
                <a:cs typeface="微软雅黑" panose="020B0503020204020204" charset="-122"/>
              </a:rPr>
              <a:t>从需求提交到获得最终可用</a:t>
            </a:r>
            <a:endParaRPr sz="105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sz="1050" dirty="0">
                <a:solidFill>
                  <a:srgbClr val="2F3A45"/>
                </a:solidFill>
                <a:latin typeface="Arial" panose="020B0604020202020204" pitchFamily="34" charset="0"/>
                <a:ea typeface="Microsoft YaHei" panose="020B0503020204020204" pitchFamily="34" charset="-122"/>
                <a:cs typeface="微软雅黑" panose="020B0503020204020204" charset="-122"/>
              </a:rPr>
              <a:t>Kernel </a:t>
            </a:r>
            <a:r>
              <a:rPr sz="1050" dirty="0" err="1">
                <a:solidFill>
                  <a:srgbClr val="2F3A45"/>
                </a:solidFill>
                <a:latin typeface="Arial" panose="020B0604020202020204" pitchFamily="34" charset="0"/>
                <a:ea typeface="Microsoft YaHei" panose="020B0503020204020204" pitchFamily="34" charset="-122"/>
                <a:cs typeface="微软雅黑" panose="020B0503020204020204" charset="-122"/>
              </a:rPr>
              <a:t>的端到端时间</a:t>
            </a:r>
            <a:endParaRPr sz="1050"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graphicFrame>
        <p:nvGraphicFramePr>
          <p:cNvPr id="58" name="operator-measurement-table"/>
          <p:cNvGraphicFramePr/>
          <p:nvPr>
            <p:extLst>
              <p:ext uri="{D42A27DB-BD31-4B8C-83A1-F6EECF244321}">
                <p14:modId xmlns:p14="http://schemas.microsoft.com/office/powerpoint/2010/main" val="3674952224"/>
              </p:ext>
            </p:extLst>
          </p:nvPr>
        </p:nvGraphicFramePr>
        <p:xfrm>
          <a:off x="381000" y="4953000"/>
          <a:ext cx="7620000" cy="1143000"/>
        </p:xfrm>
        <a:graphic>
          <a:graphicData uri="http://schemas.openxmlformats.org/drawingml/2006/table">
            <a:tbl>
              <a:tblPr firstRow="1">
                <a:effectLst/>
              </a:tblPr>
              <a:tblGrid>
                <a:gridCol w="147637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571625">
                  <a:extLst>
                    <a:ext uri="{9D8B030D-6E8A-4147-A177-3AD203B41FA5}">
                      <a16:colId xmlns:a16="http://schemas.microsoft.com/office/drawing/2014/main" val="20004"/>
                    </a:ext>
                  </a:extLst>
                </a:gridCol>
              </a:tblGrid>
              <a:tr h="285750">
                <a:tc>
                  <a:txBody>
                    <a:bodyPr/>
                    <a:lstStyle/>
                    <a:p>
                      <a:pPr algn="ctr">
                        <a:buNone/>
                      </a:pPr>
                      <a:r>
                        <a:rPr sz="1050" b="1">
                          <a:solidFill>
                            <a:srgbClr val="FFFFFF"/>
                          </a:solidFill>
                          <a:latin typeface="Arial" panose="020B0604020202020204" pitchFamily="34" charset="0"/>
                          <a:ea typeface="Microsoft YaHei" panose="020B0503020204020204" pitchFamily="34" charset="-122"/>
                          <a:cs typeface="微软雅黑" panose="020B0503020204020204" charset="-122"/>
                        </a:rPr>
                        <a:t>算子</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lang="zh-CN" altLang="en-US" sz="1050" b="1" dirty="0">
                          <a:solidFill>
                            <a:srgbClr val="FFFFFF"/>
                          </a:solidFill>
                          <a:latin typeface="Arial" panose="020B0604020202020204" pitchFamily="34" charset="0"/>
                          <a:ea typeface="Microsoft YaHei" panose="020B0503020204020204" pitchFamily="34" charset="-122"/>
                          <a:cs typeface="微软雅黑" panose="020B0503020204020204" charset="-122"/>
                        </a:rPr>
                        <a:t>误差</a:t>
                      </a:r>
                      <a:endParaRPr sz="1050" b="1" dirty="0">
                        <a:solidFill>
                          <a:srgbClr val="FFFFFF"/>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050" b="1">
                          <a:solidFill>
                            <a:srgbClr val="FFFFFF"/>
                          </a:solidFill>
                          <a:latin typeface="Arial" panose="020B0604020202020204" pitchFamily="34" charset="0"/>
                          <a:ea typeface="Microsoft YaHei" panose="020B0503020204020204" pitchFamily="34" charset="-122"/>
                          <a:cs typeface="微软雅黑" panose="020B0503020204020204" charset="-122"/>
                        </a:rPr>
                        <a:t>相对基线加速比</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050" b="1">
                          <a:solidFill>
                            <a:srgbClr val="FFFFFF"/>
                          </a:solidFill>
                          <a:latin typeface="Arial" panose="020B0604020202020204" pitchFamily="34" charset="0"/>
                          <a:ea typeface="Microsoft YaHei" panose="020B0503020204020204" pitchFamily="34" charset="-122"/>
                          <a:cs typeface="微软雅黑" panose="020B0503020204020204" charset="-122"/>
                        </a:rPr>
                        <a:t>开发耗时</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lang="zh-CN" altLang="en-US" sz="1050" b="1" dirty="0">
                          <a:solidFill>
                            <a:srgbClr val="FFFFFF"/>
                          </a:solidFill>
                          <a:latin typeface="Arial" panose="020B0604020202020204" pitchFamily="34" charset="0"/>
                          <a:ea typeface="Microsoft YaHei" panose="020B0503020204020204" pitchFamily="34" charset="-122"/>
                          <a:cs typeface="微软雅黑" panose="020B0503020204020204" charset="-122"/>
                        </a:rPr>
                        <a:t>运行时间</a:t>
                      </a:r>
                      <a:endParaRPr sz="1050" b="1" dirty="0">
                        <a:solidFill>
                          <a:srgbClr val="FFFFFF"/>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285750">
                <a:tc>
                  <a:txBody>
                    <a:bodyPr/>
                    <a:lstStyle/>
                    <a:p>
                      <a:pPr algn="ctr">
                        <a:buNone/>
                      </a:pPr>
                      <a:r>
                        <a:rPr sz="1050" b="1">
                          <a:solidFill>
                            <a:srgbClr val="2F3A45"/>
                          </a:solidFill>
                          <a:latin typeface="Arial" panose="020B0604020202020204" pitchFamily="34" charset="0"/>
                          <a:ea typeface="Microsoft YaHei" panose="020B0503020204020204" pitchFamily="34" charset="-122"/>
                          <a:cs typeface="微软雅黑" panose="020B0503020204020204" charset="-122"/>
                        </a:rPr>
                        <a:t>LayerNorm</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1</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e</a:t>
                      </a:r>
                      <a:r>
                        <a:rPr lang="en-US" altLang="zh-CN" sz="1050" b="0" baseline="30000" dirty="0">
                          <a:solidFill>
                            <a:srgbClr val="2F3A45"/>
                          </a:solidFill>
                          <a:latin typeface="Arial" panose="020B0604020202020204" pitchFamily="34" charset="0"/>
                          <a:ea typeface="Microsoft YaHei" panose="020B0503020204020204" pitchFamily="34" charset="-122"/>
                          <a:cs typeface="微软雅黑" panose="020B0503020204020204" charset="-122"/>
                        </a:rPr>
                        <a:t>-6</a:t>
                      </a:r>
                      <a:endParaRPr sz="1050" b="0" baseline="3000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0.86</a:t>
                      </a:r>
                      <a:endParaRPr sz="105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3</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h33m</a:t>
                      </a:r>
                      <a:endParaRPr sz="105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0.175</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05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285750">
                <a:tc>
                  <a:txBody>
                    <a:bodyPr/>
                    <a:lstStyle/>
                    <a:p>
                      <a:pPr algn="ctr">
                        <a:buNone/>
                      </a:pPr>
                      <a:r>
                        <a:rPr sz="1050" b="1">
                          <a:solidFill>
                            <a:srgbClr val="2F3A45"/>
                          </a:solidFill>
                          <a:latin typeface="Arial" panose="020B0604020202020204" pitchFamily="34" charset="0"/>
                          <a:ea typeface="Microsoft YaHei" panose="020B0503020204020204" pitchFamily="34" charset="-122"/>
                          <a:cs typeface="微软雅黑" panose="020B0503020204020204" charset="-122"/>
                        </a:rPr>
                        <a:t>Softmax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050" b="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1</a:t>
                      </a:r>
                      <a:r>
                        <a:rPr lang="en-US" altLang="zh-CN" sz="1050" b="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e</a:t>
                      </a:r>
                      <a:r>
                        <a:rPr lang="en-US" altLang="zh-CN" sz="1050" b="0" baseline="3000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-5</a:t>
                      </a:r>
                      <a:endParaRPr sz="1050" b="0" baseline="3000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050" b="1" dirty="0">
                          <a:solidFill>
                            <a:srgbClr val="4F8A83"/>
                          </a:solidFill>
                          <a:latin typeface="Arial" panose="020B0604020202020204" pitchFamily="34" charset="0"/>
                          <a:ea typeface="Microsoft YaHei" panose="020B0503020204020204" pitchFamily="34" charset="-122"/>
                          <a:cs typeface="微软雅黑" panose="020B0503020204020204" charset="-122"/>
                        </a:rPr>
                        <a:t>1.23</a:t>
                      </a:r>
                      <a:endParaRPr sz="105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2</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h</a:t>
                      </a:r>
                      <a:endParaRPr sz="105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0.086</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05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2"/>
                  </a:ext>
                </a:extLst>
              </a:tr>
              <a:tr h="285750">
                <a:tc>
                  <a:txBody>
                    <a:bodyPr/>
                    <a:lstStyle/>
                    <a:p>
                      <a:pPr algn="ctr">
                        <a:buNone/>
                      </a:pPr>
                      <a:r>
                        <a:rPr sz="1050" b="1">
                          <a:solidFill>
                            <a:srgbClr val="2F3A45"/>
                          </a:solidFill>
                          <a:latin typeface="Arial" panose="020B0604020202020204" pitchFamily="34" charset="0"/>
                          <a:ea typeface="Microsoft YaHei" panose="020B0503020204020204" pitchFamily="34" charset="-122"/>
                          <a:cs typeface="微软雅黑" panose="020B0503020204020204" charset="-122"/>
                        </a:rPr>
                        <a:t>MatMul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050" b="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1</a:t>
                      </a:r>
                      <a:r>
                        <a:rPr lang="en-US" altLang="zh-CN" sz="1050" b="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e</a:t>
                      </a:r>
                      <a:r>
                        <a:rPr lang="en-US" altLang="zh-CN" sz="1050" b="0" baseline="3000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-5</a:t>
                      </a:r>
                      <a:endParaRPr sz="1050" b="0" baseline="3000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1" dirty="0">
                          <a:solidFill>
                            <a:srgbClr val="C77C59"/>
                          </a:solidFill>
                          <a:latin typeface="Arial" panose="020B0604020202020204" pitchFamily="34" charset="0"/>
                          <a:ea typeface="Microsoft YaHei" panose="020B0503020204020204" pitchFamily="34" charset="-122"/>
                          <a:cs typeface="微软雅黑" panose="020B0503020204020204" charset="-122"/>
                        </a:rPr>
                        <a:t>0.45</a:t>
                      </a:r>
                      <a:endParaRPr sz="105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2</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h55m</a:t>
                      </a:r>
                      <a:endParaRPr sz="105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11.84</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05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a:solidFill>
                  <a:srgbClr val="66737F"/>
                </a:solidFill>
                <a:latin typeface="Arial" panose="020B0604020202020204" pitchFamily="34" charset="0"/>
                <a:ea typeface="Microsoft YaHei" panose="020B0503020204020204" pitchFamily="34" charset="-122"/>
                <a:cs typeface="微软雅黑" panose="020B0503020204020204" charset="-122"/>
              </a:rPr>
              <a:t>5</a:t>
            </a:r>
          </a:p>
        </p:txBody>
      </p:sp>
      <p:sp>
        <p:nvSpPr>
          <p:cNvPr id="8" name="s8-primary-chain">
            <a:extLst>
              <a:ext uri="{FF2B5EF4-FFF2-40B4-BE49-F238E27FC236}">
                <a16:creationId xmlns:a16="http://schemas.microsoft.com/office/drawing/2014/main" id="{2472CF93-B2BB-ED2A-DC11-353D1A4A9371}"/>
              </a:ext>
            </a:extLst>
          </p:cNvPr>
          <p:cNvSpPr txBox="1"/>
          <p:nvPr/>
        </p:nvSpPr>
        <p:spPr>
          <a:xfrm>
            <a:off x="2921000" y="838200"/>
            <a:ext cx="6350000" cy="369332"/>
          </a:xfrm>
          <a:prstGeom prst="rect">
            <a:avLst/>
          </a:prstGeom>
          <a:noFill/>
        </p:spPr>
        <p:txBody>
          <a:bodyPr vert="horz" wrap="square" lIns="0" tIns="0" rIns="0" bIns="0" rtlCol="0" anchor="t">
            <a:noAutofit/>
          </a:bodyPr>
          <a:lstStyle/>
          <a:p>
            <a:pPr algn="ctr"/>
            <a:r>
              <a:rPr lang="zh-CN" altLang="en-US" sz="1700" b="1">
                <a:solidFill>
                  <a:srgbClr val="294A6D"/>
                </a:solidFill>
                <a:latin typeface="Arial" panose="020B0604020202020204" pitchFamily="34" charset="0"/>
                <a:ea typeface="Microsoft YaHei" panose="020B0503020204020204" pitchFamily="34" charset="-122"/>
              </a:rPr>
              <a:t>需求  →  生成  →  验证  →  优化  →  交付</a:t>
            </a:r>
          </a:p>
        </p:txBody>
      </p:sp>
      <p:sp>
        <p:nvSpPr>
          <p:cNvPr id="9" name="s8-stage-number-1">
            <a:extLst>
              <a:ext uri="{FF2B5EF4-FFF2-40B4-BE49-F238E27FC236}">
                <a16:creationId xmlns:a16="http://schemas.microsoft.com/office/drawing/2014/main" id="{DB6CB4A0-3902-2971-7F19-4D4155DB57E4}"/>
              </a:ext>
            </a:extLst>
          </p:cNvPr>
          <p:cNvSpPr txBox="1"/>
          <p:nvPr/>
        </p:nvSpPr>
        <p:spPr>
          <a:xfrm>
            <a:off x="508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Microsoft YaHei" panose="020B0503020204020204" pitchFamily="34" charset="-122"/>
              </a:rPr>
              <a:t>01.</a:t>
            </a:r>
            <a:endParaRPr lang="zh-CN" altLang="en-US" sz="1250" b="1">
              <a:solidFill>
                <a:srgbClr val="294A6D"/>
              </a:solidFill>
              <a:latin typeface="Arial" panose="020B0604020202020204" pitchFamily="34" charset="0"/>
              <a:ea typeface="Microsoft YaHei" panose="020B0503020204020204" pitchFamily="34" charset="-122"/>
            </a:endParaRPr>
          </a:p>
        </p:txBody>
      </p:sp>
      <p:sp>
        <p:nvSpPr>
          <p:cNvPr id="10" name="s8-stage-name-1">
            <a:extLst>
              <a:ext uri="{FF2B5EF4-FFF2-40B4-BE49-F238E27FC236}">
                <a16:creationId xmlns:a16="http://schemas.microsoft.com/office/drawing/2014/main" id="{68B06170-0BAF-5EBC-EC01-FD53A83072A8}"/>
              </a:ext>
            </a:extLst>
          </p:cNvPr>
          <p:cNvSpPr txBox="1"/>
          <p:nvPr/>
        </p:nvSpPr>
        <p:spPr>
          <a:xfrm>
            <a:off x="508000" y="1739900"/>
            <a:ext cx="1651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用户输入</a:t>
            </a:r>
          </a:p>
        </p:txBody>
      </p:sp>
      <p:sp>
        <p:nvSpPr>
          <p:cNvPr id="11" name="s8-stage-action-label-1">
            <a:extLst>
              <a:ext uri="{FF2B5EF4-FFF2-40B4-BE49-F238E27FC236}">
                <a16:creationId xmlns:a16="http://schemas.microsoft.com/office/drawing/2014/main" id="{6366F946-6066-75D4-CA61-B9D13A7AB929}"/>
              </a:ext>
            </a:extLst>
          </p:cNvPr>
          <p:cNvSpPr txBox="1"/>
          <p:nvPr/>
        </p:nvSpPr>
        <p:spPr>
          <a:xfrm>
            <a:off x="508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核心动作</a:t>
            </a:r>
          </a:p>
        </p:txBody>
      </p:sp>
      <p:sp>
        <p:nvSpPr>
          <p:cNvPr id="13" name="s8-stage-action-1">
            <a:extLst>
              <a:ext uri="{FF2B5EF4-FFF2-40B4-BE49-F238E27FC236}">
                <a16:creationId xmlns:a16="http://schemas.microsoft.com/office/drawing/2014/main" id="{C0D234DE-B794-1F32-F024-DF368731265C}"/>
              </a:ext>
            </a:extLst>
          </p:cNvPr>
          <p:cNvSpPr txBox="1"/>
          <p:nvPr/>
        </p:nvSpPr>
        <p:spPr>
          <a:xfrm>
            <a:off x="508000" y="2743200"/>
            <a:ext cx="1651000" cy="923330"/>
          </a:xfrm>
          <a:prstGeom prst="rect">
            <a:avLst/>
          </a:prstGeom>
          <a:noFill/>
        </p:spPr>
        <p:txBody>
          <a:bodyPr vert="horz" wrap="square" lIns="0" tIns="0" rIns="0" bIns="0" rtlCol="0" anchor="t">
            <a:noAutofit/>
          </a:bodyPr>
          <a:lstStyle/>
          <a:p>
            <a:r>
              <a:rPr lang="zh-CN" altLang="en-US" sz="1220">
                <a:solidFill>
                  <a:srgbClr val="2F3A45"/>
                </a:solidFill>
                <a:latin typeface="Arial" panose="020B0604020202020204" pitchFamily="34" charset="0"/>
                <a:ea typeface="Microsoft YaHei" panose="020B0503020204020204" pitchFamily="34" charset="-122"/>
              </a:rPr>
              <a:t>读取需求 </a:t>
            </a:r>
            <a:r>
              <a:rPr lang="en-US" altLang="zh-CN" sz="1220">
                <a:solidFill>
                  <a:srgbClr val="2F3A45"/>
                </a:solidFill>
                <a:latin typeface="Arial" panose="020B0604020202020204" pitchFamily="34" charset="0"/>
                <a:ea typeface="Microsoft YaHei" panose="020B0503020204020204" pitchFamily="34" charset="-122"/>
              </a:rPr>
              <a:t>/</a:t>
            </a:r>
          </a:p>
          <a:p>
            <a:r>
              <a:rPr lang="en-US" altLang="zh-CN" sz="1220">
                <a:solidFill>
                  <a:srgbClr val="2F3A45"/>
                </a:solidFill>
                <a:latin typeface="Arial" panose="020B0604020202020204" pitchFamily="34" charset="0"/>
                <a:ea typeface="Microsoft YaHei" panose="020B0503020204020204" pitchFamily="34" charset="-122"/>
              </a:rPr>
              <a:t>PyTorch Reference</a:t>
            </a:r>
            <a:endParaRPr lang="zh-CN" altLang="en-US" sz="1220">
              <a:solidFill>
                <a:srgbClr val="2F3A45"/>
              </a:solidFill>
              <a:latin typeface="Arial" panose="020B0604020202020204" pitchFamily="34" charset="0"/>
              <a:ea typeface="Microsoft YaHei" panose="020B0503020204020204" pitchFamily="34" charset="-122"/>
            </a:endParaRPr>
          </a:p>
        </p:txBody>
      </p:sp>
      <p:sp>
        <p:nvSpPr>
          <p:cNvPr id="20" name="s8-stage-output-label-1">
            <a:extLst>
              <a:ext uri="{FF2B5EF4-FFF2-40B4-BE49-F238E27FC236}">
                <a16:creationId xmlns:a16="http://schemas.microsoft.com/office/drawing/2014/main" id="{D8BDD895-A184-25BC-A95F-84BEE2823B03}"/>
              </a:ext>
            </a:extLst>
          </p:cNvPr>
          <p:cNvSpPr txBox="1"/>
          <p:nvPr/>
        </p:nvSpPr>
        <p:spPr>
          <a:xfrm>
            <a:off x="508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主要输出</a:t>
            </a:r>
          </a:p>
        </p:txBody>
      </p:sp>
      <p:sp>
        <p:nvSpPr>
          <p:cNvPr id="22" name="s8-stage-output-1">
            <a:extLst>
              <a:ext uri="{FF2B5EF4-FFF2-40B4-BE49-F238E27FC236}">
                <a16:creationId xmlns:a16="http://schemas.microsoft.com/office/drawing/2014/main" id="{E21DED5D-FA46-C46F-8AAA-F783461EED98}"/>
              </a:ext>
            </a:extLst>
          </p:cNvPr>
          <p:cNvSpPr txBox="1"/>
          <p:nvPr/>
        </p:nvSpPr>
        <p:spPr>
          <a:xfrm>
            <a:off x="508000" y="3860800"/>
            <a:ext cx="1651000" cy="369332"/>
          </a:xfrm>
          <a:prstGeom prst="rect">
            <a:avLst/>
          </a:prstGeom>
          <a:noFill/>
        </p:spPr>
        <p:txBody>
          <a:bodyPr vert="horz" wrap="square" lIns="0" tIns="0" rIns="0" bIns="0" rtlCol="0" anchor="t">
            <a:noAutofit/>
          </a:bodyPr>
          <a:lstStyle/>
          <a:p>
            <a:r>
              <a:rPr lang="zh-CN" altLang="en-US" sz="1140" b="1">
                <a:solidFill>
                  <a:srgbClr val="294A6D"/>
                </a:solidFill>
                <a:latin typeface="Arial" panose="020B0604020202020204" pitchFamily="34" charset="0"/>
                <a:ea typeface="Microsoft YaHei" panose="020B0503020204020204" pitchFamily="34" charset="-122"/>
              </a:rPr>
              <a:t>算子需求</a:t>
            </a:r>
          </a:p>
        </p:txBody>
      </p:sp>
      <p:cxnSp>
        <p:nvCxnSpPr>
          <p:cNvPr id="23" name="s8-stage-divider-2">
            <a:extLst>
              <a:ext uri="{FF2B5EF4-FFF2-40B4-BE49-F238E27FC236}">
                <a16:creationId xmlns:a16="http://schemas.microsoft.com/office/drawing/2014/main" id="{B9B87D88-D91C-6AFA-3B0F-122C13B998AA}"/>
              </a:ext>
            </a:extLst>
          </p:cNvPr>
          <p:cNvCxnSpPr/>
          <p:nvPr/>
        </p:nvCxnSpPr>
        <p:spPr>
          <a:xfrm>
            <a:off x="2286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4" name="s8-stage-number-2">
            <a:extLst>
              <a:ext uri="{FF2B5EF4-FFF2-40B4-BE49-F238E27FC236}">
                <a16:creationId xmlns:a16="http://schemas.microsoft.com/office/drawing/2014/main" id="{021141E6-55CB-E667-A1C6-713A1E63E1C8}"/>
              </a:ext>
            </a:extLst>
          </p:cNvPr>
          <p:cNvSpPr txBox="1"/>
          <p:nvPr/>
        </p:nvSpPr>
        <p:spPr>
          <a:xfrm>
            <a:off x="2413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Microsoft YaHei" panose="020B0503020204020204" pitchFamily="34" charset="-122"/>
              </a:rPr>
              <a:t>02.</a:t>
            </a:r>
            <a:endParaRPr lang="zh-CN" altLang="en-US" sz="1250" b="1">
              <a:solidFill>
                <a:srgbClr val="294A6D"/>
              </a:solidFill>
              <a:latin typeface="Arial" panose="020B0604020202020204" pitchFamily="34" charset="0"/>
              <a:ea typeface="Microsoft YaHei" panose="020B0503020204020204" pitchFamily="34" charset="-122"/>
            </a:endParaRPr>
          </a:p>
        </p:txBody>
      </p:sp>
      <p:sp>
        <p:nvSpPr>
          <p:cNvPr id="25" name="s8-stage-name-2">
            <a:extLst>
              <a:ext uri="{FF2B5EF4-FFF2-40B4-BE49-F238E27FC236}">
                <a16:creationId xmlns:a16="http://schemas.microsoft.com/office/drawing/2014/main" id="{4731DC6C-9E2E-BA74-ECB5-718F29941364}"/>
              </a:ext>
            </a:extLst>
          </p:cNvPr>
          <p:cNvSpPr txBox="1"/>
          <p:nvPr/>
        </p:nvSpPr>
        <p:spPr>
          <a:xfrm>
            <a:off x="2413000" y="1739900"/>
            <a:ext cx="1651000" cy="646331"/>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环境与需求准备</a:t>
            </a:r>
          </a:p>
        </p:txBody>
      </p:sp>
      <p:sp>
        <p:nvSpPr>
          <p:cNvPr id="26" name="s8-stage-action-label-2">
            <a:extLst>
              <a:ext uri="{FF2B5EF4-FFF2-40B4-BE49-F238E27FC236}">
                <a16:creationId xmlns:a16="http://schemas.microsoft.com/office/drawing/2014/main" id="{6BD459C8-F10A-BDBB-1D99-A55EBA60301E}"/>
              </a:ext>
            </a:extLst>
          </p:cNvPr>
          <p:cNvSpPr txBox="1"/>
          <p:nvPr/>
        </p:nvSpPr>
        <p:spPr>
          <a:xfrm>
            <a:off x="2413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核心动作</a:t>
            </a:r>
          </a:p>
        </p:txBody>
      </p:sp>
      <p:sp>
        <p:nvSpPr>
          <p:cNvPr id="27" name="s8-stage-action-2">
            <a:extLst>
              <a:ext uri="{FF2B5EF4-FFF2-40B4-BE49-F238E27FC236}">
                <a16:creationId xmlns:a16="http://schemas.microsoft.com/office/drawing/2014/main" id="{44BEE9B7-827B-68EB-9A2D-6926EF89D50E}"/>
              </a:ext>
            </a:extLst>
          </p:cNvPr>
          <p:cNvSpPr txBox="1"/>
          <p:nvPr/>
        </p:nvSpPr>
        <p:spPr>
          <a:xfrm>
            <a:off x="2413000" y="2743200"/>
            <a:ext cx="1651000" cy="646331"/>
          </a:xfrm>
          <a:prstGeom prst="rect">
            <a:avLst/>
          </a:prstGeom>
          <a:noFill/>
        </p:spPr>
        <p:txBody>
          <a:bodyPr vert="horz" wrap="square" lIns="0" tIns="0" rIns="0" bIns="0" rtlCol="0" anchor="t">
            <a:noAutofit/>
          </a:bodyPr>
          <a:lstStyle/>
          <a:p>
            <a:r>
              <a:rPr lang="zh-CN" altLang="en-US" sz="1220">
                <a:solidFill>
                  <a:srgbClr val="2F3A45"/>
                </a:solidFill>
                <a:latin typeface="Arial" panose="020B0604020202020204" pitchFamily="34" charset="0"/>
                <a:ea typeface="Microsoft YaHei" panose="020B0503020204020204" pitchFamily="34" charset="-122"/>
              </a:rPr>
              <a:t>环境检查 </a:t>
            </a:r>
            <a:r>
              <a:rPr lang="en-US" altLang="zh-CN" sz="1220">
                <a:solidFill>
                  <a:srgbClr val="2F3A45"/>
                </a:solidFill>
                <a:latin typeface="Arial" panose="020B0604020202020204" pitchFamily="34" charset="0"/>
                <a:ea typeface="Microsoft YaHei" panose="020B0503020204020204" pitchFamily="34" charset="-122"/>
              </a:rPr>
              <a:t>+</a:t>
            </a:r>
          </a:p>
          <a:p>
            <a:r>
              <a:rPr lang="zh-CN" altLang="en-US" sz="1220">
                <a:solidFill>
                  <a:srgbClr val="2F3A45"/>
                </a:solidFill>
                <a:latin typeface="Arial" panose="020B0604020202020204" pitchFamily="34" charset="0"/>
                <a:ea typeface="Microsoft YaHei" panose="020B0503020204020204" pitchFamily="34" charset="-122"/>
              </a:rPr>
              <a:t>需求结构化</a:t>
            </a:r>
          </a:p>
        </p:txBody>
      </p:sp>
      <p:sp>
        <p:nvSpPr>
          <p:cNvPr id="28" name="s8-stage-output-label-2">
            <a:extLst>
              <a:ext uri="{FF2B5EF4-FFF2-40B4-BE49-F238E27FC236}">
                <a16:creationId xmlns:a16="http://schemas.microsoft.com/office/drawing/2014/main" id="{F90FD1AD-6F42-6AD1-3CFC-5198D17A590E}"/>
              </a:ext>
            </a:extLst>
          </p:cNvPr>
          <p:cNvSpPr txBox="1"/>
          <p:nvPr/>
        </p:nvSpPr>
        <p:spPr>
          <a:xfrm>
            <a:off x="2413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主要输出</a:t>
            </a:r>
          </a:p>
        </p:txBody>
      </p:sp>
      <p:sp>
        <p:nvSpPr>
          <p:cNvPr id="29" name="s8-stage-output-2">
            <a:extLst>
              <a:ext uri="{FF2B5EF4-FFF2-40B4-BE49-F238E27FC236}">
                <a16:creationId xmlns:a16="http://schemas.microsoft.com/office/drawing/2014/main" id="{BEBA7430-4323-DC2A-C8FB-749ED3AF0D09}"/>
              </a:ext>
            </a:extLst>
          </p:cNvPr>
          <p:cNvSpPr txBox="1"/>
          <p:nvPr/>
        </p:nvSpPr>
        <p:spPr>
          <a:xfrm>
            <a:off x="2413000" y="3860800"/>
            <a:ext cx="1651000" cy="646331"/>
          </a:xfrm>
          <a:prstGeom prst="rect">
            <a:avLst/>
          </a:prstGeom>
          <a:noFill/>
        </p:spPr>
        <p:txBody>
          <a:bodyPr vert="horz" wrap="square" lIns="0" tIns="0" rIns="0" bIns="0" rtlCol="0" anchor="t">
            <a:noAutofit/>
          </a:bodyPr>
          <a:lstStyle/>
          <a:p>
            <a:r>
              <a:rPr lang="en-US" altLang="zh-CN" sz="1140" b="1">
                <a:solidFill>
                  <a:srgbClr val="294A6D"/>
                </a:solidFill>
                <a:latin typeface="Arial" panose="020B0604020202020204" pitchFamily="34" charset="0"/>
                <a:ea typeface="Microsoft YaHei" panose="020B0503020204020204" pitchFamily="34" charset="-122"/>
              </a:rPr>
              <a:t>config / requirement</a:t>
            </a:r>
            <a:endParaRPr lang="zh-CN" altLang="en-US" sz="1140" b="1">
              <a:solidFill>
                <a:srgbClr val="294A6D"/>
              </a:solidFill>
              <a:latin typeface="Arial" panose="020B0604020202020204" pitchFamily="34" charset="0"/>
              <a:ea typeface="Microsoft YaHei" panose="020B0503020204020204" pitchFamily="34" charset="-122"/>
            </a:endParaRPr>
          </a:p>
        </p:txBody>
      </p:sp>
      <p:cxnSp>
        <p:nvCxnSpPr>
          <p:cNvPr id="30" name="s8-stage-divider-3">
            <a:extLst>
              <a:ext uri="{FF2B5EF4-FFF2-40B4-BE49-F238E27FC236}">
                <a16:creationId xmlns:a16="http://schemas.microsoft.com/office/drawing/2014/main" id="{142DDE08-B029-BBAD-5550-3A0178B35D3D}"/>
              </a:ext>
            </a:extLst>
          </p:cNvPr>
          <p:cNvCxnSpPr/>
          <p:nvPr/>
        </p:nvCxnSpPr>
        <p:spPr>
          <a:xfrm>
            <a:off x="4191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 name="s8-stage-number-3">
            <a:extLst>
              <a:ext uri="{FF2B5EF4-FFF2-40B4-BE49-F238E27FC236}">
                <a16:creationId xmlns:a16="http://schemas.microsoft.com/office/drawing/2014/main" id="{308BCCE2-947F-E412-09D8-64AA669BD813}"/>
              </a:ext>
            </a:extLst>
          </p:cNvPr>
          <p:cNvSpPr txBox="1"/>
          <p:nvPr/>
        </p:nvSpPr>
        <p:spPr>
          <a:xfrm>
            <a:off x="4318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Microsoft YaHei" panose="020B0503020204020204" pitchFamily="34" charset="-122"/>
              </a:rPr>
              <a:t>03.</a:t>
            </a:r>
            <a:endParaRPr lang="zh-CN" altLang="en-US" sz="1250" b="1">
              <a:solidFill>
                <a:srgbClr val="294A6D"/>
              </a:solidFill>
              <a:latin typeface="Arial" panose="020B0604020202020204" pitchFamily="34" charset="0"/>
              <a:ea typeface="Microsoft YaHei" panose="020B0503020204020204" pitchFamily="34" charset="-122"/>
            </a:endParaRPr>
          </a:p>
        </p:txBody>
      </p:sp>
      <p:sp>
        <p:nvSpPr>
          <p:cNvPr id="32" name="s8-stage-name-3">
            <a:extLst>
              <a:ext uri="{FF2B5EF4-FFF2-40B4-BE49-F238E27FC236}">
                <a16:creationId xmlns:a16="http://schemas.microsoft.com/office/drawing/2014/main" id="{A6C5645C-CF0D-FB0D-DDAC-0B3592DA33FE}"/>
              </a:ext>
            </a:extLst>
          </p:cNvPr>
          <p:cNvSpPr txBox="1"/>
          <p:nvPr/>
        </p:nvSpPr>
        <p:spPr>
          <a:xfrm>
            <a:off x="4318000" y="1739900"/>
            <a:ext cx="1651000" cy="646331"/>
          </a:xfrm>
          <a:prstGeom prst="rect">
            <a:avLst/>
          </a:prstGeom>
          <a:noFill/>
        </p:spPr>
        <p:txBody>
          <a:bodyPr vert="horz" wrap="square" lIns="0" tIns="0" rIns="0" bIns="0" rtlCol="0" anchor="t">
            <a:noAutofit/>
          </a:bodyPr>
          <a:lstStyle/>
          <a:p>
            <a:r>
              <a:rPr lang="en-US" altLang="zh-CN" sz="1500" b="1">
                <a:solidFill>
                  <a:srgbClr val="243B53"/>
                </a:solidFill>
                <a:latin typeface="Arial" panose="020B0604020202020204" pitchFamily="34" charset="0"/>
                <a:ea typeface="Microsoft YaHei" panose="020B0503020204020204" pitchFamily="34" charset="-122"/>
              </a:rPr>
              <a:t>Kernel </a:t>
            </a:r>
            <a:r>
              <a:rPr lang="zh-CN" altLang="en-US" sz="1500" b="1">
                <a:solidFill>
                  <a:srgbClr val="243B53"/>
                </a:solidFill>
                <a:latin typeface="Arial" panose="020B0604020202020204" pitchFamily="34" charset="0"/>
                <a:ea typeface="Microsoft YaHei" panose="020B0503020204020204" pitchFamily="34" charset="-122"/>
              </a:rPr>
              <a:t>与测试生成</a:t>
            </a:r>
          </a:p>
        </p:txBody>
      </p:sp>
      <p:sp>
        <p:nvSpPr>
          <p:cNvPr id="33" name="s8-stage-action-label-3">
            <a:extLst>
              <a:ext uri="{FF2B5EF4-FFF2-40B4-BE49-F238E27FC236}">
                <a16:creationId xmlns:a16="http://schemas.microsoft.com/office/drawing/2014/main" id="{6B064114-3E38-8D2F-F12C-BAE17BB31A44}"/>
              </a:ext>
            </a:extLst>
          </p:cNvPr>
          <p:cNvSpPr txBox="1"/>
          <p:nvPr/>
        </p:nvSpPr>
        <p:spPr>
          <a:xfrm>
            <a:off x="4318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核心动作</a:t>
            </a:r>
          </a:p>
        </p:txBody>
      </p:sp>
      <p:sp>
        <p:nvSpPr>
          <p:cNvPr id="34" name="s8-stage-action-3">
            <a:extLst>
              <a:ext uri="{FF2B5EF4-FFF2-40B4-BE49-F238E27FC236}">
                <a16:creationId xmlns:a16="http://schemas.microsoft.com/office/drawing/2014/main" id="{8D88E7B5-890C-068F-BABC-E374767EE00A}"/>
              </a:ext>
            </a:extLst>
          </p:cNvPr>
          <p:cNvSpPr txBox="1"/>
          <p:nvPr/>
        </p:nvSpPr>
        <p:spPr>
          <a:xfrm>
            <a:off x="4318000" y="2743200"/>
            <a:ext cx="1651000" cy="646331"/>
          </a:xfrm>
          <a:prstGeom prst="rect">
            <a:avLst/>
          </a:prstGeom>
          <a:noFill/>
        </p:spPr>
        <p:txBody>
          <a:bodyPr vert="horz" wrap="square" lIns="0" tIns="0" rIns="0" bIns="0" rtlCol="0" anchor="t">
            <a:noAutofit/>
          </a:bodyPr>
          <a:lstStyle/>
          <a:p>
            <a:r>
              <a:rPr lang="en-US" altLang="zh-CN" sz="1220">
                <a:solidFill>
                  <a:srgbClr val="2F3A45"/>
                </a:solidFill>
                <a:latin typeface="Arial" panose="020B0604020202020204" pitchFamily="34" charset="0"/>
                <a:ea typeface="Microsoft YaHei" panose="020B0503020204020204" pitchFamily="34" charset="-122"/>
              </a:rPr>
              <a:t>Kernel </a:t>
            </a:r>
            <a:r>
              <a:rPr lang="zh-CN" altLang="en-US" sz="1220">
                <a:solidFill>
                  <a:srgbClr val="2F3A45"/>
                </a:solidFill>
                <a:latin typeface="Arial" panose="020B0604020202020204" pitchFamily="34" charset="0"/>
                <a:ea typeface="Microsoft YaHei" panose="020B0503020204020204" pitchFamily="34" charset="-122"/>
              </a:rPr>
              <a:t>设计与</a:t>
            </a:r>
          </a:p>
          <a:p>
            <a:r>
              <a:rPr lang="zh-CN" altLang="en-US" sz="1220">
                <a:solidFill>
                  <a:srgbClr val="2F3A45"/>
                </a:solidFill>
                <a:latin typeface="Arial" panose="020B0604020202020204" pitchFamily="34" charset="0"/>
                <a:ea typeface="Microsoft YaHei" panose="020B0503020204020204" pitchFamily="34" charset="-122"/>
              </a:rPr>
              <a:t>代码生成</a:t>
            </a:r>
          </a:p>
        </p:txBody>
      </p:sp>
      <p:sp>
        <p:nvSpPr>
          <p:cNvPr id="35" name="s8-stage-output-label-3">
            <a:extLst>
              <a:ext uri="{FF2B5EF4-FFF2-40B4-BE49-F238E27FC236}">
                <a16:creationId xmlns:a16="http://schemas.microsoft.com/office/drawing/2014/main" id="{B245A11F-80C1-03C0-4A74-2853EAEE5120}"/>
              </a:ext>
            </a:extLst>
          </p:cNvPr>
          <p:cNvSpPr txBox="1"/>
          <p:nvPr/>
        </p:nvSpPr>
        <p:spPr>
          <a:xfrm>
            <a:off x="4318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主要输出</a:t>
            </a:r>
          </a:p>
        </p:txBody>
      </p:sp>
      <p:sp>
        <p:nvSpPr>
          <p:cNvPr id="36" name="s8-stage-output-3">
            <a:extLst>
              <a:ext uri="{FF2B5EF4-FFF2-40B4-BE49-F238E27FC236}">
                <a16:creationId xmlns:a16="http://schemas.microsoft.com/office/drawing/2014/main" id="{FDB4FFD7-50D7-6820-D792-0A24EB7FA7AB}"/>
              </a:ext>
            </a:extLst>
          </p:cNvPr>
          <p:cNvSpPr txBox="1"/>
          <p:nvPr/>
        </p:nvSpPr>
        <p:spPr>
          <a:xfrm>
            <a:off x="4318000" y="3860800"/>
            <a:ext cx="1651000" cy="369332"/>
          </a:xfrm>
          <a:prstGeom prst="rect">
            <a:avLst/>
          </a:prstGeom>
          <a:noFill/>
        </p:spPr>
        <p:txBody>
          <a:bodyPr vert="horz" wrap="square" lIns="0" tIns="0" rIns="0" bIns="0" rtlCol="0" anchor="t">
            <a:noAutofit/>
          </a:bodyPr>
          <a:lstStyle/>
          <a:p>
            <a:r>
              <a:rPr lang="en-US" altLang="zh-CN" sz="1140" b="1">
                <a:solidFill>
                  <a:srgbClr val="294A6D"/>
                </a:solidFill>
                <a:latin typeface="Arial" panose="020B0604020202020204" pitchFamily="34" charset="0"/>
                <a:ea typeface="Microsoft YaHei" panose="020B0503020204020204" pitchFamily="34" charset="-122"/>
              </a:rPr>
              <a:t>Kernel + Test</a:t>
            </a:r>
            <a:endParaRPr lang="zh-CN" altLang="en-US" sz="1140" b="1">
              <a:solidFill>
                <a:srgbClr val="294A6D"/>
              </a:solidFill>
              <a:latin typeface="Arial" panose="020B0604020202020204" pitchFamily="34" charset="0"/>
              <a:ea typeface="Microsoft YaHei" panose="020B0503020204020204" pitchFamily="34" charset="-122"/>
            </a:endParaRPr>
          </a:p>
        </p:txBody>
      </p:sp>
      <p:cxnSp>
        <p:nvCxnSpPr>
          <p:cNvPr id="37" name="s8-stage-divider-4">
            <a:extLst>
              <a:ext uri="{FF2B5EF4-FFF2-40B4-BE49-F238E27FC236}">
                <a16:creationId xmlns:a16="http://schemas.microsoft.com/office/drawing/2014/main" id="{4A1429E2-335B-48F4-AEBE-BCB94D5CA364}"/>
              </a:ext>
            </a:extLst>
          </p:cNvPr>
          <p:cNvCxnSpPr/>
          <p:nvPr/>
        </p:nvCxnSpPr>
        <p:spPr>
          <a:xfrm>
            <a:off x="6096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8" name="s8-stage-number-4">
            <a:extLst>
              <a:ext uri="{FF2B5EF4-FFF2-40B4-BE49-F238E27FC236}">
                <a16:creationId xmlns:a16="http://schemas.microsoft.com/office/drawing/2014/main" id="{BFDC7F92-78AC-9582-363C-40501612D452}"/>
              </a:ext>
            </a:extLst>
          </p:cNvPr>
          <p:cNvSpPr txBox="1"/>
          <p:nvPr/>
        </p:nvSpPr>
        <p:spPr>
          <a:xfrm>
            <a:off x="6223000" y="1384300"/>
            <a:ext cx="1587500" cy="369332"/>
          </a:xfrm>
          <a:prstGeom prst="rect">
            <a:avLst/>
          </a:prstGeom>
          <a:noFill/>
        </p:spPr>
        <p:txBody>
          <a:bodyPr vert="horz" wrap="square" lIns="0" tIns="0" rIns="0" bIns="0" rtlCol="0" anchor="t">
            <a:noAutofit/>
          </a:bodyPr>
          <a:lstStyle/>
          <a:p>
            <a:r>
              <a:rPr lang="en-US" altLang="zh-CN" sz="1250" b="1">
                <a:solidFill>
                  <a:srgbClr val="4F8A83"/>
                </a:solidFill>
                <a:latin typeface="Arial" panose="020B0604020202020204" pitchFamily="34" charset="0"/>
                <a:ea typeface="Microsoft YaHei" panose="020B0503020204020204" pitchFamily="34" charset="-122"/>
              </a:rPr>
              <a:t>04.</a:t>
            </a:r>
            <a:endParaRPr lang="zh-CN" altLang="en-US" sz="1250" b="1">
              <a:solidFill>
                <a:srgbClr val="4F8A83"/>
              </a:solidFill>
              <a:latin typeface="Arial" panose="020B0604020202020204" pitchFamily="34" charset="0"/>
              <a:ea typeface="Microsoft YaHei" panose="020B0503020204020204" pitchFamily="34" charset="-122"/>
            </a:endParaRPr>
          </a:p>
        </p:txBody>
      </p:sp>
      <p:sp>
        <p:nvSpPr>
          <p:cNvPr id="44" name="s8-stage-name-4">
            <a:extLst>
              <a:ext uri="{FF2B5EF4-FFF2-40B4-BE49-F238E27FC236}">
                <a16:creationId xmlns:a16="http://schemas.microsoft.com/office/drawing/2014/main" id="{86CE3A3B-5F2C-4925-F01F-B86BDB2BD7A0}"/>
              </a:ext>
            </a:extLst>
          </p:cNvPr>
          <p:cNvSpPr txBox="1"/>
          <p:nvPr/>
        </p:nvSpPr>
        <p:spPr>
          <a:xfrm>
            <a:off x="6223000" y="1739900"/>
            <a:ext cx="1651000" cy="646331"/>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正确性验证与修复</a:t>
            </a:r>
          </a:p>
        </p:txBody>
      </p:sp>
      <p:sp>
        <p:nvSpPr>
          <p:cNvPr id="46" name="s8-stage-action-label-4">
            <a:extLst>
              <a:ext uri="{FF2B5EF4-FFF2-40B4-BE49-F238E27FC236}">
                <a16:creationId xmlns:a16="http://schemas.microsoft.com/office/drawing/2014/main" id="{8901ADB6-4445-E901-89B2-FF9F1953B4D5}"/>
              </a:ext>
            </a:extLst>
          </p:cNvPr>
          <p:cNvSpPr txBox="1"/>
          <p:nvPr/>
        </p:nvSpPr>
        <p:spPr>
          <a:xfrm>
            <a:off x="6223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核心动作</a:t>
            </a:r>
          </a:p>
        </p:txBody>
      </p:sp>
      <p:sp>
        <p:nvSpPr>
          <p:cNvPr id="50" name="s8-stage-action-4">
            <a:extLst>
              <a:ext uri="{FF2B5EF4-FFF2-40B4-BE49-F238E27FC236}">
                <a16:creationId xmlns:a16="http://schemas.microsoft.com/office/drawing/2014/main" id="{6F76231C-7680-BB26-1C4D-EEA1728D7D26}"/>
              </a:ext>
            </a:extLst>
          </p:cNvPr>
          <p:cNvSpPr txBox="1"/>
          <p:nvPr/>
        </p:nvSpPr>
        <p:spPr>
          <a:xfrm>
            <a:off x="6223000" y="2743200"/>
            <a:ext cx="1651000" cy="646331"/>
          </a:xfrm>
          <a:prstGeom prst="rect">
            <a:avLst/>
          </a:prstGeom>
          <a:noFill/>
        </p:spPr>
        <p:txBody>
          <a:bodyPr vert="horz" wrap="square" lIns="0" tIns="0" rIns="0" bIns="0" rtlCol="0" anchor="t">
            <a:noAutofit/>
          </a:bodyPr>
          <a:lstStyle/>
          <a:p>
            <a:r>
              <a:rPr lang="zh-CN" altLang="en-US" sz="1220">
                <a:solidFill>
                  <a:srgbClr val="2F3A45"/>
                </a:solidFill>
                <a:latin typeface="Arial" panose="020B0604020202020204" pitchFamily="34" charset="0"/>
                <a:ea typeface="Microsoft YaHei" panose="020B0503020204020204" pitchFamily="34" charset="-122"/>
              </a:rPr>
              <a:t>执行测试 →</a:t>
            </a:r>
          </a:p>
          <a:p>
            <a:r>
              <a:rPr lang="zh-CN" altLang="en-US" sz="1220">
                <a:solidFill>
                  <a:srgbClr val="2F3A45"/>
                </a:solidFill>
                <a:latin typeface="Arial" panose="020B0604020202020204" pitchFamily="34" charset="0"/>
                <a:ea typeface="Microsoft YaHei" panose="020B0503020204020204" pitchFamily="34" charset="-122"/>
              </a:rPr>
              <a:t>对比 → 修复</a:t>
            </a:r>
          </a:p>
        </p:txBody>
      </p:sp>
      <p:sp>
        <p:nvSpPr>
          <p:cNvPr id="51" name="s8-stage-output-label-4">
            <a:extLst>
              <a:ext uri="{FF2B5EF4-FFF2-40B4-BE49-F238E27FC236}">
                <a16:creationId xmlns:a16="http://schemas.microsoft.com/office/drawing/2014/main" id="{47C59EFC-90DF-210F-D8A8-E4F942D38C49}"/>
              </a:ext>
            </a:extLst>
          </p:cNvPr>
          <p:cNvSpPr txBox="1"/>
          <p:nvPr/>
        </p:nvSpPr>
        <p:spPr>
          <a:xfrm>
            <a:off x="6223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主要输出</a:t>
            </a:r>
          </a:p>
        </p:txBody>
      </p:sp>
      <p:sp>
        <p:nvSpPr>
          <p:cNvPr id="52" name="s8-stage-output-4">
            <a:extLst>
              <a:ext uri="{FF2B5EF4-FFF2-40B4-BE49-F238E27FC236}">
                <a16:creationId xmlns:a16="http://schemas.microsoft.com/office/drawing/2014/main" id="{695E2EF7-B340-0D44-7C72-B4BD192E13CA}"/>
              </a:ext>
            </a:extLst>
          </p:cNvPr>
          <p:cNvSpPr txBox="1"/>
          <p:nvPr/>
        </p:nvSpPr>
        <p:spPr>
          <a:xfrm>
            <a:off x="6223000" y="3860800"/>
            <a:ext cx="1651000" cy="369332"/>
          </a:xfrm>
          <a:prstGeom prst="rect">
            <a:avLst/>
          </a:prstGeom>
          <a:noFill/>
        </p:spPr>
        <p:txBody>
          <a:bodyPr vert="horz" wrap="square" lIns="0" tIns="0" rIns="0" bIns="0" rtlCol="0" anchor="t">
            <a:noAutofit/>
          </a:bodyPr>
          <a:lstStyle/>
          <a:p>
            <a:r>
              <a:rPr lang="en-US" altLang="zh-CN" sz="1140" b="1">
                <a:solidFill>
                  <a:srgbClr val="4F8A83"/>
                </a:solidFill>
                <a:latin typeface="Arial" panose="020B0604020202020204" pitchFamily="34" charset="0"/>
                <a:ea typeface="Microsoft YaHei" panose="020B0503020204020204" pitchFamily="34" charset="-122"/>
              </a:rPr>
              <a:t>Verified Kernel</a:t>
            </a:r>
            <a:endParaRPr lang="zh-CN" altLang="en-US" sz="1140" b="1">
              <a:solidFill>
                <a:srgbClr val="4F8A83"/>
              </a:solidFill>
              <a:latin typeface="Arial" panose="020B0604020202020204" pitchFamily="34" charset="0"/>
              <a:ea typeface="Microsoft YaHei" panose="020B0503020204020204" pitchFamily="34" charset="-122"/>
            </a:endParaRPr>
          </a:p>
        </p:txBody>
      </p:sp>
      <p:cxnSp>
        <p:nvCxnSpPr>
          <p:cNvPr id="53" name="s8-stage-divider-5">
            <a:extLst>
              <a:ext uri="{FF2B5EF4-FFF2-40B4-BE49-F238E27FC236}">
                <a16:creationId xmlns:a16="http://schemas.microsoft.com/office/drawing/2014/main" id="{0A5019CF-4DFD-D6A8-E6EC-59CCCB8B7083}"/>
              </a:ext>
            </a:extLst>
          </p:cNvPr>
          <p:cNvCxnSpPr/>
          <p:nvPr/>
        </p:nvCxnSpPr>
        <p:spPr>
          <a:xfrm>
            <a:off x="8001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4" name="s8-stage-number-5">
            <a:extLst>
              <a:ext uri="{FF2B5EF4-FFF2-40B4-BE49-F238E27FC236}">
                <a16:creationId xmlns:a16="http://schemas.microsoft.com/office/drawing/2014/main" id="{8106BD29-5D25-1798-080A-0E3D1348C0A1}"/>
              </a:ext>
            </a:extLst>
          </p:cNvPr>
          <p:cNvSpPr txBox="1"/>
          <p:nvPr/>
        </p:nvSpPr>
        <p:spPr>
          <a:xfrm>
            <a:off x="8128000" y="1384300"/>
            <a:ext cx="1587500" cy="369332"/>
          </a:xfrm>
          <a:prstGeom prst="rect">
            <a:avLst/>
          </a:prstGeom>
          <a:noFill/>
        </p:spPr>
        <p:txBody>
          <a:bodyPr vert="horz" wrap="square" lIns="0" tIns="0" rIns="0" bIns="0" rtlCol="0" anchor="t">
            <a:noAutofit/>
          </a:bodyPr>
          <a:lstStyle/>
          <a:p>
            <a:r>
              <a:rPr lang="en-US" altLang="zh-CN" sz="1250" b="1">
                <a:solidFill>
                  <a:srgbClr val="4F8A83"/>
                </a:solidFill>
                <a:latin typeface="Arial" panose="020B0604020202020204" pitchFamily="34" charset="0"/>
                <a:ea typeface="Microsoft YaHei" panose="020B0503020204020204" pitchFamily="34" charset="-122"/>
              </a:rPr>
              <a:t>05.</a:t>
            </a:r>
            <a:endParaRPr lang="zh-CN" altLang="en-US" sz="1250" b="1">
              <a:solidFill>
                <a:srgbClr val="4F8A83"/>
              </a:solidFill>
              <a:latin typeface="Arial" panose="020B0604020202020204" pitchFamily="34" charset="0"/>
              <a:ea typeface="Microsoft YaHei" panose="020B0503020204020204" pitchFamily="34" charset="-122"/>
            </a:endParaRPr>
          </a:p>
        </p:txBody>
      </p:sp>
      <p:sp>
        <p:nvSpPr>
          <p:cNvPr id="55" name="s8-stage-name-5">
            <a:extLst>
              <a:ext uri="{FF2B5EF4-FFF2-40B4-BE49-F238E27FC236}">
                <a16:creationId xmlns:a16="http://schemas.microsoft.com/office/drawing/2014/main" id="{DFCCCC29-3714-7FA2-8B32-CE6062779965}"/>
              </a:ext>
            </a:extLst>
          </p:cNvPr>
          <p:cNvSpPr txBox="1"/>
          <p:nvPr/>
        </p:nvSpPr>
        <p:spPr>
          <a:xfrm>
            <a:off x="8128000" y="1739900"/>
            <a:ext cx="1651000" cy="646331"/>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性能基准与优化</a:t>
            </a:r>
          </a:p>
        </p:txBody>
      </p:sp>
      <p:sp>
        <p:nvSpPr>
          <p:cNvPr id="56" name="s8-stage-action-label-5">
            <a:extLst>
              <a:ext uri="{FF2B5EF4-FFF2-40B4-BE49-F238E27FC236}">
                <a16:creationId xmlns:a16="http://schemas.microsoft.com/office/drawing/2014/main" id="{25B34A49-F0F3-2633-4BDC-57FCCB0F076E}"/>
              </a:ext>
            </a:extLst>
          </p:cNvPr>
          <p:cNvSpPr txBox="1"/>
          <p:nvPr/>
        </p:nvSpPr>
        <p:spPr>
          <a:xfrm>
            <a:off x="8128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核心动作</a:t>
            </a:r>
          </a:p>
        </p:txBody>
      </p:sp>
      <p:sp>
        <p:nvSpPr>
          <p:cNvPr id="57" name="s8-stage-action-5">
            <a:extLst>
              <a:ext uri="{FF2B5EF4-FFF2-40B4-BE49-F238E27FC236}">
                <a16:creationId xmlns:a16="http://schemas.microsoft.com/office/drawing/2014/main" id="{FF265561-B6DF-720C-2636-1D325F403485}"/>
              </a:ext>
            </a:extLst>
          </p:cNvPr>
          <p:cNvSpPr txBox="1"/>
          <p:nvPr/>
        </p:nvSpPr>
        <p:spPr>
          <a:xfrm>
            <a:off x="8128000" y="2743200"/>
            <a:ext cx="1651000" cy="1200329"/>
          </a:xfrm>
          <a:prstGeom prst="rect">
            <a:avLst/>
          </a:prstGeom>
          <a:noFill/>
        </p:spPr>
        <p:txBody>
          <a:bodyPr vert="horz" wrap="square" lIns="0" tIns="0" rIns="0" bIns="0" rtlCol="0" anchor="t">
            <a:noAutofit/>
          </a:bodyPr>
          <a:lstStyle/>
          <a:p>
            <a:r>
              <a:rPr lang="en-US" altLang="zh-CN" sz="1220">
                <a:solidFill>
                  <a:srgbClr val="2F3A45"/>
                </a:solidFill>
                <a:latin typeface="Arial" panose="020B0604020202020204" pitchFamily="34" charset="0"/>
                <a:ea typeface="Microsoft YaHei" panose="020B0503020204020204" pitchFamily="34" charset="-122"/>
              </a:rPr>
              <a:t>Benchmark → </a:t>
            </a:r>
            <a:r>
              <a:rPr lang="zh-CN" altLang="en-US" sz="1220">
                <a:solidFill>
                  <a:srgbClr val="2F3A45"/>
                </a:solidFill>
                <a:latin typeface="Arial" panose="020B0604020202020204" pitchFamily="34" charset="0"/>
                <a:ea typeface="Microsoft YaHei" panose="020B0503020204020204" pitchFamily="34" charset="-122"/>
              </a:rPr>
              <a:t>分析</a:t>
            </a:r>
          </a:p>
          <a:p>
            <a:r>
              <a:rPr lang="zh-CN" altLang="en-US" sz="1220">
                <a:solidFill>
                  <a:srgbClr val="2F3A45"/>
                </a:solidFill>
                <a:latin typeface="Arial" panose="020B0604020202020204" pitchFamily="34" charset="0"/>
                <a:ea typeface="Microsoft YaHei" panose="020B0503020204020204" pitchFamily="34" charset="-122"/>
              </a:rPr>
              <a:t>→ 优化 → 复测</a:t>
            </a:r>
          </a:p>
        </p:txBody>
      </p:sp>
      <p:sp>
        <p:nvSpPr>
          <p:cNvPr id="59" name="s8-stage-output-label-5">
            <a:extLst>
              <a:ext uri="{FF2B5EF4-FFF2-40B4-BE49-F238E27FC236}">
                <a16:creationId xmlns:a16="http://schemas.microsoft.com/office/drawing/2014/main" id="{89E5DDF5-07F6-2B24-29AA-C412E1985D3C}"/>
              </a:ext>
            </a:extLst>
          </p:cNvPr>
          <p:cNvSpPr txBox="1"/>
          <p:nvPr/>
        </p:nvSpPr>
        <p:spPr>
          <a:xfrm>
            <a:off x="8128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主要输出</a:t>
            </a:r>
          </a:p>
        </p:txBody>
      </p:sp>
      <p:sp>
        <p:nvSpPr>
          <p:cNvPr id="60" name="s8-stage-output-5">
            <a:extLst>
              <a:ext uri="{FF2B5EF4-FFF2-40B4-BE49-F238E27FC236}">
                <a16:creationId xmlns:a16="http://schemas.microsoft.com/office/drawing/2014/main" id="{B3B02F2C-7C41-ECC8-0381-F8A0D1C151B7}"/>
              </a:ext>
            </a:extLst>
          </p:cNvPr>
          <p:cNvSpPr txBox="1"/>
          <p:nvPr/>
        </p:nvSpPr>
        <p:spPr>
          <a:xfrm>
            <a:off x="8128000" y="3860800"/>
            <a:ext cx="1651000" cy="923330"/>
          </a:xfrm>
          <a:prstGeom prst="rect">
            <a:avLst/>
          </a:prstGeom>
          <a:noFill/>
        </p:spPr>
        <p:txBody>
          <a:bodyPr vert="horz" wrap="square" lIns="0" tIns="0" rIns="0" bIns="0" rtlCol="0" anchor="t">
            <a:noAutofit/>
          </a:bodyPr>
          <a:lstStyle/>
          <a:p>
            <a:r>
              <a:rPr lang="en-US" altLang="zh-CN" sz="1140" b="1">
                <a:solidFill>
                  <a:srgbClr val="4F8A83"/>
                </a:solidFill>
                <a:latin typeface="Arial" panose="020B0604020202020204" pitchFamily="34" charset="0"/>
                <a:ea typeface="Microsoft YaHei" panose="020B0503020204020204" pitchFamily="34" charset="-122"/>
              </a:rPr>
              <a:t>Optimized Kernel</a:t>
            </a:r>
          </a:p>
          <a:p>
            <a:r>
              <a:rPr lang="en-US" altLang="zh-CN" sz="1140" b="1">
                <a:solidFill>
                  <a:srgbClr val="4F8A83"/>
                </a:solidFill>
                <a:latin typeface="Arial" panose="020B0604020202020204" pitchFamily="34" charset="0"/>
                <a:ea typeface="Microsoft YaHei" panose="020B0503020204020204" pitchFamily="34" charset="-122"/>
              </a:rPr>
              <a:t>+ Metrics</a:t>
            </a:r>
            <a:endParaRPr lang="zh-CN" altLang="en-US" sz="1140" b="1">
              <a:solidFill>
                <a:srgbClr val="4F8A83"/>
              </a:solidFill>
              <a:latin typeface="Arial" panose="020B0604020202020204" pitchFamily="34" charset="0"/>
              <a:ea typeface="Microsoft YaHei" panose="020B0503020204020204" pitchFamily="34" charset="-122"/>
            </a:endParaRPr>
          </a:p>
        </p:txBody>
      </p:sp>
      <p:cxnSp>
        <p:nvCxnSpPr>
          <p:cNvPr id="61" name="s8-stage-divider-6">
            <a:extLst>
              <a:ext uri="{FF2B5EF4-FFF2-40B4-BE49-F238E27FC236}">
                <a16:creationId xmlns:a16="http://schemas.microsoft.com/office/drawing/2014/main" id="{2B459E95-D013-BB67-D3A2-A976ABB5B078}"/>
              </a:ext>
            </a:extLst>
          </p:cNvPr>
          <p:cNvCxnSpPr/>
          <p:nvPr/>
        </p:nvCxnSpPr>
        <p:spPr>
          <a:xfrm>
            <a:off x="9906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2" name="s8-stage-number-6">
            <a:extLst>
              <a:ext uri="{FF2B5EF4-FFF2-40B4-BE49-F238E27FC236}">
                <a16:creationId xmlns:a16="http://schemas.microsoft.com/office/drawing/2014/main" id="{5CB65578-75E5-21B8-F570-982595885C07}"/>
              </a:ext>
            </a:extLst>
          </p:cNvPr>
          <p:cNvSpPr txBox="1"/>
          <p:nvPr/>
        </p:nvSpPr>
        <p:spPr>
          <a:xfrm>
            <a:off x="10033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Microsoft YaHei" panose="020B0503020204020204" pitchFamily="34" charset="-122"/>
              </a:rPr>
              <a:t>06.</a:t>
            </a:r>
            <a:endParaRPr lang="zh-CN" altLang="en-US" sz="1250" b="1">
              <a:solidFill>
                <a:srgbClr val="294A6D"/>
              </a:solidFill>
              <a:latin typeface="Arial" panose="020B0604020202020204" pitchFamily="34" charset="0"/>
              <a:ea typeface="Microsoft YaHei" panose="020B0503020204020204" pitchFamily="34" charset="-122"/>
            </a:endParaRPr>
          </a:p>
        </p:txBody>
      </p:sp>
      <p:sp>
        <p:nvSpPr>
          <p:cNvPr id="64" name="s8-stage-name-6">
            <a:extLst>
              <a:ext uri="{FF2B5EF4-FFF2-40B4-BE49-F238E27FC236}">
                <a16:creationId xmlns:a16="http://schemas.microsoft.com/office/drawing/2014/main" id="{996213D9-EA51-D721-37CD-AB475DE59368}"/>
              </a:ext>
            </a:extLst>
          </p:cNvPr>
          <p:cNvSpPr txBox="1"/>
          <p:nvPr/>
        </p:nvSpPr>
        <p:spPr>
          <a:xfrm>
            <a:off x="10033000" y="1739900"/>
            <a:ext cx="1651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最终交付</a:t>
            </a:r>
          </a:p>
        </p:txBody>
      </p:sp>
      <p:sp>
        <p:nvSpPr>
          <p:cNvPr id="65" name="s8-stage-action-label-6">
            <a:extLst>
              <a:ext uri="{FF2B5EF4-FFF2-40B4-BE49-F238E27FC236}">
                <a16:creationId xmlns:a16="http://schemas.microsoft.com/office/drawing/2014/main" id="{17848A74-ACF8-D900-64E4-516D68F20BD0}"/>
              </a:ext>
            </a:extLst>
          </p:cNvPr>
          <p:cNvSpPr txBox="1"/>
          <p:nvPr/>
        </p:nvSpPr>
        <p:spPr>
          <a:xfrm>
            <a:off x="10033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核心动作</a:t>
            </a:r>
          </a:p>
        </p:txBody>
      </p:sp>
      <p:sp>
        <p:nvSpPr>
          <p:cNvPr id="66" name="s8-stage-action-6">
            <a:extLst>
              <a:ext uri="{FF2B5EF4-FFF2-40B4-BE49-F238E27FC236}">
                <a16:creationId xmlns:a16="http://schemas.microsoft.com/office/drawing/2014/main" id="{E889CFAC-190A-5DAB-4CDE-424110279165}"/>
              </a:ext>
            </a:extLst>
          </p:cNvPr>
          <p:cNvSpPr txBox="1"/>
          <p:nvPr/>
        </p:nvSpPr>
        <p:spPr>
          <a:xfrm>
            <a:off x="10033000" y="2743200"/>
            <a:ext cx="1651000" cy="923330"/>
          </a:xfrm>
          <a:prstGeom prst="rect">
            <a:avLst/>
          </a:prstGeom>
          <a:noFill/>
        </p:spPr>
        <p:txBody>
          <a:bodyPr vert="horz" wrap="square" lIns="0" tIns="0" rIns="0" bIns="0" rtlCol="0" anchor="t">
            <a:noAutofit/>
          </a:bodyPr>
          <a:lstStyle/>
          <a:p>
            <a:r>
              <a:rPr lang="zh-CN" altLang="en-US" sz="1220">
                <a:solidFill>
                  <a:srgbClr val="2F3A45"/>
                </a:solidFill>
                <a:latin typeface="Arial" panose="020B0604020202020204" pitchFamily="34" charset="0"/>
                <a:ea typeface="Microsoft YaHei" panose="020B0503020204020204" pitchFamily="34" charset="-122"/>
              </a:rPr>
              <a:t>汇总代码、验证结果</a:t>
            </a:r>
          </a:p>
          <a:p>
            <a:r>
              <a:rPr lang="zh-CN" altLang="en-US" sz="1220">
                <a:solidFill>
                  <a:srgbClr val="2F3A45"/>
                </a:solidFill>
                <a:latin typeface="Arial" panose="020B0604020202020204" pitchFamily="34" charset="0"/>
                <a:ea typeface="Microsoft YaHei" panose="020B0503020204020204" pitchFamily="34" charset="-122"/>
              </a:rPr>
              <a:t>与性能报告</a:t>
            </a:r>
          </a:p>
        </p:txBody>
      </p:sp>
      <p:sp>
        <p:nvSpPr>
          <p:cNvPr id="67" name="s8-stage-output-label-6">
            <a:extLst>
              <a:ext uri="{FF2B5EF4-FFF2-40B4-BE49-F238E27FC236}">
                <a16:creationId xmlns:a16="http://schemas.microsoft.com/office/drawing/2014/main" id="{8A5C5A68-951C-043F-5FAA-473BE19A0AF3}"/>
              </a:ext>
            </a:extLst>
          </p:cNvPr>
          <p:cNvSpPr txBox="1"/>
          <p:nvPr/>
        </p:nvSpPr>
        <p:spPr>
          <a:xfrm>
            <a:off x="10033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主要输出</a:t>
            </a:r>
          </a:p>
        </p:txBody>
      </p:sp>
      <p:sp>
        <p:nvSpPr>
          <p:cNvPr id="68" name="s8-stage-output-6">
            <a:extLst>
              <a:ext uri="{FF2B5EF4-FFF2-40B4-BE49-F238E27FC236}">
                <a16:creationId xmlns:a16="http://schemas.microsoft.com/office/drawing/2014/main" id="{FC1C1197-B032-F415-8F3F-0D1488D40292}"/>
              </a:ext>
            </a:extLst>
          </p:cNvPr>
          <p:cNvSpPr txBox="1"/>
          <p:nvPr/>
        </p:nvSpPr>
        <p:spPr>
          <a:xfrm>
            <a:off x="10033000" y="3860800"/>
            <a:ext cx="1651000" cy="1200329"/>
          </a:xfrm>
          <a:prstGeom prst="rect">
            <a:avLst/>
          </a:prstGeom>
          <a:noFill/>
        </p:spPr>
        <p:txBody>
          <a:bodyPr vert="horz" wrap="square" lIns="0" tIns="0" rIns="0" bIns="0" rtlCol="0" anchor="t">
            <a:noAutofit/>
          </a:bodyPr>
          <a:lstStyle/>
          <a:p>
            <a:r>
              <a:rPr lang="en-US" altLang="zh-CN" sz="1140" b="1">
                <a:solidFill>
                  <a:srgbClr val="4F8A83"/>
                </a:solidFill>
                <a:latin typeface="Arial" panose="020B0604020202020204" pitchFamily="34" charset="0"/>
                <a:ea typeface="Microsoft YaHei" panose="020B0503020204020204" pitchFamily="34" charset="-122"/>
              </a:rPr>
              <a:t>Kernel / Test /</a:t>
            </a:r>
          </a:p>
          <a:p>
            <a:r>
              <a:rPr lang="en-US" altLang="zh-CN" sz="1140" b="1">
                <a:solidFill>
                  <a:srgbClr val="4F8A83"/>
                </a:solidFill>
                <a:latin typeface="Arial" panose="020B0604020202020204" pitchFamily="34" charset="0"/>
                <a:ea typeface="Microsoft YaHei" panose="020B0503020204020204" pitchFamily="34" charset="-122"/>
              </a:rPr>
              <a:t>Correctness / Benchmark / Report</a:t>
            </a:r>
            <a:endParaRPr lang="zh-CN" altLang="en-US" sz="1140" b="1">
              <a:solidFill>
                <a:srgbClr val="4F8A83"/>
              </a:solidFill>
              <a:latin typeface="Arial" panose="020B0604020202020204" pitchFamily="34" charset="0"/>
              <a:ea typeface="Microsoft YaHei" panose="020B0503020204020204" pitchFamily="34" charset="-122"/>
            </a:endParaRPr>
          </a:p>
        </p:txBody>
      </p:sp>
      <p:sp>
        <p:nvSpPr>
          <p:cNvPr id="63"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69"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2</a:t>
            </a: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.2</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1" name="slide-6-title"/>
          <p:cNvSpPr>
            <a:spLocks noGrp="1"/>
          </p:cNvSpPr>
          <p:nvPr/>
        </p:nvSpPr>
        <p:spPr>
          <a:xfrm>
            <a:off x="1198287" y="206375"/>
            <a:ext cx="9953625" cy="4572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pPr algn="l">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550" b="1" dirty="0">
                <a:solidFill>
                  <a:srgbClr val="243B53"/>
                </a:solidFill>
                <a:latin typeface="Arial" panose="020B0604020202020204" pitchFamily="34" charset="0"/>
                <a:ea typeface="Microsoft YaHei" panose="020B0503020204020204" pitchFamily="34" charset="-122"/>
                <a:cs typeface="微软雅黑" panose="020B0503020204020204" charset="-122"/>
              </a:rPr>
              <a:t>寒武纪</a:t>
            </a:r>
            <a:r>
              <a:rPr sz="2550" b="1" dirty="0" err="1" smtClean="0">
                <a:solidFill>
                  <a:srgbClr val="243B53"/>
                </a:solidFill>
                <a:latin typeface="Arial" panose="020B0604020202020204" pitchFamily="34" charset="0"/>
                <a:ea typeface="Microsoft YaHei" panose="020B0503020204020204" pitchFamily="34" charset="-122"/>
                <a:cs typeface="微软雅黑" panose="020B0503020204020204" charset="-122"/>
              </a:rPr>
              <a:t>算子</a:t>
            </a:r>
            <a:r>
              <a:rPr sz="255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 </a:t>
            </a:r>
            <a:r>
              <a:rPr sz="2550" b="1" dirty="0">
                <a:solidFill>
                  <a:srgbClr val="243B53"/>
                </a:solidFill>
                <a:latin typeface="Arial" panose="020B0604020202020204" pitchFamily="34" charset="0"/>
                <a:ea typeface="Microsoft YaHei" panose="020B0503020204020204" pitchFamily="34" charset="-122"/>
                <a:cs typeface="微软雅黑" panose="020B0503020204020204" charset="-122"/>
              </a:rPr>
              <a:t>Skill 的</a:t>
            </a:r>
            <a:r>
              <a:rPr lang="zh-CN" sz="2550" b="1" dirty="0">
                <a:solidFill>
                  <a:srgbClr val="243B53"/>
                </a:solidFill>
                <a:latin typeface="Arial" panose="020B0604020202020204" pitchFamily="34" charset="0"/>
                <a:ea typeface="Microsoft YaHei" panose="020B0503020204020204" pitchFamily="34" charset="-122"/>
                <a:cs typeface="微软雅黑" panose="020B0503020204020204" charset="-122"/>
              </a:rPr>
              <a:t>优势</a:t>
            </a:r>
            <a:r>
              <a:rPr sz="2550" b="1" dirty="0" err="1">
                <a:solidFill>
                  <a:srgbClr val="243B53"/>
                </a:solidFill>
                <a:latin typeface="Arial" panose="020B0604020202020204" pitchFamily="34" charset="0"/>
                <a:ea typeface="Microsoft YaHei" panose="020B0503020204020204" pitchFamily="34" charset="-122"/>
                <a:cs typeface="微软雅黑" panose="020B0503020204020204" charset="-122"/>
              </a:rPr>
              <a:t>与问题</a:t>
            </a:r>
            <a:endParaRPr sz="255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2" name="left-column-heading"/>
          <p:cNvSpPr>
            <a:spLocks noGrp="1"/>
          </p:cNvSpPr>
          <p:nvPr/>
        </p:nvSpPr>
        <p:spPr>
          <a:xfrm>
            <a:off x="1127760" y="1390650"/>
            <a:ext cx="4057650" cy="304800"/>
          </a:xfrm>
          <a:prstGeom prst="rect">
            <a:avLst/>
          </a:prstGeom>
          <a:noFill/>
          <a:ln w="0">
            <a:noFill/>
            <a:prstDash val="solid"/>
          </a:ln>
          <a:effectLst/>
        </p:spPr>
        <p:txBody>
          <a:bodyPr wrap="square" lIns="0" tIns="0" rIns="0" bIns="0" anchor="ctr">
            <a:noAutofit/>
          </a:bodyPr>
          <a:lstStyle/>
          <a:p>
            <a:pPr>
              <a:buNone/>
              <a:defRPr sz="1240" b="1">
                <a:solidFill>
                  <a:srgbClr val="008A50"/>
                </a:solidFill>
                <a:latin typeface="微软雅黑" panose="020B0503020204020204" charset="-122"/>
                <a:ea typeface="微软雅黑" panose="020B0503020204020204" charset="-122"/>
                <a:cs typeface="微软雅黑" panose="020B0503020204020204" charset="-122"/>
              </a:defRPr>
            </a:pPr>
            <a:r>
              <a:rPr lang="zh-CN" altLang="en-US" sz="1600" b="1" dirty="0">
                <a:solidFill>
                  <a:srgbClr val="243B53"/>
                </a:solidFill>
                <a:latin typeface="Arial" panose="020B0604020202020204" pitchFamily="34" charset="0"/>
                <a:ea typeface="Microsoft YaHei" panose="020B0503020204020204" pitchFamily="34" charset="-122"/>
                <a:cs typeface="微软雅黑" panose="020B0503020204020204" charset="-122"/>
              </a:rPr>
              <a:t>三大</a:t>
            </a:r>
            <a:r>
              <a:rPr lang="zh-CN" sz="1600" b="1" dirty="0">
                <a:solidFill>
                  <a:srgbClr val="243B53"/>
                </a:solidFill>
                <a:latin typeface="Arial" panose="020B0604020202020204" pitchFamily="34" charset="0"/>
                <a:ea typeface="Microsoft YaHei" panose="020B0503020204020204" pitchFamily="34" charset="-122"/>
                <a:cs typeface="微软雅黑" panose="020B0503020204020204" charset="-122"/>
              </a:rPr>
              <a:t>优势</a:t>
            </a:r>
          </a:p>
        </p:txBody>
      </p:sp>
      <p:sp>
        <p:nvSpPr>
          <p:cNvPr id="13" name="right-column-heading"/>
          <p:cNvSpPr>
            <a:spLocks noGrp="1"/>
          </p:cNvSpPr>
          <p:nvPr/>
        </p:nvSpPr>
        <p:spPr>
          <a:xfrm>
            <a:off x="6671310" y="1352550"/>
            <a:ext cx="4362450" cy="304800"/>
          </a:xfrm>
          <a:prstGeom prst="rect">
            <a:avLst/>
          </a:prstGeom>
          <a:noFill/>
          <a:ln w="0">
            <a:noFill/>
            <a:prstDash val="solid"/>
          </a:ln>
          <a:effectLst/>
        </p:spPr>
        <p:txBody>
          <a:bodyPr wrap="square" lIns="0" tIns="0" rIns="0" bIns="0" anchor="ctr">
            <a:noAutofit/>
          </a:bodyPr>
          <a:lstStyle/>
          <a:p>
            <a:pPr>
              <a:buNone/>
              <a:defRPr sz="1240" b="1">
                <a:solidFill>
                  <a:srgbClr val="0752A7"/>
                </a:solidFill>
                <a:latin typeface="微软雅黑" panose="020B0503020204020204" charset="-122"/>
                <a:ea typeface="微软雅黑" panose="020B0503020204020204" charset="-122"/>
                <a:cs typeface="微软雅黑" panose="020B0503020204020204" charset="-122"/>
              </a:defRPr>
            </a:pPr>
            <a:r>
              <a:rPr lang="zh-CN" altLang="en-US" sz="1600" b="1" dirty="0">
                <a:solidFill>
                  <a:srgbClr val="C77C59"/>
                </a:solidFill>
                <a:latin typeface="Arial" panose="020B0604020202020204" pitchFamily="34" charset="0"/>
                <a:ea typeface="Microsoft YaHei" panose="020B0503020204020204" pitchFamily="34" charset="-122"/>
                <a:cs typeface="微软雅黑" panose="020B0503020204020204" charset="-122"/>
              </a:rPr>
              <a:t>四个</a:t>
            </a:r>
            <a:r>
              <a:rPr sz="1600" b="1" dirty="0" err="1">
                <a:solidFill>
                  <a:srgbClr val="C77C59"/>
                </a:solidFill>
                <a:latin typeface="Arial" panose="020B0604020202020204" pitchFamily="34" charset="0"/>
                <a:ea typeface="Microsoft YaHei" panose="020B0503020204020204" pitchFamily="34" charset="-122"/>
                <a:cs typeface="微软雅黑" panose="020B0503020204020204" charset="-122"/>
              </a:rPr>
              <a:t>问题</a:t>
            </a:r>
            <a:endParaRPr sz="16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p:txBody>
      </p:sp>
      <p:sp>
        <p:nvSpPr>
          <p:cNvPr id="19" name="flow-identify-frame"/>
          <p:cNvSpPr>
            <a:spLocks noGrp="1"/>
          </p:cNvSpPr>
          <p:nvPr/>
        </p:nvSpPr>
        <p:spPr>
          <a:xfrm>
            <a:off x="2135505" y="5445125"/>
            <a:ext cx="6377305" cy="485140"/>
          </a:xfrm>
          <a:prstGeom prst="rect">
            <a:avLst/>
          </a:prstGeom>
          <a:solidFill>
            <a:srgbClr val="EEF2F5"/>
          </a:solidFill>
          <a:ln w="9525">
            <a:solidFill>
              <a:srgbClr val="D6DEE6"/>
            </a:solidFill>
            <a:prstDash val="solid"/>
          </a:ln>
          <a:effectLst/>
        </p:spPr>
        <p:txBody>
          <a:bodyPr wrap="square" lIns="0" tIns="0" rIns="0" bIns="0" anchor="ctr">
            <a:normAutofit/>
          </a:bodyPr>
          <a:lstStyle/>
          <a:p>
            <a:endParaRPr sz="1400" b="1"/>
          </a:p>
        </p:txBody>
      </p:sp>
      <p:sp>
        <p:nvSpPr>
          <p:cNvPr id="20" name="flow-identify-label"/>
          <p:cNvSpPr>
            <a:spLocks noGrp="1"/>
          </p:cNvSpPr>
          <p:nvPr/>
        </p:nvSpPr>
        <p:spPr>
          <a:xfrm>
            <a:off x="2927350" y="5445125"/>
            <a:ext cx="2580640" cy="538480"/>
          </a:xfrm>
          <a:prstGeom prst="rect">
            <a:avLst/>
          </a:prstGeom>
          <a:noFill/>
          <a:ln w="0">
            <a:noFill/>
            <a:prstDash val="solid"/>
          </a:ln>
          <a:effectLst/>
        </p:spPr>
        <p:txBody>
          <a:bodyPr wrap="square" lIns="0" tIns="0" rIns="0" bIns="0" anchor="ctr">
            <a:noAutofit/>
          </a:bodyPr>
          <a:lstStyle/>
          <a:p>
            <a:pPr algn="l">
              <a:buNone/>
              <a:defRPr sz="1050" b="1">
                <a:solidFill>
                  <a:srgbClr val="161B2B"/>
                </a:solidFill>
                <a:latin typeface="微软雅黑" panose="020B0503020204020204" charset="-122"/>
                <a:ea typeface="微软雅黑" panose="020B0503020204020204" charset="-122"/>
                <a:cs typeface="微软雅黑" panose="020B0503020204020204" charset="-122"/>
              </a:defRPr>
            </a:pPr>
            <a:r>
              <a:rPr lang="zh-CN" sz="1400" dirty="0">
                <a:solidFill>
                  <a:srgbClr val="2F3A45"/>
                </a:solidFill>
                <a:latin typeface="Arial" panose="020B0604020202020204" pitchFamily="34" charset="0"/>
                <a:ea typeface="Microsoft YaHei" panose="020B0503020204020204" pitchFamily="34" charset="-122"/>
                <a:cs typeface="微软雅黑" panose="020B0503020204020204" charset="-122"/>
              </a:rPr>
              <a:t>算子开发指南结构</a:t>
            </a:r>
            <a:r>
              <a:rPr sz="1400" dirty="0">
                <a:solidFill>
                  <a:srgbClr val="2F3A45"/>
                </a:solidFill>
                <a:latin typeface="Arial" panose="020B0604020202020204" pitchFamily="34" charset="0"/>
                <a:ea typeface="Microsoft YaHei" panose="020B0503020204020204" pitchFamily="34" charset="-122"/>
                <a:cs typeface="微软雅黑" panose="020B0503020204020204" charset="-122"/>
              </a:rPr>
              <a:t>：</a:t>
            </a:r>
          </a:p>
        </p:txBody>
      </p:sp>
      <p:sp>
        <p:nvSpPr>
          <p:cNvPr id="21" name="flow-general-process"/>
          <p:cNvSpPr>
            <a:spLocks noGrp="1"/>
          </p:cNvSpPr>
          <p:nvPr/>
        </p:nvSpPr>
        <p:spPr>
          <a:xfrm>
            <a:off x="4876800" y="5589270"/>
            <a:ext cx="1438275" cy="276225"/>
          </a:xfrm>
          <a:prstGeom prst="roundRect">
            <a:avLst>
              <a:gd name="adj" fmla="val 17241"/>
            </a:avLst>
          </a:prstGeom>
          <a:solidFill>
            <a:srgbClr val="EAF3F1"/>
          </a:solidFill>
          <a:ln w="9525">
            <a:solidFill>
              <a:srgbClr val="D6DEE6"/>
            </a:solidFill>
            <a:prstDash val="solid"/>
          </a:ln>
          <a:effectLst/>
        </p:spPr>
        <p:txBody>
          <a:bodyPr wrap="square" lIns="38100" tIns="0" rIns="38100" bIns="0" anchor="ctr">
            <a:normAutofit/>
          </a:bodyPr>
          <a:lstStyle/>
          <a:p>
            <a:pPr algn="ctr">
              <a:buNone/>
              <a:defRPr sz="975" b="1">
                <a:solidFill>
                  <a:srgbClr val="087242"/>
                </a:solidFill>
                <a:latin typeface="微软雅黑" panose="020B0503020204020204" charset="-122"/>
                <a:ea typeface="微软雅黑" panose="020B0503020204020204" charset="-122"/>
                <a:cs typeface="微软雅黑" panose="020B0503020204020204" charset="-122"/>
              </a:defRPr>
            </a:pPr>
            <a:r>
              <a:rPr sz="1400">
                <a:solidFill>
                  <a:srgbClr val="2F3A45"/>
                </a:solidFill>
                <a:latin typeface="Arial" panose="020B0604020202020204" pitchFamily="34" charset="0"/>
                <a:ea typeface="Microsoft YaHei" panose="020B0503020204020204" pitchFamily="34" charset="-122"/>
                <a:cs typeface="微软雅黑" panose="020B0503020204020204" charset="-122"/>
              </a:rPr>
              <a:t>通用开发流程</a:t>
            </a:r>
          </a:p>
        </p:txBody>
      </p:sp>
      <p:sp>
        <p:nvSpPr>
          <p:cNvPr id="22" name="flow-plus"/>
          <p:cNvSpPr>
            <a:spLocks noGrp="1"/>
          </p:cNvSpPr>
          <p:nvPr/>
        </p:nvSpPr>
        <p:spPr>
          <a:xfrm>
            <a:off x="6383655" y="5589270"/>
            <a:ext cx="304800" cy="295275"/>
          </a:xfrm>
          <a:prstGeom prst="rect">
            <a:avLst/>
          </a:prstGeom>
          <a:noFill/>
          <a:ln w="0">
            <a:noFill/>
            <a:prstDash val="solid"/>
          </a:ln>
          <a:effectLst/>
        </p:spPr>
        <p:txBody>
          <a:bodyPr wrap="square" lIns="0" tIns="0" rIns="0" bIns="0" anchor="ctr">
            <a:normAutofit/>
          </a:bodyPr>
          <a:lstStyle/>
          <a:p>
            <a:pPr algn="ctr">
              <a:buNone/>
              <a:defRPr sz="1200" b="1">
                <a:solidFill>
                  <a:srgbClr val="1A1A1A"/>
                </a:solidFill>
                <a:latin typeface="微软雅黑" panose="020B0503020204020204" charset="-122"/>
                <a:ea typeface="微软雅黑" panose="020B0503020204020204" charset="-122"/>
                <a:cs typeface="微软雅黑" panose="020B0503020204020204" charset="-122"/>
              </a:defRPr>
            </a:pPr>
            <a:r>
              <a:rPr sz="1400">
                <a:solidFill>
                  <a:srgbClr val="2F3A45"/>
                </a:solidFill>
                <a:latin typeface="Arial" panose="020B0604020202020204" pitchFamily="34" charset="0"/>
                <a:ea typeface="Microsoft YaHei" panose="020B0503020204020204" pitchFamily="34" charset="-122"/>
                <a:cs typeface="微软雅黑" panose="020B0503020204020204" charset="-122"/>
              </a:rPr>
              <a:t>+</a:t>
            </a:r>
          </a:p>
        </p:txBody>
      </p:sp>
      <p:sp>
        <p:nvSpPr>
          <p:cNvPr id="23" name="flow-platform-knowledge"/>
          <p:cNvSpPr>
            <a:spLocks noGrp="1"/>
          </p:cNvSpPr>
          <p:nvPr/>
        </p:nvSpPr>
        <p:spPr>
          <a:xfrm>
            <a:off x="6743700" y="5589270"/>
            <a:ext cx="1371600" cy="276225"/>
          </a:xfrm>
          <a:prstGeom prst="roundRect">
            <a:avLst>
              <a:gd name="adj" fmla="val 17241"/>
            </a:avLst>
          </a:prstGeom>
          <a:solidFill>
            <a:srgbClr val="EEF2F5"/>
          </a:solidFill>
          <a:ln w="9525">
            <a:solidFill>
              <a:srgbClr val="D6DEE6"/>
            </a:solidFill>
            <a:prstDash val="solid"/>
          </a:ln>
          <a:effectLst/>
        </p:spPr>
        <p:txBody>
          <a:bodyPr wrap="square" lIns="38100" tIns="0" rIns="38100" bIns="0" anchor="ctr">
            <a:normAutofit/>
          </a:bodyPr>
          <a:lstStyle/>
          <a:p>
            <a:pPr algn="ctr">
              <a:buNone/>
              <a:defRPr sz="975" b="1">
                <a:solidFill>
                  <a:srgbClr val="124EA0"/>
                </a:solidFill>
                <a:latin typeface="微软雅黑" panose="020B0503020204020204" charset="-122"/>
                <a:ea typeface="微软雅黑" panose="020B0503020204020204" charset="-122"/>
                <a:cs typeface="微软雅黑" panose="020B0503020204020204" charset="-122"/>
              </a:defRPr>
            </a:pPr>
            <a:r>
              <a:rPr sz="1400">
                <a:solidFill>
                  <a:srgbClr val="294A6D"/>
                </a:solidFill>
                <a:latin typeface="Arial" panose="020B0604020202020204" pitchFamily="34" charset="0"/>
                <a:ea typeface="Microsoft YaHei" panose="020B0503020204020204" pitchFamily="34" charset="-122"/>
                <a:cs typeface="微软雅黑" panose="020B0503020204020204" charset="-122"/>
              </a:rPr>
              <a:t>平台专属知识</a:t>
            </a:r>
          </a:p>
        </p:txBody>
      </p:sp>
      <p:sp>
        <p:nvSpPr>
          <p:cNvPr id="25" name="slide-6-editable-footer"/>
          <p:cNvSpPr>
            <a:spLocks noGrp="1"/>
          </p:cNvSpPr>
          <p:nvPr/>
        </p:nvSpPr>
        <p:spPr>
          <a:xfrm>
            <a:off x="219075" y="6248400"/>
            <a:ext cx="11753850" cy="523875"/>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1015" b="1">
                <a:solidFill>
                  <a:srgbClr val="072A67"/>
                </a:solidFill>
                <a:latin typeface="微软雅黑" panose="020B0503020204020204" charset="-122"/>
                <a:ea typeface="微软雅黑" panose="020B0503020204020204" charset="-122"/>
                <a:cs typeface="微软雅黑" panose="020B0503020204020204" charset="-122"/>
              </a:defRPr>
            </a:pPr>
            <a:r>
              <a:rPr sz="1015" b="1" dirty="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015" b="1" dirty="0" err="1">
                <a:solidFill>
                  <a:srgbClr val="2F3A45"/>
                </a:solidFill>
                <a:latin typeface="Arial" panose="020B0604020202020204" pitchFamily="34" charset="0"/>
                <a:ea typeface="Microsoft YaHei" panose="020B0503020204020204" pitchFamily="34" charset="-122"/>
                <a:cs typeface="微软雅黑" panose="020B0503020204020204" charset="-122"/>
              </a:rPr>
              <a:t>从“开发算子</a:t>
            </a:r>
            <a:r>
              <a:rPr lang="en-US" sz="1015" b="1" dirty="0" err="1">
                <a:solidFill>
                  <a:srgbClr val="2F3A45"/>
                </a:solidFill>
                <a:latin typeface="Arial" panose="020B0604020202020204" pitchFamily="34" charset="0"/>
                <a:ea typeface="Microsoft YaHei" panose="020B0503020204020204" pitchFamily="34" charset="-122"/>
                <a:cs typeface="微软雅黑" panose="020B0503020204020204" charset="-122"/>
              </a:rPr>
              <a:t>Skill</a:t>
            </a:r>
            <a:r>
              <a:rPr sz="1015" b="1" dirty="0" err="1">
                <a:solidFill>
                  <a:srgbClr val="2F3A45"/>
                </a:solidFill>
                <a:latin typeface="Arial" panose="020B0604020202020204" pitchFamily="34" charset="0"/>
                <a:ea typeface="Microsoft YaHei" panose="020B0503020204020204" pitchFamily="34" charset="-122"/>
                <a:cs typeface="微软雅黑" panose="020B0503020204020204" charset="-122"/>
              </a:rPr>
              <a:t>”进一步到“开发算子</a:t>
            </a:r>
            <a:r>
              <a:rPr sz="1015" b="1" dirty="0">
                <a:solidFill>
                  <a:srgbClr val="2F3A45"/>
                </a:solidFill>
                <a:latin typeface="Arial" panose="020B0604020202020204" pitchFamily="34" charset="0"/>
                <a:ea typeface="Microsoft YaHei" panose="020B0503020204020204" pitchFamily="34" charset="-122"/>
                <a:cs typeface="微软雅黑" panose="020B0503020204020204" charset="-122"/>
              </a:rPr>
              <a:t> Skill</a:t>
            </a:r>
            <a:r>
              <a:rPr lang="zh-CN" sz="1015" b="1" dirty="0">
                <a:solidFill>
                  <a:srgbClr val="2F3A45"/>
                </a:solidFill>
                <a:latin typeface="Arial" panose="020B0604020202020204" pitchFamily="34" charset="0"/>
                <a:ea typeface="Microsoft YaHei" panose="020B0503020204020204" pitchFamily="34" charset="-122"/>
                <a:cs typeface="微软雅黑" panose="020B0503020204020204" charset="-122"/>
              </a:rPr>
              <a:t>指南</a:t>
            </a:r>
            <a:r>
              <a:rPr sz="1015" b="1"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sz="1015" b="1" dirty="0" err="1">
                <a:solidFill>
                  <a:srgbClr val="2F3A45"/>
                </a:solidFill>
                <a:latin typeface="Arial" panose="020B0604020202020204" pitchFamily="34" charset="0"/>
                <a:ea typeface="Microsoft YaHei" panose="020B0503020204020204" pitchFamily="34" charset="-122"/>
                <a:cs typeface="微软雅黑" panose="020B0503020204020204" charset="-122"/>
              </a:rPr>
              <a:t>需要解决的是通用流程如何复用、平台知识如何采集和组织</a:t>
            </a:r>
            <a:r>
              <a:rPr sz="1015" b="1" dirty="0">
                <a:solidFill>
                  <a:srgbClr val="2F3A45"/>
                </a:solidFill>
                <a:latin typeface="Arial" panose="020B0604020202020204" pitchFamily="34" charset="0"/>
                <a:ea typeface="Microsoft YaHei" panose="020B0503020204020204" pitchFamily="34" charset="-122"/>
                <a:cs typeface="微软雅黑" panose="020B0503020204020204" charset="-122"/>
              </a:rPr>
              <a:t>。</a:t>
            </a:r>
          </a:p>
        </p:txBody>
      </p:sp>
      <p:sp>
        <p:nvSpPr>
          <p:cNvPr id="26"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27" name="s13-left-1-frame"/>
          <p:cNvSpPr>
            <a:spLocks noGrp="1"/>
          </p:cNvSpPr>
          <p:nvPr/>
        </p:nvSpPr>
        <p:spPr>
          <a:xfrm>
            <a:off x="333375" y="1724025"/>
            <a:ext cx="5514975" cy="733425"/>
          </a:xfrm>
          <a:prstGeom prst="rect">
            <a:avLst/>
          </a:prstGeom>
          <a:solidFill>
            <a:srgbClr val="EAF3F1"/>
          </a:solidFill>
          <a:ln w="9525">
            <a:solidFill>
              <a:srgbClr val="D6DEE6"/>
            </a:solidFill>
            <a:prstDash val="solid"/>
          </a:ln>
          <a:effectLst/>
        </p:spPr>
      </p:sp>
      <p:sp>
        <p:nvSpPr>
          <p:cNvPr id="28" name="s13-left-1-number"/>
          <p:cNvSpPr>
            <a:spLocks noGrp="1"/>
          </p:cNvSpPr>
          <p:nvPr/>
        </p:nvSpPr>
        <p:spPr>
          <a:xfrm>
            <a:off x="466725" y="18478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AF3F1"/>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008A50"/>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Microsoft YaHei" panose="020B0503020204020204" pitchFamily="34" charset="-122"/>
                <a:cs typeface="Calibri" panose="020F0502020204030204"/>
              </a:rPr>
              <a:t>01</a:t>
            </a:r>
          </a:p>
        </p:txBody>
      </p:sp>
      <p:sp>
        <p:nvSpPr>
          <p:cNvPr id="29" name="s13-left-1-separator"/>
          <p:cNvSpPr>
            <a:spLocks noGrp="1"/>
          </p:cNvSpPr>
          <p:nvPr/>
        </p:nvSpPr>
        <p:spPr>
          <a:xfrm>
            <a:off x="1019175" y="1857375"/>
            <a:ext cx="9525" cy="466725"/>
          </a:xfrm>
          <a:prstGeom prst="rect">
            <a:avLst/>
          </a:prstGeom>
          <a:solidFill>
            <a:srgbClr val="EAF3F1"/>
          </a:solidFill>
          <a:ln w="0">
            <a:solidFill>
              <a:srgbClr val="D6DEE6"/>
            </a:solidFill>
            <a:prstDash val="solid"/>
          </a:ln>
          <a:effectLst/>
        </p:spPr>
      </p:sp>
      <p:sp>
        <p:nvSpPr>
          <p:cNvPr id="30" name="s13-left-1-title"/>
          <p:cNvSpPr>
            <a:spLocks noGrp="1"/>
          </p:cNvSpPr>
          <p:nvPr/>
        </p:nvSpPr>
        <p:spPr>
          <a:xfrm>
            <a:off x="1171575" y="1843323"/>
            <a:ext cx="4543425" cy="266700"/>
          </a:xfrm>
          <a:prstGeom prst="rect">
            <a:avLst/>
          </a:prstGeom>
          <a:noFill/>
          <a:ln w="0">
            <a:noFill/>
            <a:prstDash val="solid"/>
          </a:ln>
          <a:effectLst/>
        </p:spPr>
        <p:txBody>
          <a:bodyPr wrap="square" lIns="0" tIns="0" rIns="0" bIns="0" anchor="ctr">
            <a:normAutofit/>
          </a:bodyPr>
          <a:lstStyle/>
          <a:p>
            <a:pPr algn="l">
              <a:defRPr sz="1225" b="1">
                <a:solidFill>
                  <a:srgbClr val="008A50"/>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Microsoft YaHei" panose="020B0503020204020204" pitchFamily="34" charset="-122"/>
                <a:cs typeface="微软雅黑" panose="020B0503020204020204" charset="-122"/>
              </a:rPr>
              <a:t>开发流程能够跑通</a:t>
            </a:r>
            <a:endParaRPr sz="1400"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31" name="s13-left-1-body"/>
          <p:cNvSpPr>
            <a:spLocks noGrp="1"/>
          </p:cNvSpPr>
          <p:nvPr/>
        </p:nvSpPr>
        <p:spPr>
          <a:xfrm>
            <a:off x="1171575" y="2147957"/>
            <a:ext cx="4543425" cy="400050"/>
          </a:xfrm>
          <a:prstGeom prst="rect">
            <a:avLst/>
          </a:prstGeom>
          <a:noFill/>
          <a:ln w="0">
            <a:noFill/>
            <a:prstDash val="solid"/>
          </a:ln>
          <a:effectLst/>
        </p:spPr>
        <p:txBody>
          <a:bodyPr wrap="square" lIns="0" tIns="0" rIns="0" bIns="0" anchor="t">
            <a:no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环境</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需求</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生成</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验证</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优化</a:t>
            </a:r>
            <a:endParaRPr sz="1200"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32" name="s13-left-2-frame"/>
          <p:cNvSpPr>
            <a:spLocks noGrp="1"/>
          </p:cNvSpPr>
          <p:nvPr/>
        </p:nvSpPr>
        <p:spPr>
          <a:xfrm>
            <a:off x="381000" y="2852737"/>
            <a:ext cx="5514975" cy="733425"/>
          </a:xfrm>
          <a:prstGeom prst="rect">
            <a:avLst/>
          </a:prstGeom>
          <a:solidFill>
            <a:srgbClr val="EAF3F1"/>
          </a:solidFill>
          <a:ln w="9525">
            <a:solidFill>
              <a:srgbClr val="D6DEE6"/>
            </a:solidFill>
            <a:prstDash val="solid"/>
          </a:ln>
          <a:effectLst/>
        </p:spPr>
      </p:sp>
      <p:sp>
        <p:nvSpPr>
          <p:cNvPr id="33" name="s13-left-2-number"/>
          <p:cNvSpPr>
            <a:spLocks noGrp="1"/>
          </p:cNvSpPr>
          <p:nvPr/>
        </p:nvSpPr>
        <p:spPr>
          <a:xfrm>
            <a:off x="514350" y="2976562"/>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AF3F1"/>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008A50"/>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Microsoft YaHei" panose="020B0503020204020204" pitchFamily="34" charset="-122"/>
                <a:cs typeface="Calibri" panose="020F0502020204030204"/>
              </a:rPr>
              <a:t>02</a:t>
            </a:r>
          </a:p>
        </p:txBody>
      </p:sp>
      <p:sp>
        <p:nvSpPr>
          <p:cNvPr id="34" name="s13-left-2-separator"/>
          <p:cNvSpPr>
            <a:spLocks noGrp="1"/>
          </p:cNvSpPr>
          <p:nvPr/>
        </p:nvSpPr>
        <p:spPr>
          <a:xfrm>
            <a:off x="1066800" y="2986087"/>
            <a:ext cx="9525" cy="466725"/>
          </a:xfrm>
          <a:prstGeom prst="rect">
            <a:avLst/>
          </a:prstGeom>
          <a:solidFill>
            <a:srgbClr val="EAF3F1"/>
          </a:solidFill>
          <a:ln w="0">
            <a:solidFill>
              <a:srgbClr val="D6DEE6"/>
            </a:solidFill>
            <a:prstDash val="solid"/>
          </a:ln>
          <a:effectLst/>
        </p:spPr>
      </p:sp>
      <p:sp>
        <p:nvSpPr>
          <p:cNvPr id="35" name="s13-left-2-title"/>
          <p:cNvSpPr>
            <a:spLocks noGrp="1"/>
          </p:cNvSpPr>
          <p:nvPr/>
        </p:nvSpPr>
        <p:spPr>
          <a:xfrm>
            <a:off x="1219200" y="2998250"/>
            <a:ext cx="4543425" cy="266700"/>
          </a:xfrm>
          <a:prstGeom prst="rect">
            <a:avLst/>
          </a:prstGeom>
          <a:noFill/>
          <a:ln w="0">
            <a:noFill/>
            <a:prstDash val="solid"/>
          </a:ln>
          <a:effectLst/>
        </p:spPr>
        <p:txBody>
          <a:bodyPr wrap="square" lIns="0" tIns="0" rIns="0" bIns="0" anchor="ctr">
            <a:normAutofit/>
          </a:bodyPr>
          <a:lstStyle/>
          <a:p>
            <a:pPr algn="l">
              <a:defRPr sz="1225" b="1">
                <a:solidFill>
                  <a:srgbClr val="008A50"/>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Microsoft YaHei" panose="020B0503020204020204" pitchFamily="34" charset="-122"/>
                <a:cs typeface="微软雅黑" panose="020B0503020204020204" charset="-122"/>
              </a:rPr>
              <a:t>生成与验证形成闭环</a:t>
            </a:r>
            <a:endParaRPr sz="1400"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36" name="s13-left-2-body"/>
          <p:cNvSpPr>
            <a:spLocks noGrp="1"/>
          </p:cNvSpPr>
          <p:nvPr/>
        </p:nvSpPr>
        <p:spPr>
          <a:xfrm>
            <a:off x="1219200" y="3276282"/>
            <a:ext cx="4543425" cy="400050"/>
          </a:xfrm>
          <a:prstGeom prst="rect">
            <a:avLst/>
          </a:prstGeom>
          <a:noFill/>
          <a:ln w="0">
            <a:noFill/>
            <a:prstDash val="solid"/>
          </a:ln>
          <a:effectLst/>
        </p:spPr>
        <p:txBody>
          <a:bodyPr wrap="square" lIns="0" tIns="0" rIns="0" bIns="0" anchor="t">
            <a:no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Kernel + Test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执行</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Correctness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修复</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通过</a:t>
            </a:r>
            <a:endParaRPr sz="1200"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37" name="s13-left-3-frame"/>
          <p:cNvSpPr>
            <a:spLocks noGrp="1"/>
          </p:cNvSpPr>
          <p:nvPr/>
        </p:nvSpPr>
        <p:spPr>
          <a:xfrm>
            <a:off x="381000" y="3984582"/>
            <a:ext cx="5514975" cy="733425"/>
          </a:xfrm>
          <a:prstGeom prst="rect">
            <a:avLst/>
          </a:prstGeom>
          <a:solidFill>
            <a:srgbClr val="EAF3F1"/>
          </a:solidFill>
          <a:ln w="9525">
            <a:solidFill>
              <a:srgbClr val="D6DEE6"/>
            </a:solidFill>
            <a:prstDash val="solid"/>
          </a:ln>
          <a:effectLst/>
        </p:spPr>
      </p:sp>
      <p:sp>
        <p:nvSpPr>
          <p:cNvPr id="38" name="s13-left-3-number"/>
          <p:cNvSpPr>
            <a:spLocks noGrp="1"/>
          </p:cNvSpPr>
          <p:nvPr/>
        </p:nvSpPr>
        <p:spPr>
          <a:xfrm>
            <a:off x="514350" y="4108407"/>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AF3F1"/>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008A50"/>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Microsoft YaHei" panose="020B0503020204020204" pitchFamily="34" charset="-122"/>
                <a:cs typeface="Calibri" panose="020F0502020204030204"/>
              </a:rPr>
              <a:t>03</a:t>
            </a:r>
          </a:p>
        </p:txBody>
      </p:sp>
      <p:sp>
        <p:nvSpPr>
          <p:cNvPr id="39" name="s13-left-3-separator"/>
          <p:cNvSpPr>
            <a:spLocks noGrp="1"/>
          </p:cNvSpPr>
          <p:nvPr/>
        </p:nvSpPr>
        <p:spPr>
          <a:xfrm>
            <a:off x="1066800" y="4117932"/>
            <a:ext cx="9525" cy="466725"/>
          </a:xfrm>
          <a:prstGeom prst="rect">
            <a:avLst/>
          </a:prstGeom>
          <a:solidFill>
            <a:srgbClr val="EAF3F1"/>
          </a:solidFill>
          <a:ln w="0">
            <a:solidFill>
              <a:srgbClr val="D6DEE6"/>
            </a:solidFill>
            <a:prstDash val="solid"/>
          </a:ln>
          <a:effectLst/>
        </p:spPr>
      </p:sp>
      <p:sp>
        <p:nvSpPr>
          <p:cNvPr id="40" name="s13-left-3-title"/>
          <p:cNvSpPr>
            <a:spLocks noGrp="1"/>
          </p:cNvSpPr>
          <p:nvPr/>
        </p:nvSpPr>
        <p:spPr>
          <a:xfrm>
            <a:off x="1209675" y="4119214"/>
            <a:ext cx="4543425" cy="266700"/>
          </a:xfrm>
          <a:prstGeom prst="rect">
            <a:avLst/>
          </a:prstGeom>
          <a:noFill/>
          <a:ln w="0">
            <a:noFill/>
            <a:prstDash val="solid"/>
          </a:ln>
          <a:effectLst/>
        </p:spPr>
        <p:txBody>
          <a:bodyPr wrap="square" lIns="0" tIns="0" rIns="0" bIns="0" anchor="ctr">
            <a:normAutofit/>
          </a:bodyPr>
          <a:lstStyle/>
          <a:p>
            <a:pPr algn="l">
              <a:defRPr sz="1225" b="1">
                <a:solidFill>
                  <a:srgbClr val="008A50"/>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Microsoft YaHei" panose="020B0503020204020204" pitchFamily="34" charset="-122"/>
                <a:cs typeface="微软雅黑" panose="020B0503020204020204" charset="-122"/>
              </a:rPr>
              <a:t>性能优化</a:t>
            </a:r>
            <a:r>
              <a:rPr lang="zh-CN" altLang="en-US" sz="1400" dirty="0">
                <a:solidFill>
                  <a:srgbClr val="2F3A45"/>
                </a:solidFill>
                <a:latin typeface="Arial" panose="020B0604020202020204" pitchFamily="34" charset="0"/>
                <a:ea typeface="Microsoft YaHei" panose="020B0503020204020204" pitchFamily="34" charset="-122"/>
                <a:cs typeface="微软雅黑" panose="020B0503020204020204" charset="-122"/>
              </a:rPr>
              <a:t>全面</a:t>
            </a:r>
            <a:endParaRPr sz="1400"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41" name="s13-left-3-body"/>
          <p:cNvSpPr>
            <a:spLocks noGrp="1"/>
          </p:cNvSpPr>
          <p:nvPr/>
        </p:nvSpPr>
        <p:spPr>
          <a:xfrm>
            <a:off x="1198287" y="4401129"/>
            <a:ext cx="4543425" cy="400050"/>
          </a:xfrm>
          <a:prstGeom prst="rect">
            <a:avLst/>
          </a:prstGeom>
          <a:noFill/>
          <a:ln w="0">
            <a:noFill/>
            <a:prstDash val="solid"/>
          </a:ln>
          <a:effectLst/>
        </p:spPr>
        <p:txBody>
          <a:bodyPr wrap="square" lIns="0" tIns="0" rIns="0" bIns="0" anchor="t">
            <a:no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Benchmark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分析</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优化</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复测</a:t>
            </a:r>
            <a:endParaRPr sz="1200"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47" name="s13-right-1-frame"/>
          <p:cNvSpPr>
            <a:spLocks noGrp="1"/>
          </p:cNvSpPr>
          <p:nvPr/>
        </p:nvSpPr>
        <p:spPr>
          <a:xfrm>
            <a:off x="6181725" y="1685925"/>
            <a:ext cx="5324475" cy="733425"/>
          </a:xfrm>
          <a:prstGeom prst="rect">
            <a:avLst/>
          </a:prstGeom>
          <a:solidFill>
            <a:srgbClr val="EEF2F5"/>
          </a:solidFill>
          <a:ln w="9525">
            <a:solidFill>
              <a:srgbClr val="D6DEE6"/>
            </a:solidFill>
            <a:prstDash val="solid"/>
          </a:ln>
          <a:effectLst/>
        </p:spPr>
      </p:sp>
      <p:sp>
        <p:nvSpPr>
          <p:cNvPr id="48" name="s13-right-1-number"/>
          <p:cNvSpPr>
            <a:spLocks noGrp="1"/>
          </p:cNvSpPr>
          <p:nvPr/>
        </p:nvSpPr>
        <p:spPr>
          <a:xfrm>
            <a:off x="6315075" y="1809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Microsoft YaHei" panose="020B0503020204020204" pitchFamily="34" charset="-122"/>
                <a:cs typeface="Calibri" panose="020F0502020204030204"/>
              </a:rPr>
              <a:t>01</a:t>
            </a:r>
          </a:p>
        </p:txBody>
      </p:sp>
      <p:sp>
        <p:nvSpPr>
          <p:cNvPr id="49" name="s13-right-1-separator"/>
          <p:cNvSpPr>
            <a:spLocks noGrp="1"/>
          </p:cNvSpPr>
          <p:nvPr/>
        </p:nvSpPr>
        <p:spPr>
          <a:xfrm>
            <a:off x="6867525" y="1819275"/>
            <a:ext cx="9525" cy="466725"/>
          </a:xfrm>
          <a:prstGeom prst="rect">
            <a:avLst/>
          </a:prstGeom>
          <a:solidFill>
            <a:srgbClr val="EEF2F5"/>
          </a:solidFill>
          <a:ln w="0">
            <a:solidFill>
              <a:srgbClr val="D6DEE6"/>
            </a:solidFill>
            <a:prstDash val="solid"/>
          </a:ln>
          <a:effectLst/>
        </p:spPr>
      </p:sp>
      <p:sp>
        <p:nvSpPr>
          <p:cNvPr id="50" name="s13-right-1-title"/>
          <p:cNvSpPr>
            <a:spLocks noGrp="1"/>
          </p:cNvSpPr>
          <p:nvPr/>
        </p:nvSpPr>
        <p:spPr>
          <a:xfrm>
            <a:off x="7019925" y="1891679"/>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sz="1400" dirty="0" err="1">
                <a:solidFill>
                  <a:srgbClr val="294A6D"/>
                </a:solidFill>
                <a:latin typeface="Arial" panose="020B0604020202020204" pitchFamily="34" charset="0"/>
                <a:ea typeface="Microsoft YaHei" panose="020B0503020204020204" pitchFamily="34" charset="-122"/>
                <a:cs typeface="微软雅黑" panose="020B0503020204020204" charset="-122"/>
              </a:rPr>
              <a:t>平台知识分散</a:t>
            </a:r>
            <a:endParaRPr sz="14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51" name="s13-right-1-body"/>
          <p:cNvSpPr>
            <a:spLocks noGrp="1"/>
          </p:cNvSpPr>
          <p:nvPr/>
        </p:nvSpPr>
        <p:spPr>
          <a:xfrm>
            <a:off x="7019925" y="1981200"/>
            <a:ext cx="4352925" cy="400050"/>
          </a:xfrm>
          <a:prstGeom prst="rect">
            <a:avLst/>
          </a:prstGeom>
          <a:noFill/>
          <a:ln w="0">
            <a:noFill/>
            <a:prstDash val="solid"/>
          </a:ln>
          <a:effectLst/>
        </p:spPr>
        <p:txBody>
          <a:bodyPr wrap="square" lIns="0" tIns="0" rIns="0" bIns="0" anchor="t">
            <a:noAutofit/>
          </a:bodyPr>
          <a:lstStyle/>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52" name="s13-right-2-frame"/>
          <p:cNvSpPr>
            <a:spLocks noGrp="1"/>
          </p:cNvSpPr>
          <p:nvPr/>
        </p:nvSpPr>
        <p:spPr>
          <a:xfrm>
            <a:off x="6181725" y="2447925"/>
            <a:ext cx="5324475" cy="733425"/>
          </a:xfrm>
          <a:prstGeom prst="rect">
            <a:avLst/>
          </a:prstGeom>
          <a:solidFill>
            <a:srgbClr val="EEF2F5"/>
          </a:solidFill>
          <a:ln w="9525">
            <a:solidFill>
              <a:srgbClr val="D6DEE6"/>
            </a:solidFill>
            <a:prstDash val="solid"/>
          </a:ln>
          <a:effectLst/>
        </p:spPr>
      </p:sp>
      <p:sp>
        <p:nvSpPr>
          <p:cNvPr id="53" name="s13-right-2-number"/>
          <p:cNvSpPr>
            <a:spLocks noGrp="1"/>
          </p:cNvSpPr>
          <p:nvPr/>
        </p:nvSpPr>
        <p:spPr>
          <a:xfrm>
            <a:off x="6315075" y="2571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Microsoft YaHei" panose="020B0503020204020204" pitchFamily="34" charset="-122"/>
                <a:cs typeface="Calibri" panose="020F0502020204030204"/>
              </a:rPr>
              <a:t>02</a:t>
            </a:r>
          </a:p>
        </p:txBody>
      </p:sp>
      <p:sp>
        <p:nvSpPr>
          <p:cNvPr id="54" name="s13-right-2-separator"/>
          <p:cNvSpPr>
            <a:spLocks noGrp="1"/>
          </p:cNvSpPr>
          <p:nvPr/>
        </p:nvSpPr>
        <p:spPr>
          <a:xfrm>
            <a:off x="6867525" y="2581275"/>
            <a:ext cx="9525" cy="466725"/>
          </a:xfrm>
          <a:prstGeom prst="rect">
            <a:avLst/>
          </a:prstGeom>
          <a:solidFill>
            <a:srgbClr val="EEF2F5"/>
          </a:solidFill>
          <a:ln w="0">
            <a:solidFill>
              <a:srgbClr val="D6DEE6"/>
            </a:solidFill>
            <a:prstDash val="solid"/>
          </a:ln>
          <a:effectLst/>
        </p:spPr>
      </p:sp>
      <p:sp>
        <p:nvSpPr>
          <p:cNvPr id="55" name="s13-right-2-title"/>
          <p:cNvSpPr>
            <a:spLocks noGrp="1"/>
          </p:cNvSpPr>
          <p:nvPr/>
        </p:nvSpPr>
        <p:spPr>
          <a:xfrm>
            <a:off x="7019925" y="2697163"/>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sz="1400" dirty="0" err="1">
                <a:solidFill>
                  <a:srgbClr val="294A6D"/>
                </a:solidFill>
                <a:latin typeface="Arial" panose="020B0604020202020204" pitchFamily="34" charset="0"/>
                <a:ea typeface="Microsoft YaHei" panose="020B0503020204020204" pitchFamily="34" charset="-122"/>
                <a:cs typeface="微软雅黑" panose="020B0503020204020204" charset="-122"/>
              </a:rPr>
              <a:t>新平台适配修改点多</a:t>
            </a:r>
            <a:endParaRPr sz="14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56" name="s13-right-2-body"/>
          <p:cNvSpPr>
            <a:spLocks noGrp="1"/>
          </p:cNvSpPr>
          <p:nvPr/>
        </p:nvSpPr>
        <p:spPr>
          <a:xfrm>
            <a:off x="7019925" y="2743200"/>
            <a:ext cx="4352925" cy="400050"/>
          </a:xfrm>
          <a:prstGeom prst="rect">
            <a:avLst/>
          </a:prstGeom>
          <a:noFill/>
          <a:ln w="0">
            <a:noFill/>
            <a:prstDash val="solid"/>
          </a:ln>
          <a:effectLst/>
        </p:spPr>
        <p:txBody>
          <a:bodyPr wrap="square" lIns="0" tIns="0" rIns="0" bIns="0" anchor="t">
            <a:noAutofit/>
          </a:bodyPr>
          <a:lstStyle/>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57" name="s13-right-3-frame"/>
          <p:cNvSpPr>
            <a:spLocks noGrp="1"/>
          </p:cNvSpPr>
          <p:nvPr/>
        </p:nvSpPr>
        <p:spPr>
          <a:xfrm>
            <a:off x="6181725" y="3209925"/>
            <a:ext cx="5324475" cy="733425"/>
          </a:xfrm>
          <a:prstGeom prst="rect">
            <a:avLst/>
          </a:prstGeom>
          <a:solidFill>
            <a:srgbClr val="EEF2F5"/>
          </a:solidFill>
          <a:ln w="9525">
            <a:solidFill>
              <a:srgbClr val="D6DEE6"/>
            </a:solidFill>
            <a:prstDash val="solid"/>
          </a:ln>
          <a:effectLst/>
        </p:spPr>
      </p:sp>
      <p:sp>
        <p:nvSpPr>
          <p:cNvPr id="58" name="s13-right-3-number"/>
          <p:cNvSpPr>
            <a:spLocks noGrp="1"/>
          </p:cNvSpPr>
          <p:nvPr/>
        </p:nvSpPr>
        <p:spPr>
          <a:xfrm>
            <a:off x="6315075" y="3333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Microsoft YaHei" panose="020B0503020204020204" pitchFamily="34" charset="-122"/>
                <a:cs typeface="Calibri" panose="020F0502020204030204"/>
              </a:rPr>
              <a:t>03</a:t>
            </a:r>
          </a:p>
        </p:txBody>
      </p:sp>
      <p:sp>
        <p:nvSpPr>
          <p:cNvPr id="59" name="s13-right-3-separator"/>
          <p:cNvSpPr>
            <a:spLocks noGrp="1"/>
          </p:cNvSpPr>
          <p:nvPr/>
        </p:nvSpPr>
        <p:spPr>
          <a:xfrm>
            <a:off x="6867525" y="3343275"/>
            <a:ext cx="9525" cy="466725"/>
          </a:xfrm>
          <a:prstGeom prst="rect">
            <a:avLst/>
          </a:prstGeom>
          <a:solidFill>
            <a:srgbClr val="EEF2F5"/>
          </a:solidFill>
          <a:ln w="0">
            <a:solidFill>
              <a:srgbClr val="D6DEE6"/>
            </a:solidFill>
            <a:prstDash val="solid"/>
          </a:ln>
          <a:effectLst/>
        </p:spPr>
      </p:sp>
      <p:sp>
        <p:nvSpPr>
          <p:cNvPr id="60" name="s13-right-3-title"/>
          <p:cNvSpPr>
            <a:spLocks noGrp="1"/>
          </p:cNvSpPr>
          <p:nvPr/>
        </p:nvSpPr>
        <p:spPr>
          <a:xfrm>
            <a:off x="6999605" y="3424237"/>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sz="1400" dirty="0" err="1">
                <a:solidFill>
                  <a:srgbClr val="294A6D"/>
                </a:solidFill>
                <a:latin typeface="Arial" panose="020B0604020202020204" pitchFamily="34" charset="0"/>
                <a:ea typeface="Microsoft YaHei" panose="020B0503020204020204" pitchFamily="34" charset="-122"/>
                <a:cs typeface="微软雅黑" panose="020B0503020204020204" charset="-122"/>
              </a:rPr>
              <a:t>通用流程与平台经验</a:t>
            </a:r>
            <a:r>
              <a:rPr lang="zh-CN" altLang="en-US" sz="1400" dirty="0">
                <a:solidFill>
                  <a:srgbClr val="294A6D"/>
                </a:solidFill>
                <a:latin typeface="Arial" panose="020B0604020202020204" pitchFamily="34" charset="0"/>
                <a:ea typeface="Microsoft YaHei" panose="020B0503020204020204" pitchFamily="34" charset="-122"/>
                <a:cs typeface="微软雅黑" panose="020B0503020204020204" charset="-122"/>
              </a:rPr>
              <a:t>需要</a:t>
            </a:r>
            <a:r>
              <a:rPr sz="1400" dirty="0" err="1">
                <a:solidFill>
                  <a:srgbClr val="294A6D"/>
                </a:solidFill>
                <a:latin typeface="Arial" panose="020B0604020202020204" pitchFamily="34" charset="0"/>
                <a:ea typeface="Microsoft YaHei" panose="020B0503020204020204" pitchFamily="34" charset="-122"/>
                <a:cs typeface="微软雅黑" panose="020B0503020204020204" charset="-122"/>
              </a:rPr>
              <a:t>分离</a:t>
            </a:r>
            <a:endParaRPr sz="14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63" name="s13-right-4-frame"/>
          <p:cNvSpPr>
            <a:spLocks noGrp="1"/>
          </p:cNvSpPr>
          <p:nvPr/>
        </p:nvSpPr>
        <p:spPr>
          <a:xfrm>
            <a:off x="6181725" y="3971925"/>
            <a:ext cx="5324475" cy="752475"/>
          </a:xfrm>
          <a:prstGeom prst="rect">
            <a:avLst/>
          </a:prstGeom>
          <a:solidFill>
            <a:srgbClr val="EEF2F5"/>
          </a:solidFill>
          <a:ln w="9525">
            <a:solidFill>
              <a:srgbClr val="D6DEE6"/>
            </a:solidFill>
            <a:prstDash val="solid"/>
          </a:ln>
          <a:effectLst/>
        </p:spPr>
      </p:sp>
      <p:sp>
        <p:nvSpPr>
          <p:cNvPr id="64" name="s13-right-4-number"/>
          <p:cNvSpPr>
            <a:spLocks noGrp="1"/>
          </p:cNvSpPr>
          <p:nvPr/>
        </p:nvSpPr>
        <p:spPr>
          <a:xfrm>
            <a:off x="6315075" y="4095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Microsoft YaHei" panose="020B0503020204020204" pitchFamily="34" charset="-122"/>
                <a:cs typeface="Calibri" panose="020F0502020204030204"/>
              </a:rPr>
              <a:t>04</a:t>
            </a:r>
          </a:p>
        </p:txBody>
      </p:sp>
      <p:sp>
        <p:nvSpPr>
          <p:cNvPr id="65" name="s13-right-4-separator"/>
          <p:cNvSpPr>
            <a:spLocks noGrp="1"/>
          </p:cNvSpPr>
          <p:nvPr/>
        </p:nvSpPr>
        <p:spPr>
          <a:xfrm>
            <a:off x="6867525" y="4105275"/>
            <a:ext cx="9525" cy="485775"/>
          </a:xfrm>
          <a:prstGeom prst="rect">
            <a:avLst/>
          </a:prstGeom>
          <a:solidFill>
            <a:srgbClr val="EEF2F5"/>
          </a:solidFill>
          <a:ln w="0">
            <a:solidFill>
              <a:srgbClr val="D6DEE6"/>
            </a:solidFill>
            <a:prstDash val="solid"/>
          </a:ln>
          <a:effectLst/>
        </p:spPr>
      </p:sp>
      <p:sp>
        <p:nvSpPr>
          <p:cNvPr id="66" name="s13-right-4-title"/>
          <p:cNvSpPr>
            <a:spLocks noGrp="1"/>
          </p:cNvSpPr>
          <p:nvPr/>
        </p:nvSpPr>
        <p:spPr>
          <a:xfrm>
            <a:off x="6999605" y="4178300"/>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lang="zh-CN" altLang="en-US" sz="1400" dirty="0">
                <a:solidFill>
                  <a:srgbClr val="294A6D"/>
                </a:solidFill>
                <a:latin typeface="Arial" panose="020B0604020202020204" pitchFamily="34" charset="0"/>
                <a:ea typeface="Microsoft YaHei" panose="020B0503020204020204" pitchFamily="34" charset="-122"/>
                <a:cs typeface="微软雅黑" panose="020B0503020204020204" charset="-122"/>
              </a:rPr>
              <a:t>开发时间较长</a:t>
            </a:r>
            <a:endParaRPr sz="14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67" name="s13-right-4-body"/>
          <p:cNvSpPr>
            <a:spLocks noGrp="1"/>
          </p:cNvSpPr>
          <p:nvPr/>
        </p:nvSpPr>
        <p:spPr>
          <a:xfrm>
            <a:off x="7019925" y="4267200"/>
            <a:ext cx="4352925" cy="419100"/>
          </a:xfrm>
          <a:prstGeom prst="rect">
            <a:avLst/>
          </a:prstGeom>
          <a:noFill/>
          <a:ln w="0">
            <a:noFill/>
            <a:prstDash val="solid"/>
          </a:ln>
          <a:effectLst/>
        </p:spPr>
        <p:txBody>
          <a:bodyPr wrap="square" lIns="0" tIns="0" rIns="0" bIns="0" anchor="t">
            <a:noAutofit/>
          </a:bodyPr>
          <a:lstStyle/>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4"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a:solidFill>
                  <a:srgbClr val="66737F"/>
                </a:solidFill>
                <a:latin typeface="Arial" panose="020B0604020202020204" pitchFamily="34" charset="0"/>
                <a:ea typeface="Microsoft YaHei" panose="020B0503020204020204" pitchFamily="34" charset="-122"/>
                <a:cs typeface="微软雅黑" panose="020B0503020204020204" charset="-122"/>
              </a:rPr>
              <a:t>6</a:t>
            </a:r>
          </a:p>
        </p:txBody>
      </p:sp>
      <p:sp>
        <p:nvSpPr>
          <p:cNvPr id="61"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2</a:t>
            </a: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.3</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Microsoft YaHei" panose="020B0503020204020204" pitchFamily="3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FFFFFF"/>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D6DEE6"/>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a:solidFill>
                  <a:srgbClr val="2F3A45"/>
                </a:solidFill>
                <a:latin typeface="Arial" panose="020B0604020202020204" pitchFamily="34" charset="0"/>
                <a:ea typeface="Microsoft YaHei" panose="020B0503020204020204" pitchFamily="34" charset="-122"/>
                <a:cs typeface="微软雅黑" panose="020B0503020204020204" charset="-122"/>
              </a:rPr>
              <a:t>Agent/</a:t>
            </a:r>
            <a:r>
              <a:rPr sz="1600">
                <a:solidFill>
                  <a:srgbClr val="2F3A45"/>
                </a:solidFill>
                <a:latin typeface="Arial" panose="020B0604020202020204" pitchFamily="34" charset="0"/>
                <a:ea typeface="Microsoft YaHei" panose="020B0503020204020204" pitchFamily="3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ect">
            <a:avLst/>
          </a:prstGeom>
          <a:solidFill>
            <a:srgbClr val="FFFFFF"/>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D6DEE6"/>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02</a:t>
            </a: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a:solidFill>
                  <a:srgbClr val="2F3A45"/>
                </a:solidFill>
                <a:latin typeface="Arial" panose="020B0604020202020204" pitchFamily="34" charset="0"/>
                <a:ea typeface="Microsoft YaHei" panose="020B0503020204020204" pitchFamily="34" charset="-122"/>
                <a:cs typeface="微软雅黑" panose="020B0503020204020204" charset="-122"/>
              </a:rPr>
              <a:t>寒武纪</a:t>
            </a:r>
            <a:r>
              <a:rPr sz="1600">
                <a:solidFill>
                  <a:srgbClr val="2F3A45"/>
                </a:solidFill>
                <a:latin typeface="Arial" panose="020B0604020202020204" pitchFamily="34" charset="0"/>
                <a:ea typeface="Microsoft YaHei" panose="020B0503020204020204" pitchFamily="3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ect">
            <a:avLst/>
          </a:prstGeom>
          <a:solidFill>
            <a:srgbClr val="EEF2F5"/>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5B7188"/>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lvl="0">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Microsoft YaHei" panose="020B0503020204020204" pitchFamily="34" charset="-122"/>
                <a:sym typeface="+mn-ea"/>
              </a:rPr>
              <a:t>PART 03</a:t>
            </a: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b="1">
                <a:solidFill>
                  <a:srgbClr val="243B53"/>
                </a:solidFill>
                <a:latin typeface="Arial" panose="020B0604020202020204" pitchFamily="34" charset="0"/>
                <a:ea typeface="Microsoft YaHei" panose="020B0503020204020204" pitchFamily="3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ect">
            <a:avLst/>
          </a:prstGeom>
          <a:solidFill>
            <a:srgbClr val="FFFFFF"/>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D6DEE6"/>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Microsoft YaHei" panose="020B0503020204020204" pitchFamily="34" charset="-122"/>
                <a:cs typeface="微软雅黑" panose="020B0503020204020204" charset="-122"/>
              </a:rPr>
              <a:t>未来展望</a:t>
            </a: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7-title"/>
          <p:cNvSpPr>
            <a:spLocks noGrp="1"/>
          </p:cNvSpPr>
          <p:nvPr/>
        </p:nvSpPr>
        <p:spPr>
          <a:xfrm>
            <a:off x="1487170" y="165735"/>
            <a:ext cx="8763000" cy="466725"/>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pPr algn="l">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sz="2550" b="1">
                <a:solidFill>
                  <a:srgbClr val="243B53"/>
                </a:solidFill>
                <a:latin typeface="Arial" panose="020B0604020202020204" pitchFamily="34" charset="0"/>
                <a:ea typeface="Microsoft YaHei" panose="020B0503020204020204" pitchFamily="34" charset="-122"/>
              </a:rPr>
              <a:t>算子 Skill 开发指南：通用框架 × 平台知识 × 验证闭环</a:t>
            </a:r>
          </a:p>
        </p:txBody>
      </p:sp>
      <p:sp>
        <p:nvSpPr>
          <p:cNvPr id="14" name="framework-synthesis"/>
          <p:cNvSpPr>
            <a:spLocks noGrp="1"/>
          </p:cNvSpPr>
          <p:nvPr/>
        </p:nvSpPr>
        <p:spPr>
          <a:xfrm>
            <a:off x="3247610" y="5422830"/>
            <a:ext cx="5095875" cy="266700"/>
          </a:xfrm>
          <a:prstGeom prst="rect">
            <a:avLst/>
          </a:prstGeom>
          <a:solidFill>
            <a:srgbClr val="EEF2F5"/>
          </a:solidFill>
          <a:ln w="9525">
            <a:solidFill>
              <a:srgbClr val="D6DEE6"/>
            </a:solidFill>
            <a:prstDash val="solid"/>
          </a:ln>
          <a:effectLst/>
        </p:spPr>
        <p:txBody>
          <a:bodyPr wrap="square" lIns="76200" tIns="0" rIns="76200" bIns="0" anchor="ctr">
            <a:normAutofit/>
          </a:bodyPr>
          <a:lstStyle/>
          <a:p>
            <a:pPr algn="ctr">
              <a:buNone/>
              <a:defRPr sz="940" b="1">
                <a:solidFill>
                  <a:srgbClr val="17386F"/>
                </a:solidFill>
                <a:latin typeface="微软雅黑" panose="020B0503020204020204" charset="-122"/>
                <a:ea typeface="微软雅黑" panose="020B0503020204020204" charset="-122"/>
                <a:cs typeface="微软雅黑" panose="020B0503020204020204" charset="-122"/>
              </a:defRPr>
            </a:pPr>
            <a:r>
              <a:rPr sz="940">
                <a:solidFill>
                  <a:srgbClr val="2F3A45"/>
                </a:solidFill>
                <a:latin typeface="Arial" panose="020B0604020202020204" pitchFamily="34" charset="0"/>
                <a:ea typeface="Microsoft YaHei" panose="020B0503020204020204" pitchFamily="34" charset="-122"/>
              </a:rPr>
              <a:t>★  通用框架提供骨架，平台知识填充差异，真实验证不断校准两者。</a:t>
            </a:r>
          </a:p>
        </p:txBody>
      </p:sp>
      <p:sp>
        <p:nvSpPr>
          <p:cNvPr id="16"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sz="1200" b="1">
                <a:solidFill>
                  <a:srgbClr val="66737F"/>
                </a:solidFill>
                <a:latin typeface="Arial" panose="020B0604020202020204" pitchFamily="34" charset="0"/>
                <a:ea typeface="Microsoft YaHei" panose="020B0503020204020204" pitchFamily="34" charset="-122"/>
                <a:cs typeface="微软雅黑" panose="020B0503020204020204" charset="-122"/>
              </a:rPr>
              <a:t>7</a:t>
            </a:r>
          </a:p>
        </p:txBody>
      </p:sp>
      <p:sp>
        <p:nvSpPr>
          <p:cNvPr id="17" name="slide-7-editable-footer"/>
          <p:cNvSpPr>
            <a:spLocks noGrp="1"/>
          </p:cNvSpPr>
          <p:nvPr/>
        </p:nvSpPr>
        <p:spPr>
          <a:xfrm>
            <a:off x="228600" y="6400800"/>
            <a:ext cx="11696700" cy="390525"/>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97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2F3A45"/>
                </a:solidFill>
                <a:latin typeface="Arial" panose="020B0604020202020204" pitchFamily="34" charset="0"/>
                <a:ea typeface="Microsoft YaHei" panose="020B0503020204020204" pitchFamily="34" charset="-122"/>
              </a:rPr>
              <a:t>算子skill的开发不是一蹴而就的，需要不断的完善和更新迭代。平台事实验证和环境验证看起来复杂，实际上可以通过一类模板指令让大模型进行检测。</a:t>
            </a:r>
          </a:p>
        </p:txBody>
      </p:sp>
      <p:sp>
        <p:nvSpPr>
          <p:cNvPr id="18"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9" name="s15-universal-frame"/>
          <p:cNvSpPr>
            <a:spLocks noGrp="1"/>
          </p:cNvSpPr>
          <p:nvPr/>
        </p:nvSpPr>
        <p:spPr>
          <a:xfrm>
            <a:off x="3676235" y="869880"/>
            <a:ext cx="4743450" cy="990600"/>
          </a:xfrm>
          <a:prstGeom prst="rect">
            <a:avLst/>
          </a:prstGeom>
          <a:solidFill>
            <a:srgbClr val="EEF2F5"/>
          </a:solidFill>
          <a:ln w="13335">
            <a:solidFill>
              <a:srgbClr val="D6DEE6"/>
            </a:solidFill>
            <a:prstDash val="solid"/>
          </a:ln>
          <a:effectLst/>
        </p:spPr>
      </p:sp>
      <p:sp>
        <p:nvSpPr>
          <p:cNvPr id="20" name="s15-universal-title"/>
          <p:cNvSpPr>
            <a:spLocks noGrp="1"/>
          </p:cNvSpPr>
          <p:nvPr/>
        </p:nvSpPr>
        <p:spPr>
          <a:xfrm>
            <a:off x="3760573" y="953386"/>
            <a:ext cx="4514850" cy="295275"/>
          </a:xfrm>
          <a:prstGeom prst="rect">
            <a:avLst/>
          </a:prstGeom>
          <a:noFill/>
          <a:ln w="0">
            <a:noFill/>
            <a:prstDash val="solid"/>
          </a:ln>
          <a:effectLst/>
        </p:spPr>
        <p:txBody>
          <a:bodyPr wrap="square" lIns="0" tIns="0" rIns="0" bIns="0" anchor="ctr">
            <a:noAutofit/>
          </a:bodyPr>
          <a:lstStyle/>
          <a:p>
            <a:pPr algn="ctr">
              <a:defRPr sz="1165" b="1">
                <a:solidFill>
                  <a:srgbClr val="1457C5"/>
                </a:solidFill>
                <a:latin typeface="Calibri" panose="020F0502020204030204"/>
                <a:ea typeface="Calibri" panose="020F0502020204030204"/>
                <a:cs typeface="Calibri" panose="020F0502020204030204"/>
              </a:defRPr>
            </a:pPr>
            <a:r>
              <a:rPr sz="1600" dirty="0" err="1">
                <a:solidFill>
                  <a:srgbClr val="294A6D"/>
                </a:solidFill>
                <a:latin typeface="Arial" panose="020B0604020202020204" pitchFamily="34" charset="0"/>
                <a:ea typeface="Microsoft YaHei" panose="020B0503020204020204" pitchFamily="34" charset="-122"/>
                <a:cs typeface="微软雅黑" panose="020B0503020204020204" charset="-122"/>
              </a:rPr>
              <a:t>通用框架</a:t>
            </a:r>
            <a:endParaRPr sz="16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21" name="s15-universal-subtitle"/>
          <p:cNvSpPr>
            <a:spLocks noGrp="1"/>
          </p:cNvSpPr>
          <p:nvPr/>
        </p:nvSpPr>
        <p:spPr>
          <a:xfrm>
            <a:off x="3781010" y="1201036"/>
            <a:ext cx="4514850" cy="666750"/>
          </a:xfrm>
          <a:prstGeom prst="rect">
            <a:avLst/>
          </a:prstGeom>
          <a:noFill/>
          <a:ln w="0">
            <a:noFill/>
            <a:prstDash val="solid"/>
          </a:ln>
          <a:effectLst/>
        </p:spPr>
        <p:txBody>
          <a:bodyPr wrap="square" lIns="19050" tIns="0" rIns="19050" bIns="9525" anchor="ctr">
            <a:normAutofit/>
          </a:bodyPr>
          <a:lstStyle/>
          <a:p>
            <a:pPr algn="ctr">
              <a:lnSpc>
                <a:spcPct val="95000"/>
              </a:lnSpc>
              <a:buNone/>
              <a:defRPr sz="1125" b="1">
                <a:solidFill>
                  <a:srgbClr val="27364A"/>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Microsoft YaHei" panose="020B0503020204020204" pitchFamily="34" charset="-122"/>
              </a:rPr>
              <a:t>需求</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生成</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验证</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优化</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输出</a:t>
            </a:r>
            <a:endParaRPr sz="1400" dirty="0">
              <a:solidFill>
                <a:srgbClr val="2F3A45"/>
              </a:solidFill>
              <a:latin typeface="Arial" panose="020B0604020202020204" pitchFamily="34" charset="0"/>
              <a:ea typeface="Microsoft YaHei" panose="020B0503020204020204" pitchFamily="34" charset="-122"/>
            </a:endParaRPr>
          </a:p>
        </p:txBody>
      </p:sp>
      <p:sp>
        <p:nvSpPr>
          <p:cNvPr id="22" name="s15-arrow-1"/>
          <p:cNvSpPr>
            <a:spLocks noGrp="1"/>
          </p:cNvSpPr>
          <p:nvPr/>
        </p:nvSpPr>
        <p:spPr>
          <a:xfrm>
            <a:off x="5905085" y="1841430"/>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Microsoft YaHei" panose="020B0503020204020204" pitchFamily="34" charset="-122"/>
                <a:cs typeface="Calibri" panose="020F0502020204030204"/>
              </a:rPr>
              <a:t>↓</a:t>
            </a:r>
          </a:p>
        </p:txBody>
      </p:sp>
      <p:sp>
        <p:nvSpPr>
          <p:cNvPr id="23" name="s15-platform-frame"/>
          <p:cNvSpPr>
            <a:spLocks noGrp="1"/>
          </p:cNvSpPr>
          <p:nvPr/>
        </p:nvSpPr>
        <p:spPr>
          <a:xfrm>
            <a:off x="3676235" y="2060505"/>
            <a:ext cx="4743450" cy="1257300"/>
          </a:xfrm>
          <a:prstGeom prst="rect">
            <a:avLst/>
          </a:prstGeom>
          <a:solidFill>
            <a:srgbClr val="EAF3F1"/>
          </a:solidFill>
          <a:ln w="13335">
            <a:solidFill>
              <a:srgbClr val="D6DEE6"/>
            </a:solidFill>
            <a:prstDash val="solid"/>
          </a:ln>
          <a:effectLst/>
        </p:spPr>
      </p:sp>
      <p:sp>
        <p:nvSpPr>
          <p:cNvPr id="24" name="s15-platform-title"/>
          <p:cNvSpPr>
            <a:spLocks noGrp="1"/>
          </p:cNvSpPr>
          <p:nvPr/>
        </p:nvSpPr>
        <p:spPr>
          <a:xfrm>
            <a:off x="3790535" y="2098605"/>
            <a:ext cx="4514850" cy="295275"/>
          </a:xfrm>
          <a:prstGeom prst="rect">
            <a:avLst/>
          </a:prstGeom>
          <a:noFill/>
          <a:ln w="0">
            <a:noFill/>
            <a:prstDash val="solid"/>
          </a:ln>
          <a:effectLst/>
        </p:spPr>
        <p:txBody>
          <a:bodyPr wrap="square" lIns="0" tIns="0" rIns="0" bIns="0" anchor="ctr">
            <a:normAutofit fontScale="95797"/>
          </a:bodyPr>
          <a:lstStyle/>
          <a:p>
            <a:pPr algn="ctr">
              <a:defRPr sz="1165" b="1">
                <a:solidFill>
                  <a:srgbClr val="14855C"/>
                </a:solidFill>
                <a:latin typeface="Calibri" panose="020F0502020204030204"/>
                <a:ea typeface="Calibri" panose="020F0502020204030204"/>
                <a:cs typeface="Calibri" panose="020F0502020204030204"/>
              </a:defRPr>
            </a:pPr>
            <a:r>
              <a:rPr sz="1600" dirty="0" err="1">
                <a:solidFill>
                  <a:srgbClr val="4F8A83"/>
                </a:solidFill>
                <a:latin typeface="Arial" panose="020B0604020202020204" pitchFamily="34" charset="0"/>
                <a:ea typeface="Microsoft YaHei" panose="020B0503020204020204" pitchFamily="34" charset="-122"/>
                <a:cs typeface="微软雅黑" panose="020B0503020204020204" charset="-122"/>
              </a:rPr>
              <a:t>平台知识</a:t>
            </a:r>
            <a:endParaRPr sz="1600" dirty="0">
              <a:solidFill>
                <a:srgbClr val="4F8A83"/>
              </a:solidFill>
              <a:latin typeface="Arial" panose="020B0604020202020204" pitchFamily="34" charset="0"/>
              <a:ea typeface="Microsoft YaHei" panose="020B0503020204020204" pitchFamily="34" charset="-122"/>
              <a:cs typeface="微软雅黑" panose="020B0503020204020204" charset="-122"/>
            </a:endParaRPr>
          </a:p>
        </p:txBody>
      </p:sp>
      <p:sp>
        <p:nvSpPr>
          <p:cNvPr id="25" name="s15-platform-left"/>
          <p:cNvSpPr>
            <a:spLocks noGrp="1"/>
          </p:cNvSpPr>
          <p:nvPr/>
        </p:nvSpPr>
        <p:spPr>
          <a:xfrm>
            <a:off x="4543010" y="2460555"/>
            <a:ext cx="12763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Microsoft YaHei" panose="020B0503020204020204" pitchFamily="34" charset="-122"/>
                <a:cs typeface="微软雅黑" panose="020B0503020204020204" charset="-122"/>
              </a:rPr>
              <a:t>Hardware</a:t>
            </a: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Microsoft YaHei" panose="020B0503020204020204" pitchFamily="34" charset="-122"/>
                <a:cs typeface="微软雅黑" panose="020B0503020204020204" charset="-122"/>
              </a:rPr>
              <a:t>API / Primitive</a:t>
            </a: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Microsoft YaHei" panose="020B0503020204020204" pitchFamily="34" charset="-122"/>
                <a:cs typeface="微软雅黑" panose="020B0503020204020204" charset="-122"/>
              </a:rPr>
              <a:t>Profiler</a:t>
            </a:r>
          </a:p>
        </p:txBody>
      </p:sp>
      <p:sp>
        <p:nvSpPr>
          <p:cNvPr id="26" name="s15-platform-mid-rule"/>
          <p:cNvSpPr>
            <a:spLocks noGrp="1"/>
          </p:cNvSpPr>
          <p:nvPr/>
        </p:nvSpPr>
        <p:spPr>
          <a:xfrm>
            <a:off x="5914610" y="2479605"/>
            <a:ext cx="9525" cy="514350"/>
          </a:xfrm>
          <a:prstGeom prst="rect">
            <a:avLst/>
          </a:prstGeom>
          <a:solidFill>
            <a:srgbClr val="EAF3F1"/>
          </a:solidFill>
          <a:ln w="0">
            <a:solidFill>
              <a:srgbClr val="D6DEE6"/>
            </a:solidFill>
            <a:prstDash val="solid"/>
          </a:ln>
          <a:effectLst/>
        </p:spPr>
      </p:sp>
      <p:sp>
        <p:nvSpPr>
          <p:cNvPr id="27" name="s15-platform-right"/>
          <p:cNvSpPr>
            <a:spLocks noGrp="1"/>
          </p:cNvSpPr>
          <p:nvPr/>
        </p:nvSpPr>
        <p:spPr>
          <a:xfrm>
            <a:off x="6209885" y="2460555"/>
            <a:ext cx="16954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a:solidFill>
                  <a:srgbClr val="2F3A45"/>
                </a:solidFill>
                <a:latin typeface="Arial" panose="020B0604020202020204" pitchFamily="34" charset="0"/>
                <a:ea typeface="Microsoft YaHei" panose="020B0503020204020204" pitchFamily="34" charset="-122"/>
                <a:cs typeface="微软雅黑" panose="020B0503020204020204" charset="-122"/>
              </a:rPr>
              <a:t>Programming Model</a:t>
            </a:r>
          </a:p>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a:solidFill>
                  <a:srgbClr val="2F3A45"/>
                </a:solidFill>
                <a:latin typeface="Arial" panose="020B0604020202020204" pitchFamily="34" charset="0"/>
                <a:ea typeface="Microsoft YaHei" panose="020B0503020204020204" pitchFamily="34" charset="-122"/>
                <a:cs typeface="微软雅黑" panose="020B0503020204020204" charset="-122"/>
              </a:rPr>
              <a:t>Environment / Toolchain</a:t>
            </a:r>
          </a:p>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a:solidFill>
                  <a:srgbClr val="2F3A45"/>
                </a:solidFill>
                <a:latin typeface="Arial" panose="020B0604020202020204" pitchFamily="34" charset="0"/>
                <a:ea typeface="Microsoft YaHei" panose="020B0503020204020204" pitchFamily="34" charset="-122"/>
                <a:cs typeface="微软雅黑" panose="020B0503020204020204" charset="-122"/>
              </a:rPr>
              <a:t>Optimization / Examples</a:t>
            </a:r>
          </a:p>
        </p:txBody>
      </p:sp>
      <p:sp>
        <p:nvSpPr>
          <p:cNvPr id="28" name="s15-platform-sources"/>
          <p:cNvSpPr>
            <a:spLocks noGrp="1"/>
          </p:cNvSpPr>
          <p:nvPr/>
        </p:nvSpPr>
        <p:spPr>
          <a:xfrm>
            <a:off x="4390610" y="3041580"/>
            <a:ext cx="3324225" cy="209550"/>
          </a:xfrm>
          <a:prstGeom prst="roundRect">
            <a:avLst>
              <a:gd name="adj" fmla="val 22727"/>
            </a:avLst>
          </a:prstGeom>
          <a:solidFill>
            <a:srgbClr val="EAF3F1"/>
          </a:solidFill>
          <a:ln w="9525">
            <a:solidFill>
              <a:srgbClr val="D6DEE6"/>
            </a:solidFill>
            <a:prstDash val="solid"/>
          </a:ln>
          <a:effectLst/>
        </p:spPr>
        <p:txBody>
          <a:bodyPr wrap="square" lIns="47625" tIns="19050" rIns="47625" bIns="19050" anchor="ctr">
            <a:normAutofit/>
          </a:bodyPr>
          <a:lstStyle/>
          <a:p>
            <a:pPr algn="ctr">
              <a:defRPr sz="840" b="1">
                <a:solidFill>
                  <a:srgbClr val="14855C"/>
                </a:solidFill>
                <a:latin typeface="微软雅黑" panose="020B0503020204020204" charset="-122"/>
                <a:ea typeface="微软雅黑" panose="020B0503020204020204" charset="-122"/>
                <a:cs typeface="微软雅黑" panose="020B0503020204020204" charset="-122"/>
              </a:defRPr>
            </a:pPr>
            <a:r>
              <a:rPr sz="840">
                <a:solidFill>
                  <a:srgbClr val="4F8A83"/>
                </a:solidFill>
                <a:latin typeface="Arial" panose="020B0604020202020204" pitchFamily="34" charset="0"/>
                <a:ea typeface="Microsoft YaHei" panose="020B0503020204020204" pitchFamily="34" charset="-122"/>
              </a:rPr>
              <a:t>官方资料 + 环境检测 + 微基准 + 算子实践</a:t>
            </a:r>
          </a:p>
        </p:txBody>
      </p:sp>
      <p:sp>
        <p:nvSpPr>
          <p:cNvPr id="29" name="s15-arrow-2"/>
          <p:cNvSpPr>
            <a:spLocks noGrp="1"/>
          </p:cNvSpPr>
          <p:nvPr/>
        </p:nvSpPr>
        <p:spPr>
          <a:xfrm>
            <a:off x="5905085" y="3298755"/>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855C"/>
                </a:solidFill>
                <a:latin typeface="Calibri" panose="020F0502020204030204"/>
                <a:ea typeface="Calibri" panose="020F0502020204030204"/>
                <a:cs typeface="Calibri" panose="020F0502020204030204"/>
              </a:defRPr>
            </a:pPr>
            <a:r>
              <a:rPr sz="1650">
                <a:solidFill>
                  <a:srgbClr val="4F8A83"/>
                </a:solidFill>
                <a:latin typeface="Arial" panose="020B0604020202020204" pitchFamily="34" charset="0"/>
                <a:ea typeface="Microsoft YaHei" panose="020B0503020204020204" pitchFamily="34" charset="-122"/>
                <a:cs typeface="Calibri" panose="020F0502020204030204"/>
              </a:rPr>
              <a:t>↓</a:t>
            </a:r>
          </a:p>
        </p:txBody>
      </p:sp>
      <p:sp>
        <p:nvSpPr>
          <p:cNvPr id="30" name="s15-validation-frame"/>
          <p:cNvSpPr>
            <a:spLocks noGrp="1"/>
          </p:cNvSpPr>
          <p:nvPr/>
        </p:nvSpPr>
        <p:spPr>
          <a:xfrm>
            <a:off x="3676235" y="3470205"/>
            <a:ext cx="4743450" cy="1057275"/>
          </a:xfrm>
          <a:prstGeom prst="rect">
            <a:avLst/>
          </a:prstGeom>
          <a:solidFill>
            <a:srgbClr val="EEF2F5"/>
          </a:solidFill>
          <a:ln w="13335">
            <a:solidFill>
              <a:srgbClr val="D6DEE6"/>
            </a:solidFill>
            <a:prstDash val="solid"/>
          </a:ln>
          <a:effectLst/>
        </p:spPr>
      </p:sp>
      <p:sp>
        <p:nvSpPr>
          <p:cNvPr id="31" name="s15-validation-title"/>
          <p:cNvSpPr>
            <a:spLocks noGrp="1"/>
          </p:cNvSpPr>
          <p:nvPr/>
        </p:nvSpPr>
        <p:spPr>
          <a:xfrm>
            <a:off x="3790535" y="3508305"/>
            <a:ext cx="4514850" cy="295275"/>
          </a:xfrm>
          <a:prstGeom prst="rect">
            <a:avLst/>
          </a:prstGeom>
          <a:noFill/>
          <a:ln w="0">
            <a:noFill/>
            <a:prstDash val="solid"/>
          </a:ln>
          <a:effectLst/>
        </p:spPr>
        <p:txBody>
          <a:bodyPr wrap="square" lIns="0" tIns="0" rIns="0" bIns="0" anchor="ctr">
            <a:normAutofit fontScale="96540"/>
          </a:bodyPr>
          <a:lstStyle/>
          <a:p>
            <a:pPr algn="ctr">
              <a:defRPr sz="1090" b="1">
                <a:solidFill>
                  <a:srgbClr val="1457C5"/>
                </a:solidFill>
                <a:latin typeface="Calibri" panose="020F0502020204030204"/>
                <a:ea typeface="Calibri" panose="020F0502020204030204"/>
                <a:cs typeface="Calibri" panose="020F0502020204030204"/>
              </a:defRPr>
            </a:pPr>
            <a:r>
              <a:rPr sz="1600" dirty="0" err="1">
                <a:solidFill>
                  <a:srgbClr val="294A6D"/>
                </a:solidFill>
                <a:latin typeface="Arial" panose="020B0604020202020204" pitchFamily="34" charset="0"/>
                <a:ea typeface="Microsoft YaHei" panose="020B0503020204020204" pitchFamily="34" charset="-122"/>
                <a:cs typeface="微软雅黑" panose="020B0503020204020204" charset="-122"/>
              </a:rPr>
              <a:t>验证与校准</a:t>
            </a:r>
            <a:endParaRPr sz="16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32" name="s15-validation-subtitle"/>
          <p:cNvSpPr>
            <a:spLocks noGrp="1"/>
          </p:cNvSpPr>
          <p:nvPr/>
        </p:nvSpPr>
        <p:spPr>
          <a:xfrm>
            <a:off x="3790535" y="3755955"/>
            <a:ext cx="4514850" cy="733425"/>
          </a:xfrm>
          <a:prstGeom prst="rect">
            <a:avLst/>
          </a:prstGeom>
          <a:noFill/>
          <a:ln w="0">
            <a:noFill/>
            <a:prstDash val="solid"/>
          </a:ln>
          <a:effectLst/>
        </p:spPr>
        <p:txBody>
          <a:bodyPr wrap="square" lIns="19050" tIns="0" rIns="19050" bIns="9525" anchor="ctr">
            <a:normAutofit/>
          </a:bodyPr>
          <a:lstStyle/>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L1  环境验证</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L2  平台事实验证 / 微基准</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L3  典型算子验证</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LayerNorm · Softmax · MatMul</a:t>
            </a:r>
          </a:p>
        </p:txBody>
      </p:sp>
      <p:sp>
        <p:nvSpPr>
          <p:cNvPr id="33" name="s15-arrow-3-left"/>
          <p:cNvSpPr>
            <a:spLocks noGrp="1"/>
          </p:cNvSpPr>
          <p:nvPr/>
        </p:nvSpPr>
        <p:spPr>
          <a:xfrm>
            <a:off x="4685885" y="4508430"/>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Microsoft YaHei" panose="020B0503020204020204" pitchFamily="34" charset="-122"/>
                <a:cs typeface="Calibri" panose="020F0502020204030204"/>
              </a:rPr>
              <a:t>↓</a:t>
            </a:r>
          </a:p>
        </p:txBody>
      </p:sp>
      <p:sp>
        <p:nvSpPr>
          <p:cNvPr id="34" name="s15-arrow-3-right"/>
          <p:cNvSpPr>
            <a:spLocks noGrp="1"/>
          </p:cNvSpPr>
          <p:nvPr/>
        </p:nvSpPr>
        <p:spPr>
          <a:xfrm>
            <a:off x="7067135" y="4508430"/>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Microsoft YaHei" panose="020B0503020204020204" pitchFamily="34" charset="-122"/>
                <a:cs typeface="Calibri" panose="020F0502020204030204"/>
              </a:rPr>
              <a:t>↓</a:t>
            </a:r>
          </a:p>
        </p:txBody>
      </p:sp>
      <p:sp>
        <p:nvSpPr>
          <p:cNvPr id="35" name="s15-update-knowledge"/>
          <p:cNvSpPr>
            <a:spLocks noGrp="1"/>
          </p:cNvSpPr>
          <p:nvPr/>
        </p:nvSpPr>
        <p:spPr>
          <a:xfrm>
            <a:off x="3733385" y="4698930"/>
            <a:ext cx="1847850" cy="428625"/>
          </a:xfrm>
          <a:prstGeom prst="roundRect">
            <a:avLst>
              <a:gd name="adj" fmla="val 15556"/>
            </a:avLst>
          </a:prstGeom>
          <a:solidFill>
            <a:srgbClr val="F6ECE6"/>
          </a:solidFill>
          <a:ln w="11430">
            <a:solidFill>
              <a:srgbClr val="D6DEE6"/>
            </a:solidFill>
            <a:prstDash val="solid"/>
          </a:ln>
          <a:effectLst/>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F3A45"/>
                </a:solidFill>
                <a:latin typeface="Arial" panose="020B0604020202020204" pitchFamily="34" charset="0"/>
                <a:ea typeface="Microsoft YaHei" panose="020B0503020204020204" pitchFamily="34" charset="-122"/>
              </a:rPr>
              <a:t>Update Knowledge</a:t>
            </a:r>
          </a:p>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F3A45"/>
                </a:solidFill>
                <a:latin typeface="Arial" panose="020B0604020202020204" pitchFamily="34" charset="0"/>
                <a:ea typeface="Microsoft YaHei" panose="020B0503020204020204" pitchFamily="34" charset="-122"/>
              </a:rPr>
              <a:t>更新平台知识</a:t>
            </a:r>
          </a:p>
        </p:txBody>
      </p:sp>
      <p:sp>
        <p:nvSpPr>
          <p:cNvPr id="36" name="s15-adjust-workflow"/>
          <p:cNvSpPr>
            <a:spLocks noGrp="1"/>
          </p:cNvSpPr>
          <p:nvPr/>
        </p:nvSpPr>
        <p:spPr>
          <a:xfrm>
            <a:off x="6381335" y="4698930"/>
            <a:ext cx="1752600" cy="428625"/>
          </a:xfrm>
          <a:prstGeom prst="roundRect">
            <a:avLst>
              <a:gd name="adj" fmla="val 15556"/>
            </a:avLst>
          </a:prstGeom>
          <a:solidFill>
            <a:srgbClr val="F6ECE6"/>
          </a:solidFill>
          <a:ln w="11430">
            <a:solidFill>
              <a:srgbClr val="D6DEE6"/>
            </a:solidFill>
            <a:prstDash val="solid"/>
          </a:ln>
          <a:effectLst/>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F3A45"/>
                </a:solidFill>
                <a:latin typeface="Arial" panose="020B0604020202020204" pitchFamily="34" charset="0"/>
                <a:ea typeface="Microsoft YaHei" panose="020B0503020204020204" pitchFamily="34" charset="-122"/>
              </a:rPr>
              <a:t>Adjust Workflow</a:t>
            </a:r>
          </a:p>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F3A45"/>
                </a:solidFill>
                <a:latin typeface="Arial" panose="020B0604020202020204" pitchFamily="34" charset="0"/>
                <a:ea typeface="Microsoft YaHei" panose="020B0503020204020204" pitchFamily="34" charset="-122"/>
              </a:rPr>
              <a:t>修正通用流程</a:t>
            </a:r>
          </a:p>
        </p:txBody>
      </p:sp>
      <p:sp>
        <p:nvSpPr>
          <p:cNvPr id="37" name="s15-feedback-loop"/>
          <p:cNvSpPr>
            <a:spLocks noGrp="1"/>
          </p:cNvSpPr>
          <p:nvPr/>
        </p:nvSpPr>
        <p:spPr>
          <a:xfrm>
            <a:off x="3800060" y="5146605"/>
            <a:ext cx="4248150" cy="228600"/>
          </a:xfrm>
          <a:prstGeom prst="rect">
            <a:avLst/>
          </a:prstGeom>
          <a:noFill/>
          <a:ln w="0">
            <a:noFill/>
            <a:prstDash val="solid"/>
          </a:ln>
          <a:effectLst/>
        </p:spPr>
        <p:txBody>
          <a:bodyPr wrap="square" lIns="0" tIns="0" rIns="0" bIns="0" anchor="ctr">
            <a:normAutofit/>
          </a:bodyPr>
          <a:lstStyle/>
          <a:p>
            <a:pPr algn="ctr">
              <a:defRPr sz="865" b="1">
                <a:solidFill>
                  <a:srgbClr val="072A67"/>
                </a:solidFill>
                <a:latin typeface="微软雅黑" panose="020B0503020204020204" charset="-122"/>
                <a:ea typeface="微软雅黑" panose="020B0503020204020204" charset="-122"/>
                <a:cs typeface="微软雅黑" panose="020B0503020204020204" charset="-122"/>
              </a:defRPr>
            </a:pPr>
            <a:r>
              <a:rPr sz="865">
                <a:solidFill>
                  <a:srgbClr val="C77C59"/>
                </a:solidFill>
                <a:latin typeface="Arial" panose="020B0604020202020204" pitchFamily="34" charset="0"/>
                <a:ea typeface="Microsoft YaHei" panose="020B0503020204020204" pitchFamily="34" charset="-122"/>
              </a:rPr>
              <a:t>↺  反馈校准：按问题类型回到框架或平台知识</a:t>
            </a:r>
          </a:p>
        </p:txBody>
      </p:sp>
      <p:sp>
        <p:nvSpPr>
          <p:cNvPr id="83" name="s15-feedback-label"/>
          <p:cNvSpPr>
            <a:spLocks noGrp="1"/>
          </p:cNvSpPr>
          <p:nvPr/>
        </p:nvSpPr>
        <p:spPr>
          <a:xfrm>
            <a:off x="1628775" y="5800725"/>
            <a:ext cx="1304925" cy="514350"/>
          </a:xfrm>
          <a:prstGeom prst="roundRect">
            <a:avLst>
              <a:gd name="adj" fmla="val 12963"/>
            </a:avLst>
          </a:prstGeom>
          <a:solidFill>
            <a:srgbClr val="294A6D"/>
          </a:solidFill>
          <a:ln w="0">
            <a:solidFill>
              <a:srgbClr val="D6DEE6"/>
            </a:solidFill>
            <a:prstDash val="solid"/>
          </a:ln>
          <a:effectLst/>
        </p:spPr>
        <p:txBody>
          <a:bodyPr wrap="square" lIns="47625" tIns="19050" rIns="47625" bIns="19050" anchor="ctr">
            <a:normAutofit/>
          </a:bodyPr>
          <a:lstStyle/>
          <a:p>
            <a:pPr algn="ctr">
              <a:defRPr sz="1165" b="1">
                <a:solidFill>
                  <a:srgbClr val="FFFFFF"/>
                </a:solidFill>
                <a:latin typeface="微软雅黑" panose="020B0503020204020204" charset="-122"/>
                <a:ea typeface="微软雅黑" panose="020B0503020204020204" charset="-122"/>
                <a:cs typeface="微软雅黑" panose="020B0503020204020204" charset="-122"/>
              </a:defRPr>
            </a:pPr>
            <a:r>
              <a:rPr sz="1165" dirty="0" err="1" smtClean="0">
                <a:solidFill>
                  <a:srgbClr val="FFFFFF"/>
                </a:solidFill>
                <a:latin typeface="Arial" panose="020B0604020202020204" pitchFamily="34" charset="0"/>
                <a:ea typeface="Microsoft YaHei" panose="020B0503020204020204" pitchFamily="34" charset="-122"/>
                <a:cs typeface="微软雅黑" panose="020B0503020204020204" charset="-122"/>
              </a:rPr>
              <a:t>反馈规则</a:t>
            </a:r>
            <a:endParaRPr sz="1165" dirty="0">
              <a:solidFill>
                <a:srgbClr val="FFFFFF"/>
              </a:solidFill>
              <a:latin typeface="Arial" panose="020B0604020202020204" pitchFamily="34" charset="0"/>
              <a:ea typeface="Microsoft YaHei" panose="020B0503020204020204" pitchFamily="34" charset="-122"/>
              <a:cs typeface="微软雅黑" panose="020B0503020204020204" charset="-122"/>
            </a:endParaRPr>
          </a:p>
        </p:txBody>
      </p:sp>
      <p:sp>
        <p:nvSpPr>
          <p:cNvPr id="84" name="s15-feedback-1-title"/>
          <p:cNvSpPr>
            <a:spLocks noGrp="1"/>
          </p:cNvSpPr>
          <p:nvPr/>
        </p:nvSpPr>
        <p:spPr>
          <a:xfrm>
            <a:off x="308610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14855C"/>
                </a:solidFill>
                <a:latin typeface="微软雅黑" panose="020B0503020204020204" charset="-122"/>
                <a:ea typeface="微软雅黑" panose="020B0503020204020204" charset="-122"/>
                <a:cs typeface="微软雅黑" panose="020B0503020204020204" charset="-122"/>
              </a:defRPr>
            </a:pPr>
            <a:r>
              <a:rPr sz="885">
                <a:solidFill>
                  <a:srgbClr val="4F8A83"/>
                </a:solidFill>
                <a:latin typeface="Arial" panose="020B0604020202020204" pitchFamily="34" charset="0"/>
                <a:ea typeface="Microsoft YaHei" panose="020B0503020204020204" pitchFamily="34" charset="-122"/>
                <a:cs typeface="微软雅黑" panose="020B0503020204020204" charset="-122"/>
              </a:rPr>
              <a:t>平台事实不符</a:t>
            </a:r>
          </a:p>
        </p:txBody>
      </p:sp>
      <p:sp>
        <p:nvSpPr>
          <p:cNvPr id="85" name="s15-feedback-1-action"/>
          <p:cNvSpPr>
            <a:spLocks noGrp="1"/>
          </p:cNvSpPr>
          <p:nvPr/>
        </p:nvSpPr>
        <p:spPr>
          <a:xfrm>
            <a:off x="308610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Microsoft YaHei" panose="020B0503020204020204" pitchFamily="34" charset="-122"/>
              </a:rPr>
              <a:t>→ 更新 Platform Knowledge</a:t>
            </a:r>
          </a:p>
        </p:txBody>
      </p:sp>
      <p:sp>
        <p:nvSpPr>
          <p:cNvPr id="86" name="s15-feedback-divider-1"/>
          <p:cNvSpPr>
            <a:spLocks noGrp="1"/>
          </p:cNvSpPr>
          <p:nvPr/>
        </p:nvSpPr>
        <p:spPr>
          <a:xfrm>
            <a:off x="5124450" y="5867400"/>
            <a:ext cx="9525" cy="381000"/>
          </a:xfrm>
          <a:prstGeom prst="rect">
            <a:avLst/>
          </a:prstGeom>
          <a:solidFill>
            <a:srgbClr val="EEF2F5"/>
          </a:solidFill>
          <a:ln w="0">
            <a:solidFill>
              <a:srgbClr val="D6DEE6"/>
            </a:solidFill>
            <a:prstDash val="solid"/>
          </a:ln>
          <a:effectLst/>
        </p:spPr>
      </p:sp>
      <p:sp>
        <p:nvSpPr>
          <p:cNvPr id="87" name="s15-feedback-2-title"/>
          <p:cNvSpPr>
            <a:spLocks noGrp="1"/>
          </p:cNvSpPr>
          <p:nvPr/>
        </p:nvSpPr>
        <p:spPr>
          <a:xfrm>
            <a:off x="527685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E97132"/>
                </a:solidFill>
                <a:latin typeface="微软雅黑" panose="020B0503020204020204" charset="-122"/>
                <a:ea typeface="微软雅黑" panose="020B0503020204020204" charset="-122"/>
                <a:cs typeface="微软雅黑" panose="020B0503020204020204" charset="-122"/>
              </a:defRPr>
            </a:pPr>
            <a:r>
              <a:rPr sz="885">
                <a:solidFill>
                  <a:srgbClr val="C77C59"/>
                </a:solidFill>
                <a:latin typeface="Arial" panose="020B0604020202020204" pitchFamily="34" charset="0"/>
                <a:ea typeface="Microsoft YaHei" panose="020B0503020204020204" pitchFamily="34" charset="-122"/>
                <a:cs typeface="微软雅黑" panose="020B0503020204020204" charset="-122"/>
              </a:rPr>
              <a:t>优化策略失效</a:t>
            </a:r>
          </a:p>
        </p:txBody>
      </p:sp>
      <p:sp>
        <p:nvSpPr>
          <p:cNvPr id="88" name="s15-feedback-2-action"/>
          <p:cNvSpPr>
            <a:spLocks noGrp="1"/>
          </p:cNvSpPr>
          <p:nvPr/>
        </p:nvSpPr>
        <p:spPr>
          <a:xfrm>
            <a:off x="527685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Microsoft YaHei" panose="020B0503020204020204" pitchFamily="34" charset="-122"/>
              </a:rPr>
              <a:t>→ 更新 Optimization Rules</a:t>
            </a:r>
          </a:p>
        </p:txBody>
      </p:sp>
      <p:sp>
        <p:nvSpPr>
          <p:cNvPr id="89" name="s15-feedback-divider-2"/>
          <p:cNvSpPr>
            <a:spLocks noGrp="1"/>
          </p:cNvSpPr>
          <p:nvPr/>
        </p:nvSpPr>
        <p:spPr>
          <a:xfrm>
            <a:off x="7315200" y="5867400"/>
            <a:ext cx="9525" cy="381000"/>
          </a:xfrm>
          <a:prstGeom prst="rect">
            <a:avLst/>
          </a:prstGeom>
          <a:solidFill>
            <a:srgbClr val="EEF2F5"/>
          </a:solidFill>
          <a:ln w="0">
            <a:solidFill>
              <a:srgbClr val="D6DEE6"/>
            </a:solidFill>
            <a:prstDash val="solid"/>
          </a:ln>
          <a:effectLst/>
        </p:spPr>
      </p:sp>
      <p:sp>
        <p:nvSpPr>
          <p:cNvPr id="90" name="s15-feedback-3-title"/>
          <p:cNvSpPr>
            <a:spLocks noGrp="1"/>
          </p:cNvSpPr>
          <p:nvPr/>
        </p:nvSpPr>
        <p:spPr>
          <a:xfrm>
            <a:off x="746760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1457C5"/>
                </a:solidFill>
                <a:latin typeface="微软雅黑" panose="020B0503020204020204" charset="-122"/>
                <a:ea typeface="微软雅黑" panose="020B0503020204020204" charset="-122"/>
                <a:cs typeface="微软雅黑" panose="020B0503020204020204" charset="-122"/>
              </a:defRPr>
            </a:pPr>
            <a:r>
              <a:rPr sz="885">
                <a:solidFill>
                  <a:srgbClr val="294A6D"/>
                </a:solidFill>
                <a:latin typeface="Arial" panose="020B0604020202020204" pitchFamily="34" charset="0"/>
                <a:ea typeface="Microsoft YaHei" panose="020B0503020204020204" pitchFamily="34" charset="-122"/>
                <a:cs typeface="微软雅黑" panose="020B0503020204020204" charset="-122"/>
              </a:rPr>
              <a:t>流程信息不足</a:t>
            </a:r>
          </a:p>
        </p:txBody>
      </p:sp>
      <p:sp>
        <p:nvSpPr>
          <p:cNvPr id="91" name="s15-feedback-3-action"/>
          <p:cNvSpPr>
            <a:spLocks noGrp="1"/>
          </p:cNvSpPr>
          <p:nvPr/>
        </p:nvSpPr>
        <p:spPr>
          <a:xfrm>
            <a:off x="746760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Microsoft YaHei" panose="020B0503020204020204" pitchFamily="34" charset="-122"/>
              </a:rPr>
              <a:t>→ 调整 Workflow / Contract</a:t>
            </a:r>
          </a:p>
        </p:txBody>
      </p:sp>
      <p:sp>
        <p:nvSpPr>
          <p:cNvPr id="38"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3.1</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Tree>
    <p:extLst>
      <p:ext uri="{BB962C8B-B14F-4D97-AF65-F5344CB8AC3E}">
        <p14:creationId xmlns:p14="http://schemas.microsoft.com/office/powerpoint/2010/main" val="30063139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7-title"/>
          <p:cNvSpPr>
            <a:spLocks noGrp="1"/>
          </p:cNvSpPr>
          <p:nvPr/>
        </p:nvSpPr>
        <p:spPr>
          <a:xfrm>
            <a:off x="1487170" y="165735"/>
            <a:ext cx="8763000" cy="466725"/>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pPr algn="l">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sz="2550" b="1">
                <a:solidFill>
                  <a:srgbClr val="243B53"/>
                </a:solidFill>
                <a:latin typeface="Arial" panose="020B0604020202020204" pitchFamily="34" charset="0"/>
                <a:ea typeface="Microsoft YaHei" panose="020B0503020204020204" pitchFamily="34" charset="-122"/>
              </a:rPr>
              <a:t>算子 Skill 开发指南：通用框架 × 平台知识 × 验证闭环</a:t>
            </a:r>
          </a:p>
        </p:txBody>
      </p:sp>
      <p:sp>
        <p:nvSpPr>
          <p:cNvPr id="8" name="universal-framework-question"/>
          <p:cNvSpPr>
            <a:spLocks noGrp="1"/>
          </p:cNvSpPr>
          <p:nvPr/>
        </p:nvSpPr>
        <p:spPr>
          <a:xfrm>
            <a:off x="6477000" y="885825"/>
            <a:ext cx="5095875" cy="257175"/>
          </a:xfrm>
          <a:prstGeom prst="rect">
            <a:avLst/>
          </a:prstGeom>
          <a:noFill/>
          <a:ln w="0">
            <a:noFill/>
            <a:prstDash val="solid"/>
          </a:ln>
          <a:effectLst/>
        </p:spPr>
        <p:txBody>
          <a:bodyPr wrap="square" lIns="0" tIns="0" rIns="0" bIns="0" anchor="ctr">
            <a:normAutofit/>
          </a:bodyPr>
          <a:lstStyle/>
          <a:p>
            <a:pPr algn="l">
              <a:buNone/>
              <a:defRPr sz="1165" b="1">
                <a:solidFill>
                  <a:srgbClr val="0A43A0"/>
                </a:solidFill>
                <a:latin typeface="微软雅黑" panose="020B0503020204020204" charset="-122"/>
                <a:ea typeface="微软雅黑" panose="020B0503020204020204" charset="-122"/>
                <a:cs typeface="微软雅黑" panose="020B0503020204020204" charset="-122"/>
              </a:defRPr>
            </a:pPr>
            <a:r>
              <a:rPr sz="1200">
                <a:solidFill>
                  <a:srgbClr val="294A6D"/>
                </a:solidFill>
                <a:latin typeface="Arial" panose="020B0604020202020204" pitchFamily="34" charset="0"/>
                <a:ea typeface="Microsoft YaHei" panose="020B0503020204020204" pitchFamily="34" charset="-122"/>
              </a:rPr>
              <a:t>① 通用框架｜什么东西应该保持稳定？</a:t>
            </a:r>
          </a:p>
        </p:txBody>
      </p:sp>
      <p:sp>
        <p:nvSpPr>
          <p:cNvPr id="9" name="universal-framework-takeaway"/>
          <p:cNvSpPr>
            <a:spLocks noGrp="1"/>
          </p:cNvSpPr>
          <p:nvPr/>
        </p:nvSpPr>
        <p:spPr>
          <a:xfrm>
            <a:off x="6600190" y="2095500"/>
            <a:ext cx="4257675" cy="228600"/>
          </a:xfrm>
          <a:prstGeom prst="rect">
            <a:avLst/>
          </a:prstGeom>
          <a:solidFill>
            <a:srgbClr val="EEF2F5"/>
          </a:solidFill>
          <a:ln w="9525">
            <a:solidFill>
              <a:srgbClr val="D6DEE6"/>
            </a:solidFill>
            <a:prstDash val="solid"/>
          </a:ln>
          <a:effectLst/>
        </p:spPr>
        <p:txBody>
          <a:bodyPr wrap="square" lIns="38100" tIns="0" rIns="38100" bIns="0" anchor="ctr">
            <a:normAutofit/>
          </a:bodyPr>
          <a:lstStyle/>
          <a:p>
            <a:pPr algn="ctr">
              <a:buNone/>
              <a:defRPr sz="940" b="1">
                <a:solidFill>
                  <a:srgbClr val="17386F"/>
                </a:solidFill>
                <a:latin typeface="微软雅黑" panose="020B0503020204020204" charset="-122"/>
                <a:ea typeface="微软雅黑" panose="020B0503020204020204" charset="-122"/>
                <a:cs typeface="微软雅黑" panose="020B0503020204020204" charset="-122"/>
              </a:defRPr>
            </a:pPr>
            <a:r>
              <a:rPr sz="940">
                <a:solidFill>
                  <a:srgbClr val="2F3A45"/>
                </a:solidFill>
                <a:latin typeface="Arial" panose="020B0604020202020204" pitchFamily="34" charset="0"/>
                <a:ea typeface="Microsoft YaHei" panose="020B0503020204020204" pitchFamily="34" charset="-122"/>
                <a:cs typeface="微软雅黑" panose="020B0503020204020204" charset="-122"/>
              </a:rPr>
              <a:t>框架有时也需要根据实际情况进行微调。</a:t>
            </a:r>
          </a:p>
        </p:txBody>
      </p:sp>
      <p:sp>
        <p:nvSpPr>
          <p:cNvPr id="10" name="platform-knowledge-question"/>
          <p:cNvSpPr>
            <a:spLocks noGrp="1"/>
          </p:cNvSpPr>
          <p:nvPr/>
        </p:nvSpPr>
        <p:spPr>
          <a:xfrm>
            <a:off x="6477000" y="2390775"/>
            <a:ext cx="5095875" cy="257175"/>
          </a:xfrm>
          <a:prstGeom prst="rect">
            <a:avLst/>
          </a:prstGeom>
          <a:noFill/>
          <a:ln w="0">
            <a:noFill/>
            <a:prstDash val="solid"/>
          </a:ln>
          <a:effectLst/>
        </p:spPr>
        <p:txBody>
          <a:bodyPr wrap="square" lIns="0" tIns="0" rIns="0" bIns="0" anchor="ctr">
            <a:normAutofit/>
          </a:bodyPr>
          <a:lstStyle/>
          <a:p>
            <a:pPr algn="l">
              <a:buNone/>
              <a:defRPr sz="1165" b="1">
                <a:solidFill>
                  <a:srgbClr val="087B35"/>
                </a:solidFill>
                <a:latin typeface="微软雅黑" panose="020B0503020204020204" charset="-122"/>
                <a:ea typeface="微软雅黑" panose="020B0503020204020204" charset="-122"/>
                <a:cs typeface="微软雅黑" panose="020B0503020204020204" charset="-122"/>
              </a:defRPr>
            </a:pPr>
            <a:r>
              <a:rPr sz="1200">
                <a:solidFill>
                  <a:srgbClr val="2F3A45"/>
                </a:solidFill>
                <a:latin typeface="Arial" panose="020B0604020202020204" pitchFamily="34" charset="0"/>
                <a:ea typeface="Microsoft YaHei" panose="020B0503020204020204" pitchFamily="34" charset="-122"/>
              </a:rPr>
              <a:t>② 平台知识｜换平台时到底要补什么？</a:t>
            </a:r>
          </a:p>
        </p:txBody>
      </p:sp>
      <p:sp>
        <p:nvSpPr>
          <p:cNvPr id="11" name="platform-knowledge-takeaway"/>
          <p:cNvSpPr>
            <a:spLocks noGrp="1"/>
          </p:cNvSpPr>
          <p:nvPr/>
        </p:nvSpPr>
        <p:spPr>
          <a:xfrm>
            <a:off x="6686550" y="3838575"/>
            <a:ext cx="4895850" cy="219075"/>
          </a:xfrm>
          <a:prstGeom prst="roundRect">
            <a:avLst>
              <a:gd name="adj" fmla="val 21739"/>
            </a:avLst>
          </a:prstGeom>
          <a:solidFill>
            <a:srgbClr val="EAF3F1"/>
          </a:solidFill>
          <a:ln w="9525">
            <a:solidFill>
              <a:srgbClr val="D6DEE6"/>
            </a:solidFill>
            <a:prstDash val="solid"/>
          </a:ln>
          <a:effectLst/>
        </p:spPr>
        <p:txBody>
          <a:bodyPr wrap="square" lIns="38100" tIns="0" rIns="38100" bIns="0" anchor="ctr">
            <a:normAutofit/>
          </a:bodyPr>
          <a:lstStyle/>
          <a:p>
            <a:pPr algn="ctr">
              <a:buNone/>
              <a:defRPr sz="940" b="1">
                <a:solidFill>
                  <a:srgbClr val="176B31"/>
                </a:solidFill>
                <a:latin typeface="微软雅黑" panose="020B0503020204020204" charset="-122"/>
                <a:ea typeface="微软雅黑" panose="020B0503020204020204" charset="-122"/>
                <a:cs typeface="微软雅黑" panose="020B0503020204020204" charset="-122"/>
              </a:defRPr>
            </a:pPr>
            <a:r>
              <a:rPr sz="940">
                <a:solidFill>
                  <a:srgbClr val="2F3A45"/>
                </a:solidFill>
                <a:latin typeface="Arial" panose="020B0604020202020204" pitchFamily="34" charset="0"/>
                <a:ea typeface="Microsoft YaHei" panose="020B0503020204020204" pitchFamily="34" charset="-122"/>
              </a:rPr>
              <a:t>官方资料定义“支持什么”，真实测试补充“实际表现如何”。</a:t>
            </a:r>
          </a:p>
        </p:txBody>
      </p:sp>
      <p:sp>
        <p:nvSpPr>
          <p:cNvPr id="12" name="validation-loop-question"/>
          <p:cNvSpPr>
            <a:spLocks noGrp="1"/>
          </p:cNvSpPr>
          <p:nvPr/>
        </p:nvSpPr>
        <p:spPr>
          <a:xfrm>
            <a:off x="6477000" y="4143375"/>
            <a:ext cx="5219700" cy="257175"/>
          </a:xfrm>
          <a:prstGeom prst="rect">
            <a:avLst/>
          </a:prstGeom>
          <a:noFill/>
          <a:ln w="0">
            <a:noFill/>
            <a:prstDash val="solid"/>
          </a:ln>
          <a:effectLst/>
        </p:spPr>
        <p:txBody>
          <a:bodyPr wrap="square" lIns="0" tIns="0" rIns="0" bIns="0" anchor="ctr">
            <a:normAutofit/>
          </a:bodyPr>
          <a:lstStyle/>
          <a:p>
            <a:pPr algn="l">
              <a:buNone/>
              <a:defRPr sz="1165" b="1">
                <a:solidFill>
                  <a:srgbClr val="0A43A0"/>
                </a:solidFill>
                <a:latin typeface="微软雅黑" panose="020B0503020204020204" charset="-122"/>
                <a:ea typeface="微软雅黑" panose="020B0503020204020204" charset="-122"/>
                <a:cs typeface="微软雅黑" panose="020B0503020204020204" charset="-122"/>
              </a:defRPr>
            </a:pPr>
            <a:r>
              <a:rPr sz="1200">
                <a:solidFill>
                  <a:srgbClr val="294A6D"/>
                </a:solidFill>
                <a:latin typeface="Arial" panose="020B0604020202020204" pitchFamily="34" charset="0"/>
                <a:ea typeface="Microsoft YaHei" panose="020B0503020204020204" pitchFamily="34" charset="-122"/>
              </a:rPr>
              <a:t>③ 验证闭环｜怎么确认收到的知识真的能用？</a:t>
            </a:r>
          </a:p>
        </p:txBody>
      </p:sp>
      <p:sp>
        <p:nvSpPr>
          <p:cNvPr id="13" name="validation-loop-takeaway"/>
          <p:cNvSpPr>
            <a:spLocks noGrp="1"/>
          </p:cNvSpPr>
          <p:nvPr/>
        </p:nvSpPr>
        <p:spPr>
          <a:xfrm>
            <a:off x="6896100" y="5438775"/>
            <a:ext cx="4686300" cy="228600"/>
          </a:xfrm>
          <a:prstGeom prst="roundRect">
            <a:avLst>
              <a:gd name="adj" fmla="val 20833"/>
            </a:avLst>
          </a:prstGeom>
          <a:solidFill>
            <a:srgbClr val="EEF2F5"/>
          </a:solidFill>
          <a:ln w="9525">
            <a:solidFill>
              <a:srgbClr val="D6DEE6"/>
            </a:solidFill>
            <a:prstDash val="solid"/>
          </a:ln>
          <a:effectLst/>
        </p:spPr>
        <p:txBody>
          <a:bodyPr wrap="square" lIns="38100" tIns="0" rIns="38100" bIns="0" anchor="ctr">
            <a:normAutofit/>
          </a:bodyPr>
          <a:lstStyle/>
          <a:p>
            <a:pPr algn="ctr">
              <a:buNone/>
              <a:defRPr sz="940" b="1">
                <a:solidFill>
                  <a:srgbClr val="17386F"/>
                </a:solidFill>
                <a:latin typeface="微软雅黑" panose="020B0503020204020204" charset="-122"/>
                <a:ea typeface="微软雅黑" panose="020B0503020204020204" charset="-122"/>
                <a:cs typeface="微软雅黑" panose="020B0503020204020204" charset="-122"/>
              </a:defRPr>
            </a:pPr>
            <a:r>
              <a:rPr sz="940">
                <a:solidFill>
                  <a:srgbClr val="2F3A45"/>
                </a:solidFill>
                <a:latin typeface="Arial" panose="020B0604020202020204" pitchFamily="34" charset="0"/>
                <a:ea typeface="Microsoft YaHei" panose="020B0503020204020204" pitchFamily="34" charset="-122"/>
                <a:cs typeface="微软雅黑" panose="020B0503020204020204" charset="-122"/>
              </a:rPr>
              <a:t>后续不同平台统一使用这三个算子，保证评价口径一致。</a:t>
            </a:r>
          </a:p>
        </p:txBody>
      </p:sp>
      <p:sp>
        <p:nvSpPr>
          <p:cNvPr id="14" name="framework-synthesis"/>
          <p:cNvSpPr>
            <a:spLocks noGrp="1"/>
          </p:cNvSpPr>
          <p:nvPr/>
        </p:nvSpPr>
        <p:spPr>
          <a:xfrm>
            <a:off x="514350" y="5419725"/>
            <a:ext cx="5095875" cy="266700"/>
          </a:xfrm>
          <a:prstGeom prst="rect">
            <a:avLst/>
          </a:prstGeom>
          <a:solidFill>
            <a:srgbClr val="EEF2F5"/>
          </a:solidFill>
          <a:ln w="9525">
            <a:solidFill>
              <a:srgbClr val="D6DEE6"/>
            </a:solidFill>
            <a:prstDash val="solid"/>
          </a:ln>
          <a:effectLst/>
        </p:spPr>
        <p:txBody>
          <a:bodyPr wrap="square" lIns="76200" tIns="0" rIns="76200" bIns="0" anchor="ctr">
            <a:normAutofit/>
          </a:bodyPr>
          <a:lstStyle/>
          <a:p>
            <a:pPr algn="ctr">
              <a:buNone/>
              <a:defRPr sz="940" b="1">
                <a:solidFill>
                  <a:srgbClr val="17386F"/>
                </a:solidFill>
                <a:latin typeface="微软雅黑" panose="020B0503020204020204" charset="-122"/>
                <a:ea typeface="微软雅黑" panose="020B0503020204020204" charset="-122"/>
                <a:cs typeface="微软雅黑" panose="020B0503020204020204" charset="-122"/>
              </a:defRPr>
            </a:pPr>
            <a:r>
              <a:rPr sz="940">
                <a:solidFill>
                  <a:srgbClr val="2F3A45"/>
                </a:solidFill>
                <a:latin typeface="Arial" panose="020B0604020202020204" pitchFamily="34" charset="0"/>
                <a:ea typeface="Microsoft YaHei" panose="020B0503020204020204" pitchFamily="34" charset="-122"/>
              </a:rPr>
              <a:t>★  通用框架提供骨架，平台知识填充差异，真实验证不断校准两者。</a:t>
            </a:r>
          </a:p>
        </p:txBody>
      </p:sp>
      <p:sp>
        <p:nvSpPr>
          <p:cNvPr id="16"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sz="1200" b="1">
                <a:solidFill>
                  <a:srgbClr val="66737F"/>
                </a:solidFill>
                <a:latin typeface="Arial" panose="020B0604020202020204" pitchFamily="34" charset="0"/>
                <a:ea typeface="Microsoft YaHei" panose="020B0503020204020204" pitchFamily="34" charset="-122"/>
                <a:cs typeface="微软雅黑" panose="020B0503020204020204" charset="-122"/>
              </a:rPr>
              <a:t>7</a:t>
            </a:r>
          </a:p>
        </p:txBody>
      </p:sp>
      <p:sp>
        <p:nvSpPr>
          <p:cNvPr id="17" name="slide-7-editable-footer"/>
          <p:cNvSpPr>
            <a:spLocks noGrp="1"/>
          </p:cNvSpPr>
          <p:nvPr/>
        </p:nvSpPr>
        <p:spPr>
          <a:xfrm>
            <a:off x="228600" y="6400800"/>
            <a:ext cx="11696700" cy="390525"/>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97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2F3A45"/>
                </a:solidFill>
                <a:latin typeface="Arial" panose="020B0604020202020204" pitchFamily="34" charset="0"/>
                <a:ea typeface="Microsoft YaHei" panose="020B0503020204020204" pitchFamily="34" charset="-122"/>
              </a:rPr>
              <a:t>算子skill的开发不是一蹴而就的，需要不断的完善和更新迭代。平台事实验证和环境验证看起来复杂，实际上可以通过一类模板指令让大模型进行检测。</a:t>
            </a:r>
          </a:p>
        </p:txBody>
      </p:sp>
      <p:sp>
        <p:nvSpPr>
          <p:cNvPr id="18"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9" name="s15-universal-frame"/>
          <p:cNvSpPr>
            <a:spLocks noGrp="1"/>
          </p:cNvSpPr>
          <p:nvPr/>
        </p:nvSpPr>
        <p:spPr>
          <a:xfrm>
            <a:off x="942975" y="866775"/>
            <a:ext cx="4743450" cy="990600"/>
          </a:xfrm>
          <a:prstGeom prst="rect">
            <a:avLst/>
          </a:prstGeom>
          <a:solidFill>
            <a:srgbClr val="EEF2F5"/>
          </a:solidFill>
          <a:ln w="13335">
            <a:solidFill>
              <a:srgbClr val="D6DEE6"/>
            </a:solidFill>
            <a:prstDash val="solid"/>
          </a:ln>
          <a:effectLst/>
        </p:spPr>
      </p:sp>
      <p:sp>
        <p:nvSpPr>
          <p:cNvPr id="20" name="s15-universal-title"/>
          <p:cNvSpPr>
            <a:spLocks noGrp="1"/>
          </p:cNvSpPr>
          <p:nvPr/>
        </p:nvSpPr>
        <p:spPr>
          <a:xfrm>
            <a:off x="1027313" y="950281"/>
            <a:ext cx="4514850" cy="295275"/>
          </a:xfrm>
          <a:prstGeom prst="rect">
            <a:avLst/>
          </a:prstGeom>
          <a:noFill/>
          <a:ln w="0">
            <a:noFill/>
            <a:prstDash val="solid"/>
          </a:ln>
          <a:effectLst/>
        </p:spPr>
        <p:txBody>
          <a:bodyPr wrap="square" lIns="0" tIns="0" rIns="0" bIns="0" anchor="ctr">
            <a:noAutofit/>
          </a:bodyPr>
          <a:lstStyle/>
          <a:p>
            <a:pPr algn="ctr">
              <a:defRPr sz="1165" b="1">
                <a:solidFill>
                  <a:srgbClr val="1457C5"/>
                </a:solidFill>
                <a:latin typeface="Calibri" panose="020F0502020204030204"/>
                <a:ea typeface="Calibri" panose="020F0502020204030204"/>
                <a:cs typeface="Calibri" panose="020F0502020204030204"/>
              </a:defRPr>
            </a:pPr>
            <a:r>
              <a:rPr sz="1600" dirty="0" err="1">
                <a:solidFill>
                  <a:srgbClr val="294A6D"/>
                </a:solidFill>
                <a:latin typeface="Arial" panose="020B0604020202020204" pitchFamily="34" charset="0"/>
                <a:ea typeface="Microsoft YaHei" panose="020B0503020204020204" pitchFamily="34" charset="-122"/>
                <a:cs typeface="微软雅黑" panose="020B0503020204020204" charset="-122"/>
              </a:rPr>
              <a:t>通用框架</a:t>
            </a:r>
            <a:endParaRPr sz="16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21" name="s15-universal-subtitle"/>
          <p:cNvSpPr>
            <a:spLocks noGrp="1"/>
          </p:cNvSpPr>
          <p:nvPr/>
        </p:nvSpPr>
        <p:spPr>
          <a:xfrm>
            <a:off x="1047750" y="1197931"/>
            <a:ext cx="4514850" cy="666750"/>
          </a:xfrm>
          <a:prstGeom prst="rect">
            <a:avLst/>
          </a:prstGeom>
          <a:noFill/>
          <a:ln w="0">
            <a:noFill/>
            <a:prstDash val="solid"/>
          </a:ln>
          <a:effectLst/>
        </p:spPr>
        <p:txBody>
          <a:bodyPr wrap="square" lIns="19050" tIns="0" rIns="19050" bIns="9525" anchor="ctr">
            <a:normAutofit/>
          </a:bodyPr>
          <a:lstStyle/>
          <a:p>
            <a:pPr algn="ctr">
              <a:lnSpc>
                <a:spcPct val="95000"/>
              </a:lnSpc>
              <a:buNone/>
              <a:defRPr sz="1125" b="1">
                <a:solidFill>
                  <a:srgbClr val="27364A"/>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Microsoft YaHei" panose="020B0503020204020204" pitchFamily="34" charset="-122"/>
              </a:rPr>
              <a:t>需求</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生成</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验证</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优化</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输出</a:t>
            </a:r>
            <a:endParaRPr sz="1400" dirty="0">
              <a:solidFill>
                <a:srgbClr val="2F3A45"/>
              </a:solidFill>
              <a:latin typeface="Arial" panose="020B0604020202020204" pitchFamily="34" charset="0"/>
              <a:ea typeface="Microsoft YaHei" panose="020B0503020204020204" pitchFamily="34" charset="-122"/>
            </a:endParaRPr>
          </a:p>
        </p:txBody>
      </p:sp>
      <p:sp>
        <p:nvSpPr>
          <p:cNvPr id="22" name="s15-arrow-1"/>
          <p:cNvSpPr>
            <a:spLocks noGrp="1"/>
          </p:cNvSpPr>
          <p:nvPr/>
        </p:nvSpPr>
        <p:spPr>
          <a:xfrm>
            <a:off x="3171825" y="1838325"/>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Microsoft YaHei" panose="020B0503020204020204" pitchFamily="34" charset="-122"/>
                <a:cs typeface="Calibri" panose="020F0502020204030204"/>
              </a:rPr>
              <a:t>↓</a:t>
            </a:r>
          </a:p>
        </p:txBody>
      </p:sp>
      <p:sp>
        <p:nvSpPr>
          <p:cNvPr id="23" name="s15-platform-frame"/>
          <p:cNvSpPr>
            <a:spLocks noGrp="1"/>
          </p:cNvSpPr>
          <p:nvPr/>
        </p:nvSpPr>
        <p:spPr>
          <a:xfrm>
            <a:off x="942975" y="2057400"/>
            <a:ext cx="4743450" cy="1257300"/>
          </a:xfrm>
          <a:prstGeom prst="rect">
            <a:avLst/>
          </a:prstGeom>
          <a:solidFill>
            <a:srgbClr val="EAF3F1"/>
          </a:solidFill>
          <a:ln w="13335">
            <a:solidFill>
              <a:srgbClr val="D6DEE6"/>
            </a:solidFill>
            <a:prstDash val="solid"/>
          </a:ln>
          <a:effectLst/>
        </p:spPr>
      </p:sp>
      <p:sp>
        <p:nvSpPr>
          <p:cNvPr id="24" name="s15-platform-title"/>
          <p:cNvSpPr>
            <a:spLocks noGrp="1"/>
          </p:cNvSpPr>
          <p:nvPr/>
        </p:nvSpPr>
        <p:spPr>
          <a:xfrm>
            <a:off x="1057275" y="2095500"/>
            <a:ext cx="4514850" cy="295275"/>
          </a:xfrm>
          <a:prstGeom prst="rect">
            <a:avLst/>
          </a:prstGeom>
          <a:noFill/>
          <a:ln w="0">
            <a:noFill/>
            <a:prstDash val="solid"/>
          </a:ln>
          <a:effectLst/>
        </p:spPr>
        <p:txBody>
          <a:bodyPr wrap="square" lIns="0" tIns="0" rIns="0" bIns="0" anchor="ctr">
            <a:normAutofit fontScale="95797"/>
          </a:bodyPr>
          <a:lstStyle/>
          <a:p>
            <a:pPr algn="ctr">
              <a:defRPr sz="1165" b="1">
                <a:solidFill>
                  <a:srgbClr val="14855C"/>
                </a:solidFill>
                <a:latin typeface="Calibri" panose="020F0502020204030204"/>
                <a:ea typeface="Calibri" panose="020F0502020204030204"/>
                <a:cs typeface="Calibri" panose="020F0502020204030204"/>
              </a:defRPr>
            </a:pPr>
            <a:r>
              <a:rPr sz="1600" dirty="0" err="1">
                <a:solidFill>
                  <a:srgbClr val="4F8A83"/>
                </a:solidFill>
                <a:latin typeface="Arial" panose="020B0604020202020204" pitchFamily="34" charset="0"/>
                <a:ea typeface="Microsoft YaHei" panose="020B0503020204020204" pitchFamily="34" charset="-122"/>
                <a:cs typeface="微软雅黑" panose="020B0503020204020204" charset="-122"/>
              </a:rPr>
              <a:t>平台知识</a:t>
            </a:r>
            <a:endParaRPr sz="1600" dirty="0">
              <a:solidFill>
                <a:srgbClr val="4F8A83"/>
              </a:solidFill>
              <a:latin typeface="Arial" panose="020B0604020202020204" pitchFamily="34" charset="0"/>
              <a:ea typeface="Microsoft YaHei" panose="020B0503020204020204" pitchFamily="34" charset="-122"/>
              <a:cs typeface="微软雅黑" panose="020B0503020204020204" charset="-122"/>
            </a:endParaRPr>
          </a:p>
        </p:txBody>
      </p:sp>
      <p:sp>
        <p:nvSpPr>
          <p:cNvPr id="25" name="s15-platform-left"/>
          <p:cNvSpPr>
            <a:spLocks noGrp="1"/>
          </p:cNvSpPr>
          <p:nvPr/>
        </p:nvSpPr>
        <p:spPr>
          <a:xfrm>
            <a:off x="1809750" y="2457450"/>
            <a:ext cx="12763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Microsoft YaHei" panose="020B0503020204020204" pitchFamily="34" charset="-122"/>
                <a:cs typeface="微软雅黑" panose="020B0503020204020204" charset="-122"/>
              </a:rPr>
              <a:t>Hardware</a:t>
            </a: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Microsoft YaHei" panose="020B0503020204020204" pitchFamily="34" charset="-122"/>
                <a:cs typeface="微软雅黑" panose="020B0503020204020204" charset="-122"/>
              </a:rPr>
              <a:t>API / Primitive</a:t>
            </a: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Microsoft YaHei" panose="020B0503020204020204" pitchFamily="34" charset="-122"/>
                <a:cs typeface="微软雅黑" panose="020B0503020204020204" charset="-122"/>
              </a:rPr>
              <a:t>Profiler</a:t>
            </a:r>
          </a:p>
        </p:txBody>
      </p:sp>
      <p:sp>
        <p:nvSpPr>
          <p:cNvPr id="26" name="s15-platform-mid-rule"/>
          <p:cNvSpPr>
            <a:spLocks noGrp="1"/>
          </p:cNvSpPr>
          <p:nvPr/>
        </p:nvSpPr>
        <p:spPr>
          <a:xfrm>
            <a:off x="3181350" y="2476500"/>
            <a:ext cx="9525" cy="514350"/>
          </a:xfrm>
          <a:prstGeom prst="rect">
            <a:avLst/>
          </a:prstGeom>
          <a:solidFill>
            <a:srgbClr val="EAF3F1"/>
          </a:solidFill>
          <a:ln w="0">
            <a:solidFill>
              <a:srgbClr val="D6DEE6"/>
            </a:solidFill>
            <a:prstDash val="solid"/>
          </a:ln>
          <a:effectLst/>
        </p:spPr>
      </p:sp>
      <p:sp>
        <p:nvSpPr>
          <p:cNvPr id="27" name="s15-platform-right"/>
          <p:cNvSpPr>
            <a:spLocks noGrp="1"/>
          </p:cNvSpPr>
          <p:nvPr/>
        </p:nvSpPr>
        <p:spPr>
          <a:xfrm>
            <a:off x="3476625" y="2457450"/>
            <a:ext cx="16954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a:solidFill>
                  <a:srgbClr val="2F3A45"/>
                </a:solidFill>
                <a:latin typeface="Arial" panose="020B0604020202020204" pitchFamily="34" charset="0"/>
                <a:ea typeface="Microsoft YaHei" panose="020B0503020204020204" pitchFamily="34" charset="-122"/>
                <a:cs typeface="微软雅黑" panose="020B0503020204020204" charset="-122"/>
              </a:rPr>
              <a:t>Programming Model</a:t>
            </a:r>
          </a:p>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a:solidFill>
                  <a:srgbClr val="2F3A45"/>
                </a:solidFill>
                <a:latin typeface="Arial" panose="020B0604020202020204" pitchFamily="34" charset="0"/>
                <a:ea typeface="Microsoft YaHei" panose="020B0503020204020204" pitchFamily="34" charset="-122"/>
                <a:cs typeface="微软雅黑" panose="020B0503020204020204" charset="-122"/>
              </a:rPr>
              <a:t>Environment / Toolchain</a:t>
            </a:r>
          </a:p>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a:solidFill>
                  <a:srgbClr val="2F3A45"/>
                </a:solidFill>
                <a:latin typeface="Arial" panose="020B0604020202020204" pitchFamily="34" charset="0"/>
                <a:ea typeface="Microsoft YaHei" panose="020B0503020204020204" pitchFamily="34" charset="-122"/>
                <a:cs typeface="微软雅黑" panose="020B0503020204020204" charset="-122"/>
              </a:rPr>
              <a:t>Optimization / Examples</a:t>
            </a:r>
          </a:p>
        </p:txBody>
      </p:sp>
      <p:sp>
        <p:nvSpPr>
          <p:cNvPr id="28" name="s15-platform-sources"/>
          <p:cNvSpPr>
            <a:spLocks noGrp="1"/>
          </p:cNvSpPr>
          <p:nvPr/>
        </p:nvSpPr>
        <p:spPr>
          <a:xfrm>
            <a:off x="1657350" y="3038475"/>
            <a:ext cx="3324225" cy="209550"/>
          </a:xfrm>
          <a:prstGeom prst="roundRect">
            <a:avLst>
              <a:gd name="adj" fmla="val 22727"/>
            </a:avLst>
          </a:prstGeom>
          <a:solidFill>
            <a:srgbClr val="EAF3F1"/>
          </a:solidFill>
          <a:ln w="9525">
            <a:solidFill>
              <a:srgbClr val="D6DEE6"/>
            </a:solidFill>
            <a:prstDash val="solid"/>
          </a:ln>
          <a:effectLst/>
        </p:spPr>
        <p:txBody>
          <a:bodyPr wrap="square" lIns="47625" tIns="19050" rIns="47625" bIns="19050" anchor="ctr">
            <a:normAutofit/>
          </a:bodyPr>
          <a:lstStyle/>
          <a:p>
            <a:pPr algn="ctr">
              <a:defRPr sz="840" b="1">
                <a:solidFill>
                  <a:srgbClr val="14855C"/>
                </a:solidFill>
                <a:latin typeface="微软雅黑" panose="020B0503020204020204" charset="-122"/>
                <a:ea typeface="微软雅黑" panose="020B0503020204020204" charset="-122"/>
                <a:cs typeface="微软雅黑" panose="020B0503020204020204" charset="-122"/>
              </a:defRPr>
            </a:pPr>
            <a:r>
              <a:rPr sz="840">
                <a:solidFill>
                  <a:srgbClr val="4F8A83"/>
                </a:solidFill>
                <a:latin typeface="Arial" panose="020B0604020202020204" pitchFamily="34" charset="0"/>
                <a:ea typeface="Microsoft YaHei" panose="020B0503020204020204" pitchFamily="34" charset="-122"/>
              </a:rPr>
              <a:t>官方资料 + 环境检测 + 微基准 + 算子实践</a:t>
            </a:r>
          </a:p>
        </p:txBody>
      </p:sp>
      <p:sp>
        <p:nvSpPr>
          <p:cNvPr id="29" name="s15-arrow-2"/>
          <p:cNvSpPr>
            <a:spLocks noGrp="1"/>
          </p:cNvSpPr>
          <p:nvPr/>
        </p:nvSpPr>
        <p:spPr>
          <a:xfrm>
            <a:off x="3171825" y="3295650"/>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855C"/>
                </a:solidFill>
                <a:latin typeface="Calibri" panose="020F0502020204030204"/>
                <a:ea typeface="Calibri" panose="020F0502020204030204"/>
                <a:cs typeface="Calibri" panose="020F0502020204030204"/>
              </a:defRPr>
            </a:pPr>
            <a:r>
              <a:rPr sz="1650">
                <a:solidFill>
                  <a:srgbClr val="4F8A83"/>
                </a:solidFill>
                <a:latin typeface="Arial" panose="020B0604020202020204" pitchFamily="34" charset="0"/>
                <a:ea typeface="Microsoft YaHei" panose="020B0503020204020204" pitchFamily="34" charset="-122"/>
                <a:cs typeface="Calibri" panose="020F0502020204030204"/>
              </a:rPr>
              <a:t>↓</a:t>
            </a:r>
          </a:p>
        </p:txBody>
      </p:sp>
      <p:sp>
        <p:nvSpPr>
          <p:cNvPr id="30" name="s15-validation-frame"/>
          <p:cNvSpPr>
            <a:spLocks noGrp="1"/>
          </p:cNvSpPr>
          <p:nvPr/>
        </p:nvSpPr>
        <p:spPr>
          <a:xfrm>
            <a:off x="942975" y="3467100"/>
            <a:ext cx="4743450" cy="1057275"/>
          </a:xfrm>
          <a:prstGeom prst="rect">
            <a:avLst/>
          </a:prstGeom>
          <a:solidFill>
            <a:srgbClr val="EEF2F5"/>
          </a:solidFill>
          <a:ln w="13335">
            <a:solidFill>
              <a:srgbClr val="D6DEE6"/>
            </a:solidFill>
            <a:prstDash val="solid"/>
          </a:ln>
          <a:effectLst/>
        </p:spPr>
      </p:sp>
      <p:sp>
        <p:nvSpPr>
          <p:cNvPr id="31" name="s15-validation-title"/>
          <p:cNvSpPr>
            <a:spLocks noGrp="1"/>
          </p:cNvSpPr>
          <p:nvPr/>
        </p:nvSpPr>
        <p:spPr>
          <a:xfrm>
            <a:off x="1057275" y="3505200"/>
            <a:ext cx="4514850" cy="295275"/>
          </a:xfrm>
          <a:prstGeom prst="rect">
            <a:avLst/>
          </a:prstGeom>
          <a:noFill/>
          <a:ln w="0">
            <a:noFill/>
            <a:prstDash val="solid"/>
          </a:ln>
          <a:effectLst/>
        </p:spPr>
        <p:txBody>
          <a:bodyPr wrap="square" lIns="0" tIns="0" rIns="0" bIns="0" anchor="ctr">
            <a:normAutofit fontScale="96540"/>
          </a:bodyPr>
          <a:lstStyle/>
          <a:p>
            <a:pPr algn="ctr">
              <a:defRPr sz="1090" b="1">
                <a:solidFill>
                  <a:srgbClr val="1457C5"/>
                </a:solidFill>
                <a:latin typeface="Calibri" panose="020F0502020204030204"/>
                <a:ea typeface="Calibri" panose="020F0502020204030204"/>
                <a:cs typeface="Calibri" panose="020F0502020204030204"/>
              </a:defRPr>
            </a:pPr>
            <a:r>
              <a:rPr sz="1600" dirty="0" err="1">
                <a:solidFill>
                  <a:srgbClr val="294A6D"/>
                </a:solidFill>
                <a:latin typeface="Arial" panose="020B0604020202020204" pitchFamily="34" charset="0"/>
                <a:ea typeface="Microsoft YaHei" panose="020B0503020204020204" pitchFamily="34" charset="-122"/>
                <a:cs typeface="微软雅黑" panose="020B0503020204020204" charset="-122"/>
              </a:rPr>
              <a:t>验证与校准</a:t>
            </a:r>
            <a:endParaRPr sz="16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32" name="s15-validation-subtitle"/>
          <p:cNvSpPr>
            <a:spLocks noGrp="1"/>
          </p:cNvSpPr>
          <p:nvPr/>
        </p:nvSpPr>
        <p:spPr>
          <a:xfrm>
            <a:off x="1057275" y="3752850"/>
            <a:ext cx="4514850" cy="733425"/>
          </a:xfrm>
          <a:prstGeom prst="rect">
            <a:avLst/>
          </a:prstGeom>
          <a:noFill/>
          <a:ln w="0">
            <a:noFill/>
            <a:prstDash val="solid"/>
          </a:ln>
          <a:effectLst/>
        </p:spPr>
        <p:txBody>
          <a:bodyPr wrap="square" lIns="19050" tIns="0" rIns="19050" bIns="9525" anchor="ctr">
            <a:normAutofit/>
          </a:bodyPr>
          <a:lstStyle/>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L1  环境验证</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L2  平台事实验证 / 微基准</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L3  典型算子验证</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LayerNorm · Softmax · MatMul</a:t>
            </a:r>
          </a:p>
        </p:txBody>
      </p:sp>
      <p:sp>
        <p:nvSpPr>
          <p:cNvPr id="33" name="s15-arrow-3-left"/>
          <p:cNvSpPr>
            <a:spLocks noGrp="1"/>
          </p:cNvSpPr>
          <p:nvPr/>
        </p:nvSpPr>
        <p:spPr>
          <a:xfrm>
            <a:off x="1952625" y="4505325"/>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Microsoft YaHei" panose="020B0503020204020204" pitchFamily="34" charset="-122"/>
                <a:cs typeface="Calibri" panose="020F0502020204030204"/>
              </a:rPr>
              <a:t>↓</a:t>
            </a:r>
          </a:p>
        </p:txBody>
      </p:sp>
      <p:sp>
        <p:nvSpPr>
          <p:cNvPr id="34" name="s15-arrow-3-right"/>
          <p:cNvSpPr>
            <a:spLocks noGrp="1"/>
          </p:cNvSpPr>
          <p:nvPr/>
        </p:nvSpPr>
        <p:spPr>
          <a:xfrm>
            <a:off x="4333875" y="4505325"/>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Microsoft YaHei" panose="020B0503020204020204" pitchFamily="34" charset="-122"/>
                <a:cs typeface="Calibri" panose="020F0502020204030204"/>
              </a:rPr>
              <a:t>↓</a:t>
            </a:r>
          </a:p>
        </p:txBody>
      </p:sp>
      <p:sp>
        <p:nvSpPr>
          <p:cNvPr id="35" name="s15-update-knowledge"/>
          <p:cNvSpPr>
            <a:spLocks noGrp="1"/>
          </p:cNvSpPr>
          <p:nvPr/>
        </p:nvSpPr>
        <p:spPr>
          <a:xfrm>
            <a:off x="1000125" y="4695825"/>
            <a:ext cx="1847850" cy="428625"/>
          </a:xfrm>
          <a:prstGeom prst="roundRect">
            <a:avLst>
              <a:gd name="adj" fmla="val 15556"/>
            </a:avLst>
          </a:prstGeom>
          <a:solidFill>
            <a:srgbClr val="F6ECE6"/>
          </a:solidFill>
          <a:ln w="11430">
            <a:solidFill>
              <a:srgbClr val="D6DEE6"/>
            </a:solidFill>
            <a:prstDash val="solid"/>
          </a:ln>
          <a:effectLst/>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F3A45"/>
                </a:solidFill>
                <a:latin typeface="Arial" panose="020B0604020202020204" pitchFamily="34" charset="0"/>
                <a:ea typeface="Microsoft YaHei" panose="020B0503020204020204" pitchFamily="34" charset="-122"/>
              </a:rPr>
              <a:t>Update Knowledge</a:t>
            </a:r>
          </a:p>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F3A45"/>
                </a:solidFill>
                <a:latin typeface="Arial" panose="020B0604020202020204" pitchFamily="34" charset="0"/>
                <a:ea typeface="Microsoft YaHei" panose="020B0503020204020204" pitchFamily="34" charset="-122"/>
              </a:rPr>
              <a:t>更新平台知识</a:t>
            </a:r>
          </a:p>
        </p:txBody>
      </p:sp>
      <p:sp>
        <p:nvSpPr>
          <p:cNvPr id="36" name="s15-adjust-workflow"/>
          <p:cNvSpPr>
            <a:spLocks noGrp="1"/>
          </p:cNvSpPr>
          <p:nvPr/>
        </p:nvSpPr>
        <p:spPr>
          <a:xfrm>
            <a:off x="3648075" y="4695825"/>
            <a:ext cx="1752600" cy="428625"/>
          </a:xfrm>
          <a:prstGeom prst="roundRect">
            <a:avLst>
              <a:gd name="adj" fmla="val 15556"/>
            </a:avLst>
          </a:prstGeom>
          <a:solidFill>
            <a:srgbClr val="F6ECE6"/>
          </a:solidFill>
          <a:ln w="11430">
            <a:solidFill>
              <a:srgbClr val="D6DEE6"/>
            </a:solidFill>
            <a:prstDash val="solid"/>
          </a:ln>
          <a:effectLst/>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F3A45"/>
                </a:solidFill>
                <a:latin typeface="Arial" panose="020B0604020202020204" pitchFamily="34" charset="0"/>
                <a:ea typeface="Microsoft YaHei" panose="020B0503020204020204" pitchFamily="34" charset="-122"/>
              </a:rPr>
              <a:t>Adjust Workflow</a:t>
            </a:r>
          </a:p>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F3A45"/>
                </a:solidFill>
                <a:latin typeface="Arial" panose="020B0604020202020204" pitchFamily="34" charset="0"/>
                <a:ea typeface="Microsoft YaHei" panose="020B0503020204020204" pitchFamily="34" charset="-122"/>
              </a:rPr>
              <a:t>修正通用流程</a:t>
            </a:r>
          </a:p>
        </p:txBody>
      </p:sp>
      <p:sp>
        <p:nvSpPr>
          <p:cNvPr id="37" name="s15-feedback-loop"/>
          <p:cNvSpPr>
            <a:spLocks noGrp="1"/>
          </p:cNvSpPr>
          <p:nvPr/>
        </p:nvSpPr>
        <p:spPr>
          <a:xfrm>
            <a:off x="1066800" y="5143500"/>
            <a:ext cx="4248150" cy="228600"/>
          </a:xfrm>
          <a:prstGeom prst="rect">
            <a:avLst/>
          </a:prstGeom>
          <a:noFill/>
          <a:ln w="0">
            <a:noFill/>
            <a:prstDash val="solid"/>
          </a:ln>
          <a:effectLst/>
        </p:spPr>
        <p:txBody>
          <a:bodyPr wrap="square" lIns="0" tIns="0" rIns="0" bIns="0" anchor="ctr">
            <a:normAutofit/>
          </a:bodyPr>
          <a:lstStyle/>
          <a:p>
            <a:pPr algn="ctr">
              <a:defRPr sz="865" b="1">
                <a:solidFill>
                  <a:srgbClr val="072A67"/>
                </a:solidFill>
                <a:latin typeface="微软雅黑" panose="020B0503020204020204" charset="-122"/>
                <a:ea typeface="微软雅黑" panose="020B0503020204020204" charset="-122"/>
                <a:cs typeface="微软雅黑" panose="020B0503020204020204" charset="-122"/>
              </a:defRPr>
            </a:pPr>
            <a:r>
              <a:rPr sz="865">
                <a:solidFill>
                  <a:srgbClr val="C77C59"/>
                </a:solidFill>
                <a:latin typeface="Arial" panose="020B0604020202020204" pitchFamily="34" charset="0"/>
                <a:ea typeface="Microsoft YaHei" panose="020B0503020204020204" pitchFamily="34" charset="-122"/>
              </a:rPr>
              <a:t>↺  反馈校准：按问题类型回到框架或平台知识</a:t>
            </a:r>
          </a:p>
        </p:txBody>
      </p:sp>
      <p:sp>
        <p:nvSpPr>
          <p:cNvPr id="38" name="s15-universal-details-frame"/>
          <p:cNvSpPr>
            <a:spLocks noGrp="1"/>
          </p:cNvSpPr>
          <p:nvPr/>
        </p:nvSpPr>
        <p:spPr>
          <a:xfrm>
            <a:off x="6257925" y="1133475"/>
            <a:ext cx="5543550" cy="942975"/>
          </a:xfrm>
          <a:prstGeom prst="rect">
            <a:avLst/>
          </a:prstGeom>
          <a:solidFill>
            <a:srgbClr val="EEF2F5"/>
          </a:solidFill>
          <a:ln w="9525">
            <a:solidFill>
              <a:srgbClr val="D6DEE6"/>
            </a:solidFill>
            <a:prstDash val="solid"/>
          </a:ln>
          <a:effectLst/>
        </p:spPr>
      </p:sp>
      <p:sp>
        <p:nvSpPr>
          <p:cNvPr id="39" name="s15-detail-1-label"/>
          <p:cNvSpPr>
            <a:spLocks noGrp="1"/>
          </p:cNvSpPr>
          <p:nvPr/>
        </p:nvSpPr>
        <p:spPr>
          <a:xfrm>
            <a:off x="6496050" y="1181100"/>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Microsoft YaHei" panose="020B0503020204020204" pitchFamily="34" charset="-122"/>
                <a:cs typeface="微软雅黑" panose="020B0503020204020204" charset="-122"/>
              </a:rPr>
              <a:t>任务编排：</a:t>
            </a:r>
          </a:p>
        </p:txBody>
      </p:sp>
      <p:sp>
        <p:nvSpPr>
          <p:cNvPr id="40" name="s15-detail-1-value"/>
          <p:cNvSpPr>
            <a:spLocks noGrp="1"/>
          </p:cNvSpPr>
          <p:nvPr/>
        </p:nvSpPr>
        <p:spPr>
          <a:xfrm>
            <a:off x="7296150" y="1181100"/>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Microsoft YaHei" panose="020B0503020204020204" pitchFamily="34" charset="-122"/>
              </a:rPr>
              <a:t>需求 → 生成 → 验证 → 优化 → 输出</a:t>
            </a:r>
          </a:p>
        </p:txBody>
      </p:sp>
      <p:sp>
        <p:nvSpPr>
          <p:cNvPr id="41" name="s15-detail-2-label"/>
          <p:cNvSpPr>
            <a:spLocks noGrp="1"/>
          </p:cNvSpPr>
          <p:nvPr/>
        </p:nvSpPr>
        <p:spPr>
          <a:xfrm>
            <a:off x="6496050" y="1352550"/>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Microsoft YaHei" panose="020B0503020204020204" pitchFamily="34" charset="-122"/>
                <a:cs typeface="微软雅黑" panose="020B0503020204020204" charset="-122"/>
              </a:rPr>
              <a:t>模块边界：</a:t>
            </a:r>
          </a:p>
        </p:txBody>
      </p:sp>
      <p:sp>
        <p:nvSpPr>
          <p:cNvPr id="42" name="s15-detail-2-value"/>
          <p:cNvSpPr>
            <a:spLocks noGrp="1"/>
          </p:cNvSpPr>
          <p:nvPr/>
        </p:nvSpPr>
        <p:spPr>
          <a:xfrm>
            <a:off x="7296150" y="1352550"/>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C77C59"/>
                </a:solidFill>
                <a:latin typeface="Arial" panose="020B0604020202020204" pitchFamily="34" charset="0"/>
                <a:ea typeface="Microsoft YaHei" panose="020B0503020204020204" pitchFamily="34" charset="-122"/>
                <a:cs typeface="微软雅黑" panose="020B0503020204020204" charset="-122"/>
              </a:rPr>
              <a:t>每个阶段负责解决什么问题</a:t>
            </a:r>
          </a:p>
        </p:txBody>
      </p:sp>
      <p:sp>
        <p:nvSpPr>
          <p:cNvPr id="43" name="s15-detail-3-label"/>
          <p:cNvSpPr>
            <a:spLocks noGrp="1"/>
          </p:cNvSpPr>
          <p:nvPr/>
        </p:nvSpPr>
        <p:spPr>
          <a:xfrm>
            <a:off x="6496050" y="1524000"/>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Microsoft YaHei" panose="020B0503020204020204" pitchFamily="34" charset="-122"/>
                <a:cs typeface="微软雅黑" panose="020B0503020204020204" charset="-122"/>
              </a:rPr>
              <a:t>阶段契约：</a:t>
            </a:r>
          </a:p>
        </p:txBody>
      </p:sp>
      <p:sp>
        <p:nvSpPr>
          <p:cNvPr id="44" name="s15-detail-3-value"/>
          <p:cNvSpPr>
            <a:spLocks noGrp="1"/>
          </p:cNvSpPr>
          <p:nvPr/>
        </p:nvSpPr>
        <p:spPr>
          <a:xfrm>
            <a:off x="7296150" y="1524000"/>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Microsoft YaHei" panose="020B0503020204020204" pitchFamily="34" charset="-122"/>
                <a:cs typeface="微软雅黑" panose="020B0503020204020204" charset="-122"/>
              </a:rPr>
              <a:t>上一阶段输出什么，下一阶段需要什么</a:t>
            </a:r>
          </a:p>
        </p:txBody>
      </p:sp>
      <p:sp>
        <p:nvSpPr>
          <p:cNvPr id="45" name="s15-detail-4-label"/>
          <p:cNvSpPr>
            <a:spLocks noGrp="1"/>
          </p:cNvSpPr>
          <p:nvPr/>
        </p:nvSpPr>
        <p:spPr>
          <a:xfrm>
            <a:off x="6496050" y="1695450"/>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Microsoft YaHei" panose="020B0503020204020204" pitchFamily="34" charset="-122"/>
                <a:cs typeface="微软雅黑" panose="020B0503020204020204" charset="-122"/>
              </a:rPr>
              <a:t>子任务分工：</a:t>
            </a:r>
          </a:p>
        </p:txBody>
      </p:sp>
      <p:sp>
        <p:nvSpPr>
          <p:cNvPr id="46" name="s15-detail-4-value"/>
          <p:cNvSpPr>
            <a:spLocks noGrp="1"/>
          </p:cNvSpPr>
          <p:nvPr/>
        </p:nvSpPr>
        <p:spPr>
          <a:xfrm>
            <a:off x="7296150" y="1695450"/>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Microsoft YaHei" panose="020B0503020204020204" pitchFamily="34" charset="-122"/>
              </a:rPr>
              <a:t>复杂阶段允许进一步拆分 Sub-Agent</a:t>
            </a:r>
          </a:p>
        </p:txBody>
      </p:sp>
      <p:sp>
        <p:nvSpPr>
          <p:cNvPr id="47" name="s15-detail-5-label"/>
          <p:cNvSpPr>
            <a:spLocks noGrp="1"/>
          </p:cNvSpPr>
          <p:nvPr/>
        </p:nvSpPr>
        <p:spPr>
          <a:xfrm>
            <a:off x="6496050" y="1866900"/>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Microsoft YaHei" panose="020B0503020204020204" pitchFamily="34" charset="-122"/>
                <a:cs typeface="微软雅黑" panose="020B0503020204020204" charset="-122"/>
              </a:rPr>
              <a:t>输出规范：</a:t>
            </a:r>
          </a:p>
        </p:txBody>
      </p:sp>
      <p:sp>
        <p:nvSpPr>
          <p:cNvPr id="48" name="s15-detail-5-value"/>
          <p:cNvSpPr>
            <a:spLocks noGrp="1"/>
          </p:cNvSpPr>
          <p:nvPr/>
        </p:nvSpPr>
        <p:spPr>
          <a:xfrm>
            <a:off x="7296150" y="1866900"/>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Microsoft YaHei" panose="020B0503020204020204" pitchFamily="34" charset="-122"/>
              </a:rPr>
              <a:t>Kernel、Test、Correctness、Benchmark、Report</a:t>
            </a:r>
          </a:p>
        </p:txBody>
      </p:sp>
      <p:sp>
        <p:nvSpPr>
          <p:cNvPr id="49" name="s15-knowledge-1-frame"/>
          <p:cNvSpPr>
            <a:spLocks noGrp="1"/>
          </p:cNvSpPr>
          <p:nvPr/>
        </p:nvSpPr>
        <p:spPr>
          <a:xfrm>
            <a:off x="6353175" y="2647950"/>
            <a:ext cx="1724025" cy="438150"/>
          </a:xfrm>
          <a:prstGeom prst="rect">
            <a:avLst/>
          </a:prstGeom>
          <a:solidFill>
            <a:srgbClr val="EAF3F1"/>
          </a:solidFill>
          <a:ln w="9525">
            <a:solidFill>
              <a:srgbClr val="D6DEE6"/>
            </a:solidFill>
            <a:prstDash val="solid"/>
          </a:ln>
          <a:effectLst/>
        </p:spPr>
      </p:sp>
      <p:sp>
        <p:nvSpPr>
          <p:cNvPr id="50" name="s15-knowledge-1-title"/>
          <p:cNvSpPr>
            <a:spLocks noGrp="1"/>
          </p:cNvSpPr>
          <p:nvPr/>
        </p:nvSpPr>
        <p:spPr>
          <a:xfrm>
            <a:off x="6438900" y="2667000"/>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Microsoft YaHei" panose="020B0503020204020204" pitchFamily="34" charset="-122"/>
                <a:cs typeface="微软雅黑" panose="020B0503020204020204" charset="-122"/>
              </a:rPr>
              <a:t>1. Hardware</a:t>
            </a:r>
          </a:p>
        </p:txBody>
      </p:sp>
      <p:sp>
        <p:nvSpPr>
          <p:cNvPr id="51" name="s15-knowledge-1-body"/>
          <p:cNvSpPr>
            <a:spLocks noGrp="1"/>
          </p:cNvSpPr>
          <p:nvPr/>
        </p:nvSpPr>
        <p:spPr>
          <a:xfrm>
            <a:off x="6438900" y="2828925"/>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cs typeface="微软雅黑" panose="020B0503020204020204" charset="-122"/>
              </a:rPr>
              <a:t>计算单元、存储、</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cs typeface="微软雅黑" panose="020B0503020204020204" charset="-122"/>
              </a:rPr>
              <a:t>并行结构</a:t>
            </a:r>
          </a:p>
        </p:txBody>
      </p:sp>
      <p:sp>
        <p:nvSpPr>
          <p:cNvPr id="52" name="s15-knowledge-2-frame"/>
          <p:cNvSpPr>
            <a:spLocks noGrp="1"/>
          </p:cNvSpPr>
          <p:nvPr/>
        </p:nvSpPr>
        <p:spPr>
          <a:xfrm>
            <a:off x="8162925" y="2647950"/>
            <a:ext cx="1724025" cy="438150"/>
          </a:xfrm>
          <a:prstGeom prst="rect">
            <a:avLst/>
          </a:prstGeom>
          <a:solidFill>
            <a:srgbClr val="EAF3F1"/>
          </a:solidFill>
          <a:ln w="9525">
            <a:solidFill>
              <a:srgbClr val="D6DEE6"/>
            </a:solidFill>
            <a:prstDash val="solid"/>
          </a:ln>
          <a:effectLst/>
        </p:spPr>
      </p:sp>
      <p:sp>
        <p:nvSpPr>
          <p:cNvPr id="53" name="s15-knowledge-2-title"/>
          <p:cNvSpPr>
            <a:spLocks noGrp="1"/>
          </p:cNvSpPr>
          <p:nvPr/>
        </p:nvSpPr>
        <p:spPr>
          <a:xfrm>
            <a:off x="8248650" y="2667000"/>
            <a:ext cx="1571625" cy="171450"/>
          </a:xfrm>
          <a:prstGeom prst="rect">
            <a:avLst/>
          </a:prstGeom>
          <a:noFill/>
          <a:ln w="0">
            <a:noFill/>
            <a:prstDash val="solid"/>
          </a:ln>
          <a:effectLst/>
        </p:spPr>
        <p:txBody>
          <a:bodyPr wrap="square" lIns="0" tIns="0" rIns="0" bIns="0" anchor="ctr">
            <a:normAutofit/>
          </a:bodyPr>
          <a:lstStyle/>
          <a:p>
            <a:pPr algn="l">
              <a:defRPr sz="755" b="1">
                <a:solidFill>
                  <a:srgbClr val="14855C"/>
                </a:solidFill>
                <a:latin typeface="微软雅黑" panose="020B0503020204020204" charset="-122"/>
                <a:ea typeface="微软雅黑" panose="020B0503020204020204" charset="-122"/>
                <a:cs typeface="微软雅黑" panose="020B0503020204020204" charset="-122"/>
              </a:defRPr>
            </a:pPr>
            <a:r>
              <a:rPr sz="755">
                <a:solidFill>
                  <a:srgbClr val="4F8A83"/>
                </a:solidFill>
                <a:latin typeface="Arial" panose="020B0604020202020204" pitchFamily="34" charset="0"/>
                <a:ea typeface="Microsoft YaHei" panose="020B0503020204020204" pitchFamily="34" charset="-122"/>
                <a:cs typeface="微软雅黑" panose="020B0503020204020204" charset="-122"/>
              </a:rPr>
              <a:t>2. Programming Model</a:t>
            </a:r>
          </a:p>
        </p:txBody>
      </p:sp>
      <p:sp>
        <p:nvSpPr>
          <p:cNvPr id="54" name="s15-knowledge-2-body"/>
          <p:cNvSpPr>
            <a:spLocks noGrp="1"/>
          </p:cNvSpPr>
          <p:nvPr/>
        </p:nvSpPr>
        <p:spPr>
          <a:xfrm>
            <a:off x="8248650" y="2828925"/>
            <a:ext cx="1571625" cy="238125"/>
          </a:xfrm>
          <a:prstGeom prst="rect">
            <a:avLst/>
          </a:prstGeom>
          <a:noFill/>
          <a:ln w="0">
            <a:noFill/>
            <a:prstDash val="solid"/>
          </a:ln>
          <a:effectLst/>
        </p:spPr>
        <p:txBody>
          <a:bodyPr wrap="square" lIns="0" tIns="0" rIns="0" bIns="0" anchor="t">
            <a:no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Grid、Tile、</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执行模型</a:t>
            </a:r>
          </a:p>
        </p:txBody>
      </p:sp>
      <p:sp>
        <p:nvSpPr>
          <p:cNvPr id="55" name="s15-knowledge-3-frame"/>
          <p:cNvSpPr>
            <a:spLocks noGrp="1"/>
          </p:cNvSpPr>
          <p:nvPr/>
        </p:nvSpPr>
        <p:spPr>
          <a:xfrm>
            <a:off x="9972675" y="2647950"/>
            <a:ext cx="1724025" cy="438150"/>
          </a:xfrm>
          <a:prstGeom prst="rect">
            <a:avLst/>
          </a:prstGeom>
          <a:solidFill>
            <a:srgbClr val="EAF3F1"/>
          </a:solidFill>
          <a:ln w="9525">
            <a:solidFill>
              <a:srgbClr val="D6DEE6"/>
            </a:solidFill>
            <a:prstDash val="solid"/>
          </a:ln>
          <a:effectLst/>
        </p:spPr>
      </p:sp>
      <p:sp>
        <p:nvSpPr>
          <p:cNvPr id="56" name="s15-knowledge-3-title"/>
          <p:cNvSpPr>
            <a:spLocks noGrp="1"/>
          </p:cNvSpPr>
          <p:nvPr/>
        </p:nvSpPr>
        <p:spPr>
          <a:xfrm>
            <a:off x="10058400" y="2667000"/>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Microsoft YaHei" panose="020B0503020204020204" pitchFamily="34" charset="-122"/>
                <a:cs typeface="微软雅黑" panose="020B0503020204020204" charset="-122"/>
              </a:rPr>
              <a:t>3. API / Primitive</a:t>
            </a:r>
          </a:p>
        </p:txBody>
      </p:sp>
      <p:sp>
        <p:nvSpPr>
          <p:cNvPr id="57" name="s15-knowledge-3-body"/>
          <p:cNvSpPr>
            <a:spLocks noGrp="1"/>
          </p:cNvSpPr>
          <p:nvPr/>
        </p:nvSpPr>
        <p:spPr>
          <a:xfrm>
            <a:off x="10058400" y="2828925"/>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cs typeface="微软雅黑" panose="020B0503020204020204" charset="-122"/>
              </a:rPr>
              <a:t>支持能力、限制、</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cs typeface="微软雅黑" panose="020B0503020204020204" charset="-122"/>
              </a:rPr>
              <a:t>特殊行为</a:t>
            </a:r>
          </a:p>
        </p:txBody>
      </p:sp>
      <p:sp>
        <p:nvSpPr>
          <p:cNvPr id="58" name="s15-knowledge-4-frame"/>
          <p:cNvSpPr>
            <a:spLocks noGrp="1"/>
          </p:cNvSpPr>
          <p:nvPr/>
        </p:nvSpPr>
        <p:spPr>
          <a:xfrm>
            <a:off x="6353175" y="3133725"/>
            <a:ext cx="1724025" cy="438150"/>
          </a:xfrm>
          <a:prstGeom prst="rect">
            <a:avLst/>
          </a:prstGeom>
          <a:solidFill>
            <a:srgbClr val="EAF3F1"/>
          </a:solidFill>
          <a:ln w="9525">
            <a:solidFill>
              <a:srgbClr val="D6DEE6"/>
            </a:solidFill>
            <a:prstDash val="solid"/>
          </a:ln>
          <a:effectLst/>
        </p:spPr>
      </p:sp>
      <p:sp>
        <p:nvSpPr>
          <p:cNvPr id="59" name="s15-knowledge-4-title"/>
          <p:cNvSpPr>
            <a:spLocks noGrp="1"/>
          </p:cNvSpPr>
          <p:nvPr/>
        </p:nvSpPr>
        <p:spPr>
          <a:xfrm>
            <a:off x="6438900" y="3152775"/>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Microsoft YaHei" panose="020B0503020204020204" pitchFamily="34" charset="-122"/>
                <a:cs typeface="微软雅黑" panose="020B0503020204020204" charset="-122"/>
              </a:rPr>
              <a:t>4. Environment</a:t>
            </a:r>
          </a:p>
        </p:txBody>
      </p:sp>
      <p:sp>
        <p:nvSpPr>
          <p:cNvPr id="60" name="s15-knowledge-4-body"/>
          <p:cNvSpPr>
            <a:spLocks noGrp="1"/>
          </p:cNvSpPr>
          <p:nvPr/>
        </p:nvSpPr>
        <p:spPr>
          <a:xfrm>
            <a:off x="6438900" y="3314700"/>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Compiler、Runtime、</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Version</a:t>
            </a:r>
          </a:p>
        </p:txBody>
      </p:sp>
      <p:sp>
        <p:nvSpPr>
          <p:cNvPr id="61" name="s15-knowledge-5-frame"/>
          <p:cNvSpPr>
            <a:spLocks noGrp="1"/>
          </p:cNvSpPr>
          <p:nvPr/>
        </p:nvSpPr>
        <p:spPr>
          <a:xfrm>
            <a:off x="8162925" y="3133725"/>
            <a:ext cx="1724025" cy="438150"/>
          </a:xfrm>
          <a:prstGeom prst="rect">
            <a:avLst/>
          </a:prstGeom>
          <a:solidFill>
            <a:srgbClr val="EAF3F1"/>
          </a:solidFill>
          <a:ln w="9525">
            <a:solidFill>
              <a:srgbClr val="D6DEE6"/>
            </a:solidFill>
            <a:prstDash val="solid"/>
          </a:ln>
          <a:effectLst/>
        </p:spPr>
      </p:sp>
      <p:sp>
        <p:nvSpPr>
          <p:cNvPr id="62" name="s15-knowledge-5-title"/>
          <p:cNvSpPr>
            <a:spLocks noGrp="1"/>
          </p:cNvSpPr>
          <p:nvPr/>
        </p:nvSpPr>
        <p:spPr>
          <a:xfrm>
            <a:off x="8248650" y="3152775"/>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Microsoft YaHei" panose="020B0503020204020204" pitchFamily="34" charset="-122"/>
                <a:cs typeface="微软雅黑" panose="020B0503020204020204" charset="-122"/>
              </a:rPr>
              <a:t>5. Profiler</a:t>
            </a:r>
          </a:p>
        </p:txBody>
      </p:sp>
      <p:sp>
        <p:nvSpPr>
          <p:cNvPr id="63" name="s15-knowledge-5-body"/>
          <p:cNvSpPr>
            <a:spLocks noGrp="1"/>
          </p:cNvSpPr>
          <p:nvPr/>
        </p:nvSpPr>
        <p:spPr>
          <a:xfrm>
            <a:off x="8248650" y="3314700"/>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Benchmark、Counter、</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计时</a:t>
            </a:r>
          </a:p>
        </p:txBody>
      </p:sp>
      <p:sp>
        <p:nvSpPr>
          <p:cNvPr id="64" name="s15-knowledge-6-frame"/>
          <p:cNvSpPr>
            <a:spLocks noGrp="1"/>
          </p:cNvSpPr>
          <p:nvPr/>
        </p:nvSpPr>
        <p:spPr>
          <a:xfrm>
            <a:off x="9972675" y="3133725"/>
            <a:ext cx="1724025" cy="438150"/>
          </a:xfrm>
          <a:prstGeom prst="rect">
            <a:avLst/>
          </a:prstGeom>
          <a:solidFill>
            <a:srgbClr val="EAF3F1"/>
          </a:solidFill>
          <a:ln w="9525">
            <a:solidFill>
              <a:srgbClr val="D6DEE6"/>
            </a:solidFill>
            <a:prstDash val="solid"/>
          </a:ln>
          <a:effectLst/>
        </p:spPr>
      </p:sp>
      <p:sp>
        <p:nvSpPr>
          <p:cNvPr id="65" name="s15-knowledge-6-title"/>
          <p:cNvSpPr>
            <a:spLocks noGrp="1"/>
          </p:cNvSpPr>
          <p:nvPr/>
        </p:nvSpPr>
        <p:spPr>
          <a:xfrm>
            <a:off x="10058400" y="3152775"/>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Microsoft YaHei" panose="020B0503020204020204" pitchFamily="34" charset="-122"/>
                <a:cs typeface="微软雅黑" panose="020B0503020204020204" charset="-122"/>
              </a:rPr>
              <a:t>6. Optimization</a:t>
            </a:r>
          </a:p>
        </p:txBody>
      </p:sp>
      <p:sp>
        <p:nvSpPr>
          <p:cNvPr id="66" name="s15-knowledge-6-body"/>
          <p:cNvSpPr>
            <a:spLocks noGrp="1"/>
          </p:cNvSpPr>
          <p:nvPr/>
        </p:nvSpPr>
        <p:spPr>
          <a:xfrm>
            <a:off x="10058400" y="3314700"/>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Tile、Layout、</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Pipeline、案例</a:t>
            </a:r>
          </a:p>
        </p:txBody>
      </p:sp>
      <p:sp>
        <p:nvSpPr>
          <p:cNvPr id="67" name="s15-knowledge-sources"/>
          <p:cNvSpPr>
            <a:spLocks noGrp="1"/>
          </p:cNvSpPr>
          <p:nvPr/>
        </p:nvSpPr>
        <p:spPr>
          <a:xfrm>
            <a:off x="6486525" y="3609975"/>
            <a:ext cx="4991100" cy="190500"/>
          </a:xfrm>
          <a:prstGeom prst="rect">
            <a:avLst/>
          </a:prstGeom>
          <a:noFill/>
          <a:ln w="0">
            <a:noFill/>
            <a:prstDash val="solid"/>
          </a:ln>
          <a:effectLst/>
        </p:spPr>
        <p:txBody>
          <a:bodyPr wrap="square" lIns="19050" tIns="9525" rIns="19050" bIns="9525" anchor="ctr">
            <a:normAutofit/>
          </a:bodyPr>
          <a:lstStyle/>
          <a:p>
            <a:pPr algn="ctr">
              <a:defRPr sz="790" b="1">
                <a:solidFill>
                  <a:srgbClr val="27364A"/>
                </a:solidFill>
                <a:latin typeface="微软雅黑" panose="020B0503020204020204" charset="-122"/>
                <a:ea typeface="微软雅黑" panose="020B0503020204020204" charset="-122"/>
                <a:cs typeface="微软雅黑" panose="020B0503020204020204" charset="-122"/>
              </a:defRPr>
            </a:pPr>
            <a:r>
              <a:rPr sz="790">
                <a:solidFill>
                  <a:srgbClr val="2F3A45"/>
                </a:solidFill>
                <a:latin typeface="Arial" panose="020B0604020202020204" pitchFamily="34" charset="0"/>
                <a:ea typeface="Microsoft YaHei" panose="020B0503020204020204" pitchFamily="34" charset="-122"/>
              </a:rPr>
              <a:t>Platform Knowledge 来源 = 官方资料 + 环境检测 + 微基准 + 实际算子开发经验</a:t>
            </a:r>
          </a:p>
        </p:txBody>
      </p:sp>
      <p:sp>
        <p:nvSpPr>
          <p:cNvPr id="68" name="s15-level-1-frame"/>
          <p:cNvSpPr>
            <a:spLocks noGrp="1"/>
          </p:cNvSpPr>
          <p:nvPr/>
        </p:nvSpPr>
        <p:spPr>
          <a:xfrm>
            <a:off x="6353175" y="4391025"/>
            <a:ext cx="5353050" cy="295275"/>
          </a:xfrm>
          <a:prstGeom prst="rect">
            <a:avLst/>
          </a:prstGeom>
          <a:solidFill>
            <a:srgbClr val="EEF2F5"/>
          </a:solidFill>
          <a:ln w="9525">
            <a:solidFill>
              <a:srgbClr val="D6DEE6"/>
            </a:solidFill>
            <a:prstDash val="solid"/>
          </a:ln>
          <a:effectLst/>
        </p:spPr>
      </p:sp>
      <p:sp>
        <p:nvSpPr>
          <p:cNvPr id="69" name="s15-level-1-badge"/>
          <p:cNvSpPr>
            <a:spLocks noGrp="1"/>
          </p:cNvSpPr>
          <p:nvPr/>
        </p:nvSpPr>
        <p:spPr>
          <a:xfrm>
            <a:off x="6448425" y="4429125"/>
            <a:ext cx="400050" cy="219075"/>
          </a:xfrm>
          <a:prstGeom prst="roundRect">
            <a:avLst>
              <a:gd name="adj" fmla="val 21739"/>
            </a:avLst>
          </a:prstGeom>
          <a:solidFill>
            <a:srgbClr val="EEF2F5"/>
          </a:solidFill>
          <a:ln w="9525">
            <a:solidFill>
              <a:srgbClr val="D6DEE6"/>
            </a:solidFill>
            <a:prstDash val="solid"/>
          </a:ln>
          <a:effectLst/>
        </p:spPr>
        <p:txBody>
          <a:bodyPr wrap="square" lIns="47625" tIns="19050" rIns="47625" bIns="19050" anchor="ctr">
            <a:normAutofit/>
          </a:bodyPr>
          <a:lstStyle/>
          <a:p>
            <a:pPr algn="ctr">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Microsoft YaHei" panose="020B0503020204020204" pitchFamily="34" charset="-122"/>
                <a:cs typeface="微软雅黑" panose="020B0503020204020204" charset="-122"/>
              </a:rPr>
              <a:t>L1</a:t>
            </a:r>
          </a:p>
        </p:txBody>
      </p:sp>
      <p:sp>
        <p:nvSpPr>
          <p:cNvPr id="70" name="s15-level-1-title"/>
          <p:cNvSpPr>
            <a:spLocks noGrp="1"/>
          </p:cNvSpPr>
          <p:nvPr/>
        </p:nvSpPr>
        <p:spPr>
          <a:xfrm>
            <a:off x="6934200" y="4400550"/>
            <a:ext cx="1123950" cy="152400"/>
          </a:xfrm>
          <a:prstGeom prst="rect">
            <a:avLst/>
          </a:prstGeom>
          <a:noFill/>
          <a:ln w="0">
            <a:noFill/>
            <a:prstDash val="solid"/>
          </a:ln>
          <a:effectLst/>
        </p:spPr>
        <p:txBody>
          <a:bodyPr wrap="square" lIns="0" tIns="0" rIns="0" bIns="0" anchor="ctr">
            <a:normAutofit/>
          </a:bodyPr>
          <a:lstStyle/>
          <a:p>
            <a:pPr algn="l">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Microsoft YaHei" panose="020B0503020204020204" pitchFamily="34" charset="-122"/>
                <a:cs typeface="微软雅黑" panose="020B0503020204020204" charset="-122"/>
              </a:rPr>
              <a:t>环境验证</a:t>
            </a:r>
          </a:p>
        </p:txBody>
      </p:sp>
      <p:sp>
        <p:nvSpPr>
          <p:cNvPr id="71" name="s15-level-1-question"/>
          <p:cNvSpPr>
            <a:spLocks noGrp="1"/>
          </p:cNvSpPr>
          <p:nvPr/>
        </p:nvSpPr>
        <p:spPr>
          <a:xfrm>
            <a:off x="8058150" y="4400550"/>
            <a:ext cx="3390900" cy="152400"/>
          </a:xfrm>
          <a:prstGeom prst="rect">
            <a:avLst/>
          </a:prstGeom>
          <a:noFill/>
          <a:ln w="0">
            <a:noFill/>
            <a:prstDash val="solid"/>
          </a:ln>
          <a:effectLst/>
        </p:spPr>
        <p:txBody>
          <a:bodyPr wrap="square" lIns="0" tIns="0" rIns="0" bIns="0" anchor="ctr">
            <a:normAutofit/>
          </a:bodyPr>
          <a:lstStyle/>
          <a:p>
            <a:pPr algn="l">
              <a:defRPr sz="790" b="1">
                <a:solidFill>
                  <a:srgbClr val="072A67"/>
                </a:solidFill>
                <a:latin typeface="微软雅黑" panose="020B0503020204020204" charset="-122"/>
                <a:ea typeface="微软雅黑" panose="020B0503020204020204" charset="-122"/>
                <a:cs typeface="微软雅黑" panose="020B0503020204020204" charset="-122"/>
              </a:defRPr>
            </a:pPr>
            <a:r>
              <a:rPr sz="790">
                <a:solidFill>
                  <a:srgbClr val="2F3A45"/>
                </a:solidFill>
                <a:latin typeface="Arial" panose="020B0604020202020204" pitchFamily="34" charset="0"/>
                <a:ea typeface="Microsoft YaHei" panose="020B0503020204020204" pitchFamily="34" charset="-122"/>
                <a:cs typeface="微软雅黑" panose="020B0503020204020204" charset="-122"/>
              </a:rPr>
              <a:t>能不能跑？</a:t>
            </a:r>
          </a:p>
        </p:txBody>
      </p:sp>
      <p:sp>
        <p:nvSpPr>
          <p:cNvPr id="72" name="s15-level-1-detail"/>
          <p:cNvSpPr>
            <a:spLocks noGrp="1"/>
          </p:cNvSpPr>
          <p:nvPr/>
        </p:nvSpPr>
        <p:spPr>
          <a:xfrm>
            <a:off x="6934200" y="4533900"/>
            <a:ext cx="4533900" cy="133350"/>
          </a:xfrm>
          <a:prstGeom prst="rect">
            <a:avLst/>
          </a:prstGeom>
          <a:noFill/>
          <a:ln w="0">
            <a:noFill/>
            <a:prstDash val="solid"/>
          </a:ln>
          <a:effectLst/>
        </p:spPr>
        <p:txBody>
          <a:bodyPr wrap="square" lIns="0" tIns="0" rIns="0" bIns="0" anchor="ctr">
            <a:normAutofit/>
          </a:bodyPr>
          <a:lstStyle/>
          <a:p>
            <a:pPr algn="l">
              <a:defRPr sz="690" b="0">
                <a:solidFill>
                  <a:srgbClr val="5E6B80"/>
                </a:solidFill>
                <a:latin typeface="微软雅黑" panose="020B0503020204020204" charset="-122"/>
                <a:ea typeface="微软雅黑" panose="020B0503020204020204" charset="-122"/>
                <a:cs typeface="微软雅黑" panose="020B0503020204020204" charset="-122"/>
              </a:defRPr>
            </a:pPr>
            <a:r>
              <a:rPr sz="690" b="1">
                <a:solidFill>
                  <a:srgbClr val="294A6D"/>
                </a:solidFill>
                <a:latin typeface="Arial" panose="020B0604020202020204" pitchFamily="34" charset="0"/>
                <a:ea typeface="Microsoft YaHei" panose="020B0503020204020204" pitchFamily="34" charset="-122"/>
                <a:cs typeface="微软雅黑" panose="020B0503020204020204" charset="-122"/>
              </a:rPr>
              <a:t>Device · Compiler · Framework · Profiler · Smoke Test</a:t>
            </a:r>
          </a:p>
        </p:txBody>
      </p:sp>
      <p:sp>
        <p:nvSpPr>
          <p:cNvPr id="73" name="s15-level-2-frame"/>
          <p:cNvSpPr>
            <a:spLocks noGrp="1"/>
          </p:cNvSpPr>
          <p:nvPr/>
        </p:nvSpPr>
        <p:spPr>
          <a:xfrm>
            <a:off x="6353175" y="4724400"/>
            <a:ext cx="5353050" cy="295275"/>
          </a:xfrm>
          <a:prstGeom prst="rect">
            <a:avLst/>
          </a:prstGeom>
          <a:solidFill>
            <a:srgbClr val="EEF2F5"/>
          </a:solidFill>
          <a:ln w="9525">
            <a:solidFill>
              <a:srgbClr val="D6DEE6"/>
            </a:solidFill>
            <a:prstDash val="solid"/>
          </a:ln>
          <a:effectLst/>
        </p:spPr>
      </p:sp>
      <p:sp>
        <p:nvSpPr>
          <p:cNvPr id="74" name="s15-level-2-badge"/>
          <p:cNvSpPr>
            <a:spLocks noGrp="1"/>
          </p:cNvSpPr>
          <p:nvPr/>
        </p:nvSpPr>
        <p:spPr>
          <a:xfrm>
            <a:off x="6448425" y="4762500"/>
            <a:ext cx="400050" cy="219075"/>
          </a:xfrm>
          <a:prstGeom prst="roundRect">
            <a:avLst>
              <a:gd name="adj" fmla="val 21739"/>
            </a:avLst>
          </a:prstGeom>
          <a:solidFill>
            <a:srgbClr val="EEF2F5"/>
          </a:solidFill>
          <a:ln w="9525">
            <a:solidFill>
              <a:srgbClr val="D6DEE6"/>
            </a:solidFill>
            <a:prstDash val="solid"/>
          </a:ln>
          <a:effectLst/>
        </p:spPr>
        <p:txBody>
          <a:bodyPr wrap="square" lIns="47625" tIns="19050" rIns="47625" bIns="19050" anchor="ctr">
            <a:normAutofit/>
          </a:bodyPr>
          <a:lstStyle/>
          <a:p>
            <a:pPr algn="ctr">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Microsoft YaHei" panose="020B0503020204020204" pitchFamily="34" charset="-122"/>
                <a:cs typeface="微软雅黑" panose="020B0503020204020204" charset="-122"/>
              </a:rPr>
              <a:t>L2</a:t>
            </a:r>
          </a:p>
        </p:txBody>
      </p:sp>
      <p:sp>
        <p:nvSpPr>
          <p:cNvPr id="75" name="s15-level-2-title"/>
          <p:cNvSpPr>
            <a:spLocks noGrp="1"/>
          </p:cNvSpPr>
          <p:nvPr/>
        </p:nvSpPr>
        <p:spPr>
          <a:xfrm>
            <a:off x="6934200" y="4733925"/>
            <a:ext cx="1123950" cy="152400"/>
          </a:xfrm>
          <a:prstGeom prst="rect">
            <a:avLst/>
          </a:prstGeom>
          <a:noFill/>
          <a:ln w="0">
            <a:noFill/>
            <a:prstDash val="solid"/>
          </a:ln>
          <a:effectLst/>
        </p:spPr>
        <p:txBody>
          <a:bodyPr wrap="square" lIns="0" tIns="0" rIns="0" bIns="0" anchor="ctr">
            <a:normAutofit/>
          </a:bodyPr>
          <a:lstStyle/>
          <a:p>
            <a:pPr algn="l">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Microsoft YaHei" panose="020B0503020204020204" pitchFamily="34" charset="-122"/>
                <a:cs typeface="微软雅黑" panose="020B0503020204020204" charset="-122"/>
              </a:rPr>
              <a:t>平台事实验证</a:t>
            </a:r>
          </a:p>
        </p:txBody>
      </p:sp>
      <p:sp>
        <p:nvSpPr>
          <p:cNvPr id="76" name="s15-level-2-question"/>
          <p:cNvSpPr>
            <a:spLocks noGrp="1"/>
          </p:cNvSpPr>
          <p:nvPr/>
        </p:nvSpPr>
        <p:spPr>
          <a:xfrm>
            <a:off x="8058150" y="4733925"/>
            <a:ext cx="3390900" cy="152400"/>
          </a:xfrm>
          <a:prstGeom prst="rect">
            <a:avLst/>
          </a:prstGeom>
          <a:noFill/>
          <a:ln w="0">
            <a:noFill/>
            <a:prstDash val="solid"/>
          </a:ln>
          <a:effectLst/>
        </p:spPr>
        <p:txBody>
          <a:bodyPr wrap="square" lIns="0" tIns="0" rIns="0" bIns="0" anchor="ctr">
            <a:normAutofit/>
          </a:bodyPr>
          <a:lstStyle/>
          <a:p>
            <a:pPr algn="l">
              <a:defRPr sz="790" b="1">
                <a:solidFill>
                  <a:srgbClr val="072A67"/>
                </a:solidFill>
                <a:latin typeface="微软雅黑" panose="020B0503020204020204" charset="-122"/>
                <a:ea typeface="微软雅黑" panose="020B0503020204020204" charset="-122"/>
                <a:cs typeface="微软雅黑" panose="020B0503020204020204" charset="-122"/>
              </a:defRPr>
            </a:pPr>
            <a:r>
              <a:rPr sz="790">
                <a:solidFill>
                  <a:srgbClr val="2F3A45"/>
                </a:solidFill>
                <a:latin typeface="Arial" panose="020B0604020202020204" pitchFamily="34" charset="0"/>
                <a:ea typeface="Microsoft YaHei" panose="020B0503020204020204" pitchFamily="34" charset="-122"/>
                <a:cs typeface="微软雅黑" panose="020B0503020204020204" charset="-122"/>
              </a:rPr>
              <a:t>我们理解的平台行为对不对？</a:t>
            </a:r>
          </a:p>
        </p:txBody>
      </p:sp>
      <p:sp>
        <p:nvSpPr>
          <p:cNvPr id="77" name="s15-level-2-detail"/>
          <p:cNvSpPr>
            <a:spLocks noGrp="1"/>
          </p:cNvSpPr>
          <p:nvPr/>
        </p:nvSpPr>
        <p:spPr>
          <a:xfrm>
            <a:off x="6934200" y="4867275"/>
            <a:ext cx="4533900" cy="133350"/>
          </a:xfrm>
          <a:prstGeom prst="rect">
            <a:avLst/>
          </a:prstGeom>
          <a:noFill/>
          <a:ln w="0">
            <a:noFill/>
            <a:prstDash val="solid"/>
          </a:ln>
          <a:effectLst/>
        </p:spPr>
        <p:txBody>
          <a:bodyPr wrap="square" lIns="0" tIns="0" rIns="0" bIns="0" anchor="ctr">
            <a:normAutofit/>
          </a:bodyPr>
          <a:lstStyle/>
          <a:p>
            <a:pPr algn="l">
              <a:defRPr sz="660" b="0">
                <a:solidFill>
                  <a:srgbClr val="5E6B80"/>
                </a:solidFill>
                <a:latin typeface="微软雅黑" panose="020B0503020204020204" charset="-122"/>
                <a:ea typeface="微软雅黑" panose="020B0503020204020204" charset="-122"/>
                <a:cs typeface="微软雅黑" panose="020B0503020204020204" charset="-122"/>
              </a:defRPr>
            </a:pPr>
            <a:r>
              <a:rPr sz="660" b="1">
                <a:solidFill>
                  <a:srgbClr val="294A6D"/>
                </a:solidFill>
                <a:latin typeface="Arial" panose="020B0604020202020204" pitchFamily="34" charset="0"/>
                <a:ea typeface="Microsoft YaHei" panose="020B0503020204020204" pitchFamily="34" charset="-122"/>
                <a:cs typeface="微软雅黑" panose="020B0503020204020204" charset="-122"/>
              </a:rPr>
              <a:t>Memory · Compute · Reduction · Layout · Pipeline · Synchronization</a:t>
            </a:r>
          </a:p>
        </p:txBody>
      </p:sp>
      <p:sp>
        <p:nvSpPr>
          <p:cNvPr id="78" name="s15-level-3-frame"/>
          <p:cNvSpPr>
            <a:spLocks noGrp="1"/>
          </p:cNvSpPr>
          <p:nvPr/>
        </p:nvSpPr>
        <p:spPr>
          <a:xfrm>
            <a:off x="6353175" y="5057775"/>
            <a:ext cx="5353050" cy="295275"/>
          </a:xfrm>
          <a:prstGeom prst="rect">
            <a:avLst/>
          </a:prstGeom>
          <a:solidFill>
            <a:srgbClr val="EEF2F5"/>
          </a:solidFill>
          <a:ln w="9525">
            <a:solidFill>
              <a:srgbClr val="D6DEE6"/>
            </a:solidFill>
            <a:prstDash val="solid"/>
          </a:ln>
          <a:effectLst/>
        </p:spPr>
      </p:sp>
      <p:sp>
        <p:nvSpPr>
          <p:cNvPr id="79" name="s15-level-3-badge"/>
          <p:cNvSpPr>
            <a:spLocks noGrp="1"/>
          </p:cNvSpPr>
          <p:nvPr/>
        </p:nvSpPr>
        <p:spPr>
          <a:xfrm>
            <a:off x="6448425" y="5095875"/>
            <a:ext cx="400050" cy="219075"/>
          </a:xfrm>
          <a:prstGeom prst="roundRect">
            <a:avLst>
              <a:gd name="adj" fmla="val 21739"/>
            </a:avLst>
          </a:prstGeom>
          <a:solidFill>
            <a:srgbClr val="EEF2F5"/>
          </a:solidFill>
          <a:ln w="9525">
            <a:solidFill>
              <a:srgbClr val="D6DEE6"/>
            </a:solidFill>
            <a:prstDash val="solid"/>
          </a:ln>
          <a:effectLst/>
        </p:spPr>
        <p:txBody>
          <a:bodyPr wrap="square" lIns="47625" tIns="19050" rIns="47625" bIns="19050" anchor="ctr">
            <a:normAutofit/>
          </a:bodyPr>
          <a:lstStyle/>
          <a:p>
            <a:pPr algn="ctr">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Microsoft YaHei" panose="020B0503020204020204" pitchFamily="34" charset="-122"/>
                <a:cs typeface="微软雅黑" panose="020B0503020204020204" charset="-122"/>
              </a:rPr>
              <a:t>L3</a:t>
            </a:r>
          </a:p>
        </p:txBody>
      </p:sp>
      <p:sp>
        <p:nvSpPr>
          <p:cNvPr id="80" name="s15-level-3-title"/>
          <p:cNvSpPr>
            <a:spLocks noGrp="1"/>
          </p:cNvSpPr>
          <p:nvPr/>
        </p:nvSpPr>
        <p:spPr>
          <a:xfrm>
            <a:off x="6934200" y="5067300"/>
            <a:ext cx="1123950" cy="152400"/>
          </a:xfrm>
          <a:prstGeom prst="rect">
            <a:avLst/>
          </a:prstGeom>
          <a:noFill/>
          <a:ln w="0">
            <a:noFill/>
            <a:prstDash val="solid"/>
          </a:ln>
          <a:effectLst/>
        </p:spPr>
        <p:txBody>
          <a:bodyPr wrap="square" lIns="0" tIns="0" rIns="0" bIns="0" anchor="ctr">
            <a:normAutofit/>
          </a:bodyPr>
          <a:lstStyle/>
          <a:p>
            <a:pPr algn="l">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Microsoft YaHei" panose="020B0503020204020204" pitchFamily="34" charset="-122"/>
                <a:cs typeface="微软雅黑" panose="020B0503020204020204" charset="-122"/>
              </a:rPr>
              <a:t>算子验证</a:t>
            </a:r>
          </a:p>
        </p:txBody>
      </p:sp>
      <p:sp>
        <p:nvSpPr>
          <p:cNvPr id="81" name="s15-level-3-question"/>
          <p:cNvSpPr>
            <a:spLocks noGrp="1"/>
          </p:cNvSpPr>
          <p:nvPr/>
        </p:nvSpPr>
        <p:spPr>
          <a:xfrm>
            <a:off x="8058150" y="5067300"/>
            <a:ext cx="3390900" cy="152400"/>
          </a:xfrm>
          <a:prstGeom prst="rect">
            <a:avLst/>
          </a:prstGeom>
          <a:noFill/>
          <a:ln w="0">
            <a:noFill/>
            <a:prstDash val="solid"/>
          </a:ln>
          <a:effectLst/>
        </p:spPr>
        <p:txBody>
          <a:bodyPr wrap="square" lIns="0" tIns="0" rIns="0" bIns="0" anchor="ctr">
            <a:normAutofit/>
          </a:bodyPr>
          <a:lstStyle/>
          <a:p>
            <a:pPr algn="l">
              <a:defRPr sz="790" b="1">
                <a:solidFill>
                  <a:srgbClr val="072A67"/>
                </a:solidFill>
                <a:latin typeface="微软雅黑" panose="020B0503020204020204" charset="-122"/>
                <a:ea typeface="微软雅黑" panose="020B0503020204020204" charset="-122"/>
                <a:cs typeface="微软雅黑" panose="020B0503020204020204" charset="-122"/>
              </a:defRPr>
            </a:pPr>
            <a:r>
              <a:rPr sz="790">
                <a:solidFill>
                  <a:srgbClr val="2F3A45"/>
                </a:solidFill>
                <a:latin typeface="Arial" panose="020B0604020202020204" pitchFamily="34" charset="0"/>
                <a:ea typeface="Microsoft YaHei" panose="020B0503020204020204" pitchFamily="34" charset="-122"/>
                <a:cs typeface="微软雅黑" panose="020B0503020204020204" charset="-122"/>
              </a:rPr>
              <a:t>这些知识能不能真正支撑算子开发？</a:t>
            </a:r>
          </a:p>
        </p:txBody>
      </p:sp>
      <p:sp>
        <p:nvSpPr>
          <p:cNvPr id="82" name="s15-level-3-detail"/>
          <p:cNvSpPr>
            <a:spLocks noGrp="1"/>
          </p:cNvSpPr>
          <p:nvPr/>
        </p:nvSpPr>
        <p:spPr>
          <a:xfrm>
            <a:off x="6934200" y="5200650"/>
            <a:ext cx="4533900" cy="133350"/>
          </a:xfrm>
          <a:prstGeom prst="rect">
            <a:avLst/>
          </a:prstGeom>
          <a:noFill/>
          <a:ln w="0">
            <a:noFill/>
            <a:prstDash val="solid"/>
          </a:ln>
          <a:effectLst/>
        </p:spPr>
        <p:txBody>
          <a:bodyPr wrap="square" lIns="0" tIns="0" rIns="0" bIns="0" anchor="ctr">
            <a:normAutofit/>
          </a:bodyPr>
          <a:lstStyle/>
          <a:p>
            <a:pPr algn="l">
              <a:defRPr sz="690" b="0">
                <a:solidFill>
                  <a:srgbClr val="5E6B80"/>
                </a:solidFill>
                <a:latin typeface="微软雅黑" panose="020B0503020204020204" charset="-122"/>
                <a:ea typeface="微软雅黑" panose="020B0503020204020204" charset="-122"/>
                <a:cs typeface="微软雅黑" panose="020B0503020204020204" charset="-122"/>
              </a:defRPr>
            </a:pPr>
            <a:r>
              <a:rPr sz="690" b="1">
                <a:solidFill>
                  <a:srgbClr val="294A6D"/>
                </a:solidFill>
                <a:latin typeface="Arial" panose="020B0604020202020204" pitchFamily="34" charset="0"/>
                <a:ea typeface="Microsoft YaHei" panose="020B0503020204020204" pitchFamily="34" charset="-122"/>
                <a:cs typeface="微软雅黑" panose="020B0503020204020204" charset="-122"/>
              </a:rPr>
              <a:t>LayerNorm · Softmax · MatMul</a:t>
            </a:r>
          </a:p>
        </p:txBody>
      </p:sp>
      <p:sp>
        <p:nvSpPr>
          <p:cNvPr id="83" name="s15-feedback-label"/>
          <p:cNvSpPr>
            <a:spLocks noGrp="1"/>
          </p:cNvSpPr>
          <p:nvPr/>
        </p:nvSpPr>
        <p:spPr>
          <a:xfrm>
            <a:off x="1628775" y="5800725"/>
            <a:ext cx="1304925" cy="514350"/>
          </a:xfrm>
          <a:prstGeom prst="roundRect">
            <a:avLst>
              <a:gd name="adj" fmla="val 12963"/>
            </a:avLst>
          </a:prstGeom>
          <a:solidFill>
            <a:srgbClr val="294A6D"/>
          </a:solidFill>
          <a:ln w="0">
            <a:solidFill>
              <a:srgbClr val="D6DEE6"/>
            </a:solidFill>
            <a:prstDash val="solid"/>
          </a:ln>
          <a:effectLst/>
        </p:spPr>
        <p:txBody>
          <a:bodyPr wrap="square" lIns="47625" tIns="19050" rIns="47625" bIns="19050" anchor="ctr">
            <a:normAutofit/>
          </a:bodyPr>
          <a:lstStyle/>
          <a:p>
            <a:pPr algn="ctr">
              <a:defRPr sz="1165" b="1">
                <a:solidFill>
                  <a:srgbClr val="FFFFFF"/>
                </a:solidFill>
                <a:latin typeface="微软雅黑" panose="020B0503020204020204" charset="-122"/>
                <a:ea typeface="微软雅黑" panose="020B0503020204020204" charset="-122"/>
                <a:cs typeface="微软雅黑" panose="020B0503020204020204" charset="-122"/>
              </a:defRPr>
            </a:pPr>
            <a:r>
              <a:rPr sz="1165">
                <a:solidFill>
                  <a:srgbClr val="FFFFFF"/>
                </a:solidFill>
                <a:latin typeface="Arial" panose="020B0604020202020204" pitchFamily="34" charset="0"/>
                <a:ea typeface="Microsoft YaHei" panose="020B0503020204020204" pitchFamily="34" charset="-122"/>
                <a:cs typeface="微软雅黑" panose="020B0503020204020204" charset="-122"/>
              </a:rPr>
              <a:t>反馈规则</a:t>
            </a:r>
          </a:p>
        </p:txBody>
      </p:sp>
      <p:sp>
        <p:nvSpPr>
          <p:cNvPr id="84" name="s15-feedback-1-title"/>
          <p:cNvSpPr>
            <a:spLocks noGrp="1"/>
          </p:cNvSpPr>
          <p:nvPr/>
        </p:nvSpPr>
        <p:spPr>
          <a:xfrm>
            <a:off x="308610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14855C"/>
                </a:solidFill>
                <a:latin typeface="微软雅黑" panose="020B0503020204020204" charset="-122"/>
                <a:ea typeface="微软雅黑" panose="020B0503020204020204" charset="-122"/>
                <a:cs typeface="微软雅黑" panose="020B0503020204020204" charset="-122"/>
              </a:defRPr>
            </a:pPr>
            <a:r>
              <a:rPr sz="885">
                <a:solidFill>
                  <a:srgbClr val="4F8A83"/>
                </a:solidFill>
                <a:latin typeface="Arial" panose="020B0604020202020204" pitchFamily="34" charset="0"/>
                <a:ea typeface="Microsoft YaHei" panose="020B0503020204020204" pitchFamily="34" charset="-122"/>
                <a:cs typeface="微软雅黑" panose="020B0503020204020204" charset="-122"/>
              </a:rPr>
              <a:t>平台事实不符</a:t>
            </a:r>
          </a:p>
        </p:txBody>
      </p:sp>
      <p:sp>
        <p:nvSpPr>
          <p:cNvPr id="85" name="s15-feedback-1-action"/>
          <p:cNvSpPr>
            <a:spLocks noGrp="1"/>
          </p:cNvSpPr>
          <p:nvPr/>
        </p:nvSpPr>
        <p:spPr>
          <a:xfrm>
            <a:off x="308610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Microsoft YaHei" panose="020B0503020204020204" pitchFamily="34" charset="-122"/>
              </a:rPr>
              <a:t>→ 更新 Platform Knowledge</a:t>
            </a:r>
          </a:p>
        </p:txBody>
      </p:sp>
      <p:sp>
        <p:nvSpPr>
          <p:cNvPr id="86" name="s15-feedback-divider-1"/>
          <p:cNvSpPr>
            <a:spLocks noGrp="1"/>
          </p:cNvSpPr>
          <p:nvPr/>
        </p:nvSpPr>
        <p:spPr>
          <a:xfrm>
            <a:off x="5124450" y="5867400"/>
            <a:ext cx="9525" cy="381000"/>
          </a:xfrm>
          <a:prstGeom prst="rect">
            <a:avLst/>
          </a:prstGeom>
          <a:solidFill>
            <a:srgbClr val="EEF2F5"/>
          </a:solidFill>
          <a:ln w="0">
            <a:solidFill>
              <a:srgbClr val="D6DEE6"/>
            </a:solidFill>
            <a:prstDash val="solid"/>
          </a:ln>
          <a:effectLst/>
        </p:spPr>
      </p:sp>
      <p:sp>
        <p:nvSpPr>
          <p:cNvPr id="87" name="s15-feedback-2-title"/>
          <p:cNvSpPr>
            <a:spLocks noGrp="1"/>
          </p:cNvSpPr>
          <p:nvPr/>
        </p:nvSpPr>
        <p:spPr>
          <a:xfrm>
            <a:off x="527685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E97132"/>
                </a:solidFill>
                <a:latin typeface="微软雅黑" panose="020B0503020204020204" charset="-122"/>
                <a:ea typeface="微软雅黑" panose="020B0503020204020204" charset="-122"/>
                <a:cs typeface="微软雅黑" panose="020B0503020204020204" charset="-122"/>
              </a:defRPr>
            </a:pPr>
            <a:r>
              <a:rPr sz="885">
                <a:solidFill>
                  <a:srgbClr val="C77C59"/>
                </a:solidFill>
                <a:latin typeface="Arial" panose="020B0604020202020204" pitchFamily="34" charset="0"/>
                <a:ea typeface="Microsoft YaHei" panose="020B0503020204020204" pitchFamily="34" charset="-122"/>
                <a:cs typeface="微软雅黑" panose="020B0503020204020204" charset="-122"/>
              </a:rPr>
              <a:t>优化策略失效</a:t>
            </a:r>
          </a:p>
        </p:txBody>
      </p:sp>
      <p:sp>
        <p:nvSpPr>
          <p:cNvPr id="88" name="s15-feedback-2-action"/>
          <p:cNvSpPr>
            <a:spLocks noGrp="1"/>
          </p:cNvSpPr>
          <p:nvPr/>
        </p:nvSpPr>
        <p:spPr>
          <a:xfrm>
            <a:off x="527685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Microsoft YaHei" panose="020B0503020204020204" pitchFamily="34" charset="-122"/>
              </a:rPr>
              <a:t>→ 更新 Optimization Rules</a:t>
            </a:r>
          </a:p>
        </p:txBody>
      </p:sp>
      <p:sp>
        <p:nvSpPr>
          <p:cNvPr id="89" name="s15-feedback-divider-2"/>
          <p:cNvSpPr>
            <a:spLocks noGrp="1"/>
          </p:cNvSpPr>
          <p:nvPr/>
        </p:nvSpPr>
        <p:spPr>
          <a:xfrm>
            <a:off x="7315200" y="5867400"/>
            <a:ext cx="9525" cy="381000"/>
          </a:xfrm>
          <a:prstGeom prst="rect">
            <a:avLst/>
          </a:prstGeom>
          <a:solidFill>
            <a:srgbClr val="EEF2F5"/>
          </a:solidFill>
          <a:ln w="0">
            <a:solidFill>
              <a:srgbClr val="D6DEE6"/>
            </a:solidFill>
            <a:prstDash val="solid"/>
          </a:ln>
          <a:effectLst/>
        </p:spPr>
      </p:sp>
      <p:sp>
        <p:nvSpPr>
          <p:cNvPr id="90" name="s15-feedback-3-title"/>
          <p:cNvSpPr>
            <a:spLocks noGrp="1"/>
          </p:cNvSpPr>
          <p:nvPr/>
        </p:nvSpPr>
        <p:spPr>
          <a:xfrm>
            <a:off x="746760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1457C5"/>
                </a:solidFill>
                <a:latin typeface="微软雅黑" panose="020B0503020204020204" charset="-122"/>
                <a:ea typeface="微软雅黑" panose="020B0503020204020204" charset="-122"/>
                <a:cs typeface="微软雅黑" panose="020B0503020204020204" charset="-122"/>
              </a:defRPr>
            </a:pPr>
            <a:r>
              <a:rPr sz="885">
                <a:solidFill>
                  <a:srgbClr val="294A6D"/>
                </a:solidFill>
                <a:latin typeface="Arial" panose="020B0604020202020204" pitchFamily="34" charset="0"/>
                <a:ea typeface="Microsoft YaHei" panose="020B0503020204020204" pitchFamily="34" charset="-122"/>
                <a:cs typeface="微软雅黑" panose="020B0503020204020204" charset="-122"/>
              </a:rPr>
              <a:t>流程信息不足</a:t>
            </a:r>
          </a:p>
        </p:txBody>
      </p:sp>
      <p:sp>
        <p:nvSpPr>
          <p:cNvPr id="91" name="s15-feedback-3-action"/>
          <p:cNvSpPr>
            <a:spLocks noGrp="1"/>
          </p:cNvSpPr>
          <p:nvPr/>
        </p:nvSpPr>
        <p:spPr>
          <a:xfrm>
            <a:off x="746760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Microsoft YaHei" panose="020B0503020204020204" pitchFamily="34" charset="-122"/>
              </a:rPr>
              <a:t>→ 调整 Workflow / Contract</a:t>
            </a:r>
          </a:p>
        </p:txBody>
      </p:sp>
      <p:sp>
        <p:nvSpPr>
          <p:cNvPr id="92"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3.1</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7" name="slide-8-title"/>
          <p:cNvSpPr>
            <a:spLocks noGrp="1"/>
          </p:cNvSpPr>
          <p:nvPr/>
        </p:nvSpPr>
        <p:spPr>
          <a:xfrm>
            <a:off x="1083310" y="247015"/>
            <a:ext cx="8572500" cy="409575"/>
          </a:xfrm>
          <a:prstGeom prst="rect">
            <a:avLst/>
          </a:prstGeom>
          <a:noFill/>
          <a:ln w="0">
            <a:noFill/>
            <a:prstDash val="solid"/>
          </a:ln>
          <a:effectLst/>
        </p:spPr>
        <p:txBody>
          <a:bodyPr wrap="square" lIns="0" tIns="0" rIns="0" bIns="0" anchor="ctr">
            <a:normAutofit fontScale="99298" lnSpcReduction="10000"/>
          </a:bodyPr>
          <a:lstStyle/>
          <a:p>
            <a:pPr algn="l">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sz="2850" b="1" dirty="0" err="1">
                <a:solidFill>
                  <a:srgbClr val="243B53"/>
                </a:solidFill>
                <a:latin typeface="Arial" panose="020B0604020202020204" pitchFamily="34" charset="0"/>
                <a:ea typeface="Microsoft YaHei" panose="020B0503020204020204" pitchFamily="34" charset="-122"/>
                <a:cs typeface="微软雅黑" panose="020B0503020204020204" charset="-122"/>
              </a:rPr>
              <a:t>如何根据指南开发一个新平台</a:t>
            </a:r>
            <a:r>
              <a:rPr sz="2850" b="1" dirty="0">
                <a:solidFill>
                  <a:srgbClr val="243B53"/>
                </a:solidFill>
                <a:latin typeface="Arial" panose="020B0604020202020204" pitchFamily="34" charset="0"/>
                <a:ea typeface="Microsoft YaHei" panose="020B0503020204020204" pitchFamily="34" charset="-122"/>
                <a:cs typeface="微软雅黑" panose="020B0503020204020204" charset="-122"/>
              </a:rPr>
              <a:t> Skill？</a:t>
            </a:r>
          </a:p>
        </p:txBody>
      </p:sp>
      <p:sp>
        <p:nvSpPr>
          <p:cNvPr id="9" name="footer-background"/>
          <p:cNvSpPr>
            <a:spLocks noGrp="1"/>
          </p:cNvSpPr>
          <p:nvPr/>
        </p:nvSpPr>
        <p:spPr>
          <a:xfrm>
            <a:off x="200025" y="6172200"/>
            <a:ext cx="11791950" cy="600075"/>
          </a:xfrm>
          <a:prstGeom prst="rect">
            <a:avLst/>
          </a:prstGeom>
          <a:solidFill>
            <a:srgbClr val="EEF2F5"/>
          </a:solidFill>
          <a:ln w="0">
            <a:solidFill>
              <a:srgbClr val="D6DEE6"/>
            </a:solidFill>
            <a:prstDash val="solid"/>
          </a:ln>
          <a:effectLst/>
        </p:spPr>
        <p:txBody>
          <a:bodyPr wrap="square" lIns="0" tIns="0" rIns="0" bIns="0" anchor="ctr">
            <a:normAutofit/>
          </a:bodyPr>
          <a:lstStyle/>
          <a:p>
            <a:endParaRPr/>
          </a:p>
        </p:txBody>
      </p:sp>
      <p:sp>
        <p:nvSpPr>
          <p:cNvPr id="11" name="slide-8-editable-footer"/>
          <p:cNvSpPr>
            <a:spLocks noGrp="1"/>
          </p:cNvSpPr>
          <p:nvPr/>
        </p:nvSpPr>
        <p:spPr>
          <a:xfrm>
            <a:off x="1171575" y="6181725"/>
            <a:ext cx="10620375" cy="523875"/>
          </a:xfrm>
          <a:prstGeom prst="rect">
            <a:avLst/>
          </a:prstGeom>
          <a:solidFill>
            <a:srgbClr val="EEF2F5"/>
          </a:solidFill>
          <a:ln w="0">
            <a:noFill/>
            <a:prstDash val="solid"/>
          </a:ln>
          <a:effectLst/>
        </p:spPr>
        <p:txBody>
          <a:bodyPr wrap="square" lIns="95250" tIns="19050" rIns="95250" bIns="19050" anchor="ctr">
            <a:normAutofit/>
          </a:bodyPr>
          <a:lstStyle/>
          <a:p>
            <a:pPr algn="ctr">
              <a:lnSpc>
                <a:spcPct val="100000"/>
              </a:lnSpc>
              <a:buNone/>
              <a:defRPr sz="940" b="1">
                <a:solidFill>
                  <a:srgbClr val="072A67"/>
                </a:solidFill>
                <a:latin typeface="微软雅黑" panose="020B0503020204020204" charset="-122"/>
                <a:ea typeface="微软雅黑" panose="020B0503020204020204" charset="-122"/>
                <a:cs typeface="微软雅黑" panose="020B0503020204020204" charset="-122"/>
              </a:defRPr>
            </a:pPr>
            <a:r>
              <a:rPr sz="1200" b="1">
                <a:solidFill>
                  <a:srgbClr val="2F3A45"/>
                </a:solidFill>
                <a:latin typeface="Arial" panose="020B0604020202020204" pitchFamily="34" charset="0"/>
                <a:ea typeface="Microsoft YaHei" panose="020B0503020204020204" pitchFamily="34" charset="-122"/>
                <a:cs typeface="微软雅黑" panose="020B0503020204020204" charset="-122"/>
              </a:rPr>
              <a:t>新平台 Skill 是通</a:t>
            </a:r>
            <a:r>
              <a:rPr lang="zh-CN" sz="1200" b="1">
                <a:solidFill>
                  <a:srgbClr val="2F3A45"/>
                </a:solidFill>
                <a:latin typeface="Arial" panose="020B0604020202020204" pitchFamily="34" charset="0"/>
                <a:ea typeface="Microsoft YaHei" panose="020B0503020204020204" pitchFamily="34" charset="-122"/>
                <a:cs typeface="微软雅黑" panose="020B0503020204020204" charset="-122"/>
              </a:rPr>
              <a:t>在</a:t>
            </a:r>
            <a:r>
              <a:rPr sz="1200" b="1">
                <a:solidFill>
                  <a:srgbClr val="2F3A45"/>
                </a:solidFill>
                <a:latin typeface="Arial" panose="020B0604020202020204" pitchFamily="34" charset="0"/>
                <a:ea typeface="Microsoft YaHei" panose="020B0503020204020204" pitchFamily="34" charset="-122"/>
                <a:cs typeface="微软雅黑" panose="020B0503020204020204" charset="-122"/>
              </a:rPr>
              <a:t>用框架上补齐目标平台知识，并通过真实验证不断校准。</a:t>
            </a:r>
          </a:p>
          <a:p>
            <a:pPr algn="ctr">
              <a:lnSpc>
                <a:spcPct val="100000"/>
              </a:lnSpc>
              <a:buNone/>
              <a:defRPr sz="940" b="1">
                <a:solidFill>
                  <a:srgbClr val="072A67"/>
                </a:solidFill>
                <a:latin typeface="微软雅黑" panose="020B0503020204020204" charset="-122"/>
                <a:ea typeface="微软雅黑" panose="020B0503020204020204" charset="-122"/>
                <a:cs typeface="微软雅黑" panose="020B0503020204020204" charset="-122"/>
              </a:defRPr>
            </a:pPr>
            <a:endParaRPr sz="1200" b="1">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20" name="knowledge-source-1"/>
          <p:cNvSpPr>
            <a:spLocks noGrp="1"/>
          </p:cNvSpPr>
          <p:nvPr/>
        </p:nvSpPr>
        <p:spPr>
          <a:xfrm>
            <a:off x="1759585" y="764540"/>
            <a:ext cx="2857500" cy="514350"/>
          </a:xfrm>
          <a:prstGeom prst="roundRect">
            <a:avLst>
              <a:gd name="adj" fmla="val 14815"/>
            </a:avLst>
          </a:prstGeom>
          <a:solidFill>
            <a:srgbClr val="FFFFFF"/>
          </a:solidFill>
          <a:ln w="9525">
            <a:solidFill>
              <a:srgbClr val="D6DEE6"/>
            </a:solidFill>
            <a:prstDash val="solid"/>
          </a:ln>
          <a:effectLst/>
        </p:spPr>
      </p:sp>
      <p:sp>
        <p:nvSpPr>
          <p:cNvPr id="22" name="knowledge-source-1-title"/>
          <p:cNvSpPr>
            <a:spLocks noGrp="1"/>
          </p:cNvSpPr>
          <p:nvPr/>
        </p:nvSpPr>
        <p:spPr>
          <a:xfrm>
            <a:off x="2445385" y="802640"/>
            <a:ext cx="2000250" cy="228600"/>
          </a:xfrm>
          <a:prstGeom prst="rect">
            <a:avLst/>
          </a:prstGeom>
          <a:noFill/>
          <a:ln w="0">
            <a:noFill/>
            <a:prstDash val="solid"/>
          </a:ln>
          <a:effectLst/>
        </p:spPr>
        <p:txBody>
          <a:bodyPr wrap="square" lIns="0" tIns="0" rIns="0" bIns="0" anchor="ctr">
            <a:normAutofit/>
          </a:bodyPr>
          <a:lstStyle/>
          <a:p>
            <a:pPr algn="l">
              <a:defRPr sz="1125" b="1">
                <a:solidFill>
                  <a:srgbClr val="072A67"/>
                </a:solidFill>
                <a:latin typeface="微软雅黑" panose="020B0503020204020204" charset="-122"/>
                <a:ea typeface="微软雅黑" panose="020B0503020204020204" charset="-122"/>
                <a:cs typeface="微软雅黑" panose="020B0503020204020204" charset="-122"/>
              </a:defRPr>
            </a:pPr>
            <a:r>
              <a:rPr sz="1125" b="1">
                <a:solidFill>
                  <a:srgbClr val="2F3A45"/>
                </a:solidFill>
                <a:latin typeface="Arial" panose="020B0604020202020204" pitchFamily="34" charset="0"/>
                <a:ea typeface="Microsoft YaHei" panose="020B0503020204020204" pitchFamily="34" charset="-122"/>
                <a:cs typeface="微软雅黑" panose="020B0503020204020204" charset="-122"/>
              </a:rPr>
              <a:t>官方 / 网络资料</a:t>
            </a:r>
          </a:p>
        </p:txBody>
      </p:sp>
      <p:sp>
        <p:nvSpPr>
          <p:cNvPr id="23" name="knowledge-source-1-note"/>
          <p:cNvSpPr>
            <a:spLocks noGrp="1"/>
          </p:cNvSpPr>
          <p:nvPr/>
        </p:nvSpPr>
        <p:spPr>
          <a:xfrm>
            <a:off x="2445385" y="1021715"/>
            <a:ext cx="2000250" cy="171450"/>
          </a:xfrm>
          <a:prstGeom prst="rect">
            <a:avLst/>
          </a:prstGeom>
          <a:noFill/>
          <a:ln w="0">
            <a:noFill/>
            <a:prstDash val="solid"/>
          </a:ln>
          <a:effectLst/>
        </p:spPr>
        <p:txBody>
          <a:bodyPr wrap="square" lIns="0" tIns="0" rIns="0" bIns="0" anchor="ctr">
            <a:normAutofit/>
          </a:bodyPr>
          <a:lstStyle/>
          <a:p>
            <a:pPr algn="l">
              <a:defRPr sz="865" b="0">
                <a:solidFill>
                  <a:srgbClr val="56627A"/>
                </a:solidFill>
                <a:latin typeface="微软雅黑" panose="020B0503020204020204" charset="-122"/>
                <a:ea typeface="微软雅黑" panose="020B0503020204020204" charset="-122"/>
                <a:cs typeface="微软雅黑" panose="020B0503020204020204" charset="-122"/>
              </a:defRPr>
            </a:pPr>
            <a:r>
              <a:rPr sz="865" b="0">
                <a:solidFill>
                  <a:srgbClr val="294A6D"/>
                </a:solidFill>
                <a:latin typeface="Arial" panose="020B0604020202020204" pitchFamily="34" charset="0"/>
                <a:ea typeface="Microsoft YaHei" panose="020B0503020204020204" pitchFamily="34" charset="-122"/>
                <a:cs typeface="微软雅黑" panose="020B0503020204020204" charset="-122"/>
              </a:rPr>
              <a:t>定义能力边界</a:t>
            </a:r>
          </a:p>
        </p:txBody>
      </p:sp>
      <p:sp>
        <p:nvSpPr>
          <p:cNvPr id="24" name="knowledge-source-2"/>
          <p:cNvSpPr>
            <a:spLocks noGrp="1"/>
          </p:cNvSpPr>
          <p:nvPr/>
        </p:nvSpPr>
        <p:spPr>
          <a:xfrm>
            <a:off x="4683760" y="764540"/>
            <a:ext cx="2857500" cy="514350"/>
          </a:xfrm>
          <a:prstGeom prst="roundRect">
            <a:avLst>
              <a:gd name="adj" fmla="val 14815"/>
            </a:avLst>
          </a:prstGeom>
          <a:solidFill>
            <a:srgbClr val="FFFFFF"/>
          </a:solidFill>
          <a:ln w="9525">
            <a:solidFill>
              <a:srgbClr val="D6DEE6"/>
            </a:solidFill>
            <a:prstDash val="solid"/>
          </a:ln>
          <a:effectLst/>
        </p:spPr>
      </p:sp>
      <p:sp>
        <p:nvSpPr>
          <p:cNvPr id="26" name="knowledge-source-2-title"/>
          <p:cNvSpPr>
            <a:spLocks noGrp="1"/>
          </p:cNvSpPr>
          <p:nvPr/>
        </p:nvSpPr>
        <p:spPr>
          <a:xfrm>
            <a:off x="5369560" y="802640"/>
            <a:ext cx="2000250" cy="228600"/>
          </a:xfrm>
          <a:prstGeom prst="rect">
            <a:avLst/>
          </a:prstGeom>
          <a:noFill/>
          <a:ln w="0">
            <a:noFill/>
            <a:prstDash val="solid"/>
          </a:ln>
          <a:effectLst/>
        </p:spPr>
        <p:txBody>
          <a:bodyPr wrap="square" lIns="0" tIns="0" rIns="0" bIns="0" anchor="ctr">
            <a:normAutofit/>
          </a:bodyPr>
          <a:lstStyle/>
          <a:p>
            <a:pPr algn="l">
              <a:defRPr sz="1125" b="1">
                <a:solidFill>
                  <a:srgbClr val="072A67"/>
                </a:solidFill>
                <a:latin typeface="微软雅黑" panose="020B0503020204020204" charset="-122"/>
                <a:ea typeface="微软雅黑" panose="020B0503020204020204" charset="-122"/>
                <a:cs typeface="微软雅黑" panose="020B0503020204020204" charset="-122"/>
              </a:defRPr>
            </a:pPr>
            <a:r>
              <a:rPr sz="1125" b="1">
                <a:solidFill>
                  <a:srgbClr val="2F3A45"/>
                </a:solidFill>
                <a:latin typeface="Arial" panose="020B0604020202020204" pitchFamily="34" charset="0"/>
                <a:ea typeface="Microsoft YaHei" panose="020B0503020204020204" pitchFamily="34" charset="-122"/>
                <a:cs typeface="微软雅黑" panose="020B0503020204020204" charset="-122"/>
              </a:rPr>
              <a:t>真实平台测试</a:t>
            </a:r>
          </a:p>
        </p:txBody>
      </p:sp>
      <p:sp>
        <p:nvSpPr>
          <p:cNvPr id="27" name="knowledge-source-2-note"/>
          <p:cNvSpPr>
            <a:spLocks noGrp="1"/>
          </p:cNvSpPr>
          <p:nvPr/>
        </p:nvSpPr>
        <p:spPr>
          <a:xfrm>
            <a:off x="5369560" y="1021715"/>
            <a:ext cx="2000250" cy="171450"/>
          </a:xfrm>
          <a:prstGeom prst="rect">
            <a:avLst/>
          </a:prstGeom>
          <a:noFill/>
          <a:ln w="0">
            <a:noFill/>
            <a:prstDash val="solid"/>
          </a:ln>
          <a:effectLst/>
        </p:spPr>
        <p:txBody>
          <a:bodyPr wrap="square" lIns="0" tIns="0" rIns="0" bIns="0" anchor="ctr">
            <a:normAutofit/>
          </a:bodyPr>
          <a:lstStyle/>
          <a:p>
            <a:pPr algn="l">
              <a:defRPr sz="865" b="0">
                <a:solidFill>
                  <a:srgbClr val="56627A"/>
                </a:solidFill>
                <a:latin typeface="微软雅黑" panose="020B0503020204020204" charset="-122"/>
                <a:ea typeface="微软雅黑" panose="020B0503020204020204" charset="-122"/>
                <a:cs typeface="微软雅黑" panose="020B0503020204020204" charset="-122"/>
              </a:defRPr>
            </a:pPr>
            <a:r>
              <a:rPr sz="865" b="0">
                <a:solidFill>
                  <a:srgbClr val="294A6D"/>
                </a:solidFill>
                <a:latin typeface="Arial" panose="020B0604020202020204" pitchFamily="34" charset="0"/>
                <a:ea typeface="Microsoft YaHei" panose="020B0503020204020204" pitchFamily="34" charset="-122"/>
                <a:cs typeface="微软雅黑" panose="020B0503020204020204" charset="-122"/>
              </a:rPr>
              <a:t>校准实际行为</a:t>
            </a:r>
          </a:p>
        </p:txBody>
      </p:sp>
      <p:sp>
        <p:nvSpPr>
          <p:cNvPr id="28" name="knowledge-source-3"/>
          <p:cNvSpPr>
            <a:spLocks noGrp="1"/>
          </p:cNvSpPr>
          <p:nvPr/>
        </p:nvSpPr>
        <p:spPr>
          <a:xfrm>
            <a:off x="7607935" y="764540"/>
            <a:ext cx="2857500" cy="514350"/>
          </a:xfrm>
          <a:prstGeom prst="roundRect">
            <a:avLst>
              <a:gd name="adj" fmla="val 14815"/>
            </a:avLst>
          </a:prstGeom>
          <a:solidFill>
            <a:srgbClr val="FFFFFF"/>
          </a:solidFill>
          <a:ln w="9525">
            <a:solidFill>
              <a:srgbClr val="D6DEE6"/>
            </a:solidFill>
            <a:prstDash val="solid"/>
          </a:ln>
          <a:effectLst/>
        </p:spPr>
        <p:txBody>
          <a:bodyPr/>
          <a:lstStyle/>
          <a:p>
            <a:endParaRPr lang="zh-CN" altLang="en-US"/>
          </a:p>
        </p:txBody>
      </p:sp>
      <p:sp>
        <p:nvSpPr>
          <p:cNvPr id="30" name="knowledge-source-3-title"/>
          <p:cNvSpPr>
            <a:spLocks noGrp="1"/>
          </p:cNvSpPr>
          <p:nvPr/>
        </p:nvSpPr>
        <p:spPr>
          <a:xfrm>
            <a:off x="8293735" y="802640"/>
            <a:ext cx="2000250" cy="228600"/>
          </a:xfrm>
          <a:prstGeom prst="rect">
            <a:avLst/>
          </a:prstGeom>
          <a:noFill/>
          <a:ln w="0">
            <a:noFill/>
            <a:prstDash val="solid"/>
          </a:ln>
          <a:effectLst/>
        </p:spPr>
        <p:txBody>
          <a:bodyPr wrap="square" lIns="0" tIns="0" rIns="0" bIns="0" anchor="ctr">
            <a:normAutofit/>
          </a:bodyPr>
          <a:lstStyle/>
          <a:p>
            <a:pPr algn="l">
              <a:defRPr sz="1125" b="1">
                <a:solidFill>
                  <a:srgbClr val="072A67"/>
                </a:solidFill>
                <a:latin typeface="微软雅黑" panose="020B0503020204020204" charset="-122"/>
                <a:ea typeface="微软雅黑" panose="020B0503020204020204" charset="-122"/>
                <a:cs typeface="微软雅黑" panose="020B0503020204020204" charset="-122"/>
              </a:defRPr>
            </a:pPr>
            <a:r>
              <a:rPr sz="1125" b="1">
                <a:solidFill>
                  <a:srgbClr val="2F3A45"/>
                </a:solidFill>
                <a:latin typeface="Arial" panose="020B0604020202020204" pitchFamily="34" charset="0"/>
                <a:ea typeface="Microsoft YaHei" panose="020B0503020204020204" pitchFamily="34" charset="-122"/>
                <a:cs typeface="微软雅黑" panose="020B0503020204020204" charset="-122"/>
              </a:rPr>
              <a:t>已有工程经验</a:t>
            </a:r>
          </a:p>
        </p:txBody>
      </p:sp>
      <p:sp>
        <p:nvSpPr>
          <p:cNvPr id="31" name="knowledge-source-3-note"/>
          <p:cNvSpPr>
            <a:spLocks noGrp="1"/>
          </p:cNvSpPr>
          <p:nvPr/>
        </p:nvSpPr>
        <p:spPr>
          <a:xfrm>
            <a:off x="8293735" y="1021715"/>
            <a:ext cx="2000250" cy="171450"/>
          </a:xfrm>
          <a:prstGeom prst="rect">
            <a:avLst/>
          </a:prstGeom>
          <a:noFill/>
          <a:ln w="0">
            <a:noFill/>
            <a:prstDash val="solid"/>
          </a:ln>
          <a:effectLst/>
        </p:spPr>
        <p:txBody>
          <a:bodyPr wrap="square" lIns="0" tIns="0" rIns="0" bIns="0" anchor="ctr">
            <a:normAutofit/>
          </a:bodyPr>
          <a:lstStyle/>
          <a:p>
            <a:pPr algn="l">
              <a:defRPr sz="865" b="0">
                <a:solidFill>
                  <a:srgbClr val="56627A"/>
                </a:solidFill>
                <a:latin typeface="微软雅黑" panose="020B0503020204020204" charset="-122"/>
                <a:ea typeface="微软雅黑" panose="020B0503020204020204" charset="-122"/>
                <a:cs typeface="微软雅黑" panose="020B0503020204020204" charset="-122"/>
              </a:defRPr>
            </a:pPr>
            <a:r>
              <a:rPr sz="865" b="0">
                <a:solidFill>
                  <a:srgbClr val="294A6D"/>
                </a:solidFill>
                <a:latin typeface="Arial" panose="020B0604020202020204" pitchFamily="34" charset="0"/>
                <a:ea typeface="Microsoft YaHei" panose="020B0503020204020204" pitchFamily="34" charset="-122"/>
                <a:cs typeface="微软雅黑" panose="020B0503020204020204" charset="-122"/>
              </a:rPr>
              <a:t>减少重复试错</a:t>
            </a:r>
          </a:p>
        </p:txBody>
      </p:sp>
      <p:sp>
        <p:nvSpPr>
          <p:cNvPr id="32" name="platform-knowledge-node"/>
          <p:cNvSpPr>
            <a:spLocks noGrp="1"/>
          </p:cNvSpPr>
          <p:nvPr/>
        </p:nvSpPr>
        <p:spPr>
          <a:xfrm>
            <a:off x="4762500" y="1508760"/>
            <a:ext cx="2667000" cy="238125"/>
          </a:xfrm>
          <a:prstGeom prst="roundRect">
            <a:avLst>
              <a:gd name="adj" fmla="val 24000"/>
            </a:avLst>
          </a:prstGeom>
          <a:solidFill>
            <a:srgbClr val="294A6D"/>
          </a:solidFill>
          <a:ln w="9525">
            <a:solidFill>
              <a:srgbClr val="294A6D"/>
            </a:solidFill>
            <a:prstDash val="solid"/>
          </a:ln>
          <a:effectLst/>
        </p:spPr>
        <p:txBody>
          <a:bodyPr wrap="square" lIns="47625" tIns="19050" rIns="47625" bIns="19050" anchor="ctr">
            <a:noAutofit/>
          </a:bodyPr>
          <a:lstStyle/>
          <a:p>
            <a:pPr algn="ctr">
              <a:defRPr sz="1050" b="1">
                <a:solidFill>
                  <a:srgbClr val="FFFFFF"/>
                </a:solidFill>
                <a:latin typeface="Calibri" panose="020F0502020204030204"/>
                <a:ea typeface="Calibri" panose="020F0502020204030204"/>
                <a:cs typeface="Calibri" panose="020F0502020204030204"/>
              </a:defRPr>
            </a:pPr>
            <a:r>
              <a:rPr lang="zh-CN" altLang="en-US" sz="1400" b="1" dirty="0">
                <a:solidFill>
                  <a:srgbClr val="FFFFFF"/>
                </a:solidFill>
                <a:latin typeface="Arial" panose="020B0604020202020204" pitchFamily="34" charset="0"/>
                <a:ea typeface="Microsoft YaHei" panose="020B0503020204020204" pitchFamily="34" charset="-122"/>
                <a:cs typeface="Calibri" panose="020F0502020204030204"/>
              </a:rPr>
              <a:t>平台知识</a:t>
            </a:r>
            <a:endParaRPr sz="1400" b="1" dirty="0">
              <a:solidFill>
                <a:srgbClr val="FFFFFF"/>
              </a:solidFill>
              <a:latin typeface="Arial" panose="020B0604020202020204" pitchFamily="34" charset="0"/>
              <a:ea typeface="Microsoft YaHei" panose="020B0503020204020204" pitchFamily="34" charset="-122"/>
              <a:cs typeface="Calibri" panose="020F0502020204030204"/>
            </a:endParaRPr>
          </a:p>
        </p:txBody>
      </p:sp>
      <p:cxnSp>
        <p:nvCxnSpPr>
          <p:cNvPr id="183" name="knowledge-source-1-to-platform"/>
          <p:cNvCxnSpPr>
            <a:cxnSpLocks/>
          </p:cNvCxnSpPr>
          <p:nvPr/>
        </p:nvCxnSpPr>
        <p:spPr>
          <a:xfrm rot="5400000" flipV="1">
            <a:off x="4527233" y="0"/>
            <a:ext cx="229870" cy="2907665"/>
          </a:xfrm>
          <a:prstGeom prst="bentConnector3">
            <a:avLst>
              <a:gd name="adj1" fmla="val 49862"/>
            </a:avLst>
          </a:prstGeom>
          <a:ln w="10478">
            <a:solidFill>
              <a:srgbClr val="294A6D"/>
            </a:solidFill>
            <a:prstDash val="solid"/>
            <a:tailEnd type="triangle" w="sm" len="sm"/>
          </a:ln>
          <a:effectLst/>
        </p:spPr>
      </p:cxnSp>
      <p:cxnSp>
        <p:nvCxnSpPr>
          <p:cNvPr id="184" name="knowledge-source-2-to-platform"/>
          <p:cNvCxnSpPr>
            <a:stCxn id="24" idx="2"/>
            <a:endCxn id="32" idx="0"/>
          </p:cNvCxnSpPr>
          <p:nvPr/>
        </p:nvCxnSpPr>
        <p:spPr>
          <a:xfrm rot="5400000">
            <a:off x="5989320" y="1385570"/>
            <a:ext cx="229870" cy="16510"/>
          </a:xfrm>
          <a:prstGeom prst="bentConnector3">
            <a:avLst>
              <a:gd name="adj1" fmla="val 50000"/>
            </a:avLst>
          </a:prstGeom>
          <a:ln w="10478">
            <a:solidFill>
              <a:srgbClr val="294A6D"/>
            </a:solidFill>
            <a:prstDash val="solid"/>
            <a:tailEnd type="triangle" w="sm" len="sm"/>
          </a:ln>
          <a:effectLst/>
        </p:spPr>
      </p:cxnSp>
      <p:cxnSp>
        <p:nvCxnSpPr>
          <p:cNvPr id="185" name="knowledge-source-3-to-platform"/>
          <p:cNvCxnSpPr>
            <a:cxnSpLocks/>
          </p:cNvCxnSpPr>
          <p:nvPr/>
        </p:nvCxnSpPr>
        <p:spPr>
          <a:xfrm rot="5400000">
            <a:off x="7451408" y="0"/>
            <a:ext cx="229870" cy="2940685"/>
          </a:xfrm>
          <a:prstGeom prst="bentConnector3">
            <a:avLst>
              <a:gd name="adj1" fmla="val 49862"/>
            </a:avLst>
          </a:prstGeom>
          <a:ln w="10478">
            <a:solidFill>
              <a:srgbClr val="294A6D"/>
            </a:solidFill>
            <a:prstDash val="solid"/>
            <a:tailEnd type="triangle" w="sm" len="sm"/>
          </a:ln>
          <a:effectLst/>
        </p:spPr>
      </p:cxnSp>
      <p:sp>
        <p:nvSpPr>
          <p:cNvPr id="37" name="phase-a-surface"/>
          <p:cNvSpPr>
            <a:spLocks noGrp="1"/>
          </p:cNvSpPr>
          <p:nvPr/>
        </p:nvSpPr>
        <p:spPr>
          <a:xfrm>
            <a:off x="1295400" y="1844675"/>
            <a:ext cx="9601200" cy="1000125"/>
          </a:xfrm>
          <a:prstGeom prst="rect">
            <a:avLst/>
          </a:prstGeom>
          <a:solidFill>
            <a:srgbClr val="EEF2F5"/>
          </a:solidFill>
          <a:ln w="9525">
            <a:solidFill>
              <a:srgbClr val="D6DEE6"/>
            </a:solidFill>
            <a:prstDash val="solid"/>
          </a:ln>
          <a:effectLst/>
        </p:spPr>
      </p:sp>
      <p:sp>
        <p:nvSpPr>
          <p:cNvPr id="38" name="phase-a-accent"/>
          <p:cNvSpPr>
            <a:spLocks noGrp="1"/>
          </p:cNvSpPr>
          <p:nvPr/>
        </p:nvSpPr>
        <p:spPr>
          <a:xfrm>
            <a:off x="1295400" y="1844675"/>
            <a:ext cx="57150" cy="1000125"/>
          </a:xfrm>
          <a:prstGeom prst="roundRect">
            <a:avLst>
              <a:gd name="adj" fmla="val 50000"/>
            </a:avLst>
          </a:prstGeom>
          <a:solidFill>
            <a:srgbClr val="5B7188"/>
          </a:solidFill>
          <a:ln w="9525">
            <a:solidFill>
              <a:srgbClr val="294A6D"/>
            </a:solidFill>
            <a:prstDash val="solid"/>
          </a:ln>
          <a:effectLst/>
        </p:spPr>
      </p:sp>
      <p:sp>
        <p:nvSpPr>
          <p:cNvPr id="39" name="phase-a-letter"/>
          <p:cNvSpPr>
            <a:spLocks noGrp="1"/>
          </p:cNvSpPr>
          <p:nvPr/>
        </p:nvSpPr>
        <p:spPr>
          <a:xfrm>
            <a:off x="1438275" y="1968500"/>
            <a:ext cx="295275" cy="295275"/>
          </a:xfrm>
          <a:prstGeom prst="roundRect">
            <a:avLst>
              <a:gd name="adj" fmla="val 19355"/>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A</a:t>
            </a:r>
          </a:p>
        </p:txBody>
      </p:sp>
      <p:sp>
        <p:nvSpPr>
          <p:cNvPr id="41" name="phase-a-chinese"/>
          <p:cNvSpPr>
            <a:spLocks noGrp="1"/>
          </p:cNvSpPr>
          <p:nvPr/>
        </p:nvSpPr>
        <p:spPr>
          <a:xfrm>
            <a:off x="1476375" y="2149475"/>
            <a:ext cx="1304925" cy="285750"/>
          </a:xfrm>
          <a:prstGeom prst="rect">
            <a:avLst/>
          </a:prstGeom>
          <a:noFill/>
          <a:ln w="0">
            <a:noFill/>
            <a:prstDash val="solid"/>
          </a:ln>
          <a:effectLst/>
        </p:spPr>
        <p:txBody>
          <a:bodyPr wrap="square" lIns="0" tIns="0" rIns="0" bIns="0" anchor="ctr">
            <a:normAutofit/>
          </a:bodyPr>
          <a:lstStyle/>
          <a:p>
            <a:pPr algn="ctr">
              <a:defRPr sz="1275" b="1">
                <a:solidFill>
                  <a:srgbClr val="1457C5"/>
                </a:solidFill>
                <a:latin typeface="微软雅黑" panose="020B0503020204020204" charset="-122"/>
                <a:ea typeface="微软雅黑" panose="020B0503020204020204" charset="-122"/>
                <a:cs typeface="微软雅黑" panose="020B0503020204020204" charset="-122"/>
              </a:defRPr>
            </a:pPr>
            <a:r>
              <a:rPr sz="1275" b="1">
                <a:solidFill>
                  <a:srgbClr val="294A6D"/>
                </a:solidFill>
                <a:latin typeface="Arial" panose="020B0604020202020204" pitchFamily="34" charset="0"/>
                <a:ea typeface="Microsoft YaHei" panose="020B0503020204020204" pitchFamily="34" charset="-122"/>
                <a:cs typeface="微软雅黑" panose="020B0503020204020204" charset="-122"/>
              </a:rPr>
              <a:t>平台认知</a:t>
            </a:r>
          </a:p>
        </p:txBody>
      </p:sp>
      <p:sp>
        <p:nvSpPr>
          <p:cNvPr id="42" name="phase-a-sidebar-divider"/>
          <p:cNvSpPr>
            <a:spLocks noGrp="1"/>
          </p:cNvSpPr>
          <p:nvPr/>
        </p:nvSpPr>
        <p:spPr>
          <a:xfrm>
            <a:off x="2847975" y="1939925"/>
            <a:ext cx="9525" cy="9525"/>
          </a:xfrm>
          <a:prstGeom prst="rect">
            <a:avLst/>
          </a:prstGeom>
          <a:solidFill>
            <a:srgbClr val="EEF2F5"/>
          </a:solidFill>
          <a:ln w="9525">
            <a:solidFill>
              <a:srgbClr val="D6DEE6"/>
            </a:solidFill>
            <a:prstDash val="solid"/>
          </a:ln>
          <a:effectLst/>
        </p:spPr>
      </p:sp>
      <p:sp>
        <p:nvSpPr>
          <p:cNvPr id="43" name="phase-a-step-divider"/>
          <p:cNvSpPr>
            <a:spLocks noGrp="1"/>
          </p:cNvSpPr>
          <p:nvPr/>
        </p:nvSpPr>
        <p:spPr>
          <a:xfrm>
            <a:off x="6924675" y="1939925"/>
            <a:ext cx="9525" cy="9525"/>
          </a:xfrm>
          <a:prstGeom prst="rect">
            <a:avLst/>
          </a:prstGeom>
          <a:solidFill>
            <a:srgbClr val="EEF2F5"/>
          </a:solidFill>
          <a:ln w="9525">
            <a:solidFill>
              <a:srgbClr val="D6DEE6"/>
            </a:solidFill>
            <a:prstDash val="solid"/>
          </a:ln>
          <a:effectLst/>
        </p:spPr>
      </p:sp>
      <p:sp>
        <p:nvSpPr>
          <p:cNvPr id="44" name="step-01-number"/>
          <p:cNvSpPr>
            <a:spLocks noGrp="1"/>
          </p:cNvSpPr>
          <p:nvPr/>
        </p:nvSpPr>
        <p:spPr>
          <a:xfrm>
            <a:off x="3009900" y="1939925"/>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a:bodyPr>
          <a:lstStyle/>
          <a:p>
            <a:pPr algn="ctr">
              <a:defRPr sz="1200" b="1">
                <a:solidFill>
                  <a:srgbClr val="FFFFFF"/>
                </a:solidFill>
                <a:latin typeface="Calibri" panose="020F0502020204030204"/>
                <a:ea typeface="Calibri" panose="020F0502020204030204"/>
                <a:cs typeface="Calibri" panose="020F0502020204030204"/>
              </a:defRPr>
            </a:pPr>
            <a:r>
              <a:rPr sz="120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01</a:t>
            </a:r>
          </a:p>
        </p:txBody>
      </p:sp>
      <p:sp>
        <p:nvSpPr>
          <p:cNvPr id="45" name="step-01-title"/>
          <p:cNvSpPr>
            <a:spLocks noGrp="1"/>
          </p:cNvSpPr>
          <p:nvPr/>
        </p:nvSpPr>
        <p:spPr>
          <a:xfrm>
            <a:off x="3429000" y="1920875"/>
            <a:ext cx="2000250" cy="190500"/>
          </a:xfrm>
          <a:prstGeom prst="rect">
            <a:avLst/>
          </a:prstGeom>
          <a:noFill/>
          <a:ln w="0">
            <a:noFill/>
            <a:prstDash val="solid"/>
          </a:ln>
          <a:effectLst/>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a:solidFill>
                  <a:srgbClr val="294A6D"/>
                </a:solidFill>
                <a:latin typeface="Arial" panose="020B0604020202020204" pitchFamily="34" charset="0"/>
                <a:ea typeface="Microsoft YaHei" panose="020B0503020204020204" pitchFamily="34" charset="-122"/>
                <a:cs typeface="微软雅黑" panose="020B0503020204020204" charset="-122"/>
              </a:rPr>
              <a:t>平台定位</a:t>
            </a:r>
          </a:p>
        </p:txBody>
      </p:sp>
      <p:sp>
        <p:nvSpPr>
          <p:cNvPr id="46" name="step-01-subtitle"/>
          <p:cNvSpPr>
            <a:spLocks noGrp="1"/>
          </p:cNvSpPr>
          <p:nvPr/>
        </p:nvSpPr>
        <p:spPr>
          <a:xfrm>
            <a:off x="3429000" y="2111375"/>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F3A45"/>
                </a:solidFill>
                <a:latin typeface="Arial" panose="020B0604020202020204" pitchFamily="34" charset="0"/>
                <a:ea typeface="Microsoft YaHei" panose="020B0503020204020204" pitchFamily="34" charset="-122"/>
                <a:cs typeface="微软雅黑" panose="020B0503020204020204" charset="-122"/>
              </a:rPr>
              <a:t>锁定平台与编程模型</a:t>
            </a:r>
          </a:p>
        </p:txBody>
      </p:sp>
      <p:sp>
        <p:nvSpPr>
          <p:cNvPr id="47" name="step-01-hardware"/>
          <p:cNvSpPr>
            <a:spLocks noGrp="1"/>
          </p:cNvSpPr>
          <p:nvPr/>
        </p:nvSpPr>
        <p:spPr>
          <a:xfrm>
            <a:off x="3448050" y="2282825"/>
            <a:ext cx="838200" cy="190500"/>
          </a:xfrm>
          <a:prstGeom prst="roundRect">
            <a:avLst>
              <a:gd name="adj" fmla="val 30000"/>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90" b="1">
                <a:solidFill>
                  <a:srgbClr val="072A67"/>
                </a:solidFill>
                <a:latin typeface="Calibri" panose="020F0502020204030204"/>
                <a:ea typeface="Calibri" panose="020F0502020204030204"/>
                <a:cs typeface="Calibri" panose="020F0502020204030204"/>
              </a:defRPr>
            </a:pPr>
            <a:r>
              <a:rPr sz="790" b="1">
                <a:solidFill>
                  <a:srgbClr val="2F3A45"/>
                </a:solidFill>
                <a:latin typeface="Arial" panose="020B0604020202020204" pitchFamily="34" charset="0"/>
                <a:ea typeface="Microsoft YaHei" panose="020B0503020204020204" pitchFamily="34" charset="-122"/>
                <a:cs typeface="Calibri" panose="020F0502020204030204"/>
              </a:rPr>
              <a:t>Hardware</a:t>
            </a:r>
          </a:p>
        </p:txBody>
      </p:sp>
      <p:sp>
        <p:nvSpPr>
          <p:cNvPr id="48" name="step-01-programming"/>
          <p:cNvSpPr>
            <a:spLocks noGrp="1"/>
          </p:cNvSpPr>
          <p:nvPr/>
        </p:nvSpPr>
        <p:spPr>
          <a:xfrm>
            <a:off x="4343400" y="2282825"/>
            <a:ext cx="1219200" cy="190500"/>
          </a:xfrm>
          <a:prstGeom prst="roundRect">
            <a:avLst>
              <a:gd name="adj" fmla="val 30000"/>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90" b="1">
                <a:solidFill>
                  <a:srgbClr val="072A67"/>
                </a:solidFill>
                <a:latin typeface="Calibri" panose="020F0502020204030204"/>
                <a:ea typeface="Calibri" panose="020F0502020204030204"/>
                <a:cs typeface="Calibri" panose="020F0502020204030204"/>
              </a:defRPr>
            </a:pPr>
            <a:r>
              <a:rPr sz="790" b="1">
                <a:solidFill>
                  <a:srgbClr val="2F3A45"/>
                </a:solidFill>
                <a:latin typeface="Arial" panose="020B0604020202020204" pitchFamily="34" charset="0"/>
                <a:ea typeface="Microsoft YaHei" panose="020B0503020204020204" pitchFamily="34" charset="-122"/>
                <a:cs typeface="Calibri" panose="020F0502020204030204"/>
              </a:rPr>
              <a:t>Programming Model</a:t>
            </a:r>
          </a:p>
        </p:txBody>
      </p:sp>
      <p:sp>
        <p:nvSpPr>
          <p:cNvPr id="49" name="step-01-stack"/>
          <p:cNvSpPr>
            <a:spLocks noGrp="1"/>
          </p:cNvSpPr>
          <p:nvPr/>
        </p:nvSpPr>
        <p:spPr>
          <a:xfrm>
            <a:off x="5619750" y="2282825"/>
            <a:ext cx="1066800" cy="190500"/>
          </a:xfrm>
          <a:prstGeom prst="roundRect">
            <a:avLst>
              <a:gd name="adj" fmla="val 30000"/>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90" b="1">
                <a:solidFill>
                  <a:srgbClr val="072A67"/>
                </a:solidFill>
                <a:latin typeface="Calibri" panose="020F0502020204030204"/>
                <a:ea typeface="Calibri" panose="020F0502020204030204"/>
                <a:cs typeface="Calibri" panose="020F0502020204030204"/>
              </a:defRPr>
            </a:pPr>
            <a:r>
              <a:rPr sz="790" b="1">
                <a:solidFill>
                  <a:srgbClr val="2F3A45"/>
                </a:solidFill>
                <a:latin typeface="Arial" panose="020B0604020202020204" pitchFamily="34" charset="0"/>
                <a:ea typeface="Microsoft YaHei" panose="020B0503020204020204" pitchFamily="34" charset="-122"/>
                <a:cs typeface="Calibri" panose="020F0502020204030204"/>
              </a:rPr>
              <a:t>Software Stack</a:t>
            </a:r>
          </a:p>
        </p:txBody>
      </p:sp>
      <p:sp>
        <p:nvSpPr>
          <p:cNvPr id="50" name="step-01-output"/>
          <p:cNvSpPr>
            <a:spLocks noGrp="1"/>
          </p:cNvSpPr>
          <p:nvPr/>
        </p:nvSpPr>
        <p:spPr>
          <a:xfrm>
            <a:off x="3429000" y="2511425"/>
            <a:ext cx="3276600" cy="152400"/>
          </a:xfrm>
          <a:prstGeom prst="rect">
            <a:avLst/>
          </a:prstGeom>
          <a:noFill/>
          <a:ln w="0">
            <a:noFill/>
            <a:prstDash val="solid"/>
          </a:ln>
          <a:effectLst/>
        </p:spPr>
        <p:txBody>
          <a:bodyPr wrap="square" lIns="0" tIns="0" rIns="0" bIns="0" anchor="ctr">
            <a:normAutofit/>
          </a:bodyPr>
          <a:lstStyle/>
          <a:p>
            <a:pPr algn="ctr">
              <a:defRPr sz="865" b="1">
                <a:solidFill>
                  <a:srgbClr val="072A67"/>
                </a:solidFill>
                <a:latin typeface="Calibri" panose="020F0502020204030204"/>
                <a:ea typeface="Calibri" panose="020F0502020204030204"/>
                <a:cs typeface="Calibri" panose="020F0502020204030204"/>
              </a:defRPr>
            </a:pPr>
            <a:r>
              <a:rPr sz="865" b="1">
                <a:solidFill>
                  <a:srgbClr val="2F3A45"/>
                </a:solidFill>
                <a:latin typeface="Arial" panose="020B0604020202020204" pitchFamily="34" charset="0"/>
                <a:ea typeface="Microsoft YaHei" panose="020B0503020204020204" pitchFamily="34" charset="-122"/>
                <a:cs typeface="Calibri" panose="020F0502020204030204"/>
              </a:rPr>
              <a:t>Output · Platform Card</a:t>
            </a:r>
          </a:p>
        </p:txBody>
      </p:sp>
      <p:sp>
        <p:nvSpPr>
          <p:cNvPr id="52" name="step-02-number"/>
          <p:cNvSpPr>
            <a:spLocks noGrp="1"/>
          </p:cNvSpPr>
          <p:nvPr/>
        </p:nvSpPr>
        <p:spPr>
          <a:xfrm>
            <a:off x="7067550" y="1939925"/>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02</a:t>
            </a:r>
          </a:p>
        </p:txBody>
      </p:sp>
      <p:sp>
        <p:nvSpPr>
          <p:cNvPr id="53" name="step-02-title"/>
          <p:cNvSpPr>
            <a:spLocks noGrp="1"/>
          </p:cNvSpPr>
          <p:nvPr/>
        </p:nvSpPr>
        <p:spPr>
          <a:xfrm>
            <a:off x="7486650" y="1920875"/>
            <a:ext cx="2000250" cy="190500"/>
          </a:xfrm>
          <a:prstGeom prst="rect">
            <a:avLst/>
          </a:prstGeom>
          <a:noFill/>
          <a:ln w="0">
            <a:noFill/>
            <a:prstDash val="solid"/>
          </a:ln>
          <a:effectLst/>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a:solidFill>
                  <a:srgbClr val="294A6D"/>
                </a:solidFill>
                <a:latin typeface="Arial" panose="020B0604020202020204" pitchFamily="34" charset="0"/>
                <a:ea typeface="Microsoft YaHei" panose="020B0503020204020204" pitchFamily="34" charset="-122"/>
                <a:cs typeface="微软雅黑" panose="020B0503020204020204" charset="-122"/>
              </a:rPr>
              <a:t>知识收集</a:t>
            </a:r>
          </a:p>
        </p:txBody>
      </p:sp>
      <p:sp>
        <p:nvSpPr>
          <p:cNvPr id="54" name="step-02-subtitle"/>
          <p:cNvSpPr>
            <a:spLocks noGrp="1"/>
          </p:cNvSpPr>
          <p:nvPr/>
        </p:nvSpPr>
        <p:spPr>
          <a:xfrm>
            <a:off x="7486650" y="2111375"/>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F3A45"/>
                </a:solidFill>
                <a:latin typeface="Arial" panose="020B0604020202020204" pitchFamily="34" charset="0"/>
                <a:ea typeface="Microsoft YaHei" panose="020B0503020204020204" pitchFamily="34" charset="-122"/>
                <a:cs typeface="微软雅黑" panose="020B0503020204020204" charset="-122"/>
              </a:rPr>
              <a:t>系统收集平台资料</a:t>
            </a:r>
          </a:p>
        </p:txBody>
      </p:sp>
      <p:sp>
        <p:nvSpPr>
          <p:cNvPr id="55" name="step-02-tag-1"/>
          <p:cNvSpPr>
            <a:spLocks noGrp="1"/>
          </p:cNvSpPr>
          <p:nvPr/>
        </p:nvSpPr>
        <p:spPr>
          <a:xfrm>
            <a:off x="7505700" y="2254250"/>
            <a:ext cx="83820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Microsoft YaHei" panose="020B0503020204020204" pitchFamily="34" charset="-122"/>
                <a:cs typeface="Calibri" panose="020F0502020204030204"/>
              </a:rPr>
              <a:t>Hardware</a:t>
            </a:r>
          </a:p>
        </p:txBody>
      </p:sp>
      <p:sp>
        <p:nvSpPr>
          <p:cNvPr id="56" name="step-02-tag-2"/>
          <p:cNvSpPr>
            <a:spLocks noGrp="1"/>
          </p:cNvSpPr>
          <p:nvPr/>
        </p:nvSpPr>
        <p:spPr>
          <a:xfrm>
            <a:off x="8391525" y="2254250"/>
            <a:ext cx="106680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Microsoft YaHei" panose="020B0503020204020204" pitchFamily="34" charset="-122"/>
                <a:cs typeface="Calibri" panose="020F0502020204030204"/>
              </a:rPr>
              <a:t>Programming</a:t>
            </a:r>
          </a:p>
        </p:txBody>
      </p:sp>
      <p:sp>
        <p:nvSpPr>
          <p:cNvPr id="57" name="step-02-tag-3"/>
          <p:cNvSpPr>
            <a:spLocks noGrp="1"/>
          </p:cNvSpPr>
          <p:nvPr/>
        </p:nvSpPr>
        <p:spPr>
          <a:xfrm>
            <a:off x="9505950" y="2254250"/>
            <a:ext cx="66675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Microsoft YaHei" panose="020B0503020204020204" pitchFamily="34" charset="-122"/>
                <a:cs typeface="Calibri" panose="020F0502020204030204"/>
              </a:rPr>
              <a:t>API</a:t>
            </a:r>
          </a:p>
        </p:txBody>
      </p:sp>
      <p:sp>
        <p:nvSpPr>
          <p:cNvPr id="58" name="step-02-tag-4"/>
          <p:cNvSpPr>
            <a:spLocks noGrp="1"/>
          </p:cNvSpPr>
          <p:nvPr/>
        </p:nvSpPr>
        <p:spPr>
          <a:xfrm>
            <a:off x="7505700" y="2463800"/>
            <a:ext cx="99060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Microsoft YaHei" panose="020B0503020204020204" pitchFamily="34" charset="-122"/>
                <a:cs typeface="Calibri" panose="020F0502020204030204"/>
              </a:rPr>
              <a:t>Environment</a:t>
            </a:r>
          </a:p>
        </p:txBody>
      </p:sp>
      <p:sp>
        <p:nvSpPr>
          <p:cNvPr id="59" name="step-02-tag-5"/>
          <p:cNvSpPr>
            <a:spLocks noGrp="1"/>
          </p:cNvSpPr>
          <p:nvPr/>
        </p:nvSpPr>
        <p:spPr>
          <a:xfrm>
            <a:off x="8543925" y="2463800"/>
            <a:ext cx="81915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Microsoft YaHei" panose="020B0503020204020204" pitchFamily="34" charset="-122"/>
                <a:cs typeface="Calibri" panose="020F0502020204030204"/>
              </a:rPr>
              <a:t>Profiler</a:t>
            </a:r>
          </a:p>
        </p:txBody>
      </p:sp>
      <p:sp>
        <p:nvSpPr>
          <p:cNvPr id="60" name="step-02-tag-6"/>
          <p:cNvSpPr>
            <a:spLocks noGrp="1"/>
          </p:cNvSpPr>
          <p:nvPr/>
        </p:nvSpPr>
        <p:spPr>
          <a:xfrm>
            <a:off x="9410700" y="2463800"/>
            <a:ext cx="99060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Microsoft YaHei" panose="020B0503020204020204" pitchFamily="34" charset="-122"/>
                <a:cs typeface="Calibri" panose="020F0502020204030204"/>
              </a:rPr>
              <a:t>Optimization</a:t>
            </a:r>
          </a:p>
        </p:txBody>
      </p:sp>
      <p:sp>
        <p:nvSpPr>
          <p:cNvPr id="63" name="phase-b-surface"/>
          <p:cNvSpPr>
            <a:spLocks noGrp="1"/>
          </p:cNvSpPr>
          <p:nvPr/>
        </p:nvSpPr>
        <p:spPr>
          <a:xfrm>
            <a:off x="1295400" y="2892425"/>
            <a:ext cx="9601200" cy="971550"/>
          </a:xfrm>
          <a:prstGeom prst="rect">
            <a:avLst/>
          </a:prstGeom>
          <a:solidFill>
            <a:srgbClr val="EAF3F1"/>
          </a:solidFill>
          <a:ln w="9525">
            <a:solidFill>
              <a:srgbClr val="D6DEE6"/>
            </a:solidFill>
            <a:prstDash val="solid"/>
          </a:ln>
          <a:effectLst/>
        </p:spPr>
      </p:sp>
      <p:sp>
        <p:nvSpPr>
          <p:cNvPr id="64" name="phase-b-accent"/>
          <p:cNvSpPr>
            <a:spLocks noGrp="1"/>
          </p:cNvSpPr>
          <p:nvPr/>
        </p:nvSpPr>
        <p:spPr>
          <a:xfrm>
            <a:off x="1295400" y="2892425"/>
            <a:ext cx="57150" cy="971550"/>
          </a:xfrm>
          <a:prstGeom prst="roundRect">
            <a:avLst>
              <a:gd name="adj" fmla="val 50000"/>
            </a:avLst>
          </a:prstGeom>
          <a:solidFill>
            <a:srgbClr val="4F8A83"/>
          </a:solidFill>
          <a:ln w="9525">
            <a:solidFill>
              <a:srgbClr val="4F8A83"/>
            </a:solidFill>
            <a:prstDash val="solid"/>
          </a:ln>
          <a:effectLst/>
        </p:spPr>
      </p:sp>
      <p:sp>
        <p:nvSpPr>
          <p:cNvPr id="65" name="phase-b-letter"/>
          <p:cNvSpPr>
            <a:spLocks noGrp="1"/>
          </p:cNvSpPr>
          <p:nvPr/>
        </p:nvSpPr>
        <p:spPr>
          <a:xfrm>
            <a:off x="1438275" y="3016250"/>
            <a:ext cx="295275" cy="295275"/>
          </a:xfrm>
          <a:prstGeom prst="roundRect">
            <a:avLst>
              <a:gd name="adj" fmla="val 19355"/>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B</a:t>
            </a:r>
          </a:p>
        </p:txBody>
      </p:sp>
      <p:sp>
        <p:nvSpPr>
          <p:cNvPr id="67" name="phase-b-chinese"/>
          <p:cNvSpPr>
            <a:spLocks noGrp="1"/>
          </p:cNvSpPr>
          <p:nvPr/>
        </p:nvSpPr>
        <p:spPr>
          <a:xfrm>
            <a:off x="1552575" y="3254375"/>
            <a:ext cx="1304925" cy="285750"/>
          </a:xfrm>
          <a:prstGeom prst="rect">
            <a:avLst/>
          </a:prstGeom>
          <a:noFill/>
          <a:ln w="0">
            <a:noFill/>
            <a:prstDash val="solid"/>
          </a:ln>
          <a:effectLst/>
        </p:spPr>
        <p:txBody>
          <a:bodyPr wrap="square" lIns="0" tIns="0" rIns="0" bIns="0" anchor="ctr">
            <a:normAutofit/>
          </a:bodyPr>
          <a:lstStyle/>
          <a:p>
            <a:pPr algn="ctr">
              <a:defRPr sz="1275" b="1">
                <a:solidFill>
                  <a:srgbClr val="0B8B99"/>
                </a:solidFill>
                <a:latin typeface="微软雅黑" panose="020B0503020204020204" charset="-122"/>
                <a:ea typeface="微软雅黑" panose="020B0503020204020204" charset="-122"/>
                <a:cs typeface="微软雅黑" panose="020B0503020204020204" charset="-122"/>
              </a:defRPr>
            </a:pPr>
            <a:r>
              <a:rPr sz="1275" b="1">
                <a:solidFill>
                  <a:srgbClr val="4F8A83"/>
                </a:solidFill>
                <a:latin typeface="Arial" panose="020B0604020202020204" pitchFamily="34" charset="0"/>
                <a:ea typeface="Microsoft YaHei" panose="020B0503020204020204" pitchFamily="34" charset="-122"/>
                <a:cs typeface="微软雅黑" panose="020B0503020204020204" charset="-122"/>
              </a:rPr>
              <a:t>事实验证</a:t>
            </a:r>
          </a:p>
        </p:txBody>
      </p:sp>
      <p:sp>
        <p:nvSpPr>
          <p:cNvPr id="68" name="phase-b-sidebar-divider"/>
          <p:cNvSpPr>
            <a:spLocks noGrp="1"/>
          </p:cNvSpPr>
          <p:nvPr/>
        </p:nvSpPr>
        <p:spPr>
          <a:xfrm>
            <a:off x="2847975" y="2987675"/>
            <a:ext cx="9525" cy="9525"/>
          </a:xfrm>
          <a:prstGeom prst="rect">
            <a:avLst/>
          </a:prstGeom>
          <a:solidFill>
            <a:srgbClr val="EEF2F5"/>
          </a:solidFill>
          <a:ln w="9525">
            <a:solidFill>
              <a:srgbClr val="D6DEE6"/>
            </a:solidFill>
            <a:prstDash val="solid"/>
          </a:ln>
          <a:effectLst/>
        </p:spPr>
      </p:sp>
      <p:sp>
        <p:nvSpPr>
          <p:cNvPr id="69" name="phase-b-step-divider"/>
          <p:cNvSpPr>
            <a:spLocks noGrp="1"/>
          </p:cNvSpPr>
          <p:nvPr/>
        </p:nvSpPr>
        <p:spPr>
          <a:xfrm>
            <a:off x="6924675" y="2978150"/>
            <a:ext cx="9525" cy="9525"/>
          </a:xfrm>
          <a:prstGeom prst="rect">
            <a:avLst/>
          </a:prstGeom>
          <a:solidFill>
            <a:srgbClr val="EAF3F1"/>
          </a:solidFill>
          <a:ln w="9525">
            <a:solidFill>
              <a:srgbClr val="D6DEE6"/>
            </a:solidFill>
            <a:prstDash val="solid"/>
          </a:ln>
          <a:effectLst/>
        </p:spPr>
      </p:sp>
      <p:sp>
        <p:nvSpPr>
          <p:cNvPr id="70" name="step-03-number"/>
          <p:cNvSpPr>
            <a:spLocks noGrp="1"/>
          </p:cNvSpPr>
          <p:nvPr/>
        </p:nvSpPr>
        <p:spPr>
          <a:xfrm>
            <a:off x="3009900" y="2978150"/>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03</a:t>
            </a:r>
          </a:p>
        </p:txBody>
      </p:sp>
      <p:sp>
        <p:nvSpPr>
          <p:cNvPr id="71" name="step-03-title"/>
          <p:cNvSpPr>
            <a:spLocks noGrp="1"/>
          </p:cNvSpPr>
          <p:nvPr/>
        </p:nvSpPr>
        <p:spPr>
          <a:xfrm>
            <a:off x="3429000" y="2959100"/>
            <a:ext cx="2000250" cy="190500"/>
          </a:xfrm>
          <a:prstGeom prst="rect">
            <a:avLst/>
          </a:prstGeom>
          <a:noFill/>
          <a:ln w="0">
            <a:noFill/>
            <a:prstDash val="solid"/>
          </a:ln>
          <a:effectLst/>
        </p:spPr>
        <p:txBody>
          <a:bodyPr wrap="square" lIns="0" tIns="0" rIns="0" bIns="0" anchor="ctr">
            <a:normAutofit/>
          </a:bodyPr>
          <a:lstStyle/>
          <a:p>
            <a:pPr algn="l">
              <a:defRPr sz="1125" b="1">
                <a:solidFill>
                  <a:srgbClr val="0B8B99"/>
                </a:solidFill>
                <a:latin typeface="微软雅黑" panose="020B0503020204020204" charset="-122"/>
                <a:ea typeface="微软雅黑" panose="020B0503020204020204" charset="-122"/>
                <a:cs typeface="微软雅黑" panose="020B0503020204020204" charset="-122"/>
              </a:defRPr>
            </a:pPr>
            <a:r>
              <a:rPr sz="1125" b="1">
                <a:solidFill>
                  <a:srgbClr val="4F8A83"/>
                </a:solidFill>
                <a:latin typeface="Arial" panose="020B0604020202020204" pitchFamily="34" charset="0"/>
                <a:ea typeface="Microsoft YaHei" panose="020B0503020204020204" pitchFamily="34" charset="-122"/>
                <a:cs typeface="微软雅黑" panose="020B0503020204020204" charset="-122"/>
              </a:rPr>
              <a:t>环境验证</a:t>
            </a:r>
          </a:p>
        </p:txBody>
      </p:sp>
      <p:sp>
        <p:nvSpPr>
          <p:cNvPr id="72" name="step-03-subtitle"/>
          <p:cNvSpPr>
            <a:spLocks noGrp="1"/>
          </p:cNvSpPr>
          <p:nvPr/>
        </p:nvSpPr>
        <p:spPr>
          <a:xfrm>
            <a:off x="3429000" y="3149600"/>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F3A45"/>
                </a:solidFill>
                <a:latin typeface="Arial" panose="020B0604020202020204" pitchFamily="34" charset="0"/>
                <a:ea typeface="Microsoft YaHei" panose="020B0503020204020204" pitchFamily="34" charset="-122"/>
                <a:cs typeface="微软雅黑" panose="020B0503020204020204" charset="-122"/>
              </a:rPr>
              <a:t>真实环境与工具链检测</a:t>
            </a:r>
          </a:p>
        </p:txBody>
      </p:sp>
      <p:sp>
        <p:nvSpPr>
          <p:cNvPr id="74" name="step-03-tag-1"/>
          <p:cNvSpPr>
            <a:spLocks noGrp="1"/>
          </p:cNvSpPr>
          <p:nvPr/>
        </p:nvSpPr>
        <p:spPr>
          <a:xfrm>
            <a:off x="3448050" y="3321050"/>
            <a:ext cx="55245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Microsoft YaHei" panose="020B0503020204020204" pitchFamily="34" charset="-122"/>
                <a:cs typeface="Calibri" panose="020F0502020204030204"/>
              </a:rPr>
              <a:t>Device</a:t>
            </a:r>
          </a:p>
        </p:txBody>
      </p:sp>
      <p:sp>
        <p:nvSpPr>
          <p:cNvPr id="75" name="step-03-tag-2"/>
          <p:cNvSpPr>
            <a:spLocks noGrp="1"/>
          </p:cNvSpPr>
          <p:nvPr/>
        </p:nvSpPr>
        <p:spPr>
          <a:xfrm>
            <a:off x="4048125" y="3321050"/>
            <a:ext cx="62865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Microsoft YaHei" panose="020B0503020204020204" pitchFamily="34" charset="-122"/>
                <a:cs typeface="Calibri" panose="020F0502020204030204"/>
              </a:rPr>
              <a:t>Compiler</a:t>
            </a:r>
          </a:p>
        </p:txBody>
      </p:sp>
      <p:sp>
        <p:nvSpPr>
          <p:cNvPr id="76" name="step-03-tag-3"/>
          <p:cNvSpPr>
            <a:spLocks noGrp="1"/>
          </p:cNvSpPr>
          <p:nvPr/>
        </p:nvSpPr>
        <p:spPr>
          <a:xfrm>
            <a:off x="4724400" y="3321050"/>
            <a:ext cx="57150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Microsoft YaHei" panose="020B0503020204020204" pitchFamily="34" charset="-122"/>
                <a:cs typeface="Calibri" panose="020F0502020204030204"/>
              </a:rPr>
              <a:t>Runtime</a:t>
            </a:r>
          </a:p>
        </p:txBody>
      </p:sp>
      <p:sp>
        <p:nvSpPr>
          <p:cNvPr id="77" name="step-03-tag-4"/>
          <p:cNvSpPr>
            <a:spLocks noGrp="1"/>
          </p:cNvSpPr>
          <p:nvPr/>
        </p:nvSpPr>
        <p:spPr>
          <a:xfrm>
            <a:off x="5343525" y="3321050"/>
            <a:ext cx="72390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Microsoft YaHei" panose="020B0503020204020204" pitchFamily="34" charset="-122"/>
                <a:cs typeface="Calibri" panose="020F0502020204030204"/>
              </a:rPr>
              <a:t>Framework</a:t>
            </a:r>
          </a:p>
        </p:txBody>
      </p:sp>
      <p:sp>
        <p:nvSpPr>
          <p:cNvPr id="78" name="step-03-tag-5"/>
          <p:cNvSpPr>
            <a:spLocks noGrp="1"/>
          </p:cNvSpPr>
          <p:nvPr/>
        </p:nvSpPr>
        <p:spPr>
          <a:xfrm>
            <a:off x="6115050" y="3321050"/>
            <a:ext cx="55245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Microsoft YaHei" panose="020B0503020204020204" pitchFamily="34" charset="-122"/>
                <a:cs typeface="Calibri" panose="020F0502020204030204"/>
              </a:rPr>
              <a:t>Profiler</a:t>
            </a:r>
          </a:p>
        </p:txBody>
      </p:sp>
      <p:sp>
        <p:nvSpPr>
          <p:cNvPr id="79" name="step-03-smoke"/>
          <p:cNvSpPr>
            <a:spLocks noGrp="1"/>
          </p:cNvSpPr>
          <p:nvPr/>
        </p:nvSpPr>
        <p:spPr>
          <a:xfrm>
            <a:off x="4705350" y="3530600"/>
            <a:ext cx="876300" cy="180975"/>
          </a:xfrm>
          <a:prstGeom prst="roundRect">
            <a:avLst>
              <a:gd name="adj" fmla="val 31579"/>
            </a:avLst>
          </a:prstGeom>
          <a:solidFill>
            <a:srgbClr val="EAF3F1"/>
          </a:solidFill>
          <a:ln w="9525">
            <a:solidFill>
              <a:srgbClr val="4F8A83"/>
            </a:solidFill>
            <a:prstDash val="solid"/>
          </a:ln>
          <a:effectLst/>
        </p:spPr>
        <p:txBody>
          <a:bodyPr wrap="square" lIns="28575" tIns="9525" rIns="28575" bIns="9525" anchor="ctr">
            <a:normAutofit/>
          </a:bodyPr>
          <a:lstStyle/>
          <a:p>
            <a:pPr algn="ctr">
              <a:defRPr sz="715" b="1">
                <a:solidFill>
                  <a:srgbClr val="0B8B99"/>
                </a:solidFill>
                <a:latin typeface="Calibri" panose="020F0502020204030204"/>
                <a:ea typeface="Calibri" panose="020F0502020204030204"/>
                <a:cs typeface="Calibri" panose="020F0502020204030204"/>
              </a:defRPr>
            </a:pPr>
            <a:r>
              <a:rPr sz="715" b="1">
                <a:solidFill>
                  <a:srgbClr val="4F8A83"/>
                </a:solidFill>
                <a:latin typeface="Arial" panose="020B0604020202020204" pitchFamily="34" charset="0"/>
                <a:ea typeface="Microsoft YaHei" panose="020B0503020204020204" pitchFamily="34" charset="-122"/>
                <a:cs typeface="Calibri" panose="020F0502020204030204"/>
              </a:rPr>
              <a:t>Smoke Test</a:t>
            </a:r>
          </a:p>
        </p:txBody>
      </p:sp>
      <p:sp>
        <p:nvSpPr>
          <p:cNvPr id="81" name="step-04-number"/>
          <p:cNvSpPr>
            <a:spLocks noGrp="1"/>
          </p:cNvSpPr>
          <p:nvPr/>
        </p:nvSpPr>
        <p:spPr>
          <a:xfrm>
            <a:off x="7067550" y="2978150"/>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04</a:t>
            </a:r>
          </a:p>
        </p:txBody>
      </p:sp>
      <p:sp>
        <p:nvSpPr>
          <p:cNvPr id="82" name="step-04-title"/>
          <p:cNvSpPr>
            <a:spLocks noGrp="1"/>
          </p:cNvSpPr>
          <p:nvPr/>
        </p:nvSpPr>
        <p:spPr>
          <a:xfrm>
            <a:off x="7486650" y="2959100"/>
            <a:ext cx="2000250" cy="190500"/>
          </a:xfrm>
          <a:prstGeom prst="rect">
            <a:avLst/>
          </a:prstGeom>
          <a:noFill/>
          <a:ln w="0">
            <a:noFill/>
            <a:prstDash val="solid"/>
          </a:ln>
          <a:effectLst/>
        </p:spPr>
        <p:txBody>
          <a:bodyPr wrap="square" lIns="0" tIns="0" rIns="0" bIns="0" anchor="ctr">
            <a:normAutofit/>
          </a:bodyPr>
          <a:lstStyle/>
          <a:p>
            <a:pPr algn="l">
              <a:defRPr sz="1125" b="1">
                <a:solidFill>
                  <a:srgbClr val="0B8B99"/>
                </a:solidFill>
                <a:latin typeface="微软雅黑" panose="020B0503020204020204" charset="-122"/>
                <a:ea typeface="微软雅黑" panose="020B0503020204020204" charset="-122"/>
                <a:cs typeface="微软雅黑" panose="020B0503020204020204" charset="-122"/>
              </a:defRPr>
            </a:pPr>
            <a:r>
              <a:rPr sz="1125" b="1">
                <a:solidFill>
                  <a:srgbClr val="4F8A83"/>
                </a:solidFill>
                <a:latin typeface="Arial" panose="020B0604020202020204" pitchFamily="34" charset="0"/>
                <a:ea typeface="Microsoft YaHei" panose="020B0503020204020204" pitchFamily="34" charset="-122"/>
                <a:cs typeface="微软雅黑" panose="020B0503020204020204" charset="-122"/>
              </a:rPr>
              <a:t>微基准</a:t>
            </a:r>
          </a:p>
        </p:txBody>
      </p:sp>
      <p:sp>
        <p:nvSpPr>
          <p:cNvPr id="83" name="step-04-subtitle"/>
          <p:cNvSpPr>
            <a:spLocks noGrp="1"/>
          </p:cNvSpPr>
          <p:nvPr/>
        </p:nvSpPr>
        <p:spPr>
          <a:xfrm>
            <a:off x="7486650" y="3149600"/>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F3A45"/>
                </a:solidFill>
                <a:latin typeface="Arial" panose="020B0604020202020204" pitchFamily="34" charset="0"/>
                <a:ea typeface="Microsoft YaHei" panose="020B0503020204020204" pitchFamily="34" charset="-122"/>
                <a:cs typeface="微软雅黑" panose="020B0503020204020204" charset="-122"/>
              </a:rPr>
              <a:t>验证关键平台事实</a:t>
            </a:r>
          </a:p>
        </p:txBody>
      </p:sp>
      <p:sp>
        <p:nvSpPr>
          <p:cNvPr id="84" name="step-04-tag-1"/>
          <p:cNvSpPr>
            <a:spLocks noGrp="1"/>
          </p:cNvSpPr>
          <p:nvPr/>
        </p:nvSpPr>
        <p:spPr>
          <a:xfrm>
            <a:off x="7505700" y="3302000"/>
            <a:ext cx="83820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Microsoft YaHei" panose="020B0503020204020204" pitchFamily="34" charset="-122"/>
                <a:cs typeface="Calibri" panose="020F0502020204030204"/>
              </a:rPr>
              <a:t>Memory</a:t>
            </a:r>
          </a:p>
        </p:txBody>
      </p:sp>
      <p:sp>
        <p:nvSpPr>
          <p:cNvPr id="85" name="step-04-tag-2"/>
          <p:cNvSpPr>
            <a:spLocks noGrp="1"/>
          </p:cNvSpPr>
          <p:nvPr/>
        </p:nvSpPr>
        <p:spPr>
          <a:xfrm>
            <a:off x="8391525" y="3302000"/>
            <a:ext cx="87630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Microsoft YaHei" panose="020B0503020204020204" pitchFamily="34" charset="-122"/>
                <a:cs typeface="Calibri" panose="020F0502020204030204"/>
              </a:rPr>
              <a:t>Compute</a:t>
            </a:r>
          </a:p>
        </p:txBody>
      </p:sp>
      <p:sp>
        <p:nvSpPr>
          <p:cNvPr id="86" name="step-04-tag-3"/>
          <p:cNvSpPr>
            <a:spLocks noGrp="1"/>
          </p:cNvSpPr>
          <p:nvPr/>
        </p:nvSpPr>
        <p:spPr>
          <a:xfrm>
            <a:off x="9315450" y="3302000"/>
            <a:ext cx="102870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Microsoft YaHei" panose="020B0503020204020204" pitchFamily="34" charset="-122"/>
                <a:cs typeface="Calibri" panose="020F0502020204030204"/>
              </a:rPr>
              <a:t>Reduction</a:t>
            </a:r>
          </a:p>
        </p:txBody>
      </p:sp>
      <p:sp>
        <p:nvSpPr>
          <p:cNvPr id="87" name="step-04-tag-4"/>
          <p:cNvSpPr>
            <a:spLocks noGrp="1"/>
          </p:cNvSpPr>
          <p:nvPr/>
        </p:nvSpPr>
        <p:spPr>
          <a:xfrm>
            <a:off x="7505700" y="3511550"/>
            <a:ext cx="83820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Microsoft YaHei" panose="020B0503020204020204" pitchFamily="34" charset="-122"/>
                <a:cs typeface="Calibri" panose="020F0502020204030204"/>
              </a:rPr>
              <a:t>Layout</a:t>
            </a:r>
          </a:p>
        </p:txBody>
      </p:sp>
      <p:sp>
        <p:nvSpPr>
          <p:cNvPr id="88" name="step-04-tag-5"/>
          <p:cNvSpPr>
            <a:spLocks noGrp="1"/>
          </p:cNvSpPr>
          <p:nvPr/>
        </p:nvSpPr>
        <p:spPr>
          <a:xfrm>
            <a:off x="8391525" y="3511550"/>
            <a:ext cx="89535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Microsoft YaHei" panose="020B0503020204020204" pitchFamily="34" charset="-122"/>
                <a:cs typeface="Calibri" panose="020F0502020204030204"/>
              </a:rPr>
              <a:t>Pipeline</a:t>
            </a:r>
          </a:p>
        </p:txBody>
      </p:sp>
      <p:sp>
        <p:nvSpPr>
          <p:cNvPr id="89" name="step-04-tag-6"/>
          <p:cNvSpPr>
            <a:spLocks noGrp="1"/>
          </p:cNvSpPr>
          <p:nvPr/>
        </p:nvSpPr>
        <p:spPr>
          <a:xfrm>
            <a:off x="9334500" y="3511550"/>
            <a:ext cx="131445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Microsoft YaHei" panose="020B0503020204020204" pitchFamily="34" charset="-122"/>
                <a:cs typeface="Calibri" panose="020F0502020204030204"/>
              </a:rPr>
              <a:t>Synchronization</a:t>
            </a:r>
          </a:p>
        </p:txBody>
      </p:sp>
      <p:sp>
        <p:nvSpPr>
          <p:cNvPr id="92" name="phase-c-surface"/>
          <p:cNvSpPr>
            <a:spLocks noGrp="1"/>
          </p:cNvSpPr>
          <p:nvPr/>
        </p:nvSpPr>
        <p:spPr>
          <a:xfrm>
            <a:off x="1295400" y="3911600"/>
            <a:ext cx="9601200" cy="1000125"/>
          </a:xfrm>
          <a:prstGeom prst="rect">
            <a:avLst/>
          </a:prstGeom>
          <a:solidFill>
            <a:srgbClr val="EEF2F5"/>
          </a:solidFill>
          <a:ln w="9525">
            <a:solidFill>
              <a:srgbClr val="D6DEE6"/>
            </a:solidFill>
            <a:prstDash val="solid"/>
          </a:ln>
          <a:effectLst/>
        </p:spPr>
      </p:sp>
      <p:sp>
        <p:nvSpPr>
          <p:cNvPr id="93" name="phase-c-accent"/>
          <p:cNvSpPr>
            <a:spLocks noGrp="1"/>
          </p:cNvSpPr>
          <p:nvPr/>
        </p:nvSpPr>
        <p:spPr>
          <a:xfrm>
            <a:off x="1295400" y="3911600"/>
            <a:ext cx="57150" cy="1000125"/>
          </a:xfrm>
          <a:prstGeom prst="roundRect">
            <a:avLst>
              <a:gd name="adj" fmla="val 50000"/>
            </a:avLst>
          </a:prstGeom>
          <a:solidFill>
            <a:srgbClr val="5B7188"/>
          </a:solidFill>
          <a:ln w="9525">
            <a:solidFill>
              <a:srgbClr val="294A6D"/>
            </a:solidFill>
            <a:prstDash val="solid"/>
          </a:ln>
          <a:effectLst/>
        </p:spPr>
      </p:sp>
      <p:sp>
        <p:nvSpPr>
          <p:cNvPr id="94" name="phase-c-letter"/>
          <p:cNvSpPr>
            <a:spLocks noGrp="1"/>
          </p:cNvSpPr>
          <p:nvPr/>
        </p:nvSpPr>
        <p:spPr>
          <a:xfrm>
            <a:off x="1438275" y="4035425"/>
            <a:ext cx="295275" cy="295275"/>
          </a:xfrm>
          <a:prstGeom prst="roundRect">
            <a:avLst>
              <a:gd name="adj" fmla="val 19355"/>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C</a:t>
            </a:r>
          </a:p>
        </p:txBody>
      </p:sp>
      <p:sp>
        <p:nvSpPr>
          <p:cNvPr id="96" name="phase-c-chinese"/>
          <p:cNvSpPr>
            <a:spLocks noGrp="1"/>
          </p:cNvSpPr>
          <p:nvPr/>
        </p:nvSpPr>
        <p:spPr>
          <a:xfrm>
            <a:off x="1476375" y="4302125"/>
            <a:ext cx="1304925" cy="285750"/>
          </a:xfrm>
          <a:prstGeom prst="rect">
            <a:avLst/>
          </a:prstGeom>
          <a:noFill/>
          <a:ln w="0">
            <a:noFill/>
            <a:prstDash val="solid"/>
          </a:ln>
          <a:effectLst/>
        </p:spPr>
        <p:txBody>
          <a:bodyPr wrap="square" lIns="0" tIns="0" rIns="0" bIns="0" anchor="ctr">
            <a:normAutofit/>
          </a:bodyPr>
          <a:lstStyle/>
          <a:p>
            <a:pPr algn="ctr">
              <a:defRPr sz="1275" b="1">
                <a:solidFill>
                  <a:srgbClr val="1457C5"/>
                </a:solidFill>
                <a:latin typeface="微软雅黑" panose="020B0503020204020204" charset="-122"/>
                <a:ea typeface="微软雅黑" panose="020B0503020204020204" charset="-122"/>
                <a:cs typeface="微软雅黑" panose="020B0503020204020204" charset="-122"/>
              </a:defRPr>
            </a:pPr>
            <a:r>
              <a:rPr sz="1275" b="1">
                <a:solidFill>
                  <a:srgbClr val="294A6D"/>
                </a:solidFill>
                <a:latin typeface="Arial" panose="020B0604020202020204" pitchFamily="34" charset="0"/>
                <a:ea typeface="Microsoft YaHei" panose="020B0503020204020204" pitchFamily="34" charset="-122"/>
                <a:cs typeface="微软雅黑" panose="020B0503020204020204" charset="-122"/>
              </a:rPr>
              <a:t>Skill 构建</a:t>
            </a:r>
          </a:p>
        </p:txBody>
      </p:sp>
      <p:sp>
        <p:nvSpPr>
          <p:cNvPr id="97" name="phase-c-sidebar-divider"/>
          <p:cNvSpPr>
            <a:spLocks noGrp="1"/>
          </p:cNvSpPr>
          <p:nvPr/>
        </p:nvSpPr>
        <p:spPr>
          <a:xfrm>
            <a:off x="2847975" y="4006850"/>
            <a:ext cx="9525" cy="9525"/>
          </a:xfrm>
          <a:prstGeom prst="rect">
            <a:avLst/>
          </a:prstGeom>
          <a:solidFill>
            <a:srgbClr val="EEF2F5"/>
          </a:solidFill>
          <a:ln w="9525">
            <a:solidFill>
              <a:srgbClr val="D6DEE6"/>
            </a:solidFill>
            <a:prstDash val="solid"/>
          </a:ln>
          <a:effectLst/>
        </p:spPr>
      </p:sp>
      <p:sp>
        <p:nvSpPr>
          <p:cNvPr id="98" name="phase-c-step-divider"/>
          <p:cNvSpPr>
            <a:spLocks noGrp="1"/>
          </p:cNvSpPr>
          <p:nvPr/>
        </p:nvSpPr>
        <p:spPr>
          <a:xfrm>
            <a:off x="6924675" y="4006850"/>
            <a:ext cx="9525" cy="9525"/>
          </a:xfrm>
          <a:prstGeom prst="rect">
            <a:avLst/>
          </a:prstGeom>
          <a:solidFill>
            <a:srgbClr val="EEF2F5"/>
          </a:solidFill>
          <a:ln w="9525">
            <a:solidFill>
              <a:srgbClr val="D6DEE6"/>
            </a:solidFill>
            <a:prstDash val="solid"/>
          </a:ln>
          <a:effectLst/>
        </p:spPr>
      </p:sp>
      <p:sp>
        <p:nvSpPr>
          <p:cNvPr id="99" name="step-05-number"/>
          <p:cNvSpPr>
            <a:spLocks noGrp="1"/>
          </p:cNvSpPr>
          <p:nvPr/>
        </p:nvSpPr>
        <p:spPr>
          <a:xfrm>
            <a:off x="3009900" y="4006850"/>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05</a:t>
            </a:r>
          </a:p>
        </p:txBody>
      </p:sp>
      <p:sp>
        <p:nvSpPr>
          <p:cNvPr id="100" name="step-05-title"/>
          <p:cNvSpPr>
            <a:spLocks noGrp="1"/>
          </p:cNvSpPr>
          <p:nvPr/>
        </p:nvSpPr>
        <p:spPr>
          <a:xfrm>
            <a:off x="3429000" y="3987800"/>
            <a:ext cx="2000250" cy="190500"/>
          </a:xfrm>
          <a:prstGeom prst="rect">
            <a:avLst/>
          </a:prstGeom>
          <a:noFill/>
          <a:ln w="0">
            <a:noFill/>
            <a:prstDash val="solid"/>
          </a:ln>
          <a:effectLst/>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dirty="0">
                <a:solidFill>
                  <a:srgbClr val="294A6D"/>
                </a:solidFill>
                <a:latin typeface="Arial" panose="020B0604020202020204" pitchFamily="34" charset="0"/>
                <a:ea typeface="Microsoft YaHei" panose="020B0503020204020204" pitchFamily="34" charset="-122"/>
                <a:cs typeface="微软雅黑" panose="020B0503020204020204" charset="-122"/>
              </a:rPr>
              <a:t>Platform Knowledge</a:t>
            </a:r>
          </a:p>
        </p:txBody>
      </p:sp>
      <p:sp>
        <p:nvSpPr>
          <p:cNvPr id="101" name="step-05-subtitle"/>
          <p:cNvSpPr>
            <a:spLocks noGrp="1"/>
          </p:cNvSpPr>
          <p:nvPr/>
        </p:nvSpPr>
        <p:spPr>
          <a:xfrm>
            <a:off x="3429000" y="4178300"/>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F3A45"/>
                </a:solidFill>
                <a:latin typeface="Arial" panose="020B0604020202020204" pitchFamily="34" charset="0"/>
                <a:ea typeface="Microsoft YaHei" panose="020B0503020204020204" pitchFamily="34" charset="-122"/>
                <a:cs typeface="微软雅黑" panose="020B0503020204020204" charset="-122"/>
              </a:rPr>
              <a:t>知识结构化</a:t>
            </a:r>
          </a:p>
        </p:txBody>
      </p:sp>
      <p:sp>
        <p:nvSpPr>
          <p:cNvPr id="107" name="step-06-number"/>
          <p:cNvSpPr>
            <a:spLocks noGrp="1"/>
          </p:cNvSpPr>
          <p:nvPr/>
        </p:nvSpPr>
        <p:spPr>
          <a:xfrm>
            <a:off x="7067550" y="4006850"/>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06</a:t>
            </a:r>
          </a:p>
        </p:txBody>
      </p:sp>
      <p:sp>
        <p:nvSpPr>
          <p:cNvPr id="108" name="step-06-title"/>
          <p:cNvSpPr>
            <a:spLocks noGrp="1"/>
          </p:cNvSpPr>
          <p:nvPr/>
        </p:nvSpPr>
        <p:spPr>
          <a:xfrm>
            <a:off x="7486650" y="3987800"/>
            <a:ext cx="2000250" cy="190500"/>
          </a:xfrm>
          <a:prstGeom prst="rect">
            <a:avLst/>
          </a:prstGeom>
          <a:noFill/>
          <a:ln w="0">
            <a:noFill/>
            <a:prstDash val="solid"/>
          </a:ln>
          <a:effectLst/>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dirty="0">
                <a:solidFill>
                  <a:srgbClr val="294A6D"/>
                </a:solidFill>
                <a:latin typeface="Arial" panose="020B0604020202020204" pitchFamily="34" charset="0"/>
                <a:ea typeface="Microsoft YaHei" panose="020B0503020204020204" pitchFamily="34" charset="-122"/>
                <a:cs typeface="微软雅黑" panose="020B0503020204020204" charset="-122"/>
              </a:rPr>
              <a:t>Workflow </a:t>
            </a:r>
            <a:r>
              <a:rPr lang="zh-CN" altLang="en-US" sz="1125" b="1" dirty="0">
                <a:solidFill>
                  <a:srgbClr val="294A6D"/>
                </a:solidFill>
                <a:latin typeface="Arial" panose="020B0604020202020204" pitchFamily="34" charset="0"/>
                <a:ea typeface="Microsoft YaHei" panose="020B0503020204020204" pitchFamily="34" charset="-122"/>
                <a:cs typeface="微软雅黑" panose="020B0503020204020204" charset="-122"/>
              </a:rPr>
              <a:t>完善</a:t>
            </a:r>
            <a:endParaRPr sz="1125" b="1"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109" name="step-06-subtitle"/>
          <p:cNvSpPr>
            <a:spLocks noGrp="1"/>
          </p:cNvSpPr>
          <p:nvPr/>
        </p:nvSpPr>
        <p:spPr>
          <a:xfrm>
            <a:off x="7486650" y="4178300"/>
            <a:ext cx="2143125"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dirty="0" err="1">
                <a:solidFill>
                  <a:srgbClr val="2F3A45"/>
                </a:solidFill>
                <a:latin typeface="Arial" panose="020B0604020202020204" pitchFamily="34" charset="0"/>
                <a:ea typeface="Microsoft YaHei" panose="020B0503020204020204" pitchFamily="34" charset="-122"/>
                <a:cs typeface="微软雅黑" panose="020B0503020204020204" charset="-122"/>
              </a:rPr>
              <a:t>接入通用</a:t>
            </a:r>
            <a:r>
              <a:rPr sz="825" b="1" dirty="0">
                <a:solidFill>
                  <a:srgbClr val="2F3A45"/>
                </a:solidFill>
                <a:latin typeface="Arial" panose="020B0604020202020204" pitchFamily="34" charset="0"/>
                <a:ea typeface="Microsoft YaHei" panose="020B0503020204020204" pitchFamily="34" charset="-122"/>
                <a:cs typeface="微软雅黑" panose="020B0503020204020204" charset="-122"/>
              </a:rPr>
              <a:t> Workflow</a:t>
            </a:r>
          </a:p>
        </p:txBody>
      </p:sp>
      <p:sp>
        <p:nvSpPr>
          <p:cNvPr id="111" name="step-06-universal"/>
          <p:cNvSpPr>
            <a:spLocks noGrp="1"/>
          </p:cNvSpPr>
          <p:nvPr/>
        </p:nvSpPr>
        <p:spPr>
          <a:xfrm>
            <a:off x="4676775" y="4481513"/>
            <a:ext cx="952500" cy="276225"/>
          </a:xfrm>
          <a:prstGeom prst="roundRect">
            <a:avLst>
              <a:gd name="adj" fmla="val 20690"/>
            </a:avLst>
          </a:prstGeom>
          <a:solidFill>
            <a:srgbClr val="EEF2F5"/>
          </a:solidFill>
          <a:ln w="9525">
            <a:solidFill>
              <a:srgbClr val="294A6D"/>
            </a:solidFill>
            <a:prstDash val="solid"/>
          </a:ln>
          <a:effectLst/>
        </p:spPr>
        <p:txBody>
          <a:bodyPr wrap="square" lIns="28575" tIns="9525" rIns="28575" bIns="9525" anchor="ctr">
            <a:normAutofit/>
          </a:bodyPr>
          <a:lstStyle/>
          <a:p>
            <a:pPr algn="ctr">
              <a:defRPr sz="715" b="1">
                <a:solidFill>
                  <a:srgbClr val="072A67"/>
                </a:solidFill>
                <a:latin typeface="Calibri" panose="020F0502020204030204"/>
                <a:ea typeface="Calibri" panose="020F0502020204030204"/>
                <a:cs typeface="Calibri" panose="020F0502020204030204"/>
              </a:defRPr>
            </a:pPr>
            <a:r>
              <a:rPr sz="715" b="1" dirty="0">
                <a:solidFill>
                  <a:srgbClr val="2F3A45"/>
                </a:solidFill>
                <a:latin typeface="Arial" panose="020B0604020202020204" pitchFamily="34" charset="0"/>
                <a:ea typeface="Microsoft YaHei" panose="020B0503020204020204" pitchFamily="34" charset="-122"/>
                <a:cs typeface="Calibri" panose="020F0502020204030204"/>
              </a:rPr>
              <a:t>Universal</a:t>
            </a:r>
          </a:p>
          <a:p>
            <a:pPr algn="ctr">
              <a:defRPr sz="715" b="1">
                <a:solidFill>
                  <a:srgbClr val="072A67"/>
                </a:solidFill>
                <a:latin typeface="Calibri" panose="020F0502020204030204"/>
                <a:ea typeface="Calibri" panose="020F0502020204030204"/>
                <a:cs typeface="Calibri" panose="020F0502020204030204"/>
              </a:defRPr>
            </a:pPr>
            <a:r>
              <a:rPr sz="715" b="1" dirty="0">
                <a:solidFill>
                  <a:srgbClr val="2F3A45"/>
                </a:solidFill>
                <a:latin typeface="Arial" panose="020B0604020202020204" pitchFamily="34" charset="0"/>
                <a:ea typeface="Microsoft YaHei" panose="020B0503020204020204" pitchFamily="34" charset="-122"/>
                <a:cs typeface="Calibri" panose="020F0502020204030204"/>
              </a:rPr>
              <a:t>Workflow</a:t>
            </a:r>
          </a:p>
        </p:txBody>
      </p:sp>
      <p:sp>
        <p:nvSpPr>
          <p:cNvPr id="112" name="step-06-plus"/>
          <p:cNvSpPr>
            <a:spLocks noGrp="1"/>
          </p:cNvSpPr>
          <p:nvPr/>
        </p:nvSpPr>
        <p:spPr>
          <a:xfrm>
            <a:off x="5676900" y="4491038"/>
            <a:ext cx="190500" cy="238125"/>
          </a:xfrm>
          <a:prstGeom prst="rect">
            <a:avLst/>
          </a:prstGeom>
          <a:noFill/>
          <a:ln w="0">
            <a:noFill/>
            <a:prstDash val="solid"/>
          </a:ln>
          <a:effectLst/>
        </p:spPr>
        <p:txBody>
          <a:bodyPr wrap="square" lIns="38100" tIns="19050" rIns="38100" bIns="19050" anchor="ctr">
            <a:normAutofit fontScale="97222"/>
          </a:bodyPr>
          <a:lstStyle/>
          <a:p>
            <a:pPr algn="ctr">
              <a:defRPr sz="1350" b="1">
                <a:solidFill>
                  <a:srgbClr val="072A67"/>
                </a:solidFill>
                <a:latin typeface="Calibri" panose="020F0502020204030204"/>
                <a:ea typeface="Calibri" panose="020F0502020204030204"/>
                <a:cs typeface="Calibri" panose="020F0502020204030204"/>
              </a:defRPr>
            </a:pPr>
            <a:r>
              <a:rPr sz="1350" b="1">
                <a:solidFill>
                  <a:srgbClr val="2F3A45"/>
                </a:solidFill>
                <a:latin typeface="Arial" panose="020B0604020202020204" pitchFamily="34" charset="0"/>
                <a:ea typeface="Microsoft YaHei" panose="020B0503020204020204" pitchFamily="34" charset="-122"/>
                <a:cs typeface="Calibri" panose="020F0502020204030204"/>
              </a:rPr>
              <a:t>+</a:t>
            </a:r>
          </a:p>
        </p:txBody>
      </p:sp>
      <p:sp>
        <p:nvSpPr>
          <p:cNvPr id="113" name="step-06-platform"/>
          <p:cNvSpPr>
            <a:spLocks noGrp="1"/>
          </p:cNvSpPr>
          <p:nvPr/>
        </p:nvSpPr>
        <p:spPr>
          <a:xfrm>
            <a:off x="5905500" y="4481513"/>
            <a:ext cx="1000125" cy="276225"/>
          </a:xfrm>
          <a:prstGeom prst="roundRect">
            <a:avLst>
              <a:gd name="adj" fmla="val 20690"/>
            </a:avLst>
          </a:prstGeom>
          <a:solidFill>
            <a:srgbClr val="EEF2F5"/>
          </a:solidFill>
          <a:ln w="9525">
            <a:solidFill>
              <a:srgbClr val="294A6D"/>
            </a:solidFill>
            <a:prstDash val="solid"/>
          </a:ln>
          <a:effectLst/>
        </p:spPr>
        <p:txBody>
          <a:bodyPr wrap="square" lIns="28575" tIns="9525" rIns="28575" bIns="9525" anchor="ctr">
            <a:normAutofit/>
          </a:bodyPr>
          <a:lstStyle/>
          <a:p>
            <a:pPr algn="ctr">
              <a:defRPr sz="715" b="1">
                <a:solidFill>
                  <a:srgbClr val="072A67"/>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Microsoft YaHei" panose="020B0503020204020204" pitchFamily="34" charset="-122"/>
                <a:cs typeface="Calibri" panose="020F0502020204030204"/>
              </a:rPr>
              <a:t>Platform</a:t>
            </a:r>
          </a:p>
          <a:p>
            <a:pPr algn="ctr">
              <a:defRPr sz="715" b="1">
                <a:solidFill>
                  <a:srgbClr val="072A67"/>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Microsoft YaHei" panose="020B0503020204020204" pitchFamily="34" charset="-122"/>
                <a:cs typeface="Calibri" panose="020F0502020204030204"/>
              </a:rPr>
              <a:t>Knowledge</a:t>
            </a:r>
          </a:p>
        </p:txBody>
      </p:sp>
      <p:sp>
        <p:nvSpPr>
          <p:cNvPr id="114" name="step-06-new-skill"/>
          <p:cNvSpPr>
            <a:spLocks noGrp="1"/>
          </p:cNvSpPr>
          <p:nvPr/>
        </p:nvSpPr>
        <p:spPr>
          <a:xfrm>
            <a:off x="7096125" y="4481513"/>
            <a:ext cx="876300" cy="276225"/>
          </a:xfrm>
          <a:prstGeom prst="roundRect">
            <a:avLst>
              <a:gd name="adj" fmla="val 20690"/>
            </a:avLst>
          </a:prstGeom>
          <a:solidFill>
            <a:srgbClr val="EEF2F5"/>
          </a:solidFill>
          <a:ln w="9525">
            <a:solidFill>
              <a:srgbClr val="294A6D"/>
            </a:solidFill>
            <a:prstDash val="solid"/>
          </a:ln>
          <a:effectLst/>
        </p:spPr>
        <p:txBody>
          <a:bodyPr wrap="square" lIns="28575" tIns="9525" rIns="28575" bIns="9525" anchor="ctr">
            <a:normAutofit/>
          </a:bodyPr>
          <a:lstStyle/>
          <a:p>
            <a:pPr algn="ctr">
              <a:defRPr sz="715" b="1">
                <a:solidFill>
                  <a:srgbClr val="1457C5"/>
                </a:solidFill>
                <a:latin typeface="Calibri" panose="020F0502020204030204"/>
                <a:ea typeface="Calibri" panose="020F0502020204030204"/>
                <a:cs typeface="Calibri" panose="020F0502020204030204"/>
              </a:defRPr>
            </a:pPr>
            <a:r>
              <a:rPr sz="715" b="1">
                <a:solidFill>
                  <a:srgbClr val="294A6D"/>
                </a:solidFill>
                <a:latin typeface="Arial" panose="020B0604020202020204" pitchFamily="34" charset="0"/>
                <a:ea typeface="Microsoft YaHei" panose="020B0503020204020204" pitchFamily="34" charset="-122"/>
                <a:cs typeface="Calibri" panose="020F0502020204030204"/>
              </a:rPr>
              <a:t>New Platform</a:t>
            </a:r>
          </a:p>
          <a:p>
            <a:pPr algn="ctr">
              <a:defRPr sz="715" b="1">
                <a:solidFill>
                  <a:srgbClr val="1457C5"/>
                </a:solidFill>
                <a:latin typeface="Calibri" panose="020F0502020204030204"/>
                <a:ea typeface="Calibri" panose="020F0502020204030204"/>
                <a:cs typeface="Calibri" panose="020F0502020204030204"/>
              </a:defRPr>
            </a:pPr>
            <a:r>
              <a:rPr sz="715" b="1">
                <a:solidFill>
                  <a:srgbClr val="294A6D"/>
                </a:solidFill>
                <a:latin typeface="Arial" panose="020B0604020202020204" pitchFamily="34" charset="0"/>
                <a:ea typeface="Microsoft YaHei" panose="020B0503020204020204" pitchFamily="34" charset="-122"/>
                <a:cs typeface="Calibri" panose="020F0502020204030204"/>
              </a:rPr>
              <a:t>Skill</a:t>
            </a:r>
          </a:p>
        </p:txBody>
      </p:sp>
      <p:cxnSp>
        <p:nvCxnSpPr>
          <p:cNvPr id="265" name="step-06-platform-to-new-skill"/>
          <p:cNvCxnSpPr>
            <a:stCxn id="113" idx="3"/>
            <a:endCxn id="114" idx="1"/>
          </p:cNvCxnSpPr>
          <p:nvPr/>
        </p:nvCxnSpPr>
        <p:spPr>
          <a:xfrm>
            <a:off x="6905625" y="4619626"/>
            <a:ext cx="190500" cy="0"/>
          </a:xfrm>
          <a:prstGeom prst="straightConnector1">
            <a:avLst/>
          </a:prstGeom>
          <a:ln w="11430">
            <a:solidFill>
              <a:srgbClr val="294A6D"/>
            </a:solidFill>
            <a:prstDash val="solid"/>
            <a:tailEnd type="triangle" w="sm" len="sm"/>
          </a:ln>
          <a:effectLst/>
        </p:spPr>
      </p:cxnSp>
      <p:sp>
        <p:nvSpPr>
          <p:cNvPr id="118" name="phase-d-surface"/>
          <p:cNvSpPr>
            <a:spLocks noGrp="1"/>
          </p:cNvSpPr>
          <p:nvPr/>
        </p:nvSpPr>
        <p:spPr>
          <a:xfrm>
            <a:off x="1295400" y="4959350"/>
            <a:ext cx="9601200" cy="889000"/>
          </a:xfrm>
          <a:prstGeom prst="rect">
            <a:avLst/>
          </a:prstGeom>
          <a:solidFill>
            <a:srgbClr val="EAF3F1"/>
          </a:solidFill>
          <a:ln w="9525">
            <a:solidFill>
              <a:srgbClr val="D6DEE6"/>
            </a:solidFill>
            <a:prstDash val="solid"/>
          </a:ln>
          <a:effectLst/>
        </p:spPr>
      </p:sp>
      <p:sp>
        <p:nvSpPr>
          <p:cNvPr id="119" name="phase-d-accent"/>
          <p:cNvSpPr>
            <a:spLocks noGrp="1"/>
          </p:cNvSpPr>
          <p:nvPr/>
        </p:nvSpPr>
        <p:spPr>
          <a:xfrm>
            <a:off x="1295400" y="4959350"/>
            <a:ext cx="57150" cy="889000"/>
          </a:xfrm>
          <a:prstGeom prst="roundRect">
            <a:avLst>
              <a:gd name="adj" fmla="val 50000"/>
            </a:avLst>
          </a:prstGeom>
          <a:solidFill>
            <a:srgbClr val="4F8A83"/>
          </a:solidFill>
          <a:ln w="9525">
            <a:solidFill>
              <a:srgbClr val="4F8A83"/>
            </a:solidFill>
            <a:prstDash val="solid"/>
          </a:ln>
          <a:effectLst/>
        </p:spPr>
      </p:sp>
      <p:sp>
        <p:nvSpPr>
          <p:cNvPr id="120" name="phase-d-letter"/>
          <p:cNvSpPr>
            <a:spLocks noGrp="1"/>
          </p:cNvSpPr>
          <p:nvPr/>
        </p:nvSpPr>
        <p:spPr>
          <a:xfrm>
            <a:off x="1438275" y="5083175"/>
            <a:ext cx="295275" cy="295275"/>
          </a:xfrm>
          <a:prstGeom prst="roundRect">
            <a:avLst>
              <a:gd name="adj" fmla="val 19355"/>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D</a:t>
            </a:r>
          </a:p>
        </p:txBody>
      </p:sp>
      <p:sp>
        <p:nvSpPr>
          <p:cNvPr id="122" name="phase-d-chinese"/>
          <p:cNvSpPr>
            <a:spLocks noGrp="1"/>
          </p:cNvSpPr>
          <p:nvPr/>
        </p:nvSpPr>
        <p:spPr>
          <a:xfrm>
            <a:off x="1474470" y="5378450"/>
            <a:ext cx="1304925" cy="285750"/>
          </a:xfrm>
          <a:prstGeom prst="rect">
            <a:avLst/>
          </a:prstGeom>
          <a:noFill/>
          <a:ln w="0">
            <a:noFill/>
            <a:prstDash val="solid"/>
          </a:ln>
          <a:effectLst/>
        </p:spPr>
        <p:txBody>
          <a:bodyPr wrap="square" lIns="0" tIns="0" rIns="0" bIns="0" anchor="ctr">
            <a:normAutofit/>
          </a:bodyPr>
          <a:lstStyle/>
          <a:p>
            <a:pPr algn="ctr">
              <a:defRPr sz="1275" b="1">
                <a:solidFill>
                  <a:srgbClr val="14855C"/>
                </a:solidFill>
                <a:latin typeface="微软雅黑" panose="020B0503020204020204" charset="-122"/>
                <a:ea typeface="微软雅黑" panose="020B0503020204020204" charset="-122"/>
                <a:cs typeface="微软雅黑" panose="020B0503020204020204" charset="-122"/>
              </a:defRPr>
            </a:pPr>
            <a:r>
              <a:rPr lang="zh-CN" sz="1275" b="1">
                <a:solidFill>
                  <a:srgbClr val="4F8A83"/>
                </a:solidFill>
                <a:latin typeface="Arial" panose="020B0604020202020204" pitchFamily="34" charset="0"/>
                <a:ea typeface="Microsoft YaHei" panose="020B0503020204020204" pitchFamily="34" charset="-122"/>
                <a:cs typeface="微软雅黑" panose="020B0503020204020204" charset="-122"/>
              </a:rPr>
              <a:t>最终</a:t>
            </a:r>
            <a:r>
              <a:rPr sz="1275" b="1">
                <a:solidFill>
                  <a:srgbClr val="4F8A83"/>
                </a:solidFill>
                <a:latin typeface="Arial" panose="020B0604020202020204" pitchFamily="34" charset="0"/>
                <a:ea typeface="Microsoft YaHei" panose="020B0503020204020204" pitchFamily="34" charset="-122"/>
                <a:cs typeface="微软雅黑" panose="020B0503020204020204" charset="-122"/>
              </a:rPr>
              <a:t>验收</a:t>
            </a:r>
          </a:p>
        </p:txBody>
      </p:sp>
      <p:sp>
        <p:nvSpPr>
          <p:cNvPr id="123" name="phase-d-sidebar-divider"/>
          <p:cNvSpPr>
            <a:spLocks noGrp="1"/>
          </p:cNvSpPr>
          <p:nvPr/>
        </p:nvSpPr>
        <p:spPr>
          <a:xfrm>
            <a:off x="2847975" y="5054600"/>
            <a:ext cx="9525" cy="9525"/>
          </a:xfrm>
          <a:prstGeom prst="rect">
            <a:avLst/>
          </a:prstGeom>
          <a:solidFill>
            <a:srgbClr val="EEF2F5"/>
          </a:solidFill>
          <a:ln w="9525">
            <a:solidFill>
              <a:srgbClr val="D6DEE6"/>
            </a:solidFill>
            <a:prstDash val="solid"/>
          </a:ln>
          <a:effectLst/>
        </p:spPr>
      </p:sp>
      <p:sp>
        <p:nvSpPr>
          <p:cNvPr id="124" name="phase-d-step-divider"/>
          <p:cNvSpPr>
            <a:spLocks noGrp="1"/>
          </p:cNvSpPr>
          <p:nvPr/>
        </p:nvSpPr>
        <p:spPr>
          <a:xfrm>
            <a:off x="6924675" y="5054600"/>
            <a:ext cx="9525" cy="9525"/>
          </a:xfrm>
          <a:prstGeom prst="rect">
            <a:avLst/>
          </a:prstGeom>
          <a:solidFill>
            <a:srgbClr val="EAF3F1"/>
          </a:solidFill>
          <a:ln w="9525">
            <a:solidFill>
              <a:srgbClr val="D6DEE6"/>
            </a:solidFill>
            <a:prstDash val="solid"/>
          </a:ln>
          <a:effectLst/>
        </p:spPr>
      </p:sp>
      <p:sp>
        <p:nvSpPr>
          <p:cNvPr id="125" name="step-07-number"/>
          <p:cNvSpPr>
            <a:spLocks noGrp="1"/>
          </p:cNvSpPr>
          <p:nvPr/>
        </p:nvSpPr>
        <p:spPr>
          <a:xfrm>
            <a:off x="3009900" y="5054600"/>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07</a:t>
            </a:r>
          </a:p>
        </p:txBody>
      </p:sp>
      <p:sp>
        <p:nvSpPr>
          <p:cNvPr id="126" name="step-07-title"/>
          <p:cNvSpPr>
            <a:spLocks noGrp="1"/>
          </p:cNvSpPr>
          <p:nvPr/>
        </p:nvSpPr>
        <p:spPr>
          <a:xfrm>
            <a:off x="3429000" y="5035550"/>
            <a:ext cx="2000250" cy="190500"/>
          </a:xfrm>
          <a:prstGeom prst="rect">
            <a:avLst/>
          </a:prstGeom>
          <a:noFill/>
          <a:ln w="0">
            <a:noFill/>
            <a:prstDash val="solid"/>
          </a:ln>
          <a:effectLst/>
        </p:spPr>
        <p:txBody>
          <a:bodyPr wrap="square" lIns="0" tIns="0" rIns="0" bIns="0" anchor="ctr">
            <a:normAutofit/>
          </a:bodyPr>
          <a:lstStyle/>
          <a:p>
            <a:pPr algn="l">
              <a:defRPr sz="1125" b="1">
                <a:solidFill>
                  <a:srgbClr val="14855C"/>
                </a:solidFill>
                <a:latin typeface="微软雅黑" panose="020B0503020204020204" charset="-122"/>
                <a:ea typeface="微软雅黑" panose="020B0503020204020204" charset="-122"/>
                <a:cs typeface="微软雅黑" panose="020B0503020204020204" charset="-122"/>
              </a:defRPr>
            </a:pPr>
            <a:r>
              <a:rPr sz="1125" b="1" dirty="0" err="1">
                <a:solidFill>
                  <a:srgbClr val="4F8A83"/>
                </a:solidFill>
                <a:latin typeface="Arial" panose="020B0604020202020204" pitchFamily="34" charset="0"/>
                <a:ea typeface="Microsoft YaHei" panose="020B0503020204020204" pitchFamily="34" charset="-122"/>
                <a:cs typeface="微软雅黑" panose="020B0503020204020204" charset="-122"/>
              </a:rPr>
              <a:t>典型算子验证</a:t>
            </a:r>
            <a:endParaRPr sz="1125"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p:txBody>
      </p:sp>
      <p:sp>
        <p:nvSpPr>
          <p:cNvPr id="128" name="step-07-operator-1"/>
          <p:cNvSpPr>
            <a:spLocks noGrp="1"/>
          </p:cNvSpPr>
          <p:nvPr/>
        </p:nvSpPr>
        <p:spPr>
          <a:xfrm>
            <a:off x="3429000" y="5378450"/>
            <a:ext cx="1028700" cy="361950"/>
          </a:xfrm>
          <a:prstGeom prst="roundRect">
            <a:avLst>
              <a:gd name="adj" fmla="val 15789"/>
            </a:avLst>
          </a:prstGeom>
          <a:solidFill>
            <a:srgbClr val="FFFFFF"/>
          </a:solidFill>
          <a:ln w="9525">
            <a:solidFill>
              <a:srgbClr val="4F8A83"/>
            </a:solidFill>
            <a:prstDash val="solid"/>
          </a:ln>
          <a:effectLst/>
        </p:spPr>
        <p:txBody>
          <a:bodyPr wrap="square" lIns="47625" tIns="19050" rIns="47625" bIns="19050" anchor="ctr">
            <a:normAutofit lnSpcReduction="10000"/>
          </a:bodyPr>
          <a:lstStyle/>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4F8A83"/>
                </a:solidFill>
                <a:latin typeface="Arial" panose="020B0604020202020204" pitchFamily="34" charset="0"/>
                <a:ea typeface="Microsoft YaHei" panose="020B0503020204020204" pitchFamily="34" charset="-122"/>
                <a:cs typeface="Calibri" panose="020F0502020204030204"/>
              </a:rPr>
              <a:t>LayerNorm</a:t>
            </a:r>
          </a:p>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4F8A83"/>
                </a:solidFill>
                <a:latin typeface="Arial" panose="020B0604020202020204" pitchFamily="34" charset="0"/>
                <a:ea typeface="Microsoft YaHei" panose="020B0503020204020204" pitchFamily="34" charset="-122"/>
                <a:cs typeface="Calibri" panose="020F0502020204030204"/>
              </a:rPr>
              <a:t>Memory + Reduction</a:t>
            </a:r>
          </a:p>
        </p:txBody>
      </p:sp>
      <p:sp>
        <p:nvSpPr>
          <p:cNvPr id="129" name="step-07-operator-2"/>
          <p:cNvSpPr>
            <a:spLocks noGrp="1"/>
          </p:cNvSpPr>
          <p:nvPr/>
        </p:nvSpPr>
        <p:spPr>
          <a:xfrm>
            <a:off x="4543425" y="5378450"/>
            <a:ext cx="1028700" cy="361950"/>
          </a:xfrm>
          <a:prstGeom prst="roundRect">
            <a:avLst>
              <a:gd name="adj" fmla="val 15789"/>
            </a:avLst>
          </a:prstGeom>
          <a:solidFill>
            <a:srgbClr val="FFFFFF"/>
          </a:solidFill>
          <a:ln w="9525">
            <a:solidFill>
              <a:srgbClr val="4F8A83"/>
            </a:solidFill>
            <a:prstDash val="solid"/>
          </a:ln>
          <a:effectLst/>
        </p:spPr>
        <p:txBody>
          <a:bodyPr wrap="square" lIns="47625" tIns="19050" rIns="47625" bIns="19050" anchor="ctr">
            <a:normAutofit fontScale="98375" lnSpcReduction="10000"/>
          </a:bodyPr>
          <a:lstStyle/>
          <a:p>
            <a:pPr algn="ctr">
              <a:lnSpc>
                <a:spcPct val="95000"/>
              </a:lnSpc>
              <a:buNone/>
              <a:defRPr sz="690" b="1">
                <a:solidFill>
                  <a:srgbClr val="14855C"/>
                </a:solidFill>
                <a:latin typeface="Calibri" panose="020F0502020204030204"/>
                <a:ea typeface="Calibri" panose="020F0502020204030204"/>
                <a:cs typeface="Calibri" panose="020F0502020204030204"/>
              </a:defRPr>
            </a:pPr>
            <a:r>
              <a:rPr sz="690" b="1">
                <a:solidFill>
                  <a:srgbClr val="4F8A83"/>
                </a:solidFill>
                <a:latin typeface="Arial" panose="020B0604020202020204" pitchFamily="34" charset="0"/>
                <a:ea typeface="Microsoft YaHei" panose="020B0503020204020204" pitchFamily="34" charset="-122"/>
                <a:cs typeface="Calibri" panose="020F0502020204030204"/>
              </a:rPr>
              <a:t>Softmax</a:t>
            </a:r>
          </a:p>
          <a:p>
            <a:pPr algn="ctr">
              <a:lnSpc>
                <a:spcPct val="95000"/>
              </a:lnSpc>
              <a:buNone/>
              <a:defRPr sz="690" b="1">
                <a:solidFill>
                  <a:srgbClr val="14855C"/>
                </a:solidFill>
                <a:latin typeface="Calibri" panose="020F0502020204030204"/>
                <a:ea typeface="Calibri" panose="020F0502020204030204"/>
                <a:cs typeface="Calibri" panose="020F0502020204030204"/>
              </a:defRPr>
            </a:pPr>
            <a:r>
              <a:rPr sz="690" b="1">
                <a:solidFill>
                  <a:srgbClr val="4F8A83"/>
                </a:solidFill>
                <a:latin typeface="Arial" panose="020B0604020202020204" pitchFamily="34" charset="0"/>
                <a:ea typeface="Microsoft YaHei" panose="020B0503020204020204" pitchFamily="34" charset="-122"/>
                <a:cs typeface="Calibri" panose="020F0502020204030204"/>
              </a:rPr>
              <a:t>Elementwise + Reduction</a:t>
            </a:r>
          </a:p>
        </p:txBody>
      </p:sp>
      <p:sp>
        <p:nvSpPr>
          <p:cNvPr id="130" name="step-07-operator-3"/>
          <p:cNvSpPr>
            <a:spLocks noGrp="1"/>
          </p:cNvSpPr>
          <p:nvPr/>
        </p:nvSpPr>
        <p:spPr>
          <a:xfrm>
            <a:off x="5657850" y="5378450"/>
            <a:ext cx="1028700" cy="361950"/>
          </a:xfrm>
          <a:prstGeom prst="roundRect">
            <a:avLst>
              <a:gd name="adj" fmla="val 15789"/>
            </a:avLst>
          </a:prstGeom>
          <a:solidFill>
            <a:srgbClr val="FFFFFF"/>
          </a:solidFill>
          <a:ln w="9525">
            <a:solidFill>
              <a:srgbClr val="4F8A83"/>
            </a:solidFill>
            <a:prstDash val="solid"/>
          </a:ln>
          <a:effectLst/>
        </p:spPr>
        <p:txBody>
          <a:bodyPr wrap="square" lIns="47625" tIns="19050" rIns="47625" bIns="19050" anchor="ctr">
            <a:normAutofit/>
          </a:bodyPr>
          <a:lstStyle/>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4F8A83"/>
                </a:solidFill>
                <a:latin typeface="Arial" panose="020B0604020202020204" pitchFamily="34" charset="0"/>
                <a:ea typeface="Microsoft YaHei" panose="020B0503020204020204" pitchFamily="34" charset="-122"/>
                <a:cs typeface="Calibri" panose="020F0502020204030204"/>
              </a:rPr>
              <a:t>MatMul</a:t>
            </a:r>
          </a:p>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4F8A83"/>
                </a:solidFill>
                <a:latin typeface="Arial" panose="020B0604020202020204" pitchFamily="34" charset="0"/>
                <a:ea typeface="Microsoft YaHei" panose="020B0503020204020204" pitchFamily="34" charset="-122"/>
                <a:cs typeface="Calibri" panose="020F0502020204030204"/>
              </a:rPr>
              <a:t>Compute + Tiling</a:t>
            </a:r>
          </a:p>
        </p:txBody>
      </p:sp>
      <p:sp>
        <p:nvSpPr>
          <p:cNvPr id="133" name="step-08-number"/>
          <p:cNvSpPr>
            <a:spLocks noGrp="1"/>
          </p:cNvSpPr>
          <p:nvPr/>
        </p:nvSpPr>
        <p:spPr>
          <a:xfrm>
            <a:off x="7067550" y="5054600"/>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08</a:t>
            </a:r>
          </a:p>
        </p:txBody>
      </p:sp>
      <p:sp>
        <p:nvSpPr>
          <p:cNvPr id="134" name="step-08-title"/>
          <p:cNvSpPr>
            <a:spLocks noGrp="1"/>
          </p:cNvSpPr>
          <p:nvPr/>
        </p:nvSpPr>
        <p:spPr>
          <a:xfrm>
            <a:off x="7486650" y="5035550"/>
            <a:ext cx="2000250" cy="190500"/>
          </a:xfrm>
          <a:prstGeom prst="rect">
            <a:avLst/>
          </a:prstGeom>
          <a:noFill/>
          <a:ln w="0">
            <a:noFill/>
            <a:prstDash val="solid"/>
          </a:ln>
          <a:effectLst/>
        </p:spPr>
        <p:txBody>
          <a:bodyPr wrap="square" lIns="0" tIns="0" rIns="0" bIns="0" anchor="ctr">
            <a:normAutofit/>
          </a:bodyPr>
          <a:lstStyle/>
          <a:p>
            <a:pPr algn="l">
              <a:defRPr sz="1125" b="1">
                <a:solidFill>
                  <a:srgbClr val="14855C"/>
                </a:solidFill>
                <a:latin typeface="微软雅黑" panose="020B0503020204020204" charset="-122"/>
                <a:ea typeface="微软雅黑" panose="020B0503020204020204" charset="-122"/>
                <a:cs typeface="微软雅黑" panose="020B0503020204020204" charset="-122"/>
              </a:defRPr>
            </a:pPr>
            <a:r>
              <a:rPr sz="1125" b="1">
                <a:solidFill>
                  <a:srgbClr val="4F8A83"/>
                </a:solidFill>
                <a:latin typeface="Arial" panose="020B0604020202020204" pitchFamily="34" charset="0"/>
                <a:ea typeface="Microsoft YaHei" panose="020B0503020204020204" pitchFamily="34" charset="-122"/>
                <a:cs typeface="微软雅黑" panose="020B0503020204020204" charset="-122"/>
              </a:rPr>
              <a:t>Feedback &amp; Iterate</a:t>
            </a:r>
          </a:p>
        </p:txBody>
      </p:sp>
      <p:sp>
        <p:nvSpPr>
          <p:cNvPr id="135" name="step-08-subtitle"/>
          <p:cNvSpPr>
            <a:spLocks noGrp="1"/>
          </p:cNvSpPr>
          <p:nvPr/>
        </p:nvSpPr>
        <p:spPr>
          <a:xfrm>
            <a:off x="7486650" y="5226050"/>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F3A45"/>
                </a:solidFill>
                <a:latin typeface="Arial" panose="020B0604020202020204" pitchFamily="34" charset="0"/>
                <a:ea typeface="Microsoft YaHei" panose="020B0503020204020204" pitchFamily="34" charset="-122"/>
                <a:cs typeface="微软雅黑" panose="020B0503020204020204" charset="-122"/>
              </a:rPr>
              <a:t>分类反馈并迭代</a:t>
            </a:r>
          </a:p>
        </p:txBody>
      </p:sp>
      <p:sp>
        <p:nvSpPr>
          <p:cNvPr id="136" name="step-08-branch-1"/>
          <p:cNvSpPr>
            <a:spLocks noGrp="1"/>
          </p:cNvSpPr>
          <p:nvPr/>
        </p:nvSpPr>
        <p:spPr>
          <a:xfrm>
            <a:off x="7496175" y="5378450"/>
            <a:ext cx="1009650" cy="381000"/>
          </a:xfrm>
          <a:prstGeom prst="roundRect">
            <a:avLst>
              <a:gd name="adj" fmla="val 15000"/>
            </a:avLst>
          </a:prstGeom>
          <a:solidFill>
            <a:srgbClr val="F6ECE6"/>
          </a:solidFill>
          <a:ln w="9525">
            <a:solidFill>
              <a:srgbClr val="C77C59"/>
            </a:solidFill>
            <a:prstDash val="solid"/>
          </a:ln>
          <a:effectLst/>
        </p:spPr>
        <p:txBody>
          <a:bodyPr wrap="square" lIns="47625" tIns="19050" rIns="47625" bIns="19050" anchor="ctr">
            <a:normAutofit/>
          </a:bodyPr>
          <a:lstStyle/>
          <a:p>
            <a:pPr algn="ctr">
              <a:lnSpc>
                <a:spcPct val="95000"/>
              </a:lnSpc>
              <a:buNone/>
              <a:defRPr sz="690" b="1">
                <a:solidFill>
                  <a:srgbClr val="E97132"/>
                </a:solidFill>
                <a:latin typeface="微软雅黑" panose="020B0503020204020204" charset="-122"/>
                <a:ea typeface="微软雅黑" panose="020B0503020204020204" charset="-122"/>
                <a:cs typeface="微软雅黑" panose="020B0503020204020204" charset="-122"/>
              </a:defRPr>
            </a:pPr>
            <a:r>
              <a:rPr sz="690" b="1">
                <a:solidFill>
                  <a:srgbClr val="C77C59"/>
                </a:solidFill>
                <a:latin typeface="Arial" panose="020B0604020202020204" pitchFamily="34" charset="0"/>
                <a:ea typeface="Microsoft YaHei" panose="020B0503020204020204" pitchFamily="34" charset="-122"/>
                <a:cs typeface="微软雅黑" panose="020B0503020204020204" charset="-122"/>
              </a:rPr>
              <a:t>平台事实偏差</a:t>
            </a:r>
          </a:p>
          <a:p>
            <a:pPr algn="ctr">
              <a:lnSpc>
                <a:spcPct val="95000"/>
              </a:lnSpc>
              <a:buNone/>
              <a:defRPr sz="690" b="1">
                <a:solidFill>
                  <a:srgbClr val="E97132"/>
                </a:solidFill>
                <a:latin typeface="微软雅黑" panose="020B0503020204020204" charset="-122"/>
                <a:ea typeface="微软雅黑" panose="020B0503020204020204" charset="-122"/>
                <a:cs typeface="微软雅黑" panose="020B0503020204020204" charset="-122"/>
              </a:defRPr>
            </a:pPr>
            <a:r>
              <a:rPr sz="690" b="1">
                <a:solidFill>
                  <a:srgbClr val="C77C59"/>
                </a:solidFill>
                <a:latin typeface="Arial" panose="020B0604020202020204" pitchFamily="34" charset="0"/>
                <a:ea typeface="Microsoft YaHei" panose="020B0503020204020204" pitchFamily="34" charset="-122"/>
                <a:cs typeface="微软雅黑" panose="020B0503020204020204" charset="-122"/>
              </a:rPr>
              <a:t>→ Update Knowledge</a:t>
            </a:r>
          </a:p>
        </p:txBody>
      </p:sp>
      <p:sp>
        <p:nvSpPr>
          <p:cNvPr id="137" name="step-08-branch-2"/>
          <p:cNvSpPr>
            <a:spLocks noGrp="1"/>
          </p:cNvSpPr>
          <p:nvPr/>
        </p:nvSpPr>
        <p:spPr>
          <a:xfrm>
            <a:off x="8572500" y="5378450"/>
            <a:ext cx="1009650" cy="381000"/>
          </a:xfrm>
          <a:prstGeom prst="roundRect">
            <a:avLst>
              <a:gd name="adj" fmla="val 15000"/>
            </a:avLst>
          </a:prstGeom>
          <a:solidFill>
            <a:srgbClr val="F6ECE6"/>
          </a:solidFill>
          <a:ln w="9525">
            <a:solidFill>
              <a:srgbClr val="C77C59"/>
            </a:solidFill>
            <a:prstDash val="solid"/>
          </a:ln>
          <a:effectLst/>
        </p:spPr>
        <p:txBody>
          <a:bodyPr wrap="square" lIns="47625" tIns="19050" rIns="47625" bIns="19050" anchor="ctr">
            <a:normAutofit/>
          </a:bodyPr>
          <a:lstStyle/>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Arial" panose="020B0604020202020204" pitchFamily="34" charset="0"/>
                <a:ea typeface="Microsoft YaHei" panose="020B0503020204020204" pitchFamily="34" charset="-122"/>
                <a:cs typeface="微软雅黑" panose="020B0503020204020204" charset="-122"/>
              </a:rPr>
              <a:t>优化策略失效</a:t>
            </a:r>
          </a:p>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Arial" panose="020B0604020202020204" pitchFamily="34" charset="0"/>
                <a:ea typeface="Microsoft YaHei" panose="020B0503020204020204" pitchFamily="34" charset="-122"/>
                <a:cs typeface="微软雅黑" panose="020B0503020204020204" charset="-122"/>
              </a:rPr>
              <a:t>→ Update Rules</a:t>
            </a:r>
          </a:p>
        </p:txBody>
      </p:sp>
      <p:sp>
        <p:nvSpPr>
          <p:cNvPr id="138" name="step-08-branch-3"/>
          <p:cNvSpPr>
            <a:spLocks noGrp="1"/>
          </p:cNvSpPr>
          <p:nvPr/>
        </p:nvSpPr>
        <p:spPr>
          <a:xfrm>
            <a:off x="9648825" y="5378450"/>
            <a:ext cx="1009650" cy="381000"/>
          </a:xfrm>
          <a:prstGeom prst="roundRect">
            <a:avLst>
              <a:gd name="adj" fmla="val 15000"/>
            </a:avLst>
          </a:prstGeom>
          <a:solidFill>
            <a:srgbClr val="F6ECE6"/>
          </a:solidFill>
          <a:ln w="9525">
            <a:solidFill>
              <a:srgbClr val="C77C59"/>
            </a:solidFill>
            <a:prstDash val="solid"/>
          </a:ln>
          <a:effectLst/>
        </p:spPr>
        <p:txBody>
          <a:bodyPr wrap="square" lIns="47625" tIns="19050" rIns="47625" bIns="19050" anchor="ctr">
            <a:normAutofit/>
          </a:bodyPr>
          <a:lstStyle/>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Arial" panose="020B0604020202020204" pitchFamily="34" charset="0"/>
                <a:ea typeface="Microsoft YaHei" panose="020B0503020204020204" pitchFamily="34" charset="-122"/>
                <a:cs typeface="微软雅黑" panose="020B0503020204020204" charset="-122"/>
              </a:rPr>
              <a:t>流程 / 契约不足</a:t>
            </a:r>
          </a:p>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Arial" panose="020B0604020202020204" pitchFamily="34" charset="0"/>
                <a:ea typeface="Microsoft YaHei" panose="020B0503020204020204" pitchFamily="34" charset="-122"/>
                <a:cs typeface="微软雅黑" panose="020B0503020204020204" charset="-122"/>
              </a:rPr>
              <a:t>→ Adjust Workflow</a:t>
            </a:r>
          </a:p>
        </p:txBody>
      </p:sp>
      <p:cxnSp>
        <p:nvCxnSpPr>
          <p:cNvPr id="291" name="phase-a-to-b"/>
          <p:cNvCxnSpPr/>
          <p:nvPr/>
        </p:nvCxnSpPr>
        <p:spPr>
          <a:xfrm>
            <a:off x="6096000" y="2844800"/>
            <a:ext cx="0" cy="47625"/>
          </a:xfrm>
          <a:prstGeom prst="straightConnector1">
            <a:avLst/>
          </a:prstGeom>
          <a:ln w="11430">
            <a:solidFill>
              <a:srgbClr val="294A6D"/>
            </a:solidFill>
            <a:prstDash val="solid"/>
            <a:tailEnd type="triangle" w="sm" len="sm"/>
          </a:ln>
          <a:effectLst/>
        </p:spPr>
      </p:cxnSp>
      <p:cxnSp>
        <p:nvCxnSpPr>
          <p:cNvPr id="292" name="phase-b-to-c"/>
          <p:cNvCxnSpPr/>
          <p:nvPr/>
        </p:nvCxnSpPr>
        <p:spPr>
          <a:xfrm>
            <a:off x="6096000" y="3863975"/>
            <a:ext cx="0" cy="47625"/>
          </a:xfrm>
          <a:prstGeom prst="straightConnector1">
            <a:avLst/>
          </a:prstGeom>
          <a:ln w="11430">
            <a:solidFill>
              <a:srgbClr val="4F8A83"/>
            </a:solidFill>
            <a:prstDash val="solid"/>
            <a:tailEnd type="triangle" w="sm" len="sm"/>
          </a:ln>
          <a:effectLst/>
        </p:spPr>
      </p:cxnSp>
      <p:cxnSp>
        <p:nvCxnSpPr>
          <p:cNvPr id="293" name="phase-c-to-d"/>
          <p:cNvCxnSpPr/>
          <p:nvPr/>
        </p:nvCxnSpPr>
        <p:spPr>
          <a:xfrm>
            <a:off x="6096000" y="4911725"/>
            <a:ext cx="0" cy="47625"/>
          </a:xfrm>
          <a:prstGeom prst="straightConnector1">
            <a:avLst/>
          </a:prstGeom>
          <a:ln w="11430">
            <a:solidFill>
              <a:srgbClr val="4F8A83"/>
            </a:solidFill>
            <a:prstDash val="solid"/>
            <a:tailEnd type="triangle" w="sm" len="sm"/>
          </a:ln>
          <a:effectLst/>
        </p:spPr>
      </p:cxnSp>
      <p:sp>
        <p:nvSpPr>
          <p:cNvPr id="3"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a:solidFill>
                  <a:srgbClr val="66737F"/>
                </a:solidFill>
                <a:latin typeface="Arial" panose="020B0604020202020204" pitchFamily="34" charset="0"/>
                <a:ea typeface="Microsoft YaHei" panose="020B0503020204020204" pitchFamily="34" charset="-122"/>
                <a:cs typeface="微软雅黑" panose="020B0503020204020204" charset="-122"/>
              </a:rPr>
              <a:t>8</a:t>
            </a:r>
          </a:p>
        </p:txBody>
      </p:sp>
      <p:sp>
        <p:nvSpPr>
          <p:cNvPr id="103"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3.2</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04"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9-title"/>
          <p:cNvSpPr>
            <a:spLocks noGrp="1"/>
          </p:cNvSpPr>
          <p:nvPr/>
        </p:nvSpPr>
        <p:spPr>
          <a:xfrm>
            <a:off x="696912" y="289560"/>
            <a:ext cx="5635625" cy="37338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fontScale="95000" lnSpcReduction="10000"/>
          </a:bodyPr>
          <a:lstStyle/>
          <a:p>
            <a:pPr algn="ctr">
              <a:buNone/>
              <a:defRPr sz="2700" b="1">
                <a:solidFill>
                  <a:srgbClr val="072A67"/>
                </a:solidFill>
                <a:latin typeface="微软雅黑" panose="020B0503020204020204" charset="-122"/>
                <a:ea typeface="微软雅黑" panose="020B0503020204020204" charset="-122"/>
                <a:cs typeface="微软雅黑" panose="020B0503020204020204" charset="-122"/>
              </a:defRPr>
            </a:pPr>
            <a:r>
              <a:rPr b="1" dirty="0" err="1">
                <a:solidFill>
                  <a:srgbClr val="243B53"/>
                </a:solidFill>
                <a:latin typeface="Times New Roman" panose="02020603050405020304" pitchFamily="18" charset="0"/>
                <a:ea typeface="微软雅黑" panose="020B0503020204020204" pitchFamily="34" charset="-122"/>
                <a:cs typeface="Times New Roman" panose="02020603050405020304" pitchFamily="18" charset="0"/>
              </a:rPr>
              <a:t>当前四个平台的算子</a:t>
            </a:r>
            <a:r>
              <a:rPr b="1" dirty="0">
                <a:solidFill>
                  <a:srgbClr val="243B53"/>
                </a:solidFill>
                <a:latin typeface="Times New Roman" panose="02020603050405020304" pitchFamily="18" charset="0"/>
                <a:ea typeface="微软雅黑" panose="020B0503020204020204" pitchFamily="34" charset="-122"/>
                <a:cs typeface="Times New Roman" panose="02020603050405020304" pitchFamily="18" charset="0"/>
              </a:rPr>
              <a:t> </a:t>
            </a:r>
            <a:r>
              <a:rPr b="1" dirty="0" err="1">
                <a:solidFill>
                  <a:srgbClr val="243B53"/>
                </a:solidFill>
                <a:latin typeface="Times New Roman" panose="02020603050405020304" pitchFamily="18" charset="0"/>
                <a:ea typeface="微软雅黑" panose="020B0503020204020204" pitchFamily="34" charset="-122"/>
                <a:cs typeface="Times New Roman" panose="02020603050405020304" pitchFamily="18" charset="0"/>
              </a:rPr>
              <a:t>Skill开发情况</a:t>
            </a:r>
            <a:endParaRPr b="1" dirty="0">
              <a:solidFill>
                <a:srgbClr val="243B5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takeaway_band_background"/>
          <p:cNvSpPr>
            <a:spLocks noGrp="1"/>
          </p:cNvSpPr>
          <p:nvPr/>
        </p:nvSpPr>
        <p:spPr>
          <a:xfrm>
            <a:off x="152400" y="6076950"/>
            <a:ext cx="11887200" cy="361950"/>
          </a:xfrm>
          <a:prstGeom prst="rect">
            <a:avLst/>
          </a:prstGeom>
          <a:solidFill>
            <a:srgbClr val="EEF2F5"/>
          </a:solidFill>
          <a:ln w="7620">
            <a:solidFill>
              <a:srgbClr val="D6DEE6"/>
            </a:solidFill>
            <a:prstDash val="solid"/>
          </a:ln>
          <a:effectLst/>
        </p:spPr>
        <p:txBody>
          <a:bodyPr wrap="square" lIns="0" tIns="0" rIns="0" bIns="0" anchor="ctr">
            <a:normAutofit/>
          </a:bodyPr>
          <a:lstStyle/>
          <a:p>
            <a:endParaRPr>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takeaway_1_badge"/>
          <p:cNvSpPr>
            <a:spLocks noGrp="1"/>
          </p:cNvSpPr>
          <p:nvPr/>
        </p:nvSpPr>
        <p:spPr>
          <a:xfrm>
            <a:off x="1304925" y="6153150"/>
            <a:ext cx="228600" cy="228600"/>
          </a:xfrm>
          <a:prstGeom prst="roundRect">
            <a:avLst>
              <a:gd name="adj" fmla="val 50000"/>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buNone/>
              <a:defRPr sz="975" b="1">
                <a:solidFill>
                  <a:srgbClr val="FFFFFF"/>
                </a:solidFill>
                <a:latin typeface="微软雅黑" panose="020B0503020204020204" charset="-122"/>
                <a:ea typeface="微软雅黑" panose="020B0503020204020204" charset="-122"/>
                <a:cs typeface="微软雅黑" panose="020B0503020204020204" charset="-122"/>
              </a:defRPr>
            </a:pPr>
            <a:r>
              <a:rPr lang="en-US" sz="975" b="1"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1</a:t>
            </a:r>
            <a:endParaRPr sz="975" b="1"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takeaway_1_text"/>
          <p:cNvSpPr>
            <a:spLocks noGrp="1"/>
          </p:cNvSpPr>
          <p:nvPr/>
        </p:nvSpPr>
        <p:spPr>
          <a:xfrm>
            <a:off x="1619250" y="6124575"/>
            <a:ext cx="2952750" cy="276225"/>
          </a:xfrm>
          <a:prstGeom prst="rect">
            <a:avLst/>
          </a:prstGeom>
          <a:noFill/>
          <a:ln w="0">
            <a:noFill/>
            <a:prstDash val="solid"/>
          </a:ln>
          <a:effectLst/>
        </p:spPr>
        <p:txBody>
          <a:bodyPr wrap="square" lIns="0" tIns="0" rIns="0" bIns="0" anchor="ctr">
            <a:normAutofit/>
          </a:bodyPr>
          <a:lstStyle/>
          <a:p>
            <a:pPr algn="l">
              <a:buNone/>
              <a:defRPr sz="1165" b="1">
                <a:solidFill>
                  <a:srgbClr val="123376"/>
                </a:solidFill>
                <a:latin typeface="微软雅黑" panose="020B0503020204020204" charset="-122"/>
                <a:ea typeface="微软雅黑" panose="020B0503020204020204" charset="-122"/>
                <a:cs typeface="微软雅黑" panose="020B0503020204020204" charset="-122"/>
              </a:defRPr>
            </a:pPr>
            <a:r>
              <a:rPr sz="11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MLU Triton 是当前方法的实践起点</a:t>
            </a:r>
          </a:p>
        </p:txBody>
      </p:sp>
      <p:sp>
        <p:nvSpPr>
          <p:cNvPr id="11" name="takeaway_2_badge"/>
          <p:cNvSpPr>
            <a:spLocks noGrp="1"/>
          </p:cNvSpPr>
          <p:nvPr/>
        </p:nvSpPr>
        <p:spPr>
          <a:xfrm>
            <a:off x="4695825" y="6153150"/>
            <a:ext cx="228600" cy="228600"/>
          </a:xfrm>
          <a:prstGeom prst="roundRect">
            <a:avLst>
              <a:gd name="adj" fmla="val 50000"/>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2</a:t>
            </a:r>
          </a:p>
        </p:txBody>
      </p:sp>
      <p:sp>
        <p:nvSpPr>
          <p:cNvPr id="12" name="takeaway_2_text"/>
          <p:cNvSpPr>
            <a:spLocks noGrp="1"/>
          </p:cNvSpPr>
          <p:nvPr/>
        </p:nvSpPr>
        <p:spPr>
          <a:xfrm>
            <a:off x="5019675" y="6124575"/>
            <a:ext cx="3095625" cy="276225"/>
          </a:xfrm>
          <a:prstGeom prst="rect">
            <a:avLst/>
          </a:prstGeom>
          <a:noFill/>
          <a:ln w="0">
            <a:noFill/>
            <a:prstDash val="solid"/>
          </a:ln>
          <a:effectLst/>
        </p:spPr>
        <p:txBody>
          <a:bodyPr wrap="square" lIns="0" tIns="0" rIns="0" bIns="0" anchor="ctr">
            <a:normAutofit/>
          </a:bodyPr>
          <a:lstStyle/>
          <a:p>
            <a:pPr algn="l">
              <a:buNone/>
              <a:defRPr sz="1165" b="1">
                <a:solidFill>
                  <a:srgbClr val="123376"/>
                </a:solidFill>
                <a:latin typeface="微软雅黑" panose="020B0503020204020204" charset="-122"/>
                <a:ea typeface="微软雅黑" panose="020B0503020204020204" charset="-122"/>
                <a:cs typeface="微软雅黑" panose="020B0503020204020204" charset="-122"/>
              </a:defRPr>
            </a:pPr>
            <a:r>
              <a:rPr sz="11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平台差异主要体现在平台知识成熟度</a:t>
            </a:r>
          </a:p>
        </p:txBody>
      </p:sp>
      <p:sp>
        <p:nvSpPr>
          <p:cNvPr id="13" name="takeaway_3_badge"/>
          <p:cNvSpPr>
            <a:spLocks noGrp="1"/>
          </p:cNvSpPr>
          <p:nvPr/>
        </p:nvSpPr>
        <p:spPr>
          <a:xfrm>
            <a:off x="8201025" y="6153150"/>
            <a:ext cx="228600" cy="228600"/>
          </a:xfrm>
          <a:prstGeom prst="roundRect">
            <a:avLst>
              <a:gd name="adj" fmla="val 50000"/>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3</a:t>
            </a:r>
          </a:p>
        </p:txBody>
      </p:sp>
      <p:sp>
        <p:nvSpPr>
          <p:cNvPr id="14" name="takeaway_3_text"/>
          <p:cNvSpPr>
            <a:spLocks noGrp="1"/>
          </p:cNvSpPr>
          <p:nvPr/>
        </p:nvSpPr>
        <p:spPr>
          <a:xfrm>
            <a:off x="8524875" y="6124575"/>
            <a:ext cx="2619375" cy="276225"/>
          </a:xfrm>
          <a:prstGeom prst="rect">
            <a:avLst/>
          </a:prstGeom>
          <a:noFill/>
          <a:ln w="0">
            <a:noFill/>
            <a:prstDash val="solid"/>
          </a:ln>
          <a:effectLst/>
        </p:spPr>
        <p:txBody>
          <a:bodyPr wrap="square" lIns="0" tIns="0" rIns="0" bIns="0" anchor="ctr">
            <a:normAutofit/>
          </a:bodyPr>
          <a:lstStyle/>
          <a:p>
            <a:pPr algn="l">
              <a:buNone/>
              <a:defRPr sz="1165" b="1">
                <a:solidFill>
                  <a:srgbClr val="123376"/>
                </a:solidFill>
                <a:latin typeface="微软雅黑" panose="020B0503020204020204" charset="-122"/>
                <a:ea typeface="微软雅黑" panose="020B0503020204020204" charset="-122"/>
                <a:cs typeface="微软雅黑" panose="020B0503020204020204" charset="-122"/>
              </a:defRPr>
            </a:pPr>
            <a:r>
              <a:rPr sz="11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Skill 仍需多次算子开发验证</a:t>
            </a:r>
          </a:p>
        </p:txBody>
      </p:sp>
      <p:sp>
        <p:nvSpPr>
          <p:cNvPr id="15" name="slide-9-editable-footer"/>
          <p:cNvSpPr>
            <a:spLocks noGrp="1"/>
          </p:cNvSpPr>
          <p:nvPr/>
        </p:nvSpPr>
        <p:spPr>
          <a:xfrm>
            <a:off x="152400" y="6467475"/>
            <a:ext cx="11887200" cy="323850"/>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810" b="1">
                <a:solidFill>
                  <a:srgbClr val="072A67"/>
                </a:solidFill>
                <a:latin typeface="微软雅黑" panose="020B0503020204020204" charset="-122"/>
                <a:ea typeface="微软雅黑" panose="020B0503020204020204" charset="-122"/>
                <a:cs typeface="微软雅黑" panose="020B0503020204020204" charset="-122"/>
              </a:defRPr>
            </a:pPr>
            <a:r>
              <a:rPr sz="120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四个平台已经处于不同成熟阶段：MLU Triton 已形成较完整闭环，BANG C 已跑通基础真机链路，CUDA 基础 Skill 已完成，GPU Triton 正在进行平台知识迁移与验证。</a:t>
            </a:r>
          </a:p>
        </p:txBody>
      </p:sp>
      <p:sp>
        <p:nvSpPr>
          <p:cNvPr id="17" name="s18-mlu-frame"/>
          <p:cNvSpPr>
            <a:spLocks noGrp="1"/>
          </p:cNvSpPr>
          <p:nvPr/>
        </p:nvSpPr>
        <p:spPr>
          <a:xfrm>
            <a:off x="95250" y="1122362"/>
            <a:ext cx="5743575" cy="2286000"/>
          </a:xfrm>
          <a:prstGeom prst="rect">
            <a:avLst/>
          </a:prstGeom>
          <a:solidFill>
            <a:srgbClr val="294A6D"/>
          </a:solidFill>
          <a:ln w="11430">
            <a:solidFill>
              <a:srgbClr val="D6DEE6"/>
            </a:solidFill>
            <a:prstDash val="solid"/>
          </a:ln>
          <a:effectLst/>
        </p:spPr>
      </p:sp>
      <p:sp>
        <p:nvSpPr>
          <p:cNvPr id="18" name="s18-mlu-body-fill"/>
          <p:cNvSpPr>
            <a:spLocks noGrp="1"/>
          </p:cNvSpPr>
          <p:nvPr/>
        </p:nvSpPr>
        <p:spPr>
          <a:xfrm>
            <a:off x="104775" y="1693862"/>
            <a:ext cx="5724525" cy="1704975"/>
          </a:xfrm>
          <a:prstGeom prst="rect">
            <a:avLst/>
          </a:prstGeom>
          <a:solidFill>
            <a:srgbClr val="FFFFFF"/>
          </a:solidFill>
          <a:ln w="0">
            <a:solidFill>
              <a:srgbClr val="D6DEE6"/>
            </a:solidFill>
            <a:prstDash val="solid"/>
          </a:ln>
          <a:effectLst/>
        </p:spPr>
      </p:sp>
      <p:sp>
        <p:nvSpPr>
          <p:cNvPr id="19" name="s18-mlu-header-rule"/>
          <p:cNvSpPr>
            <a:spLocks noGrp="1"/>
          </p:cNvSpPr>
          <p:nvPr/>
        </p:nvSpPr>
        <p:spPr>
          <a:xfrm>
            <a:off x="104775" y="1684337"/>
            <a:ext cx="5724525" cy="9525"/>
          </a:xfrm>
          <a:prstGeom prst="rect">
            <a:avLst/>
          </a:prstGeom>
          <a:solidFill>
            <a:srgbClr val="5B7188"/>
          </a:solidFill>
          <a:ln w="0">
            <a:solidFill>
              <a:srgbClr val="294A6D"/>
            </a:solidFill>
            <a:prstDash val="solid"/>
          </a:ln>
          <a:effectLst/>
        </p:spPr>
      </p:sp>
      <p:sp>
        <p:nvSpPr>
          <p:cNvPr id="20" name="s18-mlu-title"/>
          <p:cNvSpPr>
            <a:spLocks noGrp="1"/>
          </p:cNvSpPr>
          <p:nvPr/>
        </p:nvSpPr>
        <p:spPr>
          <a:xfrm>
            <a:off x="142875" y="1271904"/>
            <a:ext cx="5591175" cy="295275"/>
          </a:xfrm>
          <a:prstGeom prst="rect">
            <a:avLst/>
          </a:prstGeom>
          <a:noFill/>
          <a:ln w="0">
            <a:noFill/>
            <a:prstDash val="solid"/>
          </a:ln>
          <a:effectLst/>
        </p:spPr>
        <p:txBody>
          <a:bodyPr wrap="square" lIns="0" tIns="0" rIns="0" bIns="0" anchor="ctr">
            <a:normAutofit fontScale="99359"/>
          </a:bodyPr>
          <a:lstStyle/>
          <a:p>
            <a:pPr algn="ctr">
              <a:defRPr sz="1950" b="1">
                <a:solidFill>
                  <a:srgbClr val="FFFFFF"/>
                </a:solidFill>
                <a:latin typeface="Calibri" panose="020F0502020204030204"/>
                <a:ea typeface="Calibri" panose="020F0502020204030204"/>
                <a:cs typeface="Calibri" panose="020F0502020204030204"/>
              </a:defRPr>
            </a:pPr>
            <a:r>
              <a:rPr sz="195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MLU Triton</a:t>
            </a:r>
          </a:p>
        </p:txBody>
      </p:sp>
      <p:sp>
        <p:nvSpPr>
          <p:cNvPr id="22" name="s18-mlu-divider-1"/>
          <p:cNvSpPr>
            <a:spLocks noGrp="1"/>
          </p:cNvSpPr>
          <p:nvPr/>
        </p:nvSpPr>
        <p:spPr>
          <a:xfrm>
            <a:off x="1247775" y="1760537"/>
            <a:ext cx="9525" cy="1562100"/>
          </a:xfrm>
          <a:prstGeom prst="rect">
            <a:avLst/>
          </a:prstGeom>
          <a:solidFill>
            <a:srgbClr val="EEF2F5"/>
          </a:solidFill>
          <a:ln w="0">
            <a:solidFill>
              <a:srgbClr val="D6DEE6"/>
            </a:solidFill>
            <a:prstDash val="solid"/>
          </a:ln>
          <a:effectLst/>
        </p:spPr>
      </p:sp>
      <p:sp>
        <p:nvSpPr>
          <p:cNvPr id="23" name="s18-mlu-divider-2"/>
          <p:cNvSpPr>
            <a:spLocks noGrp="1"/>
          </p:cNvSpPr>
          <p:nvPr/>
        </p:nvSpPr>
        <p:spPr>
          <a:xfrm>
            <a:off x="3276600" y="1760537"/>
            <a:ext cx="9525" cy="1562100"/>
          </a:xfrm>
          <a:prstGeom prst="rect">
            <a:avLst/>
          </a:prstGeom>
          <a:solidFill>
            <a:srgbClr val="EEF2F5"/>
          </a:solidFill>
          <a:ln w="0">
            <a:solidFill>
              <a:srgbClr val="D6DEE6"/>
            </a:solidFill>
            <a:prstDash val="solid"/>
          </a:ln>
          <a:effectLst/>
        </p:spPr>
      </p:sp>
      <p:sp>
        <p:nvSpPr>
          <p:cNvPr id="24" name="s18-mlu-divider-3"/>
          <p:cNvSpPr>
            <a:spLocks noGrp="1"/>
          </p:cNvSpPr>
          <p:nvPr/>
        </p:nvSpPr>
        <p:spPr>
          <a:xfrm>
            <a:off x="4543425" y="1760537"/>
            <a:ext cx="9525" cy="1562100"/>
          </a:xfrm>
          <a:prstGeom prst="rect">
            <a:avLst/>
          </a:prstGeom>
          <a:solidFill>
            <a:srgbClr val="EEF2F5"/>
          </a:solidFill>
          <a:ln w="0">
            <a:solidFill>
              <a:srgbClr val="D6DEE6"/>
            </a:solidFill>
            <a:prstDash val="solid"/>
          </a:ln>
          <a:effectLst/>
        </p:spPr>
      </p:sp>
      <p:sp>
        <p:nvSpPr>
          <p:cNvPr id="25" name="s18-mlu-c1-number"/>
          <p:cNvSpPr>
            <a:spLocks noGrp="1"/>
          </p:cNvSpPr>
          <p:nvPr/>
        </p:nvSpPr>
        <p:spPr>
          <a:xfrm>
            <a:off x="19050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1</a:t>
            </a:r>
          </a:p>
        </p:txBody>
      </p:sp>
      <p:sp>
        <p:nvSpPr>
          <p:cNvPr id="26" name="s18-mlu-c1-title"/>
          <p:cNvSpPr>
            <a:spLocks noGrp="1"/>
          </p:cNvSpPr>
          <p:nvPr/>
        </p:nvSpPr>
        <p:spPr>
          <a:xfrm>
            <a:off x="438150" y="1751012"/>
            <a:ext cx="7620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当前阶段</a:t>
            </a:r>
          </a:p>
        </p:txBody>
      </p:sp>
      <p:sp>
        <p:nvSpPr>
          <p:cNvPr id="27" name="s18-mlu-c2-number"/>
          <p:cNvSpPr>
            <a:spLocks noGrp="1"/>
          </p:cNvSpPr>
          <p:nvPr/>
        </p:nvSpPr>
        <p:spPr>
          <a:xfrm>
            <a:off x="133350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2</a:t>
            </a:r>
          </a:p>
        </p:txBody>
      </p:sp>
      <p:sp>
        <p:nvSpPr>
          <p:cNvPr id="28" name="s18-mlu-c2-title"/>
          <p:cNvSpPr>
            <a:spLocks noGrp="1"/>
          </p:cNvSpPr>
          <p:nvPr/>
        </p:nvSpPr>
        <p:spPr>
          <a:xfrm>
            <a:off x="1581150" y="1751012"/>
            <a:ext cx="16192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已完成</a:t>
            </a:r>
          </a:p>
        </p:txBody>
      </p:sp>
      <p:sp>
        <p:nvSpPr>
          <p:cNvPr id="29" name="s18-mlu-c3-number"/>
          <p:cNvSpPr>
            <a:spLocks noGrp="1"/>
          </p:cNvSpPr>
          <p:nvPr/>
        </p:nvSpPr>
        <p:spPr>
          <a:xfrm>
            <a:off x="337185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3</a:t>
            </a:r>
          </a:p>
        </p:txBody>
      </p:sp>
      <p:sp>
        <p:nvSpPr>
          <p:cNvPr id="30" name="s18-mlu-c3-title"/>
          <p:cNvSpPr>
            <a:spLocks noGrp="1"/>
          </p:cNvSpPr>
          <p:nvPr/>
        </p:nvSpPr>
        <p:spPr>
          <a:xfrm>
            <a:off x="3619500" y="1751012"/>
            <a:ext cx="8572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验证程度</a:t>
            </a:r>
          </a:p>
        </p:txBody>
      </p:sp>
      <p:sp>
        <p:nvSpPr>
          <p:cNvPr id="31" name="s18-mlu-c4-number"/>
          <p:cNvSpPr>
            <a:spLocks noGrp="1"/>
          </p:cNvSpPr>
          <p:nvPr/>
        </p:nvSpPr>
        <p:spPr>
          <a:xfrm>
            <a:off x="4638675"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4</a:t>
            </a:r>
          </a:p>
        </p:txBody>
      </p:sp>
      <p:sp>
        <p:nvSpPr>
          <p:cNvPr id="32" name="s18-mlu-c4-title"/>
          <p:cNvSpPr>
            <a:spLocks noGrp="1"/>
          </p:cNvSpPr>
          <p:nvPr/>
        </p:nvSpPr>
        <p:spPr>
          <a:xfrm>
            <a:off x="4886325" y="1751012"/>
            <a:ext cx="8191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下一步</a:t>
            </a:r>
          </a:p>
        </p:txBody>
      </p:sp>
      <p:sp>
        <p:nvSpPr>
          <p:cNvPr id="33" name="s18-mlu-stage"/>
          <p:cNvSpPr>
            <a:spLocks noGrp="1"/>
          </p:cNvSpPr>
          <p:nvPr/>
        </p:nvSpPr>
        <p:spPr>
          <a:xfrm>
            <a:off x="190500" y="2036762"/>
            <a:ext cx="971550" cy="400050"/>
          </a:xfrm>
          <a:prstGeom prst="rect">
            <a:avLst/>
          </a:prstGeom>
          <a:noFill/>
          <a:ln w="0">
            <a:noFill/>
            <a:prstDash val="solid"/>
          </a:ln>
          <a:effectLst/>
        </p:spPr>
        <p:txBody>
          <a:bodyPr wrap="square" lIns="0" tIns="19050" rIns="0" bIns="0" anchor="t">
            <a:normAutofit/>
          </a:bodyPr>
          <a:lstStyle/>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dirty="0" err="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完成基础闭环验证</a:t>
            </a:r>
            <a:endParaRPr sz="865" b="1" dirty="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4" name="s18-mlu-done-1-symbol"/>
          <p:cNvSpPr>
            <a:spLocks noGrp="1"/>
          </p:cNvSpPr>
          <p:nvPr/>
        </p:nvSpPr>
        <p:spPr>
          <a:xfrm>
            <a:off x="1352550" y="20177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35" name="s18-mlu-done-1-text"/>
          <p:cNvSpPr>
            <a:spLocks noGrp="1"/>
          </p:cNvSpPr>
          <p:nvPr/>
        </p:nvSpPr>
        <p:spPr>
          <a:xfrm>
            <a:off x="1514475" y="2017712"/>
            <a:ext cx="1724025" cy="190500"/>
          </a:xfrm>
          <a:prstGeom prst="rect">
            <a:avLst/>
          </a:prstGeom>
          <a:noFill/>
          <a:ln w="0">
            <a:noFill/>
            <a:prstDash val="solid"/>
          </a:ln>
          <a:effectLst/>
        </p:spPr>
        <p:txBody>
          <a:bodyPr wrap="square" lIns="0" tIns="0" rIns="0" bIns="0" anchor="ctr">
            <a:normAutofit fontScale="95917"/>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Main / Code-Gen / Review / Optimize</a:t>
            </a:r>
          </a:p>
        </p:txBody>
      </p:sp>
      <p:sp>
        <p:nvSpPr>
          <p:cNvPr id="36" name="s18-mlu-done-2-symbol"/>
          <p:cNvSpPr>
            <a:spLocks noGrp="1"/>
          </p:cNvSpPr>
          <p:nvPr/>
        </p:nvSpPr>
        <p:spPr>
          <a:xfrm>
            <a:off x="1352550" y="22463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37" name="s18-mlu-done-2-text"/>
          <p:cNvSpPr>
            <a:spLocks noGrp="1"/>
          </p:cNvSpPr>
          <p:nvPr/>
        </p:nvSpPr>
        <p:spPr>
          <a:xfrm>
            <a:off x="1514475" y="2246312"/>
            <a:ext cx="172402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平台知识与开发规则已积累</a:t>
            </a:r>
          </a:p>
        </p:txBody>
      </p:sp>
      <p:sp>
        <p:nvSpPr>
          <p:cNvPr id="38" name="s18-mlu-done-3-symbol"/>
          <p:cNvSpPr>
            <a:spLocks noGrp="1"/>
          </p:cNvSpPr>
          <p:nvPr/>
        </p:nvSpPr>
        <p:spPr>
          <a:xfrm>
            <a:off x="1352550" y="24749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39" name="s18-mlu-done-3-text"/>
          <p:cNvSpPr>
            <a:spLocks noGrp="1"/>
          </p:cNvSpPr>
          <p:nvPr/>
        </p:nvSpPr>
        <p:spPr>
          <a:xfrm>
            <a:off x="1514475" y="2474912"/>
            <a:ext cx="17240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已进行多类算子开发与优化实践</a:t>
            </a:r>
          </a:p>
        </p:txBody>
      </p:sp>
      <p:sp>
        <p:nvSpPr>
          <p:cNvPr id="40" name="s18-mlu-done-4-symbol"/>
          <p:cNvSpPr>
            <a:spLocks noGrp="1"/>
          </p:cNvSpPr>
          <p:nvPr/>
        </p:nvSpPr>
        <p:spPr>
          <a:xfrm>
            <a:off x="1352550" y="2703512"/>
            <a:ext cx="133350" cy="2095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1" name="s18-mlu-done-4-text"/>
          <p:cNvSpPr>
            <a:spLocks noGrp="1"/>
          </p:cNvSpPr>
          <p:nvPr/>
        </p:nvSpPr>
        <p:spPr>
          <a:xfrm>
            <a:off x="1514475" y="2703512"/>
            <a:ext cx="1724025" cy="209550"/>
          </a:xfrm>
          <a:prstGeom prst="rect">
            <a:avLst/>
          </a:prstGeom>
          <a:noFill/>
          <a:ln w="0">
            <a:noFill/>
            <a:prstDash val="solid"/>
          </a:ln>
          <a:effectLst/>
        </p:spPr>
        <p:txBody>
          <a:bodyPr wrap="square" lIns="0" tIns="0" rIns="0" bIns="0" anchor="ctr">
            <a:normAutofit fontScale="97500"/>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Benchmark / Profiling 能进入优化流程</a:t>
            </a:r>
          </a:p>
        </p:txBody>
      </p:sp>
      <p:sp>
        <p:nvSpPr>
          <p:cNvPr id="42" name="s18-mlu-validation-1-symbol"/>
          <p:cNvSpPr>
            <a:spLocks noGrp="1"/>
          </p:cNvSpPr>
          <p:nvPr/>
        </p:nvSpPr>
        <p:spPr>
          <a:xfrm>
            <a:off x="3381375" y="2008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3" name="s18-mlu-validation-1-text"/>
          <p:cNvSpPr>
            <a:spLocks noGrp="1"/>
          </p:cNvSpPr>
          <p:nvPr/>
        </p:nvSpPr>
        <p:spPr>
          <a:xfrm>
            <a:off x="3543300" y="20081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环境  ✓</a:t>
            </a:r>
          </a:p>
        </p:txBody>
      </p:sp>
      <p:sp>
        <p:nvSpPr>
          <p:cNvPr id="44" name="s18-mlu-validation-2-symbol"/>
          <p:cNvSpPr>
            <a:spLocks noGrp="1"/>
          </p:cNvSpPr>
          <p:nvPr/>
        </p:nvSpPr>
        <p:spPr>
          <a:xfrm>
            <a:off x="3381375" y="2198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5" name="s18-mlu-validation-2-text"/>
          <p:cNvSpPr>
            <a:spLocks noGrp="1"/>
          </p:cNvSpPr>
          <p:nvPr/>
        </p:nvSpPr>
        <p:spPr>
          <a:xfrm>
            <a:off x="3543300" y="21986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dirty="0" err="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代码生成</a:t>
            </a:r>
            <a:r>
              <a:rPr sz="795" b="1" dirty="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46" name="s18-mlu-validation-3-symbol"/>
          <p:cNvSpPr>
            <a:spLocks noGrp="1"/>
          </p:cNvSpPr>
          <p:nvPr/>
        </p:nvSpPr>
        <p:spPr>
          <a:xfrm>
            <a:off x="3381375" y="2389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7" name="s18-mlu-validation-3-text"/>
          <p:cNvSpPr>
            <a:spLocks noGrp="1"/>
          </p:cNvSpPr>
          <p:nvPr/>
        </p:nvSpPr>
        <p:spPr>
          <a:xfrm>
            <a:off x="3543300" y="23891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dirty="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Correctness  ✓</a:t>
            </a:r>
          </a:p>
        </p:txBody>
      </p:sp>
      <p:sp>
        <p:nvSpPr>
          <p:cNvPr id="48" name="s18-mlu-validation-4-symbol"/>
          <p:cNvSpPr>
            <a:spLocks noGrp="1"/>
          </p:cNvSpPr>
          <p:nvPr/>
        </p:nvSpPr>
        <p:spPr>
          <a:xfrm>
            <a:off x="3381375" y="2579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9" name="s18-mlu-validation-4-text"/>
          <p:cNvSpPr>
            <a:spLocks noGrp="1"/>
          </p:cNvSpPr>
          <p:nvPr/>
        </p:nvSpPr>
        <p:spPr>
          <a:xfrm>
            <a:off x="3543300" y="25796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Benchmark  ✓</a:t>
            </a:r>
          </a:p>
        </p:txBody>
      </p:sp>
      <p:sp>
        <p:nvSpPr>
          <p:cNvPr id="50" name="s18-mlu-validation-5-symbol"/>
          <p:cNvSpPr>
            <a:spLocks noGrp="1"/>
          </p:cNvSpPr>
          <p:nvPr/>
        </p:nvSpPr>
        <p:spPr>
          <a:xfrm>
            <a:off x="3381375" y="2770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51" name="s18-mlu-validation-5-text"/>
          <p:cNvSpPr>
            <a:spLocks noGrp="1"/>
          </p:cNvSpPr>
          <p:nvPr/>
        </p:nvSpPr>
        <p:spPr>
          <a:xfrm>
            <a:off x="3543300" y="27701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Optimize  ✓</a:t>
            </a:r>
          </a:p>
        </p:txBody>
      </p:sp>
      <p:sp>
        <p:nvSpPr>
          <p:cNvPr id="54" name="s18-mlu-next-1-symbol"/>
          <p:cNvSpPr>
            <a:spLocks noGrp="1"/>
          </p:cNvSpPr>
          <p:nvPr/>
        </p:nvSpPr>
        <p:spPr>
          <a:xfrm>
            <a:off x="4648200" y="2008187"/>
            <a:ext cx="133350" cy="35242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55" name="s18-mlu-next-1-text"/>
          <p:cNvSpPr>
            <a:spLocks noGrp="1"/>
          </p:cNvSpPr>
          <p:nvPr/>
        </p:nvSpPr>
        <p:spPr>
          <a:xfrm>
            <a:off x="4810125" y="2008187"/>
            <a:ext cx="895350" cy="352425"/>
          </a:xfrm>
          <a:prstGeom prst="rect">
            <a:avLst/>
          </a:prstGeom>
          <a:noFill/>
          <a:ln w="0">
            <a:noFill/>
            <a:prstDash val="solid"/>
          </a:ln>
          <a:effectLst/>
        </p:spPr>
        <p:txBody>
          <a:bodyPr wrap="square" lIns="0" tIns="0" rIns="0" bIns="0" anchor="ctr">
            <a:normAutofit fontScale="98825" lnSpcReduction="10000"/>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进一步整理</a:t>
            </a:r>
          </a:p>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Platform Knowledge</a:t>
            </a:r>
          </a:p>
        </p:txBody>
      </p:sp>
      <p:sp>
        <p:nvSpPr>
          <p:cNvPr id="56" name="s18-mlu-next-2-symbol"/>
          <p:cNvSpPr>
            <a:spLocks noGrp="1"/>
          </p:cNvSpPr>
          <p:nvPr/>
        </p:nvSpPr>
        <p:spPr>
          <a:xfrm>
            <a:off x="4648200" y="2408237"/>
            <a:ext cx="133350" cy="23812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57" name="s18-mlu-next-2-text"/>
          <p:cNvSpPr>
            <a:spLocks noGrp="1"/>
          </p:cNvSpPr>
          <p:nvPr/>
        </p:nvSpPr>
        <p:spPr>
          <a:xfrm>
            <a:off x="4810125" y="2408237"/>
            <a:ext cx="895350" cy="238125"/>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补齐复杂算子经验</a:t>
            </a:r>
          </a:p>
        </p:txBody>
      </p:sp>
      <p:sp>
        <p:nvSpPr>
          <p:cNvPr id="58" name="s18-mlu-next-3-symbol"/>
          <p:cNvSpPr>
            <a:spLocks noGrp="1"/>
          </p:cNvSpPr>
          <p:nvPr/>
        </p:nvSpPr>
        <p:spPr>
          <a:xfrm>
            <a:off x="4648200" y="2684462"/>
            <a:ext cx="133350" cy="4000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59" name="s18-mlu-next-3-text"/>
          <p:cNvSpPr>
            <a:spLocks noGrp="1"/>
          </p:cNvSpPr>
          <p:nvPr/>
        </p:nvSpPr>
        <p:spPr>
          <a:xfrm>
            <a:off x="4810125" y="2684462"/>
            <a:ext cx="895350" cy="400050"/>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统一不同算子的</a:t>
            </a:r>
          </a:p>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评估与归档方式</a:t>
            </a:r>
          </a:p>
        </p:txBody>
      </p:sp>
      <p:sp>
        <p:nvSpPr>
          <p:cNvPr id="60" name="s18-bang-frame"/>
          <p:cNvSpPr>
            <a:spLocks noGrp="1"/>
          </p:cNvSpPr>
          <p:nvPr/>
        </p:nvSpPr>
        <p:spPr>
          <a:xfrm>
            <a:off x="5943600" y="1122362"/>
            <a:ext cx="6038850" cy="2286000"/>
          </a:xfrm>
          <a:prstGeom prst="rect">
            <a:avLst/>
          </a:prstGeom>
          <a:solidFill>
            <a:srgbClr val="FFFFFF"/>
          </a:solidFill>
          <a:ln w="11430">
            <a:solidFill>
              <a:srgbClr val="D6DEE6"/>
            </a:solidFill>
            <a:prstDash val="solid"/>
          </a:ln>
          <a:effectLst/>
        </p:spPr>
      </p:sp>
      <p:sp>
        <p:nvSpPr>
          <p:cNvPr id="61" name="s18-bang-header-fill"/>
          <p:cNvSpPr>
            <a:spLocks noGrp="1"/>
          </p:cNvSpPr>
          <p:nvPr/>
        </p:nvSpPr>
        <p:spPr>
          <a:xfrm>
            <a:off x="5953125" y="1131887"/>
            <a:ext cx="6019800" cy="561975"/>
          </a:xfrm>
          <a:prstGeom prst="rect">
            <a:avLst/>
          </a:prstGeom>
          <a:solidFill>
            <a:srgbClr val="FFFFFF"/>
          </a:solidFill>
          <a:ln w="0">
            <a:solidFill>
              <a:srgbClr val="D6DEE6"/>
            </a:solidFill>
            <a:prstDash val="solid"/>
          </a:ln>
          <a:effectLst/>
        </p:spPr>
      </p:sp>
      <p:sp>
        <p:nvSpPr>
          <p:cNvPr id="62" name="s18-bang-body-fill"/>
          <p:cNvSpPr>
            <a:spLocks noGrp="1"/>
          </p:cNvSpPr>
          <p:nvPr/>
        </p:nvSpPr>
        <p:spPr>
          <a:xfrm>
            <a:off x="5953125" y="1693862"/>
            <a:ext cx="6019800" cy="1704975"/>
          </a:xfrm>
          <a:prstGeom prst="rect">
            <a:avLst/>
          </a:prstGeom>
          <a:solidFill>
            <a:srgbClr val="FFFFFF"/>
          </a:solidFill>
          <a:ln w="0">
            <a:solidFill>
              <a:srgbClr val="D6DEE6"/>
            </a:solidFill>
            <a:prstDash val="solid"/>
          </a:ln>
          <a:effectLst/>
        </p:spPr>
        <p:txBody>
          <a:bodyP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3" name="s18-bang-header-rule"/>
          <p:cNvSpPr>
            <a:spLocks noGrp="1"/>
          </p:cNvSpPr>
          <p:nvPr/>
        </p:nvSpPr>
        <p:spPr>
          <a:xfrm>
            <a:off x="5953125" y="1684337"/>
            <a:ext cx="6019800" cy="9525"/>
          </a:xfrm>
          <a:prstGeom prst="rect">
            <a:avLst/>
          </a:prstGeom>
          <a:solidFill>
            <a:srgbClr val="5B7188"/>
          </a:solidFill>
          <a:ln w="0">
            <a:solidFill>
              <a:srgbClr val="294A6D"/>
            </a:solidFill>
            <a:prstDash val="solid"/>
          </a:ln>
          <a:effectLst/>
        </p:spPr>
      </p:sp>
      <p:sp>
        <p:nvSpPr>
          <p:cNvPr id="64" name="s18-bang-title"/>
          <p:cNvSpPr>
            <a:spLocks noGrp="1"/>
          </p:cNvSpPr>
          <p:nvPr/>
        </p:nvSpPr>
        <p:spPr>
          <a:xfrm>
            <a:off x="6019800" y="1150937"/>
            <a:ext cx="5886450" cy="295275"/>
          </a:xfrm>
          <a:prstGeom prst="rect">
            <a:avLst/>
          </a:prstGeom>
          <a:noFill/>
          <a:ln w="0">
            <a:noFill/>
            <a:prstDash val="solid"/>
          </a:ln>
          <a:effectLst/>
        </p:spPr>
        <p:txBody>
          <a:bodyPr wrap="square" lIns="0" tIns="0" rIns="0" bIns="0" anchor="ctr">
            <a:normAutofit fontScale="99359"/>
          </a:bodyPr>
          <a:lstStyle/>
          <a:p>
            <a:pPr algn="ctr">
              <a:defRPr sz="1950" b="1">
                <a:solidFill>
                  <a:srgbClr val="1457C5"/>
                </a:solidFill>
                <a:latin typeface="Calibri" panose="020F0502020204030204"/>
                <a:ea typeface="Calibri" panose="020F0502020204030204"/>
                <a:cs typeface="Calibri" panose="020F0502020204030204"/>
              </a:defRPr>
            </a:pPr>
            <a:r>
              <a:rPr sz="195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BANG C</a:t>
            </a:r>
          </a:p>
        </p:txBody>
      </p:sp>
      <p:sp>
        <p:nvSpPr>
          <p:cNvPr id="66" name="s18-bang-divider-1"/>
          <p:cNvSpPr>
            <a:spLocks noGrp="1"/>
          </p:cNvSpPr>
          <p:nvPr/>
        </p:nvSpPr>
        <p:spPr>
          <a:xfrm>
            <a:off x="7181850" y="1760537"/>
            <a:ext cx="9525" cy="1562100"/>
          </a:xfrm>
          <a:prstGeom prst="rect">
            <a:avLst/>
          </a:prstGeom>
          <a:solidFill>
            <a:srgbClr val="EEF2F5"/>
          </a:solidFill>
          <a:ln w="0">
            <a:solidFill>
              <a:srgbClr val="D6DEE6"/>
            </a:solidFill>
            <a:prstDash val="solid"/>
          </a:ln>
          <a:effectLst/>
        </p:spPr>
      </p:sp>
      <p:sp>
        <p:nvSpPr>
          <p:cNvPr id="67" name="s18-bang-divider-2"/>
          <p:cNvSpPr>
            <a:spLocks noGrp="1"/>
          </p:cNvSpPr>
          <p:nvPr/>
        </p:nvSpPr>
        <p:spPr>
          <a:xfrm>
            <a:off x="8715375" y="1760537"/>
            <a:ext cx="9525" cy="1562100"/>
          </a:xfrm>
          <a:prstGeom prst="rect">
            <a:avLst/>
          </a:prstGeom>
          <a:solidFill>
            <a:srgbClr val="EEF2F5"/>
          </a:solidFill>
          <a:ln w="0">
            <a:solidFill>
              <a:srgbClr val="D6DEE6"/>
            </a:solidFill>
            <a:prstDash val="solid"/>
          </a:ln>
          <a:effectLst/>
        </p:spPr>
      </p:sp>
      <p:sp>
        <p:nvSpPr>
          <p:cNvPr id="68" name="s18-bang-divider-3"/>
          <p:cNvSpPr>
            <a:spLocks noGrp="1"/>
          </p:cNvSpPr>
          <p:nvPr/>
        </p:nvSpPr>
        <p:spPr>
          <a:xfrm>
            <a:off x="10782300" y="1760537"/>
            <a:ext cx="9525" cy="1562100"/>
          </a:xfrm>
          <a:prstGeom prst="rect">
            <a:avLst/>
          </a:prstGeom>
          <a:solidFill>
            <a:srgbClr val="EEF2F5"/>
          </a:solidFill>
          <a:ln w="0">
            <a:solidFill>
              <a:srgbClr val="D6DEE6"/>
            </a:solidFill>
            <a:prstDash val="solid"/>
          </a:ln>
          <a:effectLst/>
        </p:spPr>
      </p:sp>
      <p:sp>
        <p:nvSpPr>
          <p:cNvPr id="69" name="s18-bang-c1-number"/>
          <p:cNvSpPr>
            <a:spLocks noGrp="1"/>
          </p:cNvSpPr>
          <p:nvPr/>
        </p:nvSpPr>
        <p:spPr>
          <a:xfrm>
            <a:off x="603885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1</a:t>
            </a:r>
          </a:p>
        </p:txBody>
      </p:sp>
      <p:sp>
        <p:nvSpPr>
          <p:cNvPr id="70" name="s18-bang-c1-title"/>
          <p:cNvSpPr>
            <a:spLocks noGrp="1"/>
          </p:cNvSpPr>
          <p:nvPr/>
        </p:nvSpPr>
        <p:spPr>
          <a:xfrm>
            <a:off x="6286500" y="1751012"/>
            <a:ext cx="8382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当前阶段</a:t>
            </a:r>
          </a:p>
        </p:txBody>
      </p:sp>
      <p:sp>
        <p:nvSpPr>
          <p:cNvPr id="71" name="s18-bang-c2-number"/>
          <p:cNvSpPr>
            <a:spLocks noGrp="1"/>
          </p:cNvSpPr>
          <p:nvPr/>
        </p:nvSpPr>
        <p:spPr>
          <a:xfrm>
            <a:off x="727710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2</a:t>
            </a:r>
          </a:p>
        </p:txBody>
      </p:sp>
      <p:sp>
        <p:nvSpPr>
          <p:cNvPr id="72" name="s18-bang-c2-title"/>
          <p:cNvSpPr>
            <a:spLocks noGrp="1"/>
          </p:cNvSpPr>
          <p:nvPr/>
        </p:nvSpPr>
        <p:spPr>
          <a:xfrm>
            <a:off x="7524750" y="1751012"/>
            <a:ext cx="1114425"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已完成</a:t>
            </a:r>
          </a:p>
        </p:txBody>
      </p:sp>
      <p:sp>
        <p:nvSpPr>
          <p:cNvPr id="73" name="s18-bang-c3-number"/>
          <p:cNvSpPr>
            <a:spLocks noGrp="1"/>
          </p:cNvSpPr>
          <p:nvPr/>
        </p:nvSpPr>
        <p:spPr>
          <a:xfrm>
            <a:off x="8810625"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3</a:t>
            </a:r>
          </a:p>
        </p:txBody>
      </p:sp>
      <p:sp>
        <p:nvSpPr>
          <p:cNvPr id="74" name="s18-bang-c3-title"/>
          <p:cNvSpPr>
            <a:spLocks noGrp="1"/>
          </p:cNvSpPr>
          <p:nvPr/>
        </p:nvSpPr>
        <p:spPr>
          <a:xfrm>
            <a:off x="9058275" y="1751012"/>
            <a:ext cx="16573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验证程度</a:t>
            </a:r>
          </a:p>
        </p:txBody>
      </p:sp>
      <p:sp>
        <p:nvSpPr>
          <p:cNvPr id="75" name="s18-bang-c4-number"/>
          <p:cNvSpPr>
            <a:spLocks noGrp="1"/>
          </p:cNvSpPr>
          <p:nvPr/>
        </p:nvSpPr>
        <p:spPr>
          <a:xfrm>
            <a:off x="1087755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4</a:t>
            </a:r>
          </a:p>
        </p:txBody>
      </p:sp>
      <p:sp>
        <p:nvSpPr>
          <p:cNvPr id="76" name="s18-bang-c4-title"/>
          <p:cNvSpPr>
            <a:spLocks noGrp="1"/>
          </p:cNvSpPr>
          <p:nvPr/>
        </p:nvSpPr>
        <p:spPr>
          <a:xfrm>
            <a:off x="11125200" y="1751012"/>
            <a:ext cx="7620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下一步</a:t>
            </a:r>
          </a:p>
        </p:txBody>
      </p:sp>
      <p:sp>
        <p:nvSpPr>
          <p:cNvPr id="77" name="s18-bang-stage"/>
          <p:cNvSpPr>
            <a:spLocks noGrp="1"/>
          </p:cNvSpPr>
          <p:nvPr/>
        </p:nvSpPr>
        <p:spPr>
          <a:xfrm>
            <a:off x="6038850" y="2017712"/>
            <a:ext cx="1066800" cy="504825"/>
          </a:xfrm>
          <a:prstGeom prst="rect">
            <a:avLst/>
          </a:prstGeom>
          <a:noFill/>
          <a:ln w="0">
            <a:noFill/>
            <a:prstDash val="solid"/>
          </a:ln>
          <a:effectLst/>
        </p:spPr>
        <p:txBody>
          <a:bodyPr wrap="square" lIns="0" tIns="19050" rIns="0" bIns="0" anchor="t">
            <a:normAutofit/>
          </a:bodyPr>
          <a:lstStyle/>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从“能开发”向</a:t>
            </a:r>
          </a:p>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“高性能开发”推进</a:t>
            </a:r>
          </a:p>
        </p:txBody>
      </p:sp>
      <p:sp>
        <p:nvSpPr>
          <p:cNvPr id="78" name="s18-bang-done-1-symbol"/>
          <p:cNvSpPr>
            <a:spLocks noGrp="1"/>
          </p:cNvSpPr>
          <p:nvPr/>
        </p:nvSpPr>
        <p:spPr>
          <a:xfrm>
            <a:off x="7296150" y="2008187"/>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79" name="s18-bang-done-1-text"/>
          <p:cNvSpPr>
            <a:spLocks noGrp="1"/>
          </p:cNvSpPr>
          <p:nvPr/>
        </p:nvSpPr>
        <p:spPr>
          <a:xfrm>
            <a:off x="7458075" y="2008187"/>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基础 Skill 结构</a:t>
            </a:r>
          </a:p>
        </p:txBody>
      </p:sp>
      <p:sp>
        <p:nvSpPr>
          <p:cNvPr id="80" name="s18-bang-done-2-symbol"/>
          <p:cNvSpPr>
            <a:spLocks noGrp="1"/>
          </p:cNvSpPr>
          <p:nvPr/>
        </p:nvSpPr>
        <p:spPr>
          <a:xfrm>
            <a:off x="7296150" y="22272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81" name="s18-bang-done-2-text"/>
          <p:cNvSpPr>
            <a:spLocks noGrp="1"/>
          </p:cNvSpPr>
          <p:nvPr/>
        </p:nvSpPr>
        <p:spPr>
          <a:xfrm>
            <a:off x="7458075" y="2227262"/>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真机编译 / 执行</a:t>
            </a:r>
          </a:p>
        </p:txBody>
      </p:sp>
      <p:sp>
        <p:nvSpPr>
          <p:cNvPr id="82" name="s18-bang-done-3-symbol"/>
          <p:cNvSpPr>
            <a:spLocks noGrp="1"/>
          </p:cNvSpPr>
          <p:nvPr/>
        </p:nvSpPr>
        <p:spPr>
          <a:xfrm>
            <a:off x="7296150" y="2446337"/>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83" name="s18-bang-done-3-text"/>
          <p:cNvSpPr>
            <a:spLocks noGrp="1"/>
          </p:cNvSpPr>
          <p:nvPr/>
        </p:nvSpPr>
        <p:spPr>
          <a:xfrm>
            <a:off x="7458075" y="2446337"/>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Correctness</a:t>
            </a:r>
          </a:p>
        </p:txBody>
      </p:sp>
      <p:sp>
        <p:nvSpPr>
          <p:cNvPr id="84" name="s18-bang-done-4-symbol"/>
          <p:cNvSpPr>
            <a:spLocks noGrp="1"/>
          </p:cNvSpPr>
          <p:nvPr/>
        </p:nvSpPr>
        <p:spPr>
          <a:xfrm>
            <a:off x="7296150" y="26654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85" name="s18-bang-done-4-text"/>
          <p:cNvSpPr>
            <a:spLocks noGrp="1"/>
          </p:cNvSpPr>
          <p:nvPr/>
        </p:nvSpPr>
        <p:spPr>
          <a:xfrm>
            <a:off x="7458075" y="2665412"/>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Benchmark</a:t>
            </a:r>
          </a:p>
        </p:txBody>
      </p:sp>
      <p:sp>
        <p:nvSpPr>
          <p:cNvPr id="86" name="s18-bang-done-5-symbol"/>
          <p:cNvSpPr>
            <a:spLocks noGrp="1"/>
          </p:cNvSpPr>
          <p:nvPr/>
        </p:nvSpPr>
        <p:spPr>
          <a:xfrm>
            <a:off x="7296150" y="2884487"/>
            <a:ext cx="133350" cy="3048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87" name="s18-bang-done-5-text"/>
          <p:cNvSpPr>
            <a:spLocks noGrp="1"/>
          </p:cNvSpPr>
          <p:nvPr/>
        </p:nvSpPr>
        <p:spPr>
          <a:xfrm>
            <a:off x="7458075" y="2884487"/>
            <a:ext cx="1209675" cy="30480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LayerNorm 等实际算子测试</a:t>
            </a:r>
          </a:p>
        </p:txBody>
      </p:sp>
      <p:sp>
        <p:nvSpPr>
          <p:cNvPr id="88" name="s18-bang-val-1-symbol"/>
          <p:cNvSpPr>
            <a:spLocks noGrp="1"/>
          </p:cNvSpPr>
          <p:nvPr/>
        </p:nvSpPr>
        <p:spPr>
          <a:xfrm>
            <a:off x="8829675" y="2008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89" name="s18-bang-val-1-text"/>
          <p:cNvSpPr>
            <a:spLocks noGrp="1"/>
          </p:cNvSpPr>
          <p:nvPr/>
        </p:nvSpPr>
        <p:spPr>
          <a:xfrm>
            <a:off x="8991600" y="2008187"/>
            <a:ext cx="638175" cy="180975"/>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环境  </a:t>
            </a:r>
          </a:p>
        </p:txBody>
      </p:sp>
      <p:sp>
        <p:nvSpPr>
          <p:cNvPr id="90" name="s18-bang-val-2-symbol"/>
          <p:cNvSpPr>
            <a:spLocks noGrp="1"/>
          </p:cNvSpPr>
          <p:nvPr/>
        </p:nvSpPr>
        <p:spPr>
          <a:xfrm>
            <a:off x="8829675" y="2198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91" name="s18-bang-val-2-text"/>
          <p:cNvSpPr>
            <a:spLocks noGrp="1"/>
          </p:cNvSpPr>
          <p:nvPr/>
        </p:nvSpPr>
        <p:spPr>
          <a:xfrm>
            <a:off x="8991600" y="2198687"/>
            <a:ext cx="638175" cy="180975"/>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代码生成  </a:t>
            </a:r>
          </a:p>
        </p:txBody>
      </p:sp>
      <p:sp>
        <p:nvSpPr>
          <p:cNvPr id="92" name="s18-bang-val-3-symbol"/>
          <p:cNvSpPr>
            <a:spLocks noGrp="1"/>
          </p:cNvSpPr>
          <p:nvPr/>
        </p:nvSpPr>
        <p:spPr>
          <a:xfrm>
            <a:off x="8829675" y="2389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93" name="s18-bang-val-3-text"/>
          <p:cNvSpPr>
            <a:spLocks noGrp="1"/>
          </p:cNvSpPr>
          <p:nvPr/>
        </p:nvSpPr>
        <p:spPr>
          <a:xfrm>
            <a:off x="8991600" y="2389187"/>
            <a:ext cx="638175" cy="180975"/>
          </a:xfrm>
          <a:prstGeom prst="rect">
            <a:avLst/>
          </a:prstGeom>
          <a:noFill/>
          <a:ln w="0">
            <a:noFill/>
            <a:prstDash val="solid"/>
          </a:ln>
          <a:effectLst/>
        </p:spPr>
        <p:txBody>
          <a:bodyPr wrap="square" lIns="0" tIns="0" rIns="0" bIns="0" anchor="ctr">
            <a:normAutofit/>
          </a:bodyPr>
          <a:lstStyle/>
          <a:p>
            <a:pPr algn="l">
              <a:defRPr sz="730" b="0">
                <a:solidFill>
                  <a:srgbClr val="24344D"/>
                </a:solidFill>
                <a:latin typeface="微软雅黑" panose="020B0503020204020204" charset="-122"/>
                <a:ea typeface="微软雅黑" panose="020B0503020204020204" charset="-122"/>
                <a:cs typeface="微软雅黑" panose="020B0503020204020204" charset="-122"/>
              </a:defRPr>
            </a:pPr>
            <a:r>
              <a:rPr sz="73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Correctness  </a:t>
            </a:r>
          </a:p>
        </p:txBody>
      </p:sp>
      <p:sp>
        <p:nvSpPr>
          <p:cNvPr id="94" name="s18-bang-val-4-symbol"/>
          <p:cNvSpPr>
            <a:spLocks noGrp="1"/>
          </p:cNvSpPr>
          <p:nvPr/>
        </p:nvSpPr>
        <p:spPr>
          <a:xfrm>
            <a:off x="8829675" y="2579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95" name="s18-bang-val-4-text"/>
          <p:cNvSpPr>
            <a:spLocks noGrp="1"/>
          </p:cNvSpPr>
          <p:nvPr/>
        </p:nvSpPr>
        <p:spPr>
          <a:xfrm>
            <a:off x="8991600" y="2579687"/>
            <a:ext cx="638175" cy="180975"/>
          </a:xfrm>
          <a:prstGeom prst="rect">
            <a:avLst/>
          </a:prstGeom>
          <a:noFill/>
          <a:ln w="0">
            <a:noFill/>
            <a:prstDash val="solid"/>
          </a:ln>
          <a:effectLst/>
        </p:spPr>
        <p:txBody>
          <a:bodyPr wrap="square" lIns="0" tIns="0" rIns="0" bIns="0" anchor="ctr">
            <a:normAutofit/>
          </a:bodyPr>
          <a:lstStyle/>
          <a:p>
            <a:pPr algn="l">
              <a:defRPr sz="745" b="0">
                <a:solidFill>
                  <a:srgbClr val="24344D"/>
                </a:solidFill>
                <a:latin typeface="微软雅黑" panose="020B0503020204020204" charset="-122"/>
                <a:ea typeface="微软雅黑" panose="020B0503020204020204" charset="-122"/>
                <a:cs typeface="微软雅黑" panose="020B0503020204020204" charset="-122"/>
              </a:defRPr>
            </a:pPr>
            <a:r>
              <a:rPr sz="74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Benchmark  </a:t>
            </a:r>
          </a:p>
        </p:txBody>
      </p:sp>
      <p:sp>
        <p:nvSpPr>
          <p:cNvPr id="96" name="s18-bang-val-5-symbol"/>
          <p:cNvSpPr>
            <a:spLocks noGrp="1"/>
          </p:cNvSpPr>
          <p:nvPr/>
        </p:nvSpPr>
        <p:spPr>
          <a:xfrm>
            <a:off x="8829675" y="2770187"/>
            <a:ext cx="133350" cy="200025"/>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97" name="s18-bang-val-5-text"/>
          <p:cNvSpPr>
            <a:spLocks noGrp="1"/>
          </p:cNvSpPr>
          <p:nvPr/>
        </p:nvSpPr>
        <p:spPr>
          <a:xfrm>
            <a:off x="8991600" y="2770187"/>
            <a:ext cx="638175" cy="200025"/>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高性能优化</a:t>
            </a:r>
          </a:p>
        </p:txBody>
      </p:sp>
      <p:sp>
        <p:nvSpPr>
          <p:cNvPr id="98" name="s18-bang-gap"/>
          <p:cNvSpPr>
            <a:spLocks noGrp="1"/>
          </p:cNvSpPr>
          <p:nvPr/>
        </p:nvSpPr>
        <p:spPr>
          <a:xfrm>
            <a:off x="9658350" y="2253297"/>
            <a:ext cx="1038225" cy="974090"/>
          </a:xfrm>
          <a:prstGeom prst="roundRect">
            <a:avLst>
              <a:gd name="adj" fmla="val 5505"/>
            </a:avLst>
          </a:prstGeom>
          <a:solidFill>
            <a:srgbClr val="F6ECE6"/>
          </a:solidFill>
          <a:ln w="9525">
            <a:solidFill>
              <a:srgbClr val="C77C59"/>
            </a:solidFill>
            <a:prstDash val="solid"/>
          </a:ln>
          <a:effectLst/>
        </p:spPr>
        <p:txBody>
          <a:bodyPr wrap="square" lIns="38100" tIns="28575" rIns="38100" bIns="28575" anchor="ctr">
            <a:normAutofit/>
          </a:bodyPr>
          <a:lstStyle/>
          <a:p>
            <a:endParaRPr>
              <a:solidFill>
                <a:srgbClr val="66737F"/>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pitchFamily="34" charset="-122"/>
                <a:cs typeface="Times New Roman" panose="02020603050405020304" pitchFamily="18" charset="0"/>
              </a:rPr>
              <a:t>显式片上存储管理、</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pitchFamily="34" charset="-122"/>
                <a:cs typeface="Times New Roman" panose="02020603050405020304" pitchFamily="18" charset="0"/>
              </a:rPr>
              <a:t>DMA / Pipeline、</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pitchFamily="34" charset="-122"/>
                <a:cs typeface="Times New Roman" panose="02020603050405020304" pitchFamily="18" charset="0"/>
              </a:rPr>
              <a:t>Core / Cluster 分工</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pitchFamily="34" charset="-122"/>
                <a:cs typeface="Times New Roman" panose="02020603050405020304" pitchFamily="18" charset="0"/>
              </a:rPr>
              <a:t>及高性能算子案例</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pitchFamily="34" charset="-122"/>
                <a:cs typeface="Times New Roman" panose="02020603050405020304" pitchFamily="18" charset="0"/>
              </a:rPr>
              <a:t>仍需进一步沉淀。</a:t>
            </a:r>
          </a:p>
        </p:txBody>
      </p:sp>
      <p:sp>
        <p:nvSpPr>
          <p:cNvPr id="99" name="s18-bang-gap-title-overlay"/>
          <p:cNvSpPr>
            <a:spLocks noGrp="1"/>
          </p:cNvSpPr>
          <p:nvPr/>
        </p:nvSpPr>
        <p:spPr>
          <a:xfrm>
            <a:off x="9686925" y="2351087"/>
            <a:ext cx="942975" cy="171450"/>
          </a:xfrm>
          <a:prstGeom prst="rect">
            <a:avLst/>
          </a:prstGeom>
          <a:noFill/>
          <a:ln w="0">
            <a:noFill/>
            <a:prstDash val="solid"/>
          </a:ln>
          <a:effectLst/>
        </p:spPr>
        <p:txBody>
          <a:bodyPr wrap="square" lIns="9525" tIns="0" rIns="9525" bIns="0" anchor="ctr">
            <a:normAutofit/>
          </a:bodyPr>
          <a:lstStyle/>
          <a:p>
            <a:pPr algn="ctr">
              <a:defRPr sz="765" b="1">
                <a:solidFill>
                  <a:srgbClr val="F07818"/>
                </a:solidFill>
                <a:latin typeface="微软雅黑" panose="020B0503020204020204" charset="-122"/>
                <a:ea typeface="微软雅黑" panose="020B0503020204020204" charset="-122"/>
                <a:cs typeface="微软雅黑" panose="020B0503020204020204" charset="-122"/>
              </a:defRPr>
            </a:pPr>
            <a:r>
              <a:rPr sz="765" b="1" dirty="0" err="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当前主要缺口</a:t>
            </a:r>
            <a:endParaRPr sz="765" b="1" dirty="0">
              <a:solidFill>
                <a:srgbClr val="C77C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0" name="s18-bang-next-1-symbol"/>
          <p:cNvSpPr>
            <a:spLocks noGrp="1"/>
          </p:cNvSpPr>
          <p:nvPr/>
        </p:nvSpPr>
        <p:spPr>
          <a:xfrm>
            <a:off x="10887075" y="2008187"/>
            <a:ext cx="133350" cy="3619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01" name="s18-bang-next-1-text"/>
          <p:cNvSpPr>
            <a:spLocks noGrp="1"/>
          </p:cNvSpPr>
          <p:nvPr/>
        </p:nvSpPr>
        <p:spPr>
          <a:xfrm>
            <a:off x="11049000" y="2008187"/>
            <a:ext cx="828675" cy="361950"/>
          </a:xfrm>
          <a:prstGeom prst="rect">
            <a:avLst/>
          </a:prstGeom>
          <a:noFill/>
          <a:ln w="0">
            <a:noFill/>
            <a:prstDash val="solid"/>
          </a:ln>
          <a:effectLst/>
        </p:spPr>
        <p:txBody>
          <a:bodyPr wrap="square" lIns="0" tIns="0" rIns="0" bIns="0" anchor="ctr">
            <a:normAutofit/>
          </a:bodyPr>
          <a:lstStyle/>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补高性能</a:t>
            </a:r>
          </a:p>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BANG C Reference</a:t>
            </a:r>
          </a:p>
        </p:txBody>
      </p:sp>
      <p:sp>
        <p:nvSpPr>
          <p:cNvPr id="102" name="s18-bang-next-2-symbol"/>
          <p:cNvSpPr>
            <a:spLocks noGrp="1"/>
          </p:cNvSpPr>
          <p:nvPr/>
        </p:nvSpPr>
        <p:spPr>
          <a:xfrm>
            <a:off x="10887075" y="2427287"/>
            <a:ext cx="133350" cy="4000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03" name="s18-bang-next-2-text"/>
          <p:cNvSpPr>
            <a:spLocks noGrp="1"/>
          </p:cNvSpPr>
          <p:nvPr/>
        </p:nvSpPr>
        <p:spPr>
          <a:xfrm>
            <a:off x="11049000" y="2427287"/>
            <a:ext cx="828675" cy="40005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将微基准结果转化为</a:t>
            </a:r>
          </a:p>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优化规则</a:t>
            </a:r>
          </a:p>
        </p:txBody>
      </p:sp>
      <p:sp>
        <p:nvSpPr>
          <p:cNvPr id="104" name="s18-bang-next-3-symbol"/>
          <p:cNvSpPr>
            <a:spLocks noGrp="1"/>
          </p:cNvSpPr>
          <p:nvPr/>
        </p:nvSpPr>
        <p:spPr>
          <a:xfrm>
            <a:off x="10887075" y="2865437"/>
            <a:ext cx="133350" cy="3619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05" name="s18-bang-next-3-text"/>
          <p:cNvSpPr>
            <a:spLocks noGrp="1"/>
          </p:cNvSpPr>
          <p:nvPr/>
        </p:nvSpPr>
        <p:spPr>
          <a:xfrm>
            <a:off x="11049000" y="2865437"/>
            <a:ext cx="828675" cy="361950"/>
          </a:xfrm>
          <a:prstGeom prst="rect">
            <a:avLst/>
          </a:prstGeom>
          <a:noFill/>
          <a:ln w="0">
            <a:noFill/>
            <a:prstDash val="solid"/>
          </a:ln>
          <a:effectLst/>
        </p:spPr>
        <p:txBody>
          <a:bodyPr wrap="square" lIns="0" tIns="0" rIns="0" bIns="0" anchor="ctr">
            <a:normAutofit/>
          </a:bodyPr>
          <a:lstStyle/>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完成三典型算子</a:t>
            </a:r>
          </a:p>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统一验证</a:t>
            </a:r>
          </a:p>
        </p:txBody>
      </p:sp>
      <p:sp>
        <p:nvSpPr>
          <p:cNvPr id="106" name="s18-cuda-frame"/>
          <p:cNvSpPr>
            <a:spLocks noGrp="1"/>
          </p:cNvSpPr>
          <p:nvPr/>
        </p:nvSpPr>
        <p:spPr>
          <a:xfrm>
            <a:off x="95250" y="3513137"/>
            <a:ext cx="5743575" cy="1905000"/>
          </a:xfrm>
          <a:prstGeom prst="rect">
            <a:avLst/>
          </a:prstGeom>
          <a:solidFill>
            <a:srgbClr val="FFFFFF"/>
          </a:solidFill>
          <a:ln w="11430">
            <a:solidFill>
              <a:srgbClr val="D6DEE6"/>
            </a:solidFill>
            <a:prstDash val="solid"/>
          </a:ln>
          <a:effectLst/>
        </p:spPr>
      </p:sp>
      <p:sp>
        <p:nvSpPr>
          <p:cNvPr id="107" name="s18-cuda-header-fill"/>
          <p:cNvSpPr>
            <a:spLocks noGrp="1"/>
          </p:cNvSpPr>
          <p:nvPr/>
        </p:nvSpPr>
        <p:spPr>
          <a:xfrm>
            <a:off x="76199" y="3522662"/>
            <a:ext cx="5724525" cy="495300"/>
          </a:xfrm>
          <a:prstGeom prst="rect">
            <a:avLst/>
          </a:prstGeom>
          <a:solidFill>
            <a:srgbClr val="FFFFFF"/>
          </a:solidFill>
          <a:ln w="0">
            <a:solidFill>
              <a:srgbClr val="D6DEE6"/>
            </a:solidFill>
            <a:prstDash val="solid"/>
          </a:ln>
          <a:effectLst/>
        </p:spPr>
      </p:sp>
      <p:sp>
        <p:nvSpPr>
          <p:cNvPr id="108" name="s18-cuda-body-fill"/>
          <p:cNvSpPr>
            <a:spLocks noGrp="1"/>
          </p:cNvSpPr>
          <p:nvPr/>
        </p:nvSpPr>
        <p:spPr>
          <a:xfrm>
            <a:off x="104775" y="4017962"/>
            <a:ext cx="5724525" cy="1390650"/>
          </a:xfrm>
          <a:prstGeom prst="rect">
            <a:avLst/>
          </a:prstGeom>
          <a:solidFill>
            <a:srgbClr val="FFFFFF"/>
          </a:solidFill>
          <a:ln w="0">
            <a:solidFill>
              <a:srgbClr val="D6DEE6"/>
            </a:solidFill>
            <a:prstDash val="solid"/>
          </a:ln>
          <a:effectLst/>
        </p:spPr>
      </p:sp>
      <p:sp>
        <p:nvSpPr>
          <p:cNvPr id="109" name="s18-cuda-header-rule"/>
          <p:cNvSpPr>
            <a:spLocks noGrp="1"/>
          </p:cNvSpPr>
          <p:nvPr/>
        </p:nvSpPr>
        <p:spPr>
          <a:xfrm>
            <a:off x="104775" y="4008437"/>
            <a:ext cx="5724525" cy="9525"/>
          </a:xfrm>
          <a:prstGeom prst="rect">
            <a:avLst/>
          </a:prstGeom>
          <a:solidFill>
            <a:srgbClr val="5B7188"/>
          </a:solidFill>
          <a:ln w="0">
            <a:solidFill>
              <a:srgbClr val="294A6D"/>
            </a:solidFill>
            <a:prstDash val="solid"/>
          </a:ln>
          <a:effectLst/>
        </p:spPr>
      </p:sp>
      <p:sp>
        <p:nvSpPr>
          <p:cNvPr id="110" name="s18-cuda-title"/>
          <p:cNvSpPr>
            <a:spLocks noGrp="1"/>
          </p:cNvSpPr>
          <p:nvPr/>
        </p:nvSpPr>
        <p:spPr>
          <a:xfrm>
            <a:off x="171450" y="3541712"/>
            <a:ext cx="5591175" cy="295275"/>
          </a:xfrm>
          <a:prstGeom prst="rect">
            <a:avLst/>
          </a:prstGeom>
          <a:noFill/>
          <a:ln w="0">
            <a:noFill/>
            <a:prstDash val="solid"/>
          </a:ln>
          <a:effectLst/>
        </p:spPr>
        <p:txBody>
          <a:bodyPr wrap="square" lIns="0" tIns="0" rIns="0" bIns="0" anchor="ctr">
            <a:normAutofit/>
          </a:bodyPr>
          <a:lstStyle/>
          <a:p>
            <a:pPr algn="ctr">
              <a:defRPr sz="1875" b="1">
                <a:solidFill>
                  <a:srgbClr val="1457C5"/>
                </a:solidFill>
                <a:latin typeface="Calibri" panose="020F0502020204030204"/>
                <a:ea typeface="Calibri" panose="020F0502020204030204"/>
                <a:cs typeface="Calibri" panose="020F0502020204030204"/>
              </a:defRPr>
            </a:pPr>
            <a:r>
              <a:rPr sz="1875" b="1" dirty="0" smtClean="0">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CUDA</a:t>
            </a:r>
            <a:r>
              <a:rPr lang="en-US" sz="1875" b="1" dirty="0" smtClean="0">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 C</a:t>
            </a:r>
            <a:endParaRPr sz="1875" b="1" dirty="0">
              <a:solidFill>
                <a:srgbClr val="294A6D"/>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2" name="s18-cuda-divider-1"/>
          <p:cNvSpPr>
            <a:spLocks noGrp="1"/>
          </p:cNvSpPr>
          <p:nvPr/>
        </p:nvSpPr>
        <p:spPr>
          <a:xfrm>
            <a:off x="1228725" y="4084637"/>
            <a:ext cx="9525" cy="1257300"/>
          </a:xfrm>
          <a:prstGeom prst="rect">
            <a:avLst/>
          </a:prstGeom>
          <a:solidFill>
            <a:srgbClr val="EEF2F5"/>
          </a:solidFill>
          <a:ln w="0">
            <a:solidFill>
              <a:srgbClr val="D6DEE6"/>
            </a:solidFill>
            <a:prstDash val="solid"/>
          </a:ln>
          <a:effectLst/>
        </p:spPr>
      </p:sp>
      <p:sp>
        <p:nvSpPr>
          <p:cNvPr id="113" name="s18-cuda-divider-2"/>
          <p:cNvSpPr>
            <a:spLocks noGrp="1"/>
          </p:cNvSpPr>
          <p:nvPr/>
        </p:nvSpPr>
        <p:spPr>
          <a:xfrm>
            <a:off x="3086100" y="4084637"/>
            <a:ext cx="9525" cy="1257300"/>
          </a:xfrm>
          <a:prstGeom prst="rect">
            <a:avLst/>
          </a:prstGeom>
          <a:solidFill>
            <a:srgbClr val="EEF2F5"/>
          </a:solidFill>
          <a:ln w="0">
            <a:solidFill>
              <a:srgbClr val="D6DEE6"/>
            </a:solidFill>
            <a:prstDash val="solid"/>
          </a:ln>
          <a:effectLst/>
        </p:spPr>
      </p:sp>
      <p:sp>
        <p:nvSpPr>
          <p:cNvPr id="114" name="s18-cuda-divider-3"/>
          <p:cNvSpPr>
            <a:spLocks noGrp="1"/>
          </p:cNvSpPr>
          <p:nvPr/>
        </p:nvSpPr>
        <p:spPr>
          <a:xfrm>
            <a:off x="4467225" y="4084637"/>
            <a:ext cx="9525" cy="1257300"/>
          </a:xfrm>
          <a:prstGeom prst="rect">
            <a:avLst/>
          </a:prstGeom>
          <a:solidFill>
            <a:srgbClr val="EEF2F5"/>
          </a:solidFill>
          <a:ln w="0">
            <a:solidFill>
              <a:srgbClr val="D6DEE6"/>
            </a:solidFill>
            <a:prstDash val="solid"/>
          </a:ln>
          <a:effectLst/>
        </p:spPr>
      </p:sp>
      <p:sp>
        <p:nvSpPr>
          <p:cNvPr id="115" name="s18-cuda-c1-number"/>
          <p:cNvSpPr>
            <a:spLocks noGrp="1"/>
          </p:cNvSpPr>
          <p:nvPr/>
        </p:nvSpPr>
        <p:spPr>
          <a:xfrm>
            <a:off x="19050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1</a:t>
            </a:r>
          </a:p>
        </p:txBody>
      </p:sp>
      <p:sp>
        <p:nvSpPr>
          <p:cNvPr id="116" name="s18-cuda-c1-title"/>
          <p:cNvSpPr>
            <a:spLocks noGrp="1"/>
          </p:cNvSpPr>
          <p:nvPr/>
        </p:nvSpPr>
        <p:spPr>
          <a:xfrm>
            <a:off x="438150" y="4075112"/>
            <a:ext cx="733425"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当前阶段</a:t>
            </a:r>
          </a:p>
        </p:txBody>
      </p:sp>
      <p:sp>
        <p:nvSpPr>
          <p:cNvPr id="117" name="s18-cuda-c2-number"/>
          <p:cNvSpPr>
            <a:spLocks noGrp="1"/>
          </p:cNvSpPr>
          <p:nvPr/>
        </p:nvSpPr>
        <p:spPr>
          <a:xfrm>
            <a:off x="1323975"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2</a:t>
            </a:r>
          </a:p>
        </p:txBody>
      </p:sp>
      <p:sp>
        <p:nvSpPr>
          <p:cNvPr id="118" name="s18-cuda-c2-title"/>
          <p:cNvSpPr>
            <a:spLocks noGrp="1"/>
          </p:cNvSpPr>
          <p:nvPr/>
        </p:nvSpPr>
        <p:spPr>
          <a:xfrm>
            <a:off x="1571625" y="4075112"/>
            <a:ext cx="14478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已完成</a:t>
            </a:r>
          </a:p>
        </p:txBody>
      </p:sp>
      <p:sp>
        <p:nvSpPr>
          <p:cNvPr id="119" name="s18-cuda-c3-number"/>
          <p:cNvSpPr>
            <a:spLocks noGrp="1"/>
          </p:cNvSpPr>
          <p:nvPr/>
        </p:nvSpPr>
        <p:spPr>
          <a:xfrm>
            <a:off x="318135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3</a:t>
            </a:r>
          </a:p>
        </p:txBody>
      </p:sp>
      <p:sp>
        <p:nvSpPr>
          <p:cNvPr id="120" name="s18-cuda-c3-title"/>
          <p:cNvSpPr>
            <a:spLocks noGrp="1"/>
          </p:cNvSpPr>
          <p:nvPr/>
        </p:nvSpPr>
        <p:spPr>
          <a:xfrm>
            <a:off x="3429000" y="4075112"/>
            <a:ext cx="9715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验证程度</a:t>
            </a:r>
          </a:p>
        </p:txBody>
      </p:sp>
      <p:sp>
        <p:nvSpPr>
          <p:cNvPr id="121" name="s18-cuda-c4-number"/>
          <p:cNvSpPr>
            <a:spLocks noGrp="1"/>
          </p:cNvSpPr>
          <p:nvPr/>
        </p:nvSpPr>
        <p:spPr>
          <a:xfrm>
            <a:off x="4562475"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4</a:t>
            </a:r>
          </a:p>
        </p:txBody>
      </p:sp>
      <p:sp>
        <p:nvSpPr>
          <p:cNvPr id="122" name="s18-cuda-c4-title"/>
          <p:cNvSpPr>
            <a:spLocks noGrp="1"/>
          </p:cNvSpPr>
          <p:nvPr/>
        </p:nvSpPr>
        <p:spPr>
          <a:xfrm>
            <a:off x="4810125" y="4075112"/>
            <a:ext cx="9144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下一步</a:t>
            </a:r>
          </a:p>
        </p:txBody>
      </p:sp>
      <p:sp>
        <p:nvSpPr>
          <p:cNvPr id="123" name="s18-cuda-stage"/>
          <p:cNvSpPr>
            <a:spLocks noGrp="1"/>
          </p:cNvSpPr>
          <p:nvPr/>
        </p:nvSpPr>
        <p:spPr>
          <a:xfrm>
            <a:off x="190500" y="4351337"/>
            <a:ext cx="962025" cy="304800"/>
          </a:xfrm>
          <a:prstGeom prst="rect">
            <a:avLst/>
          </a:prstGeom>
          <a:noFill/>
          <a:ln w="0">
            <a:noFill/>
            <a:prstDash val="solid"/>
          </a:ln>
          <a:effectLst/>
        </p:spPr>
        <p:txBody>
          <a:bodyPr wrap="square" lIns="0" tIns="19050" rIns="0" bIns="0" anchor="t">
            <a:normAutofit/>
          </a:bodyPr>
          <a:lstStyle/>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dirty="0" err="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基础框架完成</a:t>
            </a:r>
            <a:endParaRPr sz="865" b="1" dirty="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4" name="s18-cuda-done-1-symbol"/>
          <p:cNvSpPr>
            <a:spLocks noGrp="1"/>
          </p:cNvSpPr>
          <p:nvPr/>
        </p:nvSpPr>
        <p:spPr>
          <a:xfrm>
            <a:off x="1343025" y="4341812"/>
            <a:ext cx="133350" cy="20002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25" name="s18-cuda-done-1-text"/>
          <p:cNvSpPr>
            <a:spLocks noGrp="1"/>
          </p:cNvSpPr>
          <p:nvPr/>
        </p:nvSpPr>
        <p:spPr>
          <a:xfrm>
            <a:off x="1504950" y="4341812"/>
            <a:ext cx="1543050" cy="200025"/>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CUDA 算子开发 Skill 基础版本</a:t>
            </a:r>
          </a:p>
        </p:txBody>
      </p:sp>
      <p:sp>
        <p:nvSpPr>
          <p:cNvPr id="126" name="s18-cuda-done-2-symbol"/>
          <p:cNvSpPr>
            <a:spLocks noGrp="1"/>
          </p:cNvSpPr>
          <p:nvPr/>
        </p:nvSpPr>
        <p:spPr>
          <a:xfrm>
            <a:off x="1343025"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27" name="s18-cuda-done-2-text"/>
          <p:cNvSpPr>
            <a:spLocks noGrp="1"/>
          </p:cNvSpPr>
          <p:nvPr/>
        </p:nvSpPr>
        <p:spPr>
          <a:xfrm>
            <a:off x="1504950" y="4551362"/>
            <a:ext cx="1543050" cy="190500"/>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基础 Workflow</a:t>
            </a:r>
          </a:p>
        </p:txBody>
      </p:sp>
      <p:sp>
        <p:nvSpPr>
          <p:cNvPr id="128" name="s18-cuda-done-3-symbol"/>
          <p:cNvSpPr>
            <a:spLocks noGrp="1"/>
          </p:cNvSpPr>
          <p:nvPr/>
        </p:nvSpPr>
        <p:spPr>
          <a:xfrm>
            <a:off x="1343025" y="4760912"/>
            <a:ext cx="133350" cy="2095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29" name="s18-cuda-done-3-text"/>
          <p:cNvSpPr>
            <a:spLocks noGrp="1"/>
          </p:cNvSpPr>
          <p:nvPr/>
        </p:nvSpPr>
        <p:spPr>
          <a:xfrm>
            <a:off x="1504950" y="4760912"/>
            <a:ext cx="1543050" cy="209550"/>
          </a:xfrm>
          <a:prstGeom prst="rect">
            <a:avLst/>
          </a:prstGeom>
          <a:noFill/>
          <a:ln w="0">
            <a:noFill/>
            <a:prstDash val="solid"/>
          </a:ln>
          <a:effectLst/>
        </p:spPr>
        <p:txBody>
          <a:bodyPr wrap="square" lIns="0" tIns="0" rIns="0" bIns="0" anchor="ctr">
            <a:normAutofit/>
          </a:bodyPr>
          <a:lstStyle/>
          <a:p>
            <a:pPr algn="l">
              <a:defRPr sz="700" b="0">
                <a:solidFill>
                  <a:srgbClr val="24344D"/>
                </a:solidFill>
                <a:latin typeface="微软雅黑" panose="020B0503020204020204" charset="-122"/>
                <a:ea typeface="微软雅黑" panose="020B0503020204020204" charset="-122"/>
                <a:cs typeface="微软雅黑" panose="020B0503020204020204" charset="-122"/>
              </a:defRPr>
            </a:pPr>
            <a:r>
              <a:rPr sz="70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CUDA 平台开发规则 / 工具链框架</a:t>
            </a:r>
          </a:p>
        </p:txBody>
      </p:sp>
      <p:sp>
        <p:nvSpPr>
          <p:cNvPr id="130" name="s18-cuda-done-4-symbol"/>
          <p:cNvSpPr>
            <a:spLocks noGrp="1"/>
          </p:cNvSpPr>
          <p:nvPr/>
        </p:nvSpPr>
        <p:spPr>
          <a:xfrm>
            <a:off x="1343025" y="4989512"/>
            <a:ext cx="133350" cy="2095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31" name="s18-cuda-done-4-text"/>
          <p:cNvSpPr>
            <a:spLocks noGrp="1"/>
          </p:cNvSpPr>
          <p:nvPr/>
        </p:nvSpPr>
        <p:spPr>
          <a:xfrm>
            <a:off x="1504950" y="4989512"/>
            <a:ext cx="1543050" cy="20955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环境和开发提示信息已整理</a:t>
            </a:r>
          </a:p>
        </p:txBody>
      </p:sp>
      <p:sp>
        <p:nvSpPr>
          <p:cNvPr id="132" name="s18-cuda-val-1-symbol"/>
          <p:cNvSpPr>
            <a:spLocks noGrp="1"/>
          </p:cNvSpPr>
          <p:nvPr/>
        </p:nvSpPr>
        <p:spPr>
          <a:xfrm>
            <a:off x="3200400"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33" name="s18-cuda-val-1-text"/>
          <p:cNvSpPr>
            <a:spLocks noGrp="1"/>
          </p:cNvSpPr>
          <p:nvPr/>
        </p:nvSpPr>
        <p:spPr>
          <a:xfrm>
            <a:off x="3362325" y="4341812"/>
            <a:ext cx="1038225" cy="190500"/>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Skill 框架  ✓</a:t>
            </a:r>
          </a:p>
        </p:txBody>
      </p:sp>
      <p:sp>
        <p:nvSpPr>
          <p:cNvPr id="134" name="s18-cuda-val-2-symbol"/>
          <p:cNvSpPr>
            <a:spLocks noGrp="1"/>
          </p:cNvSpPr>
          <p:nvPr/>
        </p:nvSpPr>
        <p:spPr>
          <a:xfrm>
            <a:off x="3200400"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35" name="s18-cuda-val-2-text"/>
          <p:cNvSpPr>
            <a:spLocks noGrp="1"/>
          </p:cNvSpPr>
          <p:nvPr/>
        </p:nvSpPr>
        <p:spPr>
          <a:xfrm>
            <a:off x="3362325" y="4551362"/>
            <a:ext cx="10382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平台知识  初版</a:t>
            </a:r>
          </a:p>
        </p:txBody>
      </p:sp>
      <p:sp>
        <p:nvSpPr>
          <p:cNvPr id="136" name="s18-cuda-val-3-symbol"/>
          <p:cNvSpPr>
            <a:spLocks noGrp="1"/>
          </p:cNvSpPr>
          <p:nvPr/>
        </p:nvSpPr>
        <p:spPr>
          <a:xfrm>
            <a:off x="3200400" y="4760912"/>
            <a:ext cx="133350" cy="20955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37" name="s18-cuda-val-3-text"/>
          <p:cNvSpPr>
            <a:spLocks noGrp="1"/>
          </p:cNvSpPr>
          <p:nvPr/>
        </p:nvSpPr>
        <p:spPr>
          <a:xfrm>
            <a:off x="3362325" y="4760912"/>
            <a:ext cx="1038225" cy="209550"/>
          </a:xfrm>
          <a:prstGeom prst="rect">
            <a:avLst/>
          </a:prstGeom>
          <a:noFill/>
          <a:ln w="0">
            <a:noFill/>
            <a:prstDash val="solid"/>
          </a:ln>
          <a:effectLst/>
        </p:spPr>
        <p:txBody>
          <a:bodyPr wrap="square" lIns="0" tIns="0" rIns="0" bIns="0" anchor="ctr">
            <a:normAutofit/>
          </a:bodyPr>
          <a:lstStyle/>
          <a:p>
            <a:pPr algn="l">
              <a:defRPr sz="730" b="0">
                <a:solidFill>
                  <a:srgbClr val="24344D"/>
                </a:solidFill>
                <a:latin typeface="微软雅黑" panose="020B0503020204020204" charset="-122"/>
                <a:ea typeface="微软雅黑" panose="020B0503020204020204" charset="-122"/>
                <a:cs typeface="微软雅黑" panose="020B0503020204020204" charset="-122"/>
              </a:defRPr>
            </a:pPr>
            <a:r>
              <a:rPr sz="73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真实算子  待系统验证</a:t>
            </a:r>
          </a:p>
        </p:txBody>
      </p:sp>
      <p:sp>
        <p:nvSpPr>
          <p:cNvPr id="138" name="s18-cuda-val-4-symbol"/>
          <p:cNvSpPr>
            <a:spLocks noGrp="1"/>
          </p:cNvSpPr>
          <p:nvPr/>
        </p:nvSpPr>
        <p:spPr>
          <a:xfrm>
            <a:off x="3200400" y="4989512"/>
            <a:ext cx="133350" cy="19050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39" name="s18-cuda-val-4-text"/>
          <p:cNvSpPr>
            <a:spLocks noGrp="1"/>
          </p:cNvSpPr>
          <p:nvPr/>
        </p:nvSpPr>
        <p:spPr>
          <a:xfrm>
            <a:off x="3362325" y="4989512"/>
            <a:ext cx="10382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性能评价  待补</a:t>
            </a:r>
          </a:p>
        </p:txBody>
      </p:sp>
      <p:sp>
        <p:nvSpPr>
          <p:cNvPr id="140" name="s18-cuda-next-1-symbol"/>
          <p:cNvSpPr>
            <a:spLocks noGrp="1"/>
          </p:cNvSpPr>
          <p:nvPr/>
        </p:nvSpPr>
        <p:spPr>
          <a:xfrm>
            <a:off x="4581525"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41" name="s18-cuda-next-1-text"/>
          <p:cNvSpPr>
            <a:spLocks noGrp="1"/>
          </p:cNvSpPr>
          <p:nvPr/>
        </p:nvSpPr>
        <p:spPr>
          <a:xfrm>
            <a:off x="4743450" y="4341812"/>
            <a:ext cx="971550"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统一环境验证</a:t>
            </a:r>
          </a:p>
        </p:txBody>
      </p:sp>
      <p:sp>
        <p:nvSpPr>
          <p:cNvPr id="142" name="s18-cuda-next-2-symbol"/>
          <p:cNvSpPr>
            <a:spLocks noGrp="1"/>
          </p:cNvSpPr>
          <p:nvPr/>
        </p:nvSpPr>
        <p:spPr>
          <a:xfrm>
            <a:off x="4581525" y="4541837"/>
            <a:ext cx="133350" cy="3238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43" name="s18-cuda-next-2-text"/>
          <p:cNvSpPr>
            <a:spLocks noGrp="1"/>
          </p:cNvSpPr>
          <p:nvPr/>
        </p:nvSpPr>
        <p:spPr>
          <a:xfrm>
            <a:off x="4743450" y="4541837"/>
            <a:ext cx="971550" cy="323850"/>
          </a:xfrm>
          <a:prstGeom prst="rect">
            <a:avLst/>
          </a:prstGeom>
          <a:noFill/>
          <a:ln w="0">
            <a:noFill/>
            <a:prstDash val="solid"/>
          </a:ln>
          <a:effectLst/>
        </p:spPr>
        <p:txBody>
          <a:bodyPr wrap="square" lIns="0" tIns="0" rIns="0" bIns="0" anchor="ctr">
            <a:noAutofit/>
          </a:bodyPr>
          <a:lstStyle/>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70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LayerNorm / Softmax </a:t>
            </a:r>
          </a:p>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70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MatMul 实测</a:t>
            </a:r>
          </a:p>
        </p:txBody>
      </p:sp>
      <p:sp>
        <p:nvSpPr>
          <p:cNvPr id="144" name="s18-cuda-next-3-symbol"/>
          <p:cNvSpPr>
            <a:spLocks noGrp="1"/>
          </p:cNvSpPr>
          <p:nvPr/>
        </p:nvSpPr>
        <p:spPr>
          <a:xfrm>
            <a:off x="4581525" y="4875212"/>
            <a:ext cx="133350" cy="3238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45" name="s18-cuda-next-3-text"/>
          <p:cNvSpPr>
            <a:spLocks noGrp="1"/>
          </p:cNvSpPr>
          <p:nvPr/>
        </p:nvSpPr>
        <p:spPr>
          <a:xfrm>
            <a:off x="4762500" y="4836477"/>
            <a:ext cx="971550" cy="323850"/>
          </a:xfrm>
          <a:prstGeom prst="rect">
            <a:avLst/>
          </a:prstGeom>
          <a:noFill/>
          <a:ln w="0">
            <a:noFill/>
            <a:prstDash val="solid"/>
          </a:ln>
          <a:effectLst/>
        </p:spPr>
        <p:txBody>
          <a:bodyPr wrap="square" lIns="0" tIns="0" rIns="0" bIns="0" anchor="ctr">
            <a:noAutofit/>
          </a:bodyPr>
          <a:lstStyle/>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补齐 Nsight / Profiling</a:t>
            </a:r>
          </a:p>
        </p:txBody>
      </p:sp>
      <p:sp>
        <p:nvSpPr>
          <p:cNvPr id="146" name="s18-cuda-next-4-symbol"/>
          <p:cNvSpPr>
            <a:spLocks noGrp="1"/>
          </p:cNvSpPr>
          <p:nvPr/>
        </p:nvSpPr>
        <p:spPr>
          <a:xfrm>
            <a:off x="4581525" y="5199062"/>
            <a:ext cx="133350" cy="1524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47" name="s18-cuda-next-4-text"/>
          <p:cNvSpPr>
            <a:spLocks noGrp="1"/>
          </p:cNvSpPr>
          <p:nvPr/>
        </p:nvSpPr>
        <p:spPr>
          <a:xfrm>
            <a:off x="4742815" y="5160962"/>
            <a:ext cx="1372870" cy="209550"/>
          </a:xfrm>
          <a:prstGeom prst="rect">
            <a:avLst/>
          </a:prstGeom>
          <a:noFill/>
          <a:ln w="0">
            <a:noFill/>
            <a:prstDash val="solid"/>
          </a:ln>
          <a:effectLst/>
        </p:spPr>
        <p:txBody>
          <a:bodyPr wrap="square" lIns="0" tIns="0" rIns="0" bIns="0" anchor="ctr">
            <a:noAutofit/>
          </a:bodyPr>
          <a:lstStyle/>
          <a:p>
            <a:pPr algn="l">
              <a:defRPr sz="660" b="0">
                <a:solidFill>
                  <a:srgbClr val="24344D"/>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形成 CUDA Platform Knowledge</a:t>
            </a:r>
          </a:p>
        </p:txBody>
      </p:sp>
      <p:sp>
        <p:nvSpPr>
          <p:cNvPr id="148" name="s18-gpu-frame"/>
          <p:cNvSpPr>
            <a:spLocks noGrp="1"/>
          </p:cNvSpPr>
          <p:nvPr/>
        </p:nvSpPr>
        <p:spPr>
          <a:xfrm>
            <a:off x="5943600" y="3513137"/>
            <a:ext cx="6038850" cy="1905000"/>
          </a:xfrm>
          <a:prstGeom prst="rect">
            <a:avLst/>
          </a:prstGeom>
          <a:solidFill>
            <a:srgbClr val="FFFFFF"/>
          </a:solidFill>
          <a:ln w="11430">
            <a:solidFill>
              <a:srgbClr val="D6DEE6"/>
            </a:solidFill>
            <a:prstDash val="solid"/>
          </a:ln>
          <a:effectLst/>
        </p:spPr>
      </p:sp>
      <p:sp>
        <p:nvSpPr>
          <p:cNvPr id="149" name="s18-gpu-header-fill"/>
          <p:cNvSpPr>
            <a:spLocks noGrp="1"/>
          </p:cNvSpPr>
          <p:nvPr/>
        </p:nvSpPr>
        <p:spPr>
          <a:xfrm>
            <a:off x="5953125" y="3522662"/>
            <a:ext cx="6019800" cy="495300"/>
          </a:xfrm>
          <a:prstGeom prst="rect">
            <a:avLst/>
          </a:prstGeom>
          <a:solidFill>
            <a:srgbClr val="FFFFFF"/>
          </a:solidFill>
          <a:ln w="0">
            <a:solidFill>
              <a:srgbClr val="D6DEE6"/>
            </a:solidFill>
            <a:prstDash val="solid"/>
          </a:ln>
          <a:effectLst/>
        </p:spPr>
      </p:sp>
      <p:sp>
        <p:nvSpPr>
          <p:cNvPr id="150" name="s18-gpu-body-fill"/>
          <p:cNvSpPr>
            <a:spLocks noGrp="1"/>
          </p:cNvSpPr>
          <p:nvPr/>
        </p:nvSpPr>
        <p:spPr>
          <a:xfrm>
            <a:off x="5953125" y="4017962"/>
            <a:ext cx="6019800" cy="1390650"/>
          </a:xfrm>
          <a:prstGeom prst="rect">
            <a:avLst/>
          </a:prstGeom>
          <a:solidFill>
            <a:srgbClr val="FFFFFF"/>
          </a:solidFill>
          <a:ln w="0">
            <a:solidFill>
              <a:srgbClr val="D6DEE6"/>
            </a:solidFill>
            <a:prstDash val="solid"/>
          </a:ln>
          <a:effectLst/>
        </p:spPr>
      </p:sp>
      <p:sp>
        <p:nvSpPr>
          <p:cNvPr id="151" name="s18-gpu-header-rule"/>
          <p:cNvSpPr>
            <a:spLocks noGrp="1"/>
          </p:cNvSpPr>
          <p:nvPr/>
        </p:nvSpPr>
        <p:spPr>
          <a:xfrm>
            <a:off x="5953125" y="4008437"/>
            <a:ext cx="6019800" cy="9525"/>
          </a:xfrm>
          <a:prstGeom prst="rect">
            <a:avLst/>
          </a:prstGeom>
          <a:solidFill>
            <a:srgbClr val="4F8A83"/>
          </a:solidFill>
          <a:ln w="0">
            <a:solidFill>
              <a:srgbClr val="4F8A83"/>
            </a:solidFill>
            <a:prstDash val="solid"/>
          </a:ln>
          <a:effectLst/>
        </p:spPr>
      </p:sp>
      <p:sp>
        <p:nvSpPr>
          <p:cNvPr id="152" name="s18-gpu-title"/>
          <p:cNvSpPr>
            <a:spLocks noGrp="1"/>
          </p:cNvSpPr>
          <p:nvPr/>
        </p:nvSpPr>
        <p:spPr>
          <a:xfrm>
            <a:off x="6019800" y="3541712"/>
            <a:ext cx="5886450" cy="295275"/>
          </a:xfrm>
          <a:prstGeom prst="rect">
            <a:avLst/>
          </a:prstGeom>
          <a:noFill/>
          <a:ln w="0">
            <a:noFill/>
            <a:prstDash val="solid"/>
          </a:ln>
          <a:effectLst/>
        </p:spPr>
        <p:txBody>
          <a:bodyPr wrap="square" lIns="0" tIns="0" rIns="0" bIns="0" anchor="ctr">
            <a:normAutofit/>
          </a:bodyPr>
          <a:lstStyle/>
          <a:p>
            <a:pPr algn="ctr">
              <a:defRPr sz="1875" b="1">
                <a:solidFill>
                  <a:srgbClr val="1457C5"/>
                </a:solidFill>
                <a:latin typeface="Calibri" panose="020F0502020204030204"/>
                <a:ea typeface="Calibri" panose="020F0502020204030204"/>
                <a:cs typeface="Calibri" panose="020F0502020204030204"/>
              </a:defRPr>
            </a:pPr>
            <a:r>
              <a:rPr sz="187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GPU Triton</a:t>
            </a:r>
          </a:p>
        </p:txBody>
      </p:sp>
      <p:sp>
        <p:nvSpPr>
          <p:cNvPr id="154" name="s18-gpu-divider-1"/>
          <p:cNvSpPr>
            <a:spLocks noGrp="1"/>
          </p:cNvSpPr>
          <p:nvPr/>
        </p:nvSpPr>
        <p:spPr>
          <a:xfrm>
            <a:off x="7048500" y="4084637"/>
            <a:ext cx="9525" cy="1257300"/>
          </a:xfrm>
          <a:prstGeom prst="rect">
            <a:avLst/>
          </a:prstGeom>
          <a:solidFill>
            <a:srgbClr val="EEF2F5"/>
          </a:solidFill>
          <a:ln w="0">
            <a:solidFill>
              <a:srgbClr val="D6DEE6"/>
            </a:solidFill>
            <a:prstDash val="solid"/>
          </a:ln>
          <a:effectLst/>
        </p:spPr>
      </p:sp>
      <p:sp>
        <p:nvSpPr>
          <p:cNvPr id="155" name="s18-gpu-divider-2"/>
          <p:cNvSpPr>
            <a:spLocks noGrp="1"/>
          </p:cNvSpPr>
          <p:nvPr/>
        </p:nvSpPr>
        <p:spPr>
          <a:xfrm>
            <a:off x="8924925" y="4084637"/>
            <a:ext cx="9525" cy="1257300"/>
          </a:xfrm>
          <a:prstGeom prst="rect">
            <a:avLst/>
          </a:prstGeom>
          <a:solidFill>
            <a:srgbClr val="EEF2F5"/>
          </a:solidFill>
          <a:ln w="0">
            <a:solidFill>
              <a:srgbClr val="D6DEE6"/>
            </a:solidFill>
            <a:prstDash val="solid"/>
          </a:ln>
          <a:effectLst/>
        </p:spPr>
      </p:sp>
      <p:sp>
        <p:nvSpPr>
          <p:cNvPr id="156" name="s18-gpu-divider-3"/>
          <p:cNvSpPr>
            <a:spLocks noGrp="1"/>
          </p:cNvSpPr>
          <p:nvPr/>
        </p:nvSpPr>
        <p:spPr>
          <a:xfrm>
            <a:off x="10382250" y="4084637"/>
            <a:ext cx="9525" cy="1257300"/>
          </a:xfrm>
          <a:prstGeom prst="rect">
            <a:avLst/>
          </a:prstGeom>
          <a:solidFill>
            <a:srgbClr val="EEF2F5"/>
          </a:solidFill>
          <a:ln w="0">
            <a:solidFill>
              <a:srgbClr val="D6DEE6"/>
            </a:solidFill>
            <a:prstDash val="solid"/>
          </a:ln>
          <a:effectLst/>
        </p:spPr>
      </p:sp>
      <p:sp>
        <p:nvSpPr>
          <p:cNvPr id="157" name="s18-gpu-c1-number"/>
          <p:cNvSpPr>
            <a:spLocks noGrp="1"/>
          </p:cNvSpPr>
          <p:nvPr/>
        </p:nvSpPr>
        <p:spPr>
          <a:xfrm>
            <a:off x="603885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1</a:t>
            </a:r>
          </a:p>
        </p:txBody>
      </p:sp>
      <p:sp>
        <p:nvSpPr>
          <p:cNvPr id="158" name="s18-gpu-c1-title"/>
          <p:cNvSpPr>
            <a:spLocks noGrp="1"/>
          </p:cNvSpPr>
          <p:nvPr/>
        </p:nvSpPr>
        <p:spPr>
          <a:xfrm>
            <a:off x="6286500" y="4075112"/>
            <a:ext cx="7048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当前阶段</a:t>
            </a:r>
          </a:p>
        </p:txBody>
      </p:sp>
      <p:sp>
        <p:nvSpPr>
          <p:cNvPr id="159" name="s18-gpu-c2-number"/>
          <p:cNvSpPr>
            <a:spLocks noGrp="1"/>
          </p:cNvSpPr>
          <p:nvPr/>
        </p:nvSpPr>
        <p:spPr>
          <a:xfrm>
            <a:off x="714375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2</a:t>
            </a:r>
          </a:p>
        </p:txBody>
      </p:sp>
      <p:sp>
        <p:nvSpPr>
          <p:cNvPr id="160" name="s18-gpu-c2-title"/>
          <p:cNvSpPr>
            <a:spLocks noGrp="1"/>
          </p:cNvSpPr>
          <p:nvPr/>
        </p:nvSpPr>
        <p:spPr>
          <a:xfrm>
            <a:off x="7391400" y="4075112"/>
            <a:ext cx="14668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已完成</a:t>
            </a:r>
          </a:p>
        </p:txBody>
      </p:sp>
      <p:sp>
        <p:nvSpPr>
          <p:cNvPr id="161" name="s18-gpu-c3-number"/>
          <p:cNvSpPr>
            <a:spLocks noGrp="1"/>
          </p:cNvSpPr>
          <p:nvPr/>
        </p:nvSpPr>
        <p:spPr>
          <a:xfrm>
            <a:off x="9020175"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3</a:t>
            </a:r>
          </a:p>
        </p:txBody>
      </p:sp>
      <p:sp>
        <p:nvSpPr>
          <p:cNvPr id="162" name="s18-gpu-c3-title"/>
          <p:cNvSpPr>
            <a:spLocks noGrp="1"/>
          </p:cNvSpPr>
          <p:nvPr/>
        </p:nvSpPr>
        <p:spPr>
          <a:xfrm>
            <a:off x="9267825" y="4075112"/>
            <a:ext cx="10477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验证程度</a:t>
            </a:r>
          </a:p>
        </p:txBody>
      </p:sp>
      <p:sp>
        <p:nvSpPr>
          <p:cNvPr id="163" name="s18-gpu-c4-number"/>
          <p:cNvSpPr>
            <a:spLocks noGrp="1"/>
          </p:cNvSpPr>
          <p:nvPr/>
        </p:nvSpPr>
        <p:spPr>
          <a:xfrm>
            <a:off x="1047750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4</a:t>
            </a:r>
          </a:p>
        </p:txBody>
      </p:sp>
      <p:sp>
        <p:nvSpPr>
          <p:cNvPr id="164" name="s18-gpu-c4-title"/>
          <p:cNvSpPr>
            <a:spLocks noGrp="1"/>
          </p:cNvSpPr>
          <p:nvPr/>
        </p:nvSpPr>
        <p:spPr>
          <a:xfrm>
            <a:off x="10725150" y="4075112"/>
            <a:ext cx="11430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下一步</a:t>
            </a:r>
          </a:p>
        </p:txBody>
      </p:sp>
      <p:sp>
        <p:nvSpPr>
          <p:cNvPr id="165" name="s18-gpu-stage"/>
          <p:cNvSpPr>
            <a:spLocks noGrp="1"/>
          </p:cNvSpPr>
          <p:nvPr/>
        </p:nvSpPr>
        <p:spPr>
          <a:xfrm>
            <a:off x="6038850" y="4341812"/>
            <a:ext cx="942975" cy="666750"/>
          </a:xfrm>
          <a:prstGeom prst="rect">
            <a:avLst/>
          </a:prstGeom>
          <a:noFill/>
          <a:ln w="0">
            <a:noFill/>
            <a:prstDash val="solid"/>
          </a:ln>
          <a:effectLst/>
        </p:spPr>
        <p:txBody>
          <a:bodyPr wrap="square" lIns="0" tIns="19050" rIns="0" bIns="0" anchor="t">
            <a:normAutofit/>
          </a:bodyPr>
          <a:lstStyle/>
          <a:p>
            <a:pPr>
              <a:defRPr sz="865" b="1">
                <a:solidFill>
                  <a:srgbClr val="24344D"/>
                </a:solidFill>
                <a:latin typeface="微软雅黑" panose="020B0503020204020204" charset="-122"/>
                <a:ea typeface="微软雅黑" panose="020B0503020204020204" charset="-122"/>
                <a:cs typeface="微软雅黑" panose="020B0503020204020204" charset="-122"/>
              </a:defRPr>
            </a:pPr>
            <a:r>
              <a:rPr lang="zh-CN" altLang="en-US" sz="865" b="1" dirty="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基础框架完成</a:t>
            </a:r>
          </a:p>
        </p:txBody>
      </p:sp>
      <p:sp>
        <p:nvSpPr>
          <p:cNvPr id="166" name="s18-gpu-done-1-symbol"/>
          <p:cNvSpPr>
            <a:spLocks noGrp="1"/>
          </p:cNvSpPr>
          <p:nvPr/>
        </p:nvSpPr>
        <p:spPr>
          <a:xfrm>
            <a:off x="7162800"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67" name="s18-gpu-done-1-text"/>
          <p:cNvSpPr>
            <a:spLocks noGrp="1"/>
          </p:cNvSpPr>
          <p:nvPr/>
        </p:nvSpPr>
        <p:spPr>
          <a:xfrm>
            <a:off x="7324725" y="4341812"/>
            <a:ext cx="155257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GPU 环境信息采集</a:t>
            </a:r>
          </a:p>
        </p:txBody>
      </p:sp>
      <p:sp>
        <p:nvSpPr>
          <p:cNvPr id="168" name="s18-gpu-done-2-symbol"/>
          <p:cNvSpPr>
            <a:spLocks noGrp="1"/>
          </p:cNvSpPr>
          <p:nvPr/>
        </p:nvSpPr>
        <p:spPr>
          <a:xfrm>
            <a:off x="7162800"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69" name="s18-gpu-done-2-text"/>
          <p:cNvSpPr>
            <a:spLocks noGrp="1"/>
          </p:cNvSpPr>
          <p:nvPr/>
        </p:nvSpPr>
        <p:spPr>
          <a:xfrm>
            <a:off x="7324725" y="4551362"/>
            <a:ext cx="155257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基础迁移框架</a:t>
            </a:r>
          </a:p>
        </p:txBody>
      </p:sp>
      <p:sp>
        <p:nvSpPr>
          <p:cNvPr id="170" name="s18-gpu-done-3-symbol"/>
          <p:cNvSpPr>
            <a:spLocks noGrp="1"/>
          </p:cNvSpPr>
          <p:nvPr/>
        </p:nvSpPr>
        <p:spPr>
          <a:xfrm>
            <a:off x="7162800" y="4760912"/>
            <a:ext cx="133350" cy="2857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71" name="s18-gpu-done-3-text"/>
          <p:cNvSpPr>
            <a:spLocks noGrp="1"/>
          </p:cNvSpPr>
          <p:nvPr/>
        </p:nvSpPr>
        <p:spPr>
          <a:xfrm>
            <a:off x="7324725" y="4760912"/>
            <a:ext cx="1552575" cy="285750"/>
          </a:xfrm>
          <a:prstGeom prst="rect">
            <a:avLst/>
          </a:prstGeom>
          <a:noFill/>
          <a:ln w="0">
            <a:noFill/>
            <a:prstDash val="solid"/>
          </a:ln>
          <a:effectLst/>
        </p:spPr>
        <p:txBody>
          <a:bodyPr wrap="square" lIns="0" tIns="0" rIns="0" bIns="0" anchor="ctr">
            <a:normAutofit/>
          </a:bodyPr>
          <a:lstStyle/>
          <a:p>
            <a:pPr algn="l">
              <a:defRPr sz="705" b="0">
                <a:solidFill>
                  <a:srgbClr val="24344D"/>
                </a:solidFill>
                <a:latin typeface="微软雅黑" panose="020B0503020204020204" charset="-122"/>
                <a:ea typeface="微软雅黑" panose="020B0503020204020204" charset="-122"/>
                <a:cs typeface="微软雅黑" panose="020B0503020204020204" charset="-122"/>
              </a:defRPr>
            </a:pPr>
            <a:r>
              <a:rPr sz="70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GPU 平台 Shared / Knowledge 初步整理</a:t>
            </a:r>
          </a:p>
        </p:txBody>
      </p:sp>
      <p:sp>
        <p:nvSpPr>
          <p:cNvPr id="172" name="s18-gpu-done-4-symbol"/>
          <p:cNvSpPr>
            <a:spLocks noGrp="1"/>
          </p:cNvSpPr>
          <p:nvPr/>
        </p:nvSpPr>
        <p:spPr>
          <a:xfrm>
            <a:off x="7162800" y="5065712"/>
            <a:ext cx="133350" cy="2667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73" name="s18-gpu-done-4-text"/>
          <p:cNvSpPr>
            <a:spLocks noGrp="1"/>
          </p:cNvSpPr>
          <p:nvPr/>
        </p:nvSpPr>
        <p:spPr>
          <a:xfrm>
            <a:off x="7324725" y="5065712"/>
            <a:ext cx="1552575" cy="266700"/>
          </a:xfrm>
          <a:prstGeom prst="rect">
            <a:avLst/>
          </a:prstGeom>
          <a:noFill/>
          <a:ln w="0">
            <a:noFill/>
            <a:prstDash val="solid"/>
          </a:ln>
          <a:effectLst/>
        </p:spPr>
        <p:txBody>
          <a:bodyPr wrap="square" lIns="0" tIns="0" rIns="0" bIns="0" anchor="ctr">
            <a:normAutofit/>
          </a:bodyPr>
          <a:lstStyle/>
          <a:p>
            <a:pPr algn="l">
              <a:defRPr sz="705" b="0">
                <a:solidFill>
                  <a:srgbClr val="24344D"/>
                </a:solidFill>
                <a:latin typeface="微软雅黑" panose="020B0503020204020204" charset="-122"/>
                <a:ea typeface="微软雅黑" panose="020B0503020204020204" charset="-122"/>
                <a:cs typeface="微软雅黑" panose="020B0503020204020204" charset="-122"/>
              </a:defRPr>
            </a:pPr>
            <a:r>
              <a:rPr sz="70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保留 Triton 算子开发主 Workflow</a:t>
            </a:r>
          </a:p>
        </p:txBody>
      </p:sp>
      <p:sp>
        <p:nvSpPr>
          <p:cNvPr id="174" name="s18-gpu-val-1-symbol"/>
          <p:cNvSpPr>
            <a:spLocks noGrp="1"/>
          </p:cNvSpPr>
          <p:nvPr/>
        </p:nvSpPr>
        <p:spPr>
          <a:xfrm>
            <a:off x="9039225"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75" name="s18-gpu-val-1-text"/>
          <p:cNvSpPr>
            <a:spLocks noGrp="1"/>
          </p:cNvSpPr>
          <p:nvPr/>
        </p:nvSpPr>
        <p:spPr>
          <a:xfrm>
            <a:off x="9201150" y="4341812"/>
            <a:ext cx="1114425" cy="190500"/>
          </a:xfrm>
          <a:prstGeom prst="rect">
            <a:avLst/>
          </a:prstGeom>
          <a:noFill/>
          <a:ln w="0">
            <a:noFill/>
            <a:prstDash val="solid"/>
          </a:ln>
          <a:effectLst/>
        </p:spPr>
        <p:txBody>
          <a:bodyPr wrap="square" lIns="0" tIns="0" rIns="0" bIns="0" anchor="ctr">
            <a:normAutofit/>
          </a:bodyPr>
          <a:lstStyle/>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Workflow 复用  </a:t>
            </a:r>
          </a:p>
        </p:txBody>
      </p:sp>
      <p:sp>
        <p:nvSpPr>
          <p:cNvPr id="176" name="s18-gpu-val-2-symbol"/>
          <p:cNvSpPr>
            <a:spLocks noGrp="1"/>
          </p:cNvSpPr>
          <p:nvPr/>
        </p:nvSpPr>
        <p:spPr>
          <a:xfrm>
            <a:off x="9039225"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0F9ED5"/>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77" name="s18-gpu-val-2-text"/>
          <p:cNvSpPr>
            <a:spLocks noGrp="1"/>
          </p:cNvSpPr>
          <p:nvPr/>
        </p:nvSpPr>
        <p:spPr>
          <a:xfrm>
            <a:off x="9201150" y="4551362"/>
            <a:ext cx="11144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环境采集  </a:t>
            </a:r>
          </a:p>
        </p:txBody>
      </p:sp>
      <p:sp>
        <p:nvSpPr>
          <p:cNvPr id="178" name="s18-gpu-val-3-symbol"/>
          <p:cNvSpPr>
            <a:spLocks noGrp="1"/>
          </p:cNvSpPr>
          <p:nvPr/>
        </p:nvSpPr>
        <p:spPr>
          <a:xfrm>
            <a:off x="9039225" y="4760912"/>
            <a:ext cx="133350" cy="19050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79" name="s18-gpu-val-3-text"/>
          <p:cNvSpPr>
            <a:spLocks noGrp="1"/>
          </p:cNvSpPr>
          <p:nvPr/>
        </p:nvSpPr>
        <p:spPr>
          <a:xfrm>
            <a:off x="9201150" y="4760912"/>
            <a:ext cx="11144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平台知识  △</a:t>
            </a:r>
          </a:p>
        </p:txBody>
      </p:sp>
      <p:sp>
        <p:nvSpPr>
          <p:cNvPr id="180" name="s18-gpu-val-4-symbol"/>
          <p:cNvSpPr>
            <a:spLocks noGrp="1"/>
          </p:cNvSpPr>
          <p:nvPr/>
        </p:nvSpPr>
        <p:spPr>
          <a:xfrm>
            <a:off x="9039225" y="4970462"/>
            <a:ext cx="133350" cy="19050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81" name="s18-gpu-val-4-text"/>
          <p:cNvSpPr>
            <a:spLocks noGrp="1"/>
          </p:cNvSpPr>
          <p:nvPr/>
        </p:nvSpPr>
        <p:spPr>
          <a:xfrm>
            <a:off x="9201150" y="4970462"/>
            <a:ext cx="1114425" cy="19050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三算子验证  待补</a:t>
            </a:r>
          </a:p>
        </p:txBody>
      </p:sp>
      <p:sp>
        <p:nvSpPr>
          <p:cNvPr id="182" name="s18-gpu-val-5-symbol"/>
          <p:cNvSpPr>
            <a:spLocks noGrp="1"/>
          </p:cNvSpPr>
          <p:nvPr/>
        </p:nvSpPr>
        <p:spPr>
          <a:xfrm>
            <a:off x="9039225" y="5180012"/>
            <a:ext cx="133350" cy="17145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83" name="s18-gpu-val-5-text"/>
          <p:cNvSpPr>
            <a:spLocks noGrp="1"/>
          </p:cNvSpPr>
          <p:nvPr/>
        </p:nvSpPr>
        <p:spPr>
          <a:xfrm>
            <a:off x="9201150" y="5180012"/>
            <a:ext cx="1114425" cy="17145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性能规则  待校准</a:t>
            </a:r>
          </a:p>
        </p:txBody>
      </p:sp>
      <p:sp>
        <p:nvSpPr>
          <p:cNvPr id="184" name="s18-gpu-next-1-symbol"/>
          <p:cNvSpPr>
            <a:spLocks noGrp="1"/>
          </p:cNvSpPr>
          <p:nvPr/>
        </p:nvSpPr>
        <p:spPr>
          <a:xfrm>
            <a:off x="10496550" y="4341812"/>
            <a:ext cx="133350" cy="31432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85" name="s18-gpu-next-1-text"/>
          <p:cNvSpPr>
            <a:spLocks noGrp="1"/>
          </p:cNvSpPr>
          <p:nvPr/>
        </p:nvSpPr>
        <p:spPr>
          <a:xfrm>
            <a:off x="10658475" y="4341812"/>
            <a:ext cx="1200150" cy="314325"/>
          </a:xfrm>
          <a:prstGeom prst="rect">
            <a:avLst/>
          </a:prstGeom>
          <a:noFill/>
          <a:ln w="0">
            <a:noFill/>
            <a:prstDash val="solid"/>
          </a:ln>
          <a:effectLst/>
        </p:spPr>
        <p:txBody>
          <a:bodyPr wrap="square" lIns="0" tIns="0" rIns="0" bIns="0" anchor="ctr">
            <a:normAutofit/>
          </a:bodyPr>
          <a:lstStyle/>
          <a:p>
            <a:pPr algn="l">
              <a:defRPr sz="705" b="0">
                <a:solidFill>
                  <a:srgbClr val="24344D"/>
                </a:solidFill>
                <a:latin typeface="微软雅黑" panose="020B0503020204020204" charset="-122"/>
                <a:ea typeface="微软雅黑" panose="020B0503020204020204" charset="-122"/>
                <a:cs typeface="微软雅黑" panose="020B0503020204020204" charset="-122"/>
              </a:defRPr>
            </a:pPr>
            <a:r>
              <a:rPr sz="70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补 GPU Hardware / Memory Profiler 信息</a:t>
            </a:r>
          </a:p>
        </p:txBody>
      </p:sp>
      <p:sp>
        <p:nvSpPr>
          <p:cNvPr id="186" name="s18-gpu-next-2-symbol"/>
          <p:cNvSpPr>
            <a:spLocks noGrp="1"/>
          </p:cNvSpPr>
          <p:nvPr/>
        </p:nvSpPr>
        <p:spPr>
          <a:xfrm>
            <a:off x="10496550" y="46656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87" name="s18-gpu-next-2-text"/>
          <p:cNvSpPr>
            <a:spLocks noGrp="1"/>
          </p:cNvSpPr>
          <p:nvPr/>
        </p:nvSpPr>
        <p:spPr>
          <a:xfrm>
            <a:off x="10658475" y="4665662"/>
            <a:ext cx="1200150"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跑平台微基准</a:t>
            </a:r>
          </a:p>
        </p:txBody>
      </p:sp>
      <p:sp>
        <p:nvSpPr>
          <p:cNvPr id="188" name="s18-gpu-next-3-symbol"/>
          <p:cNvSpPr>
            <a:spLocks noGrp="1"/>
          </p:cNvSpPr>
          <p:nvPr/>
        </p:nvSpPr>
        <p:spPr>
          <a:xfrm>
            <a:off x="10496550" y="4875212"/>
            <a:ext cx="133350" cy="25717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89" name="s18-gpu-next-3-text"/>
          <p:cNvSpPr>
            <a:spLocks noGrp="1"/>
          </p:cNvSpPr>
          <p:nvPr/>
        </p:nvSpPr>
        <p:spPr>
          <a:xfrm>
            <a:off x="10658475" y="4875212"/>
            <a:ext cx="1200150" cy="257175"/>
          </a:xfrm>
          <a:prstGeom prst="rect">
            <a:avLst/>
          </a:prstGeom>
          <a:noFill/>
          <a:ln w="0">
            <a:noFill/>
            <a:prstDash val="solid"/>
          </a:ln>
          <a:effectLst/>
        </p:spPr>
        <p:txBody>
          <a:bodyPr wrap="square" lIns="0" tIns="0" rIns="0" bIns="0" anchor="ctr">
            <a:normAutofit/>
          </a:bodyPr>
          <a:lstStyle/>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71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用三个标准算子完成闭环验证</a:t>
            </a:r>
          </a:p>
        </p:txBody>
      </p:sp>
      <p:sp>
        <p:nvSpPr>
          <p:cNvPr id="190" name="s18-gpu-next-4-symbol"/>
          <p:cNvSpPr>
            <a:spLocks noGrp="1"/>
          </p:cNvSpPr>
          <p:nvPr/>
        </p:nvSpPr>
        <p:spPr>
          <a:xfrm>
            <a:off x="10496550" y="5141912"/>
            <a:ext cx="133350" cy="2286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91" name="s18-gpu-next-4-text"/>
          <p:cNvSpPr>
            <a:spLocks noGrp="1"/>
          </p:cNvSpPr>
          <p:nvPr/>
        </p:nvSpPr>
        <p:spPr>
          <a:xfrm>
            <a:off x="10658475" y="5141912"/>
            <a:ext cx="1200150" cy="228600"/>
          </a:xfrm>
          <a:prstGeom prst="rect">
            <a:avLst/>
          </a:prstGeom>
          <a:noFill/>
          <a:ln w="0">
            <a:noFill/>
            <a:prstDash val="solid"/>
          </a:ln>
          <a:effectLst/>
        </p:spPr>
        <p:txBody>
          <a:bodyPr wrap="square" lIns="0" tIns="0" rIns="0" bIns="0" anchor="ctr">
            <a:normAutofit/>
          </a:bodyPr>
          <a:lstStyle/>
          <a:p>
            <a:pPr algn="l">
              <a:defRPr sz="690" b="0">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重新校准 Tile / Pipeline /</a:t>
            </a:r>
          </a:p>
          <a:p>
            <a:pPr algn="l">
              <a:defRPr sz="690" b="0">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Autotune 经验</a:t>
            </a:r>
          </a:p>
        </p:txBody>
      </p:sp>
      <p:sp>
        <p:nvSpPr>
          <p:cNvPr id="3"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a:solidFill>
                  <a:srgbClr val="66737F"/>
                </a:solidFill>
                <a:latin typeface="Times New Roman" panose="02020603050405020304" pitchFamily="18" charset="0"/>
                <a:ea typeface="微软雅黑" panose="020B0503020204020204" pitchFamily="34" charset="-122"/>
                <a:cs typeface="Times New Roman" panose="02020603050405020304" pitchFamily="18" charset="0"/>
              </a:rPr>
              <a:t>9</a:t>
            </a:r>
          </a:p>
        </p:txBody>
      </p:sp>
      <p:sp>
        <p:nvSpPr>
          <p:cNvPr id="192"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3.3</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93"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11-title"/>
          <p:cNvSpPr>
            <a:spLocks noGrp="1"/>
          </p:cNvSpPr>
          <p:nvPr/>
        </p:nvSpPr>
        <p:spPr>
          <a:xfrm>
            <a:off x="1200150" y="177800"/>
            <a:ext cx="9144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3000" b="1">
                <a:solidFill>
                  <a:srgbClr val="243B53"/>
                </a:solidFill>
                <a:latin typeface="Arial" panose="020B0604020202020204" pitchFamily="34" charset="0"/>
                <a:ea typeface="Microsoft YaHei" panose="020B0503020204020204" pitchFamily="34" charset="-122"/>
                <a:cs typeface="微软雅黑" panose="020B0503020204020204" charset="-122"/>
              </a:rPr>
              <a:t>四类 </a:t>
            </a:r>
            <a:r>
              <a:rPr lang="en-US" sz="3000" b="1">
                <a:solidFill>
                  <a:srgbClr val="243B53"/>
                </a:solidFill>
                <a:latin typeface="Arial" panose="020B0604020202020204" pitchFamily="34" charset="0"/>
                <a:ea typeface="Microsoft YaHei" panose="020B0503020204020204" pitchFamily="34" charset="-122"/>
                <a:cs typeface="微软雅黑" panose="020B0503020204020204" charset="-122"/>
              </a:rPr>
              <a:t>Skill </a:t>
            </a:r>
            <a:r>
              <a:rPr lang="zh-CN" altLang="en-US" sz="3000" b="1">
                <a:solidFill>
                  <a:srgbClr val="243B53"/>
                </a:solidFill>
                <a:latin typeface="Arial" panose="020B0604020202020204" pitchFamily="34" charset="0"/>
                <a:ea typeface="Microsoft YaHei" panose="020B0503020204020204" pitchFamily="34" charset="-122"/>
                <a:cs typeface="微软雅黑" panose="020B0503020204020204" charset="-122"/>
              </a:rPr>
              <a:t>生成 </a:t>
            </a:r>
            <a:r>
              <a:rPr lang="en-US" sz="3000" b="1">
                <a:solidFill>
                  <a:srgbClr val="243B53"/>
                </a:solidFill>
                <a:latin typeface="Arial" panose="020B0604020202020204" pitchFamily="34" charset="0"/>
                <a:ea typeface="Microsoft YaHei" panose="020B0503020204020204" pitchFamily="34" charset="-122"/>
                <a:cs typeface="微软雅黑" panose="020B0503020204020204" charset="-122"/>
              </a:rPr>
              <a:t>Kernel：</a:t>
            </a:r>
            <a:r>
              <a:rPr lang="zh-CN" altLang="en-US" sz="3000" b="1">
                <a:solidFill>
                  <a:srgbClr val="243B53"/>
                </a:solidFill>
                <a:latin typeface="Arial" panose="020B0604020202020204" pitchFamily="34" charset="0"/>
                <a:ea typeface="Microsoft YaHei" panose="020B0503020204020204" pitchFamily="34" charset="-122"/>
                <a:cs typeface="微软雅黑" panose="020B0503020204020204" charset="-122"/>
              </a:rPr>
              <a:t>性能结果对比</a:t>
            </a:r>
            <a:endParaRPr sz="3000" b="1">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3" name="measurement_and_baseline_note"/>
          <p:cNvSpPr>
            <a:spLocks noGrp="1"/>
          </p:cNvSpPr>
          <p:nvPr/>
        </p:nvSpPr>
        <p:spPr>
          <a:xfrm>
            <a:off x="1200150" y="4749800"/>
            <a:ext cx="9772650" cy="254000"/>
          </a:xfrm>
          <a:prstGeom prst="rect">
            <a:avLst/>
          </a:prstGeom>
          <a:noFill/>
          <a:ln w="0">
            <a:noFill/>
            <a:prstDash val="solid"/>
          </a:ln>
          <a:effectLst/>
        </p:spPr>
        <p:txBody>
          <a:bodyPr wrap="square" lIns="0" tIns="0" rIns="0" bIns="0" anchor="t">
            <a:noAutofit/>
          </a:bodyPr>
          <a:lstStyle/>
          <a:p>
            <a:pPr>
              <a:buNone/>
              <a:defRPr sz="1050" b="0">
                <a:solidFill>
                  <a:srgbClr val="555D69"/>
                </a:solidFill>
                <a:latin typeface="微软雅黑" panose="020B0503020204020204" charset="-122"/>
                <a:ea typeface="微软雅黑" panose="020B0503020204020204" charset="-122"/>
                <a:cs typeface="微软雅黑" panose="020B0503020204020204" charset="-122"/>
              </a:defRPr>
            </a:pPr>
            <a:r>
              <a:rPr sz="1050">
                <a:solidFill>
                  <a:srgbClr val="66737F"/>
                </a:solidFill>
                <a:latin typeface="Arial" panose="020B0604020202020204" pitchFamily="34" charset="0"/>
                <a:ea typeface="Microsoft YaHei" panose="020B0503020204020204" pitchFamily="34" charset="-122"/>
                <a:cs typeface="微软雅黑" panose="020B0503020204020204" charset="-122"/>
              </a:rPr>
              <a:t>单元格：Kernel / PyTorch  |  Baseline：MLU  → PyTorch-MLU  |  GPU → PyTorch-CUDA</a:t>
            </a:r>
          </a:p>
        </p:txBody>
      </p:sp>
      <p:graphicFrame>
        <p:nvGraphicFramePr>
          <p:cNvPr id="13" name="kernel_vs_pytorch_performance"/>
          <p:cNvGraphicFramePr/>
          <p:nvPr>
            <p:extLst>
              <p:ext uri="{D42A27DB-BD31-4B8C-83A1-F6EECF244321}">
                <p14:modId xmlns:p14="http://schemas.microsoft.com/office/powerpoint/2010/main" val="3700184298"/>
              </p:ext>
            </p:extLst>
          </p:nvPr>
        </p:nvGraphicFramePr>
        <p:xfrm>
          <a:off x="1200150" y="990600"/>
          <a:ext cx="9772650" cy="3657598"/>
        </p:xfrm>
        <a:graphic>
          <a:graphicData uri="http://schemas.openxmlformats.org/drawingml/2006/table">
            <a:tbl>
              <a:tblPr firstRow="1">
                <a:effectLst/>
              </a:tblPr>
              <a:tblGrid>
                <a:gridCol w="2219325">
                  <a:extLst>
                    <a:ext uri="{9D8B030D-6E8A-4147-A177-3AD203B41FA5}">
                      <a16:colId xmlns:a16="http://schemas.microsoft.com/office/drawing/2014/main" val="20000"/>
                    </a:ext>
                  </a:extLst>
                </a:gridCol>
                <a:gridCol w="2524125">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522514">
                <a:tc>
                  <a:txBody>
                    <a:bodyPr/>
                    <a:lstStyle/>
                    <a:p>
                      <a:pPr algn="ctr">
                        <a:buNone/>
                      </a:pPr>
                      <a:r>
                        <a:rPr lang="zh-CN" sz="1400" b="1">
                          <a:solidFill>
                            <a:srgbClr val="FFFFFF"/>
                          </a:solidFill>
                          <a:latin typeface="Arial" panose="020B0604020202020204" pitchFamily="34" charset="0"/>
                          <a:ea typeface="Microsoft YaHei" panose="020B0503020204020204" pitchFamily="34" charset="-122"/>
                          <a:cs typeface="微软雅黑" panose="020B0503020204020204" charset="-122"/>
                        </a:rPr>
                        <a:t>平台</a:t>
                      </a:r>
                      <a:r>
                        <a:rPr lang="en-US" altLang="zh-CN" sz="1400" b="1">
                          <a:solidFill>
                            <a:srgbClr val="FFFFFF"/>
                          </a:solidFill>
                          <a:latin typeface="Arial" panose="020B0604020202020204" pitchFamily="34" charset="0"/>
                          <a:ea typeface="Microsoft YaHei" panose="020B0503020204020204" pitchFamily="34" charset="-122"/>
                          <a:cs typeface="微软雅黑" panose="020B0503020204020204" charset="-122"/>
                        </a:rPr>
                        <a:t>/</a:t>
                      </a:r>
                      <a:r>
                        <a:rPr lang="zh-CN" altLang="en-US" sz="1400" b="1">
                          <a:solidFill>
                            <a:srgbClr val="FFFFFF"/>
                          </a:solidFill>
                          <a:latin typeface="Arial" panose="020B0604020202020204" pitchFamily="34" charset="0"/>
                          <a:ea typeface="Microsoft YaHei" panose="020B0503020204020204" pitchFamily="34" charset="-122"/>
                          <a:cs typeface="微软雅黑" panose="020B0503020204020204" charset="-122"/>
                        </a:rPr>
                        <a:t>算子输入</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LayerNorm</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Softmax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MatMul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522514">
                <a:tc>
                  <a:txBody>
                    <a:bodyPr/>
                    <a:lstStyle/>
                    <a:p>
                      <a:pPr algn="ctr">
                        <a:buNone/>
                      </a:pPr>
                      <a:r>
                        <a:rPr lang="zh-CN" sz="1400" b="1">
                          <a:solidFill>
                            <a:srgbClr val="2F3A45"/>
                          </a:solidFill>
                          <a:latin typeface="Arial" panose="020B0604020202020204" pitchFamily="34" charset="0"/>
                          <a:ea typeface="Microsoft YaHei" panose="020B0503020204020204" pitchFamily="34" charset="-122"/>
                          <a:cs typeface="微软雅黑" panose="020B0503020204020204" charset="-122"/>
                        </a:rPr>
                        <a:t>精度</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a:solidFill>
                            <a:srgbClr val="2F3A45"/>
                          </a:solidFill>
                          <a:latin typeface="Arial" panose="020B0604020202020204" pitchFamily="34" charset="0"/>
                          <a:ea typeface="Microsoft YaHei" panose="020B0503020204020204" pitchFamily="34" charset="-122"/>
                          <a:cs typeface="微软雅黑" panose="020B0503020204020204" charset="-122"/>
                        </a:rPr>
                        <a:t>FP32</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Microsoft YaHei" panose="020B0503020204020204" pitchFamily="34" charset="-122"/>
                          <a:cs typeface="微软雅黑" panose="020B0503020204020204" charset="-122"/>
                          <a:sym typeface="+mn-ea"/>
                        </a:rPr>
                        <a:t>FP32</a:t>
                      </a:r>
                      <a:endParaRPr sz="1400" b="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Microsoft YaHei" panose="020B0503020204020204" pitchFamily="34" charset="-122"/>
                          <a:cs typeface="微软雅黑" panose="020B0503020204020204" charset="-122"/>
                        </a:rPr>
                        <a:t>FP16</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522514">
                <a:tc>
                  <a:txBody>
                    <a:bodyPr/>
                    <a:lstStyle/>
                    <a:p>
                      <a:pPr algn="ctr">
                        <a:buNone/>
                      </a:pPr>
                      <a:r>
                        <a:rPr lang="zh-CN" sz="1400" b="1">
                          <a:solidFill>
                            <a:srgbClr val="2F3A45"/>
                          </a:solidFill>
                          <a:latin typeface="Arial" panose="020B0604020202020204" pitchFamily="34" charset="0"/>
                          <a:ea typeface="Microsoft YaHei" panose="020B0503020204020204" pitchFamily="34" charset="-122"/>
                          <a:cs typeface="微软雅黑" panose="020B0503020204020204" charset="-122"/>
                        </a:rPr>
                        <a:t>输入结构</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64</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512</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1024</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4096</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4096</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8192</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8192</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2"/>
                  </a:ext>
                </a:extLst>
              </a:tr>
              <a:tr h="522514">
                <a:tc>
                  <a:txBody>
                    <a:bodyPr/>
                    <a:lstStyle/>
                    <a:p>
                      <a:pPr algn="ctr">
                        <a:buNone/>
                      </a:pPr>
                      <a:r>
                        <a:rPr sz="1400" b="1">
                          <a:solidFill>
                            <a:srgbClr val="2F3A45"/>
                          </a:solidFill>
                          <a:latin typeface="Arial" panose="020B0604020202020204" pitchFamily="34" charset="0"/>
                          <a:ea typeface="Microsoft YaHei" panose="020B0503020204020204" pitchFamily="34" charset="-122"/>
                          <a:cs typeface="微软雅黑" panose="020B0503020204020204" charset="-122"/>
                        </a:rPr>
                        <a:t>MLU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0.15</a:t>
                      </a:r>
                      <a:r>
                        <a:rPr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  /  </a:t>
                      </a: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0.15</a:t>
                      </a:r>
                      <a:r>
                        <a:rPr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 </a:t>
                      </a:r>
                      <a:r>
                        <a:rPr sz="1400" b="1" dirty="0" err="1">
                          <a:solidFill>
                            <a:srgbClr val="4F8A83"/>
                          </a:solidFill>
                          <a:latin typeface="Arial" panose="020B0604020202020204" pitchFamily="34" charset="0"/>
                          <a:ea typeface="Microsoft YaHei" panose="020B0503020204020204" pitchFamily="34" charset="-122"/>
                          <a:cs typeface="微软雅黑" panose="020B0503020204020204" charset="-122"/>
                        </a:rPr>
                        <a:t>ms</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0.086</a:t>
                      </a:r>
                      <a:r>
                        <a:rPr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  /  </a:t>
                      </a: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0.11</a:t>
                      </a:r>
                      <a:r>
                        <a:rPr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 </a:t>
                      </a:r>
                      <a:r>
                        <a:rPr sz="1400" b="1" dirty="0" err="1">
                          <a:solidFill>
                            <a:srgbClr val="4F8A83"/>
                          </a:solidFill>
                          <a:latin typeface="Arial" panose="020B0604020202020204" pitchFamily="34" charset="0"/>
                          <a:ea typeface="Microsoft YaHei" panose="020B0503020204020204" pitchFamily="34" charset="-122"/>
                          <a:cs typeface="微软雅黑" panose="020B0503020204020204" charset="-122"/>
                        </a:rPr>
                        <a:t>ms</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11.84</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5.3</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400" b="0" dirty="0" err="1">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3"/>
                  </a:ext>
                </a:extLst>
              </a:tr>
              <a:tr h="522514">
                <a:tc>
                  <a:txBody>
                    <a:bodyPr/>
                    <a:lstStyle/>
                    <a:p>
                      <a:pPr algn="ctr">
                        <a:buNone/>
                      </a:pPr>
                      <a:r>
                        <a:rPr sz="1400" b="1">
                          <a:solidFill>
                            <a:srgbClr val="2F3A45"/>
                          </a:solidFill>
                          <a:latin typeface="Arial" panose="020B0604020202020204" pitchFamily="34" charset="0"/>
                          <a:ea typeface="Microsoft YaHei" panose="020B0503020204020204" pitchFamily="34" charset="-122"/>
                          <a:cs typeface="微软雅黑" panose="020B0503020204020204" charset="-122"/>
                        </a:rPr>
                        <a:t>BANG C</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a:t>
                      </a: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25.53</a:t>
                      </a: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  </a:t>
                      </a: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0.15</a:t>
                      </a: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a:t>
                      </a:r>
                      <a:r>
                        <a:rPr sz="1400" b="1" dirty="0" err="1">
                          <a:solidFill>
                            <a:srgbClr val="C77C59"/>
                          </a:solidFill>
                          <a:latin typeface="Arial" panose="020B0604020202020204" pitchFamily="34" charset="0"/>
                          <a:ea typeface="Microsoft YaHei" panose="020B0503020204020204" pitchFamily="34" charset="-122"/>
                          <a:cs typeface="微软雅黑" panose="020B0503020204020204" charset="-122"/>
                        </a:rPr>
                        <a:t>ms</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3.68</a:t>
                      </a: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  </a:t>
                      </a: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0.11</a:t>
                      </a: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a:t>
                      </a:r>
                      <a:r>
                        <a:rPr sz="1400" b="1" dirty="0" err="1">
                          <a:solidFill>
                            <a:srgbClr val="C77C59"/>
                          </a:solidFill>
                          <a:latin typeface="Arial" panose="020B0604020202020204" pitchFamily="34" charset="0"/>
                          <a:ea typeface="Microsoft YaHei" panose="020B0503020204020204" pitchFamily="34" charset="-122"/>
                          <a:cs typeface="微软雅黑" panose="020B0503020204020204" charset="-122"/>
                        </a:rPr>
                        <a:t>ms</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16.24</a:t>
                      </a: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  </a:t>
                      </a: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5.3</a:t>
                      </a: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a:t>
                      </a:r>
                      <a:r>
                        <a:rPr sz="1400" b="1" dirty="0" err="1">
                          <a:solidFill>
                            <a:srgbClr val="C77C59"/>
                          </a:solidFill>
                          <a:latin typeface="Arial" panose="020B0604020202020204" pitchFamily="34" charset="0"/>
                          <a:ea typeface="Microsoft YaHei" panose="020B0503020204020204" pitchFamily="34" charset="-122"/>
                          <a:cs typeface="微软雅黑" panose="020B0503020204020204" charset="-122"/>
                        </a:rPr>
                        <a:t>ms</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extLst>
                  <a:ext uri="{0D108BD9-81ED-4DB2-BD59-A6C34878D82A}">
                    <a16:rowId xmlns:a16="http://schemas.microsoft.com/office/drawing/2014/main" val="10004"/>
                  </a:ext>
                </a:extLst>
              </a:tr>
              <a:tr h="522514">
                <a:tc>
                  <a:txBody>
                    <a:bodyPr/>
                    <a:lstStyle/>
                    <a:p>
                      <a:pPr algn="ctr">
                        <a:buNone/>
                      </a:pPr>
                      <a:r>
                        <a:rPr sz="1400" b="1">
                          <a:solidFill>
                            <a:srgbClr val="2F3A45"/>
                          </a:solidFill>
                          <a:latin typeface="Arial" panose="020B0604020202020204" pitchFamily="34" charset="0"/>
                          <a:ea typeface="Microsoft YaHei" panose="020B0503020204020204" pitchFamily="34" charset="-122"/>
                          <a:cs typeface="微软雅黑" panose="020B0503020204020204" charset="-122"/>
                        </a:rPr>
                        <a:t>CUDA C</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0.32</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lang="en-US" sz="1400" b="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0.45</a:t>
                      </a:r>
                      <a:r>
                        <a:rPr sz="1400" b="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400" b="0" dirty="0" err="1">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0.162</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0.17</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400" b="0" dirty="0" err="1">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29.43</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15.59</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400" b="0" dirty="0" err="1">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5"/>
                  </a:ext>
                </a:extLst>
              </a:tr>
              <a:tr h="522514">
                <a:tc>
                  <a:txBody>
                    <a:bodyPr/>
                    <a:lstStyle/>
                    <a:p>
                      <a:pPr algn="ctr">
                        <a:buNone/>
                      </a:pPr>
                      <a:r>
                        <a:rPr sz="1400" b="1">
                          <a:solidFill>
                            <a:srgbClr val="2F3A45"/>
                          </a:solidFill>
                          <a:latin typeface="Arial" panose="020B0604020202020204" pitchFamily="34" charset="0"/>
                          <a:ea typeface="Microsoft YaHei" panose="020B0503020204020204" pitchFamily="34" charset="-122"/>
                          <a:cs typeface="微软雅黑" panose="020B0503020204020204" charset="-122"/>
                        </a:rPr>
                        <a:t>GPU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0.31</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lang="en-US" sz="1400" b="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0.45</a:t>
                      </a:r>
                      <a:r>
                        <a:rPr sz="1400" b="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400" b="0" dirty="0" err="1">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0.16</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0.17</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400" b="0" dirty="0" err="1">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48.26</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15.59</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400" b="0" dirty="0" err="1">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6"/>
                  </a:ext>
                </a:extLst>
              </a:tr>
            </a:tbl>
          </a:graphicData>
        </a:graphic>
      </p:graphicFrame>
      <p:sp>
        <p:nvSpPr>
          <p:cNvPr id="9" name="body-p11-evaluation-meta"/>
          <p:cNvSpPr>
            <a:spLocks noGrp="1"/>
          </p:cNvSpPr>
          <p:nvPr/>
        </p:nvSpPr>
        <p:spPr>
          <a:xfrm>
            <a:off x="7905750" y="57150"/>
            <a:ext cx="4057650" cy="133350"/>
          </a:xfrm>
          <a:prstGeom prst="rect">
            <a:avLst/>
          </a:prstGeom>
          <a:noFill/>
          <a:ln w="0">
            <a:noFill/>
            <a:prstDash val="solid"/>
          </a:ln>
          <a:effectLst/>
        </p:spPr>
        <p:txBody>
          <a:bodyPr wrap="square" lIns="0" tIns="0" rIns="0" bIns="0" anchor="t">
            <a:noAutofit/>
          </a:bodyPr>
          <a:lstStyle/>
          <a:p>
            <a:pPr algn="r">
              <a:defRPr sz="640" b="1">
                <a:solidFill>
                  <a:srgbClr val="6F86A8"/>
                </a:solidFill>
                <a:latin typeface="微软雅黑" panose="020B0503020204020204" charset="-122"/>
                <a:ea typeface="微软雅黑" panose="020B0503020204020204" charset="-122"/>
                <a:cs typeface="微软雅黑" panose="020B0503020204020204" charset="-122"/>
              </a:defRPr>
            </a:pPr>
            <a:r>
              <a:rPr lang="en-US" sz="800" b="1">
                <a:solidFill>
                  <a:srgbClr val="66737F"/>
                </a:solidFill>
                <a:latin typeface="Arial" panose="020B0604020202020204" pitchFamily="34" charset="0"/>
                <a:ea typeface="Microsoft YaHei" panose="020B0503020204020204" pitchFamily="34" charset="-122"/>
                <a:cs typeface="微软雅黑" panose="020B0503020204020204" charset="-122"/>
              </a:rPr>
              <a:t>EVALUATION 02 · Kernel / PyTorch Time</a:t>
            </a:r>
            <a:endParaRPr sz="800" b="1">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
        <p:nvSpPr>
          <p:cNvPr id="2"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a:solidFill>
                  <a:srgbClr val="66737F"/>
                </a:solidFill>
                <a:latin typeface="Arial" panose="020B0604020202020204" pitchFamily="34" charset="0"/>
                <a:ea typeface="Microsoft YaHei" panose="020B0503020204020204" pitchFamily="34" charset="-122"/>
                <a:cs typeface="微软雅黑" panose="020B0503020204020204" charset="-122"/>
              </a:rPr>
              <a:t>10</a:t>
            </a:r>
          </a:p>
        </p:txBody>
      </p:sp>
      <p:sp>
        <p:nvSpPr>
          <p:cNvPr id="8" name="s15-observation-heading">
            <a:extLst>
              <a:ext uri="{FF2B5EF4-FFF2-40B4-BE49-F238E27FC236}">
                <a16:creationId xmlns:a16="http://schemas.microsoft.com/office/drawing/2014/main" id="{1FDCC21F-B164-96FC-4235-BA02DF7AFC66}"/>
              </a:ext>
            </a:extLst>
          </p:cNvPr>
          <p:cNvSpPr txBox="1"/>
          <p:nvPr/>
        </p:nvSpPr>
        <p:spPr>
          <a:xfrm>
            <a:off x="1193800" y="5105400"/>
            <a:ext cx="9779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结果观察</a:t>
            </a:r>
          </a:p>
        </p:txBody>
      </p:sp>
      <p:sp>
        <p:nvSpPr>
          <p:cNvPr id="10" name="s15-observation-body">
            <a:extLst>
              <a:ext uri="{FF2B5EF4-FFF2-40B4-BE49-F238E27FC236}">
                <a16:creationId xmlns:a16="http://schemas.microsoft.com/office/drawing/2014/main" id="{A801890C-E950-A015-DE8C-98FDE8F93E98}"/>
              </a:ext>
            </a:extLst>
          </p:cNvPr>
          <p:cNvSpPr txBox="1"/>
          <p:nvPr/>
        </p:nvSpPr>
        <p:spPr>
          <a:xfrm>
            <a:off x="1193800" y="5448300"/>
            <a:ext cx="9779000" cy="939800"/>
          </a:xfrm>
          <a:prstGeom prst="rect">
            <a:avLst/>
          </a:prstGeom>
          <a:noFill/>
        </p:spPr>
        <p:txBody>
          <a:bodyPr vert="horz" wrap="square" lIns="0" tIns="0" rIns="0" bIns="0" rtlCol="0" anchor="t">
            <a:noAutofit/>
          </a:bodyPr>
          <a:lstStyle/>
          <a:p>
            <a:pPr>
              <a:spcAft>
                <a:spcPts val="500"/>
              </a:spcAft>
            </a:pPr>
            <a:r>
              <a:rPr lang="en-US" altLang="zh-CN" sz="1250" dirty="0">
                <a:solidFill>
                  <a:srgbClr val="2F3A45"/>
                </a:solidFill>
                <a:latin typeface="Arial" panose="020B0604020202020204" pitchFamily="34" charset="0"/>
                <a:ea typeface="Microsoft YaHei" panose="020B0503020204020204" pitchFamily="34" charset="-122"/>
              </a:rPr>
              <a:t>• MLU Triton</a:t>
            </a:r>
            <a:r>
              <a:rPr lang="zh-CN" altLang="en-US" sz="1250" dirty="0">
                <a:solidFill>
                  <a:srgbClr val="2F3A45"/>
                </a:solidFill>
                <a:latin typeface="Arial" panose="020B0604020202020204" pitchFamily="34" charset="0"/>
                <a:ea typeface="Microsoft YaHei" panose="020B0503020204020204" pitchFamily="34" charset="-122"/>
              </a:rPr>
              <a:t>：</a:t>
            </a:r>
            <a:r>
              <a:rPr lang="en-US" altLang="zh-CN" sz="1250" dirty="0" err="1">
                <a:solidFill>
                  <a:srgbClr val="2F3A45"/>
                </a:solidFill>
                <a:latin typeface="Arial" panose="020B0604020202020204" pitchFamily="34" charset="0"/>
                <a:ea typeface="Microsoft YaHei" panose="020B0503020204020204" pitchFamily="34" charset="-122"/>
              </a:rPr>
              <a:t>LayerNorm</a:t>
            </a:r>
            <a:r>
              <a:rPr lang="en-US" altLang="zh-CN" sz="1250" dirty="0">
                <a:solidFill>
                  <a:srgbClr val="2F3A45"/>
                </a:solidFill>
                <a:latin typeface="Arial" panose="020B0604020202020204" pitchFamily="34" charset="0"/>
                <a:ea typeface="Microsoft YaHei" panose="020B0503020204020204" pitchFamily="34" charset="-122"/>
              </a:rPr>
              <a:t> </a:t>
            </a:r>
            <a:r>
              <a:rPr lang="zh-CN" altLang="en-US" sz="1250" dirty="0">
                <a:solidFill>
                  <a:srgbClr val="2F3A45"/>
                </a:solidFill>
                <a:latin typeface="Arial" panose="020B0604020202020204" pitchFamily="34" charset="0"/>
                <a:ea typeface="Microsoft YaHei" panose="020B0503020204020204" pitchFamily="34" charset="-122"/>
              </a:rPr>
              <a:t>与 </a:t>
            </a:r>
            <a:r>
              <a:rPr lang="en-US" altLang="zh-CN" sz="1250" dirty="0" err="1">
                <a:solidFill>
                  <a:srgbClr val="2F3A45"/>
                </a:solidFill>
                <a:latin typeface="Arial" panose="020B0604020202020204" pitchFamily="34" charset="0"/>
                <a:ea typeface="Microsoft YaHei" panose="020B0503020204020204" pitchFamily="34" charset="-122"/>
              </a:rPr>
              <a:t>PyTorch</a:t>
            </a:r>
            <a:r>
              <a:rPr lang="en-US" altLang="zh-CN" sz="1250" dirty="0">
                <a:solidFill>
                  <a:srgbClr val="2F3A45"/>
                </a:solidFill>
                <a:latin typeface="Arial" panose="020B0604020202020204" pitchFamily="34" charset="0"/>
                <a:ea typeface="Microsoft YaHei" panose="020B0503020204020204" pitchFamily="34" charset="-122"/>
              </a:rPr>
              <a:t>-MLU </a:t>
            </a:r>
            <a:r>
              <a:rPr lang="zh-CN" altLang="en-US" sz="1250" dirty="0">
                <a:solidFill>
                  <a:srgbClr val="2F3A45"/>
                </a:solidFill>
                <a:latin typeface="Arial" panose="020B0604020202020204" pitchFamily="34" charset="0"/>
                <a:ea typeface="Microsoft YaHei" panose="020B0503020204020204" pitchFamily="34" charset="-122"/>
              </a:rPr>
              <a:t>持平，</a:t>
            </a:r>
            <a:r>
              <a:rPr lang="en-US" altLang="zh-CN" sz="1250" dirty="0">
                <a:solidFill>
                  <a:srgbClr val="2F3A45"/>
                </a:solidFill>
                <a:latin typeface="Arial" panose="020B0604020202020204" pitchFamily="34" charset="0"/>
                <a:ea typeface="Microsoft YaHei" panose="020B0503020204020204" pitchFamily="34" charset="-122"/>
              </a:rPr>
              <a:t>0.15 / 0.15 </a:t>
            </a:r>
            <a:r>
              <a:rPr lang="en-US" altLang="zh-CN" sz="1250" dirty="0" err="1">
                <a:solidFill>
                  <a:srgbClr val="2F3A45"/>
                </a:solidFill>
                <a:latin typeface="Arial" panose="020B0604020202020204" pitchFamily="34" charset="0"/>
                <a:ea typeface="Microsoft YaHei" panose="020B0503020204020204" pitchFamily="34" charset="-122"/>
              </a:rPr>
              <a:t>ms</a:t>
            </a:r>
            <a:r>
              <a:rPr lang="zh-CN" altLang="en-US" sz="1250" dirty="0">
                <a:solidFill>
                  <a:srgbClr val="2F3A45"/>
                </a:solidFill>
                <a:latin typeface="Arial" panose="020B0604020202020204" pitchFamily="34" charset="0"/>
                <a:ea typeface="Microsoft YaHei" panose="020B0503020204020204" pitchFamily="34" charset="-122"/>
              </a:rPr>
              <a:t>；</a:t>
            </a:r>
            <a:r>
              <a:rPr lang="en-US" altLang="zh-CN" sz="1250" dirty="0" err="1">
                <a:solidFill>
                  <a:srgbClr val="2F3A45"/>
                </a:solidFill>
                <a:latin typeface="Arial" panose="020B0604020202020204" pitchFamily="34" charset="0"/>
                <a:ea typeface="Microsoft YaHei" panose="020B0503020204020204" pitchFamily="34" charset="-122"/>
              </a:rPr>
              <a:t>Softmax</a:t>
            </a:r>
            <a:r>
              <a:rPr lang="en-US" altLang="zh-CN" sz="1250" dirty="0">
                <a:solidFill>
                  <a:srgbClr val="2F3A45"/>
                </a:solidFill>
                <a:latin typeface="Arial" panose="020B0604020202020204" pitchFamily="34" charset="0"/>
                <a:ea typeface="Microsoft YaHei" panose="020B0503020204020204" pitchFamily="34" charset="-122"/>
              </a:rPr>
              <a:t> </a:t>
            </a:r>
            <a:r>
              <a:rPr lang="zh-CN" altLang="en-US" sz="1250" dirty="0">
                <a:solidFill>
                  <a:srgbClr val="2F3A45"/>
                </a:solidFill>
                <a:latin typeface="Arial" panose="020B0604020202020204" pitchFamily="34" charset="0"/>
                <a:ea typeface="Microsoft YaHei" panose="020B0503020204020204" pitchFamily="34" charset="-122"/>
              </a:rPr>
              <a:t>更快，</a:t>
            </a:r>
            <a:r>
              <a:rPr lang="en-US" altLang="zh-CN" sz="1250" dirty="0">
                <a:solidFill>
                  <a:srgbClr val="2F3A45"/>
                </a:solidFill>
                <a:latin typeface="Arial" panose="020B0604020202020204" pitchFamily="34" charset="0"/>
                <a:ea typeface="Microsoft YaHei" panose="020B0503020204020204" pitchFamily="34" charset="-122"/>
              </a:rPr>
              <a:t>0.086 / 0.11 </a:t>
            </a:r>
            <a:r>
              <a:rPr lang="en-US" altLang="zh-CN" sz="1250" dirty="0" err="1">
                <a:solidFill>
                  <a:srgbClr val="2F3A45"/>
                </a:solidFill>
                <a:latin typeface="Arial" panose="020B0604020202020204" pitchFamily="34" charset="0"/>
                <a:ea typeface="Microsoft YaHei" panose="020B0503020204020204" pitchFamily="34" charset="-122"/>
              </a:rPr>
              <a:t>ms</a:t>
            </a:r>
            <a:r>
              <a:rPr lang="zh-CN" altLang="en-US" sz="1250" dirty="0">
                <a:solidFill>
                  <a:srgbClr val="2F3A45"/>
                </a:solidFill>
                <a:latin typeface="Arial" panose="020B0604020202020204" pitchFamily="34" charset="0"/>
                <a:ea typeface="Microsoft YaHei" panose="020B0503020204020204" pitchFamily="34" charset="-122"/>
              </a:rPr>
              <a:t>；</a:t>
            </a:r>
            <a:r>
              <a:rPr lang="en-US" altLang="zh-CN" sz="1250" dirty="0" err="1">
                <a:solidFill>
                  <a:srgbClr val="2F3A45"/>
                </a:solidFill>
                <a:latin typeface="Arial" panose="020B0604020202020204" pitchFamily="34" charset="0"/>
                <a:ea typeface="Microsoft YaHei" panose="020B0503020204020204" pitchFamily="34" charset="-122"/>
              </a:rPr>
              <a:t>MatMul</a:t>
            </a:r>
            <a:r>
              <a:rPr lang="en-US" altLang="zh-CN" sz="1250" dirty="0">
                <a:solidFill>
                  <a:srgbClr val="2F3A45"/>
                </a:solidFill>
                <a:latin typeface="Arial" panose="020B0604020202020204" pitchFamily="34" charset="0"/>
                <a:ea typeface="Microsoft YaHei" panose="020B0503020204020204" pitchFamily="34" charset="-122"/>
              </a:rPr>
              <a:t> </a:t>
            </a:r>
            <a:r>
              <a:rPr lang="zh-CN" altLang="en-US" sz="1250" dirty="0">
                <a:solidFill>
                  <a:srgbClr val="2F3A45"/>
                </a:solidFill>
                <a:latin typeface="Arial" panose="020B0604020202020204" pitchFamily="34" charset="0"/>
                <a:ea typeface="Microsoft YaHei" panose="020B0503020204020204" pitchFamily="34" charset="-122"/>
              </a:rPr>
              <a:t>仍较慢，</a:t>
            </a:r>
            <a:r>
              <a:rPr lang="en-US" altLang="zh-CN" sz="1250" dirty="0">
                <a:solidFill>
                  <a:srgbClr val="2F3A45"/>
                </a:solidFill>
                <a:latin typeface="Arial" panose="020B0604020202020204" pitchFamily="34" charset="0"/>
                <a:ea typeface="Microsoft YaHei" panose="020B0503020204020204" pitchFamily="34" charset="-122"/>
              </a:rPr>
              <a:t>11.84 / 5.3 </a:t>
            </a:r>
            <a:r>
              <a:rPr lang="en-US" altLang="zh-CN" sz="1250" dirty="0" err="1">
                <a:solidFill>
                  <a:srgbClr val="2F3A45"/>
                </a:solidFill>
                <a:latin typeface="Arial" panose="020B0604020202020204" pitchFamily="34" charset="0"/>
                <a:ea typeface="Microsoft YaHei" panose="020B0503020204020204" pitchFamily="34" charset="-122"/>
              </a:rPr>
              <a:t>ms</a:t>
            </a:r>
            <a:r>
              <a:rPr lang="zh-CN" altLang="en-US" sz="1250" dirty="0">
                <a:solidFill>
                  <a:srgbClr val="2F3A45"/>
                </a:solidFill>
                <a:latin typeface="Arial" panose="020B0604020202020204" pitchFamily="34" charset="0"/>
                <a:ea typeface="Microsoft YaHei" panose="020B0503020204020204" pitchFamily="34" charset="-122"/>
              </a:rPr>
              <a:t>。</a:t>
            </a:r>
          </a:p>
          <a:p>
            <a:pPr>
              <a:spcAft>
                <a:spcPts val="500"/>
              </a:spcAft>
            </a:pPr>
            <a:r>
              <a:rPr lang="en-US" altLang="zh-CN" sz="1250" dirty="0">
                <a:solidFill>
                  <a:srgbClr val="2F3A45"/>
                </a:solidFill>
                <a:latin typeface="Arial" panose="020B0604020202020204" pitchFamily="34" charset="0"/>
                <a:ea typeface="Microsoft YaHei" panose="020B0503020204020204" pitchFamily="34" charset="-122"/>
              </a:rPr>
              <a:t>• BANG C </a:t>
            </a:r>
            <a:r>
              <a:rPr lang="zh-CN" altLang="en-US" sz="1250" dirty="0">
                <a:solidFill>
                  <a:srgbClr val="2F3A45"/>
                </a:solidFill>
                <a:latin typeface="Arial" panose="020B0604020202020204" pitchFamily="34" charset="0"/>
                <a:ea typeface="Microsoft YaHei" panose="020B0503020204020204" pitchFamily="34" charset="-122"/>
              </a:rPr>
              <a:t>三项 </a:t>
            </a:r>
            <a:r>
              <a:rPr lang="en-US" altLang="zh-CN" sz="1250" dirty="0">
                <a:solidFill>
                  <a:srgbClr val="2F3A45"/>
                </a:solidFill>
                <a:latin typeface="Arial" panose="020B0604020202020204" pitchFamily="34" charset="0"/>
                <a:ea typeface="Microsoft YaHei" panose="020B0503020204020204" pitchFamily="34" charset="-122"/>
              </a:rPr>
              <a:t>Kernel </a:t>
            </a:r>
            <a:r>
              <a:rPr lang="zh-CN" altLang="en-US" sz="1250" dirty="0">
                <a:solidFill>
                  <a:srgbClr val="2F3A45"/>
                </a:solidFill>
                <a:latin typeface="Arial" panose="020B0604020202020204" pitchFamily="34" charset="0"/>
                <a:ea typeface="Microsoft YaHei" panose="020B0503020204020204" pitchFamily="34" charset="-122"/>
              </a:rPr>
              <a:t>耗时均高于同平台 </a:t>
            </a:r>
            <a:r>
              <a:rPr lang="en-US" altLang="zh-CN" sz="1250" dirty="0" err="1">
                <a:solidFill>
                  <a:srgbClr val="2F3A45"/>
                </a:solidFill>
                <a:latin typeface="Arial" panose="020B0604020202020204" pitchFamily="34" charset="0"/>
                <a:ea typeface="Microsoft YaHei" panose="020B0503020204020204" pitchFamily="34" charset="-122"/>
              </a:rPr>
              <a:t>PyTorch</a:t>
            </a:r>
            <a:r>
              <a:rPr lang="zh-CN" altLang="en-US" sz="1250" dirty="0">
                <a:solidFill>
                  <a:srgbClr val="2F3A45"/>
                </a:solidFill>
                <a:latin typeface="Arial" panose="020B0604020202020204" pitchFamily="34" charset="0"/>
                <a:ea typeface="Microsoft YaHei" panose="020B0503020204020204" pitchFamily="34" charset="-122"/>
              </a:rPr>
              <a:t>；</a:t>
            </a:r>
            <a:r>
              <a:rPr lang="en-US" altLang="zh-CN" sz="1250" dirty="0" err="1">
                <a:solidFill>
                  <a:srgbClr val="2F3A45"/>
                </a:solidFill>
                <a:latin typeface="Arial" panose="020B0604020202020204" pitchFamily="34" charset="0"/>
                <a:ea typeface="Microsoft YaHei" panose="020B0503020204020204" pitchFamily="34" charset="-122"/>
              </a:rPr>
              <a:t>LayerNorm</a:t>
            </a:r>
            <a:r>
              <a:rPr lang="en-US" altLang="zh-CN" sz="1250" dirty="0">
                <a:solidFill>
                  <a:srgbClr val="2F3A45"/>
                </a:solidFill>
                <a:latin typeface="Arial" panose="020B0604020202020204" pitchFamily="34" charset="0"/>
                <a:ea typeface="Microsoft YaHei" panose="020B0503020204020204" pitchFamily="34" charset="-122"/>
              </a:rPr>
              <a:t> </a:t>
            </a:r>
            <a:r>
              <a:rPr lang="zh-CN" altLang="en-US" sz="1250" dirty="0">
                <a:solidFill>
                  <a:srgbClr val="2F3A45"/>
                </a:solidFill>
                <a:latin typeface="Arial" panose="020B0604020202020204" pitchFamily="34" charset="0"/>
                <a:ea typeface="Microsoft YaHei" panose="020B0503020204020204" pitchFamily="34" charset="-122"/>
              </a:rPr>
              <a:t>与 </a:t>
            </a:r>
            <a:r>
              <a:rPr lang="en-US" altLang="zh-CN" sz="1250" dirty="0" err="1">
                <a:solidFill>
                  <a:srgbClr val="2F3A45"/>
                </a:solidFill>
                <a:latin typeface="Arial" panose="020B0604020202020204" pitchFamily="34" charset="0"/>
                <a:ea typeface="Microsoft YaHei" panose="020B0503020204020204" pitchFamily="34" charset="-122"/>
              </a:rPr>
              <a:t>Softmax</a:t>
            </a:r>
            <a:r>
              <a:rPr lang="en-US" altLang="zh-CN" sz="1250" dirty="0">
                <a:solidFill>
                  <a:srgbClr val="2F3A45"/>
                </a:solidFill>
                <a:latin typeface="Arial" panose="020B0604020202020204" pitchFamily="34" charset="0"/>
                <a:ea typeface="Microsoft YaHei" panose="020B0503020204020204" pitchFamily="34" charset="-122"/>
              </a:rPr>
              <a:t> </a:t>
            </a:r>
            <a:r>
              <a:rPr lang="zh-CN" altLang="en-US" sz="1250" dirty="0">
                <a:solidFill>
                  <a:srgbClr val="2F3A45"/>
                </a:solidFill>
                <a:latin typeface="Arial" panose="020B0604020202020204" pitchFamily="34" charset="0"/>
                <a:ea typeface="Microsoft YaHei" panose="020B0503020204020204" pitchFamily="34" charset="-122"/>
              </a:rPr>
              <a:t>差距最突出。</a:t>
            </a:r>
          </a:p>
        </p:txBody>
      </p:sp>
      <p:sp>
        <p:nvSpPr>
          <p:cNvPr id="11"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3.4</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2"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11-title"/>
          <p:cNvSpPr>
            <a:spLocks noGrp="1"/>
          </p:cNvSpPr>
          <p:nvPr/>
        </p:nvSpPr>
        <p:spPr>
          <a:xfrm>
            <a:off x="1200150" y="177800"/>
            <a:ext cx="9144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3000" b="1">
                <a:solidFill>
                  <a:srgbClr val="243B53"/>
                </a:solidFill>
                <a:latin typeface="Arial" panose="020B0604020202020204" pitchFamily="34" charset="0"/>
                <a:ea typeface="Microsoft YaHei" panose="020B0503020204020204" pitchFamily="34" charset="-122"/>
                <a:cs typeface="微软雅黑" panose="020B0503020204020204" charset="-122"/>
              </a:rPr>
              <a:t>四类 </a:t>
            </a:r>
            <a:r>
              <a:rPr lang="en-US" sz="3000" b="1">
                <a:solidFill>
                  <a:srgbClr val="243B53"/>
                </a:solidFill>
                <a:latin typeface="Arial" panose="020B0604020202020204" pitchFamily="34" charset="0"/>
                <a:ea typeface="Microsoft YaHei" panose="020B0503020204020204" pitchFamily="34" charset="-122"/>
                <a:cs typeface="微软雅黑" panose="020B0503020204020204" charset="-122"/>
              </a:rPr>
              <a:t>Skill </a:t>
            </a:r>
            <a:r>
              <a:rPr lang="zh-CN" altLang="en-US" sz="3000" b="1">
                <a:solidFill>
                  <a:srgbClr val="243B53"/>
                </a:solidFill>
                <a:latin typeface="Arial" panose="020B0604020202020204" pitchFamily="34" charset="0"/>
                <a:ea typeface="Microsoft YaHei" panose="020B0503020204020204" pitchFamily="34" charset="-122"/>
                <a:cs typeface="微软雅黑" panose="020B0503020204020204" charset="-122"/>
              </a:rPr>
              <a:t>生成 </a:t>
            </a:r>
            <a:r>
              <a:rPr lang="en-US" sz="3000" b="1">
                <a:solidFill>
                  <a:srgbClr val="243B53"/>
                </a:solidFill>
                <a:latin typeface="Arial" panose="020B0604020202020204" pitchFamily="34" charset="0"/>
                <a:ea typeface="Microsoft YaHei" panose="020B0503020204020204" pitchFamily="34" charset="-122"/>
                <a:cs typeface="微软雅黑" panose="020B0503020204020204" charset="-122"/>
              </a:rPr>
              <a:t>Kernel：</a:t>
            </a:r>
            <a:r>
              <a:rPr lang="zh-CN" altLang="en-US" sz="3000" b="1">
                <a:solidFill>
                  <a:srgbClr val="243B53"/>
                </a:solidFill>
                <a:latin typeface="Arial" panose="020B0604020202020204" pitchFamily="34" charset="0"/>
                <a:ea typeface="Microsoft YaHei" panose="020B0503020204020204" pitchFamily="34" charset="-122"/>
                <a:cs typeface="微软雅黑" panose="020B0503020204020204" charset="-122"/>
              </a:rPr>
              <a:t>性能结果对比</a:t>
            </a:r>
            <a:endParaRPr sz="3000" b="1">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3" name="measurement_and_baseline_note"/>
          <p:cNvSpPr>
            <a:spLocks noGrp="1"/>
          </p:cNvSpPr>
          <p:nvPr/>
        </p:nvSpPr>
        <p:spPr>
          <a:xfrm>
            <a:off x="1200150" y="4749800"/>
            <a:ext cx="9772650" cy="254000"/>
          </a:xfrm>
          <a:prstGeom prst="rect">
            <a:avLst/>
          </a:prstGeom>
          <a:noFill/>
          <a:ln w="0">
            <a:noFill/>
            <a:prstDash val="solid"/>
          </a:ln>
          <a:effectLst/>
        </p:spPr>
        <p:txBody>
          <a:bodyPr wrap="square" lIns="0" tIns="0" rIns="0" bIns="0" anchor="t">
            <a:noAutofit/>
          </a:bodyPr>
          <a:lstStyle/>
          <a:p>
            <a:pPr>
              <a:buNone/>
              <a:defRPr sz="1050" b="0">
                <a:solidFill>
                  <a:srgbClr val="555D69"/>
                </a:solidFill>
                <a:latin typeface="微软雅黑" panose="020B0503020204020204" charset="-122"/>
                <a:ea typeface="微软雅黑" panose="020B0503020204020204" charset="-122"/>
                <a:cs typeface="微软雅黑" panose="020B0503020204020204" charset="-122"/>
              </a:defRPr>
            </a:pPr>
            <a:r>
              <a:rPr sz="1050" dirty="0" err="1">
                <a:solidFill>
                  <a:srgbClr val="66737F"/>
                </a:solidFill>
                <a:latin typeface="Arial" panose="020B0604020202020204" pitchFamily="34" charset="0"/>
                <a:ea typeface="Microsoft YaHei" panose="020B0503020204020204" pitchFamily="34" charset="-122"/>
                <a:cs typeface="微软雅黑" panose="020B0503020204020204" charset="-122"/>
              </a:rPr>
              <a:t>单元格：Kernel</a:t>
            </a:r>
            <a:r>
              <a:rPr sz="1050" dirty="0">
                <a:solidFill>
                  <a:srgbClr val="66737F"/>
                </a:solidFill>
                <a:latin typeface="Arial" panose="020B0604020202020204" pitchFamily="34" charset="0"/>
                <a:ea typeface="Microsoft YaHei" panose="020B0503020204020204" pitchFamily="34" charset="-122"/>
                <a:cs typeface="微软雅黑" panose="020B0503020204020204" charset="-122"/>
              </a:rPr>
              <a:t> / </a:t>
            </a:r>
            <a:r>
              <a:rPr sz="1050" dirty="0" err="1">
                <a:solidFill>
                  <a:srgbClr val="66737F"/>
                </a:solidFill>
                <a:latin typeface="Arial" panose="020B0604020202020204" pitchFamily="34" charset="0"/>
                <a:ea typeface="Microsoft YaHei" panose="020B0503020204020204" pitchFamily="34" charset="-122"/>
                <a:cs typeface="微软雅黑" panose="020B0503020204020204" charset="-122"/>
              </a:rPr>
              <a:t>PyTorch</a:t>
            </a:r>
            <a:r>
              <a:rPr sz="1050" dirty="0">
                <a:solidFill>
                  <a:srgbClr val="66737F"/>
                </a:solidFill>
                <a:latin typeface="Arial" panose="020B0604020202020204" pitchFamily="34" charset="0"/>
                <a:ea typeface="Microsoft YaHei" panose="020B0503020204020204" pitchFamily="34" charset="-122"/>
                <a:cs typeface="微软雅黑" panose="020B0503020204020204" charset="-122"/>
              </a:rPr>
              <a:t> </a:t>
            </a:r>
            <a:r>
              <a:rPr lang="zh-CN" altLang="en-US" sz="1050" dirty="0">
                <a:solidFill>
                  <a:srgbClr val="66737F"/>
                </a:solidFill>
                <a:latin typeface="Arial" panose="020B0604020202020204" pitchFamily="34" charset="0"/>
                <a:ea typeface="Microsoft YaHei" panose="020B0503020204020204" pitchFamily="34" charset="-122"/>
                <a:cs typeface="微软雅黑" panose="020B0503020204020204" charset="-122"/>
              </a:rPr>
              <a:t>加速比</a:t>
            </a:r>
            <a:endParaRPr sz="1050"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graphicFrame>
        <p:nvGraphicFramePr>
          <p:cNvPr id="13" name="kernel_vs_pytorch_performance"/>
          <p:cNvGraphicFramePr/>
          <p:nvPr>
            <p:extLst>
              <p:ext uri="{D42A27DB-BD31-4B8C-83A1-F6EECF244321}">
                <p14:modId xmlns:p14="http://schemas.microsoft.com/office/powerpoint/2010/main" val="2951003314"/>
              </p:ext>
            </p:extLst>
          </p:nvPr>
        </p:nvGraphicFramePr>
        <p:xfrm>
          <a:off x="1200150" y="990600"/>
          <a:ext cx="9772650" cy="3657598"/>
        </p:xfrm>
        <a:graphic>
          <a:graphicData uri="http://schemas.openxmlformats.org/drawingml/2006/table">
            <a:tbl>
              <a:tblPr firstRow="1">
                <a:effectLst/>
              </a:tblPr>
              <a:tblGrid>
                <a:gridCol w="2219325">
                  <a:extLst>
                    <a:ext uri="{9D8B030D-6E8A-4147-A177-3AD203B41FA5}">
                      <a16:colId xmlns:a16="http://schemas.microsoft.com/office/drawing/2014/main" val="20000"/>
                    </a:ext>
                  </a:extLst>
                </a:gridCol>
                <a:gridCol w="2524125">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522514">
                <a:tc>
                  <a:txBody>
                    <a:bodyPr/>
                    <a:lstStyle/>
                    <a:p>
                      <a:pPr algn="ctr">
                        <a:buNone/>
                      </a:pPr>
                      <a:r>
                        <a:rPr lang="zh-CN" sz="1400" b="1">
                          <a:solidFill>
                            <a:srgbClr val="FFFFFF"/>
                          </a:solidFill>
                          <a:latin typeface="Arial" panose="020B0604020202020204" pitchFamily="34" charset="0"/>
                          <a:ea typeface="Microsoft YaHei" panose="020B0503020204020204" pitchFamily="34" charset="-122"/>
                          <a:cs typeface="微软雅黑" panose="020B0503020204020204" charset="-122"/>
                        </a:rPr>
                        <a:t>平台</a:t>
                      </a:r>
                      <a:r>
                        <a:rPr lang="en-US" altLang="zh-CN" sz="1400" b="1">
                          <a:solidFill>
                            <a:srgbClr val="FFFFFF"/>
                          </a:solidFill>
                          <a:latin typeface="Arial" panose="020B0604020202020204" pitchFamily="34" charset="0"/>
                          <a:ea typeface="Microsoft YaHei" panose="020B0503020204020204" pitchFamily="34" charset="-122"/>
                          <a:cs typeface="微软雅黑" panose="020B0503020204020204" charset="-122"/>
                        </a:rPr>
                        <a:t>/</a:t>
                      </a:r>
                      <a:r>
                        <a:rPr lang="zh-CN" altLang="en-US" sz="1400" b="1">
                          <a:solidFill>
                            <a:srgbClr val="FFFFFF"/>
                          </a:solidFill>
                          <a:latin typeface="Arial" panose="020B0604020202020204" pitchFamily="34" charset="0"/>
                          <a:ea typeface="Microsoft YaHei" panose="020B0503020204020204" pitchFamily="34" charset="-122"/>
                          <a:cs typeface="微软雅黑" panose="020B0503020204020204" charset="-122"/>
                        </a:rPr>
                        <a:t>算子输入</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LayerNorm</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Softmax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MatMul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522514">
                <a:tc>
                  <a:txBody>
                    <a:bodyPr/>
                    <a:lstStyle/>
                    <a:p>
                      <a:pPr algn="ctr">
                        <a:buNone/>
                      </a:pPr>
                      <a:r>
                        <a:rPr lang="zh-CN" sz="1400" b="1">
                          <a:solidFill>
                            <a:srgbClr val="2F3A45"/>
                          </a:solidFill>
                          <a:latin typeface="Arial" panose="020B0604020202020204" pitchFamily="34" charset="0"/>
                          <a:ea typeface="Microsoft YaHei" panose="020B0503020204020204" pitchFamily="34" charset="-122"/>
                          <a:cs typeface="微软雅黑" panose="020B0503020204020204" charset="-122"/>
                        </a:rPr>
                        <a:t>精度</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a:solidFill>
                            <a:srgbClr val="2F3A45"/>
                          </a:solidFill>
                          <a:latin typeface="Arial" panose="020B0604020202020204" pitchFamily="34" charset="0"/>
                          <a:ea typeface="Microsoft YaHei" panose="020B0503020204020204" pitchFamily="34" charset="-122"/>
                          <a:cs typeface="微软雅黑" panose="020B0503020204020204" charset="-122"/>
                        </a:rPr>
                        <a:t>FP32</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Microsoft YaHei" panose="020B0503020204020204" pitchFamily="34" charset="-122"/>
                          <a:cs typeface="微软雅黑" panose="020B0503020204020204" charset="-122"/>
                          <a:sym typeface="+mn-ea"/>
                        </a:rPr>
                        <a:t>FP32</a:t>
                      </a:r>
                      <a:endParaRPr sz="1400" b="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Microsoft YaHei" panose="020B0503020204020204" pitchFamily="34" charset="-122"/>
                          <a:cs typeface="微软雅黑" panose="020B0503020204020204" charset="-122"/>
                        </a:rPr>
                        <a:t>FP16</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522514">
                <a:tc>
                  <a:txBody>
                    <a:bodyPr/>
                    <a:lstStyle/>
                    <a:p>
                      <a:pPr algn="ctr">
                        <a:buNone/>
                      </a:pPr>
                      <a:r>
                        <a:rPr lang="zh-CN" sz="1400" b="1">
                          <a:solidFill>
                            <a:srgbClr val="2F3A45"/>
                          </a:solidFill>
                          <a:latin typeface="Arial" panose="020B0604020202020204" pitchFamily="34" charset="0"/>
                          <a:ea typeface="Microsoft YaHei" panose="020B0503020204020204" pitchFamily="34" charset="-122"/>
                          <a:cs typeface="微软雅黑" panose="020B0503020204020204" charset="-122"/>
                        </a:rPr>
                        <a:t>输入结构</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64</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512</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1024</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4096</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4096</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8192</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8192</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2"/>
                  </a:ext>
                </a:extLst>
              </a:tr>
              <a:tr h="522514">
                <a:tc>
                  <a:txBody>
                    <a:bodyPr/>
                    <a:lstStyle/>
                    <a:p>
                      <a:pPr algn="ctr">
                        <a:buNone/>
                      </a:pPr>
                      <a:r>
                        <a:rPr sz="1400" b="1">
                          <a:solidFill>
                            <a:srgbClr val="2F3A45"/>
                          </a:solidFill>
                          <a:latin typeface="Arial" panose="020B0604020202020204" pitchFamily="34" charset="0"/>
                          <a:ea typeface="Microsoft YaHei" panose="020B0503020204020204" pitchFamily="34" charset="-122"/>
                          <a:cs typeface="微软雅黑" panose="020B0503020204020204" charset="-122"/>
                        </a:rPr>
                        <a:t>MLU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x</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1.23</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0.45</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x</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3"/>
                  </a:ext>
                </a:extLst>
              </a:tr>
              <a:tr h="522514">
                <a:tc>
                  <a:txBody>
                    <a:bodyPr/>
                    <a:lstStyle/>
                    <a:p>
                      <a:pPr algn="ctr">
                        <a:buNone/>
                      </a:pPr>
                      <a:r>
                        <a:rPr sz="1400" b="1">
                          <a:solidFill>
                            <a:srgbClr val="2F3A45"/>
                          </a:solidFill>
                          <a:latin typeface="Arial" panose="020B0604020202020204" pitchFamily="34" charset="0"/>
                          <a:ea typeface="Microsoft YaHei" panose="020B0503020204020204" pitchFamily="34" charset="-122"/>
                          <a:cs typeface="微软雅黑" panose="020B0503020204020204" charset="-122"/>
                        </a:rPr>
                        <a:t>BANG C</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a:t>
                      </a:r>
                      <a:r>
                        <a:rPr lang="en-US" sz="1400" b="1" dirty="0" smtClean="0">
                          <a:solidFill>
                            <a:srgbClr val="C77C59"/>
                          </a:solidFill>
                          <a:latin typeface="Arial" panose="020B0604020202020204" pitchFamily="34" charset="0"/>
                          <a:ea typeface="Microsoft YaHei" panose="020B0503020204020204" pitchFamily="34" charset="-122"/>
                          <a:cs typeface="微软雅黑" panose="020B0503020204020204" charset="-122"/>
                        </a:rPr>
                        <a:t>0.01</a:t>
                      </a:r>
                      <a:r>
                        <a:rPr lang="en-US" altLang="zh-CN" sz="1400" b="1" dirty="0" smtClean="0">
                          <a:solidFill>
                            <a:srgbClr val="C77C59"/>
                          </a:solidFill>
                          <a:latin typeface="Arial" panose="020B0604020202020204" pitchFamily="34" charset="0"/>
                          <a:ea typeface="Microsoft YaHei" panose="020B0503020204020204" pitchFamily="34" charset="-122"/>
                          <a:cs typeface="微软雅黑" panose="020B0503020204020204" charset="-122"/>
                        </a:rPr>
                        <a:t>x</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0.05</a:t>
                      </a:r>
                      <a:r>
                        <a:rPr lang="en-US" altLang="zh-CN"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x</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0.33</a:t>
                      </a:r>
                      <a:r>
                        <a:rPr lang="en-US" altLang="zh-CN"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x</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extLst>
                  <a:ext uri="{0D108BD9-81ED-4DB2-BD59-A6C34878D82A}">
                    <a16:rowId xmlns:a16="http://schemas.microsoft.com/office/drawing/2014/main" val="10004"/>
                  </a:ext>
                </a:extLst>
              </a:tr>
              <a:tr h="522514">
                <a:tc>
                  <a:txBody>
                    <a:bodyPr/>
                    <a:lstStyle/>
                    <a:p>
                      <a:pPr algn="ctr">
                        <a:buNone/>
                      </a:pPr>
                      <a:r>
                        <a:rPr sz="1400" b="1">
                          <a:solidFill>
                            <a:srgbClr val="2F3A45"/>
                          </a:solidFill>
                          <a:latin typeface="Arial" panose="020B0604020202020204" pitchFamily="34" charset="0"/>
                          <a:ea typeface="Microsoft YaHei" panose="020B0503020204020204" pitchFamily="34" charset="-122"/>
                          <a:cs typeface="微软雅黑" panose="020B0503020204020204" charset="-122"/>
                        </a:rPr>
                        <a:t>CUDA C</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1.43</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x</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1.06</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x</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0.53x</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extLst>
                  <a:ext uri="{0D108BD9-81ED-4DB2-BD59-A6C34878D82A}">
                    <a16:rowId xmlns:a16="http://schemas.microsoft.com/office/drawing/2014/main" val="10005"/>
                  </a:ext>
                </a:extLst>
              </a:tr>
              <a:tr h="522514">
                <a:tc>
                  <a:txBody>
                    <a:bodyPr/>
                    <a:lstStyle/>
                    <a:p>
                      <a:pPr algn="ctr">
                        <a:buNone/>
                      </a:pPr>
                      <a:r>
                        <a:rPr sz="1400" b="1">
                          <a:solidFill>
                            <a:srgbClr val="2F3A45"/>
                          </a:solidFill>
                          <a:latin typeface="Arial" panose="020B0604020202020204" pitchFamily="34" charset="0"/>
                          <a:ea typeface="Microsoft YaHei" panose="020B0503020204020204" pitchFamily="34" charset="-122"/>
                          <a:cs typeface="微软雅黑" panose="020B0503020204020204" charset="-122"/>
                        </a:rPr>
                        <a:t>GPU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1.45</a:t>
                      </a:r>
                      <a:r>
                        <a:rPr lang="en-US" altLang="zh-CN"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x</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1.06</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x</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0.33x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6"/>
                  </a:ext>
                </a:extLst>
              </a:tr>
            </a:tbl>
          </a:graphicData>
        </a:graphic>
      </p:graphicFrame>
      <p:sp>
        <p:nvSpPr>
          <p:cNvPr id="9" name="body-p11-evaluation-meta"/>
          <p:cNvSpPr>
            <a:spLocks noGrp="1"/>
          </p:cNvSpPr>
          <p:nvPr/>
        </p:nvSpPr>
        <p:spPr>
          <a:xfrm>
            <a:off x="7905750" y="57150"/>
            <a:ext cx="4057650" cy="133350"/>
          </a:xfrm>
          <a:prstGeom prst="rect">
            <a:avLst/>
          </a:prstGeom>
          <a:noFill/>
          <a:ln w="0">
            <a:noFill/>
            <a:prstDash val="solid"/>
          </a:ln>
          <a:effectLst/>
        </p:spPr>
        <p:txBody>
          <a:bodyPr wrap="square" lIns="0" tIns="0" rIns="0" bIns="0" anchor="t">
            <a:noAutofit/>
          </a:bodyPr>
          <a:lstStyle/>
          <a:p>
            <a:pPr algn="r">
              <a:defRPr sz="640" b="1">
                <a:solidFill>
                  <a:srgbClr val="6F86A8"/>
                </a:solidFill>
                <a:latin typeface="微软雅黑" panose="020B0503020204020204" charset="-122"/>
                <a:ea typeface="微软雅黑" panose="020B0503020204020204" charset="-122"/>
                <a:cs typeface="微软雅黑" panose="020B0503020204020204" charset="-122"/>
              </a:defRPr>
            </a:pPr>
            <a:r>
              <a:rPr lang="en-US" sz="800" b="1">
                <a:solidFill>
                  <a:srgbClr val="66737F"/>
                </a:solidFill>
                <a:latin typeface="Arial" panose="020B0604020202020204" pitchFamily="34" charset="0"/>
                <a:ea typeface="Microsoft YaHei" panose="020B0503020204020204" pitchFamily="34" charset="-122"/>
                <a:cs typeface="微软雅黑" panose="020B0503020204020204" charset="-122"/>
              </a:rPr>
              <a:t>EVALUATION 02 · Explicit Speedup</a:t>
            </a:r>
            <a:endParaRPr sz="800" b="1">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
        <p:nvSpPr>
          <p:cNvPr id="2"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a:solidFill>
                  <a:srgbClr val="66737F"/>
                </a:solidFill>
                <a:latin typeface="Arial" panose="020B0604020202020204" pitchFamily="34" charset="0"/>
                <a:ea typeface="Microsoft YaHei" panose="020B0503020204020204" pitchFamily="34" charset="-122"/>
                <a:cs typeface="微软雅黑" panose="020B0503020204020204" charset="-122"/>
              </a:rPr>
              <a:t>10</a:t>
            </a:r>
          </a:p>
        </p:txBody>
      </p:sp>
      <p:sp>
        <p:nvSpPr>
          <p:cNvPr id="8" name="s16-observation-heading">
            <a:extLst>
              <a:ext uri="{FF2B5EF4-FFF2-40B4-BE49-F238E27FC236}">
                <a16:creationId xmlns:a16="http://schemas.microsoft.com/office/drawing/2014/main" id="{362CF364-3F11-715D-2DA8-AA380F4CEAD2}"/>
              </a:ext>
            </a:extLst>
          </p:cNvPr>
          <p:cNvSpPr txBox="1"/>
          <p:nvPr/>
        </p:nvSpPr>
        <p:spPr>
          <a:xfrm>
            <a:off x="1193800" y="5067300"/>
            <a:ext cx="9779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结果观察</a:t>
            </a:r>
          </a:p>
        </p:txBody>
      </p:sp>
      <p:sp>
        <p:nvSpPr>
          <p:cNvPr id="10" name="s16-observation-left">
            <a:extLst>
              <a:ext uri="{FF2B5EF4-FFF2-40B4-BE49-F238E27FC236}">
                <a16:creationId xmlns:a16="http://schemas.microsoft.com/office/drawing/2014/main" id="{C9118860-19DC-C03A-9877-7726B2DBF5E3}"/>
              </a:ext>
            </a:extLst>
          </p:cNvPr>
          <p:cNvSpPr txBox="1"/>
          <p:nvPr/>
        </p:nvSpPr>
        <p:spPr>
          <a:xfrm>
            <a:off x="1193800" y="54102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LayerNorm</a:t>
            </a:r>
            <a:r>
              <a:rPr lang="zh-CN" altLang="en-US" sz="1180">
                <a:solidFill>
                  <a:srgbClr val="2F3A45"/>
                </a:solidFill>
                <a:latin typeface="Arial" panose="020B0604020202020204" pitchFamily="34" charset="0"/>
                <a:ea typeface="Microsoft YaHei" panose="020B0503020204020204" pitchFamily="34" charset="-122"/>
              </a:rPr>
              <a:t>：</a:t>
            </a:r>
            <a:r>
              <a:rPr lang="en-US" altLang="zh-CN" sz="1180">
                <a:solidFill>
                  <a:srgbClr val="2F3A45"/>
                </a:solidFill>
                <a:latin typeface="Arial" panose="020B0604020202020204" pitchFamily="34" charset="0"/>
                <a:ea typeface="Microsoft YaHei" panose="020B0503020204020204" pitchFamily="34" charset="-122"/>
              </a:rPr>
              <a:t>GPU Triton 1.45× </a:t>
            </a:r>
            <a:r>
              <a:rPr lang="zh-CN" altLang="en-US" sz="1180">
                <a:solidFill>
                  <a:srgbClr val="2F3A45"/>
                </a:solidFill>
                <a:latin typeface="Arial" panose="020B0604020202020204" pitchFamily="34" charset="0"/>
                <a:ea typeface="Microsoft YaHei" panose="020B0503020204020204" pitchFamily="34" charset="-122"/>
              </a:rPr>
              <a:t>最优，</a:t>
            </a:r>
            <a:r>
              <a:rPr lang="en-US" altLang="zh-CN" sz="1180">
                <a:solidFill>
                  <a:srgbClr val="2F3A45"/>
                </a:solidFill>
                <a:latin typeface="Arial" panose="020B0604020202020204" pitchFamily="34" charset="0"/>
                <a:ea typeface="Microsoft YaHei" panose="020B0503020204020204" pitchFamily="34" charset="-122"/>
              </a:rPr>
              <a:t>CUDA C 1.43× </a:t>
            </a:r>
            <a:r>
              <a:rPr lang="zh-CN" altLang="en-US" sz="1180">
                <a:solidFill>
                  <a:srgbClr val="2F3A45"/>
                </a:solidFill>
                <a:latin typeface="Arial" panose="020B0604020202020204" pitchFamily="34" charset="0"/>
                <a:ea typeface="Microsoft YaHei" panose="020B0503020204020204" pitchFamily="34" charset="-122"/>
              </a:rPr>
              <a:t>紧随；</a:t>
            </a:r>
            <a:r>
              <a:rPr lang="en-US" altLang="zh-CN" sz="1180">
                <a:solidFill>
                  <a:srgbClr val="2F3A45"/>
                </a:solidFill>
                <a:latin typeface="Arial" panose="020B0604020202020204" pitchFamily="34" charset="0"/>
                <a:ea typeface="Microsoft YaHei" panose="020B0503020204020204" pitchFamily="34" charset="-122"/>
              </a:rPr>
              <a:t>MLU Triton </a:t>
            </a:r>
            <a:r>
              <a:rPr lang="zh-CN" altLang="en-US" sz="1180">
                <a:solidFill>
                  <a:srgbClr val="2F3A45"/>
                </a:solidFill>
                <a:latin typeface="Arial" panose="020B0604020202020204" pitchFamily="34" charset="0"/>
                <a:ea typeface="Microsoft YaHei" panose="020B0503020204020204" pitchFamily="34" charset="-122"/>
              </a:rPr>
              <a:t>与基线持平。</a:t>
            </a:r>
          </a:p>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Softmax</a:t>
            </a:r>
            <a:r>
              <a:rPr lang="zh-CN" altLang="en-US" sz="1180">
                <a:solidFill>
                  <a:srgbClr val="2F3A45"/>
                </a:solidFill>
                <a:latin typeface="Arial" panose="020B0604020202020204" pitchFamily="34" charset="0"/>
                <a:ea typeface="Microsoft YaHei" panose="020B0503020204020204" pitchFamily="34" charset="-122"/>
              </a:rPr>
              <a:t>：</a:t>
            </a:r>
            <a:r>
              <a:rPr lang="en-US" altLang="zh-CN" sz="1180">
                <a:solidFill>
                  <a:srgbClr val="2F3A45"/>
                </a:solidFill>
                <a:latin typeface="Arial" panose="020B0604020202020204" pitchFamily="34" charset="0"/>
                <a:ea typeface="Microsoft YaHei" panose="020B0503020204020204" pitchFamily="34" charset="-122"/>
              </a:rPr>
              <a:t>MLU Triton 1.23×</a:t>
            </a:r>
            <a:r>
              <a:rPr lang="zh-CN" altLang="en-US" sz="1180">
                <a:solidFill>
                  <a:srgbClr val="2F3A45"/>
                </a:solidFill>
                <a:latin typeface="Arial" panose="020B0604020202020204" pitchFamily="34" charset="0"/>
                <a:ea typeface="Microsoft YaHei" panose="020B0503020204020204" pitchFamily="34" charset="-122"/>
              </a:rPr>
              <a:t>；</a:t>
            </a:r>
            <a:r>
              <a:rPr lang="en-US" altLang="zh-CN" sz="1180">
                <a:solidFill>
                  <a:srgbClr val="2F3A45"/>
                </a:solidFill>
                <a:latin typeface="Arial" panose="020B0604020202020204" pitchFamily="34" charset="0"/>
                <a:ea typeface="Microsoft YaHei" panose="020B0503020204020204" pitchFamily="34" charset="-122"/>
              </a:rPr>
              <a:t>CUDA C </a:t>
            </a:r>
            <a:r>
              <a:rPr lang="zh-CN" altLang="en-US" sz="1180">
                <a:solidFill>
                  <a:srgbClr val="2F3A45"/>
                </a:solidFill>
                <a:latin typeface="Arial" panose="020B0604020202020204" pitchFamily="34" charset="0"/>
                <a:ea typeface="Microsoft YaHei" panose="020B0503020204020204" pitchFamily="34" charset="-122"/>
              </a:rPr>
              <a:t>与 </a:t>
            </a:r>
            <a:r>
              <a:rPr lang="en-US" altLang="zh-CN" sz="1180">
                <a:solidFill>
                  <a:srgbClr val="2F3A45"/>
                </a:solidFill>
                <a:latin typeface="Arial" panose="020B0604020202020204" pitchFamily="34" charset="0"/>
                <a:ea typeface="Microsoft YaHei" panose="020B0503020204020204" pitchFamily="34" charset="-122"/>
              </a:rPr>
              <a:t>GPU Triton </a:t>
            </a:r>
            <a:r>
              <a:rPr lang="zh-CN" altLang="en-US" sz="1180">
                <a:solidFill>
                  <a:srgbClr val="2F3A45"/>
                </a:solidFill>
                <a:latin typeface="Arial" panose="020B0604020202020204" pitchFamily="34" charset="0"/>
                <a:ea typeface="Microsoft YaHei" panose="020B0503020204020204" pitchFamily="34" charset="-122"/>
              </a:rPr>
              <a:t>均为 </a:t>
            </a:r>
            <a:r>
              <a:rPr lang="en-US" altLang="zh-CN" sz="1180">
                <a:solidFill>
                  <a:srgbClr val="2F3A45"/>
                </a:solidFill>
                <a:latin typeface="Arial" panose="020B0604020202020204" pitchFamily="34" charset="0"/>
                <a:ea typeface="Microsoft YaHei" panose="020B0503020204020204" pitchFamily="34" charset="-122"/>
              </a:rPr>
              <a:t>1.06×</a:t>
            </a:r>
            <a:r>
              <a:rPr lang="zh-CN" altLang="en-US" sz="1180">
                <a:solidFill>
                  <a:srgbClr val="2F3A45"/>
                </a:solidFill>
                <a:latin typeface="Arial" panose="020B0604020202020204" pitchFamily="34" charset="0"/>
                <a:ea typeface="Microsoft YaHei" panose="020B0503020204020204" pitchFamily="34" charset="-122"/>
              </a:rPr>
              <a:t>，接近或超过基线。</a:t>
            </a:r>
          </a:p>
        </p:txBody>
      </p:sp>
      <p:sp>
        <p:nvSpPr>
          <p:cNvPr id="11" name="s16-observation-right">
            <a:extLst>
              <a:ext uri="{FF2B5EF4-FFF2-40B4-BE49-F238E27FC236}">
                <a16:creationId xmlns:a16="http://schemas.microsoft.com/office/drawing/2014/main" id="{CE0D8A76-9CFD-0F87-04D9-5CE265D539CC}"/>
              </a:ext>
            </a:extLst>
          </p:cNvPr>
          <p:cNvSpPr txBox="1"/>
          <p:nvPr/>
        </p:nvSpPr>
        <p:spPr>
          <a:xfrm>
            <a:off x="6299200" y="54102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MatMul</a:t>
            </a:r>
            <a:r>
              <a:rPr lang="zh-CN" altLang="en-US" sz="1180">
                <a:solidFill>
                  <a:srgbClr val="2F3A45"/>
                </a:solidFill>
                <a:latin typeface="Arial" panose="020B0604020202020204" pitchFamily="34" charset="0"/>
                <a:ea typeface="Microsoft YaHei" panose="020B0503020204020204" pitchFamily="34" charset="-122"/>
              </a:rPr>
              <a:t>：四类 </a:t>
            </a:r>
            <a:r>
              <a:rPr lang="en-US" altLang="zh-CN" sz="1180">
                <a:solidFill>
                  <a:srgbClr val="2F3A45"/>
                </a:solidFill>
                <a:latin typeface="Arial" panose="020B0604020202020204" pitchFamily="34" charset="0"/>
                <a:ea typeface="Microsoft YaHei" panose="020B0503020204020204" pitchFamily="34" charset="-122"/>
              </a:rPr>
              <a:t>Skill </a:t>
            </a:r>
            <a:r>
              <a:rPr lang="zh-CN" altLang="en-US" sz="1180">
                <a:solidFill>
                  <a:srgbClr val="2F3A45"/>
                </a:solidFill>
                <a:latin typeface="Arial" panose="020B0604020202020204" pitchFamily="34" charset="0"/>
                <a:ea typeface="Microsoft YaHei" panose="020B0503020204020204" pitchFamily="34" charset="-122"/>
              </a:rPr>
              <a:t>全部低于 </a:t>
            </a:r>
            <a:r>
              <a:rPr lang="en-US" altLang="zh-CN" sz="1180">
                <a:solidFill>
                  <a:srgbClr val="2F3A45"/>
                </a:solidFill>
                <a:latin typeface="Arial" panose="020B0604020202020204" pitchFamily="34" charset="0"/>
                <a:ea typeface="Microsoft YaHei" panose="020B0503020204020204" pitchFamily="34" charset="-122"/>
              </a:rPr>
              <a:t>1×</a:t>
            </a:r>
            <a:r>
              <a:rPr lang="zh-CN" altLang="en-US" sz="1180">
                <a:solidFill>
                  <a:srgbClr val="2F3A45"/>
                </a:solidFill>
                <a:latin typeface="Arial" panose="020B0604020202020204" pitchFamily="34" charset="0"/>
                <a:ea typeface="Microsoft YaHei" panose="020B0503020204020204" pitchFamily="34" charset="-122"/>
              </a:rPr>
              <a:t>；最高 </a:t>
            </a:r>
            <a:r>
              <a:rPr lang="en-US" altLang="zh-CN" sz="1180">
                <a:solidFill>
                  <a:srgbClr val="2F3A45"/>
                </a:solidFill>
                <a:latin typeface="Arial" panose="020B0604020202020204" pitchFamily="34" charset="0"/>
                <a:ea typeface="Microsoft YaHei" panose="020B0503020204020204" pitchFamily="34" charset="-122"/>
              </a:rPr>
              <a:t>CUDA C </a:t>
            </a:r>
            <a:r>
              <a:rPr lang="zh-CN" altLang="en-US" sz="1180">
                <a:solidFill>
                  <a:srgbClr val="2F3A45"/>
                </a:solidFill>
                <a:latin typeface="Arial" panose="020B0604020202020204" pitchFamily="34" charset="0"/>
                <a:ea typeface="Microsoft YaHei" panose="020B0503020204020204" pitchFamily="34" charset="-122"/>
              </a:rPr>
              <a:t>也只有 </a:t>
            </a:r>
            <a:r>
              <a:rPr lang="en-US" altLang="zh-CN" sz="1180">
                <a:solidFill>
                  <a:srgbClr val="2F3A45"/>
                </a:solidFill>
                <a:latin typeface="Arial" panose="020B0604020202020204" pitchFamily="34" charset="0"/>
                <a:ea typeface="Microsoft YaHei" panose="020B0503020204020204" pitchFamily="34" charset="-122"/>
              </a:rPr>
              <a:t>0.53×</a:t>
            </a:r>
            <a:r>
              <a:rPr lang="zh-CN" altLang="en-US" sz="1180">
                <a:solidFill>
                  <a:srgbClr val="2F3A45"/>
                </a:solidFill>
                <a:latin typeface="Arial" panose="020B0604020202020204" pitchFamily="34" charset="0"/>
                <a:ea typeface="Microsoft YaHei" panose="020B0503020204020204" pitchFamily="34" charset="-122"/>
              </a:rPr>
              <a:t>。</a:t>
            </a:r>
          </a:p>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BANG C </a:t>
            </a:r>
            <a:r>
              <a:rPr lang="zh-CN" altLang="en-US" sz="1180">
                <a:solidFill>
                  <a:srgbClr val="2F3A45"/>
                </a:solidFill>
                <a:latin typeface="Arial" panose="020B0604020202020204" pitchFamily="34" charset="0"/>
                <a:ea typeface="Microsoft YaHei" panose="020B0503020204020204" pitchFamily="34" charset="-122"/>
              </a:rPr>
              <a:t>三项均低于基线；当前主要短板是高性能优化。</a:t>
            </a:r>
          </a:p>
        </p:txBody>
      </p:sp>
      <p:sp>
        <p:nvSpPr>
          <p:cNvPr id="12"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3.4</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4"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extLst>
      <p:ext uri="{BB962C8B-B14F-4D97-AF65-F5344CB8AC3E}">
        <p14:creationId xmlns:p14="http://schemas.microsoft.com/office/powerpoint/2010/main" val="73591345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6" name="slide-10-title"/>
          <p:cNvSpPr>
            <a:spLocks noGrp="1"/>
          </p:cNvSpPr>
          <p:nvPr/>
        </p:nvSpPr>
        <p:spPr>
          <a:xfrm>
            <a:off x="1200150" y="177800"/>
            <a:ext cx="9144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3000" b="1">
                <a:solidFill>
                  <a:srgbClr val="243B53"/>
                </a:solidFill>
                <a:latin typeface="Arial" panose="020B0604020202020204" pitchFamily="34" charset="0"/>
                <a:ea typeface="Microsoft YaHei" panose="020B0503020204020204" pitchFamily="34" charset="-122"/>
                <a:cs typeface="微软雅黑" panose="020B0503020204020204" charset="-122"/>
              </a:rPr>
              <a:t>四类算子 </a:t>
            </a:r>
            <a:r>
              <a:rPr lang="en-US" altLang="zh-CN" sz="3000" b="1">
                <a:solidFill>
                  <a:srgbClr val="243B53"/>
                </a:solidFill>
                <a:latin typeface="Arial" panose="020B0604020202020204" pitchFamily="34" charset="0"/>
                <a:ea typeface="Microsoft YaHei" panose="020B0503020204020204" pitchFamily="34" charset="-122"/>
                <a:cs typeface="微软雅黑" panose="020B0503020204020204" charset="-122"/>
              </a:rPr>
              <a:t>Skill</a:t>
            </a:r>
            <a:r>
              <a:rPr lang="zh-CN" altLang="en-US" sz="3000" b="1">
                <a:solidFill>
                  <a:srgbClr val="243B53"/>
                </a:solidFill>
                <a:latin typeface="Arial" panose="020B0604020202020204" pitchFamily="34" charset="0"/>
                <a:ea typeface="Microsoft YaHei" panose="020B0503020204020204" pitchFamily="34" charset="-122"/>
                <a:cs typeface="微软雅黑" panose="020B0503020204020204" charset="-122"/>
              </a:rPr>
              <a:t>：开发效率对比</a:t>
            </a:r>
            <a:endParaRPr sz="3000" b="1">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3" name="elapsed_time_definition"/>
          <p:cNvSpPr>
            <a:spLocks noGrp="1"/>
          </p:cNvSpPr>
          <p:nvPr/>
        </p:nvSpPr>
        <p:spPr>
          <a:xfrm>
            <a:off x="1200149" y="4241800"/>
            <a:ext cx="6350000" cy="254000"/>
          </a:xfrm>
          <a:prstGeom prst="rect">
            <a:avLst/>
          </a:prstGeom>
          <a:noFill/>
          <a:ln w="0">
            <a:noFill/>
            <a:prstDash val="solid"/>
          </a:ln>
          <a:effectLst/>
        </p:spPr>
        <p:txBody>
          <a:bodyPr wrap="square" lIns="0" tIns="0" rIns="0" bIns="0" anchor="t">
            <a:noAutofit/>
          </a:bodyPr>
          <a:lstStyle/>
          <a:p>
            <a:pPr>
              <a:buNone/>
              <a:defRPr sz="1050" b="0">
                <a:solidFill>
                  <a:srgbClr val="59616D"/>
                </a:solidFill>
                <a:latin typeface="微软雅黑" panose="020B0503020204020204" charset="-122"/>
                <a:ea typeface="微软雅黑" panose="020B0503020204020204" charset="-122"/>
                <a:cs typeface="微软雅黑" panose="020B0503020204020204" charset="-122"/>
              </a:defRPr>
            </a:pPr>
            <a:r>
              <a:rPr sz="1050">
                <a:solidFill>
                  <a:srgbClr val="66737F"/>
                </a:solidFill>
                <a:latin typeface="Arial" panose="020B0604020202020204" pitchFamily="34" charset="0"/>
                <a:ea typeface="Microsoft YaHei" panose="020B0503020204020204" pitchFamily="34" charset="-122"/>
                <a:cs typeface="微软雅黑" panose="020B0503020204020204" charset="-122"/>
              </a:rPr>
              <a:t>端到端耗时：需求提交 → 最终交付</a:t>
            </a:r>
          </a:p>
        </p:txBody>
      </p:sp>
      <p:graphicFrame>
        <p:nvGraphicFramePr>
          <p:cNvPr id="54" name="development_time_by_skill_and_operator"/>
          <p:cNvGraphicFramePr/>
          <p:nvPr>
            <p:extLst>
              <p:ext uri="{D42A27DB-BD31-4B8C-83A1-F6EECF244321}">
                <p14:modId xmlns:p14="http://schemas.microsoft.com/office/powerpoint/2010/main" val="2585405578"/>
              </p:ext>
            </p:extLst>
          </p:nvPr>
        </p:nvGraphicFramePr>
        <p:xfrm>
          <a:off x="1200150" y="990600"/>
          <a:ext cx="7600950" cy="3149600"/>
        </p:xfrm>
        <a:graphic>
          <a:graphicData uri="http://schemas.openxmlformats.org/drawingml/2006/table">
            <a:tbl>
              <a:tblPr firstRow="1">
                <a:effectLst/>
              </a:tblPr>
              <a:tblGrid>
                <a:gridCol w="1981200">
                  <a:extLst>
                    <a:ext uri="{9D8B030D-6E8A-4147-A177-3AD203B41FA5}">
                      <a16:colId xmlns:a16="http://schemas.microsoft.com/office/drawing/2014/main" val="20000"/>
                    </a:ext>
                  </a:extLst>
                </a:gridCol>
                <a:gridCol w="1885950">
                  <a:extLst>
                    <a:ext uri="{9D8B030D-6E8A-4147-A177-3AD203B41FA5}">
                      <a16:colId xmlns:a16="http://schemas.microsoft.com/office/drawing/2014/main" val="20001"/>
                    </a:ext>
                  </a:extLst>
                </a:gridCol>
                <a:gridCol w="1876425">
                  <a:extLst>
                    <a:ext uri="{9D8B030D-6E8A-4147-A177-3AD203B41FA5}">
                      <a16:colId xmlns:a16="http://schemas.microsoft.com/office/drawing/2014/main" val="20002"/>
                    </a:ext>
                  </a:extLst>
                </a:gridCol>
                <a:gridCol w="1857375">
                  <a:extLst>
                    <a:ext uri="{9D8B030D-6E8A-4147-A177-3AD203B41FA5}">
                      <a16:colId xmlns:a16="http://schemas.microsoft.com/office/drawing/2014/main" val="20003"/>
                    </a:ext>
                  </a:extLst>
                </a:gridCol>
              </a:tblGrid>
              <a:tr h="629920">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Skill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LayerNorm</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Softmax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MatMul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629920">
                <a:tc>
                  <a:txBody>
                    <a:bodyPr/>
                    <a:lstStyle/>
                    <a:p>
                      <a:pPr algn="ctr">
                        <a:buNone/>
                      </a:pPr>
                      <a:r>
                        <a:rPr sz="1400" b="1">
                          <a:solidFill>
                            <a:srgbClr val="2F3A45"/>
                          </a:solidFill>
                          <a:latin typeface="Arial" panose="020B0604020202020204" pitchFamily="34" charset="0"/>
                          <a:ea typeface="Microsoft YaHei" panose="020B0503020204020204" pitchFamily="34" charset="-122"/>
                          <a:cs typeface="微软雅黑" panose="020B0503020204020204" charset="-122"/>
                        </a:rPr>
                        <a:t>MLU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3</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h</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2</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h</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3</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h26</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629920">
                <a:tc>
                  <a:txBody>
                    <a:bodyPr/>
                    <a:lstStyle/>
                    <a:p>
                      <a:pPr algn="ctr">
                        <a:buNone/>
                      </a:pPr>
                      <a:r>
                        <a:rPr sz="1400" b="1">
                          <a:solidFill>
                            <a:srgbClr val="C77C59"/>
                          </a:solidFill>
                          <a:latin typeface="Arial" panose="020B0604020202020204" pitchFamily="34" charset="0"/>
                          <a:ea typeface="Microsoft YaHei" panose="020B0503020204020204" pitchFamily="34" charset="-122"/>
                          <a:cs typeface="微软雅黑" panose="020B0503020204020204" charset="-122"/>
                        </a:rPr>
                        <a:t>BANG C</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7</a:t>
                      </a:r>
                      <a:r>
                        <a:rPr lang="en-US" altLang="zh-CN"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h</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7</a:t>
                      </a:r>
                      <a:r>
                        <a:rPr lang="en-US" altLang="zh-CN"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h</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10</a:t>
                      </a:r>
                      <a:r>
                        <a:rPr lang="en-US" altLang="zh-CN"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h</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extLst>
                  <a:ext uri="{0D108BD9-81ED-4DB2-BD59-A6C34878D82A}">
                    <a16:rowId xmlns:a16="http://schemas.microsoft.com/office/drawing/2014/main" val="10002"/>
                  </a:ext>
                </a:extLst>
              </a:tr>
              <a:tr h="629920">
                <a:tc>
                  <a:txBody>
                    <a:bodyPr/>
                    <a:lstStyle/>
                    <a:p>
                      <a:pPr algn="ctr">
                        <a:buNone/>
                      </a:pPr>
                      <a:r>
                        <a:rPr sz="1400" b="1">
                          <a:solidFill>
                            <a:srgbClr val="4F8A83"/>
                          </a:solidFill>
                          <a:latin typeface="Arial" panose="020B0604020202020204" pitchFamily="34" charset="0"/>
                          <a:ea typeface="Microsoft YaHei" panose="020B0503020204020204" pitchFamily="34" charset="-122"/>
                          <a:cs typeface="微软雅黑" panose="020B0503020204020204" charset="-122"/>
                        </a:rPr>
                        <a:t>CUDA C</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1</a:t>
                      </a:r>
                      <a:r>
                        <a:rPr lang="en-US" altLang="zh-CN"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h57</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1</a:t>
                      </a:r>
                      <a:r>
                        <a:rPr lang="en-US" altLang="zh-CN"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h10m</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1</a:t>
                      </a:r>
                      <a:r>
                        <a:rPr lang="en-US" altLang="zh-CN"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h20m</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extLst>
                  <a:ext uri="{0D108BD9-81ED-4DB2-BD59-A6C34878D82A}">
                    <a16:rowId xmlns:a16="http://schemas.microsoft.com/office/drawing/2014/main" val="10003"/>
                  </a:ext>
                </a:extLst>
              </a:tr>
              <a:tr h="629920">
                <a:tc>
                  <a:txBody>
                    <a:bodyPr/>
                    <a:lstStyle/>
                    <a:p>
                      <a:pPr algn="ctr">
                        <a:buNone/>
                      </a:pPr>
                      <a:r>
                        <a:rPr sz="1400" b="1">
                          <a:solidFill>
                            <a:srgbClr val="2F3A45"/>
                          </a:solidFill>
                          <a:latin typeface="Arial" panose="020B0604020202020204" pitchFamily="34" charset="0"/>
                          <a:ea typeface="Microsoft YaHei" panose="020B0503020204020204" pitchFamily="34" charset="-122"/>
                          <a:cs typeface="微软雅黑" panose="020B0503020204020204" charset="-122"/>
                        </a:rPr>
                        <a:t>GPU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2</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h30m</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3</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h</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h30m</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4"/>
                  </a:ext>
                </a:extLst>
              </a:tr>
            </a:tbl>
          </a:graphicData>
        </a:graphic>
      </p:graphicFrame>
      <p:graphicFrame>
        <p:nvGraphicFramePr>
          <p:cNvPr id="55" name="average_development_time"/>
          <p:cNvGraphicFramePr/>
          <p:nvPr>
            <p:extLst>
              <p:ext uri="{D42A27DB-BD31-4B8C-83A1-F6EECF244321}">
                <p14:modId xmlns:p14="http://schemas.microsoft.com/office/powerpoint/2010/main" val="3259880839"/>
              </p:ext>
            </p:extLst>
          </p:nvPr>
        </p:nvGraphicFramePr>
        <p:xfrm>
          <a:off x="8801100" y="990600"/>
          <a:ext cx="2199640" cy="3149600"/>
        </p:xfrm>
        <a:graphic>
          <a:graphicData uri="http://schemas.openxmlformats.org/drawingml/2006/table">
            <a:tbl>
              <a:tblPr firstRow="1">
                <a:effectLst/>
              </a:tblPr>
              <a:tblGrid>
                <a:gridCol w="2199640">
                  <a:extLst>
                    <a:ext uri="{9D8B030D-6E8A-4147-A177-3AD203B41FA5}">
                      <a16:colId xmlns:a16="http://schemas.microsoft.com/office/drawing/2014/main" val="20000"/>
                    </a:ext>
                  </a:extLst>
                </a:gridCol>
              </a:tblGrid>
              <a:tr h="629920">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平均耗时</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629920">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2h 49m</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629920">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8</a:t>
                      </a:r>
                      <a:r>
                        <a:rPr lang="en-US" altLang="zh-CN"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h</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extLst>
                  <a:ext uri="{0D108BD9-81ED-4DB2-BD59-A6C34878D82A}">
                    <a16:rowId xmlns:a16="http://schemas.microsoft.com/office/drawing/2014/main" val="10002"/>
                  </a:ext>
                </a:extLst>
              </a:tr>
              <a:tr h="629920">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1h 29m</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extLst>
                  <a:ext uri="{0D108BD9-81ED-4DB2-BD59-A6C34878D82A}">
                    <a16:rowId xmlns:a16="http://schemas.microsoft.com/office/drawing/2014/main" val="10003"/>
                  </a:ext>
                </a:extLst>
              </a:tr>
              <a:tr h="629920">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2h 20m</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4"/>
                  </a:ext>
                </a:extLst>
              </a:tr>
            </a:tbl>
          </a:graphicData>
        </a:graphic>
      </p:graphicFrame>
      <p:sp>
        <p:nvSpPr>
          <p:cNvPr id="2"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a:solidFill>
                  <a:srgbClr val="66737F"/>
                </a:solidFill>
                <a:latin typeface="Arial" panose="020B0604020202020204" pitchFamily="34" charset="0"/>
                <a:ea typeface="Microsoft YaHei" panose="020B0503020204020204" pitchFamily="34" charset="-122"/>
                <a:cs typeface="微软雅黑" panose="020B0503020204020204" charset="-122"/>
              </a:rPr>
              <a:t>11</a:t>
            </a:r>
          </a:p>
        </p:txBody>
      </p:sp>
      <p:sp>
        <p:nvSpPr>
          <p:cNvPr id="6" name="s17-observation-heading">
            <a:extLst>
              <a:ext uri="{FF2B5EF4-FFF2-40B4-BE49-F238E27FC236}">
                <a16:creationId xmlns:a16="http://schemas.microsoft.com/office/drawing/2014/main" id="{CBCDE048-B80F-CBF0-1BDB-E3F2A0604D66}"/>
              </a:ext>
            </a:extLst>
          </p:cNvPr>
          <p:cNvSpPr txBox="1"/>
          <p:nvPr/>
        </p:nvSpPr>
        <p:spPr>
          <a:xfrm>
            <a:off x="1193800" y="4597400"/>
            <a:ext cx="9779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效率观察</a:t>
            </a:r>
          </a:p>
        </p:txBody>
      </p:sp>
      <p:sp>
        <p:nvSpPr>
          <p:cNvPr id="11" name="s17-observation-left">
            <a:extLst>
              <a:ext uri="{FF2B5EF4-FFF2-40B4-BE49-F238E27FC236}">
                <a16:creationId xmlns:a16="http://schemas.microsoft.com/office/drawing/2014/main" id="{9C510854-2DAF-092A-89C9-E8B1716B7288}"/>
              </a:ext>
            </a:extLst>
          </p:cNvPr>
          <p:cNvSpPr txBox="1"/>
          <p:nvPr/>
        </p:nvSpPr>
        <p:spPr>
          <a:xfrm>
            <a:off x="1193800" y="49403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CUDA C </a:t>
            </a:r>
            <a:r>
              <a:rPr lang="zh-CN" altLang="en-US" sz="1180">
                <a:solidFill>
                  <a:srgbClr val="2F3A45"/>
                </a:solidFill>
                <a:latin typeface="Arial" panose="020B0604020202020204" pitchFamily="34" charset="0"/>
                <a:ea typeface="Microsoft YaHei" panose="020B0503020204020204" pitchFamily="34" charset="-122"/>
              </a:rPr>
              <a:t>平均 </a:t>
            </a:r>
            <a:r>
              <a:rPr lang="en-US" altLang="zh-CN" sz="1180">
                <a:solidFill>
                  <a:srgbClr val="2F3A45"/>
                </a:solidFill>
                <a:latin typeface="Arial" panose="020B0604020202020204" pitchFamily="34" charset="0"/>
                <a:ea typeface="Microsoft YaHei" panose="020B0503020204020204" pitchFamily="34" charset="-122"/>
              </a:rPr>
              <a:t>1h29m</a:t>
            </a:r>
            <a:r>
              <a:rPr lang="zh-CN" altLang="en-US" sz="1180">
                <a:solidFill>
                  <a:srgbClr val="2F3A45"/>
                </a:solidFill>
                <a:latin typeface="Arial" panose="020B0604020202020204" pitchFamily="34" charset="0"/>
                <a:ea typeface="Microsoft YaHei" panose="020B0503020204020204" pitchFamily="34" charset="-122"/>
              </a:rPr>
              <a:t>，开发耗时最短；</a:t>
            </a:r>
            <a:r>
              <a:rPr lang="en-US" altLang="zh-CN" sz="1180">
                <a:solidFill>
                  <a:srgbClr val="2F3A45"/>
                </a:solidFill>
                <a:latin typeface="Arial" panose="020B0604020202020204" pitchFamily="34" charset="0"/>
                <a:ea typeface="Microsoft YaHei" panose="020B0503020204020204" pitchFamily="34" charset="-122"/>
              </a:rPr>
              <a:t>BANG C </a:t>
            </a:r>
            <a:r>
              <a:rPr lang="zh-CN" altLang="en-US" sz="1180">
                <a:solidFill>
                  <a:srgbClr val="2F3A45"/>
                </a:solidFill>
                <a:latin typeface="Arial" panose="020B0604020202020204" pitchFamily="34" charset="0"/>
                <a:ea typeface="Microsoft YaHei" panose="020B0503020204020204" pitchFamily="34" charset="-122"/>
              </a:rPr>
              <a:t>平均 </a:t>
            </a:r>
            <a:r>
              <a:rPr lang="en-US" altLang="zh-CN" sz="1180">
                <a:solidFill>
                  <a:srgbClr val="2F3A45"/>
                </a:solidFill>
                <a:latin typeface="Arial" panose="020B0604020202020204" pitchFamily="34" charset="0"/>
                <a:ea typeface="Microsoft YaHei" panose="020B0503020204020204" pitchFamily="34" charset="-122"/>
              </a:rPr>
              <a:t>8h</a:t>
            </a:r>
            <a:r>
              <a:rPr lang="zh-CN" altLang="en-US" sz="1180">
                <a:solidFill>
                  <a:srgbClr val="2F3A45"/>
                </a:solidFill>
                <a:latin typeface="Arial" panose="020B0604020202020204" pitchFamily="34" charset="0"/>
                <a:ea typeface="Microsoft YaHei" panose="020B0503020204020204" pitchFamily="34" charset="-122"/>
              </a:rPr>
              <a:t>，耗时最长。</a:t>
            </a:r>
          </a:p>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a:t>
            </a:r>
            <a:r>
              <a:rPr lang="zh-CN" altLang="en-US" sz="1180">
                <a:solidFill>
                  <a:srgbClr val="2F3A45"/>
                </a:solidFill>
                <a:latin typeface="Arial" panose="020B0604020202020204" pitchFamily="34" charset="0"/>
                <a:ea typeface="Microsoft YaHei" panose="020B0503020204020204" pitchFamily="34" charset="-122"/>
              </a:rPr>
              <a:t>开发时间与最终性能并非完全正相关：</a:t>
            </a:r>
            <a:r>
              <a:rPr lang="en-US" altLang="zh-CN" sz="1180">
                <a:solidFill>
                  <a:srgbClr val="2F3A45"/>
                </a:solidFill>
                <a:latin typeface="Arial" panose="020B0604020202020204" pitchFamily="34" charset="0"/>
                <a:ea typeface="Microsoft YaHei" panose="020B0503020204020204" pitchFamily="34" charset="-122"/>
              </a:rPr>
              <a:t>CUDA C </a:t>
            </a:r>
            <a:r>
              <a:rPr lang="zh-CN" altLang="en-US" sz="1180">
                <a:solidFill>
                  <a:srgbClr val="2F3A45"/>
                </a:solidFill>
                <a:latin typeface="Arial" panose="020B0604020202020204" pitchFamily="34" charset="0"/>
                <a:ea typeface="Microsoft YaHei" panose="020B0503020204020204" pitchFamily="34" charset="-122"/>
              </a:rPr>
              <a:t>最快，但 </a:t>
            </a:r>
            <a:r>
              <a:rPr lang="en-US" altLang="zh-CN" sz="1180">
                <a:solidFill>
                  <a:srgbClr val="2F3A45"/>
                </a:solidFill>
                <a:latin typeface="Arial" panose="020B0604020202020204" pitchFamily="34" charset="0"/>
                <a:ea typeface="Microsoft YaHei" panose="020B0503020204020204" pitchFamily="34" charset="-122"/>
              </a:rPr>
              <a:t>MatMul </a:t>
            </a:r>
            <a:r>
              <a:rPr lang="zh-CN" altLang="en-US" sz="1180">
                <a:solidFill>
                  <a:srgbClr val="2F3A45"/>
                </a:solidFill>
                <a:latin typeface="Arial" panose="020B0604020202020204" pitchFamily="34" charset="0"/>
                <a:ea typeface="Microsoft YaHei" panose="020B0503020204020204" pitchFamily="34" charset="-122"/>
              </a:rPr>
              <a:t>仍只有 </a:t>
            </a:r>
            <a:r>
              <a:rPr lang="en-US" altLang="zh-CN" sz="1180">
                <a:solidFill>
                  <a:srgbClr val="2F3A45"/>
                </a:solidFill>
                <a:latin typeface="Arial" panose="020B0604020202020204" pitchFamily="34" charset="0"/>
                <a:ea typeface="Microsoft YaHei" panose="020B0503020204020204" pitchFamily="34" charset="-122"/>
              </a:rPr>
              <a:t>0.53×</a:t>
            </a:r>
            <a:r>
              <a:rPr lang="zh-CN" altLang="en-US" sz="1180">
                <a:solidFill>
                  <a:srgbClr val="2F3A45"/>
                </a:solidFill>
                <a:latin typeface="Arial" panose="020B0604020202020204" pitchFamily="34" charset="0"/>
                <a:ea typeface="Microsoft YaHei" panose="020B0503020204020204" pitchFamily="34" charset="-122"/>
              </a:rPr>
              <a:t>。</a:t>
            </a:r>
          </a:p>
        </p:txBody>
      </p:sp>
      <p:sp>
        <p:nvSpPr>
          <p:cNvPr id="14" name="s17-observation-right">
            <a:extLst>
              <a:ext uri="{FF2B5EF4-FFF2-40B4-BE49-F238E27FC236}">
                <a16:creationId xmlns:a16="http://schemas.microsoft.com/office/drawing/2014/main" id="{FD67950C-2C88-315E-8746-DF810FCEBE27}"/>
              </a:ext>
            </a:extLst>
          </p:cNvPr>
          <p:cNvSpPr txBox="1"/>
          <p:nvPr/>
        </p:nvSpPr>
        <p:spPr>
          <a:xfrm>
            <a:off x="6299200" y="49403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GPU Triton </a:t>
            </a:r>
            <a:r>
              <a:rPr lang="zh-CN" altLang="en-US" sz="1180">
                <a:solidFill>
                  <a:srgbClr val="2F3A45"/>
                </a:solidFill>
                <a:latin typeface="Arial" panose="020B0604020202020204" pitchFamily="34" charset="0"/>
                <a:ea typeface="Microsoft YaHei" panose="020B0503020204020204" pitchFamily="34" charset="-122"/>
              </a:rPr>
              <a:t>的 </a:t>
            </a:r>
            <a:r>
              <a:rPr lang="en-US" altLang="zh-CN" sz="1180">
                <a:solidFill>
                  <a:srgbClr val="2F3A45"/>
                </a:solidFill>
                <a:latin typeface="Arial" panose="020B0604020202020204" pitchFamily="34" charset="0"/>
                <a:ea typeface="Microsoft YaHei" panose="020B0503020204020204" pitchFamily="34" charset="-122"/>
              </a:rPr>
              <a:t>MatMul </a:t>
            </a:r>
            <a:r>
              <a:rPr lang="zh-CN" altLang="en-US" sz="1180">
                <a:solidFill>
                  <a:srgbClr val="2F3A45"/>
                </a:solidFill>
                <a:latin typeface="Arial" panose="020B0604020202020204" pitchFamily="34" charset="0"/>
                <a:ea typeface="Microsoft YaHei" panose="020B0503020204020204" pitchFamily="34" charset="-122"/>
              </a:rPr>
              <a:t>开发仅 </a:t>
            </a:r>
            <a:r>
              <a:rPr lang="en-US" altLang="zh-CN" sz="1180">
                <a:solidFill>
                  <a:srgbClr val="2F3A45"/>
                </a:solidFill>
                <a:latin typeface="Arial" panose="020B0604020202020204" pitchFamily="34" charset="0"/>
                <a:ea typeface="Microsoft YaHei" panose="020B0503020204020204" pitchFamily="34" charset="-122"/>
              </a:rPr>
              <a:t>1h30m</a:t>
            </a:r>
            <a:r>
              <a:rPr lang="zh-CN" altLang="en-US" sz="1180">
                <a:solidFill>
                  <a:srgbClr val="2F3A45"/>
                </a:solidFill>
                <a:latin typeface="Arial" panose="020B0604020202020204" pitchFamily="34" charset="0"/>
                <a:ea typeface="Microsoft YaHei" panose="020B0503020204020204" pitchFamily="34" charset="-122"/>
              </a:rPr>
              <a:t>，却只有 </a:t>
            </a:r>
            <a:r>
              <a:rPr lang="en-US" altLang="zh-CN" sz="1180">
                <a:solidFill>
                  <a:srgbClr val="2F3A45"/>
                </a:solidFill>
                <a:latin typeface="Arial" panose="020B0604020202020204" pitchFamily="34" charset="0"/>
                <a:ea typeface="Microsoft YaHei" panose="020B0503020204020204" pitchFamily="34" charset="-122"/>
              </a:rPr>
              <a:t>0.33×</a:t>
            </a:r>
            <a:r>
              <a:rPr lang="zh-CN" altLang="en-US" sz="1180">
                <a:solidFill>
                  <a:srgbClr val="2F3A45"/>
                </a:solidFill>
                <a:latin typeface="Arial" panose="020B0604020202020204" pitchFamily="34" charset="0"/>
                <a:ea typeface="Microsoft YaHei" panose="020B0503020204020204" pitchFamily="34" charset="-122"/>
              </a:rPr>
              <a:t>；快速生成不等于高性能。</a:t>
            </a:r>
          </a:p>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BANG C </a:t>
            </a:r>
            <a:r>
              <a:rPr lang="zh-CN" altLang="en-US" sz="1180">
                <a:solidFill>
                  <a:srgbClr val="2F3A45"/>
                </a:solidFill>
                <a:latin typeface="Arial" panose="020B0604020202020204" pitchFamily="34" charset="0"/>
                <a:ea typeface="Microsoft YaHei" panose="020B0503020204020204" pitchFamily="34" charset="-122"/>
              </a:rPr>
              <a:t>已能生成并验证 </a:t>
            </a:r>
            <a:r>
              <a:rPr lang="en-US" altLang="zh-CN" sz="1180">
                <a:solidFill>
                  <a:srgbClr val="2F3A45"/>
                </a:solidFill>
                <a:latin typeface="Arial" panose="020B0604020202020204" pitchFamily="34" charset="0"/>
                <a:ea typeface="Microsoft YaHei" panose="020B0503020204020204" pitchFamily="34" charset="-122"/>
              </a:rPr>
              <a:t>Kernel</a:t>
            </a:r>
            <a:r>
              <a:rPr lang="zh-CN" altLang="en-US" sz="1180">
                <a:solidFill>
                  <a:srgbClr val="2F3A45"/>
                </a:solidFill>
                <a:latin typeface="Arial" panose="020B0604020202020204" pitchFamily="34" charset="0"/>
                <a:ea typeface="Microsoft YaHei" panose="020B0503020204020204" pitchFamily="34" charset="-122"/>
              </a:rPr>
              <a:t>；当前主要瓶颈是优化知识与规则不足。</a:t>
            </a:r>
          </a:p>
        </p:txBody>
      </p:sp>
      <p:sp>
        <p:nvSpPr>
          <p:cNvPr id="12" name="slide-7-editable-footer"/>
          <p:cNvSpPr>
            <a:spLocks noGrp="1"/>
          </p:cNvSpPr>
          <p:nvPr/>
        </p:nvSpPr>
        <p:spPr>
          <a:xfrm>
            <a:off x="228600" y="6400800"/>
            <a:ext cx="11696700" cy="390525"/>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975"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1200" dirty="0" smtClean="0">
                <a:solidFill>
                  <a:srgbClr val="2F3A45"/>
                </a:solidFill>
                <a:latin typeface="Arial" panose="020B0604020202020204" pitchFamily="34" charset="0"/>
                <a:ea typeface="Microsoft YaHei" panose="020B0503020204020204" pitchFamily="34" charset="-122"/>
              </a:rPr>
              <a:t>总结：结果显示 </a:t>
            </a:r>
            <a:r>
              <a:rPr lang="en-US" altLang="zh-CN" sz="1200" dirty="0" err="1" smtClean="0">
                <a:solidFill>
                  <a:srgbClr val="2F3A45"/>
                </a:solidFill>
                <a:latin typeface="Arial" panose="020B0604020202020204" pitchFamily="34" charset="0"/>
                <a:ea typeface="Microsoft YaHei" panose="020B0503020204020204" pitchFamily="34" charset="-122"/>
              </a:rPr>
              <a:t>mlu</a:t>
            </a:r>
            <a:r>
              <a:rPr lang="en-US" altLang="zh-CN" sz="1200" dirty="0" smtClean="0">
                <a:solidFill>
                  <a:srgbClr val="2F3A45"/>
                </a:solidFill>
                <a:latin typeface="Arial" panose="020B0604020202020204" pitchFamily="34" charset="0"/>
                <a:ea typeface="Microsoft YaHei" panose="020B0503020204020204" pitchFamily="34" charset="-122"/>
              </a:rPr>
              <a:t> triton </a:t>
            </a:r>
            <a:r>
              <a:rPr lang="en-US" altLang="zh-CN" sz="1200" dirty="0" err="1" smtClean="0">
                <a:solidFill>
                  <a:srgbClr val="2F3A45"/>
                </a:solidFill>
                <a:latin typeface="Arial" panose="020B0604020202020204" pitchFamily="34" charset="0"/>
                <a:ea typeface="Microsoft YaHei" panose="020B0503020204020204" pitchFamily="34" charset="-122"/>
              </a:rPr>
              <a:t>cuda</a:t>
            </a:r>
            <a:r>
              <a:rPr lang="en-US" altLang="zh-CN" sz="1200" dirty="0" smtClean="0">
                <a:solidFill>
                  <a:srgbClr val="2F3A45"/>
                </a:solidFill>
                <a:latin typeface="Arial" panose="020B0604020202020204" pitchFamily="34" charset="0"/>
                <a:ea typeface="Microsoft YaHei" panose="020B0503020204020204" pitchFamily="34" charset="-122"/>
              </a:rPr>
              <a:t> c </a:t>
            </a:r>
            <a:r>
              <a:rPr lang="en-US" altLang="zh-CN" sz="1200" dirty="0" err="1" smtClean="0">
                <a:solidFill>
                  <a:srgbClr val="2F3A45"/>
                </a:solidFill>
                <a:latin typeface="Arial" panose="020B0604020202020204" pitchFamily="34" charset="0"/>
                <a:ea typeface="Microsoft YaHei" panose="020B0503020204020204" pitchFamily="34" charset="-122"/>
              </a:rPr>
              <a:t>gpu</a:t>
            </a:r>
            <a:r>
              <a:rPr lang="en-US" altLang="zh-CN" sz="1200" dirty="0" smtClean="0">
                <a:solidFill>
                  <a:srgbClr val="2F3A45"/>
                </a:solidFill>
                <a:latin typeface="Arial" panose="020B0604020202020204" pitchFamily="34" charset="0"/>
                <a:ea typeface="Microsoft YaHei" panose="020B0503020204020204" pitchFamily="34" charset="-122"/>
              </a:rPr>
              <a:t> triton</a:t>
            </a:r>
            <a:r>
              <a:rPr lang="zh-CN" altLang="en-US" sz="1200" dirty="0" smtClean="0">
                <a:solidFill>
                  <a:srgbClr val="2F3A45"/>
                </a:solidFill>
                <a:latin typeface="Arial" panose="020B0604020202020204" pitchFamily="34" charset="0"/>
                <a:ea typeface="Microsoft YaHei" panose="020B0503020204020204" pitchFamily="34" charset="-122"/>
              </a:rPr>
              <a:t>的</a:t>
            </a:r>
            <a:r>
              <a:rPr lang="en-US" altLang="zh-CN" sz="1200" dirty="0" smtClean="0">
                <a:solidFill>
                  <a:srgbClr val="2F3A45"/>
                </a:solidFill>
                <a:latin typeface="Arial" panose="020B0604020202020204" pitchFamily="34" charset="0"/>
                <a:ea typeface="Microsoft YaHei" panose="020B0503020204020204" pitchFamily="34" charset="-122"/>
              </a:rPr>
              <a:t>skill</a:t>
            </a:r>
            <a:r>
              <a:rPr lang="zh-CN" altLang="en-US" sz="1200" dirty="0" smtClean="0">
                <a:solidFill>
                  <a:srgbClr val="2F3A45"/>
                </a:solidFill>
                <a:latin typeface="Arial" panose="020B0604020202020204" pitchFamily="34" charset="0"/>
                <a:ea typeface="Microsoft YaHei" panose="020B0503020204020204" pitchFamily="34" charset="-122"/>
              </a:rPr>
              <a:t>开发效率尚可，但仍需大量算子测试。</a:t>
            </a:r>
            <a:r>
              <a:rPr lang="en-US" altLang="zh-CN" sz="1200" dirty="0" smtClean="0">
                <a:solidFill>
                  <a:srgbClr val="2F3A45"/>
                </a:solidFill>
                <a:latin typeface="Arial" panose="020B0604020202020204" pitchFamily="34" charset="0"/>
                <a:ea typeface="Microsoft YaHei" panose="020B0503020204020204" pitchFamily="34" charset="-122"/>
              </a:rPr>
              <a:t>Bang c</a:t>
            </a:r>
            <a:r>
              <a:rPr lang="zh-CN" altLang="en-US" sz="1200" dirty="0" smtClean="0">
                <a:solidFill>
                  <a:srgbClr val="2F3A45"/>
                </a:solidFill>
                <a:latin typeface="Arial" panose="020B0604020202020204" pitchFamily="34" charset="0"/>
                <a:ea typeface="Microsoft YaHei" panose="020B0503020204020204" pitchFamily="34" charset="-122"/>
              </a:rPr>
              <a:t>算子缺口较大，正在完善</a:t>
            </a:r>
            <a:r>
              <a:rPr sz="1200" dirty="0" smtClean="0">
                <a:solidFill>
                  <a:srgbClr val="2F3A45"/>
                </a:solidFill>
                <a:latin typeface="Arial" panose="020B0604020202020204" pitchFamily="34" charset="0"/>
                <a:ea typeface="Microsoft YaHei" panose="020B0503020204020204" pitchFamily="34" charset="-122"/>
              </a:rPr>
              <a:t>。</a:t>
            </a:r>
            <a:endParaRPr sz="1200" dirty="0">
              <a:solidFill>
                <a:srgbClr val="2F3A45"/>
              </a:solidFill>
              <a:latin typeface="Arial" panose="020B0604020202020204" pitchFamily="34" charset="0"/>
              <a:ea typeface="Microsoft YaHei" panose="020B0503020204020204" pitchFamily="34" charset="-122"/>
            </a:endParaRPr>
          </a:p>
        </p:txBody>
      </p:sp>
      <p:sp>
        <p:nvSpPr>
          <p:cNvPr id="13"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3.4</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5"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Microsoft YaHei" panose="020B0503020204020204" pitchFamily="3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FFFFFF"/>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D6DEE6"/>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a:solidFill>
                  <a:srgbClr val="2F3A45"/>
                </a:solidFill>
                <a:latin typeface="Arial" panose="020B0604020202020204" pitchFamily="34" charset="0"/>
                <a:ea typeface="Microsoft YaHei" panose="020B0503020204020204" pitchFamily="34" charset="-122"/>
                <a:cs typeface="微软雅黑" panose="020B0503020204020204" charset="-122"/>
              </a:rPr>
              <a:t>Agent/</a:t>
            </a:r>
            <a:r>
              <a:rPr sz="1600">
                <a:solidFill>
                  <a:srgbClr val="2F3A45"/>
                </a:solidFill>
                <a:latin typeface="Arial" panose="020B0604020202020204" pitchFamily="34" charset="0"/>
                <a:ea typeface="Microsoft YaHei" panose="020B0503020204020204" pitchFamily="3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ect">
            <a:avLst/>
          </a:prstGeom>
          <a:solidFill>
            <a:srgbClr val="FFFFFF"/>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D6DEE6"/>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02</a:t>
            </a: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a:solidFill>
                  <a:srgbClr val="2F3A45"/>
                </a:solidFill>
                <a:latin typeface="Arial" panose="020B0604020202020204" pitchFamily="34" charset="0"/>
                <a:ea typeface="Microsoft YaHei" panose="020B0503020204020204" pitchFamily="34" charset="-122"/>
                <a:cs typeface="微软雅黑" panose="020B0503020204020204" charset="-122"/>
              </a:rPr>
              <a:t>寒武纪</a:t>
            </a:r>
            <a:r>
              <a:rPr sz="1600">
                <a:solidFill>
                  <a:srgbClr val="2F3A45"/>
                </a:solidFill>
                <a:latin typeface="Arial" panose="020B0604020202020204" pitchFamily="34" charset="0"/>
                <a:ea typeface="Microsoft YaHei" panose="020B0503020204020204" pitchFamily="3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ect">
            <a:avLst/>
          </a:prstGeom>
          <a:solidFill>
            <a:srgbClr val="FFFFFF"/>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D6DEE6"/>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lvl="0">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sym typeface="+mn-ea"/>
              </a:rPr>
              <a:t>PART 03</a:t>
            </a: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Microsoft YaHei" panose="020B0503020204020204" pitchFamily="3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ect">
            <a:avLst/>
          </a:prstGeom>
          <a:solidFill>
            <a:srgbClr val="EEF2F5"/>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5B7188"/>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Microsoft YaHei" panose="020B0503020204020204" pitchFamily="3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b="1">
                <a:solidFill>
                  <a:srgbClr val="243B53"/>
                </a:solidFill>
                <a:latin typeface="Arial" panose="020B0604020202020204" pitchFamily="34" charset="0"/>
                <a:ea typeface="Microsoft YaHei" panose="020B0503020204020204" pitchFamily="34" charset="-122"/>
                <a:cs typeface="微软雅黑" panose="020B0503020204020204" charset="-122"/>
              </a:rPr>
              <a:t>未来展望</a:t>
            </a: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Grp="1"/>
          </p:cNvSpPr>
          <p:nvPr/>
        </p:nvSpPr>
        <p:spPr>
          <a:xfrm>
            <a:off x="11201400" y="419100"/>
            <a:ext cx="381000" cy="247650"/>
          </a:xfrm>
          <a:prstGeom prst="rect">
            <a:avLst/>
          </a:prstGeom>
          <a:noFill/>
          <a:ln w="0">
            <a:noFill/>
            <a:prstDash val="solid"/>
          </a:ln>
        </p:spPr>
        <p:txBody>
          <a:bodyPr wrap="square" lIns="0" tIns="0" rIns="0" bIns="0" anchor="t">
            <a:noAutofit/>
          </a:bodyPr>
          <a:lstStyle/>
          <a:p>
            <a:pPr algn="r">
              <a:lnSpc>
                <a:spcPct val="108000"/>
              </a:lnSpc>
              <a:buNone/>
              <a:defRPr sz="1200" b="1">
                <a:solidFill>
                  <a:srgbClr val="AFC2D5"/>
                </a:solidFill>
                <a:latin typeface="微软雅黑" panose="020B0503020204020204" charset="-122"/>
                <a:ea typeface="微软雅黑" panose="020B0503020204020204" charset="-122"/>
                <a:cs typeface="微软雅黑" panose="020B0503020204020204" charset="-122"/>
              </a:defRPr>
            </a:pPr>
            <a:r>
              <a:rPr sz="1200" b="1">
                <a:solidFill>
                  <a:srgbClr val="AFC2D5"/>
                </a:solidFill>
                <a:latin typeface="微软雅黑" panose="020B0503020204020204" charset="-122"/>
                <a:ea typeface="微软雅黑" panose="020B0503020204020204" charset="-122"/>
                <a:cs typeface="微软雅黑" panose="020B0503020204020204" charset="-122"/>
              </a:rPr>
              <a:t>11</a:t>
            </a:r>
          </a:p>
        </p:txBody>
      </p:sp>
      <p:sp>
        <p:nvSpPr>
          <p:cNvPr id="5" name="矩形 4"/>
          <p:cNvSpPr>
            <a:spLocks noGrp="1"/>
          </p:cNvSpPr>
          <p:nvPr/>
        </p:nvSpPr>
        <p:spPr>
          <a:xfrm>
            <a:off x="5440044" y="4049888"/>
            <a:ext cx="5951856" cy="323850"/>
          </a:xfrm>
          <a:prstGeom prst="rect">
            <a:avLst/>
          </a:prstGeom>
          <a:noFill/>
          <a:ln w="0">
            <a:noFill/>
            <a:prstDash val="solid"/>
          </a:ln>
        </p:spPr>
        <p:txBody>
          <a:bodyPr wrap="square" lIns="0" tIns="0" rIns="0" bIns="0" anchor="t">
            <a:noAutofit/>
          </a:bodyPr>
          <a:lstStyle/>
          <a:p>
            <a:pPr>
              <a:lnSpc>
                <a:spcPct val="105000"/>
              </a:lnSpc>
              <a:defRPr sz="1950" b="1">
                <a:solidFill>
                  <a:srgbClr val="FFFFFF"/>
                </a:solidFill>
                <a:latin typeface="微软雅黑" panose="020B0503020204020204" charset="-122"/>
                <a:ea typeface="微软雅黑" panose="020B0503020204020204" charset="-122"/>
                <a:cs typeface="微软雅黑" panose="020B0503020204020204" charset="-122"/>
              </a:defRPr>
            </a:pPr>
            <a:r>
              <a:rPr sz="1240" b="1" dirty="0" err="1">
                <a:solidFill>
                  <a:srgbClr val="FFFFFF"/>
                </a:solidFill>
                <a:latin typeface="微软雅黑" panose="020B0503020204020204" charset="-122"/>
                <a:ea typeface="微软雅黑" panose="020B0503020204020204" charset="-122"/>
                <a:cs typeface="微软雅黑" panose="020B0503020204020204" charset="-122"/>
              </a:rPr>
              <a:t>全平台</a:t>
            </a:r>
            <a:r>
              <a:rPr sz="1240" b="1" dirty="0">
                <a:solidFill>
                  <a:srgbClr val="FFFFFF"/>
                </a:solidFill>
                <a:latin typeface="微软雅黑" panose="020B0503020204020204" charset="-122"/>
                <a:ea typeface="微软雅黑" panose="020B0503020204020204" charset="-122"/>
                <a:cs typeface="微软雅黑" panose="020B0503020204020204" charset="-122"/>
              </a:rPr>
              <a:t> </a:t>
            </a:r>
            <a:r>
              <a:rPr sz="1240" b="1" dirty="0" err="1" smtClean="0">
                <a:solidFill>
                  <a:srgbClr val="FFFFFF"/>
                </a:solidFill>
                <a:latin typeface="微软雅黑" panose="020B0503020204020204" charset="-122"/>
                <a:ea typeface="微软雅黑" panose="020B0503020204020204" charset="-122"/>
                <a:cs typeface="微软雅黑" panose="020B0503020204020204" charset="-122"/>
              </a:rPr>
              <a:t>Sk</a:t>
            </a:r>
            <a:r>
              <a:rPr lang="zh-CN" altLang="en-US" sz="1240" b="1" dirty="0">
                <a:solidFill>
                  <a:srgbClr val="0F6849"/>
                </a:solidFill>
                <a:latin typeface="微软雅黑"/>
                <a:ea typeface="微软雅黑"/>
                <a:cs typeface="微软雅黑"/>
              </a:rPr>
              <a:t>算子开发  →  </a:t>
            </a:r>
            <a:r>
              <a:rPr lang="en-US" altLang="zh-CN" sz="1240" b="1" dirty="0">
                <a:solidFill>
                  <a:srgbClr val="0F6849"/>
                </a:solidFill>
                <a:latin typeface="微软雅黑"/>
                <a:ea typeface="微软雅黑"/>
                <a:cs typeface="微软雅黑"/>
              </a:rPr>
              <a:t>Kernel </a:t>
            </a:r>
            <a:r>
              <a:rPr lang="zh-CN" altLang="en-US" sz="1240" b="1" dirty="0">
                <a:solidFill>
                  <a:srgbClr val="0F6849"/>
                </a:solidFill>
                <a:latin typeface="微软雅黑"/>
                <a:ea typeface="微软雅黑"/>
                <a:cs typeface="微软雅黑"/>
              </a:rPr>
              <a:t>优化  →  模型部署  →  </a:t>
            </a:r>
            <a:r>
              <a:rPr lang="en-US" altLang="zh-CN" sz="1240" b="1" dirty="0">
                <a:solidFill>
                  <a:srgbClr val="0F6849"/>
                </a:solidFill>
                <a:latin typeface="微软雅黑"/>
                <a:ea typeface="微软雅黑"/>
                <a:cs typeface="微软雅黑"/>
              </a:rPr>
              <a:t>Profiling  →  </a:t>
            </a:r>
            <a:r>
              <a:rPr lang="zh-CN" altLang="en-US" sz="1240" b="1" dirty="0" smtClean="0">
                <a:solidFill>
                  <a:srgbClr val="0F6849"/>
                </a:solidFill>
                <a:latin typeface="微软雅黑"/>
                <a:ea typeface="微软雅黑"/>
                <a:cs typeface="微软雅黑"/>
              </a:rPr>
              <a:t>系统优化</a:t>
            </a:r>
            <a:endParaRPr lang="zh-CN" altLang="en-US" sz="1240" dirty="0">
              <a:solidFill>
                <a:srgbClr val="1A2433"/>
              </a:solidFill>
              <a:latin typeface="微软雅黑"/>
              <a:ea typeface="微软雅黑"/>
              <a:cs typeface="微软雅黑"/>
            </a:endParaRPr>
          </a:p>
          <a:p>
            <a:pPr algn="l">
              <a:lnSpc>
                <a:spcPct val="105000"/>
              </a:lnSpc>
              <a:buNone/>
              <a:defRPr sz="1950" b="1">
                <a:solidFill>
                  <a:srgbClr val="FFFFFF"/>
                </a:solidFill>
                <a:latin typeface="微软雅黑" panose="020B0503020204020204" charset="-122"/>
                <a:ea typeface="微软雅黑" panose="020B0503020204020204" charset="-122"/>
                <a:cs typeface="微软雅黑" panose="020B0503020204020204" charset="-122"/>
              </a:defRPr>
            </a:pPr>
            <a:r>
              <a:rPr sz="1240" b="1" dirty="0" smtClean="0">
                <a:solidFill>
                  <a:srgbClr val="FFFFFF"/>
                </a:solidFill>
                <a:latin typeface="微软雅黑" panose="020B0503020204020204" charset="-122"/>
                <a:ea typeface="微软雅黑" panose="020B0503020204020204" charset="-122"/>
                <a:cs typeface="微软雅黑" panose="020B0503020204020204" charset="-122"/>
              </a:rPr>
              <a:t>ill </a:t>
            </a:r>
            <a:r>
              <a:rPr sz="1240" b="1" dirty="0" err="1">
                <a:solidFill>
                  <a:srgbClr val="FFFFFF"/>
                </a:solidFill>
                <a:latin typeface="微软雅黑" panose="020B0503020204020204" charset="-122"/>
                <a:ea typeface="微软雅黑" panose="020B0503020204020204" charset="-122"/>
                <a:cs typeface="微软雅黑" panose="020B0503020204020204" charset="-122"/>
              </a:rPr>
              <a:t>架构</a:t>
            </a:r>
            <a:endParaRPr sz="124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6705600" y="1466850"/>
            <a:ext cx="4572000" cy="323850"/>
          </a:xfrm>
          <a:prstGeom prst="rect">
            <a:avLst/>
          </a:prstGeom>
          <a:noFill/>
          <a:ln w="0">
            <a:noFill/>
            <a:prstDash val="solid"/>
          </a:ln>
        </p:spPr>
        <p:txBody>
          <a:bodyPr wrap="square" lIns="0" tIns="0" rIns="0" bIns="0" anchor="t">
            <a:noAutofit/>
          </a:bodyPr>
          <a:lstStyle/>
          <a:p>
            <a:pPr algn="l">
              <a:lnSpc>
                <a:spcPct val="105000"/>
              </a:lnSpc>
              <a:buNone/>
              <a:defRPr sz="1950" b="1">
                <a:solidFill>
                  <a:srgbClr val="FFFFFF"/>
                </a:solidFill>
                <a:latin typeface="微软雅黑" panose="020B0503020204020204" charset="-122"/>
                <a:ea typeface="微软雅黑" panose="020B0503020204020204" charset="-122"/>
                <a:cs typeface="微软雅黑" panose="020B0503020204020204" charset="-122"/>
              </a:defRPr>
            </a:pPr>
            <a:r>
              <a:rPr sz="1950" b="1">
                <a:solidFill>
                  <a:srgbClr val="FFFFFF"/>
                </a:solidFill>
                <a:latin typeface="微软雅黑" panose="020B0503020204020204" charset="-122"/>
                <a:ea typeface="微软雅黑" panose="020B0503020204020204" charset="-122"/>
                <a:cs typeface="微软雅黑" panose="020B0503020204020204" charset="-122"/>
              </a:rPr>
              <a:t>人机协同优化闭环</a:t>
            </a:r>
          </a:p>
        </p:txBody>
      </p:sp>
      <p:sp>
        <p:nvSpPr>
          <p:cNvPr id="27" name="圆角矩形 26"/>
          <p:cNvSpPr>
            <a:spLocks noGrp="1"/>
          </p:cNvSpPr>
          <p:nvPr/>
        </p:nvSpPr>
        <p:spPr>
          <a:xfrm>
            <a:off x="1553842" y="2290762"/>
            <a:ext cx="3581400" cy="514350"/>
          </a:xfrm>
          <a:prstGeom prst="roundRect">
            <a:avLst>
              <a:gd name="adj" fmla="val 11111"/>
            </a:avLst>
          </a:prstGeom>
          <a:solidFill>
            <a:srgbClr val="153B5D"/>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a:solidFill>
                  <a:srgbClr val="FFFFFF"/>
                </a:solidFill>
                <a:latin typeface="微软雅黑" panose="020B0503020204020204" charset="-122"/>
                <a:ea typeface="微软雅黑" panose="020B0503020204020204" charset="-122"/>
                <a:cs typeface="微软雅黑" panose="020B0503020204020204" charset="-122"/>
              </a:rPr>
              <a:t>完善现有四类 </a:t>
            </a:r>
            <a:r>
              <a:rPr lang="en-US" sz="1500" b="1">
                <a:solidFill>
                  <a:srgbClr val="FFFFFF"/>
                </a:solidFill>
                <a:latin typeface="微软雅黑" panose="020B0503020204020204" charset="-122"/>
                <a:ea typeface="微软雅黑" panose="020B0503020204020204" charset="-122"/>
                <a:cs typeface="微软雅黑" panose="020B0503020204020204" charset="-122"/>
              </a:rPr>
              <a:t>Skill</a:t>
            </a:r>
            <a:endParaRPr lang="en-US" sz="15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8" name="圆角矩形 27"/>
          <p:cNvSpPr>
            <a:spLocks noGrp="1"/>
          </p:cNvSpPr>
          <p:nvPr/>
        </p:nvSpPr>
        <p:spPr>
          <a:xfrm>
            <a:off x="1553842" y="3052762"/>
            <a:ext cx="3581400" cy="514350"/>
          </a:xfrm>
          <a:prstGeom prst="roundRect">
            <a:avLst>
              <a:gd name="adj" fmla="val 11111"/>
            </a:avLst>
          </a:prstGeom>
          <a:solidFill>
            <a:srgbClr val="1A4568"/>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a:solidFill>
                  <a:srgbClr val="FFFFFF"/>
                </a:solidFill>
                <a:latin typeface="微软雅黑" panose="020B0503020204020204" charset="-122"/>
                <a:ea typeface="微软雅黑" panose="020B0503020204020204" charset="-122"/>
                <a:cs typeface="微软雅黑" panose="020B0503020204020204" charset="-122"/>
              </a:rPr>
              <a:t>扩展更多硬件平台</a:t>
            </a:r>
            <a:endParaRPr lang="zh-CN" altLang="en-US" sz="15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9" name="圆角矩形 28"/>
          <p:cNvSpPr>
            <a:spLocks noGrp="1"/>
          </p:cNvSpPr>
          <p:nvPr/>
        </p:nvSpPr>
        <p:spPr>
          <a:xfrm>
            <a:off x="1553842" y="3814762"/>
            <a:ext cx="3581400" cy="514350"/>
          </a:xfrm>
          <a:prstGeom prst="roundRect">
            <a:avLst>
              <a:gd name="adj" fmla="val 11111"/>
            </a:avLst>
          </a:prstGeom>
          <a:solidFill>
            <a:srgbClr val="153B5D"/>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a:solidFill>
                  <a:srgbClr val="FFFFFF"/>
                </a:solidFill>
                <a:latin typeface="微软雅黑" panose="020B0503020204020204" charset="-122"/>
                <a:ea typeface="微软雅黑" panose="020B0503020204020204" charset="-122"/>
                <a:cs typeface="微软雅黑" panose="020B0503020204020204" charset="-122"/>
              </a:rPr>
              <a:t>扩展到模型部署的人机协同</a:t>
            </a:r>
            <a:endParaRPr lang="zh-CN" altLang="en-US" sz="15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0" name="直接连接符 39"/>
          <p:cNvSpPr>
            <a:spLocks noGrp="1"/>
          </p:cNvSpPr>
          <p:nvPr/>
        </p:nvSpPr>
        <p:spPr>
          <a:xfrm>
            <a:off x="685800" y="6448425"/>
            <a:ext cx="10820400" cy="0"/>
          </a:xfrm>
          <a:prstGeom prst="line">
            <a:avLst/>
          </a:prstGeom>
          <a:noFill/>
          <a:ln w="7620">
            <a:solidFill>
              <a:srgbClr val="416987"/>
            </a:solidFill>
            <a:prstDash val="solid"/>
          </a:ln>
        </p:spPr>
      </p:sp>
      <p:sp>
        <p:nvSpPr>
          <p:cNvPr id="44" name="slide-7-page-number"/>
          <p:cNvSpPr>
            <a:spLocks noGrp="1"/>
          </p:cNvSpPr>
          <p:nvPr/>
        </p:nvSpPr>
        <p:spPr>
          <a:xfrm>
            <a:off x="11352530" y="332740"/>
            <a:ext cx="352425" cy="323850"/>
          </a:xfrm>
          <a:prstGeom prst="roundRect">
            <a:avLst>
              <a:gd name="adj" fmla="val 14706"/>
            </a:avLst>
          </a:prstGeom>
          <a:solidFill>
            <a:srgbClr val="001B55"/>
          </a:solidFill>
          <a:ln w="9525">
            <a:solidFill>
              <a:srgbClr val="001B55"/>
            </a:solidFill>
            <a:prstDash val="solid"/>
          </a:ln>
        </p:spPr>
        <p:txBody>
          <a:bodyPr wrap="square" lIns="0" tIns="0" rIns="0" bIns="0" anchor="ctr">
            <a:norm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a:solidFill>
                  <a:srgbClr val="FFFFFF"/>
                </a:solidFill>
                <a:cs typeface="微软雅黑" panose="020B0503020204020204" charset="-122"/>
              </a:rPr>
              <a:t>12</a:t>
            </a:r>
          </a:p>
        </p:txBody>
      </p:sp>
      <p:sp>
        <p:nvSpPr>
          <p:cNvPr id="43" name="contents-title">
            <a:extLst>
              <a:ext uri="{FF2B5EF4-FFF2-40B4-BE49-F238E27FC236}">
                <a16:creationId xmlns:a16="http://schemas.microsoft.com/office/drawing/2014/main" id="{3F88A495-0B12-4C3D-AF51-C251307148D8}"/>
              </a:ext>
            </a:extLst>
          </p:cNvPr>
          <p:cNvSpPr>
            <a:spLocks noGrp="1"/>
          </p:cNvSpPr>
          <p:nvPr/>
        </p:nvSpPr>
        <p:spPr>
          <a:xfrm>
            <a:off x="1356678" y="150718"/>
            <a:ext cx="6858000" cy="533400"/>
          </a:xfrm>
          <a:prstGeom prst="rect">
            <a:avLst/>
          </a:prstGeom>
          <a:noFill/>
          <a:ln w="0">
            <a:noFill/>
            <a:prstDash val="solid"/>
          </a:ln>
        </p:spPr>
        <p:txBody>
          <a:bodyPr wrap="square" lIns="0" tIns="0" rIns="0" bIns="0" anchor="ctr">
            <a:normAutofit/>
          </a:bodyPr>
          <a:lstStyle/>
          <a:p>
            <a:pPr algn="l">
              <a:buNone/>
              <a:defRPr sz="2850" b="1">
                <a:solidFill>
                  <a:srgbClr val="072A67"/>
                </a:solidFill>
                <a:latin typeface="微软雅黑"/>
                <a:ea typeface="微软雅黑"/>
                <a:cs typeface="微软雅黑"/>
              </a:defRPr>
            </a:pPr>
            <a:r>
              <a:rPr sz="2850" b="1" dirty="0" err="1">
                <a:solidFill>
                  <a:srgbClr val="072A67"/>
                </a:solidFill>
                <a:latin typeface="微软雅黑"/>
                <a:ea typeface="微软雅黑"/>
                <a:cs typeface="微软雅黑"/>
              </a:rPr>
              <a:t>未来计划</a:t>
            </a:r>
            <a:endParaRPr sz="2850" b="1" dirty="0">
              <a:solidFill>
                <a:srgbClr val="072A67"/>
              </a:solidFill>
              <a:latin typeface="微软雅黑"/>
              <a:ea typeface="微软雅黑"/>
              <a:cs typeface="微软雅黑"/>
            </a:endParaRPr>
          </a:p>
        </p:txBody>
      </p:sp>
      <p:sp>
        <p:nvSpPr>
          <p:cNvPr id="45" name="next_page_navigation_background"/>
          <p:cNvSpPr>
            <a:spLocks noGrp="1"/>
          </p:cNvSpPr>
          <p:nvPr/>
        </p:nvSpPr>
        <p:spPr>
          <a:xfrm>
            <a:off x="1165569" y="5770079"/>
            <a:ext cx="9801225" cy="523875"/>
          </a:xfrm>
          <a:prstGeom prst="roundRect">
            <a:avLst>
              <a:gd name="adj" fmla="val 10909"/>
            </a:avLst>
          </a:prstGeom>
          <a:solidFill>
            <a:srgbClr val="EEF4FE"/>
          </a:solidFill>
          <a:ln w="0">
            <a:solidFill>
              <a:srgbClr val="EEF4FE"/>
            </a:solidFill>
            <a:prstDash val="solid"/>
          </a:ln>
        </p:spPr>
        <p:txBody>
          <a:bodyPr wrap="square" lIns="0" tIns="0" rIns="0" bIns="0" anchor="ctr">
            <a:normAutofit/>
          </a:bodyPr>
          <a:lstStyle/>
          <a:p>
            <a:endParaRPr/>
          </a:p>
        </p:txBody>
      </p:sp>
      <p:sp>
        <p:nvSpPr>
          <p:cNvPr id="7" name="矩形 6"/>
          <p:cNvSpPr/>
          <p:nvPr/>
        </p:nvSpPr>
        <p:spPr>
          <a:xfrm>
            <a:off x="1553842" y="5860494"/>
            <a:ext cx="9437199" cy="338554"/>
          </a:xfrm>
          <a:prstGeom prst="rect">
            <a:avLst/>
          </a:prstGeom>
        </p:spPr>
        <p:txBody>
          <a:bodyPr wrap="none">
            <a:spAutoFit/>
          </a:bodyPr>
          <a:lstStyle/>
          <a:p>
            <a:pPr>
              <a:defRPr sz="1500" b="1">
                <a:solidFill>
                  <a:srgbClr val="E97132"/>
                </a:solidFill>
                <a:latin typeface="微软雅黑"/>
                <a:ea typeface="微软雅黑"/>
                <a:cs typeface="微软雅黑"/>
              </a:defRPr>
            </a:pPr>
            <a:r>
              <a:rPr lang="zh-CN" altLang="en-US" b="1" dirty="0">
                <a:solidFill>
                  <a:schemeClr val="tx1">
                    <a:lumMod val="85000"/>
                    <a:lumOff val="15000"/>
                  </a:schemeClr>
                </a:solidFill>
                <a:latin typeface="微软雅黑"/>
                <a:ea typeface="微软雅黑"/>
                <a:cs typeface="微软雅黑"/>
              </a:rPr>
              <a:t>最终</a:t>
            </a:r>
            <a:r>
              <a:rPr lang="zh-CN" altLang="en-US" b="1" dirty="0" smtClean="0">
                <a:solidFill>
                  <a:schemeClr val="tx1">
                    <a:lumMod val="85000"/>
                    <a:lumOff val="15000"/>
                  </a:schemeClr>
                </a:solidFill>
                <a:latin typeface="微软雅黑"/>
                <a:ea typeface="微软雅黑"/>
                <a:cs typeface="微软雅黑"/>
              </a:rPr>
              <a:t>目标 ：</a:t>
            </a:r>
            <a:r>
              <a:rPr lang="zh-CN" altLang="en-US" sz="1600" b="1" dirty="0">
                <a:solidFill>
                  <a:srgbClr val="072A67"/>
                </a:solidFill>
                <a:latin typeface="微软雅黑"/>
                <a:ea typeface="微软雅黑"/>
                <a:cs typeface="微软雅黑"/>
              </a:rPr>
              <a:t>从“</a:t>
            </a:r>
            <a:r>
              <a:rPr lang="en-US" altLang="zh-CN" sz="1600" b="1" dirty="0">
                <a:solidFill>
                  <a:srgbClr val="072A67"/>
                </a:solidFill>
                <a:latin typeface="微软雅黑"/>
                <a:ea typeface="微软雅黑"/>
                <a:cs typeface="微软雅黑"/>
              </a:rPr>
              <a:t>Agent</a:t>
            </a:r>
            <a:r>
              <a:rPr lang="zh-CN" altLang="en-US" sz="1600" b="1" dirty="0">
                <a:solidFill>
                  <a:srgbClr val="072A67"/>
                </a:solidFill>
                <a:latin typeface="微软雅黑"/>
                <a:ea typeface="微软雅黑"/>
                <a:cs typeface="微软雅黑"/>
              </a:rPr>
              <a:t> 辅助写算子”扩展到“人 </a:t>
            </a:r>
            <a:r>
              <a:rPr lang="en-US" altLang="zh-CN" sz="1600" b="1" dirty="0">
                <a:solidFill>
                  <a:srgbClr val="072A67"/>
                </a:solidFill>
                <a:latin typeface="微软雅黑"/>
                <a:ea typeface="微软雅黑"/>
                <a:cs typeface="微软雅黑"/>
              </a:rPr>
              <a:t>+ Agent + </a:t>
            </a:r>
            <a:r>
              <a:rPr lang="zh-CN" altLang="en-US" sz="1600" b="1" dirty="0">
                <a:solidFill>
                  <a:srgbClr val="072A67"/>
                </a:solidFill>
                <a:latin typeface="微软雅黑"/>
                <a:ea typeface="微软雅黑"/>
                <a:cs typeface="微软雅黑"/>
              </a:rPr>
              <a:t>真实硬件”协同完成模型部署与性能优化</a:t>
            </a:r>
            <a:endParaRPr lang="zh-CN" altLang="en-US" b="1" dirty="0">
              <a:solidFill>
                <a:schemeClr val="tx1">
                  <a:lumMod val="85000"/>
                  <a:lumOff val="15000"/>
                </a:schemeClr>
              </a:solidFill>
              <a:latin typeface="微软雅黑"/>
              <a:ea typeface="微软雅黑"/>
              <a:cs typeface="微软雅黑"/>
            </a:endParaRPr>
          </a:p>
        </p:txBody>
      </p:sp>
      <p:sp>
        <p:nvSpPr>
          <p:cNvPr id="46" name="矩形 45"/>
          <p:cNvSpPr/>
          <p:nvPr/>
        </p:nvSpPr>
        <p:spPr>
          <a:xfrm>
            <a:off x="6065466" y="2403666"/>
            <a:ext cx="3804760" cy="288541"/>
          </a:xfrm>
          <a:prstGeom prst="rect">
            <a:avLst/>
          </a:prstGeom>
        </p:spPr>
        <p:txBody>
          <a:bodyPr wrap="none">
            <a:spAutoFit/>
          </a:bodyPr>
          <a:lstStyle/>
          <a:p>
            <a:pPr>
              <a:defRPr sz="1275" b="1">
                <a:solidFill>
                  <a:srgbClr val="072A67"/>
                </a:solidFill>
                <a:latin typeface="微软雅黑"/>
                <a:ea typeface="微软雅黑"/>
                <a:cs typeface="微软雅黑"/>
              </a:defRPr>
            </a:pPr>
            <a:r>
              <a:rPr lang="en-US" altLang="zh-CN" b="1" dirty="0">
                <a:solidFill>
                  <a:srgbClr val="072A67"/>
                </a:solidFill>
                <a:latin typeface="微软雅黑"/>
                <a:ea typeface="微软雅黑"/>
                <a:cs typeface="微软雅黑"/>
              </a:rPr>
              <a:t>MLU Triton · BANG C · CUDA C · GPU Triton</a:t>
            </a:r>
            <a:endParaRPr lang="en-US" altLang="zh-CN" sz="1050" dirty="0">
              <a:solidFill>
                <a:srgbClr val="1A2433"/>
              </a:solidFill>
              <a:latin typeface="微软雅黑"/>
              <a:ea typeface="微软雅黑"/>
              <a:cs typeface="微软雅黑"/>
            </a:endParaRPr>
          </a:p>
        </p:txBody>
      </p:sp>
      <p:sp>
        <p:nvSpPr>
          <p:cNvPr id="47" name="右箭头 46"/>
          <p:cNvSpPr/>
          <p:nvPr/>
        </p:nvSpPr>
        <p:spPr>
          <a:xfrm>
            <a:off x="5297557" y="2429290"/>
            <a:ext cx="605594" cy="2571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右箭头 47"/>
          <p:cNvSpPr/>
          <p:nvPr/>
        </p:nvSpPr>
        <p:spPr>
          <a:xfrm>
            <a:off x="5341937" y="3203093"/>
            <a:ext cx="605594" cy="2571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右箭头 48"/>
          <p:cNvSpPr/>
          <p:nvPr/>
        </p:nvSpPr>
        <p:spPr>
          <a:xfrm>
            <a:off x="5341937" y="4049888"/>
            <a:ext cx="605594" cy="2571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6065466" y="3202280"/>
            <a:ext cx="4124847" cy="282834"/>
          </a:xfrm>
          <a:prstGeom prst="rect">
            <a:avLst/>
          </a:prstGeom>
        </p:spPr>
        <p:txBody>
          <a:bodyPr wrap="none">
            <a:spAutoFit/>
          </a:bodyPr>
          <a:lstStyle/>
          <a:p>
            <a:pPr>
              <a:defRPr sz="1238" b="1">
                <a:solidFill>
                  <a:srgbClr val="095F7A"/>
                </a:solidFill>
                <a:latin typeface="微软雅黑"/>
                <a:ea typeface="微软雅黑"/>
                <a:cs typeface="微软雅黑"/>
              </a:defRPr>
            </a:pPr>
            <a:r>
              <a:rPr lang="zh-CN" altLang="en-US" b="1" dirty="0">
                <a:solidFill>
                  <a:srgbClr val="095F7A"/>
                </a:solidFill>
                <a:latin typeface="微软雅黑"/>
                <a:ea typeface="微软雅黑"/>
                <a:cs typeface="微软雅黑"/>
              </a:rPr>
              <a:t>算能平台：</a:t>
            </a:r>
            <a:r>
              <a:rPr lang="en-US" altLang="zh-CN" b="1" dirty="0">
                <a:solidFill>
                  <a:srgbClr val="095F7A"/>
                </a:solidFill>
                <a:latin typeface="微软雅黑"/>
                <a:ea typeface="微软雅黑"/>
                <a:cs typeface="微软雅黑"/>
              </a:rPr>
              <a:t>BM1684X · BM1688 · </a:t>
            </a:r>
            <a:r>
              <a:rPr lang="zh-CN" altLang="en-US" b="1" dirty="0">
                <a:solidFill>
                  <a:srgbClr val="095F7A"/>
                </a:solidFill>
                <a:latin typeface="微软雅黑"/>
                <a:ea typeface="微软雅黑"/>
                <a:cs typeface="微软雅黑"/>
              </a:rPr>
              <a:t>更多 </a:t>
            </a:r>
            <a:r>
              <a:rPr lang="zh-CN" altLang="en-US" b="1" dirty="0" smtClean="0">
                <a:solidFill>
                  <a:srgbClr val="095F7A"/>
                </a:solidFill>
                <a:latin typeface="微软雅黑"/>
                <a:ea typeface="微软雅黑"/>
                <a:cs typeface="微软雅黑"/>
              </a:rPr>
              <a:t>算子开发</a:t>
            </a:r>
            <a:r>
              <a:rPr lang="en-US" altLang="zh-CN" b="1" dirty="0" smtClean="0">
                <a:solidFill>
                  <a:srgbClr val="095F7A"/>
                </a:solidFill>
                <a:latin typeface="微软雅黑"/>
                <a:ea typeface="微软雅黑"/>
                <a:cs typeface="微软雅黑"/>
              </a:rPr>
              <a:t>Skill</a:t>
            </a:r>
            <a:endParaRPr lang="zh-CN" altLang="en-US" sz="1050" dirty="0">
              <a:solidFill>
                <a:srgbClr val="1A2433"/>
              </a:solidFill>
              <a:latin typeface="微软雅黑"/>
              <a:ea typeface="微软雅黑"/>
              <a:cs typeface="微软雅黑"/>
            </a:endParaRPr>
          </a:p>
        </p:txBody>
      </p:sp>
      <p:sp>
        <p:nvSpPr>
          <p:cNvPr id="19"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4</a:t>
            </a: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.1</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20"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extLst>
      <p:ext uri="{BB962C8B-B14F-4D97-AF65-F5344CB8AC3E}">
        <p14:creationId xmlns:p14="http://schemas.microsoft.com/office/powerpoint/2010/main" val="2299707850"/>
      </p:ext>
    </p:extLst>
  </p:cSld>
  <p:clrMapOvr>
    <a:masterClrMapping/>
  </p:clrMapOvr>
  <p:timing>
    <p:tnLst>
      <p:par>
        <p:cTn id="1" dur="indefinite" restart="never" nodeType="tmRoot"/>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TotalTime>
  <Words>3501</Words>
  <Application>Microsoft Office PowerPoint</Application>
  <PresentationFormat>宽屏</PresentationFormat>
  <Paragraphs>857</Paragraphs>
  <Slides>19</Slides>
  <Notes>19</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19</vt:i4>
      </vt:variant>
    </vt:vector>
  </HeadingPairs>
  <TitlesOfParts>
    <vt:vector size="26" baseType="lpstr">
      <vt:lpstr>楷体_GB2312</vt:lpstr>
      <vt:lpstr>Microsoft YaHei</vt:lpstr>
      <vt:lpstr>Microsoft YaHei</vt:lpstr>
      <vt:lpstr>Arial</vt:lpstr>
      <vt:lpstr>Calibri</vt:lpstr>
      <vt:lpstr>Times New Roman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霍子昂</cp:lastModifiedBy>
  <cp:revision>101</cp:revision>
  <dcterms:created xsi:type="dcterms:W3CDTF">2026-08-17T11:31:00Z</dcterms:created>
  <dcterms:modified xsi:type="dcterms:W3CDTF">2026-08-18T06:24:23Z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EB95D0488D594F14AB70C2DE36E43D4E_12</vt:lpwstr>
  </property>
</Properties>
</file>
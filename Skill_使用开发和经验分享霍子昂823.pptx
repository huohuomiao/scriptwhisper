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91" r:id="rId2"/>
    <p:sldId id="257" r:id="rId3"/>
    <p:sldId id="294" r:id="rId4"/>
    <p:sldId id="295" r:id="rId5"/>
    <p:sldId id="296" r:id="rId6"/>
    <p:sldId id="297" r:id="rId7"/>
    <p:sldId id="298" r:id="rId8"/>
    <p:sldId id="299" r:id="rId9"/>
    <p:sldId id="300" r:id="rId10"/>
    <p:sldId id="301" r:id="rId11"/>
    <p:sldId id="304" r:id="rId12"/>
    <p:sldId id="308" r:id="rId13"/>
    <p:sldId id="309" r:id="rId14"/>
    <p:sldId id="310" r:id="rId15"/>
    <p:sldId id="305" r:id="rId16"/>
    <p:sldId id="307" r:id="rId17"/>
    <p:sldId id="306" r:id="rId18"/>
    <p:sldId id="284" r:id="rId19"/>
    <p:sldId id="261" r:id="rId20"/>
    <p:sldId id="262" r:id="rId21"/>
    <p:sldId id="280" r:id="rId22"/>
    <p:sldId id="285" r:id="rId23"/>
    <p:sldId id="289" r:id="rId24"/>
    <p:sldId id="279" r:id="rId25"/>
    <p:sldId id="277" r:id="rId26"/>
    <p:sldId id="278" r:id="rId27"/>
    <p:sldId id="268" r:id="rId28"/>
    <p:sldId id="288" r:id="rId29"/>
    <p:sldId id="267" r:id="rId30"/>
    <p:sldId id="303" r:id="rId31"/>
    <p:sldId id="286" r:id="rId32"/>
    <p:sldId id="290" r:id="rId3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12" autoAdjust="0"/>
  </p:normalViewPr>
  <p:slideViewPr>
    <p:cSldViewPr snapToGrid="0">
      <p:cViewPr varScale="1">
        <p:scale>
          <a:sx n="96" d="100"/>
          <a:sy n="96" d="100"/>
        </p:scale>
        <p:origin x="11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大家好，今天结合我最近在算子</a:t>
            </a:r>
            <a:r>
              <a:rPr lang="en-US" altLang="zh-CN" dirty="0" smtClean="0"/>
              <a:t>skill</a:t>
            </a:r>
            <a:r>
              <a:rPr lang="zh-CN" altLang="en-US" dirty="0" smtClean="0"/>
              <a:t>开发中的实际工作进行一个</a:t>
            </a:r>
            <a:r>
              <a:rPr lang="en-US" altLang="zh-CN" dirty="0" smtClean="0"/>
              <a:t>《Skill </a:t>
            </a:r>
            <a:r>
              <a:rPr lang="zh-CN" altLang="en-US" dirty="0" smtClean="0"/>
              <a:t>使用、开发和经验分享</a:t>
            </a:r>
            <a:r>
              <a:rPr lang="en-US" altLang="zh-CN" dirty="0" smtClean="0"/>
              <a:t>》</a:t>
            </a:r>
            <a:r>
              <a:rPr lang="zh-CN" altLang="en-US" dirty="0" smtClean="0"/>
              <a:t>的报告 。</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134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整个汇报分为四部分。第一部分介绍 </a:t>
            </a:r>
            <a:r>
              <a:rPr lang="en-US" altLang="zh-CN" dirty="0" smtClean="0"/>
              <a:t>Agent </a:t>
            </a:r>
            <a:r>
              <a:rPr lang="zh-CN" altLang="en-US" dirty="0" smtClean="0"/>
              <a:t>和 </a:t>
            </a:r>
            <a:r>
              <a:rPr lang="en-US" altLang="zh-CN" dirty="0" smtClean="0"/>
              <a:t>Skill </a:t>
            </a:r>
            <a:r>
              <a:rPr lang="zh-CN" altLang="en-US" dirty="0" smtClean="0"/>
              <a:t>的基础，以及一个 </a:t>
            </a:r>
            <a:r>
              <a:rPr lang="en-US" altLang="zh-CN" dirty="0" smtClean="0"/>
              <a:t>Skill </a:t>
            </a:r>
            <a:r>
              <a:rPr lang="zh-CN" altLang="en-US" dirty="0" smtClean="0"/>
              <a:t>应该怎么设计。第二部分介绍寒武纪算子 </a:t>
            </a:r>
            <a:r>
              <a:rPr lang="en-US" altLang="zh-CN" dirty="0" smtClean="0"/>
              <a:t>Skill </a:t>
            </a:r>
            <a:r>
              <a:rPr lang="zh-CN" altLang="en-US" dirty="0" smtClean="0"/>
              <a:t>的实际开发和遇到的问题。第三部分是重点，介绍算子 </a:t>
            </a:r>
            <a:r>
              <a:rPr lang="en-US" altLang="zh-CN" dirty="0" smtClean="0"/>
              <a:t>Skill </a:t>
            </a:r>
            <a:r>
              <a:rPr lang="zh-CN" altLang="en-US" dirty="0" smtClean="0"/>
              <a:t>的通用开发指南，以及目前四个平台的实践结果。最后简单介绍后续计划。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User-provided visual layout reference used for the left-side branch structure; raster image not embedded.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56564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定义“做什么”；</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183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sz="124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明确职责 明确顺序 明确产物   </a:t>
            </a:r>
            <a:r>
              <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rPr>
              <a:t>进入下一阶段前必须满足判断条件。</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Gate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决定能否继续；</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Routing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决定往哪里走；</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Retry / Fallback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决定失败后怎么办。有时需要跳过这一阶段，到下一阶段</a:t>
            </a:r>
          </a:p>
          <a:p>
            <a:pPr marL="0" marR="0" lvl="0" indent="0" algn="l" defTabSz="914400" rtl="0" eaLnBrk="1" fontAlgn="auto" latinLnBrk="0" hangingPunct="1">
              <a:lnSpc>
                <a:spcPct val="100000"/>
              </a:lnSpc>
              <a:spcBef>
                <a:spcPts val="0"/>
              </a:spcBef>
              <a:spcAft>
                <a:spcPts val="0"/>
              </a:spcAft>
              <a:buClrTx/>
              <a:buSzTx/>
              <a:buFontTx/>
              <a:buNone/>
              <a:tabLst/>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endParaRPr>
          </a:p>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5776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每个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执行时，可以读取、运行或调用什么？</a:t>
            </a:r>
          </a:p>
          <a:p>
            <a:r>
              <a:rPr lang="zh-CN" altLang="en-US" dirty="0" smtClean="0"/>
              <a:t>首先 资源调用会发生规划好任务的阶段中。</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6393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先明确</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“任务怎么完成”</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，再考虑“如何把它封装成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简单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Main 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确定性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Script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独立推理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Subagent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完整能力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Other Skill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0055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解决“任务怎么跑通”，这一页解决“怎么让它稳定、可调用、可复用”。</a:t>
            </a:r>
            <a:endPar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从基础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到完整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检查每个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Stage</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Agent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还缺什么？</a:t>
            </a:r>
            <a:endParaRPr lang="en-US" sz="1200" b="1" dirty="0" smtClean="0">
              <a:solidFill>
                <a:srgbClr val="252B3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让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稳定、可发现、可调用</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p>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516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从基础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到资源封装，再到真实任务验证与迭代</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48903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好的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，只需把边界、流程、资源和触说清楚。这些虽然看起来比较简单，但是实际开发时，没有那么容易达到。</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37740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b="0">
                <a:solidFill>
                  <a:srgbClr val="68727B"/>
                </a:solidFill>
                <a:latin typeface="微软雅黑"/>
                <a:ea typeface="微软雅黑"/>
                <a:cs typeface="微软雅黑"/>
              </a:rPr>
              <a:t>基础 Workflow 解决“任务怎么跑通”，这一页解决“怎么让它稳定、可调用、可复用”。</a:t>
            </a:r>
          </a:p>
          <a:p>
            <a:pPr marL="0" marR="0" lvl="0" indent="0" algn="l" defTabSz="914400">
              <a:lnSpc>
                <a:spcPct val="100000"/>
              </a:lnSpc>
              <a:spcBef>
                <a:spcPts val="0"/>
              </a:spcBef>
              <a:spcAft>
                <a:spcPts val="0"/>
              </a:spcAft>
              <a:buClrTx/>
              <a:buSzTx/>
              <a:buFontTx/>
              <a:buNone/>
            </a:pPr>
            <a:r>
              <a:rPr sz="1200" b="1">
                <a:solidFill>
                  <a:srgbClr val="252B31"/>
                </a:solidFill>
                <a:latin typeface="微软雅黑"/>
                <a:ea typeface="微软雅黑"/>
                <a:cs typeface="微软雅黑"/>
              </a:rPr>
              <a:t>从基础 Workflow 到完整 Skill</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检查每个 Stage：Agent 还缺什么？</a:t>
            </a:r>
            <a:endParaRPr sz="1200" b="1">
              <a:solidFill>
                <a:srgbClr val="252B31"/>
              </a:solidFill>
              <a:latin typeface="微软雅黑"/>
              <a:ea typeface="微软雅黑"/>
              <a:cs typeface="微软雅黑"/>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让 Skill 稳定、可发现、可调用</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用真实任务验证“是否真的好用”</a:t>
            </a:r>
          </a:p>
          <a:p>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9998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b="0">
                <a:solidFill>
                  <a:srgbClr val="68727B"/>
                </a:solidFill>
                <a:latin typeface="微软雅黑"/>
                <a:ea typeface="微软雅黑"/>
                <a:cs typeface="微软雅黑"/>
              </a:rPr>
              <a:t>基础 Workflow 解决“任务怎么跑通”，这一页解决“怎么让它稳定、可调用、可复用”。</a:t>
            </a:r>
          </a:p>
          <a:p>
            <a:pPr marL="0" marR="0" lvl="0" indent="0" algn="l" defTabSz="914400">
              <a:lnSpc>
                <a:spcPct val="100000"/>
              </a:lnSpc>
              <a:spcBef>
                <a:spcPts val="0"/>
              </a:spcBef>
              <a:spcAft>
                <a:spcPts val="0"/>
              </a:spcAft>
              <a:buClrTx/>
              <a:buSzTx/>
              <a:buFontTx/>
              <a:buNone/>
            </a:pPr>
            <a:r>
              <a:rPr sz="1200" b="1">
                <a:solidFill>
                  <a:srgbClr val="252B31"/>
                </a:solidFill>
                <a:latin typeface="微软雅黑"/>
                <a:ea typeface="微软雅黑"/>
                <a:cs typeface="微软雅黑"/>
              </a:rPr>
              <a:t>从基础 Workflow 到完整 Skill</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检查每个 Stage：Agent 还缺什么？</a:t>
            </a:r>
            <a:endParaRPr sz="1200" b="1">
              <a:solidFill>
                <a:srgbClr val="252B31"/>
              </a:solidFill>
              <a:latin typeface="微软雅黑"/>
              <a:ea typeface="微软雅黑"/>
              <a:cs typeface="微软雅黑"/>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让 Skill 稳定、可发现、可调用</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a:ea typeface="微软雅黑"/>
                <a:cs typeface="微软雅黑"/>
              </a:rPr>
              <a:t>用真实任务验证“是否真的好用”</a:t>
            </a:r>
          </a:p>
          <a:p>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15069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在尽可能不降低优化质量的情况下，加快生成速度。</a:t>
            </a:r>
            <a:endParaRPr sz="1200"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39139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如何根据指南开发一个新平台skill，我把整个过程整理成八步。首先确定平台和编程语言，cuda或者 triton然后系统收集平台资料。接着进行真实环境检测和微基准，确认平台实际行为。验证过的信息再整理进 Platform Knowledge，并接入前面的通用 Workflow。最后使用 LayerNorm、Softmax 和 MatMul 三个标准算子进行完整验证。如果过程中发现问题，就分类处理：平台事实有偏差就更新知识，优化策略失效就更新规则，流程不合理就调整 Workflow。所以新平台 Skill 的开发，本质上是“</a:t>
            </a:r>
            <a:r>
              <a:rPr sz="1200" b="1">
                <a:solidFill>
                  <a:srgbClr val="2F3A45"/>
                </a:solidFill>
                <a:latin typeface="Arial"/>
                <a:ea typeface="Arial"/>
                <a:cs typeface="Arial"/>
              </a:rPr>
              <a:t>通用框架上补齐目标平台知识，并通过真实验证不断校准。最关键就是 搜集平台知识这步。要根据 官方、网络资料，已有的工程经验 和现有的真实平台测试 去补充真实有效的平台知识。</a:t>
            </a:r>
            <a:endParaRPr sz="12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06654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在尽可能不降低优化质量的情况下，加快生成速度。</a:t>
            </a:r>
            <a:endParaRPr sz="1200"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93073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如何根据指南开发一个新平台skill，我把整个过程整理成八步。首先确定平台和编程语言，cuda或者 triton然后系统收集平台资料。接着进行真实环境检测和微基准，确认平台实际行为。验证过的信息再整理进 Platform Knowledge，并接入前面的通用 Workflow。最后使用 LayerNorm、Softmax 和 MatMul 三个标准算子进行完整验证。如果过程中发现问题，就分类处理：平台事实有偏差就更新知识，优化策略失效就更新规则，流程不合理就调整 Workflow。所以新平台 Skill 的开发，本质上是“</a:t>
            </a:r>
            <a:r>
              <a:rPr sz="1200" b="1">
                <a:solidFill>
                  <a:srgbClr val="2F3A45"/>
                </a:solidFill>
                <a:latin typeface="Arial"/>
                <a:ea typeface="Arial"/>
                <a:cs typeface="Arial"/>
              </a:rPr>
              <a:t>通用框架上补齐目标平台知识，并通过真实验证不断校准。最关键就是 搜集平台知识这步。要根据 官方、网络资料，已有的工程经验 和现有的真实平台测试 去补充真实有效的平台知识。</a:t>
            </a:r>
            <a:endParaRPr sz="12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69882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如何根据指南开发一个新平台skill，我把整个过程整理成八步。首先确定平台和编程语言，cuda或者 triton然后系统收集平台资料。接着进行真实环境检测和微基准，确认平台实际行为。验证过的信息再整理进 Platform Knowledge，并接入前面的通用 Workflow。最后使用 LayerNorm、Softmax 和 MatMul 三个标准算子进行完整验证。如果过程中发现问题，就分类处理：平台事实有偏差就更新知识，优化策略失效就更新规则，流程不合理就调整 Workflow。所以新平台 Skill 的开发，本质上是“</a:t>
            </a:r>
            <a:r>
              <a:rPr sz="1200" b="1">
                <a:solidFill>
                  <a:srgbClr val="2F3A45"/>
                </a:solidFill>
                <a:latin typeface="Arial"/>
                <a:ea typeface="Arial"/>
                <a:cs typeface="Arial"/>
              </a:rPr>
              <a:t>通用框架上补齐目标平台知识，并通过真实验证不断校准。最关键就是 搜集平台知识这步。要根据 官方、网络资料，已有的工程经验 和现有的真实平台测试 去补充真实有效的平台知识。</a:t>
            </a:r>
            <a:endParaRPr sz="12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03460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下面进入第二部分。这里主要介绍我最开始在寒武纪 </a:t>
            </a:r>
            <a:r>
              <a:rPr lang="en-US" altLang="zh-CN" dirty="0" smtClean="0"/>
              <a:t>MLU Triton </a:t>
            </a:r>
            <a:r>
              <a:rPr lang="zh-CN" altLang="en-US" dirty="0" smtClean="0"/>
              <a:t>平台上对算子开发 </a:t>
            </a:r>
            <a:r>
              <a:rPr lang="en-US" altLang="zh-CN" dirty="0" smtClean="0"/>
              <a:t>Skill</a:t>
            </a:r>
            <a:r>
              <a:rPr lang="zh-CN" altLang="en-US" dirty="0" smtClean="0"/>
              <a:t>使用的心得和问题优化。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这是原来 </a:t>
            </a:r>
            <a:r>
              <a:rPr lang="en-US" altLang="zh-CN" dirty="0" smtClean="0"/>
              <a:t>MLU Triton </a:t>
            </a:r>
            <a:r>
              <a:rPr lang="zh-CN" altLang="en-US" dirty="0" smtClean="0"/>
              <a:t>算子 </a:t>
            </a:r>
            <a:r>
              <a:rPr lang="en-US" altLang="zh-CN" dirty="0" smtClean="0"/>
              <a:t>Skill </a:t>
            </a:r>
            <a:r>
              <a:rPr lang="zh-CN" altLang="en-US" dirty="0" smtClean="0"/>
              <a:t>的整体结构。主要分为四个部分。。</a:t>
            </a:r>
            <a:r>
              <a:rPr lang="en-US" altLang="zh-CN" dirty="0" smtClean="0"/>
              <a:t>Main </a:t>
            </a:r>
            <a:r>
              <a:rPr lang="zh-CN" altLang="en-US" dirty="0" smtClean="0"/>
              <a:t>主要负责整体编排，它会调用三个</a:t>
            </a:r>
            <a:r>
              <a:rPr lang="en-US" altLang="zh-CN" dirty="0" smtClean="0"/>
              <a:t>skill</a:t>
            </a:r>
            <a:r>
              <a:rPr lang="zh-CN" altLang="en-US" dirty="0" smtClean="0"/>
              <a:t>；</a:t>
            </a:r>
            <a:r>
              <a:rPr lang="en-US" altLang="zh-CN" dirty="0" smtClean="0"/>
              <a:t>Code-Gen </a:t>
            </a:r>
            <a:r>
              <a:rPr lang="zh-CN" altLang="en-US" dirty="0" smtClean="0"/>
              <a:t>负责生成 </a:t>
            </a:r>
            <a:r>
              <a:rPr lang="en-US" altLang="zh-CN" dirty="0" smtClean="0"/>
              <a:t>Kernel </a:t>
            </a:r>
            <a:r>
              <a:rPr lang="zh-CN" altLang="en-US" dirty="0" smtClean="0"/>
              <a:t>和测试代码；</a:t>
            </a:r>
            <a:r>
              <a:rPr lang="en-US" altLang="zh-CN" dirty="0" smtClean="0"/>
              <a:t>Code-Review </a:t>
            </a:r>
            <a:r>
              <a:rPr lang="zh-CN" altLang="en-US" dirty="0" smtClean="0"/>
              <a:t>通过真实执行完成正确性验证和修复；</a:t>
            </a:r>
            <a:r>
              <a:rPr lang="en-US" altLang="zh-CN" dirty="0" smtClean="0"/>
              <a:t>Optimize </a:t>
            </a:r>
            <a:r>
              <a:rPr lang="zh-CN" altLang="en-US" dirty="0" smtClean="0"/>
              <a:t>则根据 </a:t>
            </a:r>
            <a:r>
              <a:rPr lang="en-US" altLang="zh-CN" dirty="0" smtClean="0"/>
              <a:t>Benchmark </a:t>
            </a:r>
            <a:r>
              <a:rPr lang="zh-CN" altLang="en-US" dirty="0" smtClean="0"/>
              <a:t>和性能分析继续优化 </a:t>
            </a:r>
            <a:r>
              <a:rPr lang="en-US" altLang="zh-CN" dirty="0" smtClean="0"/>
              <a:t>Kernel</a:t>
            </a:r>
            <a:r>
              <a:rPr lang="zh-CN" altLang="en-US" dirty="0" smtClean="0"/>
              <a:t>。其中复杂阶段还会继续拆给多个专业 </a:t>
            </a:r>
            <a:r>
              <a:rPr lang="en-US" altLang="zh-CN" dirty="0" smtClean="0"/>
              <a:t>Sub-Agent</a:t>
            </a:r>
            <a:r>
              <a:rPr lang="zh-CN" altLang="en-US" dirty="0" smtClean="0"/>
              <a:t>（比如代码生成</a:t>
            </a:r>
            <a:r>
              <a:rPr lang="en-US" altLang="zh-CN" dirty="0" smtClean="0"/>
              <a:t>skill</a:t>
            </a:r>
            <a:r>
              <a:rPr lang="zh-CN" altLang="en-US" dirty="0" smtClean="0"/>
              <a:t>使用了</a:t>
            </a:r>
            <a:r>
              <a:rPr lang="en-US" altLang="zh-CN" dirty="0" smtClean="0"/>
              <a:t>6</a:t>
            </a:r>
            <a:r>
              <a:rPr lang="zh-CN" altLang="en-US" dirty="0" smtClean="0"/>
              <a:t>个子代理 去严格约束 显示算子</a:t>
            </a:r>
            <a:r>
              <a:rPr lang="en-US" altLang="zh-CN" dirty="0" smtClean="0"/>
              <a:t>kernel</a:t>
            </a:r>
            <a:r>
              <a:rPr lang="zh-CN" altLang="en-US" dirty="0" smtClean="0"/>
              <a:t>的生成流程，确保生成的算子的合理 正确且可优化的）。所以整体上，它采用的是“主流程编排 </a:t>
            </a:r>
            <a:r>
              <a:rPr lang="en-US" altLang="zh-CN" dirty="0" smtClean="0"/>
              <a:t>+ </a:t>
            </a:r>
            <a:r>
              <a:rPr lang="zh-CN" altLang="en-US" dirty="0" smtClean="0"/>
              <a:t>阶段 </a:t>
            </a:r>
            <a:r>
              <a:rPr lang="en-US" altLang="zh-CN" dirty="0" smtClean="0"/>
              <a:t>Skill + </a:t>
            </a:r>
            <a:r>
              <a:rPr lang="zh-CN" altLang="en-US" dirty="0" smtClean="0"/>
              <a:t>专业 </a:t>
            </a:r>
            <a:r>
              <a:rPr lang="en-US" altLang="zh-CN" dirty="0" smtClean="0"/>
              <a:t>Sub-Agent”</a:t>
            </a:r>
            <a:r>
              <a:rPr lang="zh-CN" altLang="en-US" dirty="0" smtClean="0"/>
              <a:t>的结构，把算子开发拆成生成、验证和优化三个连续阶段。</a:t>
            </a:r>
          </a:p>
          <a:p>
            <a:endParaRPr lang="zh-CN" altLang="en-US"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这部分是使用前面的</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skill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进行算子开发的实际流程。一个算子从需求到最终交付，大致经过六步：用户输入、环境与需求准备、</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和测试生成、正确性验证与修复、性能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Benchmark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与优化，最后统一交付代码和报告。这里有两个关键点。第一，要契约规定每阶段好输出和输入。第二，不同算子的效率有差别。右边是三个算子的实际结果。</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Softmax</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已经达到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1.23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倍加速，但 </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LayerNorm</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是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0.86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MatMul</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只有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0.45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倍。这说明流程已经能够把算子开发完整跑通，但“生成正确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和“高性能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相比 有些情况下还是有些差距，但是这些差距是可以通过更新平台相关的硬件信息和效率好的算子画像弥补。（这是挑选了三个比较有代表性的 简单算子）</a:t>
            </a:r>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实际使用以后，这套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有三个比较明显的优势。第一，环境、需求、生成、验证、优化的完整流程已经跑通。第二，代码生成和真实验证形成了闭环。第三，性能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Benchmark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和优化已经进入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的自动流程。但同时也暴露出四个问题：平台知识比较分散、整体结构比较绑定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MLU Triton</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、因为目前的平台信息和流程</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混合在一起 所以新增优化策略不够方便，而且算子开发开发时间仍然比较长。针对这些问题，我提出了一个算子</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结构</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通用开发流程</a:t>
            </a:r>
            <a:r>
              <a:rPr lang="en-US" altLang="zh-CN"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zh-CN" altLang="en-US" sz="12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平台专属知识。目的是解决上述问题。</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对于开发时间比较长，是因为原</a:t>
            </a:r>
            <a:r>
              <a:rPr lang="en-US" altLang="zh-CN"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skill</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便利进行所有优化，我们在平台信息提前准备好不同算子应该侧重哪些优化，使开发时不进行明显不合理的优化，降低开发时间的同时 保证效率。现在问题就成为了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两部分：一部分是可以跨平台复用的通用开发流程，另一部分是每个平台自己的专属知识怎么获取。</a:t>
            </a:r>
            <a:endParaRPr lang="zh-CN" altLang="en-US"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下面进入第三部分，也是这次汇报的重点。这里主要回答一个问题：如果换到一个新的硬件平台，怎样尽量复用已有经验，而不是重新从零开发一套 </a:t>
            </a:r>
            <a:r>
              <a:rPr lang="en-US" altLang="zh-CN" dirty="0" smtClean="0"/>
              <a:t>Skill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en-US" altLang="zh-CN" dirty="0" smtClean="0"/>
              <a:t> </a:t>
            </a:r>
            <a:r>
              <a:rPr lang="zh-CN" altLang="en-US" dirty="0" smtClean="0"/>
              <a:t>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Microsoft YaHei" panose="020B0503020204020204" pitchFamily="34" charset="-122"/>
              </a:rPr>
              <a:t>算子开发</a:t>
            </a:r>
            <a:r>
              <a:rPr lang="en-US" altLang="zh-CN" sz="1200" dirty="0" smtClean="0">
                <a:solidFill>
                  <a:srgbClr val="2F3A45"/>
                </a:solidFill>
                <a:latin typeface="Arial" panose="020B0604020202020204" pitchFamily="34" charset="0"/>
                <a:ea typeface="Microsoft YaHei" panose="020B0503020204020204" pitchFamily="34" charset="-122"/>
              </a:rPr>
              <a:t>skill</a:t>
            </a:r>
            <a:r>
              <a:rPr lang="zh-CN" altLang="en-US" sz="1200" dirty="0" smtClean="0">
                <a:solidFill>
                  <a:srgbClr val="2F3A45"/>
                </a:solidFill>
                <a:latin typeface="Arial" panose="020B0604020202020204" pitchFamily="34" charset="0"/>
                <a:ea typeface="Microsoft YaHei" panose="020B0503020204020204" pitchFamily="34" charset="-122"/>
              </a:rPr>
              <a:t>的开发不是一蹴而就的，需要不断的完善和更新迭代。平台事实验证和环境验证看起来复杂，实际上可以通过一类模板指令让大模型进行检测。</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19515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上一页比较抽象，这一页是比较具体的事件，也是我们在进行算子</a:t>
            </a:r>
            <a:r>
              <a:rPr lang="en-US" altLang="zh-CN" dirty="0" smtClean="0"/>
              <a:t>skill</a:t>
            </a:r>
            <a:r>
              <a:rPr lang="zh-CN" altLang="en-US" dirty="0" smtClean="0"/>
              <a:t>开发时，需要真正去收集的资料。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如何根据指南开发一个新平台</a:t>
            </a:r>
            <a:r>
              <a:rPr lang="en-US" altLang="zh-CN" sz="1200" dirty="0" smtClean="0"/>
              <a:t>skill</a:t>
            </a:r>
            <a:r>
              <a:rPr lang="zh-CN" altLang="en-US" sz="1200" dirty="0" smtClean="0"/>
              <a:t>，我把整个过程整理成八步。首先确定平台和编程语言，</a:t>
            </a:r>
            <a:r>
              <a:rPr lang="en-US" altLang="zh-CN" sz="1200" dirty="0" err="1" smtClean="0"/>
              <a:t>cuda</a:t>
            </a:r>
            <a:r>
              <a:rPr lang="zh-CN" altLang="en-US" sz="1200" dirty="0" smtClean="0"/>
              <a:t>或者 </a:t>
            </a:r>
            <a:r>
              <a:rPr lang="en-US" altLang="zh-CN" sz="1200" dirty="0" smtClean="0"/>
              <a:t>triton</a:t>
            </a:r>
            <a:r>
              <a:rPr lang="zh-CN" altLang="en-US" sz="1200" dirty="0" smtClean="0"/>
              <a:t>然后系统收集平台资料。接着进行真实环境检测和微基准，确认平台实际行为。验证过的信息再整理进 </a:t>
            </a:r>
            <a:r>
              <a:rPr lang="en-US" altLang="zh-CN" sz="1200" dirty="0" smtClean="0"/>
              <a:t>Platform Knowledge</a:t>
            </a:r>
            <a:r>
              <a:rPr lang="zh-CN" altLang="en-US" sz="1200" dirty="0" smtClean="0"/>
              <a:t>，并接入前面的通用 </a:t>
            </a:r>
            <a:r>
              <a:rPr lang="en-US" altLang="zh-CN" sz="1200" dirty="0" smtClean="0"/>
              <a:t>Workflow</a:t>
            </a:r>
            <a:r>
              <a:rPr lang="zh-CN" altLang="en-US" sz="1200" dirty="0" smtClean="0"/>
              <a:t>。最后使用 </a:t>
            </a:r>
            <a:r>
              <a:rPr lang="en-US" altLang="zh-CN" sz="1200" dirty="0" err="1" smtClean="0"/>
              <a:t>LayerNorm</a:t>
            </a:r>
            <a:r>
              <a:rPr lang="zh-CN" altLang="en-US" sz="1200" dirty="0" smtClean="0"/>
              <a:t>、</a:t>
            </a:r>
            <a:r>
              <a:rPr lang="en-US" altLang="zh-CN" sz="1200" dirty="0" err="1" smtClean="0"/>
              <a:t>Softmax</a:t>
            </a:r>
            <a:r>
              <a:rPr lang="en-US" altLang="zh-CN" sz="1200" dirty="0" smtClean="0"/>
              <a:t> </a:t>
            </a:r>
            <a:r>
              <a:rPr lang="zh-CN" altLang="en-US" sz="1200" dirty="0" smtClean="0"/>
              <a:t>和 </a:t>
            </a:r>
            <a:r>
              <a:rPr lang="en-US" altLang="zh-CN" sz="1200" dirty="0" err="1" smtClean="0"/>
              <a:t>MatMul</a:t>
            </a:r>
            <a:r>
              <a:rPr lang="en-US" altLang="zh-CN" sz="1200" dirty="0" smtClean="0"/>
              <a:t> </a:t>
            </a:r>
            <a:r>
              <a:rPr lang="zh-CN" altLang="en-US" sz="1200" dirty="0" smtClean="0"/>
              <a:t>三个标准算子进行完整验证。如果过程中发现问题，就分类处理：平台事实有偏差就更新知识，优化策略失效就更新规则，流程不合理就调整 </a:t>
            </a:r>
            <a:r>
              <a:rPr lang="en-US" altLang="zh-CN" sz="1200" dirty="0" smtClean="0"/>
              <a:t>Workflow</a:t>
            </a:r>
            <a:r>
              <a:rPr lang="zh-CN" altLang="en-US" sz="1200" dirty="0" smtClean="0"/>
              <a:t>。所以新平台 </a:t>
            </a:r>
            <a:r>
              <a:rPr lang="en-US" altLang="zh-CN" sz="1200" dirty="0" smtClean="0"/>
              <a:t>Skill </a:t>
            </a:r>
            <a:r>
              <a:rPr lang="zh-CN" altLang="en-US" sz="1200" dirty="0" smtClean="0"/>
              <a:t>的开发，本质上是“</a:t>
            </a:r>
            <a:r>
              <a:rPr lang="zh-CN" altLang="en-US" sz="12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通用框架上补齐目标平台知识，并通过真实验证不断校准。最关键就是 搜集平台知识这步。要根据 官方、网络资料，已有的工程经验 和现有的真实平台测试</a:t>
            </a:r>
            <a:r>
              <a:rPr lang="zh-CN" altLang="en-US" sz="1200" b="1" baseline="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 去补充真实有效的平台知识。</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按照前面的思路，目前我已经在四个平台上进行了不同程度的实践。</a:t>
            </a:r>
            <a:r>
              <a:rPr lang="en-US" altLang="zh-CN" dirty="0" smtClean="0"/>
              <a:t>MLU Triton </a:t>
            </a:r>
            <a:r>
              <a:rPr lang="zh-CN" altLang="en-US" dirty="0" smtClean="0"/>
              <a:t>是基于寒武纪的</a:t>
            </a:r>
            <a:r>
              <a:rPr lang="en-US" altLang="zh-CN" dirty="0" smtClean="0"/>
              <a:t>skill</a:t>
            </a:r>
            <a:r>
              <a:rPr lang="zh-CN" altLang="en-US" dirty="0" smtClean="0"/>
              <a:t>开始做的，目前完整度最高，生成、验证、</a:t>
            </a:r>
            <a:r>
              <a:rPr lang="en-US" altLang="zh-CN" dirty="0" smtClean="0"/>
              <a:t>Benchmark </a:t>
            </a:r>
            <a:r>
              <a:rPr lang="zh-CN" altLang="en-US" dirty="0" smtClean="0"/>
              <a:t>和优化闭环基本都已经跑通。</a:t>
            </a:r>
            <a:r>
              <a:rPr lang="en-US" altLang="zh-CN" dirty="0" smtClean="0"/>
              <a:t>BANG C </a:t>
            </a:r>
            <a:r>
              <a:rPr lang="zh-CN" altLang="en-US" dirty="0" smtClean="0"/>
              <a:t>已经能够完成真机编译、执行、正确性验证和 </a:t>
            </a:r>
            <a:r>
              <a:rPr lang="en-US" altLang="zh-CN" dirty="0" smtClean="0"/>
              <a:t>Benchmark</a:t>
            </a:r>
            <a:r>
              <a:rPr lang="zh-CN" altLang="en-US" dirty="0" smtClean="0"/>
              <a:t>，但高性能优化仍然是主要短板，特别是片上存储、</a:t>
            </a:r>
            <a:r>
              <a:rPr lang="en-US" altLang="zh-CN" dirty="0" smtClean="0"/>
              <a:t>DMA</a:t>
            </a:r>
            <a:r>
              <a:rPr lang="zh-CN" altLang="en-US" dirty="0" smtClean="0"/>
              <a:t>、</a:t>
            </a:r>
            <a:r>
              <a:rPr lang="en-US" altLang="zh-CN" dirty="0" smtClean="0"/>
              <a:t>Pipeline </a:t>
            </a:r>
            <a:r>
              <a:rPr lang="zh-CN" altLang="en-US" dirty="0" smtClean="0"/>
              <a:t>和 </a:t>
            </a:r>
            <a:r>
              <a:rPr lang="en-US" altLang="zh-CN" dirty="0" smtClean="0"/>
              <a:t>Core/Cluster </a:t>
            </a:r>
            <a:r>
              <a:rPr lang="zh-CN" altLang="en-US" dirty="0" smtClean="0"/>
              <a:t>分工等平台知识还需要继续补。</a:t>
            </a:r>
            <a:r>
              <a:rPr lang="en-US" altLang="zh-CN" dirty="0" smtClean="0"/>
              <a:t>CUDA C </a:t>
            </a:r>
            <a:r>
              <a:rPr lang="zh-CN" altLang="en-US" dirty="0" smtClean="0"/>
              <a:t>的基础 </a:t>
            </a:r>
            <a:r>
              <a:rPr lang="en-US" altLang="zh-CN" dirty="0" smtClean="0"/>
              <a:t>Skill </a:t>
            </a:r>
            <a:r>
              <a:rPr lang="zh-CN" altLang="en-US" dirty="0" smtClean="0"/>
              <a:t>已经完成，目前需要通过更多真实算子和 </a:t>
            </a:r>
            <a:r>
              <a:rPr lang="en-US" altLang="zh-CN" dirty="0" err="1" smtClean="0"/>
              <a:t>Nsight</a:t>
            </a:r>
            <a:r>
              <a:rPr lang="en-US" altLang="zh-CN" dirty="0" smtClean="0"/>
              <a:t> Profiling </a:t>
            </a:r>
            <a:r>
              <a:rPr lang="zh-CN" altLang="en-US" dirty="0" smtClean="0"/>
              <a:t>进一步完善平台知识。</a:t>
            </a:r>
            <a:r>
              <a:rPr lang="en-US" altLang="zh-CN" dirty="0" smtClean="0"/>
              <a:t>GPU Triton </a:t>
            </a:r>
            <a:r>
              <a:rPr lang="zh-CN" altLang="en-US" dirty="0" smtClean="0"/>
              <a:t>也完成了基础框架和环境信息迁移，后续主要是补</a:t>
            </a:r>
            <a:r>
              <a:rPr lang="en-US" altLang="zh-CN" dirty="0" smtClean="0"/>
              <a:t>3090</a:t>
            </a:r>
            <a:r>
              <a:rPr lang="zh-CN" altLang="en-US" dirty="0" smtClean="0"/>
              <a:t>平台真实参数和更多算子验证。</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这一页比较的是四类 </a:t>
            </a:r>
            <a:r>
              <a:rPr lang="en-US" dirty="0" smtClean="0"/>
              <a:t>Skill </a:t>
            </a:r>
            <a:r>
              <a:rPr lang="zh-CN" altLang="en-US" dirty="0" smtClean="0"/>
              <a:t>生成 </a:t>
            </a:r>
            <a:r>
              <a:rPr lang="en-US" dirty="0" smtClean="0"/>
              <a:t>Kernel </a:t>
            </a:r>
            <a:r>
              <a:rPr lang="zh-CN" altLang="en-US" dirty="0" smtClean="0"/>
              <a:t>的绝对运行时间。测试都是统一精度 同意输入的。</a:t>
            </a:r>
            <a:r>
              <a:rPr lang="en-US" dirty="0" smtClean="0"/>
              <a:t>MLU </a:t>
            </a:r>
            <a:r>
              <a:rPr lang="zh-CN" altLang="en-US" dirty="0" smtClean="0"/>
              <a:t>平台使用 </a:t>
            </a:r>
            <a:r>
              <a:rPr lang="en-US" dirty="0" err="1" smtClean="0"/>
              <a:t>PyTorch</a:t>
            </a:r>
            <a:r>
              <a:rPr lang="en-US" dirty="0" smtClean="0"/>
              <a:t>-MLU </a:t>
            </a:r>
            <a:r>
              <a:rPr lang="zh-CN" altLang="en-US" dirty="0" smtClean="0"/>
              <a:t>作为 </a:t>
            </a:r>
            <a:r>
              <a:rPr lang="en-US" dirty="0" err="1" smtClean="0"/>
              <a:t>Baseline，GPU</a:t>
            </a:r>
            <a:r>
              <a:rPr lang="en-US" dirty="0" smtClean="0"/>
              <a:t> </a:t>
            </a:r>
            <a:r>
              <a:rPr lang="zh-CN" altLang="en-US" dirty="0" smtClean="0"/>
              <a:t>平台使用 </a:t>
            </a:r>
            <a:r>
              <a:rPr lang="en-US" dirty="0" err="1" smtClean="0"/>
              <a:t>PyTorch</a:t>
            </a:r>
            <a:r>
              <a:rPr lang="en-US" dirty="0" smtClean="0"/>
              <a:t>-CUDA </a:t>
            </a:r>
            <a:r>
              <a:rPr lang="zh-CN" altLang="en-US" dirty="0" smtClean="0"/>
              <a:t>作为 </a:t>
            </a:r>
            <a:r>
              <a:rPr lang="en-US" dirty="0" smtClean="0"/>
              <a:t>Baseline。</a:t>
            </a:r>
            <a:r>
              <a:rPr lang="zh-CN" altLang="en-US" dirty="0" smtClean="0"/>
              <a:t>表格里的格式是“</a:t>
            </a:r>
            <a:r>
              <a:rPr lang="en-US" dirty="0" smtClean="0"/>
              <a:t>Kernel </a:t>
            </a:r>
            <a:r>
              <a:rPr lang="zh-CN" altLang="en-US" dirty="0" smtClean="0"/>
              <a:t>时间 </a:t>
            </a:r>
            <a:r>
              <a:rPr lang="en-US" altLang="zh-CN" dirty="0" smtClean="0"/>
              <a:t>/ </a:t>
            </a:r>
            <a:r>
              <a:rPr lang="en-US" dirty="0" err="1" smtClean="0"/>
              <a:t>PyTorch</a:t>
            </a:r>
            <a:r>
              <a:rPr lang="en-US" dirty="0" smtClean="0"/>
              <a:t> </a:t>
            </a:r>
            <a:r>
              <a:rPr lang="zh-CN" altLang="en-US" dirty="0" smtClean="0"/>
              <a:t>时间”。先看 </a:t>
            </a:r>
            <a:r>
              <a:rPr lang="en-US" dirty="0" smtClean="0"/>
              <a:t>MLU </a:t>
            </a:r>
            <a:r>
              <a:rPr lang="en-US" dirty="0" err="1" smtClean="0"/>
              <a:t>Triton。LayerNorm</a:t>
            </a:r>
            <a:r>
              <a:rPr lang="en-US" dirty="0" smtClean="0"/>
              <a:t> </a:t>
            </a:r>
            <a:r>
              <a:rPr lang="zh-CN" altLang="en-US" dirty="0" smtClean="0"/>
              <a:t>是 </a:t>
            </a:r>
            <a:r>
              <a:rPr lang="en-US" altLang="zh-CN" dirty="0" smtClean="0"/>
              <a:t>0.15 </a:t>
            </a:r>
            <a:r>
              <a:rPr lang="en-US" dirty="0" err="1" smtClean="0"/>
              <a:t>ms</a:t>
            </a:r>
            <a:r>
              <a:rPr lang="en-US" dirty="0" smtClean="0"/>
              <a:t> </a:t>
            </a:r>
            <a:r>
              <a:rPr lang="zh-CN" altLang="en-US" dirty="0" smtClean="0"/>
              <a:t>对 </a:t>
            </a:r>
            <a:r>
              <a:rPr lang="en-US" altLang="zh-CN" dirty="0" smtClean="0"/>
              <a:t>0.15 </a:t>
            </a:r>
            <a:r>
              <a:rPr lang="en-US" dirty="0" err="1" smtClean="0"/>
              <a:t>ms</a:t>
            </a:r>
            <a:r>
              <a:rPr lang="en-US" dirty="0" smtClean="0"/>
              <a:t>，</a:t>
            </a:r>
            <a:r>
              <a:rPr lang="zh-CN" altLang="en-US" dirty="0" smtClean="0"/>
              <a:t>基本持平；</a:t>
            </a:r>
            <a:r>
              <a:rPr lang="en-US" dirty="0" err="1" smtClean="0"/>
              <a:t>Softmax</a:t>
            </a:r>
            <a:r>
              <a:rPr lang="en-US" dirty="0" smtClean="0"/>
              <a:t> </a:t>
            </a:r>
            <a:r>
              <a:rPr lang="zh-CN" altLang="en-US" dirty="0" smtClean="0"/>
              <a:t>是 </a:t>
            </a:r>
            <a:r>
              <a:rPr lang="en-US" altLang="zh-CN" dirty="0" smtClean="0"/>
              <a:t>0.086 </a:t>
            </a:r>
            <a:r>
              <a:rPr lang="en-US" dirty="0" err="1" smtClean="0"/>
              <a:t>ms</a:t>
            </a:r>
            <a:r>
              <a:rPr lang="en-US" dirty="0" smtClean="0"/>
              <a:t> </a:t>
            </a:r>
            <a:r>
              <a:rPr lang="zh-CN" altLang="en-US" dirty="0" smtClean="0"/>
              <a:t>对 </a:t>
            </a:r>
            <a:r>
              <a:rPr lang="en-US" altLang="zh-CN" dirty="0" smtClean="0"/>
              <a:t>0.11 </a:t>
            </a:r>
            <a:r>
              <a:rPr lang="en-US" dirty="0" err="1" smtClean="0"/>
              <a:t>ms</a:t>
            </a:r>
            <a:r>
              <a:rPr lang="en-US" dirty="0" smtClean="0"/>
              <a:t>，</a:t>
            </a:r>
            <a:r>
              <a:rPr lang="zh-CN" altLang="en-US" dirty="0" smtClean="0"/>
              <a:t>已经快于 </a:t>
            </a:r>
            <a:r>
              <a:rPr lang="en-US" dirty="0" err="1" smtClean="0"/>
              <a:t>PyTorch</a:t>
            </a:r>
            <a:r>
              <a:rPr lang="en-US" dirty="0" smtClean="0"/>
              <a:t>-MLU；</a:t>
            </a:r>
            <a:r>
              <a:rPr lang="zh-CN" altLang="en-US" dirty="0" smtClean="0"/>
              <a:t>所以 </a:t>
            </a:r>
            <a:r>
              <a:rPr lang="en-US" dirty="0" smtClean="0"/>
              <a:t>MLU Triton </a:t>
            </a:r>
            <a:r>
              <a:rPr lang="zh-CN" altLang="en-US" dirty="0" smtClean="0"/>
              <a:t>在相对简单的归一化和 </a:t>
            </a:r>
            <a:r>
              <a:rPr lang="en-US" dirty="0" err="1" smtClean="0"/>
              <a:t>Softmax</a:t>
            </a:r>
            <a:r>
              <a:rPr lang="en-US" dirty="0" smtClean="0"/>
              <a:t> </a:t>
            </a:r>
            <a:r>
              <a:rPr lang="zh-CN" altLang="en-US" dirty="0" smtClean="0"/>
              <a:t>上表现已经可以，但 </a:t>
            </a:r>
            <a:r>
              <a:rPr lang="en-US" dirty="0" err="1" smtClean="0"/>
              <a:t>MatMul</a:t>
            </a:r>
            <a:r>
              <a:rPr lang="en-US" dirty="0" smtClean="0"/>
              <a:t> </a:t>
            </a:r>
            <a:r>
              <a:rPr lang="zh-CN" altLang="en-US" dirty="0" smtClean="0"/>
              <a:t>还没有达到平台库的性能水平。再看 </a:t>
            </a:r>
            <a:r>
              <a:rPr lang="en-US" dirty="0" smtClean="0"/>
              <a:t>BANG C</a:t>
            </a:r>
            <a:r>
              <a:rPr lang="zh-CN" altLang="en-US" dirty="0" smtClean="0"/>
              <a:t>三个算子都明显慢于同平台 </a:t>
            </a:r>
            <a:r>
              <a:rPr lang="en-US" dirty="0" err="1" smtClean="0"/>
              <a:t>PyTorch</a:t>
            </a:r>
            <a:r>
              <a:rPr lang="en-US" dirty="0" smtClean="0"/>
              <a:t>，</a:t>
            </a:r>
            <a:r>
              <a:rPr lang="zh-CN" altLang="en-US" dirty="0" smtClean="0"/>
              <a:t>尤其 </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差距很大。这说明当前 </a:t>
            </a:r>
            <a:r>
              <a:rPr lang="en-US" dirty="0" smtClean="0"/>
              <a:t>BANG C Skill </a:t>
            </a:r>
            <a:r>
              <a:rPr lang="zh-CN" altLang="en-US" dirty="0" smtClean="0"/>
              <a:t>的问题不是“不能生成正确代码”，而是缺少足够成熟的高性能实现知识。</a:t>
            </a:r>
            <a:r>
              <a:rPr lang="en-US" dirty="0" smtClean="0"/>
              <a:t>GPU Triton </a:t>
            </a:r>
            <a:r>
              <a:rPr lang="zh-CN" altLang="en-US" dirty="0" smtClean="0"/>
              <a:t>与 </a:t>
            </a:r>
            <a:r>
              <a:rPr lang="en-US" dirty="0" smtClean="0"/>
              <a:t>CUDA C </a:t>
            </a:r>
            <a:r>
              <a:rPr lang="zh-CN" altLang="en-US" dirty="0" smtClean="0"/>
              <a:t>类似。</a:t>
            </a:r>
            <a:r>
              <a:rPr lang="en-US" dirty="0" err="1" smtClean="0"/>
              <a:t>LayerNorm</a:t>
            </a:r>
            <a:r>
              <a:rPr lang="en-US" dirty="0" smtClean="0"/>
              <a:t> ，</a:t>
            </a:r>
            <a:r>
              <a:rPr lang="en-US" dirty="0" err="1" smtClean="0"/>
              <a:t>Softmax</a:t>
            </a:r>
            <a:r>
              <a:rPr lang="en-US" dirty="0" smtClean="0"/>
              <a:t> </a:t>
            </a:r>
            <a:r>
              <a:rPr lang="zh-CN" altLang="en-US" dirty="0" smtClean="0"/>
              <a:t>都比较接近或者超过基线；从绝对时间上看，</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已经能体现出 </a:t>
            </a:r>
            <a:r>
              <a:rPr lang="en-US" dirty="0" smtClean="0"/>
              <a:t>Skill </a:t>
            </a:r>
            <a:r>
              <a:rPr lang="zh-CN" altLang="en-US" dirty="0" smtClean="0"/>
              <a:t>的实际可用性，但 </a:t>
            </a:r>
            <a:r>
              <a:rPr lang="en-US" dirty="0" err="1" smtClean="0"/>
              <a:t>MatMul</a:t>
            </a:r>
            <a:r>
              <a:rPr lang="en-US" dirty="0" smtClean="0"/>
              <a:t> </a:t>
            </a:r>
            <a:r>
              <a:rPr lang="zh-CN" altLang="en-US" dirty="0" smtClean="0"/>
              <a:t>在四类 </a:t>
            </a:r>
            <a:r>
              <a:rPr lang="en-US" dirty="0" smtClean="0"/>
              <a:t>Skill </a:t>
            </a:r>
            <a:r>
              <a:rPr lang="zh-CN" altLang="en-US" dirty="0" smtClean="0"/>
              <a:t>上都是难点。</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这一页把上一页的数据换成加速比，更容易横向比较。</a:t>
            </a:r>
            <a:r>
              <a:rPr lang="en-US" altLang="zh-CN" dirty="0" err="1" smtClean="0"/>
              <a:t>LayerNorm</a:t>
            </a:r>
            <a:r>
              <a:rPr lang="en-US" altLang="zh-CN" dirty="0" smtClean="0"/>
              <a:t> </a:t>
            </a:r>
            <a:r>
              <a:rPr lang="zh-CN" altLang="en-US" dirty="0" smtClean="0"/>
              <a:t>中，</a:t>
            </a:r>
            <a:r>
              <a:rPr lang="en-US" altLang="zh-CN" dirty="0" smtClean="0"/>
              <a:t>GPU Triton </a:t>
            </a:r>
            <a:r>
              <a:rPr lang="zh-CN" altLang="en-US" dirty="0" smtClean="0"/>
              <a:t>是 </a:t>
            </a:r>
            <a:r>
              <a:rPr lang="en-US" altLang="zh-CN" dirty="0" smtClean="0"/>
              <a:t>1.45 </a:t>
            </a:r>
            <a:r>
              <a:rPr lang="zh-CN" altLang="en-US" dirty="0" smtClean="0"/>
              <a:t>倍，</a:t>
            </a:r>
            <a:r>
              <a:rPr lang="en-US" altLang="zh-CN" dirty="0" smtClean="0"/>
              <a:t>CUDA C </a:t>
            </a:r>
            <a:r>
              <a:rPr lang="zh-CN" altLang="en-US" dirty="0" smtClean="0"/>
              <a:t>是 </a:t>
            </a:r>
            <a:r>
              <a:rPr lang="en-US" altLang="zh-CN" dirty="0" smtClean="0"/>
              <a:t>1.43 </a:t>
            </a:r>
            <a:r>
              <a:rPr lang="zh-CN" altLang="en-US" dirty="0" smtClean="0"/>
              <a:t>倍，</a:t>
            </a:r>
            <a:r>
              <a:rPr lang="en-US" altLang="zh-CN" dirty="0" smtClean="0"/>
              <a:t>MLU Triton </a:t>
            </a:r>
            <a:r>
              <a:rPr lang="zh-CN" altLang="en-US" dirty="0" smtClean="0"/>
              <a:t>与基线基本持平，对于</a:t>
            </a:r>
            <a:r>
              <a:rPr lang="en-US" altLang="zh-CN" dirty="0" err="1" smtClean="0"/>
              <a:t>layernorm</a:t>
            </a:r>
            <a:r>
              <a:rPr lang="en-US" altLang="zh-CN" dirty="0" smtClean="0"/>
              <a:t> </a:t>
            </a:r>
            <a:r>
              <a:rPr lang="zh-CN" altLang="en-US" dirty="0" smtClean="0"/>
              <a:t>（注意 原先版本的 加速比是</a:t>
            </a:r>
            <a:r>
              <a:rPr lang="en-US" altLang="zh-CN" dirty="0" smtClean="0"/>
              <a:t>0.86</a:t>
            </a:r>
            <a:r>
              <a:rPr lang="zh-CN" altLang="en-US" dirty="0" smtClean="0"/>
              <a:t>）。</a:t>
            </a:r>
            <a:r>
              <a:rPr lang="en-US" altLang="zh-CN" dirty="0" err="1" smtClean="0"/>
              <a:t>Softmax</a:t>
            </a:r>
            <a:r>
              <a:rPr lang="en-US" altLang="zh-CN" dirty="0" smtClean="0"/>
              <a:t> </a:t>
            </a:r>
            <a:r>
              <a:rPr lang="zh-CN" altLang="en-US" dirty="0" smtClean="0"/>
              <a:t>中，</a:t>
            </a:r>
            <a:r>
              <a:rPr lang="en-US" altLang="zh-CN" dirty="0" smtClean="0"/>
              <a:t>MLU Triton </a:t>
            </a:r>
            <a:r>
              <a:rPr lang="zh-CN" altLang="en-US" dirty="0" smtClean="0"/>
              <a:t>达到 </a:t>
            </a:r>
            <a:r>
              <a:rPr lang="en-US" altLang="zh-CN" dirty="0" smtClean="0"/>
              <a:t>1.23 </a:t>
            </a:r>
            <a:r>
              <a:rPr lang="zh-CN" altLang="en-US" dirty="0" smtClean="0"/>
              <a:t>倍，</a:t>
            </a:r>
            <a:r>
              <a:rPr lang="en-US" altLang="zh-CN" dirty="0" smtClean="0"/>
              <a:t>CUDA C </a:t>
            </a:r>
            <a:r>
              <a:rPr lang="zh-CN" altLang="en-US" dirty="0" smtClean="0"/>
              <a:t>和 </a:t>
            </a:r>
            <a:r>
              <a:rPr lang="en-US" altLang="zh-CN" dirty="0" smtClean="0"/>
              <a:t>GPU Triton </a:t>
            </a:r>
            <a:r>
              <a:rPr lang="zh-CN" altLang="en-US" dirty="0" smtClean="0"/>
              <a:t>都在 </a:t>
            </a:r>
            <a:r>
              <a:rPr lang="en-US" altLang="zh-CN" dirty="0" smtClean="0"/>
              <a:t>1.06 </a:t>
            </a:r>
            <a:r>
              <a:rPr lang="zh-CN" altLang="en-US" dirty="0" smtClean="0"/>
              <a:t>倍左右。但 </a:t>
            </a:r>
            <a:r>
              <a:rPr lang="en-US" altLang="zh-CN" dirty="0" err="1" smtClean="0"/>
              <a:t>MatMul</a:t>
            </a:r>
            <a:r>
              <a:rPr lang="en-US" altLang="zh-CN" dirty="0" smtClean="0"/>
              <a:t> </a:t>
            </a:r>
            <a:r>
              <a:rPr lang="zh-CN" altLang="en-US" dirty="0" smtClean="0"/>
              <a:t>四个平台全部低于 </a:t>
            </a:r>
            <a:r>
              <a:rPr lang="en-US" altLang="zh-CN" dirty="0" smtClean="0"/>
              <a:t>1 </a:t>
            </a:r>
            <a:r>
              <a:rPr lang="zh-CN" altLang="en-US" dirty="0" smtClean="0"/>
              <a:t>倍，最高的 </a:t>
            </a:r>
            <a:r>
              <a:rPr lang="en-US" altLang="zh-CN" dirty="0" smtClean="0"/>
              <a:t>CUDA C </a:t>
            </a:r>
            <a:r>
              <a:rPr lang="zh-CN" altLang="en-US" dirty="0" smtClean="0"/>
              <a:t>也只有 </a:t>
            </a:r>
            <a:r>
              <a:rPr lang="en-US" altLang="zh-CN" dirty="0" smtClean="0"/>
              <a:t>0.53 </a:t>
            </a:r>
            <a:r>
              <a:rPr lang="zh-CN" altLang="en-US" dirty="0" smtClean="0"/>
              <a:t>倍。所以目前可以看到一个比较明确的规律：对于 </a:t>
            </a:r>
            <a:r>
              <a:rPr lang="en-US" altLang="zh-CN" dirty="0" err="1" smtClean="0"/>
              <a:t>LayerNorm</a:t>
            </a:r>
            <a:r>
              <a:rPr lang="zh-CN" altLang="en-US" dirty="0" smtClean="0"/>
              <a:t>、</a:t>
            </a:r>
            <a:r>
              <a:rPr lang="en-US" altLang="zh-CN" dirty="0" err="1" smtClean="0"/>
              <a:t>Softmax</a:t>
            </a:r>
            <a:r>
              <a:rPr lang="en-US" altLang="zh-CN" dirty="0" smtClean="0"/>
              <a:t> </a:t>
            </a:r>
            <a:r>
              <a:rPr lang="zh-CN" altLang="en-US" dirty="0" smtClean="0"/>
              <a:t>这类算子，</a:t>
            </a:r>
            <a:r>
              <a:rPr lang="en-US" altLang="zh-CN" dirty="0" smtClean="0"/>
              <a:t>Skill </a:t>
            </a:r>
            <a:r>
              <a:rPr lang="zh-CN" altLang="en-US" dirty="0" smtClean="0"/>
              <a:t>已经能够生成有竞争力的实现；但 </a:t>
            </a:r>
            <a:r>
              <a:rPr lang="en-US" altLang="zh-CN" dirty="0" err="1" smtClean="0"/>
              <a:t>MatMul</a:t>
            </a:r>
            <a:r>
              <a:rPr lang="en-US" altLang="zh-CN" dirty="0" smtClean="0"/>
              <a:t> </a:t>
            </a:r>
            <a:r>
              <a:rPr lang="zh-CN" altLang="en-US" dirty="0" smtClean="0"/>
              <a:t>这种更依赖 </a:t>
            </a:r>
            <a:r>
              <a:rPr lang="en-US" altLang="zh-CN" dirty="0" smtClean="0"/>
              <a:t>Tiling</a:t>
            </a:r>
            <a:r>
              <a:rPr lang="zh-CN" altLang="en-US" dirty="0" smtClean="0"/>
              <a:t>、数据搬运和硬件计算能力的算子，仅靠通用开发流程还不够。另外 </a:t>
            </a:r>
            <a:r>
              <a:rPr lang="en-US" altLang="zh-CN" dirty="0" smtClean="0"/>
              <a:t>BANG C </a:t>
            </a:r>
            <a:r>
              <a:rPr lang="zh-CN" altLang="en-US" dirty="0" smtClean="0"/>
              <a:t>三项都低于基线，也说明后续需要重点补充高性能 </a:t>
            </a:r>
            <a:r>
              <a:rPr lang="en-US" altLang="zh-CN" dirty="0" smtClean="0"/>
              <a:t>Reference </a:t>
            </a:r>
            <a:r>
              <a:rPr lang="zh-CN" altLang="en-US" dirty="0" smtClean="0"/>
              <a:t>和平台优化规则。</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8844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除了最终性能，我还统计了从需求提交到最终交付的开发时间。目前 </a:t>
            </a:r>
            <a:r>
              <a:rPr lang="en-US" altLang="zh-CN" dirty="0" smtClean="0"/>
              <a:t>CUDA C </a:t>
            </a:r>
            <a:r>
              <a:rPr lang="zh-CN" altLang="en-US" dirty="0" smtClean="0"/>
              <a:t>平均约 </a:t>
            </a:r>
            <a:r>
              <a:rPr lang="en-US" altLang="zh-CN" dirty="0" smtClean="0"/>
              <a:t>1 </a:t>
            </a:r>
            <a:r>
              <a:rPr lang="zh-CN" altLang="en-US" dirty="0" smtClean="0"/>
              <a:t>小时 </a:t>
            </a:r>
            <a:r>
              <a:rPr lang="en-US" altLang="zh-CN" dirty="0" smtClean="0"/>
              <a:t>29 </a:t>
            </a:r>
            <a:r>
              <a:rPr lang="zh-CN" altLang="en-US" dirty="0" smtClean="0"/>
              <a:t>分，开发时间最短；</a:t>
            </a:r>
            <a:r>
              <a:rPr lang="en-US" altLang="zh-CN" dirty="0" smtClean="0"/>
              <a:t>GPU Triton </a:t>
            </a:r>
            <a:r>
              <a:rPr lang="zh-CN" altLang="en-US" dirty="0" smtClean="0"/>
              <a:t>大约 </a:t>
            </a:r>
            <a:r>
              <a:rPr lang="en-US" altLang="zh-CN" dirty="0" smtClean="0"/>
              <a:t>2 </a:t>
            </a:r>
            <a:r>
              <a:rPr lang="zh-CN" altLang="en-US" dirty="0" smtClean="0"/>
              <a:t>小时 </a:t>
            </a:r>
            <a:r>
              <a:rPr lang="en-US" altLang="zh-CN" dirty="0" smtClean="0"/>
              <a:t>20 </a:t>
            </a:r>
            <a:r>
              <a:rPr lang="zh-CN" altLang="en-US" dirty="0" smtClean="0"/>
              <a:t>分；</a:t>
            </a:r>
            <a:r>
              <a:rPr lang="en-US" altLang="zh-CN" dirty="0" smtClean="0"/>
              <a:t>MLU Triton </a:t>
            </a:r>
            <a:r>
              <a:rPr lang="zh-CN" altLang="en-US" dirty="0" smtClean="0"/>
              <a:t>大约 </a:t>
            </a:r>
            <a:r>
              <a:rPr lang="en-US" altLang="zh-CN" dirty="0" smtClean="0"/>
              <a:t>2 </a:t>
            </a:r>
            <a:r>
              <a:rPr lang="zh-CN" altLang="en-US" dirty="0" smtClean="0"/>
              <a:t>小时 </a:t>
            </a:r>
            <a:r>
              <a:rPr lang="en-US" altLang="zh-CN" dirty="0" smtClean="0"/>
              <a:t>49 </a:t>
            </a:r>
            <a:r>
              <a:rPr lang="zh-CN" altLang="en-US" dirty="0" smtClean="0"/>
              <a:t>分；</a:t>
            </a:r>
            <a:r>
              <a:rPr lang="en-US" altLang="zh-CN" dirty="0" smtClean="0"/>
              <a:t>BANG C </a:t>
            </a:r>
            <a:r>
              <a:rPr lang="zh-CN" altLang="en-US" dirty="0" smtClean="0"/>
              <a:t>平均约 </a:t>
            </a:r>
            <a:r>
              <a:rPr lang="en-US" altLang="zh-CN" dirty="0" smtClean="0"/>
              <a:t>8 </a:t>
            </a:r>
            <a:r>
              <a:rPr lang="zh-CN" altLang="en-US" dirty="0" smtClean="0"/>
              <a:t>小时，耗时最长。但这里需要注意，开发快并不代表最终性能一定好，但是开发效率在实际开发中也十分重要。我个人认为目前 </a:t>
            </a:r>
            <a:r>
              <a:rPr lang="en-US" altLang="zh-CN" dirty="0" smtClean="0"/>
              <a:t>MLU Triton</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的开发效率已经比较可用，但仍然需要更多算子验证；</a:t>
            </a:r>
            <a:r>
              <a:rPr lang="en-US" altLang="zh-CN" dirty="0" smtClean="0"/>
              <a:t>BANG C </a:t>
            </a:r>
            <a:r>
              <a:rPr lang="zh-CN" altLang="en-US" dirty="0" smtClean="0"/>
              <a:t>当前主要需要继续补平台知识和优化经验。</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26257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下面是未来计划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后续主要有三个方向。第一，继续完善 </a:t>
            </a:r>
            <a:r>
              <a:rPr lang="en-US" altLang="zh-CN" dirty="0" smtClean="0"/>
              <a:t>MLU Triton</a:t>
            </a:r>
            <a:r>
              <a:rPr lang="zh-CN" altLang="en-US" dirty="0" smtClean="0"/>
              <a:t>、</a:t>
            </a:r>
            <a:r>
              <a:rPr lang="en-US" altLang="zh-CN" dirty="0" smtClean="0"/>
              <a:t>BANG C</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四类 </a:t>
            </a:r>
            <a:r>
              <a:rPr lang="en-US" altLang="zh-CN" dirty="0" smtClean="0"/>
              <a:t>Skill</a:t>
            </a:r>
            <a:r>
              <a:rPr lang="zh-CN" altLang="en-US" dirty="0" smtClean="0"/>
              <a:t>，通过更多算子补齐平台知识和优化规则。第二，扩展到更多硬件平台，比如算能 </a:t>
            </a:r>
            <a:r>
              <a:rPr lang="en-US" altLang="zh-CN" dirty="0" smtClean="0"/>
              <a:t>BM1684X</a:t>
            </a:r>
            <a:r>
              <a:rPr lang="zh-CN" altLang="en-US" dirty="0" smtClean="0"/>
              <a:t>、</a:t>
            </a:r>
            <a:r>
              <a:rPr lang="en-US" altLang="zh-CN" dirty="0" smtClean="0"/>
              <a:t>BM1688 </a:t>
            </a:r>
            <a:r>
              <a:rPr lang="zh-CN" altLang="en-US" dirty="0" smtClean="0"/>
              <a:t>等平台，进一步验证这套方法的跨平台迁移能力。第三，下一步希望在完善现有 </a:t>
            </a:r>
            <a:r>
              <a:rPr lang="en-US" altLang="zh-CN" dirty="0" smtClean="0"/>
              <a:t>Skill </a:t>
            </a:r>
            <a:r>
              <a:rPr lang="zh-CN" altLang="en-US" dirty="0" smtClean="0"/>
              <a:t>的基础上，继续扩展硬件平台，并逐渐把这套方法延伸到完整的模型部署和性能优化流程。后续希望形成这样一条链路：算子开发、</a:t>
            </a:r>
            <a:r>
              <a:rPr lang="en-US" altLang="zh-CN" dirty="0" smtClean="0"/>
              <a:t>Kernel </a:t>
            </a:r>
            <a:r>
              <a:rPr lang="zh-CN" altLang="en-US" dirty="0" smtClean="0"/>
              <a:t>优化、模型部署、</a:t>
            </a:r>
            <a:r>
              <a:rPr lang="en-US" altLang="zh-CN" dirty="0" smtClean="0"/>
              <a:t>Profiling</a:t>
            </a:r>
            <a:r>
              <a:rPr lang="zh-CN" altLang="en-US" dirty="0" smtClean="0"/>
              <a:t>、瓶颈定位，再到系统优化。最终目标是从“</a:t>
            </a:r>
            <a:r>
              <a:rPr lang="en-US" altLang="zh-CN" dirty="0" smtClean="0"/>
              <a:t>Agent </a:t>
            </a:r>
            <a:r>
              <a:rPr lang="zh-CN" altLang="en-US" dirty="0" smtClean="0"/>
              <a:t>辅助写算子”，逐渐扩展到“人 </a:t>
            </a:r>
            <a:r>
              <a:rPr lang="en-US" altLang="zh-CN" dirty="0" smtClean="0"/>
              <a:t>+ Agent + </a:t>
            </a:r>
            <a:r>
              <a:rPr lang="zh-CN" altLang="en-US" dirty="0" smtClean="0"/>
              <a:t>真实硬件”协同完成模型部署与性能优化。</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079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2026/8/23</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extLst>
      <p:ext uri="{BB962C8B-B14F-4D97-AF65-F5344CB8AC3E}">
        <p14:creationId xmlns:p14="http://schemas.microsoft.com/office/powerpoint/2010/main" val="1485868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Microsoft YaHei" panose="020B0503020204020204" pitchFamily="34" charset="-122"/>
                <a:cs typeface="微软雅黑" panose="020B0503020204020204" charset="-122"/>
              </a:rPr>
              <a:t>Agent/</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未来</a:t>
            </a:r>
            <a:r>
              <a:rPr lang="zh-CN" altLang="en-US" sz="16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计划</a:t>
            </a:r>
            <a:endParaRPr sz="16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6191250" y="1257300"/>
            <a:ext cx="0" cy="4524375"/>
          </a:xfrm>
          <a:prstGeom prst="line">
            <a:avLst/>
          </a:prstGeom>
          <a:noFill/>
          <a:ln w="9525">
            <a:solidFill>
              <a:srgbClr val="E7EAED"/>
            </a:solidFill>
            <a:prstDash val="solid"/>
          </a:ln>
        </p:spPr>
      </p:sp>
      <p:sp>
        <p:nvSpPr>
          <p:cNvPr id="4" name="logic-header-rule"/>
          <p:cNvSpPr>
            <a:spLocks noGrp="1"/>
          </p:cNvSpPr>
          <p:nvPr/>
        </p:nvSpPr>
        <p:spPr>
          <a:xfrm>
            <a:off x="609600" y="1600200"/>
            <a:ext cx="5334000" cy="0"/>
          </a:xfrm>
          <a:prstGeom prst="line">
            <a:avLst/>
          </a:prstGeom>
          <a:noFill/>
          <a:ln w="9525">
            <a:solidFill>
              <a:srgbClr val="D5DBE0"/>
            </a:solidFill>
            <a:prstDash val="solid"/>
          </a:ln>
        </p:spPr>
      </p:sp>
      <p:sp>
        <p:nvSpPr>
          <p:cNvPr id="5" name="files-header-rule"/>
          <p:cNvSpPr>
            <a:spLocks noGrp="1"/>
          </p:cNvSpPr>
          <p:nvPr/>
        </p:nvSpPr>
        <p:spPr>
          <a:xfrm>
            <a:off x="6553200" y="1600200"/>
            <a:ext cx="5029200" cy="0"/>
          </a:xfrm>
          <a:prstGeom prst="line">
            <a:avLst/>
          </a:prstGeom>
          <a:noFill/>
          <a:ln w="9525">
            <a:solidFill>
              <a:srgbClr val="D5DBE0"/>
            </a:solidFill>
            <a:prstDash val="solid"/>
          </a:ln>
        </p:spPr>
      </p:sp>
      <p:sp>
        <p:nvSpPr>
          <p:cNvPr id="17" name="directory-panel"/>
          <p:cNvSpPr>
            <a:spLocks noGrp="1"/>
          </p:cNvSpPr>
          <p:nvPr/>
        </p:nvSpPr>
        <p:spPr>
          <a:xfrm>
            <a:off x="6553200" y="1733550"/>
            <a:ext cx="5029200" cy="4067175"/>
          </a:xfrm>
          <a:prstGeom prst="rect">
            <a:avLst/>
          </a:prstGeom>
          <a:solidFill>
            <a:srgbClr val="F8F9FA"/>
          </a:solidFill>
          <a:ln w="9525">
            <a:solidFill>
              <a:srgbClr val="E7EAED"/>
            </a:solidFill>
            <a:prstDash val="solid"/>
          </a:ln>
        </p:spPr>
      </p:sp>
      <p:sp>
        <p:nvSpPr>
          <p:cNvPr id="18" name="directory-accent"/>
          <p:cNvSpPr>
            <a:spLocks noGrp="1"/>
          </p:cNvSpPr>
          <p:nvPr/>
        </p:nvSpPr>
        <p:spPr>
          <a:xfrm>
            <a:off x="6553200" y="1733550"/>
            <a:ext cx="38100" cy="4067175"/>
          </a:xfrm>
          <a:prstGeom prst="rect">
            <a:avLst/>
          </a:prstGeom>
          <a:solidFill>
            <a:srgbClr val="557A96"/>
          </a:solidFill>
          <a:ln w="0">
            <a:noFill/>
            <a:prstDash val="solid"/>
          </a:ln>
        </p:spPr>
      </p:sp>
      <p:sp>
        <p:nvSpPr>
          <p:cNvPr id="19" name="summary-band"/>
          <p:cNvSpPr>
            <a:spLocks noGrp="1"/>
          </p:cNvSpPr>
          <p:nvPr/>
        </p:nvSpPr>
        <p:spPr>
          <a:xfrm>
            <a:off x="609600" y="6172200"/>
            <a:ext cx="10972800" cy="438150"/>
          </a:xfrm>
          <a:prstGeom prst="rect">
            <a:avLst/>
          </a:prstGeom>
          <a:solidFill>
            <a:srgbClr val="F3F4F5"/>
          </a:solidFill>
          <a:ln w="0">
            <a:noFill/>
            <a:prstDash val="solid"/>
          </a:ln>
        </p:spPr>
      </p:sp>
      <p:sp>
        <p:nvSpPr>
          <p:cNvPr id="20" name="summary-accent"/>
          <p:cNvSpPr>
            <a:spLocks noGrp="1"/>
          </p:cNvSpPr>
          <p:nvPr/>
        </p:nvSpPr>
        <p:spPr>
          <a:xfrm>
            <a:off x="609600" y="6172200"/>
            <a:ext cx="38100" cy="438150"/>
          </a:xfrm>
          <a:prstGeom prst="rect">
            <a:avLst/>
          </a:prstGeom>
          <a:solidFill>
            <a:srgbClr val="557A96"/>
          </a:solidFill>
          <a:ln w="0">
            <a:noFill/>
            <a:prstDash val="solid"/>
          </a:ln>
        </p:spPr>
      </p:sp>
      <p:sp>
        <p:nvSpPr>
          <p:cNvPr id="21" name="slide-title"/>
          <p:cNvSpPr>
            <a:spLocks noGrp="1"/>
          </p:cNvSpPr>
          <p:nvPr/>
        </p:nvSpPr>
        <p:spPr>
          <a:xfrm>
            <a:off x="-2543174" y="161925"/>
            <a:ext cx="10972800" cy="571500"/>
          </a:xfrm>
          <a:prstGeom prst="rect">
            <a:avLst/>
          </a:prstGeom>
          <a:noFill/>
          <a:ln w="0">
            <a:noFill/>
            <a:prstDash val="solid"/>
          </a:ln>
        </p:spPr>
        <p:txBody>
          <a:bodyPr wrap="none" lIns="0" tIns="0" rIns="0" bIns="0" anchor="ctr">
            <a:normAutofit/>
          </a:bodyPr>
          <a:lstStyle/>
          <a:p>
            <a:pPr algn="ctr">
              <a:buNone/>
              <a:defRPr sz="3600" b="1">
                <a:solidFill>
                  <a:srgbClr val="242A30"/>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一个</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由什么组成</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a:t>
            </a:r>
          </a:p>
        </p:txBody>
      </p:sp>
      <p:sp>
        <p:nvSpPr>
          <p:cNvPr id="22" name="logic-heading"/>
          <p:cNvSpPr>
            <a:spLocks noGrp="1"/>
          </p:cNvSpPr>
          <p:nvPr/>
        </p:nvSpPr>
        <p:spPr>
          <a:xfrm>
            <a:off x="609600" y="1190625"/>
            <a:ext cx="238125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a:solidFill>
                  <a:srgbClr val="242A30"/>
                </a:solidFill>
                <a:latin typeface="微软雅黑" panose="020B0503020204020204" charset="-122"/>
                <a:ea typeface="微软雅黑" panose="020B0503020204020204" charset="-122"/>
                <a:cs typeface="微软雅黑" panose="020B0503020204020204" charset="-122"/>
              </a:rPr>
              <a:t>逻辑结构</a:t>
            </a:r>
          </a:p>
        </p:txBody>
      </p:sp>
      <p:sp>
        <p:nvSpPr>
          <p:cNvPr id="23" name="files-heading"/>
          <p:cNvSpPr>
            <a:spLocks noGrp="1"/>
          </p:cNvSpPr>
          <p:nvPr/>
        </p:nvSpPr>
        <p:spPr>
          <a:xfrm>
            <a:off x="6553200" y="1190625"/>
            <a:ext cx="247650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dirty="0" err="1" smtClean="0">
                <a:solidFill>
                  <a:srgbClr val="242A30"/>
                </a:solidFill>
                <a:latin typeface="微软雅黑" panose="020B0503020204020204" charset="-122"/>
                <a:ea typeface="微软雅黑" panose="020B0503020204020204" charset="-122"/>
                <a:cs typeface="微软雅黑" panose="020B0503020204020204" charset="-122"/>
              </a:rPr>
              <a:t>实际文件</a:t>
            </a:r>
            <a:r>
              <a:rPr lang="zh-CN" altLang="en-US" sz="2400" b="1" dirty="0">
                <a:solidFill>
                  <a:srgbClr val="242A30"/>
                </a:solidFill>
                <a:latin typeface="微软雅黑" panose="020B0503020204020204" charset="-122"/>
                <a:ea typeface="微软雅黑" panose="020B0503020204020204" charset="-122"/>
                <a:cs typeface="微软雅黑" panose="020B0503020204020204" charset="-122"/>
              </a:rPr>
              <a:t>夹</a:t>
            </a:r>
            <a:r>
              <a:rPr lang="zh-CN" altLang="en-US" sz="2400" b="1" dirty="0" smtClean="0">
                <a:solidFill>
                  <a:srgbClr val="242A30"/>
                </a:solidFill>
                <a:latin typeface="微软雅黑" panose="020B0503020204020204" charset="-122"/>
                <a:ea typeface="微软雅黑" panose="020B0503020204020204" charset="-122"/>
                <a:cs typeface="微软雅黑" panose="020B0503020204020204" charset="-122"/>
              </a:rPr>
              <a:t>例子</a:t>
            </a:r>
            <a:endParaRPr sz="240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0" name="tree-line-01"/>
          <p:cNvSpPr>
            <a:spLocks noGrp="1"/>
          </p:cNvSpPr>
          <p:nvPr/>
        </p:nvSpPr>
        <p:spPr>
          <a:xfrm>
            <a:off x="6800850" y="1838325"/>
            <a:ext cx="4552950" cy="228600"/>
          </a:xfrm>
          <a:prstGeom prst="rect">
            <a:avLst/>
          </a:prstGeom>
          <a:noFill/>
          <a:ln w="0">
            <a:noFill/>
            <a:prstDash val="solid"/>
          </a:ln>
        </p:spPr>
        <p:txBody>
          <a:bodyPr wrap="none" lIns="0" tIns="0" rIns="0" bIns="0" anchor="ctr">
            <a:normAutofit fontScale="92582" lnSpcReduction="10000"/>
          </a:bodyPr>
          <a:lstStyle/>
          <a:p>
            <a:pPr algn="l">
              <a:buNone/>
              <a:defRPr sz="1765" b="1">
                <a:solidFill>
                  <a:srgbClr val="242A30"/>
                </a:solidFill>
                <a:latin typeface="微软雅黑" panose="020B0503020204020204" charset="-122"/>
                <a:ea typeface="微软雅黑" panose="020B0503020204020204" charset="-122"/>
                <a:cs typeface="微软雅黑" panose="020B0503020204020204" charset="-122"/>
              </a:defRPr>
            </a:pPr>
            <a:r>
              <a:rPr lang="en-US" altLang="zh-CN" sz="1765" b="1" dirty="0" smtClean="0">
                <a:solidFill>
                  <a:srgbClr val="242A30"/>
                </a:solidFill>
                <a:latin typeface="微软雅黑" panose="020B0503020204020204" charset="-122"/>
                <a:ea typeface="微软雅黑" panose="020B0503020204020204" charset="-122"/>
                <a:cs typeface="微软雅黑" panose="020B0503020204020204" charset="-122"/>
              </a:rPr>
              <a:t>Skill-name</a:t>
            </a:r>
            <a:r>
              <a:rPr sz="1765" b="1" dirty="0" smtClean="0">
                <a:solidFill>
                  <a:srgbClr val="242A30"/>
                </a:solidFill>
                <a:latin typeface="微软雅黑" panose="020B0503020204020204" charset="-122"/>
                <a:ea typeface="微软雅黑" panose="020B0503020204020204" charset="-122"/>
                <a:cs typeface="微软雅黑" panose="020B0503020204020204" charset="-122"/>
              </a:rPr>
              <a:t>-*/</a:t>
            </a:r>
            <a:endParaRPr sz="1765"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1" name="tree-line-02"/>
          <p:cNvSpPr>
            <a:spLocks noGrp="1"/>
          </p:cNvSpPr>
          <p:nvPr/>
        </p:nvSpPr>
        <p:spPr>
          <a:xfrm>
            <a:off x="6800850" y="206121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557A96"/>
                </a:solidFill>
                <a:latin typeface="微软雅黑" panose="020B0503020204020204" charset="-122"/>
                <a:ea typeface="微软雅黑" panose="020B0503020204020204" charset="-122"/>
                <a:cs typeface="微软雅黑" panose="020B0503020204020204" charset="-122"/>
              </a:defRPr>
            </a:pPr>
            <a:r>
              <a:rPr sz="1615" b="1">
                <a:solidFill>
                  <a:srgbClr val="557A96"/>
                </a:solidFill>
                <a:latin typeface="微软雅黑" panose="020B0503020204020204" charset="-122"/>
                <a:ea typeface="微软雅黑" panose="020B0503020204020204" charset="-122"/>
                <a:cs typeface="微软雅黑" panose="020B0503020204020204" charset="-122"/>
              </a:rPr>
              <a:t>├── SKILL.md</a:t>
            </a:r>
          </a:p>
        </p:txBody>
      </p:sp>
      <p:sp>
        <p:nvSpPr>
          <p:cNvPr id="42" name="tree-line-03"/>
          <p:cNvSpPr>
            <a:spLocks noGrp="1"/>
          </p:cNvSpPr>
          <p:nvPr/>
        </p:nvSpPr>
        <p:spPr>
          <a:xfrm>
            <a:off x="6800850" y="2284095"/>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subagents/</a:t>
            </a:r>
          </a:p>
        </p:txBody>
      </p:sp>
      <p:sp>
        <p:nvSpPr>
          <p:cNvPr id="43" name="tree-line-04"/>
          <p:cNvSpPr>
            <a:spLocks noGrp="1"/>
          </p:cNvSpPr>
          <p:nvPr/>
        </p:nvSpPr>
        <p:spPr>
          <a:xfrm>
            <a:off x="6800850" y="250698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EnvConfig.md</a:t>
            </a:r>
          </a:p>
        </p:txBody>
      </p:sp>
      <p:sp>
        <p:nvSpPr>
          <p:cNvPr id="44" name="tree-line-05"/>
          <p:cNvSpPr>
            <a:spLocks noGrp="1"/>
          </p:cNvSpPr>
          <p:nvPr/>
        </p:nvSpPr>
        <p:spPr>
          <a:xfrm>
            <a:off x="6800850" y="272986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Extractor.md</a:t>
            </a:r>
          </a:p>
        </p:txBody>
      </p:sp>
      <p:sp>
        <p:nvSpPr>
          <p:cNvPr id="45" name="tree-line-06"/>
          <p:cNvSpPr>
            <a:spLocks noGrp="1"/>
          </p:cNvSpPr>
          <p:nvPr/>
        </p:nvSpPr>
        <p:spPr>
          <a:xfrm>
            <a:off x="6800850" y="295275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GenerateCode.md</a:t>
            </a:r>
          </a:p>
        </p:txBody>
      </p:sp>
      <p:sp>
        <p:nvSpPr>
          <p:cNvPr id="46" name="tree-line-07"/>
          <p:cNvSpPr>
            <a:spLocks noGrp="1"/>
          </p:cNvSpPr>
          <p:nvPr/>
        </p:nvSpPr>
        <p:spPr>
          <a:xfrm>
            <a:off x="6800850" y="317563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47" name="tree-line-08"/>
          <p:cNvSpPr>
            <a:spLocks noGrp="1"/>
          </p:cNvSpPr>
          <p:nvPr/>
        </p:nvSpPr>
        <p:spPr>
          <a:xfrm>
            <a:off x="6800850" y="339852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scripts/</a:t>
            </a:r>
          </a:p>
        </p:txBody>
      </p:sp>
      <p:sp>
        <p:nvSpPr>
          <p:cNvPr id="48" name="tree-line-09"/>
          <p:cNvSpPr>
            <a:spLocks noGrp="1"/>
          </p:cNvSpPr>
          <p:nvPr/>
        </p:nvSpPr>
        <p:spPr>
          <a:xfrm>
            <a:off x="6800850" y="362140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get_device_info.py</a:t>
            </a:r>
          </a:p>
        </p:txBody>
      </p:sp>
      <p:sp>
        <p:nvSpPr>
          <p:cNvPr id="49" name="tree-line-10"/>
          <p:cNvSpPr>
            <a:spLocks noGrp="1"/>
          </p:cNvSpPr>
          <p:nvPr/>
        </p:nvSpPr>
        <p:spPr>
          <a:xfrm>
            <a:off x="6800850" y="384429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test_env_code.py</a:t>
            </a:r>
          </a:p>
        </p:txBody>
      </p:sp>
      <p:sp>
        <p:nvSpPr>
          <p:cNvPr id="50" name="tree-line-11"/>
          <p:cNvSpPr>
            <a:spLocks noGrp="1"/>
          </p:cNvSpPr>
          <p:nvPr/>
        </p:nvSpPr>
        <p:spPr>
          <a:xfrm>
            <a:off x="6800850" y="406717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1" name="tree-line-12"/>
          <p:cNvSpPr>
            <a:spLocks noGrp="1"/>
          </p:cNvSpPr>
          <p:nvPr/>
        </p:nvSpPr>
        <p:spPr>
          <a:xfrm>
            <a:off x="6800850" y="429006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ref/</a:t>
            </a:r>
          </a:p>
        </p:txBody>
      </p:sp>
      <p:sp>
        <p:nvSpPr>
          <p:cNvPr id="52" name="tree-line-13"/>
          <p:cNvSpPr>
            <a:spLocks noGrp="1"/>
          </p:cNvSpPr>
          <p:nvPr/>
        </p:nvSpPr>
        <p:spPr>
          <a:xfrm>
            <a:off x="6800850" y="451294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mlu_supported_primitives.md</a:t>
            </a:r>
          </a:p>
        </p:txBody>
      </p:sp>
      <p:sp>
        <p:nvSpPr>
          <p:cNvPr id="53" name="tree-line-14"/>
          <p:cNvSpPr>
            <a:spLocks noGrp="1"/>
          </p:cNvSpPr>
          <p:nvPr/>
        </p:nvSpPr>
        <p:spPr>
          <a:xfrm>
            <a:off x="6800850" y="473583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examples/</a:t>
            </a:r>
          </a:p>
        </p:txBody>
      </p:sp>
      <p:sp>
        <p:nvSpPr>
          <p:cNvPr id="54" name="tree-line-15"/>
          <p:cNvSpPr>
            <a:spLocks noGrp="1"/>
          </p:cNvSpPr>
          <p:nvPr/>
        </p:nvSpPr>
        <p:spPr>
          <a:xfrm>
            <a:off x="6800850" y="495871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generate_code_reduce_sum.md</a:t>
            </a:r>
          </a:p>
        </p:txBody>
      </p:sp>
      <p:sp>
        <p:nvSpPr>
          <p:cNvPr id="55" name="tree-line-16"/>
          <p:cNvSpPr>
            <a:spLocks noGrp="1"/>
          </p:cNvSpPr>
          <p:nvPr/>
        </p:nvSpPr>
        <p:spPr>
          <a:xfrm>
            <a:off x="6800850" y="518160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generate_code_axis_fusion.md</a:t>
            </a:r>
          </a:p>
        </p:txBody>
      </p:sp>
      <p:sp>
        <p:nvSpPr>
          <p:cNvPr id="56" name="tree-line-17"/>
          <p:cNvSpPr>
            <a:spLocks noGrp="1"/>
          </p:cNvSpPr>
          <p:nvPr/>
        </p:nvSpPr>
        <p:spPr>
          <a:xfrm>
            <a:off x="6800850" y="540448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7" name="summary-text"/>
          <p:cNvSpPr>
            <a:spLocks noGrp="1"/>
          </p:cNvSpPr>
          <p:nvPr/>
        </p:nvSpPr>
        <p:spPr>
          <a:xfrm>
            <a:off x="838200" y="6219825"/>
            <a:ext cx="10515600" cy="342900"/>
          </a:xfrm>
          <a:prstGeom prst="rect">
            <a:avLst/>
          </a:prstGeom>
          <a:noFill/>
          <a:ln w="0">
            <a:noFill/>
            <a:prstDash val="solid"/>
          </a:ln>
        </p:spPr>
        <p:txBody>
          <a:bodyPr wrap="none" lIns="0" tIns="0" rIns="0" bIns="0" anchor="ctr">
            <a:normAutofit/>
          </a:bodyPr>
          <a:lstStyle/>
          <a:p>
            <a:pPr algn="ctr">
              <a:buNone/>
              <a:defRPr sz="1615" b="1">
                <a:solidFill>
                  <a:srgbClr val="3E464E"/>
                </a:solidFill>
                <a:latin typeface="微软雅黑" panose="020B0503020204020204" charset="-122"/>
                <a:ea typeface="微软雅黑" panose="020B0503020204020204" charset="-122"/>
                <a:cs typeface="微软雅黑" panose="020B0503020204020204" charset="-122"/>
              </a:defRPr>
            </a:pPr>
            <a:r>
              <a:rPr sz="1615" b="1">
                <a:solidFill>
                  <a:srgbClr val="3E464E"/>
                </a:solidFill>
                <a:latin typeface="微软雅黑" panose="020B0503020204020204" charset="-122"/>
                <a:ea typeface="微软雅黑" panose="020B0503020204020204" charset="-122"/>
                <a:cs typeface="微软雅黑" panose="020B0503020204020204" charset="-122"/>
              </a:rPr>
              <a:t>Skill 以 SKILL.md 为核心，并根据任务需要组织 Subagent、Script、Reference、Example 等资源。</a:t>
            </a:r>
          </a:p>
        </p:txBody>
      </p:sp>
      <p:sp>
        <p:nvSpPr>
          <p:cNvPr id="59" name="diagram-root-link"/>
          <p:cNvSpPr>
            <a:spLocks noGrp="1"/>
          </p:cNvSpPr>
          <p:nvPr/>
        </p:nvSpPr>
        <p:spPr>
          <a:xfrm>
            <a:off x="1600200" y="3810000"/>
            <a:ext cx="276225" cy="0"/>
          </a:xfrm>
          <a:prstGeom prst="line">
            <a:avLst/>
          </a:prstGeom>
          <a:noFill/>
          <a:ln w="16193">
            <a:solidFill>
              <a:srgbClr val="557A96"/>
            </a:solidFill>
            <a:prstDash val="solid"/>
          </a:ln>
        </p:spPr>
      </p:sp>
      <p:sp>
        <p:nvSpPr>
          <p:cNvPr id="60" name="diagram-bus"/>
          <p:cNvSpPr>
            <a:spLocks noGrp="1"/>
          </p:cNvSpPr>
          <p:nvPr/>
        </p:nvSpPr>
        <p:spPr>
          <a:xfrm>
            <a:off x="1876425" y="2133600"/>
            <a:ext cx="0" cy="3238500"/>
          </a:xfrm>
          <a:prstGeom prst="line">
            <a:avLst/>
          </a:prstGeom>
          <a:noFill/>
          <a:ln w="16193">
            <a:solidFill>
              <a:srgbClr val="557A96"/>
            </a:solidFill>
            <a:prstDash val="solid"/>
          </a:ln>
        </p:spPr>
      </p:sp>
      <p:sp>
        <p:nvSpPr>
          <p:cNvPr id="61" name="diagram-branch-skill"/>
          <p:cNvSpPr>
            <a:spLocks noGrp="1"/>
          </p:cNvSpPr>
          <p:nvPr/>
        </p:nvSpPr>
        <p:spPr>
          <a:xfrm>
            <a:off x="1876425" y="2133600"/>
            <a:ext cx="352425" cy="0"/>
          </a:xfrm>
          <a:prstGeom prst="line">
            <a:avLst/>
          </a:prstGeom>
          <a:noFill/>
          <a:ln w="16193">
            <a:solidFill>
              <a:srgbClr val="557A96"/>
            </a:solidFill>
            <a:prstDash val="solid"/>
          </a:ln>
        </p:spPr>
      </p:sp>
      <p:sp>
        <p:nvSpPr>
          <p:cNvPr id="62" name="diagram-arrow-skill"/>
          <p:cNvSpPr>
            <a:spLocks noGrp="1"/>
          </p:cNvSpPr>
          <p:nvPr/>
        </p:nvSpPr>
        <p:spPr>
          <a:xfrm rot="5400000">
            <a:off x="2209800" y="2085975"/>
            <a:ext cx="85725" cy="95250"/>
          </a:xfrm>
          <a:prstGeom prst="triangle">
            <a:avLst/>
          </a:prstGeom>
          <a:solidFill>
            <a:srgbClr val="557A96"/>
          </a:solidFill>
          <a:ln w="4763">
            <a:solidFill>
              <a:srgbClr val="557A96"/>
            </a:solidFill>
            <a:prstDash val="solid"/>
          </a:ln>
        </p:spPr>
      </p:sp>
      <p:sp>
        <p:nvSpPr>
          <p:cNvPr id="63" name="diagram-branch-subagents"/>
          <p:cNvSpPr>
            <a:spLocks noGrp="1"/>
          </p:cNvSpPr>
          <p:nvPr/>
        </p:nvSpPr>
        <p:spPr>
          <a:xfrm>
            <a:off x="1876425" y="3571875"/>
            <a:ext cx="352425" cy="0"/>
          </a:xfrm>
          <a:prstGeom prst="line">
            <a:avLst/>
          </a:prstGeom>
          <a:noFill/>
          <a:ln w="16193">
            <a:solidFill>
              <a:srgbClr val="557A96"/>
            </a:solidFill>
            <a:prstDash val="solid"/>
          </a:ln>
        </p:spPr>
      </p:sp>
      <p:sp>
        <p:nvSpPr>
          <p:cNvPr id="64" name="diagram-arrow-subagents"/>
          <p:cNvSpPr>
            <a:spLocks noGrp="1"/>
          </p:cNvSpPr>
          <p:nvPr/>
        </p:nvSpPr>
        <p:spPr>
          <a:xfrm rot="5400000">
            <a:off x="2209800" y="3524250"/>
            <a:ext cx="85725" cy="95250"/>
          </a:xfrm>
          <a:prstGeom prst="triangle">
            <a:avLst/>
          </a:prstGeom>
          <a:solidFill>
            <a:srgbClr val="557A96"/>
          </a:solidFill>
          <a:ln w="4763">
            <a:solidFill>
              <a:srgbClr val="557A96"/>
            </a:solidFill>
            <a:prstDash val="solid"/>
          </a:ln>
        </p:spPr>
      </p:sp>
      <p:sp>
        <p:nvSpPr>
          <p:cNvPr id="65" name="diagram-branch-scripts"/>
          <p:cNvSpPr>
            <a:spLocks noGrp="1"/>
          </p:cNvSpPr>
          <p:nvPr/>
        </p:nvSpPr>
        <p:spPr>
          <a:xfrm>
            <a:off x="1876425" y="4171950"/>
            <a:ext cx="352425" cy="0"/>
          </a:xfrm>
          <a:prstGeom prst="line">
            <a:avLst/>
          </a:prstGeom>
          <a:noFill/>
          <a:ln w="16193">
            <a:solidFill>
              <a:srgbClr val="557A96"/>
            </a:solidFill>
            <a:prstDash val="solid"/>
          </a:ln>
        </p:spPr>
      </p:sp>
      <p:sp>
        <p:nvSpPr>
          <p:cNvPr id="66" name="diagram-arrow-scripts"/>
          <p:cNvSpPr>
            <a:spLocks noGrp="1"/>
          </p:cNvSpPr>
          <p:nvPr/>
        </p:nvSpPr>
        <p:spPr>
          <a:xfrm rot="5400000">
            <a:off x="2209800" y="4124325"/>
            <a:ext cx="85725" cy="95250"/>
          </a:xfrm>
          <a:prstGeom prst="triangle">
            <a:avLst/>
          </a:prstGeom>
          <a:solidFill>
            <a:srgbClr val="557A96"/>
          </a:solidFill>
          <a:ln w="4763">
            <a:solidFill>
              <a:srgbClr val="557A96"/>
            </a:solidFill>
            <a:prstDash val="solid"/>
          </a:ln>
        </p:spPr>
      </p:sp>
      <p:sp>
        <p:nvSpPr>
          <p:cNvPr id="67" name="diagram-branch-references"/>
          <p:cNvSpPr>
            <a:spLocks noGrp="1"/>
          </p:cNvSpPr>
          <p:nvPr/>
        </p:nvSpPr>
        <p:spPr>
          <a:xfrm>
            <a:off x="1876425" y="4772025"/>
            <a:ext cx="352425" cy="0"/>
          </a:xfrm>
          <a:prstGeom prst="line">
            <a:avLst/>
          </a:prstGeom>
          <a:noFill/>
          <a:ln w="16193">
            <a:solidFill>
              <a:srgbClr val="557A96"/>
            </a:solidFill>
            <a:prstDash val="solid"/>
          </a:ln>
        </p:spPr>
      </p:sp>
      <p:sp>
        <p:nvSpPr>
          <p:cNvPr id="68" name="diagram-arrow-references"/>
          <p:cNvSpPr>
            <a:spLocks noGrp="1"/>
          </p:cNvSpPr>
          <p:nvPr/>
        </p:nvSpPr>
        <p:spPr>
          <a:xfrm rot="5400000">
            <a:off x="2209800" y="4724400"/>
            <a:ext cx="85725" cy="95250"/>
          </a:xfrm>
          <a:prstGeom prst="triangle">
            <a:avLst/>
          </a:prstGeom>
          <a:solidFill>
            <a:srgbClr val="557A96"/>
          </a:solidFill>
          <a:ln w="4763">
            <a:solidFill>
              <a:srgbClr val="557A96"/>
            </a:solidFill>
            <a:prstDash val="solid"/>
          </a:ln>
        </p:spPr>
      </p:sp>
      <p:sp>
        <p:nvSpPr>
          <p:cNvPr id="69" name="diagram-branch-examples"/>
          <p:cNvSpPr>
            <a:spLocks noGrp="1"/>
          </p:cNvSpPr>
          <p:nvPr/>
        </p:nvSpPr>
        <p:spPr>
          <a:xfrm>
            <a:off x="1876425" y="5372100"/>
            <a:ext cx="352425" cy="0"/>
          </a:xfrm>
          <a:prstGeom prst="line">
            <a:avLst/>
          </a:prstGeom>
          <a:noFill/>
          <a:ln w="16193">
            <a:solidFill>
              <a:srgbClr val="557A96"/>
            </a:solidFill>
            <a:prstDash val="solid"/>
          </a:ln>
        </p:spPr>
      </p:sp>
      <p:sp>
        <p:nvSpPr>
          <p:cNvPr id="70" name="diagram-arrow-examples"/>
          <p:cNvSpPr>
            <a:spLocks noGrp="1"/>
          </p:cNvSpPr>
          <p:nvPr/>
        </p:nvSpPr>
        <p:spPr>
          <a:xfrm rot="5400000">
            <a:off x="2209800" y="5324475"/>
            <a:ext cx="85725" cy="95250"/>
          </a:xfrm>
          <a:prstGeom prst="triangle">
            <a:avLst/>
          </a:prstGeom>
          <a:solidFill>
            <a:srgbClr val="557A96"/>
          </a:solidFill>
          <a:ln w="4763">
            <a:solidFill>
              <a:srgbClr val="557A96"/>
            </a:solidFill>
            <a:prstDash val="solid"/>
          </a:ln>
        </p:spPr>
      </p:sp>
      <p:sp>
        <p:nvSpPr>
          <p:cNvPr id="71" name="diagram-skill-keyword-link"/>
          <p:cNvSpPr>
            <a:spLocks noGrp="1"/>
          </p:cNvSpPr>
          <p:nvPr/>
        </p:nvSpPr>
        <p:spPr>
          <a:xfrm>
            <a:off x="4000500" y="2133600"/>
            <a:ext cx="161925" cy="0"/>
          </a:xfrm>
          <a:prstGeom prst="line">
            <a:avLst/>
          </a:prstGeom>
          <a:noFill/>
          <a:ln w="12383">
            <a:solidFill>
              <a:srgbClr val="557A96"/>
            </a:solidFill>
            <a:prstDash val="dash"/>
          </a:ln>
        </p:spPr>
      </p:sp>
      <p:sp>
        <p:nvSpPr>
          <p:cNvPr id="72" name="diagram-keyword-spine"/>
          <p:cNvSpPr>
            <a:spLocks noGrp="1"/>
          </p:cNvSpPr>
          <p:nvPr/>
        </p:nvSpPr>
        <p:spPr>
          <a:xfrm>
            <a:off x="4381500" y="1914525"/>
            <a:ext cx="0" cy="1171575"/>
          </a:xfrm>
          <a:prstGeom prst="line">
            <a:avLst/>
          </a:prstGeom>
          <a:noFill/>
          <a:ln w="11430">
            <a:solidFill>
              <a:srgbClr val="557A96"/>
            </a:solidFill>
            <a:prstDash val="solid"/>
          </a:ln>
        </p:spPr>
      </p:sp>
      <p:sp>
        <p:nvSpPr>
          <p:cNvPr id="73" name="diagram-root-node"/>
          <p:cNvSpPr>
            <a:spLocks noGrp="1"/>
          </p:cNvSpPr>
          <p:nvPr/>
        </p:nvSpPr>
        <p:spPr>
          <a:xfrm>
            <a:off x="666750" y="3524250"/>
            <a:ext cx="933450" cy="571500"/>
          </a:xfrm>
          <a:prstGeom prst="roundRect">
            <a:avLst>
              <a:gd name="adj" fmla="val 15000"/>
            </a:avLst>
          </a:prstGeom>
          <a:solidFill>
            <a:srgbClr val="F5F8FA"/>
          </a:solidFill>
          <a:ln w="10954">
            <a:solidFill>
              <a:srgbClr val="7898AF"/>
            </a:solidFill>
            <a:prstDash val="solid"/>
          </a:ln>
        </p:spPr>
      </p:sp>
      <p:sp>
        <p:nvSpPr>
          <p:cNvPr id="74" name="diagram-skill-node"/>
          <p:cNvSpPr>
            <a:spLocks noGrp="1"/>
          </p:cNvSpPr>
          <p:nvPr/>
        </p:nvSpPr>
        <p:spPr>
          <a:xfrm>
            <a:off x="2286000" y="1866900"/>
            <a:ext cx="1714500" cy="533400"/>
          </a:xfrm>
          <a:prstGeom prst="roundRect">
            <a:avLst>
              <a:gd name="adj" fmla="val 16071"/>
            </a:avLst>
          </a:prstGeom>
          <a:solidFill>
            <a:srgbClr val="F5F8FA"/>
          </a:solidFill>
          <a:ln w="10954">
            <a:solidFill>
              <a:srgbClr val="7898AF"/>
            </a:solidFill>
            <a:prstDash val="solid"/>
          </a:ln>
        </p:spPr>
      </p:sp>
      <p:sp>
        <p:nvSpPr>
          <p:cNvPr id="75" name="diagram-subagents-node"/>
          <p:cNvSpPr>
            <a:spLocks noGrp="1"/>
          </p:cNvSpPr>
          <p:nvPr/>
        </p:nvSpPr>
        <p:spPr>
          <a:xfrm>
            <a:off x="2286000" y="3333750"/>
            <a:ext cx="3505200" cy="476250"/>
          </a:xfrm>
          <a:prstGeom prst="roundRect">
            <a:avLst>
              <a:gd name="adj" fmla="val 18000"/>
            </a:avLst>
          </a:prstGeom>
          <a:solidFill>
            <a:srgbClr val="F5F8FA"/>
          </a:solidFill>
          <a:ln w="10954">
            <a:solidFill>
              <a:srgbClr val="7898AF"/>
            </a:solidFill>
            <a:prstDash val="solid"/>
          </a:ln>
        </p:spPr>
      </p:sp>
      <p:sp>
        <p:nvSpPr>
          <p:cNvPr id="76" name="diagram-scripts-node"/>
          <p:cNvSpPr>
            <a:spLocks noGrp="1"/>
          </p:cNvSpPr>
          <p:nvPr/>
        </p:nvSpPr>
        <p:spPr>
          <a:xfrm>
            <a:off x="2286000" y="3933825"/>
            <a:ext cx="3505200" cy="476250"/>
          </a:xfrm>
          <a:prstGeom prst="roundRect">
            <a:avLst>
              <a:gd name="adj" fmla="val 18000"/>
            </a:avLst>
          </a:prstGeom>
          <a:solidFill>
            <a:srgbClr val="F5F8FA"/>
          </a:solidFill>
          <a:ln w="10954">
            <a:solidFill>
              <a:srgbClr val="7898AF"/>
            </a:solidFill>
            <a:prstDash val="solid"/>
          </a:ln>
        </p:spPr>
      </p:sp>
      <p:sp>
        <p:nvSpPr>
          <p:cNvPr id="77" name="diagram-references-node"/>
          <p:cNvSpPr>
            <a:spLocks noGrp="1"/>
          </p:cNvSpPr>
          <p:nvPr/>
        </p:nvSpPr>
        <p:spPr>
          <a:xfrm>
            <a:off x="2286000" y="4533900"/>
            <a:ext cx="3505200" cy="476250"/>
          </a:xfrm>
          <a:prstGeom prst="roundRect">
            <a:avLst>
              <a:gd name="adj" fmla="val 18000"/>
            </a:avLst>
          </a:prstGeom>
          <a:solidFill>
            <a:srgbClr val="F5F8FA"/>
          </a:solidFill>
          <a:ln w="10954">
            <a:solidFill>
              <a:srgbClr val="7898AF"/>
            </a:solidFill>
            <a:prstDash val="solid"/>
          </a:ln>
        </p:spPr>
      </p:sp>
      <p:sp>
        <p:nvSpPr>
          <p:cNvPr id="78" name="diagram-examples-node"/>
          <p:cNvSpPr>
            <a:spLocks noGrp="1"/>
          </p:cNvSpPr>
          <p:nvPr/>
        </p:nvSpPr>
        <p:spPr>
          <a:xfrm>
            <a:off x="2286000" y="5133975"/>
            <a:ext cx="3505200" cy="476250"/>
          </a:xfrm>
          <a:prstGeom prst="roundRect">
            <a:avLst>
              <a:gd name="adj" fmla="val 18000"/>
            </a:avLst>
          </a:prstGeom>
          <a:solidFill>
            <a:srgbClr val="F5F8FA"/>
          </a:solidFill>
          <a:ln w="10954">
            <a:solidFill>
              <a:srgbClr val="7898AF"/>
            </a:solidFill>
            <a:prstDash val="solid"/>
          </a:ln>
        </p:spPr>
      </p:sp>
      <p:sp>
        <p:nvSpPr>
          <p:cNvPr id="79" name="diagram-keywords-node"/>
          <p:cNvSpPr>
            <a:spLocks noGrp="1"/>
          </p:cNvSpPr>
          <p:nvPr/>
        </p:nvSpPr>
        <p:spPr>
          <a:xfrm>
            <a:off x="4162425" y="1733550"/>
            <a:ext cx="1628775" cy="1524000"/>
          </a:xfrm>
          <a:prstGeom prst="roundRect">
            <a:avLst>
              <a:gd name="adj" fmla="val 5625"/>
            </a:avLst>
          </a:prstGeom>
          <a:noFill/>
          <a:ln w="12383">
            <a:solidFill>
              <a:srgbClr val="7898AF"/>
            </a:solidFill>
            <a:prstDash val="dash"/>
          </a:ln>
        </p:spPr>
      </p:sp>
      <p:sp>
        <p:nvSpPr>
          <p:cNvPr id="80" name="diagram-root-text"/>
          <p:cNvSpPr>
            <a:spLocks noGrp="1"/>
          </p:cNvSpPr>
          <p:nvPr/>
        </p:nvSpPr>
        <p:spPr>
          <a:xfrm>
            <a:off x="723900" y="3629025"/>
            <a:ext cx="819150" cy="361950"/>
          </a:xfrm>
          <a:prstGeom prst="rect">
            <a:avLst/>
          </a:prstGeom>
          <a:noFill/>
          <a:ln w="0">
            <a:noFill/>
            <a:prstDash val="solid"/>
          </a:ln>
        </p:spPr>
        <p:txBody>
          <a:bodyPr wrap="none" lIns="0" tIns="0" rIns="0" bIns="0" anchor="ctr">
            <a:normAutofit/>
          </a:bodyPr>
          <a:lstStyle/>
          <a:p>
            <a:pPr algn="ctr">
              <a:defRPr sz="2100" b="1">
                <a:solidFill>
                  <a:srgbClr val="557A96"/>
                </a:solidFill>
                <a:latin typeface="微软雅黑" panose="020B0503020204020204" charset="-122"/>
                <a:ea typeface="微软雅黑" panose="020B0503020204020204" charset="-122"/>
                <a:cs typeface="微软雅黑" panose="020B0503020204020204" charset="-122"/>
              </a:defRPr>
            </a:pPr>
            <a:r>
              <a:rPr sz="2100"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81" name="diagram-skill-text"/>
          <p:cNvSpPr>
            <a:spLocks noGrp="1"/>
          </p:cNvSpPr>
          <p:nvPr/>
        </p:nvSpPr>
        <p:spPr>
          <a:xfrm>
            <a:off x="2381250" y="1971675"/>
            <a:ext cx="1524000" cy="323850"/>
          </a:xfrm>
          <a:prstGeom prst="rect">
            <a:avLst/>
          </a:prstGeom>
          <a:noFill/>
          <a:ln w="0">
            <a:noFill/>
            <a:prstDash val="solid"/>
          </a:ln>
        </p:spPr>
        <p:txBody>
          <a:bodyPr wrap="none" lIns="0" tIns="0" rIns="0" bIns="0" anchor="ctr">
            <a:normAutofit/>
          </a:bodyPr>
          <a:lstStyle/>
          <a:p>
            <a:pPr algn="ctr">
              <a:defRPr sz="1875" b="1">
                <a:solidFill>
                  <a:srgbClr val="557A96"/>
                </a:solidFill>
                <a:latin typeface="微软雅黑" panose="020B0503020204020204" charset="-122"/>
                <a:ea typeface="微软雅黑" panose="020B0503020204020204" charset="-122"/>
                <a:cs typeface="微软雅黑" panose="020B0503020204020204" charset="-122"/>
              </a:defRPr>
            </a:pPr>
            <a:r>
              <a:rPr sz="1875" b="1">
                <a:solidFill>
                  <a:srgbClr val="557A96"/>
                </a:solidFill>
                <a:latin typeface="微软雅黑" panose="020B0503020204020204" charset="-122"/>
                <a:ea typeface="微软雅黑" panose="020B0503020204020204" charset="-122"/>
                <a:cs typeface="微软雅黑" panose="020B0503020204020204" charset="-122"/>
              </a:rPr>
              <a:t>SKILL.md</a:t>
            </a:r>
          </a:p>
        </p:txBody>
      </p:sp>
      <p:sp>
        <p:nvSpPr>
          <p:cNvPr id="82" name="diagram-subagents-label"/>
          <p:cNvSpPr>
            <a:spLocks noGrp="1"/>
          </p:cNvSpPr>
          <p:nvPr/>
        </p:nvSpPr>
        <p:spPr>
          <a:xfrm>
            <a:off x="2427633" y="3452813"/>
            <a:ext cx="1181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Subagents</a:t>
            </a:r>
          </a:p>
        </p:txBody>
      </p:sp>
      <p:sp>
        <p:nvSpPr>
          <p:cNvPr id="84" name="diagram-subagents-description"/>
          <p:cNvSpPr>
            <a:spLocks noGrp="1"/>
          </p:cNvSpPr>
          <p:nvPr/>
        </p:nvSpPr>
        <p:spPr>
          <a:xfrm>
            <a:off x="3750366" y="350519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子任务拆分与独立执行</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5" name="diagram-scripts-label"/>
          <p:cNvSpPr>
            <a:spLocks noGrp="1"/>
          </p:cNvSpPr>
          <p:nvPr/>
        </p:nvSpPr>
        <p:spPr>
          <a:xfrm>
            <a:off x="2447926" y="4052887"/>
            <a:ext cx="800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Scripts</a:t>
            </a:r>
          </a:p>
        </p:txBody>
      </p:sp>
      <p:sp>
        <p:nvSpPr>
          <p:cNvPr id="87" name="diagram-scripts-description"/>
          <p:cNvSpPr>
            <a:spLocks noGrp="1"/>
          </p:cNvSpPr>
          <p:nvPr/>
        </p:nvSpPr>
        <p:spPr>
          <a:xfrm>
            <a:off x="3429000" y="409284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环境检测、测试与确定性操作</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8" name="diagram-references-label"/>
          <p:cNvSpPr>
            <a:spLocks noGrp="1"/>
          </p:cNvSpPr>
          <p:nvPr/>
        </p:nvSpPr>
        <p:spPr>
          <a:xfrm>
            <a:off x="2383941" y="4669631"/>
            <a:ext cx="1228725"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References</a:t>
            </a:r>
          </a:p>
        </p:txBody>
      </p:sp>
      <p:sp>
        <p:nvSpPr>
          <p:cNvPr id="90" name="diagram-references-description"/>
          <p:cNvSpPr>
            <a:spLocks noGrp="1"/>
          </p:cNvSpPr>
          <p:nvPr/>
        </p:nvSpPr>
        <p:spPr>
          <a:xfrm>
            <a:off x="3881437" y="4732103"/>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平台知识、</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技术规则</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1" name="diagram-examples-label"/>
          <p:cNvSpPr>
            <a:spLocks noGrp="1"/>
          </p:cNvSpPr>
          <p:nvPr/>
        </p:nvSpPr>
        <p:spPr>
          <a:xfrm>
            <a:off x="2447926" y="5253038"/>
            <a:ext cx="9906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Examples</a:t>
            </a:r>
          </a:p>
        </p:txBody>
      </p:sp>
      <p:sp>
        <p:nvSpPr>
          <p:cNvPr id="93" name="diagram-examples-description"/>
          <p:cNvSpPr>
            <a:spLocks noGrp="1"/>
          </p:cNvSpPr>
          <p:nvPr/>
        </p:nvSpPr>
        <p:spPr>
          <a:xfrm>
            <a:off x="3881437" y="5311140"/>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已有案例</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，提供参考</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4" name="diagram-keyword-dot-1"/>
          <p:cNvSpPr>
            <a:spLocks noGrp="1"/>
          </p:cNvSpPr>
          <p:nvPr/>
        </p:nvSpPr>
        <p:spPr>
          <a:xfrm>
            <a:off x="4352925" y="1905000"/>
            <a:ext cx="57150" cy="57150"/>
          </a:xfrm>
          <a:prstGeom prst="ellipse">
            <a:avLst/>
          </a:prstGeom>
          <a:solidFill>
            <a:srgbClr val="557A96"/>
          </a:solidFill>
          <a:ln w="0">
            <a:solidFill>
              <a:srgbClr val="557A96"/>
            </a:solidFill>
            <a:prstDash val="solid"/>
          </a:ln>
        </p:spPr>
      </p:sp>
      <p:sp>
        <p:nvSpPr>
          <p:cNvPr id="95" name="diagram-keyword-1"/>
          <p:cNvSpPr>
            <a:spLocks noGrp="1"/>
          </p:cNvSpPr>
          <p:nvPr/>
        </p:nvSpPr>
        <p:spPr>
          <a:xfrm>
            <a:off x="4524375" y="1857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Metadata</a:t>
            </a:r>
          </a:p>
        </p:txBody>
      </p:sp>
      <p:sp>
        <p:nvSpPr>
          <p:cNvPr id="96" name="diagram-keyword-dot-2"/>
          <p:cNvSpPr>
            <a:spLocks noGrp="1"/>
          </p:cNvSpPr>
          <p:nvPr/>
        </p:nvSpPr>
        <p:spPr>
          <a:xfrm>
            <a:off x="4352925" y="2095500"/>
            <a:ext cx="57150" cy="57150"/>
          </a:xfrm>
          <a:prstGeom prst="ellipse">
            <a:avLst/>
          </a:prstGeom>
          <a:solidFill>
            <a:srgbClr val="557A96"/>
          </a:solidFill>
          <a:ln w="0">
            <a:solidFill>
              <a:srgbClr val="557A96"/>
            </a:solidFill>
            <a:prstDash val="solid"/>
          </a:ln>
        </p:spPr>
      </p:sp>
      <p:sp>
        <p:nvSpPr>
          <p:cNvPr id="97" name="diagram-keyword-2"/>
          <p:cNvSpPr>
            <a:spLocks noGrp="1"/>
          </p:cNvSpPr>
          <p:nvPr/>
        </p:nvSpPr>
        <p:spPr>
          <a:xfrm>
            <a:off x="4524375" y="2047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Workflow</a:t>
            </a:r>
          </a:p>
        </p:txBody>
      </p:sp>
      <p:sp>
        <p:nvSpPr>
          <p:cNvPr id="98" name="diagram-keyword-dot-3"/>
          <p:cNvSpPr>
            <a:spLocks noGrp="1"/>
          </p:cNvSpPr>
          <p:nvPr/>
        </p:nvSpPr>
        <p:spPr>
          <a:xfrm>
            <a:off x="4352925" y="2286000"/>
            <a:ext cx="57150" cy="57150"/>
          </a:xfrm>
          <a:prstGeom prst="ellipse">
            <a:avLst/>
          </a:prstGeom>
          <a:solidFill>
            <a:srgbClr val="557A96"/>
          </a:solidFill>
          <a:ln w="0">
            <a:solidFill>
              <a:srgbClr val="557A96"/>
            </a:solidFill>
            <a:prstDash val="solid"/>
          </a:ln>
        </p:spPr>
      </p:sp>
      <p:sp>
        <p:nvSpPr>
          <p:cNvPr id="99" name="diagram-keyword-3"/>
          <p:cNvSpPr>
            <a:spLocks noGrp="1"/>
          </p:cNvSpPr>
          <p:nvPr/>
        </p:nvSpPr>
        <p:spPr>
          <a:xfrm>
            <a:off x="4524375" y="2238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Contract</a:t>
            </a:r>
          </a:p>
        </p:txBody>
      </p:sp>
      <p:sp>
        <p:nvSpPr>
          <p:cNvPr id="100" name="diagram-keyword-dot-4"/>
          <p:cNvSpPr>
            <a:spLocks noGrp="1"/>
          </p:cNvSpPr>
          <p:nvPr/>
        </p:nvSpPr>
        <p:spPr>
          <a:xfrm>
            <a:off x="4352925" y="2476500"/>
            <a:ext cx="57150" cy="57150"/>
          </a:xfrm>
          <a:prstGeom prst="ellipse">
            <a:avLst/>
          </a:prstGeom>
          <a:solidFill>
            <a:srgbClr val="557A96"/>
          </a:solidFill>
          <a:ln w="0">
            <a:solidFill>
              <a:srgbClr val="557A96"/>
            </a:solidFill>
            <a:prstDash val="solid"/>
          </a:ln>
        </p:spPr>
      </p:sp>
      <p:sp>
        <p:nvSpPr>
          <p:cNvPr id="101" name="diagram-keyword-4"/>
          <p:cNvSpPr>
            <a:spLocks noGrp="1"/>
          </p:cNvSpPr>
          <p:nvPr/>
        </p:nvSpPr>
        <p:spPr>
          <a:xfrm>
            <a:off x="4524375" y="2428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Gate</a:t>
            </a:r>
          </a:p>
        </p:txBody>
      </p:sp>
      <p:sp>
        <p:nvSpPr>
          <p:cNvPr id="102" name="diagram-keyword-dot-5"/>
          <p:cNvSpPr>
            <a:spLocks noGrp="1"/>
          </p:cNvSpPr>
          <p:nvPr/>
        </p:nvSpPr>
        <p:spPr>
          <a:xfrm>
            <a:off x="4352925" y="2667000"/>
            <a:ext cx="57150" cy="57150"/>
          </a:xfrm>
          <a:prstGeom prst="ellipse">
            <a:avLst/>
          </a:prstGeom>
          <a:solidFill>
            <a:srgbClr val="557A96"/>
          </a:solidFill>
          <a:ln w="0">
            <a:solidFill>
              <a:srgbClr val="557A96"/>
            </a:solidFill>
            <a:prstDash val="solid"/>
          </a:ln>
        </p:spPr>
      </p:sp>
      <p:sp>
        <p:nvSpPr>
          <p:cNvPr id="103" name="diagram-keyword-5"/>
          <p:cNvSpPr>
            <a:spLocks noGrp="1"/>
          </p:cNvSpPr>
          <p:nvPr/>
        </p:nvSpPr>
        <p:spPr>
          <a:xfrm>
            <a:off x="4524375" y="2619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Routing</a:t>
            </a:r>
          </a:p>
        </p:txBody>
      </p:sp>
      <p:sp>
        <p:nvSpPr>
          <p:cNvPr id="104" name="diagram-keyword-dot-6"/>
          <p:cNvSpPr>
            <a:spLocks noGrp="1"/>
          </p:cNvSpPr>
          <p:nvPr/>
        </p:nvSpPr>
        <p:spPr>
          <a:xfrm>
            <a:off x="4352925" y="2857500"/>
            <a:ext cx="57150" cy="57150"/>
          </a:xfrm>
          <a:prstGeom prst="ellipse">
            <a:avLst/>
          </a:prstGeom>
          <a:solidFill>
            <a:srgbClr val="557A96"/>
          </a:solidFill>
          <a:ln w="0">
            <a:solidFill>
              <a:srgbClr val="557A96"/>
            </a:solidFill>
            <a:prstDash val="solid"/>
          </a:ln>
        </p:spPr>
      </p:sp>
      <p:sp>
        <p:nvSpPr>
          <p:cNvPr id="105" name="diagram-keyword-6"/>
          <p:cNvSpPr>
            <a:spLocks noGrp="1"/>
          </p:cNvSpPr>
          <p:nvPr/>
        </p:nvSpPr>
        <p:spPr>
          <a:xfrm>
            <a:off x="4524375" y="2809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Skill Call</a:t>
            </a:r>
          </a:p>
        </p:txBody>
      </p:sp>
      <p:sp>
        <p:nvSpPr>
          <p:cNvPr id="106" name="diagram-keyword-dot-7"/>
          <p:cNvSpPr>
            <a:spLocks noGrp="1"/>
          </p:cNvSpPr>
          <p:nvPr/>
        </p:nvSpPr>
        <p:spPr>
          <a:xfrm>
            <a:off x="4352925" y="3048000"/>
            <a:ext cx="57150" cy="57150"/>
          </a:xfrm>
          <a:prstGeom prst="ellipse">
            <a:avLst/>
          </a:prstGeom>
          <a:solidFill>
            <a:srgbClr val="557A96"/>
          </a:solidFill>
          <a:ln w="0">
            <a:solidFill>
              <a:srgbClr val="557A96"/>
            </a:solidFill>
            <a:prstDash val="solid"/>
          </a:ln>
        </p:spPr>
      </p:sp>
      <p:sp>
        <p:nvSpPr>
          <p:cNvPr id="107" name="diagram-keyword-7"/>
          <p:cNvSpPr>
            <a:spLocks noGrp="1"/>
          </p:cNvSpPr>
          <p:nvPr/>
        </p:nvSpPr>
        <p:spPr>
          <a:xfrm>
            <a:off x="4524375" y="3000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Handoff</a:t>
            </a:r>
          </a:p>
        </p:txBody>
      </p:sp>
      <p:sp>
        <p:nvSpPr>
          <p:cNvPr id="10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1</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1</a:t>
            </a:r>
          </a:p>
        </p:txBody>
      </p:sp>
    </p:spTree>
    <p:extLst>
      <p:ext uri="{BB962C8B-B14F-4D97-AF65-F5344CB8AC3E}">
        <p14:creationId xmlns:p14="http://schemas.microsoft.com/office/powerpoint/2010/main" val="2684576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917733"/>
            <a:ext cx="6629400" cy="0"/>
          </a:xfrm>
          <a:prstGeom prst="line">
            <a:avLst/>
          </a:prstGeom>
          <a:noFill/>
          <a:ln w="9525">
            <a:solidFill>
              <a:srgbClr val="D8DEE3"/>
            </a:solidFill>
            <a:prstDash val="solid"/>
          </a:ln>
        </p:spPr>
      </p:sp>
      <p:sp>
        <p:nvSpPr>
          <p:cNvPr id="6" name="slide-title"/>
          <p:cNvSpPr>
            <a:spLocks noGrp="1"/>
          </p:cNvSpPr>
          <p:nvPr/>
        </p:nvSpPr>
        <p:spPr>
          <a:xfrm>
            <a:off x="977900" y="190122"/>
            <a:ext cx="8096250" cy="561975"/>
          </a:xfrm>
          <a:prstGeom prst="rect">
            <a:avLst/>
          </a:prstGeom>
          <a:noFill/>
          <a:ln w="0">
            <a:noFill/>
            <a:prstDash val="solid"/>
          </a:ln>
        </p:spPr>
        <p:txBody>
          <a:bodyPr wrap="none" lIns="0" tIns="0" rIns="0" bIns="0" anchor="ctr">
            <a:normAutofit/>
          </a:bodyPr>
          <a:lstStyle/>
          <a:p>
            <a:pPr algn="l">
              <a:defRPr sz="345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SKILL.md：Skill</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的核心控制文档</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2667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en-US" altLang="zh-CN" sz="1875"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核心框架</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这些结构是干嘛的</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33375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a:solidFill>
                  <a:srgbClr val="252B31"/>
                </a:solidFill>
                <a:latin typeface="Consolas" panose="020B0609020204030204"/>
                <a:ea typeface="Consolas" panose="020B0609020204030204"/>
                <a:cs typeface="Consolas" panose="020B0609020204030204"/>
              </a:rPr>
              <a:t>SKILL.md </a:t>
            </a:r>
          </a:p>
        </p:txBody>
      </p:sp>
      <p:sp>
        <p:nvSpPr>
          <p:cNvPr id="13" name="code-metadata-block"/>
          <p:cNvSpPr>
            <a:spLocks noGrp="1"/>
          </p:cNvSpPr>
          <p:nvPr/>
        </p:nvSpPr>
        <p:spPr>
          <a:xfrm>
            <a:off x="742950" y="2009775"/>
            <a:ext cx="3733800" cy="742950"/>
          </a:xfrm>
          <a:prstGeom prst="rect">
            <a:avLst/>
          </a:prstGeom>
          <a:solidFill>
            <a:srgbClr val="F7F9FA"/>
          </a:solidFill>
          <a:ln w="5715">
            <a:solidFill>
              <a:srgbClr val="D8DEE3"/>
            </a:solidFill>
            <a:prstDash val="solid"/>
          </a:ln>
        </p:spPr>
      </p:sp>
      <p:sp>
        <p:nvSpPr>
          <p:cNvPr id="14" name="code-metadata-accent"/>
          <p:cNvSpPr>
            <a:spLocks noGrp="1"/>
          </p:cNvSpPr>
          <p:nvPr/>
        </p:nvSpPr>
        <p:spPr>
          <a:xfrm>
            <a:off x="742950" y="2009775"/>
            <a:ext cx="28575" cy="742950"/>
          </a:xfrm>
          <a:prstGeom prst="rect">
            <a:avLst/>
          </a:prstGeom>
          <a:solidFill>
            <a:srgbClr val="557A96"/>
          </a:solidFill>
          <a:ln w="0">
            <a:noFill/>
            <a:prstDash val="solid"/>
          </a:ln>
        </p:spPr>
      </p:sp>
      <p:sp>
        <p:nvSpPr>
          <p:cNvPr id="15" name="code-metadata-text"/>
          <p:cNvSpPr>
            <a:spLocks noGrp="1"/>
          </p:cNvSpPr>
          <p:nvPr/>
        </p:nvSpPr>
        <p:spPr>
          <a:xfrm>
            <a:off x="895350" y="2047875"/>
            <a:ext cx="3429000" cy="666750"/>
          </a:xfrm>
          <a:prstGeom prst="rect">
            <a:avLst/>
          </a:prstGeom>
          <a:noFill/>
          <a:ln w="0">
            <a:noFill/>
            <a:prstDash val="solid"/>
          </a:ln>
        </p:spPr>
        <p:txBody>
          <a:bodyPr wrap="none" lIns="0" tIns="0" rIns="0" bIns="0" anchor="t">
            <a:normAutofit fontScale="90802"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FF0000"/>
                </a:solidFill>
                <a:latin typeface="Consolas" panose="020B0609020204030204"/>
                <a:ea typeface="Consolas" panose="020B0609020204030204"/>
                <a:cs typeface="Consolas" panose="020B0609020204030204"/>
              </a:rPr>
              <a:t>name</a:t>
            </a:r>
            <a:r>
              <a:rPr sz="1315" b="0" dirty="0">
                <a:solidFill>
                  <a:srgbClr val="414951"/>
                </a:solidFill>
                <a:latin typeface="Consolas" panose="020B0609020204030204"/>
                <a:ea typeface="Consolas" panose="020B0609020204030204"/>
                <a:cs typeface="Consolas" panose="020B0609020204030204"/>
              </a:rPr>
              <a:t>: example-skill</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description: ...</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6" name="code-overview-block"/>
          <p:cNvSpPr>
            <a:spLocks noGrp="1"/>
          </p:cNvSpPr>
          <p:nvPr/>
        </p:nvSpPr>
        <p:spPr>
          <a:xfrm>
            <a:off x="742950" y="2819400"/>
            <a:ext cx="3733800" cy="495300"/>
          </a:xfrm>
          <a:prstGeom prst="rect">
            <a:avLst/>
          </a:prstGeom>
          <a:solidFill>
            <a:srgbClr val="F7F9FA"/>
          </a:solidFill>
          <a:ln w="5715">
            <a:solidFill>
              <a:srgbClr val="D8DEE3"/>
            </a:solidFill>
            <a:prstDash val="solid"/>
          </a:ln>
        </p:spPr>
      </p:sp>
      <p:sp>
        <p:nvSpPr>
          <p:cNvPr id="17" name="code-overview-accent"/>
          <p:cNvSpPr>
            <a:spLocks noGrp="1"/>
          </p:cNvSpPr>
          <p:nvPr/>
        </p:nvSpPr>
        <p:spPr>
          <a:xfrm>
            <a:off x="742950" y="2819400"/>
            <a:ext cx="28575" cy="495300"/>
          </a:xfrm>
          <a:prstGeom prst="rect">
            <a:avLst/>
          </a:prstGeom>
          <a:solidFill>
            <a:srgbClr val="557A96"/>
          </a:solidFill>
          <a:ln w="0">
            <a:noFill/>
            <a:prstDash val="solid"/>
          </a:ln>
        </p:spPr>
      </p:sp>
      <p:sp>
        <p:nvSpPr>
          <p:cNvPr id="18" name="code-overview-text"/>
          <p:cNvSpPr>
            <a:spLocks noGrp="1"/>
          </p:cNvSpPr>
          <p:nvPr/>
        </p:nvSpPr>
        <p:spPr>
          <a:xfrm>
            <a:off x="895350" y="285750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Overview</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9" name="code-policy-block"/>
          <p:cNvSpPr>
            <a:spLocks noGrp="1"/>
          </p:cNvSpPr>
          <p:nvPr/>
        </p:nvSpPr>
        <p:spPr>
          <a:xfrm>
            <a:off x="742950" y="3381375"/>
            <a:ext cx="3733800" cy="495300"/>
          </a:xfrm>
          <a:prstGeom prst="rect">
            <a:avLst/>
          </a:prstGeom>
          <a:solidFill>
            <a:srgbClr val="F7F9FA"/>
          </a:solidFill>
          <a:ln w="5715">
            <a:solidFill>
              <a:srgbClr val="D8DEE3"/>
            </a:solidFill>
            <a:prstDash val="solid"/>
          </a:ln>
        </p:spPr>
      </p:sp>
      <p:sp>
        <p:nvSpPr>
          <p:cNvPr id="20" name="code-policy-accent"/>
          <p:cNvSpPr>
            <a:spLocks noGrp="1"/>
          </p:cNvSpPr>
          <p:nvPr/>
        </p:nvSpPr>
        <p:spPr>
          <a:xfrm>
            <a:off x="742950" y="3381375"/>
            <a:ext cx="28575" cy="495300"/>
          </a:xfrm>
          <a:prstGeom prst="rect">
            <a:avLst/>
          </a:prstGeom>
          <a:solidFill>
            <a:srgbClr val="557A96"/>
          </a:solidFill>
          <a:ln w="0">
            <a:noFill/>
            <a:prstDash val="solid"/>
          </a:ln>
        </p:spPr>
      </p:sp>
      <p:sp>
        <p:nvSpPr>
          <p:cNvPr id="21" name="code-policy-text"/>
          <p:cNvSpPr>
            <a:spLocks noGrp="1"/>
          </p:cNvSpPr>
          <p:nvPr/>
        </p:nvSpPr>
        <p:spPr>
          <a:xfrm>
            <a:off x="895350" y="3419475"/>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Execution Policy</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2" name="code-contract-block"/>
          <p:cNvSpPr>
            <a:spLocks noGrp="1"/>
          </p:cNvSpPr>
          <p:nvPr/>
        </p:nvSpPr>
        <p:spPr>
          <a:xfrm>
            <a:off x="742950" y="3943350"/>
            <a:ext cx="3733800" cy="495300"/>
          </a:xfrm>
          <a:prstGeom prst="rect">
            <a:avLst/>
          </a:prstGeom>
          <a:solidFill>
            <a:srgbClr val="F7F9FA"/>
          </a:solidFill>
          <a:ln w="5715">
            <a:solidFill>
              <a:srgbClr val="D8DEE3"/>
            </a:solidFill>
            <a:prstDash val="solid"/>
          </a:ln>
        </p:spPr>
      </p:sp>
      <p:sp>
        <p:nvSpPr>
          <p:cNvPr id="23" name="code-contract-accent"/>
          <p:cNvSpPr>
            <a:spLocks noGrp="1"/>
          </p:cNvSpPr>
          <p:nvPr/>
        </p:nvSpPr>
        <p:spPr>
          <a:xfrm>
            <a:off x="742950" y="3943350"/>
            <a:ext cx="28575" cy="495300"/>
          </a:xfrm>
          <a:prstGeom prst="rect">
            <a:avLst/>
          </a:prstGeom>
          <a:solidFill>
            <a:srgbClr val="557A96"/>
          </a:solidFill>
          <a:ln w="0">
            <a:noFill/>
            <a:prstDash val="solid"/>
          </a:ln>
        </p:spPr>
      </p:sp>
      <p:sp>
        <p:nvSpPr>
          <p:cNvPr id="24" name="code-contract-text"/>
          <p:cNvSpPr>
            <a:spLocks noGrp="1"/>
          </p:cNvSpPr>
          <p:nvPr/>
        </p:nvSpPr>
        <p:spPr>
          <a:xfrm>
            <a:off x="895350" y="398145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Input / Output Contract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5" name="code-workflow-block"/>
          <p:cNvSpPr>
            <a:spLocks noGrp="1"/>
          </p:cNvSpPr>
          <p:nvPr/>
        </p:nvSpPr>
        <p:spPr>
          <a:xfrm>
            <a:off x="742950" y="4505325"/>
            <a:ext cx="3733800" cy="971550"/>
          </a:xfrm>
          <a:prstGeom prst="rect">
            <a:avLst/>
          </a:prstGeom>
          <a:solidFill>
            <a:srgbClr val="F7F9FA"/>
          </a:solidFill>
          <a:ln w="5715">
            <a:solidFill>
              <a:srgbClr val="D8DEE3"/>
            </a:solidFill>
            <a:prstDash val="solid"/>
          </a:ln>
        </p:spPr>
      </p:sp>
      <p:sp>
        <p:nvSpPr>
          <p:cNvPr id="26" name="code-workflow-accent"/>
          <p:cNvSpPr>
            <a:spLocks noGrp="1"/>
          </p:cNvSpPr>
          <p:nvPr/>
        </p:nvSpPr>
        <p:spPr>
          <a:xfrm>
            <a:off x="742950" y="4505325"/>
            <a:ext cx="28575" cy="971550"/>
          </a:xfrm>
          <a:prstGeom prst="rect">
            <a:avLst/>
          </a:prstGeom>
          <a:solidFill>
            <a:srgbClr val="557A96"/>
          </a:solidFill>
          <a:ln w="0">
            <a:noFill/>
            <a:prstDash val="solid"/>
          </a:ln>
        </p:spPr>
      </p:sp>
      <p:sp>
        <p:nvSpPr>
          <p:cNvPr id="27" name="code-workflow-text"/>
          <p:cNvSpPr>
            <a:spLocks noGrp="1"/>
          </p:cNvSpPr>
          <p:nvPr/>
        </p:nvSpPr>
        <p:spPr>
          <a:xfrm>
            <a:off x="895350" y="4543425"/>
            <a:ext cx="3429000" cy="895350"/>
          </a:xfrm>
          <a:prstGeom prst="rect">
            <a:avLst/>
          </a:prstGeom>
          <a:noFill/>
          <a:ln w="0">
            <a:noFill/>
            <a:prstDash val="solid"/>
          </a:ln>
        </p:spPr>
        <p:txBody>
          <a:bodyPr wrap="none" lIns="0" tIns="0" rIns="0" bIns="0" anchor="t">
            <a:normAutofit fontScale="89490"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Workflow</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1</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2</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p:txBody>
      </p:sp>
      <p:sp>
        <p:nvSpPr>
          <p:cNvPr id="29" name="metadata-card"/>
          <p:cNvSpPr>
            <a:spLocks noGrp="1"/>
          </p:cNvSpPr>
          <p:nvPr/>
        </p:nvSpPr>
        <p:spPr>
          <a:xfrm>
            <a:off x="4953000" y="1993933"/>
            <a:ext cx="3238500" cy="1638300"/>
          </a:xfrm>
          <a:prstGeom prst="roundRect">
            <a:avLst>
              <a:gd name="adj" fmla="val 4070"/>
            </a:avLst>
          </a:prstGeom>
          <a:solidFill>
            <a:srgbClr val="FFFFFF"/>
          </a:solidFill>
          <a:ln w="9525">
            <a:solidFill>
              <a:srgbClr val="D8DEE3"/>
            </a:solidFill>
            <a:prstDash val="solid"/>
          </a:ln>
        </p:spPr>
      </p:sp>
      <p:sp>
        <p:nvSpPr>
          <p:cNvPr id="30" name="metadata-accent"/>
          <p:cNvSpPr>
            <a:spLocks noGrp="1"/>
          </p:cNvSpPr>
          <p:nvPr/>
        </p:nvSpPr>
        <p:spPr>
          <a:xfrm>
            <a:off x="4953000" y="1993933"/>
            <a:ext cx="3238500" cy="28575"/>
          </a:xfrm>
          <a:prstGeom prst="rect">
            <a:avLst/>
          </a:prstGeom>
          <a:solidFill>
            <a:srgbClr val="557A96"/>
          </a:solidFill>
          <a:ln w="0">
            <a:noFill/>
            <a:prstDash val="solid"/>
          </a:ln>
        </p:spPr>
      </p:sp>
      <p:sp>
        <p:nvSpPr>
          <p:cNvPr id="31" name="metadata-number"/>
          <p:cNvSpPr>
            <a:spLocks noGrp="1"/>
          </p:cNvSpPr>
          <p:nvPr/>
        </p:nvSpPr>
        <p:spPr>
          <a:xfrm>
            <a:off x="51054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2" name="metadata-title"/>
          <p:cNvSpPr>
            <a:spLocks noGrp="1"/>
          </p:cNvSpPr>
          <p:nvPr/>
        </p:nvSpPr>
        <p:spPr>
          <a:xfrm>
            <a:off x="54673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Metadata</a:t>
            </a:r>
          </a:p>
        </p:txBody>
      </p:sp>
      <p:sp>
        <p:nvSpPr>
          <p:cNvPr id="33" name="metadata-subtitle"/>
          <p:cNvSpPr>
            <a:spLocks noGrp="1"/>
          </p:cNvSpPr>
          <p:nvPr/>
        </p:nvSpPr>
        <p:spPr>
          <a:xfrm>
            <a:off x="68770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err="1">
                <a:solidFill>
                  <a:srgbClr val="557A96"/>
                </a:solidFill>
                <a:latin typeface="微软雅黑" panose="020B0503020204020204" charset="-122"/>
                <a:ea typeface="微软雅黑" panose="020B0503020204020204" charset="-122"/>
                <a:cs typeface="微软雅黑" panose="020B0503020204020204" charset="-122"/>
              </a:rPr>
              <a:t>身份与触发</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metadata-name"/>
          <p:cNvSpPr>
            <a:spLocks noGrp="1"/>
          </p:cNvSpPr>
          <p:nvPr/>
        </p:nvSpPr>
        <p:spPr>
          <a:xfrm>
            <a:off x="5124450" y="2432083"/>
            <a:ext cx="8763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name</a:t>
            </a:r>
          </a:p>
        </p:txBody>
      </p:sp>
      <p:sp>
        <p:nvSpPr>
          <p:cNvPr id="35" name="metadata-name-path"/>
          <p:cNvSpPr>
            <a:spLocks noGrp="1"/>
          </p:cNvSpPr>
          <p:nvPr/>
        </p:nvSpPr>
        <p:spPr>
          <a:xfrm>
            <a:off x="5981700" y="2432083"/>
            <a:ext cx="1981200" cy="228600"/>
          </a:xfrm>
          <a:prstGeom prst="rect">
            <a:avLst/>
          </a:prstGeom>
          <a:noFill/>
          <a:ln w="0">
            <a:noFill/>
            <a:prstDash val="solid"/>
          </a:ln>
        </p:spPr>
        <p:txBody>
          <a:bodyPr wrap="none" lIns="0" tIns="0" rIns="0" bIns="0" anchor="ctr">
            <a:normAutofit/>
          </a:bodyPr>
          <a:lstStyle/>
          <a:p>
            <a:pPr algn="l">
              <a:defRPr sz="1390" b="0">
                <a:solidFill>
                  <a:srgbClr val="414951"/>
                </a:solidFill>
                <a:latin typeface="微软雅黑" panose="020B0503020204020204" charset="-122"/>
                <a:ea typeface="微软雅黑" panose="020B0503020204020204" charset="-122"/>
                <a:cs typeface="微软雅黑" panose="020B0503020204020204" charset="-122"/>
              </a:defRPr>
            </a:pPr>
            <a:r>
              <a:rPr sz="1390" b="0" dirty="0">
                <a:solidFill>
                  <a:srgbClr val="414951"/>
                </a:solidFill>
                <a:latin typeface="微软雅黑" panose="020B0503020204020204" charset="-122"/>
                <a:ea typeface="微软雅黑" panose="020B0503020204020204" charset="-122"/>
                <a:cs typeface="微软雅黑" panose="020B0503020204020204" charset="-122"/>
              </a:rPr>
              <a:t>→  /name </a:t>
            </a:r>
            <a:r>
              <a:rPr sz="1390" b="0" dirty="0" err="1">
                <a:solidFill>
                  <a:srgbClr val="414951"/>
                </a:solidFill>
                <a:latin typeface="微软雅黑" panose="020B0503020204020204" charset="-122"/>
                <a:ea typeface="微软雅黑" panose="020B0503020204020204" charset="-122"/>
                <a:cs typeface="微软雅黑" panose="020B0503020204020204" charset="-122"/>
              </a:rPr>
              <a:t>显式调用</a:t>
            </a:r>
            <a:endParaRPr sz="139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6" name="metadata-description"/>
          <p:cNvSpPr>
            <a:spLocks noGrp="1"/>
          </p:cNvSpPr>
          <p:nvPr/>
        </p:nvSpPr>
        <p:spPr>
          <a:xfrm>
            <a:off x="5124450" y="2746408"/>
            <a:ext cx="11049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description</a:t>
            </a:r>
          </a:p>
        </p:txBody>
      </p:sp>
      <p:sp>
        <p:nvSpPr>
          <p:cNvPr id="37" name="metadata-description-path"/>
          <p:cNvSpPr>
            <a:spLocks noGrp="1"/>
          </p:cNvSpPr>
          <p:nvPr/>
        </p:nvSpPr>
        <p:spPr>
          <a:xfrm>
            <a:off x="6200775" y="2603533"/>
            <a:ext cx="1809750" cy="571500"/>
          </a:xfrm>
          <a:prstGeom prst="rect">
            <a:avLst/>
          </a:prstGeom>
          <a:noFill/>
          <a:ln w="0">
            <a:noFill/>
            <a:prstDash val="solid"/>
          </a:ln>
        </p:spPr>
        <p:txBody>
          <a:bodyPr wrap="none" lIns="0" tIns="0" rIns="0" bIns="0" anchor="ctr">
            <a:normAutofit fontScale="98468"/>
          </a:bodyPr>
          <a:lstStyle/>
          <a:p>
            <a:pPr algn="l">
              <a:defRPr sz="1275" b="0">
                <a:solidFill>
                  <a:srgbClr val="414951"/>
                </a:solidFill>
                <a:latin typeface="微软雅黑" panose="020B0503020204020204" charset="-122"/>
                <a:ea typeface="微软雅黑" panose="020B0503020204020204" charset="-122"/>
                <a:cs typeface="微软雅黑" panose="020B0503020204020204" charset="-122"/>
              </a:defRPr>
            </a:pPr>
            <a:r>
              <a:rPr sz="1275" b="0" dirty="0" smtClean="0">
                <a:solidFill>
                  <a:srgbClr val="414951"/>
                </a:solidFill>
                <a:latin typeface="微软雅黑" panose="020B0503020204020204" charset="-122"/>
                <a:ea typeface="微软雅黑" panose="020B0503020204020204" charset="-122"/>
                <a:cs typeface="微软雅黑" panose="020B0503020204020204" charset="-122"/>
              </a:rPr>
              <a:t>→ </a:t>
            </a:r>
            <a:r>
              <a:rPr sz="1275" b="0" dirty="0">
                <a:solidFill>
                  <a:srgbClr val="414951"/>
                </a:solidFill>
                <a:latin typeface="微软雅黑" panose="020B0503020204020204" charset="-122"/>
                <a:ea typeface="微软雅黑" panose="020B0503020204020204" charset="-122"/>
                <a:cs typeface="微软雅黑" panose="020B0503020204020204" charset="-122"/>
              </a:rPr>
              <a:t>Agent </a:t>
            </a:r>
            <a:r>
              <a:rPr lang="zh-CN" altLang="en-US" sz="1275" b="0" dirty="0" smtClean="0">
                <a:solidFill>
                  <a:srgbClr val="414951"/>
                </a:solidFill>
                <a:latin typeface="微软雅黑" panose="020B0503020204020204" charset="-122"/>
                <a:ea typeface="微软雅黑" panose="020B0503020204020204" charset="-122"/>
                <a:cs typeface="微软雅黑" panose="020B0503020204020204" charset="-122"/>
              </a:rPr>
              <a:t>自动</a:t>
            </a:r>
            <a:r>
              <a:rPr sz="1275" b="0" dirty="0" err="1" smtClean="0">
                <a:solidFill>
                  <a:srgbClr val="414951"/>
                </a:solidFill>
                <a:latin typeface="微软雅黑" panose="020B0503020204020204" charset="-122"/>
                <a:ea typeface="微软雅黑" panose="020B0503020204020204" charset="-122"/>
                <a:cs typeface="微软雅黑" panose="020B0503020204020204" charset="-122"/>
              </a:rPr>
              <a:t>匹配</a:t>
            </a:r>
            <a:endParaRPr sz="12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8" name="metadata-answer-band"/>
          <p:cNvSpPr>
            <a:spLocks noGrp="1"/>
          </p:cNvSpPr>
          <p:nvPr/>
        </p:nvSpPr>
        <p:spPr>
          <a:xfrm>
            <a:off x="5067300" y="3289333"/>
            <a:ext cx="3009900" cy="238125"/>
          </a:xfrm>
          <a:prstGeom prst="rect">
            <a:avLst/>
          </a:prstGeom>
          <a:solidFill>
            <a:srgbClr val="F2F6F8"/>
          </a:solidFill>
          <a:ln w="0">
            <a:noFill/>
            <a:prstDash val="solid"/>
          </a:ln>
        </p:spPr>
      </p:sp>
      <p:sp>
        <p:nvSpPr>
          <p:cNvPr id="39" name="metadata-answer"/>
          <p:cNvSpPr>
            <a:spLocks noGrp="1"/>
          </p:cNvSpPr>
          <p:nvPr/>
        </p:nvSpPr>
        <p:spPr>
          <a:xfrm>
            <a:off x="5181600" y="3298858"/>
            <a:ext cx="2781300" cy="219075"/>
          </a:xfrm>
          <a:prstGeom prst="rect">
            <a:avLst/>
          </a:prstGeom>
          <a:noFill/>
          <a:ln w="0">
            <a:noFill/>
            <a:prstDash val="solid"/>
          </a:ln>
        </p:spPr>
        <p:txBody>
          <a:bodyPr wrap="none" lIns="0" tIns="0" rIns="0" bIns="0" anchor="ctr">
            <a:normAutofit/>
          </a:bodyPr>
          <a:lstStyle/>
          <a:p>
            <a:pPr algn="l">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dirty="0" err="1">
                <a:solidFill>
                  <a:srgbClr val="557A96"/>
                </a:solidFill>
                <a:latin typeface="微软雅黑" panose="020B0503020204020204" charset="-122"/>
                <a:ea typeface="微软雅黑" panose="020B0503020204020204" charset="-122"/>
                <a:cs typeface="微软雅黑" panose="020B0503020204020204" charset="-122"/>
              </a:rPr>
              <a:t>回答</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名字</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什么时候调用</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endParaRPr sz="12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overview-card"/>
          <p:cNvSpPr>
            <a:spLocks noGrp="1"/>
          </p:cNvSpPr>
          <p:nvPr/>
        </p:nvSpPr>
        <p:spPr>
          <a:xfrm>
            <a:off x="8343900" y="1993933"/>
            <a:ext cx="3238500" cy="1638300"/>
          </a:xfrm>
          <a:prstGeom prst="roundRect">
            <a:avLst>
              <a:gd name="adj" fmla="val 4070"/>
            </a:avLst>
          </a:prstGeom>
          <a:solidFill>
            <a:srgbClr val="FFFFFF"/>
          </a:solidFill>
          <a:ln w="9525">
            <a:solidFill>
              <a:srgbClr val="D8DEE3"/>
            </a:solidFill>
            <a:prstDash val="solid"/>
          </a:ln>
        </p:spPr>
      </p:sp>
      <p:sp>
        <p:nvSpPr>
          <p:cNvPr id="41" name="overview-accent"/>
          <p:cNvSpPr>
            <a:spLocks noGrp="1"/>
          </p:cNvSpPr>
          <p:nvPr/>
        </p:nvSpPr>
        <p:spPr>
          <a:xfrm>
            <a:off x="8343900" y="1993933"/>
            <a:ext cx="3238500" cy="28575"/>
          </a:xfrm>
          <a:prstGeom prst="rect">
            <a:avLst/>
          </a:prstGeom>
          <a:solidFill>
            <a:srgbClr val="557A96"/>
          </a:solidFill>
          <a:ln w="0">
            <a:noFill/>
            <a:prstDash val="solid"/>
          </a:ln>
        </p:spPr>
      </p:sp>
      <p:sp>
        <p:nvSpPr>
          <p:cNvPr id="42" name="overview-number"/>
          <p:cNvSpPr>
            <a:spLocks noGrp="1"/>
          </p:cNvSpPr>
          <p:nvPr/>
        </p:nvSpPr>
        <p:spPr>
          <a:xfrm>
            <a:off x="84963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43" name="overview-title"/>
          <p:cNvSpPr>
            <a:spLocks noGrp="1"/>
          </p:cNvSpPr>
          <p:nvPr/>
        </p:nvSpPr>
        <p:spPr>
          <a:xfrm>
            <a:off x="88582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Overview</a:t>
            </a:r>
          </a:p>
        </p:txBody>
      </p:sp>
      <p:sp>
        <p:nvSpPr>
          <p:cNvPr id="44" name="overview-subtitle"/>
          <p:cNvSpPr>
            <a:spLocks noGrp="1"/>
          </p:cNvSpPr>
          <p:nvPr/>
        </p:nvSpPr>
        <p:spPr>
          <a:xfrm>
            <a:off x="102679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能力边界</a:t>
            </a:r>
          </a:p>
        </p:txBody>
      </p:sp>
      <p:sp>
        <p:nvSpPr>
          <p:cNvPr id="45" name="overview-key-0"/>
          <p:cNvSpPr>
            <a:spLocks noGrp="1"/>
          </p:cNvSpPr>
          <p:nvPr/>
        </p:nvSpPr>
        <p:spPr>
          <a:xfrm>
            <a:off x="8515350" y="24225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负责什么</a:t>
            </a:r>
          </a:p>
        </p:txBody>
      </p:sp>
      <p:sp>
        <p:nvSpPr>
          <p:cNvPr id="46" name="overview-value-0"/>
          <p:cNvSpPr>
            <a:spLocks noGrp="1"/>
          </p:cNvSpPr>
          <p:nvPr/>
        </p:nvSpPr>
        <p:spPr>
          <a:xfrm>
            <a:off x="9315450" y="24225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Skill 的任务范围</a:t>
            </a:r>
          </a:p>
        </p:txBody>
      </p:sp>
      <p:sp>
        <p:nvSpPr>
          <p:cNvPr id="47" name="overview-key-1"/>
          <p:cNvSpPr>
            <a:spLocks noGrp="1"/>
          </p:cNvSpPr>
          <p:nvPr/>
        </p:nvSpPr>
        <p:spPr>
          <a:xfrm>
            <a:off x="8515350" y="2651158"/>
            <a:ext cx="781050" cy="209550"/>
          </a:xfrm>
          <a:prstGeom prst="rect">
            <a:avLst/>
          </a:prstGeom>
          <a:noFill/>
          <a:ln w="0">
            <a:noFill/>
            <a:prstDash val="solid"/>
          </a:ln>
        </p:spPr>
        <p:txBody>
          <a:bodyPr wrap="none" lIns="0" tIns="0" rIns="0" bIns="0" anchor="ctr">
            <a:normAutofit fontScale="93750"/>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有哪些阶段</a:t>
            </a:r>
          </a:p>
        </p:txBody>
      </p:sp>
      <p:sp>
        <p:nvSpPr>
          <p:cNvPr id="48" name="overview-value-1"/>
          <p:cNvSpPr>
            <a:spLocks noGrp="1"/>
          </p:cNvSpPr>
          <p:nvPr/>
        </p:nvSpPr>
        <p:spPr>
          <a:xfrm>
            <a:off x="9315450" y="26511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整体执行框架</a:t>
            </a:r>
          </a:p>
        </p:txBody>
      </p:sp>
      <p:sp>
        <p:nvSpPr>
          <p:cNvPr id="49" name="overview-key-2"/>
          <p:cNvSpPr>
            <a:spLocks noGrp="1"/>
          </p:cNvSpPr>
          <p:nvPr/>
        </p:nvSpPr>
        <p:spPr>
          <a:xfrm>
            <a:off x="8515350" y="28797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与谁协作</a:t>
            </a:r>
          </a:p>
        </p:txBody>
      </p:sp>
      <p:sp>
        <p:nvSpPr>
          <p:cNvPr id="50" name="overview-value-2"/>
          <p:cNvSpPr>
            <a:spLocks noGrp="1"/>
          </p:cNvSpPr>
          <p:nvPr/>
        </p:nvSpPr>
        <p:spPr>
          <a:xfrm>
            <a:off x="9315450" y="28797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模块 / 能力关系</a:t>
            </a:r>
          </a:p>
        </p:txBody>
      </p:sp>
      <p:sp>
        <p:nvSpPr>
          <p:cNvPr id="53" name="overview-answer-band"/>
          <p:cNvSpPr>
            <a:spLocks noGrp="1"/>
          </p:cNvSpPr>
          <p:nvPr/>
        </p:nvSpPr>
        <p:spPr>
          <a:xfrm>
            <a:off x="8458200" y="3365533"/>
            <a:ext cx="3009900" cy="190500"/>
          </a:xfrm>
          <a:prstGeom prst="rect">
            <a:avLst/>
          </a:prstGeom>
          <a:solidFill>
            <a:srgbClr val="F2F6F8"/>
          </a:solidFill>
          <a:ln w="0">
            <a:noFill/>
            <a:prstDash val="solid"/>
          </a:ln>
        </p:spPr>
      </p:sp>
      <p:sp>
        <p:nvSpPr>
          <p:cNvPr id="54" name="overview-answer"/>
          <p:cNvSpPr>
            <a:spLocks noGrp="1"/>
          </p:cNvSpPr>
          <p:nvPr/>
        </p:nvSpPr>
        <p:spPr>
          <a:xfrm>
            <a:off x="8572500" y="3365533"/>
            <a:ext cx="2781300" cy="190500"/>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回答：整体负责什么、怎么运转？</a:t>
            </a:r>
          </a:p>
        </p:txBody>
      </p:sp>
      <p:sp>
        <p:nvSpPr>
          <p:cNvPr id="55" name="policy-card"/>
          <p:cNvSpPr>
            <a:spLocks noGrp="1"/>
          </p:cNvSpPr>
          <p:nvPr/>
        </p:nvSpPr>
        <p:spPr>
          <a:xfrm>
            <a:off x="4953000" y="3765583"/>
            <a:ext cx="3238500" cy="1924050"/>
          </a:xfrm>
          <a:prstGeom prst="roundRect">
            <a:avLst>
              <a:gd name="adj" fmla="val 3465"/>
            </a:avLst>
          </a:prstGeom>
          <a:solidFill>
            <a:srgbClr val="FFFFFF"/>
          </a:solidFill>
          <a:ln w="9525">
            <a:solidFill>
              <a:srgbClr val="D8DEE3"/>
            </a:solidFill>
            <a:prstDash val="solid"/>
          </a:ln>
        </p:spPr>
      </p:sp>
      <p:sp>
        <p:nvSpPr>
          <p:cNvPr id="56" name="policy-accent"/>
          <p:cNvSpPr>
            <a:spLocks noGrp="1"/>
          </p:cNvSpPr>
          <p:nvPr/>
        </p:nvSpPr>
        <p:spPr>
          <a:xfrm>
            <a:off x="4953000" y="3765583"/>
            <a:ext cx="3238500" cy="28575"/>
          </a:xfrm>
          <a:prstGeom prst="rect">
            <a:avLst/>
          </a:prstGeom>
          <a:solidFill>
            <a:srgbClr val="557A96"/>
          </a:solidFill>
          <a:ln w="0">
            <a:noFill/>
            <a:prstDash val="solid"/>
          </a:ln>
        </p:spPr>
      </p:sp>
      <p:sp>
        <p:nvSpPr>
          <p:cNvPr id="57" name="policy-number"/>
          <p:cNvSpPr>
            <a:spLocks noGrp="1"/>
          </p:cNvSpPr>
          <p:nvPr/>
        </p:nvSpPr>
        <p:spPr>
          <a:xfrm>
            <a:off x="51054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58" name="policy-title"/>
          <p:cNvSpPr>
            <a:spLocks noGrp="1"/>
          </p:cNvSpPr>
          <p:nvPr/>
        </p:nvSpPr>
        <p:spPr>
          <a:xfrm>
            <a:off x="5467350" y="3860833"/>
            <a:ext cx="1524000" cy="276225"/>
          </a:xfrm>
          <a:prstGeom prst="rect">
            <a:avLst/>
          </a:prstGeom>
          <a:noFill/>
          <a:ln w="0">
            <a:noFill/>
            <a:prstDash val="solid"/>
          </a:ln>
        </p:spPr>
        <p:txBody>
          <a:bodyPr wrap="none" lIns="0" tIns="0" rIns="0" bIns="0" anchor="ctr">
            <a:normAutofit fontScale="93250"/>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Execution Policy</a:t>
            </a:r>
          </a:p>
        </p:txBody>
      </p:sp>
      <p:sp>
        <p:nvSpPr>
          <p:cNvPr id="59" name="policy-subtitle"/>
          <p:cNvSpPr>
            <a:spLocks noGrp="1"/>
          </p:cNvSpPr>
          <p:nvPr/>
        </p:nvSpPr>
        <p:spPr>
          <a:xfrm>
            <a:off x="7124700" y="3879883"/>
            <a:ext cx="91440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策略与约束</a:t>
            </a:r>
          </a:p>
        </p:txBody>
      </p:sp>
      <p:sp>
        <p:nvSpPr>
          <p:cNvPr id="60" name="policy-intro"/>
          <p:cNvSpPr>
            <a:spLocks noGrp="1"/>
          </p:cNvSpPr>
          <p:nvPr/>
        </p:nvSpPr>
        <p:spPr>
          <a:xfrm>
            <a:off x="5124450" y="4194208"/>
            <a:ext cx="2895600" cy="219075"/>
          </a:xfrm>
          <a:prstGeom prst="rect">
            <a:avLst/>
          </a:prstGeom>
          <a:noFill/>
          <a:ln w="0">
            <a:noFill/>
            <a:prstDash val="solid"/>
          </a:ln>
        </p:spPr>
        <p:txBody>
          <a:bodyPr wrap="none" lIns="0" tIns="0" rIns="0" bIns="0" anchor="ctr">
            <a:normAutofit/>
          </a:bodyPr>
          <a:lstStyle/>
          <a:p>
            <a:pPr algn="l">
              <a:defRPr sz="1350" b="1">
                <a:solidFill>
                  <a:srgbClr val="68727B"/>
                </a:solidFill>
                <a:latin typeface="微软雅黑" panose="020B0503020204020204" charset="-122"/>
                <a:ea typeface="微软雅黑" panose="020B0503020204020204" charset="-122"/>
                <a:cs typeface="微软雅黑" panose="020B0503020204020204" charset="-122"/>
              </a:defRPr>
            </a:pPr>
            <a:r>
              <a:rPr sz="1350" b="1" dirty="0" err="1">
                <a:solidFill>
                  <a:srgbClr val="68727B"/>
                </a:solidFill>
                <a:latin typeface="微软雅黑" panose="020B0503020204020204" charset="-122"/>
                <a:ea typeface="微软雅黑" panose="020B0503020204020204" charset="-122"/>
                <a:cs typeface="微软雅黑" panose="020B0503020204020204" charset="-122"/>
              </a:rPr>
              <a:t>执行时始终需要遵守的全局规则</a:t>
            </a:r>
            <a:endParaRPr sz="135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1" name="policy-bullet-1-dot"/>
          <p:cNvSpPr>
            <a:spLocks noGrp="1"/>
          </p:cNvSpPr>
          <p:nvPr/>
        </p:nvSpPr>
        <p:spPr>
          <a:xfrm>
            <a:off x="5143500" y="4537108"/>
            <a:ext cx="47625" cy="47625"/>
          </a:xfrm>
          <a:prstGeom prst="ellipse">
            <a:avLst/>
          </a:prstGeom>
          <a:solidFill>
            <a:srgbClr val="557A96"/>
          </a:solidFill>
          <a:ln w="0">
            <a:solidFill>
              <a:srgbClr val="557A96"/>
            </a:solidFill>
            <a:prstDash val="solid"/>
          </a:ln>
        </p:spPr>
      </p:sp>
      <p:sp>
        <p:nvSpPr>
          <p:cNvPr id="62" name="policy-bullet-1"/>
          <p:cNvSpPr>
            <a:spLocks noGrp="1"/>
          </p:cNvSpPr>
          <p:nvPr/>
        </p:nvSpPr>
        <p:spPr>
          <a:xfrm>
            <a:off x="5276850" y="446090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任务按指定顺序执行</a:t>
            </a:r>
          </a:p>
        </p:txBody>
      </p:sp>
      <p:sp>
        <p:nvSpPr>
          <p:cNvPr id="63" name="policy-bullet-2-dot"/>
          <p:cNvSpPr>
            <a:spLocks noGrp="1"/>
          </p:cNvSpPr>
          <p:nvPr/>
        </p:nvSpPr>
        <p:spPr>
          <a:xfrm>
            <a:off x="5143500" y="4756183"/>
            <a:ext cx="47625" cy="47625"/>
          </a:xfrm>
          <a:prstGeom prst="ellipse">
            <a:avLst/>
          </a:prstGeom>
          <a:solidFill>
            <a:srgbClr val="557A96"/>
          </a:solidFill>
          <a:ln w="0">
            <a:solidFill>
              <a:srgbClr val="557A96"/>
            </a:solidFill>
            <a:prstDash val="solid"/>
          </a:ln>
        </p:spPr>
      </p:sp>
      <p:sp>
        <p:nvSpPr>
          <p:cNvPr id="64" name="policy-bullet-2"/>
          <p:cNvSpPr>
            <a:spLocks noGrp="1"/>
          </p:cNvSpPr>
          <p:nvPr/>
        </p:nvSpPr>
        <p:spPr>
          <a:xfrm>
            <a:off x="5276850" y="4679983"/>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委派任务需阻塞等待</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5" name="policy-bullet-3-dot"/>
          <p:cNvSpPr>
            <a:spLocks noGrp="1"/>
          </p:cNvSpPr>
          <p:nvPr/>
        </p:nvSpPr>
        <p:spPr>
          <a:xfrm>
            <a:off x="5143500" y="4975258"/>
            <a:ext cx="47625" cy="47625"/>
          </a:xfrm>
          <a:prstGeom prst="ellipse">
            <a:avLst/>
          </a:prstGeom>
          <a:solidFill>
            <a:srgbClr val="557A96"/>
          </a:solidFill>
          <a:ln w="0">
            <a:solidFill>
              <a:srgbClr val="557A96"/>
            </a:solidFill>
            <a:prstDash val="solid"/>
          </a:ln>
        </p:spPr>
      </p:sp>
      <p:sp>
        <p:nvSpPr>
          <p:cNvPr id="66" name="policy-bullet-3"/>
          <p:cNvSpPr>
            <a:spLocks noGrp="1"/>
          </p:cNvSpPr>
          <p:nvPr/>
        </p:nvSpPr>
        <p:spPr>
          <a:xfrm>
            <a:off x="5276850" y="489905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禁止主流程越权接管专门任务</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9" name="policy-answer-band"/>
          <p:cNvSpPr>
            <a:spLocks noGrp="1"/>
          </p:cNvSpPr>
          <p:nvPr/>
        </p:nvSpPr>
        <p:spPr>
          <a:xfrm>
            <a:off x="5067300" y="5365783"/>
            <a:ext cx="3009900" cy="238125"/>
          </a:xfrm>
          <a:prstGeom prst="rect">
            <a:avLst/>
          </a:prstGeom>
          <a:solidFill>
            <a:srgbClr val="F2F6F8"/>
          </a:solidFill>
          <a:ln w="0">
            <a:noFill/>
            <a:prstDash val="solid"/>
          </a:ln>
        </p:spPr>
      </p:sp>
      <p:sp>
        <p:nvSpPr>
          <p:cNvPr id="70" name="policy-answer"/>
          <p:cNvSpPr>
            <a:spLocks noGrp="1"/>
          </p:cNvSpPr>
          <p:nvPr/>
        </p:nvSpPr>
        <p:spPr>
          <a:xfrm>
            <a:off x="5153025" y="5375308"/>
            <a:ext cx="2857500" cy="219075"/>
          </a:xfrm>
          <a:prstGeom prst="rect">
            <a:avLst/>
          </a:prstGeom>
          <a:noFill/>
          <a:ln w="0">
            <a:noFill/>
            <a:prstDash val="solid"/>
          </a:ln>
        </p:spPr>
        <p:txBody>
          <a:bodyPr wrap="none" lIns="0" tIns="0" rIns="0" bIns="0" anchor="ctr">
            <a:normAutofit fontScale="98351"/>
          </a:bodyPr>
          <a:lstStyle/>
          <a:p>
            <a:pPr algn="ctr">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1" name="contract-card"/>
          <p:cNvSpPr>
            <a:spLocks noGrp="1"/>
          </p:cNvSpPr>
          <p:nvPr/>
        </p:nvSpPr>
        <p:spPr>
          <a:xfrm>
            <a:off x="8343900" y="3765583"/>
            <a:ext cx="3238500" cy="1924050"/>
          </a:xfrm>
          <a:prstGeom prst="roundRect">
            <a:avLst>
              <a:gd name="adj" fmla="val 3465"/>
            </a:avLst>
          </a:prstGeom>
          <a:solidFill>
            <a:srgbClr val="FFFFFF"/>
          </a:solidFill>
          <a:ln w="9525">
            <a:solidFill>
              <a:srgbClr val="D8DEE3"/>
            </a:solidFill>
            <a:prstDash val="solid"/>
          </a:ln>
        </p:spPr>
      </p:sp>
      <p:sp>
        <p:nvSpPr>
          <p:cNvPr id="72" name="contract-accent"/>
          <p:cNvSpPr>
            <a:spLocks noGrp="1"/>
          </p:cNvSpPr>
          <p:nvPr/>
        </p:nvSpPr>
        <p:spPr>
          <a:xfrm>
            <a:off x="8343900" y="3765583"/>
            <a:ext cx="3238500" cy="28575"/>
          </a:xfrm>
          <a:prstGeom prst="rect">
            <a:avLst/>
          </a:prstGeom>
          <a:solidFill>
            <a:srgbClr val="557A96"/>
          </a:solidFill>
          <a:ln w="0">
            <a:noFill/>
            <a:prstDash val="solid"/>
          </a:ln>
        </p:spPr>
      </p:sp>
      <p:sp>
        <p:nvSpPr>
          <p:cNvPr id="73" name="contract-number"/>
          <p:cNvSpPr>
            <a:spLocks noGrp="1"/>
          </p:cNvSpPr>
          <p:nvPr/>
        </p:nvSpPr>
        <p:spPr>
          <a:xfrm>
            <a:off x="84963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74" name="contract-title"/>
          <p:cNvSpPr>
            <a:spLocks noGrp="1"/>
          </p:cNvSpPr>
          <p:nvPr/>
        </p:nvSpPr>
        <p:spPr>
          <a:xfrm>
            <a:off x="8858250" y="386083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Contract</a:t>
            </a:r>
          </a:p>
        </p:txBody>
      </p:sp>
      <p:sp>
        <p:nvSpPr>
          <p:cNvPr id="75" name="contract-subtitle"/>
          <p:cNvSpPr>
            <a:spLocks noGrp="1"/>
          </p:cNvSpPr>
          <p:nvPr/>
        </p:nvSpPr>
        <p:spPr>
          <a:xfrm>
            <a:off x="10267950" y="3879883"/>
            <a:ext cx="1162050" cy="238125"/>
          </a:xfrm>
          <a:prstGeom prst="rect">
            <a:avLst/>
          </a:prstGeom>
          <a:noFill/>
          <a:ln w="0">
            <a:noFill/>
            <a:prstDash val="solid"/>
          </a:ln>
        </p:spPr>
        <p:txBody>
          <a:bodyPr wrap="none" lIns="0" tIns="0" rIns="0" bIns="0" anchor="ctr">
            <a:normAutofit fontScale="95875"/>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输入 / 输出契约</a:t>
            </a:r>
          </a:p>
        </p:txBody>
      </p:sp>
      <p:sp>
        <p:nvSpPr>
          <p:cNvPr id="76" name="contract-input-title"/>
          <p:cNvSpPr>
            <a:spLocks noGrp="1"/>
          </p:cNvSpPr>
          <p:nvPr/>
        </p:nvSpPr>
        <p:spPr>
          <a:xfrm>
            <a:off x="8515350" y="4194208"/>
            <a:ext cx="1219200" cy="209550"/>
          </a:xfrm>
          <a:prstGeom prst="rect">
            <a:avLst/>
          </a:prstGeom>
          <a:noFill/>
          <a:ln w="0">
            <a:noFill/>
            <a:prstDash val="solid"/>
          </a:ln>
        </p:spPr>
        <p:txBody>
          <a:bodyPr wrap="none" lIns="0" tIns="0" rIns="0" bIns="0" anchor="ctr">
            <a:normAutofit fontScale="97164"/>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Input Contract</a:t>
            </a:r>
          </a:p>
        </p:txBody>
      </p:sp>
      <p:sp>
        <p:nvSpPr>
          <p:cNvPr id="77" name="contract-input-flow"/>
          <p:cNvSpPr>
            <a:spLocks noGrp="1"/>
          </p:cNvSpPr>
          <p:nvPr/>
        </p:nvSpPr>
        <p:spPr>
          <a:xfrm>
            <a:off x="9753600" y="4194208"/>
            <a:ext cx="1581150" cy="209550"/>
          </a:xfrm>
          <a:prstGeom prst="rect">
            <a:avLst/>
          </a:prstGeom>
          <a:noFill/>
          <a:ln w="0">
            <a:noFill/>
            <a:prstDash val="solid"/>
          </a:ln>
        </p:spPr>
        <p:txBody>
          <a:bodyPr wrap="none" lIns="0" tIns="0" rIns="0" bIns="0" anchor="ctr">
            <a:normAutofit fontScale="96491" lnSpcReduction="10000"/>
          </a:bodyPr>
          <a:lstStyle/>
          <a:p>
            <a:pPr algn="ctr">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User   →   Skill</a:t>
            </a:r>
          </a:p>
        </p:txBody>
      </p:sp>
      <p:sp>
        <p:nvSpPr>
          <p:cNvPr id="78" name="contract-input-items"/>
          <p:cNvSpPr>
            <a:spLocks noGrp="1"/>
          </p:cNvSpPr>
          <p:nvPr/>
        </p:nvSpPr>
        <p:spPr>
          <a:xfrm>
            <a:off x="8515350" y="4441858"/>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需求 / 参数 / 文件 / Code</a:t>
            </a:r>
          </a:p>
        </p:txBody>
      </p:sp>
      <p:sp>
        <p:nvSpPr>
          <p:cNvPr id="79" name="contract-divider"/>
          <p:cNvSpPr>
            <a:spLocks noGrp="1"/>
          </p:cNvSpPr>
          <p:nvPr/>
        </p:nvSpPr>
        <p:spPr>
          <a:xfrm>
            <a:off x="8515350" y="4699033"/>
            <a:ext cx="2838450" cy="0"/>
          </a:xfrm>
          <a:prstGeom prst="line">
            <a:avLst/>
          </a:prstGeom>
          <a:noFill/>
          <a:ln w="9525">
            <a:solidFill>
              <a:srgbClr val="D8DEE3"/>
            </a:solidFill>
            <a:prstDash val="solid"/>
          </a:ln>
        </p:spPr>
      </p:sp>
      <p:sp>
        <p:nvSpPr>
          <p:cNvPr id="80" name="contract-output-title"/>
          <p:cNvSpPr>
            <a:spLocks noGrp="1"/>
          </p:cNvSpPr>
          <p:nvPr/>
        </p:nvSpPr>
        <p:spPr>
          <a:xfrm>
            <a:off x="8515350" y="4756183"/>
            <a:ext cx="1314450" cy="209550"/>
          </a:xfrm>
          <a:prstGeom prst="rect">
            <a:avLst/>
          </a:prstGeom>
          <a:noFill/>
          <a:ln w="0">
            <a:noFill/>
            <a:prstDash val="solid"/>
          </a:ln>
        </p:spPr>
        <p:txBody>
          <a:bodyPr wrap="none" lIns="0" tIns="0" rIns="0" bIns="0" anchor="ctr">
            <a:normAutofit fontScale="92892"/>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Output Contract</a:t>
            </a:r>
          </a:p>
        </p:txBody>
      </p:sp>
      <p:sp>
        <p:nvSpPr>
          <p:cNvPr id="81" name="contract-output-flow"/>
          <p:cNvSpPr>
            <a:spLocks noGrp="1"/>
          </p:cNvSpPr>
          <p:nvPr/>
        </p:nvSpPr>
        <p:spPr>
          <a:xfrm>
            <a:off x="10096500" y="4765708"/>
            <a:ext cx="1371600" cy="209550"/>
          </a:xfrm>
          <a:prstGeom prst="rect">
            <a:avLst/>
          </a:prstGeom>
          <a:noFill/>
          <a:ln w="0">
            <a:noFill/>
            <a:prstDash val="solid"/>
          </a:ln>
        </p:spPr>
        <p:txBody>
          <a:bodyPr wrap="none" lIns="0" tIns="0" rIns="0" bIns="0" anchor="ctr">
            <a:normAutofit fontScale="99702" lnSpcReduction="10000"/>
          </a:bodyPr>
          <a:lstStyle/>
          <a:p>
            <a:pPr algn="r">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dirty="0">
                <a:solidFill>
                  <a:srgbClr val="252B31"/>
                </a:solidFill>
                <a:latin typeface="微软雅黑" panose="020B0503020204020204" charset="-122"/>
                <a:ea typeface="微软雅黑" panose="020B0503020204020204" charset="-122"/>
                <a:cs typeface="微软雅黑" panose="020B0503020204020204" charset="-122"/>
              </a:rPr>
              <a:t>Skill   →   Output</a:t>
            </a:r>
          </a:p>
        </p:txBody>
      </p:sp>
      <p:sp>
        <p:nvSpPr>
          <p:cNvPr id="82" name="contract-output-items"/>
          <p:cNvSpPr>
            <a:spLocks noGrp="1"/>
          </p:cNvSpPr>
          <p:nvPr/>
        </p:nvSpPr>
        <p:spPr>
          <a:xfrm>
            <a:off x="8515350" y="5003833"/>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文件 / Code / 报告 / Result</a:t>
            </a:r>
          </a:p>
        </p:txBody>
      </p:sp>
      <p:sp>
        <p:nvSpPr>
          <p:cNvPr id="83" name="contract-hook-band"/>
          <p:cNvSpPr>
            <a:spLocks noGrp="1"/>
          </p:cNvSpPr>
          <p:nvPr/>
        </p:nvSpPr>
        <p:spPr>
          <a:xfrm>
            <a:off x="8458200" y="5365783"/>
            <a:ext cx="3009900" cy="238125"/>
          </a:xfrm>
          <a:prstGeom prst="rect">
            <a:avLst/>
          </a:prstGeom>
          <a:solidFill>
            <a:srgbClr val="F2F6F8"/>
          </a:solidFill>
          <a:ln w="0">
            <a:noFill/>
            <a:prstDash val="solid"/>
          </a:ln>
        </p:spPr>
      </p:sp>
      <p:sp>
        <p:nvSpPr>
          <p:cNvPr id="84" name="contract-hook"/>
          <p:cNvSpPr>
            <a:spLocks noGrp="1"/>
          </p:cNvSpPr>
          <p:nvPr/>
        </p:nvSpPr>
        <p:spPr>
          <a:xfrm>
            <a:off x="8553450" y="5375308"/>
            <a:ext cx="2819400" cy="219075"/>
          </a:xfrm>
          <a:prstGeom prst="rect">
            <a:avLst/>
          </a:prstGeom>
          <a:noFill/>
          <a:ln w="0">
            <a:noFill/>
            <a:prstDash val="solid"/>
          </a:ln>
        </p:spPr>
        <p:txBody>
          <a:bodyPr wrap="none" lIns="0" tIns="0" rIns="0" bIns="0" anchor="ctr">
            <a:normAutofit fontScale="94634"/>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阶段间契约将在下一页结合</a:t>
            </a:r>
            <a:r>
              <a:rPr sz="120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200" b="1" dirty="0">
                <a:solidFill>
                  <a:srgbClr val="557A96"/>
                </a:solidFill>
                <a:latin typeface="微软雅黑" panose="020B0503020204020204" charset="-122"/>
                <a:ea typeface="微软雅黑" panose="020B0503020204020204" charset="-122"/>
                <a:cs typeface="微软雅黑" panose="020B0503020204020204" charset="-122"/>
              </a:rPr>
              <a:t>Workflow </a:t>
            </a:r>
            <a:r>
              <a:rPr sz="1200" b="1" dirty="0" err="1">
                <a:solidFill>
                  <a:srgbClr val="557A96"/>
                </a:solidFill>
                <a:latin typeface="微软雅黑" panose="020B0503020204020204" charset="-122"/>
                <a:ea typeface="微软雅黑" panose="020B0503020204020204" charset="-122"/>
                <a:cs typeface="微软雅黑" panose="020B0503020204020204" charset="-122"/>
              </a:rPr>
              <a:t>展开</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0" name="summary-band"/>
          <p:cNvSpPr>
            <a:spLocks noGrp="1"/>
          </p:cNvSpPr>
          <p:nvPr/>
        </p:nvSpPr>
        <p:spPr>
          <a:xfrm>
            <a:off x="609600" y="6191250"/>
            <a:ext cx="10972800" cy="419100"/>
          </a:xfrm>
          <a:prstGeom prst="rect">
            <a:avLst/>
          </a:prstGeom>
          <a:solidFill>
            <a:srgbClr val="F3F4F5"/>
          </a:solidFill>
          <a:ln w="0">
            <a:noFill/>
            <a:prstDash val="solid"/>
          </a:ln>
        </p:spPr>
      </p:sp>
      <p:sp>
        <p:nvSpPr>
          <p:cNvPr id="91" name="summary-accent"/>
          <p:cNvSpPr>
            <a:spLocks noGrp="1"/>
          </p:cNvSpPr>
          <p:nvPr/>
        </p:nvSpPr>
        <p:spPr>
          <a:xfrm>
            <a:off x="609600" y="6191250"/>
            <a:ext cx="38100" cy="419100"/>
          </a:xfrm>
          <a:prstGeom prst="rect">
            <a:avLst/>
          </a:prstGeom>
          <a:solidFill>
            <a:srgbClr val="557A96"/>
          </a:solidFill>
          <a:ln w="0">
            <a:noFill/>
            <a:prstDash val="solid"/>
          </a:ln>
        </p:spPr>
      </p:sp>
      <p:sp>
        <p:nvSpPr>
          <p:cNvPr id="92"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SKILL.md </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a:solidFill>
                  <a:srgbClr val="414951"/>
                </a:solidFill>
                <a:latin typeface="微软雅黑" panose="020B0503020204020204" charset="-122"/>
                <a:ea typeface="微软雅黑" panose="020B0503020204020204" charset="-122"/>
                <a:cs typeface="微软雅黑" panose="020B0503020204020204" charset="-122"/>
              </a:rPr>
              <a:t>定义“</a:t>
            </a:r>
            <a:r>
              <a:rPr sz="1390" b="1" dirty="0" err="1">
                <a:solidFill>
                  <a:srgbClr val="414951"/>
                </a:solidFill>
                <a:latin typeface="微软雅黑" panose="020B0503020204020204" charset="-122"/>
                <a:ea typeface="微软雅黑" panose="020B0503020204020204" charset="-122"/>
                <a:cs typeface="微软雅黑" panose="020B0503020204020204" charset="-122"/>
              </a:rPr>
              <a:t>我是谁、负责什么、遵守什么规则、接受和产出什么</a:t>
            </a:r>
            <a:r>
              <a:rPr sz="1390" b="1" dirty="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并通过</a:t>
            </a:r>
            <a:r>
              <a:rPr sz="1390" b="1" dirty="0">
                <a:solidFill>
                  <a:srgbClr val="414951"/>
                </a:solidFill>
                <a:latin typeface="微软雅黑" panose="020B0503020204020204" charset="-122"/>
                <a:ea typeface="微软雅黑" panose="020B0503020204020204" charset="-122"/>
                <a:cs typeface="微软雅黑" panose="020B0503020204020204" charset="-122"/>
              </a:rPr>
              <a:t> 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将这些定义组织成实际执行流程</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94" name="stage-number"/>
          <p:cNvSpPr>
            <a:spLocks noGrp="1"/>
          </p:cNvSpPr>
          <p:nvPr/>
        </p:nvSpPr>
        <p:spPr>
          <a:xfrm>
            <a:off x="3889721" y="229076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95" name="stage-number"/>
          <p:cNvSpPr>
            <a:spLocks noGrp="1"/>
          </p:cNvSpPr>
          <p:nvPr/>
        </p:nvSpPr>
        <p:spPr>
          <a:xfrm>
            <a:off x="3895725" y="297024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2</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stage-number"/>
          <p:cNvSpPr>
            <a:spLocks noGrp="1"/>
          </p:cNvSpPr>
          <p:nvPr/>
        </p:nvSpPr>
        <p:spPr>
          <a:xfrm>
            <a:off x="3900280" y="406572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a:solidFill>
                  <a:srgbClr val="557A96"/>
                </a:solidFill>
                <a:latin typeface="微软雅黑" panose="020B0503020204020204" charset="-122"/>
                <a:ea typeface="微软雅黑" panose="020B0503020204020204" charset="-122"/>
                <a:cs typeface="微软雅黑" panose="020B0503020204020204" charset="-122"/>
              </a:rPr>
              <a:t>4</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stage-number"/>
          <p:cNvSpPr>
            <a:spLocks noGrp="1"/>
          </p:cNvSpPr>
          <p:nvPr/>
        </p:nvSpPr>
        <p:spPr>
          <a:xfrm>
            <a:off x="3901937" y="3522801"/>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3</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8" name="stage-number"/>
          <p:cNvSpPr>
            <a:spLocks noGrp="1"/>
          </p:cNvSpPr>
          <p:nvPr/>
        </p:nvSpPr>
        <p:spPr>
          <a:xfrm>
            <a:off x="3895725" y="484822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5</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2</a:t>
            </a:r>
          </a:p>
        </p:txBody>
      </p:sp>
      <p:sp>
        <p:nvSpPr>
          <p:cNvPr id="89" name="文本框 88"/>
          <p:cNvSpPr txBox="1"/>
          <p:nvPr/>
        </p:nvSpPr>
        <p:spPr>
          <a:xfrm>
            <a:off x="5552925" y="5355878"/>
            <a:ext cx="2876850" cy="461665"/>
          </a:xfrm>
          <a:prstGeom prst="rect">
            <a:avLst/>
          </a:prstGeom>
          <a:noFill/>
        </p:spPr>
        <p:txBody>
          <a:bodyPr wrap="square" rtlCol="0">
            <a:spAutoFit/>
          </a:bodyPr>
          <a:lstStyle/>
          <a:p>
            <a:r>
              <a:rPr lang="en-US" altLang="zh-CN" sz="1200" b="1" dirty="0">
                <a:solidFill>
                  <a:srgbClr val="557A96"/>
                </a:solidFill>
                <a:latin typeface="微软雅黑" panose="020B0503020204020204" charset="-122"/>
                <a:ea typeface="微软雅黑" panose="020B0503020204020204" charset="-122"/>
                <a:cs typeface="微软雅黑" panose="020B0503020204020204" charset="-122"/>
              </a:rPr>
              <a:t>Policy </a:t>
            </a:r>
            <a:r>
              <a:rPr lang="zh-CN" altLang="en-US" sz="1200" b="1" dirty="0">
                <a:solidFill>
                  <a:srgbClr val="557A96"/>
                </a:solidFill>
                <a:latin typeface="微软雅黑" panose="020B0503020204020204" charset="-122"/>
                <a:ea typeface="微软雅黑" panose="020B0503020204020204" charset="-122"/>
                <a:cs typeface="微软雅黑" panose="020B0503020204020204" charset="-122"/>
              </a:rPr>
              <a:t>定义</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“必须如何做”</a:t>
            </a:r>
            <a:endParaRPr lang="zh-CN" altLang="en-US" sz="1200" b="1" dirty="0">
              <a:solidFill>
                <a:srgbClr val="557A96"/>
              </a:solidFill>
              <a:latin typeface="微软雅黑" panose="020B0503020204020204" charset="-122"/>
              <a:ea typeface="微软雅黑" panose="020B0503020204020204" charset="-122"/>
              <a:cs typeface="微软雅黑" panose="020B0503020204020204" charset="-122"/>
            </a:endParaRPr>
          </a:p>
          <a:p>
            <a:endParaRPr lang="zh-CN" altLang="en-US" sz="1200" dirty="0"/>
          </a:p>
        </p:txBody>
      </p:sp>
    </p:spTree>
    <p:extLst>
      <p:ext uri="{BB962C8B-B14F-4D97-AF65-F5344CB8AC3E}">
        <p14:creationId xmlns:p14="http://schemas.microsoft.com/office/powerpoint/2010/main" val="2442242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95375" y="190500"/>
            <a:ext cx="981075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Workflow：如何控制任务一步步向前推进</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3695700" cy="285750"/>
          </a:xfrm>
          <a:prstGeom prst="rect">
            <a:avLst/>
          </a:prstGeom>
          <a:noFill/>
          <a:ln w="0">
            <a:noFill/>
            <a:prstDash val="solid"/>
          </a:ln>
        </p:spPr>
        <p:txBody>
          <a:bodyPr wrap="none" lIns="0" tIns="0" rIns="0" bIns="0" anchor="ctr">
            <a:normAutofit fontScale="99760"/>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SKILL.md 示例（Workflow 展开）</a:t>
            </a: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内部结构</a:t>
            </a: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6860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686050"/>
          </a:xfrm>
          <a:prstGeom prst="rect">
            <a:avLst/>
          </a:prstGeom>
          <a:solidFill>
            <a:srgbClr val="557A96"/>
          </a:solidFill>
          <a:ln w="0">
            <a:noFill/>
            <a:prstDash val="solid"/>
          </a:ln>
        </p:spPr>
      </p:sp>
      <p:sp>
        <p:nvSpPr>
          <p:cNvPr id="26" name="workflow-code"/>
          <p:cNvSpPr>
            <a:spLocks noGrp="1"/>
          </p:cNvSpPr>
          <p:nvPr/>
        </p:nvSpPr>
        <p:spPr>
          <a:xfrm>
            <a:off x="914400" y="3143250"/>
            <a:ext cx="3333750" cy="2514600"/>
          </a:xfrm>
          <a:prstGeom prst="rect">
            <a:avLst/>
          </a:prstGeom>
          <a:noFill/>
          <a:ln w="0">
            <a:noFill/>
            <a:prstDash val="solid"/>
          </a:ln>
        </p:spPr>
        <p:txBody>
          <a:bodyPr wrap="none" lIns="0" tIns="0" rIns="0" bIns="0" anchor="t">
            <a:normAutofit/>
          </a:bodyPr>
          <a:lstStyle/>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Workflow</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Stage</a:t>
            </a:r>
            <a:r>
              <a:rPr sz="1090" b="0" dirty="0">
                <a:solidFill>
                  <a:srgbClr val="414951"/>
                </a:solidFill>
                <a:latin typeface="Consolas" panose="020B0609020204030204"/>
                <a:ea typeface="Consolas" panose="020B0609020204030204"/>
                <a:cs typeface="Consolas" panose="020B0609020204030204"/>
              </a:rPr>
              <a:t> 1</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FF0000"/>
                </a:solidFill>
                <a:latin typeface="Consolas" panose="020B0609020204030204"/>
                <a:ea typeface="Consolas" panose="020B0609020204030204"/>
                <a:cs typeface="Consolas" panose="020B0609020204030204"/>
              </a:rPr>
              <a:t>Output</a:t>
            </a:r>
            <a:r>
              <a:rPr sz="1090" b="0" dirty="0">
                <a:solidFill>
                  <a:srgbClr val="414951"/>
                </a:solidFill>
                <a:latin typeface="Consolas" panose="020B0609020204030204"/>
                <a:ea typeface="Consolas" panose="020B0609020204030204"/>
                <a:cs typeface="Consolas" panose="020B0609020204030204"/>
              </a:rPr>
              <a: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Gate</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Condition: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Stage 2</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Output: </a:t>
            </a:r>
            <a:r>
              <a:rPr sz="1090" b="0" dirty="0" err="1">
                <a:solidFill>
                  <a:srgbClr val="414951"/>
                </a:solidFill>
                <a:latin typeface="Consolas" panose="020B0609020204030204"/>
                <a:ea typeface="Consolas" panose="020B0609020204030204"/>
                <a:cs typeface="Consolas" panose="020B0609020204030204"/>
              </a:rPr>
              <a:t>artifact_B</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Routing</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Retry / Fallback</a:t>
            </a:r>
            <a:r>
              <a:rPr sz="1090" b="0" dirty="0">
                <a:solidFill>
                  <a:srgbClr val="414951"/>
                </a:solidFill>
                <a:latin typeface="Consolas" panose="020B0609020204030204"/>
                <a:ea typeface="Consolas" panose="020B0609020204030204"/>
                <a:cs typeface="Consolas" panose="020B0609020204030204"/>
              </a:rPr>
              <a:t>: ...</a:t>
            </a:r>
          </a:p>
        </p:txBody>
      </p:sp>
      <p:sp>
        <p:nvSpPr>
          <p:cNvPr id="27" name="stage-card"/>
          <p:cNvSpPr>
            <a:spLocks noGrp="1"/>
          </p:cNvSpPr>
          <p:nvPr/>
        </p:nvSpPr>
        <p:spPr>
          <a:xfrm>
            <a:off x="4921526" y="1590675"/>
            <a:ext cx="3048000" cy="1809750"/>
          </a:xfrm>
          <a:prstGeom prst="roundRect">
            <a:avLst>
              <a:gd name="adj" fmla="val 3684"/>
            </a:avLst>
          </a:prstGeom>
          <a:solidFill>
            <a:srgbClr val="FFFFFF"/>
          </a:solidFill>
          <a:ln w="9525">
            <a:solidFill>
              <a:srgbClr val="D8DEE3"/>
            </a:solidFill>
            <a:prstDash val="solid"/>
          </a:ln>
        </p:spPr>
      </p:sp>
      <p:sp>
        <p:nvSpPr>
          <p:cNvPr id="28" name="stage-accent"/>
          <p:cNvSpPr>
            <a:spLocks noGrp="1"/>
          </p:cNvSpPr>
          <p:nvPr/>
        </p:nvSpPr>
        <p:spPr>
          <a:xfrm>
            <a:off x="4953000" y="1600200"/>
            <a:ext cx="3048000" cy="28575"/>
          </a:xfrm>
          <a:prstGeom prst="rect">
            <a:avLst/>
          </a:prstGeom>
          <a:solidFill>
            <a:srgbClr val="557A96"/>
          </a:solidFill>
          <a:ln w="0">
            <a:noFill/>
            <a:prstDash val="solid"/>
          </a:ln>
        </p:spPr>
      </p:sp>
      <p:sp>
        <p:nvSpPr>
          <p:cNvPr id="29" name="stage-number"/>
          <p:cNvSpPr>
            <a:spLocks noGrp="1"/>
          </p:cNvSpPr>
          <p:nvPr/>
        </p:nvSpPr>
        <p:spPr>
          <a:xfrm>
            <a:off x="51054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stage-title"/>
          <p:cNvSpPr>
            <a:spLocks noGrp="1"/>
          </p:cNvSpPr>
          <p:nvPr/>
        </p:nvSpPr>
        <p:spPr>
          <a:xfrm>
            <a:off x="5467350" y="1685925"/>
            <a:ext cx="8763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Stage</a:t>
            </a:r>
          </a:p>
        </p:txBody>
      </p:sp>
      <p:sp>
        <p:nvSpPr>
          <p:cNvPr id="31" name="stage-subtitle"/>
          <p:cNvSpPr>
            <a:spLocks noGrp="1"/>
          </p:cNvSpPr>
          <p:nvPr/>
        </p:nvSpPr>
        <p:spPr>
          <a:xfrm>
            <a:off x="6452980" y="1785314"/>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dirty="0" err="1">
                <a:solidFill>
                  <a:srgbClr val="557A96"/>
                </a:solidFill>
                <a:latin typeface="微软雅黑" panose="020B0503020204020204" charset="-122"/>
                <a:ea typeface="微软雅黑" panose="020B0503020204020204" charset="-122"/>
                <a:cs typeface="微软雅黑" panose="020B0503020204020204" charset="-122"/>
              </a:rPr>
              <a:t>阶段拆分</a:t>
            </a:r>
            <a:endParaRPr sz="13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contract-card"/>
          <p:cNvSpPr>
            <a:spLocks noGrp="1"/>
          </p:cNvSpPr>
          <p:nvPr/>
        </p:nvSpPr>
        <p:spPr>
          <a:xfrm>
            <a:off x="8134350" y="1628775"/>
            <a:ext cx="3429000" cy="1809750"/>
          </a:xfrm>
          <a:prstGeom prst="roundRect">
            <a:avLst>
              <a:gd name="adj" fmla="val 3684"/>
            </a:avLst>
          </a:prstGeom>
          <a:solidFill>
            <a:srgbClr val="FFFFFF"/>
          </a:solidFill>
          <a:ln w="9525">
            <a:solidFill>
              <a:srgbClr val="D8DEE3"/>
            </a:solidFill>
            <a:prstDash val="solid"/>
          </a:ln>
        </p:spPr>
      </p:sp>
      <p:sp>
        <p:nvSpPr>
          <p:cNvPr id="33" name="contract-accent"/>
          <p:cNvSpPr>
            <a:spLocks noGrp="1"/>
          </p:cNvSpPr>
          <p:nvPr/>
        </p:nvSpPr>
        <p:spPr>
          <a:xfrm>
            <a:off x="8153400" y="1600200"/>
            <a:ext cx="3429000" cy="28575"/>
          </a:xfrm>
          <a:prstGeom prst="rect">
            <a:avLst/>
          </a:prstGeom>
          <a:solidFill>
            <a:srgbClr val="557A96"/>
          </a:solidFill>
          <a:ln w="0">
            <a:noFill/>
            <a:prstDash val="solid"/>
          </a:ln>
        </p:spPr>
      </p:sp>
      <p:sp>
        <p:nvSpPr>
          <p:cNvPr id="34" name="contract-number"/>
          <p:cNvSpPr>
            <a:spLocks noGrp="1"/>
          </p:cNvSpPr>
          <p:nvPr/>
        </p:nvSpPr>
        <p:spPr>
          <a:xfrm>
            <a:off x="83058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contract-title"/>
          <p:cNvSpPr>
            <a:spLocks noGrp="1"/>
          </p:cNvSpPr>
          <p:nvPr/>
        </p:nvSpPr>
        <p:spPr>
          <a:xfrm>
            <a:off x="8667750" y="1685925"/>
            <a:ext cx="1752600" cy="276225"/>
          </a:xfrm>
          <a:prstGeom prst="rect">
            <a:avLst/>
          </a:prstGeom>
          <a:noFill/>
          <a:ln w="0">
            <a:noFill/>
            <a:prstDash val="solid"/>
          </a:ln>
        </p:spPr>
        <p:txBody>
          <a:bodyPr wrap="none" lIns="0" tIns="0" rIns="0" bIns="0" anchor="ctr">
            <a:normAutofit fontScale="97151"/>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Contract &amp; Handoff</a:t>
            </a:r>
          </a:p>
        </p:txBody>
      </p:sp>
      <p:sp>
        <p:nvSpPr>
          <p:cNvPr id="36" name="contract-subtitle"/>
          <p:cNvSpPr>
            <a:spLocks noGrp="1"/>
          </p:cNvSpPr>
          <p:nvPr/>
        </p:nvSpPr>
        <p:spPr>
          <a:xfrm>
            <a:off x="10496550" y="1704975"/>
            <a:ext cx="933450" cy="238125"/>
          </a:xfrm>
          <a:prstGeom prst="rect">
            <a:avLst/>
          </a:prstGeom>
          <a:noFill/>
          <a:ln w="0">
            <a:noFill/>
            <a:prstDash val="solid"/>
          </a:ln>
        </p:spPr>
        <p:txBody>
          <a:bodyPr wrap="none" lIns="0" tIns="0" rIns="0" bIns="0" anchor="ctr">
            <a:normAutofit/>
          </a:bodyPr>
          <a:lstStyle/>
          <a:p>
            <a:pPr algn="r">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契约与交接</a:t>
            </a:r>
          </a:p>
        </p:txBody>
      </p:sp>
      <p:sp>
        <p:nvSpPr>
          <p:cNvPr id="37" name="gate-card"/>
          <p:cNvSpPr>
            <a:spLocks noGrp="1"/>
          </p:cNvSpPr>
          <p:nvPr/>
        </p:nvSpPr>
        <p:spPr>
          <a:xfrm>
            <a:off x="4953000" y="3543300"/>
            <a:ext cx="3048000" cy="2362200"/>
          </a:xfrm>
          <a:prstGeom prst="roundRect">
            <a:avLst>
              <a:gd name="adj" fmla="val 2823"/>
            </a:avLst>
          </a:prstGeom>
          <a:solidFill>
            <a:srgbClr val="FFFFFF"/>
          </a:solidFill>
          <a:ln w="9525">
            <a:solidFill>
              <a:srgbClr val="D8DEE3"/>
            </a:solidFill>
            <a:prstDash val="solid"/>
          </a:ln>
        </p:spPr>
      </p:sp>
      <p:sp>
        <p:nvSpPr>
          <p:cNvPr id="38" name="gate-accent"/>
          <p:cNvSpPr>
            <a:spLocks noGrp="1"/>
          </p:cNvSpPr>
          <p:nvPr/>
        </p:nvSpPr>
        <p:spPr>
          <a:xfrm>
            <a:off x="4953000" y="3543300"/>
            <a:ext cx="3048000" cy="28575"/>
          </a:xfrm>
          <a:prstGeom prst="rect">
            <a:avLst/>
          </a:prstGeom>
          <a:solidFill>
            <a:srgbClr val="557A96"/>
          </a:solidFill>
          <a:ln w="0">
            <a:noFill/>
            <a:prstDash val="solid"/>
          </a:ln>
        </p:spPr>
      </p:sp>
      <p:sp>
        <p:nvSpPr>
          <p:cNvPr id="39" name="gate-number"/>
          <p:cNvSpPr>
            <a:spLocks noGrp="1"/>
          </p:cNvSpPr>
          <p:nvPr/>
        </p:nvSpPr>
        <p:spPr>
          <a:xfrm>
            <a:off x="51054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gate-title"/>
          <p:cNvSpPr>
            <a:spLocks noGrp="1"/>
          </p:cNvSpPr>
          <p:nvPr/>
        </p:nvSpPr>
        <p:spPr>
          <a:xfrm>
            <a:off x="5467350" y="3629025"/>
            <a:ext cx="8382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Gate</a:t>
            </a:r>
          </a:p>
        </p:txBody>
      </p:sp>
      <p:sp>
        <p:nvSpPr>
          <p:cNvPr id="41" name="gate-subtitle"/>
          <p:cNvSpPr>
            <a:spLocks noGrp="1"/>
          </p:cNvSpPr>
          <p:nvPr/>
        </p:nvSpPr>
        <p:spPr>
          <a:xfrm>
            <a:off x="6838950" y="3648075"/>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阶段门禁</a:t>
            </a:r>
          </a:p>
        </p:txBody>
      </p:sp>
      <p:sp>
        <p:nvSpPr>
          <p:cNvPr id="42" name="flow-card"/>
          <p:cNvSpPr>
            <a:spLocks noGrp="1"/>
          </p:cNvSpPr>
          <p:nvPr/>
        </p:nvSpPr>
        <p:spPr>
          <a:xfrm>
            <a:off x="8153400" y="3543300"/>
            <a:ext cx="3429000" cy="2362200"/>
          </a:xfrm>
          <a:prstGeom prst="roundRect">
            <a:avLst>
              <a:gd name="adj" fmla="val 2823"/>
            </a:avLst>
          </a:prstGeom>
          <a:solidFill>
            <a:srgbClr val="FFFFFF"/>
          </a:solidFill>
          <a:ln w="9525">
            <a:solidFill>
              <a:srgbClr val="D8DEE3"/>
            </a:solidFill>
            <a:prstDash val="solid"/>
          </a:ln>
        </p:spPr>
      </p:sp>
      <p:sp>
        <p:nvSpPr>
          <p:cNvPr id="43" name="flow-accent"/>
          <p:cNvSpPr>
            <a:spLocks noGrp="1"/>
          </p:cNvSpPr>
          <p:nvPr/>
        </p:nvSpPr>
        <p:spPr>
          <a:xfrm>
            <a:off x="8153400" y="3543300"/>
            <a:ext cx="3429000" cy="28575"/>
          </a:xfrm>
          <a:prstGeom prst="rect">
            <a:avLst/>
          </a:prstGeom>
          <a:solidFill>
            <a:srgbClr val="557A96"/>
          </a:solidFill>
          <a:ln w="0">
            <a:noFill/>
            <a:prstDash val="solid"/>
          </a:ln>
        </p:spPr>
      </p:sp>
      <p:sp>
        <p:nvSpPr>
          <p:cNvPr id="44" name="flow-number"/>
          <p:cNvSpPr>
            <a:spLocks noGrp="1"/>
          </p:cNvSpPr>
          <p:nvPr/>
        </p:nvSpPr>
        <p:spPr>
          <a:xfrm>
            <a:off x="83058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flow-title"/>
          <p:cNvSpPr>
            <a:spLocks noGrp="1"/>
          </p:cNvSpPr>
          <p:nvPr/>
        </p:nvSpPr>
        <p:spPr>
          <a:xfrm>
            <a:off x="8667750" y="3629025"/>
            <a:ext cx="1314450" cy="276225"/>
          </a:xfrm>
          <a:prstGeom prst="rect">
            <a:avLst/>
          </a:prstGeom>
          <a:noFill/>
          <a:ln w="0">
            <a:noFill/>
            <a:prstDash val="solid"/>
          </a:ln>
        </p:spPr>
        <p:txBody>
          <a:bodyPr wrap="none" lIns="0" tIns="0" rIns="0" bIns="0" anchor="ctr">
            <a:normAutofit/>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Flow Control</a:t>
            </a:r>
          </a:p>
        </p:txBody>
      </p:sp>
      <p:sp>
        <p:nvSpPr>
          <p:cNvPr id="47" name="stage-input-line"/>
          <p:cNvSpPr>
            <a:spLocks noGrp="1"/>
          </p:cNvSpPr>
          <p:nvPr/>
        </p:nvSpPr>
        <p:spPr>
          <a:xfrm>
            <a:off x="5657850" y="2254112"/>
            <a:ext cx="0" cy="114300"/>
          </a:xfrm>
          <a:prstGeom prst="line">
            <a:avLst/>
          </a:prstGeom>
          <a:noFill/>
          <a:ln w="12383">
            <a:solidFill>
              <a:srgbClr val="557A96"/>
            </a:solidFill>
            <a:prstDash val="solid"/>
          </a:ln>
        </p:spPr>
      </p:sp>
      <p:sp>
        <p:nvSpPr>
          <p:cNvPr id="48" name="stage-input-arrow"/>
          <p:cNvSpPr>
            <a:spLocks noGrp="1"/>
          </p:cNvSpPr>
          <p:nvPr/>
        </p:nvSpPr>
        <p:spPr>
          <a:xfrm rot="10800000">
            <a:off x="5619750" y="2330312"/>
            <a:ext cx="76200" cy="76200"/>
          </a:xfrm>
          <a:prstGeom prst="triangle">
            <a:avLst/>
          </a:prstGeom>
          <a:solidFill>
            <a:srgbClr val="557A96"/>
          </a:solidFill>
          <a:ln w="0">
            <a:solidFill>
              <a:srgbClr val="557A96"/>
            </a:solidFill>
            <a:prstDash val="solid"/>
          </a:ln>
        </p:spPr>
      </p:sp>
      <p:sp>
        <p:nvSpPr>
          <p:cNvPr id="49" name="stage-a-b-line"/>
          <p:cNvSpPr>
            <a:spLocks noGrp="1"/>
          </p:cNvSpPr>
          <p:nvPr/>
        </p:nvSpPr>
        <p:spPr>
          <a:xfrm>
            <a:off x="5657850" y="2625587"/>
            <a:ext cx="0" cy="142875"/>
          </a:xfrm>
          <a:prstGeom prst="line">
            <a:avLst/>
          </a:prstGeom>
          <a:noFill/>
          <a:ln w="12383">
            <a:solidFill>
              <a:srgbClr val="557A96"/>
            </a:solidFill>
            <a:prstDash val="solid"/>
          </a:ln>
        </p:spPr>
      </p:sp>
      <p:sp>
        <p:nvSpPr>
          <p:cNvPr id="50" name="stage-a-b-arrow"/>
          <p:cNvSpPr>
            <a:spLocks noGrp="1"/>
          </p:cNvSpPr>
          <p:nvPr/>
        </p:nvSpPr>
        <p:spPr>
          <a:xfrm rot="10800000">
            <a:off x="5619750" y="2730362"/>
            <a:ext cx="76200" cy="76200"/>
          </a:xfrm>
          <a:prstGeom prst="triangle">
            <a:avLst/>
          </a:prstGeom>
          <a:solidFill>
            <a:srgbClr val="557A96"/>
          </a:solidFill>
          <a:ln w="0">
            <a:solidFill>
              <a:srgbClr val="557A96"/>
            </a:solidFill>
            <a:prstDash val="solid"/>
          </a:ln>
        </p:spPr>
      </p:sp>
      <p:sp>
        <p:nvSpPr>
          <p:cNvPr id="53" name="stage-input"/>
          <p:cNvSpPr>
            <a:spLocks noGrp="1"/>
          </p:cNvSpPr>
          <p:nvPr/>
        </p:nvSpPr>
        <p:spPr>
          <a:xfrm>
            <a:off x="5362575" y="2101712"/>
            <a:ext cx="5905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Input</a:t>
            </a:r>
          </a:p>
        </p:txBody>
      </p:sp>
      <p:sp>
        <p:nvSpPr>
          <p:cNvPr id="54" name="stage-a-box"/>
          <p:cNvSpPr>
            <a:spLocks noGrp="1"/>
          </p:cNvSpPr>
          <p:nvPr/>
        </p:nvSpPr>
        <p:spPr>
          <a:xfrm>
            <a:off x="5210175" y="2368412"/>
            <a:ext cx="895350" cy="257175"/>
          </a:xfrm>
          <a:prstGeom prst="roundRect">
            <a:avLst>
              <a:gd name="adj" fmla="val 18519"/>
            </a:avLst>
          </a:prstGeom>
          <a:solidFill>
            <a:srgbClr val="F7F9FA"/>
          </a:solidFill>
          <a:ln w="9525">
            <a:solidFill>
              <a:srgbClr val="7F9DB2"/>
            </a:solidFill>
            <a:prstDash val="solid"/>
          </a:ln>
        </p:spPr>
      </p:sp>
      <p:sp>
        <p:nvSpPr>
          <p:cNvPr id="55" name="stage-a-text"/>
          <p:cNvSpPr>
            <a:spLocks noGrp="1"/>
          </p:cNvSpPr>
          <p:nvPr/>
        </p:nvSpPr>
        <p:spPr>
          <a:xfrm>
            <a:off x="5257800" y="2387462"/>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6" name="stage-b-box"/>
          <p:cNvSpPr>
            <a:spLocks noGrp="1"/>
          </p:cNvSpPr>
          <p:nvPr/>
        </p:nvSpPr>
        <p:spPr>
          <a:xfrm>
            <a:off x="5210175" y="2739887"/>
            <a:ext cx="895350" cy="257175"/>
          </a:xfrm>
          <a:prstGeom prst="roundRect">
            <a:avLst>
              <a:gd name="adj" fmla="val 18519"/>
            </a:avLst>
          </a:prstGeom>
          <a:solidFill>
            <a:srgbClr val="F7F9FA"/>
          </a:solidFill>
          <a:ln w="9525">
            <a:solidFill>
              <a:srgbClr val="7F9DB2"/>
            </a:solidFill>
            <a:prstDash val="solid"/>
          </a:ln>
        </p:spPr>
      </p:sp>
      <p:sp>
        <p:nvSpPr>
          <p:cNvPr id="57" name="stage-b-text"/>
          <p:cNvSpPr>
            <a:spLocks noGrp="1"/>
          </p:cNvSpPr>
          <p:nvPr/>
        </p:nvSpPr>
        <p:spPr>
          <a:xfrm>
            <a:off x="5257800" y="2758937"/>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60" name="stage-definition"/>
          <p:cNvSpPr>
            <a:spLocks noGrp="1"/>
          </p:cNvSpPr>
          <p:nvPr/>
        </p:nvSpPr>
        <p:spPr>
          <a:xfrm>
            <a:off x="6286500" y="2333625"/>
            <a:ext cx="1524000" cy="552450"/>
          </a:xfrm>
          <a:prstGeom prst="rect">
            <a:avLst/>
          </a:prstGeom>
          <a:noFill/>
          <a:ln w="0">
            <a:noFill/>
            <a:prstDash val="solid"/>
          </a:ln>
        </p:spPr>
        <p:txBody>
          <a:bodyPr wrap="square" lIns="0" tIns="0" rIns="0" bIns="0" anchor="t">
            <a:normAutofit fontScale="94771"/>
          </a:bodyPr>
          <a:lstStyle/>
          <a:p>
            <a:pPr algn="l">
              <a:defRPr sz="1275" b="1">
                <a:solidFill>
                  <a:srgbClr val="414951"/>
                </a:solidFill>
                <a:latin typeface="微软雅黑" panose="020B0503020204020204" charset="-122"/>
                <a:ea typeface="微软雅黑" panose="020B0503020204020204" charset="-122"/>
                <a:cs typeface="微软雅黑" panose="020B0503020204020204" charset="-122"/>
              </a:defRPr>
            </a:pPr>
            <a:r>
              <a:rPr sz="1275" b="1" dirty="0" err="1">
                <a:solidFill>
                  <a:srgbClr val="414951"/>
                </a:solidFill>
                <a:latin typeface="微软雅黑" panose="020B0503020204020204" charset="-122"/>
                <a:ea typeface="微软雅黑" panose="020B0503020204020204" charset="-122"/>
                <a:cs typeface="微软雅黑" panose="020B0503020204020204" charset="-122"/>
              </a:rPr>
              <a:t>将复杂任务拆成职责明确、顺序可控的执行阶段</a:t>
            </a:r>
            <a:r>
              <a:rPr sz="1275"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61" name="stage-keywords"/>
          <p:cNvSpPr>
            <a:spLocks noGrp="1"/>
          </p:cNvSpPr>
          <p:nvPr/>
        </p:nvSpPr>
        <p:spPr>
          <a:xfrm>
            <a:off x="6286500" y="2676525"/>
            <a:ext cx="1333500" cy="495300"/>
          </a:xfrm>
          <a:prstGeom prst="rect">
            <a:avLst/>
          </a:prstGeom>
          <a:noFill/>
          <a:ln w="0">
            <a:noFill/>
            <a:prstDash val="solid"/>
          </a:ln>
        </p:spPr>
        <p:txBody>
          <a:bodyPr wrap="none" lIns="0" tIns="0" rIns="0" bIns="0" anchor="t">
            <a:normAutofit fontScale="95007"/>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stage-answer-band"/>
          <p:cNvSpPr>
            <a:spLocks noGrp="1"/>
          </p:cNvSpPr>
          <p:nvPr/>
        </p:nvSpPr>
        <p:spPr>
          <a:xfrm>
            <a:off x="5067300" y="3209925"/>
            <a:ext cx="2819400" cy="152400"/>
          </a:xfrm>
          <a:prstGeom prst="rect">
            <a:avLst/>
          </a:prstGeom>
          <a:solidFill>
            <a:srgbClr val="F2F6F8"/>
          </a:solidFill>
          <a:ln w="0">
            <a:noFill/>
            <a:prstDash val="solid"/>
          </a:ln>
        </p:spPr>
      </p:sp>
      <p:sp>
        <p:nvSpPr>
          <p:cNvPr id="63" name="stage-answer"/>
          <p:cNvSpPr>
            <a:spLocks noGrp="1"/>
          </p:cNvSpPr>
          <p:nvPr/>
        </p:nvSpPr>
        <p:spPr>
          <a:xfrm>
            <a:off x="5181600" y="3209925"/>
            <a:ext cx="2590800" cy="152400"/>
          </a:xfrm>
          <a:prstGeom prst="rect">
            <a:avLst/>
          </a:prstGeom>
          <a:noFill/>
          <a:ln w="0">
            <a:noFill/>
            <a:prstDash val="solid"/>
          </a:ln>
        </p:spPr>
        <p:txBody>
          <a:bodyPr wrap="none" lIns="0" tIns="0" rIns="0" bIns="0" anchor="ctr">
            <a:normAutofit fontScale="96389" lnSpcReduction="10000"/>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回答：任务怎么拆？</a:t>
            </a:r>
          </a:p>
        </p:txBody>
      </p:sp>
      <p:sp>
        <p:nvSpPr>
          <p:cNvPr id="64" name="contract-a-artifact-line"/>
          <p:cNvSpPr>
            <a:spLocks noGrp="1"/>
          </p:cNvSpPr>
          <p:nvPr/>
        </p:nvSpPr>
        <p:spPr>
          <a:xfrm>
            <a:off x="9188726" y="2453515"/>
            <a:ext cx="238125" cy="0"/>
          </a:xfrm>
          <a:prstGeom prst="line">
            <a:avLst/>
          </a:prstGeom>
          <a:noFill/>
          <a:ln w="12383">
            <a:solidFill>
              <a:srgbClr val="557A96"/>
            </a:solidFill>
            <a:prstDash val="solid"/>
          </a:ln>
        </p:spPr>
      </p:sp>
      <p:sp>
        <p:nvSpPr>
          <p:cNvPr id="65" name="contract-a-artifact-arrow"/>
          <p:cNvSpPr>
            <a:spLocks noGrp="1"/>
          </p:cNvSpPr>
          <p:nvPr/>
        </p:nvSpPr>
        <p:spPr>
          <a:xfrm rot="5400000">
            <a:off x="9388751" y="2415415"/>
            <a:ext cx="76200" cy="76200"/>
          </a:xfrm>
          <a:prstGeom prst="triangle">
            <a:avLst/>
          </a:prstGeom>
          <a:solidFill>
            <a:srgbClr val="557A96"/>
          </a:solidFill>
          <a:ln w="0">
            <a:solidFill>
              <a:srgbClr val="557A96"/>
            </a:solidFill>
            <a:prstDash val="solid"/>
          </a:ln>
        </p:spPr>
      </p:sp>
      <p:sp>
        <p:nvSpPr>
          <p:cNvPr id="66" name="contract-artifact-b-line"/>
          <p:cNvSpPr>
            <a:spLocks noGrp="1"/>
          </p:cNvSpPr>
          <p:nvPr/>
        </p:nvSpPr>
        <p:spPr>
          <a:xfrm>
            <a:off x="10388876" y="2453515"/>
            <a:ext cx="209550" cy="0"/>
          </a:xfrm>
          <a:prstGeom prst="line">
            <a:avLst/>
          </a:prstGeom>
          <a:noFill/>
          <a:ln w="12383">
            <a:solidFill>
              <a:srgbClr val="557A96"/>
            </a:solidFill>
            <a:prstDash val="solid"/>
          </a:ln>
        </p:spPr>
      </p:sp>
      <p:sp>
        <p:nvSpPr>
          <p:cNvPr id="67" name="contract-artifact-b-arrow"/>
          <p:cNvSpPr>
            <a:spLocks noGrp="1"/>
          </p:cNvSpPr>
          <p:nvPr/>
        </p:nvSpPr>
        <p:spPr>
          <a:xfrm rot="5400000">
            <a:off x="10560326" y="2415415"/>
            <a:ext cx="76200" cy="76200"/>
          </a:xfrm>
          <a:prstGeom prst="triangle">
            <a:avLst/>
          </a:prstGeom>
          <a:solidFill>
            <a:srgbClr val="557A96"/>
          </a:solidFill>
          <a:ln w="0">
            <a:solidFill>
              <a:srgbClr val="557A96"/>
            </a:solidFill>
            <a:prstDash val="solid"/>
          </a:ln>
        </p:spPr>
      </p:sp>
      <p:sp>
        <p:nvSpPr>
          <p:cNvPr id="68" name="output-contract-label"/>
          <p:cNvSpPr>
            <a:spLocks noGrp="1"/>
          </p:cNvSpPr>
          <p:nvPr/>
        </p:nvSpPr>
        <p:spPr>
          <a:xfrm>
            <a:off x="8950601" y="2129665"/>
            <a:ext cx="1047750"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Output Contract</a:t>
            </a:r>
          </a:p>
        </p:txBody>
      </p:sp>
      <p:sp>
        <p:nvSpPr>
          <p:cNvPr id="69" name="input-contract-label"/>
          <p:cNvSpPr>
            <a:spLocks noGrp="1"/>
          </p:cNvSpPr>
          <p:nvPr/>
        </p:nvSpPr>
        <p:spPr>
          <a:xfrm>
            <a:off x="10122176" y="2129665"/>
            <a:ext cx="1000125"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Input Contract</a:t>
            </a:r>
          </a:p>
        </p:txBody>
      </p:sp>
      <p:sp>
        <p:nvSpPr>
          <p:cNvPr id="70" name="contract-stage-a-box"/>
          <p:cNvSpPr>
            <a:spLocks noGrp="1"/>
          </p:cNvSpPr>
          <p:nvPr/>
        </p:nvSpPr>
        <p:spPr>
          <a:xfrm>
            <a:off x="8331476" y="2282065"/>
            <a:ext cx="857250" cy="457200"/>
          </a:xfrm>
          <a:prstGeom prst="roundRect">
            <a:avLst>
              <a:gd name="adj" fmla="val 10417"/>
            </a:avLst>
          </a:prstGeom>
          <a:solidFill>
            <a:srgbClr val="F7F9FA"/>
          </a:solidFill>
          <a:ln w="9525">
            <a:solidFill>
              <a:srgbClr val="7F9DB2"/>
            </a:solidFill>
            <a:prstDash val="solid"/>
          </a:ln>
        </p:spPr>
      </p:sp>
      <p:sp>
        <p:nvSpPr>
          <p:cNvPr id="71" name="contract-stage-a-text"/>
          <p:cNvSpPr>
            <a:spLocks noGrp="1"/>
          </p:cNvSpPr>
          <p:nvPr/>
        </p:nvSpPr>
        <p:spPr>
          <a:xfrm>
            <a:off x="8379101" y="2301115"/>
            <a:ext cx="762000" cy="419100"/>
          </a:xfrm>
          <a:prstGeom prst="rect">
            <a:avLst/>
          </a:prstGeom>
          <a:noFill/>
          <a:ln w="0">
            <a:noFill/>
            <a:prstDash val="solid"/>
          </a:ln>
        </p:spPr>
        <p:txBody>
          <a:bodyPr wrap="none" lIns="0" tIns="0" rIns="0" bIns="0" anchor="ctr">
            <a:normAutofit fontScale="99951"/>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dirty="0" smtClean="0">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2" name="contract-artifact-box"/>
          <p:cNvSpPr>
            <a:spLocks noGrp="1"/>
          </p:cNvSpPr>
          <p:nvPr/>
        </p:nvSpPr>
        <p:spPr>
          <a:xfrm>
            <a:off x="9436376" y="2282065"/>
            <a:ext cx="952500" cy="457200"/>
          </a:xfrm>
          <a:prstGeom prst="roundRect">
            <a:avLst>
              <a:gd name="adj" fmla="val 10417"/>
            </a:avLst>
          </a:prstGeom>
          <a:solidFill>
            <a:srgbClr val="F2F6F8"/>
          </a:solidFill>
          <a:ln w="9525">
            <a:solidFill>
              <a:srgbClr val="7F9DB2"/>
            </a:solidFill>
            <a:prstDash val="solid"/>
          </a:ln>
        </p:spPr>
      </p:sp>
      <p:sp>
        <p:nvSpPr>
          <p:cNvPr id="73" name="contract-artifact-text"/>
          <p:cNvSpPr>
            <a:spLocks noGrp="1"/>
          </p:cNvSpPr>
          <p:nvPr/>
        </p:nvSpPr>
        <p:spPr>
          <a:xfrm>
            <a:off x="9484001" y="2301115"/>
            <a:ext cx="857250" cy="419100"/>
          </a:xfrm>
          <a:prstGeom prst="rect">
            <a:avLst/>
          </a:prstGeom>
          <a:noFill/>
          <a:ln w="0">
            <a:noFill/>
            <a:prstDash val="solid"/>
          </a:ln>
        </p:spPr>
        <p:txBody>
          <a:bodyPr wrap="none" lIns="0" tIns="0" rIns="0" bIns="0" anchor="ctr">
            <a:normAutofit fontScale="98158"/>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Artifact</a:t>
            </a:r>
          </a:p>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file </a:t>
            </a:r>
            <a:r>
              <a:rPr sz="109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090" b="1" dirty="0">
                <a:solidFill>
                  <a:srgbClr val="557A96"/>
                </a:solidFill>
                <a:latin typeface="微软雅黑" panose="020B0503020204020204" charset="-122"/>
                <a:ea typeface="微软雅黑" panose="020B0503020204020204" charset="-122"/>
                <a:cs typeface="微软雅黑" panose="020B0503020204020204" charset="-122"/>
              </a:rPr>
              <a:t>code</a:t>
            </a:r>
          </a:p>
        </p:txBody>
      </p:sp>
      <p:sp>
        <p:nvSpPr>
          <p:cNvPr id="74" name="contract-stage-b-box"/>
          <p:cNvSpPr>
            <a:spLocks noGrp="1"/>
          </p:cNvSpPr>
          <p:nvPr/>
        </p:nvSpPr>
        <p:spPr>
          <a:xfrm>
            <a:off x="10617476" y="2282065"/>
            <a:ext cx="742950" cy="457200"/>
          </a:xfrm>
          <a:prstGeom prst="roundRect">
            <a:avLst>
              <a:gd name="adj" fmla="val 10417"/>
            </a:avLst>
          </a:prstGeom>
          <a:solidFill>
            <a:srgbClr val="F7F9FA"/>
          </a:solidFill>
          <a:ln w="9525">
            <a:solidFill>
              <a:srgbClr val="7F9DB2"/>
            </a:solidFill>
            <a:prstDash val="solid"/>
          </a:ln>
        </p:spPr>
      </p:sp>
      <p:sp>
        <p:nvSpPr>
          <p:cNvPr id="75" name="contract-stage-b-text"/>
          <p:cNvSpPr>
            <a:spLocks noGrp="1"/>
          </p:cNvSpPr>
          <p:nvPr/>
        </p:nvSpPr>
        <p:spPr>
          <a:xfrm>
            <a:off x="10665101" y="2301115"/>
            <a:ext cx="647700" cy="419100"/>
          </a:xfrm>
          <a:prstGeom prst="rect">
            <a:avLst/>
          </a:prstGeom>
          <a:noFill/>
          <a:ln w="0">
            <a:noFill/>
            <a:prstDash val="solid"/>
          </a:ln>
        </p:spPr>
        <p:txBody>
          <a:bodyPr wrap="none" lIns="0" tIns="0" rIns="0" bIns="0" anchor="ctr">
            <a:normAutofit/>
          </a:bodyPr>
          <a:lstStyle/>
          <a:p>
            <a:pPr algn="ctr">
              <a:defRPr sz="1200" b="1">
                <a:solidFill>
                  <a:srgbClr val="252B31"/>
                </a:solidFill>
                <a:latin typeface="微软雅黑" panose="020B0503020204020204" charset="-122"/>
                <a:ea typeface="微软雅黑" panose="020B0503020204020204" charset="-122"/>
                <a:cs typeface="微软雅黑" panose="020B0503020204020204" charset="-122"/>
              </a:defRPr>
            </a:pPr>
            <a:r>
              <a:rPr sz="120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7" name="artifact-concept"/>
          <p:cNvSpPr>
            <a:spLocks noGrp="1"/>
          </p:cNvSpPr>
          <p:nvPr/>
        </p:nvSpPr>
        <p:spPr>
          <a:xfrm>
            <a:off x="8826776" y="2906574"/>
            <a:ext cx="3028950" cy="180975"/>
          </a:xfrm>
          <a:prstGeom prst="rect">
            <a:avLst/>
          </a:prstGeom>
          <a:noFill/>
          <a:ln w="0">
            <a:noFill/>
            <a:prstDash val="solid"/>
          </a:ln>
        </p:spPr>
        <p:txBody>
          <a:bodyPr wrap="none" lIns="0" tIns="0" rIns="0" bIns="0" anchor="ctr">
            <a:normAutofit/>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dirty="0">
                <a:solidFill>
                  <a:srgbClr val="414951"/>
                </a:solidFill>
                <a:latin typeface="微软雅黑" panose="020B0503020204020204" charset="-122"/>
                <a:ea typeface="微软雅黑" panose="020B0503020204020204" charset="-122"/>
                <a:cs typeface="微软雅黑" panose="020B0503020204020204" charset="-122"/>
              </a:rPr>
              <a:t>Artifact   </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文件或</a:t>
            </a:r>
            <a:r>
              <a:rPr lang="zh-CN" altLang="en-US" sz="1165" b="0" dirty="0" smtClean="0">
                <a:solidFill>
                  <a:srgbClr val="414951"/>
                </a:solidFill>
                <a:latin typeface="微软雅黑" panose="020B0503020204020204" charset="-122"/>
                <a:ea typeface="微软雅黑" panose="020B0503020204020204" charset="-122"/>
                <a:cs typeface="微软雅黑" panose="020B0503020204020204" charset="-122"/>
              </a:rPr>
              <a:t>其他</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结果</a:t>
            </a:r>
            <a:endParaRPr sz="116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9" name="contract-example-band"/>
          <p:cNvSpPr>
            <a:spLocks noGrp="1"/>
          </p:cNvSpPr>
          <p:nvPr/>
        </p:nvSpPr>
        <p:spPr>
          <a:xfrm>
            <a:off x="8267700" y="3200400"/>
            <a:ext cx="3200400" cy="152400"/>
          </a:xfrm>
          <a:prstGeom prst="rect">
            <a:avLst/>
          </a:prstGeom>
          <a:solidFill>
            <a:srgbClr val="F2F6F8"/>
          </a:solidFill>
          <a:ln w="0">
            <a:noFill/>
            <a:prstDash val="solid"/>
          </a:ln>
        </p:spPr>
      </p:sp>
      <p:sp>
        <p:nvSpPr>
          <p:cNvPr id="80" name="contract-example"/>
          <p:cNvSpPr>
            <a:spLocks noGrp="1"/>
          </p:cNvSpPr>
          <p:nvPr/>
        </p:nvSpPr>
        <p:spPr>
          <a:xfrm>
            <a:off x="8362950" y="3200400"/>
            <a:ext cx="3009900" cy="152400"/>
          </a:xfrm>
          <a:prstGeom prst="rect">
            <a:avLst/>
          </a:prstGeom>
          <a:noFill/>
          <a:ln w="0">
            <a:noFill/>
            <a:prstDash val="solid"/>
          </a:ln>
        </p:spPr>
        <p:txBody>
          <a:bodyPr wrap="none" lIns="0" tIns="0" rIns="0" bIns="0" anchor="ctr">
            <a:normAutofit fontScale="98717"/>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接受什么 </a:t>
            </a:r>
            <a:r>
              <a:rPr lang="en-US" altLang="zh-CN" sz="1015" b="1" dirty="0">
                <a:solidFill>
                  <a:srgbClr val="557A96"/>
                </a:solidFill>
                <a:latin typeface="微软雅黑" panose="020B0503020204020204" charset="-122"/>
                <a:ea typeface="微软雅黑" panose="020B0503020204020204" charset="-122"/>
                <a:cs typeface="微软雅黑" panose="020B0503020204020204" charset="-122"/>
              </a:rPr>
              <a:t>/ </a:t>
            </a: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必须产生</a:t>
            </a:r>
            <a:r>
              <a:rPr lang="zh-CN" altLang="en-US" sz="1015" b="1" dirty="0" smtClean="0">
                <a:solidFill>
                  <a:srgbClr val="557A96"/>
                </a:solidFill>
                <a:latin typeface="微软雅黑" panose="020B0503020204020204" charset="-122"/>
                <a:ea typeface="微软雅黑" panose="020B0503020204020204" charset="-122"/>
                <a:cs typeface="微软雅黑" panose="020B0503020204020204" charset="-122"/>
              </a:rPr>
              <a:t>什么，交给下阶段继续处理</a:t>
            </a:r>
            <a:endParaRPr lang="zh-CN" altLang="en-US" sz="10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gate-validation-line"/>
          <p:cNvSpPr>
            <a:spLocks noGrp="1"/>
          </p:cNvSpPr>
          <p:nvPr/>
        </p:nvSpPr>
        <p:spPr>
          <a:xfrm>
            <a:off x="6477000" y="4010025"/>
            <a:ext cx="0" cy="133350"/>
          </a:xfrm>
          <a:prstGeom prst="line">
            <a:avLst/>
          </a:prstGeom>
          <a:noFill/>
          <a:ln w="12383">
            <a:solidFill>
              <a:srgbClr val="557A96"/>
            </a:solidFill>
            <a:prstDash val="solid"/>
          </a:ln>
        </p:spPr>
      </p:sp>
      <p:sp>
        <p:nvSpPr>
          <p:cNvPr id="82" name="gate-validation-arrow"/>
          <p:cNvSpPr>
            <a:spLocks noGrp="1"/>
          </p:cNvSpPr>
          <p:nvPr/>
        </p:nvSpPr>
        <p:spPr>
          <a:xfrm rot="10800000">
            <a:off x="6438900" y="4105275"/>
            <a:ext cx="76200" cy="76200"/>
          </a:xfrm>
          <a:prstGeom prst="triangle">
            <a:avLst/>
          </a:prstGeom>
          <a:solidFill>
            <a:srgbClr val="557A96"/>
          </a:solidFill>
          <a:ln w="0">
            <a:solidFill>
              <a:srgbClr val="557A96"/>
            </a:solidFill>
            <a:prstDash val="solid"/>
          </a:ln>
        </p:spPr>
      </p:sp>
      <p:sp>
        <p:nvSpPr>
          <p:cNvPr id="83" name="gate-down-line"/>
          <p:cNvSpPr>
            <a:spLocks noGrp="1"/>
          </p:cNvSpPr>
          <p:nvPr/>
        </p:nvSpPr>
        <p:spPr>
          <a:xfrm>
            <a:off x="6477000" y="4438650"/>
            <a:ext cx="0" cy="114300"/>
          </a:xfrm>
          <a:prstGeom prst="line">
            <a:avLst/>
          </a:prstGeom>
          <a:noFill/>
          <a:ln w="12383">
            <a:solidFill>
              <a:srgbClr val="557A96"/>
            </a:solidFill>
            <a:prstDash val="solid"/>
          </a:ln>
        </p:spPr>
      </p:sp>
      <p:sp>
        <p:nvSpPr>
          <p:cNvPr id="84" name="gate-branch-line"/>
          <p:cNvSpPr>
            <a:spLocks noGrp="1"/>
          </p:cNvSpPr>
          <p:nvPr/>
        </p:nvSpPr>
        <p:spPr>
          <a:xfrm>
            <a:off x="5619750" y="4552950"/>
            <a:ext cx="1714500" cy="0"/>
          </a:xfrm>
          <a:prstGeom prst="line">
            <a:avLst/>
          </a:prstGeom>
          <a:noFill/>
          <a:ln w="12383">
            <a:solidFill>
              <a:srgbClr val="557A96"/>
            </a:solidFill>
            <a:prstDash val="solid"/>
          </a:ln>
        </p:spPr>
      </p:sp>
      <p:sp>
        <p:nvSpPr>
          <p:cNvPr id="85" name="gate-pass-line"/>
          <p:cNvSpPr>
            <a:spLocks noGrp="1"/>
          </p:cNvSpPr>
          <p:nvPr/>
        </p:nvSpPr>
        <p:spPr>
          <a:xfrm>
            <a:off x="5619750" y="4552950"/>
            <a:ext cx="0" cy="95250"/>
          </a:xfrm>
          <a:prstGeom prst="line">
            <a:avLst/>
          </a:prstGeom>
          <a:noFill/>
          <a:ln w="12383">
            <a:solidFill>
              <a:srgbClr val="557A96"/>
            </a:solidFill>
            <a:prstDash val="solid"/>
          </a:ln>
        </p:spPr>
      </p:sp>
      <p:sp>
        <p:nvSpPr>
          <p:cNvPr id="86" name="gate-pass-arrow"/>
          <p:cNvSpPr>
            <a:spLocks noGrp="1"/>
          </p:cNvSpPr>
          <p:nvPr/>
        </p:nvSpPr>
        <p:spPr>
          <a:xfrm rot="10800000">
            <a:off x="5581650" y="4610100"/>
            <a:ext cx="76200" cy="76200"/>
          </a:xfrm>
          <a:prstGeom prst="triangle">
            <a:avLst/>
          </a:prstGeom>
          <a:solidFill>
            <a:srgbClr val="557A96"/>
          </a:solidFill>
          <a:ln w="0">
            <a:solidFill>
              <a:srgbClr val="557A96"/>
            </a:solidFill>
            <a:prstDash val="solid"/>
          </a:ln>
        </p:spPr>
      </p:sp>
      <p:sp>
        <p:nvSpPr>
          <p:cNvPr id="87" name="gate-fail-line"/>
          <p:cNvSpPr>
            <a:spLocks noGrp="1"/>
          </p:cNvSpPr>
          <p:nvPr/>
        </p:nvSpPr>
        <p:spPr>
          <a:xfrm>
            <a:off x="7334250" y="4552950"/>
            <a:ext cx="0" cy="95250"/>
          </a:xfrm>
          <a:prstGeom prst="line">
            <a:avLst/>
          </a:prstGeom>
          <a:noFill/>
          <a:ln w="12383">
            <a:solidFill>
              <a:srgbClr val="557A96"/>
            </a:solidFill>
            <a:prstDash val="solid"/>
          </a:ln>
        </p:spPr>
      </p:sp>
      <p:sp>
        <p:nvSpPr>
          <p:cNvPr id="88" name="gate-fail-arrow"/>
          <p:cNvSpPr>
            <a:spLocks noGrp="1"/>
          </p:cNvSpPr>
          <p:nvPr/>
        </p:nvSpPr>
        <p:spPr>
          <a:xfrm rot="10800000">
            <a:off x="7296150" y="4610100"/>
            <a:ext cx="76200" cy="76200"/>
          </a:xfrm>
          <a:prstGeom prst="triangle">
            <a:avLst/>
          </a:prstGeom>
          <a:solidFill>
            <a:srgbClr val="557A96"/>
          </a:solidFill>
          <a:ln w="0">
            <a:solidFill>
              <a:srgbClr val="557A96"/>
            </a:solidFill>
            <a:prstDash val="solid"/>
          </a:ln>
        </p:spPr>
      </p:sp>
      <p:sp>
        <p:nvSpPr>
          <p:cNvPr id="89" name="gate-validation"/>
          <p:cNvSpPr>
            <a:spLocks noGrp="1"/>
          </p:cNvSpPr>
          <p:nvPr/>
        </p:nvSpPr>
        <p:spPr>
          <a:xfrm>
            <a:off x="6048375" y="3857625"/>
            <a:ext cx="8572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Validation</a:t>
            </a:r>
          </a:p>
        </p:txBody>
      </p:sp>
      <p:sp>
        <p:nvSpPr>
          <p:cNvPr id="90" name="gate-node-box"/>
          <p:cNvSpPr>
            <a:spLocks noGrp="1"/>
          </p:cNvSpPr>
          <p:nvPr/>
        </p:nvSpPr>
        <p:spPr>
          <a:xfrm>
            <a:off x="6000750" y="4162425"/>
            <a:ext cx="952500" cy="285750"/>
          </a:xfrm>
          <a:prstGeom prst="roundRect">
            <a:avLst>
              <a:gd name="adj" fmla="val 16667"/>
            </a:avLst>
          </a:prstGeom>
          <a:solidFill>
            <a:srgbClr val="F2F6F8"/>
          </a:solidFill>
          <a:ln w="9525">
            <a:solidFill>
              <a:srgbClr val="7F9DB2"/>
            </a:solidFill>
            <a:prstDash val="solid"/>
          </a:ln>
        </p:spPr>
      </p:sp>
      <p:sp>
        <p:nvSpPr>
          <p:cNvPr id="91" name="gate-node-text"/>
          <p:cNvSpPr>
            <a:spLocks noGrp="1"/>
          </p:cNvSpPr>
          <p:nvPr/>
        </p:nvSpPr>
        <p:spPr>
          <a:xfrm>
            <a:off x="6048375" y="4181475"/>
            <a:ext cx="857250" cy="24765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92" name="gate-pass-box"/>
          <p:cNvSpPr>
            <a:spLocks noGrp="1"/>
          </p:cNvSpPr>
          <p:nvPr/>
        </p:nvSpPr>
        <p:spPr>
          <a:xfrm>
            <a:off x="5219700" y="4657725"/>
            <a:ext cx="800100" cy="266700"/>
          </a:xfrm>
          <a:prstGeom prst="roundRect">
            <a:avLst>
              <a:gd name="adj" fmla="val 17857"/>
            </a:avLst>
          </a:prstGeom>
          <a:solidFill>
            <a:srgbClr val="F7F9FA"/>
          </a:solidFill>
          <a:ln w="9525">
            <a:solidFill>
              <a:srgbClr val="7F9DB2"/>
            </a:solidFill>
            <a:prstDash val="solid"/>
          </a:ln>
        </p:spPr>
      </p:sp>
      <p:sp>
        <p:nvSpPr>
          <p:cNvPr id="93" name="gate-pass-text"/>
          <p:cNvSpPr>
            <a:spLocks noGrp="1"/>
          </p:cNvSpPr>
          <p:nvPr/>
        </p:nvSpPr>
        <p:spPr>
          <a:xfrm>
            <a:off x="52673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94" name="gate-fail-box"/>
          <p:cNvSpPr>
            <a:spLocks noGrp="1"/>
          </p:cNvSpPr>
          <p:nvPr/>
        </p:nvSpPr>
        <p:spPr>
          <a:xfrm>
            <a:off x="6934200" y="4657725"/>
            <a:ext cx="800100" cy="266700"/>
          </a:xfrm>
          <a:prstGeom prst="roundRect">
            <a:avLst>
              <a:gd name="adj" fmla="val 17857"/>
            </a:avLst>
          </a:prstGeom>
          <a:solidFill>
            <a:srgbClr val="F7F9FA"/>
          </a:solidFill>
          <a:ln w="9525">
            <a:solidFill>
              <a:srgbClr val="7F9DB2"/>
            </a:solidFill>
            <a:prstDash val="solid"/>
          </a:ln>
        </p:spPr>
      </p:sp>
      <p:sp>
        <p:nvSpPr>
          <p:cNvPr id="95" name="gate-fail-text"/>
          <p:cNvSpPr>
            <a:spLocks noGrp="1"/>
          </p:cNvSpPr>
          <p:nvPr/>
        </p:nvSpPr>
        <p:spPr>
          <a:xfrm>
            <a:off x="69818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96" name="gate-next"/>
          <p:cNvSpPr>
            <a:spLocks noGrp="1"/>
          </p:cNvSpPr>
          <p:nvPr/>
        </p:nvSpPr>
        <p:spPr>
          <a:xfrm>
            <a:off x="5162550" y="4943475"/>
            <a:ext cx="9144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Next Stage</a:t>
            </a:r>
          </a:p>
        </p:txBody>
      </p:sp>
      <p:sp>
        <p:nvSpPr>
          <p:cNvPr id="97" name="gate-retry"/>
          <p:cNvSpPr>
            <a:spLocks noGrp="1"/>
          </p:cNvSpPr>
          <p:nvPr/>
        </p:nvSpPr>
        <p:spPr>
          <a:xfrm>
            <a:off x="6667500" y="4943475"/>
            <a:ext cx="13335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Retry / Fallback</a:t>
            </a:r>
          </a:p>
        </p:txBody>
      </p:sp>
      <p:sp>
        <p:nvSpPr>
          <p:cNvPr id="98" name="gate-definition"/>
          <p:cNvSpPr>
            <a:spLocks noGrp="1"/>
          </p:cNvSpPr>
          <p:nvPr/>
        </p:nvSpPr>
        <p:spPr>
          <a:xfrm>
            <a:off x="5143500" y="5153025"/>
            <a:ext cx="2667000" cy="200025"/>
          </a:xfrm>
          <a:prstGeom prst="rect">
            <a:avLst/>
          </a:prstGeom>
          <a:noFill/>
          <a:ln w="0">
            <a:noFill/>
            <a:prstDash val="solid"/>
          </a:ln>
        </p:spPr>
        <p:txBody>
          <a:bodyPr wrap="none" lIns="0" tIns="0" rIns="0" bIns="0" anchor="ctr">
            <a:normAutofit/>
          </a:bodyPr>
          <a:lstStyle/>
          <a:p>
            <a:pPr algn="ctr">
              <a:defRPr sz="1240" b="1">
                <a:solidFill>
                  <a:srgbClr val="414951"/>
                </a:solidFill>
                <a:latin typeface="微软雅黑" panose="020B0503020204020204" charset="-122"/>
                <a:ea typeface="微软雅黑" panose="020B0503020204020204" charset="-122"/>
                <a:cs typeface="微软雅黑" panose="020B0503020204020204" charset="-122"/>
              </a:defRPr>
            </a:pP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9" name="gate-examples"/>
          <p:cNvSpPr>
            <a:spLocks noGrp="1"/>
          </p:cNvSpPr>
          <p:nvPr/>
        </p:nvSpPr>
        <p:spPr>
          <a:xfrm>
            <a:off x="5210175" y="5281820"/>
            <a:ext cx="2667000" cy="190500"/>
          </a:xfrm>
          <a:prstGeom prst="rect">
            <a:avLst/>
          </a:prstGeom>
          <a:noFill/>
          <a:ln w="0">
            <a:noFill/>
            <a:prstDash val="solid"/>
          </a:ln>
        </p:spPr>
        <p:txBody>
          <a:bodyPr wrap="none" lIns="0" tIns="0" rIns="0" bIns="0" anchor="ctr">
            <a:normAutofit/>
          </a:bodyPr>
          <a:lstStyle/>
          <a:p>
            <a:pPr algn="ctr">
              <a:defRPr sz="1165" b="0">
                <a:solidFill>
                  <a:srgbClr val="68727B"/>
                </a:solidFill>
                <a:latin typeface="微软雅黑" panose="020B0503020204020204" charset="-122"/>
                <a:ea typeface="微软雅黑" panose="020B0503020204020204" charset="-122"/>
                <a:cs typeface="微软雅黑" panose="020B0503020204020204" charset="-122"/>
              </a:defRPr>
            </a:pPr>
            <a:r>
              <a:rPr sz="1165" b="0" dirty="0" err="1">
                <a:solidFill>
                  <a:srgbClr val="68727B"/>
                </a:solidFill>
                <a:latin typeface="微软雅黑" panose="020B0503020204020204" charset="-122"/>
                <a:ea typeface="微软雅黑" panose="020B0503020204020204" charset="-122"/>
                <a:cs typeface="微软雅黑" panose="020B0503020204020204" charset="-122"/>
              </a:rPr>
              <a:t>文件存在</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执行成功</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结果合格</a:t>
            </a:r>
            <a:r>
              <a:rPr sz="1165" b="0"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00" name="gate-rule-band"/>
          <p:cNvSpPr>
            <a:spLocks noGrp="1"/>
          </p:cNvSpPr>
          <p:nvPr/>
        </p:nvSpPr>
        <p:spPr>
          <a:xfrm>
            <a:off x="5067300" y="5610225"/>
            <a:ext cx="2819400" cy="219075"/>
          </a:xfrm>
          <a:prstGeom prst="rect">
            <a:avLst/>
          </a:prstGeom>
          <a:solidFill>
            <a:srgbClr val="F2F6F8"/>
          </a:solidFill>
          <a:ln w="0">
            <a:noFill/>
            <a:prstDash val="solid"/>
          </a:ln>
        </p:spPr>
      </p:sp>
      <p:sp>
        <p:nvSpPr>
          <p:cNvPr id="101" name="gate-rule"/>
          <p:cNvSpPr>
            <a:spLocks noGrp="1"/>
          </p:cNvSpPr>
          <p:nvPr/>
        </p:nvSpPr>
        <p:spPr>
          <a:xfrm>
            <a:off x="5162550" y="5610225"/>
            <a:ext cx="2628900" cy="219075"/>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Gate 未通过，不允许进入下一阶段。</a:t>
            </a:r>
          </a:p>
        </p:txBody>
      </p:sp>
      <p:sp>
        <p:nvSpPr>
          <p:cNvPr id="102" name="routing-label-box"/>
          <p:cNvSpPr>
            <a:spLocks noGrp="1"/>
          </p:cNvSpPr>
          <p:nvPr/>
        </p:nvSpPr>
        <p:spPr>
          <a:xfrm>
            <a:off x="8324850" y="3990975"/>
            <a:ext cx="742950" cy="409575"/>
          </a:xfrm>
          <a:prstGeom prst="roundRect">
            <a:avLst>
              <a:gd name="adj" fmla="val 11628"/>
            </a:avLst>
          </a:prstGeom>
          <a:solidFill>
            <a:srgbClr val="F2F6F8"/>
          </a:solidFill>
          <a:ln w="7620">
            <a:solidFill>
              <a:srgbClr val="D8DEE3"/>
            </a:solidFill>
            <a:prstDash val="solid"/>
          </a:ln>
        </p:spPr>
      </p:sp>
      <p:sp>
        <p:nvSpPr>
          <p:cNvPr id="103" name="routing-label"/>
          <p:cNvSpPr>
            <a:spLocks noGrp="1"/>
          </p:cNvSpPr>
          <p:nvPr/>
        </p:nvSpPr>
        <p:spPr>
          <a:xfrm>
            <a:off x="8401050" y="4057650"/>
            <a:ext cx="590550" cy="266700"/>
          </a:xfrm>
          <a:prstGeom prst="rect">
            <a:avLst/>
          </a:prstGeom>
          <a:noFill/>
          <a:ln w="0">
            <a:noFill/>
            <a:prstDash val="solid"/>
          </a:ln>
        </p:spPr>
        <p:txBody>
          <a:bodyPr wrap="none" lIns="0" tIns="0" rIns="0" bIns="0" anchor="ctr">
            <a:normAutofit fontScale="93731"/>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Routing</a:t>
            </a:r>
          </a:p>
        </p:txBody>
      </p:sp>
      <p:sp>
        <p:nvSpPr>
          <p:cNvPr id="104" name="routing-diagram"/>
          <p:cNvSpPr>
            <a:spLocks noGrp="1"/>
          </p:cNvSpPr>
          <p:nvPr/>
        </p:nvSpPr>
        <p:spPr>
          <a:xfrm>
            <a:off x="9201150" y="4010025"/>
            <a:ext cx="2152650" cy="190500"/>
          </a:xfrm>
          <a:prstGeom prst="rect">
            <a:avLst/>
          </a:prstGeom>
          <a:noFill/>
          <a:ln w="0">
            <a:noFill/>
            <a:prstDash val="solid"/>
          </a:ln>
        </p:spPr>
        <p:txBody>
          <a:bodyPr wrap="none" lIns="0" tIns="0" rIns="0" bIns="0" anchor="ctr">
            <a:normAutofit fontScale="93715"/>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Condition → Path A / Path B</a:t>
            </a:r>
          </a:p>
        </p:txBody>
      </p:sp>
      <p:sp>
        <p:nvSpPr>
          <p:cNvPr id="105" name="routing-description"/>
          <p:cNvSpPr>
            <a:spLocks noGrp="1"/>
          </p:cNvSpPr>
          <p:nvPr/>
        </p:nvSpPr>
        <p:spPr>
          <a:xfrm>
            <a:off x="9201150" y="41910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按条件选择下一条执行路径</a:t>
            </a:r>
          </a:p>
        </p:txBody>
      </p:sp>
      <p:sp>
        <p:nvSpPr>
          <p:cNvPr id="106" name="retry-label-box"/>
          <p:cNvSpPr>
            <a:spLocks noGrp="1"/>
          </p:cNvSpPr>
          <p:nvPr/>
        </p:nvSpPr>
        <p:spPr>
          <a:xfrm>
            <a:off x="8324850" y="4486275"/>
            <a:ext cx="742950" cy="409575"/>
          </a:xfrm>
          <a:prstGeom prst="roundRect">
            <a:avLst>
              <a:gd name="adj" fmla="val 11628"/>
            </a:avLst>
          </a:prstGeom>
          <a:solidFill>
            <a:srgbClr val="F2F6F8"/>
          </a:solidFill>
          <a:ln w="7620">
            <a:solidFill>
              <a:srgbClr val="D8DEE3"/>
            </a:solidFill>
            <a:prstDash val="solid"/>
          </a:ln>
        </p:spPr>
      </p:sp>
      <p:sp>
        <p:nvSpPr>
          <p:cNvPr id="107" name="retry-label"/>
          <p:cNvSpPr>
            <a:spLocks noGrp="1"/>
          </p:cNvSpPr>
          <p:nvPr/>
        </p:nvSpPr>
        <p:spPr>
          <a:xfrm>
            <a:off x="8401050" y="4552950"/>
            <a:ext cx="590550" cy="26670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Retry</a:t>
            </a:r>
          </a:p>
        </p:txBody>
      </p:sp>
      <p:sp>
        <p:nvSpPr>
          <p:cNvPr id="108" name="retry-diagram"/>
          <p:cNvSpPr>
            <a:spLocks noGrp="1"/>
          </p:cNvSpPr>
          <p:nvPr/>
        </p:nvSpPr>
        <p:spPr>
          <a:xfrm>
            <a:off x="9201150" y="45053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  FAIL  ↺</a:t>
            </a:r>
          </a:p>
        </p:txBody>
      </p:sp>
      <p:sp>
        <p:nvSpPr>
          <p:cNvPr id="109" name="retry-description"/>
          <p:cNvSpPr>
            <a:spLocks noGrp="1"/>
          </p:cNvSpPr>
          <p:nvPr/>
        </p:nvSpPr>
        <p:spPr>
          <a:xfrm>
            <a:off x="9201150" y="46863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失败后重新执行当前阶段</a:t>
            </a:r>
          </a:p>
        </p:txBody>
      </p:sp>
      <p:sp>
        <p:nvSpPr>
          <p:cNvPr id="110" name="fallback-label-box"/>
          <p:cNvSpPr>
            <a:spLocks noGrp="1"/>
          </p:cNvSpPr>
          <p:nvPr/>
        </p:nvSpPr>
        <p:spPr>
          <a:xfrm>
            <a:off x="8324850" y="4981575"/>
            <a:ext cx="742950" cy="409575"/>
          </a:xfrm>
          <a:prstGeom prst="roundRect">
            <a:avLst>
              <a:gd name="adj" fmla="val 11628"/>
            </a:avLst>
          </a:prstGeom>
          <a:solidFill>
            <a:srgbClr val="F2F6F8"/>
          </a:solidFill>
          <a:ln w="7620">
            <a:solidFill>
              <a:srgbClr val="D8DEE3"/>
            </a:solidFill>
            <a:prstDash val="solid"/>
          </a:ln>
        </p:spPr>
      </p:sp>
      <p:sp>
        <p:nvSpPr>
          <p:cNvPr id="111" name="fallback-label"/>
          <p:cNvSpPr>
            <a:spLocks noGrp="1"/>
          </p:cNvSpPr>
          <p:nvPr/>
        </p:nvSpPr>
        <p:spPr>
          <a:xfrm>
            <a:off x="8401050" y="5048250"/>
            <a:ext cx="590550" cy="266700"/>
          </a:xfrm>
          <a:prstGeom prst="rect">
            <a:avLst/>
          </a:prstGeom>
          <a:noFill/>
          <a:ln w="0">
            <a:noFill/>
            <a:prstDash val="solid"/>
          </a:ln>
        </p:spPr>
        <p:txBody>
          <a:bodyPr wrap="none" lIns="0" tIns="0" rIns="0" bIns="0" anchor="ctr">
            <a:normAutofit fontScale="93114"/>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Fallback</a:t>
            </a:r>
          </a:p>
        </p:txBody>
      </p:sp>
      <p:sp>
        <p:nvSpPr>
          <p:cNvPr id="112" name="fallback-diagram"/>
          <p:cNvSpPr>
            <a:spLocks noGrp="1"/>
          </p:cNvSpPr>
          <p:nvPr/>
        </p:nvSpPr>
        <p:spPr>
          <a:xfrm>
            <a:off x="9201150" y="50006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C  FAIL  →  Stage B</a:t>
            </a:r>
          </a:p>
        </p:txBody>
      </p:sp>
      <p:sp>
        <p:nvSpPr>
          <p:cNvPr id="113" name="fallback-description"/>
          <p:cNvSpPr>
            <a:spLocks noGrp="1"/>
          </p:cNvSpPr>
          <p:nvPr/>
        </p:nvSpPr>
        <p:spPr>
          <a:xfrm>
            <a:off x="9201150" y="51816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无法继续时返回前一阶段</a:t>
            </a:r>
          </a:p>
        </p:txBody>
      </p:sp>
      <p:sp>
        <p:nvSpPr>
          <p:cNvPr id="115" name="flow-rule"/>
          <p:cNvSpPr>
            <a:spLocks noGrp="1"/>
          </p:cNvSpPr>
          <p:nvPr/>
        </p:nvSpPr>
        <p:spPr>
          <a:xfrm>
            <a:off x="8362950" y="5553075"/>
            <a:ext cx="3009900" cy="266700"/>
          </a:xfrm>
          <a:prstGeom prst="rect">
            <a:avLst/>
          </a:prstGeom>
          <a:noFill/>
          <a:ln w="0">
            <a:noFill/>
            <a:prstDash val="solid"/>
          </a:ln>
        </p:spPr>
        <p:txBody>
          <a:bodyPr wrap="none" lIns="0" tIns="0" rIns="0" bIns="0" anchor="ctr">
            <a:normAutofit fontScale="93226"/>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6" name="summary-band"/>
          <p:cNvSpPr>
            <a:spLocks noGrp="1"/>
          </p:cNvSpPr>
          <p:nvPr/>
        </p:nvSpPr>
        <p:spPr>
          <a:xfrm>
            <a:off x="609600" y="6191250"/>
            <a:ext cx="10972800" cy="419100"/>
          </a:xfrm>
          <a:prstGeom prst="rect">
            <a:avLst/>
          </a:prstGeom>
          <a:solidFill>
            <a:srgbClr val="F3F4F5"/>
          </a:solidFill>
          <a:ln w="0">
            <a:noFill/>
            <a:prstDash val="solid"/>
          </a:ln>
        </p:spPr>
      </p:sp>
      <p:sp>
        <p:nvSpPr>
          <p:cNvPr id="117" name="summary-accent"/>
          <p:cNvSpPr>
            <a:spLocks noGrp="1"/>
          </p:cNvSpPr>
          <p:nvPr/>
        </p:nvSpPr>
        <p:spPr>
          <a:xfrm>
            <a:off x="609600" y="6191250"/>
            <a:ext cx="38100" cy="419100"/>
          </a:xfrm>
          <a:prstGeom prst="rect">
            <a:avLst/>
          </a:prstGeom>
          <a:solidFill>
            <a:srgbClr val="557A96"/>
          </a:solidFill>
          <a:ln w="0">
            <a:noFill/>
            <a:prstDash val="solid"/>
          </a:ln>
        </p:spPr>
      </p:sp>
      <p:sp>
        <p:nvSpPr>
          <p:cNvPr id="118"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不只是步骤列表，而是通过</a:t>
            </a:r>
            <a:r>
              <a:rPr sz="1390" b="1" dirty="0">
                <a:solidFill>
                  <a:srgbClr val="414951"/>
                </a:solidFill>
                <a:latin typeface="微软雅黑" panose="020B0503020204020204" charset="-122"/>
                <a:ea typeface="微软雅黑" panose="020B0503020204020204" charset="-122"/>
                <a:cs typeface="微软雅黑" panose="020B0503020204020204" charset="-122"/>
              </a:rPr>
              <a:t> </a:t>
            </a:r>
            <a:r>
              <a:rPr lang="zh-CN" altLang="en-US" sz="1390" b="1" dirty="0" smtClean="0">
                <a:solidFill>
                  <a:srgbClr val="414951"/>
                </a:solidFill>
                <a:latin typeface="微软雅黑" panose="020B0503020204020204" charset="-122"/>
                <a:ea typeface="微软雅黑" panose="020B0503020204020204" charset="-122"/>
                <a:cs typeface="微软雅黑" panose="020B0503020204020204" charset="-122"/>
              </a:rPr>
              <a:t>上述这些结构</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让任务以可检查、可回退的方式向前推进</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2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2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3</a:t>
            </a:r>
          </a:p>
        </p:txBody>
      </p:sp>
    </p:spTree>
    <p:extLst>
      <p:ext uri="{BB962C8B-B14F-4D97-AF65-F5344CB8AC3E}">
        <p14:creationId xmlns:p14="http://schemas.microsoft.com/office/powerpoint/2010/main" val="42622348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55295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09650" y="209550"/>
            <a:ext cx="857250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Workflow：如何调用资源与外部能力</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3524250" cy="285750"/>
          </a:xfrm>
          <a:prstGeom prst="rect">
            <a:avLst/>
          </a:prstGeom>
          <a:noFill/>
          <a:ln w="0">
            <a:noFill/>
            <a:prstDash val="solid"/>
          </a:ln>
        </p:spPr>
        <p:txBody>
          <a:bodyPr wrap="none" lIns="0" tIns="0" rIns="0" bIns="0" anchor="ctr">
            <a:normAutofit/>
          </a:bodyPr>
          <a:lstStyle/>
          <a:p>
            <a:pPr>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sz="1800" b="1" dirty="0" err="1" smtClean="0">
                <a:solidFill>
                  <a:srgbClr val="252B31"/>
                </a:solidFill>
                <a:latin typeface="微软雅黑" panose="020B0503020204020204" charset="-122"/>
                <a:ea typeface="微软雅黑" panose="020B0503020204020204" charset="-122"/>
                <a:cs typeface="微软雅黑" panose="020B0503020204020204" charset="-122"/>
              </a:rPr>
              <a:t>资源调用</a:t>
            </a:r>
            <a:r>
              <a:rPr lang="zh-CN" altLang="en-US" b="1" dirty="0">
                <a:solidFill>
                  <a:srgbClr val="252B31"/>
                </a:solidFill>
                <a:latin typeface="微软雅黑" panose="020B0503020204020204" charset="-122"/>
                <a:ea typeface="微软雅黑" panose="020B0503020204020204" charset="-122"/>
                <a:cs typeface="微软雅黑" panose="020B0503020204020204" charset="-122"/>
              </a:rPr>
              <a:t>示例</a:t>
            </a:r>
            <a:r>
              <a:rPr sz="1800" b="1" dirty="0" smtClean="0">
                <a:solidFill>
                  <a:srgbClr val="252B31"/>
                </a:solidFill>
                <a:latin typeface="微软雅黑" panose="020B0503020204020204" charset="-122"/>
                <a:ea typeface="微软雅黑" panose="020B0503020204020204" charset="-122"/>
                <a:cs typeface="微软雅黑" panose="020B0503020204020204" charset="-122"/>
              </a:rPr>
              <a:t>）</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3429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可用资源与能力</a:t>
            </a:r>
          </a:p>
        </p:txBody>
      </p:sp>
      <p:sp>
        <p:nvSpPr>
          <p:cNvPr id="10" name="editor-frame"/>
          <p:cNvSpPr>
            <a:spLocks noGrp="1"/>
          </p:cNvSpPr>
          <p:nvPr/>
        </p:nvSpPr>
        <p:spPr>
          <a:xfrm>
            <a:off x="609600" y="1600200"/>
            <a:ext cx="4000500" cy="42481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3812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381250"/>
          </a:xfrm>
          <a:prstGeom prst="rect">
            <a:avLst/>
          </a:prstGeom>
          <a:solidFill>
            <a:srgbClr val="557A96"/>
          </a:solidFill>
          <a:ln w="0">
            <a:noFill/>
            <a:prstDash val="solid"/>
          </a:ln>
        </p:spPr>
      </p:sp>
      <p:sp>
        <p:nvSpPr>
          <p:cNvPr id="26" name="workflow-code"/>
          <p:cNvSpPr>
            <a:spLocks noGrp="1"/>
          </p:cNvSpPr>
          <p:nvPr/>
        </p:nvSpPr>
        <p:spPr>
          <a:xfrm>
            <a:off x="914400" y="3152775"/>
            <a:ext cx="3333750" cy="2133600"/>
          </a:xfrm>
          <a:prstGeom prst="rect">
            <a:avLst/>
          </a:prstGeom>
          <a:noFill/>
          <a:ln w="0">
            <a:noFill/>
            <a:prstDash val="solid"/>
          </a:ln>
        </p:spPr>
        <p:txBody>
          <a:bodyPr wrap="none" lIns="0" tIns="0" rIns="0" bIns="0" anchor="t">
            <a:normAutofit/>
          </a:bodyPr>
          <a:lstStyle/>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Workflow</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Stage A</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Read: </a:t>
            </a:r>
            <a:r>
              <a:rPr sz="1110" b="1" dirty="0">
                <a:solidFill>
                  <a:srgbClr val="FF0000"/>
                </a:solidFill>
                <a:latin typeface="Consolas" panose="020B0609020204030204"/>
                <a:ea typeface="Consolas" panose="020B0609020204030204"/>
                <a:cs typeface="Consolas" panose="020B0609020204030204"/>
              </a:rPr>
              <a:t>references</a:t>
            </a:r>
            <a:r>
              <a:rPr sz="1110" b="0" dirty="0">
                <a:solidFill>
                  <a:srgbClr val="414951"/>
                </a:solidFill>
                <a:latin typeface="Consolas" panose="020B0609020204030204"/>
                <a:ea typeface="Consolas" panose="020B0609020204030204"/>
                <a:cs typeface="Consolas" panose="020B0609020204030204"/>
              </a:rPr>
              <a:t>/rules.md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If needed: </a:t>
            </a:r>
            <a:r>
              <a:rPr sz="1110" b="0" dirty="0">
                <a:solidFill>
                  <a:srgbClr val="FF0000"/>
                </a:solidFill>
                <a:latin typeface="Consolas" panose="020B0609020204030204"/>
                <a:ea typeface="Consolas" panose="020B0609020204030204"/>
                <a:cs typeface="Consolas" panose="020B0609020204030204"/>
              </a:rPr>
              <a:t>examples</a:t>
            </a:r>
            <a:r>
              <a:rPr sz="1110" b="0" dirty="0">
                <a:solidFill>
                  <a:srgbClr val="414951"/>
                </a:solidFill>
                <a:latin typeface="Consolas" panose="020B0609020204030204"/>
                <a:ea typeface="Consolas" panose="020B0609020204030204"/>
                <a:cs typeface="Consolas" panose="020B0609020204030204"/>
              </a:rPr>
              <a:t>/example.md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Run: scripts/check.py</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B</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Delegate: </a:t>
            </a:r>
            <a:r>
              <a:rPr sz="1110" b="0" dirty="0">
                <a:solidFill>
                  <a:srgbClr val="FF0000"/>
                </a:solidFill>
                <a:latin typeface="Consolas" panose="020B0609020204030204"/>
                <a:ea typeface="Consolas" panose="020B0609020204030204"/>
                <a:cs typeface="Consolas" panose="020B0609020204030204"/>
              </a:rPr>
              <a:t>subagent</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C</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Call: </a:t>
            </a:r>
            <a:r>
              <a:rPr sz="1110" b="0" dirty="0">
                <a:solidFill>
                  <a:srgbClr val="FF0000"/>
                </a:solidFill>
                <a:latin typeface="Consolas" panose="020B0609020204030204"/>
                <a:ea typeface="Consolas" panose="020B0609020204030204"/>
                <a:cs typeface="Consolas" panose="020B0609020204030204"/>
              </a:rPr>
              <a:t>another-skill</a:t>
            </a:r>
          </a:p>
        </p:txBody>
      </p:sp>
      <p:sp>
        <p:nvSpPr>
          <p:cNvPr id="28" name="resources-number"/>
          <p:cNvSpPr>
            <a:spLocks noGrp="1"/>
          </p:cNvSpPr>
          <p:nvPr/>
        </p:nvSpPr>
        <p:spPr>
          <a:xfrm>
            <a:off x="4953000" y="1600200"/>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9" name="resources-heading"/>
          <p:cNvSpPr>
            <a:spLocks noGrp="1"/>
          </p:cNvSpPr>
          <p:nvPr/>
        </p:nvSpPr>
        <p:spPr>
          <a:xfrm>
            <a:off x="5353050" y="1581150"/>
            <a:ext cx="125730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sz="1725" b="1">
                <a:solidFill>
                  <a:srgbClr val="252B31"/>
                </a:solidFill>
                <a:latin typeface="微软雅黑" panose="020B0503020204020204" charset="-122"/>
                <a:ea typeface="微软雅黑" panose="020B0503020204020204" charset="-122"/>
                <a:cs typeface="微软雅黑" panose="020B0503020204020204" charset="-122"/>
              </a:rPr>
              <a:t>Resources</a:t>
            </a:r>
          </a:p>
        </p:txBody>
      </p:sp>
      <p:sp>
        <p:nvSpPr>
          <p:cNvPr id="30" name="resources-subheading"/>
          <p:cNvSpPr>
            <a:spLocks noGrp="1"/>
          </p:cNvSpPr>
          <p:nvPr/>
        </p:nvSpPr>
        <p:spPr>
          <a:xfrm>
            <a:off x="6705600" y="1619250"/>
            <a:ext cx="342900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a:solidFill>
                  <a:srgbClr val="68727B"/>
                </a:solidFill>
                <a:latin typeface="微软雅黑" panose="020B0503020204020204" charset="-122"/>
                <a:ea typeface="微软雅黑" panose="020B0503020204020204" charset="-122"/>
                <a:cs typeface="微软雅黑" panose="020B0503020204020204" charset="-122"/>
              </a:rPr>
              <a:t>执行过程中可以按需读取或运行的资源</a:t>
            </a:r>
          </a:p>
        </p:txBody>
      </p:sp>
      <p:sp>
        <p:nvSpPr>
          <p:cNvPr id="31" name="reference-card"/>
          <p:cNvSpPr>
            <a:spLocks noGrp="1"/>
          </p:cNvSpPr>
          <p:nvPr/>
        </p:nvSpPr>
        <p:spPr>
          <a:xfrm>
            <a:off x="4953000" y="1943100"/>
            <a:ext cx="2133600" cy="1704975"/>
          </a:xfrm>
          <a:prstGeom prst="roundRect">
            <a:avLst>
              <a:gd name="adj" fmla="val 3352"/>
            </a:avLst>
          </a:prstGeom>
          <a:solidFill>
            <a:srgbClr val="FFFFFF"/>
          </a:solidFill>
          <a:ln w="9525">
            <a:solidFill>
              <a:srgbClr val="D8DEE3"/>
            </a:solidFill>
            <a:prstDash val="solid"/>
          </a:ln>
        </p:spPr>
      </p:sp>
      <p:sp>
        <p:nvSpPr>
          <p:cNvPr id="32" name="reference-accent"/>
          <p:cNvSpPr>
            <a:spLocks noGrp="1"/>
          </p:cNvSpPr>
          <p:nvPr/>
        </p:nvSpPr>
        <p:spPr>
          <a:xfrm>
            <a:off x="4953000" y="1943100"/>
            <a:ext cx="2133600" cy="28575"/>
          </a:xfrm>
          <a:prstGeom prst="rect">
            <a:avLst/>
          </a:prstGeom>
          <a:solidFill>
            <a:srgbClr val="557A96"/>
          </a:solidFill>
          <a:ln w="0">
            <a:noFill/>
            <a:prstDash val="solid"/>
          </a:ln>
        </p:spPr>
      </p:sp>
      <p:sp>
        <p:nvSpPr>
          <p:cNvPr id="33" name="reference-title"/>
          <p:cNvSpPr>
            <a:spLocks noGrp="1"/>
          </p:cNvSpPr>
          <p:nvPr/>
        </p:nvSpPr>
        <p:spPr>
          <a:xfrm>
            <a:off x="50863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35" name="reference-subtitle"/>
          <p:cNvSpPr>
            <a:spLocks noGrp="1"/>
          </p:cNvSpPr>
          <p:nvPr/>
        </p:nvSpPr>
        <p:spPr>
          <a:xfrm>
            <a:off x="50863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知识与规则</a:t>
            </a:r>
          </a:p>
        </p:txBody>
      </p:sp>
      <p:sp>
        <p:nvSpPr>
          <p:cNvPr id="36" name="reference-bullets"/>
          <p:cNvSpPr>
            <a:spLocks noGrp="1"/>
          </p:cNvSpPr>
          <p:nvPr/>
        </p:nvSpPr>
        <p:spPr>
          <a:xfrm>
            <a:off x="50863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专业领域知识</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平台 / 硬件信息</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API / Primitive</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技术规范 / 优化规则</a:t>
            </a:r>
          </a:p>
        </p:txBody>
      </p:sp>
      <p:sp>
        <p:nvSpPr>
          <p:cNvPr id="40" name="examples-card"/>
          <p:cNvSpPr>
            <a:spLocks noGrp="1"/>
          </p:cNvSpPr>
          <p:nvPr/>
        </p:nvSpPr>
        <p:spPr>
          <a:xfrm>
            <a:off x="7200900" y="1943100"/>
            <a:ext cx="2133600" cy="1704975"/>
          </a:xfrm>
          <a:prstGeom prst="roundRect">
            <a:avLst>
              <a:gd name="adj" fmla="val 3352"/>
            </a:avLst>
          </a:prstGeom>
          <a:solidFill>
            <a:srgbClr val="FFFFFF"/>
          </a:solidFill>
          <a:ln w="9525">
            <a:solidFill>
              <a:srgbClr val="D8DEE3"/>
            </a:solidFill>
            <a:prstDash val="solid"/>
          </a:ln>
        </p:spPr>
      </p:sp>
      <p:sp>
        <p:nvSpPr>
          <p:cNvPr id="41" name="examples-accent"/>
          <p:cNvSpPr>
            <a:spLocks noGrp="1"/>
          </p:cNvSpPr>
          <p:nvPr/>
        </p:nvSpPr>
        <p:spPr>
          <a:xfrm>
            <a:off x="7200900" y="1943100"/>
            <a:ext cx="2133600" cy="28575"/>
          </a:xfrm>
          <a:prstGeom prst="rect">
            <a:avLst/>
          </a:prstGeom>
          <a:solidFill>
            <a:srgbClr val="557A96"/>
          </a:solidFill>
          <a:ln w="0">
            <a:noFill/>
            <a:prstDash val="solid"/>
          </a:ln>
        </p:spPr>
      </p:sp>
      <p:sp>
        <p:nvSpPr>
          <p:cNvPr id="42" name="examples-title"/>
          <p:cNvSpPr>
            <a:spLocks noGrp="1"/>
          </p:cNvSpPr>
          <p:nvPr/>
        </p:nvSpPr>
        <p:spPr>
          <a:xfrm>
            <a:off x="73342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44" name="examples-subtitle"/>
          <p:cNvSpPr>
            <a:spLocks noGrp="1"/>
          </p:cNvSpPr>
          <p:nvPr/>
        </p:nvSpPr>
        <p:spPr>
          <a:xfrm>
            <a:off x="73342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已有案例</a:t>
            </a:r>
          </a:p>
        </p:txBody>
      </p:sp>
      <p:sp>
        <p:nvSpPr>
          <p:cNvPr id="45" name="examples-bullets"/>
          <p:cNvSpPr>
            <a:spLocks noGrp="1"/>
          </p:cNvSpPr>
          <p:nvPr/>
        </p:nvSpPr>
        <p:spPr>
          <a:xfrm>
            <a:off x="73342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类似任务案例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输入 / 输出示例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已有实现</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常见场景解法</a:t>
            </a:r>
          </a:p>
        </p:txBody>
      </p:sp>
      <p:sp>
        <p:nvSpPr>
          <p:cNvPr id="48" name="examples-takeaway"/>
          <p:cNvSpPr>
            <a:spLocks noGrp="1"/>
          </p:cNvSpPr>
          <p:nvPr/>
        </p:nvSpPr>
        <p:spPr>
          <a:xfrm>
            <a:off x="73342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参考类似问题以前怎么做</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scripts-card"/>
          <p:cNvSpPr>
            <a:spLocks noGrp="1"/>
          </p:cNvSpPr>
          <p:nvPr/>
        </p:nvSpPr>
        <p:spPr>
          <a:xfrm>
            <a:off x="9448800" y="1943100"/>
            <a:ext cx="2133600" cy="1704975"/>
          </a:xfrm>
          <a:prstGeom prst="roundRect">
            <a:avLst>
              <a:gd name="adj" fmla="val 3352"/>
            </a:avLst>
          </a:prstGeom>
          <a:solidFill>
            <a:srgbClr val="FFFFFF"/>
          </a:solidFill>
          <a:ln w="9525">
            <a:solidFill>
              <a:srgbClr val="D8DEE3"/>
            </a:solidFill>
            <a:prstDash val="solid"/>
          </a:ln>
        </p:spPr>
      </p:sp>
      <p:sp>
        <p:nvSpPr>
          <p:cNvPr id="50" name="scripts-accent"/>
          <p:cNvSpPr>
            <a:spLocks noGrp="1"/>
          </p:cNvSpPr>
          <p:nvPr/>
        </p:nvSpPr>
        <p:spPr>
          <a:xfrm>
            <a:off x="9448800" y="1943100"/>
            <a:ext cx="2133600" cy="28575"/>
          </a:xfrm>
          <a:prstGeom prst="rect">
            <a:avLst/>
          </a:prstGeom>
          <a:solidFill>
            <a:srgbClr val="557A96"/>
          </a:solidFill>
          <a:ln w="0">
            <a:noFill/>
            <a:prstDash val="solid"/>
          </a:ln>
        </p:spPr>
      </p:sp>
      <p:sp>
        <p:nvSpPr>
          <p:cNvPr id="51" name="scripts-title"/>
          <p:cNvSpPr>
            <a:spLocks noGrp="1"/>
          </p:cNvSpPr>
          <p:nvPr/>
        </p:nvSpPr>
        <p:spPr>
          <a:xfrm>
            <a:off x="95821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3" name="scripts-subtitle"/>
          <p:cNvSpPr>
            <a:spLocks noGrp="1"/>
          </p:cNvSpPr>
          <p:nvPr/>
        </p:nvSpPr>
        <p:spPr>
          <a:xfrm>
            <a:off x="95821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dirty="0" err="1">
                <a:solidFill>
                  <a:srgbClr val="557A96"/>
                </a:solidFill>
                <a:latin typeface="微软雅黑" panose="020B0503020204020204" charset="-122"/>
                <a:ea typeface="微软雅黑" panose="020B0503020204020204" charset="-122"/>
                <a:cs typeface="微软雅黑" panose="020B0503020204020204" charset="-122"/>
              </a:rPr>
              <a:t>确定性执行工具</a:t>
            </a: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4" name="scripts-bullets"/>
          <p:cNvSpPr>
            <a:spLocks noGrp="1"/>
          </p:cNvSpPr>
          <p:nvPr/>
        </p:nvSpPr>
        <p:spPr>
          <a:xfrm>
            <a:off x="95821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环境检测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编译 / 执行</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测试 / Benchmark</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文件 / 日志处理</a:t>
            </a:r>
          </a:p>
        </p:txBody>
      </p:sp>
      <p:sp>
        <p:nvSpPr>
          <p:cNvPr id="57" name="scripts-takeaway"/>
          <p:cNvSpPr>
            <a:spLocks noGrp="1"/>
          </p:cNvSpPr>
          <p:nvPr/>
        </p:nvSpPr>
        <p:spPr>
          <a:xfrm>
            <a:off x="95821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一般是脚本和函数</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capability-number"/>
          <p:cNvSpPr>
            <a:spLocks noGrp="1"/>
          </p:cNvSpPr>
          <p:nvPr/>
        </p:nvSpPr>
        <p:spPr>
          <a:xfrm>
            <a:off x="4914900" y="3838576"/>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61" name="capability-heading"/>
          <p:cNvSpPr>
            <a:spLocks noGrp="1"/>
          </p:cNvSpPr>
          <p:nvPr/>
        </p:nvSpPr>
        <p:spPr>
          <a:xfrm>
            <a:off x="5314950" y="3819526"/>
            <a:ext cx="180975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725" b="1" dirty="0" smtClean="0">
                <a:solidFill>
                  <a:srgbClr val="252B31"/>
                </a:solidFill>
                <a:latin typeface="微软雅黑" panose="020B0503020204020204" charset="-122"/>
                <a:ea typeface="微软雅黑" panose="020B0503020204020204" charset="-122"/>
                <a:cs typeface="微软雅黑" panose="020B0503020204020204" charset="-122"/>
              </a:rPr>
              <a:t>扩展能力</a:t>
            </a:r>
            <a:endParaRPr sz="17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capability-subheading"/>
          <p:cNvSpPr>
            <a:spLocks noGrp="1"/>
          </p:cNvSpPr>
          <p:nvPr/>
        </p:nvSpPr>
        <p:spPr>
          <a:xfrm>
            <a:off x="7153275" y="3857626"/>
            <a:ext cx="314325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dirty="0" err="1">
                <a:solidFill>
                  <a:srgbClr val="68727B"/>
                </a:solidFill>
                <a:latin typeface="微软雅黑" panose="020B0503020204020204" charset="-122"/>
                <a:ea typeface="微软雅黑" panose="020B0503020204020204" charset="-122"/>
                <a:cs typeface="微软雅黑" panose="020B0503020204020204" charset="-122"/>
              </a:rPr>
              <a:t>当前</a:t>
            </a:r>
            <a:r>
              <a:rPr sz="1200" b="0" dirty="0">
                <a:solidFill>
                  <a:srgbClr val="68727B"/>
                </a:solidFill>
                <a:latin typeface="微软雅黑" panose="020B0503020204020204" charset="-122"/>
                <a:ea typeface="微软雅黑" panose="020B0503020204020204" charset="-122"/>
                <a:cs typeface="微软雅黑" panose="020B0503020204020204" charset="-122"/>
              </a:rPr>
              <a:t> Stage </a:t>
            </a:r>
            <a:r>
              <a:rPr sz="1200" b="0" dirty="0" err="1" smtClean="0">
                <a:solidFill>
                  <a:srgbClr val="68727B"/>
                </a:solidFill>
                <a:latin typeface="微软雅黑" panose="020B0503020204020204" charset="-122"/>
                <a:ea typeface="微软雅黑" panose="020B0503020204020204" charset="-122"/>
                <a:cs typeface="微软雅黑" panose="020B0503020204020204" charset="-122"/>
              </a:rPr>
              <a:t>不直接完成，</a:t>
            </a:r>
            <a:r>
              <a:rPr sz="1200" b="0" dirty="0" err="1">
                <a:solidFill>
                  <a:srgbClr val="68727B"/>
                </a:solidFill>
                <a:latin typeface="微软雅黑" panose="020B0503020204020204" charset="-122"/>
                <a:ea typeface="微软雅黑" panose="020B0503020204020204" charset="-122"/>
                <a:cs typeface="微软雅黑" panose="020B0503020204020204" charset="-122"/>
              </a:rPr>
              <a:t>把工作交出去</a:t>
            </a:r>
            <a:endParaRPr sz="120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3" name="subagent-card"/>
          <p:cNvSpPr>
            <a:spLocks noGrp="1"/>
          </p:cNvSpPr>
          <p:nvPr/>
        </p:nvSpPr>
        <p:spPr>
          <a:xfrm>
            <a:off x="4914900" y="4152901"/>
            <a:ext cx="3257550" cy="1524000"/>
          </a:xfrm>
          <a:prstGeom prst="roundRect">
            <a:avLst>
              <a:gd name="adj" fmla="val 3750"/>
            </a:avLst>
          </a:prstGeom>
          <a:solidFill>
            <a:srgbClr val="FFFFFF"/>
          </a:solidFill>
          <a:ln w="9525">
            <a:solidFill>
              <a:srgbClr val="D8DEE3"/>
            </a:solidFill>
            <a:prstDash val="solid"/>
          </a:ln>
        </p:spPr>
      </p:sp>
      <p:sp>
        <p:nvSpPr>
          <p:cNvPr id="64" name="subagent-accent"/>
          <p:cNvSpPr>
            <a:spLocks noGrp="1"/>
          </p:cNvSpPr>
          <p:nvPr/>
        </p:nvSpPr>
        <p:spPr>
          <a:xfrm>
            <a:off x="4914900" y="4152901"/>
            <a:ext cx="3257550" cy="28575"/>
          </a:xfrm>
          <a:prstGeom prst="rect">
            <a:avLst/>
          </a:prstGeom>
          <a:solidFill>
            <a:srgbClr val="557A96"/>
          </a:solidFill>
          <a:ln w="0">
            <a:noFill/>
            <a:prstDash val="solid"/>
          </a:ln>
        </p:spPr>
      </p:sp>
      <p:sp>
        <p:nvSpPr>
          <p:cNvPr id="68" name="subagent-line-1"/>
          <p:cNvSpPr>
            <a:spLocks noGrp="1"/>
          </p:cNvSpPr>
          <p:nvPr/>
        </p:nvSpPr>
        <p:spPr>
          <a:xfrm>
            <a:off x="5857875" y="4676776"/>
            <a:ext cx="238125" cy="0"/>
          </a:xfrm>
          <a:prstGeom prst="line">
            <a:avLst/>
          </a:prstGeom>
          <a:noFill/>
          <a:ln w="11430">
            <a:solidFill>
              <a:srgbClr val="557A96"/>
            </a:solidFill>
            <a:prstDash val="solid"/>
          </a:ln>
        </p:spPr>
      </p:sp>
      <p:sp>
        <p:nvSpPr>
          <p:cNvPr id="69" name="subagent-arrow-1"/>
          <p:cNvSpPr>
            <a:spLocks noGrp="1"/>
          </p:cNvSpPr>
          <p:nvPr/>
        </p:nvSpPr>
        <p:spPr>
          <a:xfrm rot="5400000">
            <a:off x="6057900" y="4638676"/>
            <a:ext cx="76200" cy="76200"/>
          </a:xfrm>
          <a:prstGeom prst="triangle">
            <a:avLst/>
          </a:prstGeom>
          <a:solidFill>
            <a:srgbClr val="557A96"/>
          </a:solidFill>
          <a:ln w="0">
            <a:solidFill>
              <a:srgbClr val="557A96"/>
            </a:solidFill>
            <a:prstDash val="solid"/>
          </a:ln>
        </p:spPr>
      </p:sp>
      <p:sp>
        <p:nvSpPr>
          <p:cNvPr id="70" name="subagent-line-2"/>
          <p:cNvSpPr>
            <a:spLocks noGrp="1"/>
          </p:cNvSpPr>
          <p:nvPr/>
        </p:nvSpPr>
        <p:spPr>
          <a:xfrm>
            <a:off x="6943725" y="4676776"/>
            <a:ext cx="238125" cy="0"/>
          </a:xfrm>
          <a:prstGeom prst="line">
            <a:avLst/>
          </a:prstGeom>
          <a:noFill/>
          <a:ln w="11430">
            <a:solidFill>
              <a:srgbClr val="557A96"/>
            </a:solidFill>
            <a:prstDash val="solid"/>
          </a:ln>
        </p:spPr>
      </p:sp>
      <p:sp>
        <p:nvSpPr>
          <p:cNvPr id="71" name="subagent-arrow-2"/>
          <p:cNvSpPr>
            <a:spLocks noGrp="1"/>
          </p:cNvSpPr>
          <p:nvPr/>
        </p:nvSpPr>
        <p:spPr>
          <a:xfrm rot="5400000">
            <a:off x="7143750" y="4638676"/>
            <a:ext cx="76200" cy="76200"/>
          </a:xfrm>
          <a:prstGeom prst="triangle">
            <a:avLst/>
          </a:prstGeom>
          <a:solidFill>
            <a:srgbClr val="557A96"/>
          </a:solidFill>
          <a:ln w="0">
            <a:solidFill>
              <a:srgbClr val="557A96"/>
            </a:solidFill>
            <a:prstDash val="solid"/>
          </a:ln>
        </p:spPr>
      </p:sp>
      <p:sp>
        <p:nvSpPr>
          <p:cNvPr id="72" name="subagent-current-box"/>
          <p:cNvSpPr>
            <a:spLocks noGrp="1"/>
          </p:cNvSpPr>
          <p:nvPr/>
        </p:nvSpPr>
        <p:spPr>
          <a:xfrm>
            <a:off x="5067300" y="4533901"/>
            <a:ext cx="790575" cy="295275"/>
          </a:xfrm>
          <a:prstGeom prst="roundRect">
            <a:avLst>
              <a:gd name="adj" fmla="val 12903"/>
            </a:avLst>
          </a:prstGeom>
          <a:solidFill>
            <a:srgbClr val="F7F9FA"/>
          </a:solidFill>
          <a:ln w="9525">
            <a:solidFill>
              <a:srgbClr val="7F9DB2"/>
            </a:solidFill>
            <a:prstDash val="solid"/>
          </a:ln>
        </p:spPr>
      </p:sp>
      <p:sp>
        <p:nvSpPr>
          <p:cNvPr id="73" name="subagent-current-text"/>
          <p:cNvSpPr>
            <a:spLocks noGrp="1"/>
          </p:cNvSpPr>
          <p:nvPr/>
        </p:nvSpPr>
        <p:spPr>
          <a:xfrm>
            <a:off x="510540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74" name="subagent-middle-box"/>
          <p:cNvSpPr>
            <a:spLocks noGrp="1"/>
          </p:cNvSpPr>
          <p:nvPr/>
        </p:nvSpPr>
        <p:spPr>
          <a:xfrm>
            <a:off x="6143625" y="4533901"/>
            <a:ext cx="800100" cy="295275"/>
          </a:xfrm>
          <a:prstGeom prst="roundRect">
            <a:avLst>
              <a:gd name="adj" fmla="val 12903"/>
            </a:avLst>
          </a:prstGeom>
          <a:solidFill>
            <a:srgbClr val="F2F6F8"/>
          </a:solidFill>
          <a:ln w="9525">
            <a:solidFill>
              <a:srgbClr val="7F9DB2"/>
            </a:solidFill>
            <a:prstDash val="solid"/>
          </a:ln>
        </p:spPr>
      </p:sp>
      <p:sp>
        <p:nvSpPr>
          <p:cNvPr id="75" name="subagent-middle-text"/>
          <p:cNvSpPr>
            <a:spLocks noGrp="1"/>
          </p:cNvSpPr>
          <p:nvPr/>
        </p:nvSpPr>
        <p:spPr>
          <a:xfrm>
            <a:off x="6181725" y="4552951"/>
            <a:ext cx="723900" cy="25717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76" name="subagent-result-box"/>
          <p:cNvSpPr>
            <a:spLocks noGrp="1"/>
          </p:cNvSpPr>
          <p:nvPr/>
        </p:nvSpPr>
        <p:spPr>
          <a:xfrm>
            <a:off x="7219950" y="4533901"/>
            <a:ext cx="685800" cy="295275"/>
          </a:xfrm>
          <a:prstGeom prst="roundRect">
            <a:avLst>
              <a:gd name="adj" fmla="val 12903"/>
            </a:avLst>
          </a:prstGeom>
          <a:solidFill>
            <a:srgbClr val="F7F9FA"/>
          </a:solidFill>
          <a:ln w="9525">
            <a:solidFill>
              <a:srgbClr val="7F9DB2"/>
            </a:solidFill>
            <a:prstDash val="solid"/>
          </a:ln>
        </p:spPr>
      </p:sp>
      <p:sp>
        <p:nvSpPr>
          <p:cNvPr id="77" name="subagent-result-text"/>
          <p:cNvSpPr>
            <a:spLocks noGrp="1"/>
          </p:cNvSpPr>
          <p:nvPr/>
        </p:nvSpPr>
        <p:spPr>
          <a:xfrm>
            <a:off x="725805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78" name="subagent-description"/>
          <p:cNvSpPr>
            <a:spLocks noGrp="1"/>
          </p:cNvSpPr>
          <p:nvPr/>
        </p:nvSpPr>
        <p:spPr>
          <a:xfrm>
            <a:off x="5086350" y="5024647"/>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把明确的具体子任务交给独立</a:t>
            </a:r>
            <a:r>
              <a:rPr sz="1165" b="1" dirty="0">
                <a:solidFill>
                  <a:srgbClr val="414951"/>
                </a:solidFill>
                <a:latin typeface="微软雅黑" panose="020B0503020204020204" charset="-122"/>
                <a:ea typeface="微软雅黑" panose="020B0503020204020204" charset="-122"/>
                <a:cs typeface="微软雅黑" panose="020B0503020204020204" charset="-122"/>
              </a:rPr>
              <a:t> Agent</a:t>
            </a:r>
          </a:p>
        </p:txBody>
      </p:sp>
      <p:sp>
        <p:nvSpPr>
          <p:cNvPr id="82" name="other-skill-card"/>
          <p:cNvSpPr>
            <a:spLocks noGrp="1"/>
          </p:cNvSpPr>
          <p:nvPr/>
        </p:nvSpPr>
        <p:spPr>
          <a:xfrm>
            <a:off x="8286750" y="4152901"/>
            <a:ext cx="3257550" cy="1524000"/>
          </a:xfrm>
          <a:prstGeom prst="roundRect">
            <a:avLst>
              <a:gd name="adj" fmla="val 3750"/>
            </a:avLst>
          </a:prstGeom>
          <a:solidFill>
            <a:srgbClr val="FFFFFF"/>
          </a:solidFill>
          <a:ln w="9525">
            <a:solidFill>
              <a:srgbClr val="D8DEE3"/>
            </a:solidFill>
            <a:prstDash val="solid"/>
          </a:ln>
        </p:spPr>
      </p:sp>
      <p:sp>
        <p:nvSpPr>
          <p:cNvPr id="83" name="other-skill-accent"/>
          <p:cNvSpPr>
            <a:spLocks noGrp="1"/>
          </p:cNvSpPr>
          <p:nvPr/>
        </p:nvSpPr>
        <p:spPr>
          <a:xfrm>
            <a:off x="8286750" y="4152901"/>
            <a:ext cx="3257550" cy="28575"/>
          </a:xfrm>
          <a:prstGeom prst="rect">
            <a:avLst/>
          </a:prstGeom>
          <a:solidFill>
            <a:srgbClr val="557A96"/>
          </a:solidFill>
          <a:ln w="0">
            <a:noFill/>
            <a:prstDash val="solid"/>
          </a:ln>
        </p:spPr>
      </p:sp>
      <p:sp>
        <p:nvSpPr>
          <p:cNvPr id="87" name="other-skill-line-1"/>
          <p:cNvSpPr>
            <a:spLocks noGrp="1"/>
          </p:cNvSpPr>
          <p:nvPr/>
        </p:nvSpPr>
        <p:spPr>
          <a:xfrm>
            <a:off x="9229725" y="4676776"/>
            <a:ext cx="238125" cy="0"/>
          </a:xfrm>
          <a:prstGeom prst="line">
            <a:avLst/>
          </a:prstGeom>
          <a:noFill/>
          <a:ln w="11430">
            <a:solidFill>
              <a:srgbClr val="557A96"/>
            </a:solidFill>
            <a:prstDash val="solid"/>
          </a:ln>
        </p:spPr>
      </p:sp>
      <p:sp>
        <p:nvSpPr>
          <p:cNvPr id="88" name="other-skill-arrow-1"/>
          <p:cNvSpPr>
            <a:spLocks noGrp="1"/>
          </p:cNvSpPr>
          <p:nvPr/>
        </p:nvSpPr>
        <p:spPr>
          <a:xfrm rot="5400000">
            <a:off x="9429750" y="4638676"/>
            <a:ext cx="76200" cy="76200"/>
          </a:xfrm>
          <a:prstGeom prst="triangle">
            <a:avLst/>
          </a:prstGeom>
          <a:solidFill>
            <a:srgbClr val="557A96"/>
          </a:solidFill>
          <a:ln w="0">
            <a:solidFill>
              <a:srgbClr val="557A96"/>
            </a:solidFill>
            <a:prstDash val="solid"/>
          </a:ln>
        </p:spPr>
      </p:sp>
      <p:sp>
        <p:nvSpPr>
          <p:cNvPr id="89" name="other-skill-line-2"/>
          <p:cNvSpPr>
            <a:spLocks noGrp="1"/>
          </p:cNvSpPr>
          <p:nvPr/>
        </p:nvSpPr>
        <p:spPr>
          <a:xfrm>
            <a:off x="10315575" y="4676776"/>
            <a:ext cx="238125" cy="0"/>
          </a:xfrm>
          <a:prstGeom prst="line">
            <a:avLst/>
          </a:prstGeom>
          <a:noFill/>
          <a:ln w="11430">
            <a:solidFill>
              <a:srgbClr val="557A96"/>
            </a:solidFill>
            <a:prstDash val="solid"/>
          </a:ln>
        </p:spPr>
      </p:sp>
      <p:sp>
        <p:nvSpPr>
          <p:cNvPr id="90" name="other-skill-arrow-2"/>
          <p:cNvSpPr>
            <a:spLocks noGrp="1"/>
          </p:cNvSpPr>
          <p:nvPr/>
        </p:nvSpPr>
        <p:spPr>
          <a:xfrm rot="5400000">
            <a:off x="10515600" y="4638676"/>
            <a:ext cx="76200" cy="76200"/>
          </a:xfrm>
          <a:prstGeom prst="triangle">
            <a:avLst/>
          </a:prstGeom>
          <a:solidFill>
            <a:srgbClr val="557A96"/>
          </a:solidFill>
          <a:ln w="0">
            <a:solidFill>
              <a:srgbClr val="557A96"/>
            </a:solidFill>
            <a:prstDash val="solid"/>
          </a:ln>
        </p:spPr>
      </p:sp>
      <p:sp>
        <p:nvSpPr>
          <p:cNvPr id="91" name="other-skill-current-box"/>
          <p:cNvSpPr>
            <a:spLocks noGrp="1"/>
          </p:cNvSpPr>
          <p:nvPr/>
        </p:nvSpPr>
        <p:spPr>
          <a:xfrm>
            <a:off x="8439150" y="4533901"/>
            <a:ext cx="790575" cy="295275"/>
          </a:xfrm>
          <a:prstGeom prst="roundRect">
            <a:avLst>
              <a:gd name="adj" fmla="val 12903"/>
            </a:avLst>
          </a:prstGeom>
          <a:solidFill>
            <a:srgbClr val="F7F9FA"/>
          </a:solidFill>
          <a:ln w="9525">
            <a:solidFill>
              <a:srgbClr val="7F9DB2"/>
            </a:solidFill>
            <a:prstDash val="solid"/>
          </a:ln>
        </p:spPr>
      </p:sp>
      <p:sp>
        <p:nvSpPr>
          <p:cNvPr id="92" name="other-skill-current-text"/>
          <p:cNvSpPr>
            <a:spLocks noGrp="1"/>
          </p:cNvSpPr>
          <p:nvPr/>
        </p:nvSpPr>
        <p:spPr>
          <a:xfrm>
            <a:off x="847725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93" name="other-skill-middle-box"/>
          <p:cNvSpPr>
            <a:spLocks noGrp="1"/>
          </p:cNvSpPr>
          <p:nvPr/>
        </p:nvSpPr>
        <p:spPr>
          <a:xfrm>
            <a:off x="9515475" y="4533901"/>
            <a:ext cx="800100" cy="295275"/>
          </a:xfrm>
          <a:prstGeom prst="roundRect">
            <a:avLst>
              <a:gd name="adj" fmla="val 12903"/>
            </a:avLst>
          </a:prstGeom>
          <a:solidFill>
            <a:srgbClr val="F2F6F8"/>
          </a:solidFill>
          <a:ln w="9525">
            <a:solidFill>
              <a:srgbClr val="7F9DB2"/>
            </a:solidFill>
            <a:prstDash val="solid"/>
          </a:ln>
        </p:spPr>
      </p:sp>
      <p:sp>
        <p:nvSpPr>
          <p:cNvPr id="94" name="other-skill-middle-text"/>
          <p:cNvSpPr>
            <a:spLocks noGrp="1"/>
          </p:cNvSpPr>
          <p:nvPr/>
        </p:nvSpPr>
        <p:spPr>
          <a:xfrm>
            <a:off x="9553575" y="4552951"/>
            <a:ext cx="723900" cy="257175"/>
          </a:xfrm>
          <a:prstGeom prst="rect">
            <a:avLst/>
          </a:prstGeom>
          <a:noFill/>
          <a:ln w="0">
            <a:noFill/>
            <a:prstDash val="solid"/>
          </a:ln>
        </p:spPr>
        <p:txBody>
          <a:bodyPr wrap="none" lIns="0" tIns="0" rIns="0" bIns="0" anchor="ctr">
            <a:normAutofit fontScale="90792" lnSpcReduction="10000"/>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Other</a:t>
            </a:r>
          </a:p>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95" name="other-skill-result-box"/>
          <p:cNvSpPr>
            <a:spLocks noGrp="1"/>
          </p:cNvSpPr>
          <p:nvPr/>
        </p:nvSpPr>
        <p:spPr>
          <a:xfrm>
            <a:off x="10591800" y="4533901"/>
            <a:ext cx="685800" cy="295275"/>
          </a:xfrm>
          <a:prstGeom prst="roundRect">
            <a:avLst>
              <a:gd name="adj" fmla="val 12903"/>
            </a:avLst>
          </a:prstGeom>
          <a:solidFill>
            <a:srgbClr val="F7F9FA"/>
          </a:solidFill>
          <a:ln w="9525">
            <a:solidFill>
              <a:srgbClr val="7F9DB2"/>
            </a:solidFill>
            <a:prstDash val="solid"/>
          </a:ln>
        </p:spPr>
      </p:sp>
      <p:sp>
        <p:nvSpPr>
          <p:cNvPr id="96" name="other-skill-result-text"/>
          <p:cNvSpPr>
            <a:spLocks noGrp="1"/>
          </p:cNvSpPr>
          <p:nvPr/>
        </p:nvSpPr>
        <p:spPr>
          <a:xfrm>
            <a:off x="1062990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97" name="other-skill-description"/>
          <p:cNvSpPr>
            <a:spLocks noGrp="1"/>
          </p:cNvSpPr>
          <p:nvPr/>
        </p:nvSpPr>
        <p:spPr>
          <a:xfrm>
            <a:off x="8420100" y="5044111"/>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复用已独立封装的完整能力模块</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summary-band"/>
          <p:cNvSpPr>
            <a:spLocks noGrp="1"/>
          </p:cNvSpPr>
          <p:nvPr/>
        </p:nvSpPr>
        <p:spPr>
          <a:xfrm>
            <a:off x="609600" y="6000750"/>
            <a:ext cx="10972800" cy="609600"/>
          </a:xfrm>
          <a:prstGeom prst="rect">
            <a:avLst/>
          </a:prstGeom>
          <a:solidFill>
            <a:srgbClr val="F3F4F5"/>
          </a:solidFill>
          <a:ln w="0">
            <a:noFill/>
            <a:prstDash val="solid"/>
          </a:ln>
        </p:spPr>
      </p:sp>
      <p:sp>
        <p:nvSpPr>
          <p:cNvPr id="102" name="summary-accent"/>
          <p:cNvSpPr>
            <a:spLocks noGrp="1"/>
          </p:cNvSpPr>
          <p:nvPr/>
        </p:nvSpPr>
        <p:spPr>
          <a:xfrm>
            <a:off x="609600" y="6000750"/>
            <a:ext cx="38100" cy="609600"/>
          </a:xfrm>
          <a:prstGeom prst="rect">
            <a:avLst/>
          </a:prstGeom>
          <a:solidFill>
            <a:srgbClr val="557A96"/>
          </a:solidFill>
          <a:ln w="0">
            <a:noFill/>
            <a:prstDash val="solid"/>
          </a:ln>
        </p:spPr>
      </p:sp>
      <p:sp>
        <p:nvSpPr>
          <p:cNvPr id="103" name="summary-title"/>
          <p:cNvSpPr>
            <a:spLocks noGrp="1"/>
          </p:cNvSpPr>
          <p:nvPr/>
        </p:nvSpPr>
        <p:spPr>
          <a:xfrm>
            <a:off x="800100" y="6156876"/>
            <a:ext cx="2457450" cy="238125"/>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err="1">
                <a:solidFill>
                  <a:srgbClr val="252B31"/>
                </a:solidFill>
                <a:latin typeface="微软雅黑" panose="020B0503020204020204" charset="-122"/>
                <a:ea typeface="微软雅黑" panose="020B0503020204020204" charset="-122"/>
                <a:cs typeface="微软雅黑" panose="020B0503020204020204" charset="-122"/>
              </a:rPr>
              <a:t>按需组合，而不是固定模板</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summary-body"/>
          <p:cNvSpPr>
            <a:spLocks noGrp="1"/>
          </p:cNvSpPr>
          <p:nvPr/>
        </p:nvSpPr>
        <p:spPr>
          <a:xfrm>
            <a:off x="3409950" y="6214028"/>
            <a:ext cx="7962900" cy="228600"/>
          </a:xfrm>
          <a:prstGeom prst="rect">
            <a:avLst/>
          </a:prstGeom>
          <a:noFill/>
          <a:ln w="0">
            <a:noFill/>
            <a:prstDash val="solid"/>
          </a:ln>
        </p:spPr>
        <p:txBody>
          <a:bodyPr wrap="none" lIns="0" tIns="0" rIns="0" bIns="0" anchor="ctr">
            <a:normAutofit/>
          </a:bodyPr>
          <a:lstStyle/>
          <a:p>
            <a:pPr algn="l">
              <a:defRPr sz="1240" b="1">
                <a:solidFill>
                  <a:srgbClr val="414951"/>
                </a:solidFill>
                <a:latin typeface="微软雅黑" panose="020B0503020204020204" charset="-122"/>
                <a:ea typeface="微软雅黑" panose="020B0503020204020204" charset="-122"/>
                <a:cs typeface="微软雅黑" panose="020B0503020204020204" charset="-122"/>
              </a:defRPr>
            </a:pPr>
            <a:r>
              <a:rPr sz="1240" b="1" dirty="0" err="1">
                <a:solidFill>
                  <a:srgbClr val="414951"/>
                </a:solidFill>
                <a:latin typeface="微软雅黑" panose="020B0503020204020204" charset="-122"/>
                <a:ea typeface="微软雅黑" panose="020B0503020204020204" charset="-122"/>
                <a:cs typeface="微软雅黑" panose="020B0503020204020204" charset="-122"/>
              </a:rPr>
              <a:t>Reference、Example、Script、Subagent、Other</a:t>
            </a:r>
            <a:r>
              <a:rPr sz="1240" b="1" dirty="0">
                <a:solidFill>
                  <a:srgbClr val="414951"/>
                </a:solidFill>
                <a:latin typeface="微软雅黑" panose="020B0503020204020204" charset="-122"/>
                <a:ea typeface="微软雅黑" panose="020B0503020204020204" charset="-122"/>
                <a:cs typeface="微软雅黑" panose="020B0503020204020204" charset="-122"/>
              </a:rPr>
              <a:t> Skill </a:t>
            </a:r>
            <a:r>
              <a:rPr sz="1240" b="1" dirty="0" err="1" smtClean="0">
                <a:solidFill>
                  <a:srgbClr val="414951"/>
                </a:solidFill>
                <a:latin typeface="微软雅黑" panose="020B0503020204020204" charset="-122"/>
                <a:ea typeface="微软雅黑" panose="020B0503020204020204" charset="-122"/>
                <a:cs typeface="微软雅黑" panose="020B0503020204020204" charset="-122"/>
              </a:rPr>
              <a:t>非强制</a:t>
            </a:r>
            <a:r>
              <a:rPr sz="1240" b="1" dirty="0" err="1">
                <a:solidFill>
                  <a:srgbClr val="414951"/>
                </a:solidFill>
                <a:latin typeface="微软雅黑" panose="020B0503020204020204" charset="-122"/>
                <a:ea typeface="微软雅黑" panose="020B0503020204020204" charset="-122"/>
                <a:cs typeface="微软雅黑" panose="020B0503020204020204" charset="-122"/>
              </a:rPr>
              <a:t>；只配置完成当前职责真正需要的部分</a:t>
            </a:r>
            <a:r>
              <a:rPr sz="124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08"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4</a:t>
            </a:r>
          </a:p>
        </p:txBody>
      </p:sp>
    </p:spTree>
    <p:extLst>
      <p:ext uri="{BB962C8B-B14F-4D97-AF65-F5344CB8AC3E}">
        <p14:creationId xmlns:p14="http://schemas.microsoft.com/office/powerpoint/2010/main" val="2781309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85850" y="172729"/>
            <a:ext cx="10572750" cy="533400"/>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①</a:t>
            </a:r>
          </a:p>
        </p:txBody>
      </p:sp>
      <p:sp>
        <p:nvSpPr>
          <p:cNvPr id="3" name="subtitle-prefix"/>
          <p:cNvSpPr>
            <a:spLocks noGrp="1"/>
          </p:cNvSpPr>
          <p:nvPr/>
        </p:nvSpPr>
        <p:spPr>
          <a:xfrm>
            <a:off x="800100" y="752475"/>
            <a:ext cx="62865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subtitle-suffix"/>
          <p:cNvSpPr>
            <a:spLocks noGrp="1"/>
          </p:cNvSpPr>
          <p:nvPr/>
        </p:nvSpPr>
        <p:spPr>
          <a:xfrm>
            <a:off x="3067050" y="752475"/>
            <a:ext cx="400050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 name="what-how-line"/>
          <p:cNvSpPr>
            <a:spLocks noGrp="1"/>
          </p:cNvSpPr>
          <p:nvPr/>
        </p:nvSpPr>
        <p:spPr>
          <a:xfrm>
            <a:off x="2809875" y="1225412"/>
            <a:ext cx="2133600" cy="0"/>
          </a:xfrm>
          <a:prstGeom prst="line">
            <a:avLst/>
          </a:prstGeom>
          <a:noFill/>
          <a:ln w="12383">
            <a:solidFill>
              <a:srgbClr val="7F9DB2"/>
            </a:solidFill>
            <a:prstDash val="solid"/>
          </a:ln>
        </p:spPr>
      </p:sp>
      <p:sp>
        <p:nvSpPr>
          <p:cNvPr id="8" name="what-how-arrow"/>
          <p:cNvSpPr>
            <a:spLocks noGrp="1"/>
          </p:cNvSpPr>
          <p:nvPr/>
        </p:nvSpPr>
        <p:spPr>
          <a:xfrm rot="5400000">
            <a:off x="4905375" y="1187312"/>
            <a:ext cx="76200" cy="76200"/>
          </a:xfrm>
          <a:prstGeom prst="triangle">
            <a:avLst/>
          </a:prstGeom>
          <a:solidFill>
            <a:srgbClr val="557A96"/>
          </a:solidFill>
          <a:ln w="0">
            <a:solidFill>
              <a:srgbClr val="557A96"/>
            </a:solidFill>
            <a:prstDash val="solid"/>
          </a:ln>
        </p:spPr>
      </p:sp>
      <p:sp>
        <p:nvSpPr>
          <p:cNvPr id="9" name="how-who-line"/>
          <p:cNvSpPr>
            <a:spLocks noGrp="1"/>
          </p:cNvSpPr>
          <p:nvPr/>
        </p:nvSpPr>
        <p:spPr>
          <a:xfrm>
            <a:off x="6962775" y="1225412"/>
            <a:ext cx="1971675" cy="0"/>
          </a:xfrm>
          <a:prstGeom prst="line">
            <a:avLst/>
          </a:prstGeom>
          <a:noFill/>
          <a:ln w="12383">
            <a:solidFill>
              <a:srgbClr val="7F9DB2"/>
            </a:solidFill>
            <a:prstDash val="solid"/>
          </a:ln>
        </p:spPr>
      </p:sp>
      <p:sp>
        <p:nvSpPr>
          <p:cNvPr id="10" name="how-who-arrow"/>
          <p:cNvSpPr>
            <a:spLocks noGrp="1"/>
          </p:cNvSpPr>
          <p:nvPr/>
        </p:nvSpPr>
        <p:spPr>
          <a:xfrm rot="5400000">
            <a:off x="8896350" y="1187312"/>
            <a:ext cx="76200" cy="76200"/>
          </a:xfrm>
          <a:prstGeom prst="triangle">
            <a:avLst/>
          </a:prstGeom>
          <a:solidFill>
            <a:srgbClr val="557A96"/>
          </a:solidFill>
          <a:ln w="0">
            <a:solidFill>
              <a:srgbClr val="557A96"/>
            </a:solidFill>
            <a:prstDash val="solid"/>
          </a:ln>
        </p:spPr>
      </p:sp>
      <p:sp>
        <p:nvSpPr>
          <p:cNvPr id="11" name="what-how-label"/>
          <p:cNvSpPr>
            <a:spLocks noGrp="1"/>
          </p:cNvSpPr>
          <p:nvPr/>
        </p:nvSpPr>
        <p:spPr>
          <a:xfrm>
            <a:off x="3267075" y="977762"/>
            <a:ext cx="12382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得到目标与边界</a:t>
            </a:r>
          </a:p>
        </p:txBody>
      </p:sp>
      <p:sp>
        <p:nvSpPr>
          <p:cNvPr id="12" name="how-who-label"/>
          <p:cNvSpPr>
            <a:spLocks noGrp="1"/>
          </p:cNvSpPr>
          <p:nvPr/>
        </p:nvSpPr>
        <p:spPr>
          <a:xfrm>
            <a:off x="7334250" y="977762"/>
            <a:ext cx="12763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lang="zh-CN" altLang="en-US" sz="1015" dirty="0">
                <a:solidFill>
                  <a:srgbClr val="68727B"/>
                </a:solidFill>
                <a:latin typeface="微软雅黑" panose="020B0503020204020204" charset="-122"/>
                <a:ea typeface="微软雅黑" panose="020B0503020204020204" charset="-122"/>
                <a:cs typeface="微软雅黑" panose="020B0503020204020204" charset="-122"/>
              </a:rPr>
              <a:t>划分</a:t>
            </a:r>
            <a:r>
              <a:rPr sz="1015"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sz="1015" b="0" dirty="0" err="1">
                <a:solidFill>
                  <a:srgbClr val="68727B"/>
                </a:solidFill>
                <a:latin typeface="微软雅黑" panose="020B0503020204020204" charset="-122"/>
                <a:ea typeface="微软雅黑" panose="020B0503020204020204" charset="-122"/>
                <a:cs typeface="微软雅黑" panose="020B0503020204020204" charset="-122"/>
              </a:rPr>
              <a:t>与交接</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3" name="what-en"/>
          <p:cNvSpPr>
            <a:spLocks noGrp="1"/>
          </p:cNvSpPr>
          <p:nvPr/>
        </p:nvSpPr>
        <p:spPr>
          <a:xfrm>
            <a:off x="155257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WHAT</a:t>
            </a:r>
          </a:p>
        </p:txBody>
      </p:sp>
      <p:sp>
        <p:nvSpPr>
          <p:cNvPr id="14" name="what-cn"/>
          <p:cNvSpPr>
            <a:spLocks noGrp="1"/>
          </p:cNvSpPr>
          <p:nvPr/>
        </p:nvSpPr>
        <p:spPr>
          <a:xfrm>
            <a:off x="155257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做什么</a:t>
            </a:r>
          </a:p>
        </p:txBody>
      </p:sp>
      <p:sp>
        <p:nvSpPr>
          <p:cNvPr id="15" name="how-en"/>
          <p:cNvSpPr>
            <a:spLocks noGrp="1"/>
          </p:cNvSpPr>
          <p:nvPr/>
        </p:nvSpPr>
        <p:spPr>
          <a:xfrm>
            <a:off x="538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HOW</a:t>
            </a:r>
          </a:p>
        </p:txBody>
      </p:sp>
      <p:sp>
        <p:nvSpPr>
          <p:cNvPr id="16" name="how-cn"/>
          <p:cNvSpPr>
            <a:spLocks noGrp="1"/>
          </p:cNvSpPr>
          <p:nvPr/>
        </p:nvSpPr>
        <p:spPr>
          <a:xfrm>
            <a:off x="538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怎么做</a:t>
            </a:r>
          </a:p>
        </p:txBody>
      </p:sp>
      <p:sp>
        <p:nvSpPr>
          <p:cNvPr id="17" name="who-en"/>
          <p:cNvSpPr>
            <a:spLocks noGrp="1"/>
          </p:cNvSpPr>
          <p:nvPr/>
        </p:nvSpPr>
        <p:spPr>
          <a:xfrm>
            <a:off x="919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WHO</a:t>
            </a:r>
          </a:p>
        </p:txBody>
      </p:sp>
      <p:sp>
        <p:nvSpPr>
          <p:cNvPr id="18" name="who-cn"/>
          <p:cNvSpPr>
            <a:spLocks noGrp="1"/>
          </p:cNvSpPr>
          <p:nvPr/>
        </p:nvSpPr>
        <p:spPr>
          <a:xfrm>
            <a:off x="919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谁来做</a:t>
            </a:r>
          </a:p>
        </p:txBody>
      </p:sp>
      <p:sp>
        <p:nvSpPr>
          <p:cNvPr id="19" name="define-frame"/>
          <p:cNvSpPr>
            <a:spLocks noGrp="1"/>
          </p:cNvSpPr>
          <p:nvPr/>
        </p:nvSpPr>
        <p:spPr>
          <a:xfrm>
            <a:off x="609600" y="1828800"/>
            <a:ext cx="3333750" cy="3981450"/>
          </a:xfrm>
          <a:prstGeom prst="roundRect">
            <a:avLst>
              <a:gd name="adj" fmla="val 1429"/>
            </a:avLst>
          </a:prstGeom>
          <a:solidFill>
            <a:srgbClr val="FFFFFF"/>
          </a:solidFill>
          <a:ln w="9525">
            <a:solidFill>
              <a:srgbClr val="D8DEE3"/>
            </a:solidFill>
            <a:prstDash val="solid"/>
          </a:ln>
        </p:spPr>
      </p:sp>
      <p:sp>
        <p:nvSpPr>
          <p:cNvPr id="20" name="define-accent"/>
          <p:cNvSpPr>
            <a:spLocks noGrp="1"/>
          </p:cNvSpPr>
          <p:nvPr/>
        </p:nvSpPr>
        <p:spPr>
          <a:xfrm>
            <a:off x="609600" y="1828800"/>
            <a:ext cx="3333750" cy="28575"/>
          </a:xfrm>
          <a:prstGeom prst="rect">
            <a:avLst/>
          </a:prstGeom>
          <a:solidFill>
            <a:srgbClr val="557A96"/>
          </a:solidFill>
          <a:ln w="0">
            <a:noFill/>
            <a:prstDash val="solid"/>
          </a:ln>
        </p:spPr>
      </p:sp>
      <p:sp>
        <p:nvSpPr>
          <p:cNvPr id="21" name="define-number"/>
          <p:cNvSpPr>
            <a:spLocks noGrp="1"/>
          </p:cNvSpPr>
          <p:nvPr/>
        </p:nvSpPr>
        <p:spPr>
          <a:xfrm>
            <a:off x="762000"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2" name="define-title"/>
          <p:cNvSpPr>
            <a:spLocks noGrp="1"/>
          </p:cNvSpPr>
          <p:nvPr/>
        </p:nvSpPr>
        <p:spPr>
          <a:xfrm>
            <a:off x="1162050" y="1905000"/>
            <a:ext cx="2628900"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定义任务</a:t>
            </a:r>
          </a:p>
        </p:txBody>
      </p:sp>
      <p:sp>
        <p:nvSpPr>
          <p:cNvPr id="23" name="define-subtitle"/>
          <p:cNvSpPr>
            <a:spLocks noGrp="1"/>
          </p:cNvSpPr>
          <p:nvPr/>
        </p:nvSpPr>
        <p:spPr>
          <a:xfrm>
            <a:off x="762000" y="2209800"/>
            <a:ext cx="3028950"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先明确“做什么”</a:t>
            </a:r>
          </a:p>
        </p:txBody>
      </p:sp>
      <p:sp>
        <p:nvSpPr>
          <p:cNvPr id="24" name="define-header-line"/>
          <p:cNvSpPr>
            <a:spLocks noGrp="1"/>
          </p:cNvSpPr>
          <p:nvPr/>
        </p:nvSpPr>
        <p:spPr>
          <a:xfrm>
            <a:off x="762000" y="2486025"/>
            <a:ext cx="3028950" cy="0"/>
          </a:xfrm>
          <a:prstGeom prst="line">
            <a:avLst/>
          </a:prstGeom>
          <a:noFill/>
          <a:ln w="9525">
            <a:solidFill>
              <a:srgbClr val="D8DEE3"/>
            </a:solidFill>
            <a:prstDash val="solid"/>
          </a:ln>
        </p:spPr>
      </p:sp>
      <p:sp>
        <p:nvSpPr>
          <p:cNvPr id="25" name="workflow-frame"/>
          <p:cNvSpPr>
            <a:spLocks noGrp="1"/>
          </p:cNvSpPr>
          <p:nvPr/>
        </p:nvSpPr>
        <p:spPr>
          <a:xfrm>
            <a:off x="4200525" y="1828800"/>
            <a:ext cx="3781425" cy="3981450"/>
          </a:xfrm>
          <a:prstGeom prst="roundRect">
            <a:avLst>
              <a:gd name="adj" fmla="val 1259"/>
            </a:avLst>
          </a:prstGeom>
          <a:solidFill>
            <a:srgbClr val="FFFFFF"/>
          </a:solidFill>
          <a:ln w="9525">
            <a:solidFill>
              <a:srgbClr val="D8DEE3"/>
            </a:solidFill>
            <a:prstDash val="solid"/>
          </a:ln>
        </p:spPr>
      </p:sp>
      <p:sp>
        <p:nvSpPr>
          <p:cNvPr id="26" name="workflow-accent"/>
          <p:cNvSpPr>
            <a:spLocks noGrp="1"/>
          </p:cNvSpPr>
          <p:nvPr/>
        </p:nvSpPr>
        <p:spPr>
          <a:xfrm>
            <a:off x="4200525" y="1828800"/>
            <a:ext cx="3781425" cy="28575"/>
          </a:xfrm>
          <a:prstGeom prst="rect">
            <a:avLst/>
          </a:prstGeom>
          <a:solidFill>
            <a:srgbClr val="557A96"/>
          </a:solidFill>
          <a:ln w="0">
            <a:noFill/>
            <a:prstDash val="solid"/>
          </a:ln>
        </p:spPr>
      </p:sp>
      <p:sp>
        <p:nvSpPr>
          <p:cNvPr id="27" name="workflow-number"/>
          <p:cNvSpPr>
            <a:spLocks noGrp="1"/>
          </p:cNvSpPr>
          <p:nvPr/>
        </p:nvSpPr>
        <p:spPr>
          <a:xfrm>
            <a:off x="43529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28" name="workflow-title"/>
          <p:cNvSpPr>
            <a:spLocks noGrp="1"/>
          </p:cNvSpPr>
          <p:nvPr/>
        </p:nvSpPr>
        <p:spPr>
          <a:xfrm>
            <a:off x="4752975" y="1905000"/>
            <a:ext cx="307657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设计基础 Workflow</a:t>
            </a:r>
          </a:p>
        </p:txBody>
      </p:sp>
      <p:sp>
        <p:nvSpPr>
          <p:cNvPr id="29" name="workflow-subtitle"/>
          <p:cNvSpPr>
            <a:spLocks noGrp="1"/>
          </p:cNvSpPr>
          <p:nvPr/>
        </p:nvSpPr>
        <p:spPr>
          <a:xfrm>
            <a:off x="4352925" y="2209800"/>
            <a:ext cx="347662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划分具体阶段，</a:t>
            </a: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明确</a:t>
            </a:r>
            <a:r>
              <a:rPr sz="1200" b="1" dirty="0" err="1">
                <a:solidFill>
                  <a:srgbClr val="557A96"/>
                </a:solidFill>
                <a:latin typeface="微软雅黑" panose="020B0503020204020204" charset="-122"/>
                <a:ea typeface="微软雅黑" panose="020B0503020204020204" charset="-122"/>
                <a:cs typeface="微软雅黑" panose="020B0503020204020204" charset="-122"/>
              </a:rPr>
              <a:t>“怎么做</a:t>
            </a:r>
            <a:r>
              <a:rPr sz="1200"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30" name="workflow-header-line"/>
          <p:cNvSpPr>
            <a:spLocks noGrp="1"/>
          </p:cNvSpPr>
          <p:nvPr/>
        </p:nvSpPr>
        <p:spPr>
          <a:xfrm>
            <a:off x="4352925" y="2486025"/>
            <a:ext cx="3476625" cy="0"/>
          </a:xfrm>
          <a:prstGeom prst="line">
            <a:avLst/>
          </a:prstGeom>
          <a:noFill/>
          <a:ln w="9525">
            <a:solidFill>
              <a:srgbClr val="D8DEE3"/>
            </a:solidFill>
            <a:prstDash val="solid"/>
          </a:ln>
        </p:spPr>
      </p:sp>
      <p:sp>
        <p:nvSpPr>
          <p:cNvPr id="31" name="roles-frame"/>
          <p:cNvSpPr>
            <a:spLocks noGrp="1"/>
          </p:cNvSpPr>
          <p:nvPr/>
        </p:nvSpPr>
        <p:spPr>
          <a:xfrm>
            <a:off x="8239125" y="1828800"/>
            <a:ext cx="3343275" cy="3981450"/>
          </a:xfrm>
          <a:prstGeom prst="roundRect">
            <a:avLst>
              <a:gd name="adj" fmla="val 1425"/>
            </a:avLst>
          </a:prstGeom>
          <a:solidFill>
            <a:srgbClr val="FFFFFF"/>
          </a:solidFill>
          <a:ln w="9525">
            <a:solidFill>
              <a:srgbClr val="D8DEE3"/>
            </a:solidFill>
            <a:prstDash val="solid"/>
          </a:ln>
        </p:spPr>
      </p:sp>
      <p:sp>
        <p:nvSpPr>
          <p:cNvPr id="32" name="roles-accent"/>
          <p:cNvSpPr>
            <a:spLocks noGrp="1"/>
          </p:cNvSpPr>
          <p:nvPr/>
        </p:nvSpPr>
        <p:spPr>
          <a:xfrm>
            <a:off x="8239125" y="1828800"/>
            <a:ext cx="3343275" cy="28575"/>
          </a:xfrm>
          <a:prstGeom prst="rect">
            <a:avLst/>
          </a:prstGeom>
          <a:solidFill>
            <a:srgbClr val="557A96"/>
          </a:solidFill>
          <a:ln w="0">
            <a:noFill/>
            <a:prstDash val="solid"/>
          </a:ln>
        </p:spPr>
      </p:sp>
      <p:sp>
        <p:nvSpPr>
          <p:cNvPr id="33" name="roles-number"/>
          <p:cNvSpPr>
            <a:spLocks noGrp="1"/>
          </p:cNvSpPr>
          <p:nvPr/>
        </p:nvSpPr>
        <p:spPr>
          <a:xfrm>
            <a:off x="83915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34" name="roles-title"/>
          <p:cNvSpPr>
            <a:spLocks noGrp="1"/>
          </p:cNvSpPr>
          <p:nvPr/>
        </p:nvSpPr>
        <p:spPr>
          <a:xfrm>
            <a:off x="8791575" y="1905000"/>
            <a:ext cx="263842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划分执行职责</a:t>
            </a:r>
          </a:p>
        </p:txBody>
      </p:sp>
      <p:sp>
        <p:nvSpPr>
          <p:cNvPr id="35" name="roles-subtitle"/>
          <p:cNvSpPr>
            <a:spLocks noGrp="1"/>
          </p:cNvSpPr>
          <p:nvPr/>
        </p:nvSpPr>
        <p:spPr>
          <a:xfrm>
            <a:off x="8391525" y="2209800"/>
            <a:ext cx="303847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明确“谁来做”</a:t>
            </a:r>
          </a:p>
        </p:txBody>
      </p:sp>
      <p:sp>
        <p:nvSpPr>
          <p:cNvPr id="36" name="roles-header-line"/>
          <p:cNvSpPr>
            <a:spLocks noGrp="1"/>
          </p:cNvSpPr>
          <p:nvPr/>
        </p:nvSpPr>
        <p:spPr>
          <a:xfrm>
            <a:off x="8334375" y="2488095"/>
            <a:ext cx="3038475" cy="0"/>
          </a:xfrm>
          <a:prstGeom prst="line">
            <a:avLst/>
          </a:prstGeom>
          <a:noFill/>
          <a:ln w="9525">
            <a:solidFill>
              <a:srgbClr val="D8DEE3"/>
            </a:solidFill>
            <a:prstDash val="solid"/>
          </a:ln>
        </p:spPr>
      </p:sp>
      <p:sp>
        <p:nvSpPr>
          <p:cNvPr id="37" name="define-equation-band"/>
          <p:cNvSpPr>
            <a:spLocks noGrp="1"/>
          </p:cNvSpPr>
          <p:nvPr/>
        </p:nvSpPr>
        <p:spPr>
          <a:xfrm>
            <a:off x="762000" y="2571750"/>
            <a:ext cx="3028950" cy="323850"/>
          </a:xfrm>
          <a:prstGeom prst="rect">
            <a:avLst/>
          </a:prstGeom>
          <a:solidFill>
            <a:srgbClr val="F2F6F8"/>
          </a:solidFill>
          <a:ln w="0">
            <a:noFill/>
            <a:prstDash val="solid"/>
          </a:ln>
        </p:spPr>
      </p:sp>
      <p:sp>
        <p:nvSpPr>
          <p:cNvPr id="38" name="define-equation"/>
          <p:cNvSpPr>
            <a:spLocks noGrp="1"/>
          </p:cNvSpPr>
          <p:nvPr/>
        </p:nvSpPr>
        <p:spPr>
          <a:xfrm>
            <a:off x="876300" y="2581275"/>
            <a:ext cx="2800350" cy="3048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输入 X   →   处理过程   →   输出 Y</a:t>
            </a:r>
          </a:p>
        </p:txBody>
      </p:sp>
      <p:sp>
        <p:nvSpPr>
          <p:cNvPr id="39" name="goal-label"/>
          <p:cNvSpPr>
            <a:spLocks noGrp="1"/>
          </p:cNvSpPr>
          <p:nvPr/>
        </p:nvSpPr>
        <p:spPr>
          <a:xfrm>
            <a:off x="762000" y="30099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任务目标</a:t>
            </a:r>
          </a:p>
        </p:txBody>
      </p:sp>
      <p:sp>
        <p:nvSpPr>
          <p:cNvPr id="40" name="goal-detail"/>
          <p:cNvSpPr>
            <a:spLocks noGrp="1"/>
          </p:cNvSpPr>
          <p:nvPr/>
        </p:nvSpPr>
        <p:spPr>
          <a:xfrm>
            <a:off x="1676400" y="30099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最终解决什么问题？</a:t>
            </a:r>
          </a:p>
        </p:txBody>
      </p:sp>
      <p:sp>
        <p:nvSpPr>
          <p:cNvPr id="41" name="goal-line"/>
          <p:cNvSpPr>
            <a:spLocks noGrp="1"/>
          </p:cNvSpPr>
          <p:nvPr/>
        </p:nvSpPr>
        <p:spPr>
          <a:xfrm>
            <a:off x="762000" y="3305175"/>
            <a:ext cx="3028950" cy="0"/>
          </a:xfrm>
          <a:prstGeom prst="line">
            <a:avLst/>
          </a:prstGeom>
          <a:noFill/>
          <a:ln w="6668">
            <a:solidFill>
              <a:srgbClr val="D8DEE3"/>
            </a:solidFill>
            <a:prstDash val="solid"/>
          </a:ln>
        </p:spPr>
      </p:sp>
      <p:sp>
        <p:nvSpPr>
          <p:cNvPr id="42" name="input-label"/>
          <p:cNvSpPr>
            <a:spLocks noGrp="1"/>
          </p:cNvSpPr>
          <p:nvPr/>
        </p:nvSpPr>
        <p:spPr>
          <a:xfrm>
            <a:off x="762000" y="34099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Input</a:t>
            </a:r>
          </a:p>
        </p:txBody>
      </p:sp>
      <p:sp>
        <p:nvSpPr>
          <p:cNvPr id="43" name="input-detail"/>
          <p:cNvSpPr>
            <a:spLocks noGrp="1"/>
          </p:cNvSpPr>
          <p:nvPr/>
        </p:nvSpPr>
        <p:spPr>
          <a:xfrm>
            <a:off x="1676400" y="34099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需求 / 文件 / 代码 / 参数 / 数据</a:t>
            </a:r>
          </a:p>
        </p:txBody>
      </p:sp>
      <p:sp>
        <p:nvSpPr>
          <p:cNvPr id="44" name="input-line"/>
          <p:cNvSpPr>
            <a:spLocks noGrp="1"/>
          </p:cNvSpPr>
          <p:nvPr/>
        </p:nvSpPr>
        <p:spPr>
          <a:xfrm>
            <a:off x="762000" y="3705225"/>
            <a:ext cx="3028950" cy="0"/>
          </a:xfrm>
          <a:prstGeom prst="line">
            <a:avLst/>
          </a:prstGeom>
          <a:noFill/>
          <a:ln w="6668">
            <a:solidFill>
              <a:srgbClr val="D8DEE3"/>
            </a:solidFill>
            <a:prstDash val="solid"/>
          </a:ln>
        </p:spPr>
      </p:sp>
      <p:sp>
        <p:nvSpPr>
          <p:cNvPr id="45" name="output-label"/>
          <p:cNvSpPr>
            <a:spLocks noGrp="1"/>
          </p:cNvSpPr>
          <p:nvPr/>
        </p:nvSpPr>
        <p:spPr>
          <a:xfrm>
            <a:off x="762000" y="38100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Output</a:t>
            </a:r>
          </a:p>
        </p:txBody>
      </p:sp>
      <p:sp>
        <p:nvSpPr>
          <p:cNvPr id="46" name="output-detail"/>
          <p:cNvSpPr>
            <a:spLocks noGrp="1"/>
          </p:cNvSpPr>
          <p:nvPr/>
        </p:nvSpPr>
        <p:spPr>
          <a:xfrm>
            <a:off x="1676400" y="38100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代码 / 文档 / 文件 / 结果 / 报告</a:t>
            </a:r>
          </a:p>
        </p:txBody>
      </p:sp>
      <p:sp>
        <p:nvSpPr>
          <p:cNvPr id="47" name="output-line"/>
          <p:cNvSpPr>
            <a:spLocks noGrp="1"/>
          </p:cNvSpPr>
          <p:nvPr/>
        </p:nvSpPr>
        <p:spPr>
          <a:xfrm>
            <a:off x="762000" y="4105275"/>
            <a:ext cx="3028950" cy="0"/>
          </a:xfrm>
          <a:prstGeom prst="line">
            <a:avLst/>
          </a:prstGeom>
          <a:noFill/>
          <a:ln w="6668">
            <a:solidFill>
              <a:srgbClr val="D8DEE3"/>
            </a:solidFill>
            <a:prstDash val="solid"/>
          </a:ln>
        </p:spPr>
      </p:sp>
      <p:sp>
        <p:nvSpPr>
          <p:cNvPr id="48" name="boundary-label"/>
          <p:cNvSpPr>
            <a:spLocks noGrp="1"/>
          </p:cNvSpPr>
          <p:nvPr/>
        </p:nvSpPr>
        <p:spPr>
          <a:xfrm>
            <a:off x="762000" y="42100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49" name="boundary-detail"/>
          <p:cNvSpPr>
            <a:spLocks noGrp="1"/>
          </p:cNvSpPr>
          <p:nvPr/>
        </p:nvSpPr>
        <p:spPr>
          <a:xfrm>
            <a:off x="1676400" y="42100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负责什么；不修改未指定内容</a:t>
            </a:r>
          </a:p>
        </p:txBody>
      </p:sp>
      <p:sp>
        <p:nvSpPr>
          <p:cNvPr id="50" name="boundary-line"/>
          <p:cNvSpPr>
            <a:spLocks noGrp="1"/>
          </p:cNvSpPr>
          <p:nvPr/>
        </p:nvSpPr>
        <p:spPr>
          <a:xfrm>
            <a:off x="762000" y="4505325"/>
            <a:ext cx="3028950" cy="0"/>
          </a:xfrm>
          <a:prstGeom prst="line">
            <a:avLst/>
          </a:prstGeom>
          <a:noFill/>
          <a:ln w="6668">
            <a:solidFill>
              <a:srgbClr val="D8DEE3"/>
            </a:solidFill>
            <a:prstDash val="solid"/>
          </a:ln>
        </p:spPr>
      </p:sp>
      <p:sp>
        <p:nvSpPr>
          <p:cNvPr id="51" name="success-label"/>
          <p:cNvSpPr>
            <a:spLocks noGrp="1"/>
          </p:cNvSpPr>
          <p:nvPr/>
        </p:nvSpPr>
        <p:spPr>
          <a:xfrm>
            <a:off x="762000" y="46101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Success</a:t>
            </a:r>
          </a:p>
        </p:txBody>
      </p:sp>
      <p:sp>
        <p:nvSpPr>
          <p:cNvPr id="52" name="success-detail"/>
          <p:cNvSpPr>
            <a:spLocks noGrp="1"/>
          </p:cNvSpPr>
          <p:nvPr/>
        </p:nvSpPr>
        <p:spPr>
          <a:xfrm>
            <a:off x="1676400" y="46101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文件存在 · 测试通过 · 格式合规</a:t>
            </a:r>
          </a:p>
        </p:txBody>
      </p:sp>
      <p:sp>
        <p:nvSpPr>
          <p:cNvPr id="53" name="success-line"/>
          <p:cNvSpPr>
            <a:spLocks noGrp="1"/>
          </p:cNvSpPr>
          <p:nvPr/>
        </p:nvSpPr>
        <p:spPr>
          <a:xfrm>
            <a:off x="762000" y="4905375"/>
            <a:ext cx="3028950" cy="0"/>
          </a:xfrm>
          <a:prstGeom prst="line">
            <a:avLst/>
          </a:prstGeom>
          <a:noFill/>
          <a:ln w="6668">
            <a:solidFill>
              <a:srgbClr val="D8DEE3"/>
            </a:solidFill>
            <a:prstDash val="solid"/>
          </a:ln>
        </p:spPr>
      </p:sp>
      <p:sp>
        <p:nvSpPr>
          <p:cNvPr id="54" name="define-product-band"/>
          <p:cNvSpPr>
            <a:spLocks noGrp="1"/>
          </p:cNvSpPr>
          <p:nvPr/>
        </p:nvSpPr>
        <p:spPr>
          <a:xfrm>
            <a:off x="762000" y="5314950"/>
            <a:ext cx="3028950" cy="333375"/>
          </a:xfrm>
          <a:prstGeom prst="rect">
            <a:avLst/>
          </a:prstGeom>
          <a:solidFill>
            <a:srgbClr val="F7F9FA"/>
          </a:solidFill>
          <a:ln w="6668">
            <a:solidFill>
              <a:srgbClr val="D8DEE3"/>
            </a:solidFill>
            <a:prstDash val="solid"/>
          </a:ln>
        </p:spPr>
      </p:sp>
      <p:sp>
        <p:nvSpPr>
          <p:cNvPr id="55" name="define-product"/>
          <p:cNvSpPr>
            <a:spLocks noGrp="1"/>
          </p:cNvSpPr>
          <p:nvPr/>
        </p:nvSpPr>
        <p:spPr>
          <a:xfrm>
            <a:off x="876300" y="5334000"/>
            <a:ext cx="2800350" cy="295275"/>
          </a:xfrm>
          <a:prstGeom prst="rect">
            <a:avLst/>
          </a:prstGeom>
          <a:noFill/>
          <a:ln w="0">
            <a:noFill/>
            <a:prstDash val="solid"/>
          </a:ln>
        </p:spPr>
        <p:txBody>
          <a:bodyPr wrap="none" lIns="0" tIns="0" rIns="0" bIns="0" anchor="ctr">
            <a:normAutofit/>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10" b="1" dirty="0">
                <a:solidFill>
                  <a:srgbClr val="557A96"/>
                </a:solidFill>
                <a:latin typeface="微软雅黑" panose="020B0503020204020204" charset="-122"/>
                <a:ea typeface="微软雅黑" panose="020B0503020204020204" charset="-122"/>
                <a:cs typeface="微软雅黑" panose="020B0503020204020204" charset="-122"/>
              </a:rPr>
              <a:t>完成</a:t>
            </a:r>
            <a:r>
              <a:rPr sz="1110" b="1" dirty="0" smtClean="0">
                <a:solidFill>
                  <a:srgbClr val="557A96"/>
                </a:solidFill>
                <a:latin typeface="微软雅黑" panose="020B0503020204020204" charset="-122"/>
                <a:ea typeface="微软雅黑" panose="020B0503020204020204" charset="-122"/>
                <a:cs typeface="微软雅黑" panose="020B0503020204020204" charset="-122"/>
              </a:rPr>
              <a:t>：</a:t>
            </a:r>
            <a:r>
              <a:rPr sz="1110" b="1" dirty="0" err="1">
                <a:solidFill>
                  <a:srgbClr val="557A96"/>
                </a:solidFill>
                <a:latin typeface="微软雅黑" panose="020B0503020204020204" charset="-122"/>
                <a:ea typeface="微软雅黑" panose="020B0503020204020204" charset="-122"/>
                <a:cs typeface="微软雅黑" panose="020B0503020204020204" charset="-122"/>
              </a:rPr>
              <a:t>任务定义</a:t>
            </a:r>
            <a:r>
              <a:rPr sz="1110" b="1" dirty="0">
                <a:solidFill>
                  <a:srgbClr val="557A96"/>
                </a:solidFill>
                <a:latin typeface="微软雅黑" panose="020B0503020204020204" charset="-122"/>
                <a:ea typeface="微软雅黑" panose="020B0503020204020204" charset="-122"/>
                <a:cs typeface="微软雅黑" panose="020B0503020204020204" charset="-122"/>
              </a:rPr>
              <a:t> + </a:t>
            </a:r>
            <a:r>
              <a:rPr sz="1110" b="1" dirty="0" err="1">
                <a:solidFill>
                  <a:srgbClr val="557A96"/>
                </a:solidFill>
                <a:latin typeface="微软雅黑" panose="020B0503020204020204" charset="-122"/>
                <a:ea typeface="微软雅黑" panose="020B0503020204020204" charset="-122"/>
                <a:cs typeface="微软雅黑" panose="020B0503020204020204" charset="-122"/>
              </a:rPr>
              <a:t>初始输入输出契约</a:t>
            </a: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workflow-flow-line-0"/>
          <p:cNvSpPr>
            <a:spLocks noGrp="1"/>
          </p:cNvSpPr>
          <p:nvPr/>
        </p:nvSpPr>
        <p:spPr>
          <a:xfrm>
            <a:off x="4867275" y="2781300"/>
            <a:ext cx="152400" cy="0"/>
          </a:xfrm>
          <a:prstGeom prst="line">
            <a:avLst/>
          </a:prstGeom>
          <a:noFill/>
          <a:ln w="11430">
            <a:solidFill>
              <a:srgbClr val="557A96"/>
            </a:solidFill>
            <a:prstDash val="solid"/>
          </a:ln>
        </p:spPr>
      </p:sp>
      <p:sp>
        <p:nvSpPr>
          <p:cNvPr id="57" name="workflow-flow-arrow-0"/>
          <p:cNvSpPr>
            <a:spLocks noGrp="1"/>
          </p:cNvSpPr>
          <p:nvPr/>
        </p:nvSpPr>
        <p:spPr>
          <a:xfrm rot="5400000">
            <a:off x="4972050" y="2743200"/>
            <a:ext cx="76200" cy="76200"/>
          </a:xfrm>
          <a:prstGeom prst="triangle">
            <a:avLst/>
          </a:prstGeom>
          <a:solidFill>
            <a:srgbClr val="557A96"/>
          </a:solidFill>
          <a:ln w="0">
            <a:solidFill>
              <a:srgbClr val="557A96"/>
            </a:solidFill>
            <a:prstDash val="solid"/>
          </a:ln>
        </p:spPr>
      </p:sp>
      <p:sp>
        <p:nvSpPr>
          <p:cNvPr id="58" name="workflow-flow-line-1"/>
          <p:cNvSpPr>
            <a:spLocks noGrp="1"/>
          </p:cNvSpPr>
          <p:nvPr/>
        </p:nvSpPr>
        <p:spPr>
          <a:xfrm>
            <a:off x="5610225" y="2781300"/>
            <a:ext cx="152400" cy="0"/>
          </a:xfrm>
          <a:prstGeom prst="line">
            <a:avLst/>
          </a:prstGeom>
          <a:noFill/>
          <a:ln w="11430">
            <a:solidFill>
              <a:srgbClr val="557A96"/>
            </a:solidFill>
            <a:prstDash val="solid"/>
          </a:ln>
        </p:spPr>
      </p:sp>
      <p:sp>
        <p:nvSpPr>
          <p:cNvPr id="59" name="workflow-flow-arrow-1"/>
          <p:cNvSpPr>
            <a:spLocks noGrp="1"/>
          </p:cNvSpPr>
          <p:nvPr/>
        </p:nvSpPr>
        <p:spPr>
          <a:xfrm rot="5400000">
            <a:off x="5715000" y="2743200"/>
            <a:ext cx="76200" cy="76200"/>
          </a:xfrm>
          <a:prstGeom prst="triangle">
            <a:avLst/>
          </a:prstGeom>
          <a:solidFill>
            <a:srgbClr val="557A96"/>
          </a:solidFill>
          <a:ln w="0">
            <a:solidFill>
              <a:srgbClr val="557A96"/>
            </a:solidFill>
            <a:prstDash val="solid"/>
          </a:ln>
        </p:spPr>
      </p:sp>
      <p:sp>
        <p:nvSpPr>
          <p:cNvPr id="60" name="workflow-flow-line-2"/>
          <p:cNvSpPr>
            <a:spLocks noGrp="1"/>
          </p:cNvSpPr>
          <p:nvPr/>
        </p:nvSpPr>
        <p:spPr>
          <a:xfrm>
            <a:off x="6467475" y="2781300"/>
            <a:ext cx="152400" cy="0"/>
          </a:xfrm>
          <a:prstGeom prst="line">
            <a:avLst/>
          </a:prstGeom>
          <a:noFill/>
          <a:ln w="11430">
            <a:solidFill>
              <a:srgbClr val="557A96"/>
            </a:solidFill>
            <a:prstDash val="solid"/>
          </a:ln>
        </p:spPr>
      </p:sp>
      <p:sp>
        <p:nvSpPr>
          <p:cNvPr id="61" name="workflow-flow-arrow-2"/>
          <p:cNvSpPr>
            <a:spLocks noGrp="1"/>
          </p:cNvSpPr>
          <p:nvPr/>
        </p:nvSpPr>
        <p:spPr>
          <a:xfrm rot="5400000">
            <a:off x="6572250" y="2743200"/>
            <a:ext cx="76200" cy="76200"/>
          </a:xfrm>
          <a:prstGeom prst="triangle">
            <a:avLst/>
          </a:prstGeom>
          <a:solidFill>
            <a:srgbClr val="557A96"/>
          </a:solidFill>
          <a:ln w="0">
            <a:solidFill>
              <a:srgbClr val="557A96"/>
            </a:solidFill>
            <a:prstDash val="solid"/>
          </a:ln>
        </p:spPr>
      </p:sp>
      <p:sp>
        <p:nvSpPr>
          <p:cNvPr id="62" name="workflow-flow-line-3"/>
          <p:cNvSpPr>
            <a:spLocks noGrp="1"/>
          </p:cNvSpPr>
          <p:nvPr/>
        </p:nvSpPr>
        <p:spPr>
          <a:xfrm>
            <a:off x="7210425" y="2781300"/>
            <a:ext cx="152400" cy="0"/>
          </a:xfrm>
          <a:prstGeom prst="line">
            <a:avLst/>
          </a:prstGeom>
          <a:noFill/>
          <a:ln w="11430">
            <a:solidFill>
              <a:srgbClr val="557A96"/>
            </a:solidFill>
            <a:prstDash val="solid"/>
          </a:ln>
        </p:spPr>
      </p:sp>
      <p:sp>
        <p:nvSpPr>
          <p:cNvPr id="63" name="workflow-flow-arrow-3"/>
          <p:cNvSpPr>
            <a:spLocks noGrp="1"/>
          </p:cNvSpPr>
          <p:nvPr/>
        </p:nvSpPr>
        <p:spPr>
          <a:xfrm rot="5400000">
            <a:off x="7315200" y="2743200"/>
            <a:ext cx="76200" cy="76200"/>
          </a:xfrm>
          <a:prstGeom prst="triangle">
            <a:avLst/>
          </a:prstGeom>
          <a:solidFill>
            <a:srgbClr val="557A96"/>
          </a:solidFill>
          <a:ln w="0">
            <a:solidFill>
              <a:srgbClr val="557A96"/>
            </a:solidFill>
            <a:prstDash val="solid"/>
          </a:ln>
        </p:spPr>
      </p:sp>
      <p:sp>
        <p:nvSpPr>
          <p:cNvPr id="64" name="input-node-box"/>
          <p:cNvSpPr>
            <a:spLocks noGrp="1"/>
          </p:cNvSpPr>
          <p:nvPr/>
        </p:nvSpPr>
        <p:spPr>
          <a:xfrm>
            <a:off x="4362450" y="2628900"/>
            <a:ext cx="504825" cy="304800"/>
          </a:xfrm>
          <a:prstGeom prst="roundRect">
            <a:avLst>
              <a:gd name="adj" fmla="val 12500"/>
            </a:avLst>
          </a:prstGeom>
          <a:solidFill>
            <a:srgbClr val="F7F9FA"/>
          </a:solidFill>
          <a:ln w="9525">
            <a:solidFill>
              <a:srgbClr val="7F9DB2"/>
            </a:solidFill>
            <a:prstDash val="solid"/>
          </a:ln>
        </p:spPr>
      </p:sp>
      <p:sp>
        <p:nvSpPr>
          <p:cNvPr id="65" name="input-node-text"/>
          <p:cNvSpPr>
            <a:spLocks noGrp="1"/>
          </p:cNvSpPr>
          <p:nvPr/>
        </p:nvSpPr>
        <p:spPr>
          <a:xfrm>
            <a:off x="4391025" y="2647950"/>
            <a:ext cx="447675"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66" name="stage-a-node-box"/>
          <p:cNvSpPr>
            <a:spLocks noGrp="1"/>
          </p:cNvSpPr>
          <p:nvPr/>
        </p:nvSpPr>
        <p:spPr>
          <a:xfrm>
            <a:off x="5019675" y="2628900"/>
            <a:ext cx="590550" cy="304800"/>
          </a:xfrm>
          <a:prstGeom prst="roundRect">
            <a:avLst>
              <a:gd name="adj" fmla="val 12500"/>
            </a:avLst>
          </a:prstGeom>
          <a:solidFill>
            <a:srgbClr val="F7F9FA"/>
          </a:solidFill>
          <a:ln w="9525">
            <a:solidFill>
              <a:srgbClr val="7F9DB2"/>
            </a:solidFill>
            <a:prstDash val="solid"/>
          </a:ln>
        </p:spPr>
      </p:sp>
      <p:sp>
        <p:nvSpPr>
          <p:cNvPr id="67" name="stage-a-node-text"/>
          <p:cNvSpPr>
            <a:spLocks noGrp="1"/>
          </p:cNvSpPr>
          <p:nvPr/>
        </p:nvSpPr>
        <p:spPr>
          <a:xfrm>
            <a:off x="50482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68" name="artifact-node-box"/>
          <p:cNvSpPr>
            <a:spLocks noGrp="1"/>
          </p:cNvSpPr>
          <p:nvPr/>
        </p:nvSpPr>
        <p:spPr>
          <a:xfrm>
            <a:off x="5762625" y="2628900"/>
            <a:ext cx="704850" cy="304800"/>
          </a:xfrm>
          <a:prstGeom prst="roundRect">
            <a:avLst>
              <a:gd name="adj" fmla="val 12500"/>
            </a:avLst>
          </a:prstGeom>
          <a:solidFill>
            <a:srgbClr val="F2F6F8"/>
          </a:solidFill>
          <a:ln w="9525">
            <a:solidFill>
              <a:srgbClr val="7F9DB2"/>
            </a:solidFill>
            <a:prstDash val="solid"/>
          </a:ln>
        </p:spPr>
      </p:sp>
      <p:sp>
        <p:nvSpPr>
          <p:cNvPr id="69" name="artifact-node-text"/>
          <p:cNvSpPr>
            <a:spLocks noGrp="1"/>
          </p:cNvSpPr>
          <p:nvPr/>
        </p:nvSpPr>
        <p:spPr>
          <a:xfrm>
            <a:off x="5791200" y="2647950"/>
            <a:ext cx="647700" cy="266700"/>
          </a:xfrm>
          <a:prstGeom prst="rect">
            <a:avLst/>
          </a:prstGeom>
          <a:noFill/>
          <a:ln w="0">
            <a:noFill/>
            <a:prstDash val="solid"/>
          </a:ln>
        </p:spPr>
        <p:txBody>
          <a:bodyPr wrap="none" lIns="0" tIns="0" rIns="0" bIns="0" anchor="ctr">
            <a:normAutofit/>
          </a:bodyPr>
          <a:lstStyle/>
          <a:p>
            <a:pPr algn="ctr">
              <a:defRPr sz="955" b="1">
                <a:solidFill>
                  <a:srgbClr val="557A96"/>
                </a:solidFill>
                <a:latin typeface="微软雅黑" panose="020B0503020204020204" charset="-122"/>
                <a:ea typeface="微软雅黑" panose="020B0503020204020204" charset="-122"/>
                <a:cs typeface="微软雅黑" panose="020B0503020204020204" charset="-122"/>
              </a:defRPr>
            </a:pPr>
            <a:r>
              <a:rPr sz="955"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0" name="stage-b-node-box"/>
          <p:cNvSpPr>
            <a:spLocks noGrp="1"/>
          </p:cNvSpPr>
          <p:nvPr/>
        </p:nvSpPr>
        <p:spPr>
          <a:xfrm>
            <a:off x="6619875" y="2628900"/>
            <a:ext cx="590550" cy="304800"/>
          </a:xfrm>
          <a:prstGeom prst="roundRect">
            <a:avLst>
              <a:gd name="adj" fmla="val 12500"/>
            </a:avLst>
          </a:prstGeom>
          <a:solidFill>
            <a:srgbClr val="F7F9FA"/>
          </a:solidFill>
          <a:ln w="9525">
            <a:solidFill>
              <a:srgbClr val="7F9DB2"/>
            </a:solidFill>
            <a:prstDash val="solid"/>
          </a:ln>
        </p:spPr>
      </p:sp>
      <p:sp>
        <p:nvSpPr>
          <p:cNvPr id="71" name="stage-b-node-text"/>
          <p:cNvSpPr>
            <a:spLocks noGrp="1"/>
          </p:cNvSpPr>
          <p:nvPr/>
        </p:nvSpPr>
        <p:spPr>
          <a:xfrm>
            <a:off x="66484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2" name="output-node-box"/>
          <p:cNvSpPr>
            <a:spLocks noGrp="1"/>
          </p:cNvSpPr>
          <p:nvPr/>
        </p:nvSpPr>
        <p:spPr>
          <a:xfrm>
            <a:off x="7362825" y="2628900"/>
            <a:ext cx="495300" cy="304800"/>
          </a:xfrm>
          <a:prstGeom prst="roundRect">
            <a:avLst>
              <a:gd name="adj" fmla="val 12500"/>
            </a:avLst>
          </a:prstGeom>
          <a:solidFill>
            <a:srgbClr val="F7F9FA"/>
          </a:solidFill>
          <a:ln w="9525">
            <a:solidFill>
              <a:srgbClr val="7F9DB2"/>
            </a:solidFill>
            <a:prstDash val="solid"/>
          </a:ln>
        </p:spPr>
      </p:sp>
      <p:sp>
        <p:nvSpPr>
          <p:cNvPr id="73" name="output-node-text"/>
          <p:cNvSpPr>
            <a:spLocks noGrp="1"/>
          </p:cNvSpPr>
          <p:nvPr/>
        </p:nvSpPr>
        <p:spPr>
          <a:xfrm>
            <a:off x="7391400" y="2647950"/>
            <a:ext cx="438150" cy="266700"/>
          </a:xfrm>
          <a:prstGeom prst="rect">
            <a:avLst/>
          </a:prstGeom>
          <a:noFill/>
          <a:ln w="0">
            <a:noFill/>
            <a:prstDash val="solid"/>
          </a:ln>
        </p:spPr>
        <p:txBody>
          <a:bodyPr wrap="none" lIns="0" tIns="0" rIns="0" bIns="0" anchor="ctr">
            <a:normAutofit fontScale="96398"/>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75" name="stage-row-label"/>
          <p:cNvSpPr>
            <a:spLocks noGrp="1"/>
          </p:cNvSpPr>
          <p:nvPr/>
        </p:nvSpPr>
        <p:spPr>
          <a:xfrm>
            <a:off x="4371975" y="31908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76" name="stage-row-detail"/>
          <p:cNvSpPr>
            <a:spLocks noGrp="1"/>
          </p:cNvSpPr>
          <p:nvPr/>
        </p:nvSpPr>
        <p:spPr>
          <a:xfrm>
            <a:off x="5191125" y="31908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每阶段明确 Input · Action · Output</a:t>
            </a:r>
          </a:p>
        </p:txBody>
      </p:sp>
      <p:sp>
        <p:nvSpPr>
          <p:cNvPr id="77" name="stage-row-line"/>
          <p:cNvSpPr>
            <a:spLocks noGrp="1"/>
          </p:cNvSpPr>
          <p:nvPr/>
        </p:nvSpPr>
        <p:spPr>
          <a:xfrm>
            <a:off x="4371975" y="3486150"/>
            <a:ext cx="3448050" cy="0"/>
          </a:xfrm>
          <a:prstGeom prst="line">
            <a:avLst/>
          </a:prstGeom>
          <a:noFill/>
          <a:ln w="6668">
            <a:solidFill>
              <a:srgbClr val="D8DEE3"/>
            </a:solidFill>
            <a:prstDash val="solid"/>
          </a:ln>
        </p:spPr>
      </p:sp>
      <p:sp>
        <p:nvSpPr>
          <p:cNvPr id="78" name="handoff-row-label"/>
          <p:cNvSpPr>
            <a:spLocks noGrp="1"/>
          </p:cNvSpPr>
          <p:nvPr/>
        </p:nvSpPr>
        <p:spPr>
          <a:xfrm>
            <a:off x="4371975" y="35909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Handoff</a:t>
            </a:r>
          </a:p>
        </p:txBody>
      </p:sp>
      <p:sp>
        <p:nvSpPr>
          <p:cNvPr id="79" name="handoff-row-detail"/>
          <p:cNvSpPr>
            <a:spLocks noGrp="1"/>
          </p:cNvSpPr>
          <p:nvPr/>
        </p:nvSpPr>
        <p:spPr>
          <a:xfrm>
            <a:off x="5191125" y="3590925"/>
            <a:ext cx="2628900" cy="238125"/>
          </a:xfrm>
          <a:prstGeom prst="rect">
            <a:avLst/>
          </a:prstGeom>
          <a:noFill/>
          <a:ln w="0">
            <a:noFill/>
            <a:prstDash val="solid"/>
          </a:ln>
        </p:spPr>
        <p:txBody>
          <a:bodyPr wrap="none" lIns="0" tIns="0" rIns="0" bIns="0" anchor="ctr">
            <a:normAutofit fontScale="95808"/>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Output Contract → Artifact → Input Contract</a:t>
            </a:r>
          </a:p>
        </p:txBody>
      </p:sp>
      <p:sp>
        <p:nvSpPr>
          <p:cNvPr id="80" name="handoff-row-line"/>
          <p:cNvSpPr>
            <a:spLocks noGrp="1"/>
          </p:cNvSpPr>
          <p:nvPr/>
        </p:nvSpPr>
        <p:spPr>
          <a:xfrm>
            <a:off x="4371975" y="3886200"/>
            <a:ext cx="3448050" cy="0"/>
          </a:xfrm>
          <a:prstGeom prst="line">
            <a:avLst/>
          </a:prstGeom>
          <a:noFill/>
          <a:ln w="6668">
            <a:solidFill>
              <a:srgbClr val="D8DEE3"/>
            </a:solidFill>
            <a:prstDash val="solid"/>
          </a:ln>
        </p:spPr>
      </p:sp>
      <p:sp>
        <p:nvSpPr>
          <p:cNvPr id="81" name="gate-row-label"/>
          <p:cNvSpPr>
            <a:spLocks noGrp="1"/>
          </p:cNvSpPr>
          <p:nvPr/>
        </p:nvSpPr>
        <p:spPr>
          <a:xfrm>
            <a:off x="4371975" y="39909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2" name="gate-row-detail"/>
          <p:cNvSpPr>
            <a:spLocks noGrp="1"/>
          </p:cNvSpPr>
          <p:nvPr/>
        </p:nvSpPr>
        <p:spPr>
          <a:xfrm>
            <a:off x="5191125" y="39909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PASS 才推进；FAIL 转入失败路径</a:t>
            </a:r>
          </a:p>
        </p:txBody>
      </p:sp>
      <p:sp>
        <p:nvSpPr>
          <p:cNvPr id="83" name="gate-row-line"/>
          <p:cNvSpPr>
            <a:spLocks noGrp="1"/>
          </p:cNvSpPr>
          <p:nvPr/>
        </p:nvSpPr>
        <p:spPr>
          <a:xfrm>
            <a:off x="4371975" y="4286250"/>
            <a:ext cx="3448050" cy="0"/>
          </a:xfrm>
          <a:prstGeom prst="line">
            <a:avLst/>
          </a:prstGeom>
          <a:noFill/>
          <a:ln w="6668">
            <a:solidFill>
              <a:srgbClr val="D8DEE3"/>
            </a:solidFill>
            <a:prstDash val="solid"/>
          </a:ln>
        </p:spPr>
      </p:sp>
      <p:sp>
        <p:nvSpPr>
          <p:cNvPr id="84" name="failure-row-label"/>
          <p:cNvSpPr>
            <a:spLocks noGrp="1"/>
          </p:cNvSpPr>
          <p:nvPr/>
        </p:nvSpPr>
        <p:spPr>
          <a:xfrm>
            <a:off x="4371975" y="43910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Failure</a:t>
            </a:r>
          </a:p>
        </p:txBody>
      </p:sp>
      <p:sp>
        <p:nvSpPr>
          <p:cNvPr id="85" name="failure-row-detail"/>
          <p:cNvSpPr>
            <a:spLocks noGrp="1"/>
          </p:cNvSpPr>
          <p:nvPr/>
        </p:nvSpPr>
        <p:spPr>
          <a:xfrm>
            <a:off x="5191125" y="439102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Retry 当前阶段 · Fallback 前一阶段</a:t>
            </a:r>
          </a:p>
        </p:txBody>
      </p:sp>
      <p:sp>
        <p:nvSpPr>
          <p:cNvPr id="86" name="failure-row-line"/>
          <p:cNvSpPr>
            <a:spLocks noGrp="1"/>
          </p:cNvSpPr>
          <p:nvPr/>
        </p:nvSpPr>
        <p:spPr>
          <a:xfrm>
            <a:off x="4371975" y="4686300"/>
            <a:ext cx="3448050" cy="0"/>
          </a:xfrm>
          <a:prstGeom prst="line">
            <a:avLst/>
          </a:prstGeom>
          <a:noFill/>
          <a:ln w="6668">
            <a:solidFill>
              <a:srgbClr val="D8DEE3"/>
            </a:solidFill>
            <a:prstDash val="solid"/>
          </a:ln>
        </p:spPr>
      </p:sp>
      <p:sp>
        <p:nvSpPr>
          <p:cNvPr id="87" name="routing-note-band"/>
          <p:cNvSpPr>
            <a:spLocks noGrp="1"/>
          </p:cNvSpPr>
          <p:nvPr/>
        </p:nvSpPr>
        <p:spPr>
          <a:xfrm>
            <a:off x="4352925" y="4857750"/>
            <a:ext cx="3476625" cy="352425"/>
          </a:xfrm>
          <a:prstGeom prst="rect">
            <a:avLst/>
          </a:prstGeom>
          <a:solidFill>
            <a:srgbClr val="F7F9FA"/>
          </a:solidFill>
          <a:ln w="0">
            <a:noFill/>
            <a:prstDash val="solid"/>
          </a:ln>
        </p:spPr>
      </p:sp>
      <p:sp>
        <p:nvSpPr>
          <p:cNvPr id="88" name="routing-note"/>
          <p:cNvSpPr>
            <a:spLocks noGrp="1"/>
          </p:cNvSpPr>
          <p:nvPr/>
        </p:nvSpPr>
        <p:spPr>
          <a:xfrm>
            <a:off x="4476750" y="4876800"/>
            <a:ext cx="3228975" cy="314325"/>
          </a:xfrm>
          <a:prstGeom prst="rect">
            <a:avLst/>
          </a:prstGeom>
          <a:noFill/>
          <a:ln w="0">
            <a:noFill/>
            <a:prstDash val="solid"/>
          </a:ln>
        </p:spPr>
        <p:txBody>
          <a:bodyPr wrap="none" lIns="0" tIns="0" rIns="0" bIns="0" anchor="ctr">
            <a:normAutofit/>
          </a:bodyPr>
          <a:lstStyle/>
          <a:p>
            <a:pPr algn="ctr">
              <a:defRPr sz="1035" b="1">
                <a:solidFill>
                  <a:srgbClr val="414951"/>
                </a:solidFill>
                <a:latin typeface="微软雅黑" panose="020B0503020204020204" charset="-122"/>
                <a:ea typeface="微软雅黑" panose="020B0503020204020204" charset="-122"/>
                <a:cs typeface="微软雅黑" panose="020B0503020204020204" charset="-122"/>
              </a:defRPr>
            </a:pPr>
            <a:r>
              <a:rPr sz="1035" b="1" dirty="0">
                <a:solidFill>
                  <a:srgbClr val="414951"/>
                </a:solidFill>
                <a:latin typeface="微软雅黑" panose="020B0503020204020204" charset="-122"/>
                <a:ea typeface="微软雅黑" panose="020B0503020204020204" charset="-122"/>
                <a:cs typeface="微软雅黑" panose="020B0503020204020204" charset="-122"/>
              </a:rPr>
              <a:t>Routing </a:t>
            </a:r>
            <a:r>
              <a:rPr lang="zh-CN" altLang="en-US" sz="1035" b="1" dirty="0" smtClean="0">
                <a:solidFill>
                  <a:srgbClr val="414951"/>
                </a:solidFill>
                <a:latin typeface="微软雅黑" panose="020B0503020204020204" charset="-122"/>
                <a:ea typeface="微软雅黑" panose="020B0503020204020204" charset="-122"/>
                <a:cs typeface="微软雅黑" panose="020B0503020204020204" charset="-122"/>
              </a:rPr>
              <a:t>一般</a:t>
            </a:r>
            <a:r>
              <a:rPr sz="1035" b="1" dirty="0" err="1" smtClean="0">
                <a:solidFill>
                  <a:srgbClr val="414951"/>
                </a:solidFill>
                <a:latin typeface="微软雅黑" panose="020B0503020204020204" charset="-122"/>
                <a:ea typeface="微软雅黑" panose="020B0503020204020204" charset="-122"/>
                <a:cs typeface="微软雅黑" panose="020B0503020204020204" charset="-122"/>
              </a:rPr>
              <a:t>仅在多分支时设计</a:t>
            </a:r>
            <a:r>
              <a:rPr sz="103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03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9" name="workflow-product-band"/>
          <p:cNvSpPr>
            <a:spLocks noGrp="1"/>
          </p:cNvSpPr>
          <p:nvPr/>
        </p:nvSpPr>
        <p:spPr>
          <a:xfrm>
            <a:off x="4352925" y="5314950"/>
            <a:ext cx="3476625" cy="333375"/>
          </a:xfrm>
          <a:prstGeom prst="rect">
            <a:avLst/>
          </a:prstGeom>
          <a:solidFill>
            <a:srgbClr val="F2F6F8"/>
          </a:solidFill>
          <a:ln w="6668">
            <a:solidFill>
              <a:srgbClr val="D8DEE3"/>
            </a:solidFill>
            <a:prstDash val="solid"/>
          </a:ln>
        </p:spPr>
      </p:sp>
      <p:sp>
        <p:nvSpPr>
          <p:cNvPr id="90" name="workflow-product"/>
          <p:cNvSpPr>
            <a:spLocks noGrp="1"/>
          </p:cNvSpPr>
          <p:nvPr/>
        </p:nvSpPr>
        <p:spPr>
          <a:xfrm>
            <a:off x="4453973" y="5381624"/>
            <a:ext cx="3267075" cy="200025"/>
          </a:xfrm>
          <a:prstGeom prst="rect">
            <a:avLst/>
          </a:prstGeom>
          <a:noFill/>
          <a:ln w="0">
            <a:noFill/>
            <a:prstDash val="solid"/>
          </a:ln>
        </p:spPr>
        <p:txBody>
          <a:bodyPr wrap="none" lIns="0" tIns="0" rIns="0" bIns="0" anchor="ctr">
            <a:normAutofit/>
          </a:bodyPr>
          <a:lstStyle/>
          <a:p>
            <a:pPr algn="ctr">
              <a:defRPr sz="106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0" b="1" dirty="0">
                <a:solidFill>
                  <a:srgbClr val="557A96"/>
                </a:solidFill>
                <a:latin typeface="微软雅黑" panose="020B0503020204020204" charset="-122"/>
                <a:ea typeface="微软雅黑" panose="020B0503020204020204" charset="-122"/>
                <a:cs typeface="微软雅黑" panose="020B0503020204020204" charset="-122"/>
              </a:rPr>
              <a:t>完成</a:t>
            </a:r>
            <a:r>
              <a:rPr sz="1060" b="1" dirty="0" smtClean="0">
                <a:solidFill>
                  <a:srgbClr val="557A96"/>
                </a:solidFill>
                <a:latin typeface="微软雅黑" panose="020B0503020204020204" charset="-122"/>
                <a:ea typeface="微软雅黑" panose="020B0503020204020204" charset="-122"/>
                <a:cs typeface="微软雅黑" panose="020B0503020204020204" charset="-122"/>
              </a:rPr>
              <a:t>：</a:t>
            </a:r>
            <a:r>
              <a:rPr sz="1060" b="1" dirty="0">
                <a:solidFill>
                  <a:srgbClr val="557A96"/>
                </a:solidFill>
                <a:latin typeface="微软雅黑" panose="020B0503020204020204" charset="-122"/>
                <a:ea typeface="微软雅黑" panose="020B0503020204020204" charset="-122"/>
                <a:cs typeface="微软雅黑" panose="020B0503020204020204" charset="-122"/>
              </a:rPr>
              <a:t>从 Input 到 Output </a:t>
            </a:r>
            <a:r>
              <a:rPr sz="1060" b="1" dirty="0" err="1">
                <a:solidFill>
                  <a:srgbClr val="557A96"/>
                </a:solidFill>
                <a:latin typeface="微软雅黑" panose="020B0503020204020204" charset="-122"/>
                <a:ea typeface="微软雅黑" panose="020B0503020204020204" charset="-122"/>
                <a:cs typeface="微软雅黑" panose="020B0503020204020204" charset="-122"/>
              </a:rPr>
              <a:t>的最小可运行</a:t>
            </a:r>
            <a:r>
              <a:rPr sz="1060" b="1" dirty="0">
                <a:solidFill>
                  <a:srgbClr val="557A96"/>
                </a:solidFill>
                <a:latin typeface="微软雅黑" panose="020B0503020204020204" charset="-122"/>
                <a:ea typeface="微软雅黑" panose="020B0503020204020204" charset="-122"/>
                <a:cs typeface="微软雅黑" panose="020B0503020204020204" charset="-122"/>
              </a:rPr>
              <a:t> Workflow</a:t>
            </a:r>
          </a:p>
        </p:txBody>
      </p:sp>
      <p:sp>
        <p:nvSpPr>
          <p:cNvPr id="92" name="roles-intro"/>
          <p:cNvSpPr>
            <a:spLocks noGrp="1"/>
          </p:cNvSpPr>
          <p:nvPr/>
        </p:nvSpPr>
        <p:spPr>
          <a:xfrm>
            <a:off x="8391525" y="2765562"/>
            <a:ext cx="2990850" cy="209550"/>
          </a:xfrm>
          <a:prstGeom prst="rect">
            <a:avLst/>
          </a:prstGeom>
          <a:noFill/>
          <a:ln w="0">
            <a:noFill/>
            <a:prstDash val="solid"/>
          </a:ln>
        </p:spPr>
        <p:txBody>
          <a:bodyPr wrap="none" lIns="0" tIns="0" rIns="0" bIns="0" anchor="ctr">
            <a:normAutofit/>
          </a:bodyPr>
          <a:lstStyle/>
          <a:p>
            <a:pPr algn="ctr">
              <a:defRPr sz="1110" b="0">
                <a:solidFill>
                  <a:srgbClr val="68727B"/>
                </a:solidFill>
                <a:latin typeface="微软雅黑" panose="020B0503020204020204" charset="-122"/>
                <a:ea typeface="微软雅黑" panose="020B0503020204020204" charset="-122"/>
                <a:cs typeface="微软雅黑" panose="020B0503020204020204" charset="-122"/>
              </a:defRPr>
            </a:pPr>
            <a:r>
              <a:rPr sz="1110" b="0" dirty="0" err="1" smtClean="0">
                <a:solidFill>
                  <a:srgbClr val="68727B"/>
                </a:solidFill>
                <a:latin typeface="微软雅黑" panose="020B0503020204020204" charset="-122"/>
                <a:ea typeface="微软雅黑" panose="020B0503020204020204" charset="-122"/>
                <a:cs typeface="微软雅黑" panose="020B0503020204020204" charset="-122"/>
              </a:rPr>
              <a:t>逐个判断每个</a:t>
            </a:r>
            <a:r>
              <a:rPr sz="1110" b="0" dirty="0" smtClean="0">
                <a:solidFill>
                  <a:srgbClr val="68727B"/>
                </a:solidFill>
                <a:latin typeface="微软雅黑" panose="020B0503020204020204" charset="-122"/>
                <a:ea typeface="微软雅黑" panose="020B0503020204020204" charset="-122"/>
                <a:cs typeface="微软雅黑" panose="020B0503020204020204" charset="-122"/>
              </a:rPr>
              <a:t> Stage</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是什么，需要什么</a:t>
            </a:r>
            <a:endParaRPr sz="111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3" name="role-stage-down"/>
          <p:cNvSpPr>
            <a:spLocks noGrp="1"/>
          </p:cNvSpPr>
          <p:nvPr/>
        </p:nvSpPr>
        <p:spPr>
          <a:xfrm>
            <a:off x="9896475" y="3279912"/>
            <a:ext cx="0" cy="114300"/>
          </a:xfrm>
          <a:prstGeom prst="line">
            <a:avLst/>
          </a:prstGeom>
          <a:noFill/>
          <a:ln w="11430">
            <a:solidFill>
              <a:srgbClr val="557A96"/>
            </a:solidFill>
            <a:prstDash val="solid"/>
          </a:ln>
        </p:spPr>
      </p:sp>
      <p:sp>
        <p:nvSpPr>
          <p:cNvPr id="94" name="role-branch"/>
          <p:cNvSpPr>
            <a:spLocks noGrp="1"/>
          </p:cNvSpPr>
          <p:nvPr/>
        </p:nvSpPr>
        <p:spPr>
          <a:xfrm>
            <a:off x="8724900" y="3394212"/>
            <a:ext cx="2295525" cy="0"/>
          </a:xfrm>
          <a:prstGeom prst="line">
            <a:avLst/>
          </a:prstGeom>
          <a:noFill/>
          <a:ln w="11430">
            <a:solidFill>
              <a:srgbClr val="557A96"/>
            </a:solidFill>
            <a:prstDash val="solid"/>
          </a:ln>
        </p:spPr>
      </p:sp>
      <p:sp>
        <p:nvSpPr>
          <p:cNvPr id="95" name="role-drop-0"/>
          <p:cNvSpPr>
            <a:spLocks noGrp="1"/>
          </p:cNvSpPr>
          <p:nvPr/>
        </p:nvSpPr>
        <p:spPr>
          <a:xfrm>
            <a:off x="8724900" y="3394212"/>
            <a:ext cx="0" cy="85725"/>
          </a:xfrm>
          <a:prstGeom prst="line">
            <a:avLst/>
          </a:prstGeom>
          <a:noFill/>
          <a:ln w="11430">
            <a:solidFill>
              <a:srgbClr val="557A96"/>
            </a:solidFill>
            <a:prstDash val="solid"/>
          </a:ln>
        </p:spPr>
      </p:sp>
      <p:sp>
        <p:nvSpPr>
          <p:cNvPr id="96" name="role-arrow-0"/>
          <p:cNvSpPr>
            <a:spLocks noGrp="1"/>
          </p:cNvSpPr>
          <p:nvPr/>
        </p:nvSpPr>
        <p:spPr>
          <a:xfrm rot="10800000">
            <a:off x="8686800" y="3441837"/>
            <a:ext cx="76200" cy="76200"/>
          </a:xfrm>
          <a:prstGeom prst="triangle">
            <a:avLst/>
          </a:prstGeom>
          <a:solidFill>
            <a:srgbClr val="557A96"/>
          </a:solidFill>
          <a:ln w="0">
            <a:solidFill>
              <a:srgbClr val="557A96"/>
            </a:solidFill>
            <a:prstDash val="solid"/>
          </a:ln>
        </p:spPr>
      </p:sp>
      <p:sp>
        <p:nvSpPr>
          <p:cNvPr id="97" name="role-drop-1"/>
          <p:cNvSpPr>
            <a:spLocks noGrp="1"/>
          </p:cNvSpPr>
          <p:nvPr/>
        </p:nvSpPr>
        <p:spPr>
          <a:xfrm>
            <a:off x="9477375" y="3394212"/>
            <a:ext cx="0" cy="85725"/>
          </a:xfrm>
          <a:prstGeom prst="line">
            <a:avLst/>
          </a:prstGeom>
          <a:noFill/>
          <a:ln w="11430">
            <a:solidFill>
              <a:srgbClr val="557A96"/>
            </a:solidFill>
            <a:prstDash val="solid"/>
          </a:ln>
        </p:spPr>
      </p:sp>
      <p:sp>
        <p:nvSpPr>
          <p:cNvPr id="98" name="role-arrow-1"/>
          <p:cNvSpPr>
            <a:spLocks noGrp="1"/>
          </p:cNvSpPr>
          <p:nvPr/>
        </p:nvSpPr>
        <p:spPr>
          <a:xfrm rot="10800000">
            <a:off x="9439275" y="3441837"/>
            <a:ext cx="76200" cy="76200"/>
          </a:xfrm>
          <a:prstGeom prst="triangle">
            <a:avLst/>
          </a:prstGeom>
          <a:solidFill>
            <a:srgbClr val="557A96"/>
          </a:solidFill>
          <a:ln w="0">
            <a:solidFill>
              <a:srgbClr val="557A96"/>
            </a:solidFill>
            <a:prstDash val="solid"/>
          </a:ln>
        </p:spPr>
      </p:sp>
      <p:sp>
        <p:nvSpPr>
          <p:cNvPr id="99" name="role-drop-2"/>
          <p:cNvSpPr>
            <a:spLocks noGrp="1"/>
          </p:cNvSpPr>
          <p:nvPr/>
        </p:nvSpPr>
        <p:spPr>
          <a:xfrm>
            <a:off x="10229850" y="3394212"/>
            <a:ext cx="0" cy="85725"/>
          </a:xfrm>
          <a:prstGeom prst="line">
            <a:avLst/>
          </a:prstGeom>
          <a:noFill/>
          <a:ln w="11430">
            <a:solidFill>
              <a:srgbClr val="557A96"/>
            </a:solidFill>
            <a:prstDash val="solid"/>
          </a:ln>
        </p:spPr>
      </p:sp>
      <p:sp>
        <p:nvSpPr>
          <p:cNvPr id="100" name="role-arrow-2"/>
          <p:cNvSpPr>
            <a:spLocks noGrp="1"/>
          </p:cNvSpPr>
          <p:nvPr/>
        </p:nvSpPr>
        <p:spPr>
          <a:xfrm rot="10800000">
            <a:off x="10191750" y="3441837"/>
            <a:ext cx="76200" cy="76200"/>
          </a:xfrm>
          <a:prstGeom prst="triangle">
            <a:avLst/>
          </a:prstGeom>
          <a:solidFill>
            <a:srgbClr val="557A96"/>
          </a:solidFill>
          <a:ln w="0">
            <a:solidFill>
              <a:srgbClr val="557A96"/>
            </a:solidFill>
            <a:prstDash val="solid"/>
          </a:ln>
        </p:spPr>
      </p:sp>
      <p:sp>
        <p:nvSpPr>
          <p:cNvPr id="101" name="role-drop-3"/>
          <p:cNvSpPr>
            <a:spLocks noGrp="1"/>
          </p:cNvSpPr>
          <p:nvPr/>
        </p:nvSpPr>
        <p:spPr>
          <a:xfrm>
            <a:off x="11020425" y="3394212"/>
            <a:ext cx="0" cy="85725"/>
          </a:xfrm>
          <a:prstGeom prst="line">
            <a:avLst/>
          </a:prstGeom>
          <a:noFill/>
          <a:ln w="11430">
            <a:solidFill>
              <a:srgbClr val="557A96"/>
            </a:solidFill>
            <a:prstDash val="solid"/>
          </a:ln>
        </p:spPr>
      </p:sp>
      <p:sp>
        <p:nvSpPr>
          <p:cNvPr id="102" name="role-arrow-3"/>
          <p:cNvSpPr>
            <a:spLocks noGrp="1"/>
          </p:cNvSpPr>
          <p:nvPr/>
        </p:nvSpPr>
        <p:spPr>
          <a:xfrm rot="10800000">
            <a:off x="10982325" y="3441837"/>
            <a:ext cx="76200" cy="76200"/>
          </a:xfrm>
          <a:prstGeom prst="triangle">
            <a:avLst/>
          </a:prstGeom>
          <a:solidFill>
            <a:srgbClr val="557A96"/>
          </a:solidFill>
          <a:ln w="0">
            <a:solidFill>
              <a:srgbClr val="557A96"/>
            </a:solidFill>
            <a:prstDash val="solid"/>
          </a:ln>
        </p:spPr>
      </p:sp>
      <p:sp>
        <p:nvSpPr>
          <p:cNvPr id="103" name="stage-owner-box"/>
          <p:cNvSpPr>
            <a:spLocks noGrp="1"/>
          </p:cNvSpPr>
          <p:nvPr/>
        </p:nvSpPr>
        <p:spPr>
          <a:xfrm>
            <a:off x="9544050" y="2994162"/>
            <a:ext cx="704850" cy="285750"/>
          </a:xfrm>
          <a:prstGeom prst="roundRect">
            <a:avLst>
              <a:gd name="adj" fmla="val 13333"/>
            </a:avLst>
          </a:prstGeom>
          <a:solidFill>
            <a:srgbClr val="F2F6F8"/>
          </a:solidFill>
          <a:ln w="9525">
            <a:solidFill>
              <a:srgbClr val="7F9DB2"/>
            </a:solidFill>
            <a:prstDash val="solid"/>
          </a:ln>
        </p:spPr>
      </p:sp>
      <p:sp>
        <p:nvSpPr>
          <p:cNvPr id="104" name="stage-owner-text"/>
          <p:cNvSpPr>
            <a:spLocks noGrp="1"/>
          </p:cNvSpPr>
          <p:nvPr/>
        </p:nvSpPr>
        <p:spPr>
          <a:xfrm>
            <a:off x="9572625" y="3013212"/>
            <a:ext cx="6477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105" name="main-agent-node-box"/>
          <p:cNvSpPr>
            <a:spLocks noGrp="1"/>
          </p:cNvSpPr>
          <p:nvPr/>
        </p:nvSpPr>
        <p:spPr>
          <a:xfrm>
            <a:off x="8382000" y="3518037"/>
            <a:ext cx="685800" cy="342900"/>
          </a:xfrm>
          <a:prstGeom prst="roundRect">
            <a:avLst>
              <a:gd name="adj" fmla="val 11111"/>
            </a:avLst>
          </a:prstGeom>
          <a:solidFill>
            <a:srgbClr val="F7F9FA"/>
          </a:solidFill>
          <a:ln w="9525">
            <a:solidFill>
              <a:srgbClr val="7F9DB2"/>
            </a:solidFill>
            <a:prstDash val="solid"/>
          </a:ln>
        </p:spPr>
      </p:sp>
      <p:sp>
        <p:nvSpPr>
          <p:cNvPr id="106" name="main-agent-node-text"/>
          <p:cNvSpPr>
            <a:spLocks noGrp="1"/>
          </p:cNvSpPr>
          <p:nvPr/>
        </p:nvSpPr>
        <p:spPr>
          <a:xfrm>
            <a:off x="8410575" y="3537087"/>
            <a:ext cx="628650" cy="304800"/>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Main</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Agent</a:t>
            </a:r>
          </a:p>
        </p:txBody>
      </p:sp>
      <p:sp>
        <p:nvSpPr>
          <p:cNvPr id="107" name="script-node-box"/>
          <p:cNvSpPr>
            <a:spLocks noGrp="1"/>
          </p:cNvSpPr>
          <p:nvPr/>
        </p:nvSpPr>
        <p:spPr>
          <a:xfrm>
            <a:off x="9134475" y="3518037"/>
            <a:ext cx="685800" cy="342900"/>
          </a:xfrm>
          <a:prstGeom prst="roundRect">
            <a:avLst>
              <a:gd name="adj" fmla="val 11111"/>
            </a:avLst>
          </a:prstGeom>
          <a:solidFill>
            <a:srgbClr val="F7F9FA"/>
          </a:solidFill>
          <a:ln w="9525">
            <a:solidFill>
              <a:srgbClr val="7F9DB2"/>
            </a:solidFill>
            <a:prstDash val="solid"/>
          </a:ln>
        </p:spPr>
      </p:sp>
      <p:sp>
        <p:nvSpPr>
          <p:cNvPr id="108" name="script-node-text"/>
          <p:cNvSpPr>
            <a:spLocks noGrp="1"/>
          </p:cNvSpPr>
          <p:nvPr/>
        </p:nvSpPr>
        <p:spPr>
          <a:xfrm>
            <a:off x="9163050" y="3537087"/>
            <a:ext cx="628650" cy="3048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Script</a:t>
            </a:r>
          </a:p>
        </p:txBody>
      </p:sp>
      <p:sp>
        <p:nvSpPr>
          <p:cNvPr id="109" name="subagent-node-box"/>
          <p:cNvSpPr>
            <a:spLocks noGrp="1"/>
          </p:cNvSpPr>
          <p:nvPr/>
        </p:nvSpPr>
        <p:spPr>
          <a:xfrm>
            <a:off x="9886950" y="3518037"/>
            <a:ext cx="685800" cy="342900"/>
          </a:xfrm>
          <a:prstGeom prst="roundRect">
            <a:avLst>
              <a:gd name="adj" fmla="val 11111"/>
            </a:avLst>
          </a:prstGeom>
          <a:solidFill>
            <a:srgbClr val="F7F9FA"/>
          </a:solidFill>
          <a:ln w="9525">
            <a:solidFill>
              <a:srgbClr val="7F9DB2"/>
            </a:solidFill>
            <a:prstDash val="solid"/>
          </a:ln>
        </p:spPr>
      </p:sp>
      <p:sp>
        <p:nvSpPr>
          <p:cNvPr id="110" name="subagent-node-text"/>
          <p:cNvSpPr>
            <a:spLocks noGrp="1"/>
          </p:cNvSpPr>
          <p:nvPr/>
        </p:nvSpPr>
        <p:spPr>
          <a:xfrm>
            <a:off x="9915525" y="3537087"/>
            <a:ext cx="628650" cy="304800"/>
          </a:xfrm>
          <a:prstGeom prst="rect">
            <a:avLst/>
          </a:prstGeom>
          <a:noFill/>
          <a:ln w="0">
            <a:noFill/>
            <a:prstDash val="solid"/>
          </a:ln>
        </p:spPr>
        <p:txBody>
          <a:bodyPr wrap="none" lIns="0" tIns="0" rIns="0" bIns="0" anchor="ctr">
            <a:normAutofit/>
          </a:bodyPr>
          <a:lstStyle/>
          <a:p>
            <a:pPr algn="ctr">
              <a:defRPr sz="930" b="1">
                <a:solidFill>
                  <a:srgbClr val="252B31"/>
                </a:solidFill>
                <a:latin typeface="微软雅黑" panose="020B0503020204020204" charset="-122"/>
                <a:ea typeface="微软雅黑" panose="020B0503020204020204" charset="-122"/>
                <a:cs typeface="微软雅黑" panose="020B0503020204020204" charset="-122"/>
              </a:defRPr>
            </a:pPr>
            <a:r>
              <a:rPr sz="930" b="1">
                <a:solidFill>
                  <a:srgbClr val="252B31"/>
                </a:solidFill>
                <a:latin typeface="微软雅黑" panose="020B0503020204020204" charset="-122"/>
                <a:ea typeface="微软雅黑" panose="020B0503020204020204" charset="-122"/>
                <a:cs typeface="微软雅黑" panose="020B0503020204020204" charset="-122"/>
              </a:rPr>
              <a:t>Subagent</a:t>
            </a:r>
          </a:p>
        </p:txBody>
      </p:sp>
      <p:sp>
        <p:nvSpPr>
          <p:cNvPr id="111" name="other-skill-node-box"/>
          <p:cNvSpPr>
            <a:spLocks noGrp="1"/>
          </p:cNvSpPr>
          <p:nvPr/>
        </p:nvSpPr>
        <p:spPr>
          <a:xfrm>
            <a:off x="10639425" y="3518037"/>
            <a:ext cx="762000" cy="342900"/>
          </a:xfrm>
          <a:prstGeom prst="roundRect">
            <a:avLst>
              <a:gd name="adj" fmla="val 11111"/>
            </a:avLst>
          </a:prstGeom>
          <a:solidFill>
            <a:srgbClr val="F7F9FA"/>
          </a:solidFill>
          <a:ln w="9525">
            <a:solidFill>
              <a:srgbClr val="7F9DB2"/>
            </a:solidFill>
            <a:prstDash val="solid"/>
          </a:ln>
        </p:spPr>
      </p:sp>
      <p:sp>
        <p:nvSpPr>
          <p:cNvPr id="112" name="other-skill-node-text"/>
          <p:cNvSpPr>
            <a:spLocks noGrp="1"/>
          </p:cNvSpPr>
          <p:nvPr/>
        </p:nvSpPr>
        <p:spPr>
          <a:xfrm>
            <a:off x="10668000" y="3537087"/>
            <a:ext cx="704850" cy="304800"/>
          </a:xfrm>
          <a:prstGeom prst="rect">
            <a:avLst/>
          </a:prstGeom>
          <a:noFill/>
          <a:ln w="0">
            <a:noFill/>
            <a:prstDash val="solid"/>
          </a:ln>
        </p:spPr>
        <p:txBody>
          <a:bodyPr wrap="none" lIns="0" tIns="0" rIns="0" bIns="0" anchor="ctr">
            <a:normAutofit/>
          </a:bodyPr>
          <a:lstStyle/>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Other</a:t>
            </a:r>
          </a:p>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113" name="main-agent-row-label"/>
          <p:cNvSpPr>
            <a:spLocks noGrp="1"/>
          </p:cNvSpPr>
          <p:nvPr/>
        </p:nvSpPr>
        <p:spPr>
          <a:xfrm>
            <a:off x="8391525" y="396571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Main Agent</a:t>
            </a:r>
          </a:p>
        </p:txBody>
      </p:sp>
      <p:sp>
        <p:nvSpPr>
          <p:cNvPr id="114" name="main-agent-row-detail"/>
          <p:cNvSpPr>
            <a:spLocks noGrp="1"/>
          </p:cNvSpPr>
          <p:nvPr/>
        </p:nvSpPr>
        <p:spPr>
          <a:xfrm>
            <a:off x="9296400" y="396571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简单判断 / 编排 / 轻量推理</a:t>
            </a:r>
          </a:p>
        </p:txBody>
      </p:sp>
      <p:sp>
        <p:nvSpPr>
          <p:cNvPr id="115" name="main-agent-row-line"/>
          <p:cNvSpPr>
            <a:spLocks noGrp="1"/>
          </p:cNvSpPr>
          <p:nvPr/>
        </p:nvSpPr>
        <p:spPr>
          <a:xfrm>
            <a:off x="8391525" y="4232412"/>
            <a:ext cx="2990850" cy="0"/>
          </a:xfrm>
          <a:prstGeom prst="line">
            <a:avLst/>
          </a:prstGeom>
          <a:noFill/>
          <a:ln w="6668">
            <a:solidFill>
              <a:srgbClr val="D8DEE3"/>
            </a:solidFill>
            <a:prstDash val="solid"/>
          </a:ln>
        </p:spPr>
      </p:sp>
      <p:sp>
        <p:nvSpPr>
          <p:cNvPr id="116" name="script-row-label"/>
          <p:cNvSpPr>
            <a:spLocks noGrp="1"/>
          </p:cNvSpPr>
          <p:nvPr/>
        </p:nvSpPr>
        <p:spPr>
          <a:xfrm>
            <a:off x="8391525" y="428003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Script</a:t>
            </a:r>
          </a:p>
        </p:txBody>
      </p:sp>
      <p:sp>
        <p:nvSpPr>
          <p:cNvPr id="117" name="script-row-detail"/>
          <p:cNvSpPr>
            <a:spLocks noGrp="1"/>
          </p:cNvSpPr>
          <p:nvPr/>
        </p:nvSpPr>
        <p:spPr>
          <a:xfrm>
            <a:off x="9296400" y="428003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确定性 / 程序化 / 真实执行</a:t>
            </a:r>
          </a:p>
        </p:txBody>
      </p:sp>
      <p:sp>
        <p:nvSpPr>
          <p:cNvPr id="118" name="script-row-line"/>
          <p:cNvSpPr>
            <a:spLocks noGrp="1"/>
          </p:cNvSpPr>
          <p:nvPr/>
        </p:nvSpPr>
        <p:spPr>
          <a:xfrm>
            <a:off x="8391525" y="4546737"/>
            <a:ext cx="2990850" cy="0"/>
          </a:xfrm>
          <a:prstGeom prst="line">
            <a:avLst/>
          </a:prstGeom>
          <a:noFill/>
          <a:ln w="6668">
            <a:solidFill>
              <a:srgbClr val="D8DEE3"/>
            </a:solidFill>
            <a:prstDash val="solid"/>
          </a:ln>
        </p:spPr>
      </p:sp>
      <p:sp>
        <p:nvSpPr>
          <p:cNvPr id="119" name="subagent-row-label"/>
          <p:cNvSpPr>
            <a:spLocks noGrp="1"/>
          </p:cNvSpPr>
          <p:nvPr/>
        </p:nvSpPr>
        <p:spPr>
          <a:xfrm>
            <a:off x="8391525" y="459436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120" name="subagent-row-detail"/>
          <p:cNvSpPr>
            <a:spLocks noGrp="1"/>
          </p:cNvSpPr>
          <p:nvPr/>
        </p:nvSpPr>
        <p:spPr>
          <a:xfrm>
            <a:off x="9296400" y="459436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独立复杂任务 / 上下文隔离</a:t>
            </a:r>
          </a:p>
        </p:txBody>
      </p:sp>
      <p:sp>
        <p:nvSpPr>
          <p:cNvPr id="121" name="subagent-row-line"/>
          <p:cNvSpPr>
            <a:spLocks noGrp="1"/>
          </p:cNvSpPr>
          <p:nvPr/>
        </p:nvSpPr>
        <p:spPr>
          <a:xfrm>
            <a:off x="8391525" y="4861062"/>
            <a:ext cx="2990850" cy="0"/>
          </a:xfrm>
          <a:prstGeom prst="line">
            <a:avLst/>
          </a:prstGeom>
          <a:noFill/>
          <a:ln w="6668">
            <a:solidFill>
              <a:srgbClr val="D8DEE3"/>
            </a:solidFill>
            <a:prstDash val="solid"/>
          </a:ln>
        </p:spPr>
      </p:sp>
      <p:sp>
        <p:nvSpPr>
          <p:cNvPr id="122" name="other-skill-row-label"/>
          <p:cNvSpPr>
            <a:spLocks noGrp="1"/>
          </p:cNvSpPr>
          <p:nvPr/>
        </p:nvSpPr>
        <p:spPr>
          <a:xfrm>
            <a:off x="8391525" y="490868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Other Skill</a:t>
            </a:r>
          </a:p>
        </p:txBody>
      </p:sp>
      <p:sp>
        <p:nvSpPr>
          <p:cNvPr id="123" name="other-skill-row-detail"/>
          <p:cNvSpPr>
            <a:spLocks noGrp="1"/>
          </p:cNvSpPr>
          <p:nvPr/>
        </p:nvSpPr>
        <p:spPr>
          <a:xfrm>
            <a:off x="9296400" y="490868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完整能力 / 自有 Workflow / 复用</a:t>
            </a:r>
          </a:p>
        </p:txBody>
      </p:sp>
      <p:sp>
        <p:nvSpPr>
          <p:cNvPr id="124" name="other-skill-row-line"/>
          <p:cNvSpPr>
            <a:spLocks noGrp="1"/>
          </p:cNvSpPr>
          <p:nvPr/>
        </p:nvSpPr>
        <p:spPr>
          <a:xfrm>
            <a:off x="8391525" y="5175387"/>
            <a:ext cx="2990850" cy="0"/>
          </a:xfrm>
          <a:prstGeom prst="line">
            <a:avLst/>
          </a:prstGeom>
          <a:noFill/>
          <a:ln w="6668">
            <a:solidFill>
              <a:srgbClr val="D8DEE3"/>
            </a:solidFill>
            <a:prstDash val="solid"/>
          </a:ln>
        </p:spPr>
      </p:sp>
      <p:sp>
        <p:nvSpPr>
          <p:cNvPr id="126" name="role-decision-1"/>
          <p:cNvSpPr>
            <a:spLocks noGrp="1"/>
          </p:cNvSpPr>
          <p:nvPr/>
        </p:nvSpPr>
        <p:spPr>
          <a:xfrm>
            <a:off x="8496300" y="5000625"/>
            <a:ext cx="2828925" cy="171450"/>
          </a:xfrm>
          <a:prstGeom prst="rect">
            <a:avLst/>
          </a:prstGeom>
          <a:noFill/>
          <a:ln w="0">
            <a:noFill/>
            <a:prstDash val="solid"/>
          </a:ln>
        </p:spPr>
        <p:txBody>
          <a:bodyPr wrap="none" lIns="0" tIns="0" rIns="0" bIns="0" anchor="ctr">
            <a:normAutofit/>
          </a:bodyPr>
          <a:lstStyle/>
          <a:p>
            <a:pPr algn="ctr">
              <a:defRPr sz="960" b="1">
                <a:solidFill>
                  <a:srgbClr val="68727B"/>
                </a:solidFill>
                <a:latin typeface="微软雅黑" panose="020B0503020204020204" charset="-122"/>
                <a:ea typeface="微软雅黑" panose="020B0503020204020204" charset="-122"/>
                <a:cs typeface="微软雅黑" panose="020B0503020204020204" charset="-122"/>
              </a:defRPr>
            </a:pPr>
            <a:endParaRPr sz="96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7" name="role-decision-2"/>
          <p:cNvSpPr>
            <a:spLocks noGrp="1"/>
          </p:cNvSpPr>
          <p:nvPr/>
        </p:nvSpPr>
        <p:spPr>
          <a:xfrm>
            <a:off x="8496300" y="5172075"/>
            <a:ext cx="2828925" cy="161925"/>
          </a:xfrm>
          <a:prstGeom prst="rect">
            <a:avLst/>
          </a:prstGeom>
          <a:noFill/>
          <a:ln w="0">
            <a:noFill/>
            <a:prstDash val="solid"/>
          </a:ln>
        </p:spPr>
        <p:txBody>
          <a:bodyPr wrap="none" lIns="0" tIns="0" rIns="0" bIns="0" anchor="ctr">
            <a:normAutofit/>
          </a:bodyPr>
          <a:lstStyle/>
          <a:p>
            <a:pPr algn="ctr">
              <a:defRPr sz="930" b="1">
                <a:solidFill>
                  <a:srgbClr val="68727B"/>
                </a:solidFill>
                <a:latin typeface="微软雅黑" panose="020B0503020204020204" charset="-122"/>
                <a:ea typeface="微软雅黑" panose="020B0503020204020204" charset="-122"/>
                <a:cs typeface="微软雅黑" panose="020B0503020204020204" charset="-122"/>
              </a:defRPr>
            </a:pPr>
            <a:endParaRPr sz="93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role-principle-band"/>
          <p:cNvSpPr>
            <a:spLocks noGrp="1"/>
          </p:cNvSpPr>
          <p:nvPr/>
        </p:nvSpPr>
        <p:spPr>
          <a:xfrm>
            <a:off x="8391525" y="5327788"/>
            <a:ext cx="3038475" cy="358637"/>
          </a:xfrm>
          <a:prstGeom prst="rect">
            <a:avLst/>
          </a:prstGeom>
          <a:solidFill>
            <a:srgbClr val="F2F6F8"/>
          </a:solidFill>
          <a:ln w="0">
            <a:noFill/>
            <a:prstDash val="solid"/>
          </a:ln>
        </p:spPr>
      </p:sp>
      <p:sp>
        <p:nvSpPr>
          <p:cNvPr id="129" name="role-principle"/>
          <p:cNvSpPr>
            <a:spLocks noGrp="1"/>
          </p:cNvSpPr>
          <p:nvPr/>
        </p:nvSpPr>
        <p:spPr>
          <a:xfrm>
            <a:off x="8496300" y="5318263"/>
            <a:ext cx="2828925" cy="358638"/>
          </a:xfrm>
          <a:prstGeom prst="rect">
            <a:avLst/>
          </a:prstGeom>
          <a:noFill/>
          <a:ln w="0">
            <a:noFill/>
            <a:prstDash val="solid"/>
          </a:ln>
        </p:spPr>
        <p:txBody>
          <a:bodyPr wrap="none" lIns="0" tIns="0" rIns="0" bIns="0" anchor="ctr">
            <a:normAutofit fontScale="94019"/>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1100" b="1" dirty="0" err="1">
                <a:solidFill>
                  <a:srgbClr val="557A96"/>
                </a:solidFill>
                <a:latin typeface="微软雅黑" panose="020B0503020204020204" charset="-122"/>
                <a:ea typeface="微软雅黑" panose="020B0503020204020204" charset="-122"/>
                <a:cs typeface="微软雅黑" panose="020B0503020204020204" charset="-122"/>
              </a:rPr>
              <a:t>在复杂度需要时增加层级</a:t>
            </a:r>
            <a:r>
              <a:rPr sz="975"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130" name="summary-band"/>
          <p:cNvSpPr>
            <a:spLocks noGrp="1"/>
          </p:cNvSpPr>
          <p:nvPr/>
        </p:nvSpPr>
        <p:spPr>
          <a:xfrm>
            <a:off x="609600" y="6000750"/>
            <a:ext cx="10972800" cy="609600"/>
          </a:xfrm>
          <a:prstGeom prst="rect">
            <a:avLst/>
          </a:prstGeom>
          <a:solidFill>
            <a:srgbClr val="F3F4F5"/>
          </a:solidFill>
          <a:ln w="0">
            <a:noFill/>
            <a:prstDash val="solid"/>
          </a:ln>
        </p:spPr>
      </p:sp>
      <p:sp>
        <p:nvSpPr>
          <p:cNvPr id="131" name="summary-accent"/>
          <p:cNvSpPr>
            <a:spLocks noGrp="1"/>
          </p:cNvSpPr>
          <p:nvPr/>
        </p:nvSpPr>
        <p:spPr>
          <a:xfrm>
            <a:off x="609600" y="6000750"/>
            <a:ext cx="38100" cy="609600"/>
          </a:xfrm>
          <a:prstGeom prst="rect">
            <a:avLst/>
          </a:prstGeom>
          <a:solidFill>
            <a:srgbClr val="557A96"/>
          </a:solidFill>
          <a:ln w="0">
            <a:noFill/>
            <a:prstDash val="solid"/>
          </a:ln>
        </p:spPr>
      </p:sp>
      <p:sp>
        <p:nvSpPr>
          <p:cNvPr id="134" name="summary-body"/>
          <p:cNvSpPr>
            <a:spLocks noGrp="1"/>
          </p:cNvSpPr>
          <p:nvPr/>
        </p:nvSpPr>
        <p:spPr>
          <a:xfrm>
            <a:off x="1714914" y="5905500"/>
            <a:ext cx="8124411" cy="719136"/>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252B31"/>
                </a:solidFill>
                <a:latin typeface="微软雅黑" panose="020B0503020204020204" charset="-122"/>
                <a:ea typeface="微软雅黑" panose="020B0503020204020204" charset="-122"/>
                <a:cs typeface="微软雅黑" panose="020B0503020204020204" charset="-122"/>
              </a:rPr>
              <a:t>从任务定义到基础 </a:t>
            </a:r>
            <a:r>
              <a:rPr lang="en-US" altLang="zh-CN" sz="1400" b="1" dirty="0">
                <a:solidFill>
                  <a:srgbClr val="252B31"/>
                </a:solidFill>
                <a:latin typeface="微软雅黑" panose="020B0503020204020204" charset="-122"/>
                <a:ea typeface="微软雅黑" panose="020B0503020204020204" charset="-122"/>
                <a:cs typeface="微软雅黑" panose="020B0503020204020204" charset="-122"/>
              </a:rPr>
              <a:t>Workflow</a:t>
            </a:r>
          </a:p>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dirty="0" err="1" smtClean="0">
                <a:solidFill>
                  <a:srgbClr val="414951"/>
                </a:solidFill>
                <a:latin typeface="微软雅黑" panose="020B0503020204020204" charset="-122"/>
                <a:ea typeface="微软雅黑" panose="020B0503020204020204" charset="-122"/>
                <a:cs typeface="微软雅黑" panose="020B0503020204020204" charset="-122"/>
              </a:rPr>
              <a:t>先得到目标与边界</a:t>
            </a:r>
            <a:r>
              <a:rPr sz="1290" b="1" dirty="0" err="1">
                <a:solidFill>
                  <a:srgbClr val="414951"/>
                </a:solidFill>
                <a:latin typeface="微软雅黑" panose="020B0503020204020204" charset="-122"/>
                <a:ea typeface="微软雅黑" panose="020B0503020204020204" charset="-122"/>
                <a:cs typeface="微软雅黑" panose="020B0503020204020204" charset="-122"/>
              </a:rPr>
              <a:t>，再形成最小可运行</a:t>
            </a:r>
            <a:r>
              <a:rPr sz="1290" b="1" dirty="0">
                <a:solidFill>
                  <a:srgbClr val="414951"/>
                </a:solidFill>
                <a:latin typeface="微软雅黑" panose="020B0503020204020204" charset="-122"/>
                <a:ea typeface="微软雅黑" panose="020B0503020204020204" charset="-122"/>
                <a:cs typeface="微软雅黑" panose="020B0503020204020204" charset="-122"/>
              </a:rPr>
              <a:t> </a:t>
            </a:r>
            <a:r>
              <a:rPr sz="1290" b="1" dirty="0" err="1">
                <a:solidFill>
                  <a:srgbClr val="414951"/>
                </a:solidFill>
                <a:latin typeface="微软雅黑" panose="020B0503020204020204" charset="-122"/>
                <a:ea typeface="微软雅黑" panose="020B0503020204020204" charset="-122"/>
                <a:cs typeface="微软雅黑" panose="020B0503020204020204" charset="-122"/>
              </a:rPr>
              <a:t>Workflow，最后按复杂度分配执行者</a:t>
            </a:r>
            <a:r>
              <a:rPr sz="12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3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39"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5</a:t>
            </a:r>
          </a:p>
        </p:txBody>
      </p:sp>
    </p:spTree>
    <p:extLst>
      <p:ext uri="{BB962C8B-B14F-4D97-AF65-F5344CB8AC3E}">
        <p14:creationId xmlns:p14="http://schemas.microsoft.com/office/powerpoint/2010/main" val="2353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②</a:t>
            </a:r>
          </a:p>
        </p:txBody>
      </p:sp>
      <p:sp>
        <p:nvSpPr>
          <p:cNvPr id="5" name="resources-constraints-line"/>
          <p:cNvSpPr>
            <a:spLocks noGrp="1"/>
          </p:cNvSpPr>
          <p:nvPr/>
        </p:nvSpPr>
        <p:spPr>
          <a:xfrm>
            <a:off x="2809875" y="1183998"/>
            <a:ext cx="2133600" cy="0"/>
          </a:xfrm>
          <a:prstGeom prst="line">
            <a:avLst/>
          </a:prstGeom>
          <a:noFill/>
          <a:ln w="11430">
            <a:solidFill>
              <a:srgbClr val="7F9DB2"/>
            </a:solidFill>
            <a:prstDash val="solid"/>
          </a:ln>
        </p:spPr>
      </p:sp>
      <p:sp>
        <p:nvSpPr>
          <p:cNvPr id="6" name="resources-constraints-arrow"/>
          <p:cNvSpPr>
            <a:spLocks noGrp="1"/>
          </p:cNvSpPr>
          <p:nvPr/>
        </p:nvSpPr>
        <p:spPr>
          <a:xfrm rot="5400000">
            <a:off x="4905375" y="1145898"/>
            <a:ext cx="76200" cy="76200"/>
          </a:xfrm>
          <a:prstGeom prst="triangle">
            <a:avLst/>
          </a:prstGeom>
          <a:solidFill>
            <a:srgbClr val="557A96"/>
          </a:solidFill>
          <a:ln w="0">
            <a:solidFill>
              <a:srgbClr val="557A96"/>
            </a:solidFill>
            <a:prstDash val="solid"/>
          </a:ln>
        </p:spPr>
      </p:sp>
      <p:sp>
        <p:nvSpPr>
          <p:cNvPr id="7" name="constraints-validation-line"/>
          <p:cNvSpPr>
            <a:spLocks noGrp="1"/>
          </p:cNvSpPr>
          <p:nvPr/>
        </p:nvSpPr>
        <p:spPr>
          <a:xfrm>
            <a:off x="6962775" y="1183998"/>
            <a:ext cx="1971675" cy="0"/>
          </a:xfrm>
          <a:prstGeom prst="line">
            <a:avLst/>
          </a:prstGeom>
          <a:noFill/>
          <a:ln w="11430">
            <a:solidFill>
              <a:srgbClr val="7F9DB2"/>
            </a:solidFill>
            <a:prstDash val="solid"/>
          </a:ln>
        </p:spPr>
      </p:sp>
      <p:sp>
        <p:nvSpPr>
          <p:cNvPr id="8" name="constraints-validation-arrow"/>
          <p:cNvSpPr>
            <a:spLocks noGrp="1"/>
          </p:cNvSpPr>
          <p:nvPr/>
        </p:nvSpPr>
        <p:spPr>
          <a:xfrm rot="5400000">
            <a:off x="8896350" y="1145898"/>
            <a:ext cx="76200" cy="76200"/>
          </a:xfrm>
          <a:prstGeom prst="triangle">
            <a:avLst/>
          </a:prstGeom>
          <a:solidFill>
            <a:srgbClr val="557A96"/>
          </a:solidFill>
          <a:ln w="0">
            <a:solidFill>
              <a:srgbClr val="557A96"/>
            </a:solidFill>
            <a:prstDash val="solid"/>
          </a:ln>
        </p:spPr>
      </p:sp>
      <p:sp>
        <p:nvSpPr>
          <p:cNvPr id="9" name="resources-en"/>
          <p:cNvSpPr>
            <a:spLocks noGrp="1"/>
          </p:cNvSpPr>
          <p:nvPr/>
        </p:nvSpPr>
        <p:spPr>
          <a:xfrm>
            <a:off x="1552575" y="945873"/>
            <a:ext cx="12382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RESOURCES</a:t>
            </a:r>
          </a:p>
        </p:txBody>
      </p:sp>
      <p:sp>
        <p:nvSpPr>
          <p:cNvPr id="10" name="resources-cn"/>
          <p:cNvSpPr>
            <a:spLocks noGrp="1"/>
          </p:cNvSpPr>
          <p:nvPr/>
        </p:nvSpPr>
        <p:spPr>
          <a:xfrm>
            <a:off x="1552575" y="1107798"/>
            <a:ext cx="123825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补“缺什么”</a:t>
            </a:r>
          </a:p>
        </p:txBody>
      </p:sp>
      <p:sp>
        <p:nvSpPr>
          <p:cNvPr id="11" name="constraints-en"/>
          <p:cNvSpPr>
            <a:spLocks noGrp="1"/>
          </p:cNvSpPr>
          <p:nvPr/>
        </p:nvSpPr>
        <p:spPr>
          <a:xfrm>
            <a:off x="5114925" y="945873"/>
            <a:ext cx="175260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CONSTRAINTS + TRIGGER</a:t>
            </a:r>
          </a:p>
        </p:txBody>
      </p:sp>
      <p:sp>
        <p:nvSpPr>
          <p:cNvPr id="12" name="constraints-cn"/>
          <p:cNvSpPr>
            <a:spLocks noGrp="1"/>
          </p:cNvSpPr>
          <p:nvPr/>
        </p:nvSpPr>
        <p:spPr>
          <a:xfrm>
            <a:off x="5114925" y="1107798"/>
            <a:ext cx="175260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补“不能乱做什么”</a:t>
            </a:r>
          </a:p>
        </p:txBody>
      </p:sp>
      <p:sp>
        <p:nvSpPr>
          <p:cNvPr id="13" name="validation-en"/>
          <p:cNvSpPr>
            <a:spLocks noGrp="1"/>
          </p:cNvSpPr>
          <p:nvPr/>
        </p:nvSpPr>
        <p:spPr>
          <a:xfrm>
            <a:off x="9096375" y="945873"/>
            <a:ext cx="14287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VALIDATION</a:t>
            </a:r>
          </a:p>
        </p:txBody>
      </p:sp>
      <p:sp>
        <p:nvSpPr>
          <p:cNvPr id="14" name="validation-cn"/>
          <p:cNvSpPr>
            <a:spLocks noGrp="1"/>
          </p:cNvSpPr>
          <p:nvPr/>
        </p:nvSpPr>
        <p:spPr>
          <a:xfrm>
            <a:off x="9001125" y="1107798"/>
            <a:ext cx="1619250" cy="228600"/>
          </a:xfrm>
          <a:prstGeom prst="rect">
            <a:avLst/>
          </a:prstGeom>
          <a:noFill/>
          <a:ln w="0">
            <a:noFill/>
            <a:prstDash val="solid"/>
          </a:ln>
        </p:spPr>
        <p:txBody>
          <a:bodyPr wrap="none" lIns="0" tIns="0" rIns="0" bIns="0" anchor="ctr">
            <a:normAutofit fontScale="97589"/>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验证“是否真的好用”</a:t>
            </a:r>
          </a:p>
        </p:txBody>
      </p:sp>
      <p:sp>
        <p:nvSpPr>
          <p:cNvPr id="15" name="resources-frame"/>
          <p:cNvSpPr>
            <a:spLocks noGrp="1"/>
          </p:cNvSpPr>
          <p:nvPr/>
        </p:nvSpPr>
        <p:spPr>
          <a:xfrm>
            <a:off x="609600" y="1562100"/>
            <a:ext cx="3333750" cy="3905250"/>
          </a:xfrm>
          <a:prstGeom prst="roundRect">
            <a:avLst>
              <a:gd name="adj" fmla="val 1429"/>
            </a:avLst>
          </a:prstGeom>
          <a:solidFill>
            <a:srgbClr val="FFFFFF"/>
          </a:solidFill>
          <a:ln w="9525">
            <a:solidFill>
              <a:srgbClr val="D8DEE3"/>
            </a:solidFill>
            <a:prstDash val="solid"/>
          </a:ln>
        </p:spPr>
      </p:sp>
      <p:sp>
        <p:nvSpPr>
          <p:cNvPr id="16" name="resources-accent"/>
          <p:cNvSpPr>
            <a:spLocks noGrp="1"/>
          </p:cNvSpPr>
          <p:nvPr/>
        </p:nvSpPr>
        <p:spPr>
          <a:xfrm>
            <a:off x="609600" y="1562100"/>
            <a:ext cx="3333750" cy="28575"/>
          </a:xfrm>
          <a:prstGeom prst="rect">
            <a:avLst/>
          </a:prstGeom>
          <a:solidFill>
            <a:srgbClr val="557A96"/>
          </a:solidFill>
          <a:ln w="0">
            <a:no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补充资源与知识</a:t>
            </a:r>
          </a:p>
        </p:txBody>
      </p:sp>
      <p:sp>
        <p:nvSpPr>
          <p:cNvPr id="19" name="resources-subtitle"/>
          <p:cNvSpPr>
            <a:spLocks noGrp="1"/>
          </p:cNvSpPr>
          <p:nvPr/>
        </p:nvSpPr>
        <p:spPr>
          <a:xfrm>
            <a:off x="762000" y="1943100"/>
            <a:ext cx="3028950"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FFFFF"/>
          </a:solidFill>
          <a:ln w="9525">
            <a:solidFill>
              <a:srgbClr val="D8DEE3"/>
            </a:solidFill>
            <a:prstDash val="solid"/>
          </a:ln>
        </p:spPr>
      </p:sp>
      <p:sp>
        <p:nvSpPr>
          <p:cNvPr id="22" name="constraints-accent"/>
          <p:cNvSpPr>
            <a:spLocks noGrp="1"/>
          </p:cNvSpPr>
          <p:nvPr/>
        </p:nvSpPr>
        <p:spPr>
          <a:xfrm>
            <a:off x="4200525" y="1562100"/>
            <a:ext cx="3781425" cy="28575"/>
          </a:xfrm>
          <a:prstGeom prst="rect">
            <a:avLst/>
          </a:prstGeom>
          <a:solidFill>
            <a:srgbClr val="557A96"/>
          </a:solidFill>
          <a:ln w="0">
            <a:no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dirty="0" err="1" smtClean="0">
                <a:solidFill>
                  <a:srgbClr val="252B31"/>
                </a:solidFill>
                <a:latin typeface="微软雅黑" panose="020B0503020204020204" charset="-122"/>
                <a:ea typeface="微软雅黑" panose="020B0503020204020204" charset="-122"/>
                <a:cs typeface="微软雅黑" panose="020B0503020204020204" charset="-122"/>
              </a:rPr>
              <a:t>完善约束与</a:t>
            </a:r>
            <a:r>
              <a:rPr lang="zh-CN" altLang="en-US" sz="1615" b="1" dirty="0" smtClean="0">
                <a:solidFill>
                  <a:srgbClr val="252B31"/>
                </a:solidFill>
                <a:latin typeface="微软雅黑" panose="020B0503020204020204" charset="-122"/>
                <a:ea typeface="微软雅黑" panose="020B0503020204020204" charset="-122"/>
                <a:cs typeface="微软雅黑" panose="020B0503020204020204" charset="-122"/>
              </a:rPr>
              <a:t>调用规则</a:t>
            </a:r>
            <a:endParaRPr sz="161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5" name="constraints-subtitle"/>
          <p:cNvSpPr>
            <a:spLocks noGrp="1"/>
          </p:cNvSpPr>
          <p:nvPr/>
        </p:nvSpPr>
        <p:spPr>
          <a:xfrm>
            <a:off x="4352925" y="1943100"/>
            <a:ext cx="347662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6" name="constraints-header-line"/>
          <p:cNvSpPr>
            <a:spLocks noGrp="1"/>
          </p:cNvSpPr>
          <p:nvPr/>
        </p:nvSpPr>
        <p:spPr>
          <a:xfrm>
            <a:off x="4352925" y="2219325"/>
            <a:ext cx="3476625" cy="0"/>
          </a:xfrm>
          <a:prstGeom prst="line">
            <a:avLst/>
          </a:prstGeom>
          <a:noFill/>
          <a:ln w="9525">
            <a:solidFill>
              <a:srgbClr val="D8DEE3"/>
            </a:solidFill>
            <a:prstDash val="solid"/>
          </a:ln>
        </p:spPr>
      </p:sp>
      <p:sp>
        <p:nvSpPr>
          <p:cNvPr id="27" name="validation-frame"/>
          <p:cNvSpPr>
            <a:spLocks noGrp="1"/>
          </p:cNvSpPr>
          <p:nvPr/>
        </p:nvSpPr>
        <p:spPr>
          <a:xfrm>
            <a:off x="8239125" y="1562100"/>
            <a:ext cx="3343275" cy="3905250"/>
          </a:xfrm>
          <a:prstGeom prst="roundRect">
            <a:avLst>
              <a:gd name="adj" fmla="val 1425"/>
            </a:avLst>
          </a:prstGeom>
          <a:solidFill>
            <a:srgbClr val="FFFFFF"/>
          </a:solidFill>
          <a:ln w="9525">
            <a:solidFill>
              <a:srgbClr val="D8DEE3"/>
            </a:solidFill>
            <a:prstDash val="solid"/>
          </a:ln>
        </p:spPr>
      </p:sp>
      <p:sp>
        <p:nvSpPr>
          <p:cNvPr id="28" name="validation-accent"/>
          <p:cNvSpPr>
            <a:spLocks noGrp="1"/>
          </p:cNvSpPr>
          <p:nvPr/>
        </p:nvSpPr>
        <p:spPr>
          <a:xfrm>
            <a:off x="8239125" y="1562100"/>
            <a:ext cx="3343275" cy="28575"/>
          </a:xfrm>
          <a:prstGeom prst="rect">
            <a:avLst/>
          </a:prstGeom>
          <a:solidFill>
            <a:srgbClr val="557A96"/>
          </a:solidFill>
          <a:ln w="0">
            <a:no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30" name="validation-title"/>
          <p:cNvSpPr>
            <a:spLocks noGrp="1"/>
          </p:cNvSpPr>
          <p:nvPr/>
        </p:nvSpPr>
        <p:spPr>
          <a:xfrm>
            <a:off x="8791575" y="1638300"/>
            <a:ext cx="263842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实测验证与迭代</a:t>
            </a:r>
          </a:p>
        </p:txBody>
      </p:sp>
      <p:sp>
        <p:nvSpPr>
          <p:cNvPr id="31" name="validation-subtitle"/>
          <p:cNvSpPr>
            <a:spLocks noGrp="1"/>
          </p:cNvSpPr>
          <p:nvPr/>
        </p:nvSpPr>
        <p:spPr>
          <a:xfrm>
            <a:off x="8391525" y="1943100"/>
            <a:ext cx="303847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3" name="stage-question-line"/>
          <p:cNvSpPr>
            <a:spLocks noGrp="1"/>
          </p:cNvSpPr>
          <p:nvPr/>
        </p:nvSpPr>
        <p:spPr>
          <a:xfrm>
            <a:off x="2276475" y="2600325"/>
            <a:ext cx="0" cy="85725"/>
          </a:xfrm>
          <a:prstGeom prst="line">
            <a:avLst/>
          </a:prstGeom>
          <a:noFill/>
          <a:ln w="11430">
            <a:solidFill>
              <a:srgbClr val="557A96"/>
            </a:solidFill>
            <a:prstDash val="solid"/>
          </a:ln>
        </p:spPr>
      </p:sp>
      <p:sp>
        <p:nvSpPr>
          <p:cNvPr id="34" name="question-branch-down"/>
          <p:cNvSpPr>
            <a:spLocks noGrp="1"/>
          </p:cNvSpPr>
          <p:nvPr/>
        </p:nvSpPr>
        <p:spPr>
          <a:xfrm>
            <a:off x="2276475" y="2943225"/>
            <a:ext cx="0" cy="95250"/>
          </a:xfrm>
          <a:prstGeom prst="line">
            <a:avLst/>
          </a:prstGeom>
          <a:noFill/>
          <a:ln w="11430">
            <a:solidFill>
              <a:srgbClr val="557A96"/>
            </a:solidFill>
            <a:prstDash val="solid"/>
          </a:ln>
        </p:spPr>
      </p:sp>
      <p:sp>
        <p:nvSpPr>
          <p:cNvPr id="35" name="resource-branch"/>
          <p:cNvSpPr>
            <a:spLocks noGrp="1"/>
          </p:cNvSpPr>
          <p:nvPr/>
        </p:nvSpPr>
        <p:spPr>
          <a:xfrm>
            <a:off x="1228725" y="3038475"/>
            <a:ext cx="2095500" cy="0"/>
          </a:xfrm>
          <a:prstGeom prst="line">
            <a:avLst/>
          </a:prstGeom>
          <a:noFill/>
          <a:ln w="11430">
            <a:solidFill>
              <a:srgbClr val="557A96"/>
            </a:solidFill>
            <a:prstDash val="solid"/>
          </a:ln>
        </p:spPr>
      </p:sp>
      <p:sp>
        <p:nvSpPr>
          <p:cNvPr id="36" name="resource-drop-0"/>
          <p:cNvSpPr>
            <a:spLocks noGrp="1"/>
          </p:cNvSpPr>
          <p:nvPr/>
        </p:nvSpPr>
        <p:spPr>
          <a:xfrm>
            <a:off x="1228725" y="3038475"/>
            <a:ext cx="0" cy="76200"/>
          </a:xfrm>
          <a:prstGeom prst="line">
            <a:avLst/>
          </a:prstGeom>
          <a:noFill/>
          <a:ln w="11430">
            <a:solidFill>
              <a:srgbClr val="557A96"/>
            </a:solidFill>
            <a:prstDash val="solid"/>
          </a:ln>
        </p:spPr>
      </p:sp>
      <p:sp>
        <p:nvSpPr>
          <p:cNvPr id="37" name="resource-arrow-0"/>
          <p:cNvSpPr>
            <a:spLocks noGrp="1"/>
          </p:cNvSpPr>
          <p:nvPr/>
        </p:nvSpPr>
        <p:spPr>
          <a:xfrm rot="10800000">
            <a:off x="1190625" y="3076575"/>
            <a:ext cx="76200" cy="76200"/>
          </a:xfrm>
          <a:prstGeom prst="triangle">
            <a:avLst/>
          </a:prstGeom>
          <a:solidFill>
            <a:srgbClr val="557A96"/>
          </a:solidFill>
          <a:ln w="0">
            <a:solidFill>
              <a:srgbClr val="557A96"/>
            </a:solidFill>
            <a:prstDash val="solid"/>
          </a:ln>
        </p:spPr>
      </p:sp>
      <p:sp>
        <p:nvSpPr>
          <p:cNvPr id="38" name="resource-drop-1"/>
          <p:cNvSpPr>
            <a:spLocks noGrp="1"/>
          </p:cNvSpPr>
          <p:nvPr/>
        </p:nvSpPr>
        <p:spPr>
          <a:xfrm>
            <a:off x="2276475" y="3038475"/>
            <a:ext cx="0" cy="76200"/>
          </a:xfrm>
          <a:prstGeom prst="line">
            <a:avLst/>
          </a:prstGeom>
          <a:noFill/>
          <a:ln w="11430">
            <a:solidFill>
              <a:srgbClr val="557A96"/>
            </a:solidFill>
            <a:prstDash val="solid"/>
          </a:ln>
        </p:spPr>
      </p:sp>
      <p:sp>
        <p:nvSpPr>
          <p:cNvPr id="39" name="resource-arrow-1"/>
          <p:cNvSpPr>
            <a:spLocks noGrp="1"/>
          </p:cNvSpPr>
          <p:nvPr/>
        </p:nvSpPr>
        <p:spPr>
          <a:xfrm rot="10800000">
            <a:off x="2238375" y="3076575"/>
            <a:ext cx="76200" cy="76200"/>
          </a:xfrm>
          <a:prstGeom prst="triangle">
            <a:avLst/>
          </a:prstGeom>
          <a:solidFill>
            <a:srgbClr val="557A96"/>
          </a:solidFill>
          <a:ln w="0">
            <a:solidFill>
              <a:srgbClr val="557A96"/>
            </a:solidFill>
            <a:prstDash val="solid"/>
          </a:ln>
        </p:spPr>
      </p:sp>
      <p:sp>
        <p:nvSpPr>
          <p:cNvPr id="40" name="resource-drop-2"/>
          <p:cNvSpPr>
            <a:spLocks noGrp="1"/>
          </p:cNvSpPr>
          <p:nvPr/>
        </p:nvSpPr>
        <p:spPr>
          <a:xfrm>
            <a:off x="3324225" y="3038475"/>
            <a:ext cx="0" cy="76200"/>
          </a:xfrm>
          <a:prstGeom prst="line">
            <a:avLst/>
          </a:prstGeom>
          <a:noFill/>
          <a:ln w="11430">
            <a:solidFill>
              <a:srgbClr val="557A96"/>
            </a:solidFill>
            <a:prstDash val="solid"/>
          </a:ln>
        </p:spPr>
      </p:sp>
      <p:sp>
        <p:nvSpPr>
          <p:cNvPr id="41" name="resource-arrow-2"/>
          <p:cNvSpPr>
            <a:spLocks noGrp="1"/>
          </p:cNvSpPr>
          <p:nvPr/>
        </p:nvSpPr>
        <p:spPr>
          <a:xfrm rot="10800000">
            <a:off x="3286125" y="3076575"/>
            <a:ext cx="76200" cy="76200"/>
          </a:xfrm>
          <a:prstGeom prst="triangle">
            <a:avLst/>
          </a:prstGeom>
          <a:solidFill>
            <a:srgbClr val="557A96"/>
          </a:solidFill>
          <a:ln w="0">
            <a:solidFill>
              <a:srgbClr val="557A96"/>
            </a:solidFill>
            <a:prstDash val="solid"/>
          </a:ln>
        </p:spPr>
      </p:sp>
      <p:sp>
        <p:nvSpPr>
          <p:cNvPr id="42" name="resource-stage-box"/>
          <p:cNvSpPr>
            <a:spLocks noGrp="1"/>
          </p:cNvSpPr>
          <p:nvPr/>
        </p:nvSpPr>
        <p:spPr>
          <a:xfrm>
            <a:off x="1857375" y="2324100"/>
            <a:ext cx="838200" cy="276225"/>
          </a:xfrm>
          <a:prstGeom prst="roundRect">
            <a:avLst>
              <a:gd name="adj" fmla="val 13793"/>
            </a:avLst>
          </a:prstGeom>
          <a:solidFill>
            <a:srgbClr val="F2F6F8"/>
          </a:solidFill>
          <a:ln w="9525">
            <a:solidFill>
              <a:srgbClr val="7F9DB2"/>
            </a:solidFill>
            <a:prstDash val="solid"/>
          </a:ln>
        </p:spPr>
      </p:sp>
      <p:sp>
        <p:nvSpPr>
          <p:cNvPr id="43" name="resource-stage-text"/>
          <p:cNvSpPr>
            <a:spLocks noGrp="1"/>
          </p:cNvSpPr>
          <p:nvPr/>
        </p:nvSpPr>
        <p:spPr>
          <a:xfrm>
            <a:off x="1885950" y="2343150"/>
            <a:ext cx="781050" cy="23812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某个 Stage</a:t>
            </a:r>
          </a:p>
        </p:txBody>
      </p:sp>
      <p:sp>
        <p:nvSpPr>
          <p:cNvPr id="44" name="resource-question-band"/>
          <p:cNvSpPr>
            <a:spLocks noGrp="1"/>
          </p:cNvSpPr>
          <p:nvPr/>
        </p:nvSpPr>
        <p:spPr>
          <a:xfrm>
            <a:off x="1209675" y="2686050"/>
            <a:ext cx="2133600" cy="257175"/>
          </a:xfrm>
          <a:prstGeom prst="rect">
            <a:avLst/>
          </a:prstGeom>
          <a:solidFill>
            <a:srgbClr val="F7F9FA"/>
          </a:solidFill>
          <a:ln w="0">
            <a:noFill/>
            <a:prstDash val="solid"/>
          </a:ln>
        </p:spPr>
      </p:sp>
      <p:sp>
        <p:nvSpPr>
          <p:cNvPr id="45" name="resource-question"/>
          <p:cNvSpPr>
            <a:spLocks noGrp="1"/>
          </p:cNvSpPr>
          <p:nvPr/>
        </p:nvSpPr>
        <p:spPr>
          <a:xfrm>
            <a:off x="1323975" y="2695575"/>
            <a:ext cx="1905000" cy="238125"/>
          </a:xfrm>
          <a:prstGeom prst="rect">
            <a:avLst/>
          </a:prstGeom>
          <a:noFill/>
          <a:ln w="0">
            <a:noFill/>
            <a:prstDash val="solid"/>
          </a:ln>
        </p:spPr>
        <p:txBody>
          <a:bodyPr wrap="none" lIns="0" tIns="0" rIns="0" bIns="0" anchor="ctr">
            <a:normAutofit/>
          </a:bodyPr>
          <a:lstStyle/>
          <a:p>
            <a:pPr algn="ctr">
              <a:defRPr sz="1090" b="1">
                <a:solidFill>
                  <a:srgbClr val="414951"/>
                </a:solidFill>
                <a:latin typeface="微软雅黑" panose="020B0503020204020204" charset="-122"/>
                <a:ea typeface="微软雅黑" panose="020B0503020204020204" charset="-122"/>
                <a:cs typeface="微软雅黑" panose="020B0503020204020204" charset="-122"/>
              </a:defRPr>
            </a:pPr>
            <a:r>
              <a:rPr sz="1090" b="1">
                <a:solidFill>
                  <a:srgbClr val="414951"/>
                </a:solidFill>
                <a:latin typeface="微软雅黑" panose="020B0503020204020204" charset="-122"/>
                <a:ea typeface="微软雅黑" panose="020B0503020204020204" charset="-122"/>
                <a:cs typeface="微软雅黑" panose="020B0503020204020204" charset="-122"/>
              </a:rPr>
              <a:t>Agent 还缺什么？</a:t>
            </a:r>
          </a:p>
        </p:txBody>
      </p:sp>
      <p:sp>
        <p:nvSpPr>
          <p:cNvPr id="46" name="references-node-box"/>
          <p:cNvSpPr>
            <a:spLocks noGrp="1"/>
          </p:cNvSpPr>
          <p:nvPr/>
        </p:nvSpPr>
        <p:spPr>
          <a:xfrm>
            <a:off x="781050" y="3143250"/>
            <a:ext cx="895350" cy="352425"/>
          </a:xfrm>
          <a:prstGeom prst="roundRect">
            <a:avLst>
              <a:gd name="adj" fmla="val 10811"/>
            </a:avLst>
          </a:prstGeom>
          <a:solidFill>
            <a:srgbClr val="F7F9FA"/>
          </a:solidFill>
          <a:ln w="9525">
            <a:solidFill>
              <a:srgbClr val="7F9DB2"/>
            </a:solidFill>
            <a:prstDash val="solid"/>
          </a:ln>
        </p:spPr>
      </p:sp>
      <p:sp>
        <p:nvSpPr>
          <p:cNvPr id="47" name="references-node-text"/>
          <p:cNvSpPr>
            <a:spLocks noGrp="1"/>
          </p:cNvSpPr>
          <p:nvPr/>
        </p:nvSpPr>
        <p:spPr>
          <a:xfrm>
            <a:off x="80962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缺知识</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48" name="examples-node-box"/>
          <p:cNvSpPr>
            <a:spLocks noGrp="1"/>
          </p:cNvSpPr>
          <p:nvPr/>
        </p:nvSpPr>
        <p:spPr>
          <a:xfrm>
            <a:off x="1828800" y="3143250"/>
            <a:ext cx="895350" cy="352425"/>
          </a:xfrm>
          <a:prstGeom prst="roundRect">
            <a:avLst>
              <a:gd name="adj" fmla="val 10811"/>
            </a:avLst>
          </a:prstGeom>
          <a:solidFill>
            <a:srgbClr val="F7F9FA"/>
          </a:solidFill>
          <a:ln w="9525">
            <a:solidFill>
              <a:srgbClr val="7F9DB2"/>
            </a:solidFill>
            <a:prstDash val="solid"/>
          </a:ln>
        </p:spPr>
      </p:sp>
      <p:sp>
        <p:nvSpPr>
          <p:cNvPr id="49" name="examples-node-text"/>
          <p:cNvSpPr>
            <a:spLocks noGrp="1"/>
          </p:cNvSpPr>
          <p:nvPr/>
        </p:nvSpPr>
        <p:spPr>
          <a:xfrm>
            <a:off x="185737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缺案例</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50" name="scripts-node-box"/>
          <p:cNvSpPr>
            <a:spLocks noGrp="1"/>
          </p:cNvSpPr>
          <p:nvPr/>
        </p:nvSpPr>
        <p:spPr>
          <a:xfrm>
            <a:off x="2876550" y="3143250"/>
            <a:ext cx="895350" cy="352425"/>
          </a:xfrm>
          <a:prstGeom prst="roundRect">
            <a:avLst>
              <a:gd name="adj" fmla="val 10811"/>
            </a:avLst>
          </a:prstGeom>
          <a:solidFill>
            <a:srgbClr val="F7F9FA"/>
          </a:solidFill>
          <a:ln w="9525">
            <a:solidFill>
              <a:srgbClr val="7F9DB2"/>
            </a:solidFill>
            <a:prstDash val="solid"/>
          </a:ln>
        </p:spPr>
      </p:sp>
      <p:sp>
        <p:nvSpPr>
          <p:cNvPr id="51" name="scripts-node-text"/>
          <p:cNvSpPr>
            <a:spLocks noGrp="1"/>
          </p:cNvSpPr>
          <p:nvPr/>
        </p:nvSpPr>
        <p:spPr>
          <a:xfrm>
            <a:off x="2905125" y="3162300"/>
            <a:ext cx="838200" cy="314325"/>
          </a:xfrm>
          <a:prstGeom prst="rect">
            <a:avLst/>
          </a:prstGeom>
          <a:noFill/>
          <a:ln w="0">
            <a:noFill/>
            <a:prstDash val="solid"/>
          </a:ln>
        </p:spPr>
        <p:txBody>
          <a:bodyPr wrap="none" lIns="0" tIns="0" rIns="0" bIns="0" anchor="ctr">
            <a:normAutofit/>
          </a:bodyPr>
          <a:lstStyle/>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缺确定执行</a:t>
            </a:r>
          </a:p>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2" name="references-keywords"/>
          <p:cNvSpPr>
            <a:spLocks noGrp="1"/>
          </p:cNvSpPr>
          <p:nvPr/>
        </p:nvSpPr>
        <p:spPr>
          <a:xfrm>
            <a:off x="7810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领域 / API</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规则 / 限制</a:t>
            </a:r>
          </a:p>
        </p:txBody>
      </p:sp>
      <p:sp>
        <p:nvSpPr>
          <p:cNvPr id="53" name="examples-keywords"/>
          <p:cNvSpPr>
            <a:spLocks noGrp="1"/>
          </p:cNvSpPr>
          <p:nvPr/>
        </p:nvSpPr>
        <p:spPr>
          <a:xfrm>
            <a:off x="182880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案例 / I-O</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解法 / 实现</a:t>
            </a:r>
          </a:p>
        </p:txBody>
      </p:sp>
      <p:sp>
        <p:nvSpPr>
          <p:cNvPr id="54" name="scripts-keywords"/>
          <p:cNvSpPr>
            <a:spLocks noGrp="1"/>
          </p:cNvSpPr>
          <p:nvPr/>
        </p:nvSpPr>
        <p:spPr>
          <a:xfrm>
            <a:off x="28765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检测 / 执行</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测试 / Bench</a:t>
            </a:r>
          </a:p>
        </p:txBody>
      </p:sp>
      <p:sp>
        <p:nvSpPr>
          <p:cNvPr id="55" name="templates-band"/>
          <p:cNvSpPr>
            <a:spLocks noGrp="1"/>
          </p:cNvSpPr>
          <p:nvPr/>
        </p:nvSpPr>
        <p:spPr>
          <a:xfrm>
            <a:off x="847725" y="4352925"/>
            <a:ext cx="2990850" cy="400050"/>
          </a:xfrm>
          <a:prstGeom prst="rect">
            <a:avLst/>
          </a:prstGeom>
          <a:solidFill>
            <a:srgbClr val="F7F9FA"/>
          </a:solidFill>
          <a:ln w="6668">
            <a:solidFill>
              <a:srgbClr val="D8DEE3"/>
            </a:solidFill>
            <a:prstDash val="solid"/>
          </a:ln>
        </p:spPr>
      </p:sp>
      <p:sp>
        <p:nvSpPr>
          <p:cNvPr id="56" name="templates-title"/>
          <p:cNvSpPr>
            <a:spLocks noGrp="1"/>
          </p:cNvSpPr>
          <p:nvPr/>
        </p:nvSpPr>
        <p:spPr>
          <a:xfrm>
            <a:off x="1013791" y="4457700"/>
            <a:ext cx="876300" cy="190500"/>
          </a:xfrm>
          <a:prstGeom prst="rect">
            <a:avLst/>
          </a:prstGeom>
          <a:noFill/>
          <a:ln w="0">
            <a:noFill/>
            <a:prstDash val="solid"/>
          </a:ln>
        </p:spPr>
        <p:txBody>
          <a:bodyPr wrap="none" lIns="0" tIns="0" rIns="0" bIns="0" anchor="ctr">
            <a:normAutofit/>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dirty="0">
                <a:solidFill>
                  <a:srgbClr val="557A96"/>
                </a:solidFill>
                <a:latin typeface="微软雅黑" panose="020B0503020204020204" charset="-122"/>
                <a:ea typeface="微软雅黑" panose="020B0503020204020204" charset="-122"/>
                <a:cs typeface="微软雅黑" panose="020B0503020204020204" charset="-122"/>
              </a:rPr>
              <a:t>Templates</a:t>
            </a:r>
          </a:p>
        </p:txBody>
      </p:sp>
      <p:sp>
        <p:nvSpPr>
          <p:cNvPr id="57" name="templates-detail"/>
          <p:cNvSpPr>
            <a:spLocks noGrp="1"/>
          </p:cNvSpPr>
          <p:nvPr/>
        </p:nvSpPr>
        <p:spPr>
          <a:xfrm>
            <a:off x="1466850" y="4381500"/>
            <a:ext cx="1828800" cy="314325"/>
          </a:xfrm>
          <a:prstGeom prst="rect">
            <a:avLst/>
          </a:prstGeom>
          <a:noFill/>
          <a:ln w="0">
            <a:noFill/>
            <a:prstDash val="solid"/>
          </a:ln>
        </p:spPr>
        <p:txBody>
          <a:bodyPr wrap="none" lIns="0" tIns="0" rIns="0" bIns="0" anchor="ctr">
            <a:normAutofit fontScale="94395"/>
          </a:bodyPr>
          <a:lstStyle/>
          <a:p>
            <a:pPr algn="r">
              <a:defRPr sz="960" b="0">
                <a:solidFill>
                  <a:srgbClr val="414951"/>
                </a:solidFill>
                <a:latin typeface="微软雅黑" panose="020B0503020204020204" charset="-122"/>
                <a:ea typeface="微软雅黑" panose="020B0503020204020204" charset="-122"/>
                <a:cs typeface="微软雅黑" panose="020B0503020204020204" charset="-122"/>
              </a:defRPr>
            </a:pPr>
            <a:r>
              <a:rPr sz="960" b="0" dirty="0" err="1">
                <a:solidFill>
                  <a:srgbClr val="414951"/>
                </a:solidFill>
                <a:latin typeface="微软雅黑" panose="020B0503020204020204" charset="-122"/>
                <a:ea typeface="微软雅黑" panose="020B0503020204020204" charset="-122"/>
                <a:cs typeface="微软雅黑" panose="020B0503020204020204" charset="-122"/>
              </a:rPr>
              <a:t>固定结构</a:t>
            </a:r>
            <a:r>
              <a:rPr sz="960" b="0" dirty="0">
                <a:solidFill>
                  <a:srgbClr val="414951"/>
                </a:solidFill>
                <a:latin typeface="微软雅黑" panose="020B0503020204020204" charset="-122"/>
                <a:ea typeface="微软雅黑" panose="020B0503020204020204" charset="-122"/>
                <a:cs typeface="微软雅黑" panose="020B0503020204020204" charset="-122"/>
              </a:rPr>
              <a:t> / </a:t>
            </a:r>
            <a:r>
              <a:rPr sz="960" b="0" dirty="0" err="1">
                <a:solidFill>
                  <a:srgbClr val="414951"/>
                </a:solidFill>
                <a:latin typeface="微软雅黑" panose="020B0503020204020204" charset="-122"/>
                <a:ea typeface="微软雅黑" panose="020B0503020204020204" charset="-122"/>
                <a:cs typeface="微软雅黑" panose="020B0503020204020204" charset="-122"/>
              </a:rPr>
              <a:t>格式骨架</a:t>
            </a:r>
            <a:r>
              <a:rPr sz="960" b="0" dirty="0" smtClean="0">
                <a:solidFill>
                  <a:srgbClr val="414951"/>
                </a:solidFill>
                <a:latin typeface="微软雅黑" panose="020B0503020204020204" charset="-122"/>
                <a:ea typeface="微软雅黑" panose="020B0503020204020204" charset="-122"/>
                <a:cs typeface="微软雅黑" panose="020B0503020204020204" charset="-122"/>
              </a:rPr>
              <a:t>，</a:t>
            </a:r>
            <a:endParaRPr sz="96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0" name="resources-product-band"/>
          <p:cNvSpPr>
            <a:spLocks noGrp="1"/>
          </p:cNvSpPr>
          <p:nvPr/>
        </p:nvSpPr>
        <p:spPr>
          <a:xfrm>
            <a:off x="781050" y="5029200"/>
            <a:ext cx="2990850" cy="295275"/>
          </a:xfrm>
          <a:prstGeom prst="rect">
            <a:avLst/>
          </a:prstGeom>
          <a:solidFill>
            <a:srgbClr val="F7F9FA"/>
          </a:solidFill>
          <a:ln w="6668">
            <a:solidFill>
              <a:srgbClr val="D8DEE3"/>
            </a:solidFill>
            <a:prstDash val="solid"/>
          </a:ln>
        </p:spPr>
      </p:sp>
      <p:sp>
        <p:nvSpPr>
          <p:cNvPr id="61" name="resources-product"/>
          <p:cNvSpPr>
            <a:spLocks noGrp="1"/>
          </p:cNvSpPr>
          <p:nvPr/>
        </p:nvSpPr>
        <p:spPr>
          <a:xfrm>
            <a:off x="895350" y="5038725"/>
            <a:ext cx="2762250"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产物：支撑各</a:t>
            </a:r>
            <a:r>
              <a:rPr sz="1065" b="1" dirty="0">
                <a:solidFill>
                  <a:srgbClr val="557A96"/>
                </a:solidFill>
                <a:latin typeface="微软雅黑" panose="020B0503020204020204" charset="-122"/>
                <a:ea typeface="微软雅黑" panose="020B0503020204020204" charset="-122"/>
                <a:cs typeface="微软雅黑" panose="020B0503020204020204" charset="-122"/>
              </a:rPr>
              <a:t> Stage </a:t>
            </a:r>
            <a:r>
              <a:rPr sz="1065" b="1" dirty="0" err="1">
                <a:solidFill>
                  <a:srgbClr val="557A96"/>
                </a:solidFill>
                <a:latin typeface="微软雅黑" panose="020B0503020204020204" charset="-122"/>
                <a:ea typeface="微软雅黑" panose="020B0503020204020204" charset="-122"/>
                <a:cs typeface="微软雅黑" panose="020B0503020204020204" charset="-122"/>
              </a:rPr>
              <a:t>的按需资源集</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trigger-line-0"/>
          <p:cNvSpPr>
            <a:spLocks noGrp="1"/>
          </p:cNvSpPr>
          <p:nvPr/>
        </p:nvSpPr>
        <p:spPr>
          <a:xfrm>
            <a:off x="5191125" y="2514600"/>
            <a:ext cx="238125" cy="0"/>
          </a:xfrm>
          <a:prstGeom prst="line">
            <a:avLst/>
          </a:prstGeom>
          <a:noFill/>
          <a:ln w="11430">
            <a:solidFill>
              <a:srgbClr val="557A96"/>
            </a:solidFill>
            <a:prstDash val="solid"/>
          </a:ln>
        </p:spPr>
      </p:sp>
      <p:sp>
        <p:nvSpPr>
          <p:cNvPr id="63" name="trigger-arrow-0"/>
          <p:cNvSpPr>
            <a:spLocks noGrp="1"/>
          </p:cNvSpPr>
          <p:nvPr/>
        </p:nvSpPr>
        <p:spPr>
          <a:xfrm rot="5400000">
            <a:off x="5381625" y="2476500"/>
            <a:ext cx="76200" cy="76200"/>
          </a:xfrm>
          <a:prstGeom prst="triangle">
            <a:avLst/>
          </a:prstGeom>
          <a:solidFill>
            <a:srgbClr val="557A96"/>
          </a:solidFill>
          <a:ln w="0">
            <a:solidFill>
              <a:srgbClr val="557A96"/>
            </a:solidFill>
            <a:prstDash val="solid"/>
          </a:ln>
        </p:spPr>
      </p:sp>
      <p:sp>
        <p:nvSpPr>
          <p:cNvPr id="64" name="trigger-line-1"/>
          <p:cNvSpPr>
            <a:spLocks noGrp="1"/>
          </p:cNvSpPr>
          <p:nvPr/>
        </p:nvSpPr>
        <p:spPr>
          <a:xfrm>
            <a:off x="6496050" y="2514600"/>
            <a:ext cx="238125" cy="0"/>
          </a:xfrm>
          <a:prstGeom prst="line">
            <a:avLst/>
          </a:prstGeom>
          <a:noFill/>
          <a:ln w="11430">
            <a:solidFill>
              <a:srgbClr val="557A96"/>
            </a:solidFill>
            <a:prstDash val="solid"/>
          </a:ln>
        </p:spPr>
      </p:sp>
      <p:sp>
        <p:nvSpPr>
          <p:cNvPr id="65" name="trigger-arrow-1"/>
          <p:cNvSpPr>
            <a:spLocks noGrp="1"/>
          </p:cNvSpPr>
          <p:nvPr/>
        </p:nvSpPr>
        <p:spPr>
          <a:xfrm rot="5400000">
            <a:off x="6686550" y="2476500"/>
            <a:ext cx="76200" cy="76200"/>
          </a:xfrm>
          <a:prstGeom prst="triangle">
            <a:avLst/>
          </a:prstGeom>
          <a:solidFill>
            <a:srgbClr val="557A96"/>
          </a:solidFill>
          <a:ln w="0">
            <a:solidFill>
              <a:srgbClr val="557A96"/>
            </a:solidFill>
            <a:prstDash val="solid"/>
          </a:ln>
        </p:spPr>
      </p:sp>
      <p:sp>
        <p:nvSpPr>
          <p:cNvPr id="66" name="request-node-box"/>
          <p:cNvSpPr>
            <a:spLocks noGrp="1"/>
          </p:cNvSpPr>
          <p:nvPr/>
        </p:nvSpPr>
        <p:spPr>
          <a:xfrm>
            <a:off x="4371975" y="2371725"/>
            <a:ext cx="819150" cy="285750"/>
          </a:xfrm>
          <a:prstGeom prst="roundRect">
            <a:avLst>
              <a:gd name="adj" fmla="val 13333"/>
            </a:avLst>
          </a:prstGeom>
          <a:solidFill>
            <a:srgbClr val="F7F9FA"/>
          </a:solidFill>
          <a:ln w="9525">
            <a:solidFill>
              <a:srgbClr val="7F9DB2"/>
            </a:solidFill>
            <a:prstDash val="solid"/>
          </a:ln>
        </p:spPr>
      </p:sp>
      <p:sp>
        <p:nvSpPr>
          <p:cNvPr id="67" name="request-node-text"/>
          <p:cNvSpPr>
            <a:spLocks noGrp="1"/>
          </p:cNvSpPr>
          <p:nvPr/>
        </p:nvSpPr>
        <p:spPr>
          <a:xfrm>
            <a:off x="4400550" y="2390775"/>
            <a:ext cx="762000" cy="247650"/>
          </a:xfrm>
          <a:prstGeom prst="rect">
            <a:avLst/>
          </a:prstGeom>
          <a:noFill/>
          <a:ln w="0">
            <a:noFill/>
            <a:prstDash val="solid"/>
          </a:ln>
        </p:spPr>
        <p:txBody>
          <a:bodyPr wrap="none" lIns="0" tIns="0" rIns="0" bIns="0" anchor="ctr">
            <a:normAutofit fontScale="92673"/>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User Request</a:t>
            </a:r>
          </a:p>
        </p:txBody>
      </p:sp>
      <p:sp>
        <p:nvSpPr>
          <p:cNvPr id="68" name="description-node-box"/>
          <p:cNvSpPr>
            <a:spLocks noGrp="1"/>
          </p:cNvSpPr>
          <p:nvPr/>
        </p:nvSpPr>
        <p:spPr>
          <a:xfrm>
            <a:off x="5429250" y="2371725"/>
            <a:ext cx="1066800" cy="285750"/>
          </a:xfrm>
          <a:prstGeom prst="roundRect">
            <a:avLst>
              <a:gd name="adj" fmla="val 13333"/>
            </a:avLst>
          </a:prstGeom>
          <a:solidFill>
            <a:srgbClr val="F2F6F8"/>
          </a:solidFill>
          <a:ln w="9525">
            <a:solidFill>
              <a:srgbClr val="7F9DB2"/>
            </a:solidFill>
            <a:prstDash val="solid"/>
          </a:ln>
        </p:spPr>
      </p:sp>
      <p:sp>
        <p:nvSpPr>
          <p:cNvPr id="69" name="description-node-text"/>
          <p:cNvSpPr>
            <a:spLocks noGrp="1"/>
          </p:cNvSpPr>
          <p:nvPr/>
        </p:nvSpPr>
        <p:spPr>
          <a:xfrm>
            <a:off x="5457825" y="2390775"/>
            <a:ext cx="1009650" cy="2476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description</a:t>
            </a:r>
          </a:p>
        </p:txBody>
      </p:sp>
      <p:sp>
        <p:nvSpPr>
          <p:cNvPr id="70" name="skill-node-box"/>
          <p:cNvSpPr>
            <a:spLocks noGrp="1"/>
          </p:cNvSpPr>
          <p:nvPr/>
        </p:nvSpPr>
        <p:spPr>
          <a:xfrm>
            <a:off x="6734175" y="2371725"/>
            <a:ext cx="895350" cy="285750"/>
          </a:xfrm>
          <a:prstGeom prst="roundRect">
            <a:avLst>
              <a:gd name="adj" fmla="val 13333"/>
            </a:avLst>
          </a:prstGeom>
          <a:solidFill>
            <a:srgbClr val="F7F9FA"/>
          </a:solidFill>
          <a:ln w="9525">
            <a:solidFill>
              <a:srgbClr val="7F9DB2"/>
            </a:solidFill>
            <a:prstDash val="solid"/>
          </a:ln>
        </p:spPr>
      </p:sp>
      <p:sp>
        <p:nvSpPr>
          <p:cNvPr id="71" name="skill-node-text"/>
          <p:cNvSpPr>
            <a:spLocks noGrp="1"/>
          </p:cNvSpPr>
          <p:nvPr/>
        </p:nvSpPr>
        <p:spPr>
          <a:xfrm>
            <a:off x="6762750" y="2390775"/>
            <a:ext cx="838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73" name="boundary-row-label"/>
          <p:cNvSpPr>
            <a:spLocks noGrp="1"/>
          </p:cNvSpPr>
          <p:nvPr/>
        </p:nvSpPr>
        <p:spPr>
          <a:xfrm>
            <a:off x="4371975" y="29432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74" name="boundary-row-detail"/>
          <p:cNvSpPr>
            <a:spLocks noGrp="1"/>
          </p:cNvSpPr>
          <p:nvPr/>
        </p:nvSpPr>
        <p:spPr>
          <a:xfrm>
            <a:off x="5676900" y="29432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明确做什么 / 不做什么</a:t>
            </a:r>
          </a:p>
        </p:txBody>
      </p:sp>
      <p:sp>
        <p:nvSpPr>
          <p:cNvPr id="75" name="boundary-row-line"/>
          <p:cNvSpPr>
            <a:spLocks noGrp="1"/>
          </p:cNvSpPr>
          <p:nvPr/>
        </p:nvSpPr>
        <p:spPr>
          <a:xfrm>
            <a:off x="4371975" y="3238500"/>
            <a:ext cx="3448050" cy="0"/>
          </a:xfrm>
          <a:prstGeom prst="line">
            <a:avLst/>
          </a:prstGeom>
          <a:noFill/>
          <a:ln w="6668">
            <a:solidFill>
              <a:srgbClr val="D8DEE3"/>
            </a:solidFill>
            <a:prstDash val="solid"/>
          </a:ln>
        </p:spPr>
      </p:sp>
      <p:sp>
        <p:nvSpPr>
          <p:cNvPr id="76" name="contract-policy-row-label"/>
          <p:cNvSpPr>
            <a:spLocks noGrp="1"/>
          </p:cNvSpPr>
          <p:nvPr/>
        </p:nvSpPr>
        <p:spPr>
          <a:xfrm>
            <a:off x="4371975" y="334327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Contract / Policy</a:t>
            </a:r>
          </a:p>
        </p:txBody>
      </p:sp>
      <p:sp>
        <p:nvSpPr>
          <p:cNvPr id="77" name="contract-policy-row-detail"/>
          <p:cNvSpPr>
            <a:spLocks noGrp="1"/>
          </p:cNvSpPr>
          <p:nvPr/>
        </p:nvSpPr>
        <p:spPr>
          <a:xfrm>
            <a:off x="5676900" y="33432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接受什么 / 产出什么 / 如何执行</a:t>
            </a:r>
          </a:p>
        </p:txBody>
      </p:sp>
      <p:sp>
        <p:nvSpPr>
          <p:cNvPr id="78" name="contract-policy-row-line"/>
          <p:cNvSpPr>
            <a:spLocks noGrp="1"/>
          </p:cNvSpPr>
          <p:nvPr/>
        </p:nvSpPr>
        <p:spPr>
          <a:xfrm>
            <a:off x="4371975" y="3638550"/>
            <a:ext cx="3448050" cy="0"/>
          </a:xfrm>
          <a:prstGeom prst="line">
            <a:avLst/>
          </a:prstGeom>
          <a:noFill/>
          <a:ln w="6668">
            <a:solidFill>
              <a:srgbClr val="D8DEE3"/>
            </a:solidFill>
            <a:prstDash val="solid"/>
          </a:ln>
        </p:spPr>
      </p:sp>
      <p:sp>
        <p:nvSpPr>
          <p:cNvPr id="79" name="constraint-gate-row-label"/>
          <p:cNvSpPr>
            <a:spLocks noGrp="1"/>
          </p:cNvSpPr>
          <p:nvPr/>
        </p:nvSpPr>
        <p:spPr>
          <a:xfrm>
            <a:off x="4371975" y="37433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constraint-gate-row-detail"/>
          <p:cNvSpPr>
            <a:spLocks noGrp="1"/>
          </p:cNvSpPr>
          <p:nvPr/>
        </p:nvSpPr>
        <p:spPr>
          <a:xfrm>
            <a:off x="5676900" y="37433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条件未满足时绝不推进</a:t>
            </a:r>
          </a:p>
        </p:txBody>
      </p:sp>
      <p:sp>
        <p:nvSpPr>
          <p:cNvPr id="81" name="constraint-gate-row-line"/>
          <p:cNvSpPr>
            <a:spLocks noGrp="1"/>
          </p:cNvSpPr>
          <p:nvPr/>
        </p:nvSpPr>
        <p:spPr>
          <a:xfrm>
            <a:off x="4371975" y="4038600"/>
            <a:ext cx="3448050" cy="0"/>
          </a:xfrm>
          <a:prstGeom prst="line">
            <a:avLst/>
          </a:prstGeom>
          <a:noFill/>
          <a:ln w="6668">
            <a:solidFill>
              <a:srgbClr val="D8DEE3"/>
            </a:solidFill>
            <a:prstDash val="solid"/>
          </a:ln>
        </p:spPr>
      </p:sp>
      <p:sp>
        <p:nvSpPr>
          <p:cNvPr id="82" name="identity-row-label"/>
          <p:cNvSpPr>
            <a:spLocks noGrp="1"/>
          </p:cNvSpPr>
          <p:nvPr/>
        </p:nvSpPr>
        <p:spPr>
          <a:xfrm>
            <a:off x="4371975" y="4143375"/>
            <a:ext cx="1257300" cy="238125"/>
          </a:xfrm>
          <a:prstGeom prst="rect">
            <a:avLst/>
          </a:prstGeom>
          <a:noFill/>
          <a:ln w="0">
            <a:noFill/>
            <a:prstDash val="solid"/>
          </a:ln>
        </p:spPr>
        <p:txBody>
          <a:bodyPr wrap="none" lIns="0" tIns="0" rIns="0" bIns="0" anchor="ctr">
            <a:normAutofit fontScale="95463"/>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name / description</a:t>
            </a:r>
          </a:p>
        </p:txBody>
      </p:sp>
      <p:sp>
        <p:nvSpPr>
          <p:cNvPr id="83" name="identity-row-detail"/>
          <p:cNvSpPr>
            <a:spLocks noGrp="1"/>
          </p:cNvSpPr>
          <p:nvPr/>
        </p:nvSpPr>
        <p:spPr>
          <a:xfrm>
            <a:off x="5676900" y="41433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能力身份 + 触发边界</a:t>
            </a:r>
          </a:p>
        </p:txBody>
      </p:sp>
      <p:sp>
        <p:nvSpPr>
          <p:cNvPr id="84" name="identity-row-line"/>
          <p:cNvSpPr>
            <a:spLocks noGrp="1"/>
          </p:cNvSpPr>
          <p:nvPr/>
        </p:nvSpPr>
        <p:spPr>
          <a:xfrm>
            <a:off x="4371975" y="4438650"/>
            <a:ext cx="3448050" cy="0"/>
          </a:xfrm>
          <a:prstGeom prst="line">
            <a:avLst/>
          </a:prstGeom>
          <a:noFill/>
          <a:ln w="6668">
            <a:solidFill>
              <a:srgbClr val="D8DEE3"/>
            </a:solidFill>
            <a:prstDash val="solid"/>
          </a:ln>
        </p:spPr>
      </p:sp>
      <p:sp>
        <p:nvSpPr>
          <p:cNvPr id="85" name="constraints-principle-band"/>
          <p:cNvSpPr>
            <a:spLocks noGrp="1"/>
          </p:cNvSpPr>
          <p:nvPr/>
        </p:nvSpPr>
        <p:spPr>
          <a:xfrm>
            <a:off x="4352925" y="4572000"/>
            <a:ext cx="3476625" cy="333375"/>
          </a:xfrm>
          <a:prstGeom prst="rect">
            <a:avLst/>
          </a:prstGeom>
          <a:solidFill>
            <a:srgbClr val="F2F6F8"/>
          </a:solidFill>
          <a:ln w="0">
            <a:noFill/>
            <a:prstDash val="solid"/>
          </a:ln>
        </p:spPr>
      </p:sp>
      <p:sp>
        <p:nvSpPr>
          <p:cNvPr id="86" name="constraints-principle"/>
          <p:cNvSpPr>
            <a:spLocks noGrp="1"/>
          </p:cNvSpPr>
          <p:nvPr/>
        </p:nvSpPr>
        <p:spPr>
          <a:xfrm>
            <a:off x="4476750" y="4581525"/>
            <a:ext cx="3228975" cy="314325"/>
          </a:xfrm>
          <a:prstGeom prst="rect">
            <a:avLst/>
          </a:prstGeom>
          <a:noFill/>
          <a:ln w="0">
            <a:noFill/>
            <a:prstDash val="solid"/>
          </a:ln>
        </p:spPr>
        <p:txBody>
          <a:bodyPr wrap="none" lIns="0" tIns="0" rIns="0" bIns="0" anchor="ctr">
            <a:normAutofit/>
          </a:bodyPr>
          <a:lstStyle/>
          <a:p>
            <a:pPr algn="ctr">
              <a:defRPr sz="1015" b="1">
                <a:solidFill>
                  <a:srgbClr val="414951"/>
                </a:solidFill>
                <a:latin typeface="微软雅黑" panose="020B0503020204020204" charset="-122"/>
                <a:ea typeface="微软雅黑" panose="020B0503020204020204" charset="-122"/>
                <a:cs typeface="微软雅黑" panose="020B0503020204020204" charset="-122"/>
              </a:defRPr>
            </a:pPr>
            <a:r>
              <a:rPr sz="1015" b="1">
                <a:solidFill>
                  <a:srgbClr val="414951"/>
                </a:solidFill>
                <a:latin typeface="微软雅黑" panose="020B0503020204020204" charset="-122"/>
                <a:ea typeface="微软雅黑" panose="020B0503020204020204" charset="-122"/>
                <a:cs typeface="微软雅黑" panose="020B0503020204020204" charset="-122"/>
              </a:rPr>
              <a:t>约束越清楚，运行越稳定；描述越准确，触发越可靠。</a:t>
            </a:r>
          </a:p>
        </p:txBody>
      </p:sp>
      <p:sp>
        <p:nvSpPr>
          <p:cNvPr id="87" name="constraints-product-band"/>
          <p:cNvSpPr>
            <a:spLocks noGrp="1"/>
          </p:cNvSpPr>
          <p:nvPr/>
        </p:nvSpPr>
        <p:spPr>
          <a:xfrm>
            <a:off x="4352925" y="5029200"/>
            <a:ext cx="3476625" cy="295275"/>
          </a:xfrm>
          <a:prstGeom prst="rect">
            <a:avLst/>
          </a:prstGeom>
          <a:solidFill>
            <a:srgbClr val="F7F9FA"/>
          </a:solidFill>
          <a:ln w="6668">
            <a:solidFill>
              <a:srgbClr val="D8DEE3"/>
            </a:solidFill>
            <a:prstDash val="solid"/>
          </a:ln>
        </p:spPr>
      </p:sp>
      <p:sp>
        <p:nvSpPr>
          <p:cNvPr id="88" name="constraints-product"/>
          <p:cNvSpPr>
            <a:spLocks noGrp="1"/>
          </p:cNvSpPr>
          <p:nvPr/>
        </p:nvSpPr>
        <p:spPr>
          <a:xfrm>
            <a:off x="4476750" y="5038725"/>
            <a:ext cx="3228975"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产物：稳定边界 + 可发现、可调用入口</a:t>
            </a:r>
          </a:p>
        </p:txBody>
      </p:sp>
      <p:sp>
        <p:nvSpPr>
          <p:cNvPr id="89" name="test-line-0"/>
          <p:cNvSpPr>
            <a:spLocks noGrp="1"/>
          </p:cNvSpPr>
          <p:nvPr/>
        </p:nvSpPr>
        <p:spPr>
          <a:xfrm>
            <a:off x="9906000" y="2714625"/>
            <a:ext cx="0" cy="104775"/>
          </a:xfrm>
          <a:prstGeom prst="line">
            <a:avLst/>
          </a:prstGeom>
          <a:noFill/>
          <a:ln w="11430">
            <a:solidFill>
              <a:srgbClr val="557A96"/>
            </a:solidFill>
            <a:prstDash val="solid"/>
          </a:ln>
        </p:spPr>
      </p:sp>
      <p:sp>
        <p:nvSpPr>
          <p:cNvPr id="90" name="test-arrow-0"/>
          <p:cNvSpPr>
            <a:spLocks noGrp="1"/>
          </p:cNvSpPr>
          <p:nvPr/>
        </p:nvSpPr>
        <p:spPr>
          <a:xfrm rot="10800000">
            <a:off x="9867900" y="2781300"/>
            <a:ext cx="76200" cy="76200"/>
          </a:xfrm>
          <a:prstGeom prst="triangle">
            <a:avLst/>
          </a:prstGeom>
          <a:solidFill>
            <a:srgbClr val="557A96"/>
          </a:solidFill>
          <a:ln w="0">
            <a:solidFill>
              <a:srgbClr val="557A96"/>
            </a:solidFill>
            <a:prstDash val="solid"/>
          </a:ln>
        </p:spPr>
      </p:sp>
      <p:sp>
        <p:nvSpPr>
          <p:cNvPr id="91" name="test-line-1"/>
          <p:cNvSpPr>
            <a:spLocks noGrp="1"/>
          </p:cNvSpPr>
          <p:nvPr/>
        </p:nvSpPr>
        <p:spPr>
          <a:xfrm>
            <a:off x="9906000" y="3190875"/>
            <a:ext cx="0" cy="104775"/>
          </a:xfrm>
          <a:prstGeom prst="line">
            <a:avLst/>
          </a:prstGeom>
          <a:noFill/>
          <a:ln w="11430">
            <a:solidFill>
              <a:srgbClr val="557A96"/>
            </a:solidFill>
            <a:prstDash val="solid"/>
          </a:ln>
        </p:spPr>
      </p:sp>
      <p:sp>
        <p:nvSpPr>
          <p:cNvPr id="92" name="test-arrow-1"/>
          <p:cNvSpPr>
            <a:spLocks noGrp="1"/>
          </p:cNvSpPr>
          <p:nvPr/>
        </p:nvSpPr>
        <p:spPr>
          <a:xfrm rot="10800000">
            <a:off x="9867900" y="3257550"/>
            <a:ext cx="76200" cy="76200"/>
          </a:xfrm>
          <a:prstGeom prst="triangle">
            <a:avLst/>
          </a:prstGeom>
          <a:solidFill>
            <a:srgbClr val="557A96"/>
          </a:solidFill>
          <a:ln w="0">
            <a:solidFill>
              <a:srgbClr val="557A96"/>
            </a:solidFill>
            <a:prstDash val="solid"/>
          </a:ln>
        </p:spPr>
      </p:sp>
      <p:sp>
        <p:nvSpPr>
          <p:cNvPr id="93" name="test-line-2"/>
          <p:cNvSpPr>
            <a:spLocks noGrp="1"/>
          </p:cNvSpPr>
          <p:nvPr/>
        </p:nvSpPr>
        <p:spPr>
          <a:xfrm>
            <a:off x="9906000" y="3667125"/>
            <a:ext cx="0" cy="104775"/>
          </a:xfrm>
          <a:prstGeom prst="line">
            <a:avLst/>
          </a:prstGeom>
          <a:noFill/>
          <a:ln w="11430">
            <a:solidFill>
              <a:srgbClr val="557A96"/>
            </a:solidFill>
            <a:prstDash val="solid"/>
          </a:ln>
        </p:spPr>
      </p:sp>
      <p:sp>
        <p:nvSpPr>
          <p:cNvPr id="94" name="test-arrow-2"/>
          <p:cNvSpPr>
            <a:spLocks noGrp="1"/>
          </p:cNvSpPr>
          <p:nvPr/>
        </p:nvSpPr>
        <p:spPr>
          <a:xfrm rot="10800000">
            <a:off x="9867900" y="3733800"/>
            <a:ext cx="76200" cy="76200"/>
          </a:xfrm>
          <a:prstGeom prst="triangle">
            <a:avLst/>
          </a:prstGeom>
          <a:solidFill>
            <a:srgbClr val="557A96"/>
          </a:solidFill>
          <a:ln w="0">
            <a:solidFill>
              <a:srgbClr val="557A96"/>
            </a:solidFill>
            <a:prstDash val="solid"/>
          </a:ln>
        </p:spPr>
      </p:sp>
      <p:sp>
        <p:nvSpPr>
          <p:cNvPr id="95" name="trigger-test-band"/>
          <p:cNvSpPr>
            <a:spLocks noGrp="1"/>
          </p:cNvSpPr>
          <p:nvPr/>
        </p:nvSpPr>
        <p:spPr>
          <a:xfrm>
            <a:off x="8410575" y="2343150"/>
            <a:ext cx="2990850" cy="371475"/>
          </a:xfrm>
          <a:prstGeom prst="rect">
            <a:avLst/>
          </a:prstGeom>
          <a:solidFill>
            <a:srgbClr val="F7F9FA"/>
          </a:solidFill>
          <a:ln w="6668">
            <a:solidFill>
              <a:srgbClr val="D8DEE3"/>
            </a:solidFill>
            <a:prstDash val="solid"/>
          </a:ln>
        </p:spPr>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Trigger Test</a:t>
            </a:r>
          </a:p>
        </p:txBody>
      </p:sp>
      <p:sp>
        <p:nvSpPr>
          <p:cNvPr id="97" name="trigger-test-detail"/>
          <p:cNvSpPr>
            <a:spLocks noGrp="1"/>
          </p:cNvSpPr>
          <p:nvPr/>
        </p:nvSpPr>
        <p:spPr>
          <a:xfrm>
            <a:off x="9658350" y="23812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err="1">
                <a:solidFill>
                  <a:srgbClr val="414951"/>
                </a:solidFill>
                <a:latin typeface="微软雅黑" panose="020B0503020204020204" charset="-122"/>
                <a:ea typeface="微软雅黑" panose="020B0503020204020204" charset="-122"/>
                <a:cs typeface="微软雅黑" panose="020B0503020204020204" charset="-122"/>
              </a:rPr>
              <a:t>应触发</a:t>
            </a:r>
            <a:r>
              <a:rPr sz="1035" b="0" dirty="0">
                <a:solidFill>
                  <a:srgbClr val="414951"/>
                </a:solidFill>
                <a:latin typeface="微软雅黑" panose="020B0503020204020204" charset="-122"/>
                <a:ea typeface="微软雅黑" panose="020B0503020204020204" charset="-122"/>
                <a:cs typeface="微软雅黑" panose="020B0503020204020204" charset="-122"/>
              </a:rPr>
              <a:t> / </a:t>
            </a:r>
            <a:r>
              <a:rPr sz="1035" b="0" dirty="0" err="1">
                <a:solidFill>
                  <a:srgbClr val="414951"/>
                </a:solidFill>
                <a:latin typeface="微软雅黑" panose="020B0503020204020204" charset="-122"/>
                <a:ea typeface="微软雅黑" panose="020B0503020204020204" charset="-122"/>
                <a:cs typeface="微软雅黑" panose="020B0503020204020204" charset="-122"/>
              </a:rPr>
              <a:t>不应触发</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workflow-test-band"/>
          <p:cNvSpPr>
            <a:spLocks noGrp="1"/>
          </p:cNvSpPr>
          <p:nvPr/>
        </p:nvSpPr>
        <p:spPr>
          <a:xfrm>
            <a:off x="8410575" y="2819400"/>
            <a:ext cx="2990850" cy="371475"/>
          </a:xfrm>
          <a:prstGeom prst="rect">
            <a:avLst/>
          </a:prstGeom>
          <a:solidFill>
            <a:srgbClr val="F7F9FA"/>
          </a:solidFill>
          <a:ln w="6668">
            <a:solidFill>
              <a:srgbClr val="D8DEE3"/>
            </a:solidFill>
            <a:prstDash val="solid"/>
          </a:ln>
        </p:spPr>
      </p:sp>
      <p:sp>
        <p:nvSpPr>
          <p:cNvPr id="99" name="workflow-test-label"/>
          <p:cNvSpPr>
            <a:spLocks noGrp="1"/>
          </p:cNvSpPr>
          <p:nvPr/>
        </p:nvSpPr>
        <p:spPr>
          <a:xfrm>
            <a:off x="8524875" y="28575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Workflow Test</a:t>
            </a:r>
          </a:p>
        </p:txBody>
      </p:sp>
      <p:sp>
        <p:nvSpPr>
          <p:cNvPr id="100" name="workflow-test-detail"/>
          <p:cNvSpPr>
            <a:spLocks noGrp="1"/>
          </p:cNvSpPr>
          <p:nvPr/>
        </p:nvSpPr>
        <p:spPr>
          <a:xfrm>
            <a:off x="9658350" y="28575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a:solidFill>
                  <a:srgbClr val="414951"/>
                </a:solidFill>
                <a:latin typeface="微软雅黑" panose="020B0503020204020204" charset="-122"/>
                <a:ea typeface="微软雅黑" panose="020B0503020204020204" charset="-122"/>
                <a:cs typeface="微软雅黑" panose="020B0503020204020204" charset="-122"/>
              </a:rPr>
              <a:t>Stage / Handoff / Gate</a:t>
            </a:r>
          </a:p>
        </p:txBody>
      </p:sp>
      <p:sp>
        <p:nvSpPr>
          <p:cNvPr id="101" name="result-test-band"/>
          <p:cNvSpPr>
            <a:spLocks noGrp="1"/>
          </p:cNvSpPr>
          <p:nvPr/>
        </p:nvSpPr>
        <p:spPr>
          <a:xfrm>
            <a:off x="8410575" y="3295650"/>
            <a:ext cx="2990850" cy="371475"/>
          </a:xfrm>
          <a:prstGeom prst="rect">
            <a:avLst/>
          </a:prstGeom>
          <a:solidFill>
            <a:srgbClr val="F7F9FA"/>
          </a:solidFill>
          <a:ln w="6668">
            <a:solidFill>
              <a:srgbClr val="D8DEE3"/>
            </a:solidFill>
            <a:prstDash val="solid"/>
          </a:ln>
        </p:spPr>
      </p:sp>
      <p:sp>
        <p:nvSpPr>
          <p:cNvPr id="102" name="result-test-label"/>
          <p:cNvSpPr>
            <a:spLocks noGrp="1"/>
          </p:cNvSpPr>
          <p:nvPr/>
        </p:nvSpPr>
        <p:spPr>
          <a:xfrm>
            <a:off x="8524875" y="33337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Result Test</a:t>
            </a:r>
          </a:p>
        </p:txBody>
      </p:sp>
      <p:sp>
        <p:nvSpPr>
          <p:cNvPr id="103" name="result-test-detail"/>
          <p:cNvSpPr>
            <a:spLocks noGrp="1"/>
          </p:cNvSpPr>
          <p:nvPr/>
        </p:nvSpPr>
        <p:spPr>
          <a:xfrm>
            <a:off x="9658350" y="33337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内容 / 格式 / 测试</a:t>
            </a:r>
          </a:p>
        </p:txBody>
      </p:sp>
      <p:sp>
        <p:nvSpPr>
          <p:cNvPr id="104" name="failure-fix-band"/>
          <p:cNvSpPr>
            <a:spLocks noGrp="1"/>
          </p:cNvSpPr>
          <p:nvPr/>
        </p:nvSpPr>
        <p:spPr>
          <a:xfrm>
            <a:off x="8410575" y="3771900"/>
            <a:ext cx="2990850" cy="371475"/>
          </a:xfrm>
          <a:prstGeom prst="rect">
            <a:avLst/>
          </a:prstGeom>
          <a:solidFill>
            <a:srgbClr val="F7F9FA"/>
          </a:solidFill>
          <a:ln w="6668">
            <a:solidFill>
              <a:srgbClr val="D8DEE3"/>
            </a:solidFill>
            <a:prstDash val="solid"/>
          </a:ln>
        </p:spPr>
      </p:sp>
      <p:sp>
        <p:nvSpPr>
          <p:cNvPr id="105" name="failure-fix-label"/>
          <p:cNvSpPr>
            <a:spLocks noGrp="1"/>
          </p:cNvSpPr>
          <p:nvPr/>
        </p:nvSpPr>
        <p:spPr>
          <a:xfrm>
            <a:off x="8524875" y="38100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Failure Fix  ↺</a:t>
            </a:r>
          </a:p>
        </p:txBody>
      </p:sp>
      <p:sp>
        <p:nvSpPr>
          <p:cNvPr id="106" name="failure-fix-detail"/>
          <p:cNvSpPr>
            <a:spLocks noGrp="1"/>
          </p:cNvSpPr>
          <p:nvPr/>
        </p:nvSpPr>
        <p:spPr>
          <a:xfrm>
            <a:off x="9658350" y="38100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补资源 / 修约束 / 调流程</a:t>
            </a:r>
          </a:p>
        </p:txBody>
      </p:sp>
      <p:sp>
        <p:nvSpPr>
          <p:cNvPr id="107" name="iteration-loop-label"/>
          <p:cNvSpPr>
            <a:spLocks noGrp="1"/>
          </p:cNvSpPr>
          <p:nvPr/>
        </p:nvSpPr>
        <p:spPr>
          <a:xfrm>
            <a:off x="8553450" y="4269271"/>
            <a:ext cx="2667000" cy="209550"/>
          </a:xfrm>
          <a:prstGeom prst="rect">
            <a:avLst/>
          </a:prstGeom>
          <a:noFill/>
          <a:ln w="0">
            <a:noFill/>
            <a:prstDash val="solid"/>
          </a:ln>
        </p:spPr>
        <p:txBody>
          <a:bodyPr wrap="none" lIns="0" tIns="0" rIns="0" bIns="0" anchor="ctr">
            <a:normAutofit/>
          </a:bodyPr>
          <a:lstStyle/>
          <a:p>
            <a:pPr algn="ctr">
              <a:defRPr sz="975" b="1">
                <a:solidFill>
                  <a:srgbClr val="68727B"/>
                </a:solidFill>
                <a:latin typeface="微软雅黑" panose="020B0503020204020204" charset="-122"/>
                <a:ea typeface="微软雅黑" panose="020B0503020204020204" charset="-122"/>
                <a:cs typeface="微软雅黑" panose="020B0503020204020204" charset="-122"/>
              </a:defRPr>
            </a:pPr>
            <a:r>
              <a:rPr sz="975" b="1" dirty="0" err="1">
                <a:solidFill>
                  <a:srgbClr val="68727B"/>
                </a:solidFill>
                <a:latin typeface="微软雅黑" panose="020B0503020204020204" charset="-122"/>
                <a:ea typeface="微软雅黑" panose="020B0503020204020204" charset="-122"/>
                <a:cs typeface="微软雅黑" panose="020B0503020204020204" charset="-122"/>
              </a:rPr>
              <a:t>发现问题</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修正</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回到真实任务再测</a:t>
            </a:r>
            <a:endParaRPr sz="975"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391525" y="5029200"/>
            <a:ext cx="3038475" cy="295275"/>
          </a:xfrm>
          <a:prstGeom prst="rect">
            <a:avLst/>
          </a:prstGeom>
          <a:solidFill>
            <a:srgbClr val="F7F9FA"/>
          </a:solidFill>
          <a:ln w="6668">
            <a:solidFill>
              <a:srgbClr val="D8DEE3"/>
            </a:solidFill>
            <a:prstDash val="solid"/>
          </a:ln>
        </p:spPr>
      </p:sp>
      <p:sp>
        <p:nvSpPr>
          <p:cNvPr id="111" name="validation-product"/>
          <p:cNvSpPr>
            <a:spLocks noGrp="1"/>
          </p:cNvSpPr>
          <p:nvPr/>
        </p:nvSpPr>
        <p:spPr>
          <a:xfrm>
            <a:off x="8505825" y="5038725"/>
            <a:ext cx="2809875" cy="276225"/>
          </a:xfrm>
          <a:prstGeom prst="rect">
            <a:avLst/>
          </a:prstGeom>
          <a:noFill/>
          <a:ln w="0">
            <a:noFill/>
            <a:prstDash val="solid"/>
          </a:ln>
        </p:spPr>
        <p:txBody>
          <a:bodyPr wrap="none" lIns="0" tIns="0" rIns="0" bIns="0" anchor="ctr">
            <a:normAutofit/>
          </a:bodyPr>
          <a:lstStyle/>
          <a:p>
            <a:pPr algn="ctr">
              <a:defRPr sz="1050" b="1">
                <a:solidFill>
                  <a:srgbClr val="557A96"/>
                </a:solidFill>
                <a:latin typeface="微软雅黑" panose="020B0503020204020204" charset="-122"/>
                <a:ea typeface="微软雅黑" panose="020B0503020204020204" charset="-122"/>
                <a:cs typeface="微软雅黑" panose="020B0503020204020204" charset="-122"/>
              </a:defRPr>
            </a:pPr>
            <a:r>
              <a:rPr sz="1050" b="1">
                <a:solidFill>
                  <a:srgbClr val="557A96"/>
                </a:solidFill>
                <a:latin typeface="微软雅黑" panose="020B0503020204020204" charset="-122"/>
                <a:ea typeface="微软雅黑" panose="020B0503020204020204" charset="-122"/>
                <a:cs typeface="微软雅黑" panose="020B0503020204020204" charset="-122"/>
              </a:rPr>
              <a:t>产物：经实测验证、可持续迭代的 Skill</a:t>
            </a: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50" name="summary-band"/>
          <p:cNvSpPr>
            <a:spLocks noGrp="1"/>
          </p:cNvSpPr>
          <p:nvPr/>
        </p:nvSpPr>
        <p:spPr>
          <a:xfrm>
            <a:off x="609600" y="6000750"/>
            <a:ext cx="10972800" cy="609600"/>
          </a:xfrm>
          <a:prstGeom prst="rect">
            <a:avLst/>
          </a:prstGeom>
          <a:solidFill>
            <a:srgbClr val="F3F4F5"/>
          </a:solidFill>
          <a:ln w="0">
            <a:noFill/>
            <a:prstDash val="solid"/>
          </a:ln>
        </p:spPr>
      </p:sp>
      <p:sp>
        <p:nvSpPr>
          <p:cNvPr id="151" name="summary-accent"/>
          <p:cNvSpPr>
            <a:spLocks noGrp="1"/>
          </p:cNvSpPr>
          <p:nvPr/>
        </p:nvSpPr>
        <p:spPr>
          <a:xfrm>
            <a:off x="609600" y="6000750"/>
            <a:ext cx="38100" cy="609600"/>
          </a:xfrm>
          <a:prstGeom prst="rect">
            <a:avLst/>
          </a:prstGeom>
          <a:solidFill>
            <a:srgbClr val="557A96"/>
          </a:solidFill>
          <a:ln w="0">
            <a:noFill/>
            <a:prstDash val="solid"/>
          </a:ln>
        </p:spPr>
      </p:sp>
      <p:sp>
        <p:nvSpPr>
          <p:cNvPr id="152" name="文本框 151"/>
          <p:cNvSpPr txBox="1"/>
          <p:nvPr/>
        </p:nvSpPr>
        <p:spPr>
          <a:xfrm>
            <a:off x="4041591" y="6134784"/>
            <a:ext cx="4108817" cy="646331"/>
          </a:xfrm>
          <a:prstGeom prst="rect">
            <a:avLst/>
          </a:prstGeom>
          <a:noFill/>
        </p:spPr>
        <p:txBody>
          <a:bodyPr wrap="none" rtlCol="0">
            <a:spAutoFit/>
          </a:bodyPr>
          <a:lstStyle/>
          <a:p>
            <a:r>
              <a:rPr lang="zh-CN" altLang="en-US" b="1" dirty="0">
                <a:solidFill>
                  <a:srgbClr val="68727B"/>
                </a:solidFill>
                <a:latin typeface="微软雅黑" panose="020B0503020204020204" charset="-122"/>
                <a:ea typeface="微软雅黑" panose="020B0503020204020204" charset="-122"/>
                <a:cs typeface="微软雅黑" panose="020B0503020204020204" charset="-122"/>
              </a:rPr>
              <a:t>每次修正都应回到真实任务重新验证。</a:t>
            </a:r>
          </a:p>
          <a:p>
            <a:endParaRPr lang="zh-CN" altLang="en-US" dirty="0"/>
          </a:p>
        </p:txBody>
      </p:sp>
      <p:sp>
        <p:nvSpPr>
          <p:cNvPr id="15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6</a:t>
            </a:r>
          </a:p>
        </p:txBody>
      </p:sp>
    </p:spTree>
    <p:extLst>
      <p:ext uri="{BB962C8B-B14F-4D97-AF65-F5344CB8AC3E}">
        <p14:creationId xmlns:p14="http://schemas.microsoft.com/office/powerpoint/2010/main" val="24650431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00150" y="171450"/>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的完整演化</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lide-subtitle"/>
          <p:cNvSpPr>
            <a:spLocks noGrp="1"/>
          </p:cNvSpPr>
          <p:nvPr/>
        </p:nvSpPr>
        <p:spPr>
          <a:xfrm>
            <a:off x="800100" y="714375"/>
            <a:ext cx="7810500" cy="247650"/>
          </a:xfrm>
          <a:prstGeom prst="rect">
            <a:avLst/>
          </a:prstGeom>
          <a:noFill/>
          <a:ln w="0">
            <a:noFill/>
            <a:prstDash val="solid"/>
          </a:ln>
        </p:spPr>
        <p:txBody>
          <a:bodyPr wrap="none" lIns="0" tIns="0" rIns="0" bIns="0" anchor="ctr">
            <a:normAutofit/>
          </a:bodyPr>
          <a:lstStyle/>
          <a:p>
            <a:pPr algn="l">
              <a:defRPr sz="1335" b="0">
                <a:solidFill>
                  <a:srgbClr val="68727B"/>
                </a:solidFill>
                <a:latin typeface="微软雅黑" panose="020B0503020204020204" charset="-122"/>
                <a:ea typeface="微软雅黑" panose="020B0503020204020204" charset="-122"/>
                <a:cs typeface="微软雅黑" panose="020B0503020204020204" charset="-122"/>
              </a:defRPr>
            </a:pPr>
            <a:endParaRPr sz="133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main-column-divider"/>
          <p:cNvSpPr>
            <a:spLocks noGrp="1"/>
          </p:cNvSpPr>
          <p:nvPr/>
        </p:nvSpPr>
        <p:spPr>
          <a:xfrm>
            <a:off x="8610600" y="1162050"/>
            <a:ext cx="0" cy="4933950"/>
          </a:xfrm>
          <a:prstGeom prst="line">
            <a:avLst/>
          </a:prstGeom>
          <a:noFill/>
          <a:ln w="9525">
            <a:solidFill>
              <a:srgbClr val="D8DEE3"/>
            </a:solidFill>
            <a:prstDash val="solid"/>
          </a:ln>
        </p:spPr>
      </p:sp>
      <p:sp>
        <p:nvSpPr>
          <p:cNvPr id="6" name="main-heading"/>
          <p:cNvSpPr>
            <a:spLocks noGrp="1"/>
          </p:cNvSpPr>
          <p:nvPr/>
        </p:nvSpPr>
        <p:spPr>
          <a:xfrm>
            <a:off x="609600" y="1143000"/>
            <a:ext cx="333375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从</a:t>
            </a:r>
            <a:r>
              <a:rPr lang="en-US" altLang="zh-CN" sz="1650" b="1" dirty="0" err="1" smtClean="0">
                <a:solidFill>
                  <a:srgbClr val="252B31"/>
                </a:solidFill>
                <a:latin typeface="微软雅黑" panose="020B0503020204020204" charset="-122"/>
                <a:ea typeface="微软雅黑" panose="020B0503020204020204" charset="-122"/>
                <a:cs typeface="微软雅黑" panose="020B0503020204020204" charset="-122"/>
              </a:rPr>
              <a:t>task</a:t>
            </a: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到稳定</a:t>
            </a:r>
            <a:r>
              <a:rPr sz="1650" b="1" dirty="0" smtClean="0">
                <a:solidFill>
                  <a:srgbClr val="252B31"/>
                </a:solidFill>
                <a:latin typeface="微软雅黑" panose="020B0503020204020204" charset="-122"/>
                <a:ea typeface="微软雅黑" panose="020B0503020204020204" charset="-122"/>
                <a:cs typeface="微软雅黑" panose="020B0503020204020204" charset="-122"/>
              </a:rPr>
              <a:t> </a:t>
            </a:r>
            <a:r>
              <a:rPr sz="1650" b="1" dirty="0">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8" name="iteration-heading"/>
          <p:cNvSpPr>
            <a:spLocks noGrp="1"/>
          </p:cNvSpPr>
          <p:nvPr/>
        </p:nvSpPr>
        <p:spPr>
          <a:xfrm>
            <a:off x="8724900" y="1143000"/>
            <a:ext cx="285750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失败定位与迭代</a:t>
            </a:r>
          </a:p>
        </p:txBody>
      </p:sp>
      <p:sp>
        <p:nvSpPr>
          <p:cNvPr id="9" name="task-band"/>
          <p:cNvSpPr>
            <a:spLocks noGrp="1"/>
          </p:cNvSpPr>
          <p:nvPr/>
        </p:nvSpPr>
        <p:spPr>
          <a:xfrm>
            <a:off x="609600" y="1485900"/>
            <a:ext cx="7886700" cy="666750"/>
          </a:xfrm>
          <a:prstGeom prst="rect">
            <a:avLst/>
          </a:prstGeom>
          <a:solidFill>
            <a:srgbClr val="FFFFFF"/>
          </a:solidFill>
          <a:ln w="9525">
            <a:solidFill>
              <a:srgbClr val="D8DEE3"/>
            </a:solidFill>
            <a:prstDash val="solid"/>
          </a:ln>
        </p:spPr>
      </p:sp>
      <p:sp>
        <p:nvSpPr>
          <p:cNvPr id="10" name="task-accent"/>
          <p:cNvSpPr>
            <a:spLocks noGrp="1"/>
          </p:cNvSpPr>
          <p:nvPr/>
        </p:nvSpPr>
        <p:spPr>
          <a:xfrm>
            <a:off x="609600" y="1485900"/>
            <a:ext cx="28575" cy="666750"/>
          </a:xfrm>
          <a:prstGeom prst="rect">
            <a:avLst/>
          </a:prstGeom>
          <a:solidFill>
            <a:srgbClr val="557A96"/>
          </a:solidFill>
          <a:ln w="0">
            <a:noFill/>
            <a:prstDash val="solid"/>
          </a:ln>
        </p:spPr>
      </p:sp>
      <p:sp>
        <p:nvSpPr>
          <p:cNvPr id="11" name="task-number"/>
          <p:cNvSpPr>
            <a:spLocks noGrp="1"/>
          </p:cNvSpPr>
          <p:nvPr/>
        </p:nvSpPr>
        <p:spPr>
          <a:xfrm>
            <a:off x="762000" y="15621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12" name="task-title"/>
          <p:cNvSpPr>
            <a:spLocks noGrp="1"/>
          </p:cNvSpPr>
          <p:nvPr/>
        </p:nvSpPr>
        <p:spPr>
          <a:xfrm>
            <a:off x="1143000" y="15430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Task</a:t>
            </a:r>
          </a:p>
        </p:txBody>
      </p:sp>
      <p:sp>
        <p:nvSpPr>
          <p:cNvPr id="13" name="task-subtitle"/>
          <p:cNvSpPr>
            <a:spLocks noGrp="1"/>
          </p:cNvSpPr>
          <p:nvPr/>
        </p:nvSpPr>
        <p:spPr>
          <a:xfrm>
            <a:off x="762000" y="18097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明确任务起点和终点</a:t>
            </a:r>
          </a:p>
        </p:txBody>
      </p:sp>
      <p:sp>
        <p:nvSpPr>
          <p:cNvPr id="14" name="basic-workflow-band"/>
          <p:cNvSpPr>
            <a:spLocks noGrp="1"/>
          </p:cNvSpPr>
          <p:nvPr/>
        </p:nvSpPr>
        <p:spPr>
          <a:xfrm>
            <a:off x="609600" y="2209800"/>
            <a:ext cx="7886700" cy="666750"/>
          </a:xfrm>
          <a:prstGeom prst="rect">
            <a:avLst/>
          </a:prstGeom>
          <a:solidFill>
            <a:srgbClr val="FFFFFF"/>
          </a:solidFill>
          <a:ln w="9525">
            <a:solidFill>
              <a:srgbClr val="D8DEE3"/>
            </a:solidFill>
            <a:prstDash val="solid"/>
          </a:ln>
        </p:spPr>
      </p:sp>
      <p:sp>
        <p:nvSpPr>
          <p:cNvPr id="15" name="basic-workflow-accent"/>
          <p:cNvSpPr>
            <a:spLocks noGrp="1"/>
          </p:cNvSpPr>
          <p:nvPr/>
        </p:nvSpPr>
        <p:spPr>
          <a:xfrm>
            <a:off x="609600" y="2209800"/>
            <a:ext cx="28575" cy="666750"/>
          </a:xfrm>
          <a:prstGeom prst="rect">
            <a:avLst/>
          </a:prstGeom>
          <a:solidFill>
            <a:srgbClr val="557A96"/>
          </a:solidFill>
          <a:ln w="0">
            <a:noFill/>
            <a:prstDash val="solid"/>
          </a:ln>
        </p:spPr>
      </p:sp>
      <p:sp>
        <p:nvSpPr>
          <p:cNvPr id="16" name="basic-workflow-number"/>
          <p:cNvSpPr>
            <a:spLocks noGrp="1"/>
          </p:cNvSpPr>
          <p:nvPr/>
        </p:nvSpPr>
        <p:spPr>
          <a:xfrm>
            <a:off x="762000" y="22860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17" name="basic-workflow-title"/>
          <p:cNvSpPr>
            <a:spLocks noGrp="1"/>
          </p:cNvSpPr>
          <p:nvPr/>
        </p:nvSpPr>
        <p:spPr>
          <a:xfrm>
            <a:off x="1143000" y="22669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Basic Workflow</a:t>
            </a:r>
          </a:p>
        </p:txBody>
      </p:sp>
      <p:sp>
        <p:nvSpPr>
          <p:cNvPr id="18" name="basic-workflow-subtitle"/>
          <p:cNvSpPr>
            <a:spLocks noGrp="1"/>
          </p:cNvSpPr>
          <p:nvPr/>
        </p:nvSpPr>
        <p:spPr>
          <a:xfrm>
            <a:off x="762000" y="25336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把任务拆成明确 Stage</a:t>
            </a:r>
          </a:p>
        </p:txBody>
      </p:sp>
      <p:sp>
        <p:nvSpPr>
          <p:cNvPr id="19" name="executable-band"/>
          <p:cNvSpPr>
            <a:spLocks noGrp="1"/>
          </p:cNvSpPr>
          <p:nvPr/>
        </p:nvSpPr>
        <p:spPr>
          <a:xfrm>
            <a:off x="609600" y="2933700"/>
            <a:ext cx="7886700" cy="1276350"/>
          </a:xfrm>
          <a:prstGeom prst="rect">
            <a:avLst/>
          </a:prstGeom>
          <a:solidFill>
            <a:srgbClr val="FFFFFF"/>
          </a:solidFill>
          <a:ln w="9525">
            <a:solidFill>
              <a:srgbClr val="D8DEE3"/>
            </a:solidFill>
            <a:prstDash val="solid"/>
          </a:ln>
        </p:spPr>
      </p:sp>
      <p:sp>
        <p:nvSpPr>
          <p:cNvPr id="20" name="executable-accent"/>
          <p:cNvSpPr>
            <a:spLocks noGrp="1"/>
          </p:cNvSpPr>
          <p:nvPr/>
        </p:nvSpPr>
        <p:spPr>
          <a:xfrm>
            <a:off x="609600" y="2933700"/>
            <a:ext cx="28575" cy="1276350"/>
          </a:xfrm>
          <a:prstGeom prst="rect">
            <a:avLst/>
          </a:prstGeom>
          <a:solidFill>
            <a:srgbClr val="557A96"/>
          </a:solidFill>
          <a:ln w="0">
            <a:noFill/>
            <a:prstDash val="solid"/>
          </a:ln>
        </p:spPr>
      </p:sp>
      <p:sp>
        <p:nvSpPr>
          <p:cNvPr id="21" name="executable-number"/>
          <p:cNvSpPr>
            <a:spLocks noGrp="1"/>
          </p:cNvSpPr>
          <p:nvPr/>
        </p:nvSpPr>
        <p:spPr>
          <a:xfrm>
            <a:off x="762000" y="30099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22" name="executable-title"/>
          <p:cNvSpPr>
            <a:spLocks noGrp="1"/>
          </p:cNvSpPr>
          <p:nvPr/>
        </p:nvSpPr>
        <p:spPr>
          <a:xfrm>
            <a:off x="1143000" y="2990850"/>
            <a:ext cx="1571625" cy="247650"/>
          </a:xfrm>
          <a:prstGeom prst="rect">
            <a:avLst/>
          </a:prstGeom>
          <a:noFill/>
          <a:ln w="0">
            <a:noFill/>
            <a:prstDash val="solid"/>
          </a:ln>
        </p:spPr>
        <p:txBody>
          <a:bodyPr wrap="none" lIns="0" tIns="0" rIns="0" bIns="0" anchor="ctr">
            <a:normAutofit fontScale="96545"/>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Executable Workflow</a:t>
            </a:r>
          </a:p>
        </p:txBody>
      </p:sp>
      <p:sp>
        <p:nvSpPr>
          <p:cNvPr id="23" name="executable-subtitle"/>
          <p:cNvSpPr>
            <a:spLocks noGrp="1"/>
          </p:cNvSpPr>
          <p:nvPr/>
        </p:nvSpPr>
        <p:spPr>
          <a:xfrm>
            <a:off x="762000" y="32575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加入</a:t>
            </a:r>
            <a:r>
              <a:rPr lang="zh-CN" altLang="en-US" sz="1015" b="0" dirty="0" smtClean="0">
                <a:solidFill>
                  <a:srgbClr val="68727B"/>
                </a:solidFill>
                <a:latin typeface="微软雅黑" panose="020B0503020204020204" charset="-122"/>
                <a:ea typeface="微软雅黑" panose="020B0503020204020204" charset="-122"/>
                <a:cs typeface="微软雅黑" panose="020B0503020204020204" charset="-122"/>
              </a:rPr>
              <a:t>中间</a:t>
            </a: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产物</a:t>
            </a:r>
            <a:r>
              <a:rPr sz="1015" b="0" dirty="0" err="1">
                <a:solidFill>
                  <a:srgbClr val="68727B"/>
                </a:solidFill>
                <a:latin typeface="微软雅黑" panose="020B0503020204020204" charset="-122"/>
                <a:ea typeface="微软雅黑" panose="020B0503020204020204" charset="-122"/>
                <a:cs typeface="微软雅黑" panose="020B0503020204020204" charset="-122"/>
              </a:rPr>
              <a:t>、门禁与失败路径</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4" name="packaging-band"/>
          <p:cNvSpPr>
            <a:spLocks noGrp="1"/>
          </p:cNvSpPr>
          <p:nvPr/>
        </p:nvSpPr>
        <p:spPr>
          <a:xfrm>
            <a:off x="609600" y="4267200"/>
            <a:ext cx="7886700" cy="1257300"/>
          </a:xfrm>
          <a:prstGeom prst="rect">
            <a:avLst/>
          </a:prstGeom>
          <a:solidFill>
            <a:srgbClr val="FFFFFF"/>
          </a:solidFill>
          <a:ln w="9525">
            <a:solidFill>
              <a:srgbClr val="D8DEE3"/>
            </a:solidFill>
            <a:prstDash val="solid"/>
          </a:ln>
        </p:spPr>
      </p:sp>
      <p:sp>
        <p:nvSpPr>
          <p:cNvPr id="25" name="packaging-accent"/>
          <p:cNvSpPr>
            <a:spLocks noGrp="1"/>
          </p:cNvSpPr>
          <p:nvPr/>
        </p:nvSpPr>
        <p:spPr>
          <a:xfrm>
            <a:off x="609600" y="4267200"/>
            <a:ext cx="28575" cy="1257300"/>
          </a:xfrm>
          <a:prstGeom prst="rect">
            <a:avLst/>
          </a:prstGeom>
          <a:solidFill>
            <a:srgbClr val="557A96"/>
          </a:solidFill>
          <a:ln w="0">
            <a:noFill/>
            <a:prstDash val="solid"/>
          </a:ln>
        </p:spPr>
      </p:sp>
      <p:sp>
        <p:nvSpPr>
          <p:cNvPr id="26" name="packaging-number"/>
          <p:cNvSpPr>
            <a:spLocks noGrp="1"/>
          </p:cNvSpPr>
          <p:nvPr/>
        </p:nvSpPr>
        <p:spPr>
          <a:xfrm>
            <a:off x="762000" y="43434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27" name="packaging-title"/>
          <p:cNvSpPr>
            <a:spLocks noGrp="1"/>
          </p:cNvSpPr>
          <p:nvPr/>
        </p:nvSpPr>
        <p:spPr>
          <a:xfrm>
            <a:off x="1143000" y="43243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smtClean="0">
                <a:solidFill>
                  <a:srgbClr val="252B31"/>
                </a:solidFill>
                <a:latin typeface="微软雅黑" panose="020B0503020204020204" charset="-122"/>
                <a:ea typeface="微软雅黑" panose="020B0503020204020204" charset="-122"/>
                <a:cs typeface="微软雅黑" panose="020B0503020204020204" charset="-122"/>
              </a:rPr>
              <a:t>Skill</a:t>
            </a:r>
            <a:r>
              <a:rPr lang="zh-CN" altLang="en-US" sz="1425" b="1" dirty="0" smtClean="0">
                <a:solidFill>
                  <a:srgbClr val="252B31"/>
                </a:solidFill>
                <a:latin typeface="微软雅黑" panose="020B0503020204020204" charset="-122"/>
                <a:ea typeface="微软雅黑" panose="020B0503020204020204" charset="-122"/>
                <a:cs typeface="微软雅黑" panose="020B0503020204020204" charset="-122"/>
              </a:rPr>
              <a:t>封装</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8" name="packaging-subtitle"/>
          <p:cNvSpPr>
            <a:spLocks noGrp="1"/>
          </p:cNvSpPr>
          <p:nvPr/>
        </p:nvSpPr>
        <p:spPr>
          <a:xfrm>
            <a:off x="762000" y="45910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从 Workflow 封装成完整 Skill</a:t>
            </a:r>
          </a:p>
        </p:txBody>
      </p:sp>
      <p:sp>
        <p:nvSpPr>
          <p:cNvPr id="29" name="evaluation-band"/>
          <p:cNvSpPr>
            <a:spLocks noGrp="1"/>
          </p:cNvSpPr>
          <p:nvPr/>
        </p:nvSpPr>
        <p:spPr>
          <a:xfrm>
            <a:off x="609600" y="5581650"/>
            <a:ext cx="7886700" cy="514350"/>
          </a:xfrm>
          <a:prstGeom prst="rect">
            <a:avLst/>
          </a:prstGeom>
          <a:solidFill>
            <a:srgbClr val="FFFFFF"/>
          </a:solidFill>
          <a:ln w="9525">
            <a:solidFill>
              <a:srgbClr val="D8DEE3"/>
            </a:solidFill>
            <a:prstDash val="solid"/>
          </a:ln>
        </p:spPr>
      </p:sp>
      <p:sp>
        <p:nvSpPr>
          <p:cNvPr id="30" name="evaluation-accent"/>
          <p:cNvSpPr>
            <a:spLocks noGrp="1"/>
          </p:cNvSpPr>
          <p:nvPr/>
        </p:nvSpPr>
        <p:spPr>
          <a:xfrm>
            <a:off x="609600" y="5581650"/>
            <a:ext cx="28575" cy="514350"/>
          </a:xfrm>
          <a:prstGeom prst="rect">
            <a:avLst/>
          </a:prstGeom>
          <a:solidFill>
            <a:srgbClr val="557A96"/>
          </a:solidFill>
          <a:ln w="0">
            <a:noFill/>
            <a:prstDash val="solid"/>
          </a:ln>
        </p:spPr>
      </p:sp>
      <p:sp>
        <p:nvSpPr>
          <p:cNvPr id="31" name="evaluation-number"/>
          <p:cNvSpPr>
            <a:spLocks noGrp="1"/>
          </p:cNvSpPr>
          <p:nvPr/>
        </p:nvSpPr>
        <p:spPr>
          <a:xfrm>
            <a:off x="762000" y="565785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32" name="evaluation-title"/>
          <p:cNvSpPr>
            <a:spLocks noGrp="1"/>
          </p:cNvSpPr>
          <p:nvPr/>
        </p:nvSpPr>
        <p:spPr>
          <a:xfrm>
            <a:off x="1143000" y="563880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Evaluation</a:t>
            </a:r>
          </a:p>
        </p:txBody>
      </p:sp>
      <p:sp>
        <p:nvSpPr>
          <p:cNvPr id="33" name="evaluation-subtitle"/>
          <p:cNvSpPr>
            <a:spLocks noGrp="1"/>
          </p:cNvSpPr>
          <p:nvPr/>
        </p:nvSpPr>
        <p:spPr>
          <a:xfrm>
            <a:off x="762000" y="590550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真实任务验证</a:t>
            </a:r>
          </a:p>
        </p:txBody>
      </p:sp>
      <p:sp>
        <p:nvSpPr>
          <p:cNvPr id="34" name="task-input-output-line"/>
          <p:cNvSpPr>
            <a:spLocks noGrp="1"/>
          </p:cNvSpPr>
          <p:nvPr/>
        </p:nvSpPr>
        <p:spPr>
          <a:xfrm>
            <a:off x="3714750" y="1819275"/>
            <a:ext cx="2514600" cy="0"/>
          </a:xfrm>
          <a:prstGeom prst="line">
            <a:avLst/>
          </a:prstGeom>
          <a:noFill/>
          <a:ln w="12383">
            <a:solidFill>
              <a:srgbClr val="557A96"/>
            </a:solidFill>
            <a:prstDash val="solid"/>
          </a:ln>
        </p:spPr>
      </p:sp>
      <p:sp>
        <p:nvSpPr>
          <p:cNvPr id="35" name="task-input-output-arrow"/>
          <p:cNvSpPr>
            <a:spLocks noGrp="1"/>
          </p:cNvSpPr>
          <p:nvPr/>
        </p:nvSpPr>
        <p:spPr>
          <a:xfrm rot="5400000">
            <a:off x="6191250" y="1781175"/>
            <a:ext cx="76200" cy="76200"/>
          </a:xfrm>
          <a:prstGeom prst="triangle">
            <a:avLst/>
          </a:prstGeom>
          <a:solidFill>
            <a:srgbClr val="557A96"/>
          </a:solidFill>
          <a:ln w="0">
            <a:solidFill>
              <a:srgbClr val="557A96"/>
            </a:solidFill>
            <a:prstDash val="solid"/>
          </a:ln>
        </p:spPr>
      </p:sp>
      <p:sp>
        <p:nvSpPr>
          <p:cNvPr id="36" name="task-input-box"/>
          <p:cNvSpPr>
            <a:spLocks noGrp="1"/>
          </p:cNvSpPr>
          <p:nvPr/>
        </p:nvSpPr>
        <p:spPr>
          <a:xfrm>
            <a:off x="3067050" y="1676400"/>
            <a:ext cx="647700" cy="285750"/>
          </a:xfrm>
          <a:prstGeom prst="roundRect">
            <a:avLst>
              <a:gd name="adj" fmla="val 13333"/>
            </a:avLst>
          </a:prstGeom>
          <a:solidFill>
            <a:srgbClr val="F7F9FA"/>
          </a:solidFill>
          <a:ln w="9525">
            <a:solidFill>
              <a:srgbClr val="7F9DB2"/>
            </a:solidFill>
            <a:prstDash val="solid"/>
          </a:ln>
        </p:spPr>
      </p:sp>
      <p:sp>
        <p:nvSpPr>
          <p:cNvPr id="37" name="task-input-text"/>
          <p:cNvSpPr>
            <a:spLocks noGrp="1"/>
          </p:cNvSpPr>
          <p:nvPr/>
        </p:nvSpPr>
        <p:spPr>
          <a:xfrm>
            <a:off x="3095625" y="1695450"/>
            <a:ext cx="5905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38" name="task-output-box"/>
          <p:cNvSpPr>
            <a:spLocks noGrp="1"/>
          </p:cNvSpPr>
          <p:nvPr/>
        </p:nvSpPr>
        <p:spPr>
          <a:xfrm>
            <a:off x="6267450" y="1676400"/>
            <a:ext cx="723900" cy="285750"/>
          </a:xfrm>
          <a:prstGeom prst="roundRect">
            <a:avLst>
              <a:gd name="adj" fmla="val 13333"/>
            </a:avLst>
          </a:prstGeom>
          <a:solidFill>
            <a:srgbClr val="F7F9FA"/>
          </a:solidFill>
          <a:ln w="9525">
            <a:solidFill>
              <a:srgbClr val="7F9DB2"/>
            </a:solidFill>
            <a:prstDash val="solid"/>
          </a:ln>
        </p:spPr>
      </p:sp>
      <p:sp>
        <p:nvSpPr>
          <p:cNvPr id="39" name="task-output-text"/>
          <p:cNvSpPr>
            <a:spLocks noGrp="1"/>
          </p:cNvSpPr>
          <p:nvPr/>
        </p:nvSpPr>
        <p:spPr>
          <a:xfrm>
            <a:off x="6296025" y="1695450"/>
            <a:ext cx="6667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41" name="basic-line-0"/>
          <p:cNvSpPr>
            <a:spLocks noGrp="1"/>
          </p:cNvSpPr>
          <p:nvPr/>
        </p:nvSpPr>
        <p:spPr>
          <a:xfrm>
            <a:off x="3505200" y="2552700"/>
            <a:ext cx="209550" cy="0"/>
          </a:xfrm>
          <a:prstGeom prst="line">
            <a:avLst/>
          </a:prstGeom>
          <a:noFill/>
          <a:ln w="11430">
            <a:solidFill>
              <a:srgbClr val="557A96"/>
            </a:solidFill>
            <a:prstDash val="solid"/>
          </a:ln>
        </p:spPr>
      </p:sp>
      <p:sp>
        <p:nvSpPr>
          <p:cNvPr id="42" name="basic-arrow-0"/>
          <p:cNvSpPr>
            <a:spLocks noGrp="1"/>
          </p:cNvSpPr>
          <p:nvPr/>
        </p:nvSpPr>
        <p:spPr>
          <a:xfrm rot="5400000">
            <a:off x="3667125" y="2514600"/>
            <a:ext cx="76200" cy="76200"/>
          </a:xfrm>
          <a:prstGeom prst="triangle">
            <a:avLst/>
          </a:prstGeom>
          <a:solidFill>
            <a:srgbClr val="557A96"/>
          </a:solidFill>
          <a:ln w="0">
            <a:solidFill>
              <a:srgbClr val="557A96"/>
            </a:solidFill>
            <a:prstDash val="solid"/>
          </a:ln>
        </p:spPr>
      </p:sp>
      <p:sp>
        <p:nvSpPr>
          <p:cNvPr id="43" name="basic-line-1"/>
          <p:cNvSpPr>
            <a:spLocks noGrp="1"/>
          </p:cNvSpPr>
          <p:nvPr/>
        </p:nvSpPr>
        <p:spPr>
          <a:xfrm>
            <a:off x="4381500" y="2552700"/>
            <a:ext cx="209550" cy="0"/>
          </a:xfrm>
          <a:prstGeom prst="line">
            <a:avLst/>
          </a:prstGeom>
          <a:noFill/>
          <a:ln w="11430">
            <a:solidFill>
              <a:srgbClr val="557A96"/>
            </a:solidFill>
            <a:prstDash val="solid"/>
          </a:ln>
        </p:spPr>
      </p:sp>
      <p:sp>
        <p:nvSpPr>
          <p:cNvPr id="44" name="basic-arrow-1"/>
          <p:cNvSpPr>
            <a:spLocks noGrp="1"/>
          </p:cNvSpPr>
          <p:nvPr/>
        </p:nvSpPr>
        <p:spPr>
          <a:xfrm rot="5400000">
            <a:off x="4543425" y="2514600"/>
            <a:ext cx="76200" cy="76200"/>
          </a:xfrm>
          <a:prstGeom prst="triangle">
            <a:avLst/>
          </a:prstGeom>
          <a:solidFill>
            <a:srgbClr val="557A96"/>
          </a:solidFill>
          <a:ln w="0">
            <a:solidFill>
              <a:srgbClr val="557A96"/>
            </a:solidFill>
            <a:prstDash val="solid"/>
          </a:ln>
        </p:spPr>
      </p:sp>
      <p:sp>
        <p:nvSpPr>
          <p:cNvPr id="45" name="basic-line-2"/>
          <p:cNvSpPr>
            <a:spLocks noGrp="1"/>
          </p:cNvSpPr>
          <p:nvPr/>
        </p:nvSpPr>
        <p:spPr>
          <a:xfrm>
            <a:off x="5257800" y="2552700"/>
            <a:ext cx="209550" cy="0"/>
          </a:xfrm>
          <a:prstGeom prst="line">
            <a:avLst/>
          </a:prstGeom>
          <a:noFill/>
          <a:ln w="11430">
            <a:solidFill>
              <a:srgbClr val="557A96"/>
            </a:solidFill>
            <a:prstDash val="solid"/>
          </a:ln>
        </p:spPr>
      </p:sp>
      <p:sp>
        <p:nvSpPr>
          <p:cNvPr id="46" name="basic-arrow-2"/>
          <p:cNvSpPr>
            <a:spLocks noGrp="1"/>
          </p:cNvSpPr>
          <p:nvPr/>
        </p:nvSpPr>
        <p:spPr>
          <a:xfrm rot="5400000">
            <a:off x="5419725" y="2514600"/>
            <a:ext cx="76200" cy="76200"/>
          </a:xfrm>
          <a:prstGeom prst="triangle">
            <a:avLst/>
          </a:prstGeom>
          <a:solidFill>
            <a:srgbClr val="557A96"/>
          </a:solidFill>
          <a:ln w="0">
            <a:solidFill>
              <a:srgbClr val="557A96"/>
            </a:solidFill>
            <a:prstDash val="solid"/>
          </a:ln>
        </p:spPr>
      </p:sp>
      <p:sp>
        <p:nvSpPr>
          <p:cNvPr id="47" name="basic-line-3"/>
          <p:cNvSpPr>
            <a:spLocks noGrp="1"/>
          </p:cNvSpPr>
          <p:nvPr/>
        </p:nvSpPr>
        <p:spPr>
          <a:xfrm>
            <a:off x="6134100" y="2552700"/>
            <a:ext cx="209550" cy="0"/>
          </a:xfrm>
          <a:prstGeom prst="line">
            <a:avLst/>
          </a:prstGeom>
          <a:noFill/>
          <a:ln w="11430">
            <a:solidFill>
              <a:srgbClr val="557A96"/>
            </a:solidFill>
            <a:prstDash val="solid"/>
          </a:ln>
        </p:spPr>
      </p:sp>
      <p:sp>
        <p:nvSpPr>
          <p:cNvPr id="48" name="basic-arrow-3"/>
          <p:cNvSpPr>
            <a:spLocks noGrp="1"/>
          </p:cNvSpPr>
          <p:nvPr/>
        </p:nvSpPr>
        <p:spPr>
          <a:xfrm rot="5400000">
            <a:off x="6296025" y="2514600"/>
            <a:ext cx="76200" cy="76200"/>
          </a:xfrm>
          <a:prstGeom prst="triangle">
            <a:avLst/>
          </a:prstGeom>
          <a:solidFill>
            <a:srgbClr val="557A96"/>
          </a:solidFill>
          <a:ln w="0">
            <a:solidFill>
              <a:srgbClr val="557A96"/>
            </a:solidFill>
            <a:prstDash val="solid"/>
          </a:ln>
        </p:spPr>
      </p:sp>
      <p:sp>
        <p:nvSpPr>
          <p:cNvPr id="49" name="basic-input-box"/>
          <p:cNvSpPr>
            <a:spLocks noGrp="1"/>
          </p:cNvSpPr>
          <p:nvPr/>
        </p:nvSpPr>
        <p:spPr>
          <a:xfrm>
            <a:off x="2952750" y="2409825"/>
            <a:ext cx="552450" cy="285750"/>
          </a:xfrm>
          <a:prstGeom prst="roundRect">
            <a:avLst>
              <a:gd name="adj" fmla="val 13333"/>
            </a:avLst>
          </a:prstGeom>
          <a:solidFill>
            <a:srgbClr val="F7F9FA"/>
          </a:solidFill>
          <a:ln w="9525">
            <a:solidFill>
              <a:srgbClr val="7F9DB2"/>
            </a:solidFill>
            <a:prstDash val="solid"/>
          </a:ln>
        </p:spPr>
      </p:sp>
      <p:sp>
        <p:nvSpPr>
          <p:cNvPr id="50" name="basic-input-text"/>
          <p:cNvSpPr>
            <a:spLocks noGrp="1"/>
          </p:cNvSpPr>
          <p:nvPr/>
        </p:nvSpPr>
        <p:spPr>
          <a:xfrm>
            <a:off x="2981325" y="2428875"/>
            <a:ext cx="4953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51" name="basic-stage-a-box"/>
          <p:cNvSpPr>
            <a:spLocks noGrp="1"/>
          </p:cNvSpPr>
          <p:nvPr/>
        </p:nvSpPr>
        <p:spPr>
          <a:xfrm>
            <a:off x="3714750" y="2409825"/>
            <a:ext cx="666750" cy="285750"/>
          </a:xfrm>
          <a:prstGeom prst="roundRect">
            <a:avLst>
              <a:gd name="adj" fmla="val 13333"/>
            </a:avLst>
          </a:prstGeom>
          <a:solidFill>
            <a:srgbClr val="F7F9FA"/>
          </a:solidFill>
          <a:ln w="9525">
            <a:solidFill>
              <a:srgbClr val="7F9DB2"/>
            </a:solidFill>
            <a:prstDash val="solid"/>
          </a:ln>
        </p:spPr>
      </p:sp>
      <p:sp>
        <p:nvSpPr>
          <p:cNvPr id="52" name="basic-stage-a-text"/>
          <p:cNvSpPr>
            <a:spLocks noGrp="1"/>
          </p:cNvSpPr>
          <p:nvPr/>
        </p:nvSpPr>
        <p:spPr>
          <a:xfrm>
            <a:off x="37433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3" name="basic-stage-b-box"/>
          <p:cNvSpPr>
            <a:spLocks noGrp="1"/>
          </p:cNvSpPr>
          <p:nvPr/>
        </p:nvSpPr>
        <p:spPr>
          <a:xfrm>
            <a:off x="4591050" y="2409825"/>
            <a:ext cx="666750" cy="285750"/>
          </a:xfrm>
          <a:prstGeom prst="roundRect">
            <a:avLst>
              <a:gd name="adj" fmla="val 13333"/>
            </a:avLst>
          </a:prstGeom>
          <a:solidFill>
            <a:srgbClr val="F7F9FA"/>
          </a:solidFill>
          <a:ln w="9525">
            <a:solidFill>
              <a:srgbClr val="7F9DB2"/>
            </a:solidFill>
            <a:prstDash val="solid"/>
          </a:ln>
        </p:spPr>
      </p:sp>
      <p:sp>
        <p:nvSpPr>
          <p:cNvPr id="54" name="basic-stage-b-text"/>
          <p:cNvSpPr>
            <a:spLocks noGrp="1"/>
          </p:cNvSpPr>
          <p:nvPr/>
        </p:nvSpPr>
        <p:spPr>
          <a:xfrm>
            <a:off x="46196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55" name="basic-stage-c-box"/>
          <p:cNvSpPr>
            <a:spLocks noGrp="1"/>
          </p:cNvSpPr>
          <p:nvPr/>
        </p:nvSpPr>
        <p:spPr>
          <a:xfrm>
            <a:off x="5467350" y="2409825"/>
            <a:ext cx="666750" cy="285750"/>
          </a:xfrm>
          <a:prstGeom prst="roundRect">
            <a:avLst>
              <a:gd name="adj" fmla="val 13333"/>
            </a:avLst>
          </a:prstGeom>
          <a:solidFill>
            <a:srgbClr val="F7F9FA"/>
          </a:solidFill>
          <a:ln w="9525">
            <a:solidFill>
              <a:srgbClr val="7F9DB2"/>
            </a:solidFill>
            <a:prstDash val="solid"/>
          </a:ln>
        </p:spPr>
      </p:sp>
      <p:sp>
        <p:nvSpPr>
          <p:cNvPr id="56" name="basic-stage-c-text"/>
          <p:cNvSpPr>
            <a:spLocks noGrp="1"/>
          </p:cNvSpPr>
          <p:nvPr/>
        </p:nvSpPr>
        <p:spPr>
          <a:xfrm>
            <a:off x="54959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C</a:t>
            </a:r>
          </a:p>
        </p:txBody>
      </p:sp>
      <p:sp>
        <p:nvSpPr>
          <p:cNvPr id="57" name="basic-output-box"/>
          <p:cNvSpPr>
            <a:spLocks noGrp="1"/>
          </p:cNvSpPr>
          <p:nvPr/>
        </p:nvSpPr>
        <p:spPr>
          <a:xfrm>
            <a:off x="6343650" y="2409825"/>
            <a:ext cx="647700" cy="285750"/>
          </a:xfrm>
          <a:prstGeom prst="roundRect">
            <a:avLst>
              <a:gd name="adj" fmla="val 13333"/>
            </a:avLst>
          </a:prstGeom>
          <a:solidFill>
            <a:srgbClr val="F7F9FA"/>
          </a:solidFill>
          <a:ln w="9525">
            <a:solidFill>
              <a:srgbClr val="7F9DB2"/>
            </a:solidFill>
            <a:prstDash val="solid"/>
          </a:ln>
        </p:spPr>
      </p:sp>
      <p:sp>
        <p:nvSpPr>
          <p:cNvPr id="58" name="basic-output-text"/>
          <p:cNvSpPr>
            <a:spLocks noGrp="1"/>
          </p:cNvSpPr>
          <p:nvPr/>
        </p:nvSpPr>
        <p:spPr>
          <a:xfrm>
            <a:off x="6372225" y="2428875"/>
            <a:ext cx="5905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60" name="exec-line-0"/>
          <p:cNvSpPr>
            <a:spLocks noGrp="1"/>
          </p:cNvSpPr>
          <p:nvPr/>
        </p:nvSpPr>
        <p:spPr>
          <a:xfrm>
            <a:off x="3371850" y="3333750"/>
            <a:ext cx="190500" cy="0"/>
          </a:xfrm>
          <a:prstGeom prst="line">
            <a:avLst/>
          </a:prstGeom>
          <a:noFill/>
          <a:ln w="11430">
            <a:solidFill>
              <a:srgbClr val="557A96"/>
            </a:solidFill>
            <a:prstDash val="solid"/>
          </a:ln>
        </p:spPr>
      </p:sp>
      <p:sp>
        <p:nvSpPr>
          <p:cNvPr id="61" name="exec-arrow-0"/>
          <p:cNvSpPr>
            <a:spLocks noGrp="1"/>
          </p:cNvSpPr>
          <p:nvPr/>
        </p:nvSpPr>
        <p:spPr>
          <a:xfrm rot="5400000">
            <a:off x="3514725" y="3295650"/>
            <a:ext cx="76200" cy="76200"/>
          </a:xfrm>
          <a:prstGeom prst="triangle">
            <a:avLst/>
          </a:prstGeom>
          <a:solidFill>
            <a:srgbClr val="557A96"/>
          </a:solidFill>
          <a:ln w="0">
            <a:solidFill>
              <a:srgbClr val="557A96"/>
            </a:solidFill>
            <a:prstDash val="solid"/>
          </a:ln>
        </p:spPr>
      </p:sp>
      <p:sp>
        <p:nvSpPr>
          <p:cNvPr id="62" name="exec-line-1"/>
          <p:cNvSpPr>
            <a:spLocks noGrp="1"/>
          </p:cNvSpPr>
          <p:nvPr/>
        </p:nvSpPr>
        <p:spPr>
          <a:xfrm>
            <a:off x="4210050" y="3333750"/>
            <a:ext cx="190500" cy="0"/>
          </a:xfrm>
          <a:prstGeom prst="line">
            <a:avLst/>
          </a:prstGeom>
          <a:noFill/>
          <a:ln w="11430">
            <a:solidFill>
              <a:srgbClr val="557A96"/>
            </a:solidFill>
            <a:prstDash val="solid"/>
          </a:ln>
        </p:spPr>
      </p:sp>
      <p:sp>
        <p:nvSpPr>
          <p:cNvPr id="63" name="exec-arrow-1"/>
          <p:cNvSpPr>
            <a:spLocks noGrp="1"/>
          </p:cNvSpPr>
          <p:nvPr/>
        </p:nvSpPr>
        <p:spPr>
          <a:xfrm rot="5400000">
            <a:off x="4352925" y="3295650"/>
            <a:ext cx="76200" cy="76200"/>
          </a:xfrm>
          <a:prstGeom prst="triangle">
            <a:avLst/>
          </a:prstGeom>
          <a:solidFill>
            <a:srgbClr val="557A96"/>
          </a:solidFill>
          <a:ln w="0">
            <a:solidFill>
              <a:srgbClr val="557A96"/>
            </a:solidFill>
            <a:prstDash val="solid"/>
          </a:ln>
        </p:spPr>
      </p:sp>
      <p:sp>
        <p:nvSpPr>
          <p:cNvPr id="64" name="exec-line-2"/>
          <p:cNvSpPr>
            <a:spLocks noGrp="1"/>
          </p:cNvSpPr>
          <p:nvPr/>
        </p:nvSpPr>
        <p:spPr>
          <a:xfrm>
            <a:off x="5143500" y="3333750"/>
            <a:ext cx="190500" cy="0"/>
          </a:xfrm>
          <a:prstGeom prst="line">
            <a:avLst/>
          </a:prstGeom>
          <a:noFill/>
          <a:ln w="11430">
            <a:solidFill>
              <a:srgbClr val="557A96"/>
            </a:solidFill>
            <a:prstDash val="solid"/>
          </a:ln>
        </p:spPr>
      </p:sp>
      <p:sp>
        <p:nvSpPr>
          <p:cNvPr id="65" name="exec-arrow-2"/>
          <p:cNvSpPr>
            <a:spLocks noGrp="1"/>
          </p:cNvSpPr>
          <p:nvPr/>
        </p:nvSpPr>
        <p:spPr>
          <a:xfrm rot="5400000">
            <a:off x="5286375" y="3295650"/>
            <a:ext cx="76200" cy="76200"/>
          </a:xfrm>
          <a:prstGeom prst="triangle">
            <a:avLst/>
          </a:prstGeom>
          <a:solidFill>
            <a:srgbClr val="557A96"/>
          </a:solidFill>
          <a:ln w="0">
            <a:solidFill>
              <a:srgbClr val="557A96"/>
            </a:solidFill>
            <a:prstDash val="solid"/>
          </a:ln>
        </p:spPr>
      </p:sp>
      <p:sp>
        <p:nvSpPr>
          <p:cNvPr id="66" name="exec-line-3"/>
          <p:cNvSpPr>
            <a:spLocks noGrp="1"/>
          </p:cNvSpPr>
          <p:nvPr/>
        </p:nvSpPr>
        <p:spPr>
          <a:xfrm>
            <a:off x="5886450" y="3333750"/>
            <a:ext cx="571500" cy="0"/>
          </a:xfrm>
          <a:prstGeom prst="line">
            <a:avLst/>
          </a:prstGeom>
          <a:noFill/>
          <a:ln w="11430">
            <a:solidFill>
              <a:srgbClr val="557A96"/>
            </a:solidFill>
            <a:prstDash val="solid"/>
          </a:ln>
        </p:spPr>
      </p:sp>
      <p:sp>
        <p:nvSpPr>
          <p:cNvPr id="67" name="exec-arrow-3"/>
          <p:cNvSpPr>
            <a:spLocks noGrp="1"/>
          </p:cNvSpPr>
          <p:nvPr/>
        </p:nvSpPr>
        <p:spPr>
          <a:xfrm rot="5400000">
            <a:off x="6410325" y="3295650"/>
            <a:ext cx="76200" cy="76200"/>
          </a:xfrm>
          <a:prstGeom prst="triangle">
            <a:avLst/>
          </a:prstGeom>
          <a:solidFill>
            <a:srgbClr val="557A96"/>
          </a:solidFill>
          <a:ln w="0">
            <a:solidFill>
              <a:srgbClr val="557A96"/>
            </a:solidFill>
            <a:prstDash val="solid"/>
          </a:ln>
        </p:spPr>
      </p:sp>
      <p:sp>
        <p:nvSpPr>
          <p:cNvPr id="68" name="exec-line-4"/>
          <p:cNvSpPr>
            <a:spLocks noGrp="1"/>
          </p:cNvSpPr>
          <p:nvPr/>
        </p:nvSpPr>
        <p:spPr>
          <a:xfrm>
            <a:off x="7105650" y="3333750"/>
            <a:ext cx="190500" cy="0"/>
          </a:xfrm>
          <a:prstGeom prst="line">
            <a:avLst/>
          </a:prstGeom>
          <a:noFill/>
          <a:ln w="11430">
            <a:solidFill>
              <a:srgbClr val="557A96"/>
            </a:solidFill>
            <a:prstDash val="solid"/>
          </a:ln>
        </p:spPr>
      </p:sp>
      <p:sp>
        <p:nvSpPr>
          <p:cNvPr id="69" name="exec-arrow-4"/>
          <p:cNvSpPr>
            <a:spLocks noGrp="1"/>
          </p:cNvSpPr>
          <p:nvPr/>
        </p:nvSpPr>
        <p:spPr>
          <a:xfrm rot="5400000">
            <a:off x="7248525" y="3295650"/>
            <a:ext cx="76200" cy="76200"/>
          </a:xfrm>
          <a:prstGeom prst="triangle">
            <a:avLst/>
          </a:prstGeom>
          <a:solidFill>
            <a:srgbClr val="557A96"/>
          </a:solidFill>
          <a:ln w="0">
            <a:solidFill>
              <a:srgbClr val="557A96"/>
            </a:solidFill>
            <a:prstDash val="solid"/>
          </a:ln>
        </p:spPr>
      </p:sp>
      <p:sp>
        <p:nvSpPr>
          <p:cNvPr id="70" name="gate-fail-line"/>
          <p:cNvSpPr>
            <a:spLocks noGrp="1"/>
          </p:cNvSpPr>
          <p:nvPr/>
        </p:nvSpPr>
        <p:spPr>
          <a:xfrm>
            <a:off x="5610225" y="3476625"/>
            <a:ext cx="0" cy="142875"/>
          </a:xfrm>
          <a:prstGeom prst="line">
            <a:avLst/>
          </a:prstGeom>
          <a:noFill/>
          <a:ln w="11430">
            <a:solidFill>
              <a:srgbClr val="557A96"/>
            </a:solidFill>
            <a:prstDash val="solid"/>
          </a:ln>
        </p:spPr>
      </p:sp>
      <p:sp>
        <p:nvSpPr>
          <p:cNvPr id="71" name="gate-fail-arrow"/>
          <p:cNvSpPr>
            <a:spLocks noGrp="1"/>
          </p:cNvSpPr>
          <p:nvPr/>
        </p:nvSpPr>
        <p:spPr>
          <a:xfrm rot="10800000">
            <a:off x="5572125" y="3581400"/>
            <a:ext cx="76200" cy="76200"/>
          </a:xfrm>
          <a:prstGeom prst="triangle">
            <a:avLst/>
          </a:prstGeom>
          <a:solidFill>
            <a:srgbClr val="557A96"/>
          </a:solidFill>
          <a:ln w="0">
            <a:solidFill>
              <a:srgbClr val="557A96"/>
            </a:solidFill>
            <a:prstDash val="solid"/>
          </a:ln>
        </p:spPr>
      </p:sp>
      <p:sp>
        <p:nvSpPr>
          <p:cNvPr id="72" name="exec-input-box"/>
          <p:cNvSpPr>
            <a:spLocks noGrp="1"/>
          </p:cNvSpPr>
          <p:nvPr/>
        </p:nvSpPr>
        <p:spPr>
          <a:xfrm>
            <a:off x="2857500" y="3190875"/>
            <a:ext cx="514350" cy="285750"/>
          </a:xfrm>
          <a:prstGeom prst="roundRect">
            <a:avLst>
              <a:gd name="adj" fmla="val 13333"/>
            </a:avLst>
          </a:prstGeom>
          <a:solidFill>
            <a:srgbClr val="F7F9FA"/>
          </a:solidFill>
          <a:ln w="9525">
            <a:solidFill>
              <a:srgbClr val="7F9DB2"/>
            </a:solidFill>
            <a:prstDash val="solid"/>
          </a:ln>
        </p:spPr>
      </p:sp>
      <p:sp>
        <p:nvSpPr>
          <p:cNvPr id="73" name="exec-input-text"/>
          <p:cNvSpPr>
            <a:spLocks noGrp="1"/>
          </p:cNvSpPr>
          <p:nvPr/>
        </p:nvSpPr>
        <p:spPr>
          <a:xfrm>
            <a:off x="2886075" y="3209925"/>
            <a:ext cx="457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74" name="exec-stage-a-box"/>
          <p:cNvSpPr>
            <a:spLocks noGrp="1"/>
          </p:cNvSpPr>
          <p:nvPr/>
        </p:nvSpPr>
        <p:spPr>
          <a:xfrm>
            <a:off x="3562350" y="3190875"/>
            <a:ext cx="647700" cy="285750"/>
          </a:xfrm>
          <a:prstGeom prst="roundRect">
            <a:avLst>
              <a:gd name="adj" fmla="val 13333"/>
            </a:avLst>
          </a:prstGeom>
          <a:solidFill>
            <a:srgbClr val="F7F9FA"/>
          </a:solidFill>
          <a:ln w="9525">
            <a:solidFill>
              <a:srgbClr val="7F9DB2"/>
            </a:solidFill>
            <a:prstDash val="solid"/>
          </a:ln>
        </p:spPr>
      </p:sp>
      <p:sp>
        <p:nvSpPr>
          <p:cNvPr id="75" name="exec-stage-a-text"/>
          <p:cNvSpPr>
            <a:spLocks noGrp="1"/>
          </p:cNvSpPr>
          <p:nvPr/>
        </p:nvSpPr>
        <p:spPr>
          <a:xfrm>
            <a:off x="35909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6" name="exec-artifact-box"/>
          <p:cNvSpPr>
            <a:spLocks noGrp="1"/>
          </p:cNvSpPr>
          <p:nvPr/>
        </p:nvSpPr>
        <p:spPr>
          <a:xfrm>
            <a:off x="4400550" y="3190875"/>
            <a:ext cx="742950" cy="285750"/>
          </a:xfrm>
          <a:prstGeom prst="roundRect">
            <a:avLst>
              <a:gd name="adj" fmla="val 13333"/>
            </a:avLst>
          </a:prstGeom>
          <a:solidFill>
            <a:srgbClr val="F2F6F8"/>
          </a:solidFill>
          <a:ln w="9525">
            <a:solidFill>
              <a:srgbClr val="7F9DB2"/>
            </a:solidFill>
            <a:prstDash val="solid"/>
          </a:ln>
        </p:spPr>
      </p:sp>
      <p:sp>
        <p:nvSpPr>
          <p:cNvPr id="77" name="exec-artifact-text"/>
          <p:cNvSpPr>
            <a:spLocks noGrp="1"/>
          </p:cNvSpPr>
          <p:nvPr/>
        </p:nvSpPr>
        <p:spPr>
          <a:xfrm>
            <a:off x="4429125" y="3209925"/>
            <a:ext cx="685800" cy="247650"/>
          </a:xfrm>
          <a:prstGeom prst="rect">
            <a:avLst/>
          </a:prstGeom>
          <a:noFill/>
          <a:ln w="0">
            <a:noFill/>
            <a:prstDash val="solid"/>
          </a:ln>
        </p:spPr>
        <p:txBody>
          <a:bodyPr wrap="none" lIns="0" tIns="0" rIns="0" bIns="0" anchor="ctr">
            <a:normAutofit/>
          </a:bodyPr>
          <a:lstStyle/>
          <a:p>
            <a:pPr algn="ctr">
              <a:defRPr sz="930" b="1">
                <a:solidFill>
                  <a:srgbClr val="557A96"/>
                </a:solidFill>
                <a:latin typeface="微软雅黑" panose="020B0503020204020204" charset="-122"/>
                <a:ea typeface="微软雅黑" panose="020B0503020204020204" charset="-122"/>
                <a:cs typeface="微软雅黑" panose="020B0503020204020204" charset="-122"/>
              </a:defRPr>
            </a:pPr>
            <a:r>
              <a:rPr sz="930"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8" name="exec-gate-box"/>
          <p:cNvSpPr>
            <a:spLocks noGrp="1"/>
          </p:cNvSpPr>
          <p:nvPr/>
        </p:nvSpPr>
        <p:spPr>
          <a:xfrm>
            <a:off x="5334000" y="3190875"/>
            <a:ext cx="552450" cy="285750"/>
          </a:xfrm>
          <a:prstGeom prst="roundRect">
            <a:avLst>
              <a:gd name="adj" fmla="val 13333"/>
            </a:avLst>
          </a:prstGeom>
          <a:solidFill>
            <a:srgbClr val="F2F6F8"/>
          </a:solidFill>
          <a:ln w="9525">
            <a:solidFill>
              <a:srgbClr val="7F9DB2"/>
            </a:solidFill>
            <a:prstDash val="solid"/>
          </a:ln>
        </p:spPr>
      </p:sp>
      <p:sp>
        <p:nvSpPr>
          <p:cNvPr id="79" name="exec-gate-text"/>
          <p:cNvSpPr>
            <a:spLocks noGrp="1"/>
          </p:cNvSpPr>
          <p:nvPr/>
        </p:nvSpPr>
        <p:spPr>
          <a:xfrm>
            <a:off x="5362575" y="3209925"/>
            <a:ext cx="495300" cy="2476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exec-stage-b-box"/>
          <p:cNvSpPr>
            <a:spLocks noGrp="1"/>
          </p:cNvSpPr>
          <p:nvPr/>
        </p:nvSpPr>
        <p:spPr>
          <a:xfrm>
            <a:off x="6457950" y="3190875"/>
            <a:ext cx="647700" cy="285750"/>
          </a:xfrm>
          <a:prstGeom prst="roundRect">
            <a:avLst>
              <a:gd name="adj" fmla="val 13333"/>
            </a:avLst>
          </a:prstGeom>
          <a:solidFill>
            <a:srgbClr val="F7F9FA"/>
          </a:solidFill>
          <a:ln w="9525">
            <a:solidFill>
              <a:srgbClr val="7F9DB2"/>
            </a:solidFill>
            <a:prstDash val="solid"/>
          </a:ln>
        </p:spPr>
      </p:sp>
      <p:sp>
        <p:nvSpPr>
          <p:cNvPr id="81" name="exec-stage-b-text"/>
          <p:cNvSpPr>
            <a:spLocks noGrp="1"/>
          </p:cNvSpPr>
          <p:nvPr/>
        </p:nvSpPr>
        <p:spPr>
          <a:xfrm>
            <a:off x="64865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82" name="exec-output-box"/>
          <p:cNvSpPr>
            <a:spLocks noGrp="1"/>
          </p:cNvSpPr>
          <p:nvPr/>
        </p:nvSpPr>
        <p:spPr>
          <a:xfrm>
            <a:off x="7296150" y="3190875"/>
            <a:ext cx="628650" cy="285750"/>
          </a:xfrm>
          <a:prstGeom prst="roundRect">
            <a:avLst>
              <a:gd name="adj" fmla="val 13333"/>
            </a:avLst>
          </a:prstGeom>
          <a:solidFill>
            <a:srgbClr val="F7F9FA"/>
          </a:solidFill>
          <a:ln w="9525">
            <a:solidFill>
              <a:srgbClr val="7F9DB2"/>
            </a:solidFill>
            <a:prstDash val="solid"/>
          </a:ln>
        </p:spPr>
      </p:sp>
      <p:sp>
        <p:nvSpPr>
          <p:cNvPr id="83" name="exec-output-text"/>
          <p:cNvSpPr>
            <a:spLocks noGrp="1"/>
          </p:cNvSpPr>
          <p:nvPr/>
        </p:nvSpPr>
        <p:spPr>
          <a:xfrm>
            <a:off x="7324725" y="3209925"/>
            <a:ext cx="5715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84" name="exec-fail-box"/>
          <p:cNvSpPr>
            <a:spLocks noGrp="1"/>
          </p:cNvSpPr>
          <p:nvPr/>
        </p:nvSpPr>
        <p:spPr>
          <a:xfrm>
            <a:off x="5238750" y="3629025"/>
            <a:ext cx="742950" cy="238125"/>
          </a:xfrm>
          <a:prstGeom prst="roundRect">
            <a:avLst>
              <a:gd name="adj" fmla="val 16000"/>
            </a:avLst>
          </a:prstGeom>
          <a:solidFill>
            <a:srgbClr val="F7F9FA"/>
          </a:solidFill>
          <a:ln w="9525">
            <a:solidFill>
              <a:srgbClr val="7F9DB2"/>
            </a:solidFill>
            <a:prstDash val="solid"/>
          </a:ln>
        </p:spPr>
      </p:sp>
      <p:sp>
        <p:nvSpPr>
          <p:cNvPr id="85" name="exec-fail-text"/>
          <p:cNvSpPr>
            <a:spLocks noGrp="1"/>
          </p:cNvSpPr>
          <p:nvPr/>
        </p:nvSpPr>
        <p:spPr>
          <a:xfrm>
            <a:off x="5267325" y="3648075"/>
            <a:ext cx="685800" cy="200025"/>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FAIL  ↺</a:t>
            </a:r>
          </a:p>
        </p:txBody>
      </p:sp>
      <p:sp>
        <p:nvSpPr>
          <p:cNvPr id="86" name="exec-pass"/>
          <p:cNvSpPr>
            <a:spLocks noGrp="1"/>
          </p:cNvSpPr>
          <p:nvPr/>
        </p:nvSpPr>
        <p:spPr>
          <a:xfrm>
            <a:off x="5962650" y="3124200"/>
            <a:ext cx="457200" cy="171450"/>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88" name="exec-failure-caption"/>
          <p:cNvSpPr>
            <a:spLocks noGrp="1"/>
          </p:cNvSpPr>
          <p:nvPr/>
        </p:nvSpPr>
        <p:spPr>
          <a:xfrm>
            <a:off x="6057900" y="3648075"/>
            <a:ext cx="1123950" cy="200025"/>
          </a:xfrm>
          <a:prstGeom prst="rect">
            <a:avLst/>
          </a:prstGeom>
          <a:noFill/>
          <a:ln w="0">
            <a:noFill/>
            <a:prstDash val="solid"/>
          </a:ln>
        </p:spPr>
        <p:txBody>
          <a:bodyPr wrap="none" lIns="0" tIns="0" rIns="0" bIns="0" anchor="ctr">
            <a:normAutofit/>
          </a:bodyPr>
          <a:lstStyle/>
          <a:p>
            <a:pPr algn="l">
              <a:defRPr sz="940" b="1">
                <a:solidFill>
                  <a:srgbClr val="68727B"/>
                </a:solidFill>
                <a:latin typeface="微软雅黑" panose="020B0503020204020204" charset="-122"/>
                <a:ea typeface="微软雅黑" panose="020B0503020204020204" charset="-122"/>
                <a:cs typeface="微软雅黑" panose="020B0503020204020204" charset="-122"/>
              </a:defRPr>
            </a:pPr>
            <a:r>
              <a:rPr sz="940" b="1">
                <a:solidFill>
                  <a:srgbClr val="68727B"/>
                </a:solidFill>
                <a:latin typeface="微软雅黑" panose="020B0503020204020204" charset="-122"/>
                <a:ea typeface="微软雅黑" panose="020B0503020204020204" charset="-122"/>
                <a:cs typeface="微软雅黑" panose="020B0503020204020204" charset="-122"/>
              </a:rPr>
              <a:t>Retry / Fallback</a:t>
            </a:r>
          </a:p>
        </p:txBody>
      </p:sp>
      <p:sp>
        <p:nvSpPr>
          <p:cNvPr id="89" name="minimum-workflow-band"/>
          <p:cNvSpPr>
            <a:spLocks noGrp="1"/>
          </p:cNvSpPr>
          <p:nvPr/>
        </p:nvSpPr>
        <p:spPr>
          <a:xfrm>
            <a:off x="2857500" y="3914775"/>
            <a:ext cx="5067300" cy="219075"/>
          </a:xfrm>
          <a:prstGeom prst="rect">
            <a:avLst/>
          </a:prstGeom>
          <a:solidFill>
            <a:srgbClr val="F2F6F8"/>
          </a:solidFill>
          <a:ln w="0">
            <a:noFill/>
            <a:prstDash val="solid"/>
          </a:ln>
        </p:spPr>
      </p:sp>
      <p:sp>
        <p:nvSpPr>
          <p:cNvPr id="90" name="minimum-workflow"/>
          <p:cNvSpPr>
            <a:spLocks noGrp="1"/>
          </p:cNvSpPr>
          <p:nvPr/>
        </p:nvSpPr>
        <p:spPr>
          <a:xfrm>
            <a:off x="3000375" y="3924300"/>
            <a:ext cx="4781550" cy="200025"/>
          </a:xfrm>
          <a:prstGeom prst="rect">
            <a:avLst/>
          </a:prstGeom>
          <a:noFill/>
          <a:ln w="0">
            <a:noFill/>
            <a:prstDash val="solid"/>
          </a:ln>
        </p:spPr>
        <p:txBody>
          <a:bodyPr wrap="none" lIns="0" tIns="0" rIns="0" bIns="0" anchor="ctr">
            <a:normAutofit/>
          </a:bodyPr>
          <a:lstStyle/>
          <a:p>
            <a:pPr algn="ctr">
              <a:defRPr sz="100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05" b="1" dirty="0" smtClean="0">
                <a:solidFill>
                  <a:srgbClr val="FF0000"/>
                </a:solidFill>
                <a:latin typeface="微软雅黑" panose="020B0503020204020204" charset="-122"/>
                <a:ea typeface="微软雅黑" panose="020B0503020204020204" charset="-122"/>
                <a:cs typeface="微软雅黑" panose="020B0503020204020204" charset="-122"/>
              </a:rPr>
              <a:t>形成</a:t>
            </a:r>
            <a:r>
              <a:rPr sz="1005" b="1" dirty="0" err="1" smtClean="0">
                <a:solidFill>
                  <a:srgbClr val="FF0000"/>
                </a:solidFill>
                <a:latin typeface="微软雅黑" panose="020B0503020204020204" charset="-122"/>
                <a:ea typeface="微软雅黑" panose="020B0503020204020204" charset="-122"/>
                <a:cs typeface="微软雅黑" panose="020B0503020204020204" charset="-122"/>
              </a:rPr>
              <a:t>最小可运行</a:t>
            </a:r>
            <a:r>
              <a:rPr sz="1005" b="1" dirty="0" smtClean="0">
                <a:solidFill>
                  <a:srgbClr val="FF0000"/>
                </a:solidFill>
                <a:latin typeface="微软雅黑" panose="020B0503020204020204" charset="-122"/>
                <a:ea typeface="微软雅黑" panose="020B0503020204020204" charset="-122"/>
                <a:cs typeface="微软雅黑" panose="020B0503020204020204" charset="-122"/>
              </a:rPr>
              <a:t> </a:t>
            </a:r>
            <a:r>
              <a:rPr sz="1005" b="1" dirty="0">
                <a:solidFill>
                  <a:srgbClr val="FF0000"/>
                </a:solidFill>
                <a:latin typeface="微软雅黑" panose="020B0503020204020204" charset="-122"/>
                <a:ea typeface="微软雅黑" panose="020B0503020204020204" charset="-122"/>
                <a:cs typeface="微软雅黑" panose="020B0503020204020204" charset="-122"/>
              </a:rPr>
              <a:t>Workflow</a:t>
            </a:r>
          </a:p>
        </p:txBody>
      </p:sp>
      <p:sp>
        <p:nvSpPr>
          <p:cNvPr id="91" name="base-to-branches"/>
          <p:cNvSpPr>
            <a:spLocks noGrp="1"/>
          </p:cNvSpPr>
          <p:nvPr/>
        </p:nvSpPr>
        <p:spPr>
          <a:xfrm>
            <a:off x="5448300" y="4600575"/>
            <a:ext cx="0" cy="161925"/>
          </a:xfrm>
          <a:prstGeom prst="line">
            <a:avLst/>
          </a:prstGeom>
          <a:noFill/>
          <a:ln w="11430">
            <a:solidFill>
              <a:srgbClr val="557A96"/>
            </a:solidFill>
            <a:prstDash val="solid"/>
          </a:ln>
        </p:spPr>
      </p:sp>
      <p:sp>
        <p:nvSpPr>
          <p:cNvPr id="92" name="package-top-branch"/>
          <p:cNvSpPr>
            <a:spLocks noGrp="1"/>
          </p:cNvSpPr>
          <p:nvPr/>
        </p:nvSpPr>
        <p:spPr>
          <a:xfrm>
            <a:off x="3657600" y="4762500"/>
            <a:ext cx="3581400" cy="0"/>
          </a:xfrm>
          <a:prstGeom prst="line">
            <a:avLst/>
          </a:prstGeom>
          <a:noFill/>
          <a:ln w="11430">
            <a:solidFill>
              <a:srgbClr val="557A96"/>
            </a:solidFill>
            <a:prstDash val="solid"/>
          </a:ln>
        </p:spPr>
      </p:sp>
      <p:sp>
        <p:nvSpPr>
          <p:cNvPr id="93" name="package-down-0"/>
          <p:cNvSpPr>
            <a:spLocks noGrp="1"/>
          </p:cNvSpPr>
          <p:nvPr/>
        </p:nvSpPr>
        <p:spPr>
          <a:xfrm>
            <a:off x="3657600" y="4762500"/>
            <a:ext cx="0" cy="76200"/>
          </a:xfrm>
          <a:prstGeom prst="line">
            <a:avLst/>
          </a:prstGeom>
          <a:noFill/>
          <a:ln w="11430">
            <a:solidFill>
              <a:srgbClr val="557A96"/>
            </a:solidFill>
            <a:prstDash val="solid"/>
          </a:ln>
        </p:spPr>
      </p:sp>
      <p:sp>
        <p:nvSpPr>
          <p:cNvPr id="94" name="package-arrow-0"/>
          <p:cNvSpPr>
            <a:spLocks noGrp="1"/>
          </p:cNvSpPr>
          <p:nvPr/>
        </p:nvSpPr>
        <p:spPr>
          <a:xfrm rot="10800000">
            <a:off x="3619500" y="4800600"/>
            <a:ext cx="76200" cy="76200"/>
          </a:xfrm>
          <a:prstGeom prst="triangle">
            <a:avLst/>
          </a:prstGeom>
          <a:solidFill>
            <a:srgbClr val="557A96"/>
          </a:solidFill>
          <a:ln w="0">
            <a:solidFill>
              <a:srgbClr val="557A96"/>
            </a:solidFill>
            <a:prstDash val="solid"/>
          </a:ln>
        </p:spPr>
      </p:sp>
      <p:sp>
        <p:nvSpPr>
          <p:cNvPr id="95" name="package-converge-0"/>
          <p:cNvSpPr>
            <a:spLocks noGrp="1"/>
          </p:cNvSpPr>
          <p:nvPr/>
        </p:nvSpPr>
        <p:spPr>
          <a:xfrm>
            <a:off x="3657600" y="5162550"/>
            <a:ext cx="0" cy="76200"/>
          </a:xfrm>
          <a:prstGeom prst="line">
            <a:avLst/>
          </a:prstGeom>
          <a:noFill/>
          <a:ln w="11430">
            <a:solidFill>
              <a:srgbClr val="557A96"/>
            </a:solidFill>
            <a:prstDash val="solid"/>
          </a:ln>
        </p:spPr>
      </p:sp>
      <p:sp>
        <p:nvSpPr>
          <p:cNvPr id="96" name="package-down-1"/>
          <p:cNvSpPr>
            <a:spLocks noGrp="1"/>
          </p:cNvSpPr>
          <p:nvPr/>
        </p:nvSpPr>
        <p:spPr>
          <a:xfrm>
            <a:off x="5448300" y="4762500"/>
            <a:ext cx="0" cy="76200"/>
          </a:xfrm>
          <a:prstGeom prst="line">
            <a:avLst/>
          </a:prstGeom>
          <a:noFill/>
          <a:ln w="11430">
            <a:solidFill>
              <a:srgbClr val="557A96"/>
            </a:solidFill>
            <a:prstDash val="solid"/>
          </a:ln>
        </p:spPr>
      </p:sp>
      <p:sp>
        <p:nvSpPr>
          <p:cNvPr id="97" name="package-arrow-1"/>
          <p:cNvSpPr>
            <a:spLocks noGrp="1"/>
          </p:cNvSpPr>
          <p:nvPr/>
        </p:nvSpPr>
        <p:spPr>
          <a:xfrm rot="10800000">
            <a:off x="5410200" y="4800600"/>
            <a:ext cx="76200" cy="76200"/>
          </a:xfrm>
          <a:prstGeom prst="triangle">
            <a:avLst/>
          </a:prstGeom>
          <a:solidFill>
            <a:srgbClr val="557A96"/>
          </a:solidFill>
          <a:ln w="0">
            <a:solidFill>
              <a:srgbClr val="557A96"/>
            </a:solidFill>
            <a:prstDash val="solid"/>
          </a:ln>
        </p:spPr>
      </p:sp>
      <p:sp>
        <p:nvSpPr>
          <p:cNvPr id="98" name="package-converge-1"/>
          <p:cNvSpPr>
            <a:spLocks noGrp="1"/>
          </p:cNvSpPr>
          <p:nvPr/>
        </p:nvSpPr>
        <p:spPr>
          <a:xfrm>
            <a:off x="5448300" y="5162550"/>
            <a:ext cx="0" cy="76200"/>
          </a:xfrm>
          <a:prstGeom prst="line">
            <a:avLst/>
          </a:prstGeom>
          <a:noFill/>
          <a:ln w="11430">
            <a:solidFill>
              <a:srgbClr val="557A96"/>
            </a:solidFill>
            <a:prstDash val="solid"/>
          </a:ln>
        </p:spPr>
      </p:sp>
      <p:sp>
        <p:nvSpPr>
          <p:cNvPr id="99" name="package-down-2"/>
          <p:cNvSpPr>
            <a:spLocks noGrp="1"/>
          </p:cNvSpPr>
          <p:nvPr/>
        </p:nvSpPr>
        <p:spPr>
          <a:xfrm>
            <a:off x="7239000" y="4762500"/>
            <a:ext cx="0" cy="76200"/>
          </a:xfrm>
          <a:prstGeom prst="line">
            <a:avLst/>
          </a:prstGeom>
          <a:noFill/>
          <a:ln w="11430">
            <a:solidFill>
              <a:srgbClr val="557A96"/>
            </a:solidFill>
            <a:prstDash val="solid"/>
          </a:ln>
        </p:spPr>
      </p:sp>
      <p:sp>
        <p:nvSpPr>
          <p:cNvPr id="100" name="package-arrow-2"/>
          <p:cNvSpPr>
            <a:spLocks noGrp="1"/>
          </p:cNvSpPr>
          <p:nvPr/>
        </p:nvSpPr>
        <p:spPr>
          <a:xfrm rot="10800000">
            <a:off x="7200900" y="4800600"/>
            <a:ext cx="76200" cy="76200"/>
          </a:xfrm>
          <a:prstGeom prst="triangle">
            <a:avLst/>
          </a:prstGeom>
          <a:solidFill>
            <a:srgbClr val="557A96"/>
          </a:solidFill>
          <a:ln w="0">
            <a:solidFill>
              <a:srgbClr val="557A96"/>
            </a:solidFill>
            <a:prstDash val="solid"/>
          </a:ln>
        </p:spPr>
      </p:sp>
      <p:sp>
        <p:nvSpPr>
          <p:cNvPr id="101" name="package-converge-2"/>
          <p:cNvSpPr>
            <a:spLocks noGrp="1"/>
          </p:cNvSpPr>
          <p:nvPr/>
        </p:nvSpPr>
        <p:spPr>
          <a:xfrm>
            <a:off x="7239000" y="5162550"/>
            <a:ext cx="0" cy="76200"/>
          </a:xfrm>
          <a:prstGeom prst="line">
            <a:avLst/>
          </a:prstGeom>
          <a:noFill/>
          <a:ln w="11430">
            <a:solidFill>
              <a:srgbClr val="557A96"/>
            </a:solidFill>
            <a:prstDash val="solid"/>
          </a:ln>
        </p:spPr>
      </p:sp>
      <p:sp>
        <p:nvSpPr>
          <p:cNvPr id="102" name="package-bottom-branch"/>
          <p:cNvSpPr>
            <a:spLocks noGrp="1"/>
          </p:cNvSpPr>
          <p:nvPr/>
        </p:nvSpPr>
        <p:spPr>
          <a:xfrm>
            <a:off x="3657600" y="5238750"/>
            <a:ext cx="3581400" cy="0"/>
          </a:xfrm>
          <a:prstGeom prst="line">
            <a:avLst/>
          </a:prstGeom>
          <a:noFill/>
          <a:ln w="11430">
            <a:solidFill>
              <a:srgbClr val="557A96"/>
            </a:solidFill>
            <a:prstDash val="solid"/>
          </a:ln>
        </p:spPr>
      </p:sp>
      <p:sp>
        <p:nvSpPr>
          <p:cNvPr id="103" name="package-to-complete"/>
          <p:cNvSpPr>
            <a:spLocks noGrp="1"/>
          </p:cNvSpPr>
          <p:nvPr/>
        </p:nvSpPr>
        <p:spPr>
          <a:xfrm>
            <a:off x="5448300" y="5238750"/>
            <a:ext cx="0" cy="57150"/>
          </a:xfrm>
          <a:prstGeom prst="line">
            <a:avLst/>
          </a:prstGeom>
          <a:noFill/>
          <a:ln w="11430">
            <a:solidFill>
              <a:srgbClr val="557A96"/>
            </a:solidFill>
            <a:prstDash val="solid"/>
          </a:ln>
        </p:spPr>
      </p:sp>
      <p:sp>
        <p:nvSpPr>
          <p:cNvPr id="104" name="package-complete-arrow"/>
          <p:cNvSpPr>
            <a:spLocks noGrp="1"/>
          </p:cNvSpPr>
          <p:nvPr/>
        </p:nvSpPr>
        <p:spPr>
          <a:xfrm rot="10800000">
            <a:off x="5410200" y="5257800"/>
            <a:ext cx="76200" cy="76200"/>
          </a:xfrm>
          <a:prstGeom prst="triangle">
            <a:avLst/>
          </a:prstGeom>
          <a:solidFill>
            <a:srgbClr val="557A96"/>
          </a:solidFill>
          <a:ln w="0">
            <a:solidFill>
              <a:srgbClr val="557A96"/>
            </a:solidFill>
            <a:prstDash val="solid"/>
          </a:ln>
        </p:spPr>
      </p:sp>
      <p:sp>
        <p:nvSpPr>
          <p:cNvPr id="105" name="package-base-box"/>
          <p:cNvSpPr>
            <a:spLocks noGrp="1"/>
          </p:cNvSpPr>
          <p:nvPr/>
        </p:nvSpPr>
        <p:spPr>
          <a:xfrm>
            <a:off x="4781550" y="4362450"/>
            <a:ext cx="1333500" cy="247650"/>
          </a:xfrm>
          <a:prstGeom prst="roundRect">
            <a:avLst>
              <a:gd name="adj" fmla="val 15385"/>
            </a:avLst>
          </a:prstGeom>
          <a:solidFill>
            <a:srgbClr val="F2F6F8"/>
          </a:solidFill>
          <a:ln w="9525">
            <a:solidFill>
              <a:srgbClr val="7F9DB2"/>
            </a:solidFill>
            <a:prstDash val="solid"/>
          </a:ln>
        </p:spPr>
      </p:sp>
      <p:sp>
        <p:nvSpPr>
          <p:cNvPr id="106" name="package-base-text"/>
          <p:cNvSpPr>
            <a:spLocks noGrp="1"/>
          </p:cNvSpPr>
          <p:nvPr/>
        </p:nvSpPr>
        <p:spPr>
          <a:xfrm>
            <a:off x="4810125" y="4381500"/>
            <a:ext cx="1276350" cy="209550"/>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基础 Workflow</a:t>
            </a:r>
          </a:p>
        </p:txBody>
      </p:sp>
      <p:sp>
        <p:nvSpPr>
          <p:cNvPr id="107" name="package-resources-box"/>
          <p:cNvSpPr>
            <a:spLocks noGrp="1"/>
          </p:cNvSpPr>
          <p:nvPr/>
        </p:nvSpPr>
        <p:spPr>
          <a:xfrm>
            <a:off x="3086100" y="4848225"/>
            <a:ext cx="1143000" cy="323850"/>
          </a:xfrm>
          <a:prstGeom prst="roundRect">
            <a:avLst>
              <a:gd name="adj" fmla="val 11765"/>
            </a:avLst>
          </a:prstGeom>
          <a:solidFill>
            <a:srgbClr val="F7F9FA"/>
          </a:solidFill>
          <a:ln w="9525">
            <a:solidFill>
              <a:srgbClr val="7F9DB2"/>
            </a:solidFill>
            <a:prstDash val="solid"/>
          </a:ln>
        </p:spPr>
      </p:sp>
      <p:sp>
        <p:nvSpPr>
          <p:cNvPr id="108" name="package-resources-text"/>
          <p:cNvSpPr>
            <a:spLocks noGrp="1"/>
          </p:cNvSpPr>
          <p:nvPr/>
        </p:nvSpPr>
        <p:spPr>
          <a:xfrm>
            <a:off x="3114675" y="4867275"/>
            <a:ext cx="1085850" cy="285750"/>
          </a:xfrm>
          <a:prstGeom prst="rect">
            <a:avLst/>
          </a:prstGeom>
          <a:noFill/>
          <a:ln w="0">
            <a:noFill/>
            <a:prstDash val="solid"/>
          </a:ln>
        </p:spPr>
        <p:txBody>
          <a:bodyPr wrap="none" lIns="0" tIns="0" rIns="0" bIns="0" anchor="ctr">
            <a:normAutofit fontScale="97444"/>
          </a:bodyPr>
          <a:lstStyle/>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Resources</a:t>
            </a:r>
          </a:p>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Ref · Example · Script</a:t>
            </a:r>
          </a:p>
        </p:txBody>
      </p:sp>
      <p:sp>
        <p:nvSpPr>
          <p:cNvPr id="109" name="package-constraints-box"/>
          <p:cNvSpPr>
            <a:spLocks noGrp="1"/>
          </p:cNvSpPr>
          <p:nvPr/>
        </p:nvSpPr>
        <p:spPr>
          <a:xfrm>
            <a:off x="4819650" y="4848225"/>
            <a:ext cx="1257300" cy="323850"/>
          </a:xfrm>
          <a:prstGeom prst="roundRect">
            <a:avLst>
              <a:gd name="adj" fmla="val 11765"/>
            </a:avLst>
          </a:prstGeom>
          <a:solidFill>
            <a:srgbClr val="F7F9FA"/>
          </a:solidFill>
          <a:ln w="9525">
            <a:solidFill>
              <a:srgbClr val="7F9DB2"/>
            </a:solidFill>
            <a:prstDash val="solid"/>
          </a:ln>
        </p:spPr>
      </p:sp>
      <p:sp>
        <p:nvSpPr>
          <p:cNvPr id="110" name="package-constraints-text"/>
          <p:cNvSpPr>
            <a:spLocks noGrp="1"/>
          </p:cNvSpPr>
          <p:nvPr/>
        </p:nvSpPr>
        <p:spPr>
          <a:xfrm>
            <a:off x="4848225" y="4867275"/>
            <a:ext cx="1200150" cy="285750"/>
          </a:xfrm>
          <a:prstGeom prst="rect">
            <a:avLst/>
          </a:prstGeom>
          <a:noFill/>
          <a:ln w="0">
            <a:noFill/>
            <a:prstDash val="solid"/>
          </a:ln>
        </p:spPr>
        <p:txBody>
          <a:bodyPr wrap="none" lIns="0" tIns="0" rIns="0" bIns="0" anchor="ctr">
            <a:normAutofit fontScale="98300"/>
          </a:bodyPr>
          <a:lstStyle/>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Constraints</a:t>
            </a:r>
          </a:p>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Boundary · </a:t>
            </a:r>
            <a:r>
              <a:rPr sz="850" dirty="0" smtClean="0">
                <a:solidFill>
                  <a:srgbClr val="252B31"/>
                </a:solidFill>
                <a:latin typeface="Times New Roman" panose="02020603050405020304" pitchFamily="18" charset="0"/>
                <a:ea typeface="微软雅黑" panose="020B0503020204020204" charset="-122"/>
                <a:cs typeface="Times New Roman" panose="02020603050405020304" pitchFamily="18" charset="0"/>
              </a:rPr>
              <a:t>Policy</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1" name="package-metadata-box"/>
          <p:cNvSpPr>
            <a:spLocks noGrp="1"/>
          </p:cNvSpPr>
          <p:nvPr/>
        </p:nvSpPr>
        <p:spPr>
          <a:xfrm>
            <a:off x="6477000" y="4848225"/>
            <a:ext cx="1524000" cy="323850"/>
          </a:xfrm>
          <a:prstGeom prst="roundRect">
            <a:avLst>
              <a:gd name="adj" fmla="val 11765"/>
            </a:avLst>
          </a:prstGeom>
          <a:solidFill>
            <a:srgbClr val="F7F9FA"/>
          </a:solidFill>
          <a:ln w="9525">
            <a:solidFill>
              <a:srgbClr val="7F9DB2"/>
            </a:solidFill>
            <a:prstDash val="solid"/>
          </a:ln>
        </p:spPr>
      </p:sp>
      <p:sp>
        <p:nvSpPr>
          <p:cNvPr id="112" name="package-metadata-text"/>
          <p:cNvSpPr>
            <a:spLocks noGrp="1"/>
          </p:cNvSpPr>
          <p:nvPr/>
        </p:nvSpPr>
        <p:spPr>
          <a:xfrm>
            <a:off x="6553200" y="4857750"/>
            <a:ext cx="1371600" cy="285750"/>
          </a:xfrm>
          <a:prstGeom prst="rect">
            <a:avLst/>
          </a:prstGeom>
          <a:noFill/>
          <a:ln w="0">
            <a:noFill/>
            <a:prstDash val="solid"/>
          </a:ln>
        </p:spPr>
        <p:txBody>
          <a:bodyPr wrap="none" lIns="0" tIns="0" rIns="0" bIns="0" anchor="ctr">
            <a:normAutofit fontScale="98622"/>
          </a:bodyPr>
          <a:lstStyle/>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Metadata</a:t>
            </a:r>
          </a:p>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name · description · trigger</a:t>
            </a:r>
          </a:p>
        </p:txBody>
      </p:sp>
      <p:sp>
        <p:nvSpPr>
          <p:cNvPr id="113" name="package-complete-box"/>
          <p:cNvSpPr>
            <a:spLocks noGrp="1"/>
          </p:cNvSpPr>
          <p:nvPr/>
        </p:nvSpPr>
        <p:spPr>
          <a:xfrm>
            <a:off x="4686300" y="5295900"/>
            <a:ext cx="1524000" cy="238125"/>
          </a:xfrm>
          <a:prstGeom prst="roundRect">
            <a:avLst>
              <a:gd name="adj" fmla="val 16000"/>
            </a:avLst>
          </a:prstGeom>
          <a:solidFill>
            <a:srgbClr val="F2F6F8"/>
          </a:solidFill>
          <a:ln w="9525">
            <a:solidFill>
              <a:srgbClr val="7F9DB2"/>
            </a:solidFill>
            <a:prstDash val="solid"/>
          </a:ln>
        </p:spPr>
      </p:sp>
      <p:sp>
        <p:nvSpPr>
          <p:cNvPr id="114" name="package-complete-text"/>
          <p:cNvSpPr>
            <a:spLocks noGrp="1"/>
          </p:cNvSpPr>
          <p:nvPr/>
        </p:nvSpPr>
        <p:spPr>
          <a:xfrm>
            <a:off x="4714875" y="5314950"/>
            <a:ext cx="1466850" cy="200025"/>
          </a:xfrm>
          <a:prstGeom prst="rect">
            <a:avLst/>
          </a:prstGeom>
          <a:noFill/>
          <a:ln w="0">
            <a:noFill/>
            <a:prstDash val="solid"/>
          </a:ln>
        </p:spPr>
        <p:txBody>
          <a:bodyPr wrap="none" lIns="0" tIns="0" rIns="0" bIns="0" anchor="ctr">
            <a:normAutofit/>
          </a:bodyPr>
          <a:lstStyle/>
          <a:p>
            <a:pPr algn="ctr">
              <a:defRPr sz="990" b="1">
                <a:solidFill>
                  <a:srgbClr val="557A96"/>
                </a:solidFill>
                <a:latin typeface="微软雅黑" panose="020B0503020204020204" charset="-122"/>
                <a:ea typeface="微软雅黑" panose="020B0503020204020204" charset="-122"/>
                <a:cs typeface="微软雅黑" panose="020B0503020204020204" charset="-122"/>
              </a:defRPr>
            </a:pPr>
            <a:r>
              <a:rPr sz="990" b="1">
                <a:solidFill>
                  <a:srgbClr val="557A96"/>
                </a:solidFill>
                <a:latin typeface="微软雅黑" panose="020B0503020204020204" charset="-122"/>
                <a:ea typeface="微软雅黑" panose="020B0503020204020204" charset="-122"/>
                <a:cs typeface="微软雅黑" panose="020B0503020204020204" charset="-122"/>
              </a:rPr>
              <a:t>Complete Skill</a:t>
            </a:r>
          </a:p>
        </p:txBody>
      </p:sp>
      <p:sp>
        <p:nvSpPr>
          <p:cNvPr id="115" name="complete-evaluation-line"/>
          <p:cNvSpPr>
            <a:spLocks noGrp="1"/>
          </p:cNvSpPr>
          <p:nvPr/>
        </p:nvSpPr>
        <p:spPr>
          <a:xfrm>
            <a:off x="4000500" y="5838825"/>
            <a:ext cx="523875" cy="0"/>
          </a:xfrm>
          <a:prstGeom prst="line">
            <a:avLst/>
          </a:prstGeom>
          <a:noFill/>
          <a:ln w="11430">
            <a:solidFill>
              <a:srgbClr val="557A96"/>
            </a:solidFill>
            <a:prstDash val="solid"/>
          </a:ln>
        </p:spPr>
      </p:sp>
      <p:sp>
        <p:nvSpPr>
          <p:cNvPr id="116" name="complete-evaluation-arrow"/>
          <p:cNvSpPr>
            <a:spLocks noGrp="1"/>
          </p:cNvSpPr>
          <p:nvPr/>
        </p:nvSpPr>
        <p:spPr>
          <a:xfrm rot="5400000">
            <a:off x="4486275" y="5800725"/>
            <a:ext cx="76200" cy="76200"/>
          </a:xfrm>
          <a:prstGeom prst="triangle">
            <a:avLst/>
          </a:prstGeom>
          <a:solidFill>
            <a:srgbClr val="557A96"/>
          </a:solidFill>
          <a:ln w="0">
            <a:solidFill>
              <a:srgbClr val="557A96"/>
            </a:solidFill>
            <a:prstDash val="solid"/>
          </a:ln>
        </p:spPr>
      </p:sp>
      <p:sp>
        <p:nvSpPr>
          <p:cNvPr id="117" name="evaluation-stable-line"/>
          <p:cNvSpPr>
            <a:spLocks noGrp="1"/>
          </p:cNvSpPr>
          <p:nvPr/>
        </p:nvSpPr>
        <p:spPr>
          <a:xfrm>
            <a:off x="5572125" y="5838825"/>
            <a:ext cx="1000125" cy="0"/>
          </a:xfrm>
          <a:prstGeom prst="line">
            <a:avLst/>
          </a:prstGeom>
          <a:noFill/>
          <a:ln w="11430">
            <a:solidFill>
              <a:srgbClr val="557A96"/>
            </a:solidFill>
            <a:prstDash val="solid"/>
          </a:ln>
        </p:spPr>
      </p:sp>
      <p:sp>
        <p:nvSpPr>
          <p:cNvPr id="118" name="evaluation-stable-arrow"/>
          <p:cNvSpPr>
            <a:spLocks noGrp="1"/>
          </p:cNvSpPr>
          <p:nvPr/>
        </p:nvSpPr>
        <p:spPr>
          <a:xfrm rot="5400000">
            <a:off x="6534150" y="5800725"/>
            <a:ext cx="76200" cy="76200"/>
          </a:xfrm>
          <a:prstGeom prst="triangle">
            <a:avLst/>
          </a:prstGeom>
          <a:solidFill>
            <a:srgbClr val="557A96"/>
          </a:solidFill>
          <a:ln w="0">
            <a:solidFill>
              <a:srgbClr val="557A96"/>
            </a:solidFill>
            <a:prstDash val="solid"/>
          </a:ln>
        </p:spPr>
      </p:sp>
      <p:sp>
        <p:nvSpPr>
          <p:cNvPr id="119" name="evaluation-fail-line"/>
          <p:cNvSpPr>
            <a:spLocks noGrp="1"/>
          </p:cNvSpPr>
          <p:nvPr/>
        </p:nvSpPr>
        <p:spPr>
          <a:xfrm>
            <a:off x="5048250" y="5972175"/>
            <a:ext cx="0" cy="76200"/>
          </a:xfrm>
          <a:prstGeom prst="line">
            <a:avLst/>
          </a:prstGeom>
          <a:noFill/>
          <a:ln w="10478">
            <a:solidFill>
              <a:srgbClr val="557A96"/>
            </a:solidFill>
            <a:prstDash val="solid"/>
          </a:ln>
        </p:spPr>
      </p:sp>
      <p:sp>
        <p:nvSpPr>
          <p:cNvPr id="120" name="evaluation-complete-box"/>
          <p:cNvSpPr>
            <a:spLocks noGrp="1"/>
          </p:cNvSpPr>
          <p:nvPr/>
        </p:nvSpPr>
        <p:spPr>
          <a:xfrm>
            <a:off x="2857500" y="5705475"/>
            <a:ext cx="1143000" cy="266700"/>
          </a:xfrm>
          <a:prstGeom prst="roundRect">
            <a:avLst>
              <a:gd name="adj" fmla="val 14286"/>
            </a:avLst>
          </a:prstGeom>
          <a:solidFill>
            <a:srgbClr val="F7F9FA"/>
          </a:solidFill>
          <a:ln w="9525">
            <a:solidFill>
              <a:srgbClr val="7F9DB2"/>
            </a:solidFill>
            <a:prstDash val="solid"/>
          </a:ln>
        </p:spPr>
      </p:sp>
      <p:sp>
        <p:nvSpPr>
          <p:cNvPr id="121" name="evaluation-complete-text"/>
          <p:cNvSpPr>
            <a:spLocks noGrp="1"/>
          </p:cNvSpPr>
          <p:nvPr/>
        </p:nvSpPr>
        <p:spPr>
          <a:xfrm>
            <a:off x="2886075" y="5724525"/>
            <a:ext cx="1085850" cy="228600"/>
          </a:xfrm>
          <a:prstGeom prst="rect">
            <a:avLst/>
          </a:prstGeom>
          <a:noFill/>
          <a:ln w="0">
            <a:noFill/>
            <a:prstDash val="solid"/>
          </a:ln>
        </p:spPr>
        <p:txBody>
          <a:bodyPr wrap="none" lIns="0" tIns="0" rIns="0" bIns="0" anchor="ctr">
            <a:normAutofit/>
          </a:bodyPr>
          <a:lstStyle/>
          <a:p>
            <a:pPr algn="ctr">
              <a:defRPr sz="960" b="1">
                <a:solidFill>
                  <a:srgbClr val="252B31"/>
                </a:solidFill>
                <a:latin typeface="微软雅黑" panose="020B0503020204020204" charset="-122"/>
                <a:ea typeface="微软雅黑" panose="020B0503020204020204" charset="-122"/>
                <a:cs typeface="微软雅黑" panose="020B0503020204020204" charset="-122"/>
              </a:defRPr>
            </a:pPr>
            <a:r>
              <a:rPr sz="960" b="1">
                <a:solidFill>
                  <a:srgbClr val="252B31"/>
                </a:solidFill>
                <a:latin typeface="微软雅黑" panose="020B0503020204020204" charset="-122"/>
                <a:ea typeface="微软雅黑" panose="020B0503020204020204" charset="-122"/>
                <a:cs typeface="微软雅黑" panose="020B0503020204020204" charset="-122"/>
              </a:rPr>
              <a:t>Complete Skill</a:t>
            </a:r>
          </a:p>
        </p:txBody>
      </p:sp>
      <p:sp>
        <p:nvSpPr>
          <p:cNvPr id="122" name="evaluation-node-box"/>
          <p:cNvSpPr>
            <a:spLocks noGrp="1"/>
          </p:cNvSpPr>
          <p:nvPr/>
        </p:nvSpPr>
        <p:spPr>
          <a:xfrm>
            <a:off x="4524375" y="5705475"/>
            <a:ext cx="1047750" cy="266700"/>
          </a:xfrm>
          <a:prstGeom prst="roundRect">
            <a:avLst>
              <a:gd name="adj" fmla="val 14286"/>
            </a:avLst>
          </a:prstGeom>
          <a:solidFill>
            <a:srgbClr val="F2F6F8"/>
          </a:solidFill>
          <a:ln w="9525">
            <a:solidFill>
              <a:srgbClr val="7F9DB2"/>
            </a:solidFill>
            <a:prstDash val="solid"/>
          </a:ln>
        </p:spPr>
      </p:sp>
      <p:sp>
        <p:nvSpPr>
          <p:cNvPr id="123" name="evaluation-node-text"/>
          <p:cNvSpPr>
            <a:spLocks noGrp="1"/>
          </p:cNvSpPr>
          <p:nvPr/>
        </p:nvSpPr>
        <p:spPr>
          <a:xfrm>
            <a:off x="4552950" y="5724525"/>
            <a:ext cx="990600" cy="22860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Evaluation</a:t>
            </a:r>
          </a:p>
        </p:txBody>
      </p:sp>
      <p:sp>
        <p:nvSpPr>
          <p:cNvPr id="124" name="stable-skill-box"/>
          <p:cNvSpPr>
            <a:spLocks noGrp="1"/>
          </p:cNvSpPr>
          <p:nvPr/>
        </p:nvSpPr>
        <p:spPr>
          <a:xfrm>
            <a:off x="6572250" y="5667375"/>
            <a:ext cx="1714500" cy="342900"/>
          </a:xfrm>
          <a:prstGeom prst="roundRect">
            <a:avLst>
              <a:gd name="adj" fmla="val 11111"/>
            </a:avLst>
          </a:prstGeom>
          <a:solidFill>
            <a:srgbClr val="F2F6F8"/>
          </a:solidFill>
          <a:ln w="9525">
            <a:solidFill>
              <a:srgbClr val="7F9DB2"/>
            </a:solidFill>
            <a:prstDash val="solid"/>
          </a:ln>
        </p:spPr>
      </p:sp>
      <p:sp>
        <p:nvSpPr>
          <p:cNvPr id="125" name="stable-skill-text"/>
          <p:cNvSpPr>
            <a:spLocks noGrp="1"/>
          </p:cNvSpPr>
          <p:nvPr/>
        </p:nvSpPr>
        <p:spPr>
          <a:xfrm>
            <a:off x="6600825" y="5686425"/>
            <a:ext cx="1657350" cy="304800"/>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Stable Skill</a:t>
            </a:r>
          </a:p>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稳定 · 可调用 · 可复用</a:t>
            </a:r>
          </a:p>
        </p:txBody>
      </p:sp>
      <p:sp>
        <p:nvSpPr>
          <p:cNvPr id="126" name="evaluation-pass"/>
          <p:cNvSpPr>
            <a:spLocks noGrp="1"/>
          </p:cNvSpPr>
          <p:nvPr/>
        </p:nvSpPr>
        <p:spPr>
          <a:xfrm>
            <a:off x="5772150" y="5657850"/>
            <a:ext cx="533400" cy="161925"/>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127" name="evaluation-fail"/>
          <p:cNvSpPr>
            <a:spLocks noGrp="1"/>
          </p:cNvSpPr>
          <p:nvPr/>
        </p:nvSpPr>
        <p:spPr>
          <a:xfrm>
            <a:off x="5429250" y="5972175"/>
            <a:ext cx="1333500" cy="133350"/>
          </a:xfrm>
          <a:prstGeom prst="rect">
            <a:avLst/>
          </a:prstGeom>
          <a:noFill/>
          <a:ln w="0">
            <a:noFill/>
            <a:prstDash val="solid"/>
          </a:ln>
        </p:spPr>
        <p:txBody>
          <a:bodyPr wrap="none" lIns="0" tIns="0" rIns="0" bIns="0" anchor="ctr">
            <a:normAutofit/>
          </a:bodyPr>
          <a:lstStyle/>
          <a:p>
            <a:pPr algn="l">
              <a:defRPr sz="810" b="1">
                <a:solidFill>
                  <a:srgbClr val="68727B"/>
                </a:solidFill>
                <a:latin typeface="微软雅黑" panose="020B0503020204020204" charset="-122"/>
                <a:ea typeface="微软雅黑" panose="020B0503020204020204" charset="-122"/>
                <a:cs typeface="微软雅黑" panose="020B0503020204020204" charset="-122"/>
              </a:defRPr>
            </a:pPr>
            <a:r>
              <a:rPr sz="810" b="1" dirty="0">
                <a:solidFill>
                  <a:srgbClr val="68727B"/>
                </a:solidFill>
                <a:latin typeface="微软雅黑" panose="020B0503020204020204" charset="-122"/>
                <a:ea typeface="微软雅黑" panose="020B0503020204020204" charset="-122"/>
                <a:cs typeface="微软雅黑" panose="020B0503020204020204" charset="-122"/>
              </a:rPr>
              <a:t>FAIL → </a:t>
            </a:r>
            <a:r>
              <a:rPr sz="810" b="1" dirty="0" err="1">
                <a:solidFill>
                  <a:srgbClr val="68727B"/>
                </a:solidFill>
                <a:latin typeface="微软雅黑" panose="020B0503020204020204" charset="-122"/>
                <a:ea typeface="微软雅黑" panose="020B0503020204020204" charset="-122"/>
                <a:cs typeface="微软雅黑" panose="020B0503020204020204" charset="-122"/>
              </a:rPr>
              <a:t>右侧定位与修正</a:t>
            </a:r>
            <a:endParaRPr sz="81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iteration-frame"/>
          <p:cNvSpPr>
            <a:spLocks noGrp="1"/>
          </p:cNvSpPr>
          <p:nvPr/>
        </p:nvSpPr>
        <p:spPr>
          <a:xfrm>
            <a:off x="8715374" y="1485900"/>
            <a:ext cx="2857500" cy="4610100"/>
          </a:xfrm>
          <a:prstGeom prst="rect">
            <a:avLst/>
          </a:prstGeom>
          <a:solidFill>
            <a:srgbClr val="FFFFFF"/>
          </a:solidFill>
          <a:ln w="9525">
            <a:solidFill>
              <a:srgbClr val="D8DEE3"/>
            </a:solidFill>
            <a:prstDash val="solid"/>
          </a:ln>
        </p:spPr>
      </p:sp>
      <p:sp>
        <p:nvSpPr>
          <p:cNvPr id="129" name="iteration-accent"/>
          <p:cNvSpPr>
            <a:spLocks noGrp="1"/>
          </p:cNvSpPr>
          <p:nvPr/>
        </p:nvSpPr>
        <p:spPr>
          <a:xfrm>
            <a:off x="8724900" y="1485900"/>
            <a:ext cx="2857500" cy="28575"/>
          </a:xfrm>
          <a:prstGeom prst="rect">
            <a:avLst/>
          </a:prstGeom>
          <a:solidFill>
            <a:srgbClr val="557A96"/>
          </a:solidFill>
          <a:ln w="0">
            <a:noFill/>
            <a:prstDash val="solid"/>
          </a:ln>
        </p:spPr>
      </p:sp>
      <p:sp>
        <p:nvSpPr>
          <p:cNvPr id="133" name="test-fail-down"/>
          <p:cNvSpPr>
            <a:spLocks noGrp="1"/>
          </p:cNvSpPr>
          <p:nvPr/>
        </p:nvSpPr>
        <p:spPr>
          <a:xfrm>
            <a:off x="10153650" y="2581275"/>
            <a:ext cx="0" cy="219075"/>
          </a:xfrm>
          <a:prstGeom prst="line">
            <a:avLst/>
          </a:prstGeom>
          <a:noFill/>
          <a:ln w="11430">
            <a:solidFill>
              <a:srgbClr val="557A96"/>
            </a:solidFill>
            <a:prstDash val="solid"/>
          </a:ln>
        </p:spPr>
      </p:sp>
      <p:sp>
        <p:nvSpPr>
          <p:cNvPr id="134" name="test-fail-arrow"/>
          <p:cNvSpPr>
            <a:spLocks noGrp="1"/>
          </p:cNvSpPr>
          <p:nvPr/>
        </p:nvSpPr>
        <p:spPr>
          <a:xfrm rot="10800000">
            <a:off x="10115550" y="2762250"/>
            <a:ext cx="76200" cy="76200"/>
          </a:xfrm>
          <a:prstGeom prst="triangle">
            <a:avLst/>
          </a:prstGeom>
          <a:solidFill>
            <a:srgbClr val="557A96"/>
          </a:solidFill>
          <a:ln w="0">
            <a:solidFill>
              <a:srgbClr val="557A96"/>
            </a:solidFill>
            <a:prstDash val="solid"/>
          </a:ln>
        </p:spPr>
      </p:sp>
      <p:sp>
        <p:nvSpPr>
          <p:cNvPr id="135" name="locate-branch-down"/>
          <p:cNvSpPr>
            <a:spLocks noGrp="1"/>
          </p:cNvSpPr>
          <p:nvPr/>
        </p:nvSpPr>
        <p:spPr>
          <a:xfrm>
            <a:off x="10153650" y="3124200"/>
            <a:ext cx="0" cy="104775"/>
          </a:xfrm>
          <a:prstGeom prst="line">
            <a:avLst/>
          </a:prstGeom>
          <a:noFill/>
          <a:ln w="11430">
            <a:solidFill>
              <a:srgbClr val="557A96"/>
            </a:solidFill>
            <a:prstDash val="solid"/>
          </a:ln>
        </p:spPr>
      </p:sp>
      <p:sp>
        <p:nvSpPr>
          <p:cNvPr id="136" name="diagnosis-branch"/>
          <p:cNvSpPr>
            <a:spLocks noGrp="1"/>
          </p:cNvSpPr>
          <p:nvPr/>
        </p:nvSpPr>
        <p:spPr>
          <a:xfrm>
            <a:off x="9239250" y="3228975"/>
            <a:ext cx="1828800" cy="0"/>
          </a:xfrm>
          <a:prstGeom prst="line">
            <a:avLst/>
          </a:prstGeom>
          <a:noFill/>
          <a:ln w="11430">
            <a:solidFill>
              <a:srgbClr val="557A96"/>
            </a:solidFill>
            <a:prstDash val="solid"/>
          </a:ln>
        </p:spPr>
      </p:sp>
      <p:sp>
        <p:nvSpPr>
          <p:cNvPr id="137" name="diagnosis-drop-0"/>
          <p:cNvSpPr>
            <a:spLocks noGrp="1"/>
          </p:cNvSpPr>
          <p:nvPr/>
        </p:nvSpPr>
        <p:spPr>
          <a:xfrm>
            <a:off x="9239250" y="3228975"/>
            <a:ext cx="0" cy="85725"/>
          </a:xfrm>
          <a:prstGeom prst="line">
            <a:avLst/>
          </a:prstGeom>
          <a:noFill/>
          <a:ln w="11430">
            <a:solidFill>
              <a:srgbClr val="557A96"/>
            </a:solidFill>
            <a:prstDash val="solid"/>
          </a:ln>
        </p:spPr>
      </p:sp>
      <p:sp>
        <p:nvSpPr>
          <p:cNvPr id="138" name="diagnosis-arrow-0"/>
          <p:cNvSpPr>
            <a:spLocks noGrp="1"/>
          </p:cNvSpPr>
          <p:nvPr/>
        </p:nvSpPr>
        <p:spPr>
          <a:xfrm rot="10800000">
            <a:off x="9201150" y="3276600"/>
            <a:ext cx="76200" cy="76200"/>
          </a:xfrm>
          <a:prstGeom prst="triangle">
            <a:avLst/>
          </a:prstGeom>
          <a:solidFill>
            <a:srgbClr val="557A96"/>
          </a:solidFill>
          <a:ln w="0">
            <a:solidFill>
              <a:srgbClr val="557A96"/>
            </a:solidFill>
            <a:prstDash val="solid"/>
          </a:ln>
        </p:spPr>
      </p:sp>
      <p:sp>
        <p:nvSpPr>
          <p:cNvPr id="139" name="diagnosis-converge-0"/>
          <p:cNvSpPr>
            <a:spLocks noGrp="1"/>
          </p:cNvSpPr>
          <p:nvPr/>
        </p:nvSpPr>
        <p:spPr>
          <a:xfrm>
            <a:off x="9258299" y="3676650"/>
            <a:ext cx="0" cy="152400"/>
          </a:xfrm>
          <a:prstGeom prst="line">
            <a:avLst/>
          </a:prstGeom>
          <a:noFill/>
          <a:ln w="11430">
            <a:solidFill>
              <a:srgbClr val="557A96"/>
            </a:solidFill>
            <a:prstDash val="solid"/>
          </a:ln>
        </p:spPr>
      </p:sp>
      <p:sp>
        <p:nvSpPr>
          <p:cNvPr id="140" name="diagnosis-drop-1"/>
          <p:cNvSpPr>
            <a:spLocks noGrp="1"/>
          </p:cNvSpPr>
          <p:nvPr/>
        </p:nvSpPr>
        <p:spPr>
          <a:xfrm>
            <a:off x="10153650" y="3228975"/>
            <a:ext cx="0" cy="85725"/>
          </a:xfrm>
          <a:prstGeom prst="line">
            <a:avLst/>
          </a:prstGeom>
          <a:noFill/>
          <a:ln w="11430">
            <a:solidFill>
              <a:srgbClr val="557A96"/>
            </a:solidFill>
            <a:prstDash val="solid"/>
          </a:ln>
        </p:spPr>
      </p:sp>
      <p:sp>
        <p:nvSpPr>
          <p:cNvPr id="141" name="diagnosis-arrow-1"/>
          <p:cNvSpPr>
            <a:spLocks noGrp="1"/>
          </p:cNvSpPr>
          <p:nvPr/>
        </p:nvSpPr>
        <p:spPr>
          <a:xfrm rot="10800000">
            <a:off x="10115550" y="3276600"/>
            <a:ext cx="76200" cy="76200"/>
          </a:xfrm>
          <a:prstGeom prst="triangle">
            <a:avLst/>
          </a:prstGeom>
          <a:solidFill>
            <a:srgbClr val="557A96"/>
          </a:solidFill>
          <a:ln w="0">
            <a:solidFill>
              <a:srgbClr val="557A96"/>
            </a:solidFill>
            <a:prstDash val="solid"/>
          </a:ln>
        </p:spPr>
      </p:sp>
      <p:sp>
        <p:nvSpPr>
          <p:cNvPr id="142" name="diagnosis-converge-1"/>
          <p:cNvSpPr>
            <a:spLocks noGrp="1"/>
          </p:cNvSpPr>
          <p:nvPr/>
        </p:nvSpPr>
        <p:spPr>
          <a:xfrm>
            <a:off x="10172699" y="3676650"/>
            <a:ext cx="0" cy="152400"/>
          </a:xfrm>
          <a:prstGeom prst="line">
            <a:avLst/>
          </a:prstGeom>
          <a:noFill/>
          <a:ln w="11430">
            <a:solidFill>
              <a:srgbClr val="557A96"/>
            </a:solidFill>
            <a:prstDash val="solid"/>
          </a:ln>
        </p:spPr>
      </p:sp>
      <p:sp>
        <p:nvSpPr>
          <p:cNvPr id="143" name="diagnosis-drop-2"/>
          <p:cNvSpPr>
            <a:spLocks noGrp="1"/>
          </p:cNvSpPr>
          <p:nvPr/>
        </p:nvSpPr>
        <p:spPr>
          <a:xfrm>
            <a:off x="11068050" y="3228975"/>
            <a:ext cx="0" cy="85725"/>
          </a:xfrm>
          <a:prstGeom prst="line">
            <a:avLst/>
          </a:prstGeom>
          <a:noFill/>
          <a:ln w="11430">
            <a:solidFill>
              <a:srgbClr val="557A96"/>
            </a:solidFill>
            <a:prstDash val="solid"/>
          </a:ln>
        </p:spPr>
      </p:sp>
      <p:sp>
        <p:nvSpPr>
          <p:cNvPr id="144" name="diagnosis-arrow-2"/>
          <p:cNvSpPr>
            <a:spLocks noGrp="1"/>
          </p:cNvSpPr>
          <p:nvPr/>
        </p:nvSpPr>
        <p:spPr>
          <a:xfrm rot="10800000">
            <a:off x="11029950" y="3276600"/>
            <a:ext cx="76200" cy="76200"/>
          </a:xfrm>
          <a:prstGeom prst="triangle">
            <a:avLst/>
          </a:prstGeom>
          <a:solidFill>
            <a:srgbClr val="557A96"/>
          </a:solidFill>
          <a:ln w="0">
            <a:solidFill>
              <a:srgbClr val="557A96"/>
            </a:solidFill>
            <a:prstDash val="solid"/>
          </a:ln>
        </p:spPr>
      </p:sp>
      <p:sp>
        <p:nvSpPr>
          <p:cNvPr id="145" name="diagnosis-converge-2"/>
          <p:cNvSpPr>
            <a:spLocks noGrp="1"/>
          </p:cNvSpPr>
          <p:nvPr/>
        </p:nvSpPr>
        <p:spPr>
          <a:xfrm>
            <a:off x="11087099" y="3676650"/>
            <a:ext cx="0" cy="152400"/>
          </a:xfrm>
          <a:prstGeom prst="line">
            <a:avLst/>
          </a:prstGeom>
          <a:noFill/>
          <a:ln w="11430">
            <a:solidFill>
              <a:srgbClr val="557A96"/>
            </a:solidFill>
            <a:prstDash val="solid"/>
          </a:ln>
        </p:spPr>
      </p:sp>
      <p:sp>
        <p:nvSpPr>
          <p:cNvPr id="146" name="diagnosis-converge-bar"/>
          <p:cNvSpPr>
            <a:spLocks noGrp="1"/>
          </p:cNvSpPr>
          <p:nvPr/>
        </p:nvSpPr>
        <p:spPr>
          <a:xfrm>
            <a:off x="9258299" y="3819525"/>
            <a:ext cx="1828800" cy="0"/>
          </a:xfrm>
          <a:prstGeom prst="line">
            <a:avLst/>
          </a:prstGeom>
          <a:noFill/>
          <a:ln w="11430">
            <a:solidFill>
              <a:srgbClr val="557A96"/>
            </a:solidFill>
            <a:prstDash val="solid"/>
          </a:ln>
        </p:spPr>
      </p:sp>
      <p:sp>
        <p:nvSpPr>
          <p:cNvPr id="147" name="diagnosis-to-modify"/>
          <p:cNvSpPr>
            <a:spLocks noGrp="1"/>
          </p:cNvSpPr>
          <p:nvPr/>
        </p:nvSpPr>
        <p:spPr>
          <a:xfrm>
            <a:off x="10172699" y="3829050"/>
            <a:ext cx="0" cy="152400"/>
          </a:xfrm>
          <a:prstGeom prst="line">
            <a:avLst/>
          </a:prstGeom>
          <a:noFill/>
          <a:ln w="11430">
            <a:solidFill>
              <a:srgbClr val="557A96"/>
            </a:solidFill>
            <a:prstDash val="solid"/>
          </a:ln>
        </p:spPr>
      </p:sp>
      <p:sp>
        <p:nvSpPr>
          <p:cNvPr id="148" name="diagnosis-modify-arrow"/>
          <p:cNvSpPr>
            <a:spLocks noGrp="1"/>
          </p:cNvSpPr>
          <p:nvPr/>
        </p:nvSpPr>
        <p:spPr>
          <a:xfrm rot="10800000">
            <a:off x="10134599" y="3943350"/>
            <a:ext cx="76200" cy="76200"/>
          </a:xfrm>
          <a:prstGeom prst="triangle">
            <a:avLst/>
          </a:prstGeom>
          <a:solidFill>
            <a:srgbClr val="557A96"/>
          </a:solidFill>
          <a:ln w="0">
            <a:solidFill>
              <a:srgbClr val="557A96"/>
            </a:solidFill>
            <a:prstDash val="solid"/>
          </a:ln>
        </p:spPr>
      </p:sp>
      <p:sp>
        <p:nvSpPr>
          <p:cNvPr id="149" name="modify-retest-line"/>
          <p:cNvSpPr>
            <a:spLocks noGrp="1"/>
          </p:cNvSpPr>
          <p:nvPr/>
        </p:nvSpPr>
        <p:spPr>
          <a:xfrm>
            <a:off x="10172699" y="4267200"/>
            <a:ext cx="0" cy="171450"/>
          </a:xfrm>
          <a:prstGeom prst="line">
            <a:avLst/>
          </a:prstGeom>
          <a:noFill/>
          <a:ln w="11430">
            <a:solidFill>
              <a:srgbClr val="557A96"/>
            </a:solidFill>
            <a:prstDash val="solid"/>
          </a:ln>
        </p:spPr>
      </p:sp>
      <p:sp>
        <p:nvSpPr>
          <p:cNvPr id="150" name="modify-retest-arrow"/>
          <p:cNvSpPr>
            <a:spLocks noGrp="1"/>
          </p:cNvSpPr>
          <p:nvPr/>
        </p:nvSpPr>
        <p:spPr>
          <a:xfrm rot="10800000">
            <a:off x="10134599" y="4400550"/>
            <a:ext cx="76200" cy="76200"/>
          </a:xfrm>
          <a:prstGeom prst="triangle">
            <a:avLst/>
          </a:prstGeom>
          <a:solidFill>
            <a:srgbClr val="557A96"/>
          </a:solidFill>
          <a:ln w="0">
            <a:solidFill>
              <a:srgbClr val="557A96"/>
            </a:solidFill>
            <a:prstDash val="solid"/>
          </a:ln>
        </p:spPr>
      </p:sp>
      <p:sp>
        <p:nvSpPr>
          <p:cNvPr id="151" name="retest-loop-right"/>
          <p:cNvSpPr>
            <a:spLocks noGrp="1"/>
          </p:cNvSpPr>
          <p:nvPr/>
        </p:nvSpPr>
        <p:spPr>
          <a:xfrm>
            <a:off x="10829925" y="4610100"/>
            <a:ext cx="581025" cy="0"/>
          </a:xfrm>
          <a:prstGeom prst="line">
            <a:avLst/>
          </a:prstGeom>
          <a:noFill/>
          <a:ln w="10478">
            <a:solidFill>
              <a:srgbClr val="7F9DB2"/>
            </a:solidFill>
            <a:prstDash val="solid"/>
          </a:ln>
        </p:spPr>
      </p:sp>
      <p:sp>
        <p:nvSpPr>
          <p:cNvPr id="152" name="retest-loop-up"/>
          <p:cNvSpPr>
            <a:spLocks noGrp="1"/>
          </p:cNvSpPr>
          <p:nvPr/>
        </p:nvSpPr>
        <p:spPr>
          <a:xfrm>
            <a:off x="11410950" y="2428876"/>
            <a:ext cx="0" cy="2171700"/>
          </a:xfrm>
          <a:prstGeom prst="line">
            <a:avLst/>
          </a:prstGeom>
          <a:noFill/>
          <a:ln w="10478">
            <a:solidFill>
              <a:srgbClr val="7F9DB2"/>
            </a:solidFill>
            <a:prstDash val="solid"/>
          </a:ln>
        </p:spPr>
      </p:sp>
      <p:sp>
        <p:nvSpPr>
          <p:cNvPr id="153" name="retest-loop-left"/>
          <p:cNvSpPr>
            <a:spLocks noGrp="1"/>
          </p:cNvSpPr>
          <p:nvPr/>
        </p:nvSpPr>
        <p:spPr>
          <a:xfrm>
            <a:off x="10782300" y="2428875"/>
            <a:ext cx="628650" cy="0"/>
          </a:xfrm>
          <a:prstGeom prst="line">
            <a:avLst/>
          </a:prstGeom>
          <a:noFill/>
          <a:ln w="10478">
            <a:solidFill>
              <a:srgbClr val="7F9DB2"/>
            </a:solidFill>
            <a:prstDash val="solid"/>
          </a:ln>
        </p:spPr>
      </p:sp>
      <p:sp>
        <p:nvSpPr>
          <p:cNvPr id="154" name="retest-loop-arrow"/>
          <p:cNvSpPr>
            <a:spLocks noGrp="1"/>
          </p:cNvSpPr>
          <p:nvPr/>
        </p:nvSpPr>
        <p:spPr>
          <a:xfrm rot="16200000">
            <a:off x="10744200" y="2390775"/>
            <a:ext cx="76200" cy="76200"/>
          </a:xfrm>
          <a:prstGeom prst="triangle">
            <a:avLst/>
          </a:prstGeom>
          <a:solidFill>
            <a:srgbClr val="557A96"/>
          </a:solidFill>
          <a:ln w="0">
            <a:solidFill>
              <a:srgbClr val="557A96"/>
            </a:solidFill>
            <a:prstDash val="solid"/>
          </a:ln>
        </p:spPr>
      </p:sp>
      <p:sp>
        <p:nvSpPr>
          <p:cNvPr id="155" name="test-node-box"/>
          <p:cNvSpPr>
            <a:spLocks noGrp="1"/>
          </p:cNvSpPr>
          <p:nvPr/>
        </p:nvSpPr>
        <p:spPr>
          <a:xfrm>
            <a:off x="9525000" y="2276475"/>
            <a:ext cx="1257300" cy="304800"/>
          </a:xfrm>
          <a:prstGeom prst="roundRect">
            <a:avLst>
              <a:gd name="adj" fmla="val 12500"/>
            </a:avLst>
          </a:prstGeom>
          <a:solidFill>
            <a:srgbClr val="F2F6F8"/>
          </a:solidFill>
          <a:ln w="9525">
            <a:solidFill>
              <a:srgbClr val="7F9DB2"/>
            </a:solidFill>
            <a:prstDash val="solid"/>
          </a:ln>
        </p:spPr>
      </p:sp>
      <p:sp>
        <p:nvSpPr>
          <p:cNvPr id="156" name="test-node-text"/>
          <p:cNvSpPr>
            <a:spLocks noGrp="1"/>
          </p:cNvSpPr>
          <p:nvPr/>
        </p:nvSpPr>
        <p:spPr>
          <a:xfrm>
            <a:off x="9553575" y="2295525"/>
            <a:ext cx="1200150" cy="266700"/>
          </a:xfrm>
          <a:prstGeom prst="rect">
            <a:avLst/>
          </a:prstGeom>
          <a:noFill/>
          <a:ln w="0">
            <a:noFill/>
            <a:prstDash val="solid"/>
          </a:ln>
        </p:spPr>
        <p:txBody>
          <a:bodyPr wrap="none" lIns="0" tIns="0" rIns="0" bIns="0" anchor="ctr">
            <a:normAutofit/>
          </a:bodyPr>
          <a:lstStyle/>
          <a:p>
            <a:pPr algn="ctr">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Test</a:t>
            </a:r>
          </a:p>
        </p:txBody>
      </p:sp>
      <p:sp>
        <p:nvSpPr>
          <p:cNvPr id="157" name="fail-label"/>
          <p:cNvSpPr>
            <a:spLocks noGrp="1"/>
          </p:cNvSpPr>
          <p:nvPr/>
        </p:nvSpPr>
        <p:spPr>
          <a:xfrm>
            <a:off x="10106025" y="2628900"/>
            <a:ext cx="533400" cy="1714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dirty="0">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158" name="locate-node-box"/>
          <p:cNvSpPr>
            <a:spLocks noGrp="1"/>
          </p:cNvSpPr>
          <p:nvPr/>
        </p:nvSpPr>
        <p:spPr>
          <a:xfrm>
            <a:off x="9477375" y="2838450"/>
            <a:ext cx="1352550" cy="285750"/>
          </a:xfrm>
          <a:prstGeom prst="roundRect">
            <a:avLst>
              <a:gd name="adj" fmla="val 13333"/>
            </a:avLst>
          </a:prstGeom>
          <a:solidFill>
            <a:srgbClr val="F7F9FA"/>
          </a:solidFill>
          <a:ln w="9525">
            <a:solidFill>
              <a:srgbClr val="7F9DB2"/>
            </a:solidFill>
            <a:prstDash val="solid"/>
          </a:ln>
        </p:spPr>
      </p:sp>
      <p:sp>
        <p:nvSpPr>
          <p:cNvPr id="159" name="locate-node-text"/>
          <p:cNvSpPr>
            <a:spLocks noGrp="1"/>
          </p:cNvSpPr>
          <p:nvPr/>
        </p:nvSpPr>
        <p:spPr>
          <a:xfrm>
            <a:off x="9505950" y="2857500"/>
            <a:ext cx="1295400" cy="247650"/>
          </a:xfrm>
          <a:prstGeom prst="rect">
            <a:avLst/>
          </a:prstGeom>
          <a:noFill/>
          <a:ln w="0">
            <a:noFill/>
            <a:prstDash val="solid"/>
          </a:ln>
        </p:spPr>
        <p:txBody>
          <a:bodyPr wrap="none" lIns="0" tIns="0" rIns="0" bIns="0" anchor="ctr">
            <a:normAutofit/>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a:solidFill>
                  <a:srgbClr val="252B31"/>
                </a:solidFill>
                <a:latin typeface="微软雅黑" panose="020B0503020204020204" charset="-122"/>
                <a:ea typeface="微软雅黑" panose="020B0503020204020204" charset="-122"/>
                <a:cs typeface="微软雅黑" panose="020B0503020204020204" charset="-122"/>
              </a:rPr>
              <a:t>定位原因</a:t>
            </a:r>
          </a:p>
        </p:txBody>
      </p:sp>
      <p:sp>
        <p:nvSpPr>
          <p:cNvPr id="160" name="trigger-node-box"/>
          <p:cNvSpPr>
            <a:spLocks noGrp="1"/>
          </p:cNvSpPr>
          <p:nvPr/>
        </p:nvSpPr>
        <p:spPr>
          <a:xfrm>
            <a:off x="8858250" y="3333750"/>
            <a:ext cx="762000" cy="285750"/>
          </a:xfrm>
          <a:prstGeom prst="roundRect">
            <a:avLst>
              <a:gd name="adj" fmla="val 13333"/>
            </a:avLst>
          </a:prstGeom>
          <a:solidFill>
            <a:srgbClr val="F7F9FA"/>
          </a:solidFill>
          <a:ln w="9525">
            <a:solidFill>
              <a:srgbClr val="7F9DB2"/>
            </a:solidFill>
            <a:prstDash val="solid"/>
          </a:ln>
        </p:spPr>
      </p:sp>
      <p:sp>
        <p:nvSpPr>
          <p:cNvPr id="161" name="trigger-node-text"/>
          <p:cNvSpPr>
            <a:spLocks noGrp="1"/>
          </p:cNvSpPr>
          <p:nvPr/>
        </p:nvSpPr>
        <p:spPr>
          <a:xfrm>
            <a:off x="88868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Trigger</a:t>
            </a:r>
          </a:p>
        </p:txBody>
      </p:sp>
      <p:sp>
        <p:nvSpPr>
          <p:cNvPr id="162" name="workflow-node-box"/>
          <p:cNvSpPr>
            <a:spLocks noGrp="1"/>
          </p:cNvSpPr>
          <p:nvPr/>
        </p:nvSpPr>
        <p:spPr>
          <a:xfrm>
            <a:off x="9725025" y="3333750"/>
            <a:ext cx="857250" cy="285750"/>
          </a:xfrm>
          <a:prstGeom prst="roundRect">
            <a:avLst>
              <a:gd name="adj" fmla="val 13333"/>
            </a:avLst>
          </a:prstGeom>
          <a:solidFill>
            <a:srgbClr val="F7F9FA"/>
          </a:solidFill>
          <a:ln w="9525">
            <a:solidFill>
              <a:srgbClr val="7F9DB2"/>
            </a:solidFill>
            <a:prstDash val="solid"/>
          </a:ln>
        </p:spPr>
      </p:sp>
      <p:sp>
        <p:nvSpPr>
          <p:cNvPr id="163" name="workflow-node-text"/>
          <p:cNvSpPr>
            <a:spLocks noGrp="1"/>
          </p:cNvSpPr>
          <p:nvPr/>
        </p:nvSpPr>
        <p:spPr>
          <a:xfrm>
            <a:off x="9753600" y="3352800"/>
            <a:ext cx="8001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164" name="resource-node-box"/>
          <p:cNvSpPr>
            <a:spLocks noGrp="1"/>
          </p:cNvSpPr>
          <p:nvPr/>
        </p:nvSpPr>
        <p:spPr>
          <a:xfrm>
            <a:off x="10687050" y="3333750"/>
            <a:ext cx="762000" cy="285750"/>
          </a:xfrm>
          <a:prstGeom prst="roundRect">
            <a:avLst>
              <a:gd name="adj" fmla="val 13333"/>
            </a:avLst>
          </a:prstGeom>
          <a:solidFill>
            <a:srgbClr val="F7F9FA"/>
          </a:solidFill>
          <a:ln w="9525">
            <a:solidFill>
              <a:srgbClr val="7F9DB2"/>
            </a:solidFill>
            <a:prstDash val="solid"/>
          </a:ln>
        </p:spPr>
      </p:sp>
      <p:sp>
        <p:nvSpPr>
          <p:cNvPr id="165" name="resource-node-text"/>
          <p:cNvSpPr>
            <a:spLocks noGrp="1"/>
          </p:cNvSpPr>
          <p:nvPr/>
        </p:nvSpPr>
        <p:spPr>
          <a:xfrm>
            <a:off x="107156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Resource</a:t>
            </a:r>
          </a:p>
        </p:txBody>
      </p:sp>
      <p:sp>
        <p:nvSpPr>
          <p:cNvPr id="169" name="modify-node-box"/>
          <p:cNvSpPr>
            <a:spLocks noGrp="1"/>
          </p:cNvSpPr>
          <p:nvPr/>
        </p:nvSpPr>
        <p:spPr>
          <a:xfrm>
            <a:off x="9496424" y="3990975"/>
            <a:ext cx="1352550" cy="285750"/>
          </a:xfrm>
          <a:prstGeom prst="roundRect">
            <a:avLst>
              <a:gd name="adj" fmla="val 13333"/>
            </a:avLst>
          </a:prstGeom>
          <a:solidFill>
            <a:srgbClr val="F2F6F8"/>
          </a:solidFill>
          <a:ln w="9525">
            <a:solidFill>
              <a:srgbClr val="7F9DB2"/>
            </a:solidFill>
            <a:prstDash val="solid"/>
          </a:ln>
        </p:spPr>
      </p:sp>
      <p:sp>
        <p:nvSpPr>
          <p:cNvPr id="170" name="modify-node-text"/>
          <p:cNvSpPr>
            <a:spLocks noGrp="1"/>
          </p:cNvSpPr>
          <p:nvPr/>
        </p:nvSpPr>
        <p:spPr>
          <a:xfrm>
            <a:off x="9524999" y="4010025"/>
            <a:ext cx="12954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修改 Skill</a:t>
            </a:r>
          </a:p>
        </p:txBody>
      </p:sp>
      <p:sp>
        <p:nvSpPr>
          <p:cNvPr id="171" name="retest-node-box"/>
          <p:cNvSpPr>
            <a:spLocks noGrp="1"/>
          </p:cNvSpPr>
          <p:nvPr/>
        </p:nvSpPr>
        <p:spPr>
          <a:xfrm>
            <a:off x="9496424" y="4448175"/>
            <a:ext cx="1352550" cy="304800"/>
          </a:xfrm>
          <a:prstGeom prst="roundRect">
            <a:avLst>
              <a:gd name="adj" fmla="val 12500"/>
            </a:avLst>
          </a:prstGeom>
          <a:solidFill>
            <a:srgbClr val="F2F6F8"/>
          </a:solidFill>
          <a:ln w="9525">
            <a:solidFill>
              <a:srgbClr val="7F9DB2"/>
            </a:solidFill>
            <a:prstDash val="solid"/>
          </a:ln>
        </p:spPr>
      </p:sp>
      <p:sp>
        <p:nvSpPr>
          <p:cNvPr id="172" name="retest-node-text"/>
          <p:cNvSpPr>
            <a:spLocks noGrp="1"/>
          </p:cNvSpPr>
          <p:nvPr/>
        </p:nvSpPr>
        <p:spPr>
          <a:xfrm>
            <a:off x="9524999" y="4467225"/>
            <a:ext cx="1295400" cy="266700"/>
          </a:xfrm>
          <a:prstGeom prst="rect">
            <a:avLst/>
          </a:prstGeom>
          <a:noFill/>
          <a:ln w="0">
            <a:noFill/>
            <a:prstDash val="solid"/>
          </a:ln>
        </p:spPr>
        <p:txBody>
          <a:bodyPr wrap="none" lIns="0" tIns="0" rIns="0" bIns="0" anchor="ctr">
            <a:normAutofit/>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Re-test</a:t>
            </a:r>
          </a:p>
        </p:txBody>
      </p:sp>
      <p:sp>
        <p:nvSpPr>
          <p:cNvPr id="173" name="iteration-principle-band"/>
          <p:cNvSpPr>
            <a:spLocks noGrp="1"/>
          </p:cNvSpPr>
          <p:nvPr/>
        </p:nvSpPr>
        <p:spPr>
          <a:xfrm>
            <a:off x="8877300" y="5391150"/>
            <a:ext cx="2552700" cy="533400"/>
          </a:xfrm>
          <a:prstGeom prst="rect">
            <a:avLst/>
          </a:prstGeom>
          <a:solidFill>
            <a:srgbClr val="F2F6F8"/>
          </a:solidFill>
          <a:ln w="0">
            <a:noFill/>
            <a:prstDash val="solid"/>
          </a:ln>
        </p:spPr>
      </p:sp>
      <p:sp>
        <p:nvSpPr>
          <p:cNvPr id="174" name="iteration-principle"/>
          <p:cNvSpPr>
            <a:spLocks noGrp="1"/>
          </p:cNvSpPr>
          <p:nvPr/>
        </p:nvSpPr>
        <p:spPr>
          <a:xfrm>
            <a:off x="9010650" y="5429250"/>
            <a:ext cx="2286000" cy="457200"/>
          </a:xfrm>
          <a:prstGeom prst="rect">
            <a:avLst/>
          </a:prstGeom>
          <a:noFill/>
          <a:ln w="0">
            <a:noFill/>
            <a:prstDash val="solid"/>
          </a:ln>
        </p:spPr>
        <p:txBody>
          <a:bodyPr wrap="none" lIns="0" tIns="0" rIns="0" bIns="0" anchor="ctr">
            <a:normAutofit/>
          </a:bodyPr>
          <a:lstStyle/>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测试不只判断</a:t>
            </a:r>
            <a:r>
              <a:rPr sz="990" b="1" dirty="0">
                <a:solidFill>
                  <a:srgbClr val="414951"/>
                </a:solidFill>
                <a:latin typeface="微软雅黑" panose="020B0503020204020204" charset="-122"/>
                <a:ea typeface="微软雅黑" panose="020B0503020204020204" charset="-122"/>
                <a:cs typeface="微软雅黑" panose="020B0503020204020204" charset="-122"/>
              </a:rPr>
              <a:t> PASS / FAIL，</a:t>
            </a:r>
          </a:p>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更要定位</a:t>
            </a:r>
            <a:r>
              <a:rPr sz="990" b="1" dirty="0">
                <a:solidFill>
                  <a:srgbClr val="414951"/>
                </a:solidFill>
                <a:latin typeface="微软雅黑" panose="020B0503020204020204" charset="-122"/>
                <a:ea typeface="微软雅黑" panose="020B0503020204020204" charset="-122"/>
                <a:cs typeface="微软雅黑" panose="020B0503020204020204" charset="-122"/>
              </a:rPr>
              <a:t> Skill </a:t>
            </a:r>
            <a:r>
              <a:rPr sz="990" b="1" dirty="0" err="1">
                <a:solidFill>
                  <a:srgbClr val="414951"/>
                </a:solidFill>
                <a:latin typeface="微软雅黑" panose="020B0503020204020204" charset="-122"/>
                <a:ea typeface="微软雅黑" panose="020B0503020204020204" charset="-122"/>
                <a:cs typeface="微软雅黑" panose="020B0503020204020204" charset="-122"/>
              </a:rPr>
              <a:t>的哪一层出了问题</a:t>
            </a:r>
            <a:r>
              <a:rPr sz="9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75" name="summary-band"/>
          <p:cNvSpPr>
            <a:spLocks noGrp="1"/>
          </p:cNvSpPr>
          <p:nvPr/>
        </p:nvSpPr>
        <p:spPr>
          <a:xfrm>
            <a:off x="609600" y="6257925"/>
            <a:ext cx="10972800" cy="371475"/>
          </a:xfrm>
          <a:prstGeom prst="rect">
            <a:avLst/>
          </a:prstGeom>
          <a:solidFill>
            <a:srgbClr val="F3F4F5"/>
          </a:solidFill>
          <a:ln w="0">
            <a:noFill/>
            <a:prstDash val="solid"/>
          </a:ln>
        </p:spPr>
      </p:sp>
      <p:sp>
        <p:nvSpPr>
          <p:cNvPr id="176" name="summary-accent"/>
          <p:cNvSpPr>
            <a:spLocks noGrp="1"/>
          </p:cNvSpPr>
          <p:nvPr/>
        </p:nvSpPr>
        <p:spPr>
          <a:xfrm>
            <a:off x="609600" y="6257925"/>
            <a:ext cx="38100" cy="371475"/>
          </a:xfrm>
          <a:prstGeom prst="rect">
            <a:avLst/>
          </a:prstGeom>
          <a:solidFill>
            <a:srgbClr val="557A96"/>
          </a:solidFill>
          <a:ln w="0">
            <a:noFill/>
            <a:prstDash val="solid"/>
          </a:ln>
        </p:spPr>
      </p:sp>
      <p:sp>
        <p:nvSpPr>
          <p:cNvPr id="177" name="summary-text"/>
          <p:cNvSpPr>
            <a:spLocks noGrp="1"/>
          </p:cNvSpPr>
          <p:nvPr/>
        </p:nvSpPr>
        <p:spPr>
          <a:xfrm>
            <a:off x="819150" y="6286500"/>
            <a:ext cx="10534650" cy="314325"/>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a:solidFill>
                  <a:srgbClr val="414951"/>
                </a:solidFill>
                <a:latin typeface="微软雅黑" panose="020B0503020204020204" charset="-122"/>
                <a:ea typeface="微软雅黑" panose="020B0503020204020204" charset="-122"/>
                <a:cs typeface="微软雅黑" panose="020B0503020204020204" charset="-122"/>
              </a:rPr>
              <a:t>Task → Workflow → Complete Skill → Evaluation → Iteration，构成 Skill 开发的完整闭环。</a:t>
            </a:r>
          </a:p>
        </p:txBody>
      </p:sp>
      <p:sp>
        <p:nvSpPr>
          <p:cNvPr id="17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8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8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7</a:t>
            </a:r>
          </a:p>
        </p:txBody>
      </p:sp>
    </p:spTree>
    <p:extLst>
      <p:ext uri="{BB962C8B-B14F-4D97-AF65-F5344CB8AC3E}">
        <p14:creationId xmlns:p14="http://schemas.microsoft.com/office/powerpoint/2010/main" val="965677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76350" y="171450"/>
            <a:ext cx="10572750" cy="523875"/>
          </a:xfrm>
          <a:prstGeom prst="rect">
            <a:avLst/>
          </a:prstGeom>
          <a:noFill/>
          <a:ln w="0">
            <a:noFill/>
            <a:prstDash val="solid"/>
          </a:ln>
        </p:spPr>
        <p:txBody>
          <a:bodyPr wrap="none" lIns="0" tIns="0" rIns="0" bIns="0" anchor="ctr">
            <a:normAutofit/>
          </a:bodyPr>
          <a:lstStyle/>
          <a:p>
            <a:pPr algn="l">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如何写好一个</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zh-CN" altLang="en-US" sz="27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七个原则</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5" name="reliability-panel"/>
          <p:cNvSpPr>
            <a:spLocks noGrp="1"/>
          </p:cNvSpPr>
          <p:nvPr/>
        </p:nvSpPr>
        <p:spPr>
          <a:xfrm>
            <a:off x="609600" y="1156910"/>
            <a:ext cx="5353050" cy="3781425"/>
          </a:xfrm>
          <a:prstGeom prst="rect">
            <a:avLst/>
          </a:prstGeom>
          <a:solidFill>
            <a:srgbClr val="FFFFFF"/>
          </a:solidFill>
          <a:ln w="9525">
            <a:solidFill>
              <a:srgbClr val="D8DEE3"/>
            </a:solidFill>
            <a:prstDash val="solid"/>
          </a:ln>
        </p:spPr>
      </p:sp>
      <p:sp>
        <p:nvSpPr>
          <p:cNvPr id="6" name="reliability-accent"/>
          <p:cNvSpPr>
            <a:spLocks noGrp="1"/>
          </p:cNvSpPr>
          <p:nvPr/>
        </p:nvSpPr>
        <p:spPr>
          <a:xfrm>
            <a:off x="609600" y="1156910"/>
            <a:ext cx="5353050" cy="28575"/>
          </a:xfrm>
          <a:prstGeom prst="rect">
            <a:avLst/>
          </a:prstGeom>
          <a:solidFill>
            <a:srgbClr val="557A96"/>
          </a:solidFill>
          <a:ln w="0">
            <a:noFill/>
            <a:prstDash val="solid"/>
          </a:ln>
        </p:spPr>
      </p:sp>
      <p:sp>
        <p:nvSpPr>
          <p:cNvPr id="8" name="usability-accent"/>
          <p:cNvSpPr>
            <a:spLocks noGrp="1"/>
          </p:cNvSpPr>
          <p:nvPr/>
        </p:nvSpPr>
        <p:spPr>
          <a:xfrm>
            <a:off x="6229350" y="1156910"/>
            <a:ext cx="5353050" cy="28575"/>
          </a:xfrm>
          <a:prstGeom prst="rect">
            <a:avLst/>
          </a:prstGeom>
          <a:solidFill>
            <a:srgbClr val="557A96"/>
          </a:solidFill>
          <a:ln w="0">
            <a:noFill/>
            <a:prstDash val="solid"/>
          </a:ln>
        </p:spPr>
      </p:sp>
      <p:sp>
        <p:nvSpPr>
          <p:cNvPr id="9" name="column-divider"/>
          <p:cNvSpPr>
            <a:spLocks noGrp="1"/>
          </p:cNvSpPr>
          <p:nvPr/>
        </p:nvSpPr>
        <p:spPr>
          <a:xfrm>
            <a:off x="6096000" y="1156910"/>
            <a:ext cx="0" cy="3781425"/>
          </a:xfrm>
          <a:prstGeom prst="line">
            <a:avLst/>
          </a:prstGeom>
          <a:noFill/>
          <a:ln w="9525">
            <a:solidFill>
              <a:srgbClr val="D8DEE3"/>
            </a:solidFill>
            <a:prstDash val="solid"/>
          </a:ln>
        </p:spPr>
      </p:sp>
      <p:sp>
        <p:nvSpPr>
          <p:cNvPr id="10" name="reliability-letter"/>
          <p:cNvSpPr>
            <a:spLocks noGrp="1"/>
          </p:cNvSpPr>
          <p:nvPr/>
        </p:nvSpPr>
        <p:spPr>
          <a:xfrm>
            <a:off x="78105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 name="reliability-title"/>
          <p:cNvSpPr>
            <a:spLocks noGrp="1"/>
          </p:cNvSpPr>
          <p:nvPr/>
        </p:nvSpPr>
        <p:spPr>
          <a:xfrm>
            <a:off x="819150" y="1280735"/>
            <a:ext cx="2143125"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00" b="1" dirty="0" smtClean="0">
                <a:solidFill>
                  <a:srgbClr val="252B31"/>
                </a:solidFill>
                <a:latin typeface="微软雅黑" panose="020B0503020204020204" charset="-122"/>
                <a:ea typeface="微软雅黑" panose="020B0503020204020204" charset="-122"/>
                <a:cs typeface="微软雅黑" panose="020B0503020204020204" charset="-122"/>
              </a:rPr>
              <a:t>减少生成时间</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reliability-header-line"/>
          <p:cNvSpPr>
            <a:spLocks noGrp="1"/>
          </p:cNvSpPr>
          <p:nvPr/>
        </p:nvSpPr>
        <p:spPr>
          <a:xfrm>
            <a:off x="781050" y="1671260"/>
            <a:ext cx="5010150" cy="0"/>
          </a:xfrm>
          <a:prstGeom prst="line">
            <a:avLst/>
          </a:prstGeom>
          <a:noFill/>
          <a:ln w="9525">
            <a:solidFill>
              <a:srgbClr val="D8DEE3"/>
            </a:solidFill>
            <a:prstDash val="solid"/>
          </a:ln>
        </p:spPr>
      </p:sp>
      <p:sp>
        <p:nvSpPr>
          <p:cNvPr id="14" name="usability-letter"/>
          <p:cNvSpPr>
            <a:spLocks noGrp="1"/>
          </p:cNvSpPr>
          <p:nvPr/>
        </p:nvSpPr>
        <p:spPr>
          <a:xfrm>
            <a:off x="640080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 name="usability-title"/>
          <p:cNvSpPr>
            <a:spLocks noGrp="1"/>
          </p:cNvSpPr>
          <p:nvPr/>
        </p:nvSpPr>
        <p:spPr>
          <a:xfrm>
            <a:off x="6400800" y="1271210"/>
            <a:ext cx="2667000"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52B31"/>
                </a:solidFill>
                <a:latin typeface="微软雅黑" panose="020B0503020204020204" charset="-122"/>
                <a:ea typeface="微软雅黑" panose="020B0503020204020204" charset="-122"/>
                <a:cs typeface="微软雅黑" panose="020B0503020204020204" charset="-122"/>
              </a:rPr>
              <a:t>快速验证修改</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7" name="usability-header-line"/>
          <p:cNvSpPr>
            <a:spLocks noGrp="1"/>
          </p:cNvSpPr>
          <p:nvPr/>
        </p:nvSpPr>
        <p:spPr>
          <a:xfrm>
            <a:off x="6400800" y="1671260"/>
            <a:ext cx="5010150" cy="0"/>
          </a:xfrm>
          <a:prstGeom prst="line">
            <a:avLst/>
          </a:prstGeom>
          <a:noFill/>
          <a:ln w="9525">
            <a:solidFill>
              <a:srgbClr val="D8DEE3"/>
            </a:solidFill>
            <a:prstDash val="solid"/>
          </a:ln>
        </p:spPr>
      </p:sp>
      <p:sp>
        <p:nvSpPr>
          <p:cNvPr id="28" name="focus-row"/>
          <p:cNvSpPr>
            <a:spLocks noGrp="1"/>
          </p:cNvSpPr>
          <p:nvPr/>
        </p:nvSpPr>
        <p:spPr>
          <a:xfrm>
            <a:off x="781050" y="1804610"/>
            <a:ext cx="5010150" cy="628650"/>
          </a:xfrm>
          <a:prstGeom prst="rect">
            <a:avLst/>
          </a:prstGeom>
          <a:solidFill>
            <a:srgbClr val="F7F9FA"/>
          </a:solidFill>
          <a:ln w="0">
            <a:noFill/>
            <a:prstDash val="solid"/>
          </a:ln>
        </p:spPr>
      </p:sp>
      <p:sp>
        <p:nvSpPr>
          <p:cNvPr id="29" name="focus-number"/>
          <p:cNvSpPr>
            <a:spLocks noGrp="1"/>
          </p:cNvSpPr>
          <p:nvPr/>
        </p:nvSpPr>
        <p:spPr>
          <a:xfrm>
            <a:off x="914400" y="18998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focus-title"/>
          <p:cNvSpPr>
            <a:spLocks noGrp="1"/>
          </p:cNvSpPr>
          <p:nvPr/>
        </p:nvSpPr>
        <p:spPr>
          <a:xfrm>
            <a:off x="1371600" y="18808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职责明确</a:t>
            </a:r>
          </a:p>
        </p:txBody>
      </p:sp>
      <p:sp>
        <p:nvSpPr>
          <p:cNvPr id="31" name="focus-detail"/>
          <p:cNvSpPr>
            <a:spLocks noGrp="1"/>
          </p:cNvSpPr>
          <p:nvPr/>
        </p:nvSpPr>
        <p:spPr>
          <a:xfrm>
            <a:off x="2876550" y="18712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做什么 / 不做什么</a:t>
            </a:r>
          </a:p>
        </p:txBody>
      </p:sp>
      <p:sp>
        <p:nvSpPr>
          <p:cNvPr id="32" name="focus-keywords"/>
          <p:cNvSpPr>
            <a:spLocks noGrp="1"/>
          </p:cNvSpPr>
          <p:nvPr/>
        </p:nvSpPr>
        <p:spPr>
          <a:xfrm>
            <a:off x="2876550" y="21379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边界清晰，避免越界</a:t>
            </a:r>
          </a:p>
        </p:txBody>
      </p:sp>
      <p:sp>
        <p:nvSpPr>
          <p:cNvPr id="34" name="flow-number"/>
          <p:cNvSpPr>
            <a:spLocks noGrp="1"/>
          </p:cNvSpPr>
          <p:nvPr/>
        </p:nvSpPr>
        <p:spPr>
          <a:xfrm>
            <a:off x="914400" y="26047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flow-title"/>
          <p:cNvSpPr>
            <a:spLocks noGrp="1"/>
          </p:cNvSpPr>
          <p:nvPr/>
        </p:nvSpPr>
        <p:spPr>
          <a:xfrm>
            <a:off x="1371600" y="25856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流程可执行</a:t>
            </a:r>
          </a:p>
        </p:txBody>
      </p:sp>
      <p:sp>
        <p:nvSpPr>
          <p:cNvPr id="36" name="flow-detail"/>
          <p:cNvSpPr>
            <a:spLocks noGrp="1"/>
          </p:cNvSpPr>
          <p:nvPr/>
        </p:nvSpPr>
        <p:spPr>
          <a:xfrm>
            <a:off x="2876550" y="25761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Stage / Gate / Failure</a:t>
            </a:r>
          </a:p>
        </p:txBody>
      </p:sp>
      <p:sp>
        <p:nvSpPr>
          <p:cNvPr id="37" name="flow-keywords"/>
          <p:cNvSpPr>
            <a:spLocks noGrp="1"/>
          </p:cNvSpPr>
          <p:nvPr/>
        </p:nvSpPr>
        <p:spPr>
          <a:xfrm>
            <a:off x="2876550" y="28428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步骤明确，推进有条件</a:t>
            </a:r>
          </a:p>
        </p:txBody>
      </p:sp>
      <p:sp>
        <p:nvSpPr>
          <p:cNvPr id="38" name="contract-row"/>
          <p:cNvSpPr>
            <a:spLocks noGrp="1"/>
          </p:cNvSpPr>
          <p:nvPr/>
        </p:nvSpPr>
        <p:spPr>
          <a:xfrm>
            <a:off x="781050" y="3214310"/>
            <a:ext cx="5010150" cy="628650"/>
          </a:xfrm>
          <a:prstGeom prst="rect">
            <a:avLst/>
          </a:prstGeom>
          <a:solidFill>
            <a:srgbClr val="F7F9FA"/>
          </a:solidFill>
          <a:ln w="0">
            <a:noFill/>
            <a:prstDash val="solid"/>
          </a:ln>
        </p:spPr>
      </p:sp>
      <p:sp>
        <p:nvSpPr>
          <p:cNvPr id="39" name="contract-number"/>
          <p:cNvSpPr>
            <a:spLocks noGrp="1"/>
          </p:cNvSpPr>
          <p:nvPr/>
        </p:nvSpPr>
        <p:spPr>
          <a:xfrm>
            <a:off x="914400" y="33095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contract-title"/>
          <p:cNvSpPr>
            <a:spLocks noGrp="1"/>
          </p:cNvSpPr>
          <p:nvPr/>
        </p:nvSpPr>
        <p:spPr>
          <a:xfrm>
            <a:off x="1371600" y="32905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契约清楚</a:t>
            </a:r>
          </a:p>
        </p:txBody>
      </p:sp>
      <p:sp>
        <p:nvSpPr>
          <p:cNvPr id="41" name="contract-detail"/>
          <p:cNvSpPr>
            <a:spLocks noGrp="1"/>
          </p:cNvSpPr>
          <p:nvPr/>
        </p:nvSpPr>
        <p:spPr>
          <a:xfrm>
            <a:off x="2876550" y="32809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Input / Output</a:t>
            </a:r>
          </a:p>
        </p:txBody>
      </p:sp>
      <p:sp>
        <p:nvSpPr>
          <p:cNvPr id="42" name="contract-keywords"/>
          <p:cNvSpPr>
            <a:spLocks noGrp="1"/>
          </p:cNvSpPr>
          <p:nvPr/>
        </p:nvSpPr>
        <p:spPr>
          <a:xfrm>
            <a:off x="2876550" y="35476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输入与产出说清楚</a:t>
            </a:r>
          </a:p>
        </p:txBody>
      </p:sp>
      <p:sp>
        <p:nvSpPr>
          <p:cNvPr id="43" name="recovery-row"/>
          <p:cNvSpPr>
            <a:spLocks noGrp="1"/>
          </p:cNvSpPr>
          <p:nvPr/>
        </p:nvSpPr>
        <p:spPr>
          <a:xfrm>
            <a:off x="781050" y="3919160"/>
            <a:ext cx="5010150" cy="628650"/>
          </a:xfrm>
          <a:prstGeom prst="rect">
            <a:avLst/>
          </a:prstGeom>
          <a:solidFill>
            <a:srgbClr val="FFFFFF"/>
          </a:solidFill>
          <a:ln w="0">
            <a:noFill/>
            <a:prstDash val="solid"/>
          </a:ln>
        </p:spPr>
      </p:sp>
      <p:sp>
        <p:nvSpPr>
          <p:cNvPr id="44" name="recovery-number"/>
          <p:cNvSpPr>
            <a:spLocks noGrp="1"/>
          </p:cNvSpPr>
          <p:nvPr/>
        </p:nvSpPr>
        <p:spPr>
          <a:xfrm>
            <a:off x="914400" y="40144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recovery-title"/>
          <p:cNvSpPr>
            <a:spLocks noGrp="1"/>
          </p:cNvSpPr>
          <p:nvPr/>
        </p:nvSpPr>
        <p:spPr>
          <a:xfrm>
            <a:off x="1371600" y="39953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失败可恢复</a:t>
            </a:r>
          </a:p>
        </p:txBody>
      </p:sp>
      <p:sp>
        <p:nvSpPr>
          <p:cNvPr id="46" name="recovery-detail"/>
          <p:cNvSpPr>
            <a:spLocks noGrp="1"/>
          </p:cNvSpPr>
          <p:nvPr/>
        </p:nvSpPr>
        <p:spPr>
          <a:xfrm>
            <a:off x="2876550" y="39858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原因 / 状态 / 下一步</a:t>
            </a:r>
          </a:p>
        </p:txBody>
      </p:sp>
      <p:sp>
        <p:nvSpPr>
          <p:cNvPr id="47" name="recovery-keywords"/>
          <p:cNvSpPr>
            <a:spLocks noGrp="1"/>
          </p:cNvSpPr>
          <p:nvPr/>
        </p:nvSpPr>
        <p:spPr>
          <a:xfrm>
            <a:off x="2876550" y="42525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失败信息直接支持重试</a:t>
            </a:r>
          </a:p>
        </p:txBody>
      </p:sp>
      <p:sp>
        <p:nvSpPr>
          <p:cNvPr id="49" name="on-demand-row"/>
          <p:cNvSpPr>
            <a:spLocks noGrp="1"/>
          </p:cNvSpPr>
          <p:nvPr/>
        </p:nvSpPr>
        <p:spPr>
          <a:xfrm>
            <a:off x="6400800" y="1861760"/>
            <a:ext cx="5010150" cy="838200"/>
          </a:xfrm>
          <a:prstGeom prst="rect">
            <a:avLst/>
          </a:prstGeom>
          <a:solidFill>
            <a:srgbClr val="F7F9FA"/>
          </a:solidFill>
          <a:ln w="0">
            <a:noFill/>
            <a:prstDash val="solid"/>
          </a:ln>
        </p:spPr>
      </p:sp>
      <p:sp>
        <p:nvSpPr>
          <p:cNvPr id="50" name="on-demand-number"/>
          <p:cNvSpPr>
            <a:spLocks noGrp="1"/>
          </p:cNvSpPr>
          <p:nvPr/>
        </p:nvSpPr>
        <p:spPr>
          <a:xfrm>
            <a:off x="6534150" y="19855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51" name="on-demand-title"/>
          <p:cNvSpPr>
            <a:spLocks noGrp="1"/>
          </p:cNvSpPr>
          <p:nvPr/>
        </p:nvSpPr>
        <p:spPr>
          <a:xfrm>
            <a:off x="6991350" y="19570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按需加载</a:t>
            </a:r>
          </a:p>
        </p:txBody>
      </p:sp>
      <p:sp>
        <p:nvSpPr>
          <p:cNvPr id="52" name="on-demand-detail"/>
          <p:cNvSpPr>
            <a:spLocks noGrp="1"/>
          </p:cNvSpPr>
          <p:nvPr/>
        </p:nvSpPr>
        <p:spPr>
          <a:xfrm>
            <a:off x="8496300" y="19570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核心流程 + 必要资源</a:t>
            </a:r>
          </a:p>
        </p:txBody>
      </p:sp>
      <p:sp>
        <p:nvSpPr>
          <p:cNvPr id="53" name="on-demand-keywords"/>
          <p:cNvSpPr>
            <a:spLocks noGrp="1"/>
          </p:cNvSpPr>
          <p:nvPr/>
        </p:nvSpPr>
        <p:spPr>
          <a:xfrm>
            <a:off x="8496300" y="22618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只加载当前任务真正需要的资源</a:t>
            </a:r>
          </a:p>
        </p:txBody>
      </p:sp>
      <p:sp>
        <p:nvSpPr>
          <p:cNvPr id="54" name="constraint-row"/>
          <p:cNvSpPr>
            <a:spLocks noGrp="1"/>
          </p:cNvSpPr>
          <p:nvPr/>
        </p:nvSpPr>
        <p:spPr>
          <a:xfrm>
            <a:off x="6400800" y="2833310"/>
            <a:ext cx="5010150" cy="838200"/>
          </a:xfrm>
          <a:prstGeom prst="rect">
            <a:avLst/>
          </a:prstGeom>
          <a:solidFill>
            <a:srgbClr val="FFFFFF"/>
          </a:solidFill>
          <a:ln w="0">
            <a:noFill/>
            <a:prstDash val="solid"/>
          </a:ln>
        </p:spPr>
      </p:sp>
      <p:sp>
        <p:nvSpPr>
          <p:cNvPr id="55" name="constraint-number"/>
          <p:cNvSpPr>
            <a:spLocks noGrp="1"/>
          </p:cNvSpPr>
          <p:nvPr/>
        </p:nvSpPr>
        <p:spPr>
          <a:xfrm>
            <a:off x="6534150" y="295713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56" name="constraint-title"/>
          <p:cNvSpPr>
            <a:spLocks noGrp="1"/>
          </p:cNvSpPr>
          <p:nvPr/>
        </p:nvSpPr>
        <p:spPr>
          <a:xfrm>
            <a:off x="6991350" y="292856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适度约束</a:t>
            </a:r>
          </a:p>
        </p:txBody>
      </p:sp>
      <p:sp>
        <p:nvSpPr>
          <p:cNvPr id="57" name="constraint-detail"/>
          <p:cNvSpPr>
            <a:spLocks noGrp="1"/>
          </p:cNvSpPr>
          <p:nvPr/>
        </p:nvSpPr>
        <p:spPr>
          <a:xfrm>
            <a:off x="8496300" y="292856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关键处严格，开放处灵活</a:t>
            </a:r>
          </a:p>
        </p:txBody>
      </p:sp>
      <p:sp>
        <p:nvSpPr>
          <p:cNvPr id="58" name="constraint-keywords"/>
          <p:cNvSpPr>
            <a:spLocks noGrp="1"/>
          </p:cNvSpPr>
          <p:nvPr/>
        </p:nvSpPr>
        <p:spPr>
          <a:xfrm>
            <a:off x="8496300" y="323336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Contract / Gate 说清关键条件</a:t>
            </a:r>
          </a:p>
        </p:txBody>
      </p:sp>
      <p:sp>
        <p:nvSpPr>
          <p:cNvPr id="59" name="trigger-row"/>
          <p:cNvSpPr>
            <a:spLocks noGrp="1"/>
          </p:cNvSpPr>
          <p:nvPr/>
        </p:nvSpPr>
        <p:spPr>
          <a:xfrm>
            <a:off x="6400800" y="3804860"/>
            <a:ext cx="5010150" cy="838200"/>
          </a:xfrm>
          <a:prstGeom prst="rect">
            <a:avLst/>
          </a:prstGeom>
          <a:solidFill>
            <a:srgbClr val="F7F9FA"/>
          </a:solidFill>
          <a:ln w="0">
            <a:noFill/>
            <a:prstDash val="solid"/>
          </a:ln>
        </p:spPr>
      </p:sp>
      <p:sp>
        <p:nvSpPr>
          <p:cNvPr id="60" name="trigger-number"/>
          <p:cNvSpPr>
            <a:spLocks noGrp="1"/>
          </p:cNvSpPr>
          <p:nvPr/>
        </p:nvSpPr>
        <p:spPr>
          <a:xfrm>
            <a:off x="6534150" y="39286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07</a:t>
            </a:r>
          </a:p>
        </p:txBody>
      </p:sp>
      <p:sp>
        <p:nvSpPr>
          <p:cNvPr id="61" name="trigger-title"/>
          <p:cNvSpPr>
            <a:spLocks noGrp="1"/>
          </p:cNvSpPr>
          <p:nvPr/>
        </p:nvSpPr>
        <p:spPr>
          <a:xfrm>
            <a:off x="6991350" y="39001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触发清晰</a:t>
            </a:r>
          </a:p>
        </p:txBody>
      </p:sp>
      <p:sp>
        <p:nvSpPr>
          <p:cNvPr id="62" name="trigger-detail"/>
          <p:cNvSpPr>
            <a:spLocks noGrp="1"/>
          </p:cNvSpPr>
          <p:nvPr/>
        </p:nvSpPr>
        <p:spPr>
          <a:xfrm>
            <a:off x="8496300" y="39001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name / description</a:t>
            </a:r>
          </a:p>
        </p:txBody>
      </p:sp>
      <p:sp>
        <p:nvSpPr>
          <p:cNvPr id="63" name="trigger-keywords"/>
          <p:cNvSpPr>
            <a:spLocks noGrp="1"/>
          </p:cNvSpPr>
          <p:nvPr/>
        </p:nvSpPr>
        <p:spPr>
          <a:xfrm>
            <a:off x="8496300" y="42049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让 Agent 知道何时调用</a:t>
            </a:r>
          </a:p>
        </p:txBody>
      </p:sp>
      <p:sp>
        <p:nvSpPr>
          <p:cNvPr id="65" name="self-check-band"/>
          <p:cNvSpPr>
            <a:spLocks noGrp="1"/>
          </p:cNvSpPr>
          <p:nvPr/>
        </p:nvSpPr>
        <p:spPr>
          <a:xfrm>
            <a:off x="609600" y="5719384"/>
            <a:ext cx="10972800" cy="890965"/>
          </a:xfrm>
          <a:prstGeom prst="rect">
            <a:avLst/>
          </a:prstGeom>
          <a:solidFill>
            <a:srgbClr val="F3F4F5"/>
          </a:solidFill>
          <a:ln w="0">
            <a:noFill/>
            <a:prstDash val="solid"/>
          </a:ln>
        </p:spPr>
      </p:sp>
      <p:sp>
        <p:nvSpPr>
          <p:cNvPr id="66" name="self-check-accent"/>
          <p:cNvSpPr>
            <a:spLocks noGrp="1"/>
          </p:cNvSpPr>
          <p:nvPr/>
        </p:nvSpPr>
        <p:spPr>
          <a:xfrm>
            <a:off x="601981" y="5719384"/>
            <a:ext cx="45719" cy="890966"/>
          </a:xfrm>
          <a:prstGeom prst="rect">
            <a:avLst/>
          </a:prstGeom>
          <a:solidFill>
            <a:srgbClr val="557A96"/>
          </a:solidFill>
          <a:ln w="0">
            <a:noFill/>
            <a:prstDash val="solid"/>
          </a:ln>
        </p:spPr>
      </p:sp>
      <p:sp>
        <p:nvSpPr>
          <p:cNvPr id="67" name="self-check-title"/>
          <p:cNvSpPr>
            <a:spLocks noGrp="1"/>
          </p:cNvSpPr>
          <p:nvPr/>
        </p:nvSpPr>
        <p:spPr>
          <a:xfrm>
            <a:off x="819150" y="5876926"/>
            <a:ext cx="2381250" cy="295275"/>
          </a:xfrm>
          <a:prstGeom prst="rect">
            <a:avLst/>
          </a:prstGeom>
          <a:noFill/>
          <a:ln w="0">
            <a:noFill/>
            <a:prstDash val="solid"/>
          </a:ln>
        </p:spPr>
        <p:txBody>
          <a:bodyPr wrap="none" lIns="0" tIns="0" rIns="0" bIns="0" anchor="ctr">
            <a:normAutofit/>
          </a:bodyPr>
          <a:lstStyle/>
          <a:p>
            <a:pPr algn="l">
              <a:buNone/>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a:solidFill>
                  <a:srgbClr val="252B31"/>
                </a:solidFill>
                <a:latin typeface="微软雅黑" panose="020B0503020204020204" charset="-122"/>
                <a:ea typeface="微软雅黑" panose="020B0503020204020204" charset="-122"/>
                <a:cs typeface="微软雅黑" panose="020B0503020204020204" charset="-122"/>
              </a:rPr>
              <a:t>Agent </a:t>
            </a:r>
            <a:r>
              <a:rPr sz="1650" b="1" dirty="0" err="1">
                <a:solidFill>
                  <a:srgbClr val="252B31"/>
                </a:solidFill>
                <a:latin typeface="微软雅黑" panose="020B0503020204020204" charset="-122"/>
                <a:ea typeface="微软雅黑" panose="020B0503020204020204" charset="-122"/>
                <a:cs typeface="微软雅黑" panose="020B0503020204020204" charset="-122"/>
              </a:rPr>
              <a:t>视角自检</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1" name="check-trigger-text"/>
          <p:cNvSpPr>
            <a:spLocks noGrp="1"/>
          </p:cNvSpPr>
          <p:nvPr/>
        </p:nvSpPr>
        <p:spPr>
          <a:xfrm>
            <a:off x="2781301" y="5852734"/>
            <a:ext cx="8458199" cy="609601"/>
          </a:xfrm>
          <a:prstGeom prst="rect">
            <a:avLst/>
          </a:prstGeom>
          <a:noFill/>
          <a:ln w="0">
            <a:noFill/>
            <a:prstDash val="solid"/>
          </a:ln>
        </p:spPr>
        <p:txBody>
          <a:bodyPr wrap="none" lIns="0" tIns="0" rIns="0" bIns="0" anchor="ctr">
            <a:normAutofit/>
          </a:bodyPr>
          <a:lstStyle/>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dirty="0"/>
              <a:t>在做</a:t>
            </a:r>
            <a:r>
              <a:rPr lang="en-US" altLang="zh-CN" sz="1165" dirty="0"/>
              <a:t>AI Skill</a:t>
            </a:r>
            <a:r>
              <a:rPr lang="zh-CN" altLang="en-US" sz="1165" dirty="0"/>
              <a:t>时</a:t>
            </a:r>
            <a:r>
              <a:rPr lang="zh-CN" altLang="en-US" sz="1165" dirty="0" smtClean="0"/>
              <a:t>，代入</a:t>
            </a:r>
            <a:r>
              <a:rPr lang="zh-CN" altLang="en-US" sz="1165" dirty="0"/>
              <a:t>“</a:t>
            </a:r>
            <a:r>
              <a:rPr lang="en-US" altLang="zh-CN" sz="1165" dirty="0"/>
              <a:t>Agent”</a:t>
            </a:r>
            <a:r>
              <a:rPr lang="zh-CN" altLang="en-US" sz="1165" dirty="0"/>
              <a:t>的角色去思考：</a:t>
            </a:r>
            <a:r>
              <a:rPr lang="zh-CN" altLang="en-US" sz="1165" b="1" dirty="0"/>
              <a:t>“</a:t>
            </a:r>
            <a:r>
              <a:rPr lang="zh-CN" altLang="en-US" sz="1165" b="1" dirty="0" smtClean="0"/>
              <a:t>我</a:t>
            </a:r>
            <a:r>
              <a:rPr lang="zh-CN" altLang="en-US" sz="1165" b="1" dirty="0"/>
              <a:t>是</a:t>
            </a:r>
            <a:r>
              <a:rPr lang="zh-CN" altLang="en-US" sz="1165" b="1" dirty="0" smtClean="0"/>
              <a:t>大</a:t>
            </a:r>
            <a:r>
              <a:rPr lang="zh-CN" altLang="en-US" sz="1165" b="1" dirty="0"/>
              <a:t>模型</a:t>
            </a:r>
            <a:r>
              <a:rPr lang="zh-CN" altLang="en-US" sz="1165" b="1" dirty="0" smtClean="0"/>
              <a:t>，</a:t>
            </a:r>
            <a:r>
              <a:rPr lang="zh-CN" altLang="en-US" sz="1165" b="1" dirty="0"/>
              <a:t>看到这个描述，</a:t>
            </a:r>
            <a:r>
              <a:rPr lang="zh-CN" altLang="en-US" sz="1165" b="1" dirty="0" smtClean="0"/>
              <a:t>我清楚这个</a:t>
            </a:r>
            <a:r>
              <a:rPr lang="zh-CN" altLang="en-US" sz="1165" b="1" dirty="0"/>
              <a:t>工具什么时候用吗</a:t>
            </a:r>
            <a:r>
              <a:rPr lang="zh-CN" altLang="en-US" sz="1165" b="1" dirty="0" smtClean="0"/>
              <a:t>？</a:t>
            </a:r>
            <a:endParaRPr lang="en-US" altLang="zh-CN" sz="1165" b="1" dirty="0" smtClean="0"/>
          </a:p>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b="1" dirty="0" smtClean="0"/>
              <a:t>我</a:t>
            </a:r>
            <a:r>
              <a:rPr lang="zh-CN" altLang="en-US" sz="1165" b="1" dirty="0"/>
              <a:t>输出的参数它满意吗？它给我的报错提示我看得懂吗？”</a:t>
            </a:r>
            <a:r>
              <a:rPr sz="116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8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1.6</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8</a:t>
            </a:r>
          </a:p>
        </p:txBody>
      </p:sp>
    </p:spTree>
    <p:extLst>
      <p:ext uri="{BB962C8B-B14F-4D97-AF65-F5344CB8AC3E}">
        <p14:creationId xmlns:p14="http://schemas.microsoft.com/office/powerpoint/2010/main" val="2897831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37178FA-5CE2-4CAB-8872-6CCA8ACBB856}"/>
              </a:ext>
            </a:extLst>
          </p:cNvPr>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buNone/>
              <a:defRPr sz="2925" b="1">
                <a:solidFill>
                  <a:srgbClr val="252B31"/>
                </a:solidFill>
                <a:latin typeface="微软雅黑"/>
                <a:ea typeface="微软雅黑"/>
                <a:cs typeface="微软雅黑"/>
              </a:defRPr>
            </a:pPr>
            <a:r>
              <a:rPr sz="2700" b="1" dirty="0" err="1">
                <a:solidFill>
                  <a:srgbClr val="243B53"/>
                </a:solidFill>
                <a:latin typeface="Arial"/>
                <a:ea typeface="Arial"/>
                <a:cs typeface="Arial"/>
              </a:rPr>
              <a:t>使用</a:t>
            </a:r>
            <a:r>
              <a:rPr sz="2700" b="1" dirty="0">
                <a:solidFill>
                  <a:srgbClr val="243B53"/>
                </a:solidFill>
                <a:latin typeface="Arial"/>
                <a:ea typeface="Arial"/>
                <a:cs typeface="Arial"/>
              </a:rPr>
              <a:t> Skill </a:t>
            </a:r>
            <a:r>
              <a:rPr sz="2700" b="1" dirty="0" err="1" smtClean="0">
                <a:solidFill>
                  <a:srgbClr val="243B53"/>
                </a:solidFill>
                <a:latin typeface="Arial"/>
                <a:ea typeface="Arial"/>
                <a:cs typeface="Arial"/>
              </a:rPr>
              <a:t>进行</a:t>
            </a:r>
            <a:r>
              <a:rPr lang="zh-CN" altLang="en-US" sz="2700" b="1" dirty="0" smtClean="0">
                <a:solidFill>
                  <a:srgbClr val="243B53"/>
                </a:solidFill>
                <a:latin typeface="Arial"/>
                <a:ea typeface="Arial"/>
                <a:cs typeface="Arial"/>
              </a:rPr>
              <a:t>复杂开发时</a:t>
            </a:r>
            <a:r>
              <a:rPr sz="2700" b="1" dirty="0" err="1" smtClean="0">
                <a:solidFill>
                  <a:srgbClr val="243B53"/>
                </a:solidFill>
                <a:latin typeface="Arial"/>
                <a:ea typeface="Arial"/>
                <a:cs typeface="Arial"/>
              </a:rPr>
              <a:t>的三个</a:t>
            </a:r>
            <a:r>
              <a:rPr lang="zh-CN" altLang="en-US" sz="2700" b="1" dirty="0" smtClean="0">
                <a:solidFill>
                  <a:srgbClr val="243B53"/>
                </a:solidFill>
                <a:latin typeface="Arial"/>
                <a:ea typeface="Arial"/>
                <a:cs typeface="Arial"/>
              </a:rPr>
              <a:t>困难</a:t>
            </a:r>
            <a:endParaRPr sz="2700" b="1" dirty="0">
              <a:solidFill>
                <a:srgbClr val="243B53"/>
              </a:solidFill>
              <a:latin typeface="Arial"/>
              <a:ea typeface="Arial"/>
              <a:cs typeface="Arial"/>
            </a:endParaRPr>
          </a:p>
        </p:txBody>
      </p:sp>
      <p:sp>
        <p:nvSpPr>
          <p:cNvPr id="15" name="resources-frame">
            <a:extLst>
              <a:ext uri="{FF2B5EF4-FFF2-40B4-BE49-F238E27FC236}">
                <a16:creationId xmlns:a16="http://schemas.microsoft.com/office/drawing/2014/main" id="{0463F984-48C2-4C52-BB3E-34CBC392545B}"/>
              </a:ext>
            </a:extLst>
          </p:cNvPr>
          <p:cNvSpPr>
            <a:spLocks noGrp="1"/>
          </p:cNvSpPr>
          <p:nvPr/>
        </p:nvSpPr>
        <p:spPr>
          <a:xfrm>
            <a:off x="609600" y="1562100"/>
            <a:ext cx="3333750" cy="3905250"/>
          </a:xfrm>
          <a:prstGeom prst="roundRect">
            <a:avLst>
              <a:gd name="adj" fmla="val 1429"/>
            </a:avLst>
          </a:prstGeom>
          <a:solidFill>
            <a:srgbClr val="F7F8F9"/>
          </a:solidFill>
          <a:ln w="9525">
            <a:solidFill>
              <a:srgbClr val="D7E0E6"/>
            </a:solidFill>
            <a:prstDash val="solid"/>
          </a:ln>
        </p:spPr>
      </p:sp>
      <p:sp>
        <p:nvSpPr>
          <p:cNvPr id="16" name="resources-accent">
            <a:extLst>
              <a:ext uri="{FF2B5EF4-FFF2-40B4-BE49-F238E27FC236}">
                <a16:creationId xmlns:a16="http://schemas.microsoft.com/office/drawing/2014/main" id="{7E975677-AF72-4DA3-BBA0-0A12A6BBA1C2}"/>
              </a:ext>
            </a:extLst>
          </p:cNvPr>
          <p:cNvSpPr>
            <a:spLocks noGrp="1"/>
          </p:cNvSpPr>
          <p:nvPr/>
        </p:nvSpPr>
        <p:spPr>
          <a:xfrm>
            <a:off x="609600" y="1562100"/>
            <a:ext cx="3333750" cy="28575"/>
          </a:xfrm>
          <a:prstGeom prst="rect">
            <a:avLst/>
          </a:prstGeom>
          <a:solidFill>
            <a:srgbClr val="5C7F99"/>
          </a:solidFill>
          <a:ln w="0">
            <a:solidFill>
              <a:srgbClr val="5C7F99"/>
            </a:solidFill>
            <a:prstDash val="solid"/>
          </a:ln>
        </p:spPr>
      </p:sp>
      <p:sp>
        <p:nvSpPr>
          <p:cNvPr id="17" name="resources-number">
            <a:extLst>
              <a:ext uri="{FF2B5EF4-FFF2-40B4-BE49-F238E27FC236}">
                <a16:creationId xmlns:a16="http://schemas.microsoft.com/office/drawing/2014/main" id="{7EEA21D6-BB92-438F-BA79-BF3919CF78E9}"/>
              </a:ext>
            </a:extLst>
          </p:cNvP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01</a:t>
            </a:r>
          </a:p>
        </p:txBody>
      </p:sp>
      <p:sp>
        <p:nvSpPr>
          <p:cNvPr id="18" name="resources-title">
            <a:extLst>
              <a:ext uri="{FF2B5EF4-FFF2-40B4-BE49-F238E27FC236}">
                <a16:creationId xmlns:a16="http://schemas.microsoft.com/office/drawing/2014/main" id="{30C52ED7-A208-46F5-B7E3-740B879C6A07}"/>
              </a:ext>
            </a:extLst>
          </p:cNvPr>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Token / 额度消耗大</a:t>
            </a:r>
          </a:p>
        </p:txBody>
      </p:sp>
      <p:sp>
        <p:nvSpPr>
          <p:cNvPr id="21" name="constraints-frame">
            <a:extLst>
              <a:ext uri="{FF2B5EF4-FFF2-40B4-BE49-F238E27FC236}">
                <a16:creationId xmlns:a16="http://schemas.microsoft.com/office/drawing/2014/main" id="{1154F099-8A45-4ED2-94A3-BD7455226A92}"/>
              </a:ext>
            </a:extLst>
          </p:cNvPr>
          <p:cNvSpPr>
            <a:spLocks noGrp="1"/>
          </p:cNvSpPr>
          <p:nvPr/>
        </p:nvSpPr>
        <p:spPr>
          <a:xfrm>
            <a:off x="4200525" y="1562100"/>
            <a:ext cx="3781425" cy="3905250"/>
          </a:xfrm>
          <a:prstGeom prst="roundRect">
            <a:avLst>
              <a:gd name="adj" fmla="val 1259"/>
            </a:avLst>
          </a:prstGeom>
          <a:solidFill>
            <a:srgbClr val="F7F8F9"/>
          </a:solidFill>
          <a:ln w="9525">
            <a:solidFill>
              <a:srgbClr val="D7E0E6"/>
            </a:solidFill>
            <a:prstDash val="solid"/>
          </a:ln>
        </p:spPr>
      </p:sp>
      <p:sp>
        <p:nvSpPr>
          <p:cNvPr id="22" name="constraints-accent">
            <a:extLst>
              <a:ext uri="{FF2B5EF4-FFF2-40B4-BE49-F238E27FC236}">
                <a16:creationId xmlns:a16="http://schemas.microsoft.com/office/drawing/2014/main" id="{4B8B09AB-62BE-4C49-8D8E-CCE708434311}"/>
              </a:ext>
            </a:extLst>
          </p:cNvPr>
          <p:cNvSpPr>
            <a:spLocks noGrp="1"/>
          </p:cNvSpPr>
          <p:nvPr/>
        </p:nvSpPr>
        <p:spPr>
          <a:xfrm>
            <a:off x="4200525" y="1562100"/>
            <a:ext cx="3781425" cy="28575"/>
          </a:xfrm>
          <a:prstGeom prst="rect">
            <a:avLst/>
          </a:prstGeom>
          <a:solidFill>
            <a:srgbClr val="5C7F99"/>
          </a:solidFill>
          <a:ln w="0">
            <a:solidFill>
              <a:srgbClr val="5C7F99"/>
            </a:solidFill>
            <a:prstDash val="solid"/>
          </a:ln>
        </p:spPr>
      </p:sp>
      <p:sp>
        <p:nvSpPr>
          <p:cNvPr id="23" name="constraints-number">
            <a:extLst>
              <a:ext uri="{FF2B5EF4-FFF2-40B4-BE49-F238E27FC236}">
                <a16:creationId xmlns:a16="http://schemas.microsoft.com/office/drawing/2014/main" id="{D866D818-3B45-4ED0-A8F4-E28D5FE09613}"/>
              </a:ext>
            </a:extLst>
          </p:cNvP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02</a:t>
            </a:r>
          </a:p>
        </p:txBody>
      </p:sp>
      <p:sp>
        <p:nvSpPr>
          <p:cNvPr id="24" name="constraints-title">
            <a:extLst>
              <a:ext uri="{FF2B5EF4-FFF2-40B4-BE49-F238E27FC236}">
                <a16:creationId xmlns:a16="http://schemas.microsoft.com/office/drawing/2014/main" id="{61BC0F20-8843-45F3-ACA8-BBB1EE312A95}"/>
              </a:ext>
            </a:extLst>
          </p:cNvPr>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端到端开发时间长</a:t>
            </a:r>
          </a:p>
        </p:txBody>
      </p:sp>
      <p:sp>
        <p:nvSpPr>
          <p:cNvPr id="27" name="validation-frame">
            <a:extLst>
              <a:ext uri="{FF2B5EF4-FFF2-40B4-BE49-F238E27FC236}">
                <a16:creationId xmlns:a16="http://schemas.microsoft.com/office/drawing/2014/main" id="{D65B7BEB-A3E1-41DE-B759-0EFC9AE2ADCE}"/>
              </a:ext>
            </a:extLst>
          </p:cNvPr>
          <p:cNvSpPr>
            <a:spLocks noGrp="1"/>
          </p:cNvSpPr>
          <p:nvPr/>
        </p:nvSpPr>
        <p:spPr>
          <a:xfrm>
            <a:off x="8239125" y="1562100"/>
            <a:ext cx="3343275" cy="3905250"/>
          </a:xfrm>
          <a:prstGeom prst="roundRect">
            <a:avLst>
              <a:gd name="adj" fmla="val 1425"/>
            </a:avLst>
          </a:prstGeom>
          <a:solidFill>
            <a:srgbClr val="F7F8F9"/>
          </a:solidFill>
          <a:ln w="9525">
            <a:solidFill>
              <a:srgbClr val="D7E0E6"/>
            </a:solidFill>
            <a:prstDash val="solid"/>
          </a:ln>
        </p:spPr>
      </p:sp>
      <p:sp>
        <p:nvSpPr>
          <p:cNvPr id="28" name="validation-accent">
            <a:extLst>
              <a:ext uri="{FF2B5EF4-FFF2-40B4-BE49-F238E27FC236}">
                <a16:creationId xmlns:a16="http://schemas.microsoft.com/office/drawing/2014/main" id="{5F00A8CD-1A13-436A-83B4-B3CE8172F1E1}"/>
              </a:ext>
            </a:extLst>
          </p:cNvPr>
          <p:cNvSpPr>
            <a:spLocks noGrp="1"/>
          </p:cNvSpPr>
          <p:nvPr/>
        </p:nvSpPr>
        <p:spPr>
          <a:xfrm>
            <a:off x="8239125" y="1562100"/>
            <a:ext cx="3343275" cy="28575"/>
          </a:xfrm>
          <a:prstGeom prst="rect">
            <a:avLst/>
          </a:prstGeom>
          <a:solidFill>
            <a:srgbClr val="5C7F99"/>
          </a:solidFill>
          <a:ln w="0">
            <a:solidFill>
              <a:srgbClr val="5C7F99"/>
            </a:solidFill>
            <a:prstDash val="solid"/>
          </a:ln>
        </p:spPr>
      </p:sp>
      <p:sp>
        <p:nvSpPr>
          <p:cNvPr id="29" name="validation-number">
            <a:extLst>
              <a:ext uri="{FF2B5EF4-FFF2-40B4-BE49-F238E27FC236}">
                <a16:creationId xmlns:a16="http://schemas.microsoft.com/office/drawing/2014/main" id="{9F760B8E-EAAA-4D95-97BB-D91B0A94921C}"/>
              </a:ext>
            </a:extLst>
          </p:cNvP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03</a:t>
            </a:r>
          </a:p>
        </p:txBody>
      </p:sp>
      <p:sp>
        <p:nvSpPr>
          <p:cNvPr id="30" name="validation-title">
            <a:extLst>
              <a:ext uri="{FF2B5EF4-FFF2-40B4-BE49-F238E27FC236}">
                <a16:creationId xmlns:a16="http://schemas.microsoft.com/office/drawing/2014/main" id="{B4878559-B26A-47C0-B3AE-1DFD747C9068}"/>
              </a:ext>
            </a:extLst>
          </p:cNvPr>
          <p:cNvSpPr>
            <a:spLocks noGrp="1"/>
          </p:cNvSpPr>
          <p:nvPr/>
        </p:nvSpPr>
        <p:spPr>
          <a:xfrm>
            <a:off x="8734425" y="1638300"/>
            <a:ext cx="2695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Skill 修改后验证困难</a:t>
            </a:r>
          </a:p>
        </p:txBody>
      </p:sp>
      <p:sp>
        <p:nvSpPr>
          <p:cNvPr id="85" name="constraints-principle-band">
            <a:extLst>
              <a:ext uri="{FF2B5EF4-FFF2-40B4-BE49-F238E27FC236}">
                <a16:creationId xmlns:a16="http://schemas.microsoft.com/office/drawing/2014/main" id="{F2BA136F-494B-4D56-BC3A-2713F5870DBA}"/>
              </a:ext>
            </a:extLst>
          </p:cNvPr>
          <p:cNvSpPr>
            <a:spLocks noGrp="1"/>
          </p:cNvSpPr>
          <p:nvPr/>
        </p:nvSpPr>
        <p:spPr>
          <a:xfrm>
            <a:off x="4300537" y="2666999"/>
            <a:ext cx="3476625" cy="333375"/>
          </a:xfrm>
          <a:prstGeom prst="rect">
            <a:avLst/>
          </a:prstGeom>
          <a:solidFill>
            <a:srgbClr val="EAF0F4"/>
          </a:solidFill>
          <a:ln w="0">
            <a:noFill/>
            <a:prstDash val="solid"/>
          </a:ln>
        </p:spPr>
      </p:sp>
      <p:sp>
        <p:nvSpPr>
          <p:cNvPr id="86" name="constraints-principle">
            <a:extLst>
              <a:ext uri="{FF2B5EF4-FFF2-40B4-BE49-F238E27FC236}">
                <a16:creationId xmlns:a16="http://schemas.microsoft.com/office/drawing/2014/main" id="{156253C9-2297-4D97-AFBF-87F0305D6000}"/>
              </a:ext>
            </a:extLst>
          </p:cNvPr>
          <p:cNvSpPr>
            <a:spLocks noGrp="1"/>
          </p:cNvSpPr>
          <p:nvPr/>
        </p:nvSpPr>
        <p:spPr>
          <a:xfrm>
            <a:off x="4424363" y="2666999"/>
            <a:ext cx="3228975" cy="314325"/>
          </a:xfrm>
          <a:prstGeom prst="rect">
            <a:avLst/>
          </a:prstGeom>
          <a:noFill/>
          <a:ln w="0">
            <a:noFill/>
            <a:prstDash val="solid"/>
          </a:ln>
        </p:spPr>
        <p:txBody>
          <a:bodyPr wrap="none" lIns="0" tIns="0" rIns="0" bIns="0" anchor="ctr">
            <a:normAutofit/>
          </a:bodyPr>
          <a:lstStyle/>
          <a:p>
            <a:pPr algn="ctr">
              <a:buNone/>
              <a:defRPr sz="1015" b="1">
                <a:solidFill>
                  <a:srgbClr val="4B6F88"/>
                </a:solidFill>
                <a:latin typeface="微软雅黑"/>
                <a:ea typeface="微软雅黑"/>
                <a:cs typeface="微软雅黑"/>
              </a:defRPr>
            </a:pPr>
            <a:r>
              <a:rPr sz="1100" b="1" dirty="0" err="1">
                <a:solidFill>
                  <a:srgbClr val="4B6F88"/>
                </a:solidFill>
                <a:latin typeface="微软雅黑"/>
                <a:ea typeface="微软雅黑"/>
                <a:cs typeface="微软雅黑"/>
              </a:rPr>
              <a:t>等待时间多，端到端周期持续拉长</a:t>
            </a:r>
            <a:endParaRPr sz="1100" b="1" dirty="0">
              <a:solidFill>
                <a:srgbClr val="4B6F88"/>
              </a:solidFill>
              <a:latin typeface="微软雅黑"/>
              <a:ea typeface="微软雅黑"/>
              <a:cs typeface="微软雅黑"/>
            </a:endParaRPr>
          </a:p>
        </p:txBody>
      </p:sp>
      <p:sp>
        <p:nvSpPr>
          <p:cNvPr id="87" name="constraints-product-band">
            <a:extLst>
              <a:ext uri="{FF2B5EF4-FFF2-40B4-BE49-F238E27FC236}">
                <a16:creationId xmlns:a16="http://schemas.microsoft.com/office/drawing/2014/main" id="{8677319F-E2B7-4B34-BE19-5B5025A147FD}"/>
              </a:ext>
            </a:extLst>
          </p:cNvPr>
          <p:cNvSpPr>
            <a:spLocks noGrp="1"/>
          </p:cNvSpPr>
          <p:nvPr/>
        </p:nvSpPr>
        <p:spPr>
          <a:xfrm>
            <a:off x="4343400" y="3495675"/>
            <a:ext cx="3476625" cy="295275"/>
          </a:xfrm>
          <a:prstGeom prst="rect">
            <a:avLst/>
          </a:prstGeom>
          <a:solidFill>
            <a:srgbClr val="EAF0F4"/>
          </a:solidFill>
          <a:ln w="0">
            <a:noFill/>
            <a:prstDash val="solid"/>
          </a:ln>
        </p:spPr>
      </p:sp>
      <p:sp>
        <p:nvSpPr>
          <p:cNvPr id="88" name="constraints-product">
            <a:extLst>
              <a:ext uri="{FF2B5EF4-FFF2-40B4-BE49-F238E27FC236}">
                <a16:creationId xmlns:a16="http://schemas.microsoft.com/office/drawing/2014/main" id="{0D89544D-B7F5-4F76-860A-468B23EA4346}"/>
              </a:ext>
            </a:extLst>
          </p:cNvPr>
          <p:cNvSpPr>
            <a:spLocks noGrp="1"/>
          </p:cNvSpPr>
          <p:nvPr/>
        </p:nvSpPr>
        <p:spPr>
          <a:xfrm>
            <a:off x="4521993" y="3505200"/>
            <a:ext cx="3228975" cy="276225"/>
          </a:xfrm>
          <a:prstGeom prst="rect">
            <a:avLst/>
          </a:prstGeom>
          <a:noFill/>
          <a:ln w="0">
            <a:noFill/>
            <a:prstDash val="solid"/>
          </a:ln>
        </p:spPr>
        <p:txBody>
          <a:bodyPr wrap="none" lIns="0" tIns="0" rIns="0" bIns="0" anchor="ctr">
            <a:normAutofit/>
          </a:bodyPr>
          <a:lstStyle/>
          <a:p>
            <a:pPr algn="ctr">
              <a:buNone/>
              <a:defRPr sz="1065" b="1">
                <a:solidFill>
                  <a:srgbClr val="4B6F88"/>
                </a:solidFill>
                <a:latin typeface="微软雅黑"/>
                <a:ea typeface="微软雅黑"/>
                <a:cs typeface="微软雅黑"/>
              </a:defRPr>
            </a:pPr>
            <a:r>
              <a:rPr lang="zh-CN" altLang="en-US" sz="1100" b="1" dirty="0" smtClean="0">
                <a:solidFill>
                  <a:srgbClr val="4B6F88"/>
                </a:solidFill>
                <a:latin typeface="微软雅黑"/>
                <a:ea typeface="微软雅黑"/>
                <a:cs typeface="微软雅黑"/>
              </a:rPr>
              <a:t>开发一个算子需要</a:t>
            </a:r>
            <a:r>
              <a:rPr lang="en-US" altLang="zh-CN" sz="1100" b="1" dirty="0" smtClean="0">
                <a:solidFill>
                  <a:srgbClr val="4B6F88"/>
                </a:solidFill>
                <a:latin typeface="微软雅黑"/>
                <a:ea typeface="微软雅黑"/>
                <a:cs typeface="微软雅黑"/>
              </a:rPr>
              <a:t>2h-5h</a:t>
            </a:r>
            <a:r>
              <a:rPr lang="zh-CN" altLang="en-US" sz="1100" b="1" dirty="0" smtClean="0">
                <a:solidFill>
                  <a:srgbClr val="4B6F88"/>
                </a:solidFill>
                <a:latin typeface="微软雅黑"/>
                <a:ea typeface="微软雅黑"/>
                <a:cs typeface="微软雅黑"/>
              </a:rPr>
              <a:t>不等</a:t>
            </a:r>
            <a:endParaRPr sz="1100" b="1" dirty="0">
              <a:solidFill>
                <a:srgbClr val="4B6F88"/>
              </a:solidFill>
              <a:latin typeface="微软雅黑"/>
              <a:ea typeface="微软雅黑"/>
              <a:cs typeface="微软雅黑"/>
            </a:endParaRPr>
          </a:p>
        </p:txBody>
      </p:sp>
      <p:sp>
        <p:nvSpPr>
          <p:cNvPr id="96" name="trigger-test-label">
            <a:extLst>
              <a:ext uri="{FF2B5EF4-FFF2-40B4-BE49-F238E27FC236}">
                <a16:creationId xmlns:a16="http://schemas.microsoft.com/office/drawing/2014/main" id="{7A5FF5AB-8C4D-416C-B7E7-145F72CAA42F}"/>
              </a:ext>
            </a:extLst>
          </p:cNvPr>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buNone/>
              <a:defRPr sz="1140" b="1">
                <a:solidFill>
                  <a:srgbClr val="4B6F88"/>
                </a:solidFill>
                <a:latin typeface="微软雅黑"/>
                <a:ea typeface="微软雅黑"/>
                <a:cs typeface="微软雅黑"/>
              </a:defRPr>
            </a:pPr>
            <a:endParaRPr sz="1140" b="1" dirty="0">
              <a:solidFill>
                <a:srgbClr val="4B6F88"/>
              </a:solidFill>
              <a:latin typeface="微软雅黑"/>
              <a:ea typeface="微软雅黑"/>
              <a:cs typeface="微软雅黑"/>
            </a:endParaRPr>
          </a:p>
        </p:txBody>
      </p:sp>
      <p:sp>
        <p:nvSpPr>
          <p:cNvPr id="97" name="trigger-test-detail">
            <a:extLst>
              <a:ext uri="{FF2B5EF4-FFF2-40B4-BE49-F238E27FC236}">
                <a16:creationId xmlns:a16="http://schemas.microsoft.com/office/drawing/2014/main" id="{860F0785-2E65-4B16-9663-854C5C9D4911}"/>
              </a:ext>
            </a:extLst>
          </p:cNvPr>
          <p:cNvSpPr>
            <a:spLocks noGrp="1"/>
          </p:cNvSpPr>
          <p:nvPr/>
        </p:nvSpPr>
        <p:spPr>
          <a:xfrm>
            <a:off x="8445500" y="2962275"/>
            <a:ext cx="1628775" cy="295275"/>
          </a:xfrm>
          <a:prstGeom prst="rect">
            <a:avLst/>
          </a:prstGeom>
          <a:noFill/>
          <a:ln w="0">
            <a:noFill/>
            <a:prstDash val="solid"/>
          </a:ln>
        </p:spPr>
        <p:txBody>
          <a:bodyPr wrap="none" lIns="0" tIns="0" rIns="0" bIns="0" anchor="ctr">
            <a:normAutofit/>
          </a:bodyPr>
          <a:lstStyle/>
          <a:p>
            <a:pPr algn="r">
              <a:buNone/>
              <a:defRPr sz="1035" b="0">
                <a:solidFill>
                  <a:srgbClr val="414951"/>
                </a:solidFill>
                <a:latin typeface="微软雅黑"/>
                <a:ea typeface="微软雅黑"/>
                <a:cs typeface="微软雅黑"/>
              </a:defRPr>
            </a:pPr>
            <a:r>
              <a:rPr sz="1000" b="0" dirty="0" err="1">
                <a:solidFill>
                  <a:srgbClr val="414951"/>
                </a:solidFill>
                <a:latin typeface="微软雅黑"/>
                <a:ea typeface="微软雅黑"/>
                <a:cs typeface="微软雅黑"/>
              </a:rPr>
              <a:t>限制</a:t>
            </a:r>
            <a:r>
              <a:rPr sz="1000" b="0" dirty="0">
                <a:solidFill>
                  <a:srgbClr val="414951"/>
                </a:solidFill>
                <a:latin typeface="微软雅黑"/>
                <a:ea typeface="微软雅黑"/>
                <a:cs typeface="微软雅黑"/>
              </a:rPr>
              <a:t> / </a:t>
            </a:r>
            <a:r>
              <a:rPr sz="1000" b="0" dirty="0" err="1">
                <a:solidFill>
                  <a:srgbClr val="414951"/>
                </a:solidFill>
                <a:latin typeface="微软雅黑"/>
                <a:ea typeface="微软雅黑"/>
                <a:cs typeface="微软雅黑"/>
              </a:rPr>
              <a:t>路由</a:t>
            </a:r>
            <a:r>
              <a:rPr sz="1000" b="0" dirty="0">
                <a:solidFill>
                  <a:srgbClr val="414951"/>
                </a:solidFill>
                <a:latin typeface="微软雅黑"/>
                <a:ea typeface="微软雅黑"/>
                <a:cs typeface="微软雅黑"/>
              </a:rPr>
              <a:t> / </a:t>
            </a:r>
            <a:r>
              <a:rPr sz="1000" b="0" dirty="0" err="1">
                <a:solidFill>
                  <a:srgbClr val="414951"/>
                </a:solidFill>
                <a:latin typeface="微软雅黑"/>
                <a:ea typeface="微软雅黑"/>
                <a:cs typeface="微软雅黑"/>
              </a:rPr>
              <a:t>描述</a:t>
            </a:r>
            <a:endParaRPr sz="1000" b="0" dirty="0">
              <a:solidFill>
                <a:srgbClr val="414951"/>
              </a:solidFill>
              <a:latin typeface="微软雅黑"/>
              <a:ea typeface="微软雅黑"/>
              <a:cs typeface="微软雅黑"/>
            </a:endParaRPr>
          </a:p>
        </p:txBody>
      </p:sp>
      <p:sp>
        <p:nvSpPr>
          <p:cNvPr id="110" name="validation-product-band">
            <a:extLst>
              <a:ext uri="{FF2B5EF4-FFF2-40B4-BE49-F238E27FC236}">
                <a16:creationId xmlns:a16="http://schemas.microsoft.com/office/drawing/2014/main" id="{A929412D-440B-4144-9335-A0FAC39C0BA0}"/>
              </a:ext>
            </a:extLst>
          </p:cNvPr>
          <p:cNvSpPr>
            <a:spLocks noGrp="1"/>
          </p:cNvSpPr>
          <p:nvPr/>
        </p:nvSpPr>
        <p:spPr>
          <a:xfrm>
            <a:off x="8445500" y="2686049"/>
            <a:ext cx="3038475" cy="295275"/>
          </a:xfrm>
          <a:prstGeom prst="rect">
            <a:avLst/>
          </a:prstGeom>
          <a:solidFill>
            <a:srgbClr val="EAF0F4"/>
          </a:solidFill>
          <a:ln w="0">
            <a:noFill/>
            <a:prstDash val="solid"/>
          </a:ln>
        </p:spPr>
      </p:sp>
      <p:sp>
        <p:nvSpPr>
          <p:cNvPr id="111" name="validation-product">
            <a:extLst>
              <a:ext uri="{FF2B5EF4-FFF2-40B4-BE49-F238E27FC236}">
                <a16:creationId xmlns:a16="http://schemas.microsoft.com/office/drawing/2014/main" id="{8202033B-A28F-4A97-82C6-0A267F54FFDE}"/>
              </a:ext>
            </a:extLst>
          </p:cNvPr>
          <p:cNvSpPr>
            <a:spLocks noGrp="1"/>
          </p:cNvSpPr>
          <p:nvPr/>
        </p:nvSpPr>
        <p:spPr>
          <a:xfrm>
            <a:off x="8559800" y="2695574"/>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a:ea typeface="微软雅黑"/>
                <a:cs typeface="微软雅黑"/>
              </a:defRPr>
            </a:pPr>
            <a:r>
              <a:rPr lang="zh-CN" altLang="en-US" sz="1100" b="1" dirty="0" smtClean="0">
                <a:solidFill>
                  <a:srgbClr val="4B6F88"/>
                </a:solidFill>
                <a:latin typeface="微软雅黑"/>
                <a:ea typeface="微软雅黑"/>
                <a:cs typeface="微软雅黑"/>
              </a:rPr>
              <a:t>轻微修改规则也要跑完整任务</a:t>
            </a:r>
            <a:endParaRPr sz="1100" b="1" dirty="0">
              <a:solidFill>
                <a:srgbClr val="4B6F88"/>
              </a:solidFill>
              <a:latin typeface="微软雅黑"/>
              <a:ea typeface="微软雅黑"/>
              <a:cs typeface="微软雅黑"/>
            </a:endParaRPr>
          </a:p>
        </p:txBody>
      </p:sp>
      <p:sp>
        <p:nvSpPr>
          <p:cNvPr id="140" name="s13-title-rule">
            <a:extLst>
              <a:ext uri="{FF2B5EF4-FFF2-40B4-BE49-F238E27FC236}">
                <a16:creationId xmlns:a16="http://schemas.microsoft.com/office/drawing/2014/main" id="{6DEF5333-FF1F-44B1-B6BA-A04D7D201325}"/>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150" name="summary-band">
            <a:extLst>
              <a:ext uri="{FF2B5EF4-FFF2-40B4-BE49-F238E27FC236}">
                <a16:creationId xmlns:a16="http://schemas.microsoft.com/office/drawing/2014/main" id="{316FF209-C60B-47A7-A8CD-6C0770B6793F}"/>
              </a:ext>
            </a:extLst>
          </p:cNvPr>
          <p:cNvSpPr>
            <a:spLocks noGrp="1"/>
          </p:cNvSpPr>
          <p:nvPr/>
        </p:nvSpPr>
        <p:spPr>
          <a:xfrm>
            <a:off x="609600" y="6238874"/>
            <a:ext cx="10972800" cy="371476"/>
          </a:xfrm>
          <a:prstGeom prst="rect">
            <a:avLst/>
          </a:prstGeom>
          <a:solidFill>
            <a:srgbClr val="173F61"/>
          </a:solidFill>
          <a:ln w="0">
            <a:solidFill>
              <a:srgbClr val="173F61"/>
            </a:solidFill>
            <a:prstDash val="solid"/>
          </a:ln>
        </p:spPr>
      </p:sp>
      <p:sp>
        <p:nvSpPr>
          <p:cNvPr id="151" name="summary-accent">
            <a:extLst>
              <a:ext uri="{FF2B5EF4-FFF2-40B4-BE49-F238E27FC236}">
                <a16:creationId xmlns:a16="http://schemas.microsoft.com/office/drawing/2014/main" id="{943392F1-252D-4C20-BAFC-4FDAAC42009B}"/>
              </a:ext>
            </a:extLst>
          </p:cNvPr>
          <p:cNvSpPr>
            <a:spLocks noGrp="1"/>
          </p:cNvSpPr>
          <p:nvPr/>
        </p:nvSpPr>
        <p:spPr>
          <a:xfrm>
            <a:off x="601981" y="6238874"/>
            <a:ext cx="45719" cy="371476"/>
          </a:xfrm>
          <a:prstGeom prst="rect">
            <a:avLst/>
          </a:prstGeom>
          <a:solidFill>
            <a:srgbClr val="5C7F99"/>
          </a:solidFill>
          <a:ln w="0">
            <a:solidFill>
              <a:srgbClr val="5C7F99"/>
            </a:solidFill>
            <a:prstDash val="solid"/>
          </a:ln>
        </p:spPr>
      </p:sp>
      <p:sp>
        <p:nvSpPr>
          <p:cNvPr id="152" name="文本框 151">
            <a:extLst>
              <a:ext uri="{FF2B5EF4-FFF2-40B4-BE49-F238E27FC236}">
                <a16:creationId xmlns:a16="http://schemas.microsoft.com/office/drawing/2014/main" id="{0B611F55-D757-4DF5-8949-B09347300247}"/>
              </a:ext>
            </a:extLst>
          </p:cNvPr>
          <p:cNvSpPr>
            <a:spLocks noGrp="1"/>
          </p:cNvSpPr>
          <p:nvPr/>
        </p:nvSpPr>
        <p:spPr>
          <a:xfrm>
            <a:off x="914400" y="6105525"/>
            <a:ext cx="10363200" cy="640080"/>
          </a:xfrm>
          <a:prstGeom prst="rect">
            <a:avLst/>
          </a:prstGeom>
          <a:noFill/>
        </p:spPr>
        <p:txBody>
          <a:bodyPr wrap="none" lIns="0" tIns="0" rIns="0" bIns="0" anchor="ctr">
            <a:noAutofit/>
          </a:bodyPr>
          <a:lstStyle/>
          <a:p>
            <a:pPr algn="ctr">
              <a:defRPr sz="1350" b="1">
                <a:solidFill>
                  <a:srgbClr val="FFFFFF"/>
                </a:solidFill>
                <a:latin typeface="Microsoft YaHei"/>
                <a:ea typeface="Microsoft YaHei"/>
                <a:cs typeface="Microsoft YaHei"/>
              </a:defRPr>
            </a:pPr>
            <a:r>
              <a:rPr sz="1350" b="1" dirty="0" err="1" smtClean="0">
                <a:solidFill>
                  <a:srgbClr val="FFFFFF"/>
                </a:solidFill>
                <a:latin typeface="Microsoft YaHei"/>
                <a:ea typeface="Microsoft YaHei"/>
                <a:cs typeface="Microsoft YaHei"/>
              </a:rPr>
              <a:t>这三个问题</a:t>
            </a:r>
            <a:r>
              <a:rPr lang="zh-CN" altLang="en-US" sz="1350" b="1" dirty="0">
                <a:solidFill>
                  <a:srgbClr val="FFFFFF"/>
                </a:solidFill>
                <a:latin typeface="Microsoft YaHei"/>
                <a:ea typeface="Microsoft YaHei"/>
                <a:cs typeface="Microsoft YaHei"/>
              </a:rPr>
              <a:t>让</a:t>
            </a:r>
            <a:r>
              <a:rPr sz="1350" b="1" dirty="0" smtClean="0">
                <a:solidFill>
                  <a:srgbClr val="FFFFFF"/>
                </a:solidFill>
                <a:latin typeface="Microsoft YaHei"/>
                <a:ea typeface="Microsoft YaHei"/>
                <a:cs typeface="Microsoft YaHei"/>
              </a:rPr>
              <a:t>Skill </a:t>
            </a:r>
            <a:r>
              <a:rPr sz="1350" b="1" dirty="0" err="1">
                <a:solidFill>
                  <a:srgbClr val="FFFFFF"/>
                </a:solidFill>
                <a:latin typeface="Microsoft YaHei"/>
                <a:ea typeface="Microsoft YaHei"/>
                <a:cs typeface="Microsoft YaHei"/>
              </a:rPr>
              <a:t>会从“提升开发效率的工具”变成“高成本、慢迭代、难维护的复杂流程</a:t>
            </a:r>
            <a:r>
              <a:rPr sz="1350" b="1" dirty="0">
                <a:solidFill>
                  <a:srgbClr val="FFFFFF"/>
                </a:solidFill>
                <a:latin typeface="Microsoft YaHei"/>
                <a:ea typeface="Microsoft YaHei"/>
                <a:cs typeface="Microsoft YaHei"/>
              </a:rPr>
              <a:t>”。</a:t>
            </a:r>
          </a:p>
        </p:txBody>
      </p:sp>
      <p:sp>
        <p:nvSpPr>
          <p:cNvPr id="153" name="slide-1-title">
            <a:extLst>
              <a:ext uri="{FF2B5EF4-FFF2-40B4-BE49-F238E27FC236}">
                <a16:creationId xmlns:a16="http://schemas.microsoft.com/office/drawing/2014/main" id="{68B10C97-FF22-4CD3-8248-9CDCD6E71306}"/>
              </a:ext>
            </a:extLst>
          </p:cNvPr>
          <p:cNvSpPr>
            <a:spLocks noGrp="1"/>
          </p:cNvSpPr>
          <p:nvPr/>
        </p:nvSpPr>
        <p:spPr>
          <a:xfrm>
            <a:off x="342900" y="223460"/>
            <a:ext cx="635000"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a:ea typeface="微软雅黑"/>
                <a:cs typeface="微软雅黑"/>
              </a:defRPr>
            </a:pPr>
            <a:r>
              <a:rPr sz="3000" b="1" dirty="0" smtClean="0">
                <a:solidFill>
                  <a:srgbClr val="243B53"/>
                </a:solidFill>
                <a:latin typeface="Arial"/>
                <a:ea typeface="Arial"/>
                <a:cs typeface="Arial"/>
              </a:rPr>
              <a:t>1.</a:t>
            </a:r>
            <a:r>
              <a:rPr lang="en-US" sz="3000" b="1" dirty="0" smtClean="0">
                <a:solidFill>
                  <a:srgbClr val="243B53"/>
                </a:solidFill>
                <a:latin typeface="Arial"/>
                <a:ea typeface="Arial"/>
                <a:cs typeface="Arial"/>
              </a:rPr>
              <a:t>7</a:t>
            </a:r>
            <a:endParaRPr sz="3000" b="1" dirty="0">
              <a:solidFill>
                <a:srgbClr val="243B53"/>
              </a:solidFill>
              <a:latin typeface="Arial"/>
              <a:ea typeface="Arial"/>
              <a:cs typeface="Arial"/>
            </a:endParaRPr>
          </a:p>
        </p:txBody>
      </p:sp>
      <p:sp>
        <p:nvSpPr>
          <p:cNvPr id="154" name="slide-7-page-number">
            <a:extLst>
              <a:ext uri="{FF2B5EF4-FFF2-40B4-BE49-F238E27FC236}">
                <a16:creationId xmlns:a16="http://schemas.microsoft.com/office/drawing/2014/main" id="{D8C5E5EF-5921-4585-9D03-64794CEE38A3}"/>
              </a:ext>
            </a:extLst>
          </p:cNvPr>
          <p:cNvSpPr>
            <a:spLocks noGrp="1"/>
          </p:cNvSpPr>
          <p:nvPr/>
        </p:nvSpPr>
        <p:spPr>
          <a:xfrm>
            <a:off x="11366500" y="317500"/>
            <a:ext cx="330200" cy="279400"/>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a:ea typeface="微软雅黑"/>
                <a:cs typeface="微软雅黑"/>
              </a:defRPr>
            </a:pPr>
            <a:r>
              <a:rPr lang="en-US" sz="1200" b="1" dirty="0">
                <a:solidFill>
                  <a:srgbClr val="66737F"/>
                </a:solidFill>
                <a:latin typeface="Arial"/>
                <a:ea typeface="Arial"/>
                <a:cs typeface="Arial"/>
              </a:rPr>
              <a:t>9</a:t>
            </a:r>
            <a:endParaRPr sz="1200" b="1" dirty="0">
              <a:solidFill>
                <a:srgbClr val="66737F"/>
              </a:solidFill>
              <a:latin typeface="Arial"/>
              <a:ea typeface="Arial"/>
              <a:cs typeface="Arial"/>
            </a:endParaRPr>
          </a:p>
        </p:txBody>
      </p:sp>
      <p:sp>
        <p:nvSpPr>
          <p:cNvPr id="108" name="constraints-principle-band">
            <a:extLst>
              <a:ext uri="{FF2B5EF4-FFF2-40B4-BE49-F238E27FC236}">
                <a16:creationId xmlns:a16="http://schemas.microsoft.com/office/drawing/2014/main" id="{F2BA136F-494B-4D56-BC3A-2713F5870DBA}"/>
              </a:ext>
            </a:extLst>
          </p:cNvPr>
          <p:cNvSpPr>
            <a:spLocks noGrp="1"/>
          </p:cNvSpPr>
          <p:nvPr/>
        </p:nvSpPr>
        <p:spPr>
          <a:xfrm>
            <a:off x="859631" y="2666999"/>
            <a:ext cx="2833688" cy="333375"/>
          </a:xfrm>
          <a:prstGeom prst="rect">
            <a:avLst/>
          </a:prstGeom>
          <a:solidFill>
            <a:srgbClr val="EAF0F4"/>
          </a:solidFill>
          <a:ln w="0">
            <a:noFill/>
            <a:prstDash val="solid"/>
          </a:ln>
        </p:spPr>
      </p:sp>
      <p:sp>
        <p:nvSpPr>
          <p:cNvPr id="109" name="references-node-text">
            <a:extLst>
              <a:ext uri="{FF2B5EF4-FFF2-40B4-BE49-F238E27FC236}">
                <a16:creationId xmlns:a16="http://schemas.microsoft.com/office/drawing/2014/main" id="{979C869B-FEAF-4537-B779-775560C9F33C}"/>
              </a:ext>
            </a:extLst>
          </p:cNvPr>
          <p:cNvSpPr>
            <a:spLocks noGrp="1"/>
          </p:cNvSpPr>
          <p:nvPr/>
        </p:nvSpPr>
        <p:spPr>
          <a:xfrm>
            <a:off x="859631" y="2686049"/>
            <a:ext cx="2862263"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a:ea typeface="微软雅黑"/>
                <a:cs typeface="微软雅黑"/>
              </a:defRPr>
            </a:pPr>
            <a:r>
              <a:rPr lang="zh-CN" altLang="en-US" sz="1100" b="1" dirty="0">
                <a:solidFill>
                  <a:srgbClr val="4B6F88"/>
                </a:solidFill>
                <a:latin typeface="微软雅黑"/>
                <a:ea typeface="微软雅黑"/>
                <a:cs typeface="微软雅黑"/>
              </a:rPr>
              <a:t>开发一个算子需要消耗数百万</a:t>
            </a:r>
            <a:r>
              <a:rPr lang="en-US" altLang="zh-CN" sz="1100" b="1" dirty="0">
                <a:solidFill>
                  <a:srgbClr val="4B6F88"/>
                </a:solidFill>
                <a:latin typeface="微软雅黑"/>
                <a:ea typeface="微软雅黑"/>
                <a:cs typeface="微软雅黑"/>
              </a:rPr>
              <a:t>token</a:t>
            </a:r>
            <a:endParaRPr sz="1100" b="1" dirty="0">
              <a:solidFill>
                <a:srgbClr val="4B6F88"/>
              </a:solidFill>
              <a:latin typeface="微软雅黑"/>
              <a:ea typeface="微软雅黑"/>
              <a:cs typeface="微软雅黑"/>
            </a:endParaRPr>
          </a:p>
        </p:txBody>
      </p:sp>
      <p:sp>
        <p:nvSpPr>
          <p:cNvPr id="112" name="constraints-principle-band">
            <a:extLst>
              <a:ext uri="{FF2B5EF4-FFF2-40B4-BE49-F238E27FC236}">
                <a16:creationId xmlns:a16="http://schemas.microsoft.com/office/drawing/2014/main" id="{F2BA136F-494B-4D56-BC3A-2713F5870DBA}"/>
              </a:ext>
            </a:extLst>
          </p:cNvPr>
          <p:cNvSpPr>
            <a:spLocks noGrp="1"/>
          </p:cNvSpPr>
          <p:nvPr/>
        </p:nvSpPr>
        <p:spPr>
          <a:xfrm>
            <a:off x="931069" y="3462337"/>
            <a:ext cx="2833688" cy="333375"/>
          </a:xfrm>
          <a:prstGeom prst="rect">
            <a:avLst/>
          </a:prstGeom>
          <a:solidFill>
            <a:srgbClr val="EAF0F4"/>
          </a:solidFill>
          <a:ln w="0">
            <a:noFill/>
            <a:prstDash val="solid"/>
          </a:ln>
        </p:spPr>
      </p:sp>
      <p:sp>
        <p:nvSpPr>
          <p:cNvPr id="113" name="examples-node-text">
            <a:extLst>
              <a:ext uri="{FF2B5EF4-FFF2-40B4-BE49-F238E27FC236}">
                <a16:creationId xmlns:a16="http://schemas.microsoft.com/office/drawing/2014/main" id="{204B5BBD-14BB-48D3-A09C-EA9EAB187CBB}"/>
              </a:ext>
            </a:extLst>
          </p:cNvPr>
          <p:cNvSpPr>
            <a:spLocks noGrp="1"/>
          </p:cNvSpPr>
          <p:nvPr/>
        </p:nvSpPr>
        <p:spPr>
          <a:xfrm>
            <a:off x="1509712" y="3505200"/>
            <a:ext cx="1519237"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a:ea typeface="微软雅黑"/>
                <a:cs typeface="微软雅黑"/>
              </a:defRPr>
            </a:pPr>
            <a:r>
              <a:rPr lang="zh-CN" altLang="en-US" sz="1100" b="1" dirty="0">
                <a:solidFill>
                  <a:srgbClr val="4B6F88"/>
                </a:solidFill>
                <a:latin typeface="微软雅黑"/>
                <a:ea typeface="微软雅黑"/>
                <a:cs typeface="微软雅黑"/>
              </a:rPr>
              <a:t>一天的内网模型调用额度跑不了三个算子</a:t>
            </a:r>
            <a:endParaRPr sz="1100" b="1" dirty="0">
              <a:solidFill>
                <a:srgbClr val="4B6F88"/>
              </a:solidFill>
              <a:latin typeface="微软雅黑"/>
              <a:ea typeface="微软雅黑"/>
              <a:cs typeface="微软雅黑"/>
            </a:endParaRPr>
          </a:p>
        </p:txBody>
      </p:sp>
      <p:sp>
        <p:nvSpPr>
          <p:cNvPr id="114" name="validation-product-band">
            <a:extLst>
              <a:ext uri="{FF2B5EF4-FFF2-40B4-BE49-F238E27FC236}">
                <a16:creationId xmlns:a16="http://schemas.microsoft.com/office/drawing/2014/main" id="{A929412D-440B-4144-9335-A0FAC39C0BA0}"/>
              </a:ext>
            </a:extLst>
          </p:cNvPr>
          <p:cNvSpPr>
            <a:spLocks noGrp="1"/>
          </p:cNvSpPr>
          <p:nvPr/>
        </p:nvSpPr>
        <p:spPr>
          <a:xfrm>
            <a:off x="8445500" y="3486150"/>
            <a:ext cx="3038475" cy="295275"/>
          </a:xfrm>
          <a:prstGeom prst="rect">
            <a:avLst/>
          </a:prstGeom>
          <a:solidFill>
            <a:srgbClr val="EAF0F4"/>
          </a:solidFill>
          <a:ln w="0">
            <a:noFill/>
            <a:prstDash val="solid"/>
          </a:ln>
        </p:spPr>
      </p:sp>
      <p:sp>
        <p:nvSpPr>
          <p:cNvPr id="115" name="validation-product">
            <a:extLst>
              <a:ext uri="{FF2B5EF4-FFF2-40B4-BE49-F238E27FC236}">
                <a16:creationId xmlns:a16="http://schemas.microsoft.com/office/drawing/2014/main" id="{8202033B-A28F-4A97-82C6-0A267F54FFDE}"/>
              </a:ext>
            </a:extLst>
          </p:cNvPr>
          <p:cNvSpPr>
            <a:spLocks noGrp="1"/>
          </p:cNvSpPr>
          <p:nvPr/>
        </p:nvSpPr>
        <p:spPr>
          <a:xfrm>
            <a:off x="8559800" y="3495675"/>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a:ea typeface="微软雅黑"/>
                <a:cs typeface="微软雅黑"/>
              </a:defRPr>
            </a:pPr>
            <a:r>
              <a:rPr sz="1100" b="1" dirty="0" err="1">
                <a:solidFill>
                  <a:srgbClr val="4B6F88"/>
                </a:solidFill>
                <a:latin typeface="微软雅黑"/>
                <a:ea typeface="微软雅黑"/>
                <a:cs typeface="微软雅黑"/>
              </a:rPr>
              <a:t>结果：小改动验证成本高</a:t>
            </a:r>
            <a:endParaRPr sz="1100" b="1" dirty="0">
              <a:solidFill>
                <a:srgbClr val="4B6F88"/>
              </a:solidFill>
              <a:latin typeface="微软雅黑"/>
              <a:ea typeface="微软雅黑"/>
              <a:cs typeface="微软雅黑"/>
            </a:endParaRPr>
          </a:p>
        </p:txBody>
      </p:sp>
    </p:spTree>
    <p:extLst>
      <p:ext uri="{BB962C8B-B14F-4D97-AF65-F5344CB8AC3E}">
        <p14:creationId xmlns:p14="http://schemas.microsoft.com/office/powerpoint/2010/main" val="2644851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37178FA-5CE2-4CAB-8872-6CCA8ACBB856}"/>
              </a:ext>
            </a:extLst>
          </p:cNvPr>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buNone/>
              <a:defRPr sz="2925" b="1">
                <a:solidFill>
                  <a:srgbClr val="252B31"/>
                </a:solidFill>
                <a:latin typeface="微软雅黑"/>
                <a:ea typeface="微软雅黑"/>
                <a:cs typeface="微软雅黑"/>
              </a:defRPr>
            </a:pPr>
            <a:r>
              <a:rPr sz="2700" b="1" dirty="0" err="1">
                <a:solidFill>
                  <a:srgbClr val="243B53"/>
                </a:solidFill>
                <a:latin typeface="Arial"/>
                <a:ea typeface="Arial"/>
                <a:cs typeface="Arial"/>
              </a:rPr>
              <a:t>使用</a:t>
            </a:r>
            <a:r>
              <a:rPr sz="2700" b="1" dirty="0">
                <a:solidFill>
                  <a:srgbClr val="243B53"/>
                </a:solidFill>
                <a:latin typeface="Arial"/>
                <a:ea typeface="Arial"/>
                <a:cs typeface="Arial"/>
              </a:rPr>
              <a:t> Skill </a:t>
            </a:r>
            <a:r>
              <a:rPr sz="2700" b="1" dirty="0" err="1" smtClean="0">
                <a:solidFill>
                  <a:srgbClr val="243B53"/>
                </a:solidFill>
                <a:latin typeface="Arial"/>
                <a:ea typeface="Arial"/>
                <a:cs typeface="Arial"/>
              </a:rPr>
              <a:t>进行</a:t>
            </a:r>
            <a:r>
              <a:rPr lang="zh-CN" altLang="en-US" sz="2700" b="1" dirty="0" smtClean="0">
                <a:solidFill>
                  <a:srgbClr val="243B53"/>
                </a:solidFill>
                <a:latin typeface="Arial"/>
                <a:ea typeface="Arial"/>
                <a:cs typeface="Arial"/>
              </a:rPr>
              <a:t>复杂开发时</a:t>
            </a:r>
            <a:r>
              <a:rPr sz="2700" b="1" dirty="0" err="1" smtClean="0">
                <a:solidFill>
                  <a:srgbClr val="243B53"/>
                </a:solidFill>
                <a:latin typeface="Arial"/>
                <a:ea typeface="Arial"/>
                <a:cs typeface="Arial"/>
              </a:rPr>
              <a:t>的三个</a:t>
            </a:r>
            <a:r>
              <a:rPr lang="zh-CN" altLang="en-US" sz="2700" b="1" dirty="0" smtClean="0">
                <a:solidFill>
                  <a:srgbClr val="243B53"/>
                </a:solidFill>
                <a:latin typeface="Arial"/>
                <a:ea typeface="Arial"/>
                <a:cs typeface="Arial"/>
              </a:rPr>
              <a:t>困难</a:t>
            </a:r>
            <a:endParaRPr sz="2700" b="1" dirty="0">
              <a:solidFill>
                <a:srgbClr val="243B53"/>
              </a:solidFill>
              <a:latin typeface="Arial"/>
              <a:ea typeface="Arial"/>
              <a:cs typeface="Arial"/>
            </a:endParaRPr>
          </a:p>
        </p:txBody>
      </p:sp>
      <p:sp>
        <p:nvSpPr>
          <p:cNvPr id="15" name="resources-frame">
            <a:extLst>
              <a:ext uri="{FF2B5EF4-FFF2-40B4-BE49-F238E27FC236}">
                <a16:creationId xmlns:a16="http://schemas.microsoft.com/office/drawing/2014/main" id="{0463F984-48C2-4C52-BB3E-34CBC392545B}"/>
              </a:ext>
            </a:extLst>
          </p:cNvPr>
          <p:cNvSpPr>
            <a:spLocks noGrp="1"/>
          </p:cNvSpPr>
          <p:nvPr/>
        </p:nvSpPr>
        <p:spPr>
          <a:xfrm>
            <a:off x="609600" y="1562100"/>
            <a:ext cx="3333750" cy="3905250"/>
          </a:xfrm>
          <a:prstGeom prst="roundRect">
            <a:avLst>
              <a:gd name="adj" fmla="val 1429"/>
            </a:avLst>
          </a:prstGeom>
          <a:solidFill>
            <a:srgbClr val="F7F8F9"/>
          </a:solidFill>
          <a:ln w="9525">
            <a:solidFill>
              <a:srgbClr val="D7E0E6"/>
            </a:solidFill>
            <a:prstDash val="solid"/>
          </a:ln>
        </p:spPr>
      </p:sp>
      <p:sp>
        <p:nvSpPr>
          <p:cNvPr id="16" name="resources-accent">
            <a:extLst>
              <a:ext uri="{FF2B5EF4-FFF2-40B4-BE49-F238E27FC236}">
                <a16:creationId xmlns:a16="http://schemas.microsoft.com/office/drawing/2014/main" id="{7E975677-AF72-4DA3-BBA0-0A12A6BBA1C2}"/>
              </a:ext>
            </a:extLst>
          </p:cNvPr>
          <p:cNvSpPr>
            <a:spLocks noGrp="1"/>
          </p:cNvSpPr>
          <p:nvPr/>
        </p:nvSpPr>
        <p:spPr>
          <a:xfrm>
            <a:off x="609600" y="1562100"/>
            <a:ext cx="3333750" cy="28575"/>
          </a:xfrm>
          <a:prstGeom prst="rect">
            <a:avLst/>
          </a:prstGeom>
          <a:solidFill>
            <a:srgbClr val="5C7F99"/>
          </a:solidFill>
          <a:ln w="0">
            <a:solidFill>
              <a:srgbClr val="5C7F99"/>
            </a:solidFill>
            <a:prstDash val="solid"/>
          </a:ln>
        </p:spPr>
      </p:sp>
      <p:sp>
        <p:nvSpPr>
          <p:cNvPr id="17" name="resources-number">
            <a:extLst>
              <a:ext uri="{FF2B5EF4-FFF2-40B4-BE49-F238E27FC236}">
                <a16:creationId xmlns:a16="http://schemas.microsoft.com/office/drawing/2014/main" id="{7EEA21D6-BB92-438F-BA79-BF3919CF78E9}"/>
              </a:ext>
            </a:extLst>
          </p:cNvP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01</a:t>
            </a:r>
          </a:p>
        </p:txBody>
      </p:sp>
      <p:sp>
        <p:nvSpPr>
          <p:cNvPr id="18" name="resources-title">
            <a:extLst>
              <a:ext uri="{FF2B5EF4-FFF2-40B4-BE49-F238E27FC236}">
                <a16:creationId xmlns:a16="http://schemas.microsoft.com/office/drawing/2014/main" id="{30C52ED7-A208-46F5-B7E3-740B879C6A07}"/>
              </a:ext>
            </a:extLst>
          </p:cNvPr>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Token / 额度消耗大</a:t>
            </a:r>
          </a:p>
        </p:txBody>
      </p:sp>
      <p:sp>
        <p:nvSpPr>
          <p:cNvPr id="21" name="constraints-frame">
            <a:extLst>
              <a:ext uri="{FF2B5EF4-FFF2-40B4-BE49-F238E27FC236}">
                <a16:creationId xmlns:a16="http://schemas.microsoft.com/office/drawing/2014/main" id="{1154F099-8A45-4ED2-94A3-BD7455226A92}"/>
              </a:ext>
            </a:extLst>
          </p:cNvPr>
          <p:cNvSpPr>
            <a:spLocks noGrp="1"/>
          </p:cNvSpPr>
          <p:nvPr/>
        </p:nvSpPr>
        <p:spPr>
          <a:xfrm>
            <a:off x="4200525" y="1562100"/>
            <a:ext cx="3781425" cy="3905250"/>
          </a:xfrm>
          <a:prstGeom prst="roundRect">
            <a:avLst>
              <a:gd name="adj" fmla="val 1259"/>
            </a:avLst>
          </a:prstGeom>
          <a:solidFill>
            <a:srgbClr val="F7F8F9"/>
          </a:solidFill>
          <a:ln w="9525">
            <a:solidFill>
              <a:srgbClr val="D7E0E6"/>
            </a:solidFill>
            <a:prstDash val="solid"/>
          </a:ln>
        </p:spPr>
      </p:sp>
      <p:sp>
        <p:nvSpPr>
          <p:cNvPr id="22" name="constraints-accent">
            <a:extLst>
              <a:ext uri="{FF2B5EF4-FFF2-40B4-BE49-F238E27FC236}">
                <a16:creationId xmlns:a16="http://schemas.microsoft.com/office/drawing/2014/main" id="{4B8B09AB-62BE-4C49-8D8E-CCE708434311}"/>
              </a:ext>
            </a:extLst>
          </p:cNvPr>
          <p:cNvSpPr>
            <a:spLocks noGrp="1"/>
          </p:cNvSpPr>
          <p:nvPr/>
        </p:nvSpPr>
        <p:spPr>
          <a:xfrm>
            <a:off x="4200525" y="1562100"/>
            <a:ext cx="3781425" cy="28575"/>
          </a:xfrm>
          <a:prstGeom prst="rect">
            <a:avLst/>
          </a:prstGeom>
          <a:solidFill>
            <a:srgbClr val="5C7F99"/>
          </a:solidFill>
          <a:ln w="0">
            <a:solidFill>
              <a:srgbClr val="5C7F99"/>
            </a:solidFill>
            <a:prstDash val="solid"/>
          </a:ln>
        </p:spPr>
      </p:sp>
      <p:sp>
        <p:nvSpPr>
          <p:cNvPr id="23" name="constraints-number">
            <a:extLst>
              <a:ext uri="{FF2B5EF4-FFF2-40B4-BE49-F238E27FC236}">
                <a16:creationId xmlns:a16="http://schemas.microsoft.com/office/drawing/2014/main" id="{D866D818-3B45-4ED0-A8F4-E28D5FE09613}"/>
              </a:ext>
            </a:extLst>
          </p:cNvP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02</a:t>
            </a:r>
          </a:p>
        </p:txBody>
      </p:sp>
      <p:sp>
        <p:nvSpPr>
          <p:cNvPr id="24" name="constraints-title">
            <a:extLst>
              <a:ext uri="{FF2B5EF4-FFF2-40B4-BE49-F238E27FC236}">
                <a16:creationId xmlns:a16="http://schemas.microsoft.com/office/drawing/2014/main" id="{61BC0F20-8843-45F3-ACA8-BBB1EE312A95}"/>
              </a:ext>
            </a:extLst>
          </p:cNvPr>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端到端开发时间长</a:t>
            </a:r>
          </a:p>
        </p:txBody>
      </p:sp>
      <p:sp>
        <p:nvSpPr>
          <p:cNvPr id="27" name="validation-frame">
            <a:extLst>
              <a:ext uri="{FF2B5EF4-FFF2-40B4-BE49-F238E27FC236}">
                <a16:creationId xmlns:a16="http://schemas.microsoft.com/office/drawing/2014/main" id="{D65B7BEB-A3E1-41DE-B759-0EFC9AE2ADCE}"/>
              </a:ext>
            </a:extLst>
          </p:cNvPr>
          <p:cNvSpPr>
            <a:spLocks noGrp="1"/>
          </p:cNvSpPr>
          <p:nvPr/>
        </p:nvSpPr>
        <p:spPr>
          <a:xfrm>
            <a:off x="8239125" y="1562100"/>
            <a:ext cx="3343275" cy="3905250"/>
          </a:xfrm>
          <a:prstGeom prst="roundRect">
            <a:avLst>
              <a:gd name="adj" fmla="val 1425"/>
            </a:avLst>
          </a:prstGeom>
          <a:solidFill>
            <a:srgbClr val="F7F8F9"/>
          </a:solidFill>
          <a:ln w="9525">
            <a:solidFill>
              <a:srgbClr val="D7E0E6"/>
            </a:solidFill>
            <a:prstDash val="solid"/>
          </a:ln>
        </p:spPr>
      </p:sp>
      <p:sp>
        <p:nvSpPr>
          <p:cNvPr id="28" name="validation-accent">
            <a:extLst>
              <a:ext uri="{FF2B5EF4-FFF2-40B4-BE49-F238E27FC236}">
                <a16:creationId xmlns:a16="http://schemas.microsoft.com/office/drawing/2014/main" id="{5F00A8CD-1A13-436A-83B4-B3CE8172F1E1}"/>
              </a:ext>
            </a:extLst>
          </p:cNvPr>
          <p:cNvSpPr>
            <a:spLocks noGrp="1"/>
          </p:cNvSpPr>
          <p:nvPr/>
        </p:nvSpPr>
        <p:spPr>
          <a:xfrm>
            <a:off x="8239125" y="1562100"/>
            <a:ext cx="3343275" cy="28575"/>
          </a:xfrm>
          <a:prstGeom prst="rect">
            <a:avLst/>
          </a:prstGeom>
          <a:solidFill>
            <a:srgbClr val="5C7F99"/>
          </a:solidFill>
          <a:ln w="0">
            <a:solidFill>
              <a:srgbClr val="5C7F99"/>
            </a:solidFill>
            <a:prstDash val="solid"/>
          </a:ln>
        </p:spPr>
      </p:sp>
      <p:sp>
        <p:nvSpPr>
          <p:cNvPr id="29" name="validation-number">
            <a:extLst>
              <a:ext uri="{FF2B5EF4-FFF2-40B4-BE49-F238E27FC236}">
                <a16:creationId xmlns:a16="http://schemas.microsoft.com/office/drawing/2014/main" id="{9F760B8E-EAAA-4D95-97BB-D91B0A94921C}"/>
              </a:ext>
            </a:extLst>
          </p:cNvP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a:ea typeface="微软雅黑"/>
                <a:cs typeface="微软雅黑"/>
              </a:defRPr>
            </a:pPr>
            <a:r>
              <a:rPr sz="1350" b="1">
                <a:solidFill>
                  <a:srgbClr val="5C7F99"/>
                </a:solidFill>
                <a:latin typeface="微软雅黑"/>
                <a:ea typeface="微软雅黑"/>
                <a:cs typeface="微软雅黑"/>
              </a:rPr>
              <a:t>03</a:t>
            </a:r>
          </a:p>
        </p:txBody>
      </p:sp>
      <p:sp>
        <p:nvSpPr>
          <p:cNvPr id="30" name="validation-title">
            <a:extLst>
              <a:ext uri="{FF2B5EF4-FFF2-40B4-BE49-F238E27FC236}">
                <a16:creationId xmlns:a16="http://schemas.microsoft.com/office/drawing/2014/main" id="{B4878559-B26A-47C0-B3AE-1DFD747C9068}"/>
              </a:ext>
            </a:extLst>
          </p:cNvPr>
          <p:cNvSpPr>
            <a:spLocks noGrp="1"/>
          </p:cNvSpPr>
          <p:nvPr/>
        </p:nvSpPr>
        <p:spPr>
          <a:xfrm>
            <a:off x="8734425" y="1638300"/>
            <a:ext cx="2695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a:ea typeface="微软雅黑"/>
                <a:cs typeface="微软雅黑"/>
              </a:defRPr>
            </a:pPr>
            <a:r>
              <a:rPr sz="1615" b="1">
                <a:solidFill>
                  <a:srgbClr val="252B31"/>
                </a:solidFill>
                <a:latin typeface="微软雅黑"/>
                <a:ea typeface="微软雅黑"/>
                <a:cs typeface="微软雅黑"/>
              </a:rPr>
              <a:t>Skill 修改后验证困难</a:t>
            </a:r>
          </a:p>
        </p:txBody>
      </p:sp>
      <p:sp>
        <p:nvSpPr>
          <p:cNvPr id="85" name="constraints-principle-band">
            <a:extLst>
              <a:ext uri="{FF2B5EF4-FFF2-40B4-BE49-F238E27FC236}">
                <a16:creationId xmlns:a16="http://schemas.microsoft.com/office/drawing/2014/main" id="{F2BA136F-494B-4D56-BC3A-2713F5870DBA}"/>
              </a:ext>
            </a:extLst>
          </p:cNvPr>
          <p:cNvSpPr>
            <a:spLocks noGrp="1"/>
          </p:cNvSpPr>
          <p:nvPr/>
        </p:nvSpPr>
        <p:spPr>
          <a:xfrm>
            <a:off x="4300537" y="2666999"/>
            <a:ext cx="3476625" cy="333375"/>
          </a:xfrm>
          <a:prstGeom prst="rect">
            <a:avLst/>
          </a:prstGeom>
          <a:solidFill>
            <a:srgbClr val="EAF0F4"/>
          </a:solidFill>
          <a:ln w="0">
            <a:noFill/>
            <a:prstDash val="solid"/>
          </a:ln>
        </p:spPr>
      </p:sp>
      <p:sp>
        <p:nvSpPr>
          <p:cNvPr id="86" name="constraints-principle">
            <a:extLst>
              <a:ext uri="{FF2B5EF4-FFF2-40B4-BE49-F238E27FC236}">
                <a16:creationId xmlns:a16="http://schemas.microsoft.com/office/drawing/2014/main" id="{156253C9-2297-4D97-AFBF-87F0305D6000}"/>
              </a:ext>
            </a:extLst>
          </p:cNvPr>
          <p:cNvSpPr>
            <a:spLocks noGrp="1"/>
          </p:cNvSpPr>
          <p:nvPr/>
        </p:nvSpPr>
        <p:spPr>
          <a:xfrm>
            <a:off x="4424363" y="2666999"/>
            <a:ext cx="3228975" cy="314325"/>
          </a:xfrm>
          <a:prstGeom prst="rect">
            <a:avLst/>
          </a:prstGeom>
          <a:noFill/>
          <a:ln w="0">
            <a:noFill/>
            <a:prstDash val="solid"/>
          </a:ln>
        </p:spPr>
        <p:txBody>
          <a:bodyPr wrap="none" lIns="0" tIns="0" rIns="0" bIns="0" anchor="ctr">
            <a:normAutofit/>
          </a:bodyPr>
          <a:lstStyle/>
          <a:p>
            <a:pPr algn="ctr">
              <a:buNone/>
              <a:defRPr sz="1015" b="1">
                <a:solidFill>
                  <a:srgbClr val="4B6F88"/>
                </a:solidFill>
                <a:latin typeface="微软雅黑"/>
                <a:ea typeface="微软雅黑"/>
                <a:cs typeface="微软雅黑"/>
              </a:defRPr>
            </a:pPr>
            <a:r>
              <a:rPr sz="1100" b="1" dirty="0" err="1">
                <a:solidFill>
                  <a:srgbClr val="4B6F88"/>
                </a:solidFill>
                <a:latin typeface="微软雅黑"/>
                <a:ea typeface="微软雅黑"/>
                <a:cs typeface="微软雅黑"/>
              </a:rPr>
              <a:t>等待时间多，端到端周期持续拉长</a:t>
            </a:r>
            <a:endParaRPr sz="1100" b="1" dirty="0">
              <a:solidFill>
                <a:srgbClr val="4B6F88"/>
              </a:solidFill>
              <a:latin typeface="微软雅黑"/>
              <a:ea typeface="微软雅黑"/>
              <a:cs typeface="微软雅黑"/>
            </a:endParaRPr>
          </a:p>
        </p:txBody>
      </p:sp>
      <p:sp>
        <p:nvSpPr>
          <p:cNvPr id="87" name="constraints-product-band">
            <a:extLst>
              <a:ext uri="{FF2B5EF4-FFF2-40B4-BE49-F238E27FC236}">
                <a16:creationId xmlns:a16="http://schemas.microsoft.com/office/drawing/2014/main" id="{8677319F-E2B7-4B34-BE19-5B5025A147FD}"/>
              </a:ext>
            </a:extLst>
          </p:cNvPr>
          <p:cNvSpPr>
            <a:spLocks noGrp="1"/>
          </p:cNvSpPr>
          <p:nvPr/>
        </p:nvSpPr>
        <p:spPr>
          <a:xfrm>
            <a:off x="4343400" y="3495675"/>
            <a:ext cx="3476625" cy="295275"/>
          </a:xfrm>
          <a:prstGeom prst="rect">
            <a:avLst/>
          </a:prstGeom>
          <a:solidFill>
            <a:srgbClr val="EAF0F4"/>
          </a:solidFill>
          <a:ln w="0">
            <a:noFill/>
            <a:prstDash val="solid"/>
          </a:ln>
        </p:spPr>
      </p:sp>
      <p:sp>
        <p:nvSpPr>
          <p:cNvPr id="88" name="constraints-product">
            <a:extLst>
              <a:ext uri="{FF2B5EF4-FFF2-40B4-BE49-F238E27FC236}">
                <a16:creationId xmlns:a16="http://schemas.microsoft.com/office/drawing/2014/main" id="{0D89544D-B7F5-4F76-860A-468B23EA4346}"/>
              </a:ext>
            </a:extLst>
          </p:cNvPr>
          <p:cNvSpPr>
            <a:spLocks noGrp="1"/>
          </p:cNvSpPr>
          <p:nvPr/>
        </p:nvSpPr>
        <p:spPr>
          <a:xfrm>
            <a:off x="4521993" y="3505200"/>
            <a:ext cx="3228975" cy="276225"/>
          </a:xfrm>
          <a:prstGeom prst="rect">
            <a:avLst/>
          </a:prstGeom>
          <a:noFill/>
          <a:ln w="0">
            <a:noFill/>
            <a:prstDash val="solid"/>
          </a:ln>
        </p:spPr>
        <p:txBody>
          <a:bodyPr wrap="none" lIns="0" tIns="0" rIns="0" bIns="0" anchor="ctr">
            <a:normAutofit/>
          </a:bodyPr>
          <a:lstStyle/>
          <a:p>
            <a:pPr algn="ctr">
              <a:buNone/>
              <a:defRPr sz="1065" b="1">
                <a:solidFill>
                  <a:srgbClr val="4B6F88"/>
                </a:solidFill>
                <a:latin typeface="微软雅黑"/>
                <a:ea typeface="微软雅黑"/>
                <a:cs typeface="微软雅黑"/>
              </a:defRPr>
            </a:pPr>
            <a:r>
              <a:rPr lang="zh-CN" altLang="en-US" sz="1100" b="1" dirty="0" smtClean="0">
                <a:solidFill>
                  <a:srgbClr val="4B6F88"/>
                </a:solidFill>
                <a:latin typeface="微软雅黑"/>
                <a:ea typeface="微软雅黑"/>
                <a:cs typeface="微软雅黑"/>
              </a:rPr>
              <a:t>开发一个算子需要</a:t>
            </a:r>
            <a:r>
              <a:rPr lang="en-US" altLang="zh-CN" sz="1100" b="1" dirty="0" smtClean="0">
                <a:solidFill>
                  <a:srgbClr val="4B6F88"/>
                </a:solidFill>
                <a:latin typeface="微软雅黑"/>
                <a:ea typeface="微软雅黑"/>
                <a:cs typeface="微软雅黑"/>
              </a:rPr>
              <a:t>2h-5h</a:t>
            </a:r>
            <a:r>
              <a:rPr lang="zh-CN" altLang="en-US" sz="1100" b="1" dirty="0" smtClean="0">
                <a:solidFill>
                  <a:srgbClr val="4B6F88"/>
                </a:solidFill>
                <a:latin typeface="微软雅黑"/>
                <a:ea typeface="微软雅黑"/>
                <a:cs typeface="微软雅黑"/>
              </a:rPr>
              <a:t>不等</a:t>
            </a:r>
            <a:endParaRPr sz="1100" b="1" dirty="0">
              <a:solidFill>
                <a:srgbClr val="4B6F88"/>
              </a:solidFill>
              <a:latin typeface="微软雅黑"/>
              <a:ea typeface="微软雅黑"/>
              <a:cs typeface="微软雅黑"/>
            </a:endParaRPr>
          </a:p>
        </p:txBody>
      </p:sp>
      <p:sp>
        <p:nvSpPr>
          <p:cNvPr id="96" name="trigger-test-label">
            <a:extLst>
              <a:ext uri="{FF2B5EF4-FFF2-40B4-BE49-F238E27FC236}">
                <a16:creationId xmlns:a16="http://schemas.microsoft.com/office/drawing/2014/main" id="{7A5FF5AB-8C4D-416C-B7E7-145F72CAA42F}"/>
              </a:ext>
            </a:extLst>
          </p:cNvPr>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buNone/>
              <a:defRPr sz="1140" b="1">
                <a:solidFill>
                  <a:srgbClr val="4B6F88"/>
                </a:solidFill>
                <a:latin typeface="微软雅黑"/>
                <a:ea typeface="微软雅黑"/>
                <a:cs typeface="微软雅黑"/>
              </a:defRPr>
            </a:pPr>
            <a:endParaRPr sz="1140" b="1" dirty="0">
              <a:solidFill>
                <a:srgbClr val="4B6F88"/>
              </a:solidFill>
              <a:latin typeface="微软雅黑"/>
              <a:ea typeface="微软雅黑"/>
              <a:cs typeface="微软雅黑"/>
            </a:endParaRPr>
          </a:p>
        </p:txBody>
      </p:sp>
      <p:sp>
        <p:nvSpPr>
          <p:cNvPr id="97" name="trigger-test-detail">
            <a:extLst>
              <a:ext uri="{FF2B5EF4-FFF2-40B4-BE49-F238E27FC236}">
                <a16:creationId xmlns:a16="http://schemas.microsoft.com/office/drawing/2014/main" id="{860F0785-2E65-4B16-9663-854C5C9D4911}"/>
              </a:ext>
            </a:extLst>
          </p:cNvPr>
          <p:cNvSpPr>
            <a:spLocks noGrp="1"/>
          </p:cNvSpPr>
          <p:nvPr/>
        </p:nvSpPr>
        <p:spPr>
          <a:xfrm>
            <a:off x="8445500" y="2962275"/>
            <a:ext cx="1628775" cy="295275"/>
          </a:xfrm>
          <a:prstGeom prst="rect">
            <a:avLst/>
          </a:prstGeom>
          <a:noFill/>
          <a:ln w="0">
            <a:noFill/>
            <a:prstDash val="solid"/>
          </a:ln>
        </p:spPr>
        <p:txBody>
          <a:bodyPr wrap="none" lIns="0" tIns="0" rIns="0" bIns="0" anchor="ctr">
            <a:normAutofit/>
          </a:bodyPr>
          <a:lstStyle/>
          <a:p>
            <a:pPr algn="r">
              <a:buNone/>
              <a:defRPr sz="1035" b="0">
                <a:solidFill>
                  <a:srgbClr val="414951"/>
                </a:solidFill>
                <a:latin typeface="微软雅黑"/>
                <a:ea typeface="微软雅黑"/>
                <a:cs typeface="微软雅黑"/>
              </a:defRPr>
            </a:pPr>
            <a:r>
              <a:rPr sz="1000" b="0" dirty="0" err="1">
                <a:solidFill>
                  <a:srgbClr val="414951"/>
                </a:solidFill>
                <a:latin typeface="微软雅黑"/>
                <a:ea typeface="微软雅黑"/>
                <a:cs typeface="微软雅黑"/>
              </a:rPr>
              <a:t>限制</a:t>
            </a:r>
            <a:r>
              <a:rPr sz="1000" b="0" dirty="0">
                <a:solidFill>
                  <a:srgbClr val="414951"/>
                </a:solidFill>
                <a:latin typeface="微软雅黑"/>
                <a:ea typeface="微软雅黑"/>
                <a:cs typeface="微软雅黑"/>
              </a:rPr>
              <a:t> / </a:t>
            </a:r>
            <a:r>
              <a:rPr sz="1000" b="0" dirty="0" err="1">
                <a:solidFill>
                  <a:srgbClr val="414951"/>
                </a:solidFill>
                <a:latin typeface="微软雅黑"/>
                <a:ea typeface="微软雅黑"/>
                <a:cs typeface="微软雅黑"/>
              </a:rPr>
              <a:t>路由</a:t>
            </a:r>
            <a:r>
              <a:rPr sz="1000" b="0" dirty="0">
                <a:solidFill>
                  <a:srgbClr val="414951"/>
                </a:solidFill>
                <a:latin typeface="微软雅黑"/>
                <a:ea typeface="微软雅黑"/>
                <a:cs typeface="微软雅黑"/>
              </a:rPr>
              <a:t> / </a:t>
            </a:r>
            <a:r>
              <a:rPr sz="1000" b="0" dirty="0" err="1">
                <a:solidFill>
                  <a:srgbClr val="414951"/>
                </a:solidFill>
                <a:latin typeface="微软雅黑"/>
                <a:ea typeface="微软雅黑"/>
                <a:cs typeface="微软雅黑"/>
              </a:rPr>
              <a:t>描述</a:t>
            </a:r>
            <a:endParaRPr sz="1000" b="0" dirty="0">
              <a:solidFill>
                <a:srgbClr val="414951"/>
              </a:solidFill>
              <a:latin typeface="微软雅黑"/>
              <a:ea typeface="微软雅黑"/>
              <a:cs typeface="微软雅黑"/>
            </a:endParaRPr>
          </a:p>
        </p:txBody>
      </p:sp>
      <p:sp>
        <p:nvSpPr>
          <p:cNvPr id="110" name="validation-product-band">
            <a:extLst>
              <a:ext uri="{FF2B5EF4-FFF2-40B4-BE49-F238E27FC236}">
                <a16:creationId xmlns:a16="http://schemas.microsoft.com/office/drawing/2014/main" id="{A929412D-440B-4144-9335-A0FAC39C0BA0}"/>
              </a:ext>
            </a:extLst>
          </p:cNvPr>
          <p:cNvSpPr>
            <a:spLocks noGrp="1"/>
          </p:cNvSpPr>
          <p:nvPr/>
        </p:nvSpPr>
        <p:spPr>
          <a:xfrm>
            <a:off x="8445500" y="2686049"/>
            <a:ext cx="3038475" cy="295275"/>
          </a:xfrm>
          <a:prstGeom prst="rect">
            <a:avLst/>
          </a:prstGeom>
          <a:solidFill>
            <a:srgbClr val="EAF0F4"/>
          </a:solidFill>
          <a:ln w="0">
            <a:noFill/>
            <a:prstDash val="solid"/>
          </a:ln>
        </p:spPr>
      </p:sp>
      <p:sp>
        <p:nvSpPr>
          <p:cNvPr id="111" name="validation-product">
            <a:extLst>
              <a:ext uri="{FF2B5EF4-FFF2-40B4-BE49-F238E27FC236}">
                <a16:creationId xmlns:a16="http://schemas.microsoft.com/office/drawing/2014/main" id="{8202033B-A28F-4A97-82C6-0A267F54FFDE}"/>
              </a:ext>
            </a:extLst>
          </p:cNvPr>
          <p:cNvSpPr>
            <a:spLocks noGrp="1"/>
          </p:cNvSpPr>
          <p:nvPr/>
        </p:nvSpPr>
        <p:spPr>
          <a:xfrm>
            <a:off x="8559800" y="2695574"/>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a:ea typeface="微软雅黑"/>
                <a:cs typeface="微软雅黑"/>
              </a:defRPr>
            </a:pPr>
            <a:r>
              <a:rPr lang="zh-CN" altLang="en-US" sz="1100" b="1" dirty="0" smtClean="0">
                <a:solidFill>
                  <a:srgbClr val="4B6F88"/>
                </a:solidFill>
                <a:latin typeface="微软雅黑"/>
                <a:ea typeface="微软雅黑"/>
                <a:cs typeface="微软雅黑"/>
              </a:rPr>
              <a:t>轻微修改规则也要跑完整任务</a:t>
            </a:r>
            <a:endParaRPr sz="1100" b="1" dirty="0">
              <a:solidFill>
                <a:srgbClr val="4B6F88"/>
              </a:solidFill>
              <a:latin typeface="微软雅黑"/>
              <a:ea typeface="微软雅黑"/>
              <a:cs typeface="微软雅黑"/>
            </a:endParaRPr>
          </a:p>
        </p:txBody>
      </p:sp>
      <p:sp>
        <p:nvSpPr>
          <p:cNvPr id="140" name="s13-title-rule">
            <a:extLst>
              <a:ext uri="{FF2B5EF4-FFF2-40B4-BE49-F238E27FC236}">
                <a16:creationId xmlns:a16="http://schemas.microsoft.com/office/drawing/2014/main" id="{6DEF5333-FF1F-44B1-B6BA-A04D7D201325}"/>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150" name="summary-band">
            <a:extLst>
              <a:ext uri="{FF2B5EF4-FFF2-40B4-BE49-F238E27FC236}">
                <a16:creationId xmlns:a16="http://schemas.microsoft.com/office/drawing/2014/main" id="{316FF209-C60B-47A7-A8CD-6C0770B6793F}"/>
              </a:ext>
            </a:extLst>
          </p:cNvPr>
          <p:cNvSpPr>
            <a:spLocks noGrp="1"/>
          </p:cNvSpPr>
          <p:nvPr/>
        </p:nvSpPr>
        <p:spPr>
          <a:xfrm>
            <a:off x="609600" y="6238874"/>
            <a:ext cx="10972800" cy="371476"/>
          </a:xfrm>
          <a:prstGeom prst="rect">
            <a:avLst/>
          </a:prstGeom>
          <a:solidFill>
            <a:srgbClr val="173F61"/>
          </a:solidFill>
          <a:ln w="0">
            <a:solidFill>
              <a:srgbClr val="173F61"/>
            </a:solidFill>
            <a:prstDash val="solid"/>
          </a:ln>
        </p:spPr>
      </p:sp>
      <p:sp>
        <p:nvSpPr>
          <p:cNvPr id="151" name="summary-accent">
            <a:extLst>
              <a:ext uri="{FF2B5EF4-FFF2-40B4-BE49-F238E27FC236}">
                <a16:creationId xmlns:a16="http://schemas.microsoft.com/office/drawing/2014/main" id="{943392F1-252D-4C20-BAFC-4FDAAC42009B}"/>
              </a:ext>
            </a:extLst>
          </p:cNvPr>
          <p:cNvSpPr>
            <a:spLocks noGrp="1"/>
          </p:cNvSpPr>
          <p:nvPr/>
        </p:nvSpPr>
        <p:spPr>
          <a:xfrm>
            <a:off x="601981" y="6238874"/>
            <a:ext cx="45719" cy="371476"/>
          </a:xfrm>
          <a:prstGeom prst="rect">
            <a:avLst/>
          </a:prstGeom>
          <a:solidFill>
            <a:srgbClr val="5C7F99"/>
          </a:solidFill>
          <a:ln w="0">
            <a:solidFill>
              <a:srgbClr val="5C7F99"/>
            </a:solidFill>
            <a:prstDash val="solid"/>
          </a:ln>
        </p:spPr>
      </p:sp>
      <p:sp>
        <p:nvSpPr>
          <p:cNvPr id="152" name="文本框 151">
            <a:extLst>
              <a:ext uri="{FF2B5EF4-FFF2-40B4-BE49-F238E27FC236}">
                <a16:creationId xmlns:a16="http://schemas.microsoft.com/office/drawing/2014/main" id="{0B611F55-D757-4DF5-8949-B09347300247}"/>
              </a:ext>
            </a:extLst>
          </p:cNvPr>
          <p:cNvSpPr>
            <a:spLocks noGrp="1"/>
          </p:cNvSpPr>
          <p:nvPr/>
        </p:nvSpPr>
        <p:spPr>
          <a:xfrm>
            <a:off x="914400" y="6105525"/>
            <a:ext cx="10363200" cy="640080"/>
          </a:xfrm>
          <a:prstGeom prst="rect">
            <a:avLst/>
          </a:prstGeom>
          <a:noFill/>
        </p:spPr>
        <p:txBody>
          <a:bodyPr wrap="none" lIns="0" tIns="0" rIns="0" bIns="0" anchor="ctr">
            <a:noAutofit/>
          </a:bodyPr>
          <a:lstStyle/>
          <a:p>
            <a:pPr algn="ctr">
              <a:defRPr sz="1350" b="1">
                <a:solidFill>
                  <a:srgbClr val="FFFFFF"/>
                </a:solidFill>
                <a:latin typeface="Microsoft YaHei"/>
                <a:ea typeface="Microsoft YaHei"/>
                <a:cs typeface="Microsoft YaHei"/>
              </a:defRPr>
            </a:pPr>
            <a:r>
              <a:rPr sz="1350" b="1" dirty="0" err="1" smtClean="0">
                <a:solidFill>
                  <a:srgbClr val="FFFFFF"/>
                </a:solidFill>
                <a:latin typeface="Microsoft YaHei"/>
                <a:ea typeface="Microsoft YaHei"/>
                <a:cs typeface="Microsoft YaHei"/>
              </a:rPr>
              <a:t>这三个问题</a:t>
            </a:r>
            <a:r>
              <a:rPr lang="zh-CN" altLang="en-US" sz="1350" b="1" dirty="0">
                <a:solidFill>
                  <a:srgbClr val="FFFFFF"/>
                </a:solidFill>
                <a:latin typeface="Microsoft YaHei"/>
                <a:ea typeface="Microsoft YaHei"/>
                <a:cs typeface="Microsoft YaHei"/>
              </a:rPr>
              <a:t>让</a:t>
            </a:r>
            <a:r>
              <a:rPr sz="1350" b="1" dirty="0" smtClean="0">
                <a:solidFill>
                  <a:srgbClr val="FFFFFF"/>
                </a:solidFill>
                <a:latin typeface="Microsoft YaHei"/>
                <a:ea typeface="Microsoft YaHei"/>
                <a:cs typeface="Microsoft YaHei"/>
              </a:rPr>
              <a:t>Skill </a:t>
            </a:r>
            <a:r>
              <a:rPr sz="1350" b="1" dirty="0" err="1">
                <a:solidFill>
                  <a:srgbClr val="FFFFFF"/>
                </a:solidFill>
                <a:latin typeface="Microsoft YaHei"/>
                <a:ea typeface="Microsoft YaHei"/>
                <a:cs typeface="Microsoft YaHei"/>
              </a:rPr>
              <a:t>会从“提升开发效率的工具”变成“高成本、慢迭代、难维护的复杂流程</a:t>
            </a:r>
            <a:r>
              <a:rPr sz="1350" b="1" dirty="0">
                <a:solidFill>
                  <a:srgbClr val="FFFFFF"/>
                </a:solidFill>
                <a:latin typeface="Microsoft YaHei"/>
                <a:ea typeface="Microsoft YaHei"/>
                <a:cs typeface="Microsoft YaHei"/>
              </a:rPr>
              <a:t>”。</a:t>
            </a:r>
          </a:p>
        </p:txBody>
      </p:sp>
      <p:sp>
        <p:nvSpPr>
          <p:cNvPr id="153" name="slide-1-title">
            <a:extLst>
              <a:ext uri="{FF2B5EF4-FFF2-40B4-BE49-F238E27FC236}">
                <a16:creationId xmlns:a16="http://schemas.microsoft.com/office/drawing/2014/main" id="{68B10C97-FF22-4CD3-8248-9CDCD6E71306}"/>
              </a:ext>
            </a:extLst>
          </p:cNvPr>
          <p:cNvSpPr>
            <a:spLocks noGrp="1"/>
          </p:cNvSpPr>
          <p:nvPr/>
        </p:nvSpPr>
        <p:spPr>
          <a:xfrm>
            <a:off x="342900" y="223460"/>
            <a:ext cx="635000"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a:ea typeface="微软雅黑"/>
                <a:cs typeface="微软雅黑"/>
              </a:defRPr>
            </a:pPr>
            <a:r>
              <a:rPr sz="3000" b="1" dirty="0" smtClean="0">
                <a:solidFill>
                  <a:srgbClr val="243B53"/>
                </a:solidFill>
                <a:latin typeface="Arial"/>
                <a:ea typeface="Arial"/>
                <a:cs typeface="Arial"/>
              </a:rPr>
              <a:t>1.</a:t>
            </a:r>
            <a:r>
              <a:rPr lang="en-US" sz="3000" b="1" dirty="0" smtClean="0">
                <a:solidFill>
                  <a:srgbClr val="243B53"/>
                </a:solidFill>
                <a:latin typeface="Arial"/>
                <a:ea typeface="Arial"/>
                <a:cs typeface="Arial"/>
              </a:rPr>
              <a:t>7</a:t>
            </a:r>
            <a:endParaRPr sz="3000" b="1" dirty="0">
              <a:solidFill>
                <a:srgbClr val="243B53"/>
              </a:solidFill>
              <a:latin typeface="Arial"/>
              <a:ea typeface="Arial"/>
              <a:cs typeface="Arial"/>
            </a:endParaRPr>
          </a:p>
        </p:txBody>
      </p:sp>
      <p:sp>
        <p:nvSpPr>
          <p:cNvPr id="154" name="slide-7-page-number">
            <a:extLst>
              <a:ext uri="{FF2B5EF4-FFF2-40B4-BE49-F238E27FC236}">
                <a16:creationId xmlns:a16="http://schemas.microsoft.com/office/drawing/2014/main" id="{D8C5E5EF-5921-4585-9D03-64794CEE38A3}"/>
              </a:ext>
            </a:extLst>
          </p:cNvPr>
          <p:cNvSpPr>
            <a:spLocks noGrp="1"/>
          </p:cNvSpPr>
          <p:nvPr/>
        </p:nvSpPr>
        <p:spPr>
          <a:xfrm>
            <a:off x="11366500" y="317500"/>
            <a:ext cx="330200" cy="279400"/>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a:ea typeface="微软雅黑"/>
                <a:cs typeface="微软雅黑"/>
              </a:defRPr>
            </a:pPr>
            <a:r>
              <a:rPr lang="en-US" sz="1200" b="1" dirty="0">
                <a:solidFill>
                  <a:srgbClr val="66737F"/>
                </a:solidFill>
                <a:latin typeface="Arial"/>
                <a:ea typeface="Arial"/>
                <a:cs typeface="Arial"/>
              </a:rPr>
              <a:t>9</a:t>
            </a:r>
            <a:endParaRPr sz="1200" b="1" dirty="0">
              <a:solidFill>
                <a:srgbClr val="66737F"/>
              </a:solidFill>
              <a:latin typeface="Arial"/>
              <a:ea typeface="Arial"/>
              <a:cs typeface="Arial"/>
            </a:endParaRPr>
          </a:p>
        </p:txBody>
      </p:sp>
      <p:sp>
        <p:nvSpPr>
          <p:cNvPr id="108" name="constraints-principle-band">
            <a:extLst>
              <a:ext uri="{FF2B5EF4-FFF2-40B4-BE49-F238E27FC236}">
                <a16:creationId xmlns:a16="http://schemas.microsoft.com/office/drawing/2014/main" id="{F2BA136F-494B-4D56-BC3A-2713F5870DBA}"/>
              </a:ext>
            </a:extLst>
          </p:cNvPr>
          <p:cNvSpPr>
            <a:spLocks noGrp="1"/>
          </p:cNvSpPr>
          <p:nvPr/>
        </p:nvSpPr>
        <p:spPr>
          <a:xfrm>
            <a:off x="859631" y="2666999"/>
            <a:ext cx="2833688" cy="333375"/>
          </a:xfrm>
          <a:prstGeom prst="rect">
            <a:avLst/>
          </a:prstGeom>
          <a:solidFill>
            <a:srgbClr val="EAF0F4"/>
          </a:solidFill>
          <a:ln w="0">
            <a:noFill/>
            <a:prstDash val="solid"/>
          </a:ln>
        </p:spPr>
      </p:sp>
      <p:sp>
        <p:nvSpPr>
          <p:cNvPr id="109" name="references-node-text">
            <a:extLst>
              <a:ext uri="{FF2B5EF4-FFF2-40B4-BE49-F238E27FC236}">
                <a16:creationId xmlns:a16="http://schemas.microsoft.com/office/drawing/2014/main" id="{979C869B-FEAF-4537-B779-775560C9F33C}"/>
              </a:ext>
            </a:extLst>
          </p:cNvPr>
          <p:cNvSpPr>
            <a:spLocks noGrp="1"/>
          </p:cNvSpPr>
          <p:nvPr/>
        </p:nvSpPr>
        <p:spPr>
          <a:xfrm>
            <a:off x="859631" y="2686049"/>
            <a:ext cx="2862263"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a:ea typeface="微软雅黑"/>
                <a:cs typeface="微软雅黑"/>
              </a:defRPr>
            </a:pPr>
            <a:r>
              <a:rPr lang="zh-CN" altLang="en-US" sz="1100" b="1" dirty="0">
                <a:solidFill>
                  <a:srgbClr val="4B6F88"/>
                </a:solidFill>
                <a:latin typeface="微软雅黑"/>
                <a:ea typeface="微软雅黑"/>
                <a:cs typeface="微软雅黑"/>
              </a:rPr>
              <a:t>开发一个算子需要消耗数百万</a:t>
            </a:r>
            <a:r>
              <a:rPr lang="en-US" altLang="zh-CN" sz="1100" b="1" dirty="0">
                <a:solidFill>
                  <a:srgbClr val="4B6F88"/>
                </a:solidFill>
                <a:latin typeface="微软雅黑"/>
                <a:ea typeface="微软雅黑"/>
                <a:cs typeface="微软雅黑"/>
              </a:rPr>
              <a:t>token</a:t>
            </a:r>
            <a:endParaRPr sz="1100" b="1" dirty="0">
              <a:solidFill>
                <a:srgbClr val="4B6F88"/>
              </a:solidFill>
              <a:latin typeface="微软雅黑"/>
              <a:ea typeface="微软雅黑"/>
              <a:cs typeface="微软雅黑"/>
            </a:endParaRPr>
          </a:p>
        </p:txBody>
      </p:sp>
      <p:sp>
        <p:nvSpPr>
          <p:cNvPr id="112" name="constraints-principle-band">
            <a:extLst>
              <a:ext uri="{FF2B5EF4-FFF2-40B4-BE49-F238E27FC236}">
                <a16:creationId xmlns:a16="http://schemas.microsoft.com/office/drawing/2014/main" id="{F2BA136F-494B-4D56-BC3A-2713F5870DBA}"/>
              </a:ext>
            </a:extLst>
          </p:cNvPr>
          <p:cNvSpPr>
            <a:spLocks noGrp="1"/>
          </p:cNvSpPr>
          <p:nvPr/>
        </p:nvSpPr>
        <p:spPr>
          <a:xfrm>
            <a:off x="931069" y="3462337"/>
            <a:ext cx="2833688" cy="333375"/>
          </a:xfrm>
          <a:prstGeom prst="rect">
            <a:avLst/>
          </a:prstGeom>
          <a:solidFill>
            <a:srgbClr val="EAF0F4"/>
          </a:solidFill>
          <a:ln w="0">
            <a:noFill/>
            <a:prstDash val="solid"/>
          </a:ln>
        </p:spPr>
      </p:sp>
      <p:sp>
        <p:nvSpPr>
          <p:cNvPr id="113" name="examples-node-text">
            <a:extLst>
              <a:ext uri="{FF2B5EF4-FFF2-40B4-BE49-F238E27FC236}">
                <a16:creationId xmlns:a16="http://schemas.microsoft.com/office/drawing/2014/main" id="{204B5BBD-14BB-48D3-A09C-EA9EAB187CBB}"/>
              </a:ext>
            </a:extLst>
          </p:cNvPr>
          <p:cNvSpPr>
            <a:spLocks noGrp="1"/>
          </p:cNvSpPr>
          <p:nvPr/>
        </p:nvSpPr>
        <p:spPr>
          <a:xfrm>
            <a:off x="1509712" y="3505200"/>
            <a:ext cx="1519237"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a:ea typeface="微软雅黑"/>
                <a:cs typeface="微软雅黑"/>
              </a:defRPr>
            </a:pPr>
            <a:r>
              <a:rPr lang="zh-CN" altLang="en-US" sz="1100" b="1" dirty="0">
                <a:solidFill>
                  <a:srgbClr val="4B6F88"/>
                </a:solidFill>
                <a:latin typeface="微软雅黑"/>
                <a:ea typeface="微软雅黑"/>
                <a:cs typeface="微软雅黑"/>
              </a:rPr>
              <a:t>一天的内网模型调用额度跑不了三个算子</a:t>
            </a:r>
            <a:endParaRPr sz="1100" b="1" dirty="0">
              <a:solidFill>
                <a:srgbClr val="4B6F88"/>
              </a:solidFill>
              <a:latin typeface="微软雅黑"/>
              <a:ea typeface="微软雅黑"/>
              <a:cs typeface="微软雅黑"/>
            </a:endParaRPr>
          </a:p>
        </p:txBody>
      </p:sp>
      <p:sp>
        <p:nvSpPr>
          <p:cNvPr id="114" name="validation-product-band">
            <a:extLst>
              <a:ext uri="{FF2B5EF4-FFF2-40B4-BE49-F238E27FC236}">
                <a16:creationId xmlns:a16="http://schemas.microsoft.com/office/drawing/2014/main" id="{A929412D-440B-4144-9335-A0FAC39C0BA0}"/>
              </a:ext>
            </a:extLst>
          </p:cNvPr>
          <p:cNvSpPr>
            <a:spLocks noGrp="1"/>
          </p:cNvSpPr>
          <p:nvPr/>
        </p:nvSpPr>
        <p:spPr>
          <a:xfrm>
            <a:off x="8445500" y="3486150"/>
            <a:ext cx="3038475" cy="295275"/>
          </a:xfrm>
          <a:prstGeom prst="rect">
            <a:avLst/>
          </a:prstGeom>
          <a:solidFill>
            <a:srgbClr val="EAF0F4"/>
          </a:solidFill>
          <a:ln w="0">
            <a:noFill/>
            <a:prstDash val="solid"/>
          </a:ln>
        </p:spPr>
      </p:sp>
      <p:sp>
        <p:nvSpPr>
          <p:cNvPr id="115" name="validation-product">
            <a:extLst>
              <a:ext uri="{FF2B5EF4-FFF2-40B4-BE49-F238E27FC236}">
                <a16:creationId xmlns:a16="http://schemas.microsoft.com/office/drawing/2014/main" id="{8202033B-A28F-4A97-82C6-0A267F54FFDE}"/>
              </a:ext>
            </a:extLst>
          </p:cNvPr>
          <p:cNvSpPr>
            <a:spLocks noGrp="1"/>
          </p:cNvSpPr>
          <p:nvPr/>
        </p:nvSpPr>
        <p:spPr>
          <a:xfrm>
            <a:off x="8559800" y="3495675"/>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a:ea typeface="微软雅黑"/>
                <a:cs typeface="微软雅黑"/>
              </a:defRPr>
            </a:pPr>
            <a:r>
              <a:rPr sz="1100" b="1" dirty="0" err="1">
                <a:solidFill>
                  <a:srgbClr val="4B6F88"/>
                </a:solidFill>
                <a:latin typeface="微软雅黑"/>
                <a:ea typeface="微软雅黑"/>
                <a:cs typeface="微软雅黑"/>
              </a:rPr>
              <a:t>结果：小改动验证成本高</a:t>
            </a:r>
            <a:endParaRPr sz="1100" b="1" dirty="0">
              <a:solidFill>
                <a:srgbClr val="4B6F88"/>
              </a:solidFill>
              <a:latin typeface="微软雅黑"/>
              <a:ea typeface="微软雅黑"/>
              <a:cs typeface="微软雅黑"/>
            </a:endParaRPr>
          </a:p>
        </p:txBody>
      </p:sp>
    </p:spTree>
    <p:extLst>
      <p:ext uri="{BB962C8B-B14F-4D97-AF65-F5344CB8AC3E}">
        <p14:creationId xmlns:p14="http://schemas.microsoft.com/office/powerpoint/2010/main" val="4102488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hase-c-surface">
            <a:extLst>
              <a:ext uri="{FF2B5EF4-FFF2-40B4-BE49-F238E27FC236}">
                <a16:creationId xmlns:a16="http://schemas.microsoft.com/office/drawing/2014/main" id="{9BF5975D-A29B-4C85-BDCA-AE02672F0BE0}"/>
              </a:ext>
            </a:extLst>
          </p:cNvPr>
          <p:cNvSpPr>
            <a:spLocks noGrp="1"/>
          </p:cNvSpPr>
          <p:nvPr/>
        </p:nvSpPr>
        <p:spPr>
          <a:xfrm>
            <a:off x="1352550" y="1831659"/>
            <a:ext cx="9601200" cy="1000125"/>
          </a:xfrm>
          <a:prstGeom prst="rect">
            <a:avLst/>
          </a:prstGeom>
          <a:solidFill>
            <a:srgbClr val="F1F5F7"/>
          </a:solidFill>
          <a:ln w="9525">
            <a:solidFill>
              <a:srgbClr val="D7E0E6"/>
            </a:solidFill>
            <a:prstDash val="solid"/>
          </a:ln>
        </p:spPr>
      </p:sp>
      <p:sp>
        <p:nvSpPr>
          <p:cNvPr id="145" name="phase-c-surface">
            <a:extLst>
              <a:ext uri="{FF2B5EF4-FFF2-40B4-BE49-F238E27FC236}">
                <a16:creationId xmlns:a16="http://schemas.microsoft.com/office/drawing/2014/main" id="{9BF5975D-A29B-4C85-BDCA-AE02672F0BE0}"/>
              </a:ext>
            </a:extLst>
          </p:cNvPr>
          <p:cNvSpPr>
            <a:spLocks noGrp="1"/>
          </p:cNvSpPr>
          <p:nvPr/>
        </p:nvSpPr>
        <p:spPr>
          <a:xfrm>
            <a:off x="1352550" y="2869884"/>
            <a:ext cx="9601200" cy="1000125"/>
          </a:xfrm>
          <a:prstGeom prst="rect">
            <a:avLst/>
          </a:prstGeom>
          <a:solidFill>
            <a:srgbClr val="F1F5F7"/>
          </a:solidFill>
          <a:ln w="9525">
            <a:solidFill>
              <a:srgbClr val="D7E0E6"/>
            </a:solidFill>
            <a:prstDash val="solid"/>
          </a:ln>
        </p:spPr>
      </p:sp>
      <p:sp>
        <p:nvSpPr>
          <p:cNvPr id="144" name="phase-c-surface">
            <a:extLst>
              <a:ext uri="{FF2B5EF4-FFF2-40B4-BE49-F238E27FC236}">
                <a16:creationId xmlns:a16="http://schemas.microsoft.com/office/drawing/2014/main" id="{9BF5975D-A29B-4C85-BDCA-AE02672F0BE0}"/>
              </a:ext>
            </a:extLst>
          </p:cNvPr>
          <p:cNvSpPr>
            <a:spLocks noGrp="1"/>
          </p:cNvSpPr>
          <p:nvPr/>
        </p:nvSpPr>
        <p:spPr>
          <a:xfrm>
            <a:off x="1352550" y="3926205"/>
            <a:ext cx="9601200" cy="1000125"/>
          </a:xfrm>
          <a:prstGeom prst="rect">
            <a:avLst/>
          </a:prstGeom>
          <a:solidFill>
            <a:srgbClr val="F1F5F7"/>
          </a:solidFill>
          <a:ln w="9525">
            <a:solidFill>
              <a:srgbClr val="D7E0E6"/>
            </a:solidFill>
            <a:prstDash val="solid"/>
          </a:ln>
        </p:spPr>
      </p:sp>
      <p:sp>
        <p:nvSpPr>
          <p:cNvPr id="7" name="slide-8-title">
            <a:extLst>
              <a:ext uri="{FF2B5EF4-FFF2-40B4-BE49-F238E27FC236}">
                <a16:creationId xmlns:a16="http://schemas.microsoft.com/office/drawing/2014/main" id="{375095E6-F8D5-4CE6-83F3-BB443C6C8DB1}"/>
              </a:ext>
            </a:extLst>
          </p:cNvPr>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Microsoft YaHei"/>
                <a:ea typeface="Microsoft YaHei"/>
                <a:cs typeface="Microsoft YaHei"/>
              </a:defRPr>
            </a:pPr>
            <a:r>
              <a:rPr sz="2850" b="1">
                <a:solidFill>
                  <a:srgbClr val="243B53"/>
                </a:solidFill>
                <a:latin typeface="Microsoft YaHei"/>
                <a:ea typeface="Microsoft YaHei"/>
                <a:cs typeface="Microsoft YaHei"/>
              </a:rPr>
              <a:t>优化方向一：降低算子开发时间与 Token 消耗</a:t>
            </a:r>
          </a:p>
        </p:txBody>
      </p:sp>
      <p:sp>
        <p:nvSpPr>
          <p:cNvPr id="9" name="footer-background">
            <a:extLst>
              <a:ext uri="{FF2B5EF4-FFF2-40B4-BE49-F238E27FC236}">
                <a16:creationId xmlns:a16="http://schemas.microsoft.com/office/drawing/2014/main" id="{C6E7F932-DCB2-46AD-92B1-4487DFCD10B6}"/>
              </a:ext>
            </a:extLst>
          </p:cNvPr>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a:extLst>
              <a:ext uri="{FF2B5EF4-FFF2-40B4-BE49-F238E27FC236}">
                <a16:creationId xmlns:a16="http://schemas.microsoft.com/office/drawing/2014/main" id="{9CE192D7-ED29-49CC-A75A-06D02AEA387C}"/>
              </a:ext>
            </a:extLst>
          </p:cNvP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Microsoft YaHei"/>
                <a:ea typeface="Microsoft YaHei"/>
                <a:cs typeface="Microsoft YaHei"/>
              </a:defRPr>
            </a:pPr>
            <a:r>
              <a:rPr sz="1275" b="1" dirty="0" err="1">
                <a:solidFill>
                  <a:srgbClr val="FFFFFF"/>
                </a:solidFill>
                <a:latin typeface="Microsoft YaHei"/>
                <a:ea typeface="Microsoft YaHei"/>
                <a:cs typeface="Microsoft YaHei"/>
              </a:rPr>
              <a:t>减少无效流程、无效优化和重复分析，让</a:t>
            </a:r>
            <a:r>
              <a:rPr sz="1275" b="1" dirty="0">
                <a:solidFill>
                  <a:srgbClr val="FFFFFF"/>
                </a:solidFill>
                <a:latin typeface="Microsoft YaHei"/>
                <a:ea typeface="Microsoft YaHei"/>
                <a:cs typeface="Microsoft YaHei"/>
              </a:rPr>
              <a:t> Agent </a:t>
            </a:r>
            <a:r>
              <a:rPr sz="1275" b="1" dirty="0" err="1">
                <a:solidFill>
                  <a:srgbClr val="FFFFFF"/>
                </a:solidFill>
                <a:latin typeface="Microsoft YaHei"/>
                <a:ea typeface="Microsoft YaHei"/>
                <a:cs typeface="Microsoft YaHei"/>
              </a:rPr>
              <a:t>只处理真正需要推理的部分</a:t>
            </a:r>
            <a:r>
              <a:rPr sz="1275" b="1" dirty="0">
                <a:solidFill>
                  <a:srgbClr val="FFFFFF"/>
                </a:solidFill>
                <a:latin typeface="Microsoft YaHei"/>
                <a:ea typeface="Microsoft YaHei"/>
                <a:cs typeface="Microsoft YaHei"/>
              </a:rPr>
              <a:t>。</a:t>
            </a:r>
          </a:p>
        </p:txBody>
      </p:sp>
      <p:sp>
        <p:nvSpPr>
          <p:cNvPr id="20" name="knowledge-source-1">
            <a:extLst>
              <a:ext uri="{FF2B5EF4-FFF2-40B4-BE49-F238E27FC236}">
                <a16:creationId xmlns:a16="http://schemas.microsoft.com/office/drawing/2014/main" id="{EBDC28E3-6143-410C-BEFE-5B7F627C63C2}"/>
              </a:ext>
            </a:extLst>
          </p:cNvPr>
          <p:cNvSpPr>
            <a:spLocks noGrp="1"/>
          </p:cNvSpPr>
          <p:nvPr/>
        </p:nvSpPr>
        <p:spPr>
          <a:xfrm>
            <a:off x="1759585" y="831214"/>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a:extLst>
              <a:ext uri="{FF2B5EF4-FFF2-40B4-BE49-F238E27FC236}">
                <a16:creationId xmlns:a16="http://schemas.microsoft.com/office/drawing/2014/main" id="{496FBD7A-2744-49B2-AF4E-57BDC19EB1AA}"/>
              </a:ext>
            </a:extLst>
          </p:cNvPr>
          <p:cNvSpPr>
            <a:spLocks noGrp="1"/>
          </p:cNvSpPr>
          <p:nvPr/>
        </p:nvSpPr>
        <p:spPr>
          <a:xfrm>
            <a:off x="2038350" y="866774"/>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全流程重复执行</a:t>
            </a:r>
          </a:p>
        </p:txBody>
      </p:sp>
      <p:sp>
        <p:nvSpPr>
          <p:cNvPr id="23" name="knowledge-source-1-note">
            <a:extLst>
              <a:ext uri="{FF2B5EF4-FFF2-40B4-BE49-F238E27FC236}">
                <a16:creationId xmlns:a16="http://schemas.microsoft.com/office/drawing/2014/main" id="{11C9D527-AE0E-41BB-BAD2-0A32C441DE5C}"/>
              </a:ext>
            </a:extLst>
          </p:cNvPr>
          <p:cNvSpPr>
            <a:spLocks noGrp="1"/>
          </p:cNvSpPr>
          <p:nvPr/>
        </p:nvSpPr>
        <p:spPr>
          <a:xfrm>
            <a:off x="2038350" y="1095374"/>
            <a:ext cx="22860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不同任务都从头开始</a:t>
            </a:r>
          </a:p>
        </p:txBody>
      </p:sp>
      <p:sp>
        <p:nvSpPr>
          <p:cNvPr id="24" name="knowledge-source-2">
            <a:extLst>
              <a:ext uri="{FF2B5EF4-FFF2-40B4-BE49-F238E27FC236}">
                <a16:creationId xmlns:a16="http://schemas.microsoft.com/office/drawing/2014/main" id="{4CD9FA40-F42B-4D79-A6C5-A69D8D01CAE3}"/>
              </a:ext>
            </a:extLst>
          </p:cNvPr>
          <p:cNvSpPr>
            <a:spLocks noGrp="1"/>
          </p:cNvSpPr>
          <p:nvPr/>
        </p:nvSpPr>
        <p:spPr>
          <a:xfrm>
            <a:off x="4683760" y="831214"/>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a:extLst>
              <a:ext uri="{FF2B5EF4-FFF2-40B4-BE49-F238E27FC236}">
                <a16:creationId xmlns:a16="http://schemas.microsoft.com/office/drawing/2014/main" id="{FD18660E-7B06-4404-89B4-819FDDB10F02}"/>
              </a:ext>
            </a:extLst>
          </p:cNvPr>
          <p:cNvSpPr>
            <a:spLocks noGrp="1"/>
          </p:cNvSpPr>
          <p:nvPr/>
        </p:nvSpPr>
        <p:spPr>
          <a:xfrm>
            <a:off x="4972050" y="866774"/>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优化策略过度遍历</a:t>
            </a:r>
          </a:p>
        </p:txBody>
      </p:sp>
      <p:sp>
        <p:nvSpPr>
          <p:cNvPr id="27" name="knowledge-source-2-note">
            <a:extLst>
              <a:ext uri="{FF2B5EF4-FFF2-40B4-BE49-F238E27FC236}">
                <a16:creationId xmlns:a16="http://schemas.microsoft.com/office/drawing/2014/main" id="{29B1723A-5A11-4EC9-9F93-9FBA049C550B}"/>
              </a:ext>
            </a:extLst>
          </p:cNvPr>
          <p:cNvSpPr>
            <a:spLocks noGrp="1"/>
          </p:cNvSpPr>
          <p:nvPr/>
        </p:nvSpPr>
        <p:spPr>
          <a:xfrm>
            <a:off x="4876800" y="1095374"/>
            <a:ext cx="24765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缺少瓶颈判断，低收益尝试过多</a:t>
            </a:r>
          </a:p>
        </p:txBody>
      </p:sp>
      <p:sp>
        <p:nvSpPr>
          <p:cNvPr id="28" name="knowledge-source-3">
            <a:extLst>
              <a:ext uri="{FF2B5EF4-FFF2-40B4-BE49-F238E27FC236}">
                <a16:creationId xmlns:a16="http://schemas.microsoft.com/office/drawing/2014/main" id="{877D0EC0-69E8-492F-B27E-3128FF395ED6}"/>
              </a:ext>
            </a:extLst>
          </p:cNvPr>
          <p:cNvSpPr>
            <a:spLocks noGrp="1"/>
          </p:cNvSpPr>
          <p:nvPr/>
        </p:nvSpPr>
        <p:spPr>
          <a:xfrm>
            <a:off x="7607935" y="831214"/>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a:extLst>
              <a:ext uri="{FF2B5EF4-FFF2-40B4-BE49-F238E27FC236}">
                <a16:creationId xmlns:a16="http://schemas.microsoft.com/office/drawing/2014/main" id="{D3D31AFF-A1D6-4E1E-AC09-4176658BF202}"/>
              </a:ext>
            </a:extLst>
          </p:cNvPr>
          <p:cNvSpPr>
            <a:spLocks noGrp="1"/>
          </p:cNvSpPr>
          <p:nvPr/>
        </p:nvSpPr>
        <p:spPr>
          <a:xfrm>
            <a:off x="7896225" y="866774"/>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大量工作交给 Agent</a:t>
            </a:r>
          </a:p>
        </p:txBody>
      </p:sp>
      <p:sp>
        <p:nvSpPr>
          <p:cNvPr id="31" name="knowledge-source-3-note">
            <a:extLst>
              <a:ext uri="{FF2B5EF4-FFF2-40B4-BE49-F238E27FC236}">
                <a16:creationId xmlns:a16="http://schemas.microsoft.com/office/drawing/2014/main" id="{1339139C-1351-47A9-9705-04C74CC76091}"/>
              </a:ext>
            </a:extLst>
          </p:cNvPr>
          <p:cNvSpPr>
            <a:spLocks noGrp="1"/>
          </p:cNvSpPr>
          <p:nvPr/>
        </p:nvSpPr>
        <p:spPr>
          <a:xfrm>
            <a:off x="7753350" y="1095374"/>
            <a:ext cx="257175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Log / Benchmark / Profile 反复读取</a:t>
            </a:r>
          </a:p>
        </p:txBody>
      </p:sp>
      <p:sp>
        <p:nvSpPr>
          <p:cNvPr id="32" name="platform-knowledge-node">
            <a:extLst>
              <a:ext uri="{FF2B5EF4-FFF2-40B4-BE49-F238E27FC236}">
                <a16:creationId xmlns:a16="http://schemas.microsoft.com/office/drawing/2014/main" id="{5762D966-7501-439C-A080-138BF198C932}"/>
              </a:ext>
            </a:extLst>
          </p:cNvPr>
          <p:cNvSpPr>
            <a:spLocks noGrp="1"/>
          </p:cNvSpPr>
          <p:nvPr/>
        </p:nvSpPr>
        <p:spPr>
          <a:xfrm>
            <a:off x="4683760" y="1407637"/>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Microsoft YaHei"/>
                <a:ea typeface="Microsoft YaHei"/>
                <a:cs typeface="Microsoft YaHei"/>
              </a:defRPr>
            </a:pPr>
            <a:r>
              <a:rPr sz="1125" b="1" dirty="0" err="1">
                <a:solidFill>
                  <a:srgbClr val="FFFFFF"/>
                </a:solidFill>
                <a:latin typeface="Microsoft YaHei"/>
                <a:ea typeface="Microsoft YaHei"/>
                <a:cs typeface="Microsoft YaHei"/>
              </a:rPr>
              <a:t>开发时间</a:t>
            </a:r>
            <a:r>
              <a:rPr sz="1125" b="1" dirty="0">
                <a:solidFill>
                  <a:srgbClr val="FFFFFF"/>
                </a:solidFill>
                <a:latin typeface="Microsoft YaHei"/>
                <a:ea typeface="Microsoft YaHei"/>
                <a:cs typeface="Microsoft YaHei"/>
              </a:rPr>
              <a:t> ↑   +   Token </a:t>
            </a:r>
            <a:r>
              <a:rPr sz="1125" b="1" dirty="0" err="1">
                <a:solidFill>
                  <a:srgbClr val="FFFFFF"/>
                </a:solidFill>
                <a:latin typeface="Microsoft YaHei"/>
                <a:ea typeface="Microsoft YaHei"/>
                <a:cs typeface="Microsoft YaHei"/>
              </a:rPr>
              <a:t>消耗</a:t>
            </a:r>
            <a:r>
              <a:rPr sz="1125" b="1" dirty="0">
                <a:solidFill>
                  <a:srgbClr val="FFFFFF"/>
                </a:solidFill>
                <a:latin typeface="Microsoft YaHei"/>
                <a:ea typeface="Microsoft YaHei"/>
                <a:cs typeface="Microsoft YaHei"/>
              </a:rPr>
              <a:t> ↑</a:t>
            </a:r>
            <a:endParaRPr sz="1400" b="1" dirty="0">
              <a:solidFill>
                <a:srgbClr val="FFFFFF"/>
              </a:solidFill>
              <a:latin typeface="Arial"/>
              <a:ea typeface="Arial"/>
              <a:cs typeface="Arial"/>
            </a:endParaRPr>
          </a:p>
        </p:txBody>
      </p:sp>
      <p:sp>
        <p:nvSpPr>
          <p:cNvPr id="38" name="phase-a-accent">
            <a:extLst>
              <a:ext uri="{FF2B5EF4-FFF2-40B4-BE49-F238E27FC236}">
                <a16:creationId xmlns:a16="http://schemas.microsoft.com/office/drawing/2014/main" id="{F5A2FC7B-8AB5-46AF-B186-FC8395962260}"/>
              </a:ext>
            </a:extLst>
          </p:cNvPr>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a:extLst>
              <a:ext uri="{FF2B5EF4-FFF2-40B4-BE49-F238E27FC236}">
                <a16:creationId xmlns:a16="http://schemas.microsoft.com/office/drawing/2014/main" id="{35C3BBFF-CB6B-4D33-8A0A-AE313D295B23}"/>
              </a:ext>
            </a:extLst>
          </p:cNvP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01</a:t>
            </a:r>
          </a:p>
        </p:txBody>
      </p:sp>
      <p:sp>
        <p:nvSpPr>
          <p:cNvPr id="41" name="phase-a-chinese">
            <a:extLst>
              <a:ext uri="{FF2B5EF4-FFF2-40B4-BE49-F238E27FC236}">
                <a16:creationId xmlns:a16="http://schemas.microsoft.com/office/drawing/2014/main" id="{B28E6AE6-91E1-4238-AA3C-AE2DB3CAAE25}"/>
              </a:ext>
            </a:extLst>
          </p:cNvPr>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a:solidFill>
                  <a:srgbClr val="173F61"/>
                </a:solidFill>
                <a:latin typeface="Microsoft YaHei"/>
                <a:ea typeface="Microsoft YaHei"/>
                <a:cs typeface="Microsoft YaHei"/>
              </a:rPr>
              <a:t>任务路由</a:t>
            </a:r>
            <a:endParaRPr sz="1275" b="1" dirty="0">
              <a:solidFill>
                <a:srgbClr val="173F61"/>
              </a:solidFill>
              <a:latin typeface="Microsoft YaHei"/>
              <a:ea typeface="Microsoft YaHei"/>
              <a:cs typeface="Microsoft YaHei"/>
            </a:endParaRPr>
          </a:p>
        </p:txBody>
      </p:sp>
      <p:sp>
        <p:nvSpPr>
          <p:cNvPr id="42" name="phase-a-sidebar-divider">
            <a:extLst>
              <a:ext uri="{FF2B5EF4-FFF2-40B4-BE49-F238E27FC236}">
                <a16:creationId xmlns:a16="http://schemas.microsoft.com/office/drawing/2014/main" id="{D9CD0AD7-6CA4-46E4-8E1E-B4EBB896863B}"/>
              </a:ext>
            </a:extLst>
          </p:cNvP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64" name="phase-b-accent">
            <a:extLst>
              <a:ext uri="{FF2B5EF4-FFF2-40B4-BE49-F238E27FC236}">
                <a16:creationId xmlns:a16="http://schemas.microsoft.com/office/drawing/2014/main" id="{35124B45-02EA-4E61-BF62-155BBA81FF82}"/>
              </a:ext>
            </a:extLst>
          </p:cNvPr>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70" name="step-03-number">
            <a:extLst>
              <a:ext uri="{FF2B5EF4-FFF2-40B4-BE49-F238E27FC236}">
                <a16:creationId xmlns:a16="http://schemas.microsoft.com/office/drawing/2014/main" id="{6B15DC1F-B2E6-4B0E-9606-56DD31B76A1C}"/>
              </a:ext>
            </a:extLst>
          </p:cNvPr>
          <p:cNvSpPr>
            <a:spLocks noGrp="1"/>
          </p:cNvSpPr>
          <p:nvPr/>
        </p:nvSpPr>
        <p:spPr>
          <a:xfrm>
            <a:off x="1524000" y="3021964"/>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2</a:t>
            </a:r>
            <a:endParaRPr sz="1125" b="1" dirty="0">
              <a:solidFill>
                <a:srgbClr val="5C7F99"/>
              </a:solidFill>
              <a:latin typeface="Microsoft YaHei"/>
              <a:ea typeface="Microsoft YaHei"/>
              <a:cs typeface="Microsoft YaHei"/>
            </a:endParaRPr>
          </a:p>
        </p:txBody>
      </p:sp>
      <p:sp>
        <p:nvSpPr>
          <p:cNvPr id="71" name="step-03-title">
            <a:extLst>
              <a:ext uri="{FF2B5EF4-FFF2-40B4-BE49-F238E27FC236}">
                <a16:creationId xmlns:a16="http://schemas.microsoft.com/office/drawing/2014/main" id="{E708CCC2-CB4D-496E-B416-E8393D2BB238}"/>
              </a:ext>
            </a:extLst>
          </p:cNvPr>
          <p:cNvSpPr>
            <a:spLocks noGrp="1"/>
          </p:cNvSpPr>
          <p:nvPr/>
        </p:nvSpPr>
        <p:spPr>
          <a:xfrm>
            <a:off x="1876425" y="2991166"/>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Microsoft YaHei"/>
                <a:ea typeface="Microsoft YaHei"/>
                <a:cs typeface="Microsoft YaHei"/>
              </a:defRPr>
            </a:pPr>
            <a:r>
              <a:rPr lang="zh-CN" altLang="en-US" sz="1275" b="1" dirty="0">
                <a:solidFill>
                  <a:srgbClr val="173F61"/>
                </a:solidFill>
                <a:latin typeface="Microsoft YaHei"/>
                <a:ea typeface="Microsoft YaHei"/>
                <a:cs typeface="Microsoft YaHei"/>
              </a:rPr>
              <a:t>优化策略分析</a:t>
            </a:r>
            <a:endParaRPr sz="1275" b="1" dirty="0">
              <a:solidFill>
                <a:srgbClr val="173F61"/>
              </a:solidFill>
              <a:latin typeface="Microsoft YaHei"/>
              <a:ea typeface="Microsoft YaHei"/>
              <a:cs typeface="Microsoft YaHei"/>
            </a:endParaRPr>
          </a:p>
        </p:txBody>
      </p:sp>
      <p:sp>
        <p:nvSpPr>
          <p:cNvPr id="93" name="phase-c-accent">
            <a:extLst>
              <a:ext uri="{FF2B5EF4-FFF2-40B4-BE49-F238E27FC236}">
                <a16:creationId xmlns:a16="http://schemas.microsoft.com/office/drawing/2014/main" id="{E15BA5EA-E588-4A98-8B37-E7496B653B65}"/>
              </a:ext>
            </a:extLst>
          </p:cNvPr>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133" name="step-08-number">
            <a:extLst>
              <a:ext uri="{FF2B5EF4-FFF2-40B4-BE49-F238E27FC236}">
                <a16:creationId xmlns:a16="http://schemas.microsoft.com/office/drawing/2014/main" id="{3D7AAE78-4212-4968-822C-1853B3BAFC4B}"/>
              </a:ext>
            </a:extLst>
          </p:cNvP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a:ea typeface="Calibri"/>
                <a:cs typeface="Calibri"/>
              </a:defRPr>
            </a:pPr>
            <a:endParaRPr/>
          </a:p>
        </p:txBody>
      </p:sp>
      <p:sp>
        <p:nvSpPr>
          <p:cNvPr id="134" name="step-08-title">
            <a:extLst>
              <a:ext uri="{FF2B5EF4-FFF2-40B4-BE49-F238E27FC236}">
                <a16:creationId xmlns:a16="http://schemas.microsoft.com/office/drawing/2014/main" id="{98CF8D5D-4BB7-4641-B4A6-FFAC645FE933}"/>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a:ea typeface="微软雅黑"/>
                <a:cs typeface="微软雅黑"/>
              </a:defRPr>
            </a:pPr>
            <a:endParaRPr/>
          </a:p>
        </p:txBody>
      </p:sp>
      <p:sp>
        <p:nvSpPr>
          <p:cNvPr id="135" name="step-08-subtitle">
            <a:extLst>
              <a:ext uri="{FF2B5EF4-FFF2-40B4-BE49-F238E27FC236}">
                <a16:creationId xmlns:a16="http://schemas.microsoft.com/office/drawing/2014/main" id="{4FC7CE93-DD4D-463D-9836-56D303844EDD}"/>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a:ea typeface="微软雅黑"/>
                <a:cs typeface="微软雅黑"/>
              </a:defRPr>
            </a:pPr>
            <a:endParaRPr/>
          </a:p>
        </p:txBody>
      </p:sp>
      <p:sp>
        <p:nvSpPr>
          <p:cNvPr id="3" name="slide-7-page-number">
            <a:extLst>
              <a:ext uri="{FF2B5EF4-FFF2-40B4-BE49-F238E27FC236}">
                <a16:creationId xmlns:a16="http://schemas.microsoft.com/office/drawing/2014/main" id="{B9A54D7D-D642-4660-9F2D-34D9C9C7A13B}"/>
              </a:ext>
            </a:extLst>
          </p:cNvP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Microsoft YaHei"/>
                <a:ea typeface="Microsoft YaHei"/>
                <a:cs typeface="Microsoft YaHei"/>
              </a:defRPr>
            </a:pPr>
            <a:r>
              <a:rPr lang="en-US" sz="1200" b="1" dirty="0" smtClean="0">
                <a:solidFill>
                  <a:srgbClr val="66737F"/>
                </a:solidFill>
                <a:latin typeface="Microsoft YaHei"/>
                <a:ea typeface="Microsoft YaHei"/>
                <a:cs typeface="Arial"/>
              </a:rPr>
              <a:t>10</a:t>
            </a:r>
            <a:endParaRPr sz="1200" b="1" dirty="0">
              <a:solidFill>
                <a:srgbClr val="66737F"/>
              </a:solidFill>
              <a:latin typeface="Arial"/>
              <a:ea typeface="Arial"/>
              <a:cs typeface="Arial"/>
            </a:endParaRPr>
          </a:p>
        </p:txBody>
      </p:sp>
      <p:sp>
        <p:nvSpPr>
          <p:cNvPr id="103" name="slide-1-title">
            <a:extLst>
              <a:ext uri="{FF2B5EF4-FFF2-40B4-BE49-F238E27FC236}">
                <a16:creationId xmlns:a16="http://schemas.microsoft.com/office/drawing/2014/main" id="{C381CF64-BAB1-47F1-8866-115A246CAF93}"/>
              </a:ext>
            </a:extLst>
          </p:cNvPr>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Microsoft YaHei"/>
                <a:ea typeface="Microsoft YaHei"/>
                <a:cs typeface="Microsoft YaHei"/>
              </a:defRPr>
            </a:pPr>
            <a:r>
              <a:rPr lang="en-US" sz="3000" b="1" dirty="0" smtClean="0">
                <a:solidFill>
                  <a:srgbClr val="243B53"/>
                </a:solidFill>
                <a:latin typeface="Microsoft YaHei"/>
                <a:ea typeface="Microsoft YaHei"/>
                <a:cs typeface="Microsoft YaHei"/>
              </a:rPr>
              <a:t>1</a:t>
            </a:r>
            <a:r>
              <a:rPr sz="3000" b="1" dirty="0" smtClean="0">
                <a:solidFill>
                  <a:srgbClr val="243B53"/>
                </a:solidFill>
                <a:latin typeface="Microsoft YaHei"/>
                <a:ea typeface="Microsoft YaHei"/>
                <a:cs typeface="Microsoft YaHei"/>
              </a:rPr>
              <a:t>.</a:t>
            </a:r>
            <a:r>
              <a:rPr lang="en-US" sz="3000" b="1" dirty="0" smtClean="0">
                <a:solidFill>
                  <a:srgbClr val="243B53"/>
                </a:solidFill>
                <a:latin typeface="Microsoft YaHei"/>
                <a:ea typeface="Microsoft YaHei"/>
                <a:cs typeface="Microsoft YaHei"/>
              </a:rPr>
              <a:t>7</a:t>
            </a:r>
            <a:endParaRPr sz="3000" b="1" dirty="0">
              <a:solidFill>
                <a:srgbClr val="243B53"/>
              </a:solidFill>
              <a:latin typeface="Arial"/>
              <a:ea typeface="Arial"/>
              <a:cs typeface="Arial"/>
            </a:endParaRPr>
          </a:p>
        </p:txBody>
      </p:sp>
      <p:sp>
        <p:nvSpPr>
          <p:cNvPr id="104" name="s15-title-rule">
            <a:extLst>
              <a:ext uri="{FF2B5EF4-FFF2-40B4-BE49-F238E27FC236}">
                <a16:creationId xmlns:a16="http://schemas.microsoft.com/office/drawing/2014/main" id="{151B2147-080F-49BB-AA1C-DEAA33C95C2C}"/>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90" name="phase-b-chinese">
            <a:extLst>
              <a:ext uri="{FF2B5EF4-FFF2-40B4-BE49-F238E27FC236}">
                <a16:creationId xmlns:a16="http://schemas.microsoft.com/office/drawing/2014/main" id="{B9EA628B-BC8E-43F9-80A2-649FEB1374C6}"/>
              </a:ext>
            </a:extLst>
          </p:cNvPr>
          <p:cNvSpPr>
            <a:spLocks noGrp="1"/>
          </p:cNvSpPr>
          <p:nvPr/>
        </p:nvSpPr>
        <p:spPr>
          <a:xfrm>
            <a:off x="1685925" y="2248215"/>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根据不同的输入，直接进入对于的阶段。</a:t>
            </a:r>
            <a:endParaRPr sz="1200" b="1" dirty="0">
              <a:solidFill>
                <a:srgbClr val="5C7F99"/>
              </a:solidFill>
              <a:latin typeface="Microsoft YaHei"/>
              <a:ea typeface="Microsoft YaHei"/>
              <a:cs typeface="Microsoft YaHei"/>
            </a:endParaRPr>
          </a:p>
        </p:txBody>
      </p:sp>
      <p:sp>
        <p:nvSpPr>
          <p:cNvPr id="91" name="step-05-title">
            <a:extLst>
              <a:ext uri="{FF2B5EF4-FFF2-40B4-BE49-F238E27FC236}">
                <a16:creationId xmlns:a16="http://schemas.microsoft.com/office/drawing/2014/main" id="{CAEDB44C-147B-4FB5-990F-EDADB3A566EF}"/>
              </a:ext>
            </a:extLst>
          </p:cNvPr>
          <p:cNvSpPr>
            <a:spLocks noGrp="1"/>
          </p:cNvSpPr>
          <p:nvPr/>
        </p:nvSpPr>
        <p:spPr>
          <a:xfrm>
            <a:off x="4598033" y="2265362"/>
            <a:ext cx="419100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lang="zh-CN" altLang="en-US" sz="1200" b="1" dirty="0" smtClean="0">
                <a:solidFill>
                  <a:srgbClr val="263544"/>
                </a:solidFill>
                <a:latin typeface="Microsoft YaHei"/>
                <a:ea typeface="Microsoft YaHei"/>
                <a:cs typeface="Microsoft YaHei"/>
              </a:rPr>
              <a:t>根据用户输入，从所需的阶段进入，不是每次从头开始</a:t>
            </a:r>
            <a:endParaRPr sz="1200" b="1" dirty="0">
              <a:solidFill>
                <a:srgbClr val="263544"/>
              </a:solidFill>
              <a:latin typeface="Microsoft YaHei"/>
              <a:ea typeface="Microsoft YaHei"/>
              <a:cs typeface="Microsoft YaHei"/>
            </a:endParaRPr>
          </a:p>
        </p:txBody>
      </p:sp>
      <p:sp>
        <p:nvSpPr>
          <p:cNvPr id="110" name="phase-b-chinese">
            <a:extLst>
              <a:ext uri="{FF2B5EF4-FFF2-40B4-BE49-F238E27FC236}">
                <a16:creationId xmlns:a16="http://schemas.microsoft.com/office/drawing/2014/main" id="{B9EA628B-BC8E-43F9-80A2-649FEB1374C6}"/>
              </a:ext>
            </a:extLst>
          </p:cNvPr>
          <p:cNvSpPr>
            <a:spLocks noGrp="1"/>
          </p:cNvSpPr>
          <p:nvPr/>
        </p:nvSpPr>
        <p:spPr>
          <a:xfrm>
            <a:off x="1752600" y="3257866"/>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不便利所有优化，根据输入的类型，选择效率高的优化。</a:t>
            </a:r>
            <a:endParaRPr sz="1200" b="1" dirty="0">
              <a:solidFill>
                <a:srgbClr val="5C7F99"/>
              </a:solidFill>
              <a:latin typeface="Microsoft YaHei"/>
              <a:ea typeface="Microsoft YaHei"/>
              <a:cs typeface="Microsoft YaHei"/>
            </a:endParaRPr>
          </a:p>
        </p:txBody>
      </p:sp>
      <p:sp>
        <p:nvSpPr>
          <p:cNvPr id="111" name="step-04-number">
            <a:extLst>
              <a:ext uri="{FF2B5EF4-FFF2-40B4-BE49-F238E27FC236}">
                <a16:creationId xmlns:a16="http://schemas.microsoft.com/office/drawing/2014/main" id="{52221225-C23A-46DC-BBF4-FFEE0E417C0D}"/>
              </a:ext>
            </a:extLst>
          </p:cNvPr>
          <p:cNvSpPr>
            <a:spLocks noGrp="1"/>
          </p:cNvSpPr>
          <p:nvPr/>
        </p:nvSpPr>
        <p:spPr>
          <a:xfrm>
            <a:off x="1562100" y="4027487"/>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3</a:t>
            </a:r>
            <a:endParaRPr sz="1125" b="1" dirty="0">
              <a:solidFill>
                <a:srgbClr val="5C7F99"/>
              </a:solidFill>
              <a:latin typeface="Microsoft YaHei"/>
              <a:ea typeface="Microsoft YaHei"/>
              <a:cs typeface="Microsoft YaHei"/>
            </a:endParaRPr>
          </a:p>
        </p:txBody>
      </p:sp>
      <p:sp>
        <p:nvSpPr>
          <p:cNvPr id="112" name="step-04-title">
            <a:extLst>
              <a:ext uri="{FF2B5EF4-FFF2-40B4-BE49-F238E27FC236}">
                <a16:creationId xmlns:a16="http://schemas.microsoft.com/office/drawing/2014/main" id="{F2BD160D-7767-481F-BE44-4CDC6835A7C5}"/>
              </a:ext>
            </a:extLst>
          </p:cNvPr>
          <p:cNvSpPr>
            <a:spLocks noGrp="1"/>
          </p:cNvSpPr>
          <p:nvPr/>
        </p:nvSpPr>
        <p:spPr>
          <a:xfrm>
            <a:off x="1876425" y="3998912"/>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smtClean="0">
                <a:solidFill>
                  <a:srgbClr val="173F61"/>
                </a:solidFill>
                <a:latin typeface="Microsoft YaHei"/>
                <a:ea typeface="Microsoft YaHei"/>
                <a:cs typeface="Microsoft YaHei"/>
              </a:rPr>
              <a:t>优化</a:t>
            </a:r>
            <a:r>
              <a:rPr lang="zh-CN" altLang="en-US" sz="1275" b="1" dirty="0" smtClean="0">
                <a:solidFill>
                  <a:srgbClr val="173F61"/>
                </a:solidFill>
                <a:latin typeface="Microsoft YaHei"/>
                <a:ea typeface="Microsoft YaHei"/>
                <a:cs typeface="Microsoft YaHei"/>
              </a:rPr>
              <a:t>目标</a:t>
            </a:r>
            <a:r>
              <a:rPr sz="1275" b="1" dirty="0" err="1" smtClean="0">
                <a:solidFill>
                  <a:srgbClr val="173F61"/>
                </a:solidFill>
                <a:latin typeface="Microsoft YaHei"/>
                <a:ea typeface="Microsoft YaHei"/>
                <a:cs typeface="Microsoft YaHei"/>
              </a:rPr>
              <a:t>与停止门禁</a:t>
            </a:r>
            <a:endParaRPr sz="1275" b="1" dirty="0">
              <a:solidFill>
                <a:srgbClr val="173F61"/>
              </a:solidFill>
              <a:latin typeface="Microsoft YaHei"/>
              <a:ea typeface="Microsoft YaHei"/>
              <a:cs typeface="Microsoft YaHei"/>
            </a:endParaRPr>
          </a:p>
        </p:txBody>
      </p:sp>
      <p:sp>
        <p:nvSpPr>
          <p:cNvPr id="113" name="phase-b-chinese">
            <a:extLst>
              <a:ext uri="{FF2B5EF4-FFF2-40B4-BE49-F238E27FC236}">
                <a16:creationId xmlns:a16="http://schemas.microsoft.com/office/drawing/2014/main" id="{B9EA628B-BC8E-43F9-80A2-649FEB1374C6}"/>
              </a:ext>
            </a:extLst>
          </p:cNvPr>
          <p:cNvSpPr>
            <a:spLocks noGrp="1"/>
          </p:cNvSpPr>
          <p:nvPr/>
        </p:nvSpPr>
        <p:spPr>
          <a:xfrm>
            <a:off x="1724025" y="4306252"/>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优化结果满足条件或者多轮优化都不满足条件，停止优化迭代</a:t>
            </a:r>
            <a:endParaRPr sz="1200" b="1" dirty="0">
              <a:solidFill>
                <a:srgbClr val="5C7F99"/>
              </a:solidFill>
              <a:latin typeface="Microsoft YaHei"/>
              <a:ea typeface="Microsoft YaHei"/>
              <a:cs typeface="Microsoft YaHei"/>
            </a:endParaRPr>
          </a:p>
        </p:txBody>
      </p:sp>
      <p:sp>
        <p:nvSpPr>
          <p:cNvPr id="2" name="矩形 1"/>
          <p:cNvSpPr/>
          <p:nvPr/>
        </p:nvSpPr>
        <p:spPr>
          <a:xfrm>
            <a:off x="4478067" y="3246053"/>
            <a:ext cx="5617115" cy="276999"/>
          </a:xfrm>
          <a:prstGeom prst="rect">
            <a:avLst/>
          </a:prstGeom>
        </p:spPr>
        <p:txBody>
          <a:bodyPr wrap="none">
            <a:spAutoFit/>
          </a:bodyPr>
          <a:lstStyle/>
          <a:p>
            <a:pPr>
              <a:defRPr sz="1200" b="1">
                <a:solidFill>
                  <a:srgbClr val="263544"/>
                </a:solidFill>
                <a:latin typeface="Microsoft YaHei"/>
                <a:ea typeface="Microsoft YaHei"/>
                <a:cs typeface="Microsoft YaHei"/>
              </a:defRPr>
            </a:pPr>
            <a:r>
              <a:rPr lang="zh-CN" altLang="en-US" b="1" dirty="0" smtClean="0">
                <a:solidFill>
                  <a:srgbClr val="263544"/>
                </a:solidFill>
                <a:latin typeface="Microsoft YaHei"/>
                <a:ea typeface="Microsoft YaHei"/>
                <a:cs typeface="Microsoft YaHei"/>
              </a:rPr>
              <a:t>先进性基础优化，根据</a:t>
            </a:r>
            <a:r>
              <a:rPr lang="en-US" altLang="zh-CN" b="1" dirty="0" smtClean="0">
                <a:solidFill>
                  <a:srgbClr val="263544"/>
                </a:solidFill>
                <a:latin typeface="Microsoft YaHei"/>
                <a:ea typeface="Microsoft YaHei"/>
                <a:cs typeface="Microsoft YaHei"/>
              </a:rPr>
              <a:t>profile</a:t>
            </a:r>
            <a:r>
              <a:rPr lang="zh-CN" altLang="en-US" b="1" dirty="0" smtClean="0">
                <a:solidFill>
                  <a:srgbClr val="263544"/>
                </a:solidFill>
                <a:latin typeface="Microsoft YaHei"/>
                <a:ea typeface="Microsoft YaHei"/>
                <a:cs typeface="Microsoft YaHei"/>
              </a:rPr>
              <a:t>选择性的进行深度优化，只排除明显不合适的优化</a:t>
            </a:r>
            <a:endParaRPr lang="zh-CN" altLang="en-US" b="1" dirty="0">
              <a:solidFill>
                <a:srgbClr val="263544"/>
              </a:solidFill>
              <a:latin typeface="Microsoft YaHei"/>
              <a:ea typeface="Microsoft YaHei"/>
              <a:cs typeface="Microsoft YaHei"/>
            </a:endParaRPr>
          </a:p>
        </p:txBody>
      </p:sp>
      <p:sp>
        <p:nvSpPr>
          <p:cNvPr id="114" name="矩形 113"/>
          <p:cNvSpPr/>
          <p:nvPr/>
        </p:nvSpPr>
        <p:spPr>
          <a:xfrm>
            <a:off x="4555490" y="4332675"/>
            <a:ext cx="4320478" cy="276999"/>
          </a:xfrm>
          <a:prstGeom prst="rect">
            <a:avLst/>
          </a:prstGeom>
        </p:spPr>
        <p:txBody>
          <a:bodyPr wrap="none">
            <a:spAutoFit/>
          </a:bodyPr>
          <a:lstStyle/>
          <a:p>
            <a:pPr>
              <a:defRPr sz="1200" b="1">
                <a:solidFill>
                  <a:srgbClr val="263544"/>
                </a:solidFill>
                <a:latin typeface="Microsoft YaHei"/>
                <a:ea typeface="Microsoft YaHei"/>
                <a:cs typeface="Microsoft YaHei"/>
              </a:defRPr>
            </a:pPr>
            <a:r>
              <a:rPr lang="zh-CN" altLang="en-US" b="1" dirty="0">
                <a:solidFill>
                  <a:srgbClr val="263544"/>
                </a:solidFill>
                <a:latin typeface="Microsoft YaHei"/>
                <a:ea typeface="Microsoft YaHei"/>
                <a:cs typeface="Microsoft YaHei"/>
              </a:rPr>
              <a:t>防止</a:t>
            </a:r>
            <a:r>
              <a:rPr lang="zh-CN" altLang="en-US" b="1" dirty="0" smtClean="0">
                <a:solidFill>
                  <a:srgbClr val="263544"/>
                </a:solidFill>
                <a:latin typeface="Microsoft YaHei"/>
                <a:ea typeface="Microsoft YaHei"/>
                <a:cs typeface="Microsoft YaHei"/>
              </a:rPr>
              <a:t>大模型无限制的追求高优化，造成开发时间和</a:t>
            </a:r>
            <a:r>
              <a:rPr lang="en-US" altLang="zh-CN" b="1" dirty="0" smtClean="0">
                <a:solidFill>
                  <a:srgbClr val="263544"/>
                </a:solidFill>
                <a:latin typeface="Microsoft YaHei"/>
                <a:ea typeface="Microsoft YaHei"/>
                <a:cs typeface="Microsoft YaHei"/>
              </a:rPr>
              <a:t>token</a:t>
            </a:r>
            <a:r>
              <a:rPr lang="zh-CN" altLang="en-US" b="1" dirty="0">
                <a:solidFill>
                  <a:srgbClr val="263544"/>
                </a:solidFill>
                <a:latin typeface="Microsoft YaHei"/>
                <a:ea typeface="Microsoft YaHei"/>
                <a:cs typeface="Microsoft YaHei"/>
              </a:rPr>
              <a:t>浪费</a:t>
            </a:r>
          </a:p>
        </p:txBody>
      </p:sp>
      <p:sp>
        <p:nvSpPr>
          <p:cNvPr id="115" name="phase-c-surface">
            <a:extLst>
              <a:ext uri="{FF2B5EF4-FFF2-40B4-BE49-F238E27FC236}">
                <a16:creationId xmlns:a16="http://schemas.microsoft.com/office/drawing/2014/main" id="{9BF5975D-A29B-4C85-BDCA-AE02672F0BE0}"/>
              </a:ext>
            </a:extLst>
          </p:cNvPr>
          <p:cNvSpPr>
            <a:spLocks noGrp="1"/>
          </p:cNvSpPr>
          <p:nvPr/>
        </p:nvSpPr>
        <p:spPr>
          <a:xfrm>
            <a:off x="1295400" y="5013960"/>
            <a:ext cx="9658350" cy="1000125"/>
          </a:xfrm>
          <a:prstGeom prst="rect">
            <a:avLst/>
          </a:prstGeom>
          <a:solidFill>
            <a:srgbClr val="F1F5F7"/>
          </a:solidFill>
          <a:ln w="9525">
            <a:solidFill>
              <a:srgbClr val="D7E0E6"/>
            </a:solidFill>
            <a:prstDash val="solid"/>
          </a:ln>
        </p:spPr>
      </p:sp>
      <p:sp>
        <p:nvSpPr>
          <p:cNvPr id="116" name="phase-c-accent">
            <a:extLst>
              <a:ext uri="{FF2B5EF4-FFF2-40B4-BE49-F238E27FC236}">
                <a16:creationId xmlns:a16="http://schemas.microsoft.com/office/drawing/2014/main" id="{E15BA5EA-E588-4A98-8B37-E7496B653B65}"/>
              </a:ext>
            </a:extLst>
          </p:cNvPr>
          <p:cNvSpPr>
            <a:spLocks noGrp="1"/>
          </p:cNvSpPr>
          <p:nvPr/>
        </p:nvSpPr>
        <p:spPr>
          <a:xfrm>
            <a:off x="1295400" y="5013960"/>
            <a:ext cx="57150" cy="1000125"/>
          </a:xfrm>
          <a:prstGeom prst="roundRect">
            <a:avLst>
              <a:gd name="adj" fmla="val 50000"/>
            </a:avLst>
          </a:prstGeom>
          <a:solidFill>
            <a:srgbClr val="5C7F99"/>
          </a:solidFill>
          <a:ln w="0">
            <a:solidFill>
              <a:srgbClr val="5C7F99"/>
            </a:solidFill>
            <a:prstDash val="solid"/>
          </a:ln>
        </p:spPr>
      </p:sp>
      <p:sp>
        <p:nvSpPr>
          <p:cNvPr id="117" name="phase-c-letter">
            <a:extLst>
              <a:ext uri="{FF2B5EF4-FFF2-40B4-BE49-F238E27FC236}">
                <a16:creationId xmlns:a16="http://schemas.microsoft.com/office/drawing/2014/main" id="{B51EFEDB-88BA-43EC-9E81-459023A9A84A}"/>
              </a:ext>
            </a:extLst>
          </p:cNvPr>
          <p:cNvSpPr>
            <a:spLocks noGrp="1"/>
          </p:cNvSpPr>
          <p:nvPr/>
        </p:nvSpPr>
        <p:spPr>
          <a:xfrm>
            <a:off x="1504950" y="513143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endParaRPr sz="1125" b="1" dirty="0">
              <a:solidFill>
                <a:srgbClr val="263544"/>
              </a:solidFill>
              <a:latin typeface="Microsoft YaHei"/>
              <a:ea typeface="Microsoft YaHei"/>
              <a:cs typeface="Microsoft YaHei"/>
            </a:endParaRPr>
          </a:p>
        </p:txBody>
      </p:sp>
      <p:sp>
        <p:nvSpPr>
          <p:cNvPr id="121" name="phase-c-chinese">
            <a:extLst>
              <a:ext uri="{FF2B5EF4-FFF2-40B4-BE49-F238E27FC236}">
                <a16:creationId xmlns:a16="http://schemas.microsoft.com/office/drawing/2014/main" id="{BB7C305E-B9AA-4850-A3FC-67DD1CAC3B99}"/>
              </a:ext>
            </a:extLst>
          </p:cNvPr>
          <p:cNvSpPr>
            <a:spLocks noGrp="1"/>
          </p:cNvSpPr>
          <p:nvPr/>
        </p:nvSpPr>
        <p:spPr>
          <a:xfrm>
            <a:off x="1571625" y="538861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smtClean="0">
                <a:solidFill>
                  <a:srgbClr val="173F61"/>
                </a:solidFill>
                <a:latin typeface="Microsoft YaHei"/>
                <a:ea typeface="Microsoft YaHei"/>
                <a:cs typeface="Microsoft YaHei"/>
              </a:rPr>
              <a:t>机制</a:t>
            </a:r>
            <a:r>
              <a:rPr lang="zh-CN" altLang="en-US" sz="1275" b="1" dirty="0" smtClean="0">
                <a:solidFill>
                  <a:srgbClr val="173F61"/>
                </a:solidFill>
                <a:latin typeface="Microsoft YaHei"/>
                <a:ea typeface="Microsoft YaHei"/>
                <a:cs typeface="Microsoft YaHei"/>
              </a:rPr>
              <a:t>优化</a:t>
            </a:r>
            <a:endParaRPr sz="1275" b="1" dirty="0">
              <a:solidFill>
                <a:srgbClr val="294A6D"/>
              </a:solidFill>
              <a:latin typeface="Arial"/>
              <a:ea typeface="Arial"/>
              <a:cs typeface="Arial"/>
            </a:endParaRPr>
          </a:p>
        </p:txBody>
      </p:sp>
      <p:sp>
        <p:nvSpPr>
          <p:cNvPr id="127" name="phase-c-sidebar-divider">
            <a:extLst>
              <a:ext uri="{FF2B5EF4-FFF2-40B4-BE49-F238E27FC236}">
                <a16:creationId xmlns:a16="http://schemas.microsoft.com/office/drawing/2014/main" id="{B9BBB7EF-1085-4F67-9D9B-DA0594A01300}"/>
              </a:ext>
            </a:extLst>
          </p:cNvPr>
          <p:cNvSpPr>
            <a:spLocks noGrp="1"/>
          </p:cNvSpPr>
          <p:nvPr/>
        </p:nvSpPr>
        <p:spPr>
          <a:xfrm>
            <a:off x="2847975" y="5102860"/>
            <a:ext cx="9525" cy="809625"/>
          </a:xfrm>
          <a:prstGeom prst="rect">
            <a:avLst/>
          </a:prstGeom>
          <a:solidFill>
            <a:srgbClr val="D1DCE3"/>
          </a:solidFill>
          <a:ln w="0">
            <a:solidFill>
              <a:srgbClr val="D1DCE3"/>
            </a:solidFill>
            <a:prstDash val="solid"/>
          </a:ln>
        </p:spPr>
      </p:sp>
      <p:sp>
        <p:nvSpPr>
          <p:cNvPr id="131" name="phase-c-step-divider">
            <a:extLst>
              <a:ext uri="{FF2B5EF4-FFF2-40B4-BE49-F238E27FC236}">
                <a16:creationId xmlns:a16="http://schemas.microsoft.com/office/drawing/2014/main" id="{7EA01028-7252-45DD-8977-26FF69F4B93F}"/>
              </a:ext>
            </a:extLst>
          </p:cNvPr>
          <p:cNvSpPr>
            <a:spLocks noGrp="1"/>
          </p:cNvSpPr>
          <p:nvPr/>
        </p:nvSpPr>
        <p:spPr>
          <a:xfrm>
            <a:off x="6924675" y="5102860"/>
            <a:ext cx="9525" cy="809625"/>
          </a:xfrm>
          <a:prstGeom prst="rect">
            <a:avLst/>
          </a:prstGeom>
          <a:solidFill>
            <a:srgbClr val="D1DCE3"/>
          </a:solidFill>
          <a:ln w="0">
            <a:solidFill>
              <a:srgbClr val="D1DCE3"/>
            </a:solidFill>
            <a:prstDash val="solid"/>
          </a:ln>
        </p:spPr>
      </p:sp>
      <p:sp>
        <p:nvSpPr>
          <p:cNvPr id="132" name="step-05-number">
            <a:extLst>
              <a:ext uri="{FF2B5EF4-FFF2-40B4-BE49-F238E27FC236}">
                <a16:creationId xmlns:a16="http://schemas.microsoft.com/office/drawing/2014/main" id="{67B0BF77-110D-477F-B0FB-F7032469F1EA}"/>
              </a:ext>
            </a:extLst>
          </p:cNvPr>
          <p:cNvSpPr>
            <a:spLocks noGrp="1"/>
          </p:cNvSpPr>
          <p:nvPr/>
        </p:nvSpPr>
        <p:spPr>
          <a:xfrm>
            <a:off x="3009900" y="524573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Microsoft YaHei"/>
                <a:ea typeface="Microsoft YaHei"/>
                <a:cs typeface="Microsoft YaHei"/>
              </a:defRPr>
            </a:pPr>
            <a:r>
              <a:rPr sz="1050" b="1" dirty="0" err="1">
                <a:solidFill>
                  <a:srgbClr val="4B6F88"/>
                </a:solidFill>
                <a:latin typeface="Microsoft YaHei"/>
                <a:ea typeface="Microsoft YaHei"/>
                <a:cs typeface="Microsoft YaHei"/>
              </a:rPr>
              <a:t>原来</a:t>
            </a:r>
            <a:endParaRPr sz="1050" b="1" dirty="0">
              <a:solidFill>
                <a:srgbClr val="4B6F88"/>
              </a:solidFill>
              <a:latin typeface="Microsoft YaHei"/>
              <a:ea typeface="Microsoft YaHei"/>
              <a:cs typeface="Microsoft YaHei"/>
            </a:endParaRPr>
          </a:p>
        </p:txBody>
      </p:sp>
      <p:sp>
        <p:nvSpPr>
          <p:cNvPr id="139" name="step-05-title">
            <a:extLst>
              <a:ext uri="{FF2B5EF4-FFF2-40B4-BE49-F238E27FC236}">
                <a16:creationId xmlns:a16="http://schemas.microsoft.com/office/drawing/2014/main" id="{CAEDB44C-147B-4FB5-990F-EDADB3A566EF}"/>
              </a:ext>
            </a:extLst>
          </p:cNvPr>
          <p:cNvSpPr>
            <a:spLocks noGrp="1"/>
          </p:cNvSpPr>
          <p:nvPr/>
        </p:nvSpPr>
        <p:spPr>
          <a:xfrm>
            <a:off x="3524250" y="520763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a:solidFill>
                  <a:srgbClr val="263544"/>
                </a:solidFill>
                <a:latin typeface="Microsoft YaHei"/>
                <a:ea typeface="Microsoft YaHei"/>
                <a:cs typeface="Microsoft YaHei"/>
              </a:rPr>
              <a:t>全流程 × 全策略 × 全量上下文</a:t>
            </a:r>
          </a:p>
        </p:txBody>
      </p:sp>
      <p:sp>
        <p:nvSpPr>
          <p:cNvPr id="140" name="step-05-subtitle">
            <a:extLst>
              <a:ext uri="{FF2B5EF4-FFF2-40B4-BE49-F238E27FC236}">
                <a16:creationId xmlns:a16="http://schemas.microsoft.com/office/drawing/2014/main" id="{8CE5ADDC-2B28-475D-9265-BB318693676B}"/>
              </a:ext>
            </a:extLst>
          </p:cNvPr>
          <p:cNvSpPr>
            <a:spLocks noGrp="1"/>
          </p:cNvSpPr>
          <p:nvPr/>
        </p:nvSpPr>
        <p:spPr>
          <a:xfrm>
            <a:off x="3524250" y="554101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Microsoft YaHei"/>
                <a:ea typeface="Microsoft YaHei"/>
                <a:cs typeface="Microsoft YaHei"/>
              </a:defRPr>
            </a:pPr>
            <a:r>
              <a:rPr sz="975" b="1" dirty="0" err="1">
                <a:solidFill>
                  <a:srgbClr val="4B6F88"/>
                </a:solidFill>
                <a:latin typeface="Microsoft YaHei"/>
                <a:ea typeface="Microsoft YaHei"/>
                <a:cs typeface="Microsoft YaHei"/>
              </a:rPr>
              <a:t>多轮尝试</a:t>
            </a:r>
            <a:r>
              <a:rPr sz="975" b="1" dirty="0">
                <a:solidFill>
                  <a:srgbClr val="4B6F88"/>
                </a:solidFill>
                <a:latin typeface="Microsoft YaHei"/>
                <a:ea typeface="Microsoft YaHei"/>
                <a:cs typeface="Microsoft YaHei"/>
              </a:rPr>
              <a:t>  →  慢 + 贵</a:t>
            </a:r>
            <a:endParaRPr sz="825" b="1" dirty="0">
              <a:solidFill>
                <a:srgbClr val="2F3A45"/>
              </a:solidFill>
              <a:latin typeface="Arial"/>
              <a:ea typeface="Arial"/>
              <a:cs typeface="Arial"/>
            </a:endParaRPr>
          </a:p>
        </p:txBody>
      </p:sp>
      <p:sp>
        <p:nvSpPr>
          <p:cNvPr id="141" name="step-06-number">
            <a:extLst>
              <a:ext uri="{FF2B5EF4-FFF2-40B4-BE49-F238E27FC236}">
                <a16:creationId xmlns:a16="http://schemas.microsoft.com/office/drawing/2014/main" id="{B6985589-247F-4354-9976-FD0F7A206EC8}"/>
              </a:ext>
            </a:extLst>
          </p:cNvPr>
          <p:cNvSpPr>
            <a:spLocks noGrp="1"/>
          </p:cNvSpPr>
          <p:nvPr/>
        </p:nvSpPr>
        <p:spPr>
          <a:xfrm>
            <a:off x="7067550" y="524573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Microsoft YaHei"/>
                <a:ea typeface="Microsoft YaHei"/>
                <a:cs typeface="Microsoft YaHei"/>
              </a:defRPr>
            </a:pPr>
            <a:r>
              <a:rPr sz="1050" b="1">
                <a:solidFill>
                  <a:srgbClr val="5C7F99"/>
                </a:solidFill>
                <a:latin typeface="Microsoft YaHei"/>
                <a:ea typeface="Microsoft YaHei"/>
                <a:cs typeface="Microsoft YaHei"/>
              </a:rPr>
              <a:t>优化后</a:t>
            </a:r>
          </a:p>
        </p:txBody>
      </p:sp>
      <p:sp>
        <p:nvSpPr>
          <p:cNvPr id="142" name="step-06-title">
            <a:extLst>
              <a:ext uri="{FF2B5EF4-FFF2-40B4-BE49-F238E27FC236}">
                <a16:creationId xmlns:a16="http://schemas.microsoft.com/office/drawing/2014/main" id="{B1AF9BE3-7975-4567-AD37-8FF3D22D0C59}"/>
              </a:ext>
            </a:extLst>
          </p:cNvPr>
          <p:cNvSpPr>
            <a:spLocks noGrp="1"/>
          </p:cNvSpPr>
          <p:nvPr/>
        </p:nvSpPr>
        <p:spPr>
          <a:xfrm>
            <a:off x="7715250" y="520763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dirty="0" err="1">
                <a:solidFill>
                  <a:srgbClr val="263544"/>
                </a:solidFill>
                <a:latin typeface="Microsoft YaHei"/>
                <a:ea typeface="Microsoft YaHei"/>
                <a:cs typeface="Microsoft YaHei"/>
              </a:rPr>
              <a:t>按需进入</a:t>
            </a:r>
            <a:r>
              <a:rPr sz="1200" b="1" dirty="0">
                <a:solidFill>
                  <a:srgbClr val="263544"/>
                </a:solidFill>
                <a:latin typeface="Microsoft YaHei"/>
                <a:ea typeface="Microsoft YaHei"/>
                <a:cs typeface="Microsoft YaHei"/>
              </a:rPr>
              <a:t> + </a:t>
            </a:r>
            <a:r>
              <a:rPr sz="1200" b="1" dirty="0" err="1">
                <a:solidFill>
                  <a:srgbClr val="263544"/>
                </a:solidFill>
                <a:latin typeface="Microsoft YaHei"/>
                <a:ea typeface="Microsoft YaHei"/>
                <a:cs typeface="Microsoft YaHei"/>
              </a:rPr>
              <a:t>按瓶颈</a:t>
            </a:r>
            <a:r>
              <a:rPr sz="1200" b="1" dirty="0">
                <a:solidFill>
                  <a:srgbClr val="263544"/>
                </a:solidFill>
                <a:latin typeface="Microsoft YaHei"/>
                <a:ea typeface="Microsoft YaHei"/>
                <a:cs typeface="Microsoft YaHei"/>
              </a:rPr>
              <a:t> + </a:t>
            </a:r>
            <a:r>
              <a:rPr sz="1200" b="1" dirty="0" err="1">
                <a:solidFill>
                  <a:srgbClr val="263544"/>
                </a:solidFill>
                <a:latin typeface="Microsoft YaHei"/>
                <a:ea typeface="Microsoft YaHei"/>
                <a:cs typeface="Microsoft YaHei"/>
              </a:rPr>
              <a:t>复用</a:t>
            </a:r>
            <a:r>
              <a:rPr sz="1200" b="1" dirty="0">
                <a:solidFill>
                  <a:srgbClr val="263544"/>
                </a:solidFill>
                <a:latin typeface="Microsoft YaHei"/>
                <a:ea typeface="Microsoft YaHei"/>
                <a:cs typeface="Microsoft YaHei"/>
              </a:rPr>
              <a:t> + </a:t>
            </a:r>
            <a:r>
              <a:rPr lang="zh-CN" altLang="en-US" sz="1200" b="1" dirty="0" smtClean="0">
                <a:solidFill>
                  <a:srgbClr val="263544"/>
                </a:solidFill>
                <a:latin typeface="Microsoft YaHei"/>
                <a:ea typeface="Microsoft YaHei"/>
                <a:cs typeface="Microsoft YaHei"/>
              </a:rPr>
              <a:t>合理优化</a:t>
            </a:r>
            <a:endParaRPr sz="1125" b="1" dirty="0">
              <a:solidFill>
                <a:srgbClr val="294A6D"/>
              </a:solidFill>
              <a:latin typeface="Arial"/>
              <a:ea typeface="Arial"/>
              <a:cs typeface="Arial"/>
            </a:endParaRPr>
          </a:p>
        </p:txBody>
      </p:sp>
      <p:sp>
        <p:nvSpPr>
          <p:cNvPr id="143" name="step-06-subtitle">
            <a:extLst>
              <a:ext uri="{FF2B5EF4-FFF2-40B4-BE49-F238E27FC236}">
                <a16:creationId xmlns:a16="http://schemas.microsoft.com/office/drawing/2014/main" id="{BEA32223-6D3A-4FF1-9C83-DD2A8B9F4718}"/>
              </a:ext>
            </a:extLst>
          </p:cNvPr>
          <p:cNvSpPr>
            <a:spLocks noGrp="1"/>
          </p:cNvSpPr>
          <p:nvPr/>
        </p:nvSpPr>
        <p:spPr>
          <a:xfrm>
            <a:off x="7715250" y="554101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Microsoft YaHei"/>
                <a:ea typeface="Microsoft YaHei"/>
                <a:cs typeface="Microsoft YaHei"/>
              </a:defRPr>
            </a:pPr>
            <a:r>
              <a:rPr sz="975" b="1">
                <a:solidFill>
                  <a:srgbClr val="5C7F99"/>
                </a:solidFill>
                <a:latin typeface="Microsoft YaHei"/>
                <a:ea typeface="Microsoft YaHei"/>
                <a:cs typeface="Microsoft YaHei"/>
              </a:rPr>
              <a:t>及时停止  →  更短流程 + 更少 Token</a:t>
            </a:r>
          </a:p>
        </p:txBody>
      </p:sp>
      <p:sp>
        <p:nvSpPr>
          <p:cNvPr id="147" name="phase-a-sidebar-divider">
            <a:extLst>
              <a:ext uri="{FF2B5EF4-FFF2-40B4-BE49-F238E27FC236}">
                <a16:creationId xmlns:a16="http://schemas.microsoft.com/office/drawing/2014/main" id="{D9CD0AD7-6CA4-46E4-8E1E-B4EBB896863B}"/>
              </a:ext>
            </a:extLst>
          </p:cNvPr>
          <p:cNvSpPr>
            <a:spLocks noGrp="1"/>
          </p:cNvSpPr>
          <p:nvPr/>
        </p:nvSpPr>
        <p:spPr>
          <a:xfrm>
            <a:off x="4314825" y="2916554"/>
            <a:ext cx="9525" cy="790575"/>
          </a:xfrm>
          <a:prstGeom prst="rect">
            <a:avLst/>
          </a:prstGeom>
          <a:solidFill>
            <a:srgbClr val="D1DCE3"/>
          </a:solidFill>
          <a:ln w="0">
            <a:solidFill>
              <a:srgbClr val="D1DCE3"/>
            </a:solidFill>
            <a:prstDash val="solid"/>
          </a:ln>
        </p:spPr>
      </p:sp>
      <p:sp>
        <p:nvSpPr>
          <p:cNvPr id="148" name="phase-a-sidebar-divider">
            <a:extLst>
              <a:ext uri="{FF2B5EF4-FFF2-40B4-BE49-F238E27FC236}">
                <a16:creationId xmlns:a16="http://schemas.microsoft.com/office/drawing/2014/main" id="{D9CD0AD7-6CA4-46E4-8E1E-B4EBB896863B}"/>
              </a:ext>
            </a:extLst>
          </p:cNvPr>
          <p:cNvSpPr>
            <a:spLocks noGrp="1"/>
          </p:cNvSpPr>
          <p:nvPr/>
        </p:nvSpPr>
        <p:spPr>
          <a:xfrm>
            <a:off x="4314825" y="4093214"/>
            <a:ext cx="9525" cy="790575"/>
          </a:xfrm>
          <a:prstGeom prst="rect">
            <a:avLst/>
          </a:prstGeom>
          <a:solidFill>
            <a:srgbClr val="D1DCE3"/>
          </a:solidFill>
          <a:ln w="0">
            <a:solidFill>
              <a:srgbClr val="D1DCE3"/>
            </a:solidFill>
            <a:prstDash val="solid"/>
          </a:ln>
        </p:spPr>
      </p:sp>
    </p:spTree>
    <p:extLst>
      <p:ext uri="{BB962C8B-B14F-4D97-AF65-F5344CB8AC3E}">
        <p14:creationId xmlns:p14="http://schemas.microsoft.com/office/powerpoint/2010/main" val="1724389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hase-c-surface">
            <a:extLst>
              <a:ext uri="{FF2B5EF4-FFF2-40B4-BE49-F238E27FC236}">
                <a16:creationId xmlns:a16="http://schemas.microsoft.com/office/drawing/2014/main" id="{9BF5975D-A29B-4C85-BDCA-AE02672F0BE0}"/>
              </a:ext>
            </a:extLst>
          </p:cNvPr>
          <p:cNvSpPr>
            <a:spLocks noGrp="1"/>
          </p:cNvSpPr>
          <p:nvPr/>
        </p:nvSpPr>
        <p:spPr>
          <a:xfrm>
            <a:off x="2164080" y="2663401"/>
            <a:ext cx="7458075" cy="1000125"/>
          </a:xfrm>
          <a:prstGeom prst="rect">
            <a:avLst/>
          </a:prstGeom>
          <a:solidFill>
            <a:srgbClr val="F1F5F7"/>
          </a:solidFill>
          <a:ln w="9525">
            <a:solidFill>
              <a:srgbClr val="D7E0E6"/>
            </a:solidFill>
            <a:prstDash val="solid"/>
          </a:ln>
        </p:spPr>
      </p:sp>
      <p:sp>
        <p:nvSpPr>
          <p:cNvPr id="171" name="phase-c-surface">
            <a:extLst>
              <a:ext uri="{FF2B5EF4-FFF2-40B4-BE49-F238E27FC236}">
                <a16:creationId xmlns:a16="http://schemas.microsoft.com/office/drawing/2014/main" id="{9BF5975D-A29B-4C85-BDCA-AE02672F0BE0}"/>
              </a:ext>
            </a:extLst>
          </p:cNvPr>
          <p:cNvSpPr>
            <a:spLocks noGrp="1"/>
          </p:cNvSpPr>
          <p:nvPr/>
        </p:nvSpPr>
        <p:spPr>
          <a:xfrm>
            <a:off x="2164080" y="3958400"/>
            <a:ext cx="7458075" cy="1000125"/>
          </a:xfrm>
          <a:prstGeom prst="rect">
            <a:avLst/>
          </a:prstGeom>
          <a:solidFill>
            <a:srgbClr val="F1F5F7"/>
          </a:solidFill>
          <a:ln w="9525">
            <a:solidFill>
              <a:srgbClr val="D7E0E6"/>
            </a:solidFill>
            <a:prstDash val="solid"/>
          </a:ln>
        </p:spPr>
      </p:sp>
      <p:sp>
        <p:nvSpPr>
          <p:cNvPr id="7" name="slide-8-title">
            <a:extLst>
              <a:ext uri="{FF2B5EF4-FFF2-40B4-BE49-F238E27FC236}">
                <a16:creationId xmlns:a16="http://schemas.microsoft.com/office/drawing/2014/main" id="{375095E6-F8D5-4CE6-83F3-BB443C6C8DB1}"/>
              </a:ext>
            </a:extLst>
          </p:cNvPr>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Microsoft YaHei"/>
                <a:ea typeface="Microsoft YaHei"/>
                <a:cs typeface="Microsoft YaHei"/>
              </a:defRPr>
            </a:pPr>
            <a:r>
              <a:rPr sz="2850" b="1">
                <a:solidFill>
                  <a:srgbClr val="243B53"/>
                </a:solidFill>
                <a:latin typeface="Microsoft YaHei"/>
                <a:ea typeface="Microsoft YaHei"/>
                <a:cs typeface="Microsoft YaHei"/>
              </a:rPr>
              <a:t>优化方向二：建立快速、分层的 Skill 验证机制</a:t>
            </a:r>
          </a:p>
        </p:txBody>
      </p:sp>
      <p:sp>
        <p:nvSpPr>
          <p:cNvPr id="9" name="footer-background">
            <a:extLst>
              <a:ext uri="{FF2B5EF4-FFF2-40B4-BE49-F238E27FC236}">
                <a16:creationId xmlns:a16="http://schemas.microsoft.com/office/drawing/2014/main" id="{C6E7F932-DCB2-46AD-92B1-4487DFCD10B6}"/>
              </a:ext>
            </a:extLst>
          </p:cNvPr>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a:extLst>
              <a:ext uri="{FF2B5EF4-FFF2-40B4-BE49-F238E27FC236}">
                <a16:creationId xmlns:a16="http://schemas.microsoft.com/office/drawing/2014/main" id="{9CE192D7-ED29-49CC-A75A-06D02AEA387C}"/>
              </a:ext>
            </a:extLst>
          </p:cNvP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局部修改局部验证，流程修改分层验证，全面测试负责最终兜底。</a:t>
            </a:r>
          </a:p>
        </p:txBody>
      </p:sp>
      <p:sp>
        <p:nvSpPr>
          <p:cNvPr id="20" name="knowledge-source-1">
            <a:extLst>
              <a:ext uri="{FF2B5EF4-FFF2-40B4-BE49-F238E27FC236}">
                <a16:creationId xmlns:a16="http://schemas.microsoft.com/office/drawing/2014/main" id="{EBDC28E3-6143-410C-BEFE-5B7F627C63C2}"/>
              </a:ext>
            </a:extLst>
          </p:cNvPr>
          <p:cNvSpPr>
            <a:spLocks noGrp="1"/>
          </p:cNvSpPr>
          <p:nvPr/>
        </p:nvSpPr>
        <p:spPr>
          <a:xfrm>
            <a:off x="1378202" y="1069767"/>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a:extLst>
              <a:ext uri="{FF2B5EF4-FFF2-40B4-BE49-F238E27FC236}">
                <a16:creationId xmlns:a16="http://schemas.microsoft.com/office/drawing/2014/main" id="{496FBD7A-2744-49B2-AF4E-57BDC19EB1AA}"/>
              </a:ext>
            </a:extLst>
          </p:cNvPr>
          <p:cNvSpPr>
            <a:spLocks noGrp="1"/>
          </p:cNvSpPr>
          <p:nvPr/>
        </p:nvSpPr>
        <p:spPr>
          <a:xfrm>
            <a:off x="1656967" y="11053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Skill 小修改</a:t>
            </a:r>
          </a:p>
        </p:txBody>
      </p:sp>
      <p:sp>
        <p:nvSpPr>
          <p:cNvPr id="23" name="knowledge-source-1-note">
            <a:extLst>
              <a:ext uri="{FF2B5EF4-FFF2-40B4-BE49-F238E27FC236}">
                <a16:creationId xmlns:a16="http://schemas.microsoft.com/office/drawing/2014/main" id="{11C9D527-AE0E-41BB-BAD2-0A32C441DE5C}"/>
              </a:ext>
            </a:extLst>
          </p:cNvPr>
          <p:cNvSpPr>
            <a:spLocks noGrp="1"/>
          </p:cNvSpPr>
          <p:nvPr/>
        </p:nvSpPr>
        <p:spPr>
          <a:xfrm>
            <a:off x="1561717" y="1333927"/>
            <a:ext cx="24765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路由 / Prompt / Gate / 限制</a:t>
            </a:r>
          </a:p>
        </p:txBody>
      </p:sp>
      <p:sp>
        <p:nvSpPr>
          <p:cNvPr id="24" name="knowledge-source-2">
            <a:extLst>
              <a:ext uri="{FF2B5EF4-FFF2-40B4-BE49-F238E27FC236}">
                <a16:creationId xmlns:a16="http://schemas.microsoft.com/office/drawing/2014/main" id="{4CD9FA40-F42B-4D79-A6C5-A69D8D01CAE3}"/>
              </a:ext>
            </a:extLst>
          </p:cNvPr>
          <p:cNvSpPr>
            <a:spLocks noGrp="1"/>
          </p:cNvSpPr>
          <p:nvPr/>
        </p:nvSpPr>
        <p:spPr>
          <a:xfrm>
            <a:off x="4302377" y="1069767"/>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a:extLst>
              <a:ext uri="{FF2B5EF4-FFF2-40B4-BE49-F238E27FC236}">
                <a16:creationId xmlns:a16="http://schemas.microsoft.com/office/drawing/2014/main" id="{FD18660E-7B06-4404-89B4-819FDDB10F02}"/>
              </a:ext>
            </a:extLst>
          </p:cNvPr>
          <p:cNvSpPr>
            <a:spLocks noGrp="1"/>
          </p:cNvSpPr>
          <p:nvPr/>
        </p:nvSpPr>
        <p:spPr>
          <a:xfrm>
            <a:off x="4438267" y="12196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dirty="0" err="1">
                <a:solidFill>
                  <a:srgbClr val="263544"/>
                </a:solidFill>
                <a:latin typeface="Microsoft YaHei"/>
                <a:ea typeface="Microsoft YaHei"/>
                <a:cs typeface="Microsoft YaHei"/>
              </a:rPr>
              <a:t>重新运行完整开发</a:t>
            </a:r>
            <a:endParaRPr sz="1125" b="1" dirty="0">
              <a:solidFill>
                <a:srgbClr val="263544"/>
              </a:solidFill>
              <a:latin typeface="Microsoft YaHei"/>
              <a:ea typeface="Microsoft YaHei"/>
              <a:cs typeface="Microsoft YaHei"/>
            </a:endParaRPr>
          </a:p>
        </p:txBody>
      </p:sp>
      <p:sp>
        <p:nvSpPr>
          <p:cNvPr id="28" name="knowledge-source-3">
            <a:extLst>
              <a:ext uri="{FF2B5EF4-FFF2-40B4-BE49-F238E27FC236}">
                <a16:creationId xmlns:a16="http://schemas.microsoft.com/office/drawing/2014/main" id="{877D0EC0-69E8-492F-B27E-3128FF395ED6}"/>
              </a:ext>
            </a:extLst>
          </p:cNvPr>
          <p:cNvSpPr>
            <a:spLocks noGrp="1"/>
          </p:cNvSpPr>
          <p:nvPr/>
        </p:nvSpPr>
        <p:spPr>
          <a:xfrm>
            <a:off x="7226552" y="1069767"/>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a:extLst>
              <a:ext uri="{FF2B5EF4-FFF2-40B4-BE49-F238E27FC236}">
                <a16:creationId xmlns:a16="http://schemas.microsoft.com/office/drawing/2014/main" id="{D3D31AFF-A1D6-4E1E-AC09-4176658BF202}"/>
              </a:ext>
            </a:extLst>
          </p:cNvPr>
          <p:cNvSpPr>
            <a:spLocks noGrp="1"/>
          </p:cNvSpPr>
          <p:nvPr/>
        </p:nvSpPr>
        <p:spPr>
          <a:xfrm>
            <a:off x="7495792" y="1210102"/>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dirty="0" err="1">
                <a:solidFill>
                  <a:srgbClr val="263544"/>
                </a:solidFill>
                <a:latin typeface="Microsoft YaHei"/>
                <a:ea typeface="Microsoft YaHei"/>
                <a:cs typeface="Microsoft YaHei"/>
              </a:rPr>
              <a:t>验证成本高</a:t>
            </a:r>
            <a:endParaRPr sz="1125" b="1" dirty="0">
              <a:solidFill>
                <a:srgbClr val="263544"/>
              </a:solidFill>
              <a:latin typeface="Microsoft YaHei"/>
              <a:ea typeface="Microsoft YaHei"/>
              <a:cs typeface="Microsoft YaHei"/>
            </a:endParaRPr>
          </a:p>
        </p:txBody>
      </p:sp>
      <p:sp>
        <p:nvSpPr>
          <p:cNvPr id="32" name="platform-knowledge-node">
            <a:extLst>
              <a:ext uri="{FF2B5EF4-FFF2-40B4-BE49-F238E27FC236}">
                <a16:creationId xmlns:a16="http://schemas.microsoft.com/office/drawing/2014/main" id="{5762D966-7501-439C-A080-138BF198C932}"/>
              </a:ext>
            </a:extLst>
          </p:cNvPr>
          <p:cNvSpPr>
            <a:spLocks noGrp="1"/>
          </p:cNvSpPr>
          <p:nvPr/>
        </p:nvSpPr>
        <p:spPr>
          <a:xfrm>
            <a:off x="4123942" y="1667302"/>
            <a:ext cx="32004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088" b="1">
                <a:solidFill>
                  <a:srgbClr val="FFFFFF"/>
                </a:solidFill>
                <a:latin typeface="Microsoft YaHei"/>
                <a:ea typeface="Microsoft YaHei"/>
                <a:cs typeface="Microsoft YaHei"/>
              </a:defRPr>
            </a:pPr>
            <a:r>
              <a:rPr sz="1088" b="1" dirty="0" err="1">
                <a:solidFill>
                  <a:srgbClr val="FFFFFF"/>
                </a:solidFill>
                <a:latin typeface="Microsoft YaHei"/>
                <a:ea typeface="Microsoft YaHei"/>
                <a:cs typeface="Microsoft YaHei"/>
              </a:rPr>
              <a:t>问题不在没有验证，而是验证粒度过大</a:t>
            </a:r>
            <a:endParaRPr sz="1400" b="1" dirty="0">
              <a:solidFill>
                <a:srgbClr val="FFFFFF"/>
              </a:solidFill>
              <a:latin typeface="Arial"/>
              <a:ea typeface="Arial"/>
              <a:cs typeface="Arial"/>
            </a:endParaRPr>
          </a:p>
        </p:txBody>
      </p:sp>
      <p:sp>
        <p:nvSpPr>
          <p:cNvPr id="38" name="phase-a-accent">
            <a:extLst>
              <a:ext uri="{FF2B5EF4-FFF2-40B4-BE49-F238E27FC236}">
                <a16:creationId xmlns:a16="http://schemas.microsoft.com/office/drawing/2014/main" id="{F5A2FC7B-8AB5-46AF-B186-FC8395962260}"/>
              </a:ext>
            </a:extLst>
          </p:cNvPr>
          <p:cNvSpPr>
            <a:spLocks noGrp="1"/>
          </p:cNvSpPr>
          <p:nvPr/>
        </p:nvSpPr>
        <p:spPr>
          <a:xfrm>
            <a:off x="2099627" y="2647964"/>
            <a:ext cx="57150" cy="1000125"/>
          </a:xfrm>
          <a:prstGeom prst="roundRect">
            <a:avLst>
              <a:gd name="adj" fmla="val 50000"/>
            </a:avLst>
          </a:prstGeom>
          <a:solidFill>
            <a:srgbClr val="5C7F99"/>
          </a:solidFill>
          <a:ln w="0">
            <a:solidFill>
              <a:srgbClr val="5C7F99"/>
            </a:solidFill>
            <a:prstDash val="solid"/>
          </a:ln>
        </p:spPr>
      </p:sp>
      <p:sp>
        <p:nvSpPr>
          <p:cNvPr id="39" name="phase-a-letter">
            <a:extLst>
              <a:ext uri="{FF2B5EF4-FFF2-40B4-BE49-F238E27FC236}">
                <a16:creationId xmlns:a16="http://schemas.microsoft.com/office/drawing/2014/main" id="{35C3BBFF-CB6B-4D33-8A0A-AE313D295B23}"/>
              </a:ext>
            </a:extLst>
          </p:cNvPr>
          <p:cNvSpPr>
            <a:spLocks noGrp="1"/>
          </p:cNvSpPr>
          <p:nvPr/>
        </p:nvSpPr>
        <p:spPr>
          <a:xfrm>
            <a:off x="2309177" y="2784489"/>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01</a:t>
            </a:r>
          </a:p>
        </p:txBody>
      </p:sp>
      <p:sp>
        <p:nvSpPr>
          <p:cNvPr id="41" name="phase-a-chinese">
            <a:extLst>
              <a:ext uri="{FF2B5EF4-FFF2-40B4-BE49-F238E27FC236}">
                <a16:creationId xmlns:a16="http://schemas.microsoft.com/office/drawing/2014/main" id="{B28E6AE6-91E1-4238-AA3C-AE2DB3CAAE25}"/>
              </a:ext>
            </a:extLst>
          </p:cNvPr>
          <p:cNvSpPr>
            <a:spLocks noGrp="1"/>
          </p:cNvSpPr>
          <p:nvPr/>
        </p:nvSpPr>
        <p:spPr>
          <a:xfrm>
            <a:off x="2571115" y="2784489"/>
            <a:ext cx="2333625" cy="266700"/>
          </a:xfrm>
          <a:prstGeom prst="rect">
            <a:avLst/>
          </a:prstGeom>
          <a:noFill/>
          <a:ln w="0">
            <a:noFill/>
            <a:prstDash val="solid"/>
          </a:ln>
        </p:spPr>
        <p:txBody>
          <a:bodyPr wrap="square" lIns="0" tIns="0" rIns="0" bIns="0" anchor="ctr">
            <a:noAutofit/>
          </a:bodyPr>
          <a:lstStyle/>
          <a:p>
            <a:pPr>
              <a:defRPr sz="1238" b="1">
                <a:solidFill>
                  <a:srgbClr val="5C7F99"/>
                </a:solidFill>
                <a:latin typeface="Microsoft YaHei"/>
                <a:ea typeface="Microsoft YaHei"/>
                <a:cs typeface="Microsoft YaHei"/>
              </a:defRPr>
            </a:pPr>
            <a:r>
              <a:rPr lang="zh-CN" altLang="en-US" sz="1200" b="1" dirty="0">
                <a:solidFill>
                  <a:srgbClr val="5C7F99"/>
                </a:solidFill>
                <a:latin typeface="Microsoft YaHei"/>
                <a:ea typeface="Microsoft YaHei"/>
                <a:cs typeface="Microsoft YaHei"/>
              </a:rPr>
              <a:t>主流程修改 → </a:t>
            </a:r>
            <a:r>
              <a:rPr lang="en-US" altLang="zh-CN" sz="1200" b="1" dirty="0">
                <a:solidFill>
                  <a:srgbClr val="5C7F99"/>
                </a:solidFill>
                <a:latin typeface="Microsoft YaHei"/>
                <a:ea typeface="Microsoft YaHei"/>
                <a:cs typeface="Microsoft YaHei"/>
              </a:rPr>
              <a:t>Smoke Test</a:t>
            </a:r>
          </a:p>
        </p:txBody>
      </p:sp>
      <p:sp>
        <p:nvSpPr>
          <p:cNvPr id="42" name="phase-a-sidebar-divider">
            <a:extLst>
              <a:ext uri="{FF2B5EF4-FFF2-40B4-BE49-F238E27FC236}">
                <a16:creationId xmlns:a16="http://schemas.microsoft.com/office/drawing/2014/main" id="{D9CD0AD7-6CA4-46E4-8E1E-B4EBB896863B}"/>
              </a:ext>
            </a:extLst>
          </p:cNvPr>
          <p:cNvSpPr>
            <a:spLocks noGrp="1"/>
          </p:cNvSpPr>
          <p:nvPr/>
        </p:nvSpPr>
        <p:spPr>
          <a:xfrm>
            <a:off x="5501022" y="2757819"/>
            <a:ext cx="9525" cy="790575"/>
          </a:xfrm>
          <a:prstGeom prst="rect">
            <a:avLst/>
          </a:prstGeom>
          <a:solidFill>
            <a:srgbClr val="D1DCE3"/>
          </a:solidFill>
          <a:ln w="0">
            <a:solidFill>
              <a:srgbClr val="D1DCE3"/>
            </a:solidFill>
            <a:prstDash val="solid"/>
          </a:ln>
        </p:spPr>
      </p:sp>
      <p:sp>
        <p:nvSpPr>
          <p:cNvPr id="44" name="step-01-number">
            <a:extLst>
              <a:ext uri="{FF2B5EF4-FFF2-40B4-BE49-F238E27FC236}">
                <a16:creationId xmlns:a16="http://schemas.microsoft.com/office/drawing/2014/main" id="{542F2650-F23C-48AB-B99A-5217158F5E90}"/>
              </a:ext>
            </a:extLst>
          </p:cNvPr>
          <p:cNvSpPr>
            <a:spLocks noGrp="1"/>
          </p:cNvSpPr>
          <p:nvPr/>
        </p:nvSpPr>
        <p:spPr>
          <a:xfrm>
            <a:off x="5866764" y="2830856"/>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02</a:t>
            </a:r>
          </a:p>
        </p:txBody>
      </p:sp>
      <p:sp>
        <p:nvSpPr>
          <p:cNvPr id="45" name="step-01-title">
            <a:extLst>
              <a:ext uri="{FF2B5EF4-FFF2-40B4-BE49-F238E27FC236}">
                <a16:creationId xmlns:a16="http://schemas.microsoft.com/office/drawing/2014/main" id="{027DB957-5C36-4487-A1CC-66FA52EBBF59}"/>
              </a:ext>
            </a:extLst>
          </p:cNvPr>
          <p:cNvSpPr>
            <a:spLocks noGrp="1"/>
          </p:cNvSpPr>
          <p:nvPr/>
        </p:nvSpPr>
        <p:spPr>
          <a:xfrm>
            <a:off x="6228713" y="2802281"/>
            <a:ext cx="2588419" cy="24765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Microsoft YaHei"/>
                <a:ea typeface="Microsoft YaHei"/>
                <a:cs typeface="Microsoft YaHei"/>
              </a:defRPr>
            </a:pPr>
            <a:r>
              <a:rPr sz="1200" b="1" dirty="0" err="1">
                <a:solidFill>
                  <a:srgbClr val="5C7F99"/>
                </a:solidFill>
                <a:latin typeface="Microsoft YaHei"/>
                <a:ea typeface="Microsoft YaHei"/>
                <a:cs typeface="Microsoft YaHei"/>
              </a:rPr>
              <a:t>子代理修改</a:t>
            </a:r>
            <a:r>
              <a:rPr sz="1200" b="1" dirty="0">
                <a:solidFill>
                  <a:srgbClr val="173F61"/>
                </a:solidFill>
                <a:latin typeface="Microsoft YaHei"/>
                <a:ea typeface="Microsoft YaHei"/>
                <a:cs typeface="Microsoft YaHei"/>
              </a:rPr>
              <a:t> → </a:t>
            </a:r>
            <a:r>
              <a:rPr sz="1200" b="1" dirty="0" err="1">
                <a:solidFill>
                  <a:srgbClr val="5C7F99"/>
                </a:solidFill>
                <a:latin typeface="Microsoft YaHei"/>
                <a:ea typeface="Microsoft YaHei"/>
                <a:cs typeface="Microsoft YaHei"/>
              </a:rPr>
              <a:t>单独运行</a:t>
            </a:r>
            <a:r>
              <a:rPr lang="zh-CN" altLang="en-US" sz="1200" b="1" dirty="0">
                <a:solidFill>
                  <a:srgbClr val="5C7F99"/>
                </a:solidFill>
                <a:latin typeface="Microsoft YaHei"/>
                <a:ea typeface="Microsoft YaHei"/>
                <a:cs typeface="Microsoft YaHei"/>
              </a:rPr>
              <a:t>子代理的</a:t>
            </a:r>
            <a:r>
              <a:rPr lang="en-US" altLang="zh-CN" sz="1200" b="1" dirty="0">
                <a:solidFill>
                  <a:srgbClr val="5C7F99"/>
                </a:solidFill>
                <a:latin typeface="Microsoft YaHei"/>
                <a:ea typeface="Microsoft YaHei"/>
                <a:cs typeface="Microsoft YaHei"/>
              </a:rPr>
              <a:t>skill</a:t>
            </a:r>
            <a:endParaRPr sz="1200" b="1" dirty="0">
              <a:solidFill>
                <a:srgbClr val="5C7F99"/>
              </a:solidFill>
              <a:latin typeface="Microsoft YaHei"/>
              <a:ea typeface="Microsoft YaHei"/>
              <a:cs typeface="Microsoft YaHei"/>
            </a:endParaRPr>
          </a:p>
        </p:txBody>
      </p:sp>
      <p:sp>
        <p:nvSpPr>
          <p:cNvPr id="46" name="step-01-subtitle">
            <a:extLst>
              <a:ext uri="{FF2B5EF4-FFF2-40B4-BE49-F238E27FC236}">
                <a16:creationId xmlns:a16="http://schemas.microsoft.com/office/drawing/2014/main" id="{FC0EDE66-76ED-46F6-A8BD-E9A38211F0DC}"/>
              </a:ext>
            </a:extLst>
          </p:cNvPr>
          <p:cNvSpPr>
            <a:spLocks noGrp="1"/>
          </p:cNvSpPr>
          <p:nvPr/>
        </p:nvSpPr>
        <p:spPr>
          <a:xfrm>
            <a:off x="5866764" y="3107081"/>
            <a:ext cx="2609850" cy="447675"/>
          </a:xfrm>
          <a:prstGeom prst="rect">
            <a:avLst/>
          </a:prstGeom>
          <a:noFill/>
          <a:ln w="0">
            <a:noFill/>
            <a:prstDash val="solid"/>
          </a:ln>
        </p:spPr>
        <p:txBody>
          <a:bodyPr wrap="square" lIns="0" tIns="0" rIns="0" bIns="0" anchor="ctr">
            <a:noAutofit/>
          </a:bodyPr>
          <a:lstStyle/>
          <a:p>
            <a:pPr algn="ctr">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Fixed Input → Subagent → Output</a:t>
            </a:r>
            <a:endParaRPr sz="825" b="1">
              <a:solidFill>
                <a:srgbClr val="2F3A45"/>
              </a:solidFill>
              <a:latin typeface="Arial"/>
              <a:ea typeface="Arial"/>
              <a:cs typeface="Arial"/>
            </a:endParaRPr>
          </a:p>
          <a:p>
            <a:pPr algn="ctr">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修改哪个，就直接验证哪个</a:t>
            </a:r>
            <a:endParaRPr sz="825" b="1">
              <a:solidFill>
                <a:srgbClr val="2F3A45"/>
              </a:solidFill>
              <a:latin typeface="Arial"/>
              <a:ea typeface="Arial"/>
              <a:cs typeface="Arial"/>
            </a:endParaRPr>
          </a:p>
        </p:txBody>
      </p:sp>
      <p:sp>
        <p:nvSpPr>
          <p:cNvPr id="133" name="step-08-number">
            <a:extLst>
              <a:ext uri="{FF2B5EF4-FFF2-40B4-BE49-F238E27FC236}">
                <a16:creationId xmlns:a16="http://schemas.microsoft.com/office/drawing/2014/main" id="{3D7AAE78-4212-4968-822C-1853B3BAFC4B}"/>
              </a:ext>
            </a:extLst>
          </p:cNvP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a:ea typeface="Calibri"/>
                <a:cs typeface="Calibri"/>
              </a:defRPr>
            </a:pPr>
            <a:endParaRPr/>
          </a:p>
        </p:txBody>
      </p:sp>
      <p:sp>
        <p:nvSpPr>
          <p:cNvPr id="134" name="step-08-title">
            <a:extLst>
              <a:ext uri="{FF2B5EF4-FFF2-40B4-BE49-F238E27FC236}">
                <a16:creationId xmlns:a16="http://schemas.microsoft.com/office/drawing/2014/main" id="{98CF8D5D-4BB7-4641-B4A6-FFAC645FE933}"/>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a:ea typeface="微软雅黑"/>
                <a:cs typeface="微软雅黑"/>
              </a:defRPr>
            </a:pPr>
            <a:endParaRPr/>
          </a:p>
        </p:txBody>
      </p:sp>
      <p:sp>
        <p:nvSpPr>
          <p:cNvPr id="135" name="step-08-subtitle">
            <a:extLst>
              <a:ext uri="{FF2B5EF4-FFF2-40B4-BE49-F238E27FC236}">
                <a16:creationId xmlns:a16="http://schemas.microsoft.com/office/drawing/2014/main" id="{4FC7CE93-DD4D-463D-9836-56D303844EDD}"/>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a:ea typeface="微软雅黑"/>
                <a:cs typeface="微软雅黑"/>
              </a:defRPr>
            </a:pPr>
            <a:endParaRPr/>
          </a:p>
        </p:txBody>
      </p:sp>
      <p:sp>
        <p:nvSpPr>
          <p:cNvPr id="3" name="slide-7-page-number">
            <a:extLst>
              <a:ext uri="{FF2B5EF4-FFF2-40B4-BE49-F238E27FC236}">
                <a16:creationId xmlns:a16="http://schemas.microsoft.com/office/drawing/2014/main" id="{B9A54D7D-D642-4660-9F2D-34D9C9C7A13B}"/>
              </a:ext>
            </a:extLst>
          </p:cNvP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Microsoft YaHei"/>
                <a:ea typeface="Microsoft YaHei"/>
                <a:cs typeface="Microsoft YaHei"/>
              </a:defRPr>
            </a:pPr>
            <a:r>
              <a:rPr sz="1200" b="1">
                <a:solidFill>
                  <a:srgbClr val="66737F"/>
                </a:solidFill>
                <a:latin typeface="Microsoft YaHei"/>
                <a:ea typeface="Microsoft YaHei"/>
                <a:cs typeface="Microsoft YaHei"/>
              </a:rPr>
              <a:t>3</a:t>
            </a:r>
            <a:endParaRPr sz="1200" b="1">
              <a:solidFill>
                <a:srgbClr val="66737F"/>
              </a:solidFill>
              <a:latin typeface="Arial"/>
              <a:ea typeface="Arial"/>
              <a:cs typeface="Arial"/>
            </a:endParaRPr>
          </a:p>
        </p:txBody>
      </p:sp>
      <p:sp>
        <p:nvSpPr>
          <p:cNvPr id="103" name="slide-1-title">
            <a:extLst>
              <a:ext uri="{FF2B5EF4-FFF2-40B4-BE49-F238E27FC236}">
                <a16:creationId xmlns:a16="http://schemas.microsoft.com/office/drawing/2014/main" id="{C381CF64-BAB1-47F1-8866-115A246CAF93}"/>
              </a:ext>
            </a:extLst>
          </p:cNvPr>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Microsoft YaHei"/>
                <a:ea typeface="Microsoft YaHei"/>
                <a:cs typeface="Microsoft YaHei"/>
              </a:defRPr>
            </a:pPr>
            <a:r>
              <a:rPr lang="en-US" sz="3000" b="1" dirty="0">
                <a:solidFill>
                  <a:srgbClr val="243B53"/>
                </a:solidFill>
                <a:latin typeface="Microsoft YaHei"/>
                <a:ea typeface="Microsoft YaHei"/>
                <a:cs typeface="Microsoft YaHei"/>
              </a:rPr>
              <a:t>1</a:t>
            </a:r>
            <a:r>
              <a:rPr sz="3000" b="1" dirty="0" smtClean="0">
                <a:solidFill>
                  <a:srgbClr val="243B53"/>
                </a:solidFill>
                <a:latin typeface="Microsoft YaHei"/>
                <a:ea typeface="Microsoft YaHei"/>
                <a:cs typeface="Microsoft YaHei"/>
              </a:rPr>
              <a:t>.</a:t>
            </a:r>
            <a:r>
              <a:rPr lang="en-US" sz="3000" b="1" dirty="0" smtClean="0">
                <a:solidFill>
                  <a:srgbClr val="243B53"/>
                </a:solidFill>
                <a:latin typeface="Microsoft YaHei"/>
                <a:ea typeface="Microsoft YaHei"/>
                <a:cs typeface="Microsoft YaHei"/>
              </a:rPr>
              <a:t>7</a:t>
            </a:r>
            <a:endParaRPr sz="3000" b="1" dirty="0">
              <a:solidFill>
                <a:srgbClr val="243B53"/>
              </a:solidFill>
              <a:latin typeface="Arial"/>
              <a:ea typeface="Arial"/>
              <a:cs typeface="Arial"/>
            </a:endParaRPr>
          </a:p>
        </p:txBody>
      </p:sp>
      <p:sp>
        <p:nvSpPr>
          <p:cNvPr id="104" name="s15-title-rule">
            <a:extLst>
              <a:ext uri="{FF2B5EF4-FFF2-40B4-BE49-F238E27FC236}">
                <a16:creationId xmlns:a16="http://schemas.microsoft.com/office/drawing/2014/main" id="{151B2147-080F-49BB-AA1C-DEAA33C95C2C}"/>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2" name="矩形 1"/>
          <p:cNvSpPr/>
          <p:nvPr/>
        </p:nvSpPr>
        <p:spPr>
          <a:xfrm>
            <a:off x="2410822" y="3130564"/>
            <a:ext cx="2260555" cy="225126"/>
          </a:xfrm>
          <a:prstGeom prst="rect">
            <a:avLst/>
          </a:prstGeom>
        </p:spPr>
        <p:txBody>
          <a:bodyPr wrap="none">
            <a:spAutoFit/>
          </a:bodyPr>
          <a:lstStyle/>
          <a:p>
            <a:pPr>
              <a:defRPr sz="863" b="1">
                <a:solidFill>
                  <a:srgbClr val="263544"/>
                </a:solidFill>
                <a:latin typeface="Microsoft YaHei"/>
                <a:ea typeface="Microsoft YaHei"/>
                <a:cs typeface="Microsoft YaHei"/>
              </a:defRPr>
            </a:pPr>
            <a:r>
              <a:rPr lang="zh-CN" altLang="en-US" b="1" dirty="0">
                <a:solidFill>
                  <a:srgbClr val="263544"/>
                </a:solidFill>
                <a:latin typeface="Microsoft YaHei"/>
                <a:ea typeface="Microsoft YaHei"/>
                <a:cs typeface="Microsoft YaHei"/>
              </a:rPr>
              <a:t>简单算子 </a:t>
            </a:r>
            <a:r>
              <a:rPr lang="en-US" altLang="zh-CN" b="1" dirty="0">
                <a:solidFill>
                  <a:srgbClr val="263544"/>
                </a:solidFill>
                <a:latin typeface="Microsoft YaHei"/>
                <a:ea typeface="Microsoft YaHei"/>
                <a:cs typeface="Microsoft YaHei"/>
              </a:rPr>
              <a:t>+ </a:t>
            </a:r>
            <a:r>
              <a:rPr lang="zh-CN" altLang="en-US" b="1" dirty="0">
                <a:solidFill>
                  <a:srgbClr val="263544"/>
                </a:solidFill>
                <a:latin typeface="Microsoft YaHei"/>
                <a:ea typeface="Microsoft YaHei"/>
                <a:cs typeface="Microsoft YaHei"/>
              </a:rPr>
              <a:t>小 </a:t>
            </a:r>
            <a:r>
              <a:rPr lang="en-US" altLang="zh-CN" b="1" dirty="0">
                <a:solidFill>
                  <a:srgbClr val="263544"/>
                </a:solidFill>
                <a:latin typeface="Microsoft YaHei"/>
                <a:ea typeface="Microsoft YaHei"/>
                <a:cs typeface="Microsoft YaHei"/>
              </a:rPr>
              <a:t>Shape</a:t>
            </a:r>
            <a:r>
              <a:rPr lang="zh-CN" altLang="en-US" b="1" dirty="0">
                <a:solidFill>
                  <a:srgbClr val="263544"/>
                </a:solidFill>
                <a:latin typeface="Microsoft YaHei"/>
                <a:ea typeface="Microsoft YaHei"/>
                <a:cs typeface="Microsoft YaHei"/>
              </a:rPr>
              <a:t>，快速验证模块连接</a:t>
            </a:r>
          </a:p>
        </p:txBody>
      </p:sp>
      <p:sp>
        <p:nvSpPr>
          <p:cNvPr id="91" name="phase-a-accent">
            <a:extLst>
              <a:ext uri="{FF2B5EF4-FFF2-40B4-BE49-F238E27FC236}">
                <a16:creationId xmlns:a16="http://schemas.microsoft.com/office/drawing/2014/main" id="{F5A2FC7B-8AB5-46AF-B186-FC8395962260}"/>
              </a:ext>
            </a:extLst>
          </p:cNvPr>
          <p:cNvSpPr>
            <a:spLocks noGrp="1"/>
          </p:cNvSpPr>
          <p:nvPr/>
        </p:nvSpPr>
        <p:spPr>
          <a:xfrm>
            <a:off x="2106930" y="3972353"/>
            <a:ext cx="57150" cy="1000125"/>
          </a:xfrm>
          <a:prstGeom prst="roundRect">
            <a:avLst>
              <a:gd name="adj" fmla="val 50000"/>
            </a:avLst>
          </a:prstGeom>
          <a:solidFill>
            <a:srgbClr val="5C7F99"/>
          </a:solidFill>
          <a:ln w="0">
            <a:solidFill>
              <a:srgbClr val="5C7F99"/>
            </a:solidFill>
            <a:prstDash val="solid"/>
          </a:ln>
        </p:spPr>
      </p:sp>
      <p:sp>
        <p:nvSpPr>
          <p:cNvPr id="95" name="phase-a-letter">
            <a:extLst>
              <a:ext uri="{FF2B5EF4-FFF2-40B4-BE49-F238E27FC236}">
                <a16:creationId xmlns:a16="http://schemas.microsoft.com/office/drawing/2014/main" id="{35C3BBFF-CB6B-4D33-8A0A-AE313D295B23}"/>
              </a:ext>
            </a:extLst>
          </p:cNvPr>
          <p:cNvSpPr>
            <a:spLocks noGrp="1"/>
          </p:cNvSpPr>
          <p:nvPr/>
        </p:nvSpPr>
        <p:spPr>
          <a:xfrm>
            <a:off x="2316480" y="4108878"/>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3</a:t>
            </a:r>
            <a:endParaRPr sz="1125" b="1" dirty="0">
              <a:solidFill>
                <a:srgbClr val="5C7F99"/>
              </a:solidFill>
              <a:latin typeface="Microsoft YaHei"/>
              <a:ea typeface="Microsoft YaHei"/>
              <a:cs typeface="Microsoft YaHei"/>
            </a:endParaRPr>
          </a:p>
        </p:txBody>
      </p:sp>
      <p:sp>
        <p:nvSpPr>
          <p:cNvPr id="102" name="phase-a-chinese">
            <a:extLst>
              <a:ext uri="{FF2B5EF4-FFF2-40B4-BE49-F238E27FC236}">
                <a16:creationId xmlns:a16="http://schemas.microsoft.com/office/drawing/2014/main" id="{B28E6AE6-91E1-4238-AA3C-AE2DB3CAAE25}"/>
              </a:ext>
            </a:extLst>
          </p:cNvPr>
          <p:cNvSpPr>
            <a:spLocks noGrp="1"/>
          </p:cNvSpPr>
          <p:nvPr/>
        </p:nvSpPr>
        <p:spPr>
          <a:xfrm>
            <a:off x="2578418" y="4108878"/>
            <a:ext cx="2333625" cy="266700"/>
          </a:xfrm>
          <a:prstGeom prst="rect">
            <a:avLst/>
          </a:prstGeom>
          <a:noFill/>
          <a:ln w="0">
            <a:noFill/>
            <a:prstDash val="solid"/>
          </a:ln>
        </p:spPr>
        <p:txBody>
          <a:bodyPr wrap="square" lIns="0" tIns="0" rIns="0" bIns="0" anchor="ctr">
            <a:noAutofit/>
          </a:bodyPr>
          <a:lstStyle/>
          <a:p>
            <a:pPr>
              <a:defRPr sz="1163" b="1">
                <a:solidFill>
                  <a:srgbClr val="5C7F99"/>
                </a:solidFill>
                <a:latin typeface="Microsoft YaHei"/>
                <a:ea typeface="Microsoft YaHei"/>
                <a:cs typeface="Microsoft YaHei"/>
              </a:defRPr>
            </a:pPr>
            <a:r>
              <a:rPr lang="zh-CN" altLang="en-US" sz="1200" b="1" dirty="0">
                <a:solidFill>
                  <a:srgbClr val="5C7F99"/>
                </a:solidFill>
                <a:latin typeface="Microsoft YaHei"/>
                <a:ea typeface="Microsoft YaHei"/>
                <a:cs typeface="Microsoft YaHei"/>
              </a:rPr>
              <a:t>中间流程修改 → </a:t>
            </a:r>
            <a:r>
              <a:rPr lang="en-US" altLang="zh-CN" sz="1200" b="1" dirty="0">
                <a:solidFill>
                  <a:srgbClr val="5C7F99"/>
                </a:solidFill>
                <a:latin typeface="Microsoft YaHei"/>
                <a:ea typeface="Microsoft YaHei"/>
                <a:cs typeface="Microsoft YaHei"/>
              </a:rPr>
              <a:t>Artifact Replay</a:t>
            </a:r>
          </a:p>
        </p:txBody>
      </p:sp>
      <p:sp>
        <p:nvSpPr>
          <p:cNvPr id="105" name="phase-a-sidebar-divider">
            <a:extLst>
              <a:ext uri="{FF2B5EF4-FFF2-40B4-BE49-F238E27FC236}">
                <a16:creationId xmlns:a16="http://schemas.microsoft.com/office/drawing/2014/main" id="{D9CD0AD7-6CA4-46E4-8E1E-B4EBB896863B}"/>
              </a:ext>
            </a:extLst>
          </p:cNvPr>
          <p:cNvSpPr>
            <a:spLocks noGrp="1"/>
          </p:cNvSpPr>
          <p:nvPr/>
        </p:nvSpPr>
        <p:spPr>
          <a:xfrm>
            <a:off x="5491497" y="4044090"/>
            <a:ext cx="9525" cy="790575"/>
          </a:xfrm>
          <a:prstGeom prst="rect">
            <a:avLst/>
          </a:prstGeom>
          <a:solidFill>
            <a:srgbClr val="D1DCE3"/>
          </a:solidFill>
          <a:ln w="0">
            <a:solidFill>
              <a:srgbClr val="D1DCE3"/>
            </a:solidFill>
            <a:prstDash val="solid"/>
          </a:ln>
        </p:spPr>
      </p:sp>
      <p:sp>
        <p:nvSpPr>
          <p:cNvPr id="157" name="矩形 156"/>
          <p:cNvSpPr/>
          <p:nvPr/>
        </p:nvSpPr>
        <p:spPr>
          <a:xfrm>
            <a:off x="2571115" y="4686880"/>
            <a:ext cx="1733167" cy="225126"/>
          </a:xfrm>
          <a:prstGeom prst="rect">
            <a:avLst/>
          </a:prstGeom>
        </p:spPr>
        <p:txBody>
          <a:bodyPr wrap="none">
            <a:spAutoFit/>
          </a:bodyPr>
          <a:lstStyle/>
          <a:p>
            <a:pPr>
              <a:defRPr sz="863" b="1">
                <a:solidFill>
                  <a:srgbClr val="677684"/>
                </a:solidFill>
                <a:latin typeface="Microsoft YaHei"/>
                <a:ea typeface="Microsoft YaHei"/>
                <a:cs typeface="Microsoft YaHei"/>
              </a:defRPr>
            </a:pPr>
            <a:r>
              <a:rPr lang="zh-CN" altLang="en-US" sz="863" b="1" dirty="0">
                <a:solidFill>
                  <a:srgbClr val="263544"/>
                </a:solidFill>
                <a:latin typeface="Microsoft YaHei"/>
                <a:ea typeface="Microsoft YaHei"/>
                <a:cs typeface="Microsoft YaHei"/>
              </a:rPr>
              <a:t>从修改分支最近的有效产物继续</a:t>
            </a:r>
          </a:p>
        </p:txBody>
      </p:sp>
      <p:sp>
        <p:nvSpPr>
          <p:cNvPr id="158" name="矩形 157"/>
          <p:cNvSpPr/>
          <p:nvPr/>
        </p:nvSpPr>
        <p:spPr>
          <a:xfrm>
            <a:off x="2590548" y="4439378"/>
            <a:ext cx="1401346" cy="225126"/>
          </a:xfrm>
          <a:prstGeom prst="rect">
            <a:avLst/>
          </a:prstGeom>
        </p:spPr>
        <p:txBody>
          <a:bodyPr wrap="none">
            <a:spAutoFit/>
          </a:bodyPr>
          <a:lstStyle/>
          <a:p>
            <a:pPr>
              <a:defRPr sz="863" b="1">
                <a:solidFill>
                  <a:srgbClr val="677684"/>
                </a:solidFill>
                <a:latin typeface="Microsoft YaHei"/>
                <a:ea typeface="Microsoft YaHei"/>
                <a:cs typeface="Microsoft YaHei"/>
              </a:defRPr>
            </a:pPr>
            <a:r>
              <a:rPr lang="zh-CN" altLang="en-US" sz="863" b="1" dirty="0" smtClean="0">
                <a:solidFill>
                  <a:srgbClr val="263544"/>
                </a:solidFill>
                <a:latin typeface="Microsoft YaHei"/>
                <a:ea typeface="Microsoft YaHei"/>
                <a:cs typeface="Microsoft YaHei"/>
              </a:rPr>
              <a:t>保存上次运行的中间产物</a:t>
            </a:r>
            <a:endParaRPr lang="zh-CN" altLang="en-US" sz="863" b="1" dirty="0">
              <a:solidFill>
                <a:srgbClr val="263544"/>
              </a:solidFill>
              <a:latin typeface="Microsoft YaHei"/>
              <a:ea typeface="Microsoft YaHei"/>
              <a:cs typeface="Microsoft YaHei"/>
            </a:endParaRPr>
          </a:p>
        </p:txBody>
      </p:sp>
      <p:sp>
        <p:nvSpPr>
          <p:cNvPr id="161" name="step-04-number">
            <a:extLst>
              <a:ext uri="{FF2B5EF4-FFF2-40B4-BE49-F238E27FC236}">
                <a16:creationId xmlns:a16="http://schemas.microsoft.com/office/drawing/2014/main" id="{52221225-C23A-46DC-BBF4-FFEE0E417C0D}"/>
              </a:ext>
            </a:extLst>
          </p:cNvPr>
          <p:cNvSpPr>
            <a:spLocks noGrp="1"/>
          </p:cNvSpPr>
          <p:nvPr/>
        </p:nvSpPr>
        <p:spPr>
          <a:xfrm>
            <a:off x="5926455" y="4137453"/>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4</a:t>
            </a:r>
            <a:endParaRPr sz="1125" b="1" dirty="0">
              <a:solidFill>
                <a:srgbClr val="5C7F99"/>
              </a:solidFill>
              <a:latin typeface="Microsoft YaHei"/>
              <a:ea typeface="Microsoft YaHei"/>
              <a:cs typeface="Microsoft YaHei"/>
            </a:endParaRPr>
          </a:p>
        </p:txBody>
      </p:sp>
      <p:sp>
        <p:nvSpPr>
          <p:cNvPr id="162" name="step-04-title">
            <a:extLst>
              <a:ext uri="{FF2B5EF4-FFF2-40B4-BE49-F238E27FC236}">
                <a16:creationId xmlns:a16="http://schemas.microsoft.com/office/drawing/2014/main" id="{F2BD160D-7767-481F-BE44-4CDC6835A7C5}"/>
              </a:ext>
            </a:extLst>
          </p:cNvPr>
          <p:cNvSpPr>
            <a:spLocks noGrp="1"/>
          </p:cNvSpPr>
          <p:nvPr/>
        </p:nvSpPr>
        <p:spPr>
          <a:xfrm>
            <a:off x="6345555" y="4108878"/>
            <a:ext cx="2857500" cy="247650"/>
          </a:xfrm>
          <a:prstGeom prst="rect">
            <a:avLst/>
          </a:prstGeom>
          <a:noFill/>
          <a:ln w="0">
            <a:noFill/>
            <a:prstDash val="solid"/>
          </a:ln>
        </p:spPr>
        <p:txBody>
          <a:bodyPr wrap="square" lIns="0" tIns="0" rIns="0" bIns="0" anchor="ctr">
            <a:noAutofit/>
          </a:bodyPr>
          <a:lstStyle/>
          <a:p>
            <a:pPr algn="l">
              <a:buNone/>
              <a:defRPr sz="1238" b="1">
                <a:solidFill>
                  <a:srgbClr val="173F61"/>
                </a:solidFill>
                <a:latin typeface="Microsoft YaHei"/>
                <a:ea typeface="Microsoft YaHei"/>
                <a:cs typeface="Microsoft YaHei"/>
              </a:defRPr>
            </a:pPr>
            <a:r>
              <a:rPr sz="1200" b="1" dirty="0" err="1">
                <a:solidFill>
                  <a:srgbClr val="5C7F99"/>
                </a:solidFill>
                <a:latin typeface="Microsoft YaHei"/>
                <a:ea typeface="Microsoft YaHei"/>
                <a:cs typeface="Microsoft YaHei"/>
              </a:rPr>
              <a:t>版本级修改</a:t>
            </a:r>
            <a:r>
              <a:rPr sz="1238" b="1" dirty="0">
                <a:solidFill>
                  <a:srgbClr val="173F61"/>
                </a:solidFill>
                <a:latin typeface="Microsoft YaHei"/>
                <a:ea typeface="Microsoft YaHei"/>
                <a:cs typeface="Microsoft YaHei"/>
              </a:rPr>
              <a:t> → </a:t>
            </a:r>
            <a:r>
              <a:rPr sz="1200" b="1" dirty="0">
                <a:solidFill>
                  <a:srgbClr val="5C7F99"/>
                </a:solidFill>
                <a:latin typeface="Microsoft YaHei"/>
                <a:ea typeface="Microsoft YaHei"/>
                <a:cs typeface="Microsoft YaHei"/>
              </a:rPr>
              <a:t>Regression</a:t>
            </a:r>
            <a:r>
              <a:rPr sz="1238" b="1" dirty="0">
                <a:solidFill>
                  <a:srgbClr val="173F61"/>
                </a:solidFill>
                <a:latin typeface="Microsoft YaHei"/>
                <a:ea typeface="Microsoft YaHei"/>
                <a:cs typeface="Microsoft YaHei"/>
              </a:rPr>
              <a:t> </a:t>
            </a:r>
            <a:r>
              <a:rPr sz="1200" b="1" dirty="0">
                <a:solidFill>
                  <a:srgbClr val="5C7F99"/>
                </a:solidFill>
                <a:latin typeface="Microsoft YaHei"/>
                <a:ea typeface="Microsoft YaHei"/>
                <a:cs typeface="Microsoft YaHei"/>
              </a:rPr>
              <a:t>Suite</a:t>
            </a:r>
          </a:p>
        </p:txBody>
      </p:sp>
      <p:sp>
        <p:nvSpPr>
          <p:cNvPr id="170" name="矩形 169"/>
          <p:cNvSpPr/>
          <p:nvPr/>
        </p:nvSpPr>
        <p:spPr>
          <a:xfrm>
            <a:off x="6213015" y="4576054"/>
            <a:ext cx="3502882" cy="225126"/>
          </a:xfrm>
          <a:prstGeom prst="rect">
            <a:avLst/>
          </a:prstGeom>
        </p:spPr>
        <p:txBody>
          <a:bodyPr wrap="none">
            <a:spAutoFit/>
          </a:bodyPr>
          <a:lstStyle/>
          <a:p>
            <a:pPr>
              <a:defRPr sz="863" b="1">
                <a:solidFill>
                  <a:srgbClr val="677684"/>
                </a:solidFill>
                <a:latin typeface="Microsoft YaHei"/>
                <a:ea typeface="Microsoft YaHei"/>
                <a:cs typeface="Microsoft YaHei"/>
              </a:defRPr>
            </a:pPr>
            <a:r>
              <a:rPr lang="zh-CN" altLang="en-US" sz="863" b="1" dirty="0">
                <a:solidFill>
                  <a:srgbClr val="263544"/>
                </a:solidFill>
                <a:latin typeface="Microsoft YaHei"/>
                <a:ea typeface="Microsoft YaHei"/>
                <a:cs typeface="Microsoft YaHei"/>
              </a:rPr>
              <a:t>针对</a:t>
            </a:r>
            <a:r>
              <a:rPr lang="zh-CN" altLang="en-US" sz="863" b="1" dirty="0" smtClean="0">
                <a:solidFill>
                  <a:srgbClr val="263544"/>
                </a:solidFill>
                <a:latin typeface="Microsoft YaHei"/>
                <a:ea typeface="Microsoft YaHei"/>
                <a:cs typeface="Microsoft YaHei"/>
              </a:rPr>
              <a:t>于主流程等各个部分都产生的大修改，进行大范围数据集测试。</a:t>
            </a:r>
            <a:endParaRPr lang="zh-CN" altLang="en-US" sz="863" b="1" dirty="0">
              <a:solidFill>
                <a:srgbClr val="263544"/>
              </a:solidFill>
              <a:latin typeface="Microsoft YaHei"/>
              <a:ea typeface="Microsoft YaHei"/>
              <a:cs typeface="Microsoft YaHei"/>
            </a:endParaRPr>
          </a:p>
        </p:txBody>
      </p:sp>
    </p:spTree>
    <p:extLst>
      <p:ext uri="{BB962C8B-B14F-4D97-AF65-F5344CB8AC3E}">
        <p14:creationId xmlns:p14="http://schemas.microsoft.com/office/powerpoint/2010/main" val="2497053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hase-c-surface">
            <a:extLst>
              <a:ext uri="{FF2B5EF4-FFF2-40B4-BE49-F238E27FC236}">
                <a16:creationId xmlns:a16="http://schemas.microsoft.com/office/drawing/2014/main" id="{9BF5975D-A29B-4C85-BDCA-AE02672F0BE0}"/>
              </a:ext>
            </a:extLst>
          </p:cNvPr>
          <p:cNvSpPr>
            <a:spLocks noGrp="1"/>
          </p:cNvSpPr>
          <p:nvPr/>
        </p:nvSpPr>
        <p:spPr>
          <a:xfrm>
            <a:off x="1352550" y="1831659"/>
            <a:ext cx="9601200" cy="1000125"/>
          </a:xfrm>
          <a:prstGeom prst="rect">
            <a:avLst/>
          </a:prstGeom>
          <a:solidFill>
            <a:srgbClr val="F1F5F7"/>
          </a:solidFill>
          <a:ln w="9525">
            <a:solidFill>
              <a:srgbClr val="D7E0E6"/>
            </a:solidFill>
            <a:prstDash val="solid"/>
          </a:ln>
        </p:spPr>
      </p:sp>
      <p:sp>
        <p:nvSpPr>
          <p:cNvPr id="145" name="phase-c-surface">
            <a:extLst>
              <a:ext uri="{FF2B5EF4-FFF2-40B4-BE49-F238E27FC236}">
                <a16:creationId xmlns:a16="http://schemas.microsoft.com/office/drawing/2014/main" id="{9BF5975D-A29B-4C85-BDCA-AE02672F0BE0}"/>
              </a:ext>
            </a:extLst>
          </p:cNvPr>
          <p:cNvSpPr>
            <a:spLocks noGrp="1"/>
          </p:cNvSpPr>
          <p:nvPr/>
        </p:nvSpPr>
        <p:spPr>
          <a:xfrm>
            <a:off x="1352550" y="2869884"/>
            <a:ext cx="9601200" cy="1000125"/>
          </a:xfrm>
          <a:prstGeom prst="rect">
            <a:avLst/>
          </a:prstGeom>
          <a:solidFill>
            <a:srgbClr val="F1F5F7"/>
          </a:solidFill>
          <a:ln w="9525">
            <a:solidFill>
              <a:srgbClr val="D7E0E6"/>
            </a:solidFill>
            <a:prstDash val="solid"/>
          </a:ln>
        </p:spPr>
      </p:sp>
      <p:sp>
        <p:nvSpPr>
          <p:cNvPr id="144" name="phase-c-surface">
            <a:extLst>
              <a:ext uri="{FF2B5EF4-FFF2-40B4-BE49-F238E27FC236}">
                <a16:creationId xmlns:a16="http://schemas.microsoft.com/office/drawing/2014/main" id="{9BF5975D-A29B-4C85-BDCA-AE02672F0BE0}"/>
              </a:ext>
            </a:extLst>
          </p:cNvPr>
          <p:cNvSpPr>
            <a:spLocks noGrp="1"/>
          </p:cNvSpPr>
          <p:nvPr/>
        </p:nvSpPr>
        <p:spPr>
          <a:xfrm>
            <a:off x="1352550" y="3926205"/>
            <a:ext cx="9601200" cy="1000125"/>
          </a:xfrm>
          <a:prstGeom prst="rect">
            <a:avLst/>
          </a:prstGeom>
          <a:solidFill>
            <a:srgbClr val="F1F5F7"/>
          </a:solidFill>
          <a:ln w="9525">
            <a:solidFill>
              <a:srgbClr val="D7E0E6"/>
            </a:solidFill>
            <a:prstDash val="solid"/>
          </a:ln>
        </p:spPr>
      </p:sp>
      <p:sp>
        <p:nvSpPr>
          <p:cNvPr id="7" name="slide-8-title">
            <a:extLst>
              <a:ext uri="{FF2B5EF4-FFF2-40B4-BE49-F238E27FC236}">
                <a16:creationId xmlns:a16="http://schemas.microsoft.com/office/drawing/2014/main" id="{375095E6-F8D5-4CE6-83F3-BB443C6C8DB1}"/>
              </a:ext>
            </a:extLst>
          </p:cNvPr>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Microsoft YaHei"/>
                <a:ea typeface="Microsoft YaHei"/>
                <a:cs typeface="Microsoft YaHei"/>
              </a:defRPr>
            </a:pPr>
            <a:r>
              <a:rPr sz="2850" b="1">
                <a:solidFill>
                  <a:srgbClr val="243B53"/>
                </a:solidFill>
                <a:latin typeface="Microsoft YaHei"/>
                <a:ea typeface="Microsoft YaHei"/>
                <a:cs typeface="Microsoft YaHei"/>
              </a:rPr>
              <a:t>优化方向一：降低算子开发时间与 Token 消耗</a:t>
            </a:r>
          </a:p>
        </p:txBody>
      </p:sp>
      <p:sp>
        <p:nvSpPr>
          <p:cNvPr id="9" name="footer-background">
            <a:extLst>
              <a:ext uri="{FF2B5EF4-FFF2-40B4-BE49-F238E27FC236}">
                <a16:creationId xmlns:a16="http://schemas.microsoft.com/office/drawing/2014/main" id="{C6E7F932-DCB2-46AD-92B1-4487DFCD10B6}"/>
              </a:ext>
            </a:extLst>
          </p:cNvPr>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a:extLst>
              <a:ext uri="{FF2B5EF4-FFF2-40B4-BE49-F238E27FC236}">
                <a16:creationId xmlns:a16="http://schemas.microsoft.com/office/drawing/2014/main" id="{9CE192D7-ED29-49CC-A75A-06D02AEA387C}"/>
              </a:ext>
            </a:extLst>
          </p:cNvP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Microsoft YaHei"/>
                <a:ea typeface="Microsoft YaHei"/>
                <a:cs typeface="Microsoft YaHei"/>
              </a:defRPr>
            </a:pPr>
            <a:r>
              <a:rPr sz="1275" b="1" dirty="0" err="1">
                <a:solidFill>
                  <a:srgbClr val="FFFFFF"/>
                </a:solidFill>
                <a:latin typeface="Microsoft YaHei"/>
                <a:ea typeface="Microsoft YaHei"/>
                <a:cs typeface="Microsoft YaHei"/>
              </a:rPr>
              <a:t>减少无效流程、无效优化和重复分析，让</a:t>
            </a:r>
            <a:r>
              <a:rPr sz="1275" b="1" dirty="0">
                <a:solidFill>
                  <a:srgbClr val="FFFFFF"/>
                </a:solidFill>
                <a:latin typeface="Microsoft YaHei"/>
                <a:ea typeface="Microsoft YaHei"/>
                <a:cs typeface="Microsoft YaHei"/>
              </a:rPr>
              <a:t> Agent </a:t>
            </a:r>
            <a:r>
              <a:rPr sz="1275" b="1" dirty="0" err="1">
                <a:solidFill>
                  <a:srgbClr val="FFFFFF"/>
                </a:solidFill>
                <a:latin typeface="Microsoft YaHei"/>
                <a:ea typeface="Microsoft YaHei"/>
                <a:cs typeface="Microsoft YaHei"/>
              </a:rPr>
              <a:t>只处理真正需要推理的部分</a:t>
            </a:r>
            <a:r>
              <a:rPr sz="1275" b="1" dirty="0">
                <a:solidFill>
                  <a:srgbClr val="FFFFFF"/>
                </a:solidFill>
                <a:latin typeface="Microsoft YaHei"/>
                <a:ea typeface="Microsoft YaHei"/>
                <a:cs typeface="Microsoft YaHei"/>
              </a:rPr>
              <a:t>。</a:t>
            </a:r>
          </a:p>
        </p:txBody>
      </p:sp>
      <p:sp>
        <p:nvSpPr>
          <p:cNvPr id="20" name="knowledge-source-1">
            <a:extLst>
              <a:ext uri="{FF2B5EF4-FFF2-40B4-BE49-F238E27FC236}">
                <a16:creationId xmlns:a16="http://schemas.microsoft.com/office/drawing/2014/main" id="{EBDC28E3-6143-410C-BEFE-5B7F627C63C2}"/>
              </a:ext>
            </a:extLst>
          </p:cNvPr>
          <p:cNvSpPr>
            <a:spLocks noGrp="1"/>
          </p:cNvSpPr>
          <p:nvPr/>
        </p:nvSpPr>
        <p:spPr>
          <a:xfrm>
            <a:off x="1759585" y="76454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a:extLst>
              <a:ext uri="{FF2B5EF4-FFF2-40B4-BE49-F238E27FC236}">
                <a16:creationId xmlns:a16="http://schemas.microsoft.com/office/drawing/2014/main" id="{496FBD7A-2744-49B2-AF4E-57BDC19EB1AA}"/>
              </a:ext>
            </a:extLst>
          </p:cNvPr>
          <p:cNvSpPr>
            <a:spLocks noGrp="1"/>
          </p:cNvSpPr>
          <p:nvPr/>
        </p:nvSpPr>
        <p:spPr>
          <a:xfrm>
            <a:off x="20383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全流程重复执行</a:t>
            </a:r>
          </a:p>
        </p:txBody>
      </p:sp>
      <p:sp>
        <p:nvSpPr>
          <p:cNvPr id="23" name="knowledge-source-1-note">
            <a:extLst>
              <a:ext uri="{FF2B5EF4-FFF2-40B4-BE49-F238E27FC236}">
                <a16:creationId xmlns:a16="http://schemas.microsoft.com/office/drawing/2014/main" id="{11C9D527-AE0E-41BB-BAD2-0A32C441DE5C}"/>
              </a:ext>
            </a:extLst>
          </p:cNvPr>
          <p:cNvSpPr>
            <a:spLocks noGrp="1"/>
          </p:cNvSpPr>
          <p:nvPr/>
        </p:nvSpPr>
        <p:spPr>
          <a:xfrm>
            <a:off x="2038350" y="1028700"/>
            <a:ext cx="22860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不同任务都从头开始</a:t>
            </a:r>
          </a:p>
        </p:txBody>
      </p:sp>
      <p:sp>
        <p:nvSpPr>
          <p:cNvPr id="24" name="knowledge-source-2">
            <a:extLst>
              <a:ext uri="{FF2B5EF4-FFF2-40B4-BE49-F238E27FC236}">
                <a16:creationId xmlns:a16="http://schemas.microsoft.com/office/drawing/2014/main" id="{4CD9FA40-F42B-4D79-A6C5-A69D8D01CAE3}"/>
              </a:ext>
            </a:extLst>
          </p:cNvPr>
          <p:cNvSpPr>
            <a:spLocks noGrp="1"/>
          </p:cNvSpPr>
          <p:nvPr/>
        </p:nvSpPr>
        <p:spPr>
          <a:xfrm>
            <a:off x="4683760" y="76454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a:extLst>
              <a:ext uri="{FF2B5EF4-FFF2-40B4-BE49-F238E27FC236}">
                <a16:creationId xmlns:a16="http://schemas.microsoft.com/office/drawing/2014/main" id="{FD18660E-7B06-4404-89B4-819FDDB10F02}"/>
              </a:ext>
            </a:extLst>
          </p:cNvPr>
          <p:cNvSpPr>
            <a:spLocks noGrp="1"/>
          </p:cNvSpPr>
          <p:nvPr/>
        </p:nvSpPr>
        <p:spPr>
          <a:xfrm>
            <a:off x="49720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优化策略过度遍历</a:t>
            </a:r>
          </a:p>
        </p:txBody>
      </p:sp>
      <p:sp>
        <p:nvSpPr>
          <p:cNvPr id="27" name="knowledge-source-2-note">
            <a:extLst>
              <a:ext uri="{FF2B5EF4-FFF2-40B4-BE49-F238E27FC236}">
                <a16:creationId xmlns:a16="http://schemas.microsoft.com/office/drawing/2014/main" id="{29B1723A-5A11-4EC9-9F93-9FBA049C550B}"/>
              </a:ext>
            </a:extLst>
          </p:cNvPr>
          <p:cNvSpPr>
            <a:spLocks noGrp="1"/>
          </p:cNvSpPr>
          <p:nvPr/>
        </p:nvSpPr>
        <p:spPr>
          <a:xfrm>
            <a:off x="4876800" y="1028700"/>
            <a:ext cx="24765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缺少瓶颈判断，低收益尝试过多</a:t>
            </a:r>
          </a:p>
        </p:txBody>
      </p:sp>
      <p:sp>
        <p:nvSpPr>
          <p:cNvPr id="28" name="knowledge-source-3">
            <a:extLst>
              <a:ext uri="{FF2B5EF4-FFF2-40B4-BE49-F238E27FC236}">
                <a16:creationId xmlns:a16="http://schemas.microsoft.com/office/drawing/2014/main" id="{877D0EC0-69E8-492F-B27E-3128FF395ED6}"/>
              </a:ext>
            </a:extLst>
          </p:cNvPr>
          <p:cNvSpPr>
            <a:spLocks noGrp="1"/>
          </p:cNvSpPr>
          <p:nvPr/>
        </p:nvSpPr>
        <p:spPr>
          <a:xfrm>
            <a:off x="7607935" y="764540"/>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a:extLst>
              <a:ext uri="{FF2B5EF4-FFF2-40B4-BE49-F238E27FC236}">
                <a16:creationId xmlns:a16="http://schemas.microsoft.com/office/drawing/2014/main" id="{D3D31AFF-A1D6-4E1E-AC09-4176658BF202}"/>
              </a:ext>
            </a:extLst>
          </p:cNvPr>
          <p:cNvSpPr>
            <a:spLocks noGrp="1"/>
          </p:cNvSpPr>
          <p:nvPr/>
        </p:nvSpPr>
        <p:spPr>
          <a:xfrm>
            <a:off x="7896225"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大量工作交给 Agent</a:t>
            </a:r>
          </a:p>
        </p:txBody>
      </p:sp>
      <p:sp>
        <p:nvSpPr>
          <p:cNvPr id="31" name="knowledge-source-3-note">
            <a:extLst>
              <a:ext uri="{FF2B5EF4-FFF2-40B4-BE49-F238E27FC236}">
                <a16:creationId xmlns:a16="http://schemas.microsoft.com/office/drawing/2014/main" id="{1339139C-1351-47A9-9705-04C74CC76091}"/>
              </a:ext>
            </a:extLst>
          </p:cNvPr>
          <p:cNvSpPr>
            <a:spLocks noGrp="1"/>
          </p:cNvSpPr>
          <p:nvPr/>
        </p:nvSpPr>
        <p:spPr>
          <a:xfrm>
            <a:off x="7753350" y="1028700"/>
            <a:ext cx="257175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Log / Benchmark / Profile 反复读取</a:t>
            </a:r>
          </a:p>
        </p:txBody>
      </p:sp>
      <p:sp>
        <p:nvSpPr>
          <p:cNvPr id="32" name="platform-knowledge-node">
            <a:extLst>
              <a:ext uri="{FF2B5EF4-FFF2-40B4-BE49-F238E27FC236}">
                <a16:creationId xmlns:a16="http://schemas.microsoft.com/office/drawing/2014/main" id="{5762D966-7501-439C-A080-138BF198C932}"/>
              </a:ext>
            </a:extLst>
          </p:cNvPr>
          <p:cNvSpPr>
            <a:spLocks noGrp="1"/>
          </p:cNvSpPr>
          <p:nvPr/>
        </p:nvSpPr>
        <p:spPr>
          <a:xfrm>
            <a:off x="4762500" y="1457325"/>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开发时间 ↑   +   Token 消耗 ↑</a:t>
            </a:r>
            <a:endParaRPr sz="1400" b="1">
              <a:solidFill>
                <a:srgbClr val="FFFFFF"/>
              </a:solidFill>
              <a:latin typeface="Arial"/>
              <a:ea typeface="Arial"/>
              <a:cs typeface="Arial"/>
            </a:endParaRPr>
          </a:p>
        </p:txBody>
      </p:sp>
      <p:sp>
        <p:nvSpPr>
          <p:cNvPr id="38" name="phase-a-accent">
            <a:extLst>
              <a:ext uri="{FF2B5EF4-FFF2-40B4-BE49-F238E27FC236}">
                <a16:creationId xmlns:a16="http://schemas.microsoft.com/office/drawing/2014/main" id="{F5A2FC7B-8AB5-46AF-B186-FC8395962260}"/>
              </a:ext>
            </a:extLst>
          </p:cNvPr>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a:extLst>
              <a:ext uri="{FF2B5EF4-FFF2-40B4-BE49-F238E27FC236}">
                <a16:creationId xmlns:a16="http://schemas.microsoft.com/office/drawing/2014/main" id="{35C3BBFF-CB6B-4D33-8A0A-AE313D295B23}"/>
              </a:ext>
            </a:extLst>
          </p:cNvP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01</a:t>
            </a:r>
          </a:p>
        </p:txBody>
      </p:sp>
      <p:sp>
        <p:nvSpPr>
          <p:cNvPr id="41" name="phase-a-chinese">
            <a:extLst>
              <a:ext uri="{FF2B5EF4-FFF2-40B4-BE49-F238E27FC236}">
                <a16:creationId xmlns:a16="http://schemas.microsoft.com/office/drawing/2014/main" id="{B28E6AE6-91E1-4238-AA3C-AE2DB3CAAE25}"/>
              </a:ext>
            </a:extLst>
          </p:cNvPr>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a:solidFill>
                  <a:srgbClr val="173F61"/>
                </a:solidFill>
                <a:latin typeface="Microsoft YaHei"/>
                <a:ea typeface="Microsoft YaHei"/>
                <a:cs typeface="Microsoft YaHei"/>
              </a:rPr>
              <a:t>任务路由</a:t>
            </a:r>
            <a:endParaRPr sz="1275" b="1" dirty="0">
              <a:solidFill>
                <a:srgbClr val="173F61"/>
              </a:solidFill>
              <a:latin typeface="Microsoft YaHei"/>
              <a:ea typeface="Microsoft YaHei"/>
              <a:cs typeface="Microsoft YaHei"/>
            </a:endParaRPr>
          </a:p>
        </p:txBody>
      </p:sp>
      <p:sp>
        <p:nvSpPr>
          <p:cNvPr id="42" name="phase-a-sidebar-divider">
            <a:extLst>
              <a:ext uri="{FF2B5EF4-FFF2-40B4-BE49-F238E27FC236}">
                <a16:creationId xmlns:a16="http://schemas.microsoft.com/office/drawing/2014/main" id="{D9CD0AD7-6CA4-46E4-8E1E-B4EBB896863B}"/>
              </a:ext>
            </a:extLst>
          </p:cNvP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64" name="phase-b-accent">
            <a:extLst>
              <a:ext uri="{FF2B5EF4-FFF2-40B4-BE49-F238E27FC236}">
                <a16:creationId xmlns:a16="http://schemas.microsoft.com/office/drawing/2014/main" id="{35124B45-02EA-4E61-BF62-155BBA81FF82}"/>
              </a:ext>
            </a:extLst>
          </p:cNvPr>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70" name="step-03-number">
            <a:extLst>
              <a:ext uri="{FF2B5EF4-FFF2-40B4-BE49-F238E27FC236}">
                <a16:creationId xmlns:a16="http://schemas.microsoft.com/office/drawing/2014/main" id="{6B15DC1F-B2E6-4B0E-9606-56DD31B76A1C}"/>
              </a:ext>
            </a:extLst>
          </p:cNvPr>
          <p:cNvSpPr>
            <a:spLocks noGrp="1"/>
          </p:cNvSpPr>
          <p:nvPr/>
        </p:nvSpPr>
        <p:spPr>
          <a:xfrm>
            <a:off x="1524000" y="3021964"/>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2</a:t>
            </a:r>
            <a:endParaRPr sz="1125" b="1" dirty="0">
              <a:solidFill>
                <a:srgbClr val="5C7F99"/>
              </a:solidFill>
              <a:latin typeface="Microsoft YaHei"/>
              <a:ea typeface="Microsoft YaHei"/>
              <a:cs typeface="Microsoft YaHei"/>
            </a:endParaRPr>
          </a:p>
        </p:txBody>
      </p:sp>
      <p:sp>
        <p:nvSpPr>
          <p:cNvPr id="71" name="step-03-title">
            <a:extLst>
              <a:ext uri="{FF2B5EF4-FFF2-40B4-BE49-F238E27FC236}">
                <a16:creationId xmlns:a16="http://schemas.microsoft.com/office/drawing/2014/main" id="{E708CCC2-CB4D-496E-B416-E8393D2BB238}"/>
              </a:ext>
            </a:extLst>
          </p:cNvPr>
          <p:cNvSpPr>
            <a:spLocks noGrp="1"/>
          </p:cNvSpPr>
          <p:nvPr/>
        </p:nvSpPr>
        <p:spPr>
          <a:xfrm>
            <a:off x="1876425" y="2991166"/>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Microsoft YaHei"/>
                <a:ea typeface="Microsoft YaHei"/>
                <a:cs typeface="Microsoft YaHei"/>
              </a:defRPr>
            </a:pPr>
            <a:r>
              <a:rPr lang="zh-CN" altLang="en-US" sz="1275" b="1" dirty="0">
                <a:solidFill>
                  <a:srgbClr val="173F61"/>
                </a:solidFill>
                <a:latin typeface="Microsoft YaHei"/>
                <a:ea typeface="Microsoft YaHei"/>
                <a:cs typeface="Microsoft YaHei"/>
              </a:rPr>
              <a:t>优化策略分析</a:t>
            </a:r>
            <a:endParaRPr sz="1275" b="1" dirty="0">
              <a:solidFill>
                <a:srgbClr val="173F61"/>
              </a:solidFill>
              <a:latin typeface="Microsoft YaHei"/>
              <a:ea typeface="Microsoft YaHei"/>
              <a:cs typeface="Microsoft YaHei"/>
            </a:endParaRPr>
          </a:p>
        </p:txBody>
      </p:sp>
      <p:sp>
        <p:nvSpPr>
          <p:cNvPr id="93" name="phase-c-accent">
            <a:extLst>
              <a:ext uri="{FF2B5EF4-FFF2-40B4-BE49-F238E27FC236}">
                <a16:creationId xmlns:a16="http://schemas.microsoft.com/office/drawing/2014/main" id="{E15BA5EA-E588-4A98-8B37-E7496B653B65}"/>
              </a:ext>
            </a:extLst>
          </p:cNvPr>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133" name="step-08-number">
            <a:extLst>
              <a:ext uri="{FF2B5EF4-FFF2-40B4-BE49-F238E27FC236}">
                <a16:creationId xmlns:a16="http://schemas.microsoft.com/office/drawing/2014/main" id="{3D7AAE78-4212-4968-822C-1853B3BAFC4B}"/>
              </a:ext>
            </a:extLst>
          </p:cNvP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a:ea typeface="Calibri"/>
                <a:cs typeface="Calibri"/>
              </a:defRPr>
            </a:pPr>
            <a:endParaRPr/>
          </a:p>
        </p:txBody>
      </p:sp>
      <p:sp>
        <p:nvSpPr>
          <p:cNvPr id="134" name="step-08-title">
            <a:extLst>
              <a:ext uri="{FF2B5EF4-FFF2-40B4-BE49-F238E27FC236}">
                <a16:creationId xmlns:a16="http://schemas.microsoft.com/office/drawing/2014/main" id="{98CF8D5D-4BB7-4641-B4A6-FFAC645FE933}"/>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a:ea typeface="微软雅黑"/>
                <a:cs typeface="微软雅黑"/>
              </a:defRPr>
            </a:pPr>
            <a:endParaRPr/>
          </a:p>
        </p:txBody>
      </p:sp>
      <p:sp>
        <p:nvSpPr>
          <p:cNvPr id="135" name="step-08-subtitle">
            <a:extLst>
              <a:ext uri="{FF2B5EF4-FFF2-40B4-BE49-F238E27FC236}">
                <a16:creationId xmlns:a16="http://schemas.microsoft.com/office/drawing/2014/main" id="{4FC7CE93-DD4D-463D-9836-56D303844EDD}"/>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a:ea typeface="微软雅黑"/>
                <a:cs typeface="微软雅黑"/>
              </a:defRPr>
            </a:pPr>
            <a:endParaRPr/>
          </a:p>
        </p:txBody>
      </p:sp>
      <p:sp>
        <p:nvSpPr>
          <p:cNvPr id="3" name="slide-7-page-number">
            <a:extLst>
              <a:ext uri="{FF2B5EF4-FFF2-40B4-BE49-F238E27FC236}">
                <a16:creationId xmlns:a16="http://schemas.microsoft.com/office/drawing/2014/main" id="{B9A54D7D-D642-4660-9F2D-34D9C9C7A13B}"/>
              </a:ext>
            </a:extLst>
          </p:cNvP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Microsoft YaHei"/>
                <a:ea typeface="Microsoft YaHei"/>
                <a:cs typeface="Microsoft YaHei"/>
              </a:defRPr>
            </a:pPr>
            <a:r>
              <a:rPr sz="1200" b="1">
                <a:solidFill>
                  <a:srgbClr val="66737F"/>
                </a:solidFill>
                <a:latin typeface="Microsoft YaHei"/>
                <a:ea typeface="Microsoft YaHei"/>
                <a:cs typeface="Microsoft YaHei"/>
              </a:rPr>
              <a:t>2</a:t>
            </a:r>
            <a:endParaRPr sz="1200" b="1">
              <a:solidFill>
                <a:srgbClr val="66737F"/>
              </a:solidFill>
              <a:latin typeface="Arial"/>
              <a:ea typeface="Arial"/>
              <a:cs typeface="Arial"/>
            </a:endParaRPr>
          </a:p>
        </p:txBody>
      </p:sp>
      <p:sp>
        <p:nvSpPr>
          <p:cNvPr id="103" name="slide-1-title">
            <a:extLst>
              <a:ext uri="{FF2B5EF4-FFF2-40B4-BE49-F238E27FC236}">
                <a16:creationId xmlns:a16="http://schemas.microsoft.com/office/drawing/2014/main" id="{C381CF64-BAB1-47F1-8866-115A246CAF93}"/>
              </a:ext>
            </a:extLst>
          </p:cNvPr>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Microsoft YaHei"/>
                <a:ea typeface="Microsoft YaHei"/>
                <a:cs typeface="Microsoft YaHei"/>
              </a:defRPr>
            </a:pPr>
            <a:r>
              <a:rPr lang="en-US" sz="3000" b="1" dirty="0" smtClean="0">
                <a:solidFill>
                  <a:srgbClr val="243B53"/>
                </a:solidFill>
                <a:latin typeface="Microsoft YaHei"/>
                <a:ea typeface="Microsoft YaHei"/>
                <a:cs typeface="Microsoft YaHei"/>
              </a:rPr>
              <a:t>1</a:t>
            </a:r>
            <a:r>
              <a:rPr sz="3000" b="1" dirty="0" smtClean="0">
                <a:solidFill>
                  <a:srgbClr val="243B53"/>
                </a:solidFill>
                <a:latin typeface="Microsoft YaHei"/>
                <a:ea typeface="Microsoft YaHei"/>
                <a:cs typeface="Microsoft YaHei"/>
              </a:rPr>
              <a:t>.</a:t>
            </a:r>
            <a:r>
              <a:rPr lang="en-US" sz="3000" b="1" dirty="0" smtClean="0">
                <a:solidFill>
                  <a:srgbClr val="243B53"/>
                </a:solidFill>
                <a:latin typeface="Microsoft YaHei"/>
                <a:ea typeface="Microsoft YaHei"/>
                <a:cs typeface="Microsoft YaHei"/>
              </a:rPr>
              <a:t>7</a:t>
            </a:r>
            <a:endParaRPr sz="3000" b="1" dirty="0">
              <a:solidFill>
                <a:srgbClr val="243B53"/>
              </a:solidFill>
              <a:latin typeface="Arial"/>
              <a:ea typeface="Arial"/>
              <a:cs typeface="Arial"/>
            </a:endParaRPr>
          </a:p>
        </p:txBody>
      </p:sp>
      <p:sp>
        <p:nvSpPr>
          <p:cNvPr id="104" name="s15-title-rule">
            <a:extLst>
              <a:ext uri="{FF2B5EF4-FFF2-40B4-BE49-F238E27FC236}">
                <a16:creationId xmlns:a16="http://schemas.microsoft.com/office/drawing/2014/main" id="{151B2147-080F-49BB-AA1C-DEAA33C95C2C}"/>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90" name="phase-b-chinese">
            <a:extLst>
              <a:ext uri="{FF2B5EF4-FFF2-40B4-BE49-F238E27FC236}">
                <a16:creationId xmlns:a16="http://schemas.microsoft.com/office/drawing/2014/main" id="{B9EA628B-BC8E-43F9-80A2-649FEB1374C6}"/>
              </a:ext>
            </a:extLst>
          </p:cNvPr>
          <p:cNvSpPr>
            <a:spLocks noGrp="1"/>
          </p:cNvSpPr>
          <p:nvPr/>
        </p:nvSpPr>
        <p:spPr>
          <a:xfrm>
            <a:off x="1685925" y="2248215"/>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根据不同的输入，直接进入对于的阶段。</a:t>
            </a:r>
            <a:endParaRPr sz="1200" b="1" dirty="0">
              <a:solidFill>
                <a:srgbClr val="5C7F99"/>
              </a:solidFill>
              <a:latin typeface="Microsoft YaHei"/>
              <a:ea typeface="Microsoft YaHei"/>
              <a:cs typeface="Microsoft YaHei"/>
            </a:endParaRPr>
          </a:p>
        </p:txBody>
      </p:sp>
      <p:sp>
        <p:nvSpPr>
          <p:cNvPr id="91" name="step-05-title">
            <a:extLst>
              <a:ext uri="{FF2B5EF4-FFF2-40B4-BE49-F238E27FC236}">
                <a16:creationId xmlns:a16="http://schemas.microsoft.com/office/drawing/2014/main" id="{CAEDB44C-147B-4FB5-990F-EDADB3A566EF}"/>
              </a:ext>
            </a:extLst>
          </p:cNvPr>
          <p:cNvSpPr>
            <a:spLocks noGrp="1"/>
          </p:cNvSpPr>
          <p:nvPr/>
        </p:nvSpPr>
        <p:spPr>
          <a:xfrm>
            <a:off x="4598033" y="2265362"/>
            <a:ext cx="419100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lang="zh-CN" altLang="en-US" sz="1200" b="1" dirty="0" smtClean="0">
                <a:solidFill>
                  <a:srgbClr val="263544"/>
                </a:solidFill>
                <a:latin typeface="Microsoft YaHei"/>
                <a:ea typeface="Microsoft YaHei"/>
                <a:cs typeface="Microsoft YaHei"/>
              </a:rPr>
              <a:t>根据用户输入，从正确的阶段进入，不是每次从头开始</a:t>
            </a:r>
            <a:endParaRPr sz="1200" b="1" dirty="0">
              <a:solidFill>
                <a:srgbClr val="263544"/>
              </a:solidFill>
              <a:latin typeface="Microsoft YaHei"/>
              <a:ea typeface="Microsoft YaHei"/>
              <a:cs typeface="Microsoft YaHei"/>
            </a:endParaRPr>
          </a:p>
        </p:txBody>
      </p:sp>
      <p:sp>
        <p:nvSpPr>
          <p:cNvPr id="110" name="phase-b-chinese">
            <a:extLst>
              <a:ext uri="{FF2B5EF4-FFF2-40B4-BE49-F238E27FC236}">
                <a16:creationId xmlns:a16="http://schemas.microsoft.com/office/drawing/2014/main" id="{B9EA628B-BC8E-43F9-80A2-649FEB1374C6}"/>
              </a:ext>
            </a:extLst>
          </p:cNvPr>
          <p:cNvSpPr>
            <a:spLocks noGrp="1"/>
          </p:cNvSpPr>
          <p:nvPr/>
        </p:nvSpPr>
        <p:spPr>
          <a:xfrm>
            <a:off x="1752600" y="3257866"/>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不便利所有优化，根据输入的类型，选择效率高的优化。</a:t>
            </a:r>
            <a:endParaRPr sz="1200" b="1" dirty="0">
              <a:solidFill>
                <a:srgbClr val="5C7F99"/>
              </a:solidFill>
              <a:latin typeface="Microsoft YaHei"/>
              <a:ea typeface="Microsoft YaHei"/>
              <a:cs typeface="Microsoft YaHei"/>
            </a:endParaRPr>
          </a:p>
        </p:txBody>
      </p:sp>
      <p:sp>
        <p:nvSpPr>
          <p:cNvPr id="111" name="step-04-number">
            <a:extLst>
              <a:ext uri="{FF2B5EF4-FFF2-40B4-BE49-F238E27FC236}">
                <a16:creationId xmlns:a16="http://schemas.microsoft.com/office/drawing/2014/main" id="{52221225-C23A-46DC-BBF4-FFEE0E417C0D}"/>
              </a:ext>
            </a:extLst>
          </p:cNvPr>
          <p:cNvSpPr>
            <a:spLocks noGrp="1"/>
          </p:cNvSpPr>
          <p:nvPr/>
        </p:nvSpPr>
        <p:spPr>
          <a:xfrm>
            <a:off x="1562100" y="4027487"/>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dirty="0" smtClean="0">
                <a:solidFill>
                  <a:srgbClr val="5C7F99"/>
                </a:solidFill>
                <a:latin typeface="Microsoft YaHei"/>
                <a:ea typeface="Microsoft YaHei"/>
                <a:cs typeface="Microsoft YaHei"/>
              </a:rPr>
              <a:t>0</a:t>
            </a:r>
            <a:r>
              <a:rPr lang="en-US" sz="1125" b="1" dirty="0" smtClean="0">
                <a:solidFill>
                  <a:srgbClr val="5C7F99"/>
                </a:solidFill>
                <a:latin typeface="Microsoft YaHei"/>
                <a:ea typeface="Microsoft YaHei"/>
                <a:cs typeface="Microsoft YaHei"/>
              </a:rPr>
              <a:t>3</a:t>
            </a:r>
            <a:endParaRPr sz="1125" b="1" dirty="0">
              <a:solidFill>
                <a:srgbClr val="5C7F99"/>
              </a:solidFill>
              <a:latin typeface="Microsoft YaHei"/>
              <a:ea typeface="Microsoft YaHei"/>
              <a:cs typeface="Microsoft YaHei"/>
            </a:endParaRPr>
          </a:p>
        </p:txBody>
      </p:sp>
      <p:sp>
        <p:nvSpPr>
          <p:cNvPr id="112" name="step-04-title">
            <a:extLst>
              <a:ext uri="{FF2B5EF4-FFF2-40B4-BE49-F238E27FC236}">
                <a16:creationId xmlns:a16="http://schemas.microsoft.com/office/drawing/2014/main" id="{F2BD160D-7767-481F-BE44-4CDC6835A7C5}"/>
              </a:ext>
            </a:extLst>
          </p:cNvPr>
          <p:cNvSpPr>
            <a:spLocks noGrp="1"/>
          </p:cNvSpPr>
          <p:nvPr/>
        </p:nvSpPr>
        <p:spPr>
          <a:xfrm>
            <a:off x="1876425" y="3998912"/>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smtClean="0">
                <a:solidFill>
                  <a:srgbClr val="173F61"/>
                </a:solidFill>
                <a:latin typeface="Microsoft YaHei"/>
                <a:ea typeface="Microsoft YaHei"/>
                <a:cs typeface="Microsoft YaHei"/>
              </a:rPr>
              <a:t>优化</a:t>
            </a:r>
            <a:r>
              <a:rPr lang="zh-CN" altLang="en-US" sz="1275" b="1" dirty="0" smtClean="0">
                <a:solidFill>
                  <a:srgbClr val="173F61"/>
                </a:solidFill>
                <a:latin typeface="Microsoft YaHei"/>
                <a:ea typeface="Microsoft YaHei"/>
                <a:cs typeface="Microsoft YaHei"/>
              </a:rPr>
              <a:t>目标</a:t>
            </a:r>
            <a:r>
              <a:rPr sz="1275" b="1" dirty="0" err="1" smtClean="0">
                <a:solidFill>
                  <a:srgbClr val="173F61"/>
                </a:solidFill>
                <a:latin typeface="Microsoft YaHei"/>
                <a:ea typeface="Microsoft YaHei"/>
                <a:cs typeface="Microsoft YaHei"/>
              </a:rPr>
              <a:t>与停止门禁</a:t>
            </a:r>
            <a:endParaRPr sz="1275" b="1" dirty="0">
              <a:solidFill>
                <a:srgbClr val="173F61"/>
              </a:solidFill>
              <a:latin typeface="Microsoft YaHei"/>
              <a:ea typeface="Microsoft YaHei"/>
              <a:cs typeface="Microsoft YaHei"/>
            </a:endParaRPr>
          </a:p>
        </p:txBody>
      </p:sp>
      <p:sp>
        <p:nvSpPr>
          <p:cNvPr id="113" name="phase-b-chinese">
            <a:extLst>
              <a:ext uri="{FF2B5EF4-FFF2-40B4-BE49-F238E27FC236}">
                <a16:creationId xmlns:a16="http://schemas.microsoft.com/office/drawing/2014/main" id="{B9EA628B-BC8E-43F9-80A2-649FEB1374C6}"/>
              </a:ext>
            </a:extLst>
          </p:cNvPr>
          <p:cNvSpPr>
            <a:spLocks noGrp="1"/>
          </p:cNvSpPr>
          <p:nvPr/>
        </p:nvSpPr>
        <p:spPr>
          <a:xfrm>
            <a:off x="1724025" y="4306252"/>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lang="zh-CN" altLang="en-US" sz="1200" b="1" dirty="0" smtClean="0">
                <a:solidFill>
                  <a:srgbClr val="5C7F99"/>
                </a:solidFill>
                <a:latin typeface="Microsoft YaHei"/>
                <a:ea typeface="Microsoft YaHei"/>
                <a:cs typeface="Microsoft YaHei"/>
              </a:rPr>
              <a:t>优化结果满足条件或者多轮优化都不满足条件，停止优化迭代</a:t>
            </a:r>
            <a:endParaRPr sz="1200" b="1" dirty="0">
              <a:solidFill>
                <a:srgbClr val="5C7F99"/>
              </a:solidFill>
              <a:latin typeface="Microsoft YaHei"/>
              <a:ea typeface="Microsoft YaHei"/>
              <a:cs typeface="Microsoft YaHei"/>
            </a:endParaRPr>
          </a:p>
        </p:txBody>
      </p:sp>
      <p:sp>
        <p:nvSpPr>
          <p:cNvPr id="2" name="矩形 1"/>
          <p:cNvSpPr/>
          <p:nvPr/>
        </p:nvSpPr>
        <p:spPr>
          <a:xfrm>
            <a:off x="4478067" y="3246053"/>
            <a:ext cx="5617115" cy="276999"/>
          </a:xfrm>
          <a:prstGeom prst="rect">
            <a:avLst/>
          </a:prstGeom>
        </p:spPr>
        <p:txBody>
          <a:bodyPr wrap="none">
            <a:spAutoFit/>
          </a:bodyPr>
          <a:lstStyle/>
          <a:p>
            <a:pPr>
              <a:defRPr sz="1200" b="1">
                <a:solidFill>
                  <a:srgbClr val="263544"/>
                </a:solidFill>
                <a:latin typeface="Microsoft YaHei"/>
                <a:ea typeface="Microsoft YaHei"/>
                <a:cs typeface="Microsoft YaHei"/>
              </a:defRPr>
            </a:pPr>
            <a:r>
              <a:rPr lang="zh-CN" altLang="en-US" b="1" dirty="0" smtClean="0">
                <a:solidFill>
                  <a:srgbClr val="263544"/>
                </a:solidFill>
                <a:latin typeface="Microsoft YaHei"/>
                <a:ea typeface="Microsoft YaHei"/>
                <a:cs typeface="Microsoft YaHei"/>
              </a:rPr>
              <a:t>先进性基础优化，根据</a:t>
            </a:r>
            <a:r>
              <a:rPr lang="en-US" altLang="zh-CN" b="1" dirty="0" smtClean="0">
                <a:solidFill>
                  <a:srgbClr val="263544"/>
                </a:solidFill>
                <a:latin typeface="Microsoft YaHei"/>
                <a:ea typeface="Microsoft YaHei"/>
                <a:cs typeface="Microsoft YaHei"/>
              </a:rPr>
              <a:t>profile</a:t>
            </a:r>
            <a:r>
              <a:rPr lang="zh-CN" altLang="en-US" b="1" dirty="0" smtClean="0">
                <a:solidFill>
                  <a:srgbClr val="263544"/>
                </a:solidFill>
                <a:latin typeface="Microsoft YaHei"/>
                <a:ea typeface="Microsoft YaHei"/>
                <a:cs typeface="Microsoft YaHei"/>
              </a:rPr>
              <a:t>选择性的进行深度优化，只排除明显不合适的优化</a:t>
            </a:r>
            <a:endParaRPr lang="zh-CN" altLang="en-US" b="1" dirty="0">
              <a:solidFill>
                <a:srgbClr val="263544"/>
              </a:solidFill>
              <a:latin typeface="Microsoft YaHei"/>
              <a:ea typeface="Microsoft YaHei"/>
              <a:cs typeface="Microsoft YaHei"/>
            </a:endParaRPr>
          </a:p>
        </p:txBody>
      </p:sp>
      <p:sp>
        <p:nvSpPr>
          <p:cNvPr id="114" name="矩形 113"/>
          <p:cNvSpPr/>
          <p:nvPr/>
        </p:nvSpPr>
        <p:spPr>
          <a:xfrm>
            <a:off x="4555490" y="4332675"/>
            <a:ext cx="4320478" cy="276999"/>
          </a:xfrm>
          <a:prstGeom prst="rect">
            <a:avLst/>
          </a:prstGeom>
        </p:spPr>
        <p:txBody>
          <a:bodyPr wrap="none">
            <a:spAutoFit/>
          </a:bodyPr>
          <a:lstStyle/>
          <a:p>
            <a:pPr>
              <a:defRPr sz="1200" b="1">
                <a:solidFill>
                  <a:srgbClr val="263544"/>
                </a:solidFill>
                <a:latin typeface="Microsoft YaHei"/>
                <a:ea typeface="Microsoft YaHei"/>
                <a:cs typeface="Microsoft YaHei"/>
              </a:defRPr>
            </a:pPr>
            <a:r>
              <a:rPr lang="zh-CN" altLang="en-US" b="1" dirty="0" smtClean="0">
                <a:solidFill>
                  <a:srgbClr val="263544"/>
                </a:solidFill>
                <a:latin typeface="Microsoft YaHei"/>
                <a:ea typeface="Microsoft YaHei"/>
                <a:cs typeface="Microsoft YaHei"/>
              </a:rPr>
              <a:t>仿真大模型无限制的追求高优化，造成开发时间和</a:t>
            </a:r>
            <a:r>
              <a:rPr lang="en-US" altLang="zh-CN" b="1" dirty="0" smtClean="0">
                <a:solidFill>
                  <a:srgbClr val="263544"/>
                </a:solidFill>
                <a:latin typeface="Microsoft YaHei"/>
                <a:ea typeface="Microsoft YaHei"/>
                <a:cs typeface="Microsoft YaHei"/>
              </a:rPr>
              <a:t>token</a:t>
            </a:r>
            <a:r>
              <a:rPr lang="zh-CN" altLang="en-US" b="1" dirty="0">
                <a:solidFill>
                  <a:srgbClr val="263544"/>
                </a:solidFill>
                <a:latin typeface="Microsoft YaHei"/>
                <a:ea typeface="Microsoft YaHei"/>
                <a:cs typeface="Microsoft YaHei"/>
              </a:rPr>
              <a:t>浪费</a:t>
            </a:r>
          </a:p>
        </p:txBody>
      </p:sp>
      <p:sp>
        <p:nvSpPr>
          <p:cNvPr id="115" name="phase-c-surface">
            <a:extLst>
              <a:ext uri="{FF2B5EF4-FFF2-40B4-BE49-F238E27FC236}">
                <a16:creationId xmlns:a16="http://schemas.microsoft.com/office/drawing/2014/main" id="{9BF5975D-A29B-4C85-BDCA-AE02672F0BE0}"/>
              </a:ext>
            </a:extLst>
          </p:cNvPr>
          <p:cNvSpPr>
            <a:spLocks noGrp="1"/>
          </p:cNvSpPr>
          <p:nvPr/>
        </p:nvSpPr>
        <p:spPr>
          <a:xfrm>
            <a:off x="1295400" y="5013960"/>
            <a:ext cx="9658350" cy="1000125"/>
          </a:xfrm>
          <a:prstGeom prst="rect">
            <a:avLst/>
          </a:prstGeom>
          <a:solidFill>
            <a:srgbClr val="F1F5F7"/>
          </a:solidFill>
          <a:ln w="9525">
            <a:solidFill>
              <a:srgbClr val="D7E0E6"/>
            </a:solidFill>
            <a:prstDash val="solid"/>
          </a:ln>
        </p:spPr>
      </p:sp>
      <p:sp>
        <p:nvSpPr>
          <p:cNvPr id="116" name="phase-c-accent">
            <a:extLst>
              <a:ext uri="{FF2B5EF4-FFF2-40B4-BE49-F238E27FC236}">
                <a16:creationId xmlns:a16="http://schemas.microsoft.com/office/drawing/2014/main" id="{E15BA5EA-E588-4A98-8B37-E7496B653B65}"/>
              </a:ext>
            </a:extLst>
          </p:cNvPr>
          <p:cNvSpPr>
            <a:spLocks noGrp="1"/>
          </p:cNvSpPr>
          <p:nvPr/>
        </p:nvSpPr>
        <p:spPr>
          <a:xfrm>
            <a:off x="1295400" y="5013960"/>
            <a:ext cx="57150" cy="1000125"/>
          </a:xfrm>
          <a:prstGeom prst="roundRect">
            <a:avLst>
              <a:gd name="adj" fmla="val 50000"/>
            </a:avLst>
          </a:prstGeom>
          <a:solidFill>
            <a:srgbClr val="5C7F99"/>
          </a:solidFill>
          <a:ln w="0">
            <a:solidFill>
              <a:srgbClr val="5C7F99"/>
            </a:solidFill>
            <a:prstDash val="solid"/>
          </a:ln>
        </p:spPr>
      </p:sp>
      <p:sp>
        <p:nvSpPr>
          <p:cNvPr id="117" name="phase-c-letter">
            <a:extLst>
              <a:ext uri="{FF2B5EF4-FFF2-40B4-BE49-F238E27FC236}">
                <a16:creationId xmlns:a16="http://schemas.microsoft.com/office/drawing/2014/main" id="{B51EFEDB-88BA-43EC-9E81-459023A9A84A}"/>
              </a:ext>
            </a:extLst>
          </p:cNvPr>
          <p:cNvSpPr>
            <a:spLocks noGrp="1"/>
          </p:cNvSpPr>
          <p:nvPr/>
        </p:nvSpPr>
        <p:spPr>
          <a:xfrm>
            <a:off x="1504950" y="513143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endParaRPr sz="1125" b="1" dirty="0">
              <a:solidFill>
                <a:srgbClr val="263544"/>
              </a:solidFill>
              <a:latin typeface="Microsoft YaHei"/>
              <a:ea typeface="Microsoft YaHei"/>
              <a:cs typeface="Microsoft YaHei"/>
            </a:endParaRPr>
          </a:p>
        </p:txBody>
      </p:sp>
      <p:sp>
        <p:nvSpPr>
          <p:cNvPr id="121" name="phase-c-chinese">
            <a:extLst>
              <a:ext uri="{FF2B5EF4-FFF2-40B4-BE49-F238E27FC236}">
                <a16:creationId xmlns:a16="http://schemas.microsoft.com/office/drawing/2014/main" id="{BB7C305E-B9AA-4850-A3FC-67DD1CAC3B99}"/>
              </a:ext>
            </a:extLst>
          </p:cNvPr>
          <p:cNvSpPr>
            <a:spLocks noGrp="1"/>
          </p:cNvSpPr>
          <p:nvPr/>
        </p:nvSpPr>
        <p:spPr>
          <a:xfrm>
            <a:off x="1571625" y="538861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dirty="0" err="1" smtClean="0">
                <a:solidFill>
                  <a:srgbClr val="173F61"/>
                </a:solidFill>
                <a:latin typeface="Microsoft YaHei"/>
                <a:ea typeface="Microsoft YaHei"/>
                <a:cs typeface="Microsoft YaHei"/>
              </a:rPr>
              <a:t>机制</a:t>
            </a:r>
            <a:r>
              <a:rPr lang="zh-CN" altLang="en-US" sz="1275" b="1" dirty="0" smtClean="0">
                <a:solidFill>
                  <a:srgbClr val="173F61"/>
                </a:solidFill>
                <a:latin typeface="Microsoft YaHei"/>
                <a:ea typeface="Microsoft YaHei"/>
                <a:cs typeface="Microsoft YaHei"/>
              </a:rPr>
              <a:t>优化</a:t>
            </a:r>
            <a:endParaRPr sz="1275" b="1" dirty="0">
              <a:solidFill>
                <a:srgbClr val="294A6D"/>
              </a:solidFill>
              <a:latin typeface="Arial"/>
              <a:ea typeface="Arial"/>
              <a:cs typeface="Arial"/>
            </a:endParaRPr>
          </a:p>
        </p:txBody>
      </p:sp>
      <p:sp>
        <p:nvSpPr>
          <p:cNvPr id="127" name="phase-c-sidebar-divider">
            <a:extLst>
              <a:ext uri="{FF2B5EF4-FFF2-40B4-BE49-F238E27FC236}">
                <a16:creationId xmlns:a16="http://schemas.microsoft.com/office/drawing/2014/main" id="{B9BBB7EF-1085-4F67-9D9B-DA0594A01300}"/>
              </a:ext>
            </a:extLst>
          </p:cNvPr>
          <p:cNvSpPr>
            <a:spLocks noGrp="1"/>
          </p:cNvSpPr>
          <p:nvPr/>
        </p:nvSpPr>
        <p:spPr>
          <a:xfrm>
            <a:off x="2847975" y="5102860"/>
            <a:ext cx="9525" cy="809625"/>
          </a:xfrm>
          <a:prstGeom prst="rect">
            <a:avLst/>
          </a:prstGeom>
          <a:solidFill>
            <a:srgbClr val="D1DCE3"/>
          </a:solidFill>
          <a:ln w="0">
            <a:solidFill>
              <a:srgbClr val="D1DCE3"/>
            </a:solidFill>
            <a:prstDash val="solid"/>
          </a:ln>
        </p:spPr>
      </p:sp>
      <p:sp>
        <p:nvSpPr>
          <p:cNvPr id="131" name="phase-c-step-divider">
            <a:extLst>
              <a:ext uri="{FF2B5EF4-FFF2-40B4-BE49-F238E27FC236}">
                <a16:creationId xmlns:a16="http://schemas.microsoft.com/office/drawing/2014/main" id="{7EA01028-7252-45DD-8977-26FF69F4B93F}"/>
              </a:ext>
            </a:extLst>
          </p:cNvPr>
          <p:cNvSpPr>
            <a:spLocks noGrp="1"/>
          </p:cNvSpPr>
          <p:nvPr/>
        </p:nvSpPr>
        <p:spPr>
          <a:xfrm>
            <a:off x="6924675" y="5102860"/>
            <a:ext cx="9525" cy="809625"/>
          </a:xfrm>
          <a:prstGeom prst="rect">
            <a:avLst/>
          </a:prstGeom>
          <a:solidFill>
            <a:srgbClr val="D1DCE3"/>
          </a:solidFill>
          <a:ln w="0">
            <a:solidFill>
              <a:srgbClr val="D1DCE3"/>
            </a:solidFill>
            <a:prstDash val="solid"/>
          </a:ln>
        </p:spPr>
      </p:sp>
      <p:sp>
        <p:nvSpPr>
          <p:cNvPr id="132" name="step-05-number">
            <a:extLst>
              <a:ext uri="{FF2B5EF4-FFF2-40B4-BE49-F238E27FC236}">
                <a16:creationId xmlns:a16="http://schemas.microsoft.com/office/drawing/2014/main" id="{67B0BF77-110D-477F-B0FB-F7032469F1EA}"/>
              </a:ext>
            </a:extLst>
          </p:cNvPr>
          <p:cNvSpPr>
            <a:spLocks noGrp="1"/>
          </p:cNvSpPr>
          <p:nvPr/>
        </p:nvSpPr>
        <p:spPr>
          <a:xfrm>
            <a:off x="3009900" y="524573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Microsoft YaHei"/>
                <a:ea typeface="Microsoft YaHei"/>
                <a:cs typeface="Microsoft YaHei"/>
              </a:defRPr>
            </a:pPr>
            <a:r>
              <a:rPr sz="1050" b="1" dirty="0" err="1">
                <a:solidFill>
                  <a:srgbClr val="4B6F88"/>
                </a:solidFill>
                <a:latin typeface="Microsoft YaHei"/>
                <a:ea typeface="Microsoft YaHei"/>
                <a:cs typeface="Microsoft YaHei"/>
              </a:rPr>
              <a:t>原来</a:t>
            </a:r>
            <a:endParaRPr sz="1050" b="1" dirty="0">
              <a:solidFill>
                <a:srgbClr val="4B6F88"/>
              </a:solidFill>
              <a:latin typeface="Microsoft YaHei"/>
              <a:ea typeface="Microsoft YaHei"/>
              <a:cs typeface="Microsoft YaHei"/>
            </a:endParaRPr>
          </a:p>
        </p:txBody>
      </p:sp>
      <p:sp>
        <p:nvSpPr>
          <p:cNvPr id="139" name="step-05-title">
            <a:extLst>
              <a:ext uri="{FF2B5EF4-FFF2-40B4-BE49-F238E27FC236}">
                <a16:creationId xmlns:a16="http://schemas.microsoft.com/office/drawing/2014/main" id="{CAEDB44C-147B-4FB5-990F-EDADB3A566EF}"/>
              </a:ext>
            </a:extLst>
          </p:cNvPr>
          <p:cNvSpPr>
            <a:spLocks noGrp="1"/>
          </p:cNvSpPr>
          <p:nvPr/>
        </p:nvSpPr>
        <p:spPr>
          <a:xfrm>
            <a:off x="3524250" y="520763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a:solidFill>
                  <a:srgbClr val="263544"/>
                </a:solidFill>
                <a:latin typeface="Microsoft YaHei"/>
                <a:ea typeface="Microsoft YaHei"/>
                <a:cs typeface="Microsoft YaHei"/>
              </a:rPr>
              <a:t>全流程 × 全策略 × 全量上下文</a:t>
            </a:r>
          </a:p>
        </p:txBody>
      </p:sp>
      <p:sp>
        <p:nvSpPr>
          <p:cNvPr id="140" name="step-05-subtitle">
            <a:extLst>
              <a:ext uri="{FF2B5EF4-FFF2-40B4-BE49-F238E27FC236}">
                <a16:creationId xmlns:a16="http://schemas.microsoft.com/office/drawing/2014/main" id="{8CE5ADDC-2B28-475D-9265-BB318693676B}"/>
              </a:ext>
            </a:extLst>
          </p:cNvPr>
          <p:cNvSpPr>
            <a:spLocks noGrp="1"/>
          </p:cNvSpPr>
          <p:nvPr/>
        </p:nvSpPr>
        <p:spPr>
          <a:xfrm>
            <a:off x="3524250" y="554101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Microsoft YaHei"/>
                <a:ea typeface="Microsoft YaHei"/>
                <a:cs typeface="Microsoft YaHei"/>
              </a:defRPr>
            </a:pPr>
            <a:r>
              <a:rPr sz="975" b="1">
                <a:solidFill>
                  <a:srgbClr val="4B6F88"/>
                </a:solidFill>
                <a:latin typeface="Microsoft YaHei"/>
                <a:ea typeface="Microsoft YaHei"/>
                <a:cs typeface="Microsoft YaHei"/>
              </a:rPr>
              <a:t>多轮尝试  →  慢 + 贵</a:t>
            </a:r>
            <a:endParaRPr sz="825" b="1">
              <a:solidFill>
                <a:srgbClr val="2F3A45"/>
              </a:solidFill>
              <a:latin typeface="Arial"/>
              <a:ea typeface="Arial"/>
              <a:cs typeface="Arial"/>
            </a:endParaRPr>
          </a:p>
        </p:txBody>
      </p:sp>
      <p:sp>
        <p:nvSpPr>
          <p:cNvPr id="141" name="step-06-number">
            <a:extLst>
              <a:ext uri="{FF2B5EF4-FFF2-40B4-BE49-F238E27FC236}">
                <a16:creationId xmlns:a16="http://schemas.microsoft.com/office/drawing/2014/main" id="{B6985589-247F-4354-9976-FD0F7A206EC8}"/>
              </a:ext>
            </a:extLst>
          </p:cNvPr>
          <p:cNvSpPr>
            <a:spLocks noGrp="1"/>
          </p:cNvSpPr>
          <p:nvPr/>
        </p:nvSpPr>
        <p:spPr>
          <a:xfrm>
            <a:off x="7067550" y="524573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Microsoft YaHei"/>
                <a:ea typeface="Microsoft YaHei"/>
                <a:cs typeface="Microsoft YaHei"/>
              </a:defRPr>
            </a:pPr>
            <a:r>
              <a:rPr sz="1050" b="1">
                <a:solidFill>
                  <a:srgbClr val="5C7F99"/>
                </a:solidFill>
                <a:latin typeface="Microsoft YaHei"/>
                <a:ea typeface="Microsoft YaHei"/>
                <a:cs typeface="Microsoft YaHei"/>
              </a:rPr>
              <a:t>优化后</a:t>
            </a:r>
          </a:p>
        </p:txBody>
      </p:sp>
      <p:sp>
        <p:nvSpPr>
          <p:cNvPr id="142" name="step-06-title">
            <a:extLst>
              <a:ext uri="{FF2B5EF4-FFF2-40B4-BE49-F238E27FC236}">
                <a16:creationId xmlns:a16="http://schemas.microsoft.com/office/drawing/2014/main" id="{B1AF9BE3-7975-4567-AD37-8FF3D22D0C59}"/>
              </a:ext>
            </a:extLst>
          </p:cNvPr>
          <p:cNvSpPr>
            <a:spLocks noGrp="1"/>
          </p:cNvSpPr>
          <p:nvPr/>
        </p:nvSpPr>
        <p:spPr>
          <a:xfrm>
            <a:off x="7715250" y="520763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dirty="0" err="1">
                <a:solidFill>
                  <a:srgbClr val="263544"/>
                </a:solidFill>
                <a:latin typeface="Microsoft YaHei"/>
                <a:ea typeface="Microsoft YaHei"/>
                <a:cs typeface="Microsoft YaHei"/>
              </a:rPr>
              <a:t>按需进入</a:t>
            </a:r>
            <a:r>
              <a:rPr sz="1200" b="1" dirty="0">
                <a:solidFill>
                  <a:srgbClr val="263544"/>
                </a:solidFill>
                <a:latin typeface="Microsoft YaHei"/>
                <a:ea typeface="Microsoft YaHei"/>
                <a:cs typeface="Microsoft YaHei"/>
              </a:rPr>
              <a:t> + </a:t>
            </a:r>
            <a:r>
              <a:rPr sz="1200" b="1" dirty="0" err="1">
                <a:solidFill>
                  <a:srgbClr val="263544"/>
                </a:solidFill>
                <a:latin typeface="Microsoft YaHei"/>
                <a:ea typeface="Microsoft YaHei"/>
                <a:cs typeface="Microsoft YaHei"/>
              </a:rPr>
              <a:t>按瓶颈</a:t>
            </a:r>
            <a:r>
              <a:rPr sz="1200" b="1" dirty="0">
                <a:solidFill>
                  <a:srgbClr val="263544"/>
                </a:solidFill>
                <a:latin typeface="Microsoft YaHei"/>
                <a:ea typeface="Microsoft YaHei"/>
                <a:cs typeface="Microsoft YaHei"/>
              </a:rPr>
              <a:t> + </a:t>
            </a:r>
            <a:r>
              <a:rPr sz="1200" b="1" dirty="0" err="1">
                <a:solidFill>
                  <a:srgbClr val="263544"/>
                </a:solidFill>
                <a:latin typeface="Microsoft YaHei"/>
                <a:ea typeface="Microsoft YaHei"/>
                <a:cs typeface="Microsoft YaHei"/>
              </a:rPr>
              <a:t>复用</a:t>
            </a:r>
            <a:r>
              <a:rPr sz="1200" b="1" dirty="0">
                <a:solidFill>
                  <a:srgbClr val="263544"/>
                </a:solidFill>
                <a:latin typeface="Microsoft YaHei"/>
                <a:ea typeface="Microsoft YaHei"/>
                <a:cs typeface="Microsoft YaHei"/>
              </a:rPr>
              <a:t> + </a:t>
            </a:r>
            <a:r>
              <a:rPr lang="zh-CN" altLang="en-US" sz="1200" b="1" dirty="0" smtClean="0">
                <a:solidFill>
                  <a:srgbClr val="263544"/>
                </a:solidFill>
                <a:latin typeface="Microsoft YaHei"/>
                <a:ea typeface="Microsoft YaHei"/>
                <a:cs typeface="Microsoft YaHei"/>
              </a:rPr>
              <a:t>合理优化</a:t>
            </a:r>
            <a:endParaRPr sz="1125" b="1" dirty="0">
              <a:solidFill>
                <a:srgbClr val="294A6D"/>
              </a:solidFill>
              <a:latin typeface="Arial"/>
              <a:ea typeface="Arial"/>
              <a:cs typeface="Arial"/>
            </a:endParaRPr>
          </a:p>
        </p:txBody>
      </p:sp>
      <p:sp>
        <p:nvSpPr>
          <p:cNvPr id="143" name="step-06-subtitle">
            <a:extLst>
              <a:ext uri="{FF2B5EF4-FFF2-40B4-BE49-F238E27FC236}">
                <a16:creationId xmlns:a16="http://schemas.microsoft.com/office/drawing/2014/main" id="{BEA32223-6D3A-4FF1-9C83-DD2A8B9F4718}"/>
              </a:ext>
            </a:extLst>
          </p:cNvPr>
          <p:cNvSpPr>
            <a:spLocks noGrp="1"/>
          </p:cNvSpPr>
          <p:nvPr/>
        </p:nvSpPr>
        <p:spPr>
          <a:xfrm>
            <a:off x="7715250" y="554101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Microsoft YaHei"/>
                <a:ea typeface="Microsoft YaHei"/>
                <a:cs typeface="Microsoft YaHei"/>
              </a:defRPr>
            </a:pPr>
            <a:r>
              <a:rPr sz="975" b="1">
                <a:solidFill>
                  <a:srgbClr val="5C7F99"/>
                </a:solidFill>
                <a:latin typeface="Microsoft YaHei"/>
                <a:ea typeface="Microsoft YaHei"/>
                <a:cs typeface="Microsoft YaHei"/>
              </a:rPr>
              <a:t>及时停止  →  更短流程 + 更少 Token</a:t>
            </a:r>
          </a:p>
        </p:txBody>
      </p:sp>
      <p:sp>
        <p:nvSpPr>
          <p:cNvPr id="147" name="phase-a-sidebar-divider">
            <a:extLst>
              <a:ext uri="{FF2B5EF4-FFF2-40B4-BE49-F238E27FC236}">
                <a16:creationId xmlns:a16="http://schemas.microsoft.com/office/drawing/2014/main" id="{D9CD0AD7-6CA4-46E4-8E1E-B4EBB896863B}"/>
              </a:ext>
            </a:extLst>
          </p:cNvPr>
          <p:cNvSpPr>
            <a:spLocks noGrp="1"/>
          </p:cNvSpPr>
          <p:nvPr/>
        </p:nvSpPr>
        <p:spPr>
          <a:xfrm>
            <a:off x="4314825" y="2916554"/>
            <a:ext cx="9525" cy="790575"/>
          </a:xfrm>
          <a:prstGeom prst="rect">
            <a:avLst/>
          </a:prstGeom>
          <a:solidFill>
            <a:srgbClr val="D1DCE3"/>
          </a:solidFill>
          <a:ln w="0">
            <a:solidFill>
              <a:srgbClr val="D1DCE3"/>
            </a:solidFill>
            <a:prstDash val="solid"/>
          </a:ln>
        </p:spPr>
      </p:sp>
      <p:sp>
        <p:nvSpPr>
          <p:cNvPr id="148" name="phase-a-sidebar-divider">
            <a:extLst>
              <a:ext uri="{FF2B5EF4-FFF2-40B4-BE49-F238E27FC236}">
                <a16:creationId xmlns:a16="http://schemas.microsoft.com/office/drawing/2014/main" id="{D9CD0AD7-6CA4-46E4-8E1E-B4EBB896863B}"/>
              </a:ext>
            </a:extLst>
          </p:cNvPr>
          <p:cNvSpPr>
            <a:spLocks noGrp="1"/>
          </p:cNvSpPr>
          <p:nvPr/>
        </p:nvSpPr>
        <p:spPr>
          <a:xfrm>
            <a:off x="4314825" y="4093214"/>
            <a:ext cx="9525" cy="790575"/>
          </a:xfrm>
          <a:prstGeom prst="rect">
            <a:avLst/>
          </a:prstGeom>
          <a:solidFill>
            <a:srgbClr val="D1DCE3"/>
          </a:solidFill>
          <a:ln w="0">
            <a:solidFill>
              <a:srgbClr val="D1DCE3"/>
            </a:solidFill>
            <a:prstDash val="solid"/>
          </a:ln>
        </p:spPr>
      </p:sp>
    </p:spTree>
    <p:extLst>
      <p:ext uri="{BB962C8B-B14F-4D97-AF65-F5344CB8AC3E}">
        <p14:creationId xmlns:p14="http://schemas.microsoft.com/office/powerpoint/2010/main" val="1182387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8-title">
            <a:extLst>
              <a:ext uri="{FF2B5EF4-FFF2-40B4-BE49-F238E27FC236}">
                <a16:creationId xmlns:a16="http://schemas.microsoft.com/office/drawing/2014/main" id="{375095E6-F8D5-4CE6-83F3-BB443C6C8DB1}"/>
              </a:ext>
            </a:extLst>
          </p:cNvPr>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Microsoft YaHei"/>
                <a:ea typeface="Microsoft YaHei"/>
                <a:cs typeface="Microsoft YaHei"/>
              </a:defRPr>
            </a:pPr>
            <a:r>
              <a:rPr sz="2850" b="1">
                <a:solidFill>
                  <a:srgbClr val="243B53"/>
                </a:solidFill>
                <a:latin typeface="Microsoft YaHei"/>
                <a:ea typeface="Microsoft YaHei"/>
                <a:cs typeface="Microsoft YaHei"/>
              </a:rPr>
              <a:t>优化方向一：降低算子开发时间与 Token 消耗</a:t>
            </a:r>
          </a:p>
        </p:txBody>
      </p:sp>
      <p:sp>
        <p:nvSpPr>
          <p:cNvPr id="9" name="footer-background">
            <a:extLst>
              <a:ext uri="{FF2B5EF4-FFF2-40B4-BE49-F238E27FC236}">
                <a16:creationId xmlns:a16="http://schemas.microsoft.com/office/drawing/2014/main" id="{C6E7F932-DCB2-46AD-92B1-4487DFCD10B6}"/>
              </a:ext>
            </a:extLst>
          </p:cNvPr>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a:extLst>
              <a:ext uri="{FF2B5EF4-FFF2-40B4-BE49-F238E27FC236}">
                <a16:creationId xmlns:a16="http://schemas.microsoft.com/office/drawing/2014/main" id="{9CE192D7-ED29-49CC-A75A-06D02AEA387C}"/>
              </a:ext>
            </a:extLst>
          </p:cNvP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减少无效流程、无效优化和重复分析，让 Agent 只处理真正需要推理的部分。</a:t>
            </a:r>
          </a:p>
        </p:txBody>
      </p:sp>
      <p:sp>
        <p:nvSpPr>
          <p:cNvPr id="20" name="knowledge-source-1">
            <a:extLst>
              <a:ext uri="{FF2B5EF4-FFF2-40B4-BE49-F238E27FC236}">
                <a16:creationId xmlns:a16="http://schemas.microsoft.com/office/drawing/2014/main" id="{EBDC28E3-6143-410C-BEFE-5B7F627C63C2}"/>
              </a:ext>
            </a:extLst>
          </p:cNvPr>
          <p:cNvSpPr>
            <a:spLocks noGrp="1"/>
          </p:cNvSpPr>
          <p:nvPr/>
        </p:nvSpPr>
        <p:spPr>
          <a:xfrm>
            <a:off x="1759585" y="76454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a:extLst>
              <a:ext uri="{FF2B5EF4-FFF2-40B4-BE49-F238E27FC236}">
                <a16:creationId xmlns:a16="http://schemas.microsoft.com/office/drawing/2014/main" id="{496FBD7A-2744-49B2-AF4E-57BDC19EB1AA}"/>
              </a:ext>
            </a:extLst>
          </p:cNvPr>
          <p:cNvSpPr>
            <a:spLocks noGrp="1"/>
          </p:cNvSpPr>
          <p:nvPr/>
        </p:nvSpPr>
        <p:spPr>
          <a:xfrm>
            <a:off x="20383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全流程重复执行</a:t>
            </a:r>
          </a:p>
        </p:txBody>
      </p:sp>
      <p:sp>
        <p:nvSpPr>
          <p:cNvPr id="23" name="knowledge-source-1-note">
            <a:extLst>
              <a:ext uri="{FF2B5EF4-FFF2-40B4-BE49-F238E27FC236}">
                <a16:creationId xmlns:a16="http://schemas.microsoft.com/office/drawing/2014/main" id="{11C9D527-AE0E-41BB-BAD2-0A32C441DE5C}"/>
              </a:ext>
            </a:extLst>
          </p:cNvPr>
          <p:cNvSpPr>
            <a:spLocks noGrp="1"/>
          </p:cNvSpPr>
          <p:nvPr/>
        </p:nvSpPr>
        <p:spPr>
          <a:xfrm>
            <a:off x="2038350" y="1028700"/>
            <a:ext cx="22860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不同任务都从头开始</a:t>
            </a:r>
          </a:p>
        </p:txBody>
      </p:sp>
      <p:sp>
        <p:nvSpPr>
          <p:cNvPr id="24" name="knowledge-source-2">
            <a:extLst>
              <a:ext uri="{FF2B5EF4-FFF2-40B4-BE49-F238E27FC236}">
                <a16:creationId xmlns:a16="http://schemas.microsoft.com/office/drawing/2014/main" id="{4CD9FA40-F42B-4D79-A6C5-A69D8D01CAE3}"/>
              </a:ext>
            </a:extLst>
          </p:cNvPr>
          <p:cNvSpPr>
            <a:spLocks noGrp="1"/>
          </p:cNvSpPr>
          <p:nvPr/>
        </p:nvSpPr>
        <p:spPr>
          <a:xfrm>
            <a:off x="4683760" y="76454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a:extLst>
              <a:ext uri="{FF2B5EF4-FFF2-40B4-BE49-F238E27FC236}">
                <a16:creationId xmlns:a16="http://schemas.microsoft.com/office/drawing/2014/main" id="{FD18660E-7B06-4404-89B4-819FDDB10F02}"/>
              </a:ext>
            </a:extLst>
          </p:cNvPr>
          <p:cNvSpPr>
            <a:spLocks noGrp="1"/>
          </p:cNvSpPr>
          <p:nvPr/>
        </p:nvSpPr>
        <p:spPr>
          <a:xfrm>
            <a:off x="49720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优化策略过度遍历</a:t>
            </a:r>
          </a:p>
        </p:txBody>
      </p:sp>
      <p:sp>
        <p:nvSpPr>
          <p:cNvPr id="27" name="knowledge-source-2-note">
            <a:extLst>
              <a:ext uri="{FF2B5EF4-FFF2-40B4-BE49-F238E27FC236}">
                <a16:creationId xmlns:a16="http://schemas.microsoft.com/office/drawing/2014/main" id="{29B1723A-5A11-4EC9-9F93-9FBA049C550B}"/>
              </a:ext>
            </a:extLst>
          </p:cNvPr>
          <p:cNvSpPr>
            <a:spLocks noGrp="1"/>
          </p:cNvSpPr>
          <p:nvPr/>
        </p:nvSpPr>
        <p:spPr>
          <a:xfrm>
            <a:off x="4876800" y="1028700"/>
            <a:ext cx="24765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缺少瓶颈判断，低收益尝试过多</a:t>
            </a:r>
          </a:p>
        </p:txBody>
      </p:sp>
      <p:sp>
        <p:nvSpPr>
          <p:cNvPr id="28" name="knowledge-source-3">
            <a:extLst>
              <a:ext uri="{FF2B5EF4-FFF2-40B4-BE49-F238E27FC236}">
                <a16:creationId xmlns:a16="http://schemas.microsoft.com/office/drawing/2014/main" id="{877D0EC0-69E8-492F-B27E-3128FF395ED6}"/>
              </a:ext>
            </a:extLst>
          </p:cNvPr>
          <p:cNvSpPr>
            <a:spLocks noGrp="1"/>
          </p:cNvSpPr>
          <p:nvPr/>
        </p:nvSpPr>
        <p:spPr>
          <a:xfrm>
            <a:off x="7607935" y="764540"/>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a:extLst>
              <a:ext uri="{FF2B5EF4-FFF2-40B4-BE49-F238E27FC236}">
                <a16:creationId xmlns:a16="http://schemas.microsoft.com/office/drawing/2014/main" id="{D3D31AFF-A1D6-4E1E-AC09-4176658BF202}"/>
              </a:ext>
            </a:extLst>
          </p:cNvPr>
          <p:cNvSpPr>
            <a:spLocks noGrp="1"/>
          </p:cNvSpPr>
          <p:nvPr/>
        </p:nvSpPr>
        <p:spPr>
          <a:xfrm>
            <a:off x="7896225"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大量工作交给 Agent</a:t>
            </a:r>
          </a:p>
        </p:txBody>
      </p:sp>
      <p:sp>
        <p:nvSpPr>
          <p:cNvPr id="31" name="knowledge-source-3-note">
            <a:extLst>
              <a:ext uri="{FF2B5EF4-FFF2-40B4-BE49-F238E27FC236}">
                <a16:creationId xmlns:a16="http://schemas.microsoft.com/office/drawing/2014/main" id="{1339139C-1351-47A9-9705-04C74CC76091}"/>
              </a:ext>
            </a:extLst>
          </p:cNvPr>
          <p:cNvSpPr>
            <a:spLocks noGrp="1"/>
          </p:cNvSpPr>
          <p:nvPr/>
        </p:nvSpPr>
        <p:spPr>
          <a:xfrm>
            <a:off x="7753350" y="1028700"/>
            <a:ext cx="257175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Log / Benchmark / Profile 反复读取</a:t>
            </a:r>
          </a:p>
        </p:txBody>
      </p:sp>
      <p:sp>
        <p:nvSpPr>
          <p:cNvPr id="32" name="platform-knowledge-node">
            <a:extLst>
              <a:ext uri="{FF2B5EF4-FFF2-40B4-BE49-F238E27FC236}">
                <a16:creationId xmlns:a16="http://schemas.microsoft.com/office/drawing/2014/main" id="{5762D966-7501-439C-A080-138BF198C932}"/>
              </a:ext>
            </a:extLst>
          </p:cNvPr>
          <p:cNvSpPr>
            <a:spLocks noGrp="1"/>
          </p:cNvSpPr>
          <p:nvPr/>
        </p:nvSpPr>
        <p:spPr>
          <a:xfrm>
            <a:off x="4762500" y="1457325"/>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开发时间 ↑   +   Token 消耗 ↑</a:t>
            </a:r>
            <a:endParaRPr sz="1400" b="1">
              <a:solidFill>
                <a:srgbClr val="FFFFFF"/>
              </a:solidFill>
              <a:latin typeface="Arial"/>
              <a:ea typeface="Arial"/>
              <a:cs typeface="Arial"/>
            </a:endParaRPr>
          </a:p>
        </p:txBody>
      </p:sp>
      <p:sp>
        <p:nvSpPr>
          <p:cNvPr id="37" name="phase-a-surface">
            <a:extLst>
              <a:ext uri="{FF2B5EF4-FFF2-40B4-BE49-F238E27FC236}">
                <a16:creationId xmlns:a16="http://schemas.microsoft.com/office/drawing/2014/main" id="{C13E98F9-1213-4634-9BA0-D355DAF962AB}"/>
              </a:ext>
            </a:extLst>
          </p:cNvPr>
          <p:cNvSpPr>
            <a:spLocks noGrp="1"/>
          </p:cNvSpPr>
          <p:nvPr/>
        </p:nvSpPr>
        <p:spPr>
          <a:xfrm>
            <a:off x="1295400" y="1844675"/>
            <a:ext cx="9601200" cy="1000125"/>
          </a:xfrm>
          <a:prstGeom prst="rect">
            <a:avLst/>
          </a:prstGeom>
          <a:solidFill>
            <a:srgbClr val="F1F5F7"/>
          </a:solidFill>
          <a:ln w="9525">
            <a:solidFill>
              <a:srgbClr val="D7E0E6"/>
            </a:solidFill>
            <a:prstDash val="solid"/>
          </a:ln>
        </p:spPr>
      </p:sp>
      <p:sp>
        <p:nvSpPr>
          <p:cNvPr id="38" name="phase-a-accent">
            <a:extLst>
              <a:ext uri="{FF2B5EF4-FFF2-40B4-BE49-F238E27FC236}">
                <a16:creationId xmlns:a16="http://schemas.microsoft.com/office/drawing/2014/main" id="{F5A2FC7B-8AB5-46AF-B186-FC8395962260}"/>
              </a:ext>
            </a:extLst>
          </p:cNvPr>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a:extLst>
              <a:ext uri="{FF2B5EF4-FFF2-40B4-BE49-F238E27FC236}">
                <a16:creationId xmlns:a16="http://schemas.microsoft.com/office/drawing/2014/main" id="{35C3BBFF-CB6B-4D33-8A0A-AE313D295B23}"/>
              </a:ext>
            </a:extLst>
          </p:cNvP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01</a:t>
            </a:r>
          </a:p>
        </p:txBody>
      </p:sp>
      <p:sp>
        <p:nvSpPr>
          <p:cNvPr id="41" name="phase-a-chinese">
            <a:extLst>
              <a:ext uri="{FF2B5EF4-FFF2-40B4-BE49-F238E27FC236}">
                <a16:creationId xmlns:a16="http://schemas.microsoft.com/office/drawing/2014/main" id="{B28E6AE6-91E1-4238-AA3C-AE2DB3CAAE25}"/>
              </a:ext>
            </a:extLst>
          </p:cNvPr>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任务路由</a:t>
            </a:r>
          </a:p>
        </p:txBody>
      </p:sp>
      <p:sp>
        <p:nvSpPr>
          <p:cNvPr id="42" name="phase-a-sidebar-divider">
            <a:extLst>
              <a:ext uri="{FF2B5EF4-FFF2-40B4-BE49-F238E27FC236}">
                <a16:creationId xmlns:a16="http://schemas.microsoft.com/office/drawing/2014/main" id="{D9CD0AD7-6CA4-46E4-8E1E-B4EBB896863B}"/>
              </a:ext>
            </a:extLst>
          </p:cNvP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43" name="phase-a-step-divider">
            <a:extLst>
              <a:ext uri="{FF2B5EF4-FFF2-40B4-BE49-F238E27FC236}">
                <a16:creationId xmlns:a16="http://schemas.microsoft.com/office/drawing/2014/main" id="{6E2656A1-D574-4E72-981A-333BF31A1B5E}"/>
              </a:ext>
            </a:extLst>
          </p:cNvPr>
          <p:cNvSpPr>
            <a:spLocks noGrp="1"/>
          </p:cNvSpPr>
          <p:nvPr/>
        </p:nvSpPr>
        <p:spPr>
          <a:xfrm>
            <a:off x="7334250" y="1943100"/>
            <a:ext cx="9525" cy="790575"/>
          </a:xfrm>
          <a:prstGeom prst="rect">
            <a:avLst/>
          </a:prstGeom>
          <a:solidFill>
            <a:srgbClr val="D1DCE3"/>
          </a:solidFill>
          <a:ln w="0">
            <a:solidFill>
              <a:srgbClr val="D1DCE3"/>
            </a:solidFill>
            <a:prstDash val="solid"/>
          </a:ln>
        </p:spPr>
      </p:sp>
      <p:sp>
        <p:nvSpPr>
          <p:cNvPr id="44" name="step-01-number">
            <a:extLst>
              <a:ext uri="{FF2B5EF4-FFF2-40B4-BE49-F238E27FC236}">
                <a16:creationId xmlns:a16="http://schemas.microsoft.com/office/drawing/2014/main" id="{542F2650-F23C-48AB-B99A-5217158F5E90}"/>
              </a:ext>
            </a:extLst>
          </p:cNvPr>
          <p:cNvSpPr>
            <a:spLocks noGrp="1"/>
          </p:cNvSpPr>
          <p:nvPr/>
        </p:nvSpPr>
        <p:spPr>
          <a:xfrm>
            <a:off x="4514850" y="1971675"/>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02</a:t>
            </a:r>
          </a:p>
        </p:txBody>
      </p:sp>
      <p:sp>
        <p:nvSpPr>
          <p:cNvPr id="45" name="step-01-title">
            <a:extLst>
              <a:ext uri="{FF2B5EF4-FFF2-40B4-BE49-F238E27FC236}">
                <a16:creationId xmlns:a16="http://schemas.microsoft.com/office/drawing/2014/main" id="{027DB957-5C36-4487-A1CC-66FA52EBBF59}"/>
              </a:ext>
            </a:extLst>
          </p:cNvPr>
          <p:cNvSpPr>
            <a:spLocks noGrp="1"/>
          </p:cNvSpPr>
          <p:nvPr/>
        </p:nvSpPr>
        <p:spPr>
          <a:xfrm>
            <a:off x="4876800" y="1943100"/>
            <a:ext cx="209550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瓶颈驱动优化</a:t>
            </a:r>
          </a:p>
        </p:txBody>
      </p:sp>
      <p:sp>
        <p:nvSpPr>
          <p:cNvPr id="46" name="step-01-subtitle">
            <a:extLst>
              <a:ext uri="{FF2B5EF4-FFF2-40B4-BE49-F238E27FC236}">
                <a16:creationId xmlns:a16="http://schemas.microsoft.com/office/drawing/2014/main" id="{FC0EDE66-76ED-46F6-A8BD-E9A38211F0DC}"/>
              </a:ext>
            </a:extLst>
          </p:cNvPr>
          <p:cNvSpPr>
            <a:spLocks noGrp="1"/>
          </p:cNvSpPr>
          <p:nvPr/>
        </p:nvSpPr>
        <p:spPr>
          <a:xfrm>
            <a:off x="4514850" y="2247900"/>
            <a:ext cx="2609850" cy="447675"/>
          </a:xfrm>
          <a:prstGeom prst="rect">
            <a:avLst/>
          </a:prstGeom>
          <a:noFill/>
          <a:ln w="0">
            <a:noFill/>
            <a:prstDash val="solid"/>
          </a:ln>
        </p:spPr>
        <p:txBody>
          <a:bodyPr wrap="square" lIns="0" tIns="0" rIns="0" bIns="0" anchor="ctr">
            <a:noAutofit/>
          </a:bodyPr>
          <a:lstStyle/>
          <a:p>
            <a:pPr algn="ctr">
              <a:buNone/>
              <a:defRPr sz="900" b="1">
                <a:solidFill>
                  <a:srgbClr val="263544"/>
                </a:solidFill>
                <a:latin typeface="Microsoft YaHei"/>
                <a:ea typeface="Microsoft YaHei"/>
                <a:cs typeface="Microsoft YaHei"/>
              </a:defRPr>
            </a:pPr>
            <a:r>
              <a:rPr sz="900" b="1">
                <a:solidFill>
                  <a:srgbClr val="263544"/>
                </a:solidFill>
                <a:latin typeface="Microsoft YaHei"/>
                <a:ea typeface="Microsoft YaHei"/>
                <a:cs typeface="Microsoft YaHei"/>
              </a:rPr>
              <a:t>基础检查 → Benchmark / Profile</a:t>
            </a:r>
            <a:endParaRPr sz="825" b="1">
              <a:solidFill>
                <a:srgbClr val="2F3A45"/>
              </a:solidFill>
              <a:latin typeface="Arial"/>
              <a:ea typeface="Arial"/>
              <a:cs typeface="Arial"/>
            </a:endParaRPr>
          </a:p>
          <a:p>
            <a:pPr algn="ctr">
              <a:buNone/>
              <a:defRPr sz="900" b="1">
                <a:solidFill>
                  <a:srgbClr val="263544"/>
                </a:solidFill>
                <a:latin typeface="Microsoft YaHei"/>
                <a:ea typeface="Microsoft YaHei"/>
                <a:cs typeface="Microsoft YaHei"/>
              </a:defRPr>
            </a:pPr>
            <a:r>
              <a:rPr sz="900" b="1">
                <a:solidFill>
                  <a:srgbClr val="263544"/>
                </a:solidFill>
                <a:latin typeface="Microsoft YaHei"/>
                <a:ea typeface="Microsoft YaHei"/>
                <a:cs typeface="Microsoft YaHei"/>
              </a:rPr>
              <a:t>→ Bottleneck → Recipe</a:t>
            </a:r>
            <a:endParaRPr sz="825" b="1">
              <a:solidFill>
                <a:srgbClr val="2F3A45"/>
              </a:solidFill>
              <a:latin typeface="Arial"/>
              <a:ea typeface="Arial"/>
              <a:cs typeface="Arial"/>
            </a:endParaRPr>
          </a:p>
        </p:txBody>
      </p:sp>
      <p:sp>
        <p:nvSpPr>
          <p:cNvPr id="47" name="step-01-hardware">
            <a:extLst>
              <a:ext uri="{FF2B5EF4-FFF2-40B4-BE49-F238E27FC236}">
                <a16:creationId xmlns:a16="http://schemas.microsoft.com/office/drawing/2014/main" id="{37475903-2BB6-48C3-9134-A7B60FE910D2}"/>
              </a:ext>
            </a:extLst>
          </p:cNvPr>
          <p:cNvSpPr>
            <a:spLocks noGrp="1"/>
          </p:cNvSpPr>
          <p:nvPr/>
        </p:nvSpPr>
        <p:spPr>
          <a:xfrm>
            <a:off x="1571625" y="2314575"/>
            <a:ext cx="1190625" cy="228600"/>
          </a:xfrm>
          <a:prstGeom prst="roundRect">
            <a:avLst>
              <a:gd name="adj" fmla="val 30000"/>
            </a:avLst>
          </a:prstGeom>
          <a:solidFill>
            <a:srgbClr val="FFFFFF"/>
          </a:solidFill>
          <a:ln w="7620">
            <a:solidFill>
              <a:srgbClr val="9FB7C8"/>
            </a:solidFill>
            <a:prstDash val="solid"/>
          </a:ln>
        </p:spPr>
        <p:txBody>
          <a:bodyPr wrap="square" lIns="38100" tIns="9525" rIns="38100" bIns="9525" anchor="ctr">
            <a:noAutofit/>
          </a:bodyPr>
          <a:lstStyle/>
          <a:p>
            <a:pPr algn="ctr">
              <a:buNone/>
              <a:defRPr sz="825" b="1">
                <a:solidFill>
                  <a:srgbClr val="263544"/>
                </a:solidFill>
                <a:latin typeface="Microsoft YaHei"/>
                <a:ea typeface="Microsoft YaHei"/>
                <a:cs typeface="Microsoft YaHei"/>
              </a:defRPr>
            </a:pPr>
            <a:r>
              <a:rPr sz="825" b="1">
                <a:solidFill>
                  <a:srgbClr val="263544"/>
                </a:solidFill>
                <a:latin typeface="Microsoft YaHei"/>
                <a:ea typeface="Microsoft YaHei"/>
                <a:cs typeface="Microsoft YaHei"/>
              </a:rPr>
              <a:t>Develop / Fix</a:t>
            </a:r>
          </a:p>
        </p:txBody>
      </p:sp>
      <p:sp>
        <p:nvSpPr>
          <p:cNvPr id="49" name="step-01-stack">
            <a:extLst>
              <a:ext uri="{FF2B5EF4-FFF2-40B4-BE49-F238E27FC236}">
                <a16:creationId xmlns:a16="http://schemas.microsoft.com/office/drawing/2014/main" id="{469CAEAB-EF87-43DD-85C7-3C3C6512503D}"/>
              </a:ext>
            </a:extLst>
          </p:cNvPr>
          <p:cNvSpPr>
            <a:spLocks noGrp="1"/>
          </p:cNvSpPr>
          <p:nvPr/>
        </p:nvSpPr>
        <p:spPr>
          <a:xfrm>
            <a:off x="2857500" y="2314575"/>
            <a:ext cx="1333500" cy="228600"/>
          </a:xfrm>
          <a:prstGeom prst="roundRect">
            <a:avLst>
              <a:gd name="adj" fmla="val 30000"/>
            </a:avLst>
          </a:prstGeom>
          <a:solidFill>
            <a:srgbClr val="FFFFFF"/>
          </a:solidFill>
          <a:ln w="7620">
            <a:solidFill>
              <a:srgbClr val="9FB7C8"/>
            </a:solidFill>
            <a:prstDash val="solid"/>
          </a:ln>
        </p:spPr>
        <p:txBody>
          <a:bodyPr wrap="square" lIns="38100" tIns="9525" rIns="38100" bIns="9525" anchor="ctr">
            <a:noAutofit/>
          </a:bodyPr>
          <a:lstStyle/>
          <a:p>
            <a:pPr algn="ctr">
              <a:buNone/>
              <a:defRPr sz="825" b="1">
                <a:solidFill>
                  <a:srgbClr val="263544"/>
                </a:solidFill>
                <a:latin typeface="Microsoft YaHei"/>
                <a:ea typeface="Microsoft YaHei"/>
                <a:cs typeface="Microsoft YaHei"/>
              </a:defRPr>
            </a:pPr>
            <a:r>
              <a:rPr sz="825" b="1">
                <a:solidFill>
                  <a:srgbClr val="263544"/>
                </a:solidFill>
                <a:latin typeface="Microsoft YaHei"/>
                <a:ea typeface="Microsoft YaHei"/>
                <a:cs typeface="Microsoft YaHei"/>
              </a:rPr>
              <a:t>Optimize / Analyze</a:t>
            </a:r>
            <a:endParaRPr sz="790" b="1">
              <a:solidFill>
                <a:srgbClr val="2F3A45"/>
              </a:solidFill>
              <a:latin typeface="Arial"/>
              <a:ea typeface="Arial"/>
              <a:cs typeface="Arial"/>
            </a:endParaRPr>
          </a:p>
        </p:txBody>
      </p:sp>
      <p:sp>
        <p:nvSpPr>
          <p:cNvPr id="52" name="step-02-number">
            <a:extLst>
              <a:ext uri="{FF2B5EF4-FFF2-40B4-BE49-F238E27FC236}">
                <a16:creationId xmlns:a16="http://schemas.microsoft.com/office/drawing/2014/main" id="{2694EF1F-8391-4770-A393-ADA55570EF99}"/>
              </a:ext>
            </a:extLst>
          </p:cNvPr>
          <p:cNvSpPr>
            <a:spLocks noGrp="1"/>
          </p:cNvSpPr>
          <p:nvPr/>
        </p:nvSpPr>
        <p:spPr>
          <a:xfrm>
            <a:off x="7524750" y="1971675"/>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03</a:t>
            </a:r>
          </a:p>
        </p:txBody>
      </p:sp>
      <p:sp>
        <p:nvSpPr>
          <p:cNvPr id="53" name="step-02-title">
            <a:extLst>
              <a:ext uri="{FF2B5EF4-FFF2-40B4-BE49-F238E27FC236}">
                <a16:creationId xmlns:a16="http://schemas.microsoft.com/office/drawing/2014/main" id="{44E1B5DB-B87D-495D-89A7-4CBCC509D270}"/>
              </a:ext>
            </a:extLst>
          </p:cNvPr>
          <p:cNvSpPr>
            <a:spLocks noGrp="1"/>
          </p:cNvSpPr>
          <p:nvPr/>
        </p:nvSpPr>
        <p:spPr>
          <a:xfrm>
            <a:off x="7886700" y="1943100"/>
            <a:ext cx="209550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阶段结果复用</a:t>
            </a:r>
          </a:p>
        </p:txBody>
      </p:sp>
      <p:sp>
        <p:nvSpPr>
          <p:cNvPr id="54" name="step-02-subtitle">
            <a:extLst>
              <a:ext uri="{FF2B5EF4-FFF2-40B4-BE49-F238E27FC236}">
                <a16:creationId xmlns:a16="http://schemas.microsoft.com/office/drawing/2014/main" id="{50337D12-1D94-47D7-AEB8-1C7C8687BA6F}"/>
              </a:ext>
            </a:extLst>
          </p:cNvPr>
          <p:cNvSpPr>
            <a:spLocks noGrp="1"/>
          </p:cNvSpPr>
          <p:nvPr/>
        </p:nvSpPr>
        <p:spPr>
          <a:xfrm>
            <a:off x="7524750" y="2209800"/>
            <a:ext cx="3000375" cy="171450"/>
          </a:xfrm>
          <a:prstGeom prst="rect">
            <a:avLst/>
          </a:prstGeom>
          <a:noFill/>
          <a:ln w="0">
            <a:noFill/>
            <a:prstDash val="solid"/>
          </a:ln>
        </p:spPr>
        <p:txBody>
          <a:bodyPr wrap="square" lIns="0" tIns="0" rIns="0" bIns="0" anchor="ctr">
            <a:noAutofit/>
          </a:bodyPr>
          <a:lstStyle/>
          <a:p>
            <a:pPr algn="l">
              <a:buNone/>
              <a:defRPr sz="863" b="1">
                <a:solidFill>
                  <a:srgbClr val="677684"/>
                </a:solidFill>
                <a:latin typeface="Microsoft YaHei"/>
                <a:ea typeface="Microsoft YaHei"/>
                <a:cs typeface="Microsoft YaHei"/>
              </a:defRPr>
            </a:pPr>
            <a:r>
              <a:rPr sz="863" b="1">
                <a:solidFill>
                  <a:srgbClr val="677684"/>
                </a:solidFill>
                <a:latin typeface="Microsoft YaHei"/>
                <a:ea typeface="Microsoft YaHei"/>
                <a:cs typeface="Microsoft YaHei"/>
              </a:rPr>
              <a:t>保存结构化 Artifact，从中间阶段继续</a:t>
            </a:r>
          </a:p>
        </p:txBody>
      </p:sp>
      <p:sp>
        <p:nvSpPr>
          <p:cNvPr id="55" name="step-02-tag-1">
            <a:extLst>
              <a:ext uri="{FF2B5EF4-FFF2-40B4-BE49-F238E27FC236}">
                <a16:creationId xmlns:a16="http://schemas.microsoft.com/office/drawing/2014/main" id="{F77177A2-415E-401D-93A0-85734AB55AFB}"/>
              </a:ext>
            </a:extLst>
          </p:cNvPr>
          <p:cNvSpPr>
            <a:spLocks noGrp="1"/>
          </p:cNvSpPr>
          <p:nvPr/>
        </p:nvSpPr>
        <p:spPr>
          <a:xfrm>
            <a:off x="7524750" y="2447925"/>
            <a:ext cx="5524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Kernel</a:t>
            </a:r>
          </a:p>
        </p:txBody>
      </p:sp>
      <p:sp>
        <p:nvSpPr>
          <p:cNvPr id="56" name="step-02-tag-2">
            <a:extLst>
              <a:ext uri="{FF2B5EF4-FFF2-40B4-BE49-F238E27FC236}">
                <a16:creationId xmlns:a16="http://schemas.microsoft.com/office/drawing/2014/main" id="{A515CAC6-C5D5-4553-9D80-50DA2EBA93C0}"/>
              </a:ext>
            </a:extLst>
          </p:cNvPr>
          <p:cNvSpPr>
            <a:spLocks noGrp="1"/>
          </p:cNvSpPr>
          <p:nvPr/>
        </p:nvSpPr>
        <p:spPr>
          <a:xfrm>
            <a:off x="8124825" y="2447925"/>
            <a:ext cx="5524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Result</a:t>
            </a:r>
          </a:p>
        </p:txBody>
      </p:sp>
      <p:sp>
        <p:nvSpPr>
          <p:cNvPr id="58" name="step-02-tag-4">
            <a:extLst>
              <a:ext uri="{FF2B5EF4-FFF2-40B4-BE49-F238E27FC236}">
                <a16:creationId xmlns:a16="http://schemas.microsoft.com/office/drawing/2014/main" id="{B0C4B153-563F-48C7-80A9-9144FD81FE9F}"/>
              </a:ext>
            </a:extLst>
          </p:cNvPr>
          <p:cNvSpPr>
            <a:spLocks noGrp="1"/>
          </p:cNvSpPr>
          <p:nvPr/>
        </p:nvSpPr>
        <p:spPr>
          <a:xfrm>
            <a:off x="8724900" y="2447925"/>
            <a:ext cx="5905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Metrics</a:t>
            </a:r>
          </a:p>
        </p:txBody>
      </p:sp>
      <p:sp>
        <p:nvSpPr>
          <p:cNvPr id="59" name="step-02-tag-5">
            <a:extLst>
              <a:ext uri="{FF2B5EF4-FFF2-40B4-BE49-F238E27FC236}">
                <a16:creationId xmlns:a16="http://schemas.microsoft.com/office/drawing/2014/main" id="{2E61B5D6-AB32-4776-A5EE-62447A2DEE54}"/>
              </a:ext>
            </a:extLst>
          </p:cNvPr>
          <p:cNvSpPr>
            <a:spLocks noGrp="1"/>
          </p:cNvSpPr>
          <p:nvPr/>
        </p:nvSpPr>
        <p:spPr>
          <a:xfrm>
            <a:off x="9363075" y="2447925"/>
            <a:ext cx="552450" cy="200025"/>
          </a:xfrm>
          <a:prstGeom prst="roundRect">
            <a:avLst>
              <a:gd name="adj" fmla="val 31579"/>
            </a:avLst>
          </a:prstGeom>
          <a:solidFill>
            <a:srgbClr val="EAF0F4"/>
          </a:solidFill>
          <a:ln w="7620">
            <a:solidFill>
              <a:srgbClr val="9FB7C8"/>
            </a:solidFill>
            <a:prstDash val="solid"/>
          </a:ln>
        </p:spPr>
        <p:txBody>
          <a:bodyPr wrap="square" lIns="38100" tIns="9525" rIns="38100" bIns="9525" anchor="ctr">
            <a:noAutofit/>
          </a:bodyPr>
          <a:lstStyle/>
          <a:p>
            <a:pPr algn="ctr">
              <a:buNone/>
              <a:defRPr sz="788" b="1">
                <a:solidFill>
                  <a:srgbClr val="173F61"/>
                </a:solidFill>
                <a:latin typeface="Microsoft YaHei"/>
                <a:ea typeface="Microsoft YaHei"/>
                <a:cs typeface="Microsoft YaHei"/>
              </a:defRPr>
            </a:pPr>
            <a:r>
              <a:rPr sz="788" b="1">
                <a:solidFill>
                  <a:srgbClr val="173F61"/>
                </a:solidFill>
                <a:latin typeface="Microsoft YaHei"/>
                <a:ea typeface="Microsoft YaHei"/>
                <a:cs typeface="Microsoft YaHei"/>
              </a:rPr>
              <a:t>Replay</a:t>
            </a:r>
          </a:p>
        </p:txBody>
      </p:sp>
      <p:sp>
        <p:nvSpPr>
          <p:cNvPr id="60" name="step-02-tag-6">
            <a:extLst>
              <a:ext uri="{FF2B5EF4-FFF2-40B4-BE49-F238E27FC236}">
                <a16:creationId xmlns:a16="http://schemas.microsoft.com/office/drawing/2014/main" id="{7F3A9B4D-DD78-4DDD-97F7-080D90E035DF}"/>
              </a:ext>
            </a:extLst>
          </p:cNvPr>
          <p:cNvSpPr>
            <a:spLocks noGrp="1"/>
          </p:cNvSpPr>
          <p:nvPr/>
        </p:nvSpPr>
        <p:spPr>
          <a:xfrm>
            <a:off x="9963150" y="2447925"/>
            <a:ext cx="704850" cy="200025"/>
          </a:xfrm>
          <a:prstGeom prst="roundRect">
            <a:avLst>
              <a:gd name="adj" fmla="val 31579"/>
            </a:avLst>
          </a:prstGeom>
          <a:solidFill>
            <a:srgbClr val="EAF0F4"/>
          </a:solidFill>
          <a:ln w="7620">
            <a:solidFill>
              <a:srgbClr val="9FB7C8"/>
            </a:solidFill>
            <a:prstDash val="solid"/>
          </a:ln>
        </p:spPr>
        <p:txBody>
          <a:bodyPr wrap="square" lIns="38100" tIns="9525" rIns="38100" bIns="9525" anchor="ctr">
            <a:noAutofit/>
          </a:bodyPr>
          <a:lstStyle/>
          <a:p>
            <a:pPr algn="ctr">
              <a:buNone/>
              <a:defRPr sz="713" b="1">
                <a:solidFill>
                  <a:srgbClr val="173F61"/>
                </a:solidFill>
                <a:latin typeface="Microsoft YaHei"/>
                <a:ea typeface="Microsoft YaHei"/>
                <a:cs typeface="Microsoft YaHei"/>
              </a:defRPr>
            </a:pPr>
            <a:r>
              <a:rPr sz="713" b="1">
                <a:solidFill>
                  <a:srgbClr val="173F61"/>
                </a:solidFill>
                <a:latin typeface="Microsoft YaHei"/>
                <a:ea typeface="Microsoft YaHei"/>
                <a:cs typeface="Microsoft YaHei"/>
              </a:rPr>
              <a:t>Resume / Similar</a:t>
            </a:r>
          </a:p>
        </p:txBody>
      </p:sp>
      <p:sp>
        <p:nvSpPr>
          <p:cNvPr id="63" name="phase-b-surface">
            <a:extLst>
              <a:ext uri="{FF2B5EF4-FFF2-40B4-BE49-F238E27FC236}">
                <a16:creationId xmlns:a16="http://schemas.microsoft.com/office/drawing/2014/main" id="{631C6658-6A40-4068-8FDF-03F5ABD7261D}"/>
              </a:ext>
            </a:extLst>
          </p:cNvPr>
          <p:cNvSpPr>
            <a:spLocks noGrp="1"/>
          </p:cNvSpPr>
          <p:nvPr/>
        </p:nvSpPr>
        <p:spPr>
          <a:xfrm>
            <a:off x="1295400" y="2892425"/>
            <a:ext cx="9601200" cy="971550"/>
          </a:xfrm>
          <a:prstGeom prst="rect">
            <a:avLst/>
          </a:prstGeom>
          <a:solidFill>
            <a:srgbClr val="F6F8F9"/>
          </a:solidFill>
          <a:ln w="9525">
            <a:solidFill>
              <a:srgbClr val="DCE4E9"/>
            </a:solidFill>
            <a:prstDash val="solid"/>
          </a:ln>
        </p:spPr>
      </p:sp>
      <p:sp>
        <p:nvSpPr>
          <p:cNvPr id="64" name="phase-b-accent">
            <a:extLst>
              <a:ext uri="{FF2B5EF4-FFF2-40B4-BE49-F238E27FC236}">
                <a16:creationId xmlns:a16="http://schemas.microsoft.com/office/drawing/2014/main" id="{35124B45-02EA-4E61-BF62-155BBA81FF82}"/>
              </a:ext>
            </a:extLst>
          </p:cNvPr>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65" name="phase-b-letter">
            <a:extLst>
              <a:ext uri="{FF2B5EF4-FFF2-40B4-BE49-F238E27FC236}">
                <a16:creationId xmlns:a16="http://schemas.microsoft.com/office/drawing/2014/main" id="{44F68221-2EF3-40D6-B445-9236CB8A090E}"/>
              </a:ext>
            </a:extLst>
          </p:cNvPr>
          <p:cNvSpPr>
            <a:spLocks noGrp="1"/>
          </p:cNvSpPr>
          <p:nvPr/>
        </p:nvSpPr>
        <p:spPr>
          <a:xfrm>
            <a:off x="1504950" y="300037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B</a:t>
            </a:r>
          </a:p>
        </p:txBody>
      </p:sp>
      <p:sp>
        <p:nvSpPr>
          <p:cNvPr id="67" name="phase-b-chinese">
            <a:extLst>
              <a:ext uri="{FF2B5EF4-FFF2-40B4-BE49-F238E27FC236}">
                <a16:creationId xmlns:a16="http://schemas.microsoft.com/office/drawing/2014/main" id="{B9EA628B-BC8E-43F9-80A2-649FEB1374C6}"/>
              </a:ext>
            </a:extLst>
          </p:cNvPr>
          <p:cNvSpPr>
            <a:spLocks noGrp="1"/>
          </p:cNvSpPr>
          <p:nvPr/>
        </p:nvSpPr>
        <p:spPr>
          <a:xfrm>
            <a:off x="1571625" y="3248025"/>
            <a:ext cx="1238250" cy="285750"/>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Microsoft YaHei"/>
                <a:ea typeface="Microsoft YaHei"/>
                <a:cs typeface="Microsoft YaHei"/>
              </a:defRPr>
            </a:pPr>
            <a:r>
              <a:rPr sz="1200" b="1">
                <a:solidFill>
                  <a:srgbClr val="5C7F99"/>
                </a:solidFill>
                <a:latin typeface="Microsoft YaHei"/>
                <a:ea typeface="Microsoft YaHei"/>
                <a:cs typeface="Microsoft YaHei"/>
              </a:rPr>
              <a:t>执行效率优化</a:t>
            </a:r>
          </a:p>
        </p:txBody>
      </p:sp>
      <p:sp>
        <p:nvSpPr>
          <p:cNvPr id="68" name="phase-b-sidebar-divider">
            <a:extLst>
              <a:ext uri="{FF2B5EF4-FFF2-40B4-BE49-F238E27FC236}">
                <a16:creationId xmlns:a16="http://schemas.microsoft.com/office/drawing/2014/main" id="{50E4D2FB-6ACE-4364-BB95-14C451A13CC6}"/>
              </a:ext>
            </a:extLst>
          </p:cNvPr>
          <p:cNvSpPr>
            <a:spLocks noGrp="1"/>
          </p:cNvSpPr>
          <p:nvPr/>
        </p:nvSpPr>
        <p:spPr>
          <a:xfrm>
            <a:off x="2847975" y="2981325"/>
            <a:ext cx="9525" cy="781050"/>
          </a:xfrm>
          <a:prstGeom prst="rect">
            <a:avLst/>
          </a:prstGeom>
          <a:solidFill>
            <a:srgbClr val="D7E0E6"/>
          </a:solidFill>
          <a:ln w="0">
            <a:solidFill>
              <a:srgbClr val="D7E0E6"/>
            </a:solidFill>
            <a:prstDash val="solid"/>
          </a:ln>
        </p:spPr>
      </p:sp>
      <p:sp>
        <p:nvSpPr>
          <p:cNvPr id="69" name="phase-b-step-divider">
            <a:extLst>
              <a:ext uri="{FF2B5EF4-FFF2-40B4-BE49-F238E27FC236}">
                <a16:creationId xmlns:a16="http://schemas.microsoft.com/office/drawing/2014/main" id="{180BFD58-47A4-46FE-8231-9B3FC25AF735}"/>
              </a:ext>
            </a:extLst>
          </p:cNvPr>
          <p:cNvSpPr>
            <a:spLocks noGrp="1"/>
          </p:cNvSpPr>
          <p:nvPr/>
        </p:nvSpPr>
        <p:spPr>
          <a:xfrm>
            <a:off x="6924675" y="2981325"/>
            <a:ext cx="9525" cy="781050"/>
          </a:xfrm>
          <a:prstGeom prst="rect">
            <a:avLst/>
          </a:prstGeom>
          <a:solidFill>
            <a:srgbClr val="D7E0E6"/>
          </a:solidFill>
          <a:ln w="0">
            <a:solidFill>
              <a:srgbClr val="D7E0E6"/>
            </a:solidFill>
            <a:prstDash val="solid"/>
          </a:ln>
        </p:spPr>
      </p:sp>
      <p:sp>
        <p:nvSpPr>
          <p:cNvPr id="70" name="step-03-number">
            <a:extLst>
              <a:ext uri="{FF2B5EF4-FFF2-40B4-BE49-F238E27FC236}">
                <a16:creationId xmlns:a16="http://schemas.microsoft.com/office/drawing/2014/main" id="{6B15DC1F-B2E6-4B0E-9606-56DD31B76A1C}"/>
              </a:ext>
            </a:extLst>
          </p:cNvPr>
          <p:cNvSpPr>
            <a:spLocks noGrp="1"/>
          </p:cNvSpPr>
          <p:nvPr/>
        </p:nvSpPr>
        <p:spPr>
          <a:xfrm>
            <a:off x="3009900" y="2981325"/>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04</a:t>
            </a:r>
          </a:p>
        </p:txBody>
      </p:sp>
      <p:sp>
        <p:nvSpPr>
          <p:cNvPr id="71" name="step-03-title">
            <a:extLst>
              <a:ext uri="{FF2B5EF4-FFF2-40B4-BE49-F238E27FC236}">
                <a16:creationId xmlns:a16="http://schemas.microsoft.com/office/drawing/2014/main" id="{E708CCC2-CB4D-496E-B416-E8393D2BB238}"/>
              </a:ext>
            </a:extLst>
          </p:cNvPr>
          <p:cNvSpPr>
            <a:spLocks noGrp="1"/>
          </p:cNvSpPr>
          <p:nvPr/>
        </p:nvSpPr>
        <p:spPr>
          <a:xfrm>
            <a:off x="3429000" y="2952750"/>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Microsoft YaHei"/>
                <a:ea typeface="Microsoft YaHei"/>
                <a:cs typeface="Microsoft YaHei"/>
              </a:defRPr>
            </a:pPr>
            <a:r>
              <a:rPr sz="1275" b="1">
                <a:solidFill>
                  <a:srgbClr val="5C7F99"/>
                </a:solidFill>
                <a:latin typeface="Microsoft YaHei"/>
                <a:ea typeface="Microsoft YaHei"/>
                <a:cs typeface="Microsoft YaHei"/>
              </a:rPr>
              <a:t>脚本化执行</a:t>
            </a:r>
          </a:p>
        </p:txBody>
      </p:sp>
      <p:sp>
        <p:nvSpPr>
          <p:cNvPr id="72" name="step-03-subtitle">
            <a:extLst>
              <a:ext uri="{FF2B5EF4-FFF2-40B4-BE49-F238E27FC236}">
                <a16:creationId xmlns:a16="http://schemas.microsoft.com/office/drawing/2014/main" id="{73011874-7B79-4021-9429-99B1A4916471}"/>
              </a:ext>
            </a:extLst>
          </p:cNvPr>
          <p:cNvSpPr>
            <a:spLocks noGrp="1"/>
          </p:cNvSpPr>
          <p:nvPr/>
        </p:nvSpPr>
        <p:spPr>
          <a:xfrm>
            <a:off x="3429000" y="3190875"/>
            <a:ext cx="2952750" cy="171450"/>
          </a:xfrm>
          <a:prstGeom prst="rect">
            <a:avLst/>
          </a:prstGeom>
          <a:noFill/>
          <a:ln w="0">
            <a:noFill/>
            <a:prstDash val="solid"/>
          </a:ln>
        </p:spPr>
        <p:txBody>
          <a:bodyPr wrap="square" lIns="0" tIns="0" rIns="0" bIns="0" anchor="ctr">
            <a:noAutofit/>
          </a:bodyPr>
          <a:lstStyle/>
          <a:p>
            <a:pPr algn="l">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计算交给程序，决策交给 Agent</a:t>
            </a:r>
          </a:p>
        </p:txBody>
      </p:sp>
      <p:sp>
        <p:nvSpPr>
          <p:cNvPr id="74" name="step-03-tag-1">
            <a:extLst>
              <a:ext uri="{FF2B5EF4-FFF2-40B4-BE49-F238E27FC236}">
                <a16:creationId xmlns:a16="http://schemas.microsoft.com/office/drawing/2014/main" id="{95585765-89E2-455F-816E-0B2326C8453C}"/>
              </a:ext>
            </a:extLst>
          </p:cNvPr>
          <p:cNvSpPr>
            <a:spLocks noGrp="1"/>
          </p:cNvSpPr>
          <p:nvPr/>
        </p:nvSpPr>
        <p:spPr>
          <a:xfrm>
            <a:off x="3429000" y="3457575"/>
            <a:ext cx="704850" cy="200025"/>
          </a:xfrm>
          <a:prstGeom prst="roundRect">
            <a:avLst>
              <a:gd name="adj" fmla="val 30000"/>
            </a:avLst>
          </a:prstGeom>
          <a:solidFill>
            <a:srgbClr val="FFFFFF"/>
          </a:solidFill>
          <a:ln w="7620">
            <a:solidFill>
              <a:srgbClr val="9BB2C2"/>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Benchmark</a:t>
            </a:r>
          </a:p>
        </p:txBody>
      </p:sp>
      <p:sp>
        <p:nvSpPr>
          <p:cNvPr id="75" name="step-03-tag-2">
            <a:extLst>
              <a:ext uri="{FF2B5EF4-FFF2-40B4-BE49-F238E27FC236}">
                <a16:creationId xmlns:a16="http://schemas.microsoft.com/office/drawing/2014/main" id="{260D5653-500A-465B-AE0E-67BA411F41A3}"/>
              </a:ext>
            </a:extLst>
          </p:cNvPr>
          <p:cNvSpPr>
            <a:spLocks noGrp="1"/>
          </p:cNvSpPr>
          <p:nvPr/>
        </p:nvSpPr>
        <p:spPr>
          <a:xfrm>
            <a:off x="4191000" y="3457575"/>
            <a:ext cx="552450" cy="200025"/>
          </a:xfrm>
          <a:prstGeom prst="roundRect">
            <a:avLst>
              <a:gd name="adj" fmla="val 30000"/>
            </a:avLst>
          </a:prstGeom>
          <a:solidFill>
            <a:srgbClr val="FFFFFF"/>
          </a:solidFill>
          <a:ln w="7620">
            <a:solidFill>
              <a:srgbClr val="9BB2C2"/>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Sweep</a:t>
            </a:r>
          </a:p>
        </p:txBody>
      </p:sp>
      <p:sp>
        <p:nvSpPr>
          <p:cNvPr id="76" name="step-03-tag-3">
            <a:extLst>
              <a:ext uri="{FF2B5EF4-FFF2-40B4-BE49-F238E27FC236}">
                <a16:creationId xmlns:a16="http://schemas.microsoft.com/office/drawing/2014/main" id="{A48EC73F-2032-470F-B5FE-3E4CAABEC1B6}"/>
              </a:ext>
            </a:extLst>
          </p:cNvPr>
          <p:cNvSpPr>
            <a:spLocks noGrp="1"/>
          </p:cNvSpPr>
          <p:nvPr/>
        </p:nvSpPr>
        <p:spPr>
          <a:xfrm>
            <a:off x="4800600" y="3457575"/>
            <a:ext cx="457200" cy="200025"/>
          </a:xfrm>
          <a:prstGeom prst="roundRect">
            <a:avLst>
              <a:gd name="adj" fmla="val 30000"/>
            </a:avLst>
          </a:prstGeom>
          <a:solidFill>
            <a:srgbClr val="FFFFFF"/>
          </a:solidFill>
          <a:ln w="7620">
            <a:solidFill>
              <a:srgbClr val="9BB2C2"/>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Log</a:t>
            </a:r>
          </a:p>
        </p:txBody>
      </p:sp>
      <p:sp>
        <p:nvSpPr>
          <p:cNvPr id="77" name="step-03-tag-4">
            <a:extLst>
              <a:ext uri="{FF2B5EF4-FFF2-40B4-BE49-F238E27FC236}">
                <a16:creationId xmlns:a16="http://schemas.microsoft.com/office/drawing/2014/main" id="{C376E68C-C7D8-4804-9CD6-44857794CA54}"/>
              </a:ext>
            </a:extLst>
          </p:cNvPr>
          <p:cNvSpPr>
            <a:spLocks noGrp="1"/>
          </p:cNvSpPr>
          <p:nvPr/>
        </p:nvSpPr>
        <p:spPr>
          <a:xfrm>
            <a:off x="5314950" y="3457575"/>
            <a:ext cx="495300" cy="200025"/>
          </a:xfrm>
          <a:prstGeom prst="roundRect">
            <a:avLst>
              <a:gd name="adj" fmla="val 30000"/>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Script</a:t>
            </a:r>
          </a:p>
        </p:txBody>
      </p:sp>
      <p:sp>
        <p:nvSpPr>
          <p:cNvPr id="78" name="step-03-tag-5">
            <a:extLst>
              <a:ext uri="{FF2B5EF4-FFF2-40B4-BE49-F238E27FC236}">
                <a16:creationId xmlns:a16="http://schemas.microsoft.com/office/drawing/2014/main" id="{71F1244A-EAC3-4B0C-88F7-1B1E9A43A05C}"/>
              </a:ext>
            </a:extLst>
          </p:cNvPr>
          <p:cNvSpPr>
            <a:spLocks noGrp="1"/>
          </p:cNvSpPr>
          <p:nvPr/>
        </p:nvSpPr>
        <p:spPr>
          <a:xfrm>
            <a:off x="5867400" y="3457575"/>
            <a:ext cx="876300" cy="200025"/>
          </a:xfrm>
          <a:prstGeom prst="roundRect">
            <a:avLst>
              <a:gd name="adj" fmla="val 30000"/>
            </a:avLst>
          </a:prstGeom>
          <a:solidFill>
            <a:srgbClr val="EAF0F4"/>
          </a:solidFill>
          <a:ln w="7620">
            <a:solidFill>
              <a:srgbClr val="9BB2C2"/>
            </a:solidFill>
            <a:prstDash val="solid"/>
          </a:ln>
        </p:spPr>
        <p:txBody>
          <a:bodyPr wrap="square" lIns="38100" tIns="9525" rIns="38100" bIns="9525" anchor="ctr">
            <a:noAutofit/>
          </a:bodyPr>
          <a:lstStyle/>
          <a:p>
            <a:pPr algn="ctr">
              <a:buNone/>
              <a:defRPr sz="705" b="1">
                <a:solidFill>
                  <a:srgbClr val="5C7F99"/>
                </a:solidFill>
                <a:latin typeface="Microsoft YaHei"/>
                <a:ea typeface="Microsoft YaHei"/>
                <a:cs typeface="Microsoft YaHei"/>
              </a:defRPr>
            </a:pPr>
            <a:r>
              <a:rPr sz="705" b="1">
                <a:solidFill>
                  <a:srgbClr val="5C7F99"/>
                </a:solidFill>
                <a:latin typeface="Microsoft YaHei"/>
                <a:ea typeface="Microsoft YaHei"/>
                <a:cs typeface="Microsoft YaHei"/>
              </a:rPr>
              <a:t>summary.json → Agent</a:t>
            </a:r>
          </a:p>
        </p:txBody>
      </p:sp>
      <p:sp>
        <p:nvSpPr>
          <p:cNvPr id="81" name="step-04-number">
            <a:extLst>
              <a:ext uri="{FF2B5EF4-FFF2-40B4-BE49-F238E27FC236}">
                <a16:creationId xmlns:a16="http://schemas.microsoft.com/office/drawing/2014/main" id="{52221225-C23A-46DC-BBF4-FFEE0E417C0D}"/>
              </a:ext>
            </a:extLst>
          </p:cNvPr>
          <p:cNvSpPr>
            <a:spLocks noGrp="1"/>
          </p:cNvSpPr>
          <p:nvPr/>
        </p:nvSpPr>
        <p:spPr>
          <a:xfrm>
            <a:off x="7067550" y="2981325"/>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05</a:t>
            </a:r>
          </a:p>
        </p:txBody>
      </p:sp>
      <p:sp>
        <p:nvSpPr>
          <p:cNvPr id="82" name="step-04-title">
            <a:extLst>
              <a:ext uri="{FF2B5EF4-FFF2-40B4-BE49-F238E27FC236}">
                <a16:creationId xmlns:a16="http://schemas.microsoft.com/office/drawing/2014/main" id="{F2BD160D-7767-481F-BE44-4CDC6835A7C5}"/>
              </a:ext>
            </a:extLst>
          </p:cNvPr>
          <p:cNvSpPr>
            <a:spLocks noGrp="1"/>
          </p:cNvSpPr>
          <p:nvPr/>
        </p:nvSpPr>
        <p:spPr>
          <a:xfrm>
            <a:off x="7486650" y="2952750"/>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优化预算与停止门禁</a:t>
            </a:r>
          </a:p>
        </p:txBody>
      </p:sp>
      <p:sp>
        <p:nvSpPr>
          <p:cNvPr id="83" name="step-04-subtitle">
            <a:extLst>
              <a:ext uri="{FF2B5EF4-FFF2-40B4-BE49-F238E27FC236}">
                <a16:creationId xmlns:a16="http://schemas.microsoft.com/office/drawing/2014/main" id="{6B351DCC-451C-4899-8D94-9030A1B44B9C}"/>
              </a:ext>
            </a:extLst>
          </p:cNvPr>
          <p:cNvSpPr>
            <a:spLocks noGrp="1"/>
          </p:cNvSpPr>
          <p:nvPr/>
        </p:nvSpPr>
        <p:spPr>
          <a:xfrm>
            <a:off x="7486650" y="3190875"/>
            <a:ext cx="2952750" cy="171450"/>
          </a:xfrm>
          <a:prstGeom prst="rect">
            <a:avLst/>
          </a:prstGeom>
          <a:noFill/>
          <a:ln w="0">
            <a:noFill/>
            <a:prstDash val="solid"/>
          </a:ln>
        </p:spPr>
        <p:txBody>
          <a:bodyPr wrap="square" lIns="0" tIns="0" rIns="0" bIns="0" anchor="ctr">
            <a:noAutofit/>
          </a:bodyPr>
          <a:lstStyle/>
          <a:p>
            <a:pPr algn="l">
              <a:buNone/>
              <a:defRPr sz="863" b="1">
                <a:solidFill>
                  <a:srgbClr val="677684"/>
                </a:solidFill>
                <a:latin typeface="Microsoft YaHei"/>
                <a:ea typeface="Microsoft YaHei"/>
                <a:cs typeface="Microsoft YaHei"/>
              </a:defRPr>
            </a:pPr>
            <a:r>
              <a:rPr sz="863" b="1">
                <a:solidFill>
                  <a:srgbClr val="677684"/>
                </a:solidFill>
                <a:latin typeface="Microsoft YaHei"/>
                <a:ea typeface="Microsoft YaHei"/>
                <a:cs typeface="Microsoft YaHei"/>
              </a:rPr>
              <a:t>满足任一条件，立即停止低收益迭代</a:t>
            </a:r>
            <a:endParaRPr sz="825" b="1">
              <a:solidFill>
                <a:srgbClr val="2F3A45"/>
              </a:solidFill>
              <a:latin typeface="Arial"/>
              <a:ea typeface="Arial"/>
              <a:cs typeface="Arial"/>
            </a:endParaRPr>
          </a:p>
        </p:txBody>
      </p:sp>
      <p:sp>
        <p:nvSpPr>
          <p:cNvPr id="84" name="step-04-tag-1">
            <a:extLst>
              <a:ext uri="{FF2B5EF4-FFF2-40B4-BE49-F238E27FC236}">
                <a16:creationId xmlns:a16="http://schemas.microsoft.com/office/drawing/2014/main" id="{78912E8B-ADF5-4A08-B54B-30727BB4DE31}"/>
              </a:ext>
            </a:extLst>
          </p:cNvPr>
          <p:cNvSpPr>
            <a:spLocks noGrp="1"/>
          </p:cNvSpPr>
          <p:nvPr/>
        </p:nvSpPr>
        <p:spPr>
          <a:xfrm>
            <a:off x="7486650" y="3448050"/>
            <a:ext cx="9144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低收益 × 2</a:t>
            </a:r>
          </a:p>
        </p:txBody>
      </p:sp>
      <p:sp>
        <p:nvSpPr>
          <p:cNvPr id="85" name="step-04-tag-2">
            <a:extLst>
              <a:ext uri="{FF2B5EF4-FFF2-40B4-BE49-F238E27FC236}">
                <a16:creationId xmlns:a16="http://schemas.microsoft.com/office/drawing/2014/main" id="{E911401C-848F-4499-B85A-6F69B2912E20}"/>
              </a:ext>
            </a:extLst>
          </p:cNvPr>
          <p:cNvSpPr>
            <a:spLocks noGrp="1"/>
          </p:cNvSpPr>
          <p:nvPr/>
        </p:nvSpPr>
        <p:spPr>
          <a:xfrm>
            <a:off x="8458200" y="3448050"/>
            <a:ext cx="8001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目标达成</a:t>
            </a:r>
          </a:p>
        </p:txBody>
      </p:sp>
      <p:sp>
        <p:nvSpPr>
          <p:cNvPr id="86" name="step-04-tag-3">
            <a:extLst>
              <a:ext uri="{FF2B5EF4-FFF2-40B4-BE49-F238E27FC236}">
                <a16:creationId xmlns:a16="http://schemas.microsoft.com/office/drawing/2014/main" id="{5BD83925-B2BE-440E-9538-51504A5D81B0}"/>
              </a:ext>
            </a:extLst>
          </p:cNvPr>
          <p:cNvSpPr>
            <a:spLocks noGrp="1"/>
          </p:cNvSpPr>
          <p:nvPr/>
        </p:nvSpPr>
        <p:spPr>
          <a:xfrm>
            <a:off x="9315450" y="3448050"/>
            <a:ext cx="10287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无新瓶颈证据</a:t>
            </a:r>
          </a:p>
        </p:txBody>
      </p:sp>
      <p:sp>
        <p:nvSpPr>
          <p:cNvPr id="87" name="step-04-tag-4">
            <a:extLst>
              <a:ext uri="{FF2B5EF4-FFF2-40B4-BE49-F238E27FC236}">
                <a16:creationId xmlns:a16="http://schemas.microsoft.com/office/drawing/2014/main" id="{C5C5F12C-695C-431D-9313-B8BBD8E3BB4F}"/>
              </a:ext>
            </a:extLst>
          </p:cNvPr>
          <p:cNvSpPr>
            <a:spLocks noGrp="1"/>
          </p:cNvSpPr>
          <p:nvPr/>
        </p:nvSpPr>
        <p:spPr>
          <a:xfrm>
            <a:off x="7486650" y="3667125"/>
            <a:ext cx="838200"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675" b="0">
                <a:solidFill>
                  <a:srgbClr val="677684"/>
                </a:solidFill>
                <a:latin typeface="Microsoft YaHei"/>
                <a:ea typeface="Microsoft YaHei"/>
                <a:cs typeface="Microsoft YaHei"/>
              </a:defRPr>
            </a:pPr>
            <a:r>
              <a:rPr sz="675" b="0">
                <a:solidFill>
                  <a:srgbClr val="677684"/>
                </a:solidFill>
                <a:latin typeface="Microsoft YaHei"/>
                <a:ea typeface="Microsoft YaHei"/>
                <a:cs typeface="Microsoft YaHei"/>
              </a:rPr>
              <a:t>满足其一</a:t>
            </a:r>
          </a:p>
        </p:txBody>
      </p:sp>
      <p:sp>
        <p:nvSpPr>
          <p:cNvPr id="88" name="step-04-tag-5">
            <a:extLst>
              <a:ext uri="{FF2B5EF4-FFF2-40B4-BE49-F238E27FC236}">
                <a16:creationId xmlns:a16="http://schemas.microsoft.com/office/drawing/2014/main" id="{491EC3BB-0A2C-40F1-9499-D322F390D15E}"/>
              </a:ext>
            </a:extLst>
          </p:cNvPr>
          <p:cNvSpPr>
            <a:spLocks noGrp="1"/>
          </p:cNvSpPr>
          <p:nvPr/>
        </p:nvSpPr>
        <p:spPr>
          <a:xfrm>
            <a:off x="8382000" y="3667125"/>
            <a:ext cx="381000"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825" b="1">
                <a:solidFill>
                  <a:srgbClr val="4B6F88"/>
                </a:solidFill>
                <a:latin typeface="Microsoft YaHei"/>
                <a:ea typeface="Microsoft YaHei"/>
                <a:cs typeface="Microsoft YaHei"/>
              </a:defRPr>
            </a:pPr>
            <a:r>
              <a:rPr sz="825" b="1">
                <a:solidFill>
                  <a:srgbClr val="4B6F88"/>
                </a:solidFill>
                <a:latin typeface="Microsoft YaHei"/>
                <a:ea typeface="Microsoft YaHei"/>
                <a:cs typeface="Microsoft YaHei"/>
              </a:rPr>
              <a:t>→</a:t>
            </a:r>
          </a:p>
        </p:txBody>
      </p:sp>
      <p:sp>
        <p:nvSpPr>
          <p:cNvPr id="89" name="step-04-tag-6">
            <a:extLst>
              <a:ext uri="{FF2B5EF4-FFF2-40B4-BE49-F238E27FC236}">
                <a16:creationId xmlns:a16="http://schemas.microsoft.com/office/drawing/2014/main" id="{FD74B0DB-A0CE-4D4F-87CF-08FAA734C834}"/>
              </a:ext>
            </a:extLst>
          </p:cNvPr>
          <p:cNvSpPr>
            <a:spLocks noGrp="1"/>
          </p:cNvSpPr>
          <p:nvPr/>
        </p:nvSpPr>
        <p:spPr>
          <a:xfrm>
            <a:off x="8820150" y="3667125"/>
            <a:ext cx="762000"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STOP</a:t>
            </a:r>
          </a:p>
        </p:txBody>
      </p:sp>
      <p:sp>
        <p:nvSpPr>
          <p:cNvPr id="92" name="phase-c-surface">
            <a:extLst>
              <a:ext uri="{FF2B5EF4-FFF2-40B4-BE49-F238E27FC236}">
                <a16:creationId xmlns:a16="http://schemas.microsoft.com/office/drawing/2014/main" id="{9BF5975D-A29B-4C85-BDCA-AE02672F0BE0}"/>
              </a:ext>
            </a:extLst>
          </p:cNvPr>
          <p:cNvSpPr>
            <a:spLocks noGrp="1"/>
          </p:cNvSpPr>
          <p:nvPr/>
        </p:nvSpPr>
        <p:spPr>
          <a:xfrm>
            <a:off x="1295400" y="3911600"/>
            <a:ext cx="9601200" cy="1000125"/>
          </a:xfrm>
          <a:prstGeom prst="rect">
            <a:avLst/>
          </a:prstGeom>
          <a:solidFill>
            <a:srgbClr val="F1F5F7"/>
          </a:solidFill>
          <a:ln w="9525">
            <a:solidFill>
              <a:srgbClr val="D7E0E6"/>
            </a:solidFill>
            <a:prstDash val="solid"/>
          </a:ln>
        </p:spPr>
      </p:sp>
      <p:sp>
        <p:nvSpPr>
          <p:cNvPr id="93" name="phase-c-accent">
            <a:extLst>
              <a:ext uri="{FF2B5EF4-FFF2-40B4-BE49-F238E27FC236}">
                <a16:creationId xmlns:a16="http://schemas.microsoft.com/office/drawing/2014/main" id="{E15BA5EA-E588-4A98-8B37-E7496B653B65}"/>
              </a:ext>
            </a:extLst>
          </p:cNvPr>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94" name="phase-c-letter">
            <a:extLst>
              <a:ext uri="{FF2B5EF4-FFF2-40B4-BE49-F238E27FC236}">
                <a16:creationId xmlns:a16="http://schemas.microsoft.com/office/drawing/2014/main" id="{B51EFEDB-88BA-43EC-9E81-459023A9A84A}"/>
              </a:ext>
            </a:extLst>
          </p:cNvPr>
          <p:cNvSpPr>
            <a:spLocks noGrp="1"/>
          </p:cNvSpPr>
          <p:nvPr/>
        </p:nvSpPr>
        <p:spPr>
          <a:xfrm>
            <a:off x="1504950" y="402907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C</a:t>
            </a:r>
          </a:p>
        </p:txBody>
      </p:sp>
      <p:sp>
        <p:nvSpPr>
          <p:cNvPr id="96" name="phase-c-chinese">
            <a:extLst>
              <a:ext uri="{FF2B5EF4-FFF2-40B4-BE49-F238E27FC236}">
                <a16:creationId xmlns:a16="http://schemas.microsoft.com/office/drawing/2014/main" id="{BB7C305E-B9AA-4850-A3FC-67DD1CAC3B99}"/>
              </a:ext>
            </a:extLst>
          </p:cNvPr>
          <p:cNvSpPr>
            <a:spLocks noGrp="1"/>
          </p:cNvSpPr>
          <p:nvPr/>
        </p:nvSpPr>
        <p:spPr>
          <a:xfrm>
            <a:off x="1571625" y="428625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机制变化</a:t>
            </a:r>
            <a:endParaRPr sz="1275" b="1">
              <a:solidFill>
                <a:srgbClr val="294A6D"/>
              </a:solidFill>
              <a:latin typeface="Arial"/>
              <a:ea typeface="Arial"/>
              <a:cs typeface="Arial"/>
            </a:endParaRPr>
          </a:p>
        </p:txBody>
      </p:sp>
      <p:sp>
        <p:nvSpPr>
          <p:cNvPr id="97" name="phase-c-sidebar-divider">
            <a:extLst>
              <a:ext uri="{FF2B5EF4-FFF2-40B4-BE49-F238E27FC236}">
                <a16:creationId xmlns:a16="http://schemas.microsoft.com/office/drawing/2014/main" id="{B9BBB7EF-1085-4F67-9D9B-DA0594A01300}"/>
              </a:ext>
            </a:extLst>
          </p:cNvPr>
          <p:cNvSpPr>
            <a:spLocks noGrp="1"/>
          </p:cNvSpPr>
          <p:nvPr/>
        </p:nvSpPr>
        <p:spPr>
          <a:xfrm>
            <a:off x="2847975" y="4000500"/>
            <a:ext cx="9525" cy="809625"/>
          </a:xfrm>
          <a:prstGeom prst="rect">
            <a:avLst/>
          </a:prstGeom>
          <a:solidFill>
            <a:srgbClr val="D1DCE3"/>
          </a:solidFill>
          <a:ln w="0">
            <a:solidFill>
              <a:srgbClr val="D1DCE3"/>
            </a:solidFill>
            <a:prstDash val="solid"/>
          </a:ln>
        </p:spPr>
      </p:sp>
      <p:sp>
        <p:nvSpPr>
          <p:cNvPr id="98" name="phase-c-step-divider">
            <a:extLst>
              <a:ext uri="{FF2B5EF4-FFF2-40B4-BE49-F238E27FC236}">
                <a16:creationId xmlns:a16="http://schemas.microsoft.com/office/drawing/2014/main" id="{7EA01028-7252-45DD-8977-26FF69F4B93F}"/>
              </a:ext>
            </a:extLst>
          </p:cNvPr>
          <p:cNvSpPr>
            <a:spLocks noGrp="1"/>
          </p:cNvSpPr>
          <p:nvPr/>
        </p:nvSpPr>
        <p:spPr>
          <a:xfrm>
            <a:off x="6924675" y="4000500"/>
            <a:ext cx="9525" cy="809625"/>
          </a:xfrm>
          <a:prstGeom prst="rect">
            <a:avLst/>
          </a:prstGeom>
          <a:solidFill>
            <a:srgbClr val="D1DCE3"/>
          </a:solidFill>
          <a:ln w="0">
            <a:solidFill>
              <a:srgbClr val="D1DCE3"/>
            </a:solidFill>
            <a:prstDash val="solid"/>
          </a:ln>
        </p:spPr>
      </p:sp>
      <p:sp>
        <p:nvSpPr>
          <p:cNvPr id="99" name="step-05-number">
            <a:extLst>
              <a:ext uri="{FF2B5EF4-FFF2-40B4-BE49-F238E27FC236}">
                <a16:creationId xmlns:a16="http://schemas.microsoft.com/office/drawing/2014/main" id="{67B0BF77-110D-477F-B0FB-F7032469F1EA}"/>
              </a:ext>
            </a:extLst>
          </p:cNvPr>
          <p:cNvSpPr>
            <a:spLocks noGrp="1"/>
          </p:cNvSpPr>
          <p:nvPr/>
        </p:nvSpPr>
        <p:spPr>
          <a:xfrm>
            <a:off x="3009900" y="414337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Microsoft YaHei"/>
                <a:ea typeface="Microsoft YaHei"/>
                <a:cs typeface="Microsoft YaHei"/>
              </a:defRPr>
            </a:pPr>
            <a:r>
              <a:rPr sz="1050" b="1">
                <a:solidFill>
                  <a:srgbClr val="4B6F88"/>
                </a:solidFill>
                <a:latin typeface="Microsoft YaHei"/>
                <a:ea typeface="Microsoft YaHei"/>
                <a:cs typeface="Microsoft YaHei"/>
              </a:rPr>
              <a:t>原来</a:t>
            </a:r>
          </a:p>
        </p:txBody>
      </p:sp>
      <p:sp>
        <p:nvSpPr>
          <p:cNvPr id="100" name="step-05-title">
            <a:extLst>
              <a:ext uri="{FF2B5EF4-FFF2-40B4-BE49-F238E27FC236}">
                <a16:creationId xmlns:a16="http://schemas.microsoft.com/office/drawing/2014/main" id="{CAEDB44C-147B-4FB5-990F-EDADB3A566EF}"/>
              </a:ext>
            </a:extLst>
          </p:cNvPr>
          <p:cNvSpPr>
            <a:spLocks noGrp="1"/>
          </p:cNvSpPr>
          <p:nvPr/>
        </p:nvSpPr>
        <p:spPr>
          <a:xfrm>
            <a:off x="3524250" y="410527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a:solidFill>
                  <a:srgbClr val="263544"/>
                </a:solidFill>
                <a:latin typeface="Microsoft YaHei"/>
                <a:ea typeface="Microsoft YaHei"/>
                <a:cs typeface="Microsoft YaHei"/>
              </a:rPr>
              <a:t>全流程 × 全策略 × 全量上下文</a:t>
            </a:r>
          </a:p>
        </p:txBody>
      </p:sp>
      <p:sp>
        <p:nvSpPr>
          <p:cNvPr id="101" name="step-05-subtitle">
            <a:extLst>
              <a:ext uri="{FF2B5EF4-FFF2-40B4-BE49-F238E27FC236}">
                <a16:creationId xmlns:a16="http://schemas.microsoft.com/office/drawing/2014/main" id="{8CE5ADDC-2B28-475D-9265-BB318693676B}"/>
              </a:ext>
            </a:extLst>
          </p:cNvPr>
          <p:cNvSpPr>
            <a:spLocks noGrp="1"/>
          </p:cNvSpPr>
          <p:nvPr/>
        </p:nvSpPr>
        <p:spPr>
          <a:xfrm>
            <a:off x="3524250" y="443865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Microsoft YaHei"/>
                <a:ea typeface="Microsoft YaHei"/>
                <a:cs typeface="Microsoft YaHei"/>
              </a:defRPr>
            </a:pPr>
            <a:r>
              <a:rPr sz="975" b="1">
                <a:solidFill>
                  <a:srgbClr val="4B6F88"/>
                </a:solidFill>
                <a:latin typeface="Microsoft YaHei"/>
                <a:ea typeface="Microsoft YaHei"/>
                <a:cs typeface="Microsoft YaHei"/>
              </a:rPr>
              <a:t>多轮尝试  →  慢 + 贵</a:t>
            </a:r>
            <a:endParaRPr sz="825" b="1">
              <a:solidFill>
                <a:srgbClr val="2F3A45"/>
              </a:solidFill>
              <a:latin typeface="Arial"/>
              <a:ea typeface="Arial"/>
              <a:cs typeface="Arial"/>
            </a:endParaRPr>
          </a:p>
        </p:txBody>
      </p:sp>
      <p:sp>
        <p:nvSpPr>
          <p:cNvPr id="107" name="step-06-number">
            <a:extLst>
              <a:ext uri="{FF2B5EF4-FFF2-40B4-BE49-F238E27FC236}">
                <a16:creationId xmlns:a16="http://schemas.microsoft.com/office/drawing/2014/main" id="{B6985589-247F-4354-9976-FD0F7A206EC8}"/>
              </a:ext>
            </a:extLst>
          </p:cNvPr>
          <p:cNvSpPr>
            <a:spLocks noGrp="1"/>
          </p:cNvSpPr>
          <p:nvPr/>
        </p:nvSpPr>
        <p:spPr>
          <a:xfrm>
            <a:off x="7067550" y="414337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Microsoft YaHei"/>
                <a:ea typeface="Microsoft YaHei"/>
                <a:cs typeface="Microsoft YaHei"/>
              </a:defRPr>
            </a:pPr>
            <a:r>
              <a:rPr sz="1050" b="1">
                <a:solidFill>
                  <a:srgbClr val="5C7F99"/>
                </a:solidFill>
                <a:latin typeface="Microsoft YaHei"/>
                <a:ea typeface="Microsoft YaHei"/>
                <a:cs typeface="Microsoft YaHei"/>
              </a:rPr>
              <a:t>优化后</a:t>
            </a:r>
          </a:p>
        </p:txBody>
      </p:sp>
      <p:sp>
        <p:nvSpPr>
          <p:cNvPr id="108" name="step-06-title">
            <a:extLst>
              <a:ext uri="{FF2B5EF4-FFF2-40B4-BE49-F238E27FC236}">
                <a16:creationId xmlns:a16="http://schemas.microsoft.com/office/drawing/2014/main" id="{B1AF9BE3-7975-4567-AD37-8FF3D22D0C59}"/>
              </a:ext>
            </a:extLst>
          </p:cNvPr>
          <p:cNvSpPr>
            <a:spLocks noGrp="1"/>
          </p:cNvSpPr>
          <p:nvPr/>
        </p:nvSpPr>
        <p:spPr>
          <a:xfrm>
            <a:off x="7715250" y="410527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Microsoft YaHei"/>
                <a:ea typeface="Microsoft YaHei"/>
                <a:cs typeface="Microsoft YaHei"/>
              </a:defRPr>
            </a:pPr>
            <a:r>
              <a:rPr sz="1200" b="1">
                <a:solidFill>
                  <a:srgbClr val="263544"/>
                </a:solidFill>
                <a:latin typeface="Microsoft YaHei"/>
                <a:ea typeface="Microsoft YaHei"/>
                <a:cs typeface="Microsoft YaHei"/>
              </a:rPr>
              <a:t>按需进入 + 按瓶颈 + 复用 + 脚本</a:t>
            </a:r>
            <a:endParaRPr sz="1125" b="1">
              <a:solidFill>
                <a:srgbClr val="294A6D"/>
              </a:solidFill>
              <a:latin typeface="Arial"/>
              <a:ea typeface="Arial"/>
              <a:cs typeface="Arial"/>
            </a:endParaRPr>
          </a:p>
        </p:txBody>
      </p:sp>
      <p:sp>
        <p:nvSpPr>
          <p:cNvPr id="109" name="step-06-subtitle">
            <a:extLst>
              <a:ext uri="{FF2B5EF4-FFF2-40B4-BE49-F238E27FC236}">
                <a16:creationId xmlns:a16="http://schemas.microsoft.com/office/drawing/2014/main" id="{BEA32223-6D3A-4FF1-9C83-DD2A8B9F4718}"/>
              </a:ext>
            </a:extLst>
          </p:cNvPr>
          <p:cNvSpPr>
            <a:spLocks noGrp="1"/>
          </p:cNvSpPr>
          <p:nvPr/>
        </p:nvSpPr>
        <p:spPr>
          <a:xfrm>
            <a:off x="7715250" y="443865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Microsoft YaHei"/>
                <a:ea typeface="Microsoft YaHei"/>
                <a:cs typeface="Microsoft YaHei"/>
              </a:defRPr>
            </a:pPr>
            <a:r>
              <a:rPr sz="975" b="1">
                <a:solidFill>
                  <a:srgbClr val="5C7F99"/>
                </a:solidFill>
                <a:latin typeface="Microsoft YaHei"/>
                <a:ea typeface="Microsoft YaHei"/>
                <a:cs typeface="Microsoft YaHei"/>
              </a:rPr>
              <a:t>及时停止  →  更短流程 + 更少 Token</a:t>
            </a:r>
          </a:p>
        </p:txBody>
      </p:sp>
      <p:sp>
        <p:nvSpPr>
          <p:cNvPr id="118" name="phase-d-surface">
            <a:extLst>
              <a:ext uri="{FF2B5EF4-FFF2-40B4-BE49-F238E27FC236}">
                <a16:creationId xmlns:a16="http://schemas.microsoft.com/office/drawing/2014/main" id="{2314BE15-8CCD-4CE0-B84A-8470EF9FE233}"/>
              </a:ext>
            </a:extLst>
          </p:cNvPr>
          <p:cNvSpPr>
            <a:spLocks noGrp="1"/>
          </p:cNvSpPr>
          <p:nvPr/>
        </p:nvSpPr>
        <p:spPr>
          <a:xfrm>
            <a:off x="1295400" y="4959350"/>
            <a:ext cx="9601200" cy="889000"/>
          </a:xfrm>
          <a:prstGeom prst="rect">
            <a:avLst/>
          </a:prstGeom>
          <a:solidFill>
            <a:srgbClr val="F5F7F8"/>
          </a:solidFill>
          <a:ln w="9525">
            <a:solidFill>
              <a:srgbClr val="D7E0E6"/>
            </a:solidFill>
            <a:prstDash val="solid"/>
          </a:ln>
        </p:spPr>
      </p:sp>
      <p:sp>
        <p:nvSpPr>
          <p:cNvPr id="119" name="phase-d-accent">
            <a:extLst>
              <a:ext uri="{FF2B5EF4-FFF2-40B4-BE49-F238E27FC236}">
                <a16:creationId xmlns:a16="http://schemas.microsoft.com/office/drawing/2014/main" id="{215B686B-3E96-4C6D-B008-BCCA982B0337}"/>
              </a:ext>
            </a:extLst>
          </p:cNvPr>
          <p:cNvSpPr>
            <a:spLocks noGrp="1"/>
          </p:cNvSpPr>
          <p:nvPr/>
        </p:nvSpPr>
        <p:spPr>
          <a:xfrm>
            <a:off x="1295400" y="4959350"/>
            <a:ext cx="57150" cy="889000"/>
          </a:xfrm>
          <a:prstGeom prst="roundRect">
            <a:avLst>
              <a:gd name="adj" fmla="val 50000"/>
            </a:avLst>
          </a:prstGeom>
          <a:solidFill>
            <a:srgbClr val="5C7F99"/>
          </a:solidFill>
          <a:ln w="0">
            <a:solidFill>
              <a:srgbClr val="5C7F99"/>
            </a:solidFill>
            <a:prstDash val="solid"/>
          </a:ln>
        </p:spPr>
      </p:sp>
      <p:sp>
        <p:nvSpPr>
          <p:cNvPr id="120" name="phase-d-letter">
            <a:extLst>
              <a:ext uri="{FF2B5EF4-FFF2-40B4-BE49-F238E27FC236}">
                <a16:creationId xmlns:a16="http://schemas.microsoft.com/office/drawing/2014/main" id="{49ABD43F-35E7-47B3-8E3A-5FD61C5DA818}"/>
              </a:ext>
            </a:extLst>
          </p:cNvPr>
          <p:cNvSpPr>
            <a:spLocks noGrp="1"/>
          </p:cNvSpPr>
          <p:nvPr/>
        </p:nvSpPr>
        <p:spPr>
          <a:xfrm>
            <a:off x="1504950" y="507682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D</a:t>
            </a:r>
          </a:p>
        </p:txBody>
      </p:sp>
      <p:sp>
        <p:nvSpPr>
          <p:cNvPr id="122" name="phase-d-chinese">
            <a:extLst>
              <a:ext uri="{FF2B5EF4-FFF2-40B4-BE49-F238E27FC236}">
                <a16:creationId xmlns:a16="http://schemas.microsoft.com/office/drawing/2014/main" id="{3C3E9FC2-5CB7-4936-BE34-AD26DADFBC59}"/>
              </a:ext>
            </a:extLst>
          </p:cNvPr>
          <p:cNvSpPr>
            <a:spLocks noGrp="1"/>
          </p:cNvSpPr>
          <p:nvPr/>
        </p:nvSpPr>
        <p:spPr>
          <a:xfrm>
            <a:off x="1571625" y="5324475"/>
            <a:ext cx="1238250" cy="285750"/>
          </a:xfrm>
          <a:prstGeom prst="rect">
            <a:avLst/>
          </a:prstGeom>
          <a:noFill/>
          <a:ln w="0">
            <a:noFill/>
            <a:prstDash val="solid"/>
          </a:ln>
        </p:spPr>
        <p:txBody>
          <a:bodyPr wrap="square" lIns="0" tIns="0" rIns="0" bIns="0" anchor="ctr">
            <a:noAutofit/>
          </a:bodyPr>
          <a:lstStyle/>
          <a:p>
            <a:pPr algn="l">
              <a:buNone/>
              <a:defRPr sz="1275" b="1">
                <a:solidFill>
                  <a:srgbClr val="4B6F88"/>
                </a:solidFill>
                <a:latin typeface="Microsoft YaHei"/>
                <a:ea typeface="Microsoft YaHei"/>
                <a:cs typeface="Microsoft YaHei"/>
              </a:defRPr>
            </a:pPr>
            <a:r>
              <a:rPr sz="1275" b="1">
                <a:solidFill>
                  <a:srgbClr val="4B6F88"/>
                </a:solidFill>
                <a:latin typeface="Microsoft YaHei"/>
                <a:ea typeface="Microsoft YaHei"/>
                <a:cs typeface="Microsoft YaHei"/>
              </a:rPr>
              <a:t>关键约束</a:t>
            </a:r>
          </a:p>
        </p:txBody>
      </p:sp>
      <p:sp>
        <p:nvSpPr>
          <p:cNvPr id="123" name="phase-d-sidebar-divider">
            <a:extLst>
              <a:ext uri="{FF2B5EF4-FFF2-40B4-BE49-F238E27FC236}">
                <a16:creationId xmlns:a16="http://schemas.microsoft.com/office/drawing/2014/main" id="{A8A6C72A-E196-4B6B-BDEE-C7490CA20DEB}"/>
              </a:ext>
            </a:extLst>
          </p:cNvPr>
          <p:cNvSpPr>
            <a:spLocks noGrp="1"/>
          </p:cNvSpPr>
          <p:nvPr/>
        </p:nvSpPr>
        <p:spPr>
          <a:xfrm>
            <a:off x="2847975" y="5048250"/>
            <a:ext cx="9525" cy="695325"/>
          </a:xfrm>
          <a:prstGeom prst="rect">
            <a:avLst/>
          </a:prstGeom>
          <a:solidFill>
            <a:srgbClr val="D7DEE3"/>
          </a:solidFill>
          <a:ln w="0">
            <a:solidFill>
              <a:srgbClr val="D7DEE3"/>
            </a:solidFill>
            <a:prstDash val="solid"/>
          </a:ln>
        </p:spPr>
      </p:sp>
      <p:sp>
        <p:nvSpPr>
          <p:cNvPr id="124" name="phase-d-step-divider">
            <a:extLst>
              <a:ext uri="{FF2B5EF4-FFF2-40B4-BE49-F238E27FC236}">
                <a16:creationId xmlns:a16="http://schemas.microsoft.com/office/drawing/2014/main" id="{F1456363-793B-4F47-8B79-F04E4D85F8AA}"/>
              </a:ext>
            </a:extLst>
          </p:cNvPr>
          <p:cNvSpPr>
            <a:spLocks noGrp="1"/>
          </p:cNvSpPr>
          <p:nvPr/>
        </p:nvSpPr>
        <p:spPr>
          <a:xfrm>
            <a:off x="6924675" y="5048250"/>
            <a:ext cx="9525" cy="695325"/>
          </a:xfrm>
          <a:prstGeom prst="rect">
            <a:avLst/>
          </a:prstGeom>
          <a:solidFill>
            <a:srgbClr val="F5F7F8"/>
          </a:solidFill>
          <a:ln w="0">
            <a:solidFill>
              <a:srgbClr val="F5F7F8"/>
            </a:solidFill>
            <a:prstDash val="solid"/>
          </a:ln>
        </p:spPr>
      </p:sp>
      <p:sp>
        <p:nvSpPr>
          <p:cNvPr id="125" name="step-07-number">
            <a:extLst>
              <a:ext uri="{FF2B5EF4-FFF2-40B4-BE49-F238E27FC236}">
                <a16:creationId xmlns:a16="http://schemas.microsoft.com/office/drawing/2014/main" id="{A481849F-9EBE-4772-B8AE-F18CFD4FB0FE}"/>
              </a:ext>
            </a:extLst>
          </p:cNvPr>
          <p:cNvSpPr>
            <a:spLocks noGrp="1"/>
          </p:cNvSpPr>
          <p:nvPr/>
        </p:nvSpPr>
        <p:spPr>
          <a:xfrm>
            <a:off x="3009900" y="5010150"/>
            <a:ext cx="476250" cy="209550"/>
          </a:xfrm>
          <a:prstGeom prst="roundRect">
            <a:avLst>
              <a:gd name="adj" fmla="val 20690"/>
            </a:avLst>
          </a:prstGeom>
          <a:noFill/>
          <a:ln w="9525">
            <a:noFill/>
            <a:prstDash val="solid"/>
          </a:ln>
        </p:spPr>
        <p:txBody>
          <a:bodyPr wrap="square" lIns="0" tIns="0" rIns="0" bIns="0" anchor="ctr">
            <a:noAutofit/>
          </a:bodyPr>
          <a:lstStyle/>
          <a:p>
            <a:pPr algn="l">
              <a:buNone/>
              <a:defRPr sz="938" b="1">
                <a:solidFill>
                  <a:srgbClr val="4B6F88"/>
                </a:solidFill>
                <a:latin typeface="Microsoft YaHei"/>
                <a:ea typeface="Microsoft YaHei"/>
                <a:cs typeface="Microsoft YaHei"/>
              </a:defRPr>
            </a:pPr>
            <a:r>
              <a:rPr sz="938" b="1">
                <a:solidFill>
                  <a:srgbClr val="4B6F88"/>
                </a:solidFill>
                <a:latin typeface="Microsoft YaHei"/>
                <a:ea typeface="Microsoft YaHei"/>
                <a:cs typeface="Microsoft YaHei"/>
              </a:rPr>
              <a:t>Gate</a:t>
            </a:r>
          </a:p>
        </p:txBody>
      </p:sp>
      <p:sp>
        <p:nvSpPr>
          <p:cNvPr id="126" name="step-07-title">
            <a:extLst>
              <a:ext uri="{FF2B5EF4-FFF2-40B4-BE49-F238E27FC236}">
                <a16:creationId xmlns:a16="http://schemas.microsoft.com/office/drawing/2014/main" id="{77FA75C2-F0F7-4689-972F-D7A6BC1D95B6}"/>
              </a:ext>
            </a:extLst>
          </p:cNvPr>
          <p:cNvSpPr>
            <a:spLocks noGrp="1"/>
          </p:cNvSpPr>
          <p:nvPr/>
        </p:nvSpPr>
        <p:spPr>
          <a:xfrm>
            <a:off x="3486150" y="5000625"/>
            <a:ext cx="4572000" cy="228600"/>
          </a:xfrm>
          <a:prstGeom prst="rect">
            <a:avLst/>
          </a:prstGeom>
          <a:noFill/>
          <a:ln w="0">
            <a:noFill/>
            <a:prstDash val="solid"/>
          </a:ln>
        </p:spPr>
        <p:txBody>
          <a:bodyPr wrap="square" lIns="0" tIns="0" rIns="0" bIns="0" anchor="ctr">
            <a:noAutofit/>
          </a:bodyPr>
          <a:lstStyle/>
          <a:p>
            <a:pPr algn="l">
              <a:buNone/>
              <a:defRPr sz="1013" b="1">
                <a:solidFill>
                  <a:srgbClr val="263544"/>
                </a:solidFill>
                <a:latin typeface="Microsoft YaHei"/>
                <a:ea typeface="Microsoft YaHei"/>
                <a:cs typeface="Microsoft YaHei"/>
              </a:defRPr>
            </a:pPr>
            <a:r>
              <a:rPr sz="1013" b="1">
                <a:solidFill>
                  <a:srgbClr val="263544"/>
                </a:solidFill>
                <a:latin typeface="Microsoft YaHei"/>
                <a:ea typeface="Microsoft YaHei"/>
                <a:cs typeface="Microsoft YaHei"/>
              </a:rPr>
              <a:t>省时不能牺牲前置检查、证据与复用边界</a:t>
            </a:r>
            <a:endParaRPr sz="1125" b="1">
              <a:solidFill>
                <a:srgbClr val="4F8A83"/>
              </a:solidFill>
              <a:latin typeface="Arial"/>
              <a:ea typeface="Arial"/>
              <a:cs typeface="Arial"/>
            </a:endParaRPr>
          </a:p>
        </p:txBody>
      </p:sp>
      <p:sp>
        <p:nvSpPr>
          <p:cNvPr id="128" name="step-07-operator-1">
            <a:extLst>
              <a:ext uri="{FF2B5EF4-FFF2-40B4-BE49-F238E27FC236}">
                <a16:creationId xmlns:a16="http://schemas.microsoft.com/office/drawing/2014/main" id="{46C1B706-6026-44CB-A0EE-2C049D1102AF}"/>
              </a:ext>
            </a:extLst>
          </p:cNvPr>
          <p:cNvSpPr>
            <a:spLocks noGrp="1"/>
          </p:cNvSpPr>
          <p:nvPr/>
        </p:nvSpPr>
        <p:spPr>
          <a:xfrm>
            <a:off x="3009900" y="5257800"/>
            <a:ext cx="238125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① 阶段跳过</a:t>
            </a:r>
          </a:p>
        </p:txBody>
      </p:sp>
      <p:sp>
        <p:nvSpPr>
          <p:cNvPr id="129" name="step-07-operator-2">
            <a:extLst>
              <a:ext uri="{FF2B5EF4-FFF2-40B4-BE49-F238E27FC236}">
                <a16:creationId xmlns:a16="http://schemas.microsoft.com/office/drawing/2014/main" id="{30EAAACB-92BE-42C5-9B00-1E5199692A55}"/>
              </a:ext>
            </a:extLst>
          </p:cNvPr>
          <p:cNvSpPr>
            <a:spLocks noGrp="1"/>
          </p:cNvSpPr>
          <p:nvPr/>
        </p:nvSpPr>
        <p:spPr>
          <a:xfrm>
            <a:off x="5524500" y="5257800"/>
            <a:ext cx="238125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② 定向优化</a:t>
            </a:r>
          </a:p>
        </p:txBody>
      </p:sp>
      <p:sp>
        <p:nvSpPr>
          <p:cNvPr id="130" name="step-07-operator-3">
            <a:extLst>
              <a:ext uri="{FF2B5EF4-FFF2-40B4-BE49-F238E27FC236}">
                <a16:creationId xmlns:a16="http://schemas.microsoft.com/office/drawing/2014/main" id="{CB9D4301-D386-434A-A7E0-694093E6483B}"/>
              </a:ext>
            </a:extLst>
          </p:cNvPr>
          <p:cNvSpPr>
            <a:spLocks noGrp="1"/>
          </p:cNvSpPr>
          <p:nvPr/>
        </p:nvSpPr>
        <p:spPr>
          <a:xfrm>
            <a:off x="8039100" y="5257800"/>
            <a:ext cx="262890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③ 缓存复用</a:t>
            </a:r>
          </a:p>
        </p:txBody>
      </p:sp>
      <p:sp>
        <p:nvSpPr>
          <p:cNvPr id="133" name="step-08-number">
            <a:extLst>
              <a:ext uri="{FF2B5EF4-FFF2-40B4-BE49-F238E27FC236}">
                <a16:creationId xmlns:a16="http://schemas.microsoft.com/office/drawing/2014/main" id="{3D7AAE78-4212-4968-822C-1853B3BAFC4B}"/>
              </a:ext>
            </a:extLst>
          </p:cNvP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a:ea typeface="Calibri"/>
                <a:cs typeface="Calibri"/>
              </a:defRPr>
            </a:pPr>
            <a:endParaRPr/>
          </a:p>
        </p:txBody>
      </p:sp>
      <p:sp>
        <p:nvSpPr>
          <p:cNvPr id="134" name="step-08-title">
            <a:extLst>
              <a:ext uri="{FF2B5EF4-FFF2-40B4-BE49-F238E27FC236}">
                <a16:creationId xmlns:a16="http://schemas.microsoft.com/office/drawing/2014/main" id="{98CF8D5D-4BB7-4641-B4A6-FFAC645FE933}"/>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a:ea typeface="微软雅黑"/>
                <a:cs typeface="微软雅黑"/>
              </a:defRPr>
            </a:pPr>
            <a:endParaRPr/>
          </a:p>
        </p:txBody>
      </p:sp>
      <p:sp>
        <p:nvSpPr>
          <p:cNvPr id="135" name="step-08-subtitle">
            <a:extLst>
              <a:ext uri="{FF2B5EF4-FFF2-40B4-BE49-F238E27FC236}">
                <a16:creationId xmlns:a16="http://schemas.microsoft.com/office/drawing/2014/main" id="{4FC7CE93-DD4D-463D-9836-56D303844EDD}"/>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a:ea typeface="微软雅黑"/>
                <a:cs typeface="微软雅黑"/>
              </a:defRPr>
            </a:pPr>
            <a:endParaRPr/>
          </a:p>
        </p:txBody>
      </p:sp>
      <p:sp>
        <p:nvSpPr>
          <p:cNvPr id="136" name="step-08-branch-1">
            <a:extLst>
              <a:ext uri="{FF2B5EF4-FFF2-40B4-BE49-F238E27FC236}">
                <a16:creationId xmlns:a16="http://schemas.microsoft.com/office/drawing/2014/main" id="{6CF07E22-6F79-4AA6-9854-9C6884933841}"/>
              </a:ext>
            </a:extLst>
          </p:cNvPr>
          <p:cNvSpPr>
            <a:spLocks noGrp="1"/>
          </p:cNvSpPr>
          <p:nvPr/>
        </p:nvSpPr>
        <p:spPr>
          <a:xfrm>
            <a:off x="3009900" y="5476875"/>
            <a:ext cx="238125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840" b="1">
                <a:solidFill>
                  <a:srgbClr val="263544"/>
                </a:solidFill>
                <a:latin typeface="Microsoft YaHei"/>
                <a:ea typeface="Microsoft YaHei"/>
                <a:cs typeface="Microsoft YaHei"/>
              </a:defRPr>
            </a:pPr>
            <a:r>
              <a:rPr sz="840" b="1">
                <a:solidFill>
                  <a:srgbClr val="263544"/>
                </a:solidFill>
                <a:latin typeface="Microsoft YaHei"/>
                <a:ea typeface="Microsoft YaHei"/>
                <a:cs typeface="Microsoft YaHei"/>
              </a:rPr>
              <a:t>跳过阶段 ≠ 跳过前置条件检查</a:t>
            </a:r>
          </a:p>
        </p:txBody>
      </p:sp>
      <p:sp>
        <p:nvSpPr>
          <p:cNvPr id="137" name="step-08-branch-2">
            <a:extLst>
              <a:ext uri="{FF2B5EF4-FFF2-40B4-BE49-F238E27FC236}">
                <a16:creationId xmlns:a16="http://schemas.microsoft.com/office/drawing/2014/main" id="{49973581-ACEB-48AC-ACE5-46653047C869}"/>
              </a:ext>
            </a:extLst>
          </p:cNvPr>
          <p:cNvSpPr>
            <a:spLocks noGrp="1"/>
          </p:cNvSpPr>
          <p:nvPr/>
        </p:nvSpPr>
        <p:spPr>
          <a:xfrm>
            <a:off x="5524500" y="5476875"/>
            <a:ext cx="238125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788" b="1">
                <a:solidFill>
                  <a:srgbClr val="263544"/>
                </a:solidFill>
                <a:latin typeface="Microsoft YaHei"/>
                <a:ea typeface="Microsoft YaHei"/>
                <a:cs typeface="Microsoft YaHei"/>
              </a:defRPr>
            </a:pPr>
            <a:r>
              <a:rPr sz="788" b="1">
                <a:solidFill>
                  <a:srgbClr val="263544"/>
                </a:solidFill>
                <a:latin typeface="Microsoft YaHei"/>
                <a:ea typeface="Microsoft YaHei"/>
                <a:cs typeface="Microsoft YaHei"/>
              </a:rPr>
              <a:t>必须有 Benchmark / Profile 证据</a:t>
            </a:r>
          </a:p>
        </p:txBody>
      </p:sp>
      <p:sp>
        <p:nvSpPr>
          <p:cNvPr id="138" name="step-08-branch-3">
            <a:extLst>
              <a:ext uri="{FF2B5EF4-FFF2-40B4-BE49-F238E27FC236}">
                <a16:creationId xmlns:a16="http://schemas.microsoft.com/office/drawing/2014/main" id="{EB2A234B-6A77-4D75-A31B-596A161F3734}"/>
              </a:ext>
            </a:extLst>
          </p:cNvPr>
          <p:cNvSpPr>
            <a:spLocks noGrp="1"/>
          </p:cNvSpPr>
          <p:nvPr/>
        </p:nvSpPr>
        <p:spPr>
          <a:xfrm>
            <a:off x="8039100" y="5476875"/>
            <a:ext cx="262890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788" b="1">
                <a:solidFill>
                  <a:srgbClr val="263544"/>
                </a:solidFill>
                <a:latin typeface="Microsoft YaHei"/>
                <a:ea typeface="Microsoft YaHei"/>
                <a:cs typeface="Microsoft YaHei"/>
              </a:defRPr>
            </a:pPr>
            <a:r>
              <a:rPr sz="788" b="1">
                <a:solidFill>
                  <a:srgbClr val="263544"/>
                </a:solidFill>
                <a:latin typeface="Microsoft YaHei"/>
                <a:ea typeface="Microsoft YaHei"/>
                <a:cs typeface="Microsoft YaHei"/>
              </a:rPr>
              <a:t>记录环境 / Shape / 精度 / 版本</a:t>
            </a:r>
          </a:p>
        </p:txBody>
      </p:sp>
      <p:sp>
        <p:nvSpPr>
          <p:cNvPr id="3" name="slide-7-page-number">
            <a:extLst>
              <a:ext uri="{FF2B5EF4-FFF2-40B4-BE49-F238E27FC236}">
                <a16:creationId xmlns:a16="http://schemas.microsoft.com/office/drawing/2014/main" id="{B9A54D7D-D642-4660-9F2D-34D9C9C7A13B}"/>
              </a:ext>
            </a:extLst>
          </p:cNvP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Microsoft YaHei"/>
                <a:ea typeface="Microsoft YaHei"/>
                <a:cs typeface="Microsoft YaHei"/>
              </a:defRPr>
            </a:pPr>
            <a:r>
              <a:rPr sz="1200" b="1">
                <a:solidFill>
                  <a:srgbClr val="66737F"/>
                </a:solidFill>
                <a:latin typeface="Microsoft YaHei"/>
                <a:ea typeface="Microsoft YaHei"/>
                <a:cs typeface="Microsoft YaHei"/>
              </a:rPr>
              <a:t>2</a:t>
            </a:r>
            <a:endParaRPr sz="1200" b="1">
              <a:solidFill>
                <a:srgbClr val="66737F"/>
              </a:solidFill>
              <a:latin typeface="Arial"/>
              <a:ea typeface="Arial"/>
              <a:cs typeface="Arial"/>
            </a:endParaRPr>
          </a:p>
        </p:txBody>
      </p:sp>
      <p:sp>
        <p:nvSpPr>
          <p:cNvPr id="103" name="slide-1-title">
            <a:extLst>
              <a:ext uri="{FF2B5EF4-FFF2-40B4-BE49-F238E27FC236}">
                <a16:creationId xmlns:a16="http://schemas.microsoft.com/office/drawing/2014/main" id="{C381CF64-BAB1-47F1-8866-115A246CAF93}"/>
              </a:ext>
            </a:extLst>
          </p:cNvPr>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Microsoft YaHei"/>
                <a:ea typeface="Microsoft YaHei"/>
                <a:cs typeface="Microsoft YaHei"/>
              </a:defRPr>
            </a:pPr>
            <a:r>
              <a:rPr lang="en-US" sz="3000" b="1" dirty="0" smtClean="0">
                <a:solidFill>
                  <a:srgbClr val="243B53"/>
                </a:solidFill>
                <a:latin typeface="Microsoft YaHei"/>
                <a:ea typeface="Microsoft YaHei"/>
                <a:cs typeface="Microsoft YaHei"/>
              </a:rPr>
              <a:t>1</a:t>
            </a:r>
            <a:r>
              <a:rPr sz="3000" b="1" dirty="0" smtClean="0">
                <a:solidFill>
                  <a:srgbClr val="243B53"/>
                </a:solidFill>
                <a:latin typeface="Microsoft YaHei"/>
                <a:ea typeface="Microsoft YaHei"/>
                <a:cs typeface="Microsoft YaHei"/>
              </a:rPr>
              <a:t>.</a:t>
            </a:r>
            <a:r>
              <a:rPr lang="en-US" sz="3000" b="1" dirty="0" smtClean="0">
                <a:solidFill>
                  <a:srgbClr val="243B53"/>
                </a:solidFill>
                <a:latin typeface="Microsoft YaHei"/>
                <a:ea typeface="Microsoft YaHei"/>
                <a:cs typeface="Microsoft YaHei"/>
              </a:rPr>
              <a:t>7</a:t>
            </a:r>
            <a:endParaRPr sz="3000" b="1" dirty="0">
              <a:solidFill>
                <a:srgbClr val="243B53"/>
              </a:solidFill>
              <a:latin typeface="Arial"/>
              <a:ea typeface="Arial"/>
              <a:cs typeface="Arial"/>
            </a:endParaRPr>
          </a:p>
        </p:txBody>
      </p:sp>
      <p:sp>
        <p:nvSpPr>
          <p:cNvPr id="104" name="s15-title-rule">
            <a:extLst>
              <a:ext uri="{FF2B5EF4-FFF2-40B4-BE49-F238E27FC236}">
                <a16:creationId xmlns:a16="http://schemas.microsoft.com/office/drawing/2014/main" id="{151B2147-080F-49BB-AA1C-DEAA33C95C2C}"/>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Tree>
    <p:extLst>
      <p:ext uri="{BB962C8B-B14F-4D97-AF65-F5344CB8AC3E}">
        <p14:creationId xmlns:p14="http://schemas.microsoft.com/office/powerpoint/2010/main" val="3768259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8-title">
            <a:extLst>
              <a:ext uri="{FF2B5EF4-FFF2-40B4-BE49-F238E27FC236}">
                <a16:creationId xmlns:a16="http://schemas.microsoft.com/office/drawing/2014/main" id="{375095E6-F8D5-4CE6-83F3-BB443C6C8DB1}"/>
              </a:ext>
            </a:extLst>
          </p:cNvPr>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Microsoft YaHei"/>
                <a:ea typeface="Microsoft YaHei"/>
                <a:cs typeface="Microsoft YaHei"/>
              </a:defRPr>
            </a:pPr>
            <a:r>
              <a:rPr sz="2850" b="1">
                <a:solidFill>
                  <a:srgbClr val="243B53"/>
                </a:solidFill>
                <a:latin typeface="Microsoft YaHei"/>
                <a:ea typeface="Microsoft YaHei"/>
                <a:cs typeface="Microsoft YaHei"/>
              </a:rPr>
              <a:t>优化方向二：建立快速、分层的 Skill 验证机制</a:t>
            </a:r>
          </a:p>
        </p:txBody>
      </p:sp>
      <p:sp>
        <p:nvSpPr>
          <p:cNvPr id="9" name="footer-background">
            <a:extLst>
              <a:ext uri="{FF2B5EF4-FFF2-40B4-BE49-F238E27FC236}">
                <a16:creationId xmlns:a16="http://schemas.microsoft.com/office/drawing/2014/main" id="{C6E7F932-DCB2-46AD-92B1-4487DFCD10B6}"/>
              </a:ext>
            </a:extLst>
          </p:cNvPr>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a:extLst>
              <a:ext uri="{FF2B5EF4-FFF2-40B4-BE49-F238E27FC236}">
                <a16:creationId xmlns:a16="http://schemas.microsoft.com/office/drawing/2014/main" id="{9CE192D7-ED29-49CC-A75A-06D02AEA387C}"/>
              </a:ext>
            </a:extLst>
          </p:cNvP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局部修改局部验证，流程修改分层验证，全面测试负责最终兜底。</a:t>
            </a:r>
          </a:p>
        </p:txBody>
      </p:sp>
      <p:sp>
        <p:nvSpPr>
          <p:cNvPr id="20" name="knowledge-source-1">
            <a:extLst>
              <a:ext uri="{FF2B5EF4-FFF2-40B4-BE49-F238E27FC236}">
                <a16:creationId xmlns:a16="http://schemas.microsoft.com/office/drawing/2014/main" id="{EBDC28E3-6143-410C-BEFE-5B7F627C63C2}"/>
              </a:ext>
            </a:extLst>
          </p:cNvPr>
          <p:cNvSpPr>
            <a:spLocks noGrp="1"/>
          </p:cNvSpPr>
          <p:nvPr/>
        </p:nvSpPr>
        <p:spPr>
          <a:xfrm>
            <a:off x="1759585" y="76454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a:extLst>
              <a:ext uri="{FF2B5EF4-FFF2-40B4-BE49-F238E27FC236}">
                <a16:creationId xmlns:a16="http://schemas.microsoft.com/office/drawing/2014/main" id="{496FBD7A-2744-49B2-AF4E-57BDC19EB1AA}"/>
              </a:ext>
            </a:extLst>
          </p:cNvPr>
          <p:cNvSpPr>
            <a:spLocks noGrp="1"/>
          </p:cNvSpPr>
          <p:nvPr/>
        </p:nvSpPr>
        <p:spPr>
          <a:xfrm>
            <a:off x="20383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Skill 小修改</a:t>
            </a:r>
          </a:p>
        </p:txBody>
      </p:sp>
      <p:sp>
        <p:nvSpPr>
          <p:cNvPr id="23" name="knowledge-source-1-note">
            <a:extLst>
              <a:ext uri="{FF2B5EF4-FFF2-40B4-BE49-F238E27FC236}">
                <a16:creationId xmlns:a16="http://schemas.microsoft.com/office/drawing/2014/main" id="{11C9D527-AE0E-41BB-BAD2-0A32C441DE5C}"/>
              </a:ext>
            </a:extLst>
          </p:cNvPr>
          <p:cNvSpPr>
            <a:spLocks noGrp="1"/>
          </p:cNvSpPr>
          <p:nvPr/>
        </p:nvSpPr>
        <p:spPr>
          <a:xfrm>
            <a:off x="1943100" y="1028700"/>
            <a:ext cx="247650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路由 / Prompt / Gate / 限制</a:t>
            </a:r>
          </a:p>
        </p:txBody>
      </p:sp>
      <p:sp>
        <p:nvSpPr>
          <p:cNvPr id="24" name="knowledge-source-2">
            <a:extLst>
              <a:ext uri="{FF2B5EF4-FFF2-40B4-BE49-F238E27FC236}">
                <a16:creationId xmlns:a16="http://schemas.microsoft.com/office/drawing/2014/main" id="{4CD9FA40-F42B-4D79-A6C5-A69D8D01CAE3}"/>
              </a:ext>
            </a:extLst>
          </p:cNvPr>
          <p:cNvSpPr>
            <a:spLocks noGrp="1"/>
          </p:cNvSpPr>
          <p:nvPr/>
        </p:nvSpPr>
        <p:spPr>
          <a:xfrm>
            <a:off x="4683760" y="76454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a:extLst>
              <a:ext uri="{FF2B5EF4-FFF2-40B4-BE49-F238E27FC236}">
                <a16:creationId xmlns:a16="http://schemas.microsoft.com/office/drawing/2014/main" id="{FD18660E-7B06-4404-89B4-819FDDB10F02}"/>
              </a:ext>
            </a:extLst>
          </p:cNvPr>
          <p:cNvSpPr>
            <a:spLocks noGrp="1"/>
          </p:cNvSpPr>
          <p:nvPr/>
        </p:nvSpPr>
        <p:spPr>
          <a:xfrm>
            <a:off x="4972050"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重新运行完整开发</a:t>
            </a:r>
          </a:p>
        </p:txBody>
      </p:sp>
      <p:sp>
        <p:nvSpPr>
          <p:cNvPr id="27" name="knowledge-source-2-note">
            <a:extLst>
              <a:ext uri="{FF2B5EF4-FFF2-40B4-BE49-F238E27FC236}">
                <a16:creationId xmlns:a16="http://schemas.microsoft.com/office/drawing/2014/main" id="{29B1723A-5A11-4EC9-9F93-9FBA049C550B}"/>
              </a:ext>
            </a:extLst>
          </p:cNvPr>
          <p:cNvSpPr>
            <a:spLocks noGrp="1"/>
          </p:cNvSpPr>
          <p:nvPr/>
        </p:nvSpPr>
        <p:spPr>
          <a:xfrm>
            <a:off x="4781550" y="1028700"/>
            <a:ext cx="2667000" cy="161925"/>
          </a:xfrm>
          <a:prstGeom prst="rect">
            <a:avLst/>
          </a:prstGeom>
          <a:noFill/>
          <a:ln w="0">
            <a:noFill/>
            <a:prstDash val="solid"/>
          </a:ln>
        </p:spPr>
        <p:txBody>
          <a:bodyPr wrap="square" lIns="0" tIns="0" rIns="0" bIns="0" anchor="ctr">
            <a:noAutofit/>
          </a:bodyPr>
          <a:lstStyle/>
          <a:p>
            <a:pPr algn="ctr">
              <a:buNone/>
              <a:defRPr sz="810" b="0">
                <a:solidFill>
                  <a:srgbClr val="677684"/>
                </a:solidFill>
                <a:latin typeface="Microsoft YaHei"/>
                <a:ea typeface="Microsoft YaHei"/>
                <a:cs typeface="Microsoft YaHei"/>
              </a:defRPr>
            </a:pPr>
            <a:r>
              <a:rPr sz="810" b="0">
                <a:solidFill>
                  <a:srgbClr val="677684"/>
                </a:solidFill>
                <a:latin typeface="Microsoft YaHei"/>
                <a:ea typeface="Microsoft YaHei"/>
                <a:cs typeface="Microsoft YaHei"/>
              </a:rPr>
              <a:t>CodeGen → Verify → Benchmark → Optimize</a:t>
            </a:r>
          </a:p>
        </p:txBody>
      </p:sp>
      <p:sp>
        <p:nvSpPr>
          <p:cNvPr id="28" name="knowledge-source-3">
            <a:extLst>
              <a:ext uri="{FF2B5EF4-FFF2-40B4-BE49-F238E27FC236}">
                <a16:creationId xmlns:a16="http://schemas.microsoft.com/office/drawing/2014/main" id="{877D0EC0-69E8-492F-B27E-3128FF395ED6}"/>
              </a:ext>
            </a:extLst>
          </p:cNvPr>
          <p:cNvSpPr>
            <a:spLocks noGrp="1"/>
          </p:cNvSpPr>
          <p:nvPr/>
        </p:nvSpPr>
        <p:spPr>
          <a:xfrm>
            <a:off x="7607935" y="764540"/>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a:extLst>
              <a:ext uri="{FF2B5EF4-FFF2-40B4-BE49-F238E27FC236}">
                <a16:creationId xmlns:a16="http://schemas.microsoft.com/office/drawing/2014/main" id="{D3D31AFF-A1D6-4E1E-AC09-4176658BF202}"/>
              </a:ext>
            </a:extLst>
          </p:cNvPr>
          <p:cNvSpPr>
            <a:spLocks noGrp="1"/>
          </p:cNvSpPr>
          <p:nvPr/>
        </p:nvSpPr>
        <p:spPr>
          <a:xfrm>
            <a:off x="7896225" y="80010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验证成本高</a:t>
            </a:r>
          </a:p>
        </p:txBody>
      </p:sp>
      <p:sp>
        <p:nvSpPr>
          <p:cNvPr id="31" name="knowledge-source-3-note">
            <a:extLst>
              <a:ext uri="{FF2B5EF4-FFF2-40B4-BE49-F238E27FC236}">
                <a16:creationId xmlns:a16="http://schemas.microsoft.com/office/drawing/2014/main" id="{1339139C-1351-47A9-9705-04C74CC76091}"/>
              </a:ext>
            </a:extLst>
          </p:cNvPr>
          <p:cNvSpPr>
            <a:spLocks noGrp="1"/>
          </p:cNvSpPr>
          <p:nvPr/>
        </p:nvSpPr>
        <p:spPr>
          <a:xfrm>
            <a:off x="7753350" y="1028700"/>
            <a:ext cx="2571750" cy="161925"/>
          </a:xfrm>
          <a:prstGeom prst="rect">
            <a:avLst/>
          </a:prstGeom>
          <a:noFill/>
          <a:ln w="0">
            <a:noFill/>
            <a:prstDash val="solid"/>
          </a:ln>
        </p:spPr>
        <p:txBody>
          <a:bodyPr wrap="square" lIns="0" tIns="0" rIns="0" bIns="0" anchor="ctr">
            <a:noAutofit/>
          </a:bodyPr>
          <a:lstStyle/>
          <a:p>
            <a:pPr algn="ctr">
              <a:buNone/>
              <a:defRPr sz="863" b="0">
                <a:solidFill>
                  <a:srgbClr val="677684"/>
                </a:solidFill>
                <a:latin typeface="Microsoft YaHei"/>
                <a:ea typeface="Microsoft YaHei"/>
                <a:cs typeface="Microsoft YaHei"/>
              </a:defRPr>
            </a:pPr>
            <a:r>
              <a:rPr sz="863" b="0">
                <a:solidFill>
                  <a:srgbClr val="677684"/>
                </a:solidFill>
                <a:latin typeface="Microsoft YaHei"/>
                <a:ea typeface="Microsoft YaHei"/>
                <a:cs typeface="Microsoft YaHei"/>
              </a:rPr>
              <a:t>时间长 · Token 高 · 修改反馈慢</a:t>
            </a:r>
          </a:p>
        </p:txBody>
      </p:sp>
      <p:sp>
        <p:nvSpPr>
          <p:cNvPr id="32" name="platform-knowledge-node">
            <a:extLst>
              <a:ext uri="{FF2B5EF4-FFF2-40B4-BE49-F238E27FC236}">
                <a16:creationId xmlns:a16="http://schemas.microsoft.com/office/drawing/2014/main" id="{5762D966-7501-439C-A080-138BF198C932}"/>
              </a:ext>
            </a:extLst>
          </p:cNvPr>
          <p:cNvSpPr>
            <a:spLocks noGrp="1"/>
          </p:cNvSpPr>
          <p:nvPr/>
        </p:nvSpPr>
        <p:spPr>
          <a:xfrm>
            <a:off x="4495800" y="1457325"/>
            <a:ext cx="32004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问题不在没有验证，而是验证粒度过大</a:t>
            </a:r>
            <a:endParaRPr sz="1400" b="1">
              <a:solidFill>
                <a:srgbClr val="FFFFFF"/>
              </a:solidFill>
              <a:latin typeface="Arial"/>
              <a:ea typeface="Arial"/>
              <a:cs typeface="Arial"/>
            </a:endParaRPr>
          </a:p>
        </p:txBody>
      </p:sp>
      <p:sp>
        <p:nvSpPr>
          <p:cNvPr id="37" name="phase-a-surface">
            <a:extLst>
              <a:ext uri="{FF2B5EF4-FFF2-40B4-BE49-F238E27FC236}">
                <a16:creationId xmlns:a16="http://schemas.microsoft.com/office/drawing/2014/main" id="{C13E98F9-1213-4634-9BA0-D355DAF962AB}"/>
              </a:ext>
            </a:extLst>
          </p:cNvPr>
          <p:cNvSpPr>
            <a:spLocks noGrp="1"/>
          </p:cNvSpPr>
          <p:nvPr/>
        </p:nvSpPr>
        <p:spPr>
          <a:xfrm>
            <a:off x="1295400" y="1844675"/>
            <a:ext cx="9601200" cy="1000125"/>
          </a:xfrm>
          <a:prstGeom prst="rect">
            <a:avLst/>
          </a:prstGeom>
          <a:solidFill>
            <a:srgbClr val="F1F5F7"/>
          </a:solidFill>
          <a:ln w="9525">
            <a:solidFill>
              <a:srgbClr val="D7E0E6"/>
            </a:solidFill>
            <a:prstDash val="solid"/>
          </a:ln>
        </p:spPr>
      </p:sp>
      <p:sp>
        <p:nvSpPr>
          <p:cNvPr id="38" name="phase-a-accent">
            <a:extLst>
              <a:ext uri="{FF2B5EF4-FFF2-40B4-BE49-F238E27FC236}">
                <a16:creationId xmlns:a16="http://schemas.microsoft.com/office/drawing/2014/main" id="{F5A2FC7B-8AB5-46AF-B186-FC8395962260}"/>
              </a:ext>
            </a:extLst>
          </p:cNvPr>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a:extLst>
              <a:ext uri="{FF2B5EF4-FFF2-40B4-BE49-F238E27FC236}">
                <a16:creationId xmlns:a16="http://schemas.microsoft.com/office/drawing/2014/main" id="{35C3BBFF-CB6B-4D33-8A0A-AE313D295B23}"/>
              </a:ext>
            </a:extLst>
          </p:cNvP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01</a:t>
            </a:r>
          </a:p>
        </p:txBody>
      </p:sp>
      <p:sp>
        <p:nvSpPr>
          <p:cNvPr id="41" name="phase-a-chinese">
            <a:extLst>
              <a:ext uri="{FF2B5EF4-FFF2-40B4-BE49-F238E27FC236}">
                <a16:creationId xmlns:a16="http://schemas.microsoft.com/office/drawing/2014/main" id="{B28E6AE6-91E1-4238-AA3C-AE2DB3CAAE25}"/>
              </a:ext>
            </a:extLst>
          </p:cNvPr>
          <p:cNvSpPr>
            <a:spLocks noGrp="1"/>
          </p:cNvSpPr>
          <p:nvPr/>
        </p:nvSpPr>
        <p:spPr>
          <a:xfrm>
            <a:off x="1866900" y="1952625"/>
            <a:ext cx="2333625" cy="26670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Microsoft YaHei"/>
                <a:ea typeface="Microsoft YaHei"/>
                <a:cs typeface="Microsoft YaHei"/>
              </a:defRPr>
            </a:pPr>
            <a:r>
              <a:rPr sz="1200" b="1">
                <a:solidFill>
                  <a:srgbClr val="173F61"/>
                </a:solidFill>
                <a:latin typeface="Microsoft YaHei"/>
                <a:ea typeface="Microsoft YaHei"/>
                <a:cs typeface="Microsoft YaHei"/>
              </a:rPr>
              <a:t>Main 修改 → Dry Run</a:t>
            </a:r>
          </a:p>
        </p:txBody>
      </p:sp>
      <p:sp>
        <p:nvSpPr>
          <p:cNvPr id="42" name="phase-a-sidebar-divider">
            <a:extLst>
              <a:ext uri="{FF2B5EF4-FFF2-40B4-BE49-F238E27FC236}">
                <a16:creationId xmlns:a16="http://schemas.microsoft.com/office/drawing/2014/main" id="{D9CD0AD7-6CA4-46E4-8E1E-B4EBB896863B}"/>
              </a:ext>
            </a:extLst>
          </p:cNvP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43" name="phase-a-step-divider">
            <a:extLst>
              <a:ext uri="{FF2B5EF4-FFF2-40B4-BE49-F238E27FC236}">
                <a16:creationId xmlns:a16="http://schemas.microsoft.com/office/drawing/2014/main" id="{6E2656A1-D574-4E72-981A-333BF31A1B5E}"/>
              </a:ext>
            </a:extLst>
          </p:cNvPr>
          <p:cNvSpPr>
            <a:spLocks noGrp="1"/>
          </p:cNvSpPr>
          <p:nvPr/>
        </p:nvSpPr>
        <p:spPr>
          <a:xfrm>
            <a:off x="7334250" y="1943100"/>
            <a:ext cx="9525" cy="790575"/>
          </a:xfrm>
          <a:prstGeom prst="rect">
            <a:avLst/>
          </a:prstGeom>
          <a:solidFill>
            <a:srgbClr val="D1DCE3"/>
          </a:solidFill>
          <a:ln w="0">
            <a:solidFill>
              <a:srgbClr val="D1DCE3"/>
            </a:solidFill>
            <a:prstDash val="solid"/>
          </a:ln>
        </p:spPr>
      </p:sp>
      <p:sp>
        <p:nvSpPr>
          <p:cNvPr id="44" name="step-01-number">
            <a:extLst>
              <a:ext uri="{FF2B5EF4-FFF2-40B4-BE49-F238E27FC236}">
                <a16:creationId xmlns:a16="http://schemas.microsoft.com/office/drawing/2014/main" id="{542F2650-F23C-48AB-B99A-5217158F5E90}"/>
              </a:ext>
            </a:extLst>
          </p:cNvPr>
          <p:cNvSpPr>
            <a:spLocks noGrp="1"/>
          </p:cNvSpPr>
          <p:nvPr/>
        </p:nvSpPr>
        <p:spPr>
          <a:xfrm>
            <a:off x="4514850" y="1971675"/>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02</a:t>
            </a:r>
          </a:p>
        </p:txBody>
      </p:sp>
      <p:sp>
        <p:nvSpPr>
          <p:cNvPr id="45" name="step-01-title">
            <a:extLst>
              <a:ext uri="{FF2B5EF4-FFF2-40B4-BE49-F238E27FC236}">
                <a16:creationId xmlns:a16="http://schemas.microsoft.com/office/drawing/2014/main" id="{027DB957-5C36-4487-A1CC-66FA52EBBF59}"/>
              </a:ext>
            </a:extLst>
          </p:cNvPr>
          <p:cNvSpPr>
            <a:spLocks noGrp="1"/>
          </p:cNvSpPr>
          <p:nvPr/>
        </p:nvSpPr>
        <p:spPr>
          <a:xfrm>
            <a:off x="4876800" y="1943100"/>
            <a:ext cx="2286000" cy="24765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Microsoft YaHei"/>
                <a:ea typeface="Microsoft YaHei"/>
                <a:cs typeface="Microsoft YaHei"/>
              </a:defRPr>
            </a:pPr>
            <a:r>
              <a:rPr sz="1200" b="1">
                <a:solidFill>
                  <a:srgbClr val="173F61"/>
                </a:solidFill>
                <a:latin typeface="Microsoft YaHei"/>
                <a:ea typeface="Microsoft YaHei"/>
                <a:cs typeface="Microsoft YaHei"/>
              </a:rPr>
              <a:t>子代理修改 → 单独运行</a:t>
            </a:r>
          </a:p>
        </p:txBody>
      </p:sp>
      <p:sp>
        <p:nvSpPr>
          <p:cNvPr id="46" name="step-01-subtitle">
            <a:extLst>
              <a:ext uri="{FF2B5EF4-FFF2-40B4-BE49-F238E27FC236}">
                <a16:creationId xmlns:a16="http://schemas.microsoft.com/office/drawing/2014/main" id="{FC0EDE66-76ED-46F6-A8BD-E9A38211F0DC}"/>
              </a:ext>
            </a:extLst>
          </p:cNvPr>
          <p:cNvSpPr>
            <a:spLocks noGrp="1"/>
          </p:cNvSpPr>
          <p:nvPr/>
        </p:nvSpPr>
        <p:spPr>
          <a:xfrm>
            <a:off x="4514850" y="2247900"/>
            <a:ext cx="2609850" cy="447675"/>
          </a:xfrm>
          <a:prstGeom prst="rect">
            <a:avLst/>
          </a:prstGeom>
          <a:noFill/>
          <a:ln w="0">
            <a:noFill/>
            <a:prstDash val="solid"/>
          </a:ln>
        </p:spPr>
        <p:txBody>
          <a:bodyPr wrap="square" lIns="0" tIns="0" rIns="0" bIns="0" anchor="ctr">
            <a:noAutofit/>
          </a:bodyPr>
          <a:lstStyle/>
          <a:p>
            <a:pPr algn="ctr">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Fixed Input → Subagent → Output</a:t>
            </a:r>
            <a:endParaRPr sz="825" b="1">
              <a:solidFill>
                <a:srgbClr val="2F3A45"/>
              </a:solidFill>
              <a:latin typeface="Arial"/>
              <a:ea typeface="Arial"/>
              <a:cs typeface="Arial"/>
            </a:endParaRPr>
          </a:p>
          <a:p>
            <a:pPr algn="ctr">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修改哪个，就直接验证哪个</a:t>
            </a:r>
            <a:endParaRPr sz="825" b="1">
              <a:solidFill>
                <a:srgbClr val="2F3A45"/>
              </a:solidFill>
              <a:latin typeface="Arial"/>
              <a:ea typeface="Arial"/>
              <a:cs typeface="Arial"/>
            </a:endParaRPr>
          </a:p>
        </p:txBody>
      </p:sp>
      <p:sp>
        <p:nvSpPr>
          <p:cNvPr id="47" name="step-01-hardware">
            <a:extLst>
              <a:ext uri="{FF2B5EF4-FFF2-40B4-BE49-F238E27FC236}">
                <a16:creationId xmlns:a16="http://schemas.microsoft.com/office/drawing/2014/main" id="{37475903-2BB6-48C3-9134-A7B60FE910D2}"/>
              </a:ext>
            </a:extLst>
          </p:cNvPr>
          <p:cNvSpPr>
            <a:spLocks noGrp="1"/>
          </p:cNvSpPr>
          <p:nvPr/>
        </p:nvSpPr>
        <p:spPr>
          <a:xfrm>
            <a:off x="1571625" y="2314575"/>
            <a:ext cx="2628900" cy="209550"/>
          </a:xfrm>
          <a:prstGeom prst="roundRect">
            <a:avLst>
              <a:gd name="adj" fmla="val 30000"/>
            </a:avLst>
          </a:prstGeom>
          <a:solidFill>
            <a:srgbClr val="FFFFFF"/>
          </a:solidFill>
          <a:ln w="7620">
            <a:solidFill>
              <a:srgbClr val="9FB7C8"/>
            </a:solidFill>
            <a:prstDash val="solid"/>
          </a:ln>
        </p:spPr>
        <p:txBody>
          <a:bodyPr wrap="square" lIns="38100" tIns="9525" rIns="38100" bIns="9525" anchor="ctr">
            <a:noAutofit/>
          </a:bodyPr>
          <a:lstStyle/>
          <a:p>
            <a:pPr algn="ctr">
              <a:buNone/>
              <a:defRPr sz="810" b="1">
                <a:solidFill>
                  <a:srgbClr val="263544"/>
                </a:solidFill>
                <a:latin typeface="Microsoft YaHei"/>
                <a:ea typeface="Microsoft YaHei"/>
                <a:cs typeface="Microsoft YaHei"/>
              </a:defRPr>
            </a:pPr>
            <a:r>
              <a:rPr sz="810" b="1">
                <a:solidFill>
                  <a:srgbClr val="263544"/>
                </a:solidFill>
                <a:latin typeface="Microsoft YaHei"/>
                <a:ea typeface="Microsoft YaHei"/>
                <a:cs typeface="Microsoft YaHei"/>
              </a:rPr>
              <a:t>Input → Main → Route → STOP</a:t>
            </a:r>
          </a:p>
        </p:txBody>
      </p:sp>
      <p:sp>
        <p:nvSpPr>
          <p:cNvPr id="49" name="step-01-stack">
            <a:extLst>
              <a:ext uri="{FF2B5EF4-FFF2-40B4-BE49-F238E27FC236}">
                <a16:creationId xmlns:a16="http://schemas.microsoft.com/office/drawing/2014/main" id="{469CAEAB-EF87-43DD-85C7-3C3C6512503D}"/>
              </a:ext>
            </a:extLst>
          </p:cNvPr>
          <p:cNvSpPr>
            <a:spLocks noGrp="1"/>
          </p:cNvSpPr>
          <p:nvPr/>
        </p:nvSpPr>
        <p:spPr>
          <a:xfrm>
            <a:off x="1571625" y="2562225"/>
            <a:ext cx="2628900" cy="190500"/>
          </a:xfrm>
          <a:prstGeom prst="roundRect">
            <a:avLst>
              <a:gd name="adj" fmla="val 30000"/>
            </a:avLst>
          </a:prstGeom>
          <a:solidFill>
            <a:srgbClr val="EAF0F4"/>
          </a:solidFill>
          <a:ln w="7620">
            <a:solidFill>
              <a:srgbClr val="9FB7C8"/>
            </a:solidFill>
            <a:prstDash val="solid"/>
          </a:ln>
        </p:spPr>
        <p:txBody>
          <a:bodyPr wrap="square" lIns="38100" tIns="9525" rIns="38100" bIns="9525" anchor="ctr">
            <a:noAutofit/>
          </a:bodyPr>
          <a:lstStyle/>
          <a:p>
            <a:pPr algn="ctr">
              <a:buNone/>
              <a:defRPr sz="720" b="0">
                <a:solidFill>
                  <a:srgbClr val="173F61"/>
                </a:solidFill>
                <a:latin typeface="Microsoft YaHei"/>
                <a:ea typeface="Microsoft YaHei"/>
                <a:cs typeface="Microsoft YaHei"/>
              </a:defRPr>
            </a:pPr>
            <a:r>
              <a:rPr sz="720" b="0">
                <a:solidFill>
                  <a:srgbClr val="173F61"/>
                </a:solidFill>
                <a:latin typeface="Microsoft YaHei"/>
                <a:ea typeface="Microsoft YaHei"/>
                <a:cs typeface="Microsoft YaHei"/>
              </a:rPr>
              <a:t>只输出路径 · Router / Gate / Skip / Stop</a:t>
            </a:r>
            <a:endParaRPr sz="790" b="1">
              <a:solidFill>
                <a:srgbClr val="2F3A45"/>
              </a:solidFill>
              <a:latin typeface="Arial"/>
              <a:ea typeface="Arial"/>
              <a:cs typeface="Arial"/>
            </a:endParaRPr>
          </a:p>
        </p:txBody>
      </p:sp>
      <p:sp>
        <p:nvSpPr>
          <p:cNvPr id="52" name="step-02-number">
            <a:extLst>
              <a:ext uri="{FF2B5EF4-FFF2-40B4-BE49-F238E27FC236}">
                <a16:creationId xmlns:a16="http://schemas.microsoft.com/office/drawing/2014/main" id="{2694EF1F-8391-4770-A393-ADA55570EF99}"/>
              </a:ext>
            </a:extLst>
          </p:cNvPr>
          <p:cNvSpPr>
            <a:spLocks noGrp="1"/>
          </p:cNvSpPr>
          <p:nvPr/>
        </p:nvSpPr>
        <p:spPr>
          <a:xfrm>
            <a:off x="7524750" y="1971675"/>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03</a:t>
            </a:r>
          </a:p>
        </p:txBody>
      </p:sp>
      <p:sp>
        <p:nvSpPr>
          <p:cNvPr id="53" name="step-02-title">
            <a:extLst>
              <a:ext uri="{FF2B5EF4-FFF2-40B4-BE49-F238E27FC236}">
                <a16:creationId xmlns:a16="http://schemas.microsoft.com/office/drawing/2014/main" id="{44E1B5DB-B87D-495D-89A7-4CBCC509D270}"/>
              </a:ext>
            </a:extLst>
          </p:cNvPr>
          <p:cNvSpPr>
            <a:spLocks noGrp="1"/>
          </p:cNvSpPr>
          <p:nvPr/>
        </p:nvSpPr>
        <p:spPr>
          <a:xfrm>
            <a:off x="7886700" y="1943100"/>
            <a:ext cx="2762250" cy="247650"/>
          </a:xfrm>
          <a:prstGeom prst="rect">
            <a:avLst/>
          </a:prstGeom>
          <a:noFill/>
          <a:ln w="0">
            <a:noFill/>
            <a:prstDash val="solid"/>
          </a:ln>
        </p:spPr>
        <p:txBody>
          <a:bodyPr wrap="square" lIns="0" tIns="0" rIns="0" bIns="0" anchor="ctr">
            <a:noAutofit/>
          </a:bodyPr>
          <a:lstStyle/>
          <a:p>
            <a:pPr algn="l">
              <a:buNone/>
              <a:defRPr sz="1163" b="1">
                <a:solidFill>
                  <a:srgbClr val="5C7F99"/>
                </a:solidFill>
                <a:latin typeface="Microsoft YaHei"/>
                <a:ea typeface="Microsoft YaHei"/>
                <a:cs typeface="Microsoft YaHei"/>
              </a:defRPr>
            </a:pPr>
            <a:r>
              <a:rPr sz="1163" b="1">
                <a:solidFill>
                  <a:srgbClr val="5C7F99"/>
                </a:solidFill>
                <a:latin typeface="Microsoft YaHei"/>
                <a:ea typeface="Microsoft YaHei"/>
                <a:cs typeface="Microsoft YaHei"/>
              </a:rPr>
              <a:t>中间流程修改 → Artifact Replay</a:t>
            </a:r>
          </a:p>
        </p:txBody>
      </p:sp>
      <p:sp>
        <p:nvSpPr>
          <p:cNvPr id="54" name="step-02-subtitle">
            <a:extLst>
              <a:ext uri="{FF2B5EF4-FFF2-40B4-BE49-F238E27FC236}">
                <a16:creationId xmlns:a16="http://schemas.microsoft.com/office/drawing/2014/main" id="{50337D12-1D94-47D7-AEB8-1C7C8687BA6F}"/>
              </a:ext>
            </a:extLst>
          </p:cNvPr>
          <p:cNvSpPr>
            <a:spLocks noGrp="1"/>
          </p:cNvSpPr>
          <p:nvPr/>
        </p:nvSpPr>
        <p:spPr>
          <a:xfrm>
            <a:off x="7524750" y="2209800"/>
            <a:ext cx="3000375" cy="171450"/>
          </a:xfrm>
          <a:prstGeom prst="rect">
            <a:avLst/>
          </a:prstGeom>
          <a:noFill/>
          <a:ln w="0">
            <a:noFill/>
            <a:prstDash val="solid"/>
          </a:ln>
        </p:spPr>
        <p:txBody>
          <a:bodyPr wrap="square" lIns="0" tIns="0" rIns="0" bIns="0" anchor="ctr">
            <a:noAutofit/>
          </a:bodyPr>
          <a:lstStyle/>
          <a:p>
            <a:pPr algn="l">
              <a:buNone/>
              <a:defRPr sz="863" b="1">
                <a:solidFill>
                  <a:srgbClr val="677684"/>
                </a:solidFill>
                <a:latin typeface="Microsoft YaHei"/>
                <a:ea typeface="Microsoft YaHei"/>
                <a:cs typeface="Microsoft YaHei"/>
              </a:defRPr>
            </a:pPr>
            <a:r>
              <a:rPr sz="863" b="1">
                <a:solidFill>
                  <a:srgbClr val="677684"/>
                </a:solidFill>
                <a:latin typeface="Microsoft YaHei"/>
                <a:ea typeface="Microsoft YaHei"/>
                <a:cs typeface="Microsoft YaHei"/>
              </a:rPr>
              <a:t>从修改分支最近的有效产物继续</a:t>
            </a:r>
          </a:p>
        </p:txBody>
      </p:sp>
      <p:sp>
        <p:nvSpPr>
          <p:cNvPr id="55" name="step-02-tag-1">
            <a:extLst>
              <a:ext uri="{FF2B5EF4-FFF2-40B4-BE49-F238E27FC236}">
                <a16:creationId xmlns:a16="http://schemas.microsoft.com/office/drawing/2014/main" id="{F77177A2-415E-401D-93A0-85734AB55AFB}"/>
              </a:ext>
            </a:extLst>
          </p:cNvPr>
          <p:cNvSpPr>
            <a:spLocks noGrp="1"/>
          </p:cNvSpPr>
          <p:nvPr/>
        </p:nvSpPr>
        <p:spPr>
          <a:xfrm>
            <a:off x="7524750" y="2447925"/>
            <a:ext cx="5524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Kernel</a:t>
            </a:r>
          </a:p>
        </p:txBody>
      </p:sp>
      <p:sp>
        <p:nvSpPr>
          <p:cNvPr id="56" name="step-02-tag-2">
            <a:extLst>
              <a:ext uri="{FF2B5EF4-FFF2-40B4-BE49-F238E27FC236}">
                <a16:creationId xmlns:a16="http://schemas.microsoft.com/office/drawing/2014/main" id="{A515CAC6-C5D5-4553-9D80-50DA2EBA93C0}"/>
              </a:ext>
            </a:extLst>
          </p:cNvPr>
          <p:cNvSpPr>
            <a:spLocks noGrp="1"/>
          </p:cNvSpPr>
          <p:nvPr/>
        </p:nvSpPr>
        <p:spPr>
          <a:xfrm>
            <a:off x="8124825" y="2447925"/>
            <a:ext cx="5524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Result</a:t>
            </a:r>
          </a:p>
        </p:txBody>
      </p:sp>
      <p:sp>
        <p:nvSpPr>
          <p:cNvPr id="58" name="step-02-tag-4">
            <a:extLst>
              <a:ext uri="{FF2B5EF4-FFF2-40B4-BE49-F238E27FC236}">
                <a16:creationId xmlns:a16="http://schemas.microsoft.com/office/drawing/2014/main" id="{B0C4B153-563F-48C7-80A9-9144FD81FE9F}"/>
              </a:ext>
            </a:extLst>
          </p:cNvPr>
          <p:cNvSpPr>
            <a:spLocks noGrp="1"/>
          </p:cNvSpPr>
          <p:nvPr/>
        </p:nvSpPr>
        <p:spPr>
          <a:xfrm>
            <a:off x="8724900" y="2447925"/>
            <a:ext cx="590550" cy="200025"/>
          </a:xfrm>
          <a:prstGeom prst="roundRect">
            <a:avLst>
              <a:gd name="adj" fmla="val 31579"/>
            </a:avLst>
          </a:prstGeom>
          <a:solidFill>
            <a:srgbClr val="FFFFFF"/>
          </a:solidFill>
          <a:ln w="7620">
            <a:solidFill>
              <a:srgbClr val="9FB7C8"/>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Metrics</a:t>
            </a:r>
          </a:p>
        </p:txBody>
      </p:sp>
      <p:sp>
        <p:nvSpPr>
          <p:cNvPr id="59" name="step-02-tag-5">
            <a:extLst>
              <a:ext uri="{FF2B5EF4-FFF2-40B4-BE49-F238E27FC236}">
                <a16:creationId xmlns:a16="http://schemas.microsoft.com/office/drawing/2014/main" id="{2E61B5D6-AB32-4776-A5EE-62447A2DEE54}"/>
              </a:ext>
            </a:extLst>
          </p:cNvPr>
          <p:cNvSpPr>
            <a:spLocks noGrp="1"/>
          </p:cNvSpPr>
          <p:nvPr/>
        </p:nvSpPr>
        <p:spPr>
          <a:xfrm>
            <a:off x="9363075" y="2447925"/>
            <a:ext cx="62865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修改位置</a:t>
            </a:r>
          </a:p>
        </p:txBody>
      </p:sp>
      <p:sp>
        <p:nvSpPr>
          <p:cNvPr id="60" name="step-02-tag-6">
            <a:extLst>
              <a:ext uri="{FF2B5EF4-FFF2-40B4-BE49-F238E27FC236}">
                <a16:creationId xmlns:a16="http://schemas.microsoft.com/office/drawing/2014/main" id="{7F3A9B4D-DD78-4DDD-97F7-080D90E035DF}"/>
              </a:ext>
            </a:extLst>
          </p:cNvPr>
          <p:cNvSpPr>
            <a:spLocks noGrp="1"/>
          </p:cNvSpPr>
          <p:nvPr/>
        </p:nvSpPr>
        <p:spPr>
          <a:xfrm>
            <a:off x="10039350" y="2447925"/>
            <a:ext cx="62865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Continue</a:t>
            </a:r>
          </a:p>
        </p:txBody>
      </p:sp>
      <p:sp>
        <p:nvSpPr>
          <p:cNvPr id="63" name="phase-b-surface">
            <a:extLst>
              <a:ext uri="{FF2B5EF4-FFF2-40B4-BE49-F238E27FC236}">
                <a16:creationId xmlns:a16="http://schemas.microsoft.com/office/drawing/2014/main" id="{631C6658-6A40-4068-8FDF-03F5ABD7261D}"/>
              </a:ext>
            </a:extLst>
          </p:cNvPr>
          <p:cNvSpPr>
            <a:spLocks noGrp="1"/>
          </p:cNvSpPr>
          <p:nvPr/>
        </p:nvSpPr>
        <p:spPr>
          <a:xfrm>
            <a:off x="1295400" y="2892425"/>
            <a:ext cx="9601200" cy="971550"/>
          </a:xfrm>
          <a:prstGeom prst="rect">
            <a:avLst/>
          </a:prstGeom>
          <a:solidFill>
            <a:srgbClr val="F6F8F9"/>
          </a:solidFill>
          <a:ln w="9525">
            <a:solidFill>
              <a:srgbClr val="DCE4E9"/>
            </a:solidFill>
            <a:prstDash val="solid"/>
          </a:ln>
        </p:spPr>
      </p:sp>
      <p:sp>
        <p:nvSpPr>
          <p:cNvPr id="64" name="phase-b-accent">
            <a:extLst>
              <a:ext uri="{FF2B5EF4-FFF2-40B4-BE49-F238E27FC236}">
                <a16:creationId xmlns:a16="http://schemas.microsoft.com/office/drawing/2014/main" id="{35124B45-02EA-4E61-BF62-155BBA81FF82}"/>
              </a:ext>
            </a:extLst>
          </p:cNvPr>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65" name="phase-b-letter">
            <a:extLst>
              <a:ext uri="{FF2B5EF4-FFF2-40B4-BE49-F238E27FC236}">
                <a16:creationId xmlns:a16="http://schemas.microsoft.com/office/drawing/2014/main" id="{44F68221-2EF3-40D6-B445-9236CB8A090E}"/>
              </a:ext>
            </a:extLst>
          </p:cNvPr>
          <p:cNvSpPr>
            <a:spLocks noGrp="1"/>
          </p:cNvSpPr>
          <p:nvPr/>
        </p:nvSpPr>
        <p:spPr>
          <a:xfrm>
            <a:off x="1504950" y="300037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B</a:t>
            </a:r>
          </a:p>
        </p:txBody>
      </p:sp>
      <p:sp>
        <p:nvSpPr>
          <p:cNvPr id="67" name="phase-b-chinese">
            <a:extLst>
              <a:ext uri="{FF2B5EF4-FFF2-40B4-BE49-F238E27FC236}">
                <a16:creationId xmlns:a16="http://schemas.microsoft.com/office/drawing/2014/main" id="{B9EA628B-BC8E-43F9-80A2-649FEB1374C6}"/>
              </a:ext>
            </a:extLst>
          </p:cNvPr>
          <p:cNvSpPr>
            <a:spLocks noGrp="1"/>
          </p:cNvSpPr>
          <p:nvPr/>
        </p:nvSpPr>
        <p:spPr>
          <a:xfrm>
            <a:off x="1571625" y="3248025"/>
            <a:ext cx="1238250" cy="285750"/>
          </a:xfrm>
          <a:prstGeom prst="rect">
            <a:avLst/>
          </a:prstGeom>
          <a:noFill/>
          <a:ln w="0">
            <a:noFill/>
            <a:prstDash val="solid"/>
          </a:ln>
        </p:spPr>
        <p:txBody>
          <a:bodyPr wrap="square" lIns="0" tIns="0" rIns="0" bIns="0" anchor="ctr">
            <a:noAutofit/>
          </a:bodyPr>
          <a:lstStyle/>
          <a:p>
            <a:pPr algn="l">
              <a:buNone/>
              <a:defRPr sz="1163" b="1">
                <a:solidFill>
                  <a:srgbClr val="5C7F99"/>
                </a:solidFill>
                <a:latin typeface="Microsoft YaHei"/>
                <a:ea typeface="Microsoft YaHei"/>
                <a:cs typeface="Microsoft YaHei"/>
              </a:defRPr>
            </a:pPr>
            <a:r>
              <a:rPr sz="1163" b="1">
                <a:solidFill>
                  <a:srgbClr val="5C7F99"/>
                </a:solidFill>
                <a:latin typeface="Microsoft YaHei"/>
                <a:ea typeface="Microsoft YaHei"/>
                <a:cs typeface="Microsoft YaHei"/>
              </a:rPr>
              <a:t>集成与全面验证</a:t>
            </a:r>
          </a:p>
        </p:txBody>
      </p:sp>
      <p:sp>
        <p:nvSpPr>
          <p:cNvPr id="68" name="phase-b-sidebar-divider">
            <a:extLst>
              <a:ext uri="{FF2B5EF4-FFF2-40B4-BE49-F238E27FC236}">
                <a16:creationId xmlns:a16="http://schemas.microsoft.com/office/drawing/2014/main" id="{50E4D2FB-6ACE-4364-BB95-14C451A13CC6}"/>
              </a:ext>
            </a:extLst>
          </p:cNvPr>
          <p:cNvSpPr>
            <a:spLocks noGrp="1"/>
          </p:cNvSpPr>
          <p:nvPr/>
        </p:nvSpPr>
        <p:spPr>
          <a:xfrm>
            <a:off x="2847975" y="2981325"/>
            <a:ext cx="9525" cy="781050"/>
          </a:xfrm>
          <a:prstGeom prst="rect">
            <a:avLst/>
          </a:prstGeom>
          <a:solidFill>
            <a:srgbClr val="D7E0E6"/>
          </a:solidFill>
          <a:ln w="0">
            <a:solidFill>
              <a:srgbClr val="D7E0E6"/>
            </a:solidFill>
            <a:prstDash val="solid"/>
          </a:ln>
        </p:spPr>
      </p:sp>
      <p:sp>
        <p:nvSpPr>
          <p:cNvPr id="69" name="phase-b-step-divider">
            <a:extLst>
              <a:ext uri="{FF2B5EF4-FFF2-40B4-BE49-F238E27FC236}">
                <a16:creationId xmlns:a16="http://schemas.microsoft.com/office/drawing/2014/main" id="{180BFD58-47A4-46FE-8231-9B3FC25AF735}"/>
              </a:ext>
            </a:extLst>
          </p:cNvPr>
          <p:cNvSpPr>
            <a:spLocks noGrp="1"/>
          </p:cNvSpPr>
          <p:nvPr/>
        </p:nvSpPr>
        <p:spPr>
          <a:xfrm>
            <a:off x="6924675" y="2981325"/>
            <a:ext cx="9525" cy="781050"/>
          </a:xfrm>
          <a:prstGeom prst="rect">
            <a:avLst/>
          </a:prstGeom>
          <a:solidFill>
            <a:srgbClr val="D7E0E6"/>
          </a:solidFill>
          <a:ln w="0">
            <a:solidFill>
              <a:srgbClr val="D7E0E6"/>
            </a:solidFill>
            <a:prstDash val="solid"/>
          </a:ln>
        </p:spPr>
      </p:sp>
      <p:sp>
        <p:nvSpPr>
          <p:cNvPr id="70" name="step-03-number">
            <a:extLst>
              <a:ext uri="{FF2B5EF4-FFF2-40B4-BE49-F238E27FC236}">
                <a16:creationId xmlns:a16="http://schemas.microsoft.com/office/drawing/2014/main" id="{6B15DC1F-B2E6-4B0E-9606-56DD31B76A1C}"/>
              </a:ext>
            </a:extLst>
          </p:cNvPr>
          <p:cNvSpPr>
            <a:spLocks noGrp="1"/>
          </p:cNvSpPr>
          <p:nvPr/>
        </p:nvSpPr>
        <p:spPr>
          <a:xfrm>
            <a:off x="3009900" y="2981325"/>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04</a:t>
            </a:r>
          </a:p>
        </p:txBody>
      </p:sp>
      <p:sp>
        <p:nvSpPr>
          <p:cNvPr id="71" name="step-03-title">
            <a:extLst>
              <a:ext uri="{FF2B5EF4-FFF2-40B4-BE49-F238E27FC236}">
                <a16:creationId xmlns:a16="http://schemas.microsoft.com/office/drawing/2014/main" id="{E708CCC2-CB4D-496E-B416-E8393D2BB238}"/>
              </a:ext>
            </a:extLst>
          </p:cNvPr>
          <p:cNvSpPr>
            <a:spLocks noGrp="1"/>
          </p:cNvSpPr>
          <p:nvPr/>
        </p:nvSpPr>
        <p:spPr>
          <a:xfrm>
            <a:off x="3429000" y="2952750"/>
            <a:ext cx="2381250" cy="247650"/>
          </a:xfrm>
          <a:prstGeom prst="rect">
            <a:avLst/>
          </a:prstGeom>
          <a:noFill/>
          <a:ln w="0">
            <a:noFill/>
            <a:prstDash val="solid"/>
          </a:ln>
        </p:spPr>
        <p:txBody>
          <a:bodyPr wrap="square" lIns="0" tIns="0" rIns="0" bIns="0" anchor="ctr">
            <a:noAutofit/>
          </a:bodyPr>
          <a:lstStyle/>
          <a:p>
            <a:pPr algn="l">
              <a:buNone/>
              <a:defRPr sz="1238" b="1">
                <a:solidFill>
                  <a:srgbClr val="5C7F99"/>
                </a:solidFill>
                <a:latin typeface="Microsoft YaHei"/>
                <a:ea typeface="Microsoft YaHei"/>
                <a:cs typeface="Microsoft YaHei"/>
              </a:defRPr>
            </a:pPr>
            <a:r>
              <a:rPr sz="1238" b="1">
                <a:solidFill>
                  <a:srgbClr val="5C7F99"/>
                </a:solidFill>
                <a:latin typeface="Microsoft YaHei"/>
                <a:ea typeface="Microsoft YaHei"/>
                <a:cs typeface="Microsoft YaHei"/>
              </a:rPr>
              <a:t>主流程修改 → Smoke Test</a:t>
            </a:r>
          </a:p>
        </p:txBody>
      </p:sp>
      <p:sp>
        <p:nvSpPr>
          <p:cNvPr id="72" name="step-03-subtitle">
            <a:extLst>
              <a:ext uri="{FF2B5EF4-FFF2-40B4-BE49-F238E27FC236}">
                <a16:creationId xmlns:a16="http://schemas.microsoft.com/office/drawing/2014/main" id="{73011874-7B79-4021-9429-99B1A4916471}"/>
              </a:ext>
            </a:extLst>
          </p:cNvPr>
          <p:cNvSpPr>
            <a:spLocks noGrp="1"/>
          </p:cNvSpPr>
          <p:nvPr/>
        </p:nvSpPr>
        <p:spPr>
          <a:xfrm>
            <a:off x="3429000" y="3190875"/>
            <a:ext cx="3143250" cy="171450"/>
          </a:xfrm>
          <a:prstGeom prst="rect">
            <a:avLst/>
          </a:prstGeom>
          <a:noFill/>
          <a:ln w="0">
            <a:noFill/>
            <a:prstDash val="solid"/>
          </a:ln>
        </p:spPr>
        <p:txBody>
          <a:bodyPr wrap="square" lIns="0" tIns="0" rIns="0" bIns="0" anchor="ctr">
            <a:noAutofit/>
          </a:bodyPr>
          <a:lstStyle/>
          <a:p>
            <a:pPr algn="l">
              <a:buNone/>
              <a:defRPr sz="863" b="1">
                <a:solidFill>
                  <a:srgbClr val="263544"/>
                </a:solidFill>
                <a:latin typeface="Microsoft YaHei"/>
                <a:ea typeface="Microsoft YaHei"/>
                <a:cs typeface="Microsoft YaHei"/>
              </a:defRPr>
            </a:pPr>
            <a:r>
              <a:rPr sz="863" b="1">
                <a:solidFill>
                  <a:srgbClr val="263544"/>
                </a:solidFill>
                <a:latin typeface="Microsoft YaHei"/>
                <a:ea typeface="Microsoft YaHei"/>
                <a:cs typeface="Microsoft YaHei"/>
              </a:rPr>
              <a:t>简单算子 + 小 Shape，快速验证模块连接</a:t>
            </a:r>
          </a:p>
        </p:txBody>
      </p:sp>
      <p:sp>
        <p:nvSpPr>
          <p:cNvPr id="74" name="step-03-tag-1">
            <a:extLst>
              <a:ext uri="{FF2B5EF4-FFF2-40B4-BE49-F238E27FC236}">
                <a16:creationId xmlns:a16="http://schemas.microsoft.com/office/drawing/2014/main" id="{95585765-89E2-455F-816E-0B2326C8453C}"/>
              </a:ext>
            </a:extLst>
          </p:cNvPr>
          <p:cNvSpPr>
            <a:spLocks noGrp="1"/>
          </p:cNvSpPr>
          <p:nvPr/>
        </p:nvSpPr>
        <p:spPr>
          <a:xfrm>
            <a:off x="3429000" y="3457575"/>
            <a:ext cx="895350" cy="200025"/>
          </a:xfrm>
          <a:prstGeom prst="roundRect">
            <a:avLst>
              <a:gd name="adj" fmla="val 30000"/>
            </a:avLst>
          </a:prstGeom>
          <a:solidFill>
            <a:srgbClr val="FFFFFF"/>
          </a:solidFill>
          <a:ln w="7620">
            <a:solidFill>
              <a:srgbClr val="9BB2C2"/>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Simple Operator</a:t>
            </a:r>
          </a:p>
        </p:txBody>
      </p:sp>
      <p:sp>
        <p:nvSpPr>
          <p:cNvPr id="75" name="step-03-tag-2">
            <a:extLst>
              <a:ext uri="{FF2B5EF4-FFF2-40B4-BE49-F238E27FC236}">
                <a16:creationId xmlns:a16="http://schemas.microsoft.com/office/drawing/2014/main" id="{260D5653-500A-465B-AE0E-67BA411F41A3}"/>
              </a:ext>
            </a:extLst>
          </p:cNvPr>
          <p:cNvSpPr>
            <a:spLocks noGrp="1"/>
          </p:cNvSpPr>
          <p:nvPr/>
        </p:nvSpPr>
        <p:spPr>
          <a:xfrm>
            <a:off x="4381500" y="3457575"/>
            <a:ext cx="323850" cy="200025"/>
          </a:xfrm>
          <a:prstGeom prst="roundRect">
            <a:avLst>
              <a:gd name="adj" fmla="val 30000"/>
            </a:avLst>
          </a:prstGeom>
          <a:solidFill>
            <a:srgbClr val="F6F8F9"/>
          </a:solidFill>
          <a:ln w="0">
            <a:solidFill>
              <a:srgbClr val="9FB7C8"/>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a:t>
            </a:r>
          </a:p>
        </p:txBody>
      </p:sp>
      <p:sp>
        <p:nvSpPr>
          <p:cNvPr id="76" name="step-03-tag-3">
            <a:extLst>
              <a:ext uri="{FF2B5EF4-FFF2-40B4-BE49-F238E27FC236}">
                <a16:creationId xmlns:a16="http://schemas.microsoft.com/office/drawing/2014/main" id="{A48EC73F-2032-470F-B5FE-3E4CAABEC1B6}"/>
              </a:ext>
            </a:extLst>
          </p:cNvPr>
          <p:cNvSpPr>
            <a:spLocks noGrp="1"/>
          </p:cNvSpPr>
          <p:nvPr/>
        </p:nvSpPr>
        <p:spPr>
          <a:xfrm>
            <a:off x="4762500" y="3457575"/>
            <a:ext cx="781050" cy="200025"/>
          </a:xfrm>
          <a:prstGeom prst="roundRect">
            <a:avLst>
              <a:gd name="adj" fmla="val 30000"/>
            </a:avLst>
          </a:prstGeom>
          <a:solidFill>
            <a:srgbClr val="FFFFFF"/>
          </a:solidFill>
          <a:ln w="7620">
            <a:solidFill>
              <a:srgbClr val="9BB2C2"/>
            </a:solidFill>
            <a:prstDash val="solid"/>
          </a:ln>
        </p:spPr>
        <p:txBody>
          <a:bodyPr wrap="square" lIns="38100" tIns="9525" rIns="38100" bIns="9525" anchor="ctr">
            <a:noAutofit/>
          </a:bodyPr>
          <a:lstStyle/>
          <a:p>
            <a:pPr algn="ctr">
              <a:buNone/>
              <a:defRPr sz="788" b="0">
                <a:solidFill>
                  <a:srgbClr val="263544"/>
                </a:solidFill>
                <a:latin typeface="Microsoft YaHei"/>
                <a:ea typeface="Microsoft YaHei"/>
                <a:cs typeface="Microsoft YaHei"/>
              </a:defRPr>
            </a:pPr>
            <a:r>
              <a:rPr sz="788" b="0">
                <a:solidFill>
                  <a:srgbClr val="263544"/>
                </a:solidFill>
                <a:latin typeface="Microsoft YaHei"/>
                <a:ea typeface="Microsoft YaHei"/>
                <a:cs typeface="Microsoft YaHei"/>
              </a:rPr>
              <a:t>Small Shape</a:t>
            </a:r>
          </a:p>
        </p:txBody>
      </p:sp>
      <p:sp>
        <p:nvSpPr>
          <p:cNvPr id="77" name="step-03-tag-4">
            <a:extLst>
              <a:ext uri="{FF2B5EF4-FFF2-40B4-BE49-F238E27FC236}">
                <a16:creationId xmlns:a16="http://schemas.microsoft.com/office/drawing/2014/main" id="{C376E68C-C7D8-4804-9CD6-44857794CA54}"/>
              </a:ext>
            </a:extLst>
          </p:cNvPr>
          <p:cNvSpPr>
            <a:spLocks noGrp="1"/>
          </p:cNvSpPr>
          <p:nvPr/>
        </p:nvSpPr>
        <p:spPr>
          <a:xfrm>
            <a:off x="5600700" y="3457575"/>
            <a:ext cx="800100" cy="200025"/>
          </a:xfrm>
          <a:prstGeom prst="roundRect">
            <a:avLst>
              <a:gd name="adj" fmla="val 30000"/>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Main Workflow</a:t>
            </a:r>
          </a:p>
        </p:txBody>
      </p:sp>
      <p:sp>
        <p:nvSpPr>
          <p:cNvPr id="78" name="step-03-tag-5">
            <a:extLst>
              <a:ext uri="{FF2B5EF4-FFF2-40B4-BE49-F238E27FC236}">
                <a16:creationId xmlns:a16="http://schemas.microsoft.com/office/drawing/2014/main" id="{71F1244A-EAC3-4B0C-88F7-1B1E9A43A05C}"/>
              </a:ext>
            </a:extLst>
          </p:cNvPr>
          <p:cNvSpPr>
            <a:spLocks noGrp="1"/>
          </p:cNvSpPr>
          <p:nvPr/>
        </p:nvSpPr>
        <p:spPr>
          <a:xfrm>
            <a:off x="6457950" y="3457575"/>
            <a:ext cx="381000" cy="200025"/>
          </a:xfrm>
          <a:prstGeom prst="roundRect">
            <a:avLst>
              <a:gd name="adj" fmla="val 30000"/>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5C7F99"/>
                </a:solidFill>
                <a:latin typeface="Microsoft YaHei"/>
                <a:ea typeface="Microsoft YaHei"/>
                <a:cs typeface="Microsoft YaHei"/>
              </a:defRPr>
            </a:pPr>
            <a:r>
              <a:rPr sz="788" b="1">
                <a:solidFill>
                  <a:srgbClr val="5C7F99"/>
                </a:solidFill>
                <a:latin typeface="Microsoft YaHei"/>
                <a:ea typeface="Microsoft YaHei"/>
                <a:cs typeface="Microsoft YaHei"/>
              </a:rPr>
              <a:t>PASS</a:t>
            </a:r>
          </a:p>
        </p:txBody>
      </p:sp>
      <p:sp>
        <p:nvSpPr>
          <p:cNvPr id="81" name="step-04-number">
            <a:extLst>
              <a:ext uri="{FF2B5EF4-FFF2-40B4-BE49-F238E27FC236}">
                <a16:creationId xmlns:a16="http://schemas.microsoft.com/office/drawing/2014/main" id="{52221225-C23A-46DC-BBF4-FFEE0E417C0D}"/>
              </a:ext>
            </a:extLst>
          </p:cNvPr>
          <p:cNvSpPr>
            <a:spLocks noGrp="1"/>
          </p:cNvSpPr>
          <p:nvPr/>
        </p:nvSpPr>
        <p:spPr>
          <a:xfrm>
            <a:off x="7067550" y="2981325"/>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Microsoft YaHei"/>
                <a:ea typeface="Microsoft YaHei"/>
                <a:cs typeface="Microsoft YaHei"/>
              </a:defRPr>
            </a:pPr>
            <a:r>
              <a:rPr sz="1125" b="1">
                <a:solidFill>
                  <a:srgbClr val="5C7F99"/>
                </a:solidFill>
                <a:latin typeface="Microsoft YaHei"/>
                <a:ea typeface="Microsoft YaHei"/>
                <a:cs typeface="Microsoft YaHei"/>
              </a:rPr>
              <a:t>05</a:t>
            </a:r>
          </a:p>
        </p:txBody>
      </p:sp>
      <p:sp>
        <p:nvSpPr>
          <p:cNvPr id="82" name="step-04-title">
            <a:extLst>
              <a:ext uri="{FF2B5EF4-FFF2-40B4-BE49-F238E27FC236}">
                <a16:creationId xmlns:a16="http://schemas.microsoft.com/office/drawing/2014/main" id="{F2BD160D-7767-481F-BE44-4CDC6835A7C5}"/>
              </a:ext>
            </a:extLst>
          </p:cNvPr>
          <p:cNvSpPr>
            <a:spLocks noGrp="1"/>
          </p:cNvSpPr>
          <p:nvPr/>
        </p:nvSpPr>
        <p:spPr>
          <a:xfrm>
            <a:off x="7486650" y="2952750"/>
            <a:ext cx="2857500" cy="247650"/>
          </a:xfrm>
          <a:prstGeom prst="rect">
            <a:avLst/>
          </a:prstGeom>
          <a:noFill/>
          <a:ln w="0">
            <a:noFill/>
            <a:prstDash val="solid"/>
          </a:ln>
        </p:spPr>
        <p:txBody>
          <a:bodyPr wrap="square" lIns="0" tIns="0" rIns="0" bIns="0" anchor="ctr">
            <a:noAutofit/>
          </a:bodyPr>
          <a:lstStyle/>
          <a:p>
            <a:pPr algn="l">
              <a:buNone/>
              <a:defRPr sz="1238" b="1">
                <a:solidFill>
                  <a:srgbClr val="173F61"/>
                </a:solidFill>
                <a:latin typeface="Microsoft YaHei"/>
                <a:ea typeface="Microsoft YaHei"/>
                <a:cs typeface="Microsoft YaHei"/>
              </a:defRPr>
            </a:pPr>
            <a:r>
              <a:rPr sz="1238" b="1">
                <a:solidFill>
                  <a:srgbClr val="173F61"/>
                </a:solidFill>
                <a:latin typeface="Microsoft YaHei"/>
                <a:ea typeface="Microsoft YaHei"/>
                <a:cs typeface="Microsoft YaHei"/>
              </a:rPr>
              <a:t>版本级修改 → Regression Suite</a:t>
            </a:r>
          </a:p>
        </p:txBody>
      </p:sp>
      <p:sp>
        <p:nvSpPr>
          <p:cNvPr id="83" name="step-04-subtitle">
            <a:extLst>
              <a:ext uri="{FF2B5EF4-FFF2-40B4-BE49-F238E27FC236}">
                <a16:creationId xmlns:a16="http://schemas.microsoft.com/office/drawing/2014/main" id="{6B351DCC-451C-4899-8D94-9030A1B44B9C}"/>
              </a:ext>
            </a:extLst>
          </p:cNvPr>
          <p:cNvSpPr>
            <a:spLocks noGrp="1"/>
          </p:cNvSpPr>
          <p:nvPr/>
        </p:nvSpPr>
        <p:spPr>
          <a:xfrm>
            <a:off x="7486650" y="3190875"/>
            <a:ext cx="3143250" cy="171450"/>
          </a:xfrm>
          <a:prstGeom prst="rect">
            <a:avLst/>
          </a:prstGeom>
          <a:noFill/>
          <a:ln w="0">
            <a:noFill/>
            <a:prstDash val="solid"/>
          </a:ln>
        </p:spPr>
        <p:txBody>
          <a:bodyPr wrap="square" lIns="0" tIns="0" rIns="0" bIns="0" anchor="ctr">
            <a:noAutofit/>
          </a:bodyPr>
          <a:lstStyle/>
          <a:p>
            <a:pPr algn="l">
              <a:buNone/>
              <a:defRPr sz="825" b="1">
                <a:solidFill>
                  <a:srgbClr val="677684"/>
                </a:solidFill>
                <a:latin typeface="Microsoft YaHei"/>
                <a:ea typeface="Microsoft YaHei"/>
                <a:cs typeface="Microsoft YaHei"/>
              </a:defRPr>
            </a:pPr>
            <a:r>
              <a:rPr sz="825" b="1">
                <a:solidFill>
                  <a:srgbClr val="677684"/>
                </a:solidFill>
                <a:latin typeface="Microsoft YaHei"/>
                <a:ea typeface="Microsoft YaHei"/>
                <a:cs typeface="Microsoft YaHei"/>
              </a:rPr>
              <a:t>Periodic / Release · 固定数据集，空闲时全面回归</a:t>
            </a:r>
            <a:endParaRPr sz="825" b="1">
              <a:solidFill>
                <a:srgbClr val="2F3A45"/>
              </a:solidFill>
              <a:latin typeface="Arial"/>
              <a:ea typeface="Arial"/>
              <a:cs typeface="Arial"/>
            </a:endParaRPr>
          </a:p>
        </p:txBody>
      </p:sp>
      <p:sp>
        <p:nvSpPr>
          <p:cNvPr id="84" name="step-04-tag-1">
            <a:extLst>
              <a:ext uri="{FF2B5EF4-FFF2-40B4-BE49-F238E27FC236}">
                <a16:creationId xmlns:a16="http://schemas.microsoft.com/office/drawing/2014/main" id="{78912E8B-ADF5-4A08-B54B-30727BB4DE31}"/>
              </a:ext>
            </a:extLst>
          </p:cNvPr>
          <p:cNvSpPr>
            <a:spLocks noGrp="1"/>
          </p:cNvSpPr>
          <p:nvPr/>
        </p:nvSpPr>
        <p:spPr>
          <a:xfrm>
            <a:off x="7486650" y="3438525"/>
            <a:ext cx="8382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Elementwise</a:t>
            </a:r>
          </a:p>
        </p:txBody>
      </p:sp>
      <p:sp>
        <p:nvSpPr>
          <p:cNvPr id="85" name="step-04-tag-2">
            <a:extLst>
              <a:ext uri="{FF2B5EF4-FFF2-40B4-BE49-F238E27FC236}">
                <a16:creationId xmlns:a16="http://schemas.microsoft.com/office/drawing/2014/main" id="{E911401C-848F-4499-B85A-6F69B2912E20}"/>
              </a:ext>
            </a:extLst>
          </p:cNvPr>
          <p:cNvSpPr>
            <a:spLocks noGrp="1"/>
          </p:cNvSpPr>
          <p:nvPr/>
        </p:nvSpPr>
        <p:spPr>
          <a:xfrm>
            <a:off x="8382000" y="3438525"/>
            <a:ext cx="7620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Reduction</a:t>
            </a:r>
          </a:p>
        </p:txBody>
      </p:sp>
      <p:sp>
        <p:nvSpPr>
          <p:cNvPr id="86" name="step-04-tag-3">
            <a:extLst>
              <a:ext uri="{FF2B5EF4-FFF2-40B4-BE49-F238E27FC236}">
                <a16:creationId xmlns:a16="http://schemas.microsoft.com/office/drawing/2014/main" id="{5BD83925-B2BE-440E-9538-51504A5D81B0}"/>
              </a:ext>
            </a:extLst>
          </p:cNvPr>
          <p:cNvSpPr>
            <a:spLocks noGrp="1"/>
          </p:cNvSpPr>
          <p:nvPr/>
        </p:nvSpPr>
        <p:spPr>
          <a:xfrm>
            <a:off x="9201150" y="3438525"/>
            <a:ext cx="1143000" cy="200025"/>
          </a:xfrm>
          <a:prstGeom prst="roundRect">
            <a:avLst>
              <a:gd name="adj" fmla="val 31579"/>
            </a:avLst>
          </a:prstGeom>
          <a:solidFill>
            <a:srgbClr val="EAF0F4"/>
          </a:solidFill>
          <a:ln w="7620">
            <a:solidFill>
              <a:srgbClr val="9BB2C2"/>
            </a:solidFill>
            <a:prstDash val="solid"/>
          </a:ln>
        </p:spPr>
        <p:txBody>
          <a:bodyPr wrap="square" lIns="38100" tIns="9525" rIns="38100" bIns="9525" anchor="ctr">
            <a:noAutofit/>
          </a:bodyPr>
          <a:lstStyle/>
          <a:p>
            <a:pPr algn="ctr">
              <a:buNone/>
              <a:defRPr sz="788" b="1">
                <a:solidFill>
                  <a:srgbClr val="4B6F88"/>
                </a:solidFill>
                <a:latin typeface="Microsoft YaHei"/>
                <a:ea typeface="Microsoft YaHei"/>
                <a:cs typeface="Microsoft YaHei"/>
              </a:defRPr>
            </a:pPr>
            <a:r>
              <a:rPr sz="788" b="1">
                <a:solidFill>
                  <a:srgbClr val="4B6F88"/>
                </a:solidFill>
                <a:latin typeface="Microsoft YaHei"/>
                <a:ea typeface="Microsoft YaHei"/>
                <a:cs typeface="Microsoft YaHei"/>
              </a:rPr>
              <a:t>MatMul / Attention</a:t>
            </a:r>
          </a:p>
        </p:txBody>
      </p:sp>
      <p:sp>
        <p:nvSpPr>
          <p:cNvPr id="87" name="step-04-tag-4">
            <a:extLst>
              <a:ext uri="{FF2B5EF4-FFF2-40B4-BE49-F238E27FC236}">
                <a16:creationId xmlns:a16="http://schemas.microsoft.com/office/drawing/2014/main" id="{C5C5F12C-695C-431D-9313-B8BBD8E3BB4F}"/>
              </a:ext>
            </a:extLst>
          </p:cNvPr>
          <p:cNvSpPr>
            <a:spLocks noGrp="1"/>
          </p:cNvSpPr>
          <p:nvPr/>
        </p:nvSpPr>
        <p:spPr>
          <a:xfrm>
            <a:off x="7486650" y="3667125"/>
            <a:ext cx="1381125"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660" b="0">
                <a:solidFill>
                  <a:srgbClr val="677684"/>
                </a:solidFill>
                <a:latin typeface="Microsoft YaHei"/>
                <a:ea typeface="Microsoft YaHei"/>
                <a:cs typeface="Microsoft YaHei"/>
              </a:defRPr>
            </a:pPr>
            <a:r>
              <a:rPr sz="660" b="0">
                <a:solidFill>
                  <a:srgbClr val="677684"/>
                </a:solidFill>
                <a:latin typeface="Microsoft YaHei"/>
                <a:ea typeface="Microsoft YaHei"/>
                <a:cs typeface="Microsoft YaHei"/>
              </a:rPr>
              <a:t>Small / Typical / Boundary</a:t>
            </a:r>
          </a:p>
        </p:txBody>
      </p:sp>
      <p:sp>
        <p:nvSpPr>
          <p:cNvPr id="88" name="step-04-tag-5">
            <a:extLst>
              <a:ext uri="{FF2B5EF4-FFF2-40B4-BE49-F238E27FC236}">
                <a16:creationId xmlns:a16="http://schemas.microsoft.com/office/drawing/2014/main" id="{491EC3BB-0A2C-40F1-9499-D322F390D15E}"/>
              </a:ext>
            </a:extLst>
          </p:cNvPr>
          <p:cNvSpPr>
            <a:spLocks noGrp="1"/>
          </p:cNvSpPr>
          <p:nvPr/>
        </p:nvSpPr>
        <p:spPr>
          <a:xfrm>
            <a:off x="8915400" y="3667125"/>
            <a:ext cx="342900"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825" b="1">
                <a:solidFill>
                  <a:srgbClr val="4B6F88"/>
                </a:solidFill>
                <a:latin typeface="Microsoft YaHei"/>
                <a:ea typeface="Microsoft YaHei"/>
                <a:cs typeface="Microsoft YaHei"/>
              </a:defRPr>
            </a:pPr>
            <a:r>
              <a:rPr sz="825" b="1">
                <a:solidFill>
                  <a:srgbClr val="4B6F88"/>
                </a:solidFill>
                <a:latin typeface="Microsoft YaHei"/>
                <a:ea typeface="Microsoft YaHei"/>
                <a:cs typeface="Microsoft YaHei"/>
              </a:rPr>
              <a:t>→</a:t>
            </a:r>
          </a:p>
        </p:txBody>
      </p:sp>
      <p:sp>
        <p:nvSpPr>
          <p:cNvPr id="89" name="step-04-tag-6">
            <a:extLst>
              <a:ext uri="{FF2B5EF4-FFF2-40B4-BE49-F238E27FC236}">
                <a16:creationId xmlns:a16="http://schemas.microsoft.com/office/drawing/2014/main" id="{FD74B0DB-A0CE-4D4F-87CF-08FAA734C834}"/>
              </a:ext>
            </a:extLst>
          </p:cNvPr>
          <p:cNvSpPr>
            <a:spLocks noGrp="1"/>
          </p:cNvSpPr>
          <p:nvPr/>
        </p:nvSpPr>
        <p:spPr>
          <a:xfrm>
            <a:off x="9296400" y="3667125"/>
            <a:ext cx="1352550" cy="142875"/>
          </a:xfrm>
          <a:prstGeom prst="roundRect">
            <a:avLst>
              <a:gd name="adj" fmla="val 31579"/>
            </a:avLst>
          </a:prstGeom>
          <a:solidFill>
            <a:srgbClr val="F6F8F9"/>
          </a:solidFill>
          <a:ln w="0">
            <a:solidFill>
              <a:srgbClr val="9FB7C8"/>
            </a:solidFill>
            <a:prstDash val="solid"/>
          </a:ln>
        </p:spPr>
        <p:txBody>
          <a:bodyPr wrap="square" lIns="38100" tIns="9525" rIns="38100" bIns="9525" anchor="ctr">
            <a:noAutofit/>
          </a:bodyPr>
          <a:lstStyle/>
          <a:p>
            <a:pPr algn="ctr">
              <a:buNone/>
              <a:defRPr sz="645" b="1">
                <a:solidFill>
                  <a:srgbClr val="4B6F88"/>
                </a:solidFill>
                <a:latin typeface="Microsoft YaHei"/>
                <a:ea typeface="Microsoft YaHei"/>
                <a:cs typeface="Microsoft YaHei"/>
              </a:defRPr>
            </a:pPr>
            <a:r>
              <a:rPr sz="645" b="1">
                <a:solidFill>
                  <a:srgbClr val="4B6F88"/>
                </a:solidFill>
                <a:latin typeface="Microsoft YaHei"/>
                <a:ea typeface="Microsoft YaHei"/>
                <a:cs typeface="Microsoft YaHei"/>
              </a:rPr>
              <a:t>Correctness / Time / Token / Perf</a:t>
            </a:r>
          </a:p>
        </p:txBody>
      </p:sp>
      <p:sp>
        <p:nvSpPr>
          <p:cNvPr id="92" name="phase-c-surface">
            <a:extLst>
              <a:ext uri="{FF2B5EF4-FFF2-40B4-BE49-F238E27FC236}">
                <a16:creationId xmlns:a16="http://schemas.microsoft.com/office/drawing/2014/main" id="{9BF5975D-A29B-4C85-BDCA-AE02672F0BE0}"/>
              </a:ext>
            </a:extLst>
          </p:cNvPr>
          <p:cNvSpPr>
            <a:spLocks noGrp="1"/>
          </p:cNvSpPr>
          <p:nvPr/>
        </p:nvSpPr>
        <p:spPr>
          <a:xfrm>
            <a:off x="1295400" y="3911600"/>
            <a:ext cx="9601200" cy="1000125"/>
          </a:xfrm>
          <a:prstGeom prst="rect">
            <a:avLst/>
          </a:prstGeom>
          <a:solidFill>
            <a:srgbClr val="F1F5F7"/>
          </a:solidFill>
          <a:ln w="9525">
            <a:solidFill>
              <a:srgbClr val="D7E0E6"/>
            </a:solidFill>
            <a:prstDash val="solid"/>
          </a:ln>
        </p:spPr>
      </p:sp>
      <p:sp>
        <p:nvSpPr>
          <p:cNvPr id="93" name="phase-c-accent">
            <a:extLst>
              <a:ext uri="{FF2B5EF4-FFF2-40B4-BE49-F238E27FC236}">
                <a16:creationId xmlns:a16="http://schemas.microsoft.com/office/drawing/2014/main" id="{E15BA5EA-E588-4A98-8B37-E7496B653B65}"/>
              </a:ext>
            </a:extLst>
          </p:cNvPr>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94" name="phase-c-letter">
            <a:extLst>
              <a:ext uri="{FF2B5EF4-FFF2-40B4-BE49-F238E27FC236}">
                <a16:creationId xmlns:a16="http://schemas.microsoft.com/office/drawing/2014/main" id="{B51EFEDB-88BA-43EC-9E81-459023A9A84A}"/>
              </a:ext>
            </a:extLst>
          </p:cNvPr>
          <p:cNvSpPr>
            <a:spLocks noGrp="1"/>
          </p:cNvSpPr>
          <p:nvPr/>
        </p:nvSpPr>
        <p:spPr>
          <a:xfrm>
            <a:off x="1504950" y="402907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C</a:t>
            </a:r>
          </a:p>
        </p:txBody>
      </p:sp>
      <p:sp>
        <p:nvSpPr>
          <p:cNvPr id="96" name="phase-c-chinese">
            <a:extLst>
              <a:ext uri="{FF2B5EF4-FFF2-40B4-BE49-F238E27FC236}">
                <a16:creationId xmlns:a16="http://schemas.microsoft.com/office/drawing/2014/main" id="{BB7C305E-B9AA-4850-A3FC-67DD1CAC3B99}"/>
              </a:ext>
            </a:extLst>
          </p:cNvPr>
          <p:cNvSpPr>
            <a:spLocks noGrp="1"/>
          </p:cNvSpPr>
          <p:nvPr/>
        </p:nvSpPr>
        <p:spPr>
          <a:xfrm>
            <a:off x="1571625" y="428625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Microsoft YaHei"/>
                <a:ea typeface="Microsoft YaHei"/>
                <a:cs typeface="Microsoft YaHei"/>
              </a:defRPr>
            </a:pPr>
            <a:r>
              <a:rPr sz="1275" b="1">
                <a:solidFill>
                  <a:srgbClr val="173F61"/>
                </a:solidFill>
                <a:latin typeface="Microsoft YaHei"/>
                <a:ea typeface="Microsoft YaHei"/>
                <a:cs typeface="Microsoft YaHei"/>
              </a:rPr>
              <a:t>验证梯度</a:t>
            </a:r>
            <a:endParaRPr sz="1275" b="1">
              <a:solidFill>
                <a:srgbClr val="294A6D"/>
              </a:solidFill>
              <a:latin typeface="Arial"/>
              <a:ea typeface="Arial"/>
              <a:cs typeface="Arial"/>
            </a:endParaRPr>
          </a:p>
        </p:txBody>
      </p:sp>
      <p:sp>
        <p:nvSpPr>
          <p:cNvPr id="97" name="phase-c-sidebar-divider">
            <a:extLst>
              <a:ext uri="{FF2B5EF4-FFF2-40B4-BE49-F238E27FC236}">
                <a16:creationId xmlns:a16="http://schemas.microsoft.com/office/drawing/2014/main" id="{B9BBB7EF-1085-4F67-9D9B-DA0594A01300}"/>
              </a:ext>
            </a:extLst>
          </p:cNvPr>
          <p:cNvSpPr>
            <a:spLocks noGrp="1"/>
          </p:cNvSpPr>
          <p:nvPr/>
        </p:nvSpPr>
        <p:spPr>
          <a:xfrm>
            <a:off x="2847975" y="4000500"/>
            <a:ext cx="9525" cy="809625"/>
          </a:xfrm>
          <a:prstGeom prst="rect">
            <a:avLst/>
          </a:prstGeom>
          <a:solidFill>
            <a:srgbClr val="D1DCE3"/>
          </a:solidFill>
          <a:ln w="0">
            <a:solidFill>
              <a:srgbClr val="D1DCE3"/>
            </a:solidFill>
            <a:prstDash val="solid"/>
          </a:ln>
        </p:spPr>
      </p:sp>
      <p:sp>
        <p:nvSpPr>
          <p:cNvPr id="98" name="phase-c-step-divider">
            <a:extLst>
              <a:ext uri="{FF2B5EF4-FFF2-40B4-BE49-F238E27FC236}">
                <a16:creationId xmlns:a16="http://schemas.microsoft.com/office/drawing/2014/main" id="{7EA01028-7252-45DD-8977-26FF69F4B93F}"/>
              </a:ext>
            </a:extLst>
          </p:cNvPr>
          <p:cNvSpPr>
            <a:spLocks noGrp="1"/>
          </p:cNvSpPr>
          <p:nvPr/>
        </p:nvSpPr>
        <p:spPr>
          <a:xfrm>
            <a:off x="6924675" y="4000500"/>
            <a:ext cx="9525" cy="809625"/>
          </a:xfrm>
          <a:prstGeom prst="rect">
            <a:avLst/>
          </a:prstGeom>
          <a:solidFill>
            <a:srgbClr val="D1DCE3"/>
          </a:solidFill>
          <a:ln w="0">
            <a:solidFill>
              <a:srgbClr val="D1DCE3"/>
            </a:solidFill>
            <a:prstDash val="solid"/>
          </a:ln>
        </p:spPr>
      </p:sp>
      <p:sp>
        <p:nvSpPr>
          <p:cNvPr id="99" name="step-05-number">
            <a:extLst>
              <a:ext uri="{FF2B5EF4-FFF2-40B4-BE49-F238E27FC236}">
                <a16:creationId xmlns:a16="http://schemas.microsoft.com/office/drawing/2014/main" id="{67B0BF77-110D-477F-B0FB-F7032469F1EA}"/>
              </a:ext>
            </a:extLst>
          </p:cNvPr>
          <p:cNvSpPr>
            <a:spLocks noGrp="1"/>
          </p:cNvSpPr>
          <p:nvPr/>
        </p:nvSpPr>
        <p:spPr>
          <a:xfrm>
            <a:off x="3009900" y="4076700"/>
            <a:ext cx="762000" cy="228600"/>
          </a:xfrm>
          <a:prstGeom prst="roundRect">
            <a:avLst>
              <a:gd name="adj" fmla="val 20690"/>
            </a:avLst>
          </a:prstGeom>
          <a:noFill/>
          <a:ln w="9525">
            <a:noFill/>
            <a:prstDash val="solid"/>
          </a:ln>
        </p:spPr>
        <p:txBody>
          <a:bodyPr wrap="square" lIns="0" tIns="0" rIns="0" bIns="0" anchor="ctr">
            <a:noAutofit/>
          </a:bodyPr>
          <a:lstStyle/>
          <a:p>
            <a:pPr algn="l">
              <a:buNone/>
              <a:defRPr sz="1013" b="1">
                <a:solidFill>
                  <a:srgbClr val="173F61"/>
                </a:solidFill>
                <a:latin typeface="Microsoft YaHei"/>
                <a:ea typeface="Microsoft YaHei"/>
                <a:cs typeface="Microsoft YaHei"/>
              </a:defRPr>
            </a:pPr>
            <a:r>
              <a:rPr sz="1013" b="1">
                <a:solidFill>
                  <a:srgbClr val="173F61"/>
                </a:solidFill>
                <a:latin typeface="Microsoft YaHei"/>
                <a:ea typeface="Microsoft YaHei"/>
                <a:cs typeface="Microsoft YaHei"/>
              </a:rPr>
              <a:t>修改范围</a:t>
            </a:r>
          </a:p>
        </p:txBody>
      </p:sp>
      <p:sp>
        <p:nvSpPr>
          <p:cNvPr id="100" name="step-05-title">
            <a:extLst>
              <a:ext uri="{FF2B5EF4-FFF2-40B4-BE49-F238E27FC236}">
                <a16:creationId xmlns:a16="http://schemas.microsoft.com/office/drawing/2014/main" id="{CAEDB44C-147B-4FB5-990F-EDADB3A566EF}"/>
              </a:ext>
            </a:extLst>
          </p:cNvPr>
          <p:cNvSpPr>
            <a:spLocks noGrp="1"/>
          </p:cNvSpPr>
          <p:nvPr/>
        </p:nvSpPr>
        <p:spPr>
          <a:xfrm>
            <a:off x="3848100" y="4057650"/>
            <a:ext cx="2838450" cy="266700"/>
          </a:xfrm>
          <a:prstGeom prst="rect">
            <a:avLst/>
          </a:prstGeom>
          <a:noFill/>
          <a:ln w="0">
            <a:noFill/>
            <a:prstDash val="solid"/>
          </a:ln>
        </p:spPr>
        <p:txBody>
          <a:bodyPr wrap="square" lIns="0" tIns="0" rIns="0" bIns="0" anchor="ctr">
            <a:noAutofit/>
          </a:bodyPr>
          <a:lstStyle/>
          <a:p>
            <a:pPr algn="l">
              <a:buNone/>
              <a:defRPr sz="1088" b="1">
                <a:solidFill>
                  <a:srgbClr val="263544"/>
                </a:solidFill>
                <a:latin typeface="Microsoft YaHei"/>
                <a:ea typeface="Microsoft YaHei"/>
                <a:cs typeface="Microsoft YaHei"/>
              </a:defRPr>
            </a:pPr>
            <a:r>
              <a:rPr sz="1088" b="1">
                <a:solidFill>
                  <a:srgbClr val="263544"/>
                </a:solidFill>
                <a:latin typeface="Microsoft YaHei"/>
                <a:ea typeface="Microsoft YaHei"/>
                <a:cs typeface="Microsoft YaHei"/>
              </a:rPr>
              <a:t>小  ─────────────────→  大</a:t>
            </a:r>
          </a:p>
        </p:txBody>
      </p:sp>
      <p:sp>
        <p:nvSpPr>
          <p:cNvPr id="101" name="step-05-subtitle">
            <a:extLst>
              <a:ext uri="{FF2B5EF4-FFF2-40B4-BE49-F238E27FC236}">
                <a16:creationId xmlns:a16="http://schemas.microsoft.com/office/drawing/2014/main" id="{8CE5ADDC-2B28-475D-9265-BB318693676B}"/>
              </a:ext>
            </a:extLst>
          </p:cNvPr>
          <p:cNvSpPr>
            <a:spLocks noGrp="1"/>
          </p:cNvSpPr>
          <p:nvPr/>
        </p:nvSpPr>
        <p:spPr>
          <a:xfrm>
            <a:off x="3009900" y="4438650"/>
            <a:ext cx="367665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Microsoft YaHei"/>
                <a:ea typeface="Microsoft YaHei"/>
                <a:cs typeface="Microsoft YaHei"/>
              </a:defRPr>
            </a:pPr>
            <a:r>
              <a:rPr sz="975" b="1">
                <a:solidFill>
                  <a:srgbClr val="4B6F88"/>
                </a:solidFill>
                <a:latin typeface="Microsoft YaHei"/>
                <a:ea typeface="Microsoft YaHei"/>
                <a:cs typeface="Microsoft YaHei"/>
              </a:rPr>
              <a:t>验证成本    低  ─────────────→  高</a:t>
            </a:r>
            <a:endParaRPr sz="825" b="1">
              <a:solidFill>
                <a:srgbClr val="2F3A45"/>
              </a:solidFill>
              <a:latin typeface="Arial"/>
              <a:ea typeface="Arial"/>
              <a:cs typeface="Arial"/>
            </a:endParaRPr>
          </a:p>
        </p:txBody>
      </p:sp>
      <p:sp>
        <p:nvSpPr>
          <p:cNvPr id="107" name="step-06-number">
            <a:extLst>
              <a:ext uri="{FF2B5EF4-FFF2-40B4-BE49-F238E27FC236}">
                <a16:creationId xmlns:a16="http://schemas.microsoft.com/office/drawing/2014/main" id="{B6985589-247F-4354-9976-FD0F7A206EC8}"/>
              </a:ext>
            </a:extLst>
          </p:cNvPr>
          <p:cNvSpPr>
            <a:spLocks noGrp="1"/>
          </p:cNvSpPr>
          <p:nvPr/>
        </p:nvSpPr>
        <p:spPr>
          <a:xfrm>
            <a:off x="7067550" y="4076700"/>
            <a:ext cx="762000" cy="228600"/>
          </a:xfrm>
          <a:prstGeom prst="roundRect">
            <a:avLst>
              <a:gd name="adj" fmla="val 20690"/>
            </a:avLst>
          </a:prstGeom>
          <a:noFill/>
          <a:ln w="9525">
            <a:noFill/>
            <a:prstDash val="solid"/>
          </a:ln>
        </p:spPr>
        <p:txBody>
          <a:bodyPr wrap="square" lIns="0" tIns="0" rIns="0" bIns="0" anchor="ctr">
            <a:noAutofit/>
          </a:bodyPr>
          <a:lstStyle/>
          <a:p>
            <a:pPr algn="l">
              <a:buNone/>
              <a:defRPr sz="1013" b="1">
                <a:solidFill>
                  <a:srgbClr val="5C7F99"/>
                </a:solidFill>
                <a:latin typeface="Microsoft YaHei"/>
                <a:ea typeface="Microsoft YaHei"/>
                <a:cs typeface="Microsoft YaHei"/>
              </a:defRPr>
            </a:pPr>
            <a:r>
              <a:rPr sz="1013" b="1">
                <a:solidFill>
                  <a:srgbClr val="5C7F99"/>
                </a:solidFill>
                <a:latin typeface="Microsoft YaHei"/>
                <a:ea typeface="Microsoft YaHei"/>
                <a:cs typeface="Microsoft YaHei"/>
              </a:rPr>
              <a:t>执行频率</a:t>
            </a:r>
          </a:p>
        </p:txBody>
      </p:sp>
      <p:sp>
        <p:nvSpPr>
          <p:cNvPr id="108" name="step-06-title">
            <a:extLst>
              <a:ext uri="{FF2B5EF4-FFF2-40B4-BE49-F238E27FC236}">
                <a16:creationId xmlns:a16="http://schemas.microsoft.com/office/drawing/2014/main" id="{B1AF9BE3-7975-4567-AD37-8FF3D22D0C59}"/>
              </a:ext>
            </a:extLst>
          </p:cNvPr>
          <p:cNvSpPr>
            <a:spLocks noGrp="1"/>
          </p:cNvSpPr>
          <p:nvPr/>
        </p:nvSpPr>
        <p:spPr>
          <a:xfrm>
            <a:off x="7905750" y="4057650"/>
            <a:ext cx="2743200" cy="266700"/>
          </a:xfrm>
          <a:prstGeom prst="rect">
            <a:avLst/>
          </a:prstGeom>
          <a:noFill/>
          <a:ln w="0">
            <a:noFill/>
            <a:prstDash val="solid"/>
          </a:ln>
        </p:spPr>
        <p:txBody>
          <a:bodyPr wrap="square" lIns="0" tIns="0" rIns="0" bIns="0" anchor="ctr">
            <a:noAutofit/>
          </a:bodyPr>
          <a:lstStyle/>
          <a:p>
            <a:pPr algn="l">
              <a:buNone/>
              <a:defRPr sz="1088" b="1">
                <a:solidFill>
                  <a:srgbClr val="263544"/>
                </a:solidFill>
                <a:latin typeface="Microsoft YaHei"/>
                <a:ea typeface="Microsoft YaHei"/>
                <a:cs typeface="Microsoft YaHei"/>
              </a:defRPr>
            </a:pPr>
            <a:r>
              <a:rPr sz="1088" b="1">
                <a:solidFill>
                  <a:srgbClr val="263544"/>
                </a:solidFill>
                <a:latin typeface="Microsoft YaHei"/>
                <a:ea typeface="Microsoft YaHei"/>
                <a:cs typeface="Microsoft YaHei"/>
              </a:rPr>
              <a:t>高  ←─────────────────  低</a:t>
            </a:r>
            <a:endParaRPr sz="1125" b="1">
              <a:solidFill>
                <a:srgbClr val="294A6D"/>
              </a:solidFill>
              <a:latin typeface="Arial"/>
              <a:ea typeface="Arial"/>
              <a:cs typeface="Arial"/>
            </a:endParaRPr>
          </a:p>
        </p:txBody>
      </p:sp>
      <p:sp>
        <p:nvSpPr>
          <p:cNvPr id="109" name="step-06-subtitle">
            <a:extLst>
              <a:ext uri="{FF2B5EF4-FFF2-40B4-BE49-F238E27FC236}">
                <a16:creationId xmlns:a16="http://schemas.microsoft.com/office/drawing/2014/main" id="{BEA32223-6D3A-4FF1-9C83-DD2A8B9F4718}"/>
              </a:ext>
            </a:extLst>
          </p:cNvPr>
          <p:cNvSpPr>
            <a:spLocks noGrp="1"/>
          </p:cNvSpPr>
          <p:nvPr/>
        </p:nvSpPr>
        <p:spPr>
          <a:xfrm>
            <a:off x="7067550" y="4438650"/>
            <a:ext cx="358140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Microsoft YaHei"/>
                <a:ea typeface="Microsoft YaHei"/>
                <a:cs typeface="Microsoft YaHei"/>
              </a:defRPr>
            </a:pPr>
            <a:r>
              <a:rPr sz="975" b="1">
                <a:solidFill>
                  <a:srgbClr val="5C7F99"/>
                </a:solidFill>
                <a:latin typeface="Microsoft YaHei"/>
                <a:ea typeface="Microsoft YaHei"/>
                <a:cs typeface="Microsoft YaHei"/>
              </a:rPr>
              <a:t>局部快测  →  分层扩展  →  全面兜底</a:t>
            </a:r>
          </a:p>
        </p:txBody>
      </p:sp>
      <p:sp>
        <p:nvSpPr>
          <p:cNvPr id="118" name="phase-d-surface">
            <a:extLst>
              <a:ext uri="{FF2B5EF4-FFF2-40B4-BE49-F238E27FC236}">
                <a16:creationId xmlns:a16="http://schemas.microsoft.com/office/drawing/2014/main" id="{2314BE15-8CCD-4CE0-B84A-8470EF9FE233}"/>
              </a:ext>
            </a:extLst>
          </p:cNvPr>
          <p:cNvSpPr>
            <a:spLocks noGrp="1"/>
          </p:cNvSpPr>
          <p:nvPr/>
        </p:nvSpPr>
        <p:spPr>
          <a:xfrm>
            <a:off x="1295400" y="4959350"/>
            <a:ext cx="9601200" cy="889000"/>
          </a:xfrm>
          <a:prstGeom prst="rect">
            <a:avLst/>
          </a:prstGeom>
          <a:solidFill>
            <a:srgbClr val="F5F7F8"/>
          </a:solidFill>
          <a:ln w="9525">
            <a:solidFill>
              <a:srgbClr val="D7E0E6"/>
            </a:solidFill>
            <a:prstDash val="solid"/>
          </a:ln>
        </p:spPr>
      </p:sp>
      <p:sp>
        <p:nvSpPr>
          <p:cNvPr id="119" name="phase-d-accent">
            <a:extLst>
              <a:ext uri="{FF2B5EF4-FFF2-40B4-BE49-F238E27FC236}">
                <a16:creationId xmlns:a16="http://schemas.microsoft.com/office/drawing/2014/main" id="{215B686B-3E96-4C6D-B008-BCCA982B0337}"/>
              </a:ext>
            </a:extLst>
          </p:cNvPr>
          <p:cNvSpPr>
            <a:spLocks noGrp="1"/>
          </p:cNvSpPr>
          <p:nvPr/>
        </p:nvSpPr>
        <p:spPr>
          <a:xfrm>
            <a:off x="1295400" y="4959350"/>
            <a:ext cx="57150" cy="889000"/>
          </a:xfrm>
          <a:prstGeom prst="roundRect">
            <a:avLst>
              <a:gd name="adj" fmla="val 50000"/>
            </a:avLst>
          </a:prstGeom>
          <a:solidFill>
            <a:srgbClr val="5C7F99"/>
          </a:solidFill>
          <a:ln w="0">
            <a:solidFill>
              <a:srgbClr val="5C7F99"/>
            </a:solidFill>
            <a:prstDash val="solid"/>
          </a:ln>
        </p:spPr>
      </p:sp>
      <p:sp>
        <p:nvSpPr>
          <p:cNvPr id="120" name="phase-d-letter">
            <a:extLst>
              <a:ext uri="{FF2B5EF4-FFF2-40B4-BE49-F238E27FC236}">
                <a16:creationId xmlns:a16="http://schemas.microsoft.com/office/drawing/2014/main" id="{49ABD43F-35E7-47B3-8E3A-5FD61C5DA818}"/>
              </a:ext>
            </a:extLst>
          </p:cNvPr>
          <p:cNvSpPr>
            <a:spLocks noGrp="1"/>
          </p:cNvSpPr>
          <p:nvPr/>
        </p:nvSpPr>
        <p:spPr>
          <a:xfrm>
            <a:off x="1504950" y="507682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Microsoft YaHei"/>
                <a:ea typeface="Microsoft YaHei"/>
                <a:cs typeface="Microsoft YaHei"/>
              </a:defRPr>
            </a:pPr>
            <a:r>
              <a:rPr sz="1125" b="1">
                <a:solidFill>
                  <a:srgbClr val="263544"/>
                </a:solidFill>
                <a:latin typeface="Microsoft YaHei"/>
                <a:ea typeface="Microsoft YaHei"/>
                <a:cs typeface="Microsoft YaHei"/>
              </a:rPr>
              <a:t>D</a:t>
            </a:r>
          </a:p>
        </p:txBody>
      </p:sp>
      <p:sp>
        <p:nvSpPr>
          <p:cNvPr id="122" name="phase-d-chinese">
            <a:extLst>
              <a:ext uri="{FF2B5EF4-FFF2-40B4-BE49-F238E27FC236}">
                <a16:creationId xmlns:a16="http://schemas.microsoft.com/office/drawing/2014/main" id="{3C3E9FC2-5CB7-4936-BE34-AD26DADFBC59}"/>
              </a:ext>
            </a:extLst>
          </p:cNvPr>
          <p:cNvSpPr>
            <a:spLocks noGrp="1"/>
          </p:cNvSpPr>
          <p:nvPr/>
        </p:nvSpPr>
        <p:spPr>
          <a:xfrm>
            <a:off x="1571625" y="5324475"/>
            <a:ext cx="1238250" cy="285750"/>
          </a:xfrm>
          <a:prstGeom prst="rect">
            <a:avLst/>
          </a:prstGeom>
          <a:noFill/>
          <a:ln w="0">
            <a:noFill/>
            <a:prstDash val="solid"/>
          </a:ln>
        </p:spPr>
        <p:txBody>
          <a:bodyPr wrap="square" lIns="0" tIns="0" rIns="0" bIns="0" anchor="ctr">
            <a:noAutofit/>
          </a:bodyPr>
          <a:lstStyle/>
          <a:p>
            <a:pPr algn="l">
              <a:buNone/>
              <a:defRPr sz="1275" b="1">
                <a:solidFill>
                  <a:srgbClr val="4B6F88"/>
                </a:solidFill>
                <a:latin typeface="Microsoft YaHei"/>
                <a:ea typeface="Microsoft YaHei"/>
                <a:cs typeface="Microsoft YaHei"/>
              </a:defRPr>
            </a:pPr>
            <a:r>
              <a:rPr sz="1275" b="1">
                <a:solidFill>
                  <a:srgbClr val="4B6F88"/>
                </a:solidFill>
                <a:latin typeface="Microsoft YaHei"/>
                <a:ea typeface="Microsoft YaHei"/>
                <a:cs typeface="Microsoft YaHei"/>
              </a:rPr>
              <a:t>关键原则</a:t>
            </a:r>
          </a:p>
        </p:txBody>
      </p:sp>
      <p:sp>
        <p:nvSpPr>
          <p:cNvPr id="123" name="phase-d-sidebar-divider">
            <a:extLst>
              <a:ext uri="{FF2B5EF4-FFF2-40B4-BE49-F238E27FC236}">
                <a16:creationId xmlns:a16="http://schemas.microsoft.com/office/drawing/2014/main" id="{A8A6C72A-E196-4B6B-BDEE-C7490CA20DEB}"/>
              </a:ext>
            </a:extLst>
          </p:cNvPr>
          <p:cNvSpPr>
            <a:spLocks noGrp="1"/>
          </p:cNvSpPr>
          <p:nvPr/>
        </p:nvSpPr>
        <p:spPr>
          <a:xfrm>
            <a:off x="2847975" y="5048250"/>
            <a:ext cx="9525" cy="695325"/>
          </a:xfrm>
          <a:prstGeom prst="rect">
            <a:avLst/>
          </a:prstGeom>
          <a:solidFill>
            <a:srgbClr val="D7DEE3"/>
          </a:solidFill>
          <a:ln w="0">
            <a:solidFill>
              <a:srgbClr val="D7DEE3"/>
            </a:solidFill>
            <a:prstDash val="solid"/>
          </a:ln>
        </p:spPr>
      </p:sp>
      <p:sp>
        <p:nvSpPr>
          <p:cNvPr id="124" name="phase-d-step-divider">
            <a:extLst>
              <a:ext uri="{FF2B5EF4-FFF2-40B4-BE49-F238E27FC236}">
                <a16:creationId xmlns:a16="http://schemas.microsoft.com/office/drawing/2014/main" id="{F1456363-793B-4F47-8B79-F04E4D85F8AA}"/>
              </a:ext>
            </a:extLst>
          </p:cNvPr>
          <p:cNvSpPr>
            <a:spLocks noGrp="1"/>
          </p:cNvSpPr>
          <p:nvPr/>
        </p:nvSpPr>
        <p:spPr>
          <a:xfrm>
            <a:off x="6924675" y="5048250"/>
            <a:ext cx="9525" cy="695325"/>
          </a:xfrm>
          <a:prstGeom prst="rect">
            <a:avLst/>
          </a:prstGeom>
          <a:solidFill>
            <a:srgbClr val="F5F7F8"/>
          </a:solidFill>
          <a:ln w="0">
            <a:solidFill>
              <a:srgbClr val="F5F7F8"/>
            </a:solidFill>
            <a:prstDash val="solid"/>
          </a:ln>
        </p:spPr>
      </p:sp>
      <p:sp>
        <p:nvSpPr>
          <p:cNvPr id="125" name="step-07-number">
            <a:extLst>
              <a:ext uri="{FF2B5EF4-FFF2-40B4-BE49-F238E27FC236}">
                <a16:creationId xmlns:a16="http://schemas.microsoft.com/office/drawing/2014/main" id="{A481849F-9EBE-4772-B8AE-F18CFD4FB0FE}"/>
              </a:ext>
            </a:extLst>
          </p:cNvPr>
          <p:cNvSpPr>
            <a:spLocks noGrp="1"/>
          </p:cNvSpPr>
          <p:nvPr/>
        </p:nvSpPr>
        <p:spPr>
          <a:xfrm>
            <a:off x="3009900" y="5010150"/>
            <a:ext cx="476250" cy="209550"/>
          </a:xfrm>
          <a:prstGeom prst="roundRect">
            <a:avLst>
              <a:gd name="adj" fmla="val 20690"/>
            </a:avLst>
          </a:prstGeom>
          <a:noFill/>
          <a:ln w="9525">
            <a:noFill/>
            <a:prstDash val="solid"/>
          </a:ln>
        </p:spPr>
        <p:txBody>
          <a:bodyPr wrap="square" lIns="0" tIns="0" rIns="0" bIns="0" anchor="ctr">
            <a:noAutofit/>
          </a:bodyPr>
          <a:lstStyle/>
          <a:p>
            <a:pPr algn="l">
              <a:buNone/>
              <a:defRPr sz="938" b="1">
                <a:solidFill>
                  <a:srgbClr val="4B6F88"/>
                </a:solidFill>
                <a:latin typeface="Microsoft YaHei"/>
                <a:ea typeface="Microsoft YaHei"/>
                <a:cs typeface="Microsoft YaHei"/>
              </a:defRPr>
            </a:pPr>
            <a:r>
              <a:rPr sz="938" b="1">
                <a:solidFill>
                  <a:srgbClr val="4B6F88"/>
                </a:solidFill>
                <a:latin typeface="Microsoft YaHei"/>
                <a:ea typeface="Microsoft YaHei"/>
                <a:cs typeface="Microsoft YaHei"/>
              </a:rPr>
              <a:t>Gate</a:t>
            </a:r>
          </a:p>
        </p:txBody>
      </p:sp>
      <p:sp>
        <p:nvSpPr>
          <p:cNvPr id="126" name="step-07-title">
            <a:extLst>
              <a:ext uri="{FF2B5EF4-FFF2-40B4-BE49-F238E27FC236}">
                <a16:creationId xmlns:a16="http://schemas.microsoft.com/office/drawing/2014/main" id="{77FA75C2-F0F7-4689-972F-D7A6BC1D95B6}"/>
              </a:ext>
            </a:extLst>
          </p:cNvPr>
          <p:cNvSpPr>
            <a:spLocks noGrp="1"/>
          </p:cNvSpPr>
          <p:nvPr/>
        </p:nvSpPr>
        <p:spPr>
          <a:xfrm>
            <a:off x="3486150" y="5000625"/>
            <a:ext cx="4953000" cy="228600"/>
          </a:xfrm>
          <a:prstGeom prst="rect">
            <a:avLst/>
          </a:prstGeom>
          <a:noFill/>
          <a:ln w="0">
            <a:noFill/>
            <a:prstDash val="solid"/>
          </a:ln>
        </p:spPr>
        <p:txBody>
          <a:bodyPr wrap="square" lIns="0" tIns="0" rIns="0" bIns="0" anchor="ctr">
            <a:noAutofit/>
          </a:bodyPr>
          <a:lstStyle/>
          <a:p>
            <a:pPr algn="l">
              <a:buNone/>
              <a:defRPr sz="1013" b="1">
                <a:solidFill>
                  <a:srgbClr val="263544"/>
                </a:solidFill>
                <a:latin typeface="Microsoft YaHei"/>
                <a:ea typeface="Microsoft YaHei"/>
                <a:cs typeface="Microsoft YaHei"/>
              </a:defRPr>
            </a:pPr>
            <a:r>
              <a:rPr sz="1013" b="1">
                <a:solidFill>
                  <a:srgbClr val="263544"/>
                </a:solidFill>
                <a:latin typeface="Microsoft YaHei"/>
                <a:ea typeface="Microsoft YaHei"/>
                <a:cs typeface="Microsoft YaHei"/>
              </a:rPr>
              <a:t>修改范围决定验证范围；全面测试只负责最终兜底</a:t>
            </a:r>
            <a:endParaRPr sz="1125" b="1">
              <a:solidFill>
                <a:srgbClr val="4F8A83"/>
              </a:solidFill>
              <a:latin typeface="Arial"/>
              <a:ea typeface="Arial"/>
              <a:cs typeface="Arial"/>
            </a:endParaRPr>
          </a:p>
        </p:txBody>
      </p:sp>
      <p:sp>
        <p:nvSpPr>
          <p:cNvPr id="128" name="step-07-operator-1">
            <a:extLst>
              <a:ext uri="{FF2B5EF4-FFF2-40B4-BE49-F238E27FC236}">
                <a16:creationId xmlns:a16="http://schemas.microsoft.com/office/drawing/2014/main" id="{46C1B706-6026-44CB-A0EE-2C049D1102AF}"/>
              </a:ext>
            </a:extLst>
          </p:cNvPr>
          <p:cNvSpPr>
            <a:spLocks noGrp="1"/>
          </p:cNvSpPr>
          <p:nvPr/>
        </p:nvSpPr>
        <p:spPr>
          <a:xfrm>
            <a:off x="3009900" y="5257800"/>
            <a:ext cx="238125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① 修改范围</a:t>
            </a:r>
          </a:p>
        </p:txBody>
      </p:sp>
      <p:sp>
        <p:nvSpPr>
          <p:cNvPr id="129" name="step-07-operator-2">
            <a:extLst>
              <a:ext uri="{FF2B5EF4-FFF2-40B4-BE49-F238E27FC236}">
                <a16:creationId xmlns:a16="http://schemas.microsoft.com/office/drawing/2014/main" id="{30EAAACB-92BE-42C5-9B00-1E5199692A55}"/>
              </a:ext>
            </a:extLst>
          </p:cNvPr>
          <p:cNvSpPr>
            <a:spLocks noGrp="1"/>
          </p:cNvSpPr>
          <p:nvPr/>
        </p:nvSpPr>
        <p:spPr>
          <a:xfrm>
            <a:off x="5524500" y="5257800"/>
            <a:ext cx="238125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② Replay 前检查</a:t>
            </a:r>
          </a:p>
        </p:txBody>
      </p:sp>
      <p:sp>
        <p:nvSpPr>
          <p:cNvPr id="130" name="step-07-operator-3">
            <a:extLst>
              <a:ext uri="{FF2B5EF4-FFF2-40B4-BE49-F238E27FC236}">
                <a16:creationId xmlns:a16="http://schemas.microsoft.com/office/drawing/2014/main" id="{CB9D4301-D386-434A-A7E0-694093E6483B}"/>
              </a:ext>
            </a:extLst>
          </p:cNvPr>
          <p:cNvSpPr>
            <a:spLocks noGrp="1"/>
          </p:cNvSpPr>
          <p:nvPr/>
        </p:nvSpPr>
        <p:spPr>
          <a:xfrm>
            <a:off x="8039100" y="5257800"/>
            <a:ext cx="2628900" cy="190500"/>
          </a:xfrm>
          <a:prstGeom prst="roundRect">
            <a:avLst>
              <a:gd name="adj" fmla="val 15789"/>
            </a:avLst>
          </a:prstGeom>
          <a:solidFill>
            <a:srgbClr val="EAF0F4"/>
          </a:solidFill>
          <a:ln w="7620">
            <a:solidFill>
              <a:srgbClr val="9BB2C2"/>
            </a:solidFill>
            <a:prstDash val="solid"/>
          </a:ln>
        </p:spPr>
        <p:txBody>
          <a:bodyPr wrap="square" lIns="38100" tIns="9525" rIns="38100" bIns="9525" anchor="ctr">
            <a:noAutofit/>
          </a:bodyPr>
          <a:lstStyle/>
          <a:p>
            <a:pPr algn="ctr">
              <a:lnSpc>
                <a:spcPct val="95000"/>
              </a:lnSpc>
              <a:buNone/>
              <a:defRPr sz="750" b="1">
                <a:solidFill>
                  <a:srgbClr val="4B6F88"/>
                </a:solidFill>
                <a:latin typeface="Microsoft YaHei"/>
                <a:ea typeface="Microsoft YaHei"/>
                <a:cs typeface="Microsoft YaHei"/>
              </a:defRPr>
            </a:pPr>
            <a:r>
              <a:rPr sz="750" b="1">
                <a:solidFill>
                  <a:srgbClr val="4B6F88"/>
                </a:solidFill>
                <a:latin typeface="Microsoft YaHei"/>
                <a:ea typeface="Microsoft YaHei"/>
                <a:cs typeface="Microsoft YaHei"/>
              </a:rPr>
              <a:t>③ Regression</a:t>
            </a:r>
          </a:p>
        </p:txBody>
      </p:sp>
      <p:sp>
        <p:nvSpPr>
          <p:cNvPr id="133" name="step-08-number">
            <a:extLst>
              <a:ext uri="{FF2B5EF4-FFF2-40B4-BE49-F238E27FC236}">
                <a16:creationId xmlns:a16="http://schemas.microsoft.com/office/drawing/2014/main" id="{3D7AAE78-4212-4968-822C-1853B3BAFC4B}"/>
              </a:ext>
            </a:extLst>
          </p:cNvP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a:ea typeface="Calibri"/>
                <a:cs typeface="Calibri"/>
              </a:defRPr>
            </a:pPr>
            <a:endParaRPr/>
          </a:p>
        </p:txBody>
      </p:sp>
      <p:sp>
        <p:nvSpPr>
          <p:cNvPr id="134" name="step-08-title">
            <a:extLst>
              <a:ext uri="{FF2B5EF4-FFF2-40B4-BE49-F238E27FC236}">
                <a16:creationId xmlns:a16="http://schemas.microsoft.com/office/drawing/2014/main" id="{98CF8D5D-4BB7-4641-B4A6-FFAC645FE933}"/>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a:ea typeface="微软雅黑"/>
                <a:cs typeface="微软雅黑"/>
              </a:defRPr>
            </a:pPr>
            <a:endParaRPr/>
          </a:p>
        </p:txBody>
      </p:sp>
      <p:sp>
        <p:nvSpPr>
          <p:cNvPr id="135" name="step-08-subtitle">
            <a:extLst>
              <a:ext uri="{FF2B5EF4-FFF2-40B4-BE49-F238E27FC236}">
                <a16:creationId xmlns:a16="http://schemas.microsoft.com/office/drawing/2014/main" id="{4FC7CE93-DD4D-463D-9836-56D303844EDD}"/>
              </a:ext>
            </a:extLst>
          </p:cNvPr>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a:ea typeface="微软雅黑"/>
                <a:cs typeface="微软雅黑"/>
              </a:defRPr>
            </a:pPr>
            <a:endParaRPr/>
          </a:p>
        </p:txBody>
      </p:sp>
      <p:sp>
        <p:nvSpPr>
          <p:cNvPr id="136" name="step-08-branch-1">
            <a:extLst>
              <a:ext uri="{FF2B5EF4-FFF2-40B4-BE49-F238E27FC236}">
                <a16:creationId xmlns:a16="http://schemas.microsoft.com/office/drawing/2014/main" id="{6CF07E22-6F79-4AA6-9854-9C6884933841}"/>
              </a:ext>
            </a:extLst>
          </p:cNvPr>
          <p:cNvSpPr>
            <a:spLocks noGrp="1"/>
          </p:cNvSpPr>
          <p:nvPr/>
        </p:nvSpPr>
        <p:spPr>
          <a:xfrm>
            <a:off x="3009900" y="5476875"/>
            <a:ext cx="238125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840" b="1">
                <a:solidFill>
                  <a:srgbClr val="263544"/>
                </a:solidFill>
                <a:latin typeface="Microsoft YaHei"/>
                <a:ea typeface="Microsoft YaHei"/>
                <a:cs typeface="Microsoft YaHei"/>
              </a:defRPr>
            </a:pPr>
            <a:r>
              <a:rPr sz="840" b="1">
                <a:solidFill>
                  <a:srgbClr val="263544"/>
                </a:solidFill>
                <a:latin typeface="Microsoft YaHei"/>
                <a:ea typeface="Microsoft YaHei"/>
                <a:cs typeface="Microsoft YaHei"/>
              </a:rPr>
              <a:t>决定验证范围，优先局部验证</a:t>
            </a:r>
          </a:p>
        </p:txBody>
      </p:sp>
      <p:sp>
        <p:nvSpPr>
          <p:cNvPr id="137" name="step-08-branch-2">
            <a:extLst>
              <a:ext uri="{FF2B5EF4-FFF2-40B4-BE49-F238E27FC236}">
                <a16:creationId xmlns:a16="http://schemas.microsoft.com/office/drawing/2014/main" id="{49973581-ACEB-48AC-ACE5-46653047C869}"/>
              </a:ext>
            </a:extLst>
          </p:cNvPr>
          <p:cNvSpPr>
            <a:spLocks noGrp="1"/>
          </p:cNvSpPr>
          <p:nvPr/>
        </p:nvSpPr>
        <p:spPr>
          <a:xfrm>
            <a:off x="5524500" y="5476875"/>
            <a:ext cx="238125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765" b="1">
                <a:solidFill>
                  <a:srgbClr val="263544"/>
                </a:solidFill>
                <a:latin typeface="Microsoft YaHei"/>
                <a:ea typeface="Microsoft YaHei"/>
                <a:cs typeface="Microsoft YaHei"/>
              </a:defRPr>
            </a:pPr>
            <a:r>
              <a:rPr sz="765" b="1">
                <a:solidFill>
                  <a:srgbClr val="263544"/>
                </a:solidFill>
                <a:latin typeface="Microsoft YaHei"/>
                <a:ea typeface="Microsoft YaHei"/>
                <a:cs typeface="Microsoft YaHei"/>
              </a:rPr>
              <a:t>环境 / Shape / dtype / 版本 / Correctness</a:t>
            </a:r>
          </a:p>
        </p:txBody>
      </p:sp>
      <p:sp>
        <p:nvSpPr>
          <p:cNvPr id="138" name="step-08-branch-3">
            <a:extLst>
              <a:ext uri="{FF2B5EF4-FFF2-40B4-BE49-F238E27FC236}">
                <a16:creationId xmlns:a16="http://schemas.microsoft.com/office/drawing/2014/main" id="{EB2A234B-6A77-4D75-A31B-596A161F3734}"/>
              </a:ext>
            </a:extLst>
          </p:cNvPr>
          <p:cNvSpPr>
            <a:spLocks noGrp="1"/>
          </p:cNvSpPr>
          <p:nvPr/>
        </p:nvSpPr>
        <p:spPr>
          <a:xfrm>
            <a:off x="8039100" y="5476875"/>
            <a:ext cx="2628900" cy="257175"/>
          </a:xfrm>
          <a:prstGeom prst="roundRect">
            <a:avLst>
              <a:gd name="adj" fmla="val 15000"/>
            </a:avLst>
          </a:prstGeom>
          <a:solidFill>
            <a:srgbClr val="FFFFFF"/>
          </a:solidFill>
          <a:ln w="7620">
            <a:solidFill>
              <a:srgbClr val="9BB2C2"/>
            </a:solidFill>
            <a:prstDash val="solid"/>
          </a:ln>
        </p:spPr>
        <p:txBody>
          <a:bodyPr wrap="square" lIns="38100" tIns="9525" rIns="38100" bIns="9525" anchor="ctr">
            <a:noAutofit/>
          </a:bodyPr>
          <a:lstStyle/>
          <a:p>
            <a:pPr algn="ctr">
              <a:lnSpc>
                <a:spcPct val="95000"/>
              </a:lnSpc>
              <a:buNone/>
              <a:defRPr sz="810" b="1">
                <a:solidFill>
                  <a:srgbClr val="263544"/>
                </a:solidFill>
                <a:latin typeface="Microsoft YaHei"/>
                <a:ea typeface="Microsoft YaHei"/>
                <a:cs typeface="Microsoft YaHei"/>
              </a:defRPr>
            </a:pPr>
            <a:r>
              <a:rPr sz="810" b="1">
                <a:solidFill>
                  <a:srgbClr val="263544"/>
                </a:solidFill>
                <a:latin typeface="Microsoft YaHei"/>
                <a:ea typeface="Microsoft YaHei"/>
                <a:cs typeface="Microsoft YaHei"/>
              </a:rPr>
              <a:t>全面兜底，不替代日常快速验证</a:t>
            </a:r>
          </a:p>
        </p:txBody>
      </p:sp>
      <p:sp>
        <p:nvSpPr>
          <p:cNvPr id="3" name="slide-7-page-number">
            <a:extLst>
              <a:ext uri="{FF2B5EF4-FFF2-40B4-BE49-F238E27FC236}">
                <a16:creationId xmlns:a16="http://schemas.microsoft.com/office/drawing/2014/main" id="{B9A54D7D-D642-4660-9F2D-34D9C9C7A13B}"/>
              </a:ext>
            </a:extLst>
          </p:cNvP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Microsoft YaHei"/>
                <a:ea typeface="Microsoft YaHei"/>
                <a:cs typeface="Microsoft YaHei"/>
              </a:defRPr>
            </a:pPr>
            <a:r>
              <a:rPr sz="1200" b="1">
                <a:solidFill>
                  <a:srgbClr val="66737F"/>
                </a:solidFill>
                <a:latin typeface="Microsoft YaHei"/>
                <a:ea typeface="Microsoft YaHei"/>
                <a:cs typeface="Microsoft YaHei"/>
              </a:rPr>
              <a:t>3</a:t>
            </a:r>
            <a:endParaRPr sz="1200" b="1">
              <a:solidFill>
                <a:srgbClr val="66737F"/>
              </a:solidFill>
              <a:latin typeface="Arial"/>
              <a:ea typeface="Arial"/>
              <a:cs typeface="Arial"/>
            </a:endParaRPr>
          </a:p>
        </p:txBody>
      </p:sp>
      <p:sp>
        <p:nvSpPr>
          <p:cNvPr id="103" name="slide-1-title">
            <a:extLst>
              <a:ext uri="{FF2B5EF4-FFF2-40B4-BE49-F238E27FC236}">
                <a16:creationId xmlns:a16="http://schemas.microsoft.com/office/drawing/2014/main" id="{C381CF64-BAB1-47F1-8866-115A246CAF93}"/>
              </a:ext>
            </a:extLst>
          </p:cNvPr>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Microsoft YaHei"/>
                <a:ea typeface="Microsoft YaHei"/>
                <a:cs typeface="Microsoft YaHei"/>
              </a:defRPr>
            </a:pPr>
            <a:r>
              <a:rPr lang="en-US" sz="3000" b="1" dirty="0">
                <a:solidFill>
                  <a:srgbClr val="243B53"/>
                </a:solidFill>
                <a:latin typeface="Microsoft YaHei"/>
                <a:ea typeface="Microsoft YaHei"/>
                <a:cs typeface="Microsoft YaHei"/>
              </a:rPr>
              <a:t>1</a:t>
            </a:r>
            <a:r>
              <a:rPr sz="3000" b="1" dirty="0" smtClean="0">
                <a:solidFill>
                  <a:srgbClr val="243B53"/>
                </a:solidFill>
                <a:latin typeface="Microsoft YaHei"/>
                <a:ea typeface="Microsoft YaHei"/>
                <a:cs typeface="Microsoft YaHei"/>
              </a:rPr>
              <a:t>.</a:t>
            </a:r>
            <a:r>
              <a:rPr lang="en-US" sz="3000" b="1" dirty="0" smtClean="0">
                <a:solidFill>
                  <a:srgbClr val="243B53"/>
                </a:solidFill>
                <a:latin typeface="Microsoft YaHei"/>
                <a:ea typeface="Microsoft YaHei"/>
                <a:cs typeface="Microsoft YaHei"/>
              </a:rPr>
              <a:t>7</a:t>
            </a:r>
            <a:endParaRPr sz="3000" b="1" dirty="0">
              <a:solidFill>
                <a:srgbClr val="243B53"/>
              </a:solidFill>
              <a:latin typeface="Arial"/>
              <a:ea typeface="Arial"/>
              <a:cs typeface="Arial"/>
            </a:endParaRPr>
          </a:p>
        </p:txBody>
      </p:sp>
      <p:sp>
        <p:nvSpPr>
          <p:cNvPr id="104" name="s15-title-rule">
            <a:extLst>
              <a:ext uri="{FF2B5EF4-FFF2-40B4-BE49-F238E27FC236}">
                <a16:creationId xmlns:a16="http://schemas.microsoft.com/office/drawing/2014/main" id="{151B2147-080F-49BB-AA1C-DEAA33C95C2C}"/>
              </a:ext>
            </a:extLst>
          </p:cNvPr>
          <p:cNvSpPr>
            <a:spLocks noGrp="1"/>
          </p:cNvSpPr>
          <p:nvPr/>
        </p:nvSpPr>
        <p:spPr>
          <a:xfrm>
            <a:off x="247650" y="714375"/>
            <a:ext cx="11734800" cy="19050"/>
          </a:xfrm>
          <a:prstGeom prst="rect">
            <a:avLst/>
          </a:prstGeom>
          <a:solidFill>
            <a:srgbClr val="5B7188"/>
          </a:solidFill>
          <a:ln w="0">
            <a:solidFill>
              <a:srgbClr val="294A6D"/>
            </a:solidFill>
            <a:prstDash val="solid"/>
          </a:ln>
        </p:spPr>
      </p:sp>
    </p:spTree>
    <p:extLst>
      <p:ext uri="{BB962C8B-B14F-4D97-AF65-F5344CB8AC3E}">
        <p14:creationId xmlns:p14="http://schemas.microsoft.com/office/powerpoint/2010/main" val="1462532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4">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5">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6">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7">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原寒武纪 </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Triton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算子开发 </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的结构</a:t>
            </a:r>
            <a:endParaRPr lang="zh-CN"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8">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8">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8">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9</a:t>
            </a: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开发一个算子的流程</a:t>
            </a:r>
            <a:endParaRPr lang="zh-CN"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endParaRPr/>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dirty="0" err="1" smtClean="0">
                <a:solidFill>
                  <a:srgbClr val="243B53"/>
                </a:solidFill>
                <a:latin typeface="Arial" panose="020B0604020202020204" pitchFamily="34" charset="0"/>
                <a:ea typeface="Microsoft YaHei" panose="020B0503020204020204" pitchFamily="34" charset="-122"/>
                <a:cs typeface="微软雅黑" panose="020B0503020204020204" charset="-122"/>
              </a:rPr>
              <a:t>已开发算子实测</a:t>
            </a:r>
            <a:r>
              <a:rPr lang="zh-CN" altLang="en-US"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（旧</a:t>
            </a:r>
            <a:r>
              <a:rPr lang="zh-CN" altLang="en-US" sz="1400" b="1" dirty="0">
                <a:solidFill>
                  <a:srgbClr val="243B53"/>
                </a:solidFill>
                <a:latin typeface="Arial" panose="020B0604020202020204" pitchFamily="34" charset="0"/>
                <a:ea typeface="Microsoft YaHei" panose="020B0503020204020204" pitchFamily="34" charset="-122"/>
                <a:cs typeface="微软雅黑" panose="020B0503020204020204" charset="-122"/>
              </a:rPr>
              <a:t>结构</a:t>
            </a:r>
            <a:r>
              <a:rPr lang="zh-CN" altLang="en-US"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a:t>
            </a:r>
            <a:r>
              <a:rPr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a:t>
            </a:r>
            <a:r>
              <a:rPr sz="14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开发效率与最终性能</a:t>
            </a:r>
            <a:endParaRPr sz="14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加速比</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平台基线耗时</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优化后</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耗时</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开发耗时</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从需求提交到获得最终可用</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的端到端时间</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58" name="operator-measurement-table"/>
          <p:cNvGraphicFramePr/>
          <p:nvPr>
            <p:extLst>
              <p:ext uri="{D42A27DB-BD31-4B8C-83A1-F6EECF244321}">
                <p14:modId xmlns:p14="http://schemas.microsoft.com/office/powerpoint/2010/main" val="3674952224"/>
              </p:ext>
            </p:extLst>
          </p:nvPr>
        </p:nvGraphicFramePr>
        <p:xfrm>
          <a:off x="381000" y="4953000"/>
          <a:ext cx="7620000" cy="1143000"/>
        </p:xfrm>
        <a:graphic>
          <a:graphicData uri="http://schemas.openxmlformats.org/drawingml/2006/table">
            <a:tbl>
              <a:tblPr firstRow="1">
                <a:effectLst/>
              </a:tblPr>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285750">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算子</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误差</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相对基线加速比</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开发耗时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运行时间</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285750">
                <a:tc>
                  <a:txBody>
                    <a:bodyPr/>
                    <a:lstStyle/>
                    <a:p>
                      <a:pPr algn="ctr">
                        <a:buNone/>
                      </a:pPr>
                      <a:r>
                        <a:rPr sz="1050" b="1" dirty="0" err="1">
                          <a:solidFill>
                            <a:srgbClr val="2F3A45"/>
                          </a:solidFill>
                          <a:latin typeface="Arial" panose="020B0604020202020204" pitchFamily="34" charset="0"/>
                          <a:ea typeface="Microsoft YaHei" panose="020B0503020204020204" pitchFamily="34" charset="-122"/>
                          <a:cs typeface="微软雅黑" panose="020B0503020204020204" charset="-122"/>
                        </a:rPr>
                        <a:t>LayerNorm</a:t>
                      </a:r>
                      <a:endParaRPr sz="105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-6</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0.86</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h33m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0.175</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05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0.086</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Microsoft YaHei" panose="020B0503020204020204" pitchFamily="34" charset="-122"/>
                          <a:cs typeface="微软雅黑" panose="020B0503020204020204" charset="-122"/>
                        </a:rPr>
                        <a:t>0.45</a:t>
                      </a:r>
                      <a:endParaRPr sz="105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h55m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10</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8-primary-chain">
            <a:extLst>
              <a:ext uri="{FF2B5EF4-FFF2-40B4-BE49-F238E27FC236}">
                <a16:creationId xmlns:a16="http://schemas.microsoft.com/office/drawing/2014/main" id="{2472CF93-B2BB-ED2A-DC11-353D1A4A9371}"/>
              </a:ext>
            </a:extLst>
          </p:cNvPr>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Microsoft YaHei" panose="020B0503020204020204" pitchFamily="34" charset="-122"/>
              </a:rPr>
              <a:t>需求  →  生成  →  验证  →  优化  →  交付</a:t>
            </a:r>
          </a:p>
        </p:txBody>
      </p:sp>
      <p:sp>
        <p:nvSpPr>
          <p:cNvPr id="9" name="s8-stage-number-1">
            <a:extLst>
              <a:ext uri="{FF2B5EF4-FFF2-40B4-BE49-F238E27FC236}">
                <a16:creationId xmlns:a16="http://schemas.microsoft.com/office/drawing/2014/main" id="{DB6CB4A0-3902-2971-7F19-4D4155DB57E4}"/>
              </a:ext>
            </a:extLst>
          </p:cNvPr>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01.</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10" name="s8-stage-name-1">
            <a:extLst>
              <a:ext uri="{FF2B5EF4-FFF2-40B4-BE49-F238E27FC236}">
                <a16:creationId xmlns:a16="http://schemas.microsoft.com/office/drawing/2014/main" id="{68B06170-0BAF-5EBC-EC01-FD53A83072A8}"/>
              </a:ext>
            </a:extLst>
          </p:cNvPr>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用户输入</a:t>
            </a:r>
          </a:p>
        </p:txBody>
      </p:sp>
      <p:sp>
        <p:nvSpPr>
          <p:cNvPr id="11" name="s8-stage-action-label-1">
            <a:extLst>
              <a:ext uri="{FF2B5EF4-FFF2-40B4-BE49-F238E27FC236}">
                <a16:creationId xmlns:a16="http://schemas.microsoft.com/office/drawing/2014/main" id="{6366F946-6066-75D4-CA61-B9D13A7AB929}"/>
              </a:ext>
            </a:extLst>
          </p:cNvPr>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dirty="0">
                <a:solidFill>
                  <a:srgbClr val="66737F"/>
                </a:solidFill>
                <a:latin typeface="Arial" panose="020B0604020202020204" pitchFamily="34" charset="0"/>
                <a:ea typeface="Microsoft YaHei" panose="020B0503020204020204" pitchFamily="34" charset="-122"/>
              </a:rPr>
              <a:t>核心动作</a:t>
            </a:r>
          </a:p>
        </p:txBody>
      </p:sp>
      <p:sp>
        <p:nvSpPr>
          <p:cNvPr id="13" name="s8-stage-action-1">
            <a:extLst>
              <a:ext uri="{FF2B5EF4-FFF2-40B4-BE49-F238E27FC236}">
                <a16:creationId xmlns:a16="http://schemas.microsoft.com/office/drawing/2014/main" id="{C0D234DE-B794-1F32-F024-DF368731265C}"/>
              </a:ext>
            </a:extLst>
          </p:cNvPr>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dirty="0">
                <a:solidFill>
                  <a:srgbClr val="2F3A45"/>
                </a:solidFill>
                <a:latin typeface="Arial" panose="020B0604020202020204" pitchFamily="34" charset="0"/>
                <a:ea typeface="Microsoft YaHei" panose="020B0503020204020204" pitchFamily="34" charset="-122"/>
              </a:rPr>
              <a:t>理解</a:t>
            </a:r>
            <a:r>
              <a:rPr lang="zh-CN" altLang="en-US" sz="1220" dirty="0" smtClean="0">
                <a:solidFill>
                  <a:srgbClr val="2F3A45"/>
                </a:solidFill>
                <a:latin typeface="Arial" panose="020B0604020202020204" pitchFamily="34" charset="0"/>
                <a:ea typeface="Microsoft YaHei" panose="020B0503020204020204" pitchFamily="34" charset="-122"/>
              </a:rPr>
              <a:t>输入</a:t>
            </a:r>
            <a:endParaRPr lang="zh-CN" altLang="en-US" sz="1220" dirty="0">
              <a:solidFill>
                <a:srgbClr val="2F3A45"/>
              </a:solidFill>
              <a:latin typeface="Arial" panose="020B0604020202020204" pitchFamily="34" charset="0"/>
              <a:ea typeface="Microsoft YaHei" panose="020B0503020204020204" pitchFamily="34" charset="-122"/>
            </a:endParaRPr>
          </a:p>
        </p:txBody>
      </p:sp>
      <p:sp>
        <p:nvSpPr>
          <p:cNvPr id="20" name="s8-stage-output-label-1">
            <a:extLst>
              <a:ext uri="{FF2B5EF4-FFF2-40B4-BE49-F238E27FC236}">
                <a16:creationId xmlns:a16="http://schemas.microsoft.com/office/drawing/2014/main" id="{D8BDD895-A184-25BC-A95F-84BEE2823B03}"/>
              </a:ext>
            </a:extLst>
          </p:cNvPr>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2" name="s8-stage-output-1">
            <a:extLst>
              <a:ext uri="{FF2B5EF4-FFF2-40B4-BE49-F238E27FC236}">
                <a16:creationId xmlns:a16="http://schemas.microsoft.com/office/drawing/2014/main" id="{E21DED5D-FA46-C46F-8AAA-F783461EED98}"/>
              </a:ext>
            </a:extLst>
          </p:cNvPr>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Microsoft YaHei" panose="020B0503020204020204" pitchFamily="34" charset="-122"/>
              </a:rPr>
              <a:t>算子需求</a:t>
            </a:r>
          </a:p>
        </p:txBody>
      </p:sp>
      <p:cxnSp>
        <p:nvCxnSpPr>
          <p:cNvPr id="23" name="s8-stage-divider-2">
            <a:extLst>
              <a:ext uri="{FF2B5EF4-FFF2-40B4-BE49-F238E27FC236}">
                <a16:creationId xmlns:a16="http://schemas.microsoft.com/office/drawing/2014/main" id="{B9B87D88-D91C-6AFA-3B0F-122C13B998AA}"/>
              </a:ext>
            </a:extLst>
          </p:cNvPr>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a:extLst>
              <a:ext uri="{FF2B5EF4-FFF2-40B4-BE49-F238E27FC236}">
                <a16:creationId xmlns:a16="http://schemas.microsoft.com/office/drawing/2014/main" id="{021141E6-55CB-E667-A1C6-713A1E63E1C8}"/>
              </a:ext>
            </a:extLst>
          </p:cNvPr>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02.</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25" name="s8-stage-name-2">
            <a:extLst>
              <a:ext uri="{FF2B5EF4-FFF2-40B4-BE49-F238E27FC236}">
                <a16:creationId xmlns:a16="http://schemas.microsoft.com/office/drawing/2014/main" id="{4731DC6C-9E2E-BA74-ECB5-718F29941364}"/>
              </a:ext>
            </a:extLst>
          </p:cNvPr>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环境与需求准备</a:t>
            </a:r>
          </a:p>
        </p:txBody>
      </p:sp>
      <p:sp>
        <p:nvSpPr>
          <p:cNvPr id="26" name="s8-stage-action-label-2">
            <a:extLst>
              <a:ext uri="{FF2B5EF4-FFF2-40B4-BE49-F238E27FC236}">
                <a16:creationId xmlns:a16="http://schemas.microsoft.com/office/drawing/2014/main" id="{6BD459C8-F10A-BDBB-1D99-A55EBA60301E}"/>
              </a:ext>
            </a:extLst>
          </p:cNvPr>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27" name="s8-stage-action-2">
            <a:extLst>
              <a:ext uri="{FF2B5EF4-FFF2-40B4-BE49-F238E27FC236}">
                <a16:creationId xmlns:a16="http://schemas.microsoft.com/office/drawing/2014/main" id="{44BEE9B7-827B-68EB-9A2D-6926EF89D50E}"/>
              </a:ext>
            </a:extLst>
          </p:cNvPr>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环境检查 </a:t>
            </a:r>
            <a:r>
              <a:rPr lang="en-US" altLang="zh-CN" sz="1220">
                <a:solidFill>
                  <a:srgbClr val="2F3A45"/>
                </a:solidFill>
                <a:latin typeface="Arial" panose="020B0604020202020204" pitchFamily="34" charset="0"/>
                <a:ea typeface="Microsoft YaHei" panose="020B0503020204020204" pitchFamily="34" charset="-122"/>
              </a:rPr>
              <a:t>+</a:t>
            </a:r>
          </a:p>
          <a:p>
            <a:r>
              <a:rPr lang="zh-CN" altLang="en-US" sz="1220">
                <a:solidFill>
                  <a:srgbClr val="2F3A45"/>
                </a:solidFill>
                <a:latin typeface="Arial" panose="020B0604020202020204" pitchFamily="34" charset="0"/>
                <a:ea typeface="Microsoft YaHei" panose="020B0503020204020204" pitchFamily="34" charset="-122"/>
              </a:rPr>
              <a:t>需求结构化</a:t>
            </a:r>
          </a:p>
        </p:txBody>
      </p:sp>
      <p:sp>
        <p:nvSpPr>
          <p:cNvPr id="28" name="s8-stage-output-label-2">
            <a:extLst>
              <a:ext uri="{FF2B5EF4-FFF2-40B4-BE49-F238E27FC236}">
                <a16:creationId xmlns:a16="http://schemas.microsoft.com/office/drawing/2014/main" id="{F90FD1AD-6F42-6AD1-3CFC-5198D17A590E}"/>
              </a:ext>
            </a:extLst>
          </p:cNvPr>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9" name="s8-stage-output-2">
            <a:extLst>
              <a:ext uri="{FF2B5EF4-FFF2-40B4-BE49-F238E27FC236}">
                <a16:creationId xmlns:a16="http://schemas.microsoft.com/office/drawing/2014/main" id="{BEBA7430-4323-DC2A-C8FB-749ED3AF0D09}"/>
              </a:ext>
            </a:extLst>
          </p:cNvPr>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config / requirement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0" name="s8-stage-divider-3">
            <a:extLst>
              <a:ext uri="{FF2B5EF4-FFF2-40B4-BE49-F238E27FC236}">
                <a16:creationId xmlns:a16="http://schemas.microsoft.com/office/drawing/2014/main" id="{142DDE08-B029-BBAD-5550-3A0178B35D3D}"/>
              </a:ext>
            </a:extLst>
          </p:cNvPr>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a:extLst>
              <a:ext uri="{FF2B5EF4-FFF2-40B4-BE49-F238E27FC236}">
                <a16:creationId xmlns:a16="http://schemas.microsoft.com/office/drawing/2014/main" id="{308BCCE2-947F-E412-09D8-64AA669BD813}"/>
              </a:ext>
            </a:extLst>
          </p:cNvPr>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03.</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32" name="s8-stage-name-3">
            <a:extLst>
              <a:ext uri="{FF2B5EF4-FFF2-40B4-BE49-F238E27FC236}">
                <a16:creationId xmlns:a16="http://schemas.microsoft.com/office/drawing/2014/main" id="{A6C5645C-CF0D-FB0D-DDAC-0B3592DA33FE}"/>
              </a:ext>
            </a:extLst>
          </p:cNvPr>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Microsoft YaHei" panose="020B0503020204020204" pitchFamily="34" charset="-122"/>
              </a:rPr>
              <a:t>Kernel </a:t>
            </a:r>
            <a:r>
              <a:rPr lang="zh-CN" altLang="en-US" sz="1500" b="1">
                <a:solidFill>
                  <a:srgbClr val="243B53"/>
                </a:solidFill>
                <a:latin typeface="Arial" panose="020B0604020202020204" pitchFamily="34" charset="0"/>
                <a:ea typeface="Microsoft YaHei" panose="020B0503020204020204" pitchFamily="34" charset="-122"/>
              </a:rPr>
              <a:t>与测试生成</a:t>
            </a:r>
          </a:p>
        </p:txBody>
      </p:sp>
      <p:sp>
        <p:nvSpPr>
          <p:cNvPr id="33" name="s8-stage-action-label-3">
            <a:extLst>
              <a:ext uri="{FF2B5EF4-FFF2-40B4-BE49-F238E27FC236}">
                <a16:creationId xmlns:a16="http://schemas.microsoft.com/office/drawing/2014/main" id="{6B064114-3E38-8D2F-F12C-BAE17BB31A44}"/>
              </a:ext>
            </a:extLst>
          </p:cNvPr>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34" name="s8-stage-action-3">
            <a:extLst>
              <a:ext uri="{FF2B5EF4-FFF2-40B4-BE49-F238E27FC236}">
                <a16:creationId xmlns:a16="http://schemas.microsoft.com/office/drawing/2014/main" id="{8D88E7B5-890C-068F-BABC-E374767EE00A}"/>
              </a:ext>
            </a:extLst>
          </p:cNvPr>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Kernel </a:t>
            </a:r>
            <a:r>
              <a:rPr lang="zh-CN" altLang="en-US" sz="1220">
                <a:solidFill>
                  <a:srgbClr val="2F3A45"/>
                </a:solidFill>
                <a:latin typeface="Arial" panose="020B0604020202020204" pitchFamily="34" charset="0"/>
                <a:ea typeface="Microsoft YaHei" panose="020B0503020204020204" pitchFamily="34" charset="-122"/>
              </a:rPr>
              <a:t>设计与</a:t>
            </a:r>
          </a:p>
          <a:p>
            <a:r>
              <a:rPr lang="zh-CN" altLang="en-US" sz="1220">
                <a:solidFill>
                  <a:srgbClr val="2F3A45"/>
                </a:solidFill>
                <a:latin typeface="Arial" panose="020B0604020202020204" pitchFamily="34" charset="0"/>
                <a:ea typeface="Microsoft YaHei" panose="020B0503020204020204" pitchFamily="34" charset="-122"/>
              </a:rPr>
              <a:t>代码生成</a:t>
            </a:r>
          </a:p>
        </p:txBody>
      </p:sp>
      <p:sp>
        <p:nvSpPr>
          <p:cNvPr id="35" name="s8-stage-output-label-3">
            <a:extLst>
              <a:ext uri="{FF2B5EF4-FFF2-40B4-BE49-F238E27FC236}">
                <a16:creationId xmlns:a16="http://schemas.microsoft.com/office/drawing/2014/main" id="{B245A11F-80C1-03C0-4A74-2853EAEE5120}"/>
              </a:ext>
            </a:extLst>
          </p:cNvPr>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36" name="s8-stage-output-3">
            <a:extLst>
              <a:ext uri="{FF2B5EF4-FFF2-40B4-BE49-F238E27FC236}">
                <a16:creationId xmlns:a16="http://schemas.microsoft.com/office/drawing/2014/main" id="{FDB4FFD7-50D7-6820-D792-0A24EB7FA7AB}"/>
              </a:ext>
            </a:extLst>
          </p:cNvPr>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Kernel + Test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7" name="s8-stage-divider-4">
            <a:extLst>
              <a:ext uri="{FF2B5EF4-FFF2-40B4-BE49-F238E27FC236}">
                <a16:creationId xmlns:a16="http://schemas.microsoft.com/office/drawing/2014/main" id="{4A1429E2-335B-48F4-AEBE-BCB94D5CA364}"/>
              </a:ext>
            </a:extLst>
          </p:cNvPr>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a:extLst>
              <a:ext uri="{FF2B5EF4-FFF2-40B4-BE49-F238E27FC236}">
                <a16:creationId xmlns:a16="http://schemas.microsoft.com/office/drawing/2014/main" id="{BFDC7F92-78AC-9582-363C-40501612D452}"/>
              </a:ext>
            </a:extLst>
          </p:cNvPr>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04.</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44" name="s8-stage-name-4">
            <a:extLst>
              <a:ext uri="{FF2B5EF4-FFF2-40B4-BE49-F238E27FC236}">
                <a16:creationId xmlns:a16="http://schemas.microsoft.com/office/drawing/2014/main" id="{86CE3A3B-5F2C-4925-F01F-B86BDB2BD7A0}"/>
              </a:ext>
            </a:extLst>
          </p:cNvPr>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正确性验证与修复</a:t>
            </a:r>
          </a:p>
        </p:txBody>
      </p:sp>
      <p:sp>
        <p:nvSpPr>
          <p:cNvPr id="46" name="s8-stage-action-label-4">
            <a:extLst>
              <a:ext uri="{FF2B5EF4-FFF2-40B4-BE49-F238E27FC236}">
                <a16:creationId xmlns:a16="http://schemas.microsoft.com/office/drawing/2014/main" id="{8901ADB6-4445-E901-89B2-FF9F1953B4D5}"/>
              </a:ext>
            </a:extLst>
          </p:cNvPr>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0" name="s8-stage-action-4">
            <a:extLst>
              <a:ext uri="{FF2B5EF4-FFF2-40B4-BE49-F238E27FC236}">
                <a16:creationId xmlns:a16="http://schemas.microsoft.com/office/drawing/2014/main" id="{6F76231C-7680-BB26-1C4D-EEA1728D7D26}"/>
              </a:ext>
            </a:extLst>
          </p:cNvPr>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执行测试 →</a:t>
            </a:r>
          </a:p>
          <a:p>
            <a:r>
              <a:rPr lang="zh-CN" altLang="en-US" sz="1220">
                <a:solidFill>
                  <a:srgbClr val="2F3A45"/>
                </a:solidFill>
                <a:latin typeface="Arial" panose="020B0604020202020204" pitchFamily="34" charset="0"/>
                <a:ea typeface="Microsoft YaHei" panose="020B0503020204020204" pitchFamily="34" charset="-122"/>
              </a:rPr>
              <a:t>对比 → 修复</a:t>
            </a:r>
          </a:p>
        </p:txBody>
      </p:sp>
      <p:sp>
        <p:nvSpPr>
          <p:cNvPr id="51" name="s8-stage-output-label-4">
            <a:extLst>
              <a:ext uri="{FF2B5EF4-FFF2-40B4-BE49-F238E27FC236}">
                <a16:creationId xmlns:a16="http://schemas.microsoft.com/office/drawing/2014/main" id="{47C59EFC-90DF-210F-D8A8-E4F942D38C49}"/>
              </a:ext>
            </a:extLst>
          </p:cNvPr>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52" name="s8-stage-output-4">
            <a:extLst>
              <a:ext uri="{FF2B5EF4-FFF2-40B4-BE49-F238E27FC236}">
                <a16:creationId xmlns:a16="http://schemas.microsoft.com/office/drawing/2014/main" id="{695E2EF7-B340-0D44-7C72-B4BD192E13CA}"/>
              </a:ext>
            </a:extLst>
          </p:cNvPr>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Verified Kernel</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53" name="s8-stage-divider-5">
            <a:extLst>
              <a:ext uri="{FF2B5EF4-FFF2-40B4-BE49-F238E27FC236}">
                <a16:creationId xmlns:a16="http://schemas.microsoft.com/office/drawing/2014/main" id="{0A5019CF-4DFD-D6A8-E6EC-59CCCB8B7083}"/>
              </a:ext>
            </a:extLst>
          </p:cNvPr>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a:extLst>
              <a:ext uri="{FF2B5EF4-FFF2-40B4-BE49-F238E27FC236}">
                <a16:creationId xmlns:a16="http://schemas.microsoft.com/office/drawing/2014/main" id="{8106BD29-5D25-1798-080A-0E3D1348C0A1}"/>
              </a:ext>
            </a:extLst>
          </p:cNvPr>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05.</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55" name="s8-stage-name-5">
            <a:extLst>
              <a:ext uri="{FF2B5EF4-FFF2-40B4-BE49-F238E27FC236}">
                <a16:creationId xmlns:a16="http://schemas.microsoft.com/office/drawing/2014/main" id="{DFCCCC29-3714-7FA2-8B32-CE6062779965}"/>
              </a:ext>
            </a:extLst>
          </p:cNvPr>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性能基准与优化</a:t>
            </a:r>
          </a:p>
        </p:txBody>
      </p:sp>
      <p:sp>
        <p:nvSpPr>
          <p:cNvPr id="56" name="s8-stage-action-label-5">
            <a:extLst>
              <a:ext uri="{FF2B5EF4-FFF2-40B4-BE49-F238E27FC236}">
                <a16:creationId xmlns:a16="http://schemas.microsoft.com/office/drawing/2014/main" id="{25B34A49-F0F3-2633-4BDC-57FCCB0F076E}"/>
              </a:ext>
            </a:extLst>
          </p:cNvPr>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7" name="s8-stage-action-5">
            <a:extLst>
              <a:ext uri="{FF2B5EF4-FFF2-40B4-BE49-F238E27FC236}">
                <a16:creationId xmlns:a16="http://schemas.microsoft.com/office/drawing/2014/main" id="{FF265561-B6DF-720C-2636-1D325F403485}"/>
              </a:ext>
            </a:extLst>
          </p:cNvPr>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Benchmark → </a:t>
            </a:r>
            <a:r>
              <a:rPr lang="zh-CN" altLang="en-US" sz="1220">
                <a:solidFill>
                  <a:srgbClr val="2F3A45"/>
                </a:solidFill>
                <a:latin typeface="Arial" panose="020B0604020202020204" pitchFamily="34" charset="0"/>
                <a:ea typeface="Microsoft YaHei" panose="020B0503020204020204" pitchFamily="34" charset="-122"/>
              </a:rPr>
              <a:t>分析</a:t>
            </a:r>
          </a:p>
          <a:p>
            <a:r>
              <a:rPr lang="zh-CN" altLang="en-US" sz="1220">
                <a:solidFill>
                  <a:srgbClr val="2F3A45"/>
                </a:solidFill>
                <a:latin typeface="Arial" panose="020B0604020202020204" pitchFamily="34" charset="0"/>
                <a:ea typeface="Microsoft YaHei" panose="020B0503020204020204" pitchFamily="34" charset="-122"/>
              </a:rPr>
              <a:t>→ 优化 → 复测</a:t>
            </a:r>
          </a:p>
        </p:txBody>
      </p:sp>
      <p:sp>
        <p:nvSpPr>
          <p:cNvPr id="59" name="s8-stage-output-label-5">
            <a:extLst>
              <a:ext uri="{FF2B5EF4-FFF2-40B4-BE49-F238E27FC236}">
                <a16:creationId xmlns:a16="http://schemas.microsoft.com/office/drawing/2014/main" id="{89E5DDF5-07F6-2B24-29AA-C412E1985D3C}"/>
              </a:ext>
            </a:extLst>
          </p:cNvPr>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0" name="s8-stage-output-5">
            <a:extLst>
              <a:ext uri="{FF2B5EF4-FFF2-40B4-BE49-F238E27FC236}">
                <a16:creationId xmlns:a16="http://schemas.microsoft.com/office/drawing/2014/main" id="{B3B02F2C-7C41-ECC8-0381-F8A0D1C151B7}"/>
              </a:ext>
            </a:extLst>
          </p:cNvPr>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Optimized Kernel</a:t>
            </a:r>
          </a:p>
          <a:p>
            <a:r>
              <a:rPr lang="en-US" altLang="zh-CN" sz="1140" b="1">
                <a:solidFill>
                  <a:srgbClr val="4F8A83"/>
                </a:solidFill>
                <a:latin typeface="Arial" panose="020B0604020202020204" pitchFamily="34" charset="0"/>
                <a:ea typeface="Microsoft YaHei" panose="020B0503020204020204" pitchFamily="34" charset="-122"/>
              </a:rPr>
              <a:t>+ Metrics</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61" name="s8-stage-divider-6">
            <a:extLst>
              <a:ext uri="{FF2B5EF4-FFF2-40B4-BE49-F238E27FC236}">
                <a16:creationId xmlns:a16="http://schemas.microsoft.com/office/drawing/2014/main" id="{2B459E95-D013-BB67-D3A2-A976ABB5B078}"/>
              </a:ext>
            </a:extLst>
          </p:cNvPr>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a:extLst>
              <a:ext uri="{FF2B5EF4-FFF2-40B4-BE49-F238E27FC236}">
                <a16:creationId xmlns:a16="http://schemas.microsoft.com/office/drawing/2014/main" id="{5CB65578-75E5-21B8-F570-982595885C07}"/>
              </a:ext>
            </a:extLst>
          </p:cNvPr>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06.</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64" name="s8-stage-name-6">
            <a:extLst>
              <a:ext uri="{FF2B5EF4-FFF2-40B4-BE49-F238E27FC236}">
                <a16:creationId xmlns:a16="http://schemas.microsoft.com/office/drawing/2014/main" id="{996213D9-EA51-D721-37CD-AB475DE59368}"/>
              </a:ext>
            </a:extLst>
          </p:cNvPr>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最终交付</a:t>
            </a:r>
          </a:p>
        </p:txBody>
      </p:sp>
      <p:sp>
        <p:nvSpPr>
          <p:cNvPr id="65" name="s8-stage-action-label-6">
            <a:extLst>
              <a:ext uri="{FF2B5EF4-FFF2-40B4-BE49-F238E27FC236}">
                <a16:creationId xmlns:a16="http://schemas.microsoft.com/office/drawing/2014/main" id="{17848A74-ACF8-D900-64E4-516D68F20BD0}"/>
              </a:ext>
            </a:extLst>
          </p:cNvPr>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66" name="s8-stage-action-6">
            <a:extLst>
              <a:ext uri="{FF2B5EF4-FFF2-40B4-BE49-F238E27FC236}">
                <a16:creationId xmlns:a16="http://schemas.microsoft.com/office/drawing/2014/main" id="{E889CFAC-190A-5DAB-4CDE-424110279165}"/>
              </a:ext>
            </a:extLst>
          </p:cNvPr>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汇总代码、验证结果</a:t>
            </a:r>
          </a:p>
          <a:p>
            <a:r>
              <a:rPr lang="zh-CN" altLang="en-US" sz="1220">
                <a:solidFill>
                  <a:srgbClr val="2F3A45"/>
                </a:solidFill>
                <a:latin typeface="Arial" panose="020B0604020202020204" pitchFamily="34" charset="0"/>
                <a:ea typeface="Microsoft YaHei" panose="020B0503020204020204" pitchFamily="34" charset="-122"/>
              </a:rPr>
              <a:t>与性能报告</a:t>
            </a:r>
          </a:p>
        </p:txBody>
      </p:sp>
      <p:sp>
        <p:nvSpPr>
          <p:cNvPr id="67" name="s8-stage-output-label-6">
            <a:extLst>
              <a:ext uri="{FF2B5EF4-FFF2-40B4-BE49-F238E27FC236}">
                <a16:creationId xmlns:a16="http://schemas.microsoft.com/office/drawing/2014/main" id="{8A5C5A68-951C-043F-5FAA-473BE19A0AF3}"/>
              </a:ext>
            </a:extLst>
          </p:cNvPr>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8" name="s8-stage-output-6">
            <a:extLst>
              <a:ext uri="{FF2B5EF4-FFF2-40B4-BE49-F238E27FC236}">
                <a16:creationId xmlns:a16="http://schemas.microsoft.com/office/drawing/2014/main" id="{FC1C1197-B032-F415-8F3F-0D1488D40292}"/>
              </a:ext>
            </a:extLst>
          </p:cNvPr>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Kernel / Test /</a:t>
            </a:r>
          </a:p>
          <a:p>
            <a:r>
              <a:rPr lang="en-US" altLang="zh-CN" sz="1140" b="1">
                <a:solidFill>
                  <a:srgbClr val="4F8A83"/>
                </a:solidFill>
                <a:latin typeface="Arial" panose="020B0604020202020204" pitchFamily="34" charset="0"/>
                <a:ea typeface="Microsoft YaHei" panose="020B0503020204020204" pitchFamily="34" charset="-122"/>
              </a:rPr>
              <a:t>Correctness / Benchmark / Report</a:t>
            </a:r>
            <a:endParaRPr lang="zh-CN" altLang="en-US" sz="1140" b="1">
              <a:solidFill>
                <a:srgbClr val="4F8A83"/>
              </a:solidFill>
              <a:latin typeface="Arial" panose="020B0604020202020204" pitchFamily="34" charset="0"/>
              <a:ea typeface="Microsoft YaHei" panose="020B0503020204020204" pitchFamily="3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70" name="speedup-label"/>
          <p:cNvSpPr>
            <a:spLocks noGrp="1"/>
          </p:cNvSpPr>
          <p:nvPr/>
        </p:nvSpPr>
        <p:spPr>
          <a:xfrm>
            <a:off x="8635999" y="4648716"/>
            <a:ext cx="2498725"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lang="zh-CN" altLang="en-US"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人工干预成本：  输入清晰的情况下</a:t>
            </a:r>
            <a:r>
              <a:rPr lang="en-US" altLang="zh-CN"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1-2</a:t>
            </a:r>
            <a:r>
              <a:rPr lang="zh-CN" altLang="en-US"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次</a:t>
            </a:r>
            <a:endParaRPr sz="105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71" name="development-time-definition"/>
          <p:cNvSpPr>
            <a:spLocks noGrp="1"/>
          </p:cNvSpPr>
          <p:nvPr/>
        </p:nvSpPr>
        <p:spPr>
          <a:xfrm>
            <a:off x="660400" y="6375400"/>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算子开发的</a:t>
            </a:r>
            <a:r>
              <a:rPr lang="en-US" altLang="zh-CN"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token</a:t>
            </a: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消耗是数百万</a:t>
            </a:r>
            <a:r>
              <a:rPr lang="en-US" altLang="zh-CN" sz="105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okens</a:t>
            </a: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级别的，具体数据后续会重新测量记录。</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25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算子</a:t>
            </a:r>
            <a:r>
              <a:rPr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 的</a:t>
            </a:r>
            <a:r>
              <a:rPr lang="zh-CN"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r>
              <a:rPr sz="25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与问题</a:t>
            </a:r>
            <a:endParaRPr sz="255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三大</a:t>
            </a:r>
            <a:r>
              <a:rPr lang="zh-CN"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Microsoft YaHei" panose="020B0503020204020204" pitchFamily="34" charset="-122"/>
                <a:cs typeface="微软雅黑" panose="020B0503020204020204" charset="-122"/>
              </a:rPr>
              <a:t>四个</a:t>
            </a:r>
            <a:r>
              <a:rPr sz="16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问题</a:t>
            </a:r>
            <a:endParaRPr sz="16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Microsoft YaHei" panose="020B0503020204020204" pitchFamily="34" charset="-122"/>
                <a:cs typeface="微软雅黑" panose="020B0503020204020204" charset="-122"/>
              </a:rPr>
              <a:t>算子开发指南结构</a:t>
            </a:r>
            <a:r>
              <a:rPr sz="1400"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1" name="flow-general-process"/>
          <p:cNvSpPr>
            <a:spLocks noGrp="1"/>
          </p:cNvSpPr>
          <p:nvPr/>
        </p:nvSpPr>
        <p:spPr>
          <a:xfrm>
            <a:off x="4871002" y="5567363"/>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通用开发流程</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3" name="flow-platform-knowledge"/>
          <p:cNvSpPr>
            <a:spLocks noGrp="1"/>
          </p:cNvSpPr>
          <p:nvPr/>
        </p:nvSpPr>
        <p:spPr>
          <a:xfrm>
            <a:off x="6734175" y="5560392"/>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平台专属知识</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从“开发算子</a:t>
            </a:r>
            <a:r>
              <a:rPr lang="en-US"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Skill</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”进一步到“开发算子</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Skill</a:t>
            </a:r>
            <a:r>
              <a:rPr lang="zh-CN"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指南</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开发流程能够跑通</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环境</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需求</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生成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验证</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生成与验证</a:t>
            </a:r>
            <a:r>
              <a:rPr lang="zh-CN" altLang="en-US" sz="14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提供保障</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Kernel + Test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执行</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Correctness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修复</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通过</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性能优化</a:t>
            </a:r>
            <a:r>
              <a:rPr lang="zh-CN" altLang="en-US" sz="1400" dirty="0">
                <a:solidFill>
                  <a:srgbClr val="2F3A45"/>
                </a:solidFill>
                <a:latin typeface="Arial" panose="020B0604020202020204" pitchFamily="34" charset="0"/>
                <a:ea typeface="Microsoft YaHei" panose="020B0503020204020204" pitchFamily="34" charset="-122"/>
                <a:cs typeface="微软雅黑" panose="020B0503020204020204" charset="-122"/>
              </a:rPr>
              <a:t>全面</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Benchmark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分析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复测</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平台知识</a:t>
            </a: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较</a:t>
            </a: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分散</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不能适配</a:t>
            </a: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其他</a:t>
            </a: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平台</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新</a:t>
            </a: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加一些优化较为困难</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开发时间较长</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11</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Microsoft YaHei" panose="020B0503020204020204" pitchFamily="34" charset="-122"/>
              </a:rPr>
              <a:t>算子</a:t>
            </a:r>
            <a:r>
              <a:rPr sz="2550" b="1" dirty="0">
                <a:solidFill>
                  <a:srgbClr val="243B53"/>
                </a:solidFill>
                <a:latin typeface="Arial" panose="020B0604020202020204" pitchFamily="34" charset="0"/>
                <a:ea typeface="Microsoft YaHei" panose="020B0503020204020204" pitchFamily="34" charset="-122"/>
              </a:rPr>
              <a:t> Skill </a:t>
            </a:r>
            <a:r>
              <a:rPr sz="2550" b="1" dirty="0" err="1">
                <a:solidFill>
                  <a:srgbClr val="243B53"/>
                </a:solidFill>
                <a:latin typeface="Arial" panose="020B0604020202020204" pitchFamily="34" charset="0"/>
                <a:ea typeface="Microsoft YaHei" panose="020B0503020204020204" pitchFamily="34" charset="-122"/>
              </a:rPr>
              <a:t>开发指南：通用框架</a:t>
            </a:r>
            <a:r>
              <a:rPr sz="2550" b="1" dirty="0">
                <a:solidFill>
                  <a:srgbClr val="243B53"/>
                </a:solidFill>
                <a:latin typeface="Arial" panose="020B0604020202020204" pitchFamily="34" charset="0"/>
                <a:ea typeface="Microsoft YaHei" panose="020B0503020204020204" pitchFamily="34" charset="-122"/>
              </a:rPr>
              <a:t> × </a:t>
            </a:r>
            <a:r>
              <a:rPr sz="2550" b="1" dirty="0" err="1">
                <a:solidFill>
                  <a:srgbClr val="243B53"/>
                </a:solidFill>
                <a:latin typeface="Arial" panose="020B0604020202020204" pitchFamily="34" charset="0"/>
                <a:ea typeface="Microsoft YaHei" panose="020B0503020204020204" pitchFamily="34" charset="-122"/>
              </a:rPr>
              <a:t>平台知识</a:t>
            </a:r>
            <a:r>
              <a:rPr sz="2550" b="1" dirty="0">
                <a:solidFill>
                  <a:srgbClr val="243B53"/>
                </a:solidFill>
                <a:latin typeface="Arial" panose="020B0604020202020204" pitchFamily="34" charset="0"/>
                <a:ea typeface="Microsoft YaHei" panose="020B0503020204020204" pitchFamily="34" charset="-122"/>
              </a:rPr>
              <a:t> × </a:t>
            </a:r>
            <a:r>
              <a:rPr sz="2550" b="1" dirty="0" err="1">
                <a:solidFill>
                  <a:srgbClr val="243B53"/>
                </a:solidFill>
                <a:latin typeface="Arial" panose="020B0604020202020204" pitchFamily="34" charset="0"/>
                <a:ea typeface="Microsoft YaHei" panose="020B0503020204020204" pitchFamily="34" charset="-122"/>
              </a:rPr>
              <a:t>验证闭环</a:t>
            </a:r>
            <a:endParaRPr sz="2550" b="1" dirty="0">
              <a:solidFill>
                <a:srgbClr val="243B53"/>
              </a:solidFill>
              <a:latin typeface="Arial" panose="020B0604020202020204" pitchFamily="34" charset="0"/>
              <a:ea typeface="Microsoft YaHei" panose="020B0503020204020204" pitchFamily="34" charset="-122"/>
            </a:endParaRPr>
          </a:p>
        </p:txBody>
      </p:sp>
      <p:sp>
        <p:nvSpPr>
          <p:cNvPr id="14" name="framework-synthesis"/>
          <p:cNvSpPr>
            <a:spLocks noGrp="1"/>
          </p:cNvSpPr>
          <p:nvPr/>
        </p:nvSpPr>
        <p:spPr>
          <a:xfrm>
            <a:off x="3271422" y="5353050"/>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a:solidFill>
                  <a:srgbClr val="2F3A45"/>
                </a:solidFill>
                <a:latin typeface="Arial" panose="020B0604020202020204" pitchFamily="34" charset="0"/>
                <a:ea typeface="Microsoft YaHei" panose="020B0503020204020204" pitchFamily="34" charset="-122"/>
              </a:rPr>
              <a:t>★  </a:t>
            </a:r>
            <a:r>
              <a:rPr sz="940" dirty="0" err="1">
                <a:solidFill>
                  <a:srgbClr val="2F3A45"/>
                </a:solidFill>
                <a:latin typeface="Arial" panose="020B0604020202020204" pitchFamily="34" charset="0"/>
                <a:ea typeface="Microsoft YaHei" panose="020B0503020204020204" pitchFamily="34" charset="-122"/>
              </a:rPr>
              <a:t>通用框架提供骨架，平台知识填充差异，真实验证不断校准两者</a:t>
            </a:r>
            <a:r>
              <a:rPr sz="940" dirty="0">
                <a:solidFill>
                  <a:srgbClr val="2F3A45"/>
                </a:solidFill>
                <a:latin typeface="Arial" panose="020B0604020202020204" pitchFamily="34" charset="0"/>
                <a:ea typeface="Microsoft YaHei" panose="020B0503020204020204" pitchFamily="34" charset="-122"/>
              </a:rPr>
              <a:t>。</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12</a:t>
            </a:r>
            <a:endParaRPr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dirty="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3676235" y="869880"/>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3760573" y="953386"/>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3781010" y="1201036"/>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5905085" y="1841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Microsoft YaHei" panose="020B0503020204020204" pitchFamily="34" charset="-122"/>
              <a:cs typeface="Calibri" panose="020F0502020204030204"/>
            </a:endParaRPr>
          </a:p>
        </p:txBody>
      </p:sp>
      <p:sp>
        <p:nvSpPr>
          <p:cNvPr id="23" name="s15-platform-frame"/>
          <p:cNvSpPr>
            <a:spLocks noGrp="1"/>
          </p:cNvSpPr>
          <p:nvPr/>
        </p:nvSpPr>
        <p:spPr>
          <a:xfrm>
            <a:off x="3676235" y="2060505"/>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3790535" y="2098605"/>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4543010" y="2460555"/>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5914610" y="2479605"/>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6209885" y="2460555"/>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Environment </a:t>
            </a:r>
            <a:r>
              <a:rPr sz="925" b="1" dirty="0">
                <a:solidFill>
                  <a:srgbClr val="2F3A45"/>
                </a:solidFill>
                <a:latin typeface="Arial" panose="020B0604020202020204" pitchFamily="34" charset="0"/>
                <a:ea typeface="Microsoft YaHei" panose="020B0503020204020204" pitchFamily="34" charset="-122"/>
                <a:cs typeface="微软雅黑" panose="020B0503020204020204" charset="-122"/>
              </a:rPr>
              <a:t>/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30" name="s15-validation-frame"/>
          <p:cNvSpPr>
            <a:spLocks noGrp="1"/>
          </p:cNvSpPr>
          <p:nvPr/>
        </p:nvSpPr>
        <p:spPr>
          <a:xfrm>
            <a:off x="3676235" y="3470205"/>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3790535" y="3508305"/>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3790535" y="3755955"/>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468588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706713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3733385" y="4698930"/>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Microsoft YaHei" panose="020B0503020204020204" pitchFamily="34" charset="-122"/>
              </a:rPr>
              <a:t>更新平台知识</a:t>
            </a:r>
            <a:endParaRPr sz="915" dirty="0">
              <a:solidFill>
                <a:srgbClr val="2F3A45"/>
              </a:solidFill>
              <a:latin typeface="Arial" panose="020B0604020202020204" pitchFamily="34" charset="0"/>
              <a:ea typeface="Microsoft YaHei" panose="020B0503020204020204" pitchFamily="34" charset="-122"/>
            </a:endParaRPr>
          </a:p>
        </p:txBody>
      </p:sp>
      <p:sp>
        <p:nvSpPr>
          <p:cNvPr id="36" name="s15-adjust-workflow"/>
          <p:cNvSpPr>
            <a:spLocks noGrp="1"/>
          </p:cNvSpPr>
          <p:nvPr/>
        </p:nvSpPr>
        <p:spPr>
          <a:xfrm>
            <a:off x="6381335" y="4698930"/>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Microsoft YaHei" panose="020B0503020204020204" pitchFamily="34" charset="-122"/>
              </a:rPr>
              <a:t>修正通用流程</a:t>
            </a:r>
            <a:endParaRPr sz="915" dirty="0">
              <a:solidFill>
                <a:srgbClr val="2F3A45"/>
              </a:solidFill>
              <a:latin typeface="Arial" panose="020B0604020202020204" pitchFamily="34" charset="0"/>
              <a:ea typeface="Microsoft YaHei" panose="020B0503020204020204" pitchFamily="34" charset="-122"/>
            </a:endParaRP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dirty="0" err="1">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endParaRPr sz="1165" dirty="0">
              <a:solidFill>
                <a:srgbClr val="FFFFFF"/>
              </a:solidFill>
              <a:latin typeface="Arial" panose="020B0604020202020204" pitchFamily="34" charset="0"/>
              <a:ea typeface="Microsoft YaHei" panose="020B0503020204020204" pitchFamily="3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3006313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057275" y="205090"/>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smtClean="0">
                <a:solidFill>
                  <a:srgbClr val="243B53"/>
                </a:solidFill>
                <a:latin typeface="Arial" panose="020B0604020202020204" pitchFamily="34" charset="0"/>
                <a:ea typeface="Microsoft YaHei" panose="020B0503020204020204" pitchFamily="34" charset="-122"/>
              </a:rPr>
              <a:t>开发</a:t>
            </a:r>
            <a:r>
              <a:rPr lang="en-US" altLang="zh-CN" sz="2550" b="1" dirty="0" smtClean="0">
                <a:solidFill>
                  <a:srgbClr val="243B53"/>
                </a:solidFill>
                <a:latin typeface="Arial" panose="020B0604020202020204" pitchFamily="34" charset="0"/>
                <a:ea typeface="Microsoft YaHei" panose="020B0503020204020204" pitchFamily="34" charset="-122"/>
              </a:rPr>
              <a:t>Skill</a:t>
            </a:r>
            <a:r>
              <a:rPr lang="zh-CN" altLang="en-US" sz="2550" b="1" dirty="0" smtClean="0">
                <a:solidFill>
                  <a:srgbClr val="243B53"/>
                </a:solidFill>
                <a:latin typeface="Arial" panose="020B0604020202020204" pitchFamily="34" charset="0"/>
                <a:ea typeface="Microsoft YaHei" panose="020B0503020204020204" pitchFamily="34" charset="-122"/>
              </a:rPr>
              <a:t>指南细节</a:t>
            </a:r>
            <a:endParaRPr sz="2550" b="1" dirty="0">
              <a:solidFill>
                <a:srgbClr val="243B53"/>
              </a:solidFill>
              <a:latin typeface="Arial" panose="020B0604020202020204" pitchFamily="34" charset="0"/>
              <a:ea typeface="Microsoft YaHei" panose="020B0503020204020204" pitchFamily="34" charset="-122"/>
            </a:endParaRPr>
          </a:p>
        </p:txBody>
      </p:sp>
      <p:sp>
        <p:nvSpPr>
          <p:cNvPr id="8" name="universal-framework-question"/>
          <p:cNvSpPr>
            <a:spLocks noGrp="1"/>
          </p:cNvSpPr>
          <p:nvPr/>
        </p:nvSpPr>
        <p:spPr>
          <a:xfrm>
            <a:off x="6477000" y="88582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① 通用框架｜什么东西应该保持稳定？</a:t>
            </a:r>
          </a:p>
        </p:txBody>
      </p:sp>
      <p:sp>
        <p:nvSpPr>
          <p:cNvPr id="9" name="universal-framework-takeaway"/>
          <p:cNvSpPr>
            <a:spLocks noGrp="1"/>
          </p:cNvSpPr>
          <p:nvPr/>
        </p:nvSpPr>
        <p:spPr>
          <a:xfrm>
            <a:off x="6600190" y="2095500"/>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cs typeface="微软雅黑" panose="020B0503020204020204" charset="-122"/>
              </a:rPr>
              <a:t>框架有时也需要根据实际情况进行微调。</a:t>
            </a:r>
          </a:p>
        </p:txBody>
      </p:sp>
      <p:sp>
        <p:nvSpPr>
          <p:cNvPr id="10" name="platform-knowledge-question"/>
          <p:cNvSpPr>
            <a:spLocks noGrp="1"/>
          </p:cNvSpPr>
          <p:nvPr/>
        </p:nvSpPr>
        <p:spPr>
          <a:xfrm>
            <a:off x="6477000" y="239077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② 平台知识｜换平台时到底要补什么？</a:t>
            </a:r>
          </a:p>
        </p:txBody>
      </p:sp>
      <p:sp>
        <p:nvSpPr>
          <p:cNvPr id="11" name="platform-knowledge-takeaway"/>
          <p:cNvSpPr>
            <a:spLocks noGrp="1"/>
          </p:cNvSpPr>
          <p:nvPr/>
        </p:nvSpPr>
        <p:spPr>
          <a:xfrm>
            <a:off x="6686550" y="3838575"/>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官方资料定义“支持什么”，真实测试补充“实际表现如何”。</a:t>
            </a:r>
          </a:p>
        </p:txBody>
      </p:sp>
      <p:sp>
        <p:nvSpPr>
          <p:cNvPr id="12" name="validation-loop-question"/>
          <p:cNvSpPr>
            <a:spLocks noGrp="1"/>
          </p:cNvSpPr>
          <p:nvPr/>
        </p:nvSpPr>
        <p:spPr>
          <a:xfrm>
            <a:off x="6477000" y="4143375"/>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③ 验证闭环｜怎么确认收到的知识真的能用？</a:t>
            </a:r>
          </a:p>
        </p:txBody>
      </p:sp>
      <p:sp>
        <p:nvSpPr>
          <p:cNvPr id="13" name="validation-loop-takeaway"/>
          <p:cNvSpPr>
            <a:spLocks noGrp="1"/>
          </p:cNvSpPr>
          <p:nvPr/>
        </p:nvSpPr>
        <p:spPr>
          <a:xfrm>
            <a:off x="6896100" y="5438775"/>
            <a:ext cx="4686300" cy="228600"/>
          </a:xfrm>
          <a:prstGeom prst="roundRect">
            <a:avLst>
              <a:gd name="adj" fmla="val 20833"/>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err="1">
                <a:solidFill>
                  <a:srgbClr val="2F3A45"/>
                </a:solidFill>
                <a:latin typeface="Arial" panose="020B0604020202020204" pitchFamily="34" charset="0"/>
                <a:ea typeface="Microsoft YaHei" panose="020B0503020204020204" pitchFamily="34" charset="-122"/>
                <a:cs typeface="微软雅黑" panose="020B0503020204020204" charset="-122"/>
              </a:rPr>
              <a:t>后续不同平台统一使用这三个算子，</a:t>
            </a:r>
            <a:r>
              <a:rPr sz="94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保证</a:t>
            </a:r>
            <a:r>
              <a:rPr lang="zh-CN" altLang="en-US" sz="940" dirty="0">
                <a:solidFill>
                  <a:srgbClr val="2F3A45"/>
                </a:solidFill>
                <a:latin typeface="Arial" panose="020B0604020202020204" pitchFamily="34" charset="0"/>
                <a:ea typeface="Microsoft YaHei" panose="020B0503020204020204" pitchFamily="34" charset="-122"/>
                <a:cs typeface="微软雅黑" panose="020B0503020204020204" charset="-122"/>
              </a:rPr>
              <a:t>公平</a:t>
            </a:r>
            <a:r>
              <a:rPr sz="94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94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framework-synthesis"/>
          <p:cNvSpPr>
            <a:spLocks noGrp="1"/>
          </p:cNvSpPr>
          <p:nvPr/>
        </p:nvSpPr>
        <p:spPr>
          <a:xfrm>
            <a:off x="514350" y="5419725"/>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  通用框架提供骨架，平台知识填充差异，真实验证不断校准两者。</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13</a:t>
            </a:r>
            <a:endParaRPr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942975" y="866775"/>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027313" y="950281"/>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1047750" y="1197931"/>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3171825" y="1838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23" name="s15-platform-frame"/>
          <p:cNvSpPr>
            <a:spLocks noGrp="1"/>
          </p:cNvSpPr>
          <p:nvPr/>
        </p:nvSpPr>
        <p:spPr>
          <a:xfrm>
            <a:off x="942975" y="2057400"/>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057275" y="2095500"/>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1809750" y="2457450"/>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3181350" y="2476500"/>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3476625" y="2457450"/>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28" name="s15-platform-sources"/>
          <p:cNvSpPr>
            <a:spLocks noGrp="1"/>
          </p:cNvSpPr>
          <p:nvPr/>
        </p:nvSpPr>
        <p:spPr>
          <a:xfrm>
            <a:off x="1657350" y="3038475"/>
            <a:ext cx="3324225" cy="209550"/>
          </a:xfrm>
          <a:prstGeom prst="roundRect">
            <a:avLst>
              <a:gd name="adj" fmla="val 22727"/>
            </a:avLst>
          </a:prstGeom>
          <a:solidFill>
            <a:srgbClr val="EAF3F1"/>
          </a:solidFill>
          <a:ln w="9525">
            <a:solidFill>
              <a:srgbClr val="D6DEE6"/>
            </a:solidFill>
            <a:prstDash val="solid"/>
          </a:ln>
          <a:effectLst/>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4F8A83"/>
                </a:solidFill>
                <a:latin typeface="Arial" panose="020B0604020202020204" pitchFamily="34" charset="0"/>
                <a:ea typeface="Microsoft YaHei" panose="020B0503020204020204" pitchFamily="34" charset="-122"/>
              </a:rPr>
              <a:t>官方资料 + 环境检测 + 微基准 + 算子实践</a:t>
            </a:r>
          </a:p>
        </p:txBody>
      </p:sp>
      <p:sp>
        <p:nvSpPr>
          <p:cNvPr id="29" name="s15-arrow-2"/>
          <p:cNvSpPr>
            <a:spLocks noGrp="1"/>
          </p:cNvSpPr>
          <p:nvPr/>
        </p:nvSpPr>
        <p:spPr>
          <a:xfrm>
            <a:off x="3171825" y="329565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4F8A83"/>
                </a:solidFill>
                <a:latin typeface="Arial" panose="020B0604020202020204" pitchFamily="34" charset="0"/>
                <a:ea typeface="Microsoft YaHei" panose="020B0503020204020204" pitchFamily="34" charset="-122"/>
                <a:cs typeface="Calibri" panose="020F0502020204030204"/>
              </a:rPr>
              <a:t>↓</a:t>
            </a:r>
          </a:p>
        </p:txBody>
      </p:sp>
      <p:sp>
        <p:nvSpPr>
          <p:cNvPr id="30" name="s15-validation-frame"/>
          <p:cNvSpPr>
            <a:spLocks noGrp="1"/>
          </p:cNvSpPr>
          <p:nvPr/>
        </p:nvSpPr>
        <p:spPr>
          <a:xfrm>
            <a:off x="942975" y="3467100"/>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057275" y="3505200"/>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1057275" y="3752850"/>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195262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433387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1000125" y="4695825"/>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更新平台知识</a:t>
            </a:r>
          </a:p>
        </p:txBody>
      </p:sp>
      <p:sp>
        <p:nvSpPr>
          <p:cNvPr id="36" name="s15-adjust-workflow"/>
          <p:cNvSpPr>
            <a:spLocks noGrp="1"/>
          </p:cNvSpPr>
          <p:nvPr/>
        </p:nvSpPr>
        <p:spPr>
          <a:xfrm>
            <a:off x="3648075" y="4695825"/>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修正通用流程</a:t>
            </a:r>
          </a:p>
        </p:txBody>
      </p:sp>
      <p:sp>
        <p:nvSpPr>
          <p:cNvPr id="37" name="s15-feedback-loop"/>
          <p:cNvSpPr>
            <a:spLocks noGrp="1"/>
          </p:cNvSpPr>
          <p:nvPr/>
        </p:nvSpPr>
        <p:spPr>
          <a:xfrm>
            <a:off x="1066800" y="5143500"/>
            <a:ext cx="4248150" cy="2286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C77C59"/>
                </a:solidFill>
                <a:latin typeface="Arial" panose="020B0604020202020204" pitchFamily="34" charset="0"/>
                <a:ea typeface="Microsoft YaHei" panose="020B0503020204020204" pitchFamily="34" charset="-122"/>
              </a:rPr>
              <a:t>↺  反馈校准：按问题类型回到框架或平台知识</a:t>
            </a:r>
          </a:p>
        </p:txBody>
      </p:sp>
      <p:sp>
        <p:nvSpPr>
          <p:cNvPr id="38" name="s15-universal-details-frame"/>
          <p:cNvSpPr>
            <a:spLocks noGrp="1"/>
          </p:cNvSpPr>
          <p:nvPr/>
        </p:nvSpPr>
        <p:spPr>
          <a:xfrm>
            <a:off x="6257925" y="1133475"/>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6496050" y="11811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任务编排：</a:t>
            </a:r>
          </a:p>
        </p:txBody>
      </p:sp>
      <p:sp>
        <p:nvSpPr>
          <p:cNvPr id="40" name="s15-detail-1-value"/>
          <p:cNvSpPr>
            <a:spLocks noGrp="1"/>
          </p:cNvSpPr>
          <p:nvPr/>
        </p:nvSpPr>
        <p:spPr>
          <a:xfrm>
            <a:off x="7296150" y="11811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需求 → 生成 → 验证 → 优化 → 输出</a:t>
            </a:r>
          </a:p>
        </p:txBody>
      </p:sp>
      <p:sp>
        <p:nvSpPr>
          <p:cNvPr id="41" name="s15-detail-2-label"/>
          <p:cNvSpPr>
            <a:spLocks noGrp="1"/>
          </p:cNvSpPr>
          <p:nvPr/>
        </p:nvSpPr>
        <p:spPr>
          <a:xfrm>
            <a:off x="6496050" y="13525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模块边界：</a:t>
            </a:r>
          </a:p>
        </p:txBody>
      </p:sp>
      <p:sp>
        <p:nvSpPr>
          <p:cNvPr id="42" name="s15-detail-2-value"/>
          <p:cNvSpPr>
            <a:spLocks noGrp="1"/>
          </p:cNvSpPr>
          <p:nvPr/>
        </p:nvSpPr>
        <p:spPr>
          <a:xfrm>
            <a:off x="7296150" y="13525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Microsoft YaHei" panose="020B0503020204020204" pitchFamily="34" charset="-122"/>
                <a:cs typeface="微软雅黑" panose="020B0503020204020204" charset="-122"/>
              </a:rPr>
              <a:t>每个阶段负责解决什么问题</a:t>
            </a:r>
          </a:p>
        </p:txBody>
      </p:sp>
      <p:sp>
        <p:nvSpPr>
          <p:cNvPr id="43" name="s15-detail-3-label"/>
          <p:cNvSpPr>
            <a:spLocks noGrp="1"/>
          </p:cNvSpPr>
          <p:nvPr/>
        </p:nvSpPr>
        <p:spPr>
          <a:xfrm>
            <a:off x="6496050" y="15240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阶段契约：</a:t>
            </a:r>
          </a:p>
        </p:txBody>
      </p:sp>
      <p:sp>
        <p:nvSpPr>
          <p:cNvPr id="44" name="s15-detail-3-value"/>
          <p:cNvSpPr>
            <a:spLocks noGrp="1"/>
          </p:cNvSpPr>
          <p:nvPr/>
        </p:nvSpPr>
        <p:spPr>
          <a:xfrm>
            <a:off x="7296150" y="15240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cs typeface="微软雅黑" panose="020B0503020204020204" charset="-122"/>
              </a:rPr>
              <a:t>上一阶段输出什么，下一阶段需要什么</a:t>
            </a:r>
          </a:p>
        </p:txBody>
      </p:sp>
      <p:sp>
        <p:nvSpPr>
          <p:cNvPr id="45" name="s15-detail-4-label"/>
          <p:cNvSpPr>
            <a:spLocks noGrp="1"/>
          </p:cNvSpPr>
          <p:nvPr/>
        </p:nvSpPr>
        <p:spPr>
          <a:xfrm>
            <a:off x="6496050" y="16954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子任务分工：</a:t>
            </a:r>
          </a:p>
        </p:txBody>
      </p:sp>
      <p:sp>
        <p:nvSpPr>
          <p:cNvPr id="46" name="s15-detail-4-value"/>
          <p:cNvSpPr>
            <a:spLocks noGrp="1"/>
          </p:cNvSpPr>
          <p:nvPr/>
        </p:nvSpPr>
        <p:spPr>
          <a:xfrm>
            <a:off x="7296150" y="16954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复杂阶段允许进一步拆分 Sub-Agent</a:t>
            </a:r>
          </a:p>
        </p:txBody>
      </p:sp>
      <p:sp>
        <p:nvSpPr>
          <p:cNvPr id="47" name="s15-detail-5-label"/>
          <p:cNvSpPr>
            <a:spLocks noGrp="1"/>
          </p:cNvSpPr>
          <p:nvPr/>
        </p:nvSpPr>
        <p:spPr>
          <a:xfrm>
            <a:off x="6496050" y="18669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输出规范：</a:t>
            </a:r>
          </a:p>
        </p:txBody>
      </p:sp>
      <p:sp>
        <p:nvSpPr>
          <p:cNvPr id="48" name="s15-detail-5-value"/>
          <p:cNvSpPr>
            <a:spLocks noGrp="1"/>
          </p:cNvSpPr>
          <p:nvPr/>
        </p:nvSpPr>
        <p:spPr>
          <a:xfrm>
            <a:off x="7296150" y="18669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Kernel、Test、Correctness、Benchmark、Report</a:t>
            </a:r>
          </a:p>
        </p:txBody>
      </p:sp>
      <p:sp>
        <p:nvSpPr>
          <p:cNvPr id="49" name="s15-knowledge-1-frame"/>
          <p:cNvSpPr>
            <a:spLocks noGrp="1"/>
          </p:cNvSpPr>
          <p:nvPr/>
        </p:nvSpPr>
        <p:spPr>
          <a:xfrm>
            <a:off x="6353175" y="2647950"/>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64389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1. Hardware</a:t>
            </a:r>
          </a:p>
        </p:txBody>
      </p:sp>
      <p:sp>
        <p:nvSpPr>
          <p:cNvPr id="51" name="s15-knowledge-1-body"/>
          <p:cNvSpPr>
            <a:spLocks noGrp="1"/>
          </p:cNvSpPr>
          <p:nvPr/>
        </p:nvSpPr>
        <p:spPr>
          <a:xfrm>
            <a:off x="64389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并行结构</a:t>
            </a:r>
          </a:p>
        </p:txBody>
      </p:sp>
      <p:sp>
        <p:nvSpPr>
          <p:cNvPr id="52" name="s15-knowledge-2-frame"/>
          <p:cNvSpPr>
            <a:spLocks noGrp="1"/>
          </p:cNvSpPr>
          <p:nvPr/>
        </p:nvSpPr>
        <p:spPr>
          <a:xfrm>
            <a:off x="8162925" y="2647950"/>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8248650" y="2667000"/>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Microsoft YaHei" panose="020B0503020204020204" pitchFamily="34" charset="-122"/>
                <a:cs typeface="微软雅黑" panose="020B0503020204020204" charset="-122"/>
              </a:rPr>
              <a:t>2. Programming Model</a:t>
            </a:r>
          </a:p>
        </p:txBody>
      </p:sp>
      <p:sp>
        <p:nvSpPr>
          <p:cNvPr id="54" name="s15-knowledge-2-body"/>
          <p:cNvSpPr>
            <a:spLocks noGrp="1"/>
          </p:cNvSpPr>
          <p:nvPr/>
        </p:nvSpPr>
        <p:spPr>
          <a:xfrm>
            <a:off x="8248650" y="2828925"/>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执行模型</a:t>
            </a:r>
          </a:p>
        </p:txBody>
      </p:sp>
      <p:sp>
        <p:nvSpPr>
          <p:cNvPr id="55" name="s15-knowledge-3-frame"/>
          <p:cNvSpPr>
            <a:spLocks noGrp="1"/>
          </p:cNvSpPr>
          <p:nvPr/>
        </p:nvSpPr>
        <p:spPr>
          <a:xfrm>
            <a:off x="9972675" y="2647950"/>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100584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3. API / Primitive</a:t>
            </a:r>
          </a:p>
        </p:txBody>
      </p:sp>
      <p:sp>
        <p:nvSpPr>
          <p:cNvPr id="57" name="s15-knowledge-3-body"/>
          <p:cNvSpPr>
            <a:spLocks noGrp="1"/>
          </p:cNvSpPr>
          <p:nvPr/>
        </p:nvSpPr>
        <p:spPr>
          <a:xfrm>
            <a:off x="100584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特殊行为</a:t>
            </a:r>
          </a:p>
        </p:txBody>
      </p:sp>
      <p:sp>
        <p:nvSpPr>
          <p:cNvPr id="58" name="s15-knowledge-4-frame"/>
          <p:cNvSpPr>
            <a:spLocks noGrp="1"/>
          </p:cNvSpPr>
          <p:nvPr/>
        </p:nvSpPr>
        <p:spPr>
          <a:xfrm>
            <a:off x="6353175" y="3133725"/>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64389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4. Environment</a:t>
            </a:r>
          </a:p>
        </p:txBody>
      </p:sp>
      <p:sp>
        <p:nvSpPr>
          <p:cNvPr id="60" name="s15-knowledge-4-body"/>
          <p:cNvSpPr>
            <a:spLocks noGrp="1"/>
          </p:cNvSpPr>
          <p:nvPr/>
        </p:nvSpPr>
        <p:spPr>
          <a:xfrm>
            <a:off x="64389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Version</a:t>
            </a:r>
          </a:p>
        </p:txBody>
      </p:sp>
      <p:sp>
        <p:nvSpPr>
          <p:cNvPr id="61" name="s15-knowledge-5-frame"/>
          <p:cNvSpPr>
            <a:spLocks noGrp="1"/>
          </p:cNvSpPr>
          <p:nvPr/>
        </p:nvSpPr>
        <p:spPr>
          <a:xfrm>
            <a:off x="8162925" y="3133725"/>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824865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5. Profiler</a:t>
            </a:r>
          </a:p>
        </p:txBody>
      </p:sp>
      <p:sp>
        <p:nvSpPr>
          <p:cNvPr id="63" name="s15-knowledge-5-body"/>
          <p:cNvSpPr>
            <a:spLocks noGrp="1"/>
          </p:cNvSpPr>
          <p:nvPr/>
        </p:nvSpPr>
        <p:spPr>
          <a:xfrm>
            <a:off x="824865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计时</a:t>
            </a:r>
          </a:p>
        </p:txBody>
      </p:sp>
      <p:sp>
        <p:nvSpPr>
          <p:cNvPr id="64" name="s15-knowledge-6-frame"/>
          <p:cNvSpPr>
            <a:spLocks noGrp="1"/>
          </p:cNvSpPr>
          <p:nvPr/>
        </p:nvSpPr>
        <p:spPr>
          <a:xfrm>
            <a:off x="9972675" y="3133725"/>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100584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6. Optimization</a:t>
            </a:r>
          </a:p>
        </p:txBody>
      </p:sp>
      <p:sp>
        <p:nvSpPr>
          <p:cNvPr id="66" name="s15-knowledge-6-body"/>
          <p:cNvSpPr>
            <a:spLocks noGrp="1"/>
          </p:cNvSpPr>
          <p:nvPr/>
        </p:nvSpPr>
        <p:spPr>
          <a:xfrm>
            <a:off x="100584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Pipeline、案例</a:t>
            </a:r>
          </a:p>
        </p:txBody>
      </p:sp>
      <p:sp>
        <p:nvSpPr>
          <p:cNvPr id="67" name="s15-knowledge-sources"/>
          <p:cNvSpPr>
            <a:spLocks noGrp="1"/>
          </p:cNvSpPr>
          <p:nvPr/>
        </p:nvSpPr>
        <p:spPr>
          <a:xfrm>
            <a:off x="6486525" y="3609975"/>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rPr>
              <a:t>Platform Knowledge 来源 = 官方资料 + 环境检测 + 微基准 + 实际算子开发经验</a:t>
            </a:r>
          </a:p>
        </p:txBody>
      </p:sp>
      <p:sp>
        <p:nvSpPr>
          <p:cNvPr id="68" name="s15-level-1-frame"/>
          <p:cNvSpPr>
            <a:spLocks noGrp="1"/>
          </p:cNvSpPr>
          <p:nvPr/>
        </p:nvSpPr>
        <p:spPr>
          <a:xfrm>
            <a:off x="6353175" y="4391025"/>
            <a:ext cx="5353050" cy="295275"/>
          </a:xfrm>
          <a:prstGeom prst="rect">
            <a:avLst/>
          </a:prstGeom>
          <a:solidFill>
            <a:srgbClr val="EEF2F5"/>
          </a:solidFill>
          <a:ln w="9525">
            <a:solidFill>
              <a:srgbClr val="D6DEE6"/>
            </a:solidFill>
            <a:prstDash val="solid"/>
          </a:ln>
          <a:effectLst/>
        </p:spPr>
      </p:sp>
      <p:sp>
        <p:nvSpPr>
          <p:cNvPr id="69" name="s15-level-1-badge"/>
          <p:cNvSpPr>
            <a:spLocks noGrp="1"/>
          </p:cNvSpPr>
          <p:nvPr/>
        </p:nvSpPr>
        <p:spPr>
          <a:xfrm>
            <a:off x="6448425" y="442912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L1</a:t>
            </a:r>
          </a:p>
        </p:txBody>
      </p:sp>
      <p:sp>
        <p:nvSpPr>
          <p:cNvPr id="70" name="s15-level-1-title"/>
          <p:cNvSpPr>
            <a:spLocks noGrp="1"/>
          </p:cNvSpPr>
          <p:nvPr/>
        </p:nvSpPr>
        <p:spPr>
          <a:xfrm>
            <a:off x="6934200" y="440055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1" name="s15-level-1-question"/>
          <p:cNvSpPr>
            <a:spLocks noGrp="1"/>
          </p:cNvSpPr>
          <p:nvPr/>
        </p:nvSpPr>
        <p:spPr>
          <a:xfrm>
            <a:off x="8058150" y="440055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能不能跑？</a:t>
            </a:r>
          </a:p>
        </p:txBody>
      </p:sp>
      <p:sp>
        <p:nvSpPr>
          <p:cNvPr id="72" name="s15-level-1-detail"/>
          <p:cNvSpPr>
            <a:spLocks noGrp="1"/>
          </p:cNvSpPr>
          <p:nvPr/>
        </p:nvSpPr>
        <p:spPr>
          <a:xfrm>
            <a:off x="6934200" y="453390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Device · Compiler · Framework · Profiler · Smoke Test</a:t>
            </a:r>
          </a:p>
        </p:txBody>
      </p:sp>
      <p:sp>
        <p:nvSpPr>
          <p:cNvPr id="73" name="s15-level-2-frame"/>
          <p:cNvSpPr>
            <a:spLocks noGrp="1"/>
          </p:cNvSpPr>
          <p:nvPr/>
        </p:nvSpPr>
        <p:spPr>
          <a:xfrm>
            <a:off x="6353175" y="4724400"/>
            <a:ext cx="5353050" cy="295275"/>
          </a:xfrm>
          <a:prstGeom prst="rect">
            <a:avLst/>
          </a:prstGeom>
          <a:solidFill>
            <a:srgbClr val="EEF2F5"/>
          </a:solidFill>
          <a:ln w="9525">
            <a:solidFill>
              <a:srgbClr val="D6DEE6"/>
            </a:solidFill>
            <a:prstDash val="solid"/>
          </a:ln>
          <a:effectLst/>
        </p:spPr>
      </p:sp>
      <p:sp>
        <p:nvSpPr>
          <p:cNvPr id="74" name="s15-level-2-badge"/>
          <p:cNvSpPr>
            <a:spLocks noGrp="1"/>
          </p:cNvSpPr>
          <p:nvPr/>
        </p:nvSpPr>
        <p:spPr>
          <a:xfrm>
            <a:off x="6448425" y="4762500"/>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L2</a:t>
            </a:r>
          </a:p>
        </p:txBody>
      </p:sp>
      <p:sp>
        <p:nvSpPr>
          <p:cNvPr id="75" name="s15-level-2-title"/>
          <p:cNvSpPr>
            <a:spLocks noGrp="1"/>
          </p:cNvSpPr>
          <p:nvPr/>
        </p:nvSpPr>
        <p:spPr>
          <a:xfrm>
            <a:off x="6934200" y="4733925"/>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平台事实验证</a:t>
            </a:r>
          </a:p>
        </p:txBody>
      </p:sp>
      <p:sp>
        <p:nvSpPr>
          <p:cNvPr id="76" name="s15-level-2-question"/>
          <p:cNvSpPr>
            <a:spLocks noGrp="1"/>
          </p:cNvSpPr>
          <p:nvPr/>
        </p:nvSpPr>
        <p:spPr>
          <a:xfrm>
            <a:off x="8058150" y="4733925"/>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我们理解的平台行为对不对？</a:t>
            </a:r>
          </a:p>
        </p:txBody>
      </p:sp>
      <p:sp>
        <p:nvSpPr>
          <p:cNvPr id="77" name="s15-level-2-detail"/>
          <p:cNvSpPr>
            <a:spLocks noGrp="1"/>
          </p:cNvSpPr>
          <p:nvPr/>
        </p:nvSpPr>
        <p:spPr>
          <a:xfrm>
            <a:off x="6934200" y="4867275"/>
            <a:ext cx="4533900" cy="133350"/>
          </a:xfrm>
          <a:prstGeom prst="rect">
            <a:avLst/>
          </a:prstGeom>
          <a:noFill/>
          <a:ln w="0">
            <a:noFill/>
            <a:prstDash val="solid"/>
          </a:ln>
          <a:effectLst/>
        </p:spPr>
        <p:txBody>
          <a:bodyPr wrap="square" lIns="0" tIns="0" rIns="0" bIns="0" anchor="ctr">
            <a:normAutofit/>
          </a:bodyPr>
          <a:lstStyle/>
          <a:p>
            <a:pPr algn="l">
              <a:defRPr sz="660" b="0">
                <a:solidFill>
                  <a:srgbClr val="5E6B80"/>
                </a:solidFill>
                <a:latin typeface="微软雅黑" panose="020B0503020204020204" charset="-122"/>
                <a:ea typeface="微软雅黑" panose="020B0503020204020204" charset="-122"/>
                <a:cs typeface="微软雅黑" panose="020B0503020204020204" charset="-122"/>
              </a:defRPr>
            </a:pPr>
            <a:r>
              <a:rPr sz="660" b="1">
                <a:solidFill>
                  <a:srgbClr val="294A6D"/>
                </a:solidFill>
                <a:latin typeface="Arial" panose="020B0604020202020204" pitchFamily="34" charset="0"/>
                <a:ea typeface="Microsoft YaHei" panose="020B0503020204020204" pitchFamily="34" charset="-122"/>
                <a:cs typeface="微软雅黑" panose="020B0503020204020204" charset="-122"/>
              </a:rPr>
              <a:t>Memory · Compute · Reduction · Layout · Pipeline · Synchronization</a:t>
            </a:r>
          </a:p>
        </p:txBody>
      </p:sp>
      <p:sp>
        <p:nvSpPr>
          <p:cNvPr id="78" name="s15-level-3-frame"/>
          <p:cNvSpPr>
            <a:spLocks noGrp="1"/>
          </p:cNvSpPr>
          <p:nvPr/>
        </p:nvSpPr>
        <p:spPr>
          <a:xfrm>
            <a:off x="6353175" y="5057775"/>
            <a:ext cx="5353050" cy="295275"/>
          </a:xfrm>
          <a:prstGeom prst="rect">
            <a:avLst/>
          </a:prstGeom>
          <a:solidFill>
            <a:srgbClr val="EEF2F5"/>
          </a:solidFill>
          <a:ln w="9525">
            <a:solidFill>
              <a:srgbClr val="D6DEE6"/>
            </a:solidFill>
            <a:prstDash val="solid"/>
          </a:ln>
          <a:effectLst/>
        </p:spPr>
      </p:sp>
      <p:sp>
        <p:nvSpPr>
          <p:cNvPr id="79" name="s15-level-3-badge"/>
          <p:cNvSpPr>
            <a:spLocks noGrp="1"/>
          </p:cNvSpPr>
          <p:nvPr/>
        </p:nvSpPr>
        <p:spPr>
          <a:xfrm>
            <a:off x="6448425" y="509587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L3</a:t>
            </a:r>
          </a:p>
        </p:txBody>
      </p:sp>
      <p:sp>
        <p:nvSpPr>
          <p:cNvPr id="80" name="s15-level-3-title"/>
          <p:cNvSpPr>
            <a:spLocks noGrp="1"/>
          </p:cNvSpPr>
          <p:nvPr/>
        </p:nvSpPr>
        <p:spPr>
          <a:xfrm>
            <a:off x="6934200" y="506730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算子验证</a:t>
            </a:r>
          </a:p>
        </p:txBody>
      </p:sp>
      <p:sp>
        <p:nvSpPr>
          <p:cNvPr id="81" name="s15-level-3-question"/>
          <p:cNvSpPr>
            <a:spLocks noGrp="1"/>
          </p:cNvSpPr>
          <p:nvPr/>
        </p:nvSpPr>
        <p:spPr>
          <a:xfrm>
            <a:off x="8058150" y="506730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这些知识能不能真正支撑算子开发？</a:t>
            </a:r>
          </a:p>
        </p:txBody>
      </p:sp>
      <p:sp>
        <p:nvSpPr>
          <p:cNvPr id="82" name="s15-level-3-detail"/>
          <p:cNvSpPr>
            <a:spLocks noGrp="1"/>
          </p:cNvSpPr>
          <p:nvPr/>
        </p:nvSpPr>
        <p:spPr>
          <a:xfrm>
            <a:off x="6934200" y="520065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LayerNorm · Softmax · MatMul</a:t>
            </a: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slide-8-title"/>
          <p:cNvSpPr>
            <a:spLocks noGrp="1"/>
          </p:cNvSpPr>
          <p:nvPr/>
        </p:nvSpPr>
        <p:spPr>
          <a:xfrm>
            <a:off x="1083310" y="247015"/>
            <a:ext cx="8572500" cy="409575"/>
          </a:xfrm>
          <a:prstGeom prst="rect">
            <a:avLst/>
          </a:prstGeom>
          <a:noFill/>
          <a:ln w="0">
            <a:noFill/>
            <a:prstDash val="solid"/>
          </a:ln>
          <a:effectLst/>
        </p:spPr>
        <p:txBody>
          <a:bodyPr wrap="square" lIns="0" tIns="0" rIns="0" bIns="0" anchor="ctr">
            <a:normAutofit fontScale="99298" lnSpcReduction="10000"/>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如何根据指南开发一个新平台</a:t>
            </a:r>
            <a:r>
              <a:rPr sz="285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a:t>
            </a:r>
          </a:p>
        </p:txBody>
      </p:sp>
      <p:sp>
        <p:nvSpPr>
          <p:cNvPr id="9" name="footer-background"/>
          <p:cNvSpPr>
            <a:spLocks noGrp="1"/>
          </p:cNvSpPr>
          <p:nvPr/>
        </p:nvSpPr>
        <p:spPr>
          <a:xfrm>
            <a:off x="200025" y="6172201"/>
            <a:ext cx="11791950" cy="533400"/>
          </a:xfrm>
          <a:prstGeom prst="rect">
            <a:avLst/>
          </a:prstGeom>
          <a:solidFill>
            <a:srgbClr val="EEF2F5"/>
          </a:solidFill>
          <a:ln w="0">
            <a:solidFill>
              <a:srgbClr val="D6DEE6"/>
            </a:solidFill>
            <a:prstDash val="solid"/>
          </a:ln>
          <a:effectLst/>
        </p:spPr>
        <p:txBody>
          <a:bodyPr wrap="square" lIns="0" tIns="0" rIns="0" bIns="0" anchor="ctr">
            <a:normAutofit/>
          </a:bodyPr>
          <a:lstStyle/>
          <a:p>
            <a:endParaRPr/>
          </a:p>
        </p:txBody>
      </p:sp>
      <p:sp>
        <p:nvSpPr>
          <p:cNvPr id="11" name="slide-8-editable-footer"/>
          <p:cNvSpPr>
            <a:spLocks noGrp="1"/>
          </p:cNvSpPr>
          <p:nvPr/>
        </p:nvSpPr>
        <p:spPr>
          <a:xfrm>
            <a:off x="1171575" y="6181725"/>
            <a:ext cx="10620375" cy="523875"/>
          </a:xfrm>
          <a:prstGeom prst="rect">
            <a:avLst/>
          </a:prstGeom>
          <a:solidFill>
            <a:srgbClr val="EEF2F5"/>
          </a:solidFill>
          <a:ln w="0">
            <a:noFill/>
            <a:prstDash val="solid"/>
          </a:ln>
          <a:effectLst/>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新平台</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Skill </a:t>
            </a:r>
            <a:r>
              <a:rPr sz="12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是</a:t>
            </a:r>
            <a:r>
              <a:rPr lang="zh-CN" altLang="zh-CN"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在</a:t>
            </a:r>
            <a:r>
              <a:rPr sz="1200"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通用框架上补齐目标平台知识</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，并通过真实验证不断校准</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D6DEE6"/>
            </a:solidFill>
            <a:prstDash val="solid"/>
          </a:ln>
          <a:effectLst/>
        </p:spPr>
      </p:sp>
      <p:sp>
        <p:nvSpPr>
          <p:cNvPr id="22" name="knowledge-source-1-title"/>
          <p:cNvSpPr>
            <a:spLocks noGrp="1"/>
          </p:cNvSpPr>
          <p:nvPr/>
        </p:nvSpPr>
        <p:spPr>
          <a:xfrm>
            <a:off x="244538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官方 / 网络资料</a:t>
            </a:r>
          </a:p>
        </p:txBody>
      </p:sp>
      <p:sp>
        <p:nvSpPr>
          <p:cNvPr id="23" name="knowledge-source-1-note"/>
          <p:cNvSpPr>
            <a:spLocks noGrp="1"/>
          </p:cNvSpPr>
          <p:nvPr/>
        </p:nvSpPr>
        <p:spPr>
          <a:xfrm>
            <a:off x="244538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定义能力边界</a:t>
            </a: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D6DEE6"/>
            </a:solidFill>
            <a:prstDash val="solid"/>
          </a:ln>
          <a:effectLst/>
        </p:spPr>
      </p:sp>
      <p:sp>
        <p:nvSpPr>
          <p:cNvPr id="26" name="knowledge-source-2-title"/>
          <p:cNvSpPr>
            <a:spLocks noGrp="1"/>
          </p:cNvSpPr>
          <p:nvPr/>
        </p:nvSpPr>
        <p:spPr>
          <a:xfrm>
            <a:off x="5369560"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真实平台测试</a:t>
            </a:r>
          </a:p>
        </p:txBody>
      </p:sp>
      <p:sp>
        <p:nvSpPr>
          <p:cNvPr id="27" name="knowledge-source-2-note"/>
          <p:cNvSpPr>
            <a:spLocks noGrp="1"/>
          </p:cNvSpPr>
          <p:nvPr/>
        </p:nvSpPr>
        <p:spPr>
          <a:xfrm>
            <a:off x="5369560"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校准实际行为</a:t>
            </a: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D6DEE6"/>
            </a:solidFill>
            <a:prstDash val="solid"/>
          </a:ln>
          <a:effectLst/>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已有工程经验</a:t>
            </a:r>
          </a:p>
        </p:txBody>
      </p:sp>
      <p:sp>
        <p:nvSpPr>
          <p:cNvPr id="31" name="knowledge-source-3-note"/>
          <p:cNvSpPr>
            <a:spLocks noGrp="1"/>
          </p:cNvSpPr>
          <p:nvPr/>
        </p:nvSpPr>
        <p:spPr>
          <a:xfrm>
            <a:off x="829373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减少重复试错</a:t>
            </a:r>
          </a:p>
        </p:txBody>
      </p:sp>
      <p:sp>
        <p:nvSpPr>
          <p:cNvPr id="32" name="platform-knowledge-node"/>
          <p:cNvSpPr>
            <a:spLocks noGrp="1"/>
          </p:cNvSpPr>
          <p:nvPr/>
        </p:nvSpPr>
        <p:spPr>
          <a:xfrm>
            <a:off x="4762500" y="1508760"/>
            <a:ext cx="2667000" cy="238125"/>
          </a:xfrm>
          <a:prstGeom prst="roundRect">
            <a:avLst>
              <a:gd name="adj" fmla="val 24000"/>
            </a:avLst>
          </a:prstGeom>
          <a:solidFill>
            <a:srgbClr val="294A6D"/>
          </a:solidFill>
          <a:ln w="9525">
            <a:solidFill>
              <a:srgbClr val="294A6D"/>
            </a:solidFill>
            <a:prstDash val="solid"/>
          </a:ln>
          <a:effectLst/>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a:solidFill>
                  <a:srgbClr val="FFFFFF"/>
                </a:solidFill>
                <a:latin typeface="Arial" panose="020B0604020202020204" pitchFamily="34" charset="0"/>
                <a:ea typeface="Microsoft YaHei" panose="020B0503020204020204" pitchFamily="34" charset="-122"/>
                <a:cs typeface="Calibri" panose="020F0502020204030204"/>
              </a:rPr>
              <a:t>平台知识</a:t>
            </a:r>
            <a:endParaRPr sz="1400" b="1" dirty="0">
              <a:solidFill>
                <a:srgbClr val="FFFFFF"/>
              </a:solidFill>
              <a:latin typeface="Arial" panose="020B0604020202020204" pitchFamily="34" charset="0"/>
              <a:ea typeface="Microsoft YaHei" panose="020B0503020204020204" pitchFamily="34" charset="-122"/>
              <a:cs typeface="Calibri" panose="020F0502020204030204"/>
            </a:endParaRPr>
          </a:p>
        </p:txBody>
      </p:sp>
      <p:cxnSp>
        <p:nvCxnSpPr>
          <p:cNvPr id="183" name="knowledge-source-1-to-platform"/>
          <p:cNvCxnSpPr>
            <a:cxnSpLocks/>
          </p:cNvCxnSpPr>
          <p:nvPr/>
        </p:nvCxnSpPr>
        <p:spPr>
          <a:xfrm rot="5400000" flipV="1">
            <a:off x="4527233" y="0"/>
            <a:ext cx="229870" cy="2907665"/>
          </a:xfrm>
          <a:prstGeom prst="bentConnector3">
            <a:avLst>
              <a:gd name="adj1" fmla="val 49862"/>
            </a:avLst>
          </a:prstGeom>
          <a:ln w="10478">
            <a:solidFill>
              <a:srgbClr val="294A6D"/>
            </a:solidFill>
            <a:prstDash val="solid"/>
            <a:tailEnd type="triangle" w="sm" len="sm"/>
          </a:ln>
          <a:effectLst/>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294A6D"/>
            </a:solidFill>
            <a:prstDash val="solid"/>
            <a:tailEnd type="triangle" w="sm" len="sm"/>
          </a:ln>
          <a:effectLst/>
        </p:spPr>
      </p:cxnSp>
      <p:cxnSp>
        <p:nvCxnSpPr>
          <p:cNvPr id="185" name="knowledge-source-3-to-platform"/>
          <p:cNvCxnSpPr>
            <a:cxnSpLocks/>
          </p:cNvCxnSpPr>
          <p:nvPr/>
        </p:nvCxnSpPr>
        <p:spPr>
          <a:xfrm rot="5400000">
            <a:off x="7451408" y="0"/>
            <a:ext cx="229870" cy="2940685"/>
          </a:xfrm>
          <a:prstGeom prst="bentConnector3">
            <a:avLst>
              <a:gd name="adj1" fmla="val 49862"/>
            </a:avLst>
          </a:prstGeom>
          <a:ln w="10478">
            <a:solidFill>
              <a:srgbClr val="294A6D"/>
            </a:solidFill>
            <a:prstDash val="solid"/>
            <a:tailEnd type="triangle" w="sm" len="sm"/>
          </a:ln>
          <a:effectLst/>
        </p:spPr>
      </p:cxnSp>
      <p:sp>
        <p:nvSpPr>
          <p:cNvPr id="37" name="phase-a-surface"/>
          <p:cNvSpPr>
            <a:spLocks noGrp="1"/>
          </p:cNvSpPr>
          <p:nvPr/>
        </p:nvSpPr>
        <p:spPr>
          <a:xfrm>
            <a:off x="1295400" y="1844675"/>
            <a:ext cx="9601200" cy="1000125"/>
          </a:xfrm>
          <a:prstGeom prst="rect">
            <a:avLst/>
          </a:prstGeom>
          <a:solidFill>
            <a:srgbClr val="EEF2F5"/>
          </a:solidFill>
          <a:ln w="9525">
            <a:solidFill>
              <a:srgbClr val="D6DEE6"/>
            </a:solidFill>
            <a:prstDash val="solid"/>
          </a:ln>
          <a:effectLst/>
        </p:spPr>
      </p:sp>
      <p:sp>
        <p:nvSpPr>
          <p:cNvPr id="38" name="phase-a-accent"/>
          <p:cNvSpPr>
            <a:spLocks noGrp="1"/>
          </p:cNvSpPr>
          <p:nvPr/>
        </p:nvSpPr>
        <p:spPr>
          <a:xfrm>
            <a:off x="1295400" y="1844675"/>
            <a:ext cx="57150" cy="1000125"/>
          </a:xfrm>
          <a:prstGeom prst="roundRect">
            <a:avLst>
              <a:gd name="adj" fmla="val 50000"/>
            </a:avLst>
          </a:prstGeom>
          <a:solidFill>
            <a:srgbClr val="5B7188"/>
          </a:solidFill>
          <a:ln w="9525">
            <a:solidFill>
              <a:srgbClr val="294A6D"/>
            </a:solidFill>
            <a:prstDash val="solid"/>
          </a:ln>
          <a:effectLst/>
        </p:spPr>
      </p:sp>
      <p:sp>
        <p:nvSpPr>
          <p:cNvPr id="39" name="phase-a-letter"/>
          <p:cNvSpPr>
            <a:spLocks noGrp="1"/>
          </p:cNvSpPr>
          <p:nvPr/>
        </p:nvSpPr>
        <p:spPr>
          <a:xfrm>
            <a:off x="1438275" y="196850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A</a:t>
            </a:r>
          </a:p>
        </p:txBody>
      </p:sp>
      <p:sp>
        <p:nvSpPr>
          <p:cNvPr id="41" name="phase-a-chinese"/>
          <p:cNvSpPr>
            <a:spLocks noGrp="1"/>
          </p:cNvSpPr>
          <p:nvPr/>
        </p:nvSpPr>
        <p:spPr>
          <a:xfrm>
            <a:off x="1476375" y="21494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Microsoft YaHei" panose="020B0503020204020204" pitchFamily="34" charset="-122"/>
                <a:cs typeface="微软雅黑" panose="020B0503020204020204" charset="-122"/>
              </a:rPr>
              <a:t>平台认知</a:t>
            </a:r>
          </a:p>
        </p:txBody>
      </p:sp>
      <p:sp>
        <p:nvSpPr>
          <p:cNvPr id="42" name="phase-a-sidebar-divider"/>
          <p:cNvSpPr>
            <a:spLocks noGrp="1"/>
          </p:cNvSpPr>
          <p:nvPr/>
        </p:nvSpPr>
        <p:spPr>
          <a:xfrm>
            <a:off x="2847975" y="1939925"/>
            <a:ext cx="9525" cy="9525"/>
          </a:xfrm>
          <a:prstGeom prst="rect">
            <a:avLst/>
          </a:prstGeom>
          <a:solidFill>
            <a:srgbClr val="EEF2F5"/>
          </a:solidFill>
          <a:ln w="9525">
            <a:solidFill>
              <a:srgbClr val="D6DEE6"/>
            </a:solidFill>
            <a:prstDash val="solid"/>
          </a:ln>
          <a:effectLst/>
        </p:spPr>
      </p:sp>
      <p:sp>
        <p:nvSpPr>
          <p:cNvPr id="43" name="phase-a-step-divider"/>
          <p:cNvSpPr>
            <a:spLocks noGrp="1"/>
          </p:cNvSpPr>
          <p:nvPr/>
        </p:nvSpPr>
        <p:spPr>
          <a:xfrm>
            <a:off x="6924675" y="1939925"/>
            <a:ext cx="9525" cy="9525"/>
          </a:xfrm>
          <a:prstGeom prst="rect">
            <a:avLst/>
          </a:prstGeom>
          <a:solidFill>
            <a:srgbClr val="EEF2F5"/>
          </a:solidFill>
          <a:ln w="9525">
            <a:solidFill>
              <a:srgbClr val="D6DEE6"/>
            </a:solidFill>
            <a:prstDash val="solid"/>
          </a:ln>
          <a:effectLst/>
        </p:spPr>
      </p:sp>
      <p:sp>
        <p:nvSpPr>
          <p:cNvPr id="44" name="step-01-number"/>
          <p:cNvSpPr>
            <a:spLocks noGrp="1"/>
          </p:cNvSpPr>
          <p:nvPr/>
        </p:nvSpPr>
        <p:spPr>
          <a:xfrm>
            <a:off x="300990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01</a:t>
            </a:r>
          </a:p>
        </p:txBody>
      </p:sp>
      <p:sp>
        <p:nvSpPr>
          <p:cNvPr id="45" name="step-01-title"/>
          <p:cNvSpPr>
            <a:spLocks noGrp="1"/>
          </p:cNvSpPr>
          <p:nvPr/>
        </p:nvSpPr>
        <p:spPr>
          <a:xfrm>
            <a:off x="342900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平台定位</a:t>
            </a:r>
          </a:p>
        </p:txBody>
      </p:sp>
      <p:sp>
        <p:nvSpPr>
          <p:cNvPr id="46" name="step-01-subtitle"/>
          <p:cNvSpPr>
            <a:spLocks noGrp="1"/>
          </p:cNvSpPr>
          <p:nvPr/>
        </p:nvSpPr>
        <p:spPr>
          <a:xfrm>
            <a:off x="342900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锁定平台与编程</a:t>
            </a:r>
            <a:r>
              <a:rPr lang="zh-CN" altLang="en-US" sz="825" b="1" dirty="0">
                <a:solidFill>
                  <a:srgbClr val="2F3A45"/>
                </a:solidFill>
                <a:latin typeface="Arial" panose="020B0604020202020204" pitchFamily="34" charset="0"/>
                <a:ea typeface="Microsoft YaHei" panose="020B0503020204020204" pitchFamily="34" charset="-122"/>
                <a:cs typeface="微软雅黑" panose="020B0503020204020204" charset="-122"/>
              </a:rPr>
              <a:t>语言</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49" name="step-01-stack"/>
          <p:cNvSpPr>
            <a:spLocks noGrp="1"/>
          </p:cNvSpPr>
          <p:nvPr/>
        </p:nvSpPr>
        <p:spPr>
          <a:xfrm>
            <a:off x="4514850" y="2273300"/>
            <a:ext cx="10668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lang="en-US" altLang="zh-CN" sz="790" b="1" dirty="0" smtClean="0">
                <a:solidFill>
                  <a:srgbClr val="2F3A45"/>
                </a:solidFill>
                <a:latin typeface="Arial" panose="020B0604020202020204" pitchFamily="34" charset="0"/>
                <a:ea typeface="Microsoft YaHei" panose="020B0503020204020204" pitchFamily="34" charset="-122"/>
                <a:cs typeface="Calibri" panose="020F0502020204030204"/>
              </a:rPr>
              <a:t>C++/ triton</a:t>
            </a:r>
            <a:endParaRPr sz="790" b="1" dirty="0">
              <a:solidFill>
                <a:srgbClr val="2F3A45"/>
              </a:solidFill>
              <a:latin typeface="Arial" panose="020B0604020202020204" pitchFamily="34" charset="0"/>
              <a:ea typeface="Microsoft YaHei" panose="020B0503020204020204" pitchFamily="34" charset="-122"/>
              <a:cs typeface="Calibri" panose="020F0502020204030204"/>
            </a:endParaRPr>
          </a:p>
        </p:txBody>
      </p:sp>
      <p:sp>
        <p:nvSpPr>
          <p:cNvPr id="52" name="step-02-number"/>
          <p:cNvSpPr>
            <a:spLocks noGrp="1"/>
          </p:cNvSpPr>
          <p:nvPr/>
        </p:nvSpPr>
        <p:spPr>
          <a:xfrm>
            <a:off x="706755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02</a:t>
            </a:r>
          </a:p>
        </p:txBody>
      </p:sp>
      <p:sp>
        <p:nvSpPr>
          <p:cNvPr id="53" name="step-02-title"/>
          <p:cNvSpPr>
            <a:spLocks noGrp="1"/>
          </p:cNvSpPr>
          <p:nvPr/>
        </p:nvSpPr>
        <p:spPr>
          <a:xfrm>
            <a:off x="748665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知识收集</a:t>
            </a:r>
          </a:p>
        </p:txBody>
      </p:sp>
      <p:sp>
        <p:nvSpPr>
          <p:cNvPr id="54" name="step-02-subtitle"/>
          <p:cNvSpPr>
            <a:spLocks noGrp="1"/>
          </p:cNvSpPr>
          <p:nvPr/>
        </p:nvSpPr>
        <p:spPr>
          <a:xfrm>
            <a:off x="748665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系统收集平台资料</a:t>
            </a: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Programming</a:t>
            </a: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Environment</a:t>
            </a: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Optimization</a:t>
            </a:r>
          </a:p>
        </p:txBody>
      </p:sp>
      <p:sp>
        <p:nvSpPr>
          <p:cNvPr id="63" name="phase-b-surface"/>
          <p:cNvSpPr>
            <a:spLocks noGrp="1"/>
          </p:cNvSpPr>
          <p:nvPr/>
        </p:nvSpPr>
        <p:spPr>
          <a:xfrm>
            <a:off x="1295400" y="2892425"/>
            <a:ext cx="9601200" cy="971550"/>
          </a:xfrm>
          <a:prstGeom prst="rect">
            <a:avLst/>
          </a:prstGeom>
          <a:solidFill>
            <a:srgbClr val="EAF3F1"/>
          </a:solidFill>
          <a:ln w="9525">
            <a:solidFill>
              <a:srgbClr val="D6DEE6"/>
            </a:solidFill>
            <a:prstDash val="solid"/>
          </a:ln>
          <a:effectLst/>
        </p:spPr>
      </p:sp>
      <p:sp>
        <p:nvSpPr>
          <p:cNvPr id="64" name="phase-b-accent"/>
          <p:cNvSpPr>
            <a:spLocks noGrp="1"/>
          </p:cNvSpPr>
          <p:nvPr/>
        </p:nvSpPr>
        <p:spPr>
          <a:xfrm>
            <a:off x="1295400" y="2892425"/>
            <a:ext cx="57150" cy="971550"/>
          </a:xfrm>
          <a:prstGeom prst="roundRect">
            <a:avLst>
              <a:gd name="adj" fmla="val 50000"/>
            </a:avLst>
          </a:prstGeom>
          <a:solidFill>
            <a:srgbClr val="4F8A83"/>
          </a:solidFill>
          <a:ln w="9525">
            <a:solidFill>
              <a:srgbClr val="4F8A83"/>
            </a:solidFill>
            <a:prstDash val="solid"/>
          </a:ln>
          <a:effectLst/>
        </p:spPr>
      </p:sp>
      <p:sp>
        <p:nvSpPr>
          <p:cNvPr id="65" name="phase-b-letter"/>
          <p:cNvSpPr>
            <a:spLocks noGrp="1"/>
          </p:cNvSpPr>
          <p:nvPr/>
        </p:nvSpPr>
        <p:spPr>
          <a:xfrm>
            <a:off x="1438275" y="301625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B</a:t>
            </a:r>
          </a:p>
        </p:txBody>
      </p:sp>
      <p:sp>
        <p:nvSpPr>
          <p:cNvPr id="67" name="phase-b-chinese"/>
          <p:cNvSpPr>
            <a:spLocks noGrp="1"/>
          </p:cNvSpPr>
          <p:nvPr/>
        </p:nvSpPr>
        <p:spPr>
          <a:xfrm>
            <a:off x="1552575" y="32543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事实验证</a:t>
            </a:r>
          </a:p>
        </p:txBody>
      </p:sp>
      <p:sp>
        <p:nvSpPr>
          <p:cNvPr id="68" name="phase-b-sidebar-divider"/>
          <p:cNvSpPr>
            <a:spLocks noGrp="1"/>
          </p:cNvSpPr>
          <p:nvPr/>
        </p:nvSpPr>
        <p:spPr>
          <a:xfrm>
            <a:off x="2847975" y="2987675"/>
            <a:ext cx="9525" cy="9525"/>
          </a:xfrm>
          <a:prstGeom prst="rect">
            <a:avLst/>
          </a:prstGeom>
          <a:solidFill>
            <a:srgbClr val="EEF2F5"/>
          </a:solidFill>
          <a:ln w="9525">
            <a:solidFill>
              <a:srgbClr val="D6DEE6"/>
            </a:solidFill>
            <a:prstDash val="solid"/>
          </a:ln>
          <a:effectLst/>
        </p:spPr>
      </p:sp>
      <p:sp>
        <p:nvSpPr>
          <p:cNvPr id="69" name="phase-b-step-divider"/>
          <p:cNvSpPr>
            <a:spLocks noGrp="1"/>
          </p:cNvSpPr>
          <p:nvPr/>
        </p:nvSpPr>
        <p:spPr>
          <a:xfrm>
            <a:off x="6924675" y="2978150"/>
            <a:ext cx="9525" cy="9525"/>
          </a:xfrm>
          <a:prstGeom prst="rect">
            <a:avLst/>
          </a:prstGeom>
          <a:solidFill>
            <a:srgbClr val="EAF3F1"/>
          </a:solidFill>
          <a:ln w="9525">
            <a:solidFill>
              <a:srgbClr val="D6DEE6"/>
            </a:solidFill>
            <a:prstDash val="solid"/>
          </a:ln>
          <a:effectLst/>
        </p:spPr>
      </p:sp>
      <p:sp>
        <p:nvSpPr>
          <p:cNvPr id="70" name="step-03-number"/>
          <p:cNvSpPr>
            <a:spLocks noGrp="1"/>
          </p:cNvSpPr>
          <p:nvPr/>
        </p:nvSpPr>
        <p:spPr>
          <a:xfrm>
            <a:off x="300990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03</a:t>
            </a:r>
          </a:p>
        </p:txBody>
      </p:sp>
      <p:sp>
        <p:nvSpPr>
          <p:cNvPr id="71" name="step-03-title"/>
          <p:cNvSpPr>
            <a:spLocks noGrp="1"/>
          </p:cNvSpPr>
          <p:nvPr/>
        </p:nvSpPr>
        <p:spPr>
          <a:xfrm>
            <a:off x="342900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2" name="step-03-subtitle"/>
          <p:cNvSpPr>
            <a:spLocks noGrp="1"/>
          </p:cNvSpPr>
          <p:nvPr/>
        </p:nvSpPr>
        <p:spPr>
          <a:xfrm>
            <a:off x="342900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真实环境与工具链检测</a:t>
            </a: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Device</a:t>
            </a: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Compiler</a:t>
            </a: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Runtime</a:t>
            </a: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Framework</a:t>
            </a: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81" name="step-04-number"/>
          <p:cNvSpPr>
            <a:spLocks noGrp="1"/>
          </p:cNvSpPr>
          <p:nvPr/>
        </p:nvSpPr>
        <p:spPr>
          <a:xfrm>
            <a:off x="706755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04</a:t>
            </a:r>
          </a:p>
        </p:txBody>
      </p:sp>
      <p:sp>
        <p:nvSpPr>
          <p:cNvPr id="82" name="step-04-title"/>
          <p:cNvSpPr>
            <a:spLocks noGrp="1"/>
          </p:cNvSpPr>
          <p:nvPr/>
        </p:nvSpPr>
        <p:spPr>
          <a:xfrm>
            <a:off x="748665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微基准</a:t>
            </a:r>
          </a:p>
        </p:txBody>
      </p:sp>
      <p:sp>
        <p:nvSpPr>
          <p:cNvPr id="83" name="step-04-subtitle"/>
          <p:cNvSpPr>
            <a:spLocks noGrp="1"/>
          </p:cNvSpPr>
          <p:nvPr/>
        </p:nvSpPr>
        <p:spPr>
          <a:xfrm>
            <a:off x="748665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验证</a:t>
            </a: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平台实际性能</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Memory</a:t>
            </a: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Compute</a:t>
            </a: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Reduction</a:t>
            </a: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Layout</a:t>
            </a: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Pipeline</a:t>
            </a: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Synchronization</a:t>
            </a:r>
          </a:p>
        </p:txBody>
      </p:sp>
      <p:sp>
        <p:nvSpPr>
          <p:cNvPr id="92" name="phase-c-surface"/>
          <p:cNvSpPr>
            <a:spLocks noGrp="1"/>
          </p:cNvSpPr>
          <p:nvPr/>
        </p:nvSpPr>
        <p:spPr>
          <a:xfrm>
            <a:off x="1295400" y="3911600"/>
            <a:ext cx="9601200" cy="1000125"/>
          </a:xfrm>
          <a:prstGeom prst="rect">
            <a:avLst/>
          </a:prstGeom>
          <a:solidFill>
            <a:srgbClr val="EEF2F5"/>
          </a:solidFill>
          <a:ln w="9525">
            <a:solidFill>
              <a:srgbClr val="D6DEE6"/>
            </a:solidFill>
            <a:prstDash val="solid"/>
          </a:ln>
          <a:effectLst/>
        </p:spPr>
      </p:sp>
      <p:sp>
        <p:nvSpPr>
          <p:cNvPr id="93" name="phase-c-accent"/>
          <p:cNvSpPr>
            <a:spLocks noGrp="1"/>
          </p:cNvSpPr>
          <p:nvPr/>
        </p:nvSpPr>
        <p:spPr>
          <a:xfrm>
            <a:off x="1295400" y="3911600"/>
            <a:ext cx="57150" cy="1000125"/>
          </a:xfrm>
          <a:prstGeom prst="roundRect">
            <a:avLst>
              <a:gd name="adj" fmla="val 50000"/>
            </a:avLst>
          </a:prstGeom>
          <a:solidFill>
            <a:srgbClr val="5B7188"/>
          </a:solidFill>
          <a:ln w="9525">
            <a:solidFill>
              <a:srgbClr val="294A6D"/>
            </a:solidFill>
            <a:prstDash val="solid"/>
          </a:ln>
          <a:effectLst/>
        </p:spPr>
      </p:sp>
      <p:sp>
        <p:nvSpPr>
          <p:cNvPr id="94" name="phase-c-letter"/>
          <p:cNvSpPr>
            <a:spLocks noGrp="1"/>
          </p:cNvSpPr>
          <p:nvPr/>
        </p:nvSpPr>
        <p:spPr>
          <a:xfrm>
            <a:off x="1438275" y="403542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C</a:t>
            </a:r>
          </a:p>
        </p:txBody>
      </p:sp>
      <p:sp>
        <p:nvSpPr>
          <p:cNvPr id="96" name="phase-c-chinese"/>
          <p:cNvSpPr>
            <a:spLocks noGrp="1"/>
          </p:cNvSpPr>
          <p:nvPr/>
        </p:nvSpPr>
        <p:spPr>
          <a:xfrm>
            <a:off x="1476375" y="430212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dirty="0">
                <a:solidFill>
                  <a:srgbClr val="294A6D"/>
                </a:solidFill>
                <a:latin typeface="Arial" panose="020B0604020202020204" pitchFamily="34" charset="0"/>
                <a:ea typeface="Microsoft YaHei" panose="020B0503020204020204" pitchFamily="34" charset="-122"/>
                <a:cs typeface="微软雅黑" panose="020B0503020204020204" charset="-122"/>
              </a:rPr>
              <a:t>Skill </a:t>
            </a:r>
            <a:r>
              <a:rPr sz="1275" b="1" dirty="0" err="1">
                <a:solidFill>
                  <a:srgbClr val="294A6D"/>
                </a:solidFill>
                <a:latin typeface="Arial" panose="020B0604020202020204" pitchFamily="34" charset="0"/>
                <a:ea typeface="Microsoft YaHei" panose="020B0503020204020204" pitchFamily="34" charset="-122"/>
                <a:cs typeface="微软雅黑" panose="020B0503020204020204" charset="-122"/>
              </a:rPr>
              <a:t>构建</a:t>
            </a:r>
            <a:endParaRPr sz="1275" b="1"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97" name="phase-c-sidebar-divider"/>
          <p:cNvSpPr>
            <a:spLocks noGrp="1"/>
          </p:cNvSpPr>
          <p:nvPr/>
        </p:nvSpPr>
        <p:spPr>
          <a:xfrm>
            <a:off x="2847975" y="4006850"/>
            <a:ext cx="9525" cy="9525"/>
          </a:xfrm>
          <a:prstGeom prst="rect">
            <a:avLst/>
          </a:prstGeom>
          <a:solidFill>
            <a:srgbClr val="EEF2F5"/>
          </a:solidFill>
          <a:ln w="9525">
            <a:solidFill>
              <a:srgbClr val="D6DEE6"/>
            </a:solidFill>
            <a:prstDash val="solid"/>
          </a:ln>
          <a:effectLst/>
        </p:spPr>
      </p:sp>
      <p:sp>
        <p:nvSpPr>
          <p:cNvPr id="98" name="phase-c-step-divider"/>
          <p:cNvSpPr>
            <a:spLocks noGrp="1"/>
          </p:cNvSpPr>
          <p:nvPr/>
        </p:nvSpPr>
        <p:spPr>
          <a:xfrm>
            <a:off x="6924675" y="4006850"/>
            <a:ext cx="9525" cy="9525"/>
          </a:xfrm>
          <a:prstGeom prst="rect">
            <a:avLst/>
          </a:prstGeom>
          <a:solidFill>
            <a:srgbClr val="EEF2F5"/>
          </a:solidFill>
          <a:ln w="9525">
            <a:solidFill>
              <a:srgbClr val="D6DEE6"/>
            </a:solidFill>
            <a:prstDash val="solid"/>
          </a:ln>
          <a:effectLst/>
        </p:spPr>
      </p:sp>
      <p:sp>
        <p:nvSpPr>
          <p:cNvPr id="99" name="step-05-number"/>
          <p:cNvSpPr>
            <a:spLocks noGrp="1"/>
          </p:cNvSpPr>
          <p:nvPr/>
        </p:nvSpPr>
        <p:spPr>
          <a:xfrm>
            <a:off x="300596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05</a:t>
            </a:r>
          </a:p>
        </p:txBody>
      </p:sp>
      <p:sp>
        <p:nvSpPr>
          <p:cNvPr id="100" name="step-05-title"/>
          <p:cNvSpPr>
            <a:spLocks noGrp="1"/>
          </p:cNvSpPr>
          <p:nvPr/>
        </p:nvSpPr>
        <p:spPr>
          <a:xfrm>
            <a:off x="342506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Platform Knowledge</a:t>
            </a:r>
          </a:p>
        </p:txBody>
      </p:sp>
      <p:sp>
        <p:nvSpPr>
          <p:cNvPr id="101" name="step-05-subtitle"/>
          <p:cNvSpPr>
            <a:spLocks noGrp="1"/>
          </p:cNvSpPr>
          <p:nvPr/>
        </p:nvSpPr>
        <p:spPr>
          <a:xfrm>
            <a:off x="3425065" y="436562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纳入平台</a:t>
            </a: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知识</a:t>
            </a: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库</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07" name="step-06-number"/>
          <p:cNvSpPr>
            <a:spLocks noGrp="1"/>
          </p:cNvSpPr>
          <p:nvPr/>
        </p:nvSpPr>
        <p:spPr>
          <a:xfrm>
            <a:off x="706361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06</a:t>
            </a:r>
          </a:p>
        </p:txBody>
      </p:sp>
      <p:sp>
        <p:nvSpPr>
          <p:cNvPr id="108" name="step-06-title"/>
          <p:cNvSpPr>
            <a:spLocks noGrp="1"/>
          </p:cNvSpPr>
          <p:nvPr/>
        </p:nvSpPr>
        <p:spPr>
          <a:xfrm>
            <a:off x="748271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Workflow </a:t>
            </a:r>
            <a:r>
              <a:rPr lang="zh-CN" altLang="en-US"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完善</a:t>
            </a:r>
            <a:endParaRPr sz="1125" b="1"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109" name="step-06-subtitle"/>
          <p:cNvSpPr>
            <a:spLocks noGrp="1"/>
          </p:cNvSpPr>
          <p:nvPr/>
        </p:nvSpPr>
        <p:spPr>
          <a:xfrm>
            <a:off x="7482715" y="4365625"/>
            <a:ext cx="2143125"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F3A45"/>
                </a:solidFill>
                <a:latin typeface="Arial" panose="020B0604020202020204" pitchFamily="34" charset="0"/>
                <a:ea typeface="Microsoft YaHei" panose="020B0503020204020204" pitchFamily="34" charset="-122"/>
                <a:cs typeface="微软雅黑" panose="020B0503020204020204" charset="-122"/>
              </a:rPr>
              <a:t>接入通用</a:t>
            </a:r>
            <a:r>
              <a:rPr sz="825" b="1" dirty="0">
                <a:solidFill>
                  <a:srgbClr val="2F3A45"/>
                </a:solidFill>
                <a:latin typeface="Arial" panose="020B0604020202020204" pitchFamily="34" charset="0"/>
                <a:ea typeface="Microsoft YaHei" panose="020B0503020204020204" pitchFamily="34" charset="-122"/>
                <a:cs typeface="微软雅黑" panose="020B0503020204020204" charset="-122"/>
              </a:rPr>
              <a:t> Workflow</a:t>
            </a:r>
          </a:p>
        </p:txBody>
      </p:sp>
      <p:sp>
        <p:nvSpPr>
          <p:cNvPr id="118" name="phase-d-surface"/>
          <p:cNvSpPr>
            <a:spLocks noGrp="1"/>
          </p:cNvSpPr>
          <p:nvPr/>
        </p:nvSpPr>
        <p:spPr>
          <a:xfrm>
            <a:off x="1295400" y="4959350"/>
            <a:ext cx="9601200" cy="889000"/>
          </a:xfrm>
          <a:prstGeom prst="rect">
            <a:avLst/>
          </a:prstGeom>
          <a:solidFill>
            <a:srgbClr val="EAF3F1"/>
          </a:solidFill>
          <a:ln w="9525">
            <a:solidFill>
              <a:srgbClr val="D6DEE6"/>
            </a:solidFill>
            <a:prstDash val="solid"/>
          </a:ln>
          <a:effectLst/>
        </p:spPr>
      </p:sp>
      <p:sp>
        <p:nvSpPr>
          <p:cNvPr id="119" name="phase-d-accent"/>
          <p:cNvSpPr>
            <a:spLocks noGrp="1"/>
          </p:cNvSpPr>
          <p:nvPr/>
        </p:nvSpPr>
        <p:spPr>
          <a:xfrm>
            <a:off x="1295400" y="4959350"/>
            <a:ext cx="57150" cy="889000"/>
          </a:xfrm>
          <a:prstGeom prst="roundRect">
            <a:avLst>
              <a:gd name="adj" fmla="val 50000"/>
            </a:avLst>
          </a:prstGeom>
          <a:solidFill>
            <a:srgbClr val="4F8A83"/>
          </a:solidFill>
          <a:ln w="9525">
            <a:solidFill>
              <a:srgbClr val="4F8A83"/>
            </a:solidFill>
            <a:prstDash val="solid"/>
          </a:ln>
          <a:effectLst/>
        </p:spPr>
      </p:sp>
      <p:sp>
        <p:nvSpPr>
          <p:cNvPr id="120" name="phase-d-letter"/>
          <p:cNvSpPr>
            <a:spLocks noGrp="1"/>
          </p:cNvSpPr>
          <p:nvPr/>
        </p:nvSpPr>
        <p:spPr>
          <a:xfrm>
            <a:off x="1438275" y="508317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D</a:t>
            </a:r>
          </a:p>
        </p:txBody>
      </p:sp>
      <p:sp>
        <p:nvSpPr>
          <p:cNvPr id="122" name="phase-d-chinese"/>
          <p:cNvSpPr>
            <a:spLocks noGrp="1"/>
          </p:cNvSpPr>
          <p:nvPr/>
        </p:nvSpPr>
        <p:spPr>
          <a:xfrm>
            <a:off x="1474470" y="5378450"/>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4F8A83"/>
                </a:solidFill>
                <a:latin typeface="Arial" panose="020B0604020202020204" pitchFamily="34" charset="0"/>
                <a:ea typeface="Microsoft YaHei" panose="020B0503020204020204" pitchFamily="34" charset="-122"/>
                <a:cs typeface="微软雅黑" panose="020B0503020204020204" charset="-122"/>
              </a:rPr>
              <a:t>最终</a:t>
            </a: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验收</a:t>
            </a:r>
          </a:p>
        </p:txBody>
      </p:sp>
      <p:sp>
        <p:nvSpPr>
          <p:cNvPr id="123" name="phase-d-sidebar-divider"/>
          <p:cNvSpPr>
            <a:spLocks noGrp="1"/>
          </p:cNvSpPr>
          <p:nvPr/>
        </p:nvSpPr>
        <p:spPr>
          <a:xfrm>
            <a:off x="2847975" y="5054600"/>
            <a:ext cx="9525" cy="9525"/>
          </a:xfrm>
          <a:prstGeom prst="rect">
            <a:avLst/>
          </a:prstGeom>
          <a:solidFill>
            <a:srgbClr val="EEF2F5"/>
          </a:solidFill>
          <a:ln w="9525">
            <a:solidFill>
              <a:srgbClr val="D6DEE6"/>
            </a:solidFill>
            <a:prstDash val="solid"/>
          </a:ln>
          <a:effectLst/>
        </p:spPr>
      </p:sp>
      <p:sp>
        <p:nvSpPr>
          <p:cNvPr id="124" name="phase-d-step-divider"/>
          <p:cNvSpPr>
            <a:spLocks noGrp="1"/>
          </p:cNvSpPr>
          <p:nvPr/>
        </p:nvSpPr>
        <p:spPr>
          <a:xfrm>
            <a:off x="6924675" y="5054600"/>
            <a:ext cx="9525" cy="9525"/>
          </a:xfrm>
          <a:prstGeom prst="rect">
            <a:avLst/>
          </a:prstGeom>
          <a:solidFill>
            <a:srgbClr val="EAF3F1"/>
          </a:solidFill>
          <a:ln w="9525">
            <a:solidFill>
              <a:srgbClr val="D6DEE6"/>
            </a:solidFill>
            <a:prstDash val="solid"/>
          </a:ln>
          <a:effectLst/>
        </p:spPr>
      </p:sp>
      <p:sp>
        <p:nvSpPr>
          <p:cNvPr id="125" name="step-07-number"/>
          <p:cNvSpPr>
            <a:spLocks noGrp="1"/>
          </p:cNvSpPr>
          <p:nvPr/>
        </p:nvSpPr>
        <p:spPr>
          <a:xfrm>
            <a:off x="300990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07</a:t>
            </a:r>
          </a:p>
        </p:txBody>
      </p:sp>
      <p:sp>
        <p:nvSpPr>
          <p:cNvPr id="126" name="step-07-title"/>
          <p:cNvSpPr>
            <a:spLocks noGrp="1"/>
          </p:cNvSpPr>
          <p:nvPr/>
        </p:nvSpPr>
        <p:spPr>
          <a:xfrm>
            <a:off x="342900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4F8A83"/>
                </a:solidFill>
                <a:latin typeface="Arial" panose="020B0604020202020204" pitchFamily="34" charset="0"/>
                <a:ea typeface="Microsoft YaHei" panose="020B0503020204020204" pitchFamily="34" charset="-122"/>
                <a:cs typeface="微软雅黑" panose="020B0503020204020204" charset="-122"/>
              </a:rPr>
              <a:t>典型算子验证</a:t>
            </a:r>
            <a:endParaRPr sz="1125"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lnSpcReduction="10000"/>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LayerNorm</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Memory + Reduction</a:t>
            </a: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Softmax</a:t>
            </a: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Elementwise + Reduction</a:t>
            </a: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MatMul</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Compute + Tiling</a:t>
            </a:r>
          </a:p>
        </p:txBody>
      </p:sp>
      <p:sp>
        <p:nvSpPr>
          <p:cNvPr id="133" name="step-08-number"/>
          <p:cNvSpPr>
            <a:spLocks noGrp="1"/>
          </p:cNvSpPr>
          <p:nvPr/>
        </p:nvSpPr>
        <p:spPr>
          <a:xfrm>
            <a:off x="706755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08</a:t>
            </a:r>
          </a:p>
        </p:txBody>
      </p:sp>
      <p:sp>
        <p:nvSpPr>
          <p:cNvPr id="134" name="step-08-title"/>
          <p:cNvSpPr>
            <a:spLocks noGrp="1"/>
          </p:cNvSpPr>
          <p:nvPr/>
        </p:nvSpPr>
        <p:spPr>
          <a:xfrm>
            <a:off x="748665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Feedback &amp; Iterate</a:t>
            </a:r>
          </a:p>
        </p:txBody>
      </p:sp>
      <p:sp>
        <p:nvSpPr>
          <p:cNvPr id="135" name="step-08-subtitle"/>
          <p:cNvSpPr>
            <a:spLocks noGrp="1"/>
          </p:cNvSpPr>
          <p:nvPr/>
        </p:nvSpPr>
        <p:spPr>
          <a:xfrm>
            <a:off x="7486650" y="522605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分类反馈并迭代</a:t>
            </a:r>
          </a:p>
        </p:txBody>
      </p:sp>
      <p:sp>
        <p:nvSpPr>
          <p:cNvPr id="136" name="step-08-branch-1"/>
          <p:cNvSpPr>
            <a:spLocks noGrp="1"/>
          </p:cNvSpPr>
          <p:nvPr/>
        </p:nvSpPr>
        <p:spPr>
          <a:xfrm>
            <a:off x="749617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平台事实偏差</a:t>
            </a: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 Update Knowledge</a:t>
            </a:r>
          </a:p>
        </p:txBody>
      </p:sp>
      <p:sp>
        <p:nvSpPr>
          <p:cNvPr id="137" name="step-08-branch-2"/>
          <p:cNvSpPr>
            <a:spLocks noGrp="1"/>
          </p:cNvSpPr>
          <p:nvPr/>
        </p:nvSpPr>
        <p:spPr>
          <a:xfrm>
            <a:off x="8572500"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优化策略失效</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Update Rules</a:t>
            </a:r>
          </a:p>
        </p:txBody>
      </p:sp>
      <p:sp>
        <p:nvSpPr>
          <p:cNvPr id="138" name="step-08-branch-3"/>
          <p:cNvSpPr>
            <a:spLocks noGrp="1"/>
          </p:cNvSpPr>
          <p:nvPr/>
        </p:nvSpPr>
        <p:spPr>
          <a:xfrm>
            <a:off x="964882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流程 / 契约不足</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Adjust Workflow</a:t>
            </a:r>
          </a:p>
        </p:txBody>
      </p:sp>
      <p:cxnSp>
        <p:nvCxnSpPr>
          <p:cNvPr id="291" name="phase-a-to-b"/>
          <p:cNvCxnSpPr/>
          <p:nvPr/>
        </p:nvCxnSpPr>
        <p:spPr>
          <a:xfrm>
            <a:off x="6096000" y="2844800"/>
            <a:ext cx="0" cy="47625"/>
          </a:xfrm>
          <a:prstGeom prst="straightConnector1">
            <a:avLst/>
          </a:prstGeom>
          <a:ln w="11430">
            <a:solidFill>
              <a:srgbClr val="294A6D"/>
            </a:solidFill>
            <a:prstDash val="solid"/>
            <a:tailEnd type="triangle" w="sm" len="sm"/>
          </a:ln>
          <a:effectLst/>
        </p:spPr>
      </p:cxnSp>
      <p:cxnSp>
        <p:nvCxnSpPr>
          <p:cNvPr id="292" name="phase-b-to-c"/>
          <p:cNvCxnSpPr/>
          <p:nvPr/>
        </p:nvCxnSpPr>
        <p:spPr>
          <a:xfrm>
            <a:off x="6096000" y="3863975"/>
            <a:ext cx="0" cy="47625"/>
          </a:xfrm>
          <a:prstGeom prst="straightConnector1">
            <a:avLst/>
          </a:prstGeom>
          <a:ln w="11430">
            <a:solidFill>
              <a:srgbClr val="4F8A83"/>
            </a:solidFill>
            <a:prstDash val="solid"/>
            <a:tailEnd type="triangle" w="sm" len="sm"/>
          </a:ln>
          <a:effectLst/>
        </p:spPr>
      </p:cxnSp>
      <p:cxnSp>
        <p:nvCxnSpPr>
          <p:cNvPr id="293" name="phase-c-to-d"/>
          <p:cNvCxnSpPr/>
          <p:nvPr/>
        </p:nvCxnSpPr>
        <p:spPr>
          <a:xfrm>
            <a:off x="6096000" y="4911725"/>
            <a:ext cx="0" cy="47625"/>
          </a:xfrm>
          <a:prstGeom prst="straightConnector1">
            <a:avLst/>
          </a:prstGeom>
          <a:ln w="11430">
            <a:solidFill>
              <a:srgbClr val="4F8A83"/>
            </a:solidFill>
            <a:prstDash val="solid"/>
            <a:tailEnd type="triangle" w="sm" len="sm"/>
          </a:ln>
          <a:effectLst/>
        </p:spPr>
      </p:cxn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14</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0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仍需多次算子开发验证</a:t>
            </a: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MLU Triton</a:t>
            </a: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Optimize  ✓</a:t>
            </a: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评估与归档方式</a:t>
            </a: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BANG C</a:t>
            </a: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a:t>
            </a: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dirty="0" err="1"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将微基准结果转化为优化规则</a:t>
            </a:r>
            <a:endParaRPr sz="73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endParaRPr sz="86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endParaRPr sz="75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CUDA</a:t>
            </a:r>
            <a:r>
              <a:rPr lang="en-US"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形成 CUDA Platform Knowledge</a:t>
            </a: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GPU Triton</a:t>
            </a: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dirty="0" err="1"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跑平台</a:t>
            </a:r>
            <a:r>
              <a:rPr lang="zh-CN" altLang="en-US" sz="765" b="1" dirty="0"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真实参数</a:t>
            </a:r>
            <a:endParaRPr sz="7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Autotune 经验</a:t>
            </a: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15</a:t>
            </a:r>
            <a:endParaRPr lang="en-US" sz="1200" b="1" dirty="0">
              <a:solidFill>
                <a:srgbClr val="6673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251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单元格：Kernel / PyTorch  |  Baseline：MLU  → PyTorch-MLU  |  GPU → PyTorch-CUDA</a:t>
            </a:r>
          </a:p>
        </p:txBody>
      </p:sp>
      <p:graphicFrame>
        <p:nvGraphicFramePr>
          <p:cNvPr id="13" name="kernel_vs_pytorch_performance"/>
          <p:cNvGraphicFramePr/>
          <p:nvPr>
            <p:extLst>
              <p:ext uri="{D42A27DB-BD31-4B8C-83A1-F6EECF244321}">
                <p14:modId xmlns:p14="http://schemas.microsoft.com/office/powerpoint/2010/main" val="3039024960"/>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dirty="0">
                          <a:solidFill>
                            <a:srgbClr val="2F3A45"/>
                          </a:solidFill>
                          <a:latin typeface="Arial" panose="020B0604020202020204" pitchFamily="34" charset="0"/>
                          <a:ea typeface="Microsoft YaHei" panose="020B0503020204020204" pitchFamily="34" charset="-122"/>
                          <a:cs typeface="微软雅黑" panose="020B0503020204020204" charset="-122"/>
                        </a:rPr>
                        <a:t>MLU </a:t>
                      </a:r>
                      <a:r>
                        <a:rPr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Triton</a:t>
                      </a:r>
                      <a:r>
                        <a:rPr lang="zh-CN" altLang="en-US"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（新结构）</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0.086</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25.53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3.68</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16.24</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29.43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0.31</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48.26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16</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15-observation-heading">
            <a:extLst>
              <a:ext uri="{FF2B5EF4-FFF2-40B4-BE49-F238E27FC236}">
                <a16:creationId xmlns:a16="http://schemas.microsoft.com/office/drawing/2014/main" id="{1FDCC21F-B164-96FC-4235-BA02DF7AFC66}"/>
              </a:ext>
            </a:extLst>
          </p:cNvPr>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5-observation-body">
            <a:extLst>
              <a:ext uri="{FF2B5EF4-FFF2-40B4-BE49-F238E27FC236}">
                <a16:creationId xmlns:a16="http://schemas.microsoft.com/office/drawing/2014/main" id="{A801890C-E950-A015-DE8C-98FDE8F93E98}"/>
              </a:ext>
            </a:extLst>
          </p:cNvPr>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MLU Triton</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PyTorch</a:t>
            </a:r>
            <a:r>
              <a:rPr lang="en-US" altLang="zh-CN" sz="1250" dirty="0">
                <a:solidFill>
                  <a:srgbClr val="2F3A45"/>
                </a:solidFill>
                <a:latin typeface="Arial" panose="020B0604020202020204" pitchFamily="34" charset="0"/>
                <a:ea typeface="Microsoft YaHei" panose="020B0503020204020204" pitchFamily="34" charset="-122"/>
              </a:rPr>
              <a:t>-MLU </a:t>
            </a:r>
            <a:r>
              <a:rPr lang="zh-CN" altLang="en-US" sz="1250" dirty="0">
                <a:solidFill>
                  <a:srgbClr val="2F3A45"/>
                </a:solidFill>
                <a:latin typeface="Arial" panose="020B0604020202020204" pitchFamily="34" charset="0"/>
                <a:ea typeface="Microsoft YaHei" panose="020B0503020204020204" pitchFamily="34" charset="-122"/>
              </a:rPr>
              <a:t>持平，</a:t>
            </a:r>
            <a:r>
              <a:rPr lang="en-US" altLang="zh-CN" sz="1250" dirty="0">
                <a:solidFill>
                  <a:srgbClr val="2F3A45"/>
                </a:solidFill>
                <a:latin typeface="Arial" panose="020B0604020202020204" pitchFamily="34" charset="0"/>
                <a:ea typeface="Microsoft YaHei" panose="020B0503020204020204" pitchFamily="34" charset="-122"/>
              </a:rPr>
              <a:t>0.15 / 0.15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更快，</a:t>
            </a:r>
            <a:r>
              <a:rPr lang="en-US" altLang="zh-CN" sz="1250" dirty="0">
                <a:solidFill>
                  <a:srgbClr val="2F3A45"/>
                </a:solidFill>
                <a:latin typeface="Arial" panose="020B0604020202020204" pitchFamily="34" charset="0"/>
                <a:ea typeface="Microsoft YaHei" panose="020B0503020204020204" pitchFamily="34" charset="-122"/>
              </a:rPr>
              <a:t>0.086 / 0.11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MatMul</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仍较慢，</a:t>
            </a:r>
            <a:r>
              <a:rPr lang="en-US" altLang="zh-CN" sz="1250" dirty="0">
                <a:solidFill>
                  <a:srgbClr val="2F3A45"/>
                </a:solidFill>
                <a:latin typeface="Arial" panose="020B0604020202020204" pitchFamily="34" charset="0"/>
                <a:ea typeface="Microsoft YaHei" panose="020B0503020204020204" pitchFamily="34" charset="-122"/>
              </a:rPr>
              <a:t>11.84 / 5.3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BANG C </a:t>
            </a:r>
            <a:r>
              <a:rPr lang="zh-CN" altLang="en-US" sz="1250" dirty="0">
                <a:solidFill>
                  <a:srgbClr val="2F3A45"/>
                </a:solidFill>
                <a:latin typeface="Arial" panose="020B0604020202020204" pitchFamily="34" charset="0"/>
                <a:ea typeface="Microsoft YaHei" panose="020B0503020204020204" pitchFamily="34" charset="-122"/>
              </a:rPr>
              <a:t>三项 </a:t>
            </a:r>
            <a:r>
              <a:rPr lang="en-US" altLang="zh-CN" sz="1250" dirty="0">
                <a:solidFill>
                  <a:srgbClr val="2F3A45"/>
                </a:solidFill>
                <a:latin typeface="Arial" panose="020B0604020202020204" pitchFamily="34" charset="0"/>
                <a:ea typeface="Microsoft YaHei" panose="020B0503020204020204" pitchFamily="34" charset="-122"/>
              </a:rPr>
              <a:t>Kernel </a:t>
            </a:r>
            <a:r>
              <a:rPr lang="zh-CN" altLang="en-US" sz="1250" dirty="0">
                <a:solidFill>
                  <a:srgbClr val="2F3A45"/>
                </a:solidFill>
                <a:latin typeface="Arial" panose="020B0604020202020204" pitchFamily="34" charset="0"/>
                <a:ea typeface="Microsoft YaHei" panose="020B0503020204020204" pitchFamily="34" charset="-122"/>
              </a:rPr>
              <a:t>耗时均高于同平台 </a:t>
            </a:r>
            <a:r>
              <a:rPr lang="en-US" altLang="zh-CN" sz="1250" dirty="0" err="1">
                <a:solidFill>
                  <a:srgbClr val="2F3A45"/>
                </a:solidFill>
                <a:latin typeface="Arial" panose="020B0604020202020204" pitchFamily="34" charset="0"/>
                <a:ea typeface="Microsoft YaHei" panose="020B0503020204020204" pitchFamily="34" charset="-122"/>
              </a:rPr>
              <a:t>PyTorch</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差距最突出。</a:t>
            </a: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1755"/>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单元格：Kernel</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PyTorch</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a:t>
            </a:r>
            <a:r>
              <a:rPr lang="zh-CN" altLang="en-US" sz="1050" dirty="0">
                <a:solidFill>
                  <a:srgbClr val="66737F"/>
                </a:solidFill>
                <a:latin typeface="Arial" panose="020B0604020202020204" pitchFamily="34" charset="0"/>
                <a:ea typeface="Microsoft YaHei" panose="020B0503020204020204" pitchFamily="34" charset="-122"/>
                <a:cs typeface="微软雅黑" panose="020B0503020204020204" charset="-122"/>
              </a:rPr>
              <a:t>加速比</a:t>
            </a:r>
            <a:endParaRPr sz="1050"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13" name="kernel_vs_pytorch_performance"/>
          <p:cNvGraphicFramePr/>
          <p:nvPr>
            <p:extLst>
              <p:ext uri="{D42A27DB-BD31-4B8C-83A1-F6EECF244321}">
                <p14:modId xmlns:p14="http://schemas.microsoft.com/office/powerpoint/2010/main" val="1047326507"/>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0.01</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0.05</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0.33</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1.43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0.53x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1.45</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0.33x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17</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16-observation-heading">
            <a:extLst>
              <a:ext uri="{FF2B5EF4-FFF2-40B4-BE49-F238E27FC236}">
                <a16:creationId xmlns:a16="http://schemas.microsoft.com/office/drawing/2014/main" id="{362CF364-3F11-715D-2DA8-AA380F4CEAD2}"/>
              </a:ext>
            </a:extLst>
          </p:cNvPr>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6-observation-left">
            <a:extLst>
              <a:ext uri="{FF2B5EF4-FFF2-40B4-BE49-F238E27FC236}">
                <a16:creationId xmlns:a16="http://schemas.microsoft.com/office/drawing/2014/main" id="{C9118860-19DC-C03A-9877-7726B2DBF5E3}"/>
              </a:ext>
            </a:extLst>
          </p:cNvPr>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LayerNorm</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GPU Triton 1.45× </a:t>
            </a:r>
            <a:r>
              <a:rPr lang="zh-CN" altLang="en-US" sz="1180">
                <a:solidFill>
                  <a:srgbClr val="2F3A45"/>
                </a:solidFill>
                <a:latin typeface="Arial" panose="020B0604020202020204" pitchFamily="34" charset="0"/>
                <a:ea typeface="Microsoft YaHei" panose="020B0503020204020204" pitchFamily="34" charset="-122"/>
              </a:rPr>
              <a:t>最优，</a:t>
            </a:r>
            <a:r>
              <a:rPr lang="en-US" altLang="zh-CN" sz="1180">
                <a:solidFill>
                  <a:srgbClr val="2F3A45"/>
                </a:solidFill>
                <a:latin typeface="Arial" panose="020B0604020202020204" pitchFamily="34" charset="0"/>
                <a:ea typeface="Microsoft YaHei" panose="020B0503020204020204" pitchFamily="34" charset="-122"/>
              </a:rPr>
              <a:t>CUDA C 1.43× </a:t>
            </a:r>
            <a:r>
              <a:rPr lang="zh-CN" altLang="en-US" sz="1180">
                <a:solidFill>
                  <a:srgbClr val="2F3A45"/>
                </a:solidFill>
                <a:latin typeface="Arial" panose="020B0604020202020204" pitchFamily="34" charset="0"/>
                <a:ea typeface="Microsoft YaHei" panose="020B0503020204020204" pitchFamily="34" charset="-122"/>
              </a:rPr>
              <a:t>紧随；</a:t>
            </a:r>
            <a:r>
              <a:rPr lang="en-US" altLang="zh-CN" sz="1180">
                <a:solidFill>
                  <a:srgbClr val="2F3A45"/>
                </a:solidFill>
                <a:latin typeface="Arial" panose="020B0604020202020204" pitchFamily="34" charset="0"/>
                <a:ea typeface="Microsoft YaHei" panose="020B0503020204020204" pitchFamily="34" charset="-122"/>
              </a:rPr>
              <a:t>MLU Triton </a:t>
            </a:r>
            <a:r>
              <a:rPr lang="zh-CN" altLang="en-US" sz="1180">
                <a:solidFill>
                  <a:srgbClr val="2F3A45"/>
                </a:solidFill>
                <a:latin typeface="Arial" panose="020B0604020202020204" pitchFamily="34" charset="0"/>
                <a:ea typeface="Microsoft YaHei" panose="020B0503020204020204" pitchFamily="34" charset="-122"/>
              </a:rPr>
              <a:t>与基线持平。</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Softmax</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MLU Triton 1.23×</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与 </a:t>
            </a:r>
            <a:r>
              <a:rPr lang="en-US" altLang="zh-CN" sz="1180">
                <a:solidFill>
                  <a:srgbClr val="2F3A45"/>
                </a:solidFill>
                <a:latin typeface="Arial" panose="020B0604020202020204" pitchFamily="34" charset="0"/>
                <a:ea typeface="Microsoft YaHei" panose="020B0503020204020204" pitchFamily="34" charset="-122"/>
              </a:rPr>
              <a:t>GPU Triton </a:t>
            </a:r>
            <a:r>
              <a:rPr lang="zh-CN" altLang="en-US" sz="1180">
                <a:solidFill>
                  <a:srgbClr val="2F3A45"/>
                </a:solidFill>
                <a:latin typeface="Arial" panose="020B0604020202020204" pitchFamily="34" charset="0"/>
                <a:ea typeface="Microsoft YaHei" panose="020B0503020204020204" pitchFamily="34" charset="-122"/>
              </a:rPr>
              <a:t>均为 </a:t>
            </a:r>
            <a:r>
              <a:rPr lang="en-US" altLang="zh-CN" sz="1180">
                <a:solidFill>
                  <a:srgbClr val="2F3A45"/>
                </a:solidFill>
                <a:latin typeface="Arial" panose="020B0604020202020204" pitchFamily="34" charset="0"/>
                <a:ea typeface="Microsoft YaHei" panose="020B0503020204020204" pitchFamily="34" charset="-122"/>
              </a:rPr>
              <a:t>1.06×</a:t>
            </a:r>
            <a:r>
              <a:rPr lang="zh-CN" altLang="en-US" sz="1180">
                <a:solidFill>
                  <a:srgbClr val="2F3A45"/>
                </a:solidFill>
                <a:latin typeface="Arial" panose="020B0604020202020204" pitchFamily="34" charset="0"/>
                <a:ea typeface="Microsoft YaHei" panose="020B0503020204020204" pitchFamily="34" charset="-122"/>
              </a:rPr>
              <a:t>，接近或超过基线。</a:t>
            </a:r>
          </a:p>
        </p:txBody>
      </p:sp>
      <p:sp>
        <p:nvSpPr>
          <p:cNvPr id="11" name="s16-observation-right">
            <a:extLst>
              <a:ext uri="{FF2B5EF4-FFF2-40B4-BE49-F238E27FC236}">
                <a16:creationId xmlns:a16="http://schemas.microsoft.com/office/drawing/2014/main" id="{CE0D8A76-9CFD-0F87-04D9-5CE265D539CC}"/>
              </a:ext>
            </a:extLst>
          </p:cNvPr>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MatMul</a:t>
            </a:r>
            <a:r>
              <a:rPr lang="zh-CN" altLang="en-US" sz="1180">
                <a:solidFill>
                  <a:srgbClr val="2F3A45"/>
                </a:solidFill>
                <a:latin typeface="Arial" panose="020B0604020202020204" pitchFamily="34" charset="0"/>
                <a:ea typeface="Microsoft YaHei" panose="020B0503020204020204" pitchFamily="34" charset="-122"/>
              </a:rPr>
              <a:t>：四类 </a:t>
            </a:r>
            <a:r>
              <a:rPr lang="en-US" altLang="zh-CN" sz="1180">
                <a:solidFill>
                  <a:srgbClr val="2F3A45"/>
                </a:solidFill>
                <a:latin typeface="Arial" panose="020B0604020202020204" pitchFamily="34" charset="0"/>
                <a:ea typeface="Microsoft YaHei" panose="020B0503020204020204" pitchFamily="34" charset="-122"/>
              </a:rPr>
              <a:t>Skill </a:t>
            </a:r>
            <a:r>
              <a:rPr lang="zh-CN" altLang="en-US" sz="1180">
                <a:solidFill>
                  <a:srgbClr val="2F3A45"/>
                </a:solidFill>
                <a:latin typeface="Arial" panose="020B0604020202020204" pitchFamily="34" charset="0"/>
                <a:ea typeface="Microsoft YaHei" panose="020B0503020204020204" pitchFamily="34" charset="-122"/>
              </a:rPr>
              <a:t>全部低于 </a:t>
            </a:r>
            <a:r>
              <a:rPr lang="en-US" altLang="zh-CN" sz="1180">
                <a:solidFill>
                  <a:srgbClr val="2F3A45"/>
                </a:solidFill>
                <a:latin typeface="Arial" panose="020B0604020202020204" pitchFamily="34" charset="0"/>
                <a:ea typeface="Microsoft YaHei" panose="020B0503020204020204" pitchFamily="34" charset="-122"/>
              </a:rPr>
              <a:t>1×</a:t>
            </a:r>
            <a:r>
              <a:rPr lang="zh-CN" altLang="en-US" sz="1180">
                <a:solidFill>
                  <a:srgbClr val="2F3A45"/>
                </a:solidFill>
                <a:latin typeface="Arial" panose="020B0604020202020204" pitchFamily="34" charset="0"/>
                <a:ea typeface="Microsoft YaHei" panose="020B0503020204020204" pitchFamily="34" charset="-122"/>
              </a:rPr>
              <a:t>；最高 </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也只有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三项均低于基线；当前主要短板是高性能优化。</a:t>
            </a: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extLst>
      <p:ext uri="{BB962C8B-B14F-4D97-AF65-F5344CB8AC3E}">
        <p14:creationId xmlns:p14="http://schemas.microsoft.com/office/powerpoint/2010/main" val="735913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977900" y="27426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四类算子 </a:t>
            </a:r>
            <a:r>
              <a:rPr lang="en-US" altLang="zh-CN"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：开发效率对比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端到端耗时：需求提交 → 最终交付</a:t>
            </a:r>
          </a:p>
        </p:txBody>
      </p:sp>
      <p:graphicFrame>
        <p:nvGraphicFramePr>
          <p:cNvPr id="54" name="development_time_by_skill_and_operator"/>
          <p:cNvGraphicFramePr/>
          <p:nvPr>
            <p:extLst>
              <p:ext uri="{D42A27DB-BD31-4B8C-83A1-F6EECF244321}">
                <p14:modId xmlns:p14="http://schemas.microsoft.com/office/powerpoint/2010/main" val="2932374830"/>
              </p:ext>
            </p:extLst>
          </p:nvPr>
        </p:nvGraphicFramePr>
        <p:xfrm>
          <a:off x="1200150" y="990600"/>
          <a:ext cx="7600950" cy="3149600"/>
        </p:xfrm>
        <a:graphic>
          <a:graphicData uri="http://schemas.openxmlformats.org/drawingml/2006/table">
            <a:tbl>
              <a:tblPr firstRow="1">
                <a:effectLst/>
              </a:tblPr>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Skill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sz="1400" b="1" dirty="0">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h26</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sz="1400" b="1">
                          <a:solidFill>
                            <a:srgbClr val="C77C59"/>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10</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4F8A83"/>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h57</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h10m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h20m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extLst>
              <p:ext uri="{D42A27DB-BD31-4B8C-83A1-F6EECF244321}">
                <p14:modId xmlns:p14="http://schemas.microsoft.com/office/powerpoint/2010/main" val="3259880839"/>
              </p:ext>
            </p:extLst>
          </p:nvPr>
        </p:nvGraphicFramePr>
        <p:xfrm>
          <a:off x="8801100" y="990600"/>
          <a:ext cx="2199640" cy="3149600"/>
        </p:xfrm>
        <a:graphic>
          <a:graphicData uri="http://schemas.openxmlformats.org/drawingml/2006/table">
            <a:tbl>
              <a:tblPr firstRow="1">
                <a:effectLst/>
              </a:tblPr>
              <a:tblGrid>
                <a:gridCol w="2199640">
                  <a:extLst>
                    <a:ext uri="{9D8B030D-6E8A-4147-A177-3AD203B41FA5}">
                      <a16:colId xmlns:a16="http://schemas.microsoft.com/office/drawing/2014/main" val="20000"/>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平均耗时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49m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8</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1h 29m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20m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18</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6" name="s17-observation-heading">
            <a:extLst>
              <a:ext uri="{FF2B5EF4-FFF2-40B4-BE49-F238E27FC236}">
                <a16:creationId xmlns:a16="http://schemas.microsoft.com/office/drawing/2014/main" id="{CBCDE048-B80F-CBF0-1BDB-E3F2A0604D66}"/>
              </a:ext>
            </a:extLst>
          </p:cNvPr>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效率观察</a:t>
            </a:r>
          </a:p>
        </p:txBody>
      </p:sp>
      <p:sp>
        <p:nvSpPr>
          <p:cNvPr id="11" name="s17-observation-left">
            <a:extLst>
              <a:ext uri="{FF2B5EF4-FFF2-40B4-BE49-F238E27FC236}">
                <a16:creationId xmlns:a16="http://schemas.microsoft.com/office/drawing/2014/main" id="{9C510854-2DAF-092A-89C9-E8B1716B7288}"/>
              </a:ext>
            </a:extLst>
          </p:cNvPr>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CUDA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1h29m</a:t>
            </a:r>
            <a:r>
              <a:rPr lang="zh-CN" altLang="en-US" sz="1180">
                <a:solidFill>
                  <a:srgbClr val="2F3A45"/>
                </a:solidFill>
                <a:latin typeface="Arial" panose="020B0604020202020204" pitchFamily="34" charset="0"/>
                <a:ea typeface="Microsoft YaHei" panose="020B0503020204020204" pitchFamily="34" charset="-122"/>
              </a:rPr>
              <a:t>，开发耗时最短；</a:t>
            </a:r>
            <a:r>
              <a:rPr lang="en-US" altLang="zh-CN" sz="1180">
                <a:solidFill>
                  <a:srgbClr val="2F3A45"/>
                </a:solidFill>
                <a:latin typeface="Arial" panose="020B0604020202020204" pitchFamily="34" charset="0"/>
                <a:ea typeface="Microsoft YaHei" panose="020B0503020204020204" pitchFamily="34" charset="-122"/>
              </a:rPr>
              <a:t>BANG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8h</a:t>
            </a:r>
            <a:r>
              <a:rPr lang="zh-CN" altLang="en-US" sz="1180">
                <a:solidFill>
                  <a:srgbClr val="2F3A45"/>
                </a:solidFill>
                <a:latin typeface="Arial" panose="020B0604020202020204" pitchFamily="34" charset="0"/>
                <a:ea typeface="Microsoft YaHei" panose="020B0503020204020204" pitchFamily="34" charset="-122"/>
              </a:rPr>
              <a:t>，耗时最长。</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a:t>
            </a:r>
            <a:r>
              <a:rPr lang="zh-CN" altLang="en-US" sz="1180">
                <a:solidFill>
                  <a:srgbClr val="2F3A45"/>
                </a:solidFill>
                <a:latin typeface="Arial" panose="020B0604020202020204" pitchFamily="34" charset="0"/>
                <a:ea typeface="Microsoft YaHei" panose="020B0503020204020204" pitchFamily="34" charset="-122"/>
              </a:rPr>
              <a:t>开发时间与最终性能并非完全正相关：</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最快，但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仍只有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p:txBody>
      </p:sp>
      <p:sp>
        <p:nvSpPr>
          <p:cNvPr id="14" name="s17-observation-right">
            <a:extLst>
              <a:ext uri="{FF2B5EF4-FFF2-40B4-BE49-F238E27FC236}">
                <a16:creationId xmlns:a16="http://schemas.microsoft.com/office/drawing/2014/main" id="{FD67950C-2C88-315E-8746-DF810FCEBE27}"/>
              </a:ext>
            </a:extLst>
          </p:cNvPr>
          <p:cNvSpPr txBox="1"/>
          <p:nvPr/>
        </p:nvSpPr>
        <p:spPr>
          <a:xfrm>
            <a:off x="62992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GPU Triton </a:t>
            </a:r>
            <a:r>
              <a:rPr lang="zh-CN" altLang="en-US" sz="1180">
                <a:solidFill>
                  <a:srgbClr val="2F3A45"/>
                </a:solidFill>
                <a:latin typeface="Arial" panose="020B0604020202020204" pitchFamily="34" charset="0"/>
                <a:ea typeface="Microsoft YaHei" panose="020B0503020204020204" pitchFamily="34" charset="-122"/>
              </a:rPr>
              <a:t>的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开发仅 </a:t>
            </a:r>
            <a:r>
              <a:rPr lang="en-US" altLang="zh-CN" sz="1180">
                <a:solidFill>
                  <a:srgbClr val="2F3A45"/>
                </a:solidFill>
                <a:latin typeface="Arial" panose="020B0604020202020204" pitchFamily="34" charset="0"/>
                <a:ea typeface="Microsoft YaHei" panose="020B0503020204020204" pitchFamily="34" charset="-122"/>
              </a:rPr>
              <a:t>1h30m</a:t>
            </a:r>
            <a:r>
              <a:rPr lang="zh-CN" altLang="en-US" sz="1180">
                <a:solidFill>
                  <a:srgbClr val="2F3A45"/>
                </a:solidFill>
                <a:latin typeface="Arial" panose="020B0604020202020204" pitchFamily="34" charset="0"/>
                <a:ea typeface="Microsoft YaHei" panose="020B0503020204020204" pitchFamily="34" charset="-122"/>
              </a:rPr>
              <a:t>，却只有 </a:t>
            </a:r>
            <a:r>
              <a:rPr lang="en-US" altLang="zh-CN" sz="1180">
                <a:solidFill>
                  <a:srgbClr val="2F3A45"/>
                </a:solidFill>
                <a:latin typeface="Arial" panose="020B0604020202020204" pitchFamily="34" charset="0"/>
                <a:ea typeface="Microsoft YaHei" panose="020B0503020204020204" pitchFamily="34" charset="-122"/>
              </a:rPr>
              <a:t>0.33×</a:t>
            </a:r>
            <a:r>
              <a:rPr lang="zh-CN" altLang="en-US" sz="1180">
                <a:solidFill>
                  <a:srgbClr val="2F3A45"/>
                </a:solidFill>
                <a:latin typeface="Arial" panose="020B0604020202020204" pitchFamily="34" charset="0"/>
                <a:ea typeface="Microsoft YaHei" panose="020B0503020204020204" pitchFamily="34" charset="-122"/>
              </a:rPr>
              <a:t>；快速生成不等于高性能。</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已能生成并验证 </a:t>
            </a:r>
            <a:r>
              <a:rPr lang="en-US" altLang="zh-CN" sz="1180">
                <a:solidFill>
                  <a:srgbClr val="2F3A45"/>
                </a:solidFill>
                <a:latin typeface="Arial" panose="020B0604020202020204" pitchFamily="34" charset="0"/>
                <a:ea typeface="Microsoft YaHei" panose="020B0503020204020204" pitchFamily="34" charset="-122"/>
              </a:rPr>
              <a:t>Kernel</a:t>
            </a:r>
            <a:r>
              <a:rPr lang="zh-CN" altLang="en-US" sz="1180">
                <a:solidFill>
                  <a:srgbClr val="2F3A45"/>
                </a:solidFill>
                <a:latin typeface="Arial" panose="020B0604020202020204" pitchFamily="34" charset="0"/>
                <a:ea typeface="Microsoft YaHei" panose="020B0503020204020204" pitchFamily="34" charset="-122"/>
              </a:rPr>
              <a:t>；当前主要瓶颈是优化知识与规则不足。</a:t>
            </a:r>
          </a:p>
        </p:txBody>
      </p:sp>
      <p:sp>
        <p:nvSpPr>
          <p:cNvPr id="12" name="slide-7-editable-footer"/>
          <p:cNvSpPr>
            <a:spLocks noGrp="1"/>
          </p:cNvSpPr>
          <p:nvPr/>
        </p:nvSpPr>
        <p:spPr>
          <a:xfrm>
            <a:off x="234950" y="6433833"/>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dirty="0">
                <a:solidFill>
                  <a:srgbClr val="2F3A45"/>
                </a:solidFill>
                <a:latin typeface="Arial" panose="020B0604020202020204" pitchFamily="34" charset="0"/>
                <a:ea typeface="Microsoft YaHei" panose="020B0503020204020204" pitchFamily="34" charset="-122"/>
              </a:rPr>
              <a:t>总结：结果显示 </a:t>
            </a:r>
            <a:r>
              <a:rPr lang="en-US" altLang="zh-CN" sz="1600" dirty="0" err="1">
                <a:solidFill>
                  <a:srgbClr val="2F3A45"/>
                </a:solidFill>
                <a:latin typeface="Arial" panose="020B0604020202020204" pitchFamily="34" charset="0"/>
                <a:ea typeface="Microsoft YaHei" panose="020B0503020204020204" pitchFamily="34" charset="-122"/>
              </a:rPr>
              <a:t>mlu</a:t>
            </a:r>
            <a:r>
              <a:rPr lang="en-US" altLang="zh-CN" sz="1600" dirty="0">
                <a:solidFill>
                  <a:srgbClr val="2F3A45"/>
                </a:solidFill>
                <a:latin typeface="Arial" panose="020B0604020202020204" pitchFamily="34" charset="0"/>
                <a:ea typeface="Microsoft YaHei" panose="020B0503020204020204" pitchFamily="34" charset="-122"/>
              </a:rPr>
              <a:t> triton </a:t>
            </a:r>
            <a:r>
              <a:rPr lang="en-US" altLang="zh-CN" sz="1600" dirty="0" err="1">
                <a:solidFill>
                  <a:srgbClr val="2F3A45"/>
                </a:solidFill>
                <a:latin typeface="Arial" panose="020B0604020202020204" pitchFamily="34" charset="0"/>
                <a:ea typeface="Microsoft YaHei" panose="020B0503020204020204" pitchFamily="34" charset="-122"/>
              </a:rPr>
              <a:t>cuda</a:t>
            </a:r>
            <a:r>
              <a:rPr lang="en-US" altLang="zh-CN" sz="1600" dirty="0">
                <a:solidFill>
                  <a:srgbClr val="2F3A45"/>
                </a:solidFill>
                <a:latin typeface="Arial" panose="020B0604020202020204" pitchFamily="34" charset="0"/>
                <a:ea typeface="Microsoft YaHei" panose="020B0503020204020204" pitchFamily="34" charset="-122"/>
              </a:rPr>
              <a:t> c </a:t>
            </a:r>
            <a:r>
              <a:rPr lang="en-US" altLang="zh-CN" sz="1600" dirty="0" err="1">
                <a:solidFill>
                  <a:srgbClr val="2F3A45"/>
                </a:solidFill>
                <a:latin typeface="Arial" panose="020B0604020202020204" pitchFamily="34" charset="0"/>
                <a:ea typeface="Microsoft YaHei" panose="020B0503020204020204" pitchFamily="34" charset="-122"/>
              </a:rPr>
              <a:t>gpu</a:t>
            </a:r>
            <a:r>
              <a:rPr lang="en-US" altLang="zh-CN" sz="1600" dirty="0">
                <a:solidFill>
                  <a:srgbClr val="2F3A45"/>
                </a:solidFill>
                <a:latin typeface="Arial" panose="020B0604020202020204" pitchFamily="34" charset="0"/>
                <a:ea typeface="Microsoft YaHei" panose="020B0503020204020204" pitchFamily="34" charset="-122"/>
              </a:rPr>
              <a:t> triton</a:t>
            </a:r>
            <a:r>
              <a:rPr lang="zh-CN" altLang="en-US" sz="1600" dirty="0">
                <a:solidFill>
                  <a:srgbClr val="2F3A45"/>
                </a:solidFill>
                <a:latin typeface="Arial" panose="020B0604020202020204" pitchFamily="34" charset="0"/>
                <a:ea typeface="Microsoft YaHei" panose="020B0503020204020204" pitchFamily="34" charset="-122"/>
              </a:rPr>
              <a:t>的</a:t>
            </a:r>
            <a:r>
              <a:rPr lang="en-US" altLang="zh-CN" sz="1600" dirty="0">
                <a:solidFill>
                  <a:srgbClr val="2F3A45"/>
                </a:solidFill>
                <a:latin typeface="Arial" panose="020B0604020202020204" pitchFamily="34" charset="0"/>
                <a:ea typeface="Microsoft YaHei" panose="020B0503020204020204" pitchFamily="34" charset="-122"/>
              </a:rPr>
              <a:t>skill</a:t>
            </a:r>
            <a:r>
              <a:rPr lang="zh-CN" altLang="en-US" sz="1600" dirty="0">
                <a:solidFill>
                  <a:srgbClr val="2F3A45"/>
                </a:solidFill>
                <a:latin typeface="Arial" panose="020B0604020202020204" pitchFamily="34" charset="0"/>
                <a:ea typeface="Microsoft YaHei" panose="020B0503020204020204" pitchFamily="34" charset="-122"/>
              </a:rPr>
              <a:t>开发效率尚可，但仍需大量算子测试。</a:t>
            </a:r>
            <a:r>
              <a:rPr lang="en-US" altLang="zh-CN" sz="1600" dirty="0">
                <a:solidFill>
                  <a:srgbClr val="2F3A45"/>
                </a:solidFill>
                <a:latin typeface="Arial" panose="020B0604020202020204" pitchFamily="34" charset="0"/>
                <a:ea typeface="Microsoft YaHei" panose="020B0503020204020204" pitchFamily="34" charset="-122"/>
              </a:rPr>
              <a:t>Bang c</a:t>
            </a:r>
            <a:r>
              <a:rPr lang="zh-CN" altLang="en-US" sz="1600" dirty="0">
                <a:solidFill>
                  <a:srgbClr val="2F3A45"/>
                </a:solidFill>
                <a:latin typeface="Arial" panose="020B0604020202020204" pitchFamily="34" charset="0"/>
                <a:ea typeface="Microsoft YaHei" panose="020B0503020204020204" pitchFamily="34" charset="-122"/>
              </a:rPr>
              <a:t>算子缺口较大，正在完善</a:t>
            </a:r>
            <a:r>
              <a:rPr sz="1600" dirty="0">
                <a:solidFill>
                  <a:srgbClr val="2F3A45"/>
                </a:solidFill>
                <a:latin typeface="Arial" panose="020B0604020202020204" pitchFamily="34" charset="0"/>
                <a:ea typeface="Microsoft YaHei" panose="020B0503020204020204" pitchFamily="34" charset="-122"/>
              </a:rPr>
              <a:t>。</a:t>
            </a: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C302E27-EEC1-4427-8FE5-20BED1571B8C}"/>
              </a:ext>
            </a:extLst>
          </p:cNvPr>
          <p:cNvSpPr>
            <a:spLocks noGrp="1"/>
          </p:cNvSpPr>
          <p:nvPr/>
        </p:nvSpPr>
        <p:spPr>
          <a:xfrm>
            <a:off x="1111250" y="276225"/>
            <a:ext cx="10001250" cy="361950"/>
          </a:xfrm>
          <a:prstGeom prst="rect">
            <a:avLst/>
          </a:prstGeom>
          <a:noFill/>
          <a:ln w="0">
            <a:noFill/>
            <a:prstDash val="solid"/>
          </a:ln>
        </p:spPr>
        <p:txBody>
          <a:bodyPr wrap="square" lIns="0" tIns="0" rIns="0" bIns="0" anchor="ctr">
            <a:noAutofit/>
          </a:bodyPr>
          <a:lstStyle/>
          <a:p>
            <a:pPr algn="l">
              <a:lnSpc>
                <a:spcPct val="96000"/>
              </a:lnSpc>
              <a:buNone/>
              <a:defRPr sz="2250" b="1">
                <a:solidFill>
                  <a:srgbClr val="252B33"/>
                </a:solidFill>
                <a:latin typeface="Microsoft YaHei"/>
                <a:ea typeface="Microsoft YaHei"/>
                <a:cs typeface="Microsoft YaHei"/>
              </a:defRPr>
            </a:pPr>
            <a:r>
              <a:rPr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Triton vs </a:t>
            </a:r>
            <a:r>
              <a:rPr sz="26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CUDA：算子资源与性能瓶颈对比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ubtitle">
            <a:extLst>
              <a:ext uri="{FF2B5EF4-FFF2-40B4-BE49-F238E27FC236}">
                <a16:creationId xmlns:a16="http://schemas.microsoft.com/office/drawing/2014/main" id="{26B92E8B-5D3D-4593-8E24-7AD4474448D7}"/>
              </a:ext>
            </a:extLst>
          </p:cNvPr>
          <p:cNvSpPr>
            <a:spLocks noGrp="1"/>
          </p:cNvSpPr>
          <p:nvPr/>
        </p:nvSpPr>
        <p:spPr>
          <a:xfrm>
            <a:off x="514350" y="6524625"/>
            <a:ext cx="10668000" cy="190500"/>
          </a:xfrm>
          <a:prstGeom prst="rect">
            <a:avLst/>
          </a:prstGeom>
          <a:noFill/>
          <a:ln w="0">
            <a:noFill/>
            <a:prstDash val="solid"/>
          </a:ln>
        </p:spPr>
        <p:txBody>
          <a:bodyPr wrap="square" lIns="0" tIns="0" rIns="0" bIns="0" anchor="ctr">
            <a:noAutofit/>
          </a:bodyPr>
          <a:lstStyle/>
          <a:p>
            <a:pPr algn="l">
              <a:lnSpc>
                <a:spcPct val="96000"/>
              </a:lnSpc>
              <a:buNone/>
              <a:defRPr sz="1050" b="0">
                <a:solidFill>
                  <a:srgbClr val="687482"/>
                </a:solidFill>
                <a:latin typeface="Microsoft YaHei"/>
                <a:ea typeface="Microsoft YaHei"/>
                <a:cs typeface="Microsoft YaHei"/>
              </a:defRPr>
            </a:pPr>
            <a:r>
              <a:rPr sz="1050" b="0">
                <a:solidFill>
                  <a:srgbClr val="687482"/>
                </a:solidFill>
                <a:latin typeface="Microsoft YaHei"/>
                <a:ea typeface="Microsoft YaHei"/>
                <a:cs typeface="Microsoft YaHei"/>
              </a:rPr>
              <a:t>带宽型算子最终受 DRAM 限制；Matmul 的关键差异来自寄存器压力与 Tensor Core 使用</a:t>
            </a:r>
          </a:p>
        </p:txBody>
      </p:sp>
      <p:sp>
        <p:nvSpPr>
          <p:cNvPr id="5" name="header-0">
            <a:extLst>
              <a:ext uri="{FF2B5EF4-FFF2-40B4-BE49-F238E27FC236}">
                <a16:creationId xmlns:a16="http://schemas.microsoft.com/office/drawing/2014/main" id="{C0B38D77-BFDE-4D7E-A3F7-0C99B1C559A2}"/>
              </a:ext>
            </a:extLst>
          </p:cNvPr>
          <p:cNvSpPr>
            <a:spLocks noGrp="1"/>
          </p:cNvSpPr>
          <p:nvPr/>
        </p:nvSpPr>
        <p:spPr>
          <a:xfrm>
            <a:off x="381000" y="933450"/>
            <a:ext cx="6858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算子</a:t>
            </a:r>
          </a:p>
        </p:txBody>
      </p:sp>
      <p:sp>
        <p:nvSpPr>
          <p:cNvPr id="6" name="header-1">
            <a:extLst>
              <a:ext uri="{FF2B5EF4-FFF2-40B4-BE49-F238E27FC236}">
                <a16:creationId xmlns:a16="http://schemas.microsoft.com/office/drawing/2014/main" id="{6D4F22B7-3539-45AE-993F-BB52EDFACC2C}"/>
              </a:ext>
            </a:extLst>
          </p:cNvPr>
          <p:cNvSpPr>
            <a:spLocks noGrp="1"/>
          </p:cNvSpPr>
          <p:nvPr/>
        </p:nvSpPr>
        <p:spPr>
          <a:xfrm>
            <a:off x="1066800" y="933450"/>
            <a:ext cx="16478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实现</a:t>
            </a:r>
          </a:p>
        </p:txBody>
      </p:sp>
      <p:sp>
        <p:nvSpPr>
          <p:cNvPr id="7" name="header-2">
            <a:extLst>
              <a:ext uri="{FF2B5EF4-FFF2-40B4-BE49-F238E27FC236}">
                <a16:creationId xmlns:a16="http://schemas.microsoft.com/office/drawing/2014/main" id="{88AF2C52-6FCD-485C-8836-76586153EB3F}"/>
              </a:ext>
            </a:extLst>
          </p:cNvPr>
          <p:cNvSpPr>
            <a:spLocks noGrp="1"/>
          </p:cNvSpPr>
          <p:nvPr/>
        </p:nvSpPr>
        <p:spPr>
          <a:xfrm>
            <a:off x="2714625" y="933450"/>
            <a:ext cx="5143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Regs</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 Thd</a:t>
            </a:r>
          </a:p>
        </p:txBody>
      </p:sp>
      <p:sp>
        <p:nvSpPr>
          <p:cNvPr id="8" name="header-3">
            <a:extLst>
              <a:ext uri="{FF2B5EF4-FFF2-40B4-BE49-F238E27FC236}">
                <a16:creationId xmlns:a16="http://schemas.microsoft.com/office/drawing/2014/main" id="{1230CECD-68D0-42F2-AB6E-5293FF8C670E}"/>
              </a:ext>
            </a:extLst>
          </p:cNvPr>
          <p:cNvSpPr>
            <a:spLocks noGrp="1"/>
          </p:cNvSpPr>
          <p:nvPr/>
        </p:nvSpPr>
        <p:spPr>
          <a:xfrm>
            <a:off x="3228975" y="933450"/>
            <a:ext cx="4762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Spills</a:t>
            </a:r>
          </a:p>
        </p:txBody>
      </p:sp>
      <p:sp>
        <p:nvSpPr>
          <p:cNvPr id="9" name="header-4">
            <a:extLst>
              <a:ext uri="{FF2B5EF4-FFF2-40B4-BE49-F238E27FC236}">
                <a16:creationId xmlns:a16="http://schemas.microsoft.com/office/drawing/2014/main" id="{2885F5FB-09CB-4054-8CF2-5F3209F36867}"/>
              </a:ext>
            </a:extLst>
          </p:cNvPr>
          <p:cNvSpPr>
            <a:spLocks noGrp="1"/>
          </p:cNvSpPr>
          <p:nvPr/>
        </p:nvSpPr>
        <p:spPr>
          <a:xfrm>
            <a:off x="3705225" y="933450"/>
            <a:ext cx="7810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SMEM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 Blk</a:t>
            </a:r>
          </a:p>
        </p:txBody>
      </p:sp>
      <p:sp>
        <p:nvSpPr>
          <p:cNvPr id="10" name="header-5">
            <a:extLst>
              <a:ext uri="{FF2B5EF4-FFF2-40B4-BE49-F238E27FC236}">
                <a16:creationId xmlns:a16="http://schemas.microsoft.com/office/drawing/2014/main" id="{590ED466-608A-4236-987A-60397F71FF1F}"/>
              </a:ext>
            </a:extLst>
          </p:cNvPr>
          <p:cNvSpPr>
            <a:spLocks noGrp="1"/>
          </p:cNvSpPr>
          <p:nvPr/>
        </p:nvSpPr>
        <p:spPr>
          <a:xfrm>
            <a:off x="4486275" y="933450"/>
            <a:ext cx="10858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Occupancy</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理论 / 实际</a:t>
            </a:r>
          </a:p>
        </p:txBody>
      </p:sp>
      <p:sp>
        <p:nvSpPr>
          <p:cNvPr id="11" name="header-6">
            <a:extLst>
              <a:ext uri="{FF2B5EF4-FFF2-40B4-BE49-F238E27FC236}">
                <a16:creationId xmlns:a16="http://schemas.microsoft.com/office/drawing/2014/main" id="{282EF957-9EBF-41FD-B126-BAB1D8EF7037}"/>
              </a:ext>
            </a:extLst>
          </p:cNvPr>
          <p:cNvSpPr>
            <a:spLocks noGrp="1"/>
          </p:cNvSpPr>
          <p:nvPr/>
        </p:nvSpPr>
        <p:spPr>
          <a:xfrm>
            <a:off x="5572125" y="933450"/>
            <a:ext cx="8763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DRAM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吞吐</a:t>
            </a:r>
          </a:p>
        </p:txBody>
      </p:sp>
      <p:sp>
        <p:nvSpPr>
          <p:cNvPr id="12" name="header-7">
            <a:extLst>
              <a:ext uri="{FF2B5EF4-FFF2-40B4-BE49-F238E27FC236}">
                <a16:creationId xmlns:a16="http://schemas.microsoft.com/office/drawing/2014/main" id="{76F01B19-98CF-4A4E-8820-CBBB94C13E57}"/>
              </a:ext>
            </a:extLst>
          </p:cNvPr>
          <p:cNvSpPr>
            <a:spLocks noGrp="1"/>
          </p:cNvSpPr>
          <p:nvPr/>
        </p:nvSpPr>
        <p:spPr>
          <a:xfrm>
            <a:off x="6448425" y="933450"/>
            <a:ext cx="7239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计算</a:t>
            </a:r>
          </a:p>
        </p:txBody>
      </p:sp>
      <p:sp>
        <p:nvSpPr>
          <p:cNvPr id="13" name="header-8">
            <a:extLst>
              <a:ext uri="{FF2B5EF4-FFF2-40B4-BE49-F238E27FC236}">
                <a16:creationId xmlns:a16="http://schemas.microsoft.com/office/drawing/2014/main" id="{AB2255FC-FAA5-4407-83FA-6C5454D2D796}"/>
              </a:ext>
            </a:extLst>
          </p:cNvPr>
          <p:cNvSpPr>
            <a:spLocks noGrp="1"/>
          </p:cNvSpPr>
          <p:nvPr/>
        </p:nvSpPr>
        <p:spPr>
          <a:xfrm>
            <a:off x="7172325" y="933450"/>
            <a:ext cx="25717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88" b="1">
                <a:solidFill>
                  <a:srgbClr val="FFFFFF"/>
                </a:solidFill>
                <a:latin typeface="Microsoft YaHei"/>
                <a:ea typeface="Microsoft YaHei"/>
                <a:cs typeface="Microsoft YaHei"/>
              </a:defRPr>
            </a:pPr>
            <a:r>
              <a:rPr sz="788" b="1">
                <a:solidFill>
                  <a:srgbClr val="FFFFFF"/>
                </a:solidFill>
                <a:latin typeface="Microsoft YaHei"/>
                <a:ea typeface="Microsoft YaHei"/>
                <a:cs typeface="Microsoft YaHei"/>
              </a:rPr>
              <a:t>关键信号 / 停顿原因</a:t>
            </a:r>
          </a:p>
        </p:txBody>
      </p:sp>
      <p:sp>
        <p:nvSpPr>
          <p:cNvPr id="14" name="header-9">
            <a:extLst>
              <a:ext uri="{FF2B5EF4-FFF2-40B4-BE49-F238E27FC236}">
                <a16:creationId xmlns:a16="http://schemas.microsoft.com/office/drawing/2014/main" id="{EF14FFC0-A087-4864-89F5-2A2861A964E6}"/>
              </a:ext>
            </a:extLst>
          </p:cNvPr>
          <p:cNvSpPr>
            <a:spLocks noGrp="1"/>
          </p:cNvSpPr>
          <p:nvPr/>
        </p:nvSpPr>
        <p:spPr>
          <a:xfrm>
            <a:off x="9744075" y="933450"/>
            <a:ext cx="20669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88" b="1">
                <a:solidFill>
                  <a:srgbClr val="FFFFFF"/>
                </a:solidFill>
                <a:latin typeface="Microsoft YaHei"/>
                <a:ea typeface="Microsoft YaHei"/>
                <a:cs typeface="Microsoft YaHei"/>
              </a:defRPr>
            </a:pPr>
            <a:r>
              <a:rPr sz="788" b="1">
                <a:solidFill>
                  <a:srgbClr val="FFFFFF"/>
                </a:solidFill>
                <a:latin typeface="Microsoft YaHei"/>
                <a:ea typeface="Microsoft YaHei"/>
                <a:cs typeface="Microsoft YaHei"/>
              </a:rPr>
              <a:t>最终瓶颈</a:t>
            </a:r>
          </a:p>
        </p:txBody>
      </p:sp>
      <p:sp>
        <p:nvSpPr>
          <p:cNvPr id="15" name="cell-0-0">
            <a:extLst>
              <a:ext uri="{FF2B5EF4-FFF2-40B4-BE49-F238E27FC236}">
                <a16:creationId xmlns:a16="http://schemas.microsoft.com/office/drawing/2014/main" id="{9873698F-451D-4BA7-941F-7C0CCF2C2E5F}"/>
              </a:ext>
            </a:extLst>
          </p:cNvPr>
          <p:cNvSpPr>
            <a:spLocks noGrp="1"/>
          </p:cNvSpPr>
          <p:nvPr/>
        </p:nvSpPr>
        <p:spPr>
          <a:xfrm>
            <a:off x="381000" y="12382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softmax</a:t>
            </a:r>
          </a:p>
        </p:txBody>
      </p:sp>
      <p:sp>
        <p:nvSpPr>
          <p:cNvPr id="16" name="cell-0-1">
            <a:extLst>
              <a:ext uri="{FF2B5EF4-FFF2-40B4-BE49-F238E27FC236}">
                <a16:creationId xmlns:a16="http://schemas.microsoft.com/office/drawing/2014/main" id="{90537101-8B8C-4977-9DE3-AEA1B37B26BE}"/>
              </a:ext>
            </a:extLst>
          </p:cNvPr>
          <p:cNvSpPr>
            <a:spLocks noGrp="1"/>
          </p:cNvSpPr>
          <p:nvPr/>
        </p:nvSpPr>
        <p:spPr>
          <a:xfrm>
            <a:off x="1066800" y="12382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BLOCK_M=1 · nw2 · ns2</a:t>
            </a:r>
          </a:p>
        </p:txBody>
      </p:sp>
      <p:sp>
        <p:nvSpPr>
          <p:cNvPr id="17" name="cell-0-2">
            <a:extLst>
              <a:ext uri="{FF2B5EF4-FFF2-40B4-BE49-F238E27FC236}">
                <a16:creationId xmlns:a16="http://schemas.microsoft.com/office/drawing/2014/main" id="{00A76B67-46D4-46E0-815D-F599F047A9AD}"/>
              </a:ext>
            </a:extLst>
          </p:cNvPr>
          <p:cNvSpPr>
            <a:spLocks noGrp="1"/>
          </p:cNvSpPr>
          <p:nvPr/>
        </p:nvSpPr>
        <p:spPr>
          <a:xfrm>
            <a:off x="2714625" y="12382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108</a:t>
            </a:r>
          </a:p>
        </p:txBody>
      </p:sp>
      <p:sp>
        <p:nvSpPr>
          <p:cNvPr id="18" name="cell-0-3">
            <a:extLst>
              <a:ext uri="{FF2B5EF4-FFF2-40B4-BE49-F238E27FC236}">
                <a16:creationId xmlns:a16="http://schemas.microsoft.com/office/drawing/2014/main" id="{4A58A62D-D39F-41B8-BCC7-CF30E800E1EA}"/>
              </a:ext>
            </a:extLst>
          </p:cNvPr>
          <p:cNvSpPr>
            <a:spLocks noGrp="1"/>
          </p:cNvSpPr>
          <p:nvPr/>
        </p:nvSpPr>
        <p:spPr>
          <a:xfrm>
            <a:off x="3228975" y="12382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19" name="cell-0-4">
            <a:extLst>
              <a:ext uri="{FF2B5EF4-FFF2-40B4-BE49-F238E27FC236}">
                <a16:creationId xmlns:a16="http://schemas.microsoft.com/office/drawing/2014/main" id="{8BF6F163-205B-4811-9B46-3E3F065E5908}"/>
              </a:ext>
            </a:extLst>
          </p:cNvPr>
          <p:cNvSpPr>
            <a:spLocks noGrp="1"/>
          </p:cNvSpPr>
          <p:nvPr/>
        </p:nvSpPr>
        <p:spPr>
          <a:xfrm>
            <a:off x="3705225" y="12382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a:t>
            </a:r>
          </a:p>
        </p:txBody>
      </p:sp>
      <p:sp>
        <p:nvSpPr>
          <p:cNvPr id="20" name="cell-0-5">
            <a:extLst>
              <a:ext uri="{FF2B5EF4-FFF2-40B4-BE49-F238E27FC236}">
                <a16:creationId xmlns:a16="http://schemas.microsoft.com/office/drawing/2014/main" id="{566F0812-88F2-4A70-9F2F-78FAD8DDCEBB}"/>
              </a:ext>
            </a:extLst>
          </p:cNvPr>
          <p:cNvSpPr>
            <a:spLocks noGrp="1"/>
          </p:cNvSpPr>
          <p:nvPr/>
        </p:nvSpPr>
        <p:spPr>
          <a:xfrm>
            <a:off x="4486275" y="12382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33.33% /</a:t>
            </a:r>
          </a:p>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31.30%</a:t>
            </a:r>
          </a:p>
        </p:txBody>
      </p:sp>
      <p:sp>
        <p:nvSpPr>
          <p:cNvPr id="21" name="cell-0-6">
            <a:extLst>
              <a:ext uri="{FF2B5EF4-FFF2-40B4-BE49-F238E27FC236}">
                <a16:creationId xmlns:a16="http://schemas.microsoft.com/office/drawing/2014/main" id="{9AD2B288-01C8-4A57-837D-3ECE4E450B4D}"/>
              </a:ext>
            </a:extLst>
          </p:cNvPr>
          <p:cNvSpPr>
            <a:spLocks noGrp="1"/>
          </p:cNvSpPr>
          <p:nvPr/>
        </p:nvSpPr>
        <p:spPr>
          <a:xfrm>
            <a:off x="5572125" y="12382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91.48%</a:t>
            </a:r>
          </a:p>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830 GB/s</a:t>
            </a:r>
          </a:p>
        </p:txBody>
      </p:sp>
      <p:sp>
        <p:nvSpPr>
          <p:cNvPr id="22" name="cell-0-7">
            <a:extLst>
              <a:ext uri="{FF2B5EF4-FFF2-40B4-BE49-F238E27FC236}">
                <a16:creationId xmlns:a16="http://schemas.microsoft.com/office/drawing/2014/main" id="{231B0411-2809-4719-A14E-EFB18D25F573}"/>
              </a:ext>
            </a:extLst>
          </p:cNvPr>
          <p:cNvSpPr>
            <a:spLocks noGrp="1"/>
          </p:cNvSpPr>
          <p:nvPr/>
        </p:nvSpPr>
        <p:spPr>
          <a:xfrm>
            <a:off x="6448425" y="12382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23" name="cell-0-8">
            <a:extLst>
              <a:ext uri="{FF2B5EF4-FFF2-40B4-BE49-F238E27FC236}">
                <a16:creationId xmlns:a16="http://schemas.microsoft.com/office/drawing/2014/main" id="{E6D8064A-D7EE-456B-B000-5DD0C4927EE6}"/>
              </a:ext>
            </a:extLst>
          </p:cNvPr>
          <p:cNvSpPr>
            <a:spLocks noGrp="1"/>
          </p:cNvSpPr>
          <p:nvPr/>
        </p:nvSpPr>
        <p:spPr>
          <a:xfrm>
            <a:off x="7172325" y="12382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搬运 = 理论下限</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tl.load 已合并</a:t>
            </a:r>
          </a:p>
        </p:txBody>
      </p:sp>
      <p:sp>
        <p:nvSpPr>
          <p:cNvPr id="24" name="cell-0-9">
            <a:extLst>
              <a:ext uri="{FF2B5EF4-FFF2-40B4-BE49-F238E27FC236}">
                <a16:creationId xmlns:a16="http://schemas.microsoft.com/office/drawing/2014/main" id="{1F9367BE-4137-42B1-BD04-8436240FE44F}"/>
              </a:ext>
            </a:extLst>
          </p:cNvPr>
          <p:cNvSpPr>
            <a:spLocks noGrp="1"/>
          </p:cNvSpPr>
          <p:nvPr/>
        </p:nvSpPr>
        <p:spPr>
          <a:xfrm>
            <a:off x="9744075" y="12382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带宽饱和</a:t>
            </a:r>
          </a:p>
        </p:txBody>
      </p:sp>
      <p:sp>
        <p:nvSpPr>
          <p:cNvPr id="25" name="cell-1-0">
            <a:extLst>
              <a:ext uri="{FF2B5EF4-FFF2-40B4-BE49-F238E27FC236}">
                <a16:creationId xmlns:a16="http://schemas.microsoft.com/office/drawing/2014/main" id="{C1BF6272-D370-4292-BDE0-7A4CC5E4446E}"/>
              </a:ext>
            </a:extLst>
          </p:cNvPr>
          <p:cNvSpPr>
            <a:spLocks noGrp="1"/>
          </p:cNvSpPr>
          <p:nvPr/>
        </p:nvSpPr>
        <p:spPr>
          <a:xfrm>
            <a:off x="381000" y="17526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softmax</a:t>
            </a:r>
          </a:p>
        </p:txBody>
      </p:sp>
      <p:sp>
        <p:nvSpPr>
          <p:cNvPr id="26" name="cell-1-1">
            <a:extLst>
              <a:ext uri="{FF2B5EF4-FFF2-40B4-BE49-F238E27FC236}">
                <a16:creationId xmlns:a16="http://schemas.microsoft.com/office/drawing/2014/main" id="{06532E27-3E9F-42FC-8DCD-853DB94C615F}"/>
              </a:ext>
            </a:extLst>
          </p:cNvPr>
          <p:cNvSpPr>
            <a:spLocks noGrp="1"/>
          </p:cNvSpPr>
          <p:nvPr/>
        </p:nvSpPr>
        <p:spPr>
          <a:xfrm>
            <a:off x="1066800" y="17526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b512 · 32 KB dyn smem</a:t>
            </a:r>
          </a:p>
        </p:txBody>
      </p:sp>
      <p:sp>
        <p:nvSpPr>
          <p:cNvPr id="27" name="cell-1-2">
            <a:extLst>
              <a:ext uri="{FF2B5EF4-FFF2-40B4-BE49-F238E27FC236}">
                <a16:creationId xmlns:a16="http://schemas.microsoft.com/office/drawing/2014/main" id="{7BB83CDA-4705-455E-B181-BCB348E20A51}"/>
              </a:ext>
            </a:extLst>
          </p:cNvPr>
          <p:cNvSpPr>
            <a:spLocks noGrp="1"/>
          </p:cNvSpPr>
          <p:nvPr/>
        </p:nvSpPr>
        <p:spPr>
          <a:xfrm>
            <a:off x="2714625" y="17526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25</a:t>
            </a:r>
          </a:p>
        </p:txBody>
      </p:sp>
      <p:sp>
        <p:nvSpPr>
          <p:cNvPr id="28" name="cell-1-3">
            <a:extLst>
              <a:ext uri="{FF2B5EF4-FFF2-40B4-BE49-F238E27FC236}">
                <a16:creationId xmlns:a16="http://schemas.microsoft.com/office/drawing/2014/main" id="{4CC3A6B2-DDAE-4DB3-8C52-DC41FB3B1FB9}"/>
              </a:ext>
            </a:extLst>
          </p:cNvPr>
          <p:cNvSpPr>
            <a:spLocks noGrp="1"/>
          </p:cNvSpPr>
          <p:nvPr/>
        </p:nvSpPr>
        <p:spPr>
          <a:xfrm>
            <a:off x="3228975" y="17526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29" name="cell-1-4">
            <a:extLst>
              <a:ext uri="{FF2B5EF4-FFF2-40B4-BE49-F238E27FC236}">
                <a16:creationId xmlns:a16="http://schemas.microsoft.com/office/drawing/2014/main" id="{A186A825-2F43-4002-8FE8-0E8E9A6E20CF}"/>
              </a:ext>
            </a:extLst>
          </p:cNvPr>
          <p:cNvSpPr>
            <a:spLocks noGrp="1"/>
          </p:cNvSpPr>
          <p:nvPr/>
        </p:nvSpPr>
        <p:spPr>
          <a:xfrm>
            <a:off x="3705225" y="17526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144 B +</a:t>
            </a:r>
          </a:p>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32 KB</a:t>
            </a:r>
          </a:p>
        </p:txBody>
      </p:sp>
      <p:sp>
        <p:nvSpPr>
          <p:cNvPr id="30" name="cell-1-5">
            <a:extLst>
              <a:ext uri="{FF2B5EF4-FFF2-40B4-BE49-F238E27FC236}">
                <a16:creationId xmlns:a16="http://schemas.microsoft.com/office/drawing/2014/main" id="{E60B85B8-CD63-4C4C-BE98-F0E9A3F01FCC}"/>
              </a:ext>
            </a:extLst>
          </p:cNvPr>
          <p:cNvSpPr>
            <a:spLocks noGrp="1"/>
          </p:cNvSpPr>
          <p:nvPr/>
        </p:nvSpPr>
        <p:spPr>
          <a:xfrm>
            <a:off x="4486275" y="17526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100%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96.51%</a:t>
            </a:r>
          </a:p>
        </p:txBody>
      </p:sp>
      <p:sp>
        <p:nvSpPr>
          <p:cNvPr id="31" name="cell-1-6">
            <a:extLst>
              <a:ext uri="{FF2B5EF4-FFF2-40B4-BE49-F238E27FC236}">
                <a16:creationId xmlns:a16="http://schemas.microsoft.com/office/drawing/2014/main" id="{3019DCF1-67E7-4E5A-A0AE-C36E58D1152B}"/>
              </a:ext>
            </a:extLst>
          </p:cNvPr>
          <p:cNvSpPr>
            <a:spLocks noGrp="1"/>
          </p:cNvSpPr>
          <p:nvPr/>
        </p:nvSpPr>
        <p:spPr>
          <a:xfrm>
            <a:off x="5572125" y="17526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90.24%</a:t>
            </a:r>
          </a:p>
        </p:txBody>
      </p:sp>
      <p:sp>
        <p:nvSpPr>
          <p:cNvPr id="32" name="cell-1-7">
            <a:extLst>
              <a:ext uri="{FF2B5EF4-FFF2-40B4-BE49-F238E27FC236}">
                <a16:creationId xmlns:a16="http://schemas.microsoft.com/office/drawing/2014/main" id="{D3E25DE2-CC86-4086-AF4B-7328D74F8E4E}"/>
              </a:ext>
            </a:extLst>
          </p:cNvPr>
          <p:cNvSpPr>
            <a:spLocks noGrp="1"/>
          </p:cNvSpPr>
          <p:nvPr/>
        </p:nvSpPr>
        <p:spPr>
          <a:xfrm>
            <a:off x="6448425" y="17526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38.66%</a:t>
            </a:r>
          </a:p>
        </p:txBody>
      </p:sp>
      <p:sp>
        <p:nvSpPr>
          <p:cNvPr id="33" name="cell-1-8">
            <a:extLst>
              <a:ext uri="{FF2B5EF4-FFF2-40B4-BE49-F238E27FC236}">
                <a16:creationId xmlns:a16="http://schemas.microsoft.com/office/drawing/2014/main" id="{2255E30D-B4CF-459F-9D82-86E4C3905E77}"/>
              </a:ext>
            </a:extLst>
          </p:cNvPr>
          <p:cNvSpPr>
            <a:spLocks noGrp="1"/>
          </p:cNvSpPr>
          <p:nvPr/>
        </p:nvSpPr>
        <p:spPr>
          <a:xfrm>
            <a:off x="7172325" y="17526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long_scoreboard 17.08 warps / issue</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L1 完美合并</a:t>
            </a:r>
          </a:p>
        </p:txBody>
      </p:sp>
      <p:sp>
        <p:nvSpPr>
          <p:cNvPr id="34" name="cell-1-9">
            <a:extLst>
              <a:ext uri="{FF2B5EF4-FFF2-40B4-BE49-F238E27FC236}">
                <a16:creationId xmlns:a16="http://schemas.microsoft.com/office/drawing/2014/main" id="{72401071-B264-46B0-96DA-9EA544D7A677}"/>
              </a:ext>
            </a:extLst>
          </p:cNvPr>
          <p:cNvSpPr>
            <a:spLocks noGrp="1"/>
          </p:cNvSpPr>
          <p:nvPr/>
        </p:nvSpPr>
        <p:spPr>
          <a:xfrm>
            <a:off x="9744075" y="17526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 /</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内存延迟受限</a:t>
            </a:r>
          </a:p>
        </p:txBody>
      </p:sp>
      <p:sp>
        <p:nvSpPr>
          <p:cNvPr id="35" name="cell-2-0">
            <a:extLst>
              <a:ext uri="{FF2B5EF4-FFF2-40B4-BE49-F238E27FC236}">
                <a16:creationId xmlns:a16="http://schemas.microsoft.com/office/drawing/2014/main" id="{1BEE2FD9-B1BE-4B7E-895B-927A441F8B0E}"/>
              </a:ext>
            </a:extLst>
          </p:cNvPr>
          <p:cNvSpPr>
            <a:spLocks noGrp="1"/>
          </p:cNvSpPr>
          <p:nvPr/>
        </p:nvSpPr>
        <p:spPr>
          <a:xfrm>
            <a:off x="381000" y="22669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layernorm</a:t>
            </a:r>
          </a:p>
        </p:txBody>
      </p:sp>
      <p:sp>
        <p:nvSpPr>
          <p:cNvPr id="36" name="cell-2-1">
            <a:extLst>
              <a:ext uri="{FF2B5EF4-FFF2-40B4-BE49-F238E27FC236}">
                <a16:creationId xmlns:a16="http://schemas.microsoft.com/office/drawing/2014/main" id="{17A45521-3B57-4786-B54E-D2F0FEB2049C}"/>
              </a:ext>
            </a:extLst>
          </p:cNvPr>
          <p:cNvSpPr>
            <a:spLocks noGrp="1"/>
          </p:cNvSpPr>
          <p:nvPr/>
        </p:nvSpPr>
        <p:spPr>
          <a:xfrm>
            <a:off x="1066800" y="22669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BLOCK_BS=4 · nw8 · ns2</a:t>
            </a:r>
          </a:p>
        </p:txBody>
      </p:sp>
      <p:sp>
        <p:nvSpPr>
          <p:cNvPr id="37" name="cell-2-2">
            <a:extLst>
              <a:ext uri="{FF2B5EF4-FFF2-40B4-BE49-F238E27FC236}">
                <a16:creationId xmlns:a16="http://schemas.microsoft.com/office/drawing/2014/main" id="{2F18FFF1-9246-45DA-84BE-325856EE6A95}"/>
              </a:ext>
            </a:extLst>
          </p:cNvPr>
          <p:cNvSpPr>
            <a:spLocks noGrp="1"/>
          </p:cNvSpPr>
          <p:nvPr/>
        </p:nvSpPr>
        <p:spPr>
          <a:xfrm>
            <a:off x="2714625" y="22669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40</a:t>
            </a:r>
          </a:p>
        </p:txBody>
      </p:sp>
      <p:sp>
        <p:nvSpPr>
          <p:cNvPr id="38" name="cell-2-3">
            <a:extLst>
              <a:ext uri="{FF2B5EF4-FFF2-40B4-BE49-F238E27FC236}">
                <a16:creationId xmlns:a16="http://schemas.microsoft.com/office/drawing/2014/main" id="{030D085D-8DFE-4DDA-B765-5FA1C534B69D}"/>
              </a:ext>
            </a:extLst>
          </p:cNvPr>
          <p:cNvSpPr>
            <a:spLocks noGrp="1"/>
          </p:cNvSpPr>
          <p:nvPr/>
        </p:nvSpPr>
        <p:spPr>
          <a:xfrm>
            <a:off x="3228975" y="22669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39" name="cell-2-4">
            <a:extLst>
              <a:ext uri="{FF2B5EF4-FFF2-40B4-BE49-F238E27FC236}">
                <a16:creationId xmlns:a16="http://schemas.microsoft.com/office/drawing/2014/main" id="{07CEA09F-81DD-467C-B674-5F688A75A840}"/>
              </a:ext>
            </a:extLst>
          </p:cNvPr>
          <p:cNvSpPr>
            <a:spLocks noGrp="1"/>
          </p:cNvSpPr>
          <p:nvPr/>
        </p:nvSpPr>
        <p:spPr>
          <a:xfrm>
            <a:off x="3705225" y="22669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128 B</a:t>
            </a:r>
          </a:p>
        </p:txBody>
      </p:sp>
      <p:sp>
        <p:nvSpPr>
          <p:cNvPr id="40" name="cell-2-5">
            <a:extLst>
              <a:ext uri="{FF2B5EF4-FFF2-40B4-BE49-F238E27FC236}">
                <a16:creationId xmlns:a16="http://schemas.microsoft.com/office/drawing/2014/main" id="{E7365E46-D93D-482F-AAB8-20D74B0CDD80}"/>
              </a:ext>
            </a:extLst>
          </p:cNvPr>
          <p:cNvSpPr>
            <a:spLocks noGrp="1"/>
          </p:cNvSpPr>
          <p:nvPr/>
        </p:nvSpPr>
        <p:spPr>
          <a:xfrm>
            <a:off x="4486275" y="22669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100%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91.86%</a:t>
            </a:r>
          </a:p>
        </p:txBody>
      </p:sp>
      <p:sp>
        <p:nvSpPr>
          <p:cNvPr id="41" name="cell-2-6">
            <a:extLst>
              <a:ext uri="{FF2B5EF4-FFF2-40B4-BE49-F238E27FC236}">
                <a16:creationId xmlns:a16="http://schemas.microsoft.com/office/drawing/2014/main" id="{B2C5A2A7-A1CC-45F7-B89D-0241C23BC34D}"/>
              </a:ext>
            </a:extLst>
          </p:cNvPr>
          <p:cNvSpPr>
            <a:spLocks noGrp="1"/>
          </p:cNvSpPr>
          <p:nvPr/>
        </p:nvSpPr>
        <p:spPr>
          <a:xfrm>
            <a:off x="5572125" y="22669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80.61%</a:t>
            </a:r>
          </a:p>
        </p:txBody>
      </p:sp>
      <p:sp>
        <p:nvSpPr>
          <p:cNvPr id="42" name="cell-2-7">
            <a:extLst>
              <a:ext uri="{FF2B5EF4-FFF2-40B4-BE49-F238E27FC236}">
                <a16:creationId xmlns:a16="http://schemas.microsoft.com/office/drawing/2014/main" id="{6218232E-9E76-4893-B2C6-FABA76A45E6E}"/>
              </a:ext>
            </a:extLst>
          </p:cNvPr>
          <p:cNvSpPr>
            <a:spLocks noGrp="1"/>
          </p:cNvSpPr>
          <p:nvPr/>
        </p:nvSpPr>
        <p:spPr>
          <a:xfrm>
            <a:off x="6448425" y="22669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35.38%</a:t>
            </a:r>
          </a:p>
        </p:txBody>
      </p:sp>
      <p:sp>
        <p:nvSpPr>
          <p:cNvPr id="43" name="cell-2-8">
            <a:extLst>
              <a:ext uri="{FF2B5EF4-FFF2-40B4-BE49-F238E27FC236}">
                <a16:creationId xmlns:a16="http://schemas.microsoft.com/office/drawing/2014/main" id="{C086DA43-8751-4931-83AA-6A420708EC60}"/>
              </a:ext>
            </a:extLst>
          </p:cNvPr>
          <p:cNvSpPr>
            <a:spLocks noGrp="1"/>
          </p:cNvSpPr>
          <p:nvPr/>
        </p:nvSpPr>
        <p:spPr>
          <a:xfrm>
            <a:off x="7172325" y="22669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L1 命中 74.99%</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L2 46.17% · ALU 23.0%</a:t>
            </a:r>
          </a:p>
        </p:txBody>
      </p:sp>
      <p:sp>
        <p:nvSpPr>
          <p:cNvPr id="44" name="cell-2-9">
            <a:extLst>
              <a:ext uri="{FF2B5EF4-FFF2-40B4-BE49-F238E27FC236}">
                <a16:creationId xmlns:a16="http://schemas.microsoft.com/office/drawing/2014/main" id="{70E944EE-D1DA-44E4-ABF2-50C607BA7EC9}"/>
              </a:ext>
            </a:extLst>
          </p:cNvPr>
          <p:cNvSpPr>
            <a:spLocks noGrp="1"/>
          </p:cNvSpPr>
          <p:nvPr/>
        </p:nvSpPr>
        <p:spPr>
          <a:xfrm>
            <a:off x="9744075" y="22669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带宽受限</a:t>
            </a:r>
          </a:p>
        </p:txBody>
      </p:sp>
      <p:sp>
        <p:nvSpPr>
          <p:cNvPr id="45" name="cell-3-0">
            <a:extLst>
              <a:ext uri="{FF2B5EF4-FFF2-40B4-BE49-F238E27FC236}">
                <a16:creationId xmlns:a16="http://schemas.microsoft.com/office/drawing/2014/main" id="{713D55D3-772B-43B8-ABF0-9E9B45EA5992}"/>
              </a:ext>
            </a:extLst>
          </p:cNvPr>
          <p:cNvSpPr>
            <a:spLocks noGrp="1"/>
          </p:cNvSpPr>
          <p:nvPr/>
        </p:nvSpPr>
        <p:spPr>
          <a:xfrm>
            <a:off x="381000" y="27813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layernorm</a:t>
            </a:r>
          </a:p>
        </p:txBody>
      </p:sp>
      <p:sp>
        <p:nvSpPr>
          <p:cNvPr id="46" name="cell-3-1">
            <a:extLst>
              <a:ext uri="{FF2B5EF4-FFF2-40B4-BE49-F238E27FC236}">
                <a16:creationId xmlns:a16="http://schemas.microsoft.com/office/drawing/2014/main" id="{8102D16D-3F22-45AE-A502-F3B252A4AD51}"/>
              </a:ext>
            </a:extLst>
          </p:cNvPr>
          <p:cNvSpPr>
            <a:spLocks noGrp="1"/>
          </p:cNvSpPr>
          <p:nvPr/>
        </p:nvSpPr>
        <p:spPr>
          <a:xfrm>
            <a:off x="1066800" y="27813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b512 · 2 elem / thd</a:t>
            </a:r>
          </a:p>
        </p:txBody>
      </p:sp>
      <p:sp>
        <p:nvSpPr>
          <p:cNvPr id="47" name="cell-3-2">
            <a:extLst>
              <a:ext uri="{FF2B5EF4-FFF2-40B4-BE49-F238E27FC236}">
                <a16:creationId xmlns:a16="http://schemas.microsoft.com/office/drawing/2014/main" id="{D6F25454-ECCE-4B95-A32D-218F94D27B72}"/>
              </a:ext>
            </a:extLst>
          </p:cNvPr>
          <p:cNvSpPr>
            <a:spLocks noGrp="1"/>
          </p:cNvSpPr>
          <p:nvPr/>
        </p:nvSpPr>
        <p:spPr>
          <a:xfrm>
            <a:off x="2714625" y="27813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25</a:t>
            </a:r>
          </a:p>
        </p:txBody>
      </p:sp>
      <p:sp>
        <p:nvSpPr>
          <p:cNvPr id="48" name="cell-3-3">
            <a:extLst>
              <a:ext uri="{FF2B5EF4-FFF2-40B4-BE49-F238E27FC236}">
                <a16:creationId xmlns:a16="http://schemas.microsoft.com/office/drawing/2014/main" id="{60E9FCEE-EC2B-471B-BD51-2EC6DB7E84EC}"/>
              </a:ext>
            </a:extLst>
          </p:cNvPr>
          <p:cNvSpPr>
            <a:spLocks noGrp="1"/>
          </p:cNvSpPr>
          <p:nvPr/>
        </p:nvSpPr>
        <p:spPr>
          <a:xfrm>
            <a:off x="3228975" y="27813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49" name="cell-3-4">
            <a:extLst>
              <a:ext uri="{FF2B5EF4-FFF2-40B4-BE49-F238E27FC236}">
                <a16:creationId xmlns:a16="http://schemas.microsoft.com/office/drawing/2014/main" id="{0A59876D-81D0-4D5C-859C-D51D35938065}"/>
              </a:ext>
            </a:extLst>
          </p:cNvPr>
          <p:cNvSpPr>
            <a:spLocks noGrp="1"/>
          </p:cNvSpPr>
          <p:nvPr/>
        </p:nvSpPr>
        <p:spPr>
          <a:xfrm>
            <a:off x="3705225" y="27813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72 B</a:t>
            </a:r>
          </a:p>
        </p:txBody>
      </p:sp>
      <p:sp>
        <p:nvSpPr>
          <p:cNvPr id="50" name="cell-3-5">
            <a:extLst>
              <a:ext uri="{FF2B5EF4-FFF2-40B4-BE49-F238E27FC236}">
                <a16:creationId xmlns:a16="http://schemas.microsoft.com/office/drawing/2014/main" id="{78E93316-5A22-407C-9CFC-F59D7EB6F32E}"/>
              </a:ext>
            </a:extLst>
          </p:cNvPr>
          <p:cNvSpPr>
            <a:spLocks noGrp="1"/>
          </p:cNvSpPr>
          <p:nvPr/>
        </p:nvSpPr>
        <p:spPr>
          <a:xfrm>
            <a:off x="4486275" y="27813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92.50%</a:t>
            </a:r>
          </a:p>
        </p:txBody>
      </p:sp>
      <p:sp>
        <p:nvSpPr>
          <p:cNvPr id="51" name="cell-3-6">
            <a:extLst>
              <a:ext uri="{FF2B5EF4-FFF2-40B4-BE49-F238E27FC236}">
                <a16:creationId xmlns:a16="http://schemas.microsoft.com/office/drawing/2014/main" id="{6429A530-F2EF-4012-BFF9-D6C92C71C51A}"/>
              </a:ext>
            </a:extLst>
          </p:cNvPr>
          <p:cNvSpPr>
            <a:spLocks noGrp="1"/>
          </p:cNvSpPr>
          <p:nvPr/>
        </p:nvSpPr>
        <p:spPr>
          <a:xfrm>
            <a:off x="5572125" y="27813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90.30%</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823 GB/s</a:t>
            </a:r>
          </a:p>
        </p:txBody>
      </p:sp>
      <p:sp>
        <p:nvSpPr>
          <p:cNvPr id="52" name="cell-3-7">
            <a:extLst>
              <a:ext uri="{FF2B5EF4-FFF2-40B4-BE49-F238E27FC236}">
                <a16:creationId xmlns:a16="http://schemas.microsoft.com/office/drawing/2014/main" id="{14016BA7-E3EF-44FD-A38B-300318C1B3E9}"/>
              </a:ext>
            </a:extLst>
          </p:cNvPr>
          <p:cNvSpPr>
            <a:spLocks noGrp="1"/>
          </p:cNvSpPr>
          <p:nvPr/>
        </p:nvSpPr>
        <p:spPr>
          <a:xfrm>
            <a:off x="6448425" y="27813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56.75%</a:t>
            </a:r>
          </a:p>
        </p:txBody>
      </p:sp>
      <p:sp>
        <p:nvSpPr>
          <p:cNvPr id="53" name="cell-3-8">
            <a:extLst>
              <a:ext uri="{FF2B5EF4-FFF2-40B4-BE49-F238E27FC236}">
                <a16:creationId xmlns:a16="http://schemas.microsoft.com/office/drawing/2014/main" id="{3506B176-3B2F-4666-AC70-137DE83DB5B6}"/>
              </a:ext>
            </a:extLst>
          </p:cNvPr>
          <p:cNvSpPr>
            <a:spLocks noGrp="1"/>
          </p:cNvSpPr>
          <p:nvPr/>
        </p:nvSpPr>
        <p:spPr>
          <a:xfrm>
            <a:off x="7172325" y="27813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Block Limit Warps = 3</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Barrier 34.2% + L1TEX 32.9%</a:t>
            </a:r>
          </a:p>
        </p:txBody>
      </p:sp>
      <p:sp>
        <p:nvSpPr>
          <p:cNvPr id="54" name="cell-3-9">
            <a:extLst>
              <a:ext uri="{FF2B5EF4-FFF2-40B4-BE49-F238E27FC236}">
                <a16:creationId xmlns:a16="http://schemas.microsoft.com/office/drawing/2014/main" id="{2850103E-3763-4F34-9618-2ED70BB7575C}"/>
              </a:ext>
            </a:extLst>
          </p:cNvPr>
          <p:cNvSpPr>
            <a:spLocks noGrp="1"/>
          </p:cNvSpPr>
          <p:nvPr/>
        </p:nvSpPr>
        <p:spPr>
          <a:xfrm>
            <a:off x="9744075" y="27813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带宽受限</a:t>
            </a:r>
          </a:p>
        </p:txBody>
      </p:sp>
      <p:sp>
        <p:nvSpPr>
          <p:cNvPr id="55" name="cell-4-0">
            <a:extLst>
              <a:ext uri="{FF2B5EF4-FFF2-40B4-BE49-F238E27FC236}">
                <a16:creationId xmlns:a16="http://schemas.microsoft.com/office/drawing/2014/main" id="{C5C0AB7C-AFC8-4E33-A52A-7D1CE2C324B5}"/>
              </a:ext>
            </a:extLst>
          </p:cNvPr>
          <p:cNvSpPr>
            <a:spLocks noGrp="1"/>
          </p:cNvSpPr>
          <p:nvPr/>
        </p:nvSpPr>
        <p:spPr>
          <a:xfrm>
            <a:off x="381000" y="32956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matmul</a:t>
            </a:r>
          </a:p>
        </p:txBody>
      </p:sp>
      <p:sp>
        <p:nvSpPr>
          <p:cNvPr id="56" name="cell-4-1">
            <a:extLst>
              <a:ext uri="{FF2B5EF4-FFF2-40B4-BE49-F238E27FC236}">
                <a16:creationId xmlns:a16="http://schemas.microsoft.com/office/drawing/2014/main" id="{B2C6617A-D931-448B-B8F4-B4BC205114BC}"/>
              </a:ext>
            </a:extLst>
          </p:cNvPr>
          <p:cNvSpPr>
            <a:spLocks noGrp="1"/>
          </p:cNvSpPr>
          <p:nvPr/>
        </p:nvSpPr>
        <p:spPr>
          <a:xfrm>
            <a:off x="1066800" y="32956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M128N256K32 · nw8 · ns3</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persistent</a:t>
            </a:r>
          </a:p>
        </p:txBody>
      </p:sp>
      <p:sp>
        <p:nvSpPr>
          <p:cNvPr id="57" name="cell-4-2">
            <a:extLst>
              <a:ext uri="{FF2B5EF4-FFF2-40B4-BE49-F238E27FC236}">
                <a16:creationId xmlns:a16="http://schemas.microsoft.com/office/drawing/2014/main" id="{6E12AE75-48AB-467E-A4D7-B3357EBCC490}"/>
              </a:ext>
            </a:extLst>
          </p:cNvPr>
          <p:cNvSpPr>
            <a:spLocks noGrp="1"/>
          </p:cNvSpPr>
          <p:nvPr/>
        </p:nvSpPr>
        <p:spPr>
          <a:xfrm>
            <a:off x="2714625" y="32956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255</a:t>
            </a:r>
          </a:p>
        </p:txBody>
      </p:sp>
      <p:sp>
        <p:nvSpPr>
          <p:cNvPr id="58" name="cell-4-3">
            <a:extLst>
              <a:ext uri="{FF2B5EF4-FFF2-40B4-BE49-F238E27FC236}">
                <a16:creationId xmlns:a16="http://schemas.microsoft.com/office/drawing/2014/main" id="{3E592776-AA24-47CB-8ADA-89A4ABDF4E49}"/>
              </a:ext>
            </a:extLst>
          </p:cNvPr>
          <p:cNvSpPr>
            <a:spLocks noGrp="1"/>
          </p:cNvSpPr>
          <p:nvPr/>
        </p:nvSpPr>
        <p:spPr>
          <a:xfrm>
            <a:off x="3228975" y="32956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116</a:t>
            </a:r>
          </a:p>
        </p:txBody>
      </p:sp>
      <p:sp>
        <p:nvSpPr>
          <p:cNvPr id="59" name="cell-4-4">
            <a:extLst>
              <a:ext uri="{FF2B5EF4-FFF2-40B4-BE49-F238E27FC236}">
                <a16:creationId xmlns:a16="http://schemas.microsoft.com/office/drawing/2014/main" id="{A6936B8E-CDD6-4548-B4AF-C42E22128FE7}"/>
              </a:ext>
            </a:extLst>
          </p:cNvPr>
          <p:cNvSpPr>
            <a:spLocks noGrp="1"/>
          </p:cNvSpPr>
          <p:nvPr/>
        </p:nvSpPr>
        <p:spPr>
          <a:xfrm>
            <a:off x="3705225" y="32956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a:t>
            </a:r>
          </a:p>
        </p:txBody>
      </p:sp>
      <p:sp>
        <p:nvSpPr>
          <p:cNvPr id="60" name="cell-4-5">
            <a:extLst>
              <a:ext uri="{FF2B5EF4-FFF2-40B4-BE49-F238E27FC236}">
                <a16:creationId xmlns:a16="http://schemas.microsoft.com/office/drawing/2014/main" id="{F4E5527E-FF22-4A85-8866-EE795C4C7D3C}"/>
              </a:ext>
            </a:extLst>
          </p:cNvPr>
          <p:cNvSpPr>
            <a:spLocks noGrp="1"/>
          </p:cNvSpPr>
          <p:nvPr/>
        </p:nvSpPr>
        <p:spPr>
          <a:xfrm>
            <a:off x="4486275" y="32956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~16.67%</a:t>
            </a:r>
          </a:p>
        </p:txBody>
      </p:sp>
      <p:sp>
        <p:nvSpPr>
          <p:cNvPr id="61" name="cell-4-6">
            <a:extLst>
              <a:ext uri="{FF2B5EF4-FFF2-40B4-BE49-F238E27FC236}">
                <a16:creationId xmlns:a16="http://schemas.microsoft.com/office/drawing/2014/main" id="{461AA3C3-8E8D-447F-8F7D-F28018061FF4}"/>
              </a:ext>
            </a:extLst>
          </p:cNvPr>
          <p:cNvSpPr>
            <a:spLocks noGrp="1"/>
          </p:cNvSpPr>
          <p:nvPr/>
        </p:nvSpPr>
        <p:spPr>
          <a:xfrm>
            <a:off x="5572125" y="32956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62" name="cell-4-7">
            <a:extLst>
              <a:ext uri="{FF2B5EF4-FFF2-40B4-BE49-F238E27FC236}">
                <a16:creationId xmlns:a16="http://schemas.microsoft.com/office/drawing/2014/main" id="{089ED8ED-BE1E-4433-B4AE-97927D460CAA}"/>
              </a:ext>
            </a:extLst>
          </p:cNvPr>
          <p:cNvSpPr>
            <a:spLocks noGrp="1"/>
          </p:cNvSpPr>
          <p:nvPr/>
        </p:nvSpPr>
        <p:spPr>
          <a:xfrm>
            <a:off x="6448425" y="32956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63" name="cell-4-8">
            <a:extLst>
              <a:ext uri="{FF2B5EF4-FFF2-40B4-BE49-F238E27FC236}">
                <a16:creationId xmlns:a16="http://schemas.microsoft.com/office/drawing/2014/main" id="{C7B66A30-7661-472B-B511-B328E8DAD7C0}"/>
              </a:ext>
            </a:extLst>
          </p:cNvPr>
          <p:cNvSpPr>
            <a:spLocks noGrp="1"/>
          </p:cNvSpPr>
          <p:nvPr/>
        </p:nvSpPr>
        <p:spPr>
          <a:xfrm>
            <a:off x="7172325" y="32956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1 block / SM</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~24.8% FP16 peak</a:t>
            </a:r>
          </a:p>
        </p:txBody>
      </p:sp>
      <p:sp>
        <p:nvSpPr>
          <p:cNvPr id="64" name="cell-4-9">
            <a:extLst>
              <a:ext uri="{FF2B5EF4-FFF2-40B4-BE49-F238E27FC236}">
                <a16:creationId xmlns:a16="http://schemas.microsoft.com/office/drawing/2014/main" id="{1F19A6F3-AB64-426A-8F4F-4D8BB5B582D9}"/>
              </a:ext>
            </a:extLst>
          </p:cNvPr>
          <p:cNvSpPr>
            <a:spLocks noGrp="1"/>
          </p:cNvSpPr>
          <p:nvPr/>
        </p:nvSpPr>
        <p:spPr>
          <a:xfrm>
            <a:off x="9744075" y="32956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寄存器 / 占用受限</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latency-bound</a:t>
            </a:r>
          </a:p>
        </p:txBody>
      </p:sp>
      <p:sp>
        <p:nvSpPr>
          <p:cNvPr id="65" name="cell-5-0">
            <a:extLst>
              <a:ext uri="{FF2B5EF4-FFF2-40B4-BE49-F238E27FC236}">
                <a16:creationId xmlns:a16="http://schemas.microsoft.com/office/drawing/2014/main" id="{72996964-93D7-4323-93CB-E64C1826DF36}"/>
              </a:ext>
            </a:extLst>
          </p:cNvPr>
          <p:cNvSpPr>
            <a:spLocks noGrp="1"/>
          </p:cNvSpPr>
          <p:nvPr/>
        </p:nvSpPr>
        <p:spPr>
          <a:xfrm>
            <a:off x="381000" y="38100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matmul</a:t>
            </a:r>
          </a:p>
        </p:txBody>
      </p:sp>
      <p:sp>
        <p:nvSpPr>
          <p:cNvPr id="66" name="cell-5-1">
            <a:extLst>
              <a:ext uri="{FF2B5EF4-FFF2-40B4-BE49-F238E27FC236}">
                <a16:creationId xmlns:a16="http://schemas.microsoft.com/office/drawing/2014/main" id="{FC1DA3AE-E71F-443B-AC25-1AEA4ECE47B8}"/>
              </a:ext>
            </a:extLst>
          </p:cNvPr>
          <p:cNvSpPr>
            <a:spLocks noGrp="1"/>
          </p:cNvSpPr>
          <p:nvPr/>
        </p:nvSpPr>
        <p:spPr>
          <a:xfrm>
            <a:off x="1066800" y="38100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WMMA TC · BK32</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grid 64 × 64</a:t>
            </a:r>
          </a:p>
        </p:txBody>
      </p:sp>
      <p:sp>
        <p:nvSpPr>
          <p:cNvPr id="67" name="cell-5-2">
            <a:extLst>
              <a:ext uri="{FF2B5EF4-FFF2-40B4-BE49-F238E27FC236}">
                <a16:creationId xmlns:a16="http://schemas.microsoft.com/office/drawing/2014/main" id="{21FBFB6F-6DA0-4EC4-8A78-61C2E13C3F10}"/>
              </a:ext>
            </a:extLst>
          </p:cNvPr>
          <p:cNvSpPr>
            <a:spLocks noGrp="1"/>
          </p:cNvSpPr>
          <p:nvPr/>
        </p:nvSpPr>
        <p:spPr>
          <a:xfrm>
            <a:off x="2714625" y="38100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128</a:t>
            </a:r>
          </a:p>
        </p:txBody>
      </p:sp>
      <p:sp>
        <p:nvSpPr>
          <p:cNvPr id="68" name="cell-5-3">
            <a:extLst>
              <a:ext uri="{FF2B5EF4-FFF2-40B4-BE49-F238E27FC236}">
                <a16:creationId xmlns:a16="http://schemas.microsoft.com/office/drawing/2014/main" id="{E476C587-865C-4944-A15A-5A9B4EF247A5}"/>
              </a:ext>
            </a:extLst>
          </p:cNvPr>
          <p:cNvSpPr>
            <a:spLocks noGrp="1"/>
          </p:cNvSpPr>
          <p:nvPr/>
        </p:nvSpPr>
        <p:spPr>
          <a:xfrm>
            <a:off x="3228975" y="38100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69" name="cell-5-4">
            <a:extLst>
              <a:ext uri="{FF2B5EF4-FFF2-40B4-BE49-F238E27FC236}">
                <a16:creationId xmlns:a16="http://schemas.microsoft.com/office/drawing/2014/main" id="{CE18194C-93C6-40DD-A5EE-FAE69C13C66E}"/>
              </a:ext>
            </a:extLst>
          </p:cNvPr>
          <p:cNvSpPr>
            <a:spLocks noGrp="1"/>
          </p:cNvSpPr>
          <p:nvPr/>
        </p:nvSpPr>
        <p:spPr>
          <a:xfrm>
            <a:off x="3705225" y="38100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24576 B</a:t>
            </a:r>
          </a:p>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24 KB</a:t>
            </a:r>
          </a:p>
        </p:txBody>
      </p:sp>
      <p:sp>
        <p:nvSpPr>
          <p:cNvPr id="70" name="cell-5-5">
            <a:extLst>
              <a:ext uri="{FF2B5EF4-FFF2-40B4-BE49-F238E27FC236}">
                <a16:creationId xmlns:a16="http://schemas.microsoft.com/office/drawing/2014/main" id="{E14CDC65-5921-431A-83F0-7FEBBB55C79C}"/>
              </a:ext>
            </a:extLst>
          </p:cNvPr>
          <p:cNvSpPr>
            <a:spLocks noGrp="1"/>
          </p:cNvSpPr>
          <p:nvPr/>
        </p:nvSpPr>
        <p:spPr>
          <a:xfrm>
            <a:off x="4486275" y="38100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 blocks / SM</a:t>
            </a:r>
          </a:p>
        </p:txBody>
      </p:sp>
      <p:sp>
        <p:nvSpPr>
          <p:cNvPr id="71" name="cell-5-6">
            <a:extLst>
              <a:ext uri="{FF2B5EF4-FFF2-40B4-BE49-F238E27FC236}">
                <a16:creationId xmlns:a16="http://schemas.microsoft.com/office/drawing/2014/main" id="{70AF3A32-E01B-4D20-8482-312EB94A4F90}"/>
              </a:ext>
            </a:extLst>
          </p:cNvPr>
          <p:cNvSpPr>
            <a:spLocks noGrp="1"/>
          </p:cNvSpPr>
          <p:nvPr/>
        </p:nvSpPr>
        <p:spPr>
          <a:xfrm>
            <a:off x="5572125" y="38100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~13.9%</a:t>
            </a:r>
          </a:p>
        </p:txBody>
      </p:sp>
      <p:sp>
        <p:nvSpPr>
          <p:cNvPr id="72" name="cell-5-7">
            <a:extLst>
              <a:ext uri="{FF2B5EF4-FFF2-40B4-BE49-F238E27FC236}">
                <a16:creationId xmlns:a16="http://schemas.microsoft.com/office/drawing/2014/main" id="{ECD4D89D-7676-404E-A4DC-39999D7E28BE}"/>
              </a:ext>
            </a:extLst>
          </p:cNvPr>
          <p:cNvSpPr>
            <a:spLocks noGrp="1"/>
          </p:cNvSpPr>
          <p:nvPr/>
        </p:nvSpPr>
        <p:spPr>
          <a:xfrm>
            <a:off x="6448425" y="38100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73" name="cell-5-8">
            <a:extLst>
              <a:ext uri="{FF2B5EF4-FFF2-40B4-BE49-F238E27FC236}">
                <a16:creationId xmlns:a16="http://schemas.microsoft.com/office/drawing/2014/main" id="{ECD392AA-8F67-439C-BD42-47F0255D8DF2}"/>
              </a:ext>
            </a:extLst>
          </p:cNvPr>
          <p:cNvSpPr>
            <a:spLocks noGrp="1"/>
          </p:cNvSpPr>
          <p:nvPr/>
        </p:nvSpPr>
        <p:spPr>
          <a:xfrm>
            <a:off x="7172325" y="38100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baseline Tensor Core 0% 空闲 → fmaf</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计算瓶颈</a:t>
            </a:r>
          </a:p>
        </p:txBody>
      </p:sp>
      <p:sp>
        <p:nvSpPr>
          <p:cNvPr id="74" name="cell-5-9">
            <a:extLst>
              <a:ext uri="{FF2B5EF4-FFF2-40B4-BE49-F238E27FC236}">
                <a16:creationId xmlns:a16="http://schemas.microsoft.com/office/drawing/2014/main" id="{763897E8-7DCB-4DC4-81C0-B3BD7414D17E}"/>
              </a:ext>
            </a:extLst>
          </p:cNvPr>
          <p:cNvSpPr>
            <a:spLocks noGrp="1"/>
          </p:cNvSpPr>
          <p:nvPr/>
        </p:nvSpPr>
        <p:spPr>
          <a:xfrm>
            <a:off x="9744075" y="38100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访存 / 算术强度受限</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 启用张量核</a:t>
            </a:r>
          </a:p>
        </p:txBody>
      </p:sp>
      <p:sp>
        <p:nvSpPr>
          <p:cNvPr id="75" name="softmax-separator">
            <a:extLst>
              <a:ext uri="{FF2B5EF4-FFF2-40B4-BE49-F238E27FC236}">
                <a16:creationId xmlns:a16="http://schemas.microsoft.com/office/drawing/2014/main" id="{12DD04AB-7FF3-4A0D-9EF3-A3FCA3288D85}"/>
              </a:ext>
            </a:extLst>
          </p:cNvPr>
          <p:cNvSpPr>
            <a:spLocks noGrp="1"/>
          </p:cNvSpPr>
          <p:nvPr/>
        </p:nvSpPr>
        <p:spPr>
          <a:xfrm>
            <a:off x="381000" y="2257425"/>
            <a:ext cx="11430000" cy="19050"/>
          </a:xfrm>
          <a:prstGeom prst="rect">
            <a:avLst/>
          </a:prstGeom>
          <a:solidFill>
            <a:srgbClr val="5A819B"/>
          </a:solidFill>
          <a:ln w="0">
            <a:noFill/>
            <a:prstDash val="solid"/>
          </a:ln>
        </p:spPr>
      </p:sp>
      <p:sp>
        <p:nvSpPr>
          <p:cNvPr id="76" name="layernorm-separator">
            <a:extLst>
              <a:ext uri="{FF2B5EF4-FFF2-40B4-BE49-F238E27FC236}">
                <a16:creationId xmlns:a16="http://schemas.microsoft.com/office/drawing/2014/main" id="{DFD9203D-D187-45A2-B814-F74F2E8EEE4F}"/>
              </a:ext>
            </a:extLst>
          </p:cNvPr>
          <p:cNvSpPr>
            <a:spLocks noGrp="1"/>
          </p:cNvSpPr>
          <p:nvPr/>
        </p:nvSpPr>
        <p:spPr>
          <a:xfrm>
            <a:off x="381000" y="3286125"/>
            <a:ext cx="11430000" cy="19050"/>
          </a:xfrm>
          <a:prstGeom prst="rect">
            <a:avLst/>
          </a:prstGeom>
          <a:solidFill>
            <a:srgbClr val="5A819B"/>
          </a:solidFill>
          <a:ln w="0">
            <a:noFill/>
            <a:prstDash val="solid"/>
          </a:ln>
        </p:spPr>
      </p:sp>
      <p:sp>
        <p:nvSpPr>
          <p:cNvPr id="77" name="table-left">
            <a:extLst>
              <a:ext uri="{FF2B5EF4-FFF2-40B4-BE49-F238E27FC236}">
                <a16:creationId xmlns:a16="http://schemas.microsoft.com/office/drawing/2014/main" id="{77FC1560-653B-48A1-9BD8-29B5ADA5D3DE}"/>
              </a:ext>
            </a:extLst>
          </p:cNvPr>
          <p:cNvSpPr>
            <a:spLocks noGrp="1"/>
          </p:cNvSpPr>
          <p:nvPr/>
        </p:nvSpPr>
        <p:spPr>
          <a:xfrm>
            <a:off x="381000" y="933450"/>
            <a:ext cx="9525" cy="3390900"/>
          </a:xfrm>
          <a:prstGeom prst="rect">
            <a:avLst/>
          </a:prstGeom>
          <a:solidFill>
            <a:srgbClr val="416B88"/>
          </a:solidFill>
          <a:ln w="0">
            <a:noFill/>
            <a:prstDash val="solid"/>
          </a:ln>
        </p:spPr>
      </p:sp>
      <p:sp>
        <p:nvSpPr>
          <p:cNvPr id="78" name="table-right">
            <a:extLst>
              <a:ext uri="{FF2B5EF4-FFF2-40B4-BE49-F238E27FC236}">
                <a16:creationId xmlns:a16="http://schemas.microsoft.com/office/drawing/2014/main" id="{FAC6FD28-7A09-4B4C-9070-5F3635C05903}"/>
              </a:ext>
            </a:extLst>
          </p:cNvPr>
          <p:cNvSpPr>
            <a:spLocks noGrp="1"/>
          </p:cNvSpPr>
          <p:nvPr/>
        </p:nvSpPr>
        <p:spPr>
          <a:xfrm>
            <a:off x="11801475" y="933450"/>
            <a:ext cx="9525" cy="3390900"/>
          </a:xfrm>
          <a:prstGeom prst="rect">
            <a:avLst/>
          </a:prstGeom>
          <a:solidFill>
            <a:srgbClr val="416B88"/>
          </a:solidFill>
          <a:ln w="0">
            <a:noFill/>
            <a:prstDash val="solid"/>
          </a:ln>
        </p:spPr>
      </p:sp>
      <p:sp>
        <p:nvSpPr>
          <p:cNvPr id="79" name="summary-bg">
            <a:extLst>
              <a:ext uri="{FF2B5EF4-FFF2-40B4-BE49-F238E27FC236}">
                <a16:creationId xmlns:a16="http://schemas.microsoft.com/office/drawing/2014/main" id="{7492B01D-CC1B-478E-A569-F38A7F2561A9}"/>
              </a:ext>
            </a:extLst>
          </p:cNvPr>
          <p:cNvSpPr>
            <a:spLocks noGrp="1"/>
          </p:cNvSpPr>
          <p:nvPr/>
        </p:nvSpPr>
        <p:spPr>
          <a:xfrm>
            <a:off x="381000" y="4543425"/>
            <a:ext cx="11430000" cy="1914525"/>
          </a:xfrm>
          <a:prstGeom prst="rect">
            <a:avLst/>
          </a:prstGeom>
          <a:solidFill>
            <a:srgbClr val="F1F3F5"/>
          </a:solidFill>
          <a:ln w="0">
            <a:noFill/>
            <a:prstDash val="solid"/>
          </a:ln>
        </p:spPr>
      </p:sp>
      <p:sp>
        <p:nvSpPr>
          <p:cNvPr id="80" name="summary-accent">
            <a:extLst>
              <a:ext uri="{FF2B5EF4-FFF2-40B4-BE49-F238E27FC236}">
                <a16:creationId xmlns:a16="http://schemas.microsoft.com/office/drawing/2014/main" id="{1D5BD4B4-34D2-41EE-9BAC-21B46FC0A7BB}"/>
              </a:ext>
            </a:extLst>
          </p:cNvPr>
          <p:cNvSpPr>
            <a:spLocks noGrp="1"/>
          </p:cNvSpPr>
          <p:nvPr/>
        </p:nvSpPr>
        <p:spPr>
          <a:xfrm>
            <a:off x="381000" y="4543425"/>
            <a:ext cx="28575" cy="1914525"/>
          </a:xfrm>
          <a:prstGeom prst="rect">
            <a:avLst/>
          </a:prstGeom>
          <a:solidFill>
            <a:srgbClr val="416B88"/>
          </a:solidFill>
          <a:ln w="0">
            <a:noFill/>
            <a:prstDash val="solid"/>
          </a:ln>
        </p:spPr>
      </p:sp>
      <p:sp>
        <p:nvSpPr>
          <p:cNvPr id="81" name="summary-title">
            <a:extLst>
              <a:ext uri="{FF2B5EF4-FFF2-40B4-BE49-F238E27FC236}">
                <a16:creationId xmlns:a16="http://schemas.microsoft.com/office/drawing/2014/main" id="{433BCFF1-BF73-440A-8EB4-3A1F5518F4B1}"/>
              </a:ext>
            </a:extLst>
          </p:cNvPr>
          <p:cNvSpPr>
            <a:spLocks noGrp="1"/>
          </p:cNvSpPr>
          <p:nvPr/>
        </p:nvSpPr>
        <p:spPr>
          <a:xfrm>
            <a:off x="514350" y="4600575"/>
            <a:ext cx="2095500" cy="257175"/>
          </a:xfrm>
          <a:prstGeom prst="rect">
            <a:avLst/>
          </a:prstGeom>
          <a:noFill/>
          <a:ln w="0">
            <a:noFill/>
            <a:prstDash val="solid"/>
          </a:ln>
        </p:spPr>
        <p:txBody>
          <a:bodyPr wrap="square" lIns="0" tIns="0" rIns="0" bIns="0" anchor="ctr">
            <a:normAutofit/>
          </a:bodyPr>
          <a:lstStyle/>
          <a:p>
            <a:pPr algn="l">
              <a:lnSpc>
                <a:spcPct val="96000"/>
              </a:lnSpc>
              <a:buNone/>
              <a:defRPr sz="1350" b="1">
                <a:solidFill>
                  <a:srgbClr val="252B33"/>
                </a:solidFill>
                <a:latin typeface="Microsoft YaHei"/>
                <a:ea typeface="Microsoft YaHei"/>
                <a:cs typeface="Microsoft YaHei"/>
              </a:defRPr>
            </a:pPr>
            <a:r>
              <a:rPr sz="1350" b="1" dirty="0" err="1" smtClean="0">
                <a:solidFill>
                  <a:srgbClr val="252B33"/>
                </a:solidFill>
                <a:latin typeface="Microsoft YaHei"/>
                <a:ea typeface="Microsoft YaHei"/>
                <a:cs typeface="Microsoft YaHei"/>
              </a:rPr>
              <a:t>结论</a:t>
            </a:r>
            <a:endParaRPr sz="1350" b="1" dirty="0">
              <a:solidFill>
                <a:srgbClr val="252B33"/>
              </a:solidFill>
              <a:latin typeface="Microsoft YaHei"/>
              <a:ea typeface="Microsoft YaHei"/>
              <a:cs typeface="Microsoft YaHei"/>
            </a:endParaRPr>
          </a:p>
        </p:txBody>
      </p:sp>
      <p:sp>
        <p:nvSpPr>
          <p:cNvPr id="83" name="summary-header-rule">
            <a:extLst>
              <a:ext uri="{FF2B5EF4-FFF2-40B4-BE49-F238E27FC236}">
                <a16:creationId xmlns:a16="http://schemas.microsoft.com/office/drawing/2014/main" id="{35D1E1BA-E096-4E1F-8628-11AD092FED84}"/>
              </a:ext>
            </a:extLst>
          </p:cNvPr>
          <p:cNvSpPr>
            <a:spLocks noGrp="1"/>
          </p:cNvSpPr>
          <p:nvPr/>
        </p:nvSpPr>
        <p:spPr>
          <a:xfrm>
            <a:off x="476250" y="4886325"/>
            <a:ext cx="11239500" cy="9525"/>
          </a:xfrm>
          <a:prstGeom prst="rect">
            <a:avLst/>
          </a:prstGeom>
          <a:solidFill>
            <a:srgbClr val="D5DDE3"/>
          </a:solidFill>
          <a:ln w="0">
            <a:noFill/>
            <a:prstDash val="solid"/>
          </a:ln>
        </p:spPr>
      </p:sp>
      <p:sp>
        <p:nvSpPr>
          <p:cNvPr id="84" name="summary-label-0">
            <a:extLst>
              <a:ext uri="{FF2B5EF4-FFF2-40B4-BE49-F238E27FC236}">
                <a16:creationId xmlns:a16="http://schemas.microsoft.com/office/drawing/2014/main" id="{BCEAD2B2-D45B-4524-993D-B4C7F5B2F8D1}"/>
              </a:ext>
            </a:extLst>
          </p:cNvPr>
          <p:cNvSpPr>
            <a:spLocks noGrp="1"/>
          </p:cNvSpPr>
          <p:nvPr/>
        </p:nvSpPr>
        <p:spPr>
          <a:xfrm>
            <a:off x="514350" y="4895850"/>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带宽型算子</a:t>
            </a:r>
          </a:p>
        </p:txBody>
      </p:sp>
      <p:sp>
        <p:nvSpPr>
          <p:cNvPr id="85" name="summary-body-0">
            <a:extLst>
              <a:ext uri="{FF2B5EF4-FFF2-40B4-BE49-F238E27FC236}">
                <a16:creationId xmlns:a16="http://schemas.microsoft.com/office/drawing/2014/main" id="{938D9FF3-48A3-4A4A-9EB8-0EDDCE1C0924}"/>
              </a:ext>
            </a:extLst>
          </p:cNvPr>
          <p:cNvSpPr>
            <a:spLocks noGrp="1"/>
          </p:cNvSpPr>
          <p:nvPr/>
        </p:nvSpPr>
        <p:spPr>
          <a:xfrm>
            <a:off x="1857375" y="489585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softmax / layernorm 最终都受 DRAM 带宽限制。CUDA 通常具备更高的 occupancy 与 SM 利用率；</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Triton softmax 虽受 108 regs/thread 限制，仍凭借合并访存将带宽打满。</a:t>
            </a:r>
          </a:p>
        </p:txBody>
      </p:sp>
      <p:sp>
        <p:nvSpPr>
          <p:cNvPr id="86" name="summary-row-rule-0">
            <a:extLst>
              <a:ext uri="{FF2B5EF4-FFF2-40B4-BE49-F238E27FC236}">
                <a16:creationId xmlns:a16="http://schemas.microsoft.com/office/drawing/2014/main" id="{C95657BA-2F2E-42D6-8DEF-36D3FC67A61F}"/>
              </a:ext>
            </a:extLst>
          </p:cNvPr>
          <p:cNvSpPr>
            <a:spLocks noGrp="1"/>
          </p:cNvSpPr>
          <p:nvPr/>
        </p:nvSpPr>
        <p:spPr>
          <a:xfrm>
            <a:off x="476250" y="5276850"/>
            <a:ext cx="11239500" cy="9525"/>
          </a:xfrm>
          <a:prstGeom prst="rect">
            <a:avLst/>
          </a:prstGeom>
          <a:solidFill>
            <a:srgbClr val="DCE2E6"/>
          </a:solidFill>
          <a:ln w="0">
            <a:noFill/>
            <a:prstDash val="solid"/>
          </a:ln>
        </p:spPr>
      </p:sp>
      <p:sp>
        <p:nvSpPr>
          <p:cNvPr id="87" name="summary-row-bg-1">
            <a:extLst>
              <a:ext uri="{FF2B5EF4-FFF2-40B4-BE49-F238E27FC236}">
                <a16:creationId xmlns:a16="http://schemas.microsoft.com/office/drawing/2014/main" id="{27206662-91E3-433B-B823-B85454C6DC82}"/>
              </a:ext>
            </a:extLst>
          </p:cNvPr>
          <p:cNvSpPr>
            <a:spLocks noGrp="1"/>
          </p:cNvSpPr>
          <p:nvPr/>
        </p:nvSpPr>
        <p:spPr>
          <a:xfrm>
            <a:off x="476250" y="5286375"/>
            <a:ext cx="11239500" cy="390525"/>
          </a:xfrm>
          <a:prstGeom prst="rect">
            <a:avLst/>
          </a:prstGeom>
          <a:solidFill>
            <a:srgbClr val="F7F8F9"/>
          </a:solidFill>
          <a:ln w="0">
            <a:noFill/>
            <a:prstDash val="solid"/>
          </a:ln>
        </p:spPr>
      </p:sp>
      <p:sp>
        <p:nvSpPr>
          <p:cNvPr id="88" name="summary-label-1">
            <a:extLst>
              <a:ext uri="{FF2B5EF4-FFF2-40B4-BE49-F238E27FC236}">
                <a16:creationId xmlns:a16="http://schemas.microsoft.com/office/drawing/2014/main" id="{058100A2-C4FB-4E3D-BEBD-CCFA0C213409}"/>
              </a:ext>
            </a:extLst>
          </p:cNvPr>
          <p:cNvSpPr>
            <a:spLocks noGrp="1"/>
          </p:cNvSpPr>
          <p:nvPr/>
        </p:nvSpPr>
        <p:spPr>
          <a:xfrm>
            <a:off x="514350" y="5286375"/>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计算型算子</a:t>
            </a:r>
          </a:p>
        </p:txBody>
      </p:sp>
      <p:sp>
        <p:nvSpPr>
          <p:cNvPr id="89" name="summary-body-1">
            <a:extLst>
              <a:ext uri="{FF2B5EF4-FFF2-40B4-BE49-F238E27FC236}">
                <a16:creationId xmlns:a16="http://schemas.microsoft.com/office/drawing/2014/main" id="{E457E65A-6251-409B-8520-1544E7FA50D0}"/>
              </a:ext>
            </a:extLst>
          </p:cNvPr>
          <p:cNvSpPr>
            <a:spLocks noGrp="1"/>
          </p:cNvSpPr>
          <p:nvPr/>
        </p:nvSpPr>
        <p:spPr>
          <a:xfrm>
            <a:off x="1857375" y="5286375"/>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Triton matmul 出现 255 regs/thread 与 116 spills，occupancy 降至 ~16.67%，属于 latency-bound；</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CUDA 通过 WMMA / Tensor Core 改变瓶颈，但仍需继续优化 tiling 与数据复用。</a:t>
            </a:r>
          </a:p>
        </p:txBody>
      </p:sp>
      <p:sp>
        <p:nvSpPr>
          <p:cNvPr id="90" name="summary-row-rule-1">
            <a:extLst>
              <a:ext uri="{FF2B5EF4-FFF2-40B4-BE49-F238E27FC236}">
                <a16:creationId xmlns:a16="http://schemas.microsoft.com/office/drawing/2014/main" id="{2685594D-42A6-4805-BBE1-13981DC49FE7}"/>
              </a:ext>
            </a:extLst>
          </p:cNvPr>
          <p:cNvSpPr>
            <a:spLocks noGrp="1"/>
          </p:cNvSpPr>
          <p:nvPr/>
        </p:nvSpPr>
        <p:spPr>
          <a:xfrm>
            <a:off x="476250" y="5667375"/>
            <a:ext cx="11239500" cy="9525"/>
          </a:xfrm>
          <a:prstGeom prst="rect">
            <a:avLst/>
          </a:prstGeom>
          <a:solidFill>
            <a:srgbClr val="DCE2E6"/>
          </a:solidFill>
          <a:ln w="0">
            <a:noFill/>
            <a:prstDash val="solid"/>
          </a:ln>
        </p:spPr>
      </p:sp>
      <p:sp>
        <p:nvSpPr>
          <p:cNvPr id="91" name="summary-label-2">
            <a:extLst>
              <a:ext uri="{FF2B5EF4-FFF2-40B4-BE49-F238E27FC236}">
                <a16:creationId xmlns:a16="http://schemas.microsoft.com/office/drawing/2014/main" id="{FEDA0693-BBD1-4252-88F8-A12B02550607}"/>
              </a:ext>
            </a:extLst>
          </p:cNvPr>
          <p:cNvSpPr>
            <a:spLocks noGrp="1"/>
          </p:cNvSpPr>
          <p:nvPr/>
        </p:nvSpPr>
        <p:spPr>
          <a:xfrm>
            <a:off x="514350" y="5676900"/>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Shared Memory</a:t>
            </a:r>
          </a:p>
        </p:txBody>
      </p:sp>
      <p:sp>
        <p:nvSpPr>
          <p:cNvPr id="92" name="summary-body-2">
            <a:extLst>
              <a:ext uri="{FF2B5EF4-FFF2-40B4-BE49-F238E27FC236}">
                <a16:creationId xmlns:a16="http://schemas.microsoft.com/office/drawing/2014/main" id="{7A030F6A-9F44-4B0E-A576-666F2B2C5B89}"/>
              </a:ext>
            </a:extLst>
          </p:cNvPr>
          <p:cNvSpPr>
            <a:spLocks noGrp="1"/>
          </p:cNvSpPr>
          <p:nvPr/>
        </p:nvSpPr>
        <p:spPr>
          <a:xfrm>
            <a:off x="1857375" y="567690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CUDA 更积极使用 SMEM：softmax 使用 32 KB 动态 SMEM，matmul 使用 24 KB；</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体现了手写 CUDA 对片上资源的精细控制优势。</a:t>
            </a:r>
          </a:p>
        </p:txBody>
      </p:sp>
      <p:sp>
        <p:nvSpPr>
          <p:cNvPr id="93" name="summary-row-rule-2">
            <a:extLst>
              <a:ext uri="{FF2B5EF4-FFF2-40B4-BE49-F238E27FC236}">
                <a16:creationId xmlns:a16="http://schemas.microsoft.com/office/drawing/2014/main" id="{D73AEBAC-C4C8-471E-A918-B15C7C47DA27}"/>
              </a:ext>
            </a:extLst>
          </p:cNvPr>
          <p:cNvSpPr>
            <a:spLocks noGrp="1"/>
          </p:cNvSpPr>
          <p:nvPr/>
        </p:nvSpPr>
        <p:spPr>
          <a:xfrm>
            <a:off x="476250" y="6057900"/>
            <a:ext cx="11239500" cy="9525"/>
          </a:xfrm>
          <a:prstGeom prst="rect">
            <a:avLst/>
          </a:prstGeom>
          <a:solidFill>
            <a:srgbClr val="DCE2E6"/>
          </a:solidFill>
          <a:ln w="0">
            <a:noFill/>
            <a:prstDash val="solid"/>
          </a:ln>
        </p:spPr>
      </p:sp>
      <p:sp>
        <p:nvSpPr>
          <p:cNvPr id="94" name="summary-row-bg-3">
            <a:extLst>
              <a:ext uri="{FF2B5EF4-FFF2-40B4-BE49-F238E27FC236}">
                <a16:creationId xmlns:a16="http://schemas.microsoft.com/office/drawing/2014/main" id="{B5F4E469-3237-431E-AF93-E8607C1D4E47}"/>
              </a:ext>
            </a:extLst>
          </p:cNvPr>
          <p:cNvSpPr>
            <a:spLocks noGrp="1"/>
          </p:cNvSpPr>
          <p:nvPr/>
        </p:nvSpPr>
        <p:spPr>
          <a:xfrm>
            <a:off x="476250" y="6067425"/>
            <a:ext cx="11239500" cy="381000"/>
          </a:xfrm>
          <a:prstGeom prst="rect">
            <a:avLst/>
          </a:prstGeom>
          <a:solidFill>
            <a:srgbClr val="F7F8F9"/>
          </a:solidFill>
          <a:ln w="0">
            <a:noFill/>
            <a:prstDash val="solid"/>
          </a:ln>
        </p:spPr>
      </p:sp>
      <p:sp>
        <p:nvSpPr>
          <p:cNvPr id="95" name="summary-label-3">
            <a:extLst>
              <a:ext uri="{FF2B5EF4-FFF2-40B4-BE49-F238E27FC236}">
                <a16:creationId xmlns:a16="http://schemas.microsoft.com/office/drawing/2014/main" id="{480D285B-95D4-488F-99D6-E8904B10CDC0}"/>
              </a:ext>
            </a:extLst>
          </p:cNvPr>
          <p:cNvSpPr>
            <a:spLocks noGrp="1"/>
          </p:cNvSpPr>
          <p:nvPr/>
        </p:nvSpPr>
        <p:spPr>
          <a:xfrm>
            <a:off x="514350" y="6067425"/>
            <a:ext cx="1333500" cy="381000"/>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Spills</a:t>
            </a:r>
          </a:p>
        </p:txBody>
      </p:sp>
      <p:sp>
        <p:nvSpPr>
          <p:cNvPr id="96" name="summary-body-3">
            <a:extLst>
              <a:ext uri="{FF2B5EF4-FFF2-40B4-BE49-F238E27FC236}">
                <a16:creationId xmlns:a16="http://schemas.microsoft.com/office/drawing/2014/main" id="{4DBE697C-0F29-4E97-98DA-45ADC5AF73CA}"/>
              </a:ext>
            </a:extLst>
          </p:cNvPr>
          <p:cNvSpPr>
            <a:spLocks noGrp="1"/>
          </p:cNvSpPr>
          <p:nvPr/>
        </p:nvSpPr>
        <p:spPr>
          <a:xfrm>
            <a:off x="1857375" y="6067425"/>
            <a:ext cx="9763125" cy="381000"/>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仅 Triton matmul 出现 116 spills，会增加 local memory traffic，是最直接的优化点。</a:t>
            </a:r>
          </a:p>
        </p:txBody>
      </p:sp>
      <p:sp>
        <p:nvSpPr>
          <p:cNvPr id="9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99" name="slide-1-title"/>
          <p:cNvSpPr>
            <a:spLocks noGrp="1"/>
          </p:cNvSpPr>
          <p:nvPr/>
        </p:nvSpPr>
        <p:spPr>
          <a:xfrm>
            <a:off x="381000" y="219075"/>
            <a:ext cx="635000" cy="51435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3094172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smtClean="0">
                <a:solidFill>
                  <a:srgbClr val="243B53"/>
                </a:solidFill>
                <a:latin typeface="Arial" panose="020B0604020202020204" pitchFamily="34" charset="0"/>
                <a:ea typeface="Microsoft YaHei" panose="020B0503020204020204" pitchFamily="34" charset="-122"/>
                <a:cs typeface="微软雅黑" panose="020B0503020204020204" charset="-122"/>
              </a:rPr>
              <a:t>未来</a:t>
            </a:r>
            <a:r>
              <a:rPr lang="zh-CN" altLang="en-US" sz="16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计划</a:t>
            </a:r>
            <a:endParaRPr sz="1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77600" y="38949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sz="1200" b="1" dirty="0" smtClean="0">
                <a:solidFill>
                  <a:srgbClr val="AFC2D5"/>
                </a:solidFill>
                <a:latin typeface="微软雅黑" panose="020B0503020204020204" charset="-122"/>
                <a:ea typeface="微软雅黑" panose="020B0503020204020204" charset="-122"/>
                <a:cs typeface="微软雅黑" panose="020B0503020204020204" charset="-122"/>
              </a:rPr>
              <a:t>1</a:t>
            </a:r>
            <a:r>
              <a:rPr lang="en-US" sz="1200" b="1" dirty="0" smtClean="0">
                <a:solidFill>
                  <a:srgbClr val="AFC2D5"/>
                </a:solidFill>
                <a:latin typeface="微软雅黑" panose="020B0503020204020204" charset="-122"/>
                <a:ea typeface="微软雅黑" panose="020B0503020204020204" charset="-122"/>
                <a:cs typeface="微软雅黑" panose="020B0503020204020204" charset="-122"/>
              </a:rPr>
              <a:t>9</a:t>
            </a:r>
            <a:endParaRPr sz="1200" b="1" dirty="0">
              <a:solidFill>
                <a:srgbClr val="AFC2D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27" name="圆角矩形 26"/>
          <p:cNvSpPr>
            <a:spLocks noGrp="1"/>
          </p:cNvSpPr>
          <p:nvPr/>
        </p:nvSpPr>
        <p:spPr>
          <a:xfrm>
            <a:off x="3896992" y="2571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完善现有四类 </a:t>
            </a:r>
            <a:r>
              <a:rPr lang="en-US" sz="1500" b="1">
                <a:solidFill>
                  <a:srgbClr val="FFFFFF"/>
                </a:solidFill>
                <a:latin typeface="微软雅黑" panose="020B0503020204020204" charset="-122"/>
                <a:ea typeface="微软雅黑" panose="020B0503020204020204" charset="-122"/>
                <a:cs typeface="微软雅黑" panose="020B0503020204020204" charset="-122"/>
              </a:rPr>
              <a:t>Skill</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3896992" y="3333055"/>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算子库测试规模化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3896992" y="4095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rPr>
              <a:t>跨</a:t>
            </a: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平台效率量化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3" name="contents-title">
            <a:extLst>
              <a:ext uri="{FF2B5EF4-FFF2-40B4-BE49-F238E27FC236}">
                <a16:creationId xmlns:a16="http://schemas.microsoft.com/office/drawing/2014/main" id="{3F88A495-0B12-4C3D-AF51-C251307148D8}"/>
              </a:ext>
            </a:extLst>
          </p:cNvPr>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a:ea typeface="微软雅黑"/>
                <a:cs typeface="微软雅黑"/>
              </a:defRPr>
            </a:pPr>
            <a:r>
              <a:rPr sz="2850" b="1" dirty="0" err="1">
                <a:solidFill>
                  <a:srgbClr val="072A67"/>
                </a:solidFill>
                <a:latin typeface="微软雅黑"/>
                <a:ea typeface="微软雅黑"/>
                <a:cs typeface="微软雅黑"/>
              </a:rPr>
              <a:t>未来计划</a:t>
            </a:r>
            <a:endParaRPr sz="2850" b="1" dirty="0">
              <a:solidFill>
                <a:srgbClr val="072A67"/>
              </a:solidFill>
              <a:latin typeface="微软雅黑"/>
              <a:ea typeface="微软雅黑"/>
              <a:cs typeface="微软雅黑"/>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sp>
        <p:nvSpPr>
          <p:cNvPr id="7" name="矩形 6"/>
          <p:cNvSpPr/>
          <p:nvPr/>
        </p:nvSpPr>
        <p:spPr>
          <a:xfrm>
            <a:off x="1553842" y="5860494"/>
            <a:ext cx="9437199" cy="338554"/>
          </a:xfrm>
          <a:prstGeom prst="rect">
            <a:avLst/>
          </a:prstGeom>
        </p:spPr>
        <p:txBody>
          <a:bodyPr wrap="none">
            <a:spAutoFit/>
          </a:bodyPr>
          <a:lstStyle/>
          <a:p>
            <a:pPr>
              <a:defRPr sz="1500" b="1">
                <a:solidFill>
                  <a:srgbClr val="E97132"/>
                </a:solidFill>
                <a:latin typeface="微软雅黑"/>
                <a:ea typeface="微软雅黑"/>
                <a:cs typeface="微软雅黑"/>
              </a:defRPr>
            </a:pPr>
            <a:r>
              <a:rPr lang="zh-CN" altLang="en-US" b="1" dirty="0">
                <a:solidFill>
                  <a:schemeClr val="tx1">
                    <a:lumMod val="85000"/>
                    <a:lumOff val="15000"/>
                  </a:schemeClr>
                </a:solidFill>
                <a:latin typeface="微软雅黑"/>
                <a:ea typeface="微软雅黑"/>
                <a:cs typeface="微软雅黑"/>
              </a:rPr>
              <a:t>最终目标 ：</a:t>
            </a:r>
            <a:r>
              <a:rPr lang="zh-CN" altLang="en-US" sz="1600" b="1" dirty="0">
                <a:solidFill>
                  <a:srgbClr val="072A67"/>
                </a:solidFill>
                <a:latin typeface="微软雅黑"/>
                <a:ea typeface="微软雅黑"/>
                <a:cs typeface="微软雅黑"/>
              </a:rPr>
              <a:t>从“</a:t>
            </a:r>
            <a:r>
              <a:rPr lang="en-US" altLang="zh-CN" sz="1600" b="1" dirty="0">
                <a:solidFill>
                  <a:srgbClr val="072A67"/>
                </a:solidFill>
                <a:latin typeface="微软雅黑"/>
                <a:ea typeface="微软雅黑"/>
                <a:cs typeface="微软雅黑"/>
              </a:rPr>
              <a:t>Agent</a:t>
            </a:r>
            <a:r>
              <a:rPr lang="zh-CN" altLang="en-US" sz="1600" b="1" dirty="0">
                <a:solidFill>
                  <a:srgbClr val="072A67"/>
                </a:solidFill>
                <a:latin typeface="微软雅黑"/>
                <a:ea typeface="微软雅黑"/>
                <a:cs typeface="微软雅黑"/>
              </a:rPr>
              <a:t> 辅助写算子”扩展到“人 </a:t>
            </a:r>
            <a:r>
              <a:rPr lang="en-US" altLang="zh-CN" sz="1600" b="1" dirty="0">
                <a:solidFill>
                  <a:srgbClr val="072A67"/>
                </a:solidFill>
                <a:latin typeface="微软雅黑"/>
                <a:ea typeface="微软雅黑"/>
                <a:cs typeface="微软雅黑"/>
              </a:rPr>
              <a:t>+ Agent + </a:t>
            </a:r>
            <a:r>
              <a:rPr lang="zh-CN" altLang="en-US" sz="1600" b="1" dirty="0">
                <a:solidFill>
                  <a:srgbClr val="072A67"/>
                </a:solidFill>
                <a:latin typeface="微软雅黑"/>
                <a:ea typeface="微软雅黑"/>
                <a:cs typeface="微软雅黑"/>
              </a:rPr>
              <a:t>真实硬件”协同完成模型部署与性能优化</a:t>
            </a:r>
            <a:endParaRPr lang="zh-CN" altLang="en-US" b="1" dirty="0">
              <a:solidFill>
                <a:schemeClr val="tx1">
                  <a:lumMod val="85000"/>
                  <a:lumOff val="15000"/>
                </a:schemeClr>
              </a:solidFill>
              <a:latin typeface="微软雅黑"/>
              <a:ea typeface="微软雅黑"/>
              <a:cs typeface="微软雅黑"/>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4.1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圆角矩形 20"/>
          <p:cNvSpPr>
            <a:spLocks noGrp="1"/>
          </p:cNvSpPr>
          <p:nvPr/>
        </p:nvSpPr>
        <p:spPr>
          <a:xfrm>
            <a:off x="3896992" y="1733543"/>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标准化评测体系</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229970785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3279</TotalTime>
  <Words>6517</Words>
  <Application>Microsoft Office PowerPoint</Application>
  <PresentationFormat>宽屏</PresentationFormat>
  <Paragraphs>1476</Paragraphs>
  <Slides>32</Slides>
  <Notes>32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楷体_GB2312</vt:lpstr>
      <vt:lpstr>Microsoft YaHei</vt:lpstr>
      <vt:lpstr>Microsoft YaHei</vt:lpstr>
      <vt:lpstr>Arial</vt:lpstr>
      <vt:lpstr>Calibri</vt:lpstr>
      <vt:lpstr>Consolas</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186</cp:revision>
  <dcterms:created xsi:type="dcterms:W3CDTF">2026-08-17T11:31:00Z</dcterms:created>
  <dcterms:modified xsi:type="dcterms:W3CDTF">2026-08-23T12:38:09Z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
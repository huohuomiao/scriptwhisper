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2.xml" ContentType="application/vnd.openxmlformats-officedocument.presentationml.tags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9.xml" ContentType="application/vnd.openxmlformats-officedocument.presentationml.notesSlide+xml"/>
  <Override PartName="/ppt/tags/tag7.xml" ContentType="application/vnd.openxmlformats-officedocument.presentationml.tags+xml"/>
  <Override PartName="/ppt/notesSlides/notesSlide20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rts/chart2.xml" ContentType="application/vnd.openxmlformats-officedocument.drawingml.chart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86" r:id="rId4"/>
    <p:sldId id="331" r:id="rId5"/>
    <p:sldId id="332" r:id="rId6"/>
    <p:sldId id="334" r:id="rId7"/>
    <p:sldId id="335" r:id="rId8"/>
    <p:sldId id="339" r:id="rId9"/>
    <p:sldId id="336" r:id="rId10"/>
    <p:sldId id="337" r:id="rId11"/>
    <p:sldId id="338" r:id="rId12"/>
    <p:sldId id="309" r:id="rId13"/>
    <p:sldId id="310" r:id="rId14"/>
    <p:sldId id="315" r:id="rId15"/>
    <p:sldId id="313" r:id="rId16"/>
    <p:sldId id="317" r:id="rId17"/>
    <p:sldId id="329" r:id="rId18"/>
    <p:sldId id="319" r:id="rId19"/>
    <p:sldId id="327" r:id="rId20"/>
    <p:sldId id="326" r:id="rId21"/>
    <p:sldId id="322" r:id="rId22"/>
    <p:sldId id="323" r:id="rId23"/>
    <p:sldId id="324" r:id="rId24"/>
    <p:sldId id="325" r:id="rId25"/>
    <p:sldId id="285" r:id="rId2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14A4EE3E-A92F-4C5F-8B6C-4E1C00B88B07}">
          <p14:sldIdLst>
            <p14:sldId id="256"/>
            <p14:sldId id="257"/>
            <p14:sldId id="286"/>
            <p14:sldId id="331"/>
            <p14:sldId id="332"/>
            <p14:sldId id="334"/>
            <p14:sldId id="335"/>
            <p14:sldId id="339"/>
            <p14:sldId id="336"/>
            <p14:sldId id="337"/>
            <p14:sldId id="338"/>
            <p14:sldId id="309"/>
            <p14:sldId id="310"/>
            <p14:sldId id="315"/>
            <p14:sldId id="313"/>
            <p14:sldId id="317"/>
            <p14:sldId id="329"/>
            <p14:sldId id="319"/>
            <p14:sldId id="327"/>
            <p14:sldId id="326"/>
            <p14:sldId id="322"/>
            <p14:sldId id="323"/>
            <p14:sldId id="324"/>
            <p14:sldId id="325"/>
          </p14:sldIdLst>
        </p14:section>
        <p14:section name="无标题节" id="{37246721-A1E7-42EC-8ABD-C60CA6BBCE74}">
          <p14:sldIdLst>
            <p14:sldId id="28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99" userDrawn="1">
          <p15:clr>
            <a:srgbClr val="A4A3A4"/>
          </p15:clr>
        </p15:guide>
        <p15:guide id="2" pos="28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000F"/>
    <a:srgbClr val="FFFFFF"/>
    <a:srgbClr val="1C334E"/>
    <a:srgbClr val="CCFFFF"/>
    <a:srgbClr val="CCECFF"/>
    <a:srgbClr val="FF9933"/>
    <a:srgbClr val="6699FF"/>
    <a:srgbClr val="00CC66"/>
    <a:srgbClr val="FF9900"/>
    <a:srgbClr val="D9D9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8621" autoAdjust="0"/>
  </p:normalViewPr>
  <p:slideViewPr>
    <p:cSldViewPr showGuides="1">
      <p:cViewPr varScale="1">
        <p:scale>
          <a:sx n="90" d="100"/>
          <a:sy n="90" d="100"/>
        </p:scale>
        <p:origin x="1494" y="84"/>
      </p:cViewPr>
      <p:guideLst>
        <p:guide orient="horz" pos="2199"/>
        <p:guide pos="28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性能</c:f>
              <c:strCache>
                <c:ptCount val="1"/>
                <c:pt idx="0">
                  <c:v>性能</c:v>
                </c:pt>
              </c:strCache>
            </c:strRef>
          </c:tx>
          <c:spPr>
            <a:gradFill flip="none" rotWithShape="1">
              <a:gsLst>
                <a:gs pos="0">
                  <a:schemeClr val="accent6">
                    <a:lumMod val="40000"/>
                    <a:lumOff val="60000"/>
                  </a:schemeClr>
                </a:gs>
                <a:gs pos="46000">
                  <a:schemeClr val="accent6">
                    <a:lumMod val="95000"/>
                    <a:lumOff val="5000"/>
                  </a:schemeClr>
                </a:gs>
                <a:gs pos="100000">
                  <a:schemeClr val="accent6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c:spPr>
          <c:invertIfNegative val="0"/>
          <c:dPt>
            <c:idx val="0"/>
            <c:invertIfNegative val="0"/>
            <c:bubble3D val="0"/>
            <c:spPr>
              <a:gradFill flip="none" rotWithShape="1">
                <a:gsLst>
                  <a:gs pos="0">
                    <a:schemeClr val="accent6">
                      <a:lumMod val="40000"/>
                      <a:lumOff val="60000"/>
                    </a:schemeClr>
                  </a:gs>
                  <a:gs pos="46000">
                    <a:schemeClr val="accent6">
                      <a:lumMod val="95000"/>
                      <a:lumOff val="5000"/>
                    </a:schemeClr>
                  </a:gs>
                  <a:gs pos="100000">
                    <a:schemeClr val="accent6">
                      <a:lumMod val="60000"/>
                    </a:schemeClr>
                  </a:gs>
                </a:gsLst>
                <a:path path="circle">
                  <a:fillToRect l="50000" t="130000" r="50000" b="-30000"/>
                </a:path>
                <a:tileRect/>
              </a:gradFill>
            </c:spPr>
            <c:extLst>
              <c:ext xmlns:c16="http://schemas.microsoft.com/office/drawing/2014/chart" uri="{C3380CC4-5D6E-409C-BE32-E72D297353CC}">
                <c16:uniqueId val="{00000001-E6EC-4F84-8428-70DDBE204D90}"/>
              </c:ext>
            </c:extLst>
          </c:dPt>
          <c:dPt>
            <c:idx val="1"/>
            <c:invertIfNegative val="0"/>
            <c:bubble3D val="0"/>
            <c:spPr>
              <a:gradFill flip="none" rotWithShape="1">
                <a:gsLst>
                  <a:gs pos="0">
                    <a:schemeClr val="accent6">
                      <a:lumMod val="40000"/>
                      <a:lumOff val="60000"/>
                    </a:schemeClr>
                  </a:gs>
                  <a:gs pos="46000">
                    <a:schemeClr val="accent6">
                      <a:lumMod val="95000"/>
                      <a:lumOff val="5000"/>
                    </a:schemeClr>
                  </a:gs>
                  <a:gs pos="100000">
                    <a:schemeClr val="accent6">
                      <a:lumMod val="60000"/>
                    </a:schemeClr>
                  </a:gs>
                </a:gsLst>
                <a:path path="circle">
                  <a:fillToRect l="50000" t="130000" r="50000" b="-30000"/>
                </a:path>
                <a:tileRect/>
              </a:gradFill>
            </c:spPr>
            <c:extLst>
              <c:ext xmlns:c16="http://schemas.microsoft.com/office/drawing/2014/chart" uri="{C3380CC4-5D6E-409C-BE32-E72D297353CC}">
                <c16:uniqueId val="{00000003-E6EC-4F84-8428-70DDBE204D90}"/>
              </c:ext>
            </c:extLst>
          </c:dPt>
          <c:dPt>
            <c:idx val="2"/>
            <c:invertIfNegative val="0"/>
            <c:bubble3D val="0"/>
            <c:spPr>
              <a:gradFill flip="none" rotWithShape="1">
                <a:gsLst>
                  <a:gs pos="0">
                    <a:schemeClr val="accent6">
                      <a:lumMod val="40000"/>
                      <a:lumOff val="60000"/>
                    </a:schemeClr>
                  </a:gs>
                  <a:gs pos="46000">
                    <a:schemeClr val="accent6">
                      <a:lumMod val="95000"/>
                      <a:lumOff val="5000"/>
                    </a:schemeClr>
                  </a:gs>
                  <a:gs pos="100000">
                    <a:schemeClr val="accent6">
                      <a:lumMod val="60000"/>
                    </a:schemeClr>
                  </a:gs>
                </a:gsLst>
                <a:path path="circle">
                  <a:fillToRect l="50000" t="130000" r="50000" b="-30000"/>
                </a:path>
                <a:tileRect/>
              </a:gradFill>
            </c:spPr>
            <c:extLst>
              <c:ext xmlns:c16="http://schemas.microsoft.com/office/drawing/2014/chart" uri="{C3380CC4-5D6E-409C-BE32-E72D297353CC}">
                <c16:uniqueId val="{00000005-E6EC-4F84-8428-70DDBE204D90}"/>
              </c:ext>
            </c:extLst>
          </c:dPt>
          <c:dPt>
            <c:idx val="3"/>
            <c:invertIfNegative val="0"/>
            <c:bubble3D val="0"/>
            <c:spPr>
              <a:gradFill flip="none" rotWithShape="1">
                <a:gsLst>
                  <a:gs pos="0">
                    <a:schemeClr val="accent6">
                      <a:lumMod val="40000"/>
                      <a:lumOff val="60000"/>
                    </a:schemeClr>
                  </a:gs>
                  <a:gs pos="46000">
                    <a:schemeClr val="accent6">
                      <a:lumMod val="95000"/>
                      <a:lumOff val="5000"/>
                    </a:schemeClr>
                  </a:gs>
                  <a:gs pos="100000">
                    <a:schemeClr val="accent6">
                      <a:lumMod val="60000"/>
                    </a:schemeClr>
                  </a:gs>
                </a:gsLst>
                <a:path path="circle">
                  <a:fillToRect l="50000" t="130000" r="50000" b="-30000"/>
                </a:path>
                <a:tileRect/>
              </a:gradFill>
            </c:spPr>
            <c:extLst>
              <c:ext xmlns:c16="http://schemas.microsoft.com/office/drawing/2014/chart" uri="{C3380CC4-5D6E-409C-BE32-E72D297353CC}">
                <c16:uniqueId val="{00000007-E6EC-4F84-8428-70DDBE204D90}"/>
              </c:ext>
            </c:extLst>
          </c:dPt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>
                      <a:defRPr lang="zh-CN" sz="1350" b="1" i="0" u="none" strike="noStrike" kern="1200" baseline="0">
                        <a:solidFill>
                          <a:srgbClr val="09285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defRPr>
                    </a:pPr>
                    <a:r>
                      <a:rPr lang="en-US" altLang="zh-CN" sz="1350" b="1">
                        <a:solidFill>
                          <a:srgbClr val="09285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a:t>12.6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E6EC-4F84-8428-70DDBE204D90}"/>
                </c:ext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>
                      <a:defRPr lang="zh-CN" sz="1350" b="1" i="0" u="none" strike="noStrike" kern="1200" baseline="0">
                        <a:solidFill>
                          <a:srgbClr val="09285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defRPr>
                    </a:pPr>
                    <a:r>
                      <a:rPr lang="en-US" altLang="zh-CN" sz="1350" b="1">
                        <a:solidFill>
                          <a:srgbClr val="09285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a:t>92.6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E6EC-4F84-8428-70DDBE204D90}"/>
                </c:ext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>
                      <a:defRPr lang="zh-CN" sz="1350" b="1" i="0" u="none" strike="noStrike" kern="1200" baseline="0">
                        <a:solidFill>
                          <a:srgbClr val="09285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defRPr>
                    </a:pPr>
                    <a:r>
                      <a:rPr lang="en-US" altLang="zh-CN" sz="1350" b="1">
                        <a:solidFill>
                          <a:srgbClr val="09285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a:t>150.8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E6EC-4F84-8428-70DDBE204D90}"/>
                </c:ext>
              </c:extLst>
            </c:dLbl>
            <c:dLbl>
              <c:idx val="3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>
                      <a:defRPr lang="zh-CN" sz="1350" b="1" i="0" u="none" strike="noStrike" kern="1200" baseline="0">
                        <a:solidFill>
                          <a:srgbClr val="09285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defRPr>
                    </a:pPr>
                    <a:r>
                      <a:rPr lang="en-US" altLang="zh-CN" sz="1350" b="1">
                        <a:solidFill>
                          <a:srgbClr val="09285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a:t>220.4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7-E6EC-4F84-8428-70DDBE204D9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早期基线</c:v>
                </c:pt>
                <c:pt idx="1">
                  <c:v>Skill 版本</c:v>
                </c:pt>
                <c:pt idx="2">
                  <c:v>手写优化版</c:v>
                </c:pt>
                <c:pt idx="3">
                  <c:v>PyTorch (厂商)</c:v>
                </c:pt>
              </c:strCache>
            </c:strRef>
          </c:cat>
          <c:val>
            <c:numRef>
              <c:f>'Chart Data'!$B$2:$B$5</c:f>
              <c:numCache>
                <c:formatCode>0.##</c:formatCode>
                <c:ptCount val="4"/>
                <c:pt idx="0">
                  <c:v>12.6</c:v>
                </c:pt>
                <c:pt idx="1">
                  <c:v>92.6</c:v>
                </c:pt>
                <c:pt idx="2">
                  <c:v>150.80000000000001</c:v>
                </c:pt>
                <c:pt idx="3">
                  <c:v>220.4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6EC-4F84-8428-70DDBE204D9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250"/>
          <c:min val="0"/>
        </c:scaling>
        <c:delete val="0"/>
        <c:axPos val="l"/>
        <c:majorGridlines>
          <c:spPr>
            <a:ln w="9525" cap="flat" cmpd="sng" algn="ctr">
              <a:solidFill>
                <a:srgbClr val="E5EDF7"/>
              </a:solidFill>
              <a:prstDash val="solid"/>
              <a:round/>
            </a:ln>
          </c:spPr>
        </c:majorGridlines>
        <c:numFmt formatCode="0.##" sourceLinked="1"/>
        <c:majorTickMark val="none"/>
        <c:minorTickMark val="none"/>
        <c:tickLblPos val="nextTo"/>
        <c:spPr>
          <a:ln w="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25" b="0" i="0" u="none" strike="noStrike" kern="1200" baseline="0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noFill/>
        <a:ln w="0"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b92e8392-fb0a-4671-a51f-e8c61a91ee6c}"/>
      </c:ext>
    </c:extLst>
  </c:chart>
  <c:spPr>
    <a:noFill/>
    <a:ln w="0">
      <a:noFill/>
    </a:ln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LayerNorm</c:f>
              <c:strCache>
                <c:ptCount val="1"/>
                <c:pt idx="0">
                  <c:v>LayerNorm</c:v>
                </c:pt>
              </c:strCache>
            </c:strRef>
          </c:tx>
          <c:spPr>
            <a:solidFill>
              <a:srgbClr val="C4BD97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40" b="0" i="0" u="none" strike="noStrike" kern="1200" baseline="0">
                    <a:solidFill>
                      <a:srgbClr val="000000"/>
                    </a:solidFill>
                    <a:latin typeface="Times New Roman" panose="02020603050405020304" pitchFamily="18" charset="0"/>
                    <a:ea typeface="Arial" panose="020B0604020202020204"/>
                    <a:cs typeface="Times New Roman" panose="02020603050405020304" pitchFamily="18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MLU Triton</c:v>
                </c:pt>
                <c:pt idx="1">
                  <c:v>BANG C</c:v>
                </c:pt>
                <c:pt idx="2">
                  <c:v>GPU Triton</c:v>
                </c:pt>
                <c:pt idx="3">
                  <c:v>CUDA C</c:v>
                </c:pt>
              </c:strCache>
            </c:strRef>
          </c:cat>
          <c:val>
            <c:numRef>
              <c:f>'Chart Data'!$B$2:$B$5</c:f>
              <c:numCache>
                <c:formatCode>0.0</c:formatCode>
                <c:ptCount val="4"/>
                <c:pt idx="0">
                  <c:v>1</c:v>
                </c:pt>
                <c:pt idx="1">
                  <c:v>3.5</c:v>
                </c:pt>
                <c:pt idx="2">
                  <c:v>0.8</c:v>
                </c:pt>
                <c:pt idx="3">
                  <c:v>0.7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4BAD-40FC-857E-88439AD678E6}"/>
            </c:ext>
          </c:extLst>
        </c:ser>
        <c:ser>
          <c:idx val="1"/>
          <c:order val="1"/>
          <c:tx>
            <c:strRef>
              <c:f>Softmax</c:f>
              <c:strCache>
                <c:ptCount val="1"/>
                <c:pt idx="0">
                  <c:v>Softmax</c:v>
                </c:pt>
              </c:strCache>
            </c:strRef>
          </c:tx>
          <c:spPr>
            <a:solidFill>
              <a:srgbClr val="4F81BD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40" b="0" i="0" u="none" strike="noStrike" kern="1200" baseline="0">
                    <a:solidFill>
                      <a:srgbClr val="000000"/>
                    </a:solidFill>
                    <a:latin typeface="Times New Roman" panose="02020603050405020304" pitchFamily="18" charset="0"/>
                    <a:ea typeface="Arial" panose="020B0604020202020204"/>
                    <a:cs typeface="Times New Roman" panose="02020603050405020304" pitchFamily="18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'Chart Data'!$C$2:$C$5</c:f>
              <c:strCache>
                <c:ptCount val="4"/>
                <c:pt idx="0">
                  <c:v>MLU Triton</c:v>
                </c:pt>
                <c:pt idx="1">
                  <c:v>BANG C</c:v>
                </c:pt>
                <c:pt idx="2">
                  <c:v>GPU Triton</c:v>
                </c:pt>
                <c:pt idx="3">
                  <c:v>CUDA C</c:v>
                </c:pt>
              </c:strCache>
            </c:strRef>
          </c:cat>
          <c:val>
            <c:numRef>
              <c:f>'Chart Data'!$D$2:$D$5</c:f>
              <c:numCache>
                <c:formatCode>0.0</c:formatCode>
                <c:ptCount val="4"/>
                <c:pt idx="0">
                  <c:v>1.2</c:v>
                </c:pt>
                <c:pt idx="1">
                  <c:v>3.2</c:v>
                </c:pt>
                <c:pt idx="2">
                  <c:v>1</c:v>
                </c:pt>
                <c:pt idx="3">
                  <c:v>0.9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4BAD-40FC-857E-88439AD678E6}"/>
            </c:ext>
          </c:extLst>
        </c:ser>
        <c:ser>
          <c:idx val="2"/>
          <c:order val="2"/>
          <c:tx>
            <c:strRef>
              <c:f>MatMul</c:f>
              <c:strCache>
                <c:ptCount val="1"/>
                <c:pt idx="0">
                  <c:v>MatMul</c:v>
                </c:pt>
              </c:strCache>
            </c:strRef>
          </c:tx>
          <c:spPr>
            <a:solidFill>
              <a:srgbClr val="0D0D0D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40" b="0" i="0" u="none" strike="noStrike" kern="1200" baseline="0">
                    <a:solidFill>
                      <a:srgbClr val="000000"/>
                    </a:solidFill>
                    <a:latin typeface="Times New Roman" panose="02020603050405020304" pitchFamily="18" charset="0"/>
                    <a:ea typeface="Arial" panose="020B0604020202020204"/>
                    <a:cs typeface="Times New Roman" panose="02020603050405020304" pitchFamily="18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'Chart Data'!$E$2:$E$5</c:f>
              <c:strCache>
                <c:ptCount val="4"/>
                <c:pt idx="0">
                  <c:v>MLU Triton</c:v>
                </c:pt>
                <c:pt idx="1">
                  <c:v>BANG C</c:v>
                </c:pt>
                <c:pt idx="2">
                  <c:v>GPU Triton</c:v>
                </c:pt>
                <c:pt idx="3">
                  <c:v>CUDA C</c:v>
                </c:pt>
              </c:strCache>
            </c:strRef>
          </c:cat>
          <c:val>
            <c:numRef>
              <c:f>'Chart Data'!$F$2:$F$5</c:f>
              <c:numCache>
                <c:formatCode>0.0</c:formatCode>
                <c:ptCount val="4"/>
                <c:pt idx="0">
                  <c:v>1.8</c:v>
                </c:pt>
                <c:pt idx="1">
                  <c:v>4</c:v>
                </c:pt>
                <c:pt idx="2">
                  <c:v>1.6</c:v>
                </c:pt>
                <c:pt idx="3">
                  <c:v>1.5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4BAD-40FC-857E-88439AD678E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 cap="flat" cmpd="sng" algn="ctr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65" b="0" i="0" u="none" strike="noStrike" kern="1200" baseline="0">
                <a:solidFill>
                  <a:srgbClr val="242424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4.5"/>
          <c:min val="0"/>
        </c:scaling>
        <c:delete val="0"/>
        <c:axPos val="l"/>
        <c:majorGridlines>
          <c:spPr>
            <a:ln w="4763" cap="flat" cmpd="sng" algn="ctr">
              <a:solidFill>
                <a:srgbClr val="D9D9D9"/>
              </a:solidFill>
              <a:prstDash val="solid"/>
              <a:round/>
            </a:ln>
          </c:spPr>
        </c:majorGridlines>
        <c:numFmt formatCode="0.0" sourceLinked="1"/>
        <c:majorTickMark val="none"/>
        <c:minorTickMark val="none"/>
        <c:tickLblPos val="nextTo"/>
        <c:spPr>
          <a:ln w="9525" cap="flat" cmpd="sng" algn="ctr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endParaRPr lang="zh-CN"/>
          </a:p>
        </c:txPr>
        <c:crossAx val="48650112"/>
        <c:crosses val="autoZero"/>
        <c:crossBetween val="between"/>
        <c:majorUnit val="1"/>
      </c:valAx>
      <c:spPr>
        <a:solidFill>
          <a:srgbClr val="FFFFFF"/>
        </a:solidFill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975" b="0" i="0" u="none" strike="noStrike" kern="1200" baseline="0">
              <a:solidFill>
                <a:srgbClr val="242424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defRPr>
          </a:pPr>
          <a:endParaRPr lang="zh-CN"/>
        </a:p>
      </c:txPr>
    </c:legend>
    <c:plotVisOnly val="1"/>
    <c:dispBlanksAs val="zero"/>
    <c:showDLblsOverMax val="1"/>
    <c:extLst>
      <c:ext uri="{0b15fc19-7d7d-44ad-8c2d-2c3a37ce22c3}">
        <chartProps xmlns="https://web.wps.cn/et/2018/main" chartId="{6aabcb56-5ddf-4d63-9750-b34d24ad7e42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#1">
  <dgm:title val=""/>
  <dgm:desc val=""/>
  <dgm:catLst>
    <dgm:cat type="colorful" pri="10300"/>
  </dgm:catLst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704665-A736-4D9D-8335-F52D0001726A}" type="doc">
      <dgm:prSet loTypeId="urn:microsoft.com/office/officeart/2005/8/layout/list1#1" loCatId="list" qsTypeId="urn:microsoft.com/office/officeart/2005/8/quickstyle/simple1#1" qsCatId="simple" csTypeId="urn:microsoft.com/office/officeart/2005/8/colors/colorful3#1" csCatId="colorful" phldr="1"/>
      <dgm:spPr/>
      <dgm:t>
        <a:bodyPr/>
        <a:lstStyle/>
        <a:p>
          <a:endParaRPr lang="zh-CN" altLang="en-US"/>
        </a:p>
      </dgm:t>
    </dgm:pt>
    <dgm:pt modelId="{E61598D1-5714-48B6-8D09-72944FE9F33B}">
      <dgm:prSet phldrT="[文本]" custT="1"/>
      <dgm:spPr>
        <a:solidFill>
          <a:srgbClr val="C00000"/>
        </a:solidFill>
      </dgm:spPr>
      <dgm:t>
        <a:bodyPr/>
        <a:lstStyle/>
        <a:p>
          <a:pPr algn="l"/>
          <a:r>
            <a:rPr lang="zh-CN" altLang="en-US" sz="2000" b="1"/>
            <a:t>自我介绍</a:t>
          </a:r>
        </a:p>
      </dgm:t>
    </dgm:pt>
    <dgm:pt modelId="{93B0F235-AD2E-4B57-AD3A-0FA3DCEEC602}" type="parTrans" cxnId="{B99F2629-7A48-4225-A786-33DB37B34471}">
      <dgm:prSet/>
      <dgm:spPr/>
      <dgm:t>
        <a:bodyPr/>
        <a:lstStyle/>
        <a:p>
          <a:pPr algn="l"/>
          <a:endParaRPr lang="zh-CN" altLang="en-US" sz="1600"/>
        </a:p>
      </dgm:t>
    </dgm:pt>
    <dgm:pt modelId="{3A1DFD91-6042-4471-98C1-87903CF1668E}" type="sibTrans" cxnId="{B99F2629-7A48-4225-A786-33DB37B34471}">
      <dgm:prSet/>
      <dgm:spPr/>
      <dgm:t>
        <a:bodyPr/>
        <a:lstStyle/>
        <a:p>
          <a:pPr algn="l"/>
          <a:endParaRPr lang="zh-CN" altLang="en-US" sz="1600"/>
        </a:p>
      </dgm:t>
    </dgm:pt>
    <dgm:pt modelId="{3AC1DE5D-0C7B-4F77-A8E1-863ADFF7D298}">
      <dgm:prSet phldrT="[文本]" phldr="0" custT="1"/>
      <dgm:spPr/>
      <dgm:t>
        <a:bodyPr vert="horz" wrap="square"/>
        <a:lstStyle>
          <a:lvl1pPr algn="l">
            <a:defRPr sz="2300"/>
          </a:lvl1pPr>
          <a:lvl2pPr marL="171450" indent="-171450" algn="l">
            <a:defRPr sz="1700"/>
          </a:lvl2pPr>
          <a:lvl3pPr marL="342900" indent="-171450" algn="l">
            <a:defRPr sz="1700"/>
          </a:lvl3pPr>
          <a:lvl4pPr marL="514350" indent="-171450" algn="l">
            <a:defRPr sz="1700"/>
          </a:lvl4pPr>
          <a:lvl5pPr marL="685800" indent="-171450" algn="l">
            <a:defRPr sz="1700"/>
          </a:lvl5pPr>
          <a:lvl6pPr marL="857250" indent="-171450" algn="l">
            <a:defRPr sz="1700"/>
          </a:lvl6pPr>
          <a:lvl7pPr marL="1028700" indent="-171450" algn="l">
            <a:defRPr sz="1700"/>
          </a:lvl7pPr>
          <a:lvl8pPr marL="1200150" indent="-171450" algn="l">
            <a:defRPr sz="1700"/>
          </a:lvl8pPr>
          <a:lvl9pPr marL="1371600" indent="-171450" algn="l">
            <a:defRPr sz="1700"/>
          </a:lvl9pPr>
        </a:lstStyle>
        <a:p>
          <a:pPr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dirty="0"/>
            <a:t>实习期间的工作</a:t>
          </a:r>
          <a:endParaRPr sz="1800" dirty="0"/>
        </a:p>
      </dgm:t>
    </dgm:pt>
    <dgm:pt modelId="{2F56BB86-74F7-4F59-A92B-1698457E79E8}" type="parTrans" cxnId="{E55B3D29-929C-4E77-BF3E-85FDB7FEA21C}">
      <dgm:prSet/>
      <dgm:spPr/>
      <dgm:t>
        <a:bodyPr/>
        <a:lstStyle/>
        <a:p>
          <a:pPr algn="l"/>
          <a:endParaRPr lang="zh-CN" altLang="en-US" sz="1600"/>
        </a:p>
      </dgm:t>
    </dgm:pt>
    <dgm:pt modelId="{3DAB2A60-3F2E-4034-81A2-3EB9E57EE331}" type="sibTrans" cxnId="{E55B3D29-929C-4E77-BF3E-85FDB7FEA21C}">
      <dgm:prSet/>
      <dgm:spPr/>
      <dgm:t>
        <a:bodyPr/>
        <a:lstStyle/>
        <a:p>
          <a:pPr algn="l"/>
          <a:endParaRPr lang="zh-CN" altLang="en-US" sz="1600"/>
        </a:p>
      </dgm:t>
    </dgm:pt>
    <dgm:pt modelId="{CA79CA1E-6203-4C5E-89B8-D5BC85C20887}">
      <dgm:prSet phldrT="[文本]" phldr="0" custT="1"/>
      <dgm:spPr/>
      <dgm:t>
        <a:bodyPr vert="horz" wrap="square"/>
        <a:lstStyle>
          <a:lvl1pPr algn="l">
            <a:defRPr sz="2300"/>
          </a:lvl1pPr>
          <a:lvl2pPr marL="171450" indent="-171450" algn="l">
            <a:defRPr sz="1700"/>
          </a:lvl2pPr>
          <a:lvl3pPr marL="342900" indent="-171450" algn="l">
            <a:defRPr sz="1700"/>
          </a:lvl3pPr>
          <a:lvl4pPr marL="514350" indent="-171450" algn="l">
            <a:defRPr sz="1700"/>
          </a:lvl4pPr>
          <a:lvl5pPr marL="685800" indent="-171450" algn="l">
            <a:defRPr sz="1700"/>
          </a:lvl5pPr>
          <a:lvl6pPr marL="857250" indent="-171450" algn="l">
            <a:defRPr sz="1700"/>
          </a:lvl6pPr>
          <a:lvl7pPr marL="1028700" indent="-171450" algn="l">
            <a:defRPr sz="1700"/>
          </a:lvl7pPr>
          <a:lvl8pPr marL="1200150" indent="-171450" algn="l">
            <a:defRPr sz="1700"/>
          </a:lvl8pPr>
          <a:lvl9pPr marL="1371600" indent="-171450" algn="l">
            <a:defRPr sz="1700"/>
          </a:lvl9pPr>
        </a:lstStyle>
        <a:p>
          <a:pPr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dirty="0"/>
            <a:t>实习期间工作总结与个人发展计划</a:t>
          </a:r>
          <a:endParaRPr sz="1800" dirty="0"/>
        </a:p>
      </dgm:t>
    </dgm:pt>
    <dgm:pt modelId="{2E0C74A6-90CB-4972-9BFC-F8A200BA693D}" type="parTrans" cxnId="{FDD4248E-A4F8-4914-9FC1-67F9FDF198CB}">
      <dgm:prSet/>
      <dgm:spPr/>
      <dgm:t>
        <a:bodyPr/>
        <a:lstStyle/>
        <a:p>
          <a:pPr algn="l"/>
          <a:endParaRPr lang="zh-CN" altLang="en-US" sz="1600"/>
        </a:p>
      </dgm:t>
    </dgm:pt>
    <dgm:pt modelId="{AD6EB47E-6070-4E3A-8230-56564994DA6C}" type="sibTrans" cxnId="{FDD4248E-A4F8-4914-9FC1-67F9FDF198CB}">
      <dgm:prSet/>
      <dgm:spPr/>
      <dgm:t>
        <a:bodyPr/>
        <a:lstStyle/>
        <a:p>
          <a:pPr algn="l"/>
          <a:endParaRPr lang="zh-CN" altLang="en-US" sz="1600"/>
        </a:p>
      </dgm:t>
    </dgm:pt>
    <dgm:pt modelId="{1F9E5051-CCF5-4A33-A6E9-64414976A650}" type="pres">
      <dgm:prSet presAssocID="{94704665-A736-4D9D-8335-F52D0001726A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20EA8654-DEE7-4CDF-ACEA-95FAEC5EB7B6}" type="pres">
      <dgm:prSet presAssocID="{E61598D1-5714-48B6-8D09-72944FE9F33B}" presName="parentLin" presStyleCnt="0"/>
      <dgm:spPr/>
    </dgm:pt>
    <dgm:pt modelId="{6FFBADE6-0AA7-4D85-B7A6-2AA7C805E598}" type="pres">
      <dgm:prSet presAssocID="{E61598D1-5714-48B6-8D09-72944FE9F33B}" presName="parentLeftMargin" presStyleLbl="node1" presStyleIdx="0" presStyleCnt="3"/>
      <dgm:spPr/>
      <dgm:t>
        <a:bodyPr/>
        <a:lstStyle/>
        <a:p>
          <a:endParaRPr lang="zh-CN" altLang="en-US"/>
        </a:p>
      </dgm:t>
    </dgm:pt>
    <dgm:pt modelId="{C709F359-301E-4C8A-A678-3A5064987B42}" type="pres">
      <dgm:prSet presAssocID="{E61598D1-5714-48B6-8D09-72944FE9F33B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EB85027-A905-4D19-B3BE-E5E5FCA331DE}" type="pres">
      <dgm:prSet presAssocID="{E61598D1-5714-48B6-8D09-72944FE9F33B}" presName="negativeSpace" presStyleCnt="0"/>
      <dgm:spPr/>
    </dgm:pt>
    <dgm:pt modelId="{3159482F-45E3-424C-97E7-6642D85469CE}" type="pres">
      <dgm:prSet presAssocID="{E61598D1-5714-48B6-8D09-72944FE9F33B}" presName="childText" presStyleLbl="conFgAcc1" presStyleIdx="0" presStyleCnt="3">
        <dgm:presLayoutVars>
          <dgm:bulletEnabled val="1"/>
        </dgm:presLayoutVars>
      </dgm:prSet>
      <dgm:spPr/>
    </dgm:pt>
    <dgm:pt modelId="{8C07274C-1018-4D57-AA5C-718010CCE74F}" type="pres">
      <dgm:prSet presAssocID="{3A1DFD91-6042-4471-98C1-87903CF1668E}" presName="spaceBetweenRectangles" presStyleCnt="0"/>
      <dgm:spPr/>
    </dgm:pt>
    <dgm:pt modelId="{67A6475B-C843-4769-AFD7-BD620849CA3A}" type="pres">
      <dgm:prSet presAssocID="{3AC1DE5D-0C7B-4F77-A8E1-863ADFF7D298}" presName="parentLin" presStyleCnt="0"/>
      <dgm:spPr/>
    </dgm:pt>
    <dgm:pt modelId="{FD2A137D-8787-4399-83E3-F753DA75BC74}" type="pres">
      <dgm:prSet presAssocID="{3AC1DE5D-0C7B-4F77-A8E1-863ADFF7D298}" presName="parentLeftMargin" presStyleLbl="node1" presStyleIdx="0" presStyleCnt="3"/>
      <dgm:spPr/>
      <dgm:t>
        <a:bodyPr/>
        <a:lstStyle/>
        <a:p>
          <a:endParaRPr lang="zh-CN" altLang="en-US"/>
        </a:p>
      </dgm:t>
    </dgm:pt>
    <dgm:pt modelId="{4F479855-378F-4D03-960B-E6F8A5F36BE8}" type="pres">
      <dgm:prSet presAssocID="{3AC1DE5D-0C7B-4F77-A8E1-863ADFF7D298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B2F4E33-FA0D-45C9-803C-2CC0271C8E37}" type="pres">
      <dgm:prSet presAssocID="{3AC1DE5D-0C7B-4F77-A8E1-863ADFF7D298}" presName="negativeSpace" presStyleCnt="0"/>
      <dgm:spPr/>
    </dgm:pt>
    <dgm:pt modelId="{1BB52BDE-442F-421C-B0F1-427936E17B4E}" type="pres">
      <dgm:prSet presAssocID="{3AC1DE5D-0C7B-4F77-A8E1-863ADFF7D298}" presName="childText" presStyleLbl="conFgAcc1" presStyleIdx="1" presStyleCnt="3">
        <dgm:presLayoutVars>
          <dgm:bulletEnabled val="1"/>
        </dgm:presLayoutVars>
      </dgm:prSet>
      <dgm:spPr/>
    </dgm:pt>
    <dgm:pt modelId="{4181A8A4-D221-487B-8F17-E170D730C7F3}" type="pres">
      <dgm:prSet presAssocID="{3DAB2A60-3F2E-4034-81A2-3EB9E57EE331}" presName="spaceBetweenRectangles" presStyleCnt="0"/>
      <dgm:spPr/>
    </dgm:pt>
    <dgm:pt modelId="{70E5C4EF-B51E-438D-A083-CA000233B185}" type="pres">
      <dgm:prSet presAssocID="{CA79CA1E-6203-4C5E-89B8-D5BC85C20887}" presName="parentLin" presStyleCnt="0"/>
      <dgm:spPr/>
    </dgm:pt>
    <dgm:pt modelId="{52AC27CC-DEA6-4698-924F-E39ED5060F9D}" type="pres">
      <dgm:prSet presAssocID="{CA79CA1E-6203-4C5E-89B8-D5BC85C20887}" presName="parentLeftMargin" presStyleLbl="node1" presStyleIdx="1" presStyleCnt="3"/>
      <dgm:spPr/>
      <dgm:t>
        <a:bodyPr/>
        <a:lstStyle/>
        <a:p>
          <a:endParaRPr lang="zh-CN" altLang="en-US"/>
        </a:p>
      </dgm:t>
    </dgm:pt>
    <dgm:pt modelId="{05B1D53B-862E-473A-8C4A-4F092E184EE5}" type="pres">
      <dgm:prSet presAssocID="{CA79CA1E-6203-4C5E-89B8-D5BC85C20887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7E37543-E3F7-4FB7-B815-978E6B45ADA8}" type="pres">
      <dgm:prSet presAssocID="{CA79CA1E-6203-4C5E-89B8-D5BC85C20887}" presName="negativeSpace" presStyleCnt="0"/>
      <dgm:spPr/>
    </dgm:pt>
    <dgm:pt modelId="{82C7D334-A469-4AAB-80F8-6B34A23098CC}" type="pres">
      <dgm:prSet presAssocID="{CA79CA1E-6203-4C5E-89B8-D5BC85C20887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2F2D337E-D5BE-46B7-809C-2956CB1FF9BC}" type="presOf" srcId="{CA79CA1E-6203-4C5E-89B8-D5BC85C20887}" destId="{52AC27CC-DEA6-4698-924F-E39ED5060F9D}" srcOrd="0" destOrd="0" presId="urn:microsoft.com/office/officeart/2005/8/layout/list1#1"/>
    <dgm:cxn modelId="{99C42502-0C96-4E87-939E-773241D1D822}" type="presOf" srcId="{E61598D1-5714-48B6-8D09-72944FE9F33B}" destId="{C709F359-301E-4C8A-A678-3A5064987B42}" srcOrd="1" destOrd="0" presId="urn:microsoft.com/office/officeart/2005/8/layout/list1#1"/>
    <dgm:cxn modelId="{0BD9185B-CCCD-4251-B3F3-1EFD81AD3711}" type="presOf" srcId="{3AC1DE5D-0C7B-4F77-A8E1-863ADFF7D298}" destId="{4F479855-378F-4D03-960B-E6F8A5F36BE8}" srcOrd="1" destOrd="0" presId="urn:microsoft.com/office/officeart/2005/8/layout/list1#1"/>
    <dgm:cxn modelId="{D7105DAC-7992-4F39-9A5C-991DA03AFC83}" type="presOf" srcId="{E61598D1-5714-48B6-8D09-72944FE9F33B}" destId="{6FFBADE6-0AA7-4D85-B7A6-2AA7C805E598}" srcOrd="0" destOrd="0" presId="urn:microsoft.com/office/officeart/2005/8/layout/list1#1"/>
    <dgm:cxn modelId="{87BAD9B3-7F0D-4D7D-A284-F9C646BA1652}" type="presOf" srcId="{94704665-A736-4D9D-8335-F52D0001726A}" destId="{1F9E5051-CCF5-4A33-A6E9-64414976A650}" srcOrd="0" destOrd="0" presId="urn:microsoft.com/office/officeart/2005/8/layout/list1#1"/>
    <dgm:cxn modelId="{FDD4248E-A4F8-4914-9FC1-67F9FDF198CB}" srcId="{94704665-A736-4D9D-8335-F52D0001726A}" destId="{CA79CA1E-6203-4C5E-89B8-D5BC85C20887}" srcOrd="2" destOrd="0" parTransId="{2E0C74A6-90CB-4972-9BFC-F8A200BA693D}" sibTransId="{AD6EB47E-6070-4E3A-8230-56564994DA6C}"/>
    <dgm:cxn modelId="{12CDDFDE-0DC9-454D-947E-579354A6853F}" type="presOf" srcId="{CA79CA1E-6203-4C5E-89B8-D5BC85C20887}" destId="{05B1D53B-862E-473A-8C4A-4F092E184EE5}" srcOrd="1" destOrd="0" presId="urn:microsoft.com/office/officeart/2005/8/layout/list1#1"/>
    <dgm:cxn modelId="{B99F2629-7A48-4225-A786-33DB37B34471}" srcId="{94704665-A736-4D9D-8335-F52D0001726A}" destId="{E61598D1-5714-48B6-8D09-72944FE9F33B}" srcOrd="0" destOrd="0" parTransId="{93B0F235-AD2E-4B57-AD3A-0FA3DCEEC602}" sibTransId="{3A1DFD91-6042-4471-98C1-87903CF1668E}"/>
    <dgm:cxn modelId="{A4E85EE0-E31B-414F-BF72-195AAB924613}" type="presOf" srcId="{3AC1DE5D-0C7B-4F77-A8E1-863ADFF7D298}" destId="{FD2A137D-8787-4399-83E3-F753DA75BC74}" srcOrd="0" destOrd="0" presId="urn:microsoft.com/office/officeart/2005/8/layout/list1#1"/>
    <dgm:cxn modelId="{E55B3D29-929C-4E77-BF3E-85FDB7FEA21C}" srcId="{94704665-A736-4D9D-8335-F52D0001726A}" destId="{3AC1DE5D-0C7B-4F77-A8E1-863ADFF7D298}" srcOrd="1" destOrd="0" parTransId="{2F56BB86-74F7-4F59-A92B-1698457E79E8}" sibTransId="{3DAB2A60-3F2E-4034-81A2-3EB9E57EE331}"/>
    <dgm:cxn modelId="{6ED7FC1A-A691-459F-A24F-9CA9E4B05282}" type="presParOf" srcId="{1F9E5051-CCF5-4A33-A6E9-64414976A650}" destId="{20EA8654-DEE7-4CDF-ACEA-95FAEC5EB7B6}" srcOrd="0" destOrd="0" presId="urn:microsoft.com/office/officeart/2005/8/layout/list1#1"/>
    <dgm:cxn modelId="{BBEA9F1A-6F56-4E17-B5B7-3252E43B11FE}" type="presParOf" srcId="{20EA8654-DEE7-4CDF-ACEA-95FAEC5EB7B6}" destId="{6FFBADE6-0AA7-4D85-B7A6-2AA7C805E598}" srcOrd="0" destOrd="0" presId="urn:microsoft.com/office/officeart/2005/8/layout/list1#1"/>
    <dgm:cxn modelId="{316FCDC8-9394-4998-BBED-4A252036AD6E}" type="presParOf" srcId="{20EA8654-DEE7-4CDF-ACEA-95FAEC5EB7B6}" destId="{C709F359-301E-4C8A-A678-3A5064987B42}" srcOrd="1" destOrd="0" presId="urn:microsoft.com/office/officeart/2005/8/layout/list1#1"/>
    <dgm:cxn modelId="{3370ADD6-A81E-4BF0-8C1B-8A83BD92EB46}" type="presParOf" srcId="{1F9E5051-CCF5-4A33-A6E9-64414976A650}" destId="{EEB85027-A905-4D19-B3BE-E5E5FCA331DE}" srcOrd="1" destOrd="0" presId="urn:microsoft.com/office/officeart/2005/8/layout/list1#1"/>
    <dgm:cxn modelId="{E92FB42B-0B79-4306-A096-5B049E11B50C}" type="presParOf" srcId="{1F9E5051-CCF5-4A33-A6E9-64414976A650}" destId="{3159482F-45E3-424C-97E7-6642D85469CE}" srcOrd="2" destOrd="0" presId="urn:microsoft.com/office/officeart/2005/8/layout/list1#1"/>
    <dgm:cxn modelId="{34E299DF-CEF7-4A1A-BDA6-B0E30DCE2A1A}" type="presParOf" srcId="{1F9E5051-CCF5-4A33-A6E9-64414976A650}" destId="{8C07274C-1018-4D57-AA5C-718010CCE74F}" srcOrd="3" destOrd="0" presId="urn:microsoft.com/office/officeart/2005/8/layout/list1#1"/>
    <dgm:cxn modelId="{B81D7DF5-9DFA-4A36-84AB-3D1FF7270639}" type="presParOf" srcId="{1F9E5051-CCF5-4A33-A6E9-64414976A650}" destId="{67A6475B-C843-4769-AFD7-BD620849CA3A}" srcOrd="4" destOrd="0" presId="urn:microsoft.com/office/officeart/2005/8/layout/list1#1"/>
    <dgm:cxn modelId="{F2387A21-4A05-4906-AAE9-1AC7BABE9868}" type="presParOf" srcId="{67A6475B-C843-4769-AFD7-BD620849CA3A}" destId="{FD2A137D-8787-4399-83E3-F753DA75BC74}" srcOrd="0" destOrd="0" presId="urn:microsoft.com/office/officeart/2005/8/layout/list1#1"/>
    <dgm:cxn modelId="{B334A592-406D-4ECA-8063-C89B5C8C251E}" type="presParOf" srcId="{67A6475B-C843-4769-AFD7-BD620849CA3A}" destId="{4F479855-378F-4D03-960B-E6F8A5F36BE8}" srcOrd="1" destOrd="0" presId="urn:microsoft.com/office/officeart/2005/8/layout/list1#1"/>
    <dgm:cxn modelId="{F0D96521-622C-47AB-AFF3-F4CF044924AD}" type="presParOf" srcId="{1F9E5051-CCF5-4A33-A6E9-64414976A650}" destId="{4B2F4E33-FA0D-45C9-803C-2CC0271C8E37}" srcOrd="5" destOrd="0" presId="urn:microsoft.com/office/officeart/2005/8/layout/list1#1"/>
    <dgm:cxn modelId="{9FE99DFF-C7AA-439C-A2F3-848CABCE81E4}" type="presParOf" srcId="{1F9E5051-CCF5-4A33-A6E9-64414976A650}" destId="{1BB52BDE-442F-421C-B0F1-427936E17B4E}" srcOrd="6" destOrd="0" presId="urn:microsoft.com/office/officeart/2005/8/layout/list1#1"/>
    <dgm:cxn modelId="{E12DF517-652A-4AA2-B663-56D38FA74225}" type="presParOf" srcId="{1F9E5051-CCF5-4A33-A6E9-64414976A650}" destId="{4181A8A4-D221-487B-8F17-E170D730C7F3}" srcOrd="7" destOrd="0" presId="urn:microsoft.com/office/officeart/2005/8/layout/list1#1"/>
    <dgm:cxn modelId="{BA0DDDD6-73C7-4C1F-A400-AD4A0DB702C6}" type="presParOf" srcId="{1F9E5051-CCF5-4A33-A6E9-64414976A650}" destId="{70E5C4EF-B51E-438D-A083-CA000233B185}" srcOrd="8" destOrd="0" presId="urn:microsoft.com/office/officeart/2005/8/layout/list1#1"/>
    <dgm:cxn modelId="{30962298-70D2-41E2-9B8A-0167E4BE607B}" type="presParOf" srcId="{70E5C4EF-B51E-438D-A083-CA000233B185}" destId="{52AC27CC-DEA6-4698-924F-E39ED5060F9D}" srcOrd="0" destOrd="0" presId="urn:microsoft.com/office/officeart/2005/8/layout/list1#1"/>
    <dgm:cxn modelId="{1A222B7D-B67A-4C3E-9C87-1250A5253EEC}" type="presParOf" srcId="{70E5C4EF-B51E-438D-A083-CA000233B185}" destId="{05B1D53B-862E-473A-8C4A-4F092E184EE5}" srcOrd="1" destOrd="0" presId="urn:microsoft.com/office/officeart/2005/8/layout/list1#1"/>
    <dgm:cxn modelId="{A75229C9-FBEC-49DA-A484-073E7FBAC728}" type="presParOf" srcId="{1F9E5051-CCF5-4A33-A6E9-64414976A650}" destId="{37E37543-E3F7-4FB7-B815-978E6B45ADA8}" srcOrd="9" destOrd="0" presId="urn:microsoft.com/office/officeart/2005/8/layout/list1#1"/>
    <dgm:cxn modelId="{B59D8263-4887-4D67-BE6C-CED54CDA2385}" type="presParOf" srcId="{1F9E5051-CCF5-4A33-A6E9-64414976A650}" destId="{82C7D334-A469-4AAB-80F8-6B34A23098CC}" srcOrd="10" destOrd="0" presId="urn:microsoft.com/office/officeart/2005/8/layout/list1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59482F-45E3-424C-97E7-6642D85469CE}">
      <dsp:nvSpPr>
        <dsp:cNvPr id="0" name=""/>
        <dsp:cNvSpPr/>
      </dsp:nvSpPr>
      <dsp:spPr>
        <a:xfrm>
          <a:off x="0" y="480529"/>
          <a:ext cx="6096000" cy="781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09F359-301E-4C8A-A678-3A5064987B42}">
      <dsp:nvSpPr>
        <dsp:cNvPr id="0" name=""/>
        <dsp:cNvSpPr/>
      </dsp:nvSpPr>
      <dsp:spPr>
        <a:xfrm>
          <a:off x="304800" y="22969"/>
          <a:ext cx="4267200" cy="915120"/>
        </a:xfrm>
        <a:prstGeom prst="roundRect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/>
            <a:t>自我介绍</a:t>
          </a:r>
        </a:p>
      </dsp:txBody>
      <dsp:txXfrm>
        <a:off x="349472" y="67641"/>
        <a:ext cx="4177856" cy="825776"/>
      </dsp:txXfrm>
    </dsp:sp>
    <dsp:sp modelId="{1BB52BDE-442F-421C-B0F1-427936E17B4E}">
      <dsp:nvSpPr>
        <dsp:cNvPr id="0" name=""/>
        <dsp:cNvSpPr/>
      </dsp:nvSpPr>
      <dsp:spPr>
        <a:xfrm>
          <a:off x="0" y="1886689"/>
          <a:ext cx="6096000" cy="781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5625132"/>
              <a:satOff val="-8440"/>
              <a:lumOff val="-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479855-378F-4D03-960B-E6F8A5F36BE8}">
      <dsp:nvSpPr>
        <dsp:cNvPr id="0" name=""/>
        <dsp:cNvSpPr/>
      </dsp:nvSpPr>
      <dsp:spPr>
        <a:xfrm>
          <a:off x="304800" y="1429129"/>
          <a:ext cx="4267200" cy="915120"/>
        </a:xfrm>
        <a:prstGeom prst="roundRect">
          <a:avLst/>
        </a:prstGeom>
        <a:solidFill>
          <a:schemeClr val="accent3">
            <a:hueOff val="5625132"/>
            <a:satOff val="-8440"/>
            <a:lumOff val="-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/>
            <a:t>实习期间的工作</a:t>
          </a:r>
          <a:endParaRPr sz="1800" kern="1200" dirty="0"/>
        </a:p>
      </dsp:txBody>
      <dsp:txXfrm>
        <a:off x="349472" y="1473801"/>
        <a:ext cx="4177856" cy="825776"/>
      </dsp:txXfrm>
    </dsp:sp>
    <dsp:sp modelId="{82C7D334-A469-4AAB-80F8-6B34A23098CC}">
      <dsp:nvSpPr>
        <dsp:cNvPr id="0" name=""/>
        <dsp:cNvSpPr/>
      </dsp:nvSpPr>
      <dsp:spPr>
        <a:xfrm>
          <a:off x="0" y="3292850"/>
          <a:ext cx="6096000" cy="781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11250264"/>
              <a:satOff val="-16880"/>
              <a:lumOff val="-274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B1D53B-862E-473A-8C4A-4F092E184EE5}">
      <dsp:nvSpPr>
        <dsp:cNvPr id="0" name=""/>
        <dsp:cNvSpPr/>
      </dsp:nvSpPr>
      <dsp:spPr>
        <a:xfrm>
          <a:off x="304800" y="2835290"/>
          <a:ext cx="4267200" cy="915120"/>
        </a:xfrm>
        <a:prstGeom prst="roundRect">
          <a:avLst/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kern="1200" dirty="0"/>
            <a:t>实习期间工作总结与个人发展计划</a:t>
          </a:r>
          <a:endParaRPr sz="1800" kern="1200" dirty="0"/>
        </a:p>
      </dsp:txBody>
      <dsp:txXfrm>
        <a:off x="349472" y="2879962"/>
        <a:ext cx="4177856" cy="8257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#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nodeHorzAlign" val="l"/>
          <dgm:param type="horzAlign" val="l"/>
        </dgm:alg>
      </dgm:if>
      <dgm:else name="Name2">
        <dgm:alg type="lin">
          <dgm:param type="linDir" val="fromT"/>
          <dgm:param type="vertAlign" val="mid"/>
          <dgm:param type="nodeHorzAlign" val="r"/>
          <dgm:param type="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nodeHorzAlign" val="l"/>
              <dgm:param type="horzAlign" val="l"/>
            </dgm:alg>
          </dgm:if>
          <dgm:else name="Name6">
            <dgm:alg type="lin">
              <dgm:param type="linDir" val="fromR"/>
              <dgm:param type="nodeHorzAlign" val="r"/>
              <dgm:param type="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74FED9-3A6F-41BA-8FF6-39438EA9BD03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0FC9F5-C5B3-4F9C-AB2F-06E1DBE394B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584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5844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0A28CE1-A9CD-4F41-A4DB-3C7991DDFF33}" type="slidenum">
              <a:rPr lang="en-US" altLang="zh-CN" smtClean="0">
                <a:solidFill>
                  <a:prstClr val="black"/>
                </a:solidFill>
                <a:ea typeface="宋体" panose="02010600030101010101" pitchFamily="2" charset="-122"/>
              </a:rPr>
              <a:t>1</a:t>
            </a:fld>
            <a:endParaRPr lang="en-US" altLang="zh-CN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1D937D-FF6F-4B1D-B89F-1F2DB302E420}" type="slidenum">
              <a:rPr lang="en-US" altLang="zh-CN" smtClean="0">
                <a:solidFill>
                  <a:prstClr val="black"/>
                </a:solidFill>
              </a:rPr>
              <a:t>2</a:t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B0F7BE-16CD-4F2A-A360-0B281A81F73F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300035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06173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5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算子的开发流程具有通用性，但是由于</a:t>
            </a:r>
          </a:p>
          <a:p>
            <a:pPr>
              <a:defRPr sz="15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硬件架构的差异和原</a:t>
            </a:r>
            <a:r>
              <a:rPr lang="en-US" altLang="zh-CN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skill</a:t>
            </a:r>
            <a:r>
              <a:rPr lang="zh-CN" altLang="en-US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流程与</a:t>
            </a:r>
          </a:p>
          <a:p>
            <a:pPr>
              <a:defRPr sz="15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各种专属信息相互耦合，无法简单修改复用。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第一阶段明确目标平台（GPU、MLU、Ascend或其他</a:t>
            </a:r>
            <a:r>
              <a:rPr dirty="0"/>
              <a:t>）、</a:t>
            </a:r>
            <a:r>
              <a:rPr dirty="0" err="1"/>
              <a:t>编程后端（Triton、CUDA</a:t>
            </a:r>
            <a:r>
              <a:rPr dirty="0"/>
              <a:t> C、BANG </a:t>
            </a:r>
            <a:r>
              <a:rPr dirty="0" err="1"/>
              <a:t>C、Ascend</a:t>
            </a:r>
            <a:r>
              <a:rPr dirty="0"/>
              <a:t> </a:t>
            </a:r>
            <a:r>
              <a:rPr dirty="0" err="1"/>
              <a:t>C等</a:t>
            </a:r>
            <a:r>
              <a:rPr dirty="0"/>
              <a:t>）、环境版本及算子需求。精度示例为FP16、BF16、FP32，性能指标为相对基线或绝对值。第二阶段复用已验证的方法，不重新设计流程。第三阶段补齐可执行机制：执行阶段生成Kernel/Test/Script，经编译、运行、精度、性能Gate检查，PASS进入下一阶段，FAIL进入自动或人工Retry，也可Fallback；保留Artifact并利用Cache加速迭代。第四阶段按规范封装为&lt;platform&gt;-operator V0。第五阶段依次检查L1基础能力、L2平台行为、L3典型算子，并输出测试结果与问题清单。第六阶段根据结果持续优化，形成稳定、可恢复、可复用且工程规范完善的Skill。后续扩展算子类型、Shape、精度、平台及社区分享。验证失败时分别定位Workflow、Platform </a:t>
            </a:r>
            <a:r>
              <a:rPr dirty="0" err="1"/>
              <a:t>Knowledge、Optimization问题，修改流程、补充平台知识、完善优化规则后重新测试，直至满足要求</a:t>
            </a:r>
            <a:r>
              <a:rPr dirty="0"/>
              <a:t>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测试配置：统一测试集，LayerNorm、Softmax、MatMul；典型静态与动态Shape；FP16计算、FP32累加；指标包括相对PyTorch加速比、开发耗时及正确性。四类Skill为寒武纪MLU+Triton、寒武纪MLU+BANG C、NVIDIA </a:t>
            </a:r>
            <a:r>
              <a:rPr dirty="0" err="1"/>
              <a:t>GPU+Triton、NVIDIA</a:t>
            </a:r>
            <a:r>
              <a:rPr dirty="0"/>
              <a:t> GPU+CUDA C。</a:t>
            </a:r>
          </a:p>
          <a:p>
            <a:r>
              <a:rPr dirty="0" err="1"/>
              <a:t>性能（LayerNorm</a:t>
            </a:r>
            <a:r>
              <a:rPr dirty="0"/>
              <a:t>/</a:t>
            </a:r>
            <a:r>
              <a:rPr dirty="0" err="1"/>
              <a:t>Softmax</a:t>
            </a:r>
            <a:r>
              <a:rPr dirty="0"/>
              <a:t>/</a:t>
            </a:r>
            <a:r>
              <a:rPr dirty="0" err="1"/>
              <a:t>MatMul</a:t>
            </a:r>
            <a:r>
              <a:rPr dirty="0"/>
              <a:t>）：MLU Triton=1.00/1.23/0.45倍，BANG C=0.01/0.05/0.33倍，GPU Triton=1.43/1.06/0.53倍，CUDA C=1.45/1.06/0.33倍。加速比小于1表示慢于PyTorch基线。</a:t>
            </a:r>
          </a:p>
          <a:p>
            <a:r>
              <a:rPr dirty="0" err="1"/>
              <a:t>开发耗时从需求输入到通过验证，单位小时：MLU</a:t>
            </a:r>
            <a:r>
              <a:rPr dirty="0"/>
              <a:t> Triton=1.0/1.2/1.8，BANG C=3.5/3.2/4.0，GPU Triton=0.8/1.0/1.6，CUDA C=0.7/0.9/1.5。</a:t>
            </a:r>
          </a:p>
          <a:p>
            <a:r>
              <a:rPr dirty="0" err="1"/>
              <a:t>本组结果支持方法可复用、可迁移，但MatMul表现和BANG</a:t>
            </a:r>
            <a:r>
              <a:rPr dirty="0"/>
              <a:t> </a:t>
            </a:r>
            <a:r>
              <a:rPr dirty="0" err="1"/>
              <a:t>C整体性能暴露平台知识不足。通过定位问题、补充Platform</a:t>
            </a:r>
            <a:r>
              <a:rPr dirty="0"/>
              <a:t> Profile、优化规则及参考实现持续完善。具体设备型号、软件版本、完整Shape清单及统计口径未随图片提供，数值按原图报告，未独立复测。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测试配置：统一测试集，LayerNorm、Softmax、MatMul；典型静态与动态Shape；FP16计算、FP32累加；指标包括相对PyTorch加速比、开发耗时及正确性。四类Skill为寒武纪MLU+Triton、寒武纪MLU+BANG C、NVIDIA </a:t>
            </a:r>
            <a:r>
              <a:rPr dirty="0" err="1"/>
              <a:t>GPU+Triton、NVIDIA</a:t>
            </a:r>
            <a:r>
              <a:rPr dirty="0"/>
              <a:t> GPU+CUDA C。</a:t>
            </a:r>
          </a:p>
          <a:p>
            <a:r>
              <a:rPr dirty="0" err="1"/>
              <a:t>性能（LayerNorm</a:t>
            </a:r>
            <a:r>
              <a:rPr dirty="0"/>
              <a:t>/</a:t>
            </a:r>
            <a:r>
              <a:rPr dirty="0" err="1"/>
              <a:t>Softmax</a:t>
            </a:r>
            <a:r>
              <a:rPr dirty="0"/>
              <a:t>/</a:t>
            </a:r>
            <a:r>
              <a:rPr dirty="0" err="1"/>
              <a:t>MatMul</a:t>
            </a:r>
            <a:r>
              <a:rPr dirty="0"/>
              <a:t>）：MLU Triton=1.00/1.23/0.45倍，BANG C=0.01/0.05/0.33倍，GPU Triton=1.43/1.06/0.53倍，CUDA C=1.45/1.06/0.33倍。加速比小于1表示慢于PyTorch基线。</a:t>
            </a:r>
          </a:p>
          <a:p>
            <a:r>
              <a:rPr dirty="0" err="1"/>
              <a:t>开发耗时从需求输入到通过验证，单位小时：MLU</a:t>
            </a:r>
            <a:r>
              <a:rPr dirty="0"/>
              <a:t> Triton=1.0/1.2/1.8，BANG C=3.5/3.2/4.0，GPU Triton=0.8/1.0/1.6，CUDA C=0.7/0.9/1.5。</a:t>
            </a:r>
          </a:p>
          <a:p>
            <a:r>
              <a:rPr dirty="0" err="1"/>
              <a:t>本组结果支持方法可复用、可迁移，但MatMul表现和BANG</a:t>
            </a:r>
            <a:r>
              <a:rPr dirty="0"/>
              <a:t> </a:t>
            </a:r>
            <a:r>
              <a:rPr dirty="0" err="1"/>
              <a:t>C整体性能暴露平台知识不足。通过定位问题、补充Platform</a:t>
            </a:r>
            <a:r>
              <a:rPr dirty="0"/>
              <a:t> Profile、优化规则及参考实现持续完善。具体设备型号、软件版本、完整Shape清单及统计口径未随图片提供，数值按原图报告，未独立复测。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1D937D-FF6F-4B1D-B89F-1F2DB302E420}" type="slidenum">
              <a:rPr lang="en-US" altLang="zh-CN" smtClean="0">
                <a:solidFill>
                  <a:prstClr val="black"/>
                </a:solidFill>
              </a:rPr>
              <a:t>25</a:t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C:\Documents and Settings\DingQi\桌面\封面1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3887788" y="981075"/>
            <a:ext cx="3924300" cy="360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684213" y="4437063"/>
            <a:ext cx="7415212" cy="792162"/>
          </a:xfrm>
        </p:spPr>
        <p:txBody>
          <a:bodyPr/>
          <a:lstStyle>
            <a:lvl1pPr algn="ctr">
              <a:defRPr sz="2400">
                <a:latin typeface="黑体" panose="02010609060101010101" pitchFamily="2" charset="-122"/>
              </a:defRPr>
            </a:lvl1pPr>
          </a:lstStyle>
          <a:p>
            <a:r>
              <a:rPr lang="zh-CN" altLang="en-US"/>
              <a:t>海康威视</a:t>
            </a:r>
            <a:r>
              <a:rPr lang="en-US" altLang="zh-CN"/>
              <a:t>-</a:t>
            </a:r>
            <a:r>
              <a:rPr lang="zh-CN" altLang="en-US"/>
              <a:t>致力于人人轻松享有安全的品质生活</a:t>
            </a:r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1258888" y="5373688"/>
            <a:ext cx="6192837" cy="6477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1500">
                <a:solidFill>
                  <a:srgbClr val="FF0000"/>
                </a:solidFill>
                <a:ea typeface="黑体" panose="02010609060101010101" pitchFamily="2" charset="-122"/>
              </a:defRPr>
            </a:lvl1pPr>
          </a:lstStyle>
          <a:p>
            <a:r>
              <a:rPr lang="zh-CN" altLang="en-US"/>
              <a:t>提示：此为企业简介素材稿，实际使用时，务必根据受众进行修改！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CED75-4792-49C9-96DE-52CEC5167801}" type="datetime1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1638" y="1125538"/>
            <a:ext cx="8418512" cy="503976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13C77-157B-4068-91CA-B8A816C91099}" type="datetime1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56588" y="6570663"/>
            <a:ext cx="801687" cy="1444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E29EAC0-EE8D-413D-A21B-0D2A72478F42}" type="slidenum"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01638" y="1125538"/>
            <a:ext cx="4132262" cy="5327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1125538"/>
            <a:ext cx="4133850" cy="5327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56588" y="6570663"/>
            <a:ext cx="801687" cy="1444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3F1968E-894F-4211-B0BF-63EE4DA3F7B9}" type="slidenum"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24744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764506"/>
            <a:ext cx="4040188" cy="476083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124744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1764506"/>
            <a:ext cx="4041775" cy="476083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56588" y="6570663"/>
            <a:ext cx="801687" cy="1444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9A7CA4D-2171-408E-A939-F36EE516B6AF}" type="slidenum"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56588" y="6570663"/>
            <a:ext cx="801687" cy="1444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D9DD1D4-B7E5-4098-8F5C-EB7642E9FDEF}" type="slidenum"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56588" y="6570663"/>
            <a:ext cx="801687" cy="1444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25AE5E8-78B1-4C3B-BC84-D093E810BF5A}" type="slidenum"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56588" y="6570663"/>
            <a:ext cx="801687" cy="1444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40483DA-DF80-4B08-ACB7-D0B629795B5C}" type="slidenum">
              <a:rPr lang="en-US" altLang="zh-CN" smtClean="0">
                <a:solidFill>
                  <a:srgbClr val="000000"/>
                </a:solidFill>
                <a:ea typeface="宋体" panose="02010600030101010101" pitchFamily="2" charset="-122"/>
              </a:r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56588" y="6570663"/>
            <a:ext cx="801687" cy="1444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B201915-0E22-43AE-BDDF-AED20E46C431}" type="slidenum"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56588" y="6570663"/>
            <a:ext cx="801687" cy="1444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2960EE9-FF42-4359-8489-CF7EF7090110}" type="slidenum"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15125" y="333375"/>
            <a:ext cx="2105025" cy="61198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95288" y="333375"/>
            <a:ext cx="6167437" cy="61198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56588" y="6570663"/>
            <a:ext cx="801687" cy="1444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BC52341-E375-4B05-82D0-BA6978ED3076}" type="slidenum"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19" descr="内页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395288" y="333375"/>
            <a:ext cx="6840537" cy="503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01638" y="1125538"/>
            <a:ext cx="8418512" cy="53276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AECCDF-A69F-4AEA-A1AD-E760662E1A1D}" type="datetime1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621AC1-4C4D-435F-BACF-B518BC126F0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342900" indent="-3429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p"/>
        <a:defRPr sz="22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Ø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Arial" panose="020B0604020202020204" pitchFamily="34" charset="0"/>
        <a:buChar char="-"/>
        <a:defRPr sz="14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Arial" panose="020B0604020202020204" pitchFamily="34" charset="0"/>
        <a:buChar char="-"/>
        <a:defRPr sz="14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Arial" panose="020B0604020202020204" pitchFamily="34" charset="0"/>
        <a:buChar char="-"/>
        <a:defRPr sz="14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Arial" panose="020B0604020202020204" pitchFamily="34" charset="0"/>
        <a:buChar char="-"/>
        <a:defRPr sz="14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Arial" panose="020B0604020202020204" pitchFamily="34" charset="0"/>
        <a:buChar char="-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3"/>
          <p:cNvSpPr>
            <a:spLocks noGrp="1"/>
          </p:cNvSpPr>
          <p:nvPr>
            <p:ph type="ctrTitle"/>
          </p:nvPr>
        </p:nvSpPr>
        <p:spPr>
          <a:xfrm>
            <a:off x="792460" y="4509046"/>
            <a:ext cx="7415213" cy="792162"/>
          </a:xfrm>
        </p:spPr>
        <p:txBody>
          <a:bodyPr/>
          <a:lstStyle/>
          <a:p>
            <a:pPr>
              <a:defRPr/>
            </a:pPr>
            <a:r>
              <a:rPr lang="zh-CN" altLang="en-US" sz="2800" dirty="0">
                <a:latin typeface="+mn-ea"/>
                <a:ea typeface="+mn-ea"/>
              </a:rPr>
              <a:t>转正答辩</a:t>
            </a:r>
            <a:endParaRPr lang="zh-CN" altLang="en-US" sz="2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4099" name="副标题 4"/>
          <p:cNvSpPr>
            <a:spLocks noGrp="1"/>
          </p:cNvSpPr>
          <p:nvPr>
            <p:ph type="subTitle" idx="1"/>
          </p:nvPr>
        </p:nvSpPr>
        <p:spPr>
          <a:xfrm>
            <a:off x="1403648" y="5445596"/>
            <a:ext cx="6192837" cy="647700"/>
          </a:xfrm>
        </p:spPr>
        <p:txBody>
          <a:bodyPr/>
          <a:lstStyle/>
          <a:p>
            <a:pPr>
              <a:defRPr/>
            </a:pP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霍子昂</a:t>
            </a:r>
            <a:endParaRPr lang="en-US" altLang="zh-CN" sz="180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defRPr/>
            </a:pP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2026/09/23</a:t>
            </a:r>
            <a:endParaRPr lang="en-US" altLang="zh-CN" sz="1800" dirty="0">
              <a:solidFill>
                <a:schemeClr val="tx1"/>
              </a:solidFill>
              <a:latin typeface="+mn-ea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目录</a:t>
            </a:r>
          </a:p>
        </p:txBody>
      </p:sp>
      <p:graphicFrame>
        <p:nvGraphicFramePr>
          <p:cNvPr id="7" name="图示 6"/>
          <p:cNvGraphicFramePr/>
          <p:nvPr/>
        </p:nvGraphicFramePr>
        <p:xfrm>
          <a:off x="1763688" y="1556792"/>
          <a:ext cx="6096000" cy="40970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自我介绍</a:t>
            </a:r>
          </a:p>
        </p:txBody>
      </p:sp>
      <p:sp>
        <p:nvSpPr>
          <p:cNvPr id="4" name="矩形 3"/>
          <p:cNvSpPr/>
          <p:nvPr/>
        </p:nvSpPr>
        <p:spPr>
          <a:xfrm>
            <a:off x="618823" y="1554212"/>
            <a:ext cx="877163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>
              <a:defRPr/>
            </a:pPr>
            <a:r>
              <a:rPr lang="zh-CN" altLang="en-US" sz="135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基本信息</a:t>
            </a:r>
          </a:p>
        </p:txBody>
      </p:sp>
      <p:sp>
        <p:nvSpPr>
          <p:cNvPr id="6" name="矩形 5"/>
          <p:cNvSpPr/>
          <p:nvPr/>
        </p:nvSpPr>
        <p:spPr>
          <a:xfrm>
            <a:off x="618823" y="2996278"/>
            <a:ext cx="2071990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lang="zh-CN" altLang="en-US" sz="135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实习工作职责</a:t>
            </a:r>
            <a:r>
              <a:rPr lang="en-US" altLang="zh-CN" sz="135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&amp;</a:t>
            </a:r>
            <a:r>
              <a:rPr lang="zh-CN" altLang="en-US" sz="135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核心贡献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730081" y="1910372"/>
          <a:ext cx="7683839" cy="8772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8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21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55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79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63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实习部门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000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智能计算平台部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\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并行计算平台组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\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并行计算平台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组</a:t>
                      </a:r>
                    </a:p>
                  </a:txBody>
                  <a:tcPr marL="27000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实习岗位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000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AI</a:t>
                      </a:r>
                      <a:r>
                        <a:rPr lang="zh-CN" altLang="en-US" sz="1100" dirty="0"/>
                        <a:t>加速算子开发工程师</a:t>
                      </a:r>
                    </a:p>
                  </a:txBody>
                  <a:tcPr marL="27000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63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实习时间</a:t>
                      </a:r>
                    </a:p>
                  </a:txBody>
                  <a:tcPr marL="27000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—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至今</a:t>
                      </a:r>
                    </a:p>
                  </a:txBody>
                  <a:tcPr marL="27000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毕业院校、学历、专业</a:t>
                      </a:r>
                    </a:p>
                  </a:txBody>
                  <a:tcPr marL="27000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西安电子科技大学</a:t>
                      </a:r>
                      <a:r>
                        <a:rPr lang="en-US" altLang="zh-CN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zh-CN" alt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硕士</a:t>
                      </a:r>
                      <a:r>
                        <a:rPr lang="en-US" altLang="zh-CN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zh-CN" alt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仪器科学与技术</a:t>
                      </a:r>
                    </a:p>
                  </a:txBody>
                  <a:tcPr marL="27000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679649" y="3290818"/>
            <a:ext cx="7996807" cy="238783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  <a:spcAft>
                <a:spcPts val="450"/>
              </a:spcAft>
            </a:pPr>
            <a:r>
              <a:rPr kumimoji="1" lang="en-US" altLang="zh-CN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kumimoji="1" lang="zh-CN" altLang="en-US" sz="1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工作内容</a:t>
            </a:r>
            <a:r>
              <a:rPr kumimoji="1" lang="en-US" altLang="zh-CN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endParaRPr kumimoji="1" lang="en-US" altLang="zh-C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Aft>
                <a:spcPts val="450"/>
              </a:spcAft>
            </a:pPr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、进行基础算子开发与模型推理简单优化；</a:t>
            </a:r>
            <a:endParaRPr kumimoji="1" lang="en-US" altLang="zh-C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Aft>
                <a:spcPts val="450"/>
              </a:spcAft>
            </a:pPr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、负责寒武纪算子开发 </a:t>
            </a:r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</a:t>
            </a:r>
            <a:r>
              <a:rPr kumimoji="1"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的优化；</a:t>
            </a:r>
            <a:endParaRPr kumimoji="1" lang="en-US" altLang="zh-C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Aft>
                <a:spcPts val="450"/>
              </a:spcAft>
            </a:pPr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1"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zh-CN" alt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总结了一个开发算子 </a:t>
            </a:r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</a:t>
            </a:r>
            <a:r>
              <a:rPr kumimoji="1" lang="zh-CN" alt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的开发</a:t>
            </a:r>
            <a:r>
              <a:rPr kumimoji="1"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方案</a:t>
            </a:r>
            <a:r>
              <a:rPr kumimoji="1" lang="zh-CN" alt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并多平台验证。</a:t>
            </a:r>
          </a:p>
          <a:p>
            <a:pPr>
              <a:lnSpc>
                <a:spcPct val="125000"/>
              </a:lnSpc>
              <a:spcAft>
                <a:spcPts val="450"/>
              </a:spcAft>
            </a:pPr>
            <a:r>
              <a:rPr kumimoji="1" lang="en-US" altLang="zh-CN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kumimoji="1" lang="zh-CN" altLang="en-US" sz="1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核心贡献</a:t>
            </a:r>
            <a:r>
              <a:rPr kumimoji="1" lang="en-US" altLang="zh-CN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</a:p>
          <a:p>
            <a:pPr>
              <a:lnSpc>
                <a:spcPct val="125000"/>
              </a:lnSpc>
              <a:spcAft>
                <a:spcPts val="450"/>
              </a:spcAft>
            </a:pPr>
            <a:r>
              <a:rPr kumimoji="1" lang="en-US" altLang="zh-CN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、完成算子 </a:t>
            </a:r>
            <a:r>
              <a:rPr kumimoji="1" lang="en-US" altLang="zh-CN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Skill </a:t>
            </a:r>
            <a:r>
              <a:rPr kumimoji="1" lang="zh-CN" alt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架构优化：通过平台知识解耦、上下文精简、按需优化、分层验证及 </a:t>
            </a:r>
            <a:r>
              <a:rPr kumimoji="1" lang="en-US" altLang="zh-CN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Artifact </a:t>
            </a:r>
            <a:r>
              <a:rPr kumimoji="1" lang="zh-CN" alt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复用；</a:t>
            </a:r>
            <a:endParaRPr kumimoji="1" lang="en-US" altLang="zh-CN" sz="1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Aft>
                <a:spcPts val="450"/>
              </a:spcAft>
            </a:pPr>
            <a:r>
              <a:rPr kumimoji="1" lang="en-US" altLang="zh-CN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、构建动态 </a:t>
            </a:r>
            <a:r>
              <a:rPr kumimoji="1" lang="en-US" altLang="zh-CN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Shape </a:t>
            </a:r>
            <a:r>
              <a:rPr kumimoji="1" lang="zh-CN" alt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算子开发方案：形成动态支持、自动化参数搜索、多 </a:t>
            </a:r>
            <a:r>
              <a:rPr kumimoji="1" lang="en-US" altLang="zh-CN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Kernel Family </a:t>
            </a:r>
            <a:r>
              <a:rPr kumimoji="1" lang="zh-CN" alt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适配的完整演进路线；</a:t>
            </a:r>
            <a:endParaRPr kumimoji="1" lang="en-US" altLang="zh-CN" sz="1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Aft>
                <a:spcPts val="450"/>
              </a:spcAft>
            </a:pPr>
            <a:r>
              <a:rPr kumimoji="1" lang="en-US" altLang="zh-CN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1" lang="zh-CN" alt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、总结跨平台 </a:t>
            </a:r>
            <a:r>
              <a:rPr kumimoji="1" lang="en-US" altLang="zh-CN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Skill </a:t>
            </a:r>
            <a:r>
              <a:rPr kumimoji="1" lang="zh-CN" alt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开发方法，并在多个平台上完成算子</a:t>
            </a:r>
            <a:r>
              <a:rPr kumimoji="1" lang="en-US" altLang="zh-CN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skill</a:t>
            </a:r>
            <a:r>
              <a:rPr kumimoji="1" lang="zh-CN" alt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开发与验证。</a:t>
            </a:r>
            <a:endParaRPr kumimoji="1"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</a:t>
            </a:r>
            <a:r>
              <a:rPr lang="zh-CN" altLang="en-US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任务一</a:t>
            </a:r>
            <a:r>
              <a:rPr sz="1950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lu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平台算子优化与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vllm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510903" y="6597079"/>
            <a:ext cx="6589489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Hong, D. B.; Imani, A.; Ahmed, I. “From Anatomy to Smells: An Empirical Study of SKILL.md in Agent Skills.” arXiv:2607.01456, 2026.</a:t>
            </a:r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84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算子优化</a:t>
            </a:r>
            <a:endParaRPr sz="2100" b="1" dirty="0">
              <a:solidFill>
                <a:srgbClr val="000000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85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pic>
        <p:nvPicPr>
          <p:cNvPr id="162" name="图片 161"/>
          <p:cNvPicPr>
            <a:picLocks noChangeAspect="1"/>
          </p:cNvPicPr>
          <p:nvPr/>
        </p:nvPicPr>
        <p:blipFill>
          <a:blip r:embed="rId4"/>
          <a:srcRect l="5443" t="24548" r="85167" b="60680"/>
          <a:stretch>
            <a:fillRect/>
          </a:stretch>
        </p:blipFill>
        <p:spPr>
          <a:xfrm>
            <a:off x="1248098" y="2757714"/>
            <a:ext cx="1614170" cy="1429385"/>
          </a:xfrm>
          <a:prstGeom prst="rect">
            <a:avLst/>
          </a:prstGeom>
        </p:spPr>
      </p:pic>
      <p:sp>
        <p:nvSpPr>
          <p:cNvPr id="31" name="s2-obj20"/>
          <p:cNvSpPr>
            <a:spLocks noGrp="1"/>
          </p:cNvSpPr>
          <p:nvPr/>
        </p:nvSpPr>
        <p:spPr>
          <a:xfrm>
            <a:off x="5287888" y="1481849"/>
            <a:ext cx="2552700" cy="485775"/>
          </a:xfrm>
          <a:prstGeom prst="roundRect">
            <a:avLst>
              <a:gd name="adj" fmla="val 15686"/>
            </a:avLst>
          </a:prstGeom>
          <a:solidFill>
            <a:srgbClr val="C5DDFD"/>
          </a:solidFill>
          <a:ln w="9525">
            <a:solidFill>
              <a:srgbClr val="83B1FD"/>
            </a:solidFill>
          </a:ln>
        </p:spPr>
      </p:sp>
      <p:sp>
        <p:nvSpPr>
          <p:cNvPr id="32" name="s2-obj21"/>
          <p:cNvSpPr>
            <a:spLocks noGrp="1"/>
          </p:cNvSpPr>
          <p:nvPr/>
        </p:nvSpPr>
        <p:spPr>
          <a:xfrm>
            <a:off x="5364088" y="1510424"/>
            <a:ext cx="24003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85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85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GDRAM</a:t>
            </a:r>
          </a:p>
          <a:p>
            <a:pPr algn="ctr">
              <a:defRPr sz="1385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85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(80GB)</a:t>
            </a:r>
          </a:p>
        </p:txBody>
      </p:sp>
      <p:sp>
        <p:nvSpPr>
          <p:cNvPr id="33" name="s2-obj22"/>
          <p:cNvSpPr>
            <a:spLocks noGrp="1"/>
          </p:cNvSpPr>
          <p:nvPr/>
        </p:nvSpPr>
        <p:spPr>
          <a:xfrm>
            <a:off x="5078338" y="2453399"/>
            <a:ext cx="2971800" cy="485775"/>
          </a:xfrm>
          <a:prstGeom prst="roundRect">
            <a:avLst>
              <a:gd name="adj" fmla="val 15686"/>
            </a:avLst>
          </a:prstGeom>
          <a:solidFill>
            <a:srgbClr val="6FA5F8"/>
          </a:solidFill>
          <a:ln w="0">
            <a:noFill/>
          </a:ln>
        </p:spPr>
      </p:sp>
      <p:sp>
        <p:nvSpPr>
          <p:cNvPr id="34" name="s2-obj23"/>
          <p:cNvSpPr>
            <a:spLocks noGrp="1"/>
          </p:cNvSpPr>
          <p:nvPr/>
        </p:nvSpPr>
        <p:spPr>
          <a:xfrm>
            <a:off x="5154538" y="2481974"/>
            <a:ext cx="28194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8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8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Cluster SRAM</a:t>
            </a:r>
          </a:p>
          <a:p>
            <a:pPr algn="ctr">
              <a:defRPr sz="138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8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(2 MiB / Cluster)</a:t>
            </a:r>
          </a:p>
        </p:txBody>
      </p:sp>
      <p:sp>
        <p:nvSpPr>
          <p:cNvPr id="35" name="s2-line24"/>
          <p:cNvSpPr>
            <a:spLocks noGrp="1"/>
          </p:cNvSpPr>
          <p:nvPr/>
        </p:nvSpPr>
        <p:spPr>
          <a:xfrm>
            <a:off x="6564238" y="1967624"/>
            <a:ext cx="9525" cy="457200"/>
          </a:xfrm>
          <a:custGeom>
            <a:avLst/>
            <a:gdLst/>
            <a:ahLst/>
            <a:cxnLst/>
            <a:rect l="0" t="0" r="0" b="0"/>
            <a:pathLst>
              <a:path w="9525"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noFill/>
          <a:ln w="19050">
            <a:solidFill>
              <a:srgbClr val="417BC8"/>
            </a:solidFill>
            <a:prstDash val="solid"/>
          </a:ln>
        </p:spPr>
      </p:sp>
      <p:sp>
        <p:nvSpPr>
          <p:cNvPr id="36" name="s2-path25"/>
          <p:cNvSpPr>
            <a:spLocks noGrp="1"/>
          </p:cNvSpPr>
          <p:nvPr/>
        </p:nvSpPr>
        <p:spPr>
          <a:xfrm>
            <a:off x="6517089" y="2339099"/>
            <a:ext cx="94297" cy="85725"/>
          </a:xfrm>
          <a:custGeom>
            <a:avLst/>
            <a:gdLst/>
            <a:ahLst/>
            <a:cxnLst/>
            <a:rect l="0" t="0" r="0" b="0"/>
            <a:pathLst>
              <a:path w="94297" h="85725">
                <a:moveTo>
                  <a:pt x="47149" y="85725"/>
                </a:moveTo>
                <a:lnTo>
                  <a:pt x="94297" y="0"/>
                </a:lnTo>
                <a:lnTo>
                  <a:pt x="0" y="0"/>
                </a:lnTo>
                <a:close/>
              </a:path>
            </a:pathLst>
          </a:custGeom>
          <a:solidFill>
            <a:srgbClr val="417BC8"/>
          </a:solidFill>
          <a:ln w="9525">
            <a:noFill/>
          </a:ln>
        </p:spPr>
      </p:sp>
      <p:sp>
        <p:nvSpPr>
          <p:cNvPr id="37" name="s2-obj26"/>
          <p:cNvSpPr>
            <a:spLocks noGrp="1"/>
          </p:cNvSpPr>
          <p:nvPr/>
        </p:nvSpPr>
        <p:spPr>
          <a:xfrm>
            <a:off x="6764263" y="2024774"/>
            <a:ext cx="1476375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1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 b="1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IO-DMA</a:t>
            </a:r>
          </a:p>
        </p:txBody>
      </p:sp>
      <p:sp>
        <p:nvSpPr>
          <p:cNvPr id="39" name="s2-obj28"/>
          <p:cNvSpPr>
            <a:spLocks noGrp="1"/>
          </p:cNvSpPr>
          <p:nvPr/>
        </p:nvSpPr>
        <p:spPr>
          <a:xfrm>
            <a:off x="4954513" y="3463049"/>
            <a:ext cx="1495425" cy="485775"/>
          </a:xfrm>
          <a:prstGeom prst="roundRect">
            <a:avLst>
              <a:gd name="adj" fmla="val 15686"/>
            </a:avLst>
          </a:prstGeom>
          <a:solidFill>
            <a:srgbClr val="2CA9A0"/>
          </a:solidFill>
          <a:ln w="0">
            <a:noFill/>
          </a:ln>
        </p:spPr>
      </p:sp>
      <p:sp>
        <p:nvSpPr>
          <p:cNvPr id="40" name="s2-obj29"/>
          <p:cNvSpPr>
            <a:spLocks noGrp="1"/>
          </p:cNvSpPr>
          <p:nvPr/>
        </p:nvSpPr>
        <p:spPr>
          <a:xfrm>
            <a:off x="5030713" y="3491624"/>
            <a:ext cx="1343025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9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9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NRAM</a:t>
            </a:r>
          </a:p>
          <a:p>
            <a:pPr algn="ctr">
              <a:defRPr sz="129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9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(512 KiB / Core)</a:t>
            </a:r>
          </a:p>
        </p:txBody>
      </p:sp>
      <p:sp>
        <p:nvSpPr>
          <p:cNvPr id="41" name="s2-obj30"/>
          <p:cNvSpPr>
            <a:spLocks noGrp="1"/>
          </p:cNvSpPr>
          <p:nvPr/>
        </p:nvSpPr>
        <p:spPr>
          <a:xfrm>
            <a:off x="6659488" y="3463049"/>
            <a:ext cx="1495425" cy="485775"/>
          </a:xfrm>
          <a:prstGeom prst="roundRect">
            <a:avLst>
              <a:gd name="adj" fmla="val 15686"/>
            </a:avLst>
          </a:prstGeom>
          <a:solidFill>
            <a:srgbClr val="9989DF"/>
          </a:solidFill>
          <a:ln w="0">
            <a:noFill/>
          </a:ln>
        </p:spPr>
      </p:sp>
      <p:sp>
        <p:nvSpPr>
          <p:cNvPr id="42" name="s2-obj31"/>
          <p:cNvSpPr>
            <a:spLocks noGrp="1"/>
          </p:cNvSpPr>
          <p:nvPr/>
        </p:nvSpPr>
        <p:spPr>
          <a:xfrm>
            <a:off x="6735688" y="3491624"/>
            <a:ext cx="1343025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9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9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WRAM</a:t>
            </a:r>
          </a:p>
          <a:p>
            <a:pPr algn="ctr">
              <a:defRPr sz="129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9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(512 KiB / Core)</a:t>
            </a:r>
          </a:p>
        </p:txBody>
      </p:sp>
      <p:sp>
        <p:nvSpPr>
          <p:cNvPr id="43" name="s2-line32"/>
          <p:cNvSpPr>
            <a:spLocks noGrp="1"/>
          </p:cNvSpPr>
          <p:nvPr/>
        </p:nvSpPr>
        <p:spPr>
          <a:xfrm>
            <a:off x="5240263" y="2948699"/>
            <a:ext cx="9525" cy="495300"/>
          </a:xfrm>
          <a:custGeom>
            <a:avLst/>
            <a:gdLst/>
            <a:ahLst/>
            <a:cxnLst/>
            <a:rect l="0" t="0" r="0" b="0"/>
            <a:pathLst>
              <a:path w="9525" h="495300">
                <a:moveTo>
                  <a:pt x="0" y="0"/>
                </a:moveTo>
                <a:lnTo>
                  <a:pt x="0" y="495300"/>
                </a:lnTo>
              </a:path>
            </a:pathLst>
          </a:custGeom>
          <a:noFill/>
          <a:ln w="19050">
            <a:solidFill>
              <a:srgbClr val="2CA9A0"/>
            </a:solidFill>
            <a:prstDash val="solid"/>
          </a:ln>
        </p:spPr>
      </p:sp>
      <p:sp>
        <p:nvSpPr>
          <p:cNvPr id="44" name="s2-path33"/>
          <p:cNvSpPr>
            <a:spLocks noGrp="1"/>
          </p:cNvSpPr>
          <p:nvPr/>
        </p:nvSpPr>
        <p:spPr>
          <a:xfrm>
            <a:off x="5193114" y="3358274"/>
            <a:ext cx="94297" cy="85725"/>
          </a:xfrm>
          <a:custGeom>
            <a:avLst/>
            <a:gdLst/>
            <a:ahLst/>
            <a:cxnLst/>
            <a:rect l="0" t="0" r="0" b="0"/>
            <a:pathLst>
              <a:path w="94297" h="85725">
                <a:moveTo>
                  <a:pt x="47149" y="85725"/>
                </a:moveTo>
                <a:lnTo>
                  <a:pt x="94297" y="0"/>
                </a:lnTo>
                <a:lnTo>
                  <a:pt x="0" y="0"/>
                </a:lnTo>
                <a:close/>
              </a:path>
            </a:pathLst>
          </a:custGeom>
          <a:solidFill>
            <a:srgbClr val="2CA9A0"/>
          </a:solidFill>
          <a:ln w="9525">
            <a:noFill/>
          </a:ln>
        </p:spPr>
      </p:sp>
      <p:sp>
        <p:nvSpPr>
          <p:cNvPr id="45" name="s2-line34"/>
          <p:cNvSpPr>
            <a:spLocks noGrp="1"/>
          </p:cNvSpPr>
          <p:nvPr/>
        </p:nvSpPr>
        <p:spPr>
          <a:xfrm>
            <a:off x="6954763" y="2948699"/>
            <a:ext cx="9525" cy="495300"/>
          </a:xfrm>
          <a:custGeom>
            <a:avLst/>
            <a:gdLst/>
            <a:ahLst/>
            <a:cxnLst/>
            <a:rect l="0" t="0" r="0" b="0"/>
            <a:pathLst>
              <a:path w="9525" h="495300">
                <a:moveTo>
                  <a:pt x="0" y="0"/>
                </a:moveTo>
                <a:lnTo>
                  <a:pt x="0" y="495300"/>
                </a:lnTo>
              </a:path>
            </a:pathLst>
          </a:custGeom>
          <a:noFill/>
          <a:ln w="19050">
            <a:solidFill>
              <a:srgbClr val="7258D7"/>
            </a:solidFill>
            <a:prstDash val="solid"/>
          </a:ln>
        </p:spPr>
      </p:sp>
      <p:sp>
        <p:nvSpPr>
          <p:cNvPr id="51" name="s2-obj40"/>
          <p:cNvSpPr>
            <a:spLocks noGrp="1"/>
          </p:cNvSpPr>
          <p:nvPr/>
        </p:nvSpPr>
        <p:spPr>
          <a:xfrm>
            <a:off x="5087863" y="4234574"/>
            <a:ext cx="2867025" cy="438150"/>
          </a:xfrm>
          <a:prstGeom prst="roundRect">
            <a:avLst>
              <a:gd name="adj" fmla="val 17391"/>
            </a:avLst>
          </a:prstGeom>
          <a:solidFill>
            <a:srgbClr val="F8DEAD"/>
          </a:solidFill>
          <a:ln w="0">
            <a:noFill/>
          </a:ln>
        </p:spPr>
      </p:sp>
      <p:sp>
        <p:nvSpPr>
          <p:cNvPr id="52" name="s2-obj41"/>
          <p:cNvSpPr>
            <a:spLocks noGrp="1"/>
          </p:cNvSpPr>
          <p:nvPr/>
        </p:nvSpPr>
        <p:spPr>
          <a:xfrm>
            <a:off x="5164063" y="4263149"/>
            <a:ext cx="27146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00" b="1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TFU / 计算</a:t>
            </a:r>
            <a:r>
              <a:rPr lang="zh-CN" sz="1500" b="1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单元</a:t>
            </a:r>
          </a:p>
        </p:txBody>
      </p:sp>
      <p:graphicFrame>
        <p:nvGraphicFramePr>
          <p:cNvPr id="63" name="表格 62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03700606"/>
              </p:ext>
            </p:extLst>
          </p:nvPr>
        </p:nvGraphicFramePr>
        <p:xfrm>
          <a:off x="1232710" y="5215649"/>
          <a:ext cx="6943968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16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19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4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28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实测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dirty="0"/>
                        <a:t>GDRAM-&gt;SRAM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/>
                        <a:t>SRAM-&gt;NRAM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/>
                        <a:t>SRAM-&gt;WRAM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dirty="0" smtClean="0"/>
                        <a:t>传输能力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dirty="0"/>
                        <a:t>1.83TB/s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/>
                        <a:t>699GB/s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dirty="0"/>
                        <a:t>668GB/s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实测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/>
                        <a:t>TFU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/>
                        <a:t>add/mul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/>
                        <a:t>exp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dirty="0" smtClean="0"/>
                        <a:t>计算能力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/>
                        <a:t>6.76TFLOPS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/>
                        <a:t>96GOPS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dirty="0"/>
                        <a:t>58GOPS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4" name="s2-path35"/>
          <p:cNvSpPr>
            <a:spLocks noGrp="1"/>
          </p:cNvSpPr>
          <p:nvPr/>
        </p:nvSpPr>
        <p:spPr>
          <a:xfrm>
            <a:off x="6898724" y="3424949"/>
            <a:ext cx="94298" cy="85725"/>
          </a:xfrm>
          <a:custGeom>
            <a:avLst/>
            <a:gdLst/>
            <a:ahLst/>
            <a:cxnLst/>
            <a:rect l="0" t="0" r="0" b="0"/>
            <a:pathLst>
              <a:path w="94298" h="85725">
                <a:moveTo>
                  <a:pt x="47149" y="85725"/>
                </a:moveTo>
                <a:lnTo>
                  <a:pt x="94298" y="0"/>
                </a:lnTo>
                <a:lnTo>
                  <a:pt x="0" y="0"/>
                </a:lnTo>
                <a:close/>
              </a:path>
            </a:pathLst>
          </a:custGeom>
          <a:solidFill>
            <a:srgbClr val="7258D7"/>
          </a:solidFill>
          <a:ln w="9525">
            <a:noFill/>
          </a:ln>
        </p:spPr>
      </p:sp>
      <p:sp>
        <p:nvSpPr>
          <p:cNvPr id="75" name="s2-line42"/>
          <p:cNvSpPr>
            <a:spLocks noGrp="1"/>
          </p:cNvSpPr>
          <p:nvPr/>
        </p:nvSpPr>
        <p:spPr>
          <a:xfrm>
            <a:off x="5674603" y="3967874"/>
            <a:ext cx="9525" cy="257175"/>
          </a:xfrm>
          <a:custGeom>
            <a:avLst/>
            <a:gdLst/>
            <a:ahLst/>
            <a:cxnLst/>
            <a:rect l="0" t="0" r="0" b="0"/>
            <a:pathLst>
              <a:path w="9525" h="257175">
                <a:moveTo>
                  <a:pt x="0" y="0"/>
                </a:moveTo>
                <a:lnTo>
                  <a:pt x="0" y="257175"/>
                </a:lnTo>
              </a:path>
            </a:pathLst>
          </a:custGeom>
          <a:noFill/>
          <a:ln w="19050">
            <a:solidFill>
              <a:srgbClr val="2CA9A0"/>
            </a:solidFill>
            <a:prstDash val="solid"/>
          </a:ln>
        </p:spPr>
      </p:sp>
      <p:sp>
        <p:nvSpPr>
          <p:cNvPr id="80" name="s2-path43"/>
          <p:cNvSpPr>
            <a:spLocks noGrp="1"/>
          </p:cNvSpPr>
          <p:nvPr/>
        </p:nvSpPr>
        <p:spPr>
          <a:xfrm>
            <a:off x="5627454" y="4139324"/>
            <a:ext cx="94297" cy="85725"/>
          </a:xfrm>
          <a:custGeom>
            <a:avLst/>
            <a:gdLst/>
            <a:ahLst/>
            <a:cxnLst/>
            <a:rect l="0" t="0" r="0" b="0"/>
            <a:pathLst>
              <a:path w="94297" h="85725">
                <a:moveTo>
                  <a:pt x="47149" y="85725"/>
                </a:moveTo>
                <a:lnTo>
                  <a:pt x="94297" y="0"/>
                </a:lnTo>
                <a:lnTo>
                  <a:pt x="0" y="0"/>
                </a:lnTo>
                <a:close/>
              </a:path>
            </a:pathLst>
          </a:custGeom>
          <a:solidFill>
            <a:srgbClr val="2CA9A0"/>
          </a:solidFill>
          <a:ln w="9525">
            <a:noFill/>
          </a:ln>
        </p:spPr>
      </p:sp>
      <p:sp>
        <p:nvSpPr>
          <p:cNvPr id="90" name="s2-line44"/>
          <p:cNvSpPr>
            <a:spLocks noGrp="1"/>
          </p:cNvSpPr>
          <p:nvPr/>
        </p:nvSpPr>
        <p:spPr>
          <a:xfrm>
            <a:off x="7398628" y="3967874"/>
            <a:ext cx="9525" cy="257175"/>
          </a:xfrm>
          <a:custGeom>
            <a:avLst/>
            <a:gdLst/>
            <a:ahLst/>
            <a:cxnLst/>
            <a:rect l="0" t="0" r="0" b="0"/>
            <a:pathLst>
              <a:path w="9525" h="257175">
                <a:moveTo>
                  <a:pt x="0" y="0"/>
                </a:moveTo>
                <a:lnTo>
                  <a:pt x="0" y="257175"/>
                </a:lnTo>
              </a:path>
            </a:pathLst>
          </a:custGeom>
          <a:noFill/>
          <a:ln w="19050">
            <a:solidFill>
              <a:srgbClr val="7258D7"/>
            </a:solidFill>
            <a:prstDash val="solid"/>
          </a:ln>
        </p:spPr>
      </p:sp>
      <p:sp>
        <p:nvSpPr>
          <p:cNvPr id="95" name="s2-path45"/>
          <p:cNvSpPr>
            <a:spLocks noGrp="1"/>
          </p:cNvSpPr>
          <p:nvPr/>
        </p:nvSpPr>
        <p:spPr>
          <a:xfrm>
            <a:off x="7351479" y="4139324"/>
            <a:ext cx="94298" cy="85725"/>
          </a:xfrm>
          <a:custGeom>
            <a:avLst/>
            <a:gdLst/>
            <a:ahLst/>
            <a:cxnLst/>
            <a:rect l="0" t="0" r="0" b="0"/>
            <a:pathLst>
              <a:path w="94298" h="85725">
                <a:moveTo>
                  <a:pt x="47149" y="85725"/>
                </a:moveTo>
                <a:lnTo>
                  <a:pt x="94298" y="0"/>
                </a:lnTo>
                <a:lnTo>
                  <a:pt x="0" y="0"/>
                </a:lnTo>
                <a:close/>
              </a:path>
            </a:pathLst>
          </a:custGeom>
          <a:solidFill>
            <a:srgbClr val="7258D7"/>
          </a:solidFill>
          <a:ln w="9525">
            <a:noFill/>
          </a:ln>
        </p:spPr>
      </p:sp>
      <p:sp>
        <p:nvSpPr>
          <p:cNvPr id="30" name="p1-o10">
            <a:extLst>
              <a:ext uri="{FF2B5EF4-FFF2-40B4-BE49-F238E27FC236}">
                <a16:creationId xmlns:a16="http://schemas.microsoft.com/office/drawing/2014/main" id="{EC6DF907-4B79-470C-923F-AEF0B55C8835}"/>
              </a:ext>
            </a:extLst>
          </p:cNvPr>
          <p:cNvSpPr>
            <a:spLocks noGrp="1"/>
          </p:cNvSpPr>
          <p:nvPr/>
        </p:nvSpPr>
        <p:spPr>
          <a:xfrm>
            <a:off x="616129" y="1698852"/>
            <a:ext cx="39243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75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寒武纪</a:t>
            </a:r>
            <a:r>
              <a:rPr lang="en-US" altLang="zh-CN" sz="1575" b="1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MLU+triton</a:t>
            </a:r>
            <a:endParaRPr sz="1575" b="1" dirty="0">
              <a:solidFill>
                <a:schemeClr val="tx1">
                  <a:lumMod val="95000"/>
                  <a:lumOff val="5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</a:t>
            </a:r>
            <a:r>
              <a:rPr lang="zh-CN" altLang="en-US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任务一</a:t>
            </a:r>
            <a:r>
              <a:rPr sz="1950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lu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平台算子优化与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vllm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510903" y="6597079"/>
            <a:ext cx="6589489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Hong, D. B.; Imani, A.; Ahmed, I. “From Anatomy to Smells: An Empirical Study of SKILL.md in Agent Skills.” arXiv:2607.01456, 2026.</a:t>
            </a:r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84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算子优化</a:t>
            </a:r>
            <a:endParaRPr sz="2100" b="1" dirty="0">
              <a:solidFill>
                <a:srgbClr val="000000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85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5" name="s2-obj88"/>
          <p:cNvSpPr>
            <a:spLocks noGrp="1"/>
          </p:cNvSpPr>
          <p:nvPr/>
        </p:nvSpPr>
        <p:spPr>
          <a:xfrm>
            <a:off x="1020972" y="2639521"/>
            <a:ext cx="7028815" cy="1685925"/>
          </a:xfrm>
          <a:prstGeom prst="roundRect">
            <a:avLst>
              <a:gd name="adj" fmla="val 4520"/>
            </a:avLst>
          </a:prstGeom>
          <a:gradFill>
            <a:gsLst>
              <a:gs pos="0">
                <a:srgbClr val="F3F8FE"/>
              </a:gs>
              <a:gs pos="100000">
                <a:srgbClr val="FAFCFF"/>
              </a:gs>
            </a:gsLst>
            <a:lin ang="5400000"/>
          </a:gradFill>
          <a:ln w="0">
            <a:noFill/>
          </a:ln>
        </p:spPr>
      </p:sp>
      <p:sp>
        <p:nvSpPr>
          <p:cNvPr id="6" name="s2-obj89"/>
          <p:cNvSpPr>
            <a:spLocks noGrp="1"/>
          </p:cNvSpPr>
          <p:nvPr/>
        </p:nvSpPr>
        <p:spPr>
          <a:xfrm>
            <a:off x="1049547" y="2715721"/>
            <a:ext cx="47625" cy="238125"/>
          </a:xfrm>
          <a:prstGeom prst="roundRect">
            <a:avLst>
              <a:gd name="adj" fmla="val 40000"/>
            </a:avLst>
          </a:prstGeom>
          <a:gradFill>
            <a:gsLst>
              <a:gs pos="0">
                <a:srgbClr val="1268F8"/>
              </a:gs>
              <a:gs pos="100000">
                <a:srgbClr val="AECFFD"/>
              </a:gs>
            </a:gsLst>
            <a:lin ang="5400000"/>
          </a:gradFill>
          <a:ln w="0">
            <a:noFill/>
          </a:ln>
        </p:spPr>
      </p:sp>
      <p:sp>
        <p:nvSpPr>
          <p:cNvPr id="7" name="s2-obj90"/>
          <p:cNvSpPr>
            <a:spLocks noGrp="1"/>
          </p:cNvSpPr>
          <p:nvPr/>
        </p:nvSpPr>
        <p:spPr>
          <a:xfrm>
            <a:off x="1230522" y="2268681"/>
            <a:ext cx="7305675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流水与重叠示意</a:t>
            </a:r>
          </a:p>
        </p:txBody>
      </p:sp>
      <p:sp>
        <p:nvSpPr>
          <p:cNvPr id="8" name="s2-obj91"/>
          <p:cNvSpPr>
            <a:spLocks noGrp="1"/>
          </p:cNvSpPr>
          <p:nvPr/>
        </p:nvSpPr>
        <p:spPr>
          <a:xfrm>
            <a:off x="1192422" y="3039571"/>
            <a:ext cx="1762125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75" b="1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75" b="1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ST1: 串行执行</a:t>
            </a:r>
          </a:p>
        </p:txBody>
      </p:sp>
      <p:sp>
        <p:nvSpPr>
          <p:cNvPr id="9" name="s2-obj92"/>
          <p:cNvSpPr>
            <a:spLocks noGrp="1"/>
          </p:cNvSpPr>
          <p:nvPr/>
        </p:nvSpPr>
        <p:spPr>
          <a:xfrm>
            <a:off x="1192422" y="3582496"/>
            <a:ext cx="1762125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75" b="1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75" b="1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ST2: 双缓冲（重叠）</a:t>
            </a:r>
          </a:p>
        </p:txBody>
      </p:sp>
      <p:sp>
        <p:nvSpPr>
          <p:cNvPr id="10" name="s2-obj93"/>
          <p:cNvSpPr>
            <a:spLocks noGrp="1"/>
          </p:cNvSpPr>
          <p:nvPr/>
        </p:nvSpPr>
        <p:spPr>
          <a:xfrm>
            <a:off x="2659272" y="2991946"/>
            <a:ext cx="1181100" cy="276225"/>
          </a:xfrm>
          <a:prstGeom prst="roundRect">
            <a:avLst>
              <a:gd name="adj" fmla="val 27586"/>
            </a:avLst>
          </a:prstGeom>
          <a:solidFill>
            <a:srgbClr val="8EBEFF"/>
          </a:solidFill>
          <a:ln w="0">
            <a:noFill/>
          </a:ln>
        </p:spPr>
      </p:sp>
      <p:sp>
        <p:nvSpPr>
          <p:cNvPr id="11" name="s2-obj94"/>
          <p:cNvSpPr>
            <a:spLocks noGrp="1"/>
          </p:cNvSpPr>
          <p:nvPr/>
        </p:nvSpPr>
        <p:spPr>
          <a:xfrm>
            <a:off x="2735472" y="3020521"/>
            <a:ext cx="10287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Load</a:t>
            </a:r>
          </a:p>
        </p:txBody>
      </p:sp>
      <p:sp>
        <p:nvSpPr>
          <p:cNvPr id="12" name="s2-obj95"/>
          <p:cNvSpPr>
            <a:spLocks noGrp="1"/>
          </p:cNvSpPr>
          <p:nvPr/>
        </p:nvSpPr>
        <p:spPr>
          <a:xfrm>
            <a:off x="3821322" y="2991946"/>
            <a:ext cx="1181100" cy="276225"/>
          </a:xfrm>
          <a:prstGeom prst="roundRect">
            <a:avLst>
              <a:gd name="adj" fmla="val 27586"/>
            </a:avLst>
          </a:prstGeom>
          <a:solidFill>
            <a:srgbClr val="80CFBB"/>
          </a:solidFill>
          <a:ln w="0">
            <a:noFill/>
          </a:ln>
        </p:spPr>
      </p:sp>
      <p:sp>
        <p:nvSpPr>
          <p:cNvPr id="13" name="s2-obj96"/>
          <p:cNvSpPr>
            <a:spLocks noGrp="1"/>
          </p:cNvSpPr>
          <p:nvPr/>
        </p:nvSpPr>
        <p:spPr>
          <a:xfrm>
            <a:off x="3897522" y="3020521"/>
            <a:ext cx="10287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Compute</a:t>
            </a:r>
          </a:p>
        </p:txBody>
      </p:sp>
      <p:sp>
        <p:nvSpPr>
          <p:cNvPr id="14" name="s2-obj97"/>
          <p:cNvSpPr>
            <a:spLocks noGrp="1"/>
          </p:cNvSpPr>
          <p:nvPr/>
        </p:nvSpPr>
        <p:spPr>
          <a:xfrm>
            <a:off x="4983372" y="2991946"/>
            <a:ext cx="1181100" cy="276225"/>
          </a:xfrm>
          <a:prstGeom prst="roundRect">
            <a:avLst>
              <a:gd name="adj" fmla="val 27586"/>
            </a:avLst>
          </a:prstGeom>
          <a:solidFill>
            <a:srgbClr val="8EBEFF"/>
          </a:solidFill>
          <a:ln w="0">
            <a:noFill/>
          </a:ln>
        </p:spPr>
      </p:sp>
      <p:sp>
        <p:nvSpPr>
          <p:cNvPr id="15" name="s2-obj98"/>
          <p:cNvSpPr>
            <a:spLocks noGrp="1"/>
          </p:cNvSpPr>
          <p:nvPr/>
        </p:nvSpPr>
        <p:spPr>
          <a:xfrm>
            <a:off x="5059572" y="3020521"/>
            <a:ext cx="10287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Load</a:t>
            </a:r>
          </a:p>
        </p:txBody>
      </p:sp>
      <p:sp>
        <p:nvSpPr>
          <p:cNvPr id="16" name="s2-obj99"/>
          <p:cNvSpPr>
            <a:spLocks noGrp="1"/>
          </p:cNvSpPr>
          <p:nvPr/>
        </p:nvSpPr>
        <p:spPr>
          <a:xfrm>
            <a:off x="6145422" y="2991946"/>
            <a:ext cx="1181100" cy="276225"/>
          </a:xfrm>
          <a:prstGeom prst="roundRect">
            <a:avLst>
              <a:gd name="adj" fmla="val 27586"/>
            </a:avLst>
          </a:prstGeom>
          <a:solidFill>
            <a:srgbClr val="80CFBB"/>
          </a:solidFill>
          <a:ln w="0">
            <a:noFill/>
          </a:ln>
        </p:spPr>
      </p:sp>
      <p:sp>
        <p:nvSpPr>
          <p:cNvPr id="17" name="s2-obj100"/>
          <p:cNvSpPr>
            <a:spLocks noGrp="1"/>
          </p:cNvSpPr>
          <p:nvPr/>
        </p:nvSpPr>
        <p:spPr>
          <a:xfrm>
            <a:off x="6221622" y="3020521"/>
            <a:ext cx="10287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Compute</a:t>
            </a:r>
          </a:p>
        </p:txBody>
      </p:sp>
      <p:sp>
        <p:nvSpPr>
          <p:cNvPr id="18" name="s2-line101"/>
          <p:cNvSpPr>
            <a:spLocks noGrp="1"/>
          </p:cNvSpPr>
          <p:nvPr/>
        </p:nvSpPr>
        <p:spPr>
          <a:xfrm>
            <a:off x="2697372" y="3420571"/>
            <a:ext cx="4943475" cy="9525"/>
          </a:xfrm>
          <a:custGeom>
            <a:avLst/>
            <a:gdLst/>
            <a:ahLst/>
            <a:cxnLst/>
            <a:rect l="0" t="0" r="0" b="0"/>
            <a:pathLst>
              <a:path w="4943475" h="9525">
                <a:moveTo>
                  <a:pt x="0" y="0"/>
                </a:moveTo>
                <a:lnTo>
                  <a:pt x="4943475" y="0"/>
                </a:lnTo>
              </a:path>
            </a:pathLst>
          </a:custGeom>
          <a:noFill/>
          <a:ln w="9525">
            <a:solidFill>
              <a:srgbClr val="B0C7E5"/>
            </a:solidFill>
            <a:prstDash val="solid"/>
          </a:ln>
        </p:spPr>
      </p:sp>
      <p:sp>
        <p:nvSpPr>
          <p:cNvPr id="19" name="s2-path102"/>
          <p:cNvSpPr>
            <a:spLocks noGrp="1"/>
          </p:cNvSpPr>
          <p:nvPr/>
        </p:nvSpPr>
        <p:spPr>
          <a:xfrm>
            <a:off x="7555122" y="3373422"/>
            <a:ext cx="85725" cy="94298"/>
          </a:xfrm>
          <a:custGeom>
            <a:avLst/>
            <a:gdLst/>
            <a:ahLst/>
            <a:cxnLst/>
            <a:rect l="0" t="0" r="0" b="0"/>
            <a:pathLst>
              <a:path w="85725" h="94298">
                <a:moveTo>
                  <a:pt x="85725" y="47149"/>
                </a:moveTo>
                <a:lnTo>
                  <a:pt x="0" y="0"/>
                </a:lnTo>
                <a:lnTo>
                  <a:pt x="0" y="94298"/>
                </a:lnTo>
                <a:close/>
              </a:path>
            </a:pathLst>
          </a:custGeom>
          <a:solidFill>
            <a:srgbClr val="B0C7E5"/>
          </a:solidFill>
          <a:ln w="9525">
            <a:noFill/>
          </a:ln>
        </p:spPr>
      </p:sp>
      <p:sp>
        <p:nvSpPr>
          <p:cNvPr id="21" name="s2-obj104"/>
          <p:cNvSpPr>
            <a:spLocks noGrp="1"/>
          </p:cNvSpPr>
          <p:nvPr/>
        </p:nvSpPr>
        <p:spPr>
          <a:xfrm>
            <a:off x="2687847" y="3544396"/>
            <a:ext cx="1419225" cy="266700"/>
          </a:xfrm>
          <a:prstGeom prst="roundRect">
            <a:avLst>
              <a:gd name="adj" fmla="val 28571"/>
            </a:avLst>
          </a:prstGeom>
          <a:solidFill>
            <a:srgbClr val="8EBEFF"/>
          </a:solidFill>
          <a:ln w="0">
            <a:noFill/>
          </a:ln>
        </p:spPr>
      </p:sp>
      <p:sp>
        <p:nvSpPr>
          <p:cNvPr id="22" name="s2-obj105"/>
          <p:cNvSpPr>
            <a:spLocks noGrp="1"/>
          </p:cNvSpPr>
          <p:nvPr/>
        </p:nvSpPr>
        <p:spPr>
          <a:xfrm>
            <a:off x="2764047" y="3572971"/>
            <a:ext cx="126682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Load 0</a:t>
            </a:r>
          </a:p>
        </p:txBody>
      </p:sp>
      <p:sp>
        <p:nvSpPr>
          <p:cNvPr id="23" name="s2-obj106"/>
          <p:cNvSpPr>
            <a:spLocks noGrp="1"/>
          </p:cNvSpPr>
          <p:nvPr/>
        </p:nvSpPr>
        <p:spPr>
          <a:xfrm>
            <a:off x="4116597" y="3544396"/>
            <a:ext cx="1743075" cy="266700"/>
          </a:xfrm>
          <a:prstGeom prst="roundRect">
            <a:avLst>
              <a:gd name="adj" fmla="val 28571"/>
            </a:avLst>
          </a:prstGeom>
          <a:solidFill>
            <a:srgbClr val="83CCBE"/>
          </a:solidFill>
          <a:ln w="0">
            <a:noFill/>
          </a:ln>
        </p:spPr>
      </p:sp>
      <p:sp>
        <p:nvSpPr>
          <p:cNvPr id="24" name="s2-obj107"/>
          <p:cNvSpPr>
            <a:spLocks noGrp="1"/>
          </p:cNvSpPr>
          <p:nvPr/>
        </p:nvSpPr>
        <p:spPr>
          <a:xfrm>
            <a:off x="4192797" y="3572971"/>
            <a:ext cx="159067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Compute 0</a:t>
            </a:r>
          </a:p>
        </p:txBody>
      </p:sp>
      <p:sp>
        <p:nvSpPr>
          <p:cNvPr id="25" name="s2-obj108"/>
          <p:cNvSpPr>
            <a:spLocks noGrp="1"/>
          </p:cNvSpPr>
          <p:nvPr/>
        </p:nvSpPr>
        <p:spPr>
          <a:xfrm>
            <a:off x="4116597" y="3811096"/>
            <a:ext cx="1352550" cy="266700"/>
          </a:xfrm>
          <a:prstGeom prst="roundRect">
            <a:avLst>
              <a:gd name="adj" fmla="val 28571"/>
            </a:avLst>
          </a:prstGeom>
          <a:solidFill>
            <a:srgbClr val="8EBEFF"/>
          </a:solidFill>
          <a:ln w="0">
            <a:noFill/>
          </a:ln>
        </p:spPr>
      </p:sp>
      <p:sp>
        <p:nvSpPr>
          <p:cNvPr id="26" name="s2-obj109"/>
          <p:cNvSpPr>
            <a:spLocks noGrp="1"/>
          </p:cNvSpPr>
          <p:nvPr/>
        </p:nvSpPr>
        <p:spPr>
          <a:xfrm>
            <a:off x="4192797" y="3839671"/>
            <a:ext cx="120015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Load 1</a:t>
            </a:r>
          </a:p>
        </p:txBody>
      </p:sp>
      <p:sp>
        <p:nvSpPr>
          <p:cNvPr id="28" name="s2-obj110"/>
          <p:cNvSpPr>
            <a:spLocks noGrp="1"/>
          </p:cNvSpPr>
          <p:nvPr/>
        </p:nvSpPr>
        <p:spPr>
          <a:xfrm>
            <a:off x="5869197" y="3814906"/>
            <a:ext cx="1857375" cy="266700"/>
          </a:xfrm>
          <a:prstGeom prst="roundRect">
            <a:avLst>
              <a:gd name="adj" fmla="val 28571"/>
            </a:avLst>
          </a:prstGeom>
          <a:solidFill>
            <a:srgbClr val="83CCBE"/>
          </a:solidFill>
          <a:ln w="0">
            <a:noFill/>
          </a:ln>
        </p:spPr>
      </p:sp>
      <p:sp>
        <p:nvSpPr>
          <p:cNvPr id="29" name="s2-obj111"/>
          <p:cNvSpPr>
            <a:spLocks noGrp="1"/>
          </p:cNvSpPr>
          <p:nvPr/>
        </p:nvSpPr>
        <p:spPr>
          <a:xfrm>
            <a:off x="5945397" y="3843481"/>
            <a:ext cx="170497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Compute 1</a:t>
            </a:r>
          </a:p>
        </p:txBody>
      </p:sp>
      <p:sp>
        <p:nvSpPr>
          <p:cNvPr id="48" name="s1-obj41"/>
          <p:cNvSpPr>
            <a:spLocks noGrp="1"/>
          </p:cNvSpPr>
          <p:nvPr/>
        </p:nvSpPr>
        <p:spPr>
          <a:xfrm>
            <a:off x="1409559" y="4992973"/>
            <a:ext cx="1438275" cy="828675"/>
          </a:xfrm>
          <a:prstGeom prst="roundRect">
            <a:avLst>
              <a:gd name="adj" fmla="val 9195"/>
            </a:avLst>
          </a:prstGeom>
          <a:solidFill>
            <a:srgbClr val="DCEBFE"/>
          </a:solidFill>
          <a:ln w="0">
            <a:noFill/>
          </a:ln>
        </p:spPr>
      </p:sp>
      <p:sp>
        <p:nvSpPr>
          <p:cNvPr id="49" name="s1-obj42"/>
          <p:cNvSpPr>
            <a:spLocks noGrp="1"/>
          </p:cNvSpPr>
          <p:nvPr/>
        </p:nvSpPr>
        <p:spPr>
          <a:xfrm>
            <a:off x="1447659" y="5097748"/>
            <a:ext cx="13620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0055D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55D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Tiling</a:t>
            </a:r>
          </a:p>
        </p:txBody>
      </p:sp>
      <p:sp>
        <p:nvSpPr>
          <p:cNvPr id="50" name="s1-obj43"/>
          <p:cNvSpPr>
            <a:spLocks noGrp="1"/>
          </p:cNvSpPr>
          <p:nvPr/>
        </p:nvSpPr>
        <p:spPr>
          <a:xfrm>
            <a:off x="1447659" y="5459698"/>
            <a:ext cx="136207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0">
                <a:solidFill>
                  <a:srgbClr val="435B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25" b="0">
                <a:solidFill>
                  <a:srgbClr val="435B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分块策略</a:t>
            </a:r>
          </a:p>
        </p:txBody>
      </p:sp>
      <p:sp>
        <p:nvSpPr>
          <p:cNvPr id="3" name="s1-obj44"/>
          <p:cNvSpPr>
            <a:spLocks noGrp="1"/>
          </p:cNvSpPr>
          <p:nvPr/>
        </p:nvSpPr>
        <p:spPr>
          <a:xfrm>
            <a:off x="2971659" y="4992973"/>
            <a:ext cx="1438275" cy="828675"/>
          </a:xfrm>
          <a:prstGeom prst="roundRect">
            <a:avLst>
              <a:gd name="adj" fmla="val 9195"/>
            </a:avLst>
          </a:prstGeom>
          <a:solidFill>
            <a:srgbClr val="DCEBFE"/>
          </a:solidFill>
          <a:ln w="0">
            <a:noFill/>
          </a:ln>
        </p:spPr>
      </p:sp>
      <p:sp>
        <p:nvSpPr>
          <p:cNvPr id="4" name="s1-obj45"/>
          <p:cNvSpPr>
            <a:spLocks noGrp="1"/>
          </p:cNvSpPr>
          <p:nvPr/>
        </p:nvSpPr>
        <p:spPr>
          <a:xfrm>
            <a:off x="3009759" y="5097748"/>
            <a:ext cx="13620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0055D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55D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Reduction</a:t>
            </a:r>
          </a:p>
        </p:txBody>
      </p:sp>
      <p:sp>
        <p:nvSpPr>
          <p:cNvPr id="20" name="s1-obj46"/>
          <p:cNvSpPr>
            <a:spLocks noGrp="1"/>
          </p:cNvSpPr>
          <p:nvPr/>
        </p:nvSpPr>
        <p:spPr>
          <a:xfrm>
            <a:off x="3009759" y="5459698"/>
            <a:ext cx="136207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0">
                <a:solidFill>
                  <a:srgbClr val="435B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25" b="0">
                <a:solidFill>
                  <a:srgbClr val="435B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归约优化</a:t>
            </a:r>
          </a:p>
        </p:txBody>
      </p:sp>
      <p:sp>
        <p:nvSpPr>
          <p:cNvPr id="30" name="s1-obj47"/>
          <p:cNvSpPr>
            <a:spLocks noGrp="1"/>
          </p:cNvSpPr>
          <p:nvPr/>
        </p:nvSpPr>
        <p:spPr>
          <a:xfrm>
            <a:off x="4533759" y="4992973"/>
            <a:ext cx="1438275" cy="828675"/>
          </a:xfrm>
          <a:prstGeom prst="roundRect">
            <a:avLst>
              <a:gd name="adj" fmla="val 9195"/>
            </a:avLst>
          </a:prstGeom>
          <a:solidFill>
            <a:srgbClr val="DCEBFE"/>
          </a:solidFill>
          <a:ln w="0">
            <a:noFill/>
          </a:ln>
        </p:spPr>
      </p:sp>
      <p:sp>
        <p:nvSpPr>
          <p:cNvPr id="38" name="s1-obj48"/>
          <p:cNvSpPr>
            <a:spLocks noGrp="1"/>
          </p:cNvSpPr>
          <p:nvPr/>
        </p:nvSpPr>
        <p:spPr>
          <a:xfrm>
            <a:off x="4571859" y="5097748"/>
            <a:ext cx="13620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0055D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55D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Grid</a:t>
            </a:r>
          </a:p>
        </p:txBody>
      </p:sp>
      <p:sp>
        <p:nvSpPr>
          <p:cNvPr id="47" name="s1-obj49"/>
          <p:cNvSpPr>
            <a:spLocks noGrp="1"/>
          </p:cNvSpPr>
          <p:nvPr/>
        </p:nvSpPr>
        <p:spPr>
          <a:xfrm>
            <a:off x="4571859" y="5459698"/>
            <a:ext cx="136207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0">
                <a:solidFill>
                  <a:srgbClr val="435B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25" b="0">
                <a:solidFill>
                  <a:srgbClr val="435B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并行策略</a:t>
            </a:r>
          </a:p>
        </p:txBody>
      </p:sp>
      <p:sp>
        <p:nvSpPr>
          <p:cNvPr id="60" name="s1-obj53"/>
          <p:cNvSpPr>
            <a:spLocks noGrp="1"/>
          </p:cNvSpPr>
          <p:nvPr/>
        </p:nvSpPr>
        <p:spPr>
          <a:xfrm>
            <a:off x="6139674" y="4992973"/>
            <a:ext cx="1438275" cy="828675"/>
          </a:xfrm>
          <a:prstGeom prst="roundRect">
            <a:avLst>
              <a:gd name="adj" fmla="val 9195"/>
            </a:avLst>
          </a:prstGeom>
          <a:solidFill>
            <a:srgbClr val="DCEBFE"/>
          </a:solidFill>
          <a:ln w="0">
            <a:noFill/>
          </a:ln>
        </p:spPr>
      </p:sp>
      <p:sp>
        <p:nvSpPr>
          <p:cNvPr id="61" name="s1-obj54"/>
          <p:cNvSpPr>
            <a:spLocks noGrp="1"/>
          </p:cNvSpPr>
          <p:nvPr/>
        </p:nvSpPr>
        <p:spPr>
          <a:xfrm>
            <a:off x="6177774" y="5097748"/>
            <a:ext cx="13620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0055D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55D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Fusion</a:t>
            </a:r>
          </a:p>
        </p:txBody>
      </p:sp>
      <p:sp>
        <p:nvSpPr>
          <p:cNvPr id="62" name="s1-obj55"/>
          <p:cNvSpPr>
            <a:spLocks noGrp="1"/>
          </p:cNvSpPr>
          <p:nvPr/>
        </p:nvSpPr>
        <p:spPr>
          <a:xfrm>
            <a:off x="6177774" y="5459698"/>
            <a:ext cx="136207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0">
                <a:solidFill>
                  <a:srgbClr val="435B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25" b="0">
                <a:solidFill>
                  <a:srgbClr val="435B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算子融合</a:t>
            </a:r>
          </a:p>
        </p:txBody>
      </p:sp>
      <p:sp>
        <p:nvSpPr>
          <p:cNvPr id="64" name="s2-obj108"/>
          <p:cNvSpPr>
            <a:spLocks noGrp="1"/>
          </p:cNvSpPr>
          <p:nvPr/>
        </p:nvSpPr>
        <p:spPr>
          <a:xfrm>
            <a:off x="5834272" y="3536141"/>
            <a:ext cx="1352550" cy="266700"/>
          </a:xfrm>
          <a:prstGeom prst="roundRect">
            <a:avLst>
              <a:gd name="adj" fmla="val 28571"/>
            </a:avLst>
          </a:prstGeom>
          <a:solidFill>
            <a:srgbClr val="8EBEFF"/>
          </a:solidFill>
          <a:ln w="0">
            <a:noFill/>
          </a:ln>
        </p:spPr>
      </p:sp>
      <p:sp>
        <p:nvSpPr>
          <p:cNvPr id="65" name="s2-obj109"/>
          <p:cNvSpPr>
            <a:spLocks noGrp="1"/>
          </p:cNvSpPr>
          <p:nvPr/>
        </p:nvSpPr>
        <p:spPr>
          <a:xfrm>
            <a:off x="5910472" y="3564716"/>
            <a:ext cx="120015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Load </a:t>
            </a:r>
            <a:r>
              <a:rPr lang="en-US" sz="1200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</a:t>
            </a:r>
          </a:p>
        </p:txBody>
      </p:sp>
      <p:sp>
        <p:nvSpPr>
          <p:cNvPr id="44" name="p1-o10">
            <a:extLst>
              <a:ext uri="{FF2B5EF4-FFF2-40B4-BE49-F238E27FC236}">
                <a16:creationId xmlns:a16="http://schemas.microsoft.com/office/drawing/2014/main" id="{EC6DF907-4B79-470C-923F-AEF0B55C8835}"/>
              </a:ext>
            </a:extLst>
          </p:cNvPr>
          <p:cNvSpPr>
            <a:spLocks noGrp="1"/>
          </p:cNvSpPr>
          <p:nvPr/>
        </p:nvSpPr>
        <p:spPr>
          <a:xfrm>
            <a:off x="395288" y="1762042"/>
            <a:ext cx="39243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75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多级缓存优化</a:t>
            </a:r>
            <a:endParaRPr sz="1575" b="1" dirty="0">
              <a:solidFill>
                <a:schemeClr val="tx1">
                  <a:lumMod val="95000"/>
                  <a:lumOff val="5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5" name="p1-o10">
            <a:extLst>
              <a:ext uri="{FF2B5EF4-FFF2-40B4-BE49-F238E27FC236}">
                <a16:creationId xmlns:a16="http://schemas.microsoft.com/office/drawing/2014/main" id="{EC6DF907-4B79-470C-923F-AEF0B55C8835}"/>
              </a:ext>
            </a:extLst>
          </p:cNvPr>
          <p:cNvSpPr>
            <a:spLocks noGrp="1"/>
          </p:cNvSpPr>
          <p:nvPr/>
        </p:nvSpPr>
        <p:spPr>
          <a:xfrm>
            <a:off x="395288" y="4424602"/>
            <a:ext cx="39243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75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其他优化</a:t>
            </a:r>
            <a:endParaRPr sz="1575" b="1" dirty="0">
              <a:solidFill>
                <a:schemeClr val="tx1">
                  <a:lumMod val="95000"/>
                  <a:lumOff val="5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</a:t>
            </a:r>
            <a:r>
              <a:rPr lang="zh-CN" altLang="en-US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任务一</a:t>
            </a:r>
            <a:r>
              <a:rPr sz="1950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lu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平台算子优化与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vllm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510903" y="6597079"/>
            <a:ext cx="6589489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Hong, D. B.; Imani, A.; Ahmed, I. “From Anatomy to Smells: An Empirical Study of SKILL.md in Agent Skills.” arXiv:2607.01456, 2026.</a:t>
            </a:r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84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算子优化</a:t>
            </a:r>
            <a:endParaRPr sz="2100" b="1" dirty="0">
              <a:solidFill>
                <a:srgbClr val="000000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85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8" name="s3-obj7"/>
          <p:cNvSpPr>
            <a:spLocks noGrp="1"/>
          </p:cNvSpPr>
          <p:nvPr/>
        </p:nvSpPr>
        <p:spPr>
          <a:xfrm>
            <a:off x="542925" y="1795145"/>
            <a:ext cx="79724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1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MatMul：分块与流水优化</a:t>
            </a:r>
          </a:p>
        </p:txBody>
      </p:sp>
      <p:sp>
        <p:nvSpPr>
          <p:cNvPr id="10" name="s3-obj9"/>
          <p:cNvSpPr>
            <a:spLocks noGrp="1"/>
          </p:cNvSpPr>
          <p:nvPr/>
        </p:nvSpPr>
        <p:spPr>
          <a:xfrm>
            <a:off x="8860155" y="2214245"/>
            <a:ext cx="47625" cy="352425"/>
          </a:xfrm>
          <a:prstGeom prst="roundRect">
            <a:avLst>
              <a:gd name="adj" fmla="val 40000"/>
            </a:avLst>
          </a:prstGeom>
          <a:gradFill>
            <a:gsLst>
              <a:gs pos="0">
                <a:srgbClr val="1268F8"/>
              </a:gs>
              <a:gs pos="100000">
                <a:srgbClr val="AECFFD"/>
              </a:gs>
            </a:gsLst>
            <a:lin ang="5400000"/>
          </a:gradFill>
          <a:ln w="0">
            <a:noFill/>
          </a:ln>
        </p:spPr>
      </p:sp>
      <p:graphicFrame>
        <p:nvGraphicFramePr>
          <p:cNvPr id="98" name="Chart"/>
          <p:cNvGraphicFramePr/>
          <p:nvPr>
            <p:extLst>
              <p:ext uri="{D42A27DB-BD31-4B8C-83A1-F6EECF244321}">
                <p14:modId xmlns:p14="http://schemas.microsoft.com/office/powerpoint/2010/main" val="398538969"/>
              </p:ext>
            </p:extLst>
          </p:nvPr>
        </p:nvGraphicFramePr>
        <p:xfrm>
          <a:off x="693420" y="2337980"/>
          <a:ext cx="4467225" cy="2143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s3-obj12"/>
          <p:cNvSpPr>
            <a:spLocks noGrp="1"/>
          </p:cNvSpPr>
          <p:nvPr/>
        </p:nvSpPr>
        <p:spPr>
          <a:xfrm>
            <a:off x="4393882" y="2214154"/>
            <a:ext cx="8763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050" b="0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 dirty="0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TFLOPS</a:t>
            </a:r>
          </a:p>
        </p:txBody>
      </p:sp>
      <p:sp>
        <p:nvSpPr>
          <p:cNvPr id="15" name="s3-obj13"/>
          <p:cNvSpPr>
            <a:spLocks noGrp="1"/>
          </p:cNvSpPr>
          <p:nvPr/>
        </p:nvSpPr>
        <p:spPr>
          <a:xfrm>
            <a:off x="5562600" y="2490470"/>
            <a:ext cx="228600" cy="228600"/>
          </a:xfrm>
          <a:prstGeom prst="ellipse">
            <a:avLst/>
          </a:prstGeom>
          <a:solidFill>
            <a:srgbClr val="0055DA"/>
          </a:solidFill>
          <a:ln w="0">
            <a:noFill/>
          </a:ln>
        </p:spPr>
      </p:sp>
      <p:sp>
        <p:nvSpPr>
          <p:cNvPr id="16" name="s3-obj14"/>
          <p:cNvSpPr>
            <a:spLocks noGrp="1"/>
          </p:cNvSpPr>
          <p:nvPr/>
        </p:nvSpPr>
        <p:spPr>
          <a:xfrm>
            <a:off x="5562600" y="2480945"/>
            <a:ext cx="2286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✓</a:t>
            </a:r>
          </a:p>
        </p:txBody>
      </p:sp>
      <p:sp>
        <p:nvSpPr>
          <p:cNvPr id="17" name="s3-obj15"/>
          <p:cNvSpPr>
            <a:spLocks noGrp="1"/>
          </p:cNvSpPr>
          <p:nvPr/>
        </p:nvSpPr>
        <p:spPr>
          <a:xfrm>
            <a:off x="5886450" y="2423795"/>
            <a:ext cx="25717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45" b="0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45" b="0" dirty="0" err="1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扩大有效</a:t>
            </a:r>
            <a:r>
              <a:rPr sz="1545" b="0" dirty="0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1545" b="0" dirty="0" err="1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Tile，提高数据复用</a:t>
            </a:r>
            <a:endParaRPr sz="1545" b="0" dirty="0">
              <a:solidFill>
                <a:srgbClr val="09285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s3-obj16"/>
          <p:cNvSpPr>
            <a:spLocks noGrp="1"/>
          </p:cNvSpPr>
          <p:nvPr/>
        </p:nvSpPr>
        <p:spPr>
          <a:xfrm>
            <a:off x="5562600" y="2871470"/>
            <a:ext cx="228600" cy="228600"/>
          </a:xfrm>
          <a:prstGeom prst="ellipse">
            <a:avLst/>
          </a:prstGeom>
          <a:solidFill>
            <a:srgbClr val="0055DA"/>
          </a:solidFill>
          <a:ln w="0">
            <a:noFill/>
          </a:ln>
        </p:spPr>
      </p:sp>
      <p:sp>
        <p:nvSpPr>
          <p:cNvPr id="19" name="s3-obj17"/>
          <p:cNvSpPr>
            <a:spLocks noGrp="1"/>
          </p:cNvSpPr>
          <p:nvPr/>
        </p:nvSpPr>
        <p:spPr>
          <a:xfrm>
            <a:off x="5562600" y="2861945"/>
            <a:ext cx="2286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✓</a:t>
            </a:r>
          </a:p>
        </p:txBody>
      </p:sp>
      <p:sp>
        <p:nvSpPr>
          <p:cNvPr id="20" name="s3-obj18"/>
          <p:cNvSpPr>
            <a:spLocks noGrp="1"/>
          </p:cNvSpPr>
          <p:nvPr/>
        </p:nvSpPr>
        <p:spPr>
          <a:xfrm>
            <a:off x="5886450" y="2795270"/>
            <a:ext cx="26670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zh-CN" altLang="en-US" sz="1575" b="0" dirty="0" smtClean="0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双缓冲提高计算单元利用率</a:t>
            </a:r>
            <a:endParaRPr sz="1575" b="0" dirty="0">
              <a:solidFill>
                <a:srgbClr val="09285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s3-obj20"/>
          <p:cNvSpPr>
            <a:spLocks noGrp="1"/>
          </p:cNvSpPr>
          <p:nvPr/>
        </p:nvSpPr>
        <p:spPr>
          <a:xfrm>
            <a:off x="5734050" y="3442970"/>
            <a:ext cx="2752725" cy="600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000" b="1">
                <a:solidFill>
                  <a:srgbClr val="0055D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endParaRPr sz="3000" b="1" dirty="0">
              <a:solidFill>
                <a:srgbClr val="0055D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3" name="s3-obj21"/>
          <p:cNvSpPr>
            <a:spLocks noGrp="1"/>
          </p:cNvSpPr>
          <p:nvPr/>
        </p:nvSpPr>
        <p:spPr>
          <a:xfrm>
            <a:off x="5674511" y="3652520"/>
            <a:ext cx="26670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30" b="0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30" b="0" dirty="0" err="1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达到厂商</a:t>
            </a:r>
            <a:r>
              <a:rPr sz="1730" b="0" dirty="0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GEMM 的 68.4%</a:t>
            </a: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73628430"/>
              </p:ext>
            </p:extLst>
          </p:nvPr>
        </p:nvGraphicFramePr>
        <p:xfrm>
          <a:off x="713020" y="4910137"/>
          <a:ext cx="7417435" cy="1409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68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03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25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89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/>
                        <a:t>手写算子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/>
                        <a:t>softmax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/>
                        <a:t>layernorm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/>
                        <a:t>flashattention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/>
                        <a:t>性能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/>
                        <a:t>官方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 sz="120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 sz="120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 sz="120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s3-obj15"/>
          <p:cNvSpPr>
            <a:spLocks noGrp="1"/>
          </p:cNvSpPr>
          <p:nvPr/>
        </p:nvSpPr>
        <p:spPr>
          <a:xfrm>
            <a:off x="1357788" y="4357370"/>
            <a:ext cx="4528661" cy="3765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45" b="0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zh-CN" altLang="en-US" sz="1300" b="0" dirty="0" smtClean="0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基础基线     </a:t>
            </a:r>
            <a:r>
              <a:rPr lang="en-US" altLang="zh-CN" sz="1300" dirty="0" smtClean="0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</a:t>
            </a:r>
            <a:r>
              <a:rPr lang="en-US" altLang="zh-CN" sz="1300" b="0" dirty="0" smtClean="0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ile/Grid       </a:t>
            </a:r>
            <a:r>
              <a:rPr lang="zh-CN" altLang="en-US" sz="1300" b="0" dirty="0" smtClean="0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多级缓冲      官方算子</a:t>
            </a:r>
            <a:endParaRPr sz="1300" b="0" dirty="0">
              <a:solidFill>
                <a:srgbClr val="09285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</a:t>
            </a:r>
            <a:r>
              <a:rPr lang="zh-CN" altLang="en-US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任务一</a:t>
            </a:r>
            <a:r>
              <a:rPr sz="1950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lu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平台算子优化与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vllm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4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21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Nano-</a:t>
            </a:r>
            <a:r>
              <a:rPr lang="en-US" altLang="zh-CN" sz="21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vllm</a:t>
            </a: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模型部署推理优化</a:t>
            </a:r>
            <a:endParaRPr lang="en-US" altLang="zh-CN" sz="2100" b="1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119" name="p1-o10">
            <a:extLst>
              <a:ext uri="{FF2B5EF4-FFF2-40B4-BE49-F238E27FC236}">
                <a16:creationId xmlns:a16="http://schemas.microsoft.com/office/drawing/2014/main" id="{EC6DF907-4B79-470C-923F-AEF0B55C8835}"/>
              </a:ext>
            </a:extLst>
          </p:cNvPr>
          <p:cNvSpPr>
            <a:spLocks noGrp="1"/>
          </p:cNvSpPr>
          <p:nvPr/>
        </p:nvSpPr>
        <p:spPr>
          <a:xfrm>
            <a:off x="435210" y="1773444"/>
            <a:ext cx="39243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75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背景：在</a:t>
            </a:r>
            <a:r>
              <a:rPr lang="en-US" altLang="zh-CN" sz="1575" b="1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mlu</a:t>
            </a:r>
            <a:r>
              <a:rPr lang="zh-CN" altLang="en-US" sz="1575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平台使用</a:t>
            </a:r>
            <a:r>
              <a:rPr lang="en-US" altLang="zh-CN" sz="1575" b="1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vllm</a:t>
            </a:r>
            <a:r>
              <a:rPr lang="zh-CN" altLang="en-US" sz="1575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进行部署推理时经常遇到下面的问题</a:t>
            </a:r>
            <a:endParaRPr sz="1575" b="1" dirty="0">
              <a:solidFill>
                <a:schemeClr val="tx1">
                  <a:lumMod val="95000"/>
                  <a:lumOff val="5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0" name="text_171_上下文重复"/>
          <p:cNvSpPr>
            <a:spLocks noGrp="1"/>
          </p:cNvSpPr>
          <p:nvPr/>
        </p:nvSpPr>
        <p:spPr>
          <a:xfrm>
            <a:off x="1037008" y="2575899"/>
            <a:ext cx="2356661" cy="29912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相同请求重复计算</a:t>
            </a:r>
            <a:endParaRPr sz="20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text_176_调度过多"/>
          <p:cNvSpPr>
            <a:spLocks noGrp="1"/>
          </p:cNvSpPr>
          <p:nvPr/>
        </p:nvSpPr>
        <p:spPr>
          <a:xfrm>
            <a:off x="1037008" y="3146482"/>
            <a:ext cx="1178719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复用前缀</a:t>
            </a:r>
            <a: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KV </a:t>
            </a:r>
            <a:r>
              <a:rPr lang="en-US" altLang="zh-CN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cache</a:t>
            </a:r>
            <a:r>
              <a:rPr lang="zh-CN" alt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显存压力大</a:t>
            </a:r>
            <a:endParaRPr sz="20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" name="text_181_优化不稳"/>
          <p:cNvSpPr>
            <a:spLocks noGrp="1"/>
          </p:cNvSpPr>
          <p:nvPr/>
        </p:nvSpPr>
        <p:spPr>
          <a:xfrm>
            <a:off x="1037008" y="3639400"/>
            <a:ext cx="1178719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CPU O</a:t>
            </a:r>
            <a:r>
              <a:rPr lang="en-US" altLang="zh-CN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ffload</a:t>
            </a:r>
            <a:r>
              <a:rPr lang="zh-CN" alt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开销大</a:t>
            </a:r>
            <a:endParaRPr sz="20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椭圆 123"/>
          <p:cNvSpPr/>
          <p:nvPr/>
        </p:nvSpPr>
        <p:spPr>
          <a:xfrm>
            <a:off x="645372" y="2685804"/>
            <a:ext cx="169281" cy="14693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椭圆 124"/>
          <p:cNvSpPr/>
          <p:nvPr/>
        </p:nvSpPr>
        <p:spPr>
          <a:xfrm>
            <a:off x="645371" y="3205693"/>
            <a:ext cx="169281" cy="14693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" name="椭圆 125"/>
          <p:cNvSpPr/>
          <p:nvPr/>
        </p:nvSpPr>
        <p:spPr>
          <a:xfrm>
            <a:off x="645372" y="3697202"/>
            <a:ext cx="169281" cy="14693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6" name="p4-o25">
            <a:extLst>
              <a:ext uri="{FF2B5EF4-FFF2-40B4-BE49-F238E27FC236}">
                <a16:creationId xmlns:a16="http://schemas.microsoft.com/office/drawing/2014/main" id="{CA992D99-9050-4AB2-8B27-370E3423C058}"/>
              </a:ext>
            </a:extLst>
          </p:cNvPr>
          <p:cNvSpPr>
            <a:spLocks noGrp="1"/>
          </p:cNvSpPr>
          <p:nvPr/>
        </p:nvSpPr>
        <p:spPr>
          <a:xfrm>
            <a:off x="2215339" y="5008984"/>
            <a:ext cx="2647950" cy="1323975"/>
          </a:xfrm>
          <a:prstGeom prst="roundRect">
            <a:avLst>
              <a:gd name="adj" fmla="val 5036"/>
            </a:avLst>
          </a:prstGeom>
          <a:solidFill>
            <a:srgbClr val="F7FAFE"/>
          </a:solidFill>
          <a:ln w="9525">
            <a:solidFill>
              <a:srgbClr val="D8E5F3"/>
            </a:solidFill>
          </a:ln>
        </p:spPr>
      </p:sp>
      <p:sp>
        <p:nvSpPr>
          <p:cNvPr id="137" name="p4-o26">
            <a:extLst>
              <a:ext uri="{FF2B5EF4-FFF2-40B4-BE49-F238E27FC236}">
                <a16:creationId xmlns:a16="http://schemas.microsoft.com/office/drawing/2014/main" id="{1E59FA89-77D3-43DF-8C8A-8464615B2838}"/>
              </a:ext>
            </a:extLst>
          </p:cNvPr>
          <p:cNvSpPr>
            <a:spLocks noGrp="1"/>
          </p:cNvSpPr>
          <p:nvPr/>
        </p:nvSpPr>
        <p:spPr>
          <a:xfrm>
            <a:off x="2358214" y="5085184"/>
            <a:ext cx="23526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>
                <a:solidFill>
                  <a:srgbClr val="0864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0864D9"/>
                </a:solidFill>
                <a:latin typeface="Microsoft YaHei"/>
                <a:ea typeface="Microsoft YaHei"/>
                <a:cs typeface="Microsoft YaHei"/>
              </a:rPr>
              <a:t>项目目标</a:t>
            </a:r>
            <a:endParaRPr sz="1650" b="1" dirty="0">
              <a:solidFill>
                <a:srgbClr val="0864D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8" name="p4-o27">
            <a:extLst>
              <a:ext uri="{FF2B5EF4-FFF2-40B4-BE49-F238E27FC236}">
                <a16:creationId xmlns:a16="http://schemas.microsoft.com/office/drawing/2014/main" id="{E131BF2B-738C-4CEC-9160-8C3048F81D08}"/>
              </a:ext>
            </a:extLst>
          </p:cNvPr>
          <p:cNvSpPr>
            <a:spLocks noGrp="1"/>
          </p:cNvSpPr>
          <p:nvPr/>
        </p:nvSpPr>
        <p:spPr>
          <a:xfrm>
            <a:off x="2358214" y="5494759"/>
            <a:ext cx="2352675" cy="285750"/>
          </a:xfrm>
          <a:prstGeom prst="roundRect">
            <a:avLst>
              <a:gd name="adj" fmla="val 20000"/>
            </a:avLst>
          </a:prstGeom>
          <a:solidFill>
            <a:srgbClr val="FFF4F6"/>
          </a:solidFill>
          <a:ln w="9525">
            <a:solidFill>
              <a:srgbClr val="F1D0D7"/>
            </a:solidFill>
          </a:ln>
        </p:spPr>
      </p:sp>
      <p:sp>
        <p:nvSpPr>
          <p:cNvPr id="139" name="p4-o28">
            <a:extLst>
              <a:ext uri="{FF2B5EF4-FFF2-40B4-BE49-F238E27FC236}">
                <a16:creationId xmlns:a16="http://schemas.microsoft.com/office/drawing/2014/main" id="{6EBDA519-4ABE-4233-9D70-D880B3D5C01A}"/>
              </a:ext>
            </a:extLst>
          </p:cNvPr>
          <p:cNvSpPr>
            <a:spLocks noGrp="1"/>
          </p:cNvSpPr>
          <p:nvPr/>
        </p:nvSpPr>
        <p:spPr>
          <a:xfrm>
            <a:off x="2424889" y="5523334"/>
            <a:ext cx="22193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扩大 KV Cache 容量</a:t>
            </a:r>
          </a:p>
        </p:txBody>
      </p:sp>
      <p:sp>
        <p:nvSpPr>
          <p:cNvPr id="140" name="p4-o29">
            <a:extLst>
              <a:ext uri="{FF2B5EF4-FFF2-40B4-BE49-F238E27FC236}">
                <a16:creationId xmlns:a16="http://schemas.microsoft.com/office/drawing/2014/main" id="{2B5C9992-94B1-4433-B792-E80A0C81C072}"/>
              </a:ext>
            </a:extLst>
          </p:cNvPr>
          <p:cNvSpPr>
            <a:spLocks noGrp="1"/>
          </p:cNvSpPr>
          <p:nvPr/>
        </p:nvSpPr>
        <p:spPr>
          <a:xfrm>
            <a:off x="2377264" y="5875759"/>
            <a:ext cx="23241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0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降低 Prefix HIT 场景 TTFT</a:t>
            </a:r>
          </a:p>
        </p:txBody>
      </p:sp>
      <p:sp>
        <p:nvSpPr>
          <p:cNvPr id="141" name="p4-o30">
            <a:extLst>
              <a:ext uri="{FF2B5EF4-FFF2-40B4-BE49-F238E27FC236}">
                <a16:creationId xmlns:a16="http://schemas.microsoft.com/office/drawing/2014/main" id="{A6E2238C-11F0-4541-8693-9B01587FD373}"/>
              </a:ext>
            </a:extLst>
          </p:cNvPr>
          <p:cNvSpPr>
            <a:spLocks noGrp="1"/>
          </p:cNvSpPr>
          <p:nvPr/>
        </p:nvSpPr>
        <p:spPr>
          <a:xfrm>
            <a:off x="2377264" y="6094834"/>
            <a:ext cx="23241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0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降低 CPU ↔ MLU 搬运开销</a:t>
            </a:r>
          </a:p>
        </p:txBody>
      </p:sp>
      <p:sp>
        <p:nvSpPr>
          <p:cNvPr id="142" name="text_103_原始 Skill 已具备完整开发流程"/>
          <p:cNvSpPr>
            <a:spLocks noGrp="1"/>
          </p:cNvSpPr>
          <p:nvPr/>
        </p:nvSpPr>
        <p:spPr>
          <a:xfrm>
            <a:off x="395288" y="4554165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解决方法：</a:t>
            </a:r>
            <a:r>
              <a:rPr lang="en-US" altLang="zh-CN" sz="21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MLU </a:t>
            </a:r>
            <a:r>
              <a:rPr lang="en-US" altLang="zh-CN" sz="21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L1 + CPU L2 </a:t>
            </a: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分层 </a:t>
            </a:r>
            <a:r>
              <a:rPr lang="en-US" altLang="zh-CN" sz="21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Prefix KV Cache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</a:t>
            </a:r>
            <a:r>
              <a:rPr lang="zh-CN" altLang="en-US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任务一</a:t>
            </a:r>
            <a:r>
              <a:rPr sz="1950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lu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平台算子优化与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vllm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4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21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MLU L1 + CPU L2 </a:t>
            </a: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分层 </a:t>
            </a:r>
            <a:r>
              <a:rPr lang="en-US" altLang="zh-CN" sz="21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Prefix KV Cache</a:t>
            </a:r>
          </a:p>
        </p:txBody>
      </p:sp>
      <p:sp>
        <p:nvSpPr>
          <p:cNvPr id="3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119" name="p1-o10">
            <a:extLst>
              <a:ext uri="{FF2B5EF4-FFF2-40B4-BE49-F238E27FC236}">
                <a16:creationId xmlns:a16="http://schemas.microsoft.com/office/drawing/2014/main" id="{EC6DF907-4B79-470C-923F-AEF0B55C8835}"/>
              </a:ext>
            </a:extLst>
          </p:cNvPr>
          <p:cNvSpPr>
            <a:spLocks noGrp="1"/>
          </p:cNvSpPr>
          <p:nvPr/>
        </p:nvSpPr>
        <p:spPr>
          <a:xfrm>
            <a:off x="395288" y="1644275"/>
            <a:ext cx="39243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75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整体架构</a:t>
            </a:r>
            <a:endParaRPr sz="1575" b="1" dirty="0">
              <a:solidFill>
                <a:schemeClr val="tx1">
                  <a:lumMod val="95000"/>
                  <a:lumOff val="5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text_258_Main"/>
          <p:cNvSpPr>
            <a:spLocks noGrp="1"/>
          </p:cNvSpPr>
          <p:nvPr/>
        </p:nvSpPr>
        <p:spPr>
          <a:xfrm>
            <a:off x="3379498" y="1995846"/>
            <a:ext cx="2231777" cy="375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用户请求</a:t>
            </a:r>
            <a:endParaRPr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_258_Main"/>
          <p:cNvSpPr>
            <a:spLocks noGrp="1"/>
          </p:cNvSpPr>
          <p:nvPr/>
        </p:nvSpPr>
        <p:spPr>
          <a:xfrm>
            <a:off x="3379497" y="2599600"/>
            <a:ext cx="2231777" cy="375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</a:t>
            </a:r>
            <a:r>
              <a:rPr lang="zh-CN" altLang="en-US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级</a:t>
            </a:r>
            <a:r>
              <a:rPr lang="en-US" altLang="zh-CN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Prefix</a:t>
            </a:r>
            <a:r>
              <a:rPr lang="zh-CN" altLang="en-US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查询</a:t>
            </a:r>
            <a:endParaRPr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_258_Main"/>
          <p:cNvSpPr>
            <a:spLocks noGrp="1"/>
          </p:cNvSpPr>
          <p:nvPr/>
        </p:nvSpPr>
        <p:spPr>
          <a:xfrm>
            <a:off x="755576" y="3429000"/>
            <a:ext cx="2231777" cy="375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L1</a:t>
            </a:r>
            <a:r>
              <a:rPr lang="zh-CN" altLang="en-US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命中</a:t>
            </a:r>
            <a:endParaRPr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_258_Main"/>
          <p:cNvSpPr>
            <a:spLocks noGrp="1"/>
          </p:cNvSpPr>
          <p:nvPr/>
        </p:nvSpPr>
        <p:spPr>
          <a:xfrm>
            <a:off x="755575" y="4149080"/>
            <a:ext cx="2231777" cy="375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复用</a:t>
            </a:r>
            <a:r>
              <a:rPr lang="en-US" altLang="zh-CN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KV Cache</a:t>
            </a:r>
            <a:endParaRPr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_258_Main"/>
          <p:cNvSpPr>
            <a:spLocks noGrp="1"/>
          </p:cNvSpPr>
          <p:nvPr/>
        </p:nvSpPr>
        <p:spPr>
          <a:xfrm>
            <a:off x="3379497" y="3399080"/>
            <a:ext cx="2231777" cy="375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L2</a:t>
            </a:r>
            <a:r>
              <a:rPr lang="zh-CN" altLang="en-US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命中</a:t>
            </a:r>
            <a:endParaRPr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_258_Main"/>
          <p:cNvSpPr>
            <a:spLocks noGrp="1"/>
          </p:cNvSpPr>
          <p:nvPr/>
        </p:nvSpPr>
        <p:spPr>
          <a:xfrm>
            <a:off x="3379497" y="4149080"/>
            <a:ext cx="2231777" cy="375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搬运</a:t>
            </a:r>
            <a:r>
              <a:rPr lang="en-US" altLang="zh-CN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zh-CN" altLang="en-US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复用</a:t>
            </a:r>
            <a:r>
              <a:rPr lang="en-US" altLang="zh-CN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KV Cache</a:t>
            </a:r>
            <a:endParaRPr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_258_Main"/>
          <p:cNvSpPr>
            <a:spLocks noGrp="1"/>
          </p:cNvSpPr>
          <p:nvPr/>
        </p:nvSpPr>
        <p:spPr>
          <a:xfrm>
            <a:off x="6300192" y="3431443"/>
            <a:ext cx="2231777" cy="375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均未命中</a:t>
            </a:r>
            <a:endParaRPr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_258_Main"/>
          <p:cNvSpPr>
            <a:spLocks noGrp="1"/>
          </p:cNvSpPr>
          <p:nvPr/>
        </p:nvSpPr>
        <p:spPr>
          <a:xfrm>
            <a:off x="6300192" y="4149080"/>
            <a:ext cx="2231777" cy="375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refill</a:t>
            </a:r>
            <a:r>
              <a:rPr lang="zh-CN" altLang="en-US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计算</a:t>
            </a:r>
            <a:endParaRPr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_258_Main"/>
          <p:cNvSpPr>
            <a:spLocks noGrp="1"/>
          </p:cNvSpPr>
          <p:nvPr/>
        </p:nvSpPr>
        <p:spPr>
          <a:xfrm>
            <a:off x="3379497" y="4901363"/>
            <a:ext cx="2231777" cy="375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后续计算</a:t>
            </a:r>
            <a:endParaRPr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直接箭头连接符 4"/>
          <p:cNvCxnSpPr>
            <a:stCxn id="13" idx="2"/>
            <a:endCxn id="14" idx="0"/>
          </p:cNvCxnSpPr>
          <p:nvPr/>
        </p:nvCxnSpPr>
        <p:spPr>
          <a:xfrm flipH="1">
            <a:off x="4495386" y="2370846"/>
            <a:ext cx="1" cy="228754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>
            <a:stCxn id="14" idx="2"/>
            <a:endCxn id="17" idx="0"/>
          </p:cNvCxnSpPr>
          <p:nvPr/>
        </p:nvCxnSpPr>
        <p:spPr>
          <a:xfrm>
            <a:off x="4495386" y="2974600"/>
            <a:ext cx="0" cy="42448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肘形连接符 22"/>
          <p:cNvCxnSpPr>
            <a:stCxn id="14" idx="2"/>
            <a:endCxn id="15" idx="0"/>
          </p:cNvCxnSpPr>
          <p:nvPr/>
        </p:nvCxnSpPr>
        <p:spPr>
          <a:xfrm rot="5400000">
            <a:off x="2956226" y="1889840"/>
            <a:ext cx="454400" cy="2623921"/>
          </a:xfrm>
          <a:prstGeom prst="bentConnector3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肘形连接符 26"/>
          <p:cNvCxnSpPr>
            <a:stCxn id="14" idx="2"/>
            <a:endCxn id="19" idx="0"/>
          </p:cNvCxnSpPr>
          <p:nvPr/>
        </p:nvCxnSpPr>
        <p:spPr>
          <a:xfrm rot="16200000" flipH="1">
            <a:off x="5727312" y="1742673"/>
            <a:ext cx="456843" cy="2920695"/>
          </a:xfrm>
          <a:prstGeom prst="bentConnector3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15" idx="2"/>
            <a:endCxn id="16" idx="0"/>
          </p:cNvCxnSpPr>
          <p:nvPr/>
        </p:nvCxnSpPr>
        <p:spPr>
          <a:xfrm flipH="1">
            <a:off x="1871464" y="3804000"/>
            <a:ext cx="1" cy="34508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17" idx="2"/>
            <a:endCxn id="18" idx="0"/>
          </p:cNvCxnSpPr>
          <p:nvPr/>
        </p:nvCxnSpPr>
        <p:spPr>
          <a:xfrm>
            <a:off x="4495386" y="3774080"/>
            <a:ext cx="0" cy="37500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>
            <a:stCxn id="19" idx="2"/>
            <a:endCxn id="20" idx="0"/>
          </p:cNvCxnSpPr>
          <p:nvPr/>
        </p:nvCxnSpPr>
        <p:spPr>
          <a:xfrm>
            <a:off x="7416081" y="3806443"/>
            <a:ext cx="0" cy="342637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>
            <a:stCxn id="18" idx="2"/>
            <a:endCxn id="22" idx="0"/>
          </p:cNvCxnSpPr>
          <p:nvPr/>
        </p:nvCxnSpPr>
        <p:spPr>
          <a:xfrm>
            <a:off x="4495386" y="4524080"/>
            <a:ext cx="0" cy="377283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肘形连接符 37"/>
          <p:cNvCxnSpPr>
            <a:stCxn id="16" idx="2"/>
            <a:endCxn id="22" idx="0"/>
          </p:cNvCxnSpPr>
          <p:nvPr/>
        </p:nvCxnSpPr>
        <p:spPr>
          <a:xfrm rot="16200000" flipH="1">
            <a:off x="2994784" y="3400760"/>
            <a:ext cx="377283" cy="2623922"/>
          </a:xfrm>
          <a:prstGeom prst="bentConnector3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肘形连接符 41"/>
          <p:cNvCxnSpPr>
            <a:stCxn id="20" idx="2"/>
            <a:endCxn id="22" idx="0"/>
          </p:cNvCxnSpPr>
          <p:nvPr/>
        </p:nvCxnSpPr>
        <p:spPr>
          <a:xfrm rot="5400000">
            <a:off x="5767093" y="3252374"/>
            <a:ext cx="377283" cy="2920695"/>
          </a:xfrm>
          <a:prstGeom prst="bentConnector3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p1-o10">
            <a:extLst>
              <a:ext uri="{FF2B5EF4-FFF2-40B4-BE49-F238E27FC236}">
                <a16:creationId xmlns:a16="http://schemas.microsoft.com/office/drawing/2014/main" id="{EC6DF907-4B79-470C-923F-AEF0B55C8835}"/>
              </a:ext>
            </a:extLst>
          </p:cNvPr>
          <p:cNvSpPr>
            <a:spLocks noGrp="1"/>
          </p:cNvSpPr>
          <p:nvPr/>
        </p:nvSpPr>
        <p:spPr>
          <a:xfrm>
            <a:off x="450721" y="5448031"/>
            <a:ext cx="39243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75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平台</a:t>
            </a:r>
            <a:endParaRPr sz="1575" b="1" dirty="0">
              <a:solidFill>
                <a:schemeClr val="tx1">
                  <a:lumMod val="95000"/>
                  <a:lumOff val="5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3" name="文本框 95"/>
          <p:cNvSpPr txBox="1"/>
          <p:nvPr/>
        </p:nvSpPr>
        <p:spPr>
          <a:xfrm>
            <a:off x="1948085" y="5352461"/>
            <a:ext cx="2777454" cy="923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altLang="zh-CN" sz="600" b="1" dirty="0" smtClean="0">
              <a:solidFill>
                <a:srgbClr val="004B9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MLU590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80GB)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Qwen3-8B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4" name="文本框 95"/>
          <p:cNvSpPr txBox="1"/>
          <p:nvPr/>
        </p:nvSpPr>
        <p:spPr>
          <a:xfrm>
            <a:off x="5076056" y="5352461"/>
            <a:ext cx="2777454" cy="923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altLang="zh-CN" sz="600" b="1" dirty="0" smtClean="0">
              <a:solidFill>
                <a:srgbClr val="004B9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Nano-</a:t>
            </a:r>
            <a:r>
              <a:rPr lang="en-US" altLang="zh-CN" sz="1600" b="1" dirty="0" err="1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vllm</a:t>
            </a:r>
            <a:endParaRPr lang="zh-CN" altLang="en-US" sz="1600" b="1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BF16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5" name="文本框 95"/>
          <p:cNvSpPr txBox="1"/>
          <p:nvPr/>
        </p:nvSpPr>
        <p:spPr>
          <a:xfrm>
            <a:off x="335866" y="6308448"/>
            <a:ext cx="7692517" cy="3231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charset="0"/>
              <a:buChar char="p"/>
            </a:pPr>
            <a:r>
              <a:rPr lang="zh-CN" altLang="en-US" sz="1500" b="1" dirty="0" smtClean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主要问题变为：如何搬运的更快</a:t>
            </a:r>
            <a:endParaRPr lang="zh-CN" altLang="en-US" sz="1500" b="1" dirty="0">
              <a:solidFill>
                <a:srgbClr val="004B9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8987992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</a:t>
            </a:r>
            <a:r>
              <a:rPr lang="zh-CN" altLang="en-US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任务一</a:t>
            </a:r>
            <a:r>
              <a:rPr sz="1950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lu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平台算子优化与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vllm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510903" y="6597079"/>
            <a:ext cx="6589489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Hong, D. B.; Imani, A.; Ahmed, I. “From Anatomy to Smells: An Empirical Study of SKILL.md in Agent Skills.” arXiv:2607.01456, 2026.</a:t>
            </a:r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84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21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vllm</a:t>
            </a: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优化：数据布局优化</a:t>
            </a:r>
            <a:endParaRPr lang="zh-CN" altLang="en-US" sz="21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8" name="p1-o9">
            <a:extLst>
              <a:ext uri="{FF2B5EF4-FFF2-40B4-BE49-F238E27FC236}">
                <a16:creationId xmlns:a16="http://schemas.microsoft.com/office/drawing/2014/main" id="{C0048B3C-454C-4636-A8D7-89DBD3DA4865}"/>
              </a:ext>
            </a:extLst>
          </p:cNvPr>
          <p:cNvSpPr>
            <a:spLocks noGrp="1"/>
          </p:cNvSpPr>
          <p:nvPr/>
        </p:nvSpPr>
        <p:spPr>
          <a:xfrm>
            <a:off x="280988" y="1615700"/>
            <a:ext cx="4152900" cy="390525"/>
          </a:xfrm>
          <a:prstGeom prst="roundRect">
            <a:avLst>
              <a:gd name="adj" fmla="val 9756"/>
            </a:avLst>
          </a:prstGeom>
          <a:noFill/>
          <a:ln w="0">
            <a:noFill/>
          </a:ln>
        </p:spPr>
      </p:sp>
      <p:sp>
        <p:nvSpPr>
          <p:cNvPr id="9" name="p1-o10">
            <a:extLst>
              <a:ext uri="{FF2B5EF4-FFF2-40B4-BE49-F238E27FC236}">
                <a16:creationId xmlns:a16="http://schemas.microsoft.com/office/drawing/2014/main" id="{EC6DF907-4B79-470C-923F-AEF0B55C8835}"/>
              </a:ext>
            </a:extLst>
          </p:cNvPr>
          <p:cNvSpPr>
            <a:spLocks noGrp="1"/>
          </p:cNvSpPr>
          <p:nvPr/>
        </p:nvSpPr>
        <p:spPr>
          <a:xfrm>
            <a:off x="1029996" y="1789531"/>
            <a:ext cx="39243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优化前：Layer-Major</a:t>
            </a:r>
            <a:r>
              <a:rPr sz="1575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75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布局</a:t>
            </a:r>
            <a:endParaRPr sz="1575" b="1" dirty="0">
              <a:solidFill>
                <a:schemeClr val="tx1">
                  <a:lumMod val="95000"/>
                  <a:lumOff val="5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p1-o12">
            <a:extLst>
              <a:ext uri="{FF2B5EF4-FFF2-40B4-BE49-F238E27FC236}">
                <a16:creationId xmlns:a16="http://schemas.microsoft.com/office/drawing/2014/main" id="{855DABC6-57FD-4B78-87AA-97BCD04ABD72}"/>
              </a:ext>
            </a:extLst>
          </p:cNvPr>
          <p:cNvSpPr>
            <a:spLocks noGrp="1"/>
          </p:cNvSpPr>
          <p:nvPr/>
        </p:nvSpPr>
        <p:spPr>
          <a:xfrm>
            <a:off x="4719638" y="1615700"/>
            <a:ext cx="4152900" cy="390525"/>
          </a:xfrm>
          <a:prstGeom prst="roundRect">
            <a:avLst>
              <a:gd name="adj" fmla="val 9756"/>
            </a:avLst>
          </a:prstGeom>
          <a:noFill/>
          <a:ln w="0">
            <a:noFill/>
          </a:ln>
        </p:spPr>
      </p:sp>
      <p:sp>
        <p:nvSpPr>
          <p:cNvPr id="12" name="p1-o13">
            <a:extLst>
              <a:ext uri="{FF2B5EF4-FFF2-40B4-BE49-F238E27FC236}">
                <a16:creationId xmlns:a16="http://schemas.microsoft.com/office/drawing/2014/main" id="{77E5A638-E85A-4C67-A88D-55B883EBFB98}"/>
              </a:ext>
            </a:extLst>
          </p:cNvPr>
          <p:cNvSpPr>
            <a:spLocks noGrp="1"/>
          </p:cNvSpPr>
          <p:nvPr/>
        </p:nvSpPr>
        <p:spPr>
          <a:xfrm>
            <a:off x="4862513" y="1731963"/>
            <a:ext cx="39243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优化后：Block-Major</a:t>
            </a:r>
            <a:r>
              <a:rPr sz="1575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75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布局</a:t>
            </a:r>
            <a:endParaRPr sz="1575" b="1" dirty="0">
              <a:solidFill>
                <a:schemeClr val="tx1">
                  <a:lumMod val="95000"/>
                  <a:lumOff val="5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p1-o16">
            <a:extLst>
              <a:ext uri="{FF2B5EF4-FFF2-40B4-BE49-F238E27FC236}">
                <a16:creationId xmlns:a16="http://schemas.microsoft.com/office/drawing/2014/main" id="{15E14EBD-FDD8-45BC-B0DB-304428A57C9C}"/>
              </a:ext>
            </a:extLst>
          </p:cNvPr>
          <p:cNvSpPr>
            <a:spLocks noGrp="1"/>
          </p:cNvSpPr>
          <p:nvPr/>
        </p:nvSpPr>
        <p:spPr>
          <a:xfrm>
            <a:off x="1953921" y="2339099"/>
            <a:ext cx="39052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B0</a:t>
            </a:r>
          </a:p>
        </p:txBody>
      </p:sp>
      <p:sp>
        <p:nvSpPr>
          <p:cNvPr id="16" name="p1-o17">
            <a:extLst>
              <a:ext uri="{FF2B5EF4-FFF2-40B4-BE49-F238E27FC236}">
                <a16:creationId xmlns:a16="http://schemas.microsoft.com/office/drawing/2014/main" id="{09C5E940-D81A-4F88-83EE-BA26F974F36B}"/>
              </a:ext>
            </a:extLst>
          </p:cNvPr>
          <p:cNvSpPr>
            <a:spLocks noGrp="1"/>
          </p:cNvSpPr>
          <p:nvPr/>
        </p:nvSpPr>
        <p:spPr>
          <a:xfrm>
            <a:off x="2363496" y="2339099"/>
            <a:ext cx="39052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B1</a:t>
            </a:r>
          </a:p>
        </p:txBody>
      </p:sp>
      <p:sp>
        <p:nvSpPr>
          <p:cNvPr id="17" name="p1-o18">
            <a:extLst>
              <a:ext uri="{FF2B5EF4-FFF2-40B4-BE49-F238E27FC236}">
                <a16:creationId xmlns:a16="http://schemas.microsoft.com/office/drawing/2014/main" id="{0A65A0F5-3BC3-4DFB-8C9E-43082125C900}"/>
              </a:ext>
            </a:extLst>
          </p:cNvPr>
          <p:cNvSpPr>
            <a:spLocks noGrp="1"/>
          </p:cNvSpPr>
          <p:nvPr/>
        </p:nvSpPr>
        <p:spPr>
          <a:xfrm>
            <a:off x="2773071" y="2339099"/>
            <a:ext cx="39052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B2</a:t>
            </a:r>
          </a:p>
        </p:txBody>
      </p:sp>
      <p:sp>
        <p:nvSpPr>
          <p:cNvPr id="18" name="p1-o19">
            <a:extLst>
              <a:ext uri="{FF2B5EF4-FFF2-40B4-BE49-F238E27FC236}">
                <a16:creationId xmlns:a16="http://schemas.microsoft.com/office/drawing/2014/main" id="{5E8AD4B6-E8A1-4FD7-8C0F-4D54EE61660C}"/>
              </a:ext>
            </a:extLst>
          </p:cNvPr>
          <p:cNvSpPr>
            <a:spLocks noGrp="1"/>
          </p:cNvSpPr>
          <p:nvPr/>
        </p:nvSpPr>
        <p:spPr>
          <a:xfrm>
            <a:off x="3182646" y="2339099"/>
            <a:ext cx="39052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B3</a:t>
            </a:r>
          </a:p>
        </p:txBody>
      </p:sp>
      <p:sp>
        <p:nvSpPr>
          <p:cNvPr id="19" name="p1-o20">
            <a:extLst>
              <a:ext uri="{FF2B5EF4-FFF2-40B4-BE49-F238E27FC236}">
                <a16:creationId xmlns:a16="http://schemas.microsoft.com/office/drawing/2014/main" id="{814A316E-B712-463A-8738-5A73A24366A1}"/>
              </a:ext>
            </a:extLst>
          </p:cNvPr>
          <p:cNvSpPr>
            <a:spLocks noGrp="1"/>
          </p:cNvSpPr>
          <p:nvPr/>
        </p:nvSpPr>
        <p:spPr>
          <a:xfrm>
            <a:off x="1334796" y="2662949"/>
            <a:ext cx="63817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25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Layer 0</a:t>
            </a:r>
          </a:p>
        </p:txBody>
      </p:sp>
      <p:sp>
        <p:nvSpPr>
          <p:cNvPr id="20" name="p1-o21">
            <a:extLst>
              <a:ext uri="{FF2B5EF4-FFF2-40B4-BE49-F238E27FC236}">
                <a16:creationId xmlns:a16="http://schemas.microsoft.com/office/drawing/2014/main" id="{DE193F3A-CD7D-4539-AE58-E7E2F9A693AF}"/>
              </a:ext>
            </a:extLst>
          </p:cNvPr>
          <p:cNvSpPr>
            <a:spLocks noGrp="1"/>
          </p:cNvSpPr>
          <p:nvPr/>
        </p:nvSpPr>
        <p:spPr>
          <a:xfrm>
            <a:off x="1963446" y="2681999"/>
            <a:ext cx="333375" cy="247650"/>
          </a:xfrm>
          <a:prstGeom prst="rect">
            <a:avLst/>
          </a:prstGeom>
          <a:solidFill>
            <a:srgbClr val="91B3E8"/>
          </a:solidFill>
          <a:ln w="9525">
            <a:solidFill>
              <a:srgbClr val="6E92C5"/>
            </a:solidFill>
          </a:ln>
        </p:spPr>
      </p:sp>
      <p:sp>
        <p:nvSpPr>
          <p:cNvPr id="21" name="p1-o22">
            <a:extLst>
              <a:ext uri="{FF2B5EF4-FFF2-40B4-BE49-F238E27FC236}">
                <a16:creationId xmlns:a16="http://schemas.microsoft.com/office/drawing/2014/main" id="{66EED0C9-15DE-46A5-AD0E-8E80CE9E8A7F}"/>
              </a:ext>
            </a:extLst>
          </p:cNvPr>
          <p:cNvSpPr>
            <a:spLocks noGrp="1"/>
          </p:cNvSpPr>
          <p:nvPr/>
        </p:nvSpPr>
        <p:spPr>
          <a:xfrm>
            <a:off x="1963446" y="2605799"/>
            <a:ext cx="419100" cy="76200"/>
          </a:xfrm>
          <a:custGeom>
            <a:avLst/>
            <a:gdLst/>
            <a:ahLst/>
            <a:cxnLst/>
            <a:rect l="0" t="0" r="0" b="0"/>
            <a:pathLst>
              <a:path w="419100" h="76200">
                <a:moveTo>
                  <a:pt x="0" y="76200"/>
                </a:moveTo>
                <a:lnTo>
                  <a:pt x="85725" y="0"/>
                </a:lnTo>
                <a:lnTo>
                  <a:pt x="419100" y="0"/>
                </a:lnTo>
                <a:lnTo>
                  <a:pt x="33337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91B3E8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22" name="p1-o23">
            <a:extLst>
              <a:ext uri="{FF2B5EF4-FFF2-40B4-BE49-F238E27FC236}">
                <a16:creationId xmlns:a16="http://schemas.microsoft.com/office/drawing/2014/main" id="{8DC9E26B-6D9F-4CBA-A792-2C8EDB133258}"/>
              </a:ext>
            </a:extLst>
          </p:cNvPr>
          <p:cNvSpPr>
            <a:spLocks noGrp="1"/>
          </p:cNvSpPr>
          <p:nvPr/>
        </p:nvSpPr>
        <p:spPr>
          <a:xfrm>
            <a:off x="2296821" y="2605799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91B3E8"/>
          </a:solidFill>
          <a:ln w="9525">
            <a:solidFill>
              <a:srgbClr val="6E92C5"/>
            </a:solidFill>
          </a:ln>
        </p:spPr>
      </p:sp>
      <p:sp>
        <p:nvSpPr>
          <p:cNvPr id="23" name="p1-o24">
            <a:extLst>
              <a:ext uri="{FF2B5EF4-FFF2-40B4-BE49-F238E27FC236}">
                <a16:creationId xmlns:a16="http://schemas.microsoft.com/office/drawing/2014/main" id="{518A2E24-6627-449D-B71F-DE3FA5C96EBE}"/>
              </a:ext>
            </a:extLst>
          </p:cNvPr>
          <p:cNvSpPr>
            <a:spLocks noGrp="1"/>
          </p:cNvSpPr>
          <p:nvPr/>
        </p:nvSpPr>
        <p:spPr>
          <a:xfrm>
            <a:off x="2373021" y="2681999"/>
            <a:ext cx="333375" cy="247650"/>
          </a:xfrm>
          <a:prstGeom prst="rect">
            <a:avLst/>
          </a:prstGeom>
          <a:solidFill>
            <a:srgbClr val="E8B0BD"/>
          </a:solidFill>
          <a:ln w="9525">
            <a:solidFill>
              <a:srgbClr val="6E92C5"/>
            </a:solidFill>
          </a:ln>
        </p:spPr>
      </p:sp>
      <p:sp>
        <p:nvSpPr>
          <p:cNvPr id="24" name="p1-o25">
            <a:extLst>
              <a:ext uri="{FF2B5EF4-FFF2-40B4-BE49-F238E27FC236}">
                <a16:creationId xmlns:a16="http://schemas.microsoft.com/office/drawing/2014/main" id="{87FE4B25-0D84-41D6-B008-7B66ED608B21}"/>
              </a:ext>
            </a:extLst>
          </p:cNvPr>
          <p:cNvSpPr>
            <a:spLocks noGrp="1"/>
          </p:cNvSpPr>
          <p:nvPr/>
        </p:nvSpPr>
        <p:spPr>
          <a:xfrm>
            <a:off x="2373021" y="2605799"/>
            <a:ext cx="419100" cy="76200"/>
          </a:xfrm>
          <a:custGeom>
            <a:avLst/>
            <a:gdLst/>
            <a:ahLst/>
            <a:cxnLst/>
            <a:rect l="0" t="0" r="0" b="0"/>
            <a:pathLst>
              <a:path w="419100" h="76200">
                <a:moveTo>
                  <a:pt x="0" y="76200"/>
                </a:moveTo>
                <a:lnTo>
                  <a:pt x="85725" y="0"/>
                </a:lnTo>
                <a:lnTo>
                  <a:pt x="419100" y="0"/>
                </a:lnTo>
                <a:lnTo>
                  <a:pt x="33337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E8B0BD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25" name="p1-o26">
            <a:extLst>
              <a:ext uri="{FF2B5EF4-FFF2-40B4-BE49-F238E27FC236}">
                <a16:creationId xmlns:a16="http://schemas.microsoft.com/office/drawing/2014/main" id="{7151574E-E273-431F-817A-29660AD8ADE7}"/>
              </a:ext>
            </a:extLst>
          </p:cNvPr>
          <p:cNvSpPr>
            <a:spLocks noGrp="1"/>
          </p:cNvSpPr>
          <p:nvPr/>
        </p:nvSpPr>
        <p:spPr>
          <a:xfrm>
            <a:off x="2706396" y="2605799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E8B0BD"/>
          </a:solidFill>
          <a:ln w="9525">
            <a:solidFill>
              <a:srgbClr val="6E92C5"/>
            </a:solidFill>
          </a:ln>
        </p:spPr>
      </p:sp>
      <p:sp>
        <p:nvSpPr>
          <p:cNvPr id="26" name="p1-o27">
            <a:extLst>
              <a:ext uri="{FF2B5EF4-FFF2-40B4-BE49-F238E27FC236}">
                <a16:creationId xmlns:a16="http://schemas.microsoft.com/office/drawing/2014/main" id="{CF1CA771-ED23-4FA0-BB5F-FA679D33DE85}"/>
              </a:ext>
            </a:extLst>
          </p:cNvPr>
          <p:cNvSpPr>
            <a:spLocks noGrp="1"/>
          </p:cNvSpPr>
          <p:nvPr/>
        </p:nvSpPr>
        <p:spPr>
          <a:xfrm>
            <a:off x="2782596" y="2681999"/>
            <a:ext cx="333375" cy="247650"/>
          </a:xfrm>
          <a:prstGeom prst="rect">
            <a:avLst/>
          </a:prstGeom>
          <a:solidFill>
            <a:srgbClr val="F4DBA6"/>
          </a:solidFill>
          <a:ln w="9525">
            <a:solidFill>
              <a:srgbClr val="6E92C5"/>
            </a:solidFill>
          </a:ln>
        </p:spPr>
      </p:sp>
      <p:sp>
        <p:nvSpPr>
          <p:cNvPr id="28" name="p1-o28">
            <a:extLst>
              <a:ext uri="{FF2B5EF4-FFF2-40B4-BE49-F238E27FC236}">
                <a16:creationId xmlns:a16="http://schemas.microsoft.com/office/drawing/2014/main" id="{4F2F27EE-3A44-41D2-9D99-A7B87CFA7FD6}"/>
              </a:ext>
            </a:extLst>
          </p:cNvPr>
          <p:cNvSpPr>
            <a:spLocks noGrp="1"/>
          </p:cNvSpPr>
          <p:nvPr/>
        </p:nvSpPr>
        <p:spPr>
          <a:xfrm>
            <a:off x="2782596" y="2605799"/>
            <a:ext cx="419100" cy="76200"/>
          </a:xfrm>
          <a:custGeom>
            <a:avLst/>
            <a:gdLst/>
            <a:ahLst/>
            <a:cxnLst/>
            <a:rect l="0" t="0" r="0" b="0"/>
            <a:pathLst>
              <a:path w="419100" h="76200">
                <a:moveTo>
                  <a:pt x="0" y="76200"/>
                </a:moveTo>
                <a:lnTo>
                  <a:pt x="85725" y="0"/>
                </a:lnTo>
                <a:lnTo>
                  <a:pt x="419100" y="0"/>
                </a:lnTo>
                <a:lnTo>
                  <a:pt x="33337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F4DBA6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29" name="p1-o29">
            <a:extLst>
              <a:ext uri="{FF2B5EF4-FFF2-40B4-BE49-F238E27FC236}">
                <a16:creationId xmlns:a16="http://schemas.microsoft.com/office/drawing/2014/main" id="{30D0EC86-9C5F-4CEC-9762-7C9AB820F262}"/>
              </a:ext>
            </a:extLst>
          </p:cNvPr>
          <p:cNvSpPr>
            <a:spLocks noGrp="1"/>
          </p:cNvSpPr>
          <p:nvPr/>
        </p:nvSpPr>
        <p:spPr>
          <a:xfrm>
            <a:off x="3115971" y="2605799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F4DBA6"/>
          </a:solidFill>
          <a:ln w="9525">
            <a:solidFill>
              <a:srgbClr val="6E92C5"/>
            </a:solidFill>
          </a:ln>
        </p:spPr>
      </p:sp>
      <p:sp>
        <p:nvSpPr>
          <p:cNvPr id="30" name="p1-o30">
            <a:extLst>
              <a:ext uri="{FF2B5EF4-FFF2-40B4-BE49-F238E27FC236}">
                <a16:creationId xmlns:a16="http://schemas.microsoft.com/office/drawing/2014/main" id="{F6153B51-3210-45DB-B5BA-3B7275099E91}"/>
              </a:ext>
            </a:extLst>
          </p:cNvPr>
          <p:cNvSpPr>
            <a:spLocks noGrp="1"/>
          </p:cNvSpPr>
          <p:nvPr/>
        </p:nvSpPr>
        <p:spPr>
          <a:xfrm>
            <a:off x="3192171" y="2681999"/>
            <a:ext cx="333375" cy="247650"/>
          </a:xfrm>
          <a:prstGeom prst="rect">
            <a:avLst/>
          </a:prstGeom>
          <a:solidFill>
            <a:srgbClr val="9BD3BC"/>
          </a:solidFill>
          <a:ln w="9525">
            <a:solidFill>
              <a:srgbClr val="6E92C5"/>
            </a:solidFill>
          </a:ln>
        </p:spPr>
      </p:sp>
      <p:sp>
        <p:nvSpPr>
          <p:cNvPr id="31" name="p1-o31">
            <a:extLst>
              <a:ext uri="{FF2B5EF4-FFF2-40B4-BE49-F238E27FC236}">
                <a16:creationId xmlns:a16="http://schemas.microsoft.com/office/drawing/2014/main" id="{0AD8BC29-B02C-4021-A32A-26346ECF685C}"/>
              </a:ext>
            </a:extLst>
          </p:cNvPr>
          <p:cNvSpPr>
            <a:spLocks noGrp="1"/>
          </p:cNvSpPr>
          <p:nvPr/>
        </p:nvSpPr>
        <p:spPr>
          <a:xfrm>
            <a:off x="3192171" y="2605799"/>
            <a:ext cx="419100" cy="76200"/>
          </a:xfrm>
          <a:custGeom>
            <a:avLst/>
            <a:gdLst/>
            <a:ahLst/>
            <a:cxnLst/>
            <a:rect l="0" t="0" r="0" b="0"/>
            <a:pathLst>
              <a:path w="419100" h="76200">
                <a:moveTo>
                  <a:pt x="0" y="76200"/>
                </a:moveTo>
                <a:lnTo>
                  <a:pt x="85725" y="0"/>
                </a:lnTo>
                <a:lnTo>
                  <a:pt x="419100" y="0"/>
                </a:lnTo>
                <a:lnTo>
                  <a:pt x="33337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9BD3BC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32" name="p1-o32">
            <a:extLst>
              <a:ext uri="{FF2B5EF4-FFF2-40B4-BE49-F238E27FC236}">
                <a16:creationId xmlns:a16="http://schemas.microsoft.com/office/drawing/2014/main" id="{ED84A948-B09E-4BD1-B7B7-588F5F44D153}"/>
              </a:ext>
            </a:extLst>
          </p:cNvPr>
          <p:cNvSpPr>
            <a:spLocks noGrp="1"/>
          </p:cNvSpPr>
          <p:nvPr/>
        </p:nvSpPr>
        <p:spPr>
          <a:xfrm>
            <a:off x="3525546" y="2605799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9BD3BC"/>
          </a:solidFill>
          <a:ln w="9525">
            <a:solidFill>
              <a:srgbClr val="6E92C5"/>
            </a:solidFill>
          </a:ln>
        </p:spPr>
      </p:sp>
      <p:sp>
        <p:nvSpPr>
          <p:cNvPr id="33" name="p1-o33">
            <a:extLst>
              <a:ext uri="{FF2B5EF4-FFF2-40B4-BE49-F238E27FC236}">
                <a16:creationId xmlns:a16="http://schemas.microsoft.com/office/drawing/2014/main" id="{FD0078AA-42CB-4D17-BA5D-086D4925503F}"/>
              </a:ext>
            </a:extLst>
          </p:cNvPr>
          <p:cNvSpPr>
            <a:spLocks noGrp="1"/>
          </p:cNvSpPr>
          <p:nvPr/>
        </p:nvSpPr>
        <p:spPr>
          <a:xfrm>
            <a:off x="1334796" y="3072524"/>
            <a:ext cx="63817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25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Layer 1</a:t>
            </a:r>
          </a:p>
        </p:txBody>
      </p:sp>
      <p:sp>
        <p:nvSpPr>
          <p:cNvPr id="34" name="p1-o34">
            <a:extLst>
              <a:ext uri="{FF2B5EF4-FFF2-40B4-BE49-F238E27FC236}">
                <a16:creationId xmlns:a16="http://schemas.microsoft.com/office/drawing/2014/main" id="{B1E6FF50-D103-4CF0-9893-7086FA6FFA73}"/>
              </a:ext>
            </a:extLst>
          </p:cNvPr>
          <p:cNvSpPr>
            <a:spLocks noGrp="1"/>
          </p:cNvSpPr>
          <p:nvPr/>
        </p:nvSpPr>
        <p:spPr>
          <a:xfrm>
            <a:off x="1963446" y="3091574"/>
            <a:ext cx="333375" cy="247650"/>
          </a:xfrm>
          <a:prstGeom prst="rect">
            <a:avLst/>
          </a:prstGeom>
          <a:solidFill>
            <a:srgbClr val="91B3E8"/>
          </a:solidFill>
          <a:ln w="9525">
            <a:solidFill>
              <a:srgbClr val="6E92C5"/>
            </a:solidFill>
          </a:ln>
        </p:spPr>
      </p:sp>
      <p:sp>
        <p:nvSpPr>
          <p:cNvPr id="35" name="p1-o35">
            <a:extLst>
              <a:ext uri="{FF2B5EF4-FFF2-40B4-BE49-F238E27FC236}">
                <a16:creationId xmlns:a16="http://schemas.microsoft.com/office/drawing/2014/main" id="{25637F6D-0CDC-476E-984E-DD4CDD6C46ED}"/>
              </a:ext>
            </a:extLst>
          </p:cNvPr>
          <p:cNvSpPr>
            <a:spLocks noGrp="1"/>
          </p:cNvSpPr>
          <p:nvPr/>
        </p:nvSpPr>
        <p:spPr>
          <a:xfrm>
            <a:off x="1963446" y="3015374"/>
            <a:ext cx="419100" cy="76200"/>
          </a:xfrm>
          <a:custGeom>
            <a:avLst/>
            <a:gdLst/>
            <a:ahLst/>
            <a:cxnLst/>
            <a:rect l="0" t="0" r="0" b="0"/>
            <a:pathLst>
              <a:path w="419100" h="76200">
                <a:moveTo>
                  <a:pt x="0" y="76200"/>
                </a:moveTo>
                <a:lnTo>
                  <a:pt x="85725" y="0"/>
                </a:lnTo>
                <a:lnTo>
                  <a:pt x="419100" y="0"/>
                </a:lnTo>
                <a:lnTo>
                  <a:pt x="33337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91B3E8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36" name="p1-o36">
            <a:extLst>
              <a:ext uri="{FF2B5EF4-FFF2-40B4-BE49-F238E27FC236}">
                <a16:creationId xmlns:a16="http://schemas.microsoft.com/office/drawing/2014/main" id="{64C930E5-36DE-48E9-BD0F-65CE26C729F9}"/>
              </a:ext>
            </a:extLst>
          </p:cNvPr>
          <p:cNvSpPr>
            <a:spLocks noGrp="1"/>
          </p:cNvSpPr>
          <p:nvPr/>
        </p:nvSpPr>
        <p:spPr>
          <a:xfrm>
            <a:off x="2296821" y="3015374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91B3E8"/>
          </a:solidFill>
          <a:ln w="9525">
            <a:solidFill>
              <a:srgbClr val="6E92C5"/>
            </a:solidFill>
          </a:ln>
        </p:spPr>
      </p:sp>
      <p:sp>
        <p:nvSpPr>
          <p:cNvPr id="37" name="p1-o37">
            <a:extLst>
              <a:ext uri="{FF2B5EF4-FFF2-40B4-BE49-F238E27FC236}">
                <a16:creationId xmlns:a16="http://schemas.microsoft.com/office/drawing/2014/main" id="{EC87B774-33A8-4983-A6EE-DF1B34D2DCD5}"/>
              </a:ext>
            </a:extLst>
          </p:cNvPr>
          <p:cNvSpPr>
            <a:spLocks noGrp="1"/>
          </p:cNvSpPr>
          <p:nvPr/>
        </p:nvSpPr>
        <p:spPr>
          <a:xfrm>
            <a:off x="2373021" y="3091574"/>
            <a:ext cx="333375" cy="247650"/>
          </a:xfrm>
          <a:prstGeom prst="rect">
            <a:avLst/>
          </a:prstGeom>
          <a:solidFill>
            <a:srgbClr val="E8B0BD"/>
          </a:solidFill>
          <a:ln w="9525">
            <a:solidFill>
              <a:srgbClr val="6E92C5"/>
            </a:solidFill>
          </a:ln>
        </p:spPr>
      </p:sp>
      <p:sp>
        <p:nvSpPr>
          <p:cNvPr id="38" name="p1-o38">
            <a:extLst>
              <a:ext uri="{FF2B5EF4-FFF2-40B4-BE49-F238E27FC236}">
                <a16:creationId xmlns:a16="http://schemas.microsoft.com/office/drawing/2014/main" id="{59DC0022-060C-46DD-9D51-0C525A002A7C}"/>
              </a:ext>
            </a:extLst>
          </p:cNvPr>
          <p:cNvSpPr>
            <a:spLocks noGrp="1"/>
          </p:cNvSpPr>
          <p:nvPr/>
        </p:nvSpPr>
        <p:spPr>
          <a:xfrm>
            <a:off x="2373021" y="3015374"/>
            <a:ext cx="419100" cy="76200"/>
          </a:xfrm>
          <a:custGeom>
            <a:avLst/>
            <a:gdLst/>
            <a:ahLst/>
            <a:cxnLst/>
            <a:rect l="0" t="0" r="0" b="0"/>
            <a:pathLst>
              <a:path w="419100" h="76200">
                <a:moveTo>
                  <a:pt x="0" y="76200"/>
                </a:moveTo>
                <a:lnTo>
                  <a:pt x="85725" y="0"/>
                </a:lnTo>
                <a:lnTo>
                  <a:pt x="419100" y="0"/>
                </a:lnTo>
                <a:lnTo>
                  <a:pt x="33337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E8B0BD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39" name="p1-o39">
            <a:extLst>
              <a:ext uri="{FF2B5EF4-FFF2-40B4-BE49-F238E27FC236}">
                <a16:creationId xmlns:a16="http://schemas.microsoft.com/office/drawing/2014/main" id="{FC8BCEC8-3460-4169-B2F2-5AA6426E19C9}"/>
              </a:ext>
            </a:extLst>
          </p:cNvPr>
          <p:cNvSpPr>
            <a:spLocks noGrp="1"/>
          </p:cNvSpPr>
          <p:nvPr/>
        </p:nvSpPr>
        <p:spPr>
          <a:xfrm>
            <a:off x="2706396" y="3015374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E8B0BD"/>
          </a:solidFill>
          <a:ln w="9525">
            <a:solidFill>
              <a:srgbClr val="6E92C5"/>
            </a:solidFill>
          </a:ln>
        </p:spPr>
      </p:sp>
      <p:sp>
        <p:nvSpPr>
          <p:cNvPr id="40" name="p1-o40">
            <a:extLst>
              <a:ext uri="{FF2B5EF4-FFF2-40B4-BE49-F238E27FC236}">
                <a16:creationId xmlns:a16="http://schemas.microsoft.com/office/drawing/2014/main" id="{345E199B-8691-4BB9-8D68-EBE0AFEF2813}"/>
              </a:ext>
            </a:extLst>
          </p:cNvPr>
          <p:cNvSpPr>
            <a:spLocks noGrp="1"/>
          </p:cNvSpPr>
          <p:nvPr/>
        </p:nvSpPr>
        <p:spPr>
          <a:xfrm>
            <a:off x="2782596" y="3091574"/>
            <a:ext cx="333375" cy="247650"/>
          </a:xfrm>
          <a:prstGeom prst="rect">
            <a:avLst/>
          </a:prstGeom>
          <a:solidFill>
            <a:srgbClr val="F4DBA6"/>
          </a:solidFill>
          <a:ln w="9525">
            <a:solidFill>
              <a:srgbClr val="6E92C5"/>
            </a:solidFill>
          </a:ln>
        </p:spPr>
      </p:sp>
      <p:sp>
        <p:nvSpPr>
          <p:cNvPr id="41" name="p1-o41">
            <a:extLst>
              <a:ext uri="{FF2B5EF4-FFF2-40B4-BE49-F238E27FC236}">
                <a16:creationId xmlns:a16="http://schemas.microsoft.com/office/drawing/2014/main" id="{92AE0008-CF81-4513-A8F8-1C5CA6256C7C}"/>
              </a:ext>
            </a:extLst>
          </p:cNvPr>
          <p:cNvSpPr>
            <a:spLocks noGrp="1"/>
          </p:cNvSpPr>
          <p:nvPr/>
        </p:nvSpPr>
        <p:spPr>
          <a:xfrm>
            <a:off x="2782596" y="3015374"/>
            <a:ext cx="419100" cy="76200"/>
          </a:xfrm>
          <a:custGeom>
            <a:avLst/>
            <a:gdLst/>
            <a:ahLst/>
            <a:cxnLst/>
            <a:rect l="0" t="0" r="0" b="0"/>
            <a:pathLst>
              <a:path w="419100" h="76200">
                <a:moveTo>
                  <a:pt x="0" y="76200"/>
                </a:moveTo>
                <a:lnTo>
                  <a:pt x="85725" y="0"/>
                </a:lnTo>
                <a:lnTo>
                  <a:pt x="419100" y="0"/>
                </a:lnTo>
                <a:lnTo>
                  <a:pt x="33337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F4DBA6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42" name="p1-o42">
            <a:extLst>
              <a:ext uri="{FF2B5EF4-FFF2-40B4-BE49-F238E27FC236}">
                <a16:creationId xmlns:a16="http://schemas.microsoft.com/office/drawing/2014/main" id="{3C25B64D-9DD6-46C1-B453-E171F7761575}"/>
              </a:ext>
            </a:extLst>
          </p:cNvPr>
          <p:cNvSpPr>
            <a:spLocks noGrp="1"/>
          </p:cNvSpPr>
          <p:nvPr/>
        </p:nvSpPr>
        <p:spPr>
          <a:xfrm>
            <a:off x="3115971" y="3015374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F4DBA6"/>
          </a:solidFill>
          <a:ln w="9525">
            <a:solidFill>
              <a:srgbClr val="6E92C5"/>
            </a:solidFill>
          </a:ln>
        </p:spPr>
      </p:sp>
      <p:sp>
        <p:nvSpPr>
          <p:cNvPr id="43" name="p1-o43">
            <a:extLst>
              <a:ext uri="{FF2B5EF4-FFF2-40B4-BE49-F238E27FC236}">
                <a16:creationId xmlns:a16="http://schemas.microsoft.com/office/drawing/2014/main" id="{DEA3EB39-8D10-4339-A1FA-4B09955962A2}"/>
              </a:ext>
            </a:extLst>
          </p:cNvPr>
          <p:cNvSpPr>
            <a:spLocks noGrp="1"/>
          </p:cNvSpPr>
          <p:nvPr/>
        </p:nvSpPr>
        <p:spPr>
          <a:xfrm>
            <a:off x="3192171" y="3091574"/>
            <a:ext cx="333375" cy="247650"/>
          </a:xfrm>
          <a:prstGeom prst="rect">
            <a:avLst/>
          </a:prstGeom>
          <a:solidFill>
            <a:srgbClr val="9BD3BC"/>
          </a:solidFill>
          <a:ln w="9525">
            <a:solidFill>
              <a:srgbClr val="6E92C5"/>
            </a:solidFill>
          </a:ln>
        </p:spPr>
      </p:sp>
      <p:sp>
        <p:nvSpPr>
          <p:cNvPr id="44" name="p1-o44">
            <a:extLst>
              <a:ext uri="{FF2B5EF4-FFF2-40B4-BE49-F238E27FC236}">
                <a16:creationId xmlns:a16="http://schemas.microsoft.com/office/drawing/2014/main" id="{A9DB7369-16B4-48D0-BF18-BAC7BA73C3AE}"/>
              </a:ext>
            </a:extLst>
          </p:cNvPr>
          <p:cNvSpPr>
            <a:spLocks noGrp="1"/>
          </p:cNvSpPr>
          <p:nvPr/>
        </p:nvSpPr>
        <p:spPr>
          <a:xfrm>
            <a:off x="3192171" y="3015374"/>
            <a:ext cx="419100" cy="76200"/>
          </a:xfrm>
          <a:custGeom>
            <a:avLst/>
            <a:gdLst/>
            <a:ahLst/>
            <a:cxnLst/>
            <a:rect l="0" t="0" r="0" b="0"/>
            <a:pathLst>
              <a:path w="419100" h="76200">
                <a:moveTo>
                  <a:pt x="0" y="76200"/>
                </a:moveTo>
                <a:lnTo>
                  <a:pt x="85725" y="0"/>
                </a:lnTo>
                <a:lnTo>
                  <a:pt x="419100" y="0"/>
                </a:lnTo>
                <a:lnTo>
                  <a:pt x="33337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9BD3BC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45" name="p1-o45">
            <a:extLst>
              <a:ext uri="{FF2B5EF4-FFF2-40B4-BE49-F238E27FC236}">
                <a16:creationId xmlns:a16="http://schemas.microsoft.com/office/drawing/2014/main" id="{5798CC4C-7FD0-4EB7-A85A-421C01613A51}"/>
              </a:ext>
            </a:extLst>
          </p:cNvPr>
          <p:cNvSpPr>
            <a:spLocks noGrp="1"/>
          </p:cNvSpPr>
          <p:nvPr/>
        </p:nvSpPr>
        <p:spPr>
          <a:xfrm>
            <a:off x="3525546" y="3015374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9BD3BC"/>
          </a:solidFill>
          <a:ln w="9525">
            <a:solidFill>
              <a:srgbClr val="6E92C5"/>
            </a:solidFill>
          </a:ln>
        </p:spPr>
      </p:sp>
      <p:sp>
        <p:nvSpPr>
          <p:cNvPr id="46" name="p1-o46">
            <a:extLst>
              <a:ext uri="{FF2B5EF4-FFF2-40B4-BE49-F238E27FC236}">
                <a16:creationId xmlns:a16="http://schemas.microsoft.com/office/drawing/2014/main" id="{9EACCEDE-B239-4083-B1BE-9425784D7B61}"/>
              </a:ext>
            </a:extLst>
          </p:cNvPr>
          <p:cNvSpPr>
            <a:spLocks noGrp="1"/>
          </p:cNvSpPr>
          <p:nvPr/>
        </p:nvSpPr>
        <p:spPr>
          <a:xfrm>
            <a:off x="1334796" y="3482099"/>
            <a:ext cx="63817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25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Layer 2</a:t>
            </a:r>
          </a:p>
        </p:txBody>
      </p:sp>
      <p:sp>
        <p:nvSpPr>
          <p:cNvPr id="47" name="p1-o47">
            <a:extLst>
              <a:ext uri="{FF2B5EF4-FFF2-40B4-BE49-F238E27FC236}">
                <a16:creationId xmlns:a16="http://schemas.microsoft.com/office/drawing/2014/main" id="{20B5F5F9-456B-44E6-B6B3-AA0A0667D6A3}"/>
              </a:ext>
            </a:extLst>
          </p:cNvPr>
          <p:cNvSpPr>
            <a:spLocks noGrp="1"/>
          </p:cNvSpPr>
          <p:nvPr/>
        </p:nvSpPr>
        <p:spPr>
          <a:xfrm>
            <a:off x="1963446" y="3501149"/>
            <a:ext cx="333375" cy="247650"/>
          </a:xfrm>
          <a:prstGeom prst="rect">
            <a:avLst/>
          </a:prstGeom>
          <a:solidFill>
            <a:srgbClr val="91B3E8"/>
          </a:solidFill>
          <a:ln w="9525">
            <a:solidFill>
              <a:srgbClr val="6E92C5"/>
            </a:solidFill>
          </a:ln>
        </p:spPr>
      </p:sp>
      <p:sp>
        <p:nvSpPr>
          <p:cNvPr id="48" name="p1-o48">
            <a:extLst>
              <a:ext uri="{FF2B5EF4-FFF2-40B4-BE49-F238E27FC236}">
                <a16:creationId xmlns:a16="http://schemas.microsoft.com/office/drawing/2014/main" id="{13EF6D77-95D5-4EF7-8D71-865A5535134D}"/>
              </a:ext>
            </a:extLst>
          </p:cNvPr>
          <p:cNvSpPr>
            <a:spLocks noGrp="1"/>
          </p:cNvSpPr>
          <p:nvPr/>
        </p:nvSpPr>
        <p:spPr>
          <a:xfrm>
            <a:off x="1963446" y="3424949"/>
            <a:ext cx="419100" cy="76200"/>
          </a:xfrm>
          <a:custGeom>
            <a:avLst/>
            <a:gdLst/>
            <a:ahLst/>
            <a:cxnLst/>
            <a:rect l="0" t="0" r="0" b="0"/>
            <a:pathLst>
              <a:path w="419100" h="76200">
                <a:moveTo>
                  <a:pt x="0" y="76200"/>
                </a:moveTo>
                <a:lnTo>
                  <a:pt x="85725" y="0"/>
                </a:lnTo>
                <a:lnTo>
                  <a:pt x="419100" y="0"/>
                </a:lnTo>
                <a:lnTo>
                  <a:pt x="33337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91B3E8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49" name="p1-o49">
            <a:extLst>
              <a:ext uri="{FF2B5EF4-FFF2-40B4-BE49-F238E27FC236}">
                <a16:creationId xmlns:a16="http://schemas.microsoft.com/office/drawing/2014/main" id="{9B3A8CDD-78BA-4DFF-8697-34939380D6C0}"/>
              </a:ext>
            </a:extLst>
          </p:cNvPr>
          <p:cNvSpPr>
            <a:spLocks noGrp="1"/>
          </p:cNvSpPr>
          <p:nvPr/>
        </p:nvSpPr>
        <p:spPr>
          <a:xfrm>
            <a:off x="2296821" y="3424949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91B3E8"/>
          </a:solidFill>
          <a:ln w="9525">
            <a:solidFill>
              <a:srgbClr val="6E92C5"/>
            </a:solidFill>
          </a:ln>
        </p:spPr>
      </p:sp>
      <p:sp>
        <p:nvSpPr>
          <p:cNvPr id="50" name="p1-o50">
            <a:extLst>
              <a:ext uri="{FF2B5EF4-FFF2-40B4-BE49-F238E27FC236}">
                <a16:creationId xmlns:a16="http://schemas.microsoft.com/office/drawing/2014/main" id="{13C6988A-88F7-4319-9110-F3CBF84B5796}"/>
              </a:ext>
            </a:extLst>
          </p:cNvPr>
          <p:cNvSpPr>
            <a:spLocks noGrp="1"/>
          </p:cNvSpPr>
          <p:nvPr/>
        </p:nvSpPr>
        <p:spPr>
          <a:xfrm>
            <a:off x="2373021" y="3501149"/>
            <a:ext cx="333375" cy="247650"/>
          </a:xfrm>
          <a:prstGeom prst="rect">
            <a:avLst/>
          </a:prstGeom>
          <a:solidFill>
            <a:srgbClr val="E8B0BD"/>
          </a:solidFill>
          <a:ln w="9525">
            <a:solidFill>
              <a:srgbClr val="6E92C5"/>
            </a:solidFill>
          </a:ln>
        </p:spPr>
      </p:sp>
      <p:sp>
        <p:nvSpPr>
          <p:cNvPr id="51" name="p1-o51">
            <a:extLst>
              <a:ext uri="{FF2B5EF4-FFF2-40B4-BE49-F238E27FC236}">
                <a16:creationId xmlns:a16="http://schemas.microsoft.com/office/drawing/2014/main" id="{40E77750-7AE6-44F0-A2AB-B1FC3980332A}"/>
              </a:ext>
            </a:extLst>
          </p:cNvPr>
          <p:cNvSpPr>
            <a:spLocks noGrp="1"/>
          </p:cNvSpPr>
          <p:nvPr/>
        </p:nvSpPr>
        <p:spPr>
          <a:xfrm>
            <a:off x="2373021" y="3424949"/>
            <a:ext cx="419100" cy="76200"/>
          </a:xfrm>
          <a:custGeom>
            <a:avLst/>
            <a:gdLst/>
            <a:ahLst/>
            <a:cxnLst/>
            <a:rect l="0" t="0" r="0" b="0"/>
            <a:pathLst>
              <a:path w="419100" h="76200">
                <a:moveTo>
                  <a:pt x="0" y="76200"/>
                </a:moveTo>
                <a:lnTo>
                  <a:pt x="85725" y="0"/>
                </a:lnTo>
                <a:lnTo>
                  <a:pt x="419100" y="0"/>
                </a:lnTo>
                <a:lnTo>
                  <a:pt x="33337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E8B0BD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52" name="p1-o52">
            <a:extLst>
              <a:ext uri="{FF2B5EF4-FFF2-40B4-BE49-F238E27FC236}">
                <a16:creationId xmlns:a16="http://schemas.microsoft.com/office/drawing/2014/main" id="{F1732320-C93E-40D4-8E71-8FD857C93CCE}"/>
              </a:ext>
            </a:extLst>
          </p:cNvPr>
          <p:cNvSpPr>
            <a:spLocks noGrp="1"/>
          </p:cNvSpPr>
          <p:nvPr/>
        </p:nvSpPr>
        <p:spPr>
          <a:xfrm>
            <a:off x="2706396" y="3424949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E8B0BD"/>
          </a:solidFill>
          <a:ln w="9525">
            <a:solidFill>
              <a:srgbClr val="6E92C5"/>
            </a:solidFill>
          </a:ln>
        </p:spPr>
      </p:sp>
      <p:sp>
        <p:nvSpPr>
          <p:cNvPr id="53" name="p1-o53">
            <a:extLst>
              <a:ext uri="{FF2B5EF4-FFF2-40B4-BE49-F238E27FC236}">
                <a16:creationId xmlns:a16="http://schemas.microsoft.com/office/drawing/2014/main" id="{99FD732A-BC77-4B70-8E1D-5F97E6770042}"/>
              </a:ext>
            </a:extLst>
          </p:cNvPr>
          <p:cNvSpPr>
            <a:spLocks noGrp="1"/>
          </p:cNvSpPr>
          <p:nvPr/>
        </p:nvSpPr>
        <p:spPr>
          <a:xfrm>
            <a:off x="2782596" y="3501149"/>
            <a:ext cx="333375" cy="247650"/>
          </a:xfrm>
          <a:prstGeom prst="rect">
            <a:avLst/>
          </a:prstGeom>
          <a:solidFill>
            <a:srgbClr val="F4DBA6"/>
          </a:solidFill>
          <a:ln w="9525">
            <a:solidFill>
              <a:srgbClr val="6E92C5"/>
            </a:solidFill>
          </a:ln>
        </p:spPr>
      </p:sp>
      <p:sp>
        <p:nvSpPr>
          <p:cNvPr id="54" name="p1-o54">
            <a:extLst>
              <a:ext uri="{FF2B5EF4-FFF2-40B4-BE49-F238E27FC236}">
                <a16:creationId xmlns:a16="http://schemas.microsoft.com/office/drawing/2014/main" id="{3253C6B9-78AA-45F5-AF19-BEB19E284958}"/>
              </a:ext>
            </a:extLst>
          </p:cNvPr>
          <p:cNvSpPr>
            <a:spLocks noGrp="1"/>
          </p:cNvSpPr>
          <p:nvPr/>
        </p:nvSpPr>
        <p:spPr>
          <a:xfrm>
            <a:off x="2782596" y="3424949"/>
            <a:ext cx="419100" cy="76200"/>
          </a:xfrm>
          <a:custGeom>
            <a:avLst/>
            <a:gdLst/>
            <a:ahLst/>
            <a:cxnLst/>
            <a:rect l="0" t="0" r="0" b="0"/>
            <a:pathLst>
              <a:path w="419100" h="76200">
                <a:moveTo>
                  <a:pt x="0" y="76200"/>
                </a:moveTo>
                <a:lnTo>
                  <a:pt x="85725" y="0"/>
                </a:lnTo>
                <a:lnTo>
                  <a:pt x="419100" y="0"/>
                </a:lnTo>
                <a:lnTo>
                  <a:pt x="33337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F4DBA6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55" name="p1-o55">
            <a:extLst>
              <a:ext uri="{FF2B5EF4-FFF2-40B4-BE49-F238E27FC236}">
                <a16:creationId xmlns:a16="http://schemas.microsoft.com/office/drawing/2014/main" id="{717BA5FB-140A-42B4-ACD8-5D6AE048E7B5}"/>
              </a:ext>
            </a:extLst>
          </p:cNvPr>
          <p:cNvSpPr>
            <a:spLocks noGrp="1"/>
          </p:cNvSpPr>
          <p:nvPr/>
        </p:nvSpPr>
        <p:spPr>
          <a:xfrm>
            <a:off x="3115971" y="3424949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F4DBA6"/>
          </a:solidFill>
          <a:ln w="9525">
            <a:solidFill>
              <a:srgbClr val="6E92C5"/>
            </a:solidFill>
          </a:ln>
        </p:spPr>
      </p:sp>
      <p:sp>
        <p:nvSpPr>
          <p:cNvPr id="56" name="p1-o56">
            <a:extLst>
              <a:ext uri="{FF2B5EF4-FFF2-40B4-BE49-F238E27FC236}">
                <a16:creationId xmlns:a16="http://schemas.microsoft.com/office/drawing/2014/main" id="{32B30107-FB93-402C-A698-E62CDBA44FAF}"/>
              </a:ext>
            </a:extLst>
          </p:cNvPr>
          <p:cNvSpPr>
            <a:spLocks noGrp="1"/>
          </p:cNvSpPr>
          <p:nvPr/>
        </p:nvSpPr>
        <p:spPr>
          <a:xfrm>
            <a:off x="3192171" y="3501149"/>
            <a:ext cx="333375" cy="247650"/>
          </a:xfrm>
          <a:prstGeom prst="rect">
            <a:avLst/>
          </a:prstGeom>
          <a:solidFill>
            <a:srgbClr val="9BD3BC"/>
          </a:solidFill>
          <a:ln w="9525">
            <a:solidFill>
              <a:srgbClr val="6E92C5"/>
            </a:solidFill>
          </a:ln>
        </p:spPr>
      </p:sp>
      <p:sp>
        <p:nvSpPr>
          <p:cNvPr id="57" name="p1-o57">
            <a:extLst>
              <a:ext uri="{FF2B5EF4-FFF2-40B4-BE49-F238E27FC236}">
                <a16:creationId xmlns:a16="http://schemas.microsoft.com/office/drawing/2014/main" id="{BA1F3BA4-732F-4C2B-8DD7-1ADAAB946A2B}"/>
              </a:ext>
            </a:extLst>
          </p:cNvPr>
          <p:cNvSpPr>
            <a:spLocks noGrp="1"/>
          </p:cNvSpPr>
          <p:nvPr/>
        </p:nvSpPr>
        <p:spPr>
          <a:xfrm>
            <a:off x="3192171" y="3424949"/>
            <a:ext cx="419100" cy="76200"/>
          </a:xfrm>
          <a:custGeom>
            <a:avLst/>
            <a:gdLst/>
            <a:ahLst/>
            <a:cxnLst/>
            <a:rect l="0" t="0" r="0" b="0"/>
            <a:pathLst>
              <a:path w="419100" h="76200">
                <a:moveTo>
                  <a:pt x="0" y="76200"/>
                </a:moveTo>
                <a:lnTo>
                  <a:pt x="85725" y="0"/>
                </a:lnTo>
                <a:lnTo>
                  <a:pt x="419100" y="0"/>
                </a:lnTo>
                <a:lnTo>
                  <a:pt x="33337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9BD3BC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58" name="p1-o58">
            <a:extLst>
              <a:ext uri="{FF2B5EF4-FFF2-40B4-BE49-F238E27FC236}">
                <a16:creationId xmlns:a16="http://schemas.microsoft.com/office/drawing/2014/main" id="{0385CA09-F6D9-4B6E-B585-41997C2466CB}"/>
              </a:ext>
            </a:extLst>
          </p:cNvPr>
          <p:cNvSpPr>
            <a:spLocks noGrp="1"/>
          </p:cNvSpPr>
          <p:nvPr/>
        </p:nvSpPr>
        <p:spPr>
          <a:xfrm>
            <a:off x="3525546" y="3424949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9BD3BC"/>
          </a:solidFill>
          <a:ln w="9525">
            <a:solidFill>
              <a:srgbClr val="6E92C5"/>
            </a:solidFill>
          </a:ln>
        </p:spPr>
      </p:sp>
      <p:sp>
        <p:nvSpPr>
          <p:cNvPr id="59" name="p1-o59">
            <a:extLst>
              <a:ext uri="{FF2B5EF4-FFF2-40B4-BE49-F238E27FC236}">
                <a16:creationId xmlns:a16="http://schemas.microsoft.com/office/drawing/2014/main" id="{9BF5CA74-0FFB-4FD3-9327-0D9C29095F3D}"/>
              </a:ext>
            </a:extLst>
          </p:cNvPr>
          <p:cNvSpPr>
            <a:spLocks noGrp="1"/>
          </p:cNvSpPr>
          <p:nvPr/>
        </p:nvSpPr>
        <p:spPr>
          <a:xfrm>
            <a:off x="1334796" y="4101224"/>
            <a:ext cx="63817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25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Layer 35</a:t>
            </a:r>
          </a:p>
        </p:txBody>
      </p:sp>
      <p:sp>
        <p:nvSpPr>
          <p:cNvPr id="60" name="p1-o60">
            <a:extLst>
              <a:ext uri="{FF2B5EF4-FFF2-40B4-BE49-F238E27FC236}">
                <a16:creationId xmlns:a16="http://schemas.microsoft.com/office/drawing/2014/main" id="{D4A6CC37-2DCE-46D7-A603-DDF40926BB32}"/>
              </a:ext>
            </a:extLst>
          </p:cNvPr>
          <p:cNvSpPr>
            <a:spLocks noGrp="1"/>
          </p:cNvSpPr>
          <p:nvPr/>
        </p:nvSpPr>
        <p:spPr>
          <a:xfrm>
            <a:off x="1963446" y="4120274"/>
            <a:ext cx="333375" cy="247650"/>
          </a:xfrm>
          <a:prstGeom prst="rect">
            <a:avLst/>
          </a:prstGeom>
          <a:solidFill>
            <a:srgbClr val="91B3E8"/>
          </a:solidFill>
          <a:ln w="9525">
            <a:solidFill>
              <a:srgbClr val="6E92C5"/>
            </a:solidFill>
          </a:ln>
        </p:spPr>
      </p:sp>
      <p:sp>
        <p:nvSpPr>
          <p:cNvPr id="61" name="p1-o61">
            <a:extLst>
              <a:ext uri="{FF2B5EF4-FFF2-40B4-BE49-F238E27FC236}">
                <a16:creationId xmlns:a16="http://schemas.microsoft.com/office/drawing/2014/main" id="{AFF05E0F-0B38-4718-BF82-1BCB5727B74F}"/>
              </a:ext>
            </a:extLst>
          </p:cNvPr>
          <p:cNvSpPr>
            <a:spLocks noGrp="1"/>
          </p:cNvSpPr>
          <p:nvPr/>
        </p:nvSpPr>
        <p:spPr>
          <a:xfrm>
            <a:off x="1963446" y="4044074"/>
            <a:ext cx="419100" cy="76200"/>
          </a:xfrm>
          <a:custGeom>
            <a:avLst/>
            <a:gdLst/>
            <a:ahLst/>
            <a:cxnLst/>
            <a:rect l="0" t="0" r="0" b="0"/>
            <a:pathLst>
              <a:path w="419100" h="76200">
                <a:moveTo>
                  <a:pt x="0" y="76200"/>
                </a:moveTo>
                <a:lnTo>
                  <a:pt x="85725" y="0"/>
                </a:lnTo>
                <a:lnTo>
                  <a:pt x="419100" y="0"/>
                </a:lnTo>
                <a:lnTo>
                  <a:pt x="33337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91B3E8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62" name="p1-o62">
            <a:extLst>
              <a:ext uri="{FF2B5EF4-FFF2-40B4-BE49-F238E27FC236}">
                <a16:creationId xmlns:a16="http://schemas.microsoft.com/office/drawing/2014/main" id="{E92305B7-E1E4-443D-9DF2-9CC987631AF6}"/>
              </a:ext>
            </a:extLst>
          </p:cNvPr>
          <p:cNvSpPr>
            <a:spLocks noGrp="1"/>
          </p:cNvSpPr>
          <p:nvPr/>
        </p:nvSpPr>
        <p:spPr>
          <a:xfrm>
            <a:off x="2296821" y="4044074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91B3E8"/>
          </a:solidFill>
          <a:ln w="9525">
            <a:solidFill>
              <a:srgbClr val="6E92C5"/>
            </a:solidFill>
          </a:ln>
        </p:spPr>
      </p:sp>
      <p:sp>
        <p:nvSpPr>
          <p:cNvPr id="63" name="p1-o63">
            <a:extLst>
              <a:ext uri="{FF2B5EF4-FFF2-40B4-BE49-F238E27FC236}">
                <a16:creationId xmlns:a16="http://schemas.microsoft.com/office/drawing/2014/main" id="{E6D5A1B6-11F3-4495-ABCB-4658F538936E}"/>
              </a:ext>
            </a:extLst>
          </p:cNvPr>
          <p:cNvSpPr>
            <a:spLocks noGrp="1"/>
          </p:cNvSpPr>
          <p:nvPr/>
        </p:nvSpPr>
        <p:spPr>
          <a:xfrm>
            <a:off x="2373021" y="4120274"/>
            <a:ext cx="333375" cy="247650"/>
          </a:xfrm>
          <a:prstGeom prst="rect">
            <a:avLst/>
          </a:prstGeom>
          <a:solidFill>
            <a:srgbClr val="E8B0BD"/>
          </a:solidFill>
          <a:ln w="9525">
            <a:solidFill>
              <a:srgbClr val="6E92C5"/>
            </a:solidFill>
          </a:ln>
        </p:spPr>
      </p:sp>
      <p:sp>
        <p:nvSpPr>
          <p:cNvPr id="64" name="p1-o64">
            <a:extLst>
              <a:ext uri="{FF2B5EF4-FFF2-40B4-BE49-F238E27FC236}">
                <a16:creationId xmlns:a16="http://schemas.microsoft.com/office/drawing/2014/main" id="{79D0BC08-2344-43DD-8754-12205F0E8AF4}"/>
              </a:ext>
            </a:extLst>
          </p:cNvPr>
          <p:cNvSpPr>
            <a:spLocks noGrp="1"/>
          </p:cNvSpPr>
          <p:nvPr/>
        </p:nvSpPr>
        <p:spPr>
          <a:xfrm>
            <a:off x="2373021" y="4044074"/>
            <a:ext cx="419100" cy="76200"/>
          </a:xfrm>
          <a:custGeom>
            <a:avLst/>
            <a:gdLst/>
            <a:ahLst/>
            <a:cxnLst/>
            <a:rect l="0" t="0" r="0" b="0"/>
            <a:pathLst>
              <a:path w="419100" h="76200">
                <a:moveTo>
                  <a:pt x="0" y="76200"/>
                </a:moveTo>
                <a:lnTo>
                  <a:pt x="85725" y="0"/>
                </a:lnTo>
                <a:lnTo>
                  <a:pt x="419100" y="0"/>
                </a:lnTo>
                <a:lnTo>
                  <a:pt x="33337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E8B0BD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65" name="p1-o65">
            <a:extLst>
              <a:ext uri="{FF2B5EF4-FFF2-40B4-BE49-F238E27FC236}">
                <a16:creationId xmlns:a16="http://schemas.microsoft.com/office/drawing/2014/main" id="{5C1B1D48-A36F-4088-9BD7-B9E9ACC80F4B}"/>
              </a:ext>
            </a:extLst>
          </p:cNvPr>
          <p:cNvSpPr>
            <a:spLocks noGrp="1"/>
          </p:cNvSpPr>
          <p:nvPr/>
        </p:nvSpPr>
        <p:spPr>
          <a:xfrm>
            <a:off x="2706396" y="4044074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E8B0BD"/>
          </a:solidFill>
          <a:ln w="9525">
            <a:solidFill>
              <a:srgbClr val="6E92C5"/>
            </a:solidFill>
          </a:ln>
        </p:spPr>
      </p:sp>
      <p:sp>
        <p:nvSpPr>
          <p:cNvPr id="66" name="p1-o66">
            <a:extLst>
              <a:ext uri="{FF2B5EF4-FFF2-40B4-BE49-F238E27FC236}">
                <a16:creationId xmlns:a16="http://schemas.microsoft.com/office/drawing/2014/main" id="{5696F80F-3D28-4A42-9BD3-70CBB083718E}"/>
              </a:ext>
            </a:extLst>
          </p:cNvPr>
          <p:cNvSpPr>
            <a:spLocks noGrp="1"/>
          </p:cNvSpPr>
          <p:nvPr/>
        </p:nvSpPr>
        <p:spPr>
          <a:xfrm>
            <a:off x="2782596" y="4120274"/>
            <a:ext cx="333375" cy="247650"/>
          </a:xfrm>
          <a:prstGeom prst="rect">
            <a:avLst/>
          </a:prstGeom>
          <a:solidFill>
            <a:srgbClr val="F4DBA6"/>
          </a:solidFill>
          <a:ln w="9525">
            <a:solidFill>
              <a:srgbClr val="6E92C5"/>
            </a:solidFill>
          </a:ln>
        </p:spPr>
      </p:sp>
      <p:sp>
        <p:nvSpPr>
          <p:cNvPr id="67" name="p1-o67">
            <a:extLst>
              <a:ext uri="{FF2B5EF4-FFF2-40B4-BE49-F238E27FC236}">
                <a16:creationId xmlns:a16="http://schemas.microsoft.com/office/drawing/2014/main" id="{6E776905-5C80-4669-998B-1EFE59564AC0}"/>
              </a:ext>
            </a:extLst>
          </p:cNvPr>
          <p:cNvSpPr>
            <a:spLocks noGrp="1"/>
          </p:cNvSpPr>
          <p:nvPr/>
        </p:nvSpPr>
        <p:spPr>
          <a:xfrm>
            <a:off x="2782596" y="4044074"/>
            <a:ext cx="419100" cy="76200"/>
          </a:xfrm>
          <a:custGeom>
            <a:avLst/>
            <a:gdLst/>
            <a:ahLst/>
            <a:cxnLst/>
            <a:rect l="0" t="0" r="0" b="0"/>
            <a:pathLst>
              <a:path w="419100" h="76200">
                <a:moveTo>
                  <a:pt x="0" y="76200"/>
                </a:moveTo>
                <a:lnTo>
                  <a:pt x="85725" y="0"/>
                </a:lnTo>
                <a:lnTo>
                  <a:pt x="419100" y="0"/>
                </a:lnTo>
                <a:lnTo>
                  <a:pt x="33337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F4DBA6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68" name="p1-o68">
            <a:extLst>
              <a:ext uri="{FF2B5EF4-FFF2-40B4-BE49-F238E27FC236}">
                <a16:creationId xmlns:a16="http://schemas.microsoft.com/office/drawing/2014/main" id="{3CA7A712-DDBD-467F-9B6A-4DB88023ED39}"/>
              </a:ext>
            </a:extLst>
          </p:cNvPr>
          <p:cNvSpPr>
            <a:spLocks noGrp="1"/>
          </p:cNvSpPr>
          <p:nvPr/>
        </p:nvSpPr>
        <p:spPr>
          <a:xfrm>
            <a:off x="3115971" y="4044074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F4DBA6"/>
          </a:solidFill>
          <a:ln w="9525">
            <a:solidFill>
              <a:srgbClr val="6E92C5"/>
            </a:solidFill>
          </a:ln>
        </p:spPr>
      </p:sp>
      <p:sp>
        <p:nvSpPr>
          <p:cNvPr id="69" name="p1-o69">
            <a:extLst>
              <a:ext uri="{FF2B5EF4-FFF2-40B4-BE49-F238E27FC236}">
                <a16:creationId xmlns:a16="http://schemas.microsoft.com/office/drawing/2014/main" id="{6E3DDF40-FF78-4ED5-BEE8-6E8322F387AE}"/>
              </a:ext>
            </a:extLst>
          </p:cNvPr>
          <p:cNvSpPr>
            <a:spLocks noGrp="1"/>
          </p:cNvSpPr>
          <p:nvPr/>
        </p:nvSpPr>
        <p:spPr>
          <a:xfrm>
            <a:off x="3192171" y="4120274"/>
            <a:ext cx="333375" cy="247650"/>
          </a:xfrm>
          <a:prstGeom prst="rect">
            <a:avLst/>
          </a:prstGeom>
          <a:solidFill>
            <a:srgbClr val="9BD3BC"/>
          </a:solidFill>
          <a:ln w="9525">
            <a:solidFill>
              <a:srgbClr val="6E92C5"/>
            </a:solidFill>
          </a:ln>
        </p:spPr>
      </p:sp>
      <p:sp>
        <p:nvSpPr>
          <p:cNvPr id="70" name="p1-o70">
            <a:extLst>
              <a:ext uri="{FF2B5EF4-FFF2-40B4-BE49-F238E27FC236}">
                <a16:creationId xmlns:a16="http://schemas.microsoft.com/office/drawing/2014/main" id="{1CB1DB81-591A-4340-B52A-921CA53F29CA}"/>
              </a:ext>
            </a:extLst>
          </p:cNvPr>
          <p:cNvSpPr>
            <a:spLocks noGrp="1"/>
          </p:cNvSpPr>
          <p:nvPr/>
        </p:nvSpPr>
        <p:spPr>
          <a:xfrm>
            <a:off x="3192171" y="4044074"/>
            <a:ext cx="419100" cy="76200"/>
          </a:xfrm>
          <a:custGeom>
            <a:avLst/>
            <a:gdLst/>
            <a:ahLst/>
            <a:cxnLst/>
            <a:rect l="0" t="0" r="0" b="0"/>
            <a:pathLst>
              <a:path w="419100" h="76200">
                <a:moveTo>
                  <a:pt x="0" y="76200"/>
                </a:moveTo>
                <a:lnTo>
                  <a:pt x="85725" y="0"/>
                </a:lnTo>
                <a:lnTo>
                  <a:pt x="419100" y="0"/>
                </a:lnTo>
                <a:lnTo>
                  <a:pt x="33337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9BD3BC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71" name="p1-o71">
            <a:extLst>
              <a:ext uri="{FF2B5EF4-FFF2-40B4-BE49-F238E27FC236}">
                <a16:creationId xmlns:a16="http://schemas.microsoft.com/office/drawing/2014/main" id="{AD402BDE-606A-4C41-8877-B45A2D20C28E}"/>
              </a:ext>
            </a:extLst>
          </p:cNvPr>
          <p:cNvSpPr>
            <a:spLocks noGrp="1"/>
          </p:cNvSpPr>
          <p:nvPr/>
        </p:nvSpPr>
        <p:spPr>
          <a:xfrm>
            <a:off x="3525546" y="4044074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9BD3BC"/>
          </a:solidFill>
          <a:ln w="9525">
            <a:solidFill>
              <a:srgbClr val="6E92C5"/>
            </a:solidFill>
          </a:ln>
        </p:spPr>
      </p:sp>
      <p:sp>
        <p:nvSpPr>
          <p:cNvPr id="72" name="p1-o72">
            <a:extLst>
              <a:ext uri="{FF2B5EF4-FFF2-40B4-BE49-F238E27FC236}">
                <a16:creationId xmlns:a16="http://schemas.microsoft.com/office/drawing/2014/main" id="{E62B23C0-E40B-4218-9312-C868BE1E6D3E}"/>
              </a:ext>
            </a:extLst>
          </p:cNvPr>
          <p:cNvSpPr>
            <a:spLocks noGrp="1"/>
          </p:cNvSpPr>
          <p:nvPr/>
        </p:nvSpPr>
        <p:spPr>
          <a:xfrm>
            <a:off x="1544346" y="3739274"/>
            <a:ext cx="2857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⋮</a:t>
            </a:r>
          </a:p>
        </p:txBody>
      </p:sp>
      <p:sp>
        <p:nvSpPr>
          <p:cNvPr id="73" name="p1-o73">
            <a:extLst>
              <a:ext uri="{FF2B5EF4-FFF2-40B4-BE49-F238E27FC236}">
                <a16:creationId xmlns:a16="http://schemas.microsoft.com/office/drawing/2014/main" id="{B816DC74-E8CD-43D6-A8C9-8D2EF3C99C3F}"/>
              </a:ext>
            </a:extLst>
          </p:cNvPr>
          <p:cNvSpPr>
            <a:spLocks noGrp="1"/>
          </p:cNvSpPr>
          <p:nvPr/>
        </p:nvSpPr>
        <p:spPr>
          <a:xfrm>
            <a:off x="2620671" y="3758324"/>
            <a:ext cx="5715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14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14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…</a:t>
            </a:r>
          </a:p>
        </p:txBody>
      </p:sp>
      <p:sp>
        <p:nvSpPr>
          <p:cNvPr id="91" name="p1-o89">
            <a:extLst>
              <a:ext uri="{FF2B5EF4-FFF2-40B4-BE49-F238E27FC236}">
                <a16:creationId xmlns:a16="http://schemas.microsoft.com/office/drawing/2014/main" id="{7D9636A5-4F1B-46D9-BE42-8CA49A16404B}"/>
              </a:ext>
            </a:extLst>
          </p:cNvPr>
          <p:cNvSpPr>
            <a:spLocks noGrp="1"/>
          </p:cNvSpPr>
          <p:nvPr/>
        </p:nvSpPr>
        <p:spPr>
          <a:xfrm>
            <a:off x="5276443" y="2297352"/>
            <a:ext cx="31432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75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L0</a:t>
            </a:r>
          </a:p>
        </p:txBody>
      </p:sp>
      <p:sp>
        <p:nvSpPr>
          <p:cNvPr id="92" name="p1-o90">
            <a:extLst>
              <a:ext uri="{FF2B5EF4-FFF2-40B4-BE49-F238E27FC236}">
                <a16:creationId xmlns:a16="http://schemas.microsoft.com/office/drawing/2014/main" id="{06C03460-6094-42F3-8AA1-2EEDEABA7ABA}"/>
              </a:ext>
            </a:extLst>
          </p:cNvPr>
          <p:cNvSpPr>
            <a:spLocks noGrp="1"/>
          </p:cNvSpPr>
          <p:nvPr/>
        </p:nvSpPr>
        <p:spPr>
          <a:xfrm>
            <a:off x="5619343" y="2297352"/>
            <a:ext cx="31432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75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L1</a:t>
            </a:r>
          </a:p>
        </p:txBody>
      </p:sp>
      <p:sp>
        <p:nvSpPr>
          <p:cNvPr id="93" name="p1-o91">
            <a:extLst>
              <a:ext uri="{FF2B5EF4-FFF2-40B4-BE49-F238E27FC236}">
                <a16:creationId xmlns:a16="http://schemas.microsoft.com/office/drawing/2014/main" id="{C9F509DD-54E7-4435-80C5-65ECA70106AB}"/>
              </a:ext>
            </a:extLst>
          </p:cNvPr>
          <p:cNvSpPr>
            <a:spLocks noGrp="1"/>
          </p:cNvSpPr>
          <p:nvPr/>
        </p:nvSpPr>
        <p:spPr>
          <a:xfrm>
            <a:off x="5962243" y="2297352"/>
            <a:ext cx="31432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75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L2</a:t>
            </a:r>
          </a:p>
        </p:txBody>
      </p:sp>
      <p:sp>
        <p:nvSpPr>
          <p:cNvPr id="94" name="p1-o92">
            <a:extLst>
              <a:ext uri="{FF2B5EF4-FFF2-40B4-BE49-F238E27FC236}">
                <a16:creationId xmlns:a16="http://schemas.microsoft.com/office/drawing/2014/main" id="{17B3E5C4-EDB8-4893-8D8F-DFA5AB961BCE}"/>
              </a:ext>
            </a:extLst>
          </p:cNvPr>
          <p:cNvSpPr>
            <a:spLocks noGrp="1"/>
          </p:cNvSpPr>
          <p:nvPr/>
        </p:nvSpPr>
        <p:spPr>
          <a:xfrm>
            <a:off x="6305143" y="2297352"/>
            <a:ext cx="31432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75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L3</a:t>
            </a:r>
          </a:p>
        </p:txBody>
      </p:sp>
      <p:sp>
        <p:nvSpPr>
          <p:cNvPr id="95" name="p1-o93">
            <a:extLst>
              <a:ext uri="{FF2B5EF4-FFF2-40B4-BE49-F238E27FC236}">
                <a16:creationId xmlns:a16="http://schemas.microsoft.com/office/drawing/2014/main" id="{8E59E40D-165F-428E-B2C0-EB8AB3C855BA}"/>
              </a:ext>
            </a:extLst>
          </p:cNvPr>
          <p:cNvSpPr>
            <a:spLocks noGrp="1"/>
          </p:cNvSpPr>
          <p:nvPr/>
        </p:nvSpPr>
        <p:spPr>
          <a:xfrm>
            <a:off x="6648043" y="2297352"/>
            <a:ext cx="31432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75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…</a:t>
            </a:r>
          </a:p>
        </p:txBody>
      </p:sp>
      <p:sp>
        <p:nvSpPr>
          <p:cNvPr id="96" name="p1-o94">
            <a:extLst>
              <a:ext uri="{FF2B5EF4-FFF2-40B4-BE49-F238E27FC236}">
                <a16:creationId xmlns:a16="http://schemas.microsoft.com/office/drawing/2014/main" id="{32EE5D12-D39B-4A72-A28D-59CC1C911398}"/>
              </a:ext>
            </a:extLst>
          </p:cNvPr>
          <p:cNvSpPr>
            <a:spLocks noGrp="1"/>
          </p:cNvSpPr>
          <p:nvPr/>
        </p:nvSpPr>
        <p:spPr>
          <a:xfrm>
            <a:off x="6990943" y="2297352"/>
            <a:ext cx="31432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75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L35</a:t>
            </a:r>
          </a:p>
        </p:txBody>
      </p:sp>
      <p:sp>
        <p:nvSpPr>
          <p:cNvPr id="97" name="p1-o95">
            <a:extLst>
              <a:ext uri="{FF2B5EF4-FFF2-40B4-BE49-F238E27FC236}">
                <a16:creationId xmlns:a16="http://schemas.microsoft.com/office/drawing/2014/main" id="{0921011E-1BA7-419F-AF00-F7BDB5EE27AF}"/>
              </a:ext>
            </a:extLst>
          </p:cNvPr>
          <p:cNvSpPr>
            <a:spLocks noGrp="1"/>
          </p:cNvSpPr>
          <p:nvPr/>
        </p:nvSpPr>
        <p:spPr>
          <a:xfrm>
            <a:off x="4743043" y="2621202"/>
            <a:ext cx="58102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05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Block 0</a:t>
            </a:r>
          </a:p>
        </p:txBody>
      </p:sp>
      <p:sp>
        <p:nvSpPr>
          <p:cNvPr id="98" name="p1-o96">
            <a:extLst>
              <a:ext uri="{FF2B5EF4-FFF2-40B4-BE49-F238E27FC236}">
                <a16:creationId xmlns:a16="http://schemas.microsoft.com/office/drawing/2014/main" id="{A90BEA3E-07FD-4844-BCDA-30A0A7E0D019}"/>
              </a:ext>
            </a:extLst>
          </p:cNvPr>
          <p:cNvSpPr>
            <a:spLocks noGrp="1"/>
          </p:cNvSpPr>
          <p:nvPr/>
        </p:nvSpPr>
        <p:spPr>
          <a:xfrm>
            <a:off x="5343118" y="2640252"/>
            <a:ext cx="276225" cy="247650"/>
          </a:xfrm>
          <a:prstGeom prst="rect">
            <a:avLst/>
          </a:prstGeom>
          <a:solidFill>
            <a:srgbClr val="91B3E8"/>
          </a:solidFill>
          <a:ln w="9525">
            <a:solidFill>
              <a:srgbClr val="6E92C5"/>
            </a:solidFill>
          </a:ln>
        </p:spPr>
      </p:sp>
      <p:sp>
        <p:nvSpPr>
          <p:cNvPr id="99" name="p1-o97">
            <a:extLst>
              <a:ext uri="{FF2B5EF4-FFF2-40B4-BE49-F238E27FC236}">
                <a16:creationId xmlns:a16="http://schemas.microsoft.com/office/drawing/2014/main" id="{D75728C7-E22D-4126-B151-EE0B9CFCB98A}"/>
              </a:ext>
            </a:extLst>
          </p:cNvPr>
          <p:cNvSpPr>
            <a:spLocks noGrp="1"/>
          </p:cNvSpPr>
          <p:nvPr/>
        </p:nvSpPr>
        <p:spPr>
          <a:xfrm>
            <a:off x="5343118" y="2564052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91B3E8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00" name="p1-o98">
            <a:extLst>
              <a:ext uri="{FF2B5EF4-FFF2-40B4-BE49-F238E27FC236}">
                <a16:creationId xmlns:a16="http://schemas.microsoft.com/office/drawing/2014/main" id="{8BBBB948-DEA5-4760-9FB0-972C1D0C8954}"/>
              </a:ext>
            </a:extLst>
          </p:cNvPr>
          <p:cNvSpPr>
            <a:spLocks noGrp="1"/>
          </p:cNvSpPr>
          <p:nvPr/>
        </p:nvSpPr>
        <p:spPr>
          <a:xfrm>
            <a:off x="5619343" y="2564052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91B3E8"/>
          </a:solidFill>
          <a:ln w="9525">
            <a:solidFill>
              <a:srgbClr val="6E92C5"/>
            </a:solidFill>
          </a:ln>
        </p:spPr>
      </p:sp>
      <p:sp>
        <p:nvSpPr>
          <p:cNvPr id="101" name="p1-o99">
            <a:extLst>
              <a:ext uri="{FF2B5EF4-FFF2-40B4-BE49-F238E27FC236}">
                <a16:creationId xmlns:a16="http://schemas.microsoft.com/office/drawing/2014/main" id="{0C10A0C0-FC94-4061-8679-AAB116712820}"/>
              </a:ext>
            </a:extLst>
          </p:cNvPr>
          <p:cNvSpPr>
            <a:spLocks noGrp="1"/>
          </p:cNvSpPr>
          <p:nvPr/>
        </p:nvSpPr>
        <p:spPr>
          <a:xfrm>
            <a:off x="5686018" y="2640252"/>
            <a:ext cx="276225" cy="247650"/>
          </a:xfrm>
          <a:prstGeom prst="rect">
            <a:avLst/>
          </a:prstGeom>
          <a:solidFill>
            <a:srgbClr val="E8B0BD"/>
          </a:solidFill>
          <a:ln w="9525">
            <a:solidFill>
              <a:srgbClr val="6E92C5"/>
            </a:solidFill>
          </a:ln>
        </p:spPr>
      </p:sp>
      <p:sp>
        <p:nvSpPr>
          <p:cNvPr id="102" name="p1-o100">
            <a:extLst>
              <a:ext uri="{FF2B5EF4-FFF2-40B4-BE49-F238E27FC236}">
                <a16:creationId xmlns:a16="http://schemas.microsoft.com/office/drawing/2014/main" id="{A64E88BB-8504-4E06-83B8-08580B8BE182}"/>
              </a:ext>
            </a:extLst>
          </p:cNvPr>
          <p:cNvSpPr>
            <a:spLocks noGrp="1"/>
          </p:cNvSpPr>
          <p:nvPr/>
        </p:nvSpPr>
        <p:spPr>
          <a:xfrm>
            <a:off x="5686018" y="2564052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E8B0BD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03" name="p1-o101">
            <a:extLst>
              <a:ext uri="{FF2B5EF4-FFF2-40B4-BE49-F238E27FC236}">
                <a16:creationId xmlns:a16="http://schemas.microsoft.com/office/drawing/2014/main" id="{DC21C182-BF06-491C-BBF7-3703E9DB104E}"/>
              </a:ext>
            </a:extLst>
          </p:cNvPr>
          <p:cNvSpPr>
            <a:spLocks noGrp="1"/>
          </p:cNvSpPr>
          <p:nvPr/>
        </p:nvSpPr>
        <p:spPr>
          <a:xfrm>
            <a:off x="5962243" y="2564052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E8B0BD"/>
          </a:solidFill>
          <a:ln w="9525">
            <a:solidFill>
              <a:srgbClr val="6E92C5"/>
            </a:solidFill>
          </a:ln>
        </p:spPr>
      </p:sp>
      <p:sp>
        <p:nvSpPr>
          <p:cNvPr id="104" name="p1-o102">
            <a:extLst>
              <a:ext uri="{FF2B5EF4-FFF2-40B4-BE49-F238E27FC236}">
                <a16:creationId xmlns:a16="http://schemas.microsoft.com/office/drawing/2014/main" id="{AC0D91E8-098F-4437-A10A-E52A0945655F}"/>
              </a:ext>
            </a:extLst>
          </p:cNvPr>
          <p:cNvSpPr>
            <a:spLocks noGrp="1"/>
          </p:cNvSpPr>
          <p:nvPr/>
        </p:nvSpPr>
        <p:spPr>
          <a:xfrm>
            <a:off x="6028918" y="2640252"/>
            <a:ext cx="276225" cy="247650"/>
          </a:xfrm>
          <a:prstGeom prst="rect">
            <a:avLst/>
          </a:prstGeom>
          <a:solidFill>
            <a:srgbClr val="F4DBA6"/>
          </a:solidFill>
          <a:ln w="9525">
            <a:solidFill>
              <a:srgbClr val="6E92C5"/>
            </a:solidFill>
          </a:ln>
        </p:spPr>
      </p:sp>
      <p:sp>
        <p:nvSpPr>
          <p:cNvPr id="105" name="p1-o103">
            <a:extLst>
              <a:ext uri="{FF2B5EF4-FFF2-40B4-BE49-F238E27FC236}">
                <a16:creationId xmlns:a16="http://schemas.microsoft.com/office/drawing/2014/main" id="{356623BD-3F68-4F8D-ADCF-6AC4CD5ABFF6}"/>
              </a:ext>
            </a:extLst>
          </p:cNvPr>
          <p:cNvSpPr>
            <a:spLocks noGrp="1"/>
          </p:cNvSpPr>
          <p:nvPr/>
        </p:nvSpPr>
        <p:spPr>
          <a:xfrm>
            <a:off x="6028918" y="2564052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F4DBA6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06" name="p1-o104">
            <a:extLst>
              <a:ext uri="{FF2B5EF4-FFF2-40B4-BE49-F238E27FC236}">
                <a16:creationId xmlns:a16="http://schemas.microsoft.com/office/drawing/2014/main" id="{0FEE7319-A973-4C20-AC32-DF38DAFF644B}"/>
              </a:ext>
            </a:extLst>
          </p:cNvPr>
          <p:cNvSpPr>
            <a:spLocks noGrp="1"/>
          </p:cNvSpPr>
          <p:nvPr/>
        </p:nvSpPr>
        <p:spPr>
          <a:xfrm>
            <a:off x="6305143" y="2564052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F4DBA6"/>
          </a:solidFill>
          <a:ln w="9525">
            <a:solidFill>
              <a:srgbClr val="6E92C5"/>
            </a:solidFill>
          </a:ln>
        </p:spPr>
      </p:sp>
      <p:sp>
        <p:nvSpPr>
          <p:cNvPr id="107" name="p1-o105">
            <a:extLst>
              <a:ext uri="{FF2B5EF4-FFF2-40B4-BE49-F238E27FC236}">
                <a16:creationId xmlns:a16="http://schemas.microsoft.com/office/drawing/2014/main" id="{97984A1C-D47B-4ECF-8192-80B6744AB8E0}"/>
              </a:ext>
            </a:extLst>
          </p:cNvPr>
          <p:cNvSpPr>
            <a:spLocks noGrp="1"/>
          </p:cNvSpPr>
          <p:nvPr/>
        </p:nvSpPr>
        <p:spPr>
          <a:xfrm>
            <a:off x="6371818" y="2640252"/>
            <a:ext cx="276225" cy="247650"/>
          </a:xfrm>
          <a:prstGeom prst="rect">
            <a:avLst/>
          </a:prstGeom>
          <a:solidFill>
            <a:srgbClr val="9BD3BC"/>
          </a:solidFill>
          <a:ln w="9525">
            <a:solidFill>
              <a:srgbClr val="6E92C5"/>
            </a:solidFill>
          </a:ln>
        </p:spPr>
      </p:sp>
      <p:sp>
        <p:nvSpPr>
          <p:cNvPr id="108" name="p1-o106">
            <a:extLst>
              <a:ext uri="{FF2B5EF4-FFF2-40B4-BE49-F238E27FC236}">
                <a16:creationId xmlns:a16="http://schemas.microsoft.com/office/drawing/2014/main" id="{35A018E9-3F10-4671-827D-A066C7DC19C5}"/>
              </a:ext>
            </a:extLst>
          </p:cNvPr>
          <p:cNvSpPr>
            <a:spLocks noGrp="1"/>
          </p:cNvSpPr>
          <p:nvPr/>
        </p:nvSpPr>
        <p:spPr>
          <a:xfrm>
            <a:off x="6371818" y="2564052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9BD3BC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09" name="p1-o107">
            <a:extLst>
              <a:ext uri="{FF2B5EF4-FFF2-40B4-BE49-F238E27FC236}">
                <a16:creationId xmlns:a16="http://schemas.microsoft.com/office/drawing/2014/main" id="{66B9FC1D-E336-4E7E-A4BA-B2C3F88B22AD}"/>
              </a:ext>
            </a:extLst>
          </p:cNvPr>
          <p:cNvSpPr>
            <a:spLocks noGrp="1"/>
          </p:cNvSpPr>
          <p:nvPr/>
        </p:nvSpPr>
        <p:spPr>
          <a:xfrm>
            <a:off x="6648043" y="2564052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9BD3BC"/>
          </a:solidFill>
          <a:ln w="9525">
            <a:solidFill>
              <a:srgbClr val="6E92C5"/>
            </a:solidFill>
          </a:ln>
        </p:spPr>
      </p:sp>
      <p:sp>
        <p:nvSpPr>
          <p:cNvPr id="110" name="p1-o108">
            <a:extLst>
              <a:ext uri="{FF2B5EF4-FFF2-40B4-BE49-F238E27FC236}">
                <a16:creationId xmlns:a16="http://schemas.microsoft.com/office/drawing/2014/main" id="{06E99393-04F3-4C1A-A3E3-7A119574B540}"/>
              </a:ext>
            </a:extLst>
          </p:cNvPr>
          <p:cNvSpPr>
            <a:spLocks noGrp="1"/>
          </p:cNvSpPr>
          <p:nvPr/>
        </p:nvSpPr>
        <p:spPr>
          <a:xfrm>
            <a:off x="6714718" y="2640252"/>
            <a:ext cx="276225" cy="247650"/>
          </a:xfrm>
          <a:prstGeom prst="rect">
            <a:avLst/>
          </a:prstGeom>
          <a:solidFill>
            <a:srgbClr val="D6D8DC"/>
          </a:solidFill>
          <a:ln w="9525">
            <a:solidFill>
              <a:srgbClr val="6E92C5"/>
            </a:solidFill>
          </a:ln>
        </p:spPr>
      </p:sp>
      <p:sp>
        <p:nvSpPr>
          <p:cNvPr id="111" name="p1-o109">
            <a:extLst>
              <a:ext uri="{FF2B5EF4-FFF2-40B4-BE49-F238E27FC236}">
                <a16:creationId xmlns:a16="http://schemas.microsoft.com/office/drawing/2014/main" id="{1F68196D-BAD5-462A-A26A-3276449D064B}"/>
              </a:ext>
            </a:extLst>
          </p:cNvPr>
          <p:cNvSpPr>
            <a:spLocks noGrp="1"/>
          </p:cNvSpPr>
          <p:nvPr/>
        </p:nvSpPr>
        <p:spPr>
          <a:xfrm>
            <a:off x="6714718" y="2564052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D6D8DC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12" name="p1-o110">
            <a:extLst>
              <a:ext uri="{FF2B5EF4-FFF2-40B4-BE49-F238E27FC236}">
                <a16:creationId xmlns:a16="http://schemas.microsoft.com/office/drawing/2014/main" id="{DEDD55C1-3AEA-40C5-BB62-7C4A6660B6AC}"/>
              </a:ext>
            </a:extLst>
          </p:cNvPr>
          <p:cNvSpPr>
            <a:spLocks noGrp="1"/>
          </p:cNvSpPr>
          <p:nvPr/>
        </p:nvSpPr>
        <p:spPr>
          <a:xfrm>
            <a:off x="6990943" y="2564052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D6D8DC"/>
          </a:solidFill>
          <a:ln w="9525">
            <a:solidFill>
              <a:srgbClr val="6E92C5"/>
            </a:solidFill>
          </a:ln>
        </p:spPr>
      </p:sp>
      <p:sp>
        <p:nvSpPr>
          <p:cNvPr id="113" name="p1-o111">
            <a:extLst>
              <a:ext uri="{FF2B5EF4-FFF2-40B4-BE49-F238E27FC236}">
                <a16:creationId xmlns:a16="http://schemas.microsoft.com/office/drawing/2014/main" id="{8260231B-A631-483B-905A-B220C079E0C0}"/>
              </a:ext>
            </a:extLst>
          </p:cNvPr>
          <p:cNvSpPr>
            <a:spLocks noGrp="1"/>
          </p:cNvSpPr>
          <p:nvPr/>
        </p:nvSpPr>
        <p:spPr>
          <a:xfrm>
            <a:off x="7057618" y="2640252"/>
            <a:ext cx="276225" cy="247650"/>
          </a:xfrm>
          <a:prstGeom prst="rect">
            <a:avLst/>
          </a:prstGeom>
          <a:solidFill>
            <a:srgbClr val="B6A5DD"/>
          </a:solidFill>
          <a:ln w="9525">
            <a:solidFill>
              <a:srgbClr val="6E92C5"/>
            </a:solidFill>
          </a:ln>
        </p:spPr>
      </p:sp>
      <p:sp>
        <p:nvSpPr>
          <p:cNvPr id="114" name="p1-o112">
            <a:extLst>
              <a:ext uri="{FF2B5EF4-FFF2-40B4-BE49-F238E27FC236}">
                <a16:creationId xmlns:a16="http://schemas.microsoft.com/office/drawing/2014/main" id="{6C316A43-0402-41D6-9E0C-74A6375A9502}"/>
              </a:ext>
            </a:extLst>
          </p:cNvPr>
          <p:cNvSpPr>
            <a:spLocks noGrp="1"/>
          </p:cNvSpPr>
          <p:nvPr/>
        </p:nvSpPr>
        <p:spPr>
          <a:xfrm>
            <a:off x="7057618" y="2564052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B6A5DD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15" name="p1-o113">
            <a:extLst>
              <a:ext uri="{FF2B5EF4-FFF2-40B4-BE49-F238E27FC236}">
                <a16:creationId xmlns:a16="http://schemas.microsoft.com/office/drawing/2014/main" id="{2F5009AA-5CD6-410B-93E0-9465D311DA3A}"/>
              </a:ext>
            </a:extLst>
          </p:cNvPr>
          <p:cNvSpPr>
            <a:spLocks noGrp="1"/>
          </p:cNvSpPr>
          <p:nvPr/>
        </p:nvSpPr>
        <p:spPr>
          <a:xfrm>
            <a:off x="7333843" y="2564052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B6A5DD"/>
          </a:solidFill>
          <a:ln w="9525">
            <a:solidFill>
              <a:srgbClr val="6E92C5"/>
            </a:solidFill>
          </a:ln>
        </p:spPr>
      </p:sp>
      <p:sp>
        <p:nvSpPr>
          <p:cNvPr id="116" name="p1-o114">
            <a:extLst>
              <a:ext uri="{FF2B5EF4-FFF2-40B4-BE49-F238E27FC236}">
                <a16:creationId xmlns:a16="http://schemas.microsoft.com/office/drawing/2014/main" id="{A8F3A586-74FD-452F-ACCC-CE57B00BD946}"/>
              </a:ext>
            </a:extLst>
          </p:cNvPr>
          <p:cNvSpPr>
            <a:spLocks noGrp="1"/>
          </p:cNvSpPr>
          <p:nvPr/>
        </p:nvSpPr>
        <p:spPr>
          <a:xfrm>
            <a:off x="4743043" y="3030777"/>
            <a:ext cx="58102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05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Block 1</a:t>
            </a:r>
          </a:p>
        </p:txBody>
      </p:sp>
      <p:sp>
        <p:nvSpPr>
          <p:cNvPr id="117" name="p1-o115">
            <a:extLst>
              <a:ext uri="{FF2B5EF4-FFF2-40B4-BE49-F238E27FC236}">
                <a16:creationId xmlns:a16="http://schemas.microsoft.com/office/drawing/2014/main" id="{CC70E2C8-42B6-4C39-8CCB-3848560155CF}"/>
              </a:ext>
            </a:extLst>
          </p:cNvPr>
          <p:cNvSpPr>
            <a:spLocks noGrp="1"/>
          </p:cNvSpPr>
          <p:nvPr/>
        </p:nvSpPr>
        <p:spPr>
          <a:xfrm>
            <a:off x="5343118" y="3049827"/>
            <a:ext cx="276225" cy="247650"/>
          </a:xfrm>
          <a:prstGeom prst="rect">
            <a:avLst/>
          </a:prstGeom>
          <a:solidFill>
            <a:srgbClr val="91B3E8"/>
          </a:solidFill>
          <a:ln w="9525">
            <a:solidFill>
              <a:srgbClr val="6E92C5"/>
            </a:solidFill>
          </a:ln>
        </p:spPr>
      </p:sp>
      <p:sp>
        <p:nvSpPr>
          <p:cNvPr id="118" name="p1-o116">
            <a:extLst>
              <a:ext uri="{FF2B5EF4-FFF2-40B4-BE49-F238E27FC236}">
                <a16:creationId xmlns:a16="http://schemas.microsoft.com/office/drawing/2014/main" id="{D04C1D07-8ED4-49FE-9FC9-A37C98708DC7}"/>
              </a:ext>
            </a:extLst>
          </p:cNvPr>
          <p:cNvSpPr>
            <a:spLocks noGrp="1"/>
          </p:cNvSpPr>
          <p:nvPr/>
        </p:nvSpPr>
        <p:spPr>
          <a:xfrm>
            <a:off x="5343118" y="2973627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91B3E8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19" name="p1-o117">
            <a:extLst>
              <a:ext uri="{FF2B5EF4-FFF2-40B4-BE49-F238E27FC236}">
                <a16:creationId xmlns:a16="http://schemas.microsoft.com/office/drawing/2014/main" id="{09BDABB0-4497-4E0E-A693-A3325CBB9632}"/>
              </a:ext>
            </a:extLst>
          </p:cNvPr>
          <p:cNvSpPr>
            <a:spLocks noGrp="1"/>
          </p:cNvSpPr>
          <p:nvPr/>
        </p:nvSpPr>
        <p:spPr>
          <a:xfrm>
            <a:off x="5619343" y="2973627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91B3E8"/>
          </a:solidFill>
          <a:ln w="9525">
            <a:solidFill>
              <a:srgbClr val="6E92C5"/>
            </a:solidFill>
          </a:ln>
        </p:spPr>
      </p:sp>
      <p:sp>
        <p:nvSpPr>
          <p:cNvPr id="120" name="p1-o118">
            <a:extLst>
              <a:ext uri="{FF2B5EF4-FFF2-40B4-BE49-F238E27FC236}">
                <a16:creationId xmlns:a16="http://schemas.microsoft.com/office/drawing/2014/main" id="{F5FCB6E1-6F48-4298-AFCB-6B4F791DFF90}"/>
              </a:ext>
            </a:extLst>
          </p:cNvPr>
          <p:cNvSpPr>
            <a:spLocks noGrp="1"/>
          </p:cNvSpPr>
          <p:nvPr/>
        </p:nvSpPr>
        <p:spPr>
          <a:xfrm>
            <a:off x="5686018" y="3049827"/>
            <a:ext cx="276225" cy="247650"/>
          </a:xfrm>
          <a:prstGeom prst="rect">
            <a:avLst/>
          </a:prstGeom>
          <a:solidFill>
            <a:srgbClr val="E8B0BD"/>
          </a:solidFill>
          <a:ln w="9525">
            <a:solidFill>
              <a:srgbClr val="6E92C5"/>
            </a:solidFill>
          </a:ln>
        </p:spPr>
      </p:sp>
      <p:sp>
        <p:nvSpPr>
          <p:cNvPr id="121" name="p1-o119">
            <a:extLst>
              <a:ext uri="{FF2B5EF4-FFF2-40B4-BE49-F238E27FC236}">
                <a16:creationId xmlns:a16="http://schemas.microsoft.com/office/drawing/2014/main" id="{E8ACE956-EF21-4E7C-99B7-A90AF4EC17F0}"/>
              </a:ext>
            </a:extLst>
          </p:cNvPr>
          <p:cNvSpPr>
            <a:spLocks noGrp="1"/>
          </p:cNvSpPr>
          <p:nvPr/>
        </p:nvSpPr>
        <p:spPr>
          <a:xfrm>
            <a:off x="5686018" y="2973627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E8B0BD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22" name="p1-o120">
            <a:extLst>
              <a:ext uri="{FF2B5EF4-FFF2-40B4-BE49-F238E27FC236}">
                <a16:creationId xmlns:a16="http://schemas.microsoft.com/office/drawing/2014/main" id="{6E958E62-548C-43D6-B5C8-7813AA58709D}"/>
              </a:ext>
            </a:extLst>
          </p:cNvPr>
          <p:cNvSpPr>
            <a:spLocks noGrp="1"/>
          </p:cNvSpPr>
          <p:nvPr/>
        </p:nvSpPr>
        <p:spPr>
          <a:xfrm>
            <a:off x="5962243" y="2973627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E8B0BD"/>
          </a:solidFill>
          <a:ln w="9525">
            <a:solidFill>
              <a:srgbClr val="6E92C5"/>
            </a:solidFill>
          </a:ln>
        </p:spPr>
      </p:sp>
      <p:sp>
        <p:nvSpPr>
          <p:cNvPr id="123" name="p1-o121">
            <a:extLst>
              <a:ext uri="{FF2B5EF4-FFF2-40B4-BE49-F238E27FC236}">
                <a16:creationId xmlns:a16="http://schemas.microsoft.com/office/drawing/2014/main" id="{BB31CFB6-FA29-4BDF-8804-F9802190FC86}"/>
              </a:ext>
            </a:extLst>
          </p:cNvPr>
          <p:cNvSpPr>
            <a:spLocks noGrp="1"/>
          </p:cNvSpPr>
          <p:nvPr/>
        </p:nvSpPr>
        <p:spPr>
          <a:xfrm>
            <a:off x="6028918" y="3049827"/>
            <a:ext cx="276225" cy="247650"/>
          </a:xfrm>
          <a:prstGeom prst="rect">
            <a:avLst/>
          </a:prstGeom>
          <a:solidFill>
            <a:srgbClr val="F4DBA6"/>
          </a:solidFill>
          <a:ln w="9525">
            <a:solidFill>
              <a:srgbClr val="6E92C5"/>
            </a:solidFill>
          </a:ln>
        </p:spPr>
      </p:sp>
      <p:sp>
        <p:nvSpPr>
          <p:cNvPr id="124" name="p1-o122">
            <a:extLst>
              <a:ext uri="{FF2B5EF4-FFF2-40B4-BE49-F238E27FC236}">
                <a16:creationId xmlns:a16="http://schemas.microsoft.com/office/drawing/2014/main" id="{8C8E37EC-E1EB-4535-A8AF-F66D826AF61C}"/>
              </a:ext>
            </a:extLst>
          </p:cNvPr>
          <p:cNvSpPr>
            <a:spLocks noGrp="1"/>
          </p:cNvSpPr>
          <p:nvPr/>
        </p:nvSpPr>
        <p:spPr>
          <a:xfrm>
            <a:off x="6028918" y="2973627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F4DBA6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25" name="p1-o123">
            <a:extLst>
              <a:ext uri="{FF2B5EF4-FFF2-40B4-BE49-F238E27FC236}">
                <a16:creationId xmlns:a16="http://schemas.microsoft.com/office/drawing/2014/main" id="{42A9BDDE-C4F4-48FB-B145-11EF920E1F50}"/>
              </a:ext>
            </a:extLst>
          </p:cNvPr>
          <p:cNvSpPr>
            <a:spLocks noGrp="1"/>
          </p:cNvSpPr>
          <p:nvPr/>
        </p:nvSpPr>
        <p:spPr>
          <a:xfrm>
            <a:off x="6305143" y="2973627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F4DBA6"/>
          </a:solidFill>
          <a:ln w="9525">
            <a:solidFill>
              <a:srgbClr val="6E92C5"/>
            </a:solidFill>
          </a:ln>
        </p:spPr>
      </p:sp>
      <p:sp>
        <p:nvSpPr>
          <p:cNvPr id="126" name="p1-o124">
            <a:extLst>
              <a:ext uri="{FF2B5EF4-FFF2-40B4-BE49-F238E27FC236}">
                <a16:creationId xmlns:a16="http://schemas.microsoft.com/office/drawing/2014/main" id="{102BC98D-F6D2-4241-9C34-CE080CFA91CC}"/>
              </a:ext>
            </a:extLst>
          </p:cNvPr>
          <p:cNvSpPr>
            <a:spLocks noGrp="1"/>
          </p:cNvSpPr>
          <p:nvPr/>
        </p:nvSpPr>
        <p:spPr>
          <a:xfrm>
            <a:off x="6371818" y="3049827"/>
            <a:ext cx="276225" cy="247650"/>
          </a:xfrm>
          <a:prstGeom prst="rect">
            <a:avLst/>
          </a:prstGeom>
          <a:solidFill>
            <a:srgbClr val="9BD3BC"/>
          </a:solidFill>
          <a:ln w="9525">
            <a:solidFill>
              <a:srgbClr val="6E92C5"/>
            </a:solidFill>
          </a:ln>
        </p:spPr>
      </p:sp>
      <p:sp>
        <p:nvSpPr>
          <p:cNvPr id="127" name="p1-o125">
            <a:extLst>
              <a:ext uri="{FF2B5EF4-FFF2-40B4-BE49-F238E27FC236}">
                <a16:creationId xmlns:a16="http://schemas.microsoft.com/office/drawing/2014/main" id="{DDD96B48-FC2A-4F9A-AE14-E00249BDEFB5}"/>
              </a:ext>
            </a:extLst>
          </p:cNvPr>
          <p:cNvSpPr>
            <a:spLocks noGrp="1"/>
          </p:cNvSpPr>
          <p:nvPr/>
        </p:nvSpPr>
        <p:spPr>
          <a:xfrm>
            <a:off x="6371818" y="2973627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9BD3BC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28" name="p1-o126">
            <a:extLst>
              <a:ext uri="{FF2B5EF4-FFF2-40B4-BE49-F238E27FC236}">
                <a16:creationId xmlns:a16="http://schemas.microsoft.com/office/drawing/2014/main" id="{04A5793B-3A30-473F-B5D0-B0589A6B663C}"/>
              </a:ext>
            </a:extLst>
          </p:cNvPr>
          <p:cNvSpPr>
            <a:spLocks noGrp="1"/>
          </p:cNvSpPr>
          <p:nvPr/>
        </p:nvSpPr>
        <p:spPr>
          <a:xfrm>
            <a:off x="6648043" y="2973627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9BD3BC"/>
          </a:solidFill>
          <a:ln w="9525">
            <a:solidFill>
              <a:srgbClr val="6E92C5"/>
            </a:solidFill>
          </a:ln>
        </p:spPr>
      </p:sp>
      <p:sp>
        <p:nvSpPr>
          <p:cNvPr id="129" name="p1-o127">
            <a:extLst>
              <a:ext uri="{FF2B5EF4-FFF2-40B4-BE49-F238E27FC236}">
                <a16:creationId xmlns:a16="http://schemas.microsoft.com/office/drawing/2014/main" id="{ED0081B7-9BF9-43ED-8D26-A6375D16C19C}"/>
              </a:ext>
            </a:extLst>
          </p:cNvPr>
          <p:cNvSpPr>
            <a:spLocks noGrp="1"/>
          </p:cNvSpPr>
          <p:nvPr/>
        </p:nvSpPr>
        <p:spPr>
          <a:xfrm>
            <a:off x="6714718" y="3049827"/>
            <a:ext cx="276225" cy="247650"/>
          </a:xfrm>
          <a:prstGeom prst="rect">
            <a:avLst/>
          </a:prstGeom>
          <a:solidFill>
            <a:srgbClr val="D6D8DC"/>
          </a:solidFill>
          <a:ln w="9525">
            <a:solidFill>
              <a:srgbClr val="6E92C5"/>
            </a:solidFill>
          </a:ln>
        </p:spPr>
      </p:sp>
      <p:sp>
        <p:nvSpPr>
          <p:cNvPr id="130" name="p1-o128">
            <a:extLst>
              <a:ext uri="{FF2B5EF4-FFF2-40B4-BE49-F238E27FC236}">
                <a16:creationId xmlns:a16="http://schemas.microsoft.com/office/drawing/2014/main" id="{25188399-867C-46D3-B47D-6403278CA185}"/>
              </a:ext>
            </a:extLst>
          </p:cNvPr>
          <p:cNvSpPr>
            <a:spLocks noGrp="1"/>
          </p:cNvSpPr>
          <p:nvPr/>
        </p:nvSpPr>
        <p:spPr>
          <a:xfrm>
            <a:off x="6714718" y="2973627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D6D8DC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31" name="p1-o129">
            <a:extLst>
              <a:ext uri="{FF2B5EF4-FFF2-40B4-BE49-F238E27FC236}">
                <a16:creationId xmlns:a16="http://schemas.microsoft.com/office/drawing/2014/main" id="{C045A0CE-81DE-4617-BA28-78AEAD409B81}"/>
              </a:ext>
            </a:extLst>
          </p:cNvPr>
          <p:cNvSpPr>
            <a:spLocks noGrp="1"/>
          </p:cNvSpPr>
          <p:nvPr/>
        </p:nvSpPr>
        <p:spPr>
          <a:xfrm>
            <a:off x="6990943" y="2973627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D6D8DC"/>
          </a:solidFill>
          <a:ln w="9525">
            <a:solidFill>
              <a:srgbClr val="6E92C5"/>
            </a:solidFill>
          </a:ln>
        </p:spPr>
      </p:sp>
      <p:sp>
        <p:nvSpPr>
          <p:cNvPr id="132" name="p1-o130">
            <a:extLst>
              <a:ext uri="{FF2B5EF4-FFF2-40B4-BE49-F238E27FC236}">
                <a16:creationId xmlns:a16="http://schemas.microsoft.com/office/drawing/2014/main" id="{00CDD4B6-7815-4AAB-A9E9-0A8F1A57BDFF}"/>
              </a:ext>
            </a:extLst>
          </p:cNvPr>
          <p:cNvSpPr>
            <a:spLocks noGrp="1"/>
          </p:cNvSpPr>
          <p:nvPr/>
        </p:nvSpPr>
        <p:spPr>
          <a:xfrm>
            <a:off x="7057618" y="3049827"/>
            <a:ext cx="276225" cy="247650"/>
          </a:xfrm>
          <a:prstGeom prst="rect">
            <a:avLst/>
          </a:prstGeom>
          <a:solidFill>
            <a:srgbClr val="B6A5DD"/>
          </a:solidFill>
          <a:ln w="9525">
            <a:solidFill>
              <a:srgbClr val="6E92C5"/>
            </a:solidFill>
          </a:ln>
        </p:spPr>
      </p:sp>
      <p:sp>
        <p:nvSpPr>
          <p:cNvPr id="133" name="p1-o131">
            <a:extLst>
              <a:ext uri="{FF2B5EF4-FFF2-40B4-BE49-F238E27FC236}">
                <a16:creationId xmlns:a16="http://schemas.microsoft.com/office/drawing/2014/main" id="{BD9E219D-65F5-4C78-B8C5-08FE0539D511}"/>
              </a:ext>
            </a:extLst>
          </p:cNvPr>
          <p:cNvSpPr>
            <a:spLocks noGrp="1"/>
          </p:cNvSpPr>
          <p:nvPr/>
        </p:nvSpPr>
        <p:spPr>
          <a:xfrm>
            <a:off x="7057618" y="2973627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B6A5DD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34" name="p1-o132">
            <a:extLst>
              <a:ext uri="{FF2B5EF4-FFF2-40B4-BE49-F238E27FC236}">
                <a16:creationId xmlns:a16="http://schemas.microsoft.com/office/drawing/2014/main" id="{0CC9B09D-F998-4AE6-95FE-815FE8F74C9D}"/>
              </a:ext>
            </a:extLst>
          </p:cNvPr>
          <p:cNvSpPr>
            <a:spLocks noGrp="1"/>
          </p:cNvSpPr>
          <p:nvPr/>
        </p:nvSpPr>
        <p:spPr>
          <a:xfrm>
            <a:off x="7333843" y="2973627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B6A5DD"/>
          </a:solidFill>
          <a:ln w="9525">
            <a:solidFill>
              <a:srgbClr val="6E92C5"/>
            </a:solidFill>
          </a:ln>
        </p:spPr>
      </p:sp>
      <p:sp>
        <p:nvSpPr>
          <p:cNvPr id="135" name="p1-o133">
            <a:extLst>
              <a:ext uri="{FF2B5EF4-FFF2-40B4-BE49-F238E27FC236}">
                <a16:creationId xmlns:a16="http://schemas.microsoft.com/office/drawing/2014/main" id="{A3530CBD-B50A-4274-9B45-2D8794F45E4E}"/>
              </a:ext>
            </a:extLst>
          </p:cNvPr>
          <p:cNvSpPr>
            <a:spLocks noGrp="1"/>
          </p:cNvSpPr>
          <p:nvPr/>
        </p:nvSpPr>
        <p:spPr>
          <a:xfrm>
            <a:off x="4743043" y="3440352"/>
            <a:ext cx="58102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05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Block 2</a:t>
            </a:r>
          </a:p>
        </p:txBody>
      </p:sp>
      <p:sp>
        <p:nvSpPr>
          <p:cNvPr id="136" name="p1-o134">
            <a:extLst>
              <a:ext uri="{FF2B5EF4-FFF2-40B4-BE49-F238E27FC236}">
                <a16:creationId xmlns:a16="http://schemas.microsoft.com/office/drawing/2014/main" id="{0447AC3F-AEAC-47F7-8223-B9BD6F3C5781}"/>
              </a:ext>
            </a:extLst>
          </p:cNvPr>
          <p:cNvSpPr>
            <a:spLocks noGrp="1"/>
          </p:cNvSpPr>
          <p:nvPr/>
        </p:nvSpPr>
        <p:spPr>
          <a:xfrm>
            <a:off x="5343118" y="3459402"/>
            <a:ext cx="276225" cy="247650"/>
          </a:xfrm>
          <a:prstGeom prst="rect">
            <a:avLst/>
          </a:prstGeom>
          <a:solidFill>
            <a:srgbClr val="91B3E8"/>
          </a:solidFill>
          <a:ln w="9525">
            <a:solidFill>
              <a:srgbClr val="6E92C5"/>
            </a:solidFill>
          </a:ln>
        </p:spPr>
      </p:sp>
      <p:sp>
        <p:nvSpPr>
          <p:cNvPr id="137" name="p1-o135">
            <a:extLst>
              <a:ext uri="{FF2B5EF4-FFF2-40B4-BE49-F238E27FC236}">
                <a16:creationId xmlns:a16="http://schemas.microsoft.com/office/drawing/2014/main" id="{7FB0BD0E-9986-423A-9793-D485486DD29F}"/>
              </a:ext>
            </a:extLst>
          </p:cNvPr>
          <p:cNvSpPr>
            <a:spLocks noGrp="1"/>
          </p:cNvSpPr>
          <p:nvPr/>
        </p:nvSpPr>
        <p:spPr>
          <a:xfrm>
            <a:off x="5343118" y="3383202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91B3E8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38" name="p1-o136">
            <a:extLst>
              <a:ext uri="{FF2B5EF4-FFF2-40B4-BE49-F238E27FC236}">
                <a16:creationId xmlns:a16="http://schemas.microsoft.com/office/drawing/2014/main" id="{C6B2C097-871A-4C6F-A31F-77526086E068}"/>
              </a:ext>
            </a:extLst>
          </p:cNvPr>
          <p:cNvSpPr>
            <a:spLocks noGrp="1"/>
          </p:cNvSpPr>
          <p:nvPr/>
        </p:nvSpPr>
        <p:spPr>
          <a:xfrm>
            <a:off x="5619343" y="3383202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91B3E8"/>
          </a:solidFill>
          <a:ln w="9525">
            <a:solidFill>
              <a:srgbClr val="6E92C5"/>
            </a:solidFill>
          </a:ln>
        </p:spPr>
      </p:sp>
      <p:sp>
        <p:nvSpPr>
          <p:cNvPr id="139" name="p1-o137">
            <a:extLst>
              <a:ext uri="{FF2B5EF4-FFF2-40B4-BE49-F238E27FC236}">
                <a16:creationId xmlns:a16="http://schemas.microsoft.com/office/drawing/2014/main" id="{1B558610-1AE5-4123-99D3-BBADB290E8C2}"/>
              </a:ext>
            </a:extLst>
          </p:cNvPr>
          <p:cNvSpPr>
            <a:spLocks noGrp="1"/>
          </p:cNvSpPr>
          <p:nvPr/>
        </p:nvSpPr>
        <p:spPr>
          <a:xfrm>
            <a:off x="5686018" y="3459402"/>
            <a:ext cx="276225" cy="247650"/>
          </a:xfrm>
          <a:prstGeom prst="rect">
            <a:avLst/>
          </a:prstGeom>
          <a:solidFill>
            <a:srgbClr val="E8B0BD"/>
          </a:solidFill>
          <a:ln w="9525">
            <a:solidFill>
              <a:srgbClr val="6E92C5"/>
            </a:solidFill>
          </a:ln>
        </p:spPr>
      </p:sp>
      <p:sp>
        <p:nvSpPr>
          <p:cNvPr id="140" name="p1-o138">
            <a:extLst>
              <a:ext uri="{FF2B5EF4-FFF2-40B4-BE49-F238E27FC236}">
                <a16:creationId xmlns:a16="http://schemas.microsoft.com/office/drawing/2014/main" id="{87680F92-DD8F-4708-B7A1-2DC45FE1EBB0}"/>
              </a:ext>
            </a:extLst>
          </p:cNvPr>
          <p:cNvSpPr>
            <a:spLocks noGrp="1"/>
          </p:cNvSpPr>
          <p:nvPr/>
        </p:nvSpPr>
        <p:spPr>
          <a:xfrm>
            <a:off x="5686018" y="3383202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E8B0BD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41" name="p1-o139">
            <a:extLst>
              <a:ext uri="{FF2B5EF4-FFF2-40B4-BE49-F238E27FC236}">
                <a16:creationId xmlns:a16="http://schemas.microsoft.com/office/drawing/2014/main" id="{397E941C-0786-43DB-A7AD-18A25380AC91}"/>
              </a:ext>
            </a:extLst>
          </p:cNvPr>
          <p:cNvSpPr>
            <a:spLocks noGrp="1"/>
          </p:cNvSpPr>
          <p:nvPr/>
        </p:nvSpPr>
        <p:spPr>
          <a:xfrm>
            <a:off x="5962243" y="3383202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E8B0BD"/>
          </a:solidFill>
          <a:ln w="9525">
            <a:solidFill>
              <a:srgbClr val="6E92C5"/>
            </a:solidFill>
          </a:ln>
        </p:spPr>
      </p:sp>
      <p:sp>
        <p:nvSpPr>
          <p:cNvPr id="142" name="p1-o140">
            <a:extLst>
              <a:ext uri="{FF2B5EF4-FFF2-40B4-BE49-F238E27FC236}">
                <a16:creationId xmlns:a16="http://schemas.microsoft.com/office/drawing/2014/main" id="{E3A3DC2B-173A-4930-B84C-B35D1683D8F6}"/>
              </a:ext>
            </a:extLst>
          </p:cNvPr>
          <p:cNvSpPr>
            <a:spLocks noGrp="1"/>
          </p:cNvSpPr>
          <p:nvPr/>
        </p:nvSpPr>
        <p:spPr>
          <a:xfrm>
            <a:off x="6028918" y="3459402"/>
            <a:ext cx="276225" cy="247650"/>
          </a:xfrm>
          <a:prstGeom prst="rect">
            <a:avLst/>
          </a:prstGeom>
          <a:solidFill>
            <a:srgbClr val="F4DBA6"/>
          </a:solidFill>
          <a:ln w="9525">
            <a:solidFill>
              <a:srgbClr val="6E92C5"/>
            </a:solidFill>
          </a:ln>
        </p:spPr>
      </p:sp>
      <p:sp>
        <p:nvSpPr>
          <p:cNvPr id="143" name="p1-o141">
            <a:extLst>
              <a:ext uri="{FF2B5EF4-FFF2-40B4-BE49-F238E27FC236}">
                <a16:creationId xmlns:a16="http://schemas.microsoft.com/office/drawing/2014/main" id="{7A56A08B-9B9F-47A0-87FB-5CC819F706EB}"/>
              </a:ext>
            </a:extLst>
          </p:cNvPr>
          <p:cNvSpPr>
            <a:spLocks noGrp="1"/>
          </p:cNvSpPr>
          <p:nvPr/>
        </p:nvSpPr>
        <p:spPr>
          <a:xfrm>
            <a:off x="6028918" y="3383202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F4DBA6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44" name="p1-o142">
            <a:extLst>
              <a:ext uri="{FF2B5EF4-FFF2-40B4-BE49-F238E27FC236}">
                <a16:creationId xmlns:a16="http://schemas.microsoft.com/office/drawing/2014/main" id="{1BED07A1-E6ED-4D28-ACE5-CAB1E3D85E99}"/>
              </a:ext>
            </a:extLst>
          </p:cNvPr>
          <p:cNvSpPr>
            <a:spLocks noGrp="1"/>
          </p:cNvSpPr>
          <p:nvPr/>
        </p:nvSpPr>
        <p:spPr>
          <a:xfrm>
            <a:off x="6305143" y="3383202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F4DBA6"/>
          </a:solidFill>
          <a:ln w="9525">
            <a:solidFill>
              <a:srgbClr val="6E92C5"/>
            </a:solidFill>
          </a:ln>
        </p:spPr>
      </p:sp>
      <p:sp>
        <p:nvSpPr>
          <p:cNvPr id="145" name="p1-o143">
            <a:extLst>
              <a:ext uri="{FF2B5EF4-FFF2-40B4-BE49-F238E27FC236}">
                <a16:creationId xmlns:a16="http://schemas.microsoft.com/office/drawing/2014/main" id="{00D51F77-4D5F-4DA1-A849-9D2E75866027}"/>
              </a:ext>
            </a:extLst>
          </p:cNvPr>
          <p:cNvSpPr>
            <a:spLocks noGrp="1"/>
          </p:cNvSpPr>
          <p:nvPr/>
        </p:nvSpPr>
        <p:spPr>
          <a:xfrm>
            <a:off x="6371818" y="3459402"/>
            <a:ext cx="276225" cy="247650"/>
          </a:xfrm>
          <a:prstGeom prst="rect">
            <a:avLst/>
          </a:prstGeom>
          <a:solidFill>
            <a:srgbClr val="9BD3BC"/>
          </a:solidFill>
          <a:ln w="9525">
            <a:solidFill>
              <a:srgbClr val="6E92C5"/>
            </a:solidFill>
          </a:ln>
        </p:spPr>
      </p:sp>
      <p:sp>
        <p:nvSpPr>
          <p:cNvPr id="146" name="p1-o144">
            <a:extLst>
              <a:ext uri="{FF2B5EF4-FFF2-40B4-BE49-F238E27FC236}">
                <a16:creationId xmlns:a16="http://schemas.microsoft.com/office/drawing/2014/main" id="{D636F30D-38E9-4CDB-BACE-D9E56433A7B8}"/>
              </a:ext>
            </a:extLst>
          </p:cNvPr>
          <p:cNvSpPr>
            <a:spLocks noGrp="1"/>
          </p:cNvSpPr>
          <p:nvPr/>
        </p:nvSpPr>
        <p:spPr>
          <a:xfrm>
            <a:off x="6371818" y="3383202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9BD3BC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47" name="p1-o145">
            <a:extLst>
              <a:ext uri="{FF2B5EF4-FFF2-40B4-BE49-F238E27FC236}">
                <a16:creationId xmlns:a16="http://schemas.microsoft.com/office/drawing/2014/main" id="{7978E932-426D-4DF5-BC45-DE4DBFF60977}"/>
              </a:ext>
            </a:extLst>
          </p:cNvPr>
          <p:cNvSpPr>
            <a:spLocks noGrp="1"/>
          </p:cNvSpPr>
          <p:nvPr/>
        </p:nvSpPr>
        <p:spPr>
          <a:xfrm>
            <a:off x="6648043" y="3383202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9BD3BC"/>
          </a:solidFill>
          <a:ln w="9525">
            <a:solidFill>
              <a:srgbClr val="6E92C5"/>
            </a:solidFill>
          </a:ln>
        </p:spPr>
      </p:sp>
      <p:sp>
        <p:nvSpPr>
          <p:cNvPr id="148" name="p1-o146">
            <a:extLst>
              <a:ext uri="{FF2B5EF4-FFF2-40B4-BE49-F238E27FC236}">
                <a16:creationId xmlns:a16="http://schemas.microsoft.com/office/drawing/2014/main" id="{140A55A9-10C3-47BA-B106-FF482F21DFB0}"/>
              </a:ext>
            </a:extLst>
          </p:cNvPr>
          <p:cNvSpPr>
            <a:spLocks noGrp="1"/>
          </p:cNvSpPr>
          <p:nvPr/>
        </p:nvSpPr>
        <p:spPr>
          <a:xfrm>
            <a:off x="6714718" y="3459402"/>
            <a:ext cx="276225" cy="247650"/>
          </a:xfrm>
          <a:prstGeom prst="rect">
            <a:avLst/>
          </a:prstGeom>
          <a:solidFill>
            <a:srgbClr val="D6D8DC"/>
          </a:solidFill>
          <a:ln w="9525">
            <a:solidFill>
              <a:srgbClr val="6E92C5"/>
            </a:solidFill>
          </a:ln>
        </p:spPr>
      </p:sp>
      <p:sp>
        <p:nvSpPr>
          <p:cNvPr id="149" name="p1-o147">
            <a:extLst>
              <a:ext uri="{FF2B5EF4-FFF2-40B4-BE49-F238E27FC236}">
                <a16:creationId xmlns:a16="http://schemas.microsoft.com/office/drawing/2014/main" id="{F55D0287-CA50-4C88-8CEC-5667CA07952A}"/>
              </a:ext>
            </a:extLst>
          </p:cNvPr>
          <p:cNvSpPr>
            <a:spLocks noGrp="1"/>
          </p:cNvSpPr>
          <p:nvPr/>
        </p:nvSpPr>
        <p:spPr>
          <a:xfrm>
            <a:off x="6714718" y="3383202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D6D8DC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50" name="p1-o148">
            <a:extLst>
              <a:ext uri="{FF2B5EF4-FFF2-40B4-BE49-F238E27FC236}">
                <a16:creationId xmlns:a16="http://schemas.microsoft.com/office/drawing/2014/main" id="{47BBD14B-01D1-49AA-A227-38EC2ACF3CA2}"/>
              </a:ext>
            </a:extLst>
          </p:cNvPr>
          <p:cNvSpPr>
            <a:spLocks noGrp="1"/>
          </p:cNvSpPr>
          <p:nvPr/>
        </p:nvSpPr>
        <p:spPr>
          <a:xfrm>
            <a:off x="6990943" y="3383202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D6D8DC"/>
          </a:solidFill>
          <a:ln w="9525">
            <a:solidFill>
              <a:srgbClr val="6E92C5"/>
            </a:solidFill>
          </a:ln>
        </p:spPr>
      </p:sp>
      <p:sp>
        <p:nvSpPr>
          <p:cNvPr id="151" name="p1-o149">
            <a:extLst>
              <a:ext uri="{FF2B5EF4-FFF2-40B4-BE49-F238E27FC236}">
                <a16:creationId xmlns:a16="http://schemas.microsoft.com/office/drawing/2014/main" id="{DC27278A-CE7F-496F-A004-7445243111E6}"/>
              </a:ext>
            </a:extLst>
          </p:cNvPr>
          <p:cNvSpPr>
            <a:spLocks noGrp="1"/>
          </p:cNvSpPr>
          <p:nvPr/>
        </p:nvSpPr>
        <p:spPr>
          <a:xfrm>
            <a:off x="7057618" y="3459402"/>
            <a:ext cx="276225" cy="247650"/>
          </a:xfrm>
          <a:prstGeom prst="rect">
            <a:avLst/>
          </a:prstGeom>
          <a:solidFill>
            <a:srgbClr val="B6A5DD"/>
          </a:solidFill>
          <a:ln w="9525">
            <a:solidFill>
              <a:srgbClr val="6E92C5"/>
            </a:solidFill>
          </a:ln>
        </p:spPr>
      </p:sp>
      <p:sp>
        <p:nvSpPr>
          <p:cNvPr id="152" name="p1-o150">
            <a:extLst>
              <a:ext uri="{FF2B5EF4-FFF2-40B4-BE49-F238E27FC236}">
                <a16:creationId xmlns:a16="http://schemas.microsoft.com/office/drawing/2014/main" id="{144F9115-E878-4A83-B0FF-5DCB5A3912AF}"/>
              </a:ext>
            </a:extLst>
          </p:cNvPr>
          <p:cNvSpPr>
            <a:spLocks noGrp="1"/>
          </p:cNvSpPr>
          <p:nvPr/>
        </p:nvSpPr>
        <p:spPr>
          <a:xfrm>
            <a:off x="7057618" y="3383202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B6A5DD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53" name="p1-o151">
            <a:extLst>
              <a:ext uri="{FF2B5EF4-FFF2-40B4-BE49-F238E27FC236}">
                <a16:creationId xmlns:a16="http://schemas.microsoft.com/office/drawing/2014/main" id="{FC417FDB-D352-4A14-BBEE-5DEBC3160226}"/>
              </a:ext>
            </a:extLst>
          </p:cNvPr>
          <p:cNvSpPr>
            <a:spLocks noGrp="1"/>
          </p:cNvSpPr>
          <p:nvPr/>
        </p:nvSpPr>
        <p:spPr>
          <a:xfrm>
            <a:off x="7333843" y="3383202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B6A5DD"/>
          </a:solidFill>
          <a:ln w="9525">
            <a:solidFill>
              <a:srgbClr val="6E92C5"/>
            </a:solidFill>
          </a:ln>
        </p:spPr>
      </p:sp>
      <p:sp>
        <p:nvSpPr>
          <p:cNvPr id="154" name="p1-o152">
            <a:extLst>
              <a:ext uri="{FF2B5EF4-FFF2-40B4-BE49-F238E27FC236}">
                <a16:creationId xmlns:a16="http://schemas.microsoft.com/office/drawing/2014/main" id="{933F62DB-DBD5-4E8D-82E4-B0D7134DB528}"/>
              </a:ext>
            </a:extLst>
          </p:cNvPr>
          <p:cNvSpPr>
            <a:spLocks noGrp="1"/>
          </p:cNvSpPr>
          <p:nvPr/>
        </p:nvSpPr>
        <p:spPr>
          <a:xfrm>
            <a:off x="4743043" y="4059477"/>
            <a:ext cx="58102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05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Block N</a:t>
            </a:r>
          </a:p>
        </p:txBody>
      </p:sp>
      <p:sp>
        <p:nvSpPr>
          <p:cNvPr id="155" name="p1-o153">
            <a:extLst>
              <a:ext uri="{FF2B5EF4-FFF2-40B4-BE49-F238E27FC236}">
                <a16:creationId xmlns:a16="http://schemas.microsoft.com/office/drawing/2014/main" id="{A53EB45D-1BD8-4D10-A2D1-F3395BDB160D}"/>
              </a:ext>
            </a:extLst>
          </p:cNvPr>
          <p:cNvSpPr>
            <a:spLocks noGrp="1"/>
          </p:cNvSpPr>
          <p:nvPr/>
        </p:nvSpPr>
        <p:spPr>
          <a:xfrm>
            <a:off x="5343118" y="4078527"/>
            <a:ext cx="276225" cy="247650"/>
          </a:xfrm>
          <a:prstGeom prst="rect">
            <a:avLst/>
          </a:prstGeom>
          <a:solidFill>
            <a:srgbClr val="91B3E8"/>
          </a:solidFill>
          <a:ln w="9525">
            <a:solidFill>
              <a:srgbClr val="6E92C5"/>
            </a:solidFill>
          </a:ln>
        </p:spPr>
      </p:sp>
      <p:sp>
        <p:nvSpPr>
          <p:cNvPr id="156" name="p1-o154">
            <a:extLst>
              <a:ext uri="{FF2B5EF4-FFF2-40B4-BE49-F238E27FC236}">
                <a16:creationId xmlns:a16="http://schemas.microsoft.com/office/drawing/2014/main" id="{A733F767-600B-4D63-8BDA-BEB880B5F7DA}"/>
              </a:ext>
            </a:extLst>
          </p:cNvPr>
          <p:cNvSpPr>
            <a:spLocks noGrp="1"/>
          </p:cNvSpPr>
          <p:nvPr/>
        </p:nvSpPr>
        <p:spPr>
          <a:xfrm>
            <a:off x="5343118" y="4002327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91B3E8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57" name="p1-o155">
            <a:extLst>
              <a:ext uri="{FF2B5EF4-FFF2-40B4-BE49-F238E27FC236}">
                <a16:creationId xmlns:a16="http://schemas.microsoft.com/office/drawing/2014/main" id="{1DF3B814-26F5-4AF8-AF63-DD377DD153DA}"/>
              </a:ext>
            </a:extLst>
          </p:cNvPr>
          <p:cNvSpPr>
            <a:spLocks noGrp="1"/>
          </p:cNvSpPr>
          <p:nvPr/>
        </p:nvSpPr>
        <p:spPr>
          <a:xfrm>
            <a:off x="5619343" y="4002327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91B3E8"/>
          </a:solidFill>
          <a:ln w="9525">
            <a:solidFill>
              <a:srgbClr val="6E92C5"/>
            </a:solidFill>
          </a:ln>
        </p:spPr>
      </p:sp>
      <p:sp>
        <p:nvSpPr>
          <p:cNvPr id="158" name="p1-o156">
            <a:extLst>
              <a:ext uri="{FF2B5EF4-FFF2-40B4-BE49-F238E27FC236}">
                <a16:creationId xmlns:a16="http://schemas.microsoft.com/office/drawing/2014/main" id="{2E3FFFC9-03BC-4C78-A4FF-3D93C4FA1BE6}"/>
              </a:ext>
            </a:extLst>
          </p:cNvPr>
          <p:cNvSpPr>
            <a:spLocks noGrp="1"/>
          </p:cNvSpPr>
          <p:nvPr/>
        </p:nvSpPr>
        <p:spPr>
          <a:xfrm>
            <a:off x="5686018" y="4078527"/>
            <a:ext cx="276225" cy="247650"/>
          </a:xfrm>
          <a:prstGeom prst="rect">
            <a:avLst/>
          </a:prstGeom>
          <a:solidFill>
            <a:srgbClr val="E8B0BD"/>
          </a:solidFill>
          <a:ln w="9525">
            <a:solidFill>
              <a:srgbClr val="6E92C5"/>
            </a:solidFill>
          </a:ln>
        </p:spPr>
      </p:sp>
      <p:sp>
        <p:nvSpPr>
          <p:cNvPr id="159" name="p1-o157">
            <a:extLst>
              <a:ext uri="{FF2B5EF4-FFF2-40B4-BE49-F238E27FC236}">
                <a16:creationId xmlns:a16="http://schemas.microsoft.com/office/drawing/2014/main" id="{EB0A9029-8D13-4A7F-80A2-2C4933EAC4D6}"/>
              </a:ext>
            </a:extLst>
          </p:cNvPr>
          <p:cNvSpPr>
            <a:spLocks noGrp="1"/>
          </p:cNvSpPr>
          <p:nvPr/>
        </p:nvSpPr>
        <p:spPr>
          <a:xfrm>
            <a:off x="5686018" y="4002327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E8B0BD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60" name="p1-o158">
            <a:extLst>
              <a:ext uri="{FF2B5EF4-FFF2-40B4-BE49-F238E27FC236}">
                <a16:creationId xmlns:a16="http://schemas.microsoft.com/office/drawing/2014/main" id="{F39365E6-0313-4431-A300-CDDB2B531713}"/>
              </a:ext>
            </a:extLst>
          </p:cNvPr>
          <p:cNvSpPr>
            <a:spLocks noGrp="1"/>
          </p:cNvSpPr>
          <p:nvPr/>
        </p:nvSpPr>
        <p:spPr>
          <a:xfrm>
            <a:off x="5962243" y="4002327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E8B0BD"/>
          </a:solidFill>
          <a:ln w="9525">
            <a:solidFill>
              <a:srgbClr val="6E92C5"/>
            </a:solidFill>
          </a:ln>
        </p:spPr>
      </p:sp>
      <p:sp>
        <p:nvSpPr>
          <p:cNvPr id="161" name="p1-o159">
            <a:extLst>
              <a:ext uri="{FF2B5EF4-FFF2-40B4-BE49-F238E27FC236}">
                <a16:creationId xmlns:a16="http://schemas.microsoft.com/office/drawing/2014/main" id="{3FD91405-7B8B-4732-B99D-014C0BF2B373}"/>
              </a:ext>
            </a:extLst>
          </p:cNvPr>
          <p:cNvSpPr>
            <a:spLocks noGrp="1"/>
          </p:cNvSpPr>
          <p:nvPr/>
        </p:nvSpPr>
        <p:spPr>
          <a:xfrm>
            <a:off x="6028918" y="4078527"/>
            <a:ext cx="276225" cy="247650"/>
          </a:xfrm>
          <a:prstGeom prst="rect">
            <a:avLst/>
          </a:prstGeom>
          <a:solidFill>
            <a:srgbClr val="F4DBA6"/>
          </a:solidFill>
          <a:ln w="9525">
            <a:solidFill>
              <a:srgbClr val="6E92C5"/>
            </a:solidFill>
          </a:ln>
        </p:spPr>
      </p:sp>
      <p:sp>
        <p:nvSpPr>
          <p:cNvPr id="162" name="p1-o160">
            <a:extLst>
              <a:ext uri="{FF2B5EF4-FFF2-40B4-BE49-F238E27FC236}">
                <a16:creationId xmlns:a16="http://schemas.microsoft.com/office/drawing/2014/main" id="{481DFA2B-C452-407B-B4D5-268ED87252A5}"/>
              </a:ext>
            </a:extLst>
          </p:cNvPr>
          <p:cNvSpPr>
            <a:spLocks noGrp="1"/>
          </p:cNvSpPr>
          <p:nvPr/>
        </p:nvSpPr>
        <p:spPr>
          <a:xfrm>
            <a:off x="6028918" y="4002327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F4DBA6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63" name="p1-o161">
            <a:extLst>
              <a:ext uri="{FF2B5EF4-FFF2-40B4-BE49-F238E27FC236}">
                <a16:creationId xmlns:a16="http://schemas.microsoft.com/office/drawing/2014/main" id="{B994D8C4-D89A-4F84-A6FB-3A65F7848FC0}"/>
              </a:ext>
            </a:extLst>
          </p:cNvPr>
          <p:cNvSpPr>
            <a:spLocks noGrp="1"/>
          </p:cNvSpPr>
          <p:nvPr/>
        </p:nvSpPr>
        <p:spPr>
          <a:xfrm>
            <a:off x="6305143" y="4002327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F4DBA6"/>
          </a:solidFill>
          <a:ln w="9525">
            <a:solidFill>
              <a:srgbClr val="6E92C5"/>
            </a:solidFill>
          </a:ln>
        </p:spPr>
      </p:sp>
      <p:sp>
        <p:nvSpPr>
          <p:cNvPr id="164" name="p1-o162">
            <a:extLst>
              <a:ext uri="{FF2B5EF4-FFF2-40B4-BE49-F238E27FC236}">
                <a16:creationId xmlns:a16="http://schemas.microsoft.com/office/drawing/2014/main" id="{7351C591-DB76-45CE-BFD2-AF04F4F4E255}"/>
              </a:ext>
            </a:extLst>
          </p:cNvPr>
          <p:cNvSpPr>
            <a:spLocks noGrp="1"/>
          </p:cNvSpPr>
          <p:nvPr/>
        </p:nvSpPr>
        <p:spPr>
          <a:xfrm>
            <a:off x="6371818" y="4078527"/>
            <a:ext cx="276225" cy="247650"/>
          </a:xfrm>
          <a:prstGeom prst="rect">
            <a:avLst/>
          </a:prstGeom>
          <a:solidFill>
            <a:srgbClr val="9BD3BC"/>
          </a:solidFill>
          <a:ln w="9525">
            <a:solidFill>
              <a:srgbClr val="6E92C5"/>
            </a:solidFill>
          </a:ln>
        </p:spPr>
      </p:sp>
      <p:sp>
        <p:nvSpPr>
          <p:cNvPr id="165" name="p1-o163">
            <a:extLst>
              <a:ext uri="{FF2B5EF4-FFF2-40B4-BE49-F238E27FC236}">
                <a16:creationId xmlns:a16="http://schemas.microsoft.com/office/drawing/2014/main" id="{FFB4B579-39DC-4EDF-BF17-921C2CC6B88E}"/>
              </a:ext>
            </a:extLst>
          </p:cNvPr>
          <p:cNvSpPr>
            <a:spLocks noGrp="1"/>
          </p:cNvSpPr>
          <p:nvPr/>
        </p:nvSpPr>
        <p:spPr>
          <a:xfrm>
            <a:off x="6371818" y="4002327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9BD3BC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66" name="p1-o164">
            <a:extLst>
              <a:ext uri="{FF2B5EF4-FFF2-40B4-BE49-F238E27FC236}">
                <a16:creationId xmlns:a16="http://schemas.microsoft.com/office/drawing/2014/main" id="{B48D5BB3-DDFA-440E-9014-D2CF5B0FABEF}"/>
              </a:ext>
            </a:extLst>
          </p:cNvPr>
          <p:cNvSpPr>
            <a:spLocks noGrp="1"/>
          </p:cNvSpPr>
          <p:nvPr/>
        </p:nvSpPr>
        <p:spPr>
          <a:xfrm>
            <a:off x="6648043" y="4002327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9BD3BC"/>
          </a:solidFill>
          <a:ln w="9525">
            <a:solidFill>
              <a:srgbClr val="6E92C5"/>
            </a:solidFill>
          </a:ln>
        </p:spPr>
      </p:sp>
      <p:sp>
        <p:nvSpPr>
          <p:cNvPr id="167" name="p1-o165">
            <a:extLst>
              <a:ext uri="{FF2B5EF4-FFF2-40B4-BE49-F238E27FC236}">
                <a16:creationId xmlns:a16="http://schemas.microsoft.com/office/drawing/2014/main" id="{ED1C02F7-DBA2-4418-9453-6708669481B0}"/>
              </a:ext>
            </a:extLst>
          </p:cNvPr>
          <p:cNvSpPr>
            <a:spLocks noGrp="1"/>
          </p:cNvSpPr>
          <p:nvPr/>
        </p:nvSpPr>
        <p:spPr>
          <a:xfrm>
            <a:off x="6714718" y="4078527"/>
            <a:ext cx="276225" cy="247650"/>
          </a:xfrm>
          <a:prstGeom prst="rect">
            <a:avLst/>
          </a:prstGeom>
          <a:solidFill>
            <a:srgbClr val="D6D8DC"/>
          </a:solidFill>
          <a:ln w="9525">
            <a:solidFill>
              <a:srgbClr val="6E92C5"/>
            </a:solidFill>
          </a:ln>
        </p:spPr>
      </p:sp>
      <p:sp>
        <p:nvSpPr>
          <p:cNvPr id="168" name="p1-o166">
            <a:extLst>
              <a:ext uri="{FF2B5EF4-FFF2-40B4-BE49-F238E27FC236}">
                <a16:creationId xmlns:a16="http://schemas.microsoft.com/office/drawing/2014/main" id="{FEC0D7EF-9676-4500-BC55-9F305916EC65}"/>
              </a:ext>
            </a:extLst>
          </p:cNvPr>
          <p:cNvSpPr>
            <a:spLocks noGrp="1"/>
          </p:cNvSpPr>
          <p:nvPr/>
        </p:nvSpPr>
        <p:spPr>
          <a:xfrm>
            <a:off x="6714718" y="4002327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D6D8DC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69" name="p1-o167">
            <a:extLst>
              <a:ext uri="{FF2B5EF4-FFF2-40B4-BE49-F238E27FC236}">
                <a16:creationId xmlns:a16="http://schemas.microsoft.com/office/drawing/2014/main" id="{9E0CE4FA-1A2E-4BE9-9DA7-B355BD2B70BF}"/>
              </a:ext>
            </a:extLst>
          </p:cNvPr>
          <p:cNvSpPr>
            <a:spLocks noGrp="1"/>
          </p:cNvSpPr>
          <p:nvPr/>
        </p:nvSpPr>
        <p:spPr>
          <a:xfrm>
            <a:off x="6990943" y="4002327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D6D8DC"/>
          </a:solidFill>
          <a:ln w="9525">
            <a:solidFill>
              <a:srgbClr val="6E92C5"/>
            </a:solidFill>
          </a:ln>
        </p:spPr>
      </p:sp>
      <p:sp>
        <p:nvSpPr>
          <p:cNvPr id="170" name="p1-o168">
            <a:extLst>
              <a:ext uri="{FF2B5EF4-FFF2-40B4-BE49-F238E27FC236}">
                <a16:creationId xmlns:a16="http://schemas.microsoft.com/office/drawing/2014/main" id="{D3A0851E-D901-4B2A-BAA6-5CA9A43FC8F8}"/>
              </a:ext>
            </a:extLst>
          </p:cNvPr>
          <p:cNvSpPr>
            <a:spLocks noGrp="1"/>
          </p:cNvSpPr>
          <p:nvPr/>
        </p:nvSpPr>
        <p:spPr>
          <a:xfrm>
            <a:off x="7057618" y="4078527"/>
            <a:ext cx="276225" cy="247650"/>
          </a:xfrm>
          <a:prstGeom prst="rect">
            <a:avLst/>
          </a:prstGeom>
          <a:solidFill>
            <a:srgbClr val="B6A5DD"/>
          </a:solidFill>
          <a:ln w="9525">
            <a:solidFill>
              <a:srgbClr val="6E92C5"/>
            </a:solidFill>
          </a:ln>
        </p:spPr>
      </p:sp>
      <p:sp>
        <p:nvSpPr>
          <p:cNvPr id="171" name="p1-o169">
            <a:extLst>
              <a:ext uri="{FF2B5EF4-FFF2-40B4-BE49-F238E27FC236}">
                <a16:creationId xmlns:a16="http://schemas.microsoft.com/office/drawing/2014/main" id="{5A2A4327-18A6-4E55-8D9B-F545FCE36AB1}"/>
              </a:ext>
            </a:extLst>
          </p:cNvPr>
          <p:cNvSpPr>
            <a:spLocks noGrp="1"/>
          </p:cNvSpPr>
          <p:nvPr/>
        </p:nvSpPr>
        <p:spPr>
          <a:xfrm>
            <a:off x="7057618" y="4002327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B6A5DD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72" name="p1-o170">
            <a:extLst>
              <a:ext uri="{FF2B5EF4-FFF2-40B4-BE49-F238E27FC236}">
                <a16:creationId xmlns:a16="http://schemas.microsoft.com/office/drawing/2014/main" id="{9BD05B28-765B-4C4B-B6CA-77CE397B2B6E}"/>
              </a:ext>
            </a:extLst>
          </p:cNvPr>
          <p:cNvSpPr>
            <a:spLocks noGrp="1"/>
          </p:cNvSpPr>
          <p:nvPr/>
        </p:nvSpPr>
        <p:spPr>
          <a:xfrm>
            <a:off x="7333843" y="4002327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B6A5DD"/>
          </a:solidFill>
          <a:ln w="9525">
            <a:solidFill>
              <a:srgbClr val="6E92C5"/>
            </a:solidFill>
          </a:ln>
        </p:spPr>
      </p:sp>
      <p:sp>
        <p:nvSpPr>
          <p:cNvPr id="173" name="p1-o171">
            <a:extLst>
              <a:ext uri="{FF2B5EF4-FFF2-40B4-BE49-F238E27FC236}">
                <a16:creationId xmlns:a16="http://schemas.microsoft.com/office/drawing/2014/main" id="{B70A626A-2432-4284-AC8A-C8BE589F7569}"/>
              </a:ext>
            </a:extLst>
          </p:cNvPr>
          <p:cNvSpPr>
            <a:spLocks noGrp="1"/>
          </p:cNvSpPr>
          <p:nvPr/>
        </p:nvSpPr>
        <p:spPr>
          <a:xfrm>
            <a:off x="4962118" y="3697527"/>
            <a:ext cx="276225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⋮</a:t>
            </a:r>
          </a:p>
        </p:txBody>
      </p:sp>
      <p:sp>
        <p:nvSpPr>
          <p:cNvPr id="174" name="p1-o172">
            <a:extLst>
              <a:ext uri="{FF2B5EF4-FFF2-40B4-BE49-F238E27FC236}">
                <a16:creationId xmlns:a16="http://schemas.microsoft.com/office/drawing/2014/main" id="{3C58E084-86EF-40F4-AF2E-D6F8BC52C6DD}"/>
              </a:ext>
            </a:extLst>
          </p:cNvPr>
          <p:cNvSpPr>
            <a:spLocks noGrp="1"/>
          </p:cNvSpPr>
          <p:nvPr/>
        </p:nvSpPr>
        <p:spPr>
          <a:xfrm>
            <a:off x="6324193" y="3716577"/>
            <a:ext cx="466725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14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14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…</a:t>
            </a:r>
          </a:p>
        </p:txBody>
      </p:sp>
      <p:sp>
        <p:nvSpPr>
          <p:cNvPr id="175" name="p1-o173">
            <a:extLst>
              <a:ext uri="{FF2B5EF4-FFF2-40B4-BE49-F238E27FC236}">
                <a16:creationId xmlns:a16="http://schemas.microsoft.com/office/drawing/2014/main" id="{643CF54C-475C-4F76-9311-DDDA66F20EC0}"/>
              </a:ext>
            </a:extLst>
          </p:cNvPr>
          <p:cNvSpPr>
            <a:spLocks noGrp="1"/>
          </p:cNvSpPr>
          <p:nvPr/>
        </p:nvSpPr>
        <p:spPr>
          <a:xfrm>
            <a:off x="7768634" y="2158625"/>
            <a:ext cx="1085850" cy="2524125"/>
          </a:xfrm>
          <a:prstGeom prst="roundRect">
            <a:avLst>
              <a:gd name="adj" fmla="val 5263"/>
            </a:avLst>
          </a:prstGeom>
          <a:solidFill>
            <a:srgbClr val="FFF8F9"/>
          </a:solidFill>
          <a:ln w="9525">
            <a:solidFill>
              <a:srgbClr val="EFCCD3"/>
            </a:solidFill>
          </a:ln>
        </p:spPr>
      </p:sp>
      <p:sp>
        <p:nvSpPr>
          <p:cNvPr id="176" name="p1-o174">
            <a:extLst>
              <a:ext uri="{FF2B5EF4-FFF2-40B4-BE49-F238E27FC236}">
                <a16:creationId xmlns:a16="http://schemas.microsoft.com/office/drawing/2014/main" id="{C7F65515-1B0B-4BFB-8F34-3F149657CC0B}"/>
              </a:ext>
            </a:extLst>
          </p:cNvPr>
          <p:cNvSpPr>
            <a:spLocks noGrp="1"/>
          </p:cNvSpPr>
          <p:nvPr/>
        </p:nvSpPr>
        <p:spPr>
          <a:xfrm>
            <a:off x="7835309" y="2187200"/>
            <a:ext cx="952500" cy="2466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endParaRPr/>
          </a:p>
        </p:txBody>
      </p:sp>
      <p:sp>
        <p:nvSpPr>
          <p:cNvPr id="177" name="p1-o175">
            <a:extLst>
              <a:ext uri="{FF2B5EF4-FFF2-40B4-BE49-F238E27FC236}">
                <a16:creationId xmlns:a16="http://schemas.microsoft.com/office/drawing/2014/main" id="{8C699DB8-FE85-4E11-99C9-0B24645EC793}"/>
              </a:ext>
            </a:extLst>
          </p:cNvPr>
          <p:cNvSpPr>
            <a:spLocks noGrp="1"/>
          </p:cNvSpPr>
          <p:nvPr/>
        </p:nvSpPr>
        <p:spPr>
          <a:xfrm>
            <a:off x="7844834" y="2244350"/>
            <a:ext cx="9334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12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恢复 Block 0</a:t>
            </a:r>
          </a:p>
          <a:p>
            <a:pPr algn="ctr">
              <a:defRPr sz="112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只需连续读取</a:t>
            </a:r>
          </a:p>
        </p:txBody>
      </p:sp>
      <p:sp>
        <p:nvSpPr>
          <p:cNvPr id="178" name="p1-o176">
            <a:extLst>
              <a:ext uri="{FF2B5EF4-FFF2-40B4-BE49-F238E27FC236}">
                <a16:creationId xmlns:a16="http://schemas.microsoft.com/office/drawing/2014/main" id="{EC3C1966-42C1-474E-A36C-88E66D427452}"/>
              </a:ext>
            </a:extLst>
          </p:cNvPr>
          <p:cNvSpPr>
            <a:spLocks noGrp="1"/>
          </p:cNvSpPr>
          <p:nvPr/>
        </p:nvSpPr>
        <p:spPr>
          <a:xfrm>
            <a:off x="7978184" y="2749175"/>
            <a:ext cx="676275" cy="228600"/>
          </a:xfrm>
          <a:prstGeom prst="roundRect">
            <a:avLst>
              <a:gd name="adj" fmla="val 25000"/>
            </a:avLst>
          </a:prstGeom>
          <a:solidFill>
            <a:srgbClr val="91B3E8"/>
          </a:solidFill>
          <a:ln w="9525">
            <a:solidFill>
              <a:srgbClr val="ABC0DF"/>
            </a:solidFill>
          </a:ln>
        </p:spPr>
      </p:sp>
      <p:sp>
        <p:nvSpPr>
          <p:cNvPr id="179" name="p1-o177">
            <a:extLst>
              <a:ext uri="{FF2B5EF4-FFF2-40B4-BE49-F238E27FC236}">
                <a16:creationId xmlns:a16="http://schemas.microsoft.com/office/drawing/2014/main" id="{6BBAA1BD-C3FA-401C-AFD2-03BA5A7CCE4C}"/>
              </a:ext>
            </a:extLst>
          </p:cNvPr>
          <p:cNvSpPr>
            <a:spLocks noGrp="1"/>
          </p:cNvSpPr>
          <p:nvPr/>
        </p:nvSpPr>
        <p:spPr>
          <a:xfrm>
            <a:off x="8044859" y="2777750"/>
            <a:ext cx="542925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7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L0</a:t>
            </a:r>
          </a:p>
        </p:txBody>
      </p:sp>
      <p:sp>
        <p:nvSpPr>
          <p:cNvPr id="180" name="p1-o178">
            <a:extLst>
              <a:ext uri="{FF2B5EF4-FFF2-40B4-BE49-F238E27FC236}">
                <a16:creationId xmlns:a16="http://schemas.microsoft.com/office/drawing/2014/main" id="{702486F7-CD8D-4BB3-8F71-708299E8CB14}"/>
              </a:ext>
            </a:extLst>
          </p:cNvPr>
          <p:cNvSpPr>
            <a:spLocks noGrp="1"/>
          </p:cNvSpPr>
          <p:nvPr/>
        </p:nvSpPr>
        <p:spPr>
          <a:xfrm>
            <a:off x="7978184" y="3034925"/>
            <a:ext cx="676275" cy="228600"/>
          </a:xfrm>
          <a:prstGeom prst="roundRect">
            <a:avLst>
              <a:gd name="adj" fmla="val 25000"/>
            </a:avLst>
          </a:prstGeom>
          <a:solidFill>
            <a:srgbClr val="E8B0BD"/>
          </a:solidFill>
          <a:ln w="9525">
            <a:solidFill>
              <a:srgbClr val="ABC0DF"/>
            </a:solidFill>
          </a:ln>
        </p:spPr>
      </p:sp>
      <p:sp>
        <p:nvSpPr>
          <p:cNvPr id="181" name="p1-o179">
            <a:extLst>
              <a:ext uri="{FF2B5EF4-FFF2-40B4-BE49-F238E27FC236}">
                <a16:creationId xmlns:a16="http://schemas.microsoft.com/office/drawing/2014/main" id="{D3EA3C31-6B2D-4E35-8601-A4F6962A3A6F}"/>
              </a:ext>
            </a:extLst>
          </p:cNvPr>
          <p:cNvSpPr>
            <a:spLocks noGrp="1"/>
          </p:cNvSpPr>
          <p:nvPr/>
        </p:nvSpPr>
        <p:spPr>
          <a:xfrm>
            <a:off x="8044859" y="3063500"/>
            <a:ext cx="542925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7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L1</a:t>
            </a:r>
          </a:p>
        </p:txBody>
      </p:sp>
      <p:sp>
        <p:nvSpPr>
          <p:cNvPr id="182" name="p1-o180">
            <a:extLst>
              <a:ext uri="{FF2B5EF4-FFF2-40B4-BE49-F238E27FC236}">
                <a16:creationId xmlns:a16="http://schemas.microsoft.com/office/drawing/2014/main" id="{5CE9D316-3DE5-4749-804A-F48D187EDCE3}"/>
              </a:ext>
            </a:extLst>
          </p:cNvPr>
          <p:cNvSpPr>
            <a:spLocks noGrp="1"/>
          </p:cNvSpPr>
          <p:nvPr/>
        </p:nvSpPr>
        <p:spPr>
          <a:xfrm>
            <a:off x="7978184" y="3320675"/>
            <a:ext cx="676275" cy="228600"/>
          </a:xfrm>
          <a:prstGeom prst="roundRect">
            <a:avLst>
              <a:gd name="adj" fmla="val 25000"/>
            </a:avLst>
          </a:prstGeom>
          <a:solidFill>
            <a:srgbClr val="F4DBA6"/>
          </a:solidFill>
          <a:ln w="9525">
            <a:solidFill>
              <a:srgbClr val="ABC0DF"/>
            </a:solidFill>
          </a:ln>
        </p:spPr>
      </p:sp>
      <p:sp>
        <p:nvSpPr>
          <p:cNvPr id="183" name="p1-o181">
            <a:extLst>
              <a:ext uri="{FF2B5EF4-FFF2-40B4-BE49-F238E27FC236}">
                <a16:creationId xmlns:a16="http://schemas.microsoft.com/office/drawing/2014/main" id="{2227547C-BA1A-41C4-AE58-007C2A19AC63}"/>
              </a:ext>
            </a:extLst>
          </p:cNvPr>
          <p:cNvSpPr>
            <a:spLocks noGrp="1"/>
          </p:cNvSpPr>
          <p:nvPr/>
        </p:nvSpPr>
        <p:spPr>
          <a:xfrm>
            <a:off x="8044859" y="3349250"/>
            <a:ext cx="542925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7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L2</a:t>
            </a:r>
          </a:p>
        </p:txBody>
      </p:sp>
      <p:sp>
        <p:nvSpPr>
          <p:cNvPr id="184" name="p1-o182">
            <a:extLst>
              <a:ext uri="{FF2B5EF4-FFF2-40B4-BE49-F238E27FC236}">
                <a16:creationId xmlns:a16="http://schemas.microsoft.com/office/drawing/2014/main" id="{B7700855-F722-451B-867A-3D0C6AAF0CE5}"/>
              </a:ext>
            </a:extLst>
          </p:cNvPr>
          <p:cNvSpPr>
            <a:spLocks noGrp="1"/>
          </p:cNvSpPr>
          <p:nvPr/>
        </p:nvSpPr>
        <p:spPr>
          <a:xfrm>
            <a:off x="7978184" y="3606425"/>
            <a:ext cx="676275" cy="228600"/>
          </a:xfrm>
          <a:prstGeom prst="roundRect">
            <a:avLst>
              <a:gd name="adj" fmla="val 25000"/>
            </a:avLst>
          </a:prstGeom>
          <a:solidFill>
            <a:srgbClr val="9BD3BC"/>
          </a:solidFill>
          <a:ln w="9525">
            <a:solidFill>
              <a:srgbClr val="ABC0DF"/>
            </a:solidFill>
          </a:ln>
        </p:spPr>
      </p:sp>
      <p:sp>
        <p:nvSpPr>
          <p:cNvPr id="185" name="p1-o183">
            <a:extLst>
              <a:ext uri="{FF2B5EF4-FFF2-40B4-BE49-F238E27FC236}">
                <a16:creationId xmlns:a16="http://schemas.microsoft.com/office/drawing/2014/main" id="{6B9E0A08-13DA-406B-B1AB-C32277822461}"/>
              </a:ext>
            </a:extLst>
          </p:cNvPr>
          <p:cNvSpPr>
            <a:spLocks noGrp="1"/>
          </p:cNvSpPr>
          <p:nvPr/>
        </p:nvSpPr>
        <p:spPr>
          <a:xfrm>
            <a:off x="8044859" y="3635000"/>
            <a:ext cx="542925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7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…</a:t>
            </a:r>
          </a:p>
        </p:txBody>
      </p:sp>
      <p:sp>
        <p:nvSpPr>
          <p:cNvPr id="186" name="p1-o184">
            <a:extLst>
              <a:ext uri="{FF2B5EF4-FFF2-40B4-BE49-F238E27FC236}">
                <a16:creationId xmlns:a16="http://schemas.microsoft.com/office/drawing/2014/main" id="{D93DB4F5-8DE4-4A03-9B28-7DD14DB068F0}"/>
              </a:ext>
            </a:extLst>
          </p:cNvPr>
          <p:cNvSpPr>
            <a:spLocks noGrp="1"/>
          </p:cNvSpPr>
          <p:nvPr/>
        </p:nvSpPr>
        <p:spPr>
          <a:xfrm>
            <a:off x="7978184" y="3892175"/>
            <a:ext cx="676275" cy="228600"/>
          </a:xfrm>
          <a:prstGeom prst="roundRect">
            <a:avLst>
              <a:gd name="adj" fmla="val 25000"/>
            </a:avLst>
          </a:prstGeom>
          <a:solidFill>
            <a:srgbClr val="B6A5DD"/>
          </a:solidFill>
          <a:ln w="9525">
            <a:solidFill>
              <a:srgbClr val="ABC0DF"/>
            </a:solidFill>
          </a:ln>
        </p:spPr>
      </p:sp>
      <p:sp>
        <p:nvSpPr>
          <p:cNvPr id="187" name="p1-o185">
            <a:extLst>
              <a:ext uri="{FF2B5EF4-FFF2-40B4-BE49-F238E27FC236}">
                <a16:creationId xmlns:a16="http://schemas.microsoft.com/office/drawing/2014/main" id="{808D2724-A210-4A60-9C1A-4F95154BD4AA}"/>
              </a:ext>
            </a:extLst>
          </p:cNvPr>
          <p:cNvSpPr>
            <a:spLocks noGrp="1"/>
          </p:cNvSpPr>
          <p:nvPr/>
        </p:nvSpPr>
        <p:spPr>
          <a:xfrm>
            <a:off x="8044859" y="3920750"/>
            <a:ext cx="542925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7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L35</a:t>
            </a:r>
          </a:p>
        </p:txBody>
      </p:sp>
      <p:sp>
        <p:nvSpPr>
          <p:cNvPr id="188" name="p1-line186">
            <a:extLst>
              <a:ext uri="{FF2B5EF4-FFF2-40B4-BE49-F238E27FC236}">
                <a16:creationId xmlns:a16="http://schemas.microsoft.com/office/drawing/2014/main" id="{ECE90CA4-46F6-4E64-9A51-CDE94F3205B6}"/>
              </a:ext>
            </a:extLst>
          </p:cNvPr>
          <p:cNvSpPr>
            <a:spLocks noGrp="1"/>
          </p:cNvSpPr>
          <p:nvPr/>
        </p:nvSpPr>
        <p:spPr>
          <a:xfrm>
            <a:off x="7863884" y="2844425"/>
            <a:ext cx="9525" cy="1247775"/>
          </a:xfrm>
          <a:custGeom>
            <a:avLst/>
            <a:gdLst/>
            <a:ahLst/>
            <a:cxnLst/>
            <a:rect l="0" t="0" r="0" b="0"/>
            <a:pathLst>
              <a:path w="9525" h="1247775">
                <a:moveTo>
                  <a:pt x="0" y="0"/>
                </a:moveTo>
                <a:lnTo>
                  <a:pt x="0" y="1247775"/>
                </a:lnTo>
              </a:path>
            </a:pathLst>
          </a:custGeom>
          <a:noFill/>
          <a:ln w="12383">
            <a:solidFill>
              <a:srgbClr val="DB0019"/>
            </a:solidFill>
            <a:prstDash val="solid"/>
          </a:ln>
        </p:spPr>
      </p:sp>
      <p:sp>
        <p:nvSpPr>
          <p:cNvPr id="189" name="p1-o187">
            <a:extLst>
              <a:ext uri="{FF2B5EF4-FFF2-40B4-BE49-F238E27FC236}">
                <a16:creationId xmlns:a16="http://schemas.microsoft.com/office/drawing/2014/main" id="{0FED93B7-C5B4-476A-9617-04B1CCB9954D}"/>
              </a:ext>
            </a:extLst>
          </p:cNvPr>
          <p:cNvSpPr>
            <a:spLocks noGrp="1"/>
          </p:cNvSpPr>
          <p:nvPr/>
        </p:nvSpPr>
        <p:spPr>
          <a:xfrm>
            <a:off x="7830547" y="4025525"/>
            <a:ext cx="66675" cy="66675"/>
          </a:xfrm>
          <a:custGeom>
            <a:avLst/>
            <a:gdLst/>
            <a:ahLst/>
            <a:cxnLst/>
            <a:rect l="0" t="0" r="0" b="0"/>
            <a:pathLst>
              <a:path w="66675" h="66675">
                <a:moveTo>
                  <a:pt x="33338" y="66675"/>
                </a:moveTo>
                <a:lnTo>
                  <a:pt x="66675" y="0"/>
                </a:lnTo>
                <a:lnTo>
                  <a:pt x="0" y="0"/>
                </a:lnTo>
                <a:close/>
              </a:path>
            </a:pathLst>
          </a:custGeom>
          <a:solidFill>
            <a:srgbClr val="DB0019"/>
          </a:solidFill>
          <a:ln w="9525">
            <a:noFill/>
          </a:ln>
        </p:spPr>
      </p:sp>
      <p:sp>
        <p:nvSpPr>
          <p:cNvPr id="190" name="p1-o188">
            <a:extLst>
              <a:ext uri="{FF2B5EF4-FFF2-40B4-BE49-F238E27FC236}">
                <a16:creationId xmlns:a16="http://schemas.microsoft.com/office/drawing/2014/main" id="{5087ECF4-946D-4C4B-9E1D-4DB2AABC7BA2}"/>
              </a:ext>
            </a:extLst>
          </p:cNvPr>
          <p:cNvSpPr>
            <a:spLocks noGrp="1"/>
          </p:cNvSpPr>
          <p:nvPr/>
        </p:nvSpPr>
        <p:spPr>
          <a:xfrm>
            <a:off x="7835309" y="4320800"/>
            <a:ext cx="9525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75" b="1">
                <a:solidFill>
                  <a:srgbClr val="DB0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B0019"/>
                </a:solidFill>
                <a:latin typeface="Microsoft YaHei"/>
                <a:ea typeface="Microsoft YaHei"/>
                <a:cs typeface="Microsoft YaHei"/>
              </a:rPr>
              <a:t>一次传输</a:t>
            </a:r>
          </a:p>
        </p:txBody>
      </p:sp>
      <p:sp>
        <p:nvSpPr>
          <p:cNvPr id="193" name="p1-o191">
            <a:extLst>
              <a:ext uri="{FF2B5EF4-FFF2-40B4-BE49-F238E27FC236}">
                <a16:creationId xmlns:a16="http://schemas.microsoft.com/office/drawing/2014/main" id="{5FF42957-A542-47CF-9EC8-8C4398822989}"/>
              </a:ext>
            </a:extLst>
          </p:cNvPr>
          <p:cNvSpPr>
            <a:spLocks noGrp="1"/>
          </p:cNvSpPr>
          <p:nvPr/>
        </p:nvSpPr>
        <p:spPr>
          <a:xfrm>
            <a:off x="1410995" y="4990350"/>
            <a:ext cx="229552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25" b="0">
                <a:solidFill>
                  <a:srgbClr val="4C6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按 Layer </a:t>
            </a:r>
            <a:r>
              <a:rPr sz="1200" b="1" dirty="0" err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分散，访问</a:t>
            </a:r>
            <a:r>
              <a:rPr sz="1200" b="1" dirty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 stride </a:t>
            </a:r>
            <a:r>
              <a:rPr sz="1200" b="1" dirty="0" smtClean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大</a:t>
            </a:r>
            <a:endParaRPr lang="en-US" sz="1200" b="1" dirty="0" smtClean="0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125" b="0">
                <a:solidFill>
                  <a:srgbClr val="4C6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1" dirty="0" smtClean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MLU</a:t>
            </a:r>
            <a:r>
              <a:rPr lang="zh-CN" altLang="en-US" sz="1200" b="1" dirty="0" smtClean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与</a:t>
            </a:r>
            <a:r>
              <a:rPr lang="en-US" altLang="zh-CN" sz="1200" b="1" dirty="0" err="1" smtClean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cpu</a:t>
            </a:r>
            <a:r>
              <a:rPr lang="zh-CN" altLang="en-US" sz="1200" b="1" dirty="0" smtClean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拷贝数据慢</a:t>
            </a:r>
            <a:endParaRPr sz="1200" b="1" dirty="0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4" name="p1-o192">
            <a:extLst>
              <a:ext uri="{FF2B5EF4-FFF2-40B4-BE49-F238E27FC236}">
                <a16:creationId xmlns:a16="http://schemas.microsoft.com/office/drawing/2014/main" id="{86C2F083-B522-48A6-92BB-91F80DCEBF65}"/>
              </a:ext>
            </a:extLst>
          </p:cNvPr>
          <p:cNvSpPr>
            <a:spLocks noGrp="1"/>
          </p:cNvSpPr>
          <p:nvPr/>
        </p:nvSpPr>
        <p:spPr>
          <a:xfrm>
            <a:off x="4843463" y="4968500"/>
            <a:ext cx="263842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25" b="0">
                <a:solidFill>
                  <a:srgbClr val="4C6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按</a:t>
            </a:r>
            <a:r>
              <a:rPr sz="1125" b="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1" dirty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Block</a:t>
            </a:r>
            <a:r>
              <a:rPr sz="1125" b="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1" dirty="0" err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聚合</a:t>
            </a:r>
            <a:r>
              <a:rPr sz="1125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200" b="1" dirty="0" err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跨层</a:t>
            </a:r>
            <a:r>
              <a:rPr sz="1125" b="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1" dirty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KV</a:t>
            </a:r>
            <a:r>
              <a:rPr sz="1125" b="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1" dirty="0" err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连续</a:t>
            </a:r>
            <a:endParaRPr sz="1200" b="1" dirty="0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5" name="p1-o193">
            <a:extLst>
              <a:ext uri="{FF2B5EF4-FFF2-40B4-BE49-F238E27FC236}">
                <a16:creationId xmlns:a16="http://schemas.microsoft.com/office/drawing/2014/main" id="{B8E62A80-6C0F-4691-B25F-CE0DAF988275}"/>
              </a:ext>
            </a:extLst>
          </p:cNvPr>
          <p:cNvSpPr>
            <a:spLocks noGrp="1"/>
          </p:cNvSpPr>
          <p:nvPr/>
        </p:nvSpPr>
        <p:spPr>
          <a:xfrm>
            <a:off x="602043" y="5494005"/>
            <a:ext cx="85534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>
                <a:solidFill>
                  <a:srgbClr val="DB0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搬运性能提升（4096 tokens）</a:t>
            </a:r>
          </a:p>
        </p:txBody>
      </p:sp>
      <p:sp>
        <p:nvSpPr>
          <p:cNvPr id="197" name="p1-o195">
            <a:extLst>
              <a:ext uri="{FF2B5EF4-FFF2-40B4-BE49-F238E27FC236}">
                <a16:creationId xmlns:a16="http://schemas.microsoft.com/office/drawing/2014/main" id="{152B28C0-1370-442B-92CD-0115F80D5B74}"/>
              </a:ext>
            </a:extLst>
          </p:cNvPr>
          <p:cNvSpPr>
            <a:spLocks noGrp="1"/>
          </p:cNvSpPr>
          <p:nvPr/>
        </p:nvSpPr>
        <p:spPr>
          <a:xfrm>
            <a:off x="347663" y="5873375"/>
            <a:ext cx="4029075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Store：307.8 ms → 19.3 ms  （16.0×）</a:t>
            </a:r>
          </a:p>
        </p:txBody>
      </p:sp>
      <p:sp>
        <p:nvSpPr>
          <p:cNvPr id="199" name="p1-o197">
            <a:extLst>
              <a:ext uri="{FF2B5EF4-FFF2-40B4-BE49-F238E27FC236}">
                <a16:creationId xmlns:a16="http://schemas.microsoft.com/office/drawing/2014/main" id="{C0209499-6D15-4BBA-AA95-330B152BB7C5}"/>
              </a:ext>
            </a:extLst>
          </p:cNvPr>
          <p:cNvSpPr>
            <a:spLocks noGrp="1"/>
          </p:cNvSpPr>
          <p:nvPr/>
        </p:nvSpPr>
        <p:spPr>
          <a:xfrm>
            <a:off x="4776788" y="5873375"/>
            <a:ext cx="4029075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Load：398.7 ms → 29.8 ms  （13.4×）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</a:t>
            </a:r>
            <a:r>
              <a:rPr lang="zh-CN" altLang="en-US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任务一</a:t>
            </a:r>
            <a:r>
              <a:rPr sz="1950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lu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平台算子优化与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vllm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510903" y="6597079"/>
            <a:ext cx="6589489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Hong, D. B.; Imani, A.; Ahmed, I. “From Anatomy to Smells: An Empirical Study of SKILL.md in Agent Skills.” arXiv:2607.01456, 2026.</a:t>
            </a:r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7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2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vllm</a:t>
            </a:r>
            <a:r>
              <a:rPr lang="zh-CN" altLang="en-US" sz="21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优化：传输优化</a:t>
            </a:r>
            <a:endParaRPr lang="zh-CN" altLang="en-US" sz="2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p2-o13">
            <a:extLst>
              <a:ext uri="{FF2B5EF4-FFF2-40B4-BE49-F238E27FC236}">
                <a16:creationId xmlns:a16="http://schemas.microsoft.com/office/drawing/2014/main" id="{574AFAF5-803A-48DC-8075-E7572422E98F}"/>
              </a:ext>
            </a:extLst>
          </p:cNvPr>
          <p:cNvSpPr>
            <a:spLocks noGrp="1"/>
          </p:cNvSpPr>
          <p:nvPr/>
        </p:nvSpPr>
        <p:spPr>
          <a:xfrm>
            <a:off x="537807" y="2265788"/>
            <a:ext cx="9525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7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请求 A</a:t>
            </a:r>
          </a:p>
        </p:txBody>
      </p:sp>
      <p:sp>
        <p:nvSpPr>
          <p:cNvPr id="103" name="p2-o14">
            <a:extLst>
              <a:ext uri="{FF2B5EF4-FFF2-40B4-BE49-F238E27FC236}">
                <a16:creationId xmlns:a16="http://schemas.microsoft.com/office/drawing/2014/main" id="{8BD59702-EC7F-40F1-8064-A6648D4E05AF}"/>
              </a:ext>
            </a:extLst>
          </p:cNvPr>
          <p:cNvSpPr>
            <a:spLocks noGrp="1"/>
          </p:cNvSpPr>
          <p:nvPr/>
        </p:nvSpPr>
        <p:spPr>
          <a:xfrm>
            <a:off x="537807" y="2580113"/>
            <a:ext cx="952500" cy="438150"/>
          </a:xfrm>
          <a:prstGeom prst="roundRect">
            <a:avLst>
              <a:gd name="adj" fmla="val 13043"/>
            </a:avLst>
          </a:prstGeom>
          <a:solidFill>
            <a:srgbClr val="EAF4FF"/>
          </a:solidFill>
          <a:ln w="9525">
            <a:solidFill>
              <a:srgbClr val="B5D4FC"/>
            </a:solidFill>
          </a:ln>
        </p:spPr>
      </p:sp>
      <p:sp>
        <p:nvSpPr>
          <p:cNvPr id="104" name="p2-o15">
            <a:extLst>
              <a:ext uri="{FF2B5EF4-FFF2-40B4-BE49-F238E27FC236}">
                <a16:creationId xmlns:a16="http://schemas.microsoft.com/office/drawing/2014/main" id="{876E202C-FF13-480B-AD30-2F6A39C3D000}"/>
              </a:ext>
            </a:extLst>
          </p:cNvPr>
          <p:cNvSpPr>
            <a:spLocks noGrp="1"/>
          </p:cNvSpPr>
          <p:nvPr/>
        </p:nvSpPr>
        <p:spPr>
          <a:xfrm>
            <a:off x="604482" y="2608688"/>
            <a:ext cx="8191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Prefix X</a:t>
            </a:r>
          </a:p>
        </p:txBody>
      </p:sp>
      <p:sp>
        <p:nvSpPr>
          <p:cNvPr id="105" name="p2-line16">
            <a:extLst>
              <a:ext uri="{FF2B5EF4-FFF2-40B4-BE49-F238E27FC236}">
                <a16:creationId xmlns:a16="http://schemas.microsoft.com/office/drawing/2014/main" id="{0C61B55D-83B3-4B69-883A-B20DBECACB83}"/>
              </a:ext>
            </a:extLst>
          </p:cNvPr>
          <p:cNvSpPr>
            <a:spLocks noGrp="1"/>
          </p:cNvSpPr>
          <p:nvPr/>
        </p:nvSpPr>
        <p:spPr>
          <a:xfrm>
            <a:off x="1014057" y="3027788"/>
            <a:ext cx="9525" cy="219075"/>
          </a:xfrm>
          <a:custGeom>
            <a:avLst/>
            <a:gdLst/>
            <a:ahLst/>
            <a:cxnLst/>
            <a:rect l="0" t="0" r="0" b="0"/>
            <a:pathLst>
              <a:path w="9525" h="219075">
                <a:moveTo>
                  <a:pt x="0" y="0"/>
                </a:moveTo>
                <a:lnTo>
                  <a:pt x="0" y="219075"/>
                </a:lnTo>
              </a:path>
            </a:pathLst>
          </a:custGeom>
          <a:noFill/>
          <a:ln w="14288">
            <a:solidFill>
              <a:srgbClr val="0B2344"/>
            </a:solidFill>
            <a:prstDash val="solid"/>
          </a:ln>
        </p:spPr>
      </p:sp>
      <p:sp>
        <p:nvSpPr>
          <p:cNvPr id="106" name="p2-o17">
            <a:extLst>
              <a:ext uri="{FF2B5EF4-FFF2-40B4-BE49-F238E27FC236}">
                <a16:creationId xmlns:a16="http://schemas.microsoft.com/office/drawing/2014/main" id="{3AB397B3-0AD4-4EE3-AC01-00E41070A405}"/>
              </a:ext>
            </a:extLst>
          </p:cNvPr>
          <p:cNvSpPr>
            <a:spLocks noGrp="1"/>
          </p:cNvSpPr>
          <p:nvPr/>
        </p:nvSpPr>
        <p:spPr>
          <a:xfrm>
            <a:off x="1890357" y="2265788"/>
            <a:ext cx="9525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7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请求 B</a:t>
            </a:r>
          </a:p>
        </p:txBody>
      </p:sp>
      <p:sp>
        <p:nvSpPr>
          <p:cNvPr id="107" name="p2-o18">
            <a:extLst>
              <a:ext uri="{FF2B5EF4-FFF2-40B4-BE49-F238E27FC236}">
                <a16:creationId xmlns:a16="http://schemas.microsoft.com/office/drawing/2014/main" id="{0810015D-7224-4467-854D-99087B967067}"/>
              </a:ext>
            </a:extLst>
          </p:cNvPr>
          <p:cNvSpPr>
            <a:spLocks noGrp="1"/>
          </p:cNvSpPr>
          <p:nvPr/>
        </p:nvSpPr>
        <p:spPr>
          <a:xfrm>
            <a:off x="1890357" y="2580113"/>
            <a:ext cx="952500" cy="438150"/>
          </a:xfrm>
          <a:prstGeom prst="roundRect">
            <a:avLst>
              <a:gd name="adj" fmla="val 13043"/>
            </a:avLst>
          </a:prstGeom>
          <a:solidFill>
            <a:srgbClr val="EAF4FF"/>
          </a:solidFill>
          <a:ln w="9525">
            <a:solidFill>
              <a:srgbClr val="B5D4FC"/>
            </a:solidFill>
          </a:ln>
        </p:spPr>
      </p:sp>
      <p:sp>
        <p:nvSpPr>
          <p:cNvPr id="108" name="p2-o19">
            <a:extLst>
              <a:ext uri="{FF2B5EF4-FFF2-40B4-BE49-F238E27FC236}">
                <a16:creationId xmlns:a16="http://schemas.microsoft.com/office/drawing/2014/main" id="{2F0946A1-8A6A-4951-A4C1-FBB3E1DA9734}"/>
              </a:ext>
            </a:extLst>
          </p:cNvPr>
          <p:cNvSpPr>
            <a:spLocks noGrp="1"/>
          </p:cNvSpPr>
          <p:nvPr/>
        </p:nvSpPr>
        <p:spPr>
          <a:xfrm>
            <a:off x="1957032" y="2608688"/>
            <a:ext cx="8191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Prefix X</a:t>
            </a:r>
          </a:p>
        </p:txBody>
      </p:sp>
      <p:sp>
        <p:nvSpPr>
          <p:cNvPr id="109" name="p2-line20">
            <a:extLst>
              <a:ext uri="{FF2B5EF4-FFF2-40B4-BE49-F238E27FC236}">
                <a16:creationId xmlns:a16="http://schemas.microsoft.com/office/drawing/2014/main" id="{FBC3491B-1141-49CC-9C75-5EEFBD00FE63}"/>
              </a:ext>
            </a:extLst>
          </p:cNvPr>
          <p:cNvSpPr>
            <a:spLocks noGrp="1"/>
          </p:cNvSpPr>
          <p:nvPr/>
        </p:nvSpPr>
        <p:spPr>
          <a:xfrm>
            <a:off x="2366607" y="3027788"/>
            <a:ext cx="9525" cy="219075"/>
          </a:xfrm>
          <a:custGeom>
            <a:avLst/>
            <a:gdLst/>
            <a:ahLst/>
            <a:cxnLst/>
            <a:rect l="0" t="0" r="0" b="0"/>
            <a:pathLst>
              <a:path w="9525" h="219075">
                <a:moveTo>
                  <a:pt x="0" y="0"/>
                </a:moveTo>
                <a:lnTo>
                  <a:pt x="0" y="219075"/>
                </a:lnTo>
              </a:path>
            </a:pathLst>
          </a:custGeom>
          <a:noFill/>
          <a:ln w="14288">
            <a:solidFill>
              <a:srgbClr val="0B2344"/>
            </a:solidFill>
            <a:prstDash val="solid"/>
          </a:ln>
        </p:spPr>
      </p:sp>
      <p:sp>
        <p:nvSpPr>
          <p:cNvPr id="110" name="p2-o21">
            <a:extLst>
              <a:ext uri="{FF2B5EF4-FFF2-40B4-BE49-F238E27FC236}">
                <a16:creationId xmlns:a16="http://schemas.microsoft.com/office/drawing/2014/main" id="{FC5A3B77-DF4A-42DD-9294-295501BE046A}"/>
              </a:ext>
            </a:extLst>
          </p:cNvPr>
          <p:cNvSpPr>
            <a:spLocks noGrp="1"/>
          </p:cNvSpPr>
          <p:nvPr/>
        </p:nvSpPr>
        <p:spPr>
          <a:xfrm>
            <a:off x="3242907" y="2265788"/>
            <a:ext cx="9525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7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请求 C</a:t>
            </a:r>
          </a:p>
        </p:txBody>
      </p:sp>
      <p:sp>
        <p:nvSpPr>
          <p:cNvPr id="111" name="p2-o22">
            <a:extLst>
              <a:ext uri="{FF2B5EF4-FFF2-40B4-BE49-F238E27FC236}">
                <a16:creationId xmlns:a16="http://schemas.microsoft.com/office/drawing/2014/main" id="{8B4B8C14-79CC-4BF6-A5E7-EBDB7F3E22D2}"/>
              </a:ext>
            </a:extLst>
          </p:cNvPr>
          <p:cNvSpPr>
            <a:spLocks noGrp="1"/>
          </p:cNvSpPr>
          <p:nvPr/>
        </p:nvSpPr>
        <p:spPr>
          <a:xfrm>
            <a:off x="3242907" y="2580113"/>
            <a:ext cx="952500" cy="438150"/>
          </a:xfrm>
          <a:prstGeom prst="roundRect">
            <a:avLst>
              <a:gd name="adj" fmla="val 13043"/>
            </a:avLst>
          </a:prstGeom>
          <a:solidFill>
            <a:srgbClr val="EAF4FF"/>
          </a:solidFill>
          <a:ln w="9525">
            <a:solidFill>
              <a:srgbClr val="B5D4FC"/>
            </a:solidFill>
          </a:ln>
        </p:spPr>
      </p:sp>
      <p:sp>
        <p:nvSpPr>
          <p:cNvPr id="112" name="p2-o23">
            <a:extLst>
              <a:ext uri="{FF2B5EF4-FFF2-40B4-BE49-F238E27FC236}">
                <a16:creationId xmlns:a16="http://schemas.microsoft.com/office/drawing/2014/main" id="{885E5B92-0C56-4C7A-BF32-9DDA5EA6C2F6}"/>
              </a:ext>
            </a:extLst>
          </p:cNvPr>
          <p:cNvSpPr>
            <a:spLocks noGrp="1"/>
          </p:cNvSpPr>
          <p:nvPr/>
        </p:nvSpPr>
        <p:spPr>
          <a:xfrm>
            <a:off x="3309582" y="2608688"/>
            <a:ext cx="8191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Prefix X</a:t>
            </a:r>
          </a:p>
        </p:txBody>
      </p:sp>
      <p:sp>
        <p:nvSpPr>
          <p:cNvPr id="113" name="p2-line24">
            <a:extLst>
              <a:ext uri="{FF2B5EF4-FFF2-40B4-BE49-F238E27FC236}">
                <a16:creationId xmlns:a16="http://schemas.microsoft.com/office/drawing/2014/main" id="{87588044-C0DB-4BAC-A5A3-E4BA7F2228AC}"/>
              </a:ext>
            </a:extLst>
          </p:cNvPr>
          <p:cNvSpPr>
            <a:spLocks noGrp="1"/>
          </p:cNvSpPr>
          <p:nvPr/>
        </p:nvSpPr>
        <p:spPr>
          <a:xfrm>
            <a:off x="3719157" y="3027788"/>
            <a:ext cx="9525" cy="219075"/>
          </a:xfrm>
          <a:custGeom>
            <a:avLst/>
            <a:gdLst/>
            <a:ahLst/>
            <a:cxnLst/>
            <a:rect l="0" t="0" r="0" b="0"/>
            <a:pathLst>
              <a:path w="9525" h="219075">
                <a:moveTo>
                  <a:pt x="0" y="0"/>
                </a:moveTo>
                <a:lnTo>
                  <a:pt x="0" y="219075"/>
                </a:lnTo>
              </a:path>
            </a:pathLst>
          </a:custGeom>
          <a:noFill/>
          <a:ln w="14288">
            <a:solidFill>
              <a:srgbClr val="0B2344"/>
            </a:solidFill>
            <a:prstDash val="solid"/>
          </a:ln>
        </p:spPr>
      </p:sp>
      <p:sp>
        <p:nvSpPr>
          <p:cNvPr id="114" name="p2-line25">
            <a:extLst>
              <a:ext uri="{FF2B5EF4-FFF2-40B4-BE49-F238E27FC236}">
                <a16:creationId xmlns:a16="http://schemas.microsoft.com/office/drawing/2014/main" id="{72831835-07F3-4989-B8E7-AE13AA416B35}"/>
              </a:ext>
            </a:extLst>
          </p:cNvPr>
          <p:cNvSpPr>
            <a:spLocks noGrp="1"/>
          </p:cNvSpPr>
          <p:nvPr/>
        </p:nvSpPr>
        <p:spPr>
          <a:xfrm>
            <a:off x="1014057" y="3246863"/>
            <a:ext cx="2705100" cy="9525"/>
          </a:xfrm>
          <a:custGeom>
            <a:avLst/>
            <a:gdLst/>
            <a:ahLst/>
            <a:cxnLst/>
            <a:rect l="0" t="0" r="0" b="0"/>
            <a:pathLst>
              <a:path w="2705100" h="9525">
                <a:moveTo>
                  <a:pt x="0" y="0"/>
                </a:moveTo>
                <a:lnTo>
                  <a:pt x="2705100" y="0"/>
                </a:lnTo>
              </a:path>
            </a:pathLst>
          </a:custGeom>
          <a:noFill/>
          <a:ln w="14288">
            <a:solidFill>
              <a:srgbClr val="0B2344"/>
            </a:solidFill>
            <a:prstDash val="solid"/>
          </a:ln>
        </p:spPr>
      </p:sp>
      <p:sp>
        <p:nvSpPr>
          <p:cNvPr id="115" name="p2-line26">
            <a:extLst>
              <a:ext uri="{FF2B5EF4-FFF2-40B4-BE49-F238E27FC236}">
                <a16:creationId xmlns:a16="http://schemas.microsoft.com/office/drawing/2014/main" id="{7FE29B23-25AB-43B2-8F3A-5281B1581E38}"/>
              </a:ext>
            </a:extLst>
          </p:cNvPr>
          <p:cNvSpPr>
            <a:spLocks noGrp="1"/>
          </p:cNvSpPr>
          <p:nvPr/>
        </p:nvSpPr>
        <p:spPr>
          <a:xfrm>
            <a:off x="2376132" y="3246863"/>
            <a:ext cx="9525" cy="190500"/>
          </a:xfrm>
          <a:custGeom>
            <a:avLst/>
            <a:gdLst/>
            <a:ahLst/>
            <a:cxnLst/>
            <a:rect l="0" t="0" r="0" b="0"/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14288">
            <a:solidFill>
              <a:srgbClr val="0B2344"/>
            </a:solidFill>
            <a:prstDash val="solid"/>
          </a:ln>
        </p:spPr>
      </p:sp>
      <p:sp>
        <p:nvSpPr>
          <p:cNvPr id="116" name="p2-o27">
            <a:extLst>
              <a:ext uri="{FF2B5EF4-FFF2-40B4-BE49-F238E27FC236}">
                <a16:creationId xmlns:a16="http://schemas.microsoft.com/office/drawing/2014/main" id="{3EB0CC34-B0C7-4B67-A39A-28666D108F6D}"/>
              </a:ext>
            </a:extLst>
          </p:cNvPr>
          <p:cNvSpPr>
            <a:spLocks noGrp="1"/>
          </p:cNvSpPr>
          <p:nvPr/>
        </p:nvSpPr>
        <p:spPr>
          <a:xfrm>
            <a:off x="2342795" y="3370688"/>
            <a:ext cx="66675" cy="66675"/>
          </a:xfrm>
          <a:custGeom>
            <a:avLst/>
            <a:gdLst/>
            <a:ahLst/>
            <a:cxnLst/>
            <a:rect l="0" t="0" r="0" b="0"/>
            <a:pathLst>
              <a:path w="66675" h="66675">
                <a:moveTo>
                  <a:pt x="33338" y="66675"/>
                </a:moveTo>
                <a:lnTo>
                  <a:pt x="66675" y="0"/>
                </a:lnTo>
                <a:lnTo>
                  <a:pt x="0" y="0"/>
                </a:lnTo>
                <a:close/>
              </a:path>
            </a:pathLst>
          </a:custGeom>
          <a:solidFill>
            <a:srgbClr val="0B2344"/>
          </a:solidFill>
          <a:ln w="9525">
            <a:noFill/>
          </a:ln>
        </p:spPr>
      </p:sp>
      <p:sp>
        <p:nvSpPr>
          <p:cNvPr id="117" name="p2-o28">
            <a:extLst>
              <a:ext uri="{FF2B5EF4-FFF2-40B4-BE49-F238E27FC236}">
                <a16:creationId xmlns:a16="http://schemas.microsoft.com/office/drawing/2014/main" id="{7B3A2A48-343A-4624-8869-F9FA339AA2F2}"/>
              </a:ext>
            </a:extLst>
          </p:cNvPr>
          <p:cNvSpPr>
            <a:spLocks noGrp="1"/>
          </p:cNvSpPr>
          <p:nvPr/>
        </p:nvSpPr>
        <p:spPr>
          <a:xfrm>
            <a:off x="1337907" y="3456413"/>
            <a:ext cx="2076450" cy="466725"/>
          </a:xfrm>
          <a:prstGeom prst="roundRect">
            <a:avLst>
              <a:gd name="adj" fmla="val 9524"/>
            </a:avLst>
          </a:prstGeom>
          <a:solidFill>
            <a:srgbClr val="FFF0F3"/>
          </a:solidFill>
          <a:ln w="9525">
            <a:solidFill>
              <a:srgbClr val="F0B9C3"/>
            </a:solidFill>
          </a:ln>
        </p:spPr>
      </p:sp>
      <p:sp>
        <p:nvSpPr>
          <p:cNvPr id="118" name="p2-o29">
            <a:extLst>
              <a:ext uri="{FF2B5EF4-FFF2-40B4-BE49-F238E27FC236}">
                <a16:creationId xmlns:a16="http://schemas.microsoft.com/office/drawing/2014/main" id="{629AD605-0DF5-4B98-9ECB-6BFDB980373C}"/>
              </a:ext>
            </a:extLst>
          </p:cNvPr>
          <p:cNvSpPr>
            <a:spLocks noGrp="1"/>
          </p:cNvSpPr>
          <p:nvPr/>
        </p:nvSpPr>
        <p:spPr>
          <a:xfrm>
            <a:off x="1404582" y="3484989"/>
            <a:ext cx="19431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dirty="0" err="1" smtClean="0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去重合并</a:t>
            </a:r>
            <a:endParaRPr sz="1500" dirty="0">
              <a:solidFill>
                <a:srgbClr val="0B2344"/>
              </a:solidFill>
              <a:latin typeface="Times New Roman" panose="02020603050405020304" pitchFamily="18" charset="0"/>
              <a:ea typeface="Microsoft YaHei"/>
              <a:cs typeface="Times New Roman" panose="02020603050405020304" pitchFamily="18" charset="0"/>
            </a:endParaRPr>
          </a:p>
        </p:txBody>
      </p:sp>
      <p:sp>
        <p:nvSpPr>
          <p:cNvPr id="119" name="p2-line30">
            <a:extLst>
              <a:ext uri="{FF2B5EF4-FFF2-40B4-BE49-F238E27FC236}">
                <a16:creationId xmlns:a16="http://schemas.microsoft.com/office/drawing/2014/main" id="{823F0354-24CF-44BB-B778-27762FEDC554}"/>
              </a:ext>
            </a:extLst>
          </p:cNvPr>
          <p:cNvSpPr>
            <a:spLocks noGrp="1"/>
          </p:cNvSpPr>
          <p:nvPr/>
        </p:nvSpPr>
        <p:spPr>
          <a:xfrm>
            <a:off x="2376132" y="4066013"/>
            <a:ext cx="9525" cy="209550"/>
          </a:xfrm>
          <a:custGeom>
            <a:avLst/>
            <a:gdLst/>
            <a:ahLst/>
            <a:cxnLst/>
            <a:rect l="0" t="0" r="0" b="0"/>
            <a:pathLst>
              <a:path w="952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/>
          <a:ln w="19050">
            <a:solidFill>
              <a:srgbClr val="DB0019"/>
            </a:solidFill>
            <a:prstDash val="solid"/>
          </a:ln>
        </p:spPr>
      </p:sp>
      <p:sp>
        <p:nvSpPr>
          <p:cNvPr id="120" name="p2-o31">
            <a:extLst>
              <a:ext uri="{FF2B5EF4-FFF2-40B4-BE49-F238E27FC236}">
                <a16:creationId xmlns:a16="http://schemas.microsoft.com/office/drawing/2014/main" id="{658A7408-C4BA-40FC-A048-A0C90FC402C5}"/>
              </a:ext>
            </a:extLst>
          </p:cNvPr>
          <p:cNvSpPr>
            <a:spLocks noGrp="1"/>
          </p:cNvSpPr>
          <p:nvPr/>
        </p:nvSpPr>
        <p:spPr>
          <a:xfrm>
            <a:off x="2342795" y="4208888"/>
            <a:ext cx="66675" cy="66675"/>
          </a:xfrm>
          <a:custGeom>
            <a:avLst/>
            <a:gdLst/>
            <a:ahLst/>
            <a:cxnLst/>
            <a:rect l="0" t="0" r="0" b="0"/>
            <a:pathLst>
              <a:path w="66675" h="66675">
                <a:moveTo>
                  <a:pt x="33338" y="66675"/>
                </a:moveTo>
                <a:lnTo>
                  <a:pt x="66675" y="0"/>
                </a:lnTo>
                <a:lnTo>
                  <a:pt x="0" y="0"/>
                </a:lnTo>
                <a:close/>
              </a:path>
            </a:pathLst>
          </a:custGeom>
          <a:solidFill>
            <a:srgbClr val="DB0019"/>
          </a:solidFill>
          <a:ln w="9525">
            <a:noFill/>
          </a:ln>
        </p:spPr>
      </p:sp>
      <p:sp>
        <p:nvSpPr>
          <p:cNvPr id="121" name="p2-o32">
            <a:extLst>
              <a:ext uri="{FF2B5EF4-FFF2-40B4-BE49-F238E27FC236}">
                <a16:creationId xmlns:a16="http://schemas.microsoft.com/office/drawing/2014/main" id="{BFF5D3FB-DDD0-44EC-8530-C5BC59ACBD5F}"/>
              </a:ext>
            </a:extLst>
          </p:cNvPr>
          <p:cNvSpPr>
            <a:spLocks noGrp="1"/>
          </p:cNvSpPr>
          <p:nvPr/>
        </p:nvSpPr>
        <p:spPr>
          <a:xfrm>
            <a:off x="1337907" y="4294613"/>
            <a:ext cx="2076450" cy="466725"/>
          </a:xfrm>
          <a:prstGeom prst="roundRect">
            <a:avLst>
              <a:gd name="adj" fmla="val 12245"/>
            </a:avLst>
          </a:prstGeom>
          <a:solidFill>
            <a:srgbClr val="FFF0F3"/>
          </a:solidFill>
          <a:ln w="9525">
            <a:solidFill>
              <a:srgbClr val="F0B9C3"/>
            </a:solidFill>
          </a:ln>
        </p:spPr>
      </p:sp>
      <p:sp>
        <p:nvSpPr>
          <p:cNvPr id="122" name="p2-o33">
            <a:extLst>
              <a:ext uri="{FF2B5EF4-FFF2-40B4-BE49-F238E27FC236}">
                <a16:creationId xmlns:a16="http://schemas.microsoft.com/office/drawing/2014/main" id="{5BD4D20C-3FF1-42D9-8B51-8516E11E37C6}"/>
              </a:ext>
            </a:extLst>
          </p:cNvPr>
          <p:cNvSpPr>
            <a:spLocks noGrp="1"/>
          </p:cNvSpPr>
          <p:nvPr/>
        </p:nvSpPr>
        <p:spPr>
          <a:xfrm>
            <a:off x="1404582" y="4323188"/>
            <a:ext cx="19431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73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73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CPU → MLU：加载一次</a:t>
            </a:r>
          </a:p>
        </p:txBody>
      </p:sp>
      <p:sp>
        <p:nvSpPr>
          <p:cNvPr id="123" name="p2-line34">
            <a:extLst>
              <a:ext uri="{FF2B5EF4-FFF2-40B4-BE49-F238E27FC236}">
                <a16:creationId xmlns:a16="http://schemas.microsoft.com/office/drawing/2014/main" id="{1733B483-315E-479D-8325-C362F962E72B}"/>
              </a:ext>
            </a:extLst>
          </p:cNvPr>
          <p:cNvSpPr>
            <a:spLocks noGrp="1"/>
          </p:cNvSpPr>
          <p:nvPr/>
        </p:nvSpPr>
        <p:spPr>
          <a:xfrm>
            <a:off x="2376132" y="4770863"/>
            <a:ext cx="9525" cy="123825"/>
          </a:xfrm>
          <a:custGeom>
            <a:avLst/>
            <a:gdLst/>
            <a:ahLst/>
            <a:cxnLst/>
            <a:rect l="0" t="0" r="0" b="0"/>
            <a:pathLst>
              <a:path w="9525" h="123825">
                <a:moveTo>
                  <a:pt x="0" y="0"/>
                </a:moveTo>
                <a:lnTo>
                  <a:pt x="0" y="123825"/>
                </a:lnTo>
              </a:path>
            </a:pathLst>
          </a:custGeom>
          <a:noFill/>
          <a:ln w="14288">
            <a:solidFill>
              <a:srgbClr val="0B2344"/>
            </a:solidFill>
            <a:prstDash val="solid"/>
          </a:ln>
        </p:spPr>
      </p:sp>
      <p:sp>
        <p:nvSpPr>
          <p:cNvPr id="124" name="p2-line35">
            <a:extLst>
              <a:ext uri="{FF2B5EF4-FFF2-40B4-BE49-F238E27FC236}">
                <a16:creationId xmlns:a16="http://schemas.microsoft.com/office/drawing/2014/main" id="{9A5C1152-C8CD-4111-BD01-52B6C8FFD647}"/>
              </a:ext>
            </a:extLst>
          </p:cNvPr>
          <p:cNvSpPr>
            <a:spLocks noGrp="1"/>
          </p:cNvSpPr>
          <p:nvPr/>
        </p:nvSpPr>
        <p:spPr>
          <a:xfrm>
            <a:off x="1014057" y="4894688"/>
            <a:ext cx="2705100" cy="9525"/>
          </a:xfrm>
          <a:custGeom>
            <a:avLst/>
            <a:gdLst/>
            <a:ahLst/>
            <a:cxnLst/>
            <a:rect l="0" t="0" r="0" b="0"/>
            <a:pathLst>
              <a:path w="2705100" h="9525">
                <a:moveTo>
                  <a:pt x="0" y="0"/>
                </a:moveTo>
                <a:lnTo>
                  <a:pt x="2705100" y="0"/>
                </a:lnTo>
              </a:path>
            </a:pathLst>
          </a:custGeom>
          <a:noFill/>
          <a:ln w="14288">
            <a:solidFill>
              <a:srgbClr val="0B2344"/>
            </a:solidFill>
            <a:prstDash val="solid"/>
          </a:ln>
        </p:spPr>
      </p:sp>
      <p:sp>
        <p:nvSpPr>
          <p:cNvPr id="125" name="p2-line36">
            <a:extLst>
              <a:ext uri="{FF2B5EF4-FFF2-40B4-BE49-F238E27FC236}">
                <a16:creationId xmlns:a16="http://schemas.microsoft.com/office/drawing/2014/main" id="{53A7C061-4068-42BD-A260-80F9D1930076}"/>
              </a:ext>
            </a:extLst>
          </p:cNvPr>
          <p:cNvSpPr>
            <a:spLocks noGrp="1"/>
          </p:cNvSpPr>
          <p:nvPr/>
        </p:nvSpPr>
        <p:spPr>
          <a:xfrm>
            <a:off x="1014057" y="4894688"/>
            <a:ext cx="9525" cy="123825"/>
          </a:xfrm>
          <a:custGeom>
            <a:avLst/>
            <a:gdLst/>
            <a:ahLst/>
            <a:cxnLst/>
            <a:rect l="0" t="0" r="0" b="0"/>
            <a:pathLst>
              <a:path w="9525" h="123825">
                <a:moveTo>
                  <a:pt x="0" y="0"/>
                </a:moveTo>
                <a:lnTo>
                  <a:pt x="0" y="123825"/>
                </a:lnTo>
              </a:path>
            </a:pathLst>
          </a:custGeom>
          <a:noFill/>
          <a:ln w="14288">
            <a:solidFill>
              <a:srgbClr val="0B2344"/>
            </a:solidFill>
            <a:prstDash val="solid"/>
          </a:ln>
        </p:spPr>
      </p:sp>
      <p:sp>
        <p:nvSpPr>
          <p:cNvPr id="126" name="p2-o37">
            <a:extLst>
              <a:ext uri="{FF2B5EF4-FFF2-40B4-BE49-F238E27FC236}">
                <a16:creationId xmlns:a16="http://schemas.microsoft.com/office/drawing/2014/main" id="{F864170A-F260-4FA2-87DD-4208CFF95F5C}"/>
              </a:ext>
            </a:extLst>
          </p:cNvPr>
          <p:cNvSpPr>
            <a:spLocks noGrp="1"/>
          </p:cNvSpPr>
          <p:nvPr/>
        </p:nvSpPr>
        <p:spPr>
          <a:xfrm>
            <a:off x="980720" y="4951838"/>
            <a:ext cx="66675" cy="66675"/>
          </a:xfrm>
          <a:custGeom>
            <a:avLst/>
            <a:gdLst/>
            <a:ahLst/>
            <a:cxnLst/>
            <a:rect l="0" t="0" r="0" b="0"/>
            <a:pathLst>
              <a:path w="66675" h="66675">
                <a:moveTo>
                  <a:pt x="33338" y="66675"/>
                </a:moveTo>
                <a:lnTo>
                  <a:pt x="66675" y="0"/>
                </a:lnTo>
                <a:lnTo>
                  <a:pt x="0" y="0"/>
                </a:lnTo>
                <a:close/>
              </a:path>
            </a:pathLst>
          </a:custGeom>
          <a:solidFill>
            <a:srgbClr val="0B2344"/>
          </a:solidFill>
          <a:ln w="9525">
            <a:noFill/>
          </a:ln>
        </p:spPr>
      </p:sp>
      <p:sp>
        <p:nvSpPr>
          <p:cNvPr id="127" name="p2-o38">
            <a:extLst>
              <a:ext uri="{FF2B5EF4-FFF2-40B4-BE49-F238E27FC236}">
                <a16:creationId xmlns:a16="http://schemas.microsoft.com/office/drawing/2014/main" id="{24A28214-A504-4F5E-BB9B-FA5238452F6A}"/>
              </a:ext>
            </a:extLst>
          </p:cNvPr>
          <p:cNvSpPr>
            <a:spLocks noGrp="1"/>
          </p:cNvSpPr>
          <p:nvPr/>
        </p:nvSpPr>
        <p:spPr>
          <a:xfrm>
            <a:off x="537807" y="5037563"/>
            <a:ext cx="952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7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A 复用</a:t>
            </a:r>
          </a:p>
        </p:txBody>
      </p:sp>
      <p:sp>
        <p:nvSpPr>
          <p:cNvPr id="128" name="p2-line39">
            <a:extLst>
              <a:ext uri="{FF2B5EF4-FFF2-40B4-BE49-F238E27FC236}">
                <a16:creationId xmlns:a16="http://schemas.microsoft.com/office/drawing/2014/main" id="{C9789553-6CBA-4D03-ADCD-5B9DFC09A91D}"/>
              </a:ext>
            </a:extLst>
          </p:cNvPr>
          <p:cNvSpPr>
            <a:spLocks noGrp="1"/>
          </p:cNvSpPr>
          <p:nvPr/>
        </p:nvSpPr>
        <p:spPr>
          <a:xfrm>
            <a:off x="2366607" y="4894688"/>
            <a:ext cx="9525" cy="123825"/>
          </a:xfrm>
          <a:custGeom>
            <a:avLst/>
            <a:gdLst/>
            <a:ahLst/>
            <a:cxnLst/>
            <a:rect l="0" t="0" r="0" b="0"/>
            <a:pathLst>
              <a:path w="9525" h="123825">
                <a:moveTo>
                  <a:pt x="0" y="0"/>
                </a:moveTo>
                <a:lnTo>
                  <a:pt x="0" y="123825"/>
                </a:lnTo>
              </a:path>
            </a:pathLst>
          </a:custGeom>
          <a:noFill/>
          <a:ln w="14288">
            <a:solidFill>
              <a:srgbClr val="0B2344"/>
            </a:solidFill>
            <a:prstDash val="solid"/>
          </a:ln>
        </p:spPr>
      </p:sp>
      <p:sp>
        <p:nvSpPr>
          <p:cNvPr id="129" name="p2-o40">
            <a:extLst>
              <a:ext uri="{FF2B5EF4-FFF2-40B4-BE49-F238E27FC236}">
                <a16:creationId xmlns:a16="http://schemas.microsoft.com/office/drawing/2014/main" id="{3FA7902B-726E-44A8-830C-80473502F411}"/>
              </a:ext>
            </a:extLst>
          </p:cNvPr>
          <p:cNvSpPr>
            <a:spLocks noGrp="1"/>
          </p:cNvSpPr>
          <p:nvPr/>
        </p:nvSpPr>
        <p:spPr>
          <a:xfrm>
            <a:off x="2333270" y="4951838"/>
            <a:ext cx="66675" cy="66675"/>
          </a:xfrm>
          <a:custGeom>
            <a:avLst/>
            <a:gdLst/>
            <a:ahLst/>
            <a:cxnLst/>
            <a:rect l="0" t="0" r="0" b="0"/>
            <a:pathLst>
              <a:path w="66675" h="66675">
                <a:moveTo>
                  <a:pt x="33338" y="66675"/>
                </a:moveTo>
                <a:lnTo>
                  <a:pt x="66675" y="0"/>
                </a:lnTo>
                <a:lnTo>
                  <a:pt x="0" y="0"/>
                </a:lnTo>
                <a:close/>
              </a:path>
            </a:pathLst>
          </a:custGeom>
          <a:solidFill>
            <a:srgbClr val="0B2344"/>
          </a:solidFill>
          <a:ln w="9525">
            <a:noFill/>
          </a:ln>
        </p:spPr>
      </p:sp>
      <p:sp>
        <p:nvSpPr>
          <p:cNvPr id="130" name="p2-o41">
            <a:extLst>
              <a:ext uri="{FF2B5EF4-FFF2-40B4-BE49-F238E27FC236}">
                <a16:creationId xmlns:a16="http://schemas.microsoft.com/office/drawing/2014/main" id="{06B15916-F014-4189-AE7F-F1B2D7066819}"/>
              </a:ext>
            </a:extLst>
          </p:cNvPr>
          <p:cNvSpPr>
            <a:spLocks noGrp="1"/>
          </p:cNvSpPr>
          <p:nvPr/>
        </p:nvSpPr>
        <p:spPr>
          <a:xfrm>
            <a:off x="1890357" y="5037563"/>
            <a:ext cx="952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7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B 复用</a:t>
            </a:r>
          </a:p>
        </p:txBody>
      </p:sp>
      <p:sp>
        <p:nvSpPr>
          <p:cNvPr id="131" name="p2-line42">
            <a:extLst>
              <a:ext uri="{FF2B5EF4-FFF2-40B4-BE49-F238E27FC236}">
                <a16:creationId xmlns:a16="http://schemas.microsoft.com/office/drawing/2014/main" id="{74CD4301-D179-464F-A013-40AEF6AC452C}"/>
              </a:ext>
            </a:extLst>
          </p:cNvPr>
          <p:cNvSpPr>
            <a:spLocks noGrp="1"/>
          </p:cNvSpPr>
          <p:nvPr/>
        </p:nvSpPr>
        <p:spPr>
          <a:xfrm>
            <a:off x="3719157" y="4894688"/>
            <a:ext cx="9525" cy="123825"/>
          </a:xfrm>
          <a:custGeom>
            <a:avLst/>
            <a:gdLst/>
            <a:ahLst/>
            <a:cxnLst/>
            <a:rect l="0" t="0" r="0" b="0"/>
            <a:pathLst>
              <a:path w="9525" h="123825">
                <a:moveTo>
                  <a:pt x="0" y="0"/>
                </a:moveTo>
                <a:lnTo>
                  <a:pt x="0" y="123825"/>
                </a:lnTo>
              </a:path>
            </a:pathLst>
          </a:custGeom>
          <a:noFill/>
          <a:ln w="14288">
            <a:solidFill>
              <a:srgbClr val="0B2344"/>
            </a:solidFill>
            <a:prstDash val="solid"/>
          </a:ln>
        </p:spPr>
      </p:sp>
      <p:sp>
        <p:nvSpPr>
          <p:cNvPr id="132" name="p2-o43">
            <a:extLst>
              <a:ext uri="{FF2B5EF4-FFF2-40B4-BE49-F238E27FC236}">
                <a16:creationId xmlns:a16="http://schemas.microsoft.com/office/drawing/2014/main" id="{22A1DADA-4FE4-4F60-BE52-A2A0D263CE17}"/>
              </a:ext>
            </a:extLst>
          </p:cNvPr>
          <p:cNvSpPr>
            <a:spLocks noGrp="1"/>
          </p:cNvSpPr>
          <p:nvPr/>
        </p:nvSpPr>
        <p:spPr>
          <a:xfrm>
            <a:off x="3685820" y="4951838"/>
            <a:ext cx="66675" cy="66675"/>
          </a:xfrm>
          <a:custGeom>
            <a:avLst/>
            <a:gdLst/>
            <a:ahLst/>
            <a:cxnLst/>
            <a:rect l="0" t="0" r="0" b="0"/>
            <a:pathLst>
              <a:path w="66675" h="66675">
                <a:moveTo>
                  <a:pt x="33338" y="66675"/>
                </a:moveTo>
                <a:lnTo>
                  <a:pt x="66675" y="0"/>
                </a:lnTo>
                <a:lnTo>
                  <a:pt x="0" y="0"/>
                </a:lnTo>
                <a:close/>
              </a:path>
            </a:pathLst>
          </a:custGeom>
          <a:solidFill>
            <a:srgbClr val="0B2344"/>
          </a:solidFill>
          <a:ln w="9525">
            <a:noFill/>
          </a:ln>
        </p:spPr>
      </p:sp>
      <p:sp>
        <p:nvSpPr>
          <p:cNvPr id="133" name="p2-o44">
            <a:extLst>
              <a:ext uri="{FF2B5EF4-FFF2-40B4-BE49-F238E27FC236}">
                <a16:creationId xmlns:a16="http://schemas.microsoft.com/office/drawing/2014/main" id="{B1E24232-C937-4FF7-BDC2-00BBF85B8B1B}"/>
              </a:ext>
            </a:extLst>
          </p:cNvPr>
          <p:cNvSpPr>
            <a:spLocks noGrp="1"/>
          </p:cNvSpPr>
          <p:nvPr/>
        </p:nvSpPr>
        <p:spPr>
          <a:xfrm>
            <a:off x="3242907" y="5037563"/>
            <a:ext cx="952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7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C 复用</a:t>
            </a:r>
          </a:p>
        </p:txBody>
      </p:sp>
      <p:sp>
        <p:nvSpPr>
          <p:cNvPr id="134" name="p2-o8">
            <a:extLst>
              <a:ext uri="{FF2B5EF4-FFF2-40B4-BE49-F238E27FC236}">
                <a16:creationId xmlns:a16="http://schemas.microsoft.com/office/drawing/2014/main" id="{7DCA6294-39C0-45E0-9AA9-0FD068233847}"/>
              </a:ext>
            </a:extLst>
          </p:cNvPr>
          <p:cNvSpPr>
            <a:spLocks noGrp="1"/>
          </p:cNvSpPr>
          <p:nvPr/>
        </p:nvSpPr>
        <p:spPr>
          <a:xfrm>
            <a:off x="395288" y="1835719"/>
            <a:ext cx="39243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1. </a:t>
            </a:r>
            <a:r>
              <a:rPr sz="1575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并发加载合并（Load</a:t>
            </a:r>
            <a:r>
              <a:rPr sz="157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 Coalescing）</a:t>
            </a:r>
          </a:p>
        </p:txBody>
      </p:sp>
      <p:sp>
        <p:nvSpPr>
          <p:cNvPr id="135" name="p2-o11">
            <a:extLst>
              <a:ext uri="{FF2B5EF4-FFF2-40B4-BE49-F238E27FC236}">
                <a16:creationId xmlns:a16="http://schemas.microsoft.com/office/drawing/2014/main" id="{5FFD9A93-0665-4551-B5AA-A73662C91BB8}"/>
              </a:ext>
            </a:extLst>
          </p:cNvPr>
          <p:cNvSpPr>
            <a:spLocks noGrp="1"/>
          </p:cNvSpPr>
          <p:nvPr/>
        </p:nvSpPr>
        <p:spPr>
          <a:xfrm>
            <a:off x="4769857" y="1835719"/>
            <a:ext cx="39243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2. </a:t>
            </a:r>
            <a:r>
              <a:rPr sz="1575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异步传输与流依赖</a:t>
            </a:r>
            <a:endParaRPr sz="1575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Microsoft YaHei"/>
              <a:cs typeface="Times New Roman" panose="02020603050405020304" pitchFamily="18" charset="0"/>
            </a:endParaRPr>
          </a:p>
        </p:txBody>
      </p:sp>
      <p:sp>
        <p:nvSpPr>
          <p:cNvPr id="136" name="p2-o46">
            <a:extLst>
              <a:ext uri="{FF2B5EF4-FFF2-40B4-BE49-F238E27FC236}">
                <a16:creationId xmlns:a16="http://schemas.microsoft.com/office/drawing/2014/main" id="{FAE9C0E6-BC9A-475B-BD1F-B40D8816B3EB}"/>
              </a:ext>
            </a:extLst>
          </p:cNvPr>
          <p:cNvSpPr>
            <a:spLocks noGrp="1"/>
          </p:cNvSpPr>
          <p:nvPr/>
        </p:nvSpPr>
        <p:spPr>
          <a:xfrm>
            <a:off x="4762371" y="2561063"/>
            <a:ext cx="790575" cy="809625"/>
          </a:xfrm>
          <a:prstGeom prst="roundRect">
            <a:avLst>
              <a:gd name="adj" fmla="val 7229"/>
            </a:avLst>
          </a:prstGeom>
          <a:solidFill>
            <a:srgbClr val="FFF0F3"/>
          </a:solidFill>
          <a:ln w="9525">
            <a:solidFill>
              <a:srgbClr val="F0BBC5"/>
            </a:solidFill>
          </a:ln>
        </p:spPr>
      </p:sp>
      <p:sp>
        <p:nvSpPr>
          <p:cNvPr id="137" name="p2-o47">
            <a:extLst>
              <a:ext uri="{FF2B5EF4-FFF2-40B4-BE49-F238E27FC236}">
                <a16:creationId xmlns:a16="http://schemas.microsoft.com/office/drawing/2014/main" id="{FD320BB9-D18D-4F1F-AA93-EF45772E8C93}"/>
              </a:ext>
            </a:extLst>
          </p:cNvPr>
          <p:cNvSpPr>
            <a:spLocks noGrp="1"/>
          </p:cNvSpPr>
          <p:nvPr/>
        </p:nvSpPr>
        <p:spPr>
          <a:xfrm>
            <a:off x="4829046" y="2589638"/>
            <a:ext cx="657225" cy="752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88" b="1">
                <a:solidFill>
                  <a:srgbClr val="DB0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dirty="0">
                <a:solidFill>
                  <a:srgbClr val="DB0019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Compute</a:t>
            </a:r>
          </a:p>
          <a:p>
            <a:pPr algn="ctr">
              <a:defRPr sz="1088" b="1">
                <a:solidFill>
                  <a:srgbClr val="DB0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dirty="0">
                <a:solidFill>
                  <a:srgbClr val="DB0019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Stream</a:t>
            </a:r>
          </a:p>
          <a:p>
            <a:pPr algn="ctr">
              <a:defRPr sz="1088" b="1">
                <a:solidFill>
                  <a:srgbClr val="DB0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88" dirty="0">
                <a:solidFill>
                  <a:srgbClr val="DB0019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计算</a:t>
            </a:r>
            <a:r>
              <a:rPr sz="1088" dirty="0" smtClean="0">
                <a:solidFill>
                  <a:srgbClr val="DB0019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流</a:t>
            </a:r>
            <a:endParaRPr sz="1088" dirty="0">
              <a:solidFill>
                <a:srgbClr val="DB0019"/>
              </a:solidFill>
              <a:latin typeface="Times New Roman" panose="02020603050405020304" pitchFamily="18" charset="0"/>
              <a:ea typeface="Microsoft YaHei"/>
              <a:cs typeface="Times New Roman" panose="02020603050405020304" pitchFamily="18" charset="0"/>
            </a:endParaRPr>
          </a:p>
        </p:txBody>
      </p:sp>
      <p:sp>
        <p:nvSpPr>
          <p:cNvPr id="138" name="p2-o48">
            <a:extLst>
              <a:ext uri="{FF2B5EF4-FFF2-40B4-BE49-F238E27FC236}">
                <a16:creationId xmlns:a16="http://schemas.microsoft.com/office/drawing/2014/main" id="{2EA76F4E-9486-4329-8CCE-D6E3ECEC8D5A}"/>
              </a:ext>
            </a:extLst>
          </p:cNvPr>
          <p:cNvSpPr>
            <a:spLocks noGrp="1"/>
          </p:cNvSpPr>
          <p:nvPr/>
        </p:nvSpPr>
        <p:spPr>
          <a:xfrm>
            <a:off x="4762371" y="4142213"/>
            <a:ext cx="790575" cy="847725"/>
          </a:xfrm>
          <a:prstGeom prst="roundRect">
            <a:avLst>
              <a:gd name="adj" fmla="val 7229"/>
            </a:avLst>
          </a:prstGeom>
          <a:solidFill>
            <a:srgbClr val="E9F4FF"/>
          </a:solidFill>
          <a:ln w="9525">
            <a:solidFill>
              <a:srgbClr val="B8D7FB"/>
            </a:solidFill>
          </a:ln>
        </p:spPr>
      </p:sp>
      <p:sp>
        <p:nvSpPr>
          <p:cNvPr id="139" name="p2-o49">
            <a:extLst>
              <a:ext uri="{FF2B5EF4-FFF2-40B4-BE49-F238E27FC236}">
                <a16:creationId xmlns:a16="http://schemas.microsoft.com/office/drawing/2014/main" id="{2949F96D-0142-4905-83FB-0BE29309714F}"/>
              </a:ext>
            </a:extLst>
          </p:cNvPr>
          <p:cNvSpPr>
            <a:spLocks noGrp="1"/>
          </p:cNvSpPr>
          <p:nvPr/>
        </p:nvSpPr>
        <p:spPr>
          <a:xfrm>
            <a:off x="4829046" y="4170788"/>
            <a:ext cx="657225" cy="790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Transfer</a:t>
            </a:r>
          </a:p>
          <a:p>
            <a:pPr algn="ctr">
              <a:defRPr sz="1200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Stream</a:t>
            </a:r>
          </a:p>
          <a:p>
            <a:pPr algn="ctr">
              <a:defRPr sz="1200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传输流</a:t>
            </a:r>
          </a:p>
        </p:txBody>
      </p:sp>
      <p:sp>
        <p:nvSpPr>
          <p:cNvPr id="140" name="p2-line50">
            <a:extLst>
              <a:ext uri="{FF2B5EF4-FFF2-40B4-BE49-F238E27FC236}">
                <a16:creationId xmlns:a16="http://schemas.microsoft.com/office/drawing/2014/main" id="{92AF1107-F55E-4CA1-8A52-7619FF1EABAD}"/>
              </a:ext>
            </a:extLst>
          </p:cNvPr>
          <p:cNvSpPr>
            <a:spLocks noGrp="1"/>
          </p:cNvSpPr>
          <p:nvPr/>
        </p:nvSpPr>
        <p:spPr>
          <a:xfrm>
            <a:off x="5638671" y="3246863"/>
            <a:ext cx="3009900" cy="9525"/>
          </a:xfrm>
          <a:custGeom>
            <a:avLst/>
            <a:gdLst/>
            <a:ahLst/>
            <a:cxnLst/>
            <a:rect l="0" t="0" r="0" b="0"/>
            <a:pathLst>
              <a:path w="3009900" h="9525">
                <a:moveTo>
                  <a:pt x="0" y="0"/>
                </a:moveTo>
                <a:lnTo>
                  <a:pt x="3009900" y="0"/>
                </a:lnTo>
              </a:path>
            </a:pathLst>
          </a:custGeom>
          <a:noFill/>
          <a:ln w="14288">
            <a:solidFill>
              <a:srgbClr val="0B2344"/>
            </a:solidFill>
            <a:prstDash val="solid"/>
          </a:ln>
        </p:spPr>
      </p:sp>
      <p:sp>
        <p:nvSpPr>
          <p:cNvPr id="141" name="p2-o51">
            <a:extLst>
              <a:ext uri="{FF2B5EF4-FFF2-40B4-BE49-F238E27FC236}">
                <a16:creationId xmlns:a16="http://schemas.microsoft.com/office/drawing/2014/main" id="{06346EED-0EE5-42FC-A62D-CC78E3239E38}"/>
              </a:ext>
            </a:extLst>
          </p:cNvPr>
          <p:cNvSpPr>
            <a:spLocks noGrp="1"/>
          </p:cNvSpPr>
          <p:nvPr/>
        </p:nvSpPr>
        <p:spPr>
          <a:xfrm>
            <a:off x="8581896" y="3213526"/>
            <a:ext cx="66675" cy="66675"/>
          </a:xfrm>
          <a:custGeom>
            <a:avLst/>
            <a:gdLst/>
            <a:ahLst/>
            <a:cxnLst/>
            <a:rect l="0" t="0" r="0" b="0"/>
            <a:pathLst>
              <a:path w="66675" h="66675">
                <a:moveTo>
                  <a:pt x="66675" y="33338"/>
                </a:moveTo>
                <a:lnTo>
                  <a:pt x="0" y="0"/>
                </a:lnTo>
                <a:lnTo>
                  <a:pt x="0" y="66675"/>
                </a:lnTo>
                <a:close/>
              </a:path>
            </a:pathLst>
          </a:custGeom>
          <a:solidFill>
            <a:srgbClr val="0B2344"/>
          </a:solidFill>
          <a:ln w="9525">
            <a:noFill/>
          </a:ln>
        </p:spPr>
      </p:sp>
      <p:sp>
        <p:nvSpPr>
          <p:cNvPr id="142" name="p2-line52">
            <a:extLst>
              <a:ext uri="{FF2B5EF4-FFF2-40B4-BE49-F238E27FC236}">
                <a16:creationId xmlns:a16="http://schemas.microsoft.com/office/drawing/2014/main" id="{E27A7C4F-85FD-4D1D-A75C-7BFE15ED61E4}"/>
              </a:ext>
            </a:extLst>
          </p:cNvPr>
          <p:cNvSpPr>
            <a:spLocks noGrp="1"/>
          </p:cNvSpPr>
          <p:nvPr/>
        </p:nvSpPr>
        <p:spPr>
          <a:xfrm>
            <a:off x="5638671" y="4837538"/>
            <a:ext cx="3009900" cy="9525"/>
          </a:xfrm>
          <a:custGeom>
            <a:avLst/>
            <a:gdLst/>
            <a:ahLst/>
            <a:cxnLst/>
            <a:rect l="0" t="0" r="0" b="0"/>
            <a:pathLst>
              <a:path w="3009900" h="9525">
                <a:moveTo>
                  <a:pt x="0" y="0"/>
                </a:moveTo>
                <a:lnTo>
                  <a:pt x="3009900" y="0"/>
                </a:lnTo>
              </a:path>
            </a:pathLst>
          </a:custGeom>
          <a:noFill/>
          <a:ln w="14288">
            <a:solidFill>
              <a:srgbClr val="0B2344"/>
            </a:solidFill>
            <a:prstDash val="solid"/>
          </a:ln>
        </p:spPr>
      </p:sp>
      <p:sp>
        <p:nvSpPr>
          <p:cNvPr id="143" name="p2-o53">
            <a:extLst>
              <a:ext uri="{FF2B5EF4-FFF2-40B4-BE49-F238E27FC236}">
                <a16:creationId xmlns:a16="http://schemas.microsoft.com/office/drawing/2014/main" id="{FBBE38BE-F070-4C40-8CB2-E158869AC85C}"/>
              </a:ext>
            </a:extLst>
          </p:cNvPr>
          <p:cNvSpPr>
            <a:spLocks noGrp="1"/>
          </p:cNvSpPr>
          <p:nvPr/>
        </p:nvSpPr>
        <p:spPr>
          <a:xfrm>
            <a:off x="8581896" y="4804201"/>
            <a:ext cx="66675" cy="66675"/>
          </a:xfrm>
          <a:custGeom>
            <a:avLst/>
            <a:gdLst/>
            <a:ahLst/>
            <a:cxnLst/>
            <a:rect l="0" t="0" r="0" b="0"/>
            <a:pathLst>
              <a:path w="66675" h="66675">
                <a:moveTo>
                  <a:pt x="66675" y="33338"/>
                </a:moveTo>
                <a:lnTo>
                  <a:pt x="0" y="0"/>
                </a:lnTo>
                <a:lnTo>
                  <a:pt x="0" y="66675"/>
                </a:lnTo>
                <a:close/>
              </a:path>
            </a:pathLst>
          </a:custGeom>
          <a:solidFill>
            <a:srgbClr val="0B2344"/>
          </a:solidFill>
          <a:ln w="9525">
            <a:noFill/>
          </a:ln>
        </p:spPr>
      </p:sp>
      <p:sp>
        <p:nvSpPr>
          <p:cNvPr id="144" name="p2-o54">
            <a:extLst>
              <a:ext uri="{FF2B5EF4-FFF2-40B4-BE49-F238E27FC236}">
                <a16:creationId xmlns:a16="http://schemas.microsoft.com/office/drawing/2014/main" id="{99DC0221-27A7-4C7D-9557-2BB6D8FBAA4B}"/>
              </a:ext>
            </a:extLst>
          </p:cNvPr>
          <p:cNvSpPr>
            <a:spLocks noGrp="1"/>
          </p:cNvSpPr>
          <p:nvPr/>
        </p:nvSpPr>
        <p:spPr>
          <a:xfrm>
            <a:off x="5705346" y="2732513"/>
            <a:ext cx="962025" cy="514350"/>
          </a:xfrm>
          <a:prstGeom prst="roundRect">
            <a:avLst>
              <a:gd name="adj" fmla="val 11111"/>
            </a:avLst>
          </a:prstGeom>
          <a:solidFill>
            <a:srgbClr val="FFF0F3"/>
          </a:solidFill>
          <a:ln w="9525">
            <a:solidFill>
              <a:srgbClr val="EEA5B2"/>
            </a:solidFill>
          </a:ln>
        </p:spPr>
      </p:sp>
      <p:sp>
        <p:nvSpPr>
          <p:cNvPr id="145" name="p2-o55">
            <a:extLst>
              <a:ext uri="{FF2B5EF4-FFF2-40B4-BE49-F238E27FC236}">
                <a16:creationId xmlns:a16="http://schemas.microsoft.com/office/drawing/2014/main" id="{7F4EE351-F436-44B4-8049-78C044E21CB7}"/>
              </a:ext>
            </a:extLst>
          </p:cNvPr>
          <p:cNvSpPr>
            <a:spLocks noGrp="1"/>
          </p:cNvSpPr>
          <p:nvPr/>
        </p:nvSpPr>
        <p:spPr>
          <a:xfrm>
            <a:off x="5772021" y="2761088"/>
            <a:ext cx="828675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Prefill /</a:t>
            </a:r>
          </a:p>
          <a:p>
            <a:pPr algn="ctr">
              <a:defRPr sz="1200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Attention</a:t>
            </a:r>
          </a:p>
        </p:txBody>
      </p:sp>
      <p:sp>
        <p:nvSpPr>
          <p:cNvPr id="146" name="p2-o56">
            <a:extLst>
              <a:ext uri="{FF2B5EF4-FFF2-40B4-BE49-F238E27FC236}">
                <a16:creationId xmlns:a16="http://schemas.microsoft.com/office/drawing/2014/main" id="{26039121-F6B1-4266-908D-DF24B015FC7B}"/>
              </a:ext>
            </a:extLst>
          </p:cNvPr>
          <p:cNvSpPr>
            <a:spLocks noGrp="1"/>
          </p:cNvSpPr>
          <p:nvPr/>
        </p:nvSpPr>
        <p:spPr>
          <a:xfrm>
            <a:off x="6848346" y="2732513"/>
            <a:ext cx="742950" cy="514350"/>
          </a:xfrm>
          <a:prstGeom prst="roundRect">
            <a:avLst>
              <a:gd name="adj" fmla="val 11111"/>
            </a:avLst>
          </a:prstGeom>
          <a:solidFill>
            <a:srgbClr val="FFF0F3"/>
          </a:solidFill>
          <a:ln w="9525">
            <a:solidFill>
              <a:srgbClr val="EEA5B2"/>
            </a:solidFill>
          </a:ln>
        </p:spPr>
      </p:sp>
      <p:sp>
        <p:nvSpPr>
          <p:cNvPr id="147" name="p2-o57">
            <a:extLst>
              <a:ext uri="{FF2B5EF4-FFF2-40B4-BE49-F238E27FC236}">
                <a16:creationId xmlns:a16="http://schemas.microsoft.com/office/drawing/2014/main" id="{F98BC231-61AF-4C89-AEF3-5E9E62245767}"/>
              </a:ext>
            </a:extLst>
          </p:cNvPr>
          <p:cNvSpPr>
            <a:spLocks noGrp="1"/>
          </p:cNvSpPr>
          <p:nvPr/>
        </p:nvSpPr>
        <p:spPr>
          <a:xfrm>
            <a:off x="6915021" y="2761088"/>
            <a:ext cx="6096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69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9" dirty="0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Attention</a:t>
            </a:r>
          </a:p>
        </p:txBody>
      </p:sp>
      <p:sp>
        <p:nvSpPr>
          <p:cNvPr id="148" name="p2-o58">
            <a:extLst>
              <a:ext uri="{FF2B5EF4-FFF2-40B4-BE49-F238E27FC236}">
                <a16:creationId xmlns:a16="http://schemas.microsoft.com/office/drawing/2014/main" id="{8E85D25A-2DEC-4DFE-A87B-E203950626E7}"/>
              </a:ext>
            </a:extLst>
          </p:cNvPr>
          <p:cNvSpPr>
            <a:spLocks noGrp="1"/>
          </p:cNvSpPr>
          <p:nvPr/>
        </p:nvSpPr>
        <p:spPr>
          <a:xfrm>
            <a:off x="7800846" y="2732513"/>
            <a:ext cx="742950" cy="514350"/>
          </a:xfrm>
          <a:prstGeom prst="roundRect">
            <a:avLst>
              <a:gd name="adj" fmla="val 11111"/>
            </a:avLst>
          </a:prstGeom>
          <a:solidFill>
            <a:srgbClr val="FFF0F3"/>
          </a:solidFill>
          <a:ln w="9525">
            <a:solidFill>
              <a:srgbClr val="EEA5B2"/>
            </a:solidFill>
          </a:ln>
        </p:spPr>
      </p:sp>
      <p:sp>
        <p:nvSpPr>
          <p:cNvPr id="149" name="p2-o59">
            <a:extLst>
              <a:ext uri="{FF2B5EF4-FFF2-40B4-BE49-F238E27FC236}">
                <a16:creationId xmlns:a16="http://schemas.microsoft.com/office/drawing/2014/main" id="{7FC3CD52-D4BE-4D5A-BB54-C8047868836A}"/>
              </a:ext>
            </a:extLst>
          </p:cNvPr>
          <p:cNvSpPr>
            <a:spLocks noGrp="1"/>
          </p:cNvSpPr>
          <p:nvPr/>
        </p:nvSpPr>
        <p:spPr>
          <a:xfrm>
            <a:off x="7867521" y="2761088"/>
            <a:ext cx="6096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69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9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Attention</a:t>
            </a:r>
          </a:p>
        </p:txBody>
      </p:sp>
      <p:sp>
        <p:nvSpPr>
          <p:cNvPr id="150" name="p2-o60">
            <a:extLst>
              <a:ext uri="{FF2B5EF4-FFF2-40B4-BE49-F238E27FC236}">
                <a16:creationId xmlns:a16="http://schemas.microsoft.com/office/drawing/2014/main" id="{9394C46B-75F1-4494-AC54-0085208BAD3C}"/>
              </a:ext>
            </a:extLst>
          </p:cNvPr>
          <p:cNvSpPr>
            <a:spLocks noGrp="1"/>
          </p:cNvSpPr>
          <p:nvPr/>
        </p:nvSpPr>
        <p:spPr>
          <a:xfrm>
            <a:off x="5705346" y="4408913"/>
            <a:ext cx="581025" cy="428625"/>
          </a:xfrm>
          <a:prstGeom prst="roundRect">
            <a:avLst>
              <a:gd name="adj" fmla="val 13333"/>
            </a:avLst>
          </a:prstGeom>
          <a:solidFill>
            <a:srgbClr val="E3F0FF"/>
          </a:solidFill>
          <a:ln w="9525">
            <a:solidFill>
              <a:srgbClr val="AACDF8"/>
            </a:solidFill>
          </a:ln>
        </p:spPr>
      </p:sp>
      <p:sp>
        <p:nvSpPr>
          <p:cNvPr id="151" name="p2-o61">
            <a:extLst>
              <a:ext uri="{FF2B5EF4-FFF2-40B4-BE49-F238E27FC236}">
                <a16:creationId xmlns:a16="http://schemas.microsoft.com/office/drawing/2014/main" id="{A10A583A-5D26-49D6-AB33-237D5A82C542}"/>
              </a:ext>
            </a:extLst>
          </p:cNvPr>
          <p:cNvSpPr>
            <a:spLocks noGrp="1"/>
          </p:cNvSpPr>
          <p:nvPr/>
        </p:nvSpPr>
        <p:spPr>
          <a:xfrm>
            <a:off x="5772021" y="4437488"/>
            <a:ext cx="447675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12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Pack</a:t>
            </a:r>
          </a:p>
          <a:p>
            <a:pPr algn="ctr">
              <a:defRPr sz="112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MLU</a:t>
            </a:r>
          </a:p>
        </p:txBody>
      </p:sp>
      <p:sp>
        <p:nvSpPr>
          <p:cNvPr id="152" name="p2-o62">
            <a:extLst>
              <a:ext uri="{FF2B5EF4-FFF2-40B4-BE49-F238E27FC236}">
                <a16:creationId xmlns:a16="http://schemas.microsoft.com/office/drawing/2014/main" id="{A1DFDF96-123C-4B56-A656-F25E93A82B03}"/>
              </a:ext>
            </a:extLst>
          </p:cNvPr>
          <p:cNvSpPr>
            <a:spLocks noGrp="1"/>
          </p:cNvSpPr>
          <p:nvPr/>
        </p:nvSpPr>
        <p:spPr>
          <a:xfrm>
            <a:off x="6286371" y="4408913"/>
            <a:ext cx="619125" cy="428625"/>
          </a:xfrm>
          <a:prstGeom prst="roundRect">
            <a:avLst>
              <a:gd name="adj" fmla="val 13333"/>
            </a:avLst>
          </a:prstGeom>
          <a:solidFill>
            <a:srgbClr val="E3F0FF"/>
          </a:solidFill>
          <a:ln w="9525">
            <a:solidFill>
              <a:srgbClr val="AACDF8"/>
            </a:solidFill>
          </a:ln>
        </p:spPr>
      </p:sp>
      <p:sp>
        <p:nvSpPr>
          <p:cNvPr id="153" name="p2-o63">
            <a:extLst>
              <a:ext uri="{FF2B5EF4-FFF2-40B4-BE49-F238E27FC236}">
                <a16:creationId xmlns:a16="http://schemas.microsoft.com/office/drawing/2014/main" id="{79DC62D2-ABBC-4452-8CCB-6AB9875091EB}"/>
              </a:ext>
            </a:extLst>
          </p:cNvPr>
          <p:cNvSpPr>
            <a:spLocks noGrp="1"/>
          </p:cNvSpPr>
          <p:nvPr/>
        </p:nvSpPr>
        <p:spPr>
          <a:xfrm>
            <a:off x="6353046" y="4437488"/>
            <a:ext cx="485775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12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D2H</a:t>
            </a:r>
          </a:p>
          <a:p>
            <a:pPr algn="ctr">
              <a:defRPr sz="112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异步</a:t>
            </a:r>
          </a:p>
        </p:txBody>
      </p:sp>
      <p:sp>
        <p:nvSpPr>
          <p:cNvPr id="154" name="p2-o64">
            <a:extLst>
              <a:ext uri="{FF2B5EF4-FFF2-40B4-BE49-F238E27FC236}">
                <a16:creationId xmlns:a16="http://schemas.microsoft.com/office/drawing/2014/main" id="{124FE86F-FF30-4448-A438-D2D5375FF4E9}"/>
              </a:ext>
            </a:extLst>
          </p:cNvPr>
          <p:cNvSpPr>
            <a:spLocks noGrp="1"/>
          </p:cNvSpPr>
          <p:nvPr/>
        </p:nvSpPr>
        <p:spPr>
          <a:xfrm>
            <a:off x="7162671" y="4408913"/>
            <a:ext cx="628650" cy="428625"/>
          </a:xfrm>
          <a:prstGeom prst="roundRect">
            <a:avLst>
              <a:gd name="adj" fmla="val 13333"/>
            </a:avLst>
          </a:prstGeom>
          <a:solidFill>
            <a:srgbClr val="E3F0FF"/>
          </a:solidFill>
          <a:ln w="9525">
            <a:solidFill>
              <a:srgbClr val="AACDF8"/>
            </a:solidFill>
          </a:ln>
        </p:spPr>
      </p:sp>
      <p:sp>
        <p:nvSpPr>
          <p:cNvPr id="155" name="p2-o65">
            <a:extLst>
              <a:ext uri="{FF2B5EF4-FFF2-40B4-BE49-F238E27FC236}">
                <a16:creationId xmlns:a16="http://schemas.microsoft.com/office/drawing/2014/main" id="{FA307D9D-D182-4A90-8AC3-572A8ADFBEED}"/>
              </a:ext>
            </a:extLst>
          </p:cNvPr>
          <p:cNvSpPr>
            <a:spLocks noGrp="1"/>
          </p:cNvSpPr>
          <p:nvPr/>
        </p:nvSpPr>
        <p:spPr>
          <a:xfrm>
            <a:off x="7229346" y="4437488"/>
            <a:ext cx="49530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12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H2D</a:t>
            </a:r>
          </a:p>
          <a:p>
            <a:pPr algn="ctr">
              <a:defRPr sz="112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异步</a:t>
            </a:r>
          </a:p>
        </p:txBody>
      </p:sp>
      <p:sp>
        <p:nvSpPr>
          <p:cNvPr id="156" name="p2-o66">
            <a:extLst>
              <a:ext uri="{FF2B5EF4-FFF2-40B4-BE49-F238E27FC236}">
                <a16:creationId xmlns:a16="http://schemas.microsoft.com/office/drawing/2014/main" id="{C22FD0F9-51E6-41B3-B6E6-FC90F13893D6}"/>
              </a:ext>
            </a:extLst>
          </p:cNvPr>
          <p:cNvSpPr>
            <a:spLocks noGrp="1"/>
          </p:cNvSpPr>
          <p:nvPr/>
        </p:nvSpPr>
        <p:spPr>
          <a:xfrm>
            <a:off x="7791321" y="4408913"/>
            <a:ext cx="733425" cy="428625"/>
          </a:xfrm>
          <a:prstGeom prst="roundRect">
            <a:avLst>
              <a:gd name="adj" fmla="val 13333"/>
            </a:avLst>
          </a:prstGeom>
          <a:solidFill>
            <a:srgbClr val="E3F0FF"/>
          </a:solidFill>
          <a:ln w="9525">
            <a:solidFill>
              <a:srgbClr val="AACDF8"/>
            </a:solidFill>
          </a:ln>
        </p:spPr>
      </p:sp>
      <p:sp>
        <p:nvSpPr>
          <p:cNvPr id="157" name="p2-o67">
            <a:extLst>
              <a:ext uri="{FF2B5EF4-FFF2-40B4-BE49-F238E27FC236}">
                <a16:creationId xmlns:a16="http://schemas.microsoft.com/office/drawing/2014/main" id="{1C3F0311-272E-40C2-B618-2EE36735B07C}"/>
              </a:ext>
            </a:extLst>
          </p:cNvPr>
          <p:cNvSpPr>
            <a:spLocks noGrp="1"/>
          </p:cNvSpPr>
          <p:nvPr/>
        </p:nvSpPr>
        <p:spPr>
          <a:xfrm>
            <a:off x="7857996" y="4437488"/>
            <a:ext cx="600075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12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Unpack</a:t>
            </a:r>
          </a:p>
          <a:p>
            <a:pPr algn="ctr">
              <a:defRPr sz="112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MLU</a:t>
            </a:r>
          </a:p>
        </p:txBody>
      </p:sp>
      <p:sp>
        <p:nvSpPr>
          <p:cNvPr id="158" name="p2-line68">
            <a:extLst>
              <a:ext uri="{FF2B5EF4-FFF2-40B4-BE49-F238E27FC236}">
                <a16:creationId xmlns:a16="http://schemas.microsoft.com/office/drawing/2014/main" id="{CA429F53-B0D6-4B84-BEE8-33545F63A3AA}"/>
              </a:ext>
            </a:extLst>
          </p:cNvPr>
          <p:cNvSpPr>
            <a:spLocks noGrp="1"/>
          </p:cNvSpPr>
          <p:nvPr/>
        </p:nvSpPr>
        <p:spPr>
          <a:xfrm>
            <a:off x="6038721" y="3256388"/>
            <a:ext cx="9525" cy="1133475"/>
          </a:xfrm>
          <a:custGeom>
            <a:avLst/>
            <a:gdLst/>
            <a:ahLst/>
            <a:cxnLst/>
            <a:rect l="0" t="0" r="0" b="0"/>
            <a:pathLst>
              <a:path w="9525" h="1133475">
                <a:moveTo>
                  <a:pt x="0" y="0"/>
                </a:moveTo>
                <a:lnTo>
                  <a:pt x="0" y="1133475"/>
                </a:lnTo>
              </a:path>
            </a:pathLst>
          </a:custGeom>
          <a:noFill/>
          <a:ln w="11430">
            <a:solidFill>
              <a:srgbClr val="DB0019"/>
            </a:solidFill>
            <a:prstDash val="dash"/>
          </a:ln>
        </p:spPr>
      </p:sp>
      <p:sp>
        <p:nvSpPr>
          <p:cNvPr id="159" name="p2-o69">
            <a:extLst>
              <a:ext uri="{FF2B5EF4-FFF2-40B4-BE49-F238E27FC236}">
                <a16:creationId xmlns:a16="http://schemas.microsoft.com/office/drawing/2014/main" id="{BFD1B2D0-ECB8-45A8-BCB7-CA800A059A98}"/>
              </a:ext>
            </a:extLst>
          </p:cNvPr>
          <p:cNvSpPr>
            <a:spLocks noGrp="1"/>
          </p:cNvSpPr>
          <p:nvPr/>
        </p:nvSpPr>
        <p:spPr>
          <a:xfrm>
            <a:off x="6005384" y="4323188"/>
            <a:ext cx="66675" cy="66675"/>
          </a:xfrm>
          <a:custGeom>
            <a:avLst/>
            <a:gdLst/>
            <a:ahLst/>
            <a:cxnLst/>
            <a:rect l="0" t="0" r="0" b="0"/>
            <a:pathLst>
              <a:path w="66675" h="66675">
                <a:moveTo>
                  <a:pt x="33338" y="66675"/>
                </a:moveTo>
                <a:lnTo>
                  <a:pt x="66675" y="0"/>
                </a:lnTo>
                <a:lnTo>
                  <a:pt x="0" y="0"/>
                </a:lnTo>
                <a:close/>
              </a:path>
            </a:pathLst>
          </a:custGeom>
          <a:solidFill>
            <a:srgbClr val="DB0019"/>
          </a:solidFill>
          <a:ln w="9525">
            <a:noFill/>
          </a:ln>
        </p:spPr>
      </p:sp>
      <p:sp>
        <p:nvSpPr>
          <p:cNvPr id="160" name="p2-line70">
            <a:extLst>
              <a:ext uri="{FF2B5EF4-FFF2-40B4-BE49-F238E27FC236}">
                <a16:creationId xmlns:a16="http://schemas.microsoft.com/office/drawing/2014/main" id="{CBD555C9-846B-45B0-9C0F-60A07CDE0857}"/>
              </a:ext>
            </a:extLst>
          </p:cNvPr>
          <p:cNvSpPr>
            <a:spLocks noGrp="1"/>
          </p:cNvSpPr>
          <p:nvPr/>
        </p:nvSpPr>
        <p:spPr>
          <a:xfrm>
            <a:off x="8162796" y="3265913"/>
            <a:ext cx="9525" cy="1133475"/>
          </a:xfrm>
          <a:custGeom>
            <a:avLst/>
            <a:gdLst/>
            <a:ahLst/>
            <a:cxnLst/>
            <a:rect l="0" t="0" r="0" b="0"/>
            <a:pathLst>
              <a:path w="9525" h="1133475">
                <a:moveTo>
                  <a:pt x="0" y="1133475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DB0019"/>
            </a:solidFill>
            <a:prstDash val="dash"/>
          </a:ln>
        </p:spPr>
      </p:sp>
      <p:sp>
        <p:nvSpPr>
          <p:cNvPr id="161" name="p2-o71">
            <a:extLst>
              <a:ext uri="{FF2B5EF4-FFF2-40B4-BE49-F238E27FC236}">
                <a16:creationId xmlns:a16="http://schemas.microsoft.com/office/drawing/2014/main" id="{E1097A5B-8A17-4B12-86C7-39D077E901BA}"/>
              </a:ext>
            </a:extLst>
          </p:cNvPr>
          <p:cNvSpPr>
            <a:spLocks noGrp="1"/>
          </p:cNvSpPr>
          <p:nvPr/>
        </p:nvSpPr>
        <p:spPr>
          <a:xfrm>
            <a:off x="8129459" y="3265913"/>
            <a:ext cx="66675" cy="66675"/>
          </a:xfrm>
          <a:custGeom>
            <a:avLst/>
            <a:gdLst/>
            <a:ahLst/>
            <a:cxnLst/>
            <a:rect l="0" t="0" r="0" b="0"/>
            <a:pathLst>
              <a:path w="66675" h="66675">
                <a:moveTo>
                  <a:pt x="33338" y="0"/>
                </a:moveTo>
                <a:lnTo>
                  <a:pt x="0" y="66675"/>
                </a:lnTo>
                <a:lnTo>
                  <a:pt x="66675" y="66675"/>
                </a:lnTo>
                <a:close/>
              </a:path>
            </a:pathLst>
          </a:custGeom>
          <a:solidFill>
            <a:srgbClr val="DB0019"/>
          </a:solidFill>
          <a:ln w="9525">
            <a:noFill/>
          </a:ln>
        </p:spPr>
      </p:sp>
      <p:sp>
        <p:nvSpPr>
          <p:cNvPr id="162" name="p2-o72">
            <a:extLst>
              <a:ext uri="{FF2B5EF4-FFF2-40B4-BE49-F238E27FC236}">
                <a16:creationId xmlns:a16="http://schemas.microsoft.com/office/drawing/2014/main" id="{0180BCD7-CC01-45FC-8FD3-04993827285E}"/>
              </a:ext>
            </a:extLst>
          </p:cNvPr>
          <p:cNvSpPr>
            <a:spLocks noGrp="1"/>
          </p:cNvSpPr>
          <p:nvPr/>
        </p:nvSpPr>
        <p:spPr>
          <a:xfrm>
            <a:off x="6114921" y="3389738"/>
            <a:ext cx="12573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05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记录 Event</a:t>
            </a:r>
          </a:p>
          <a:p>
            <a:pPr algn="l">
              <a:defRPr sz="105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KV 写完成</a:t>
            </a:r>
          </a:p>
        </p:txBody>
      </p:sp>
      <p:sp>
        <p:nvSpPr>
          <p:cNvPr id="163" name="p2-o73">
            <a:extLst>
              <a:ext uri="{FF2B5EF4-FFF2-40B4-BE49-F238E27FC236}">
                <a16:creationId xmlns:a16="http://schemas.microsoft.com/office/drawing/2014/main" id="{54451D6F-4FEC-4998-B25D-D1D62450C5CB}"/>
              </a:ext>
            </a:extLst>
          </p:cNvPr>
          <p:cNvSpPr>
            <a:spLocks noGrp="1"/>
          </p:cNvSpPr>
          <p:nvPr/>
        </p:nvSpPr>
        <p:spPr>
          <a:xfrm>
            <a:off x="8281858" y="3382594"/>
            <a:ext cx="733425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90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dirty="0" err="1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等待</a:t>
            </a:r>
            <a:r>
              <a:rPr sz="1000" dirty="0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 Event</a:t>
            </a:r>
          </a:p>
          <a:p>
            <a:pPr algn="l">
              <a:defRPr sz="90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dirty="0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KV </a:t>
            </a:r>
            <a:r>
              <a:rPr sz="1000" dirty="0" err="1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加载完成</a:t>
            </a:r>
            <a:endParaRPr sz="1000" dirty="0">
              <a:solidFill>
                <a:srgbClr val="0B2344"/>
              </a:solidFill>
              <a:latin typeface="Times New Roman" panose="02020603050405020304" pitchFamily="18" charset="0"/>
              <a:ea typeface="Microsoft YaHei"/>
              <a:cs typeface="Times New Roman" panose="02020603050405020304" pitchFamily="18" charset="0"/>
            </a:endParaRPr>
          </a:p>
        </p:txBody>
      </p:sp>
      <p:sp>
        <p:nvSpPr>
          <p:cNvPr id="164" name="p2-line74">
            <a:extLst>
              <a:ext uri="{FF2B5EF4-FFF2-40B4-BE49-F238E27FC236}">
                <a16:creationId xmlns:a16="http://schemas.microsoft.com/office/drawing/2014/main" id="{098D17B9-69CB-45E1-9A92-C47316DB6118}"/>
              </a:ext>
            </a:extLst>
          </p:cNvPr>
          <p:cNvSpPr>
            <a:spLocks noGrp="1"/>
          </p:cNvSpPr>
          <p:nvPr/>
        </p:nvSpPr>
        <p:spPr>
          <a:xfrm>
            <a:off x="6400671" y="4046963"/>
            <a:ext cx="1114425" cy="9525"/>
          </a:xfrm>
          <a:custGeom>
            <a:avLst/>
            <a:gdLst/>
            <a:ahLst/>
            <a:cxnLst/>
            <a:rect l="0" t="0" r="0" b="0"/>
            <a:pathLst>
              <a:path w="1114425" h="9525">
                <a:moveTo>
                  <a:pt x="0" y="0"/>
                </a:moveTo>
                <a:lnTo>
                  <a:pt x="1114425" y="0"/>
                </a:lnTo>
              </a:path>
            </a:pathLst>
          </a:custGeom>
          <a:noFill/>
          <a:ln w="9525">
            <a:solidFill>
              <a:srgbClr val="DB0019"/>
            </a:solidFill>
            <a:prstDash val="dash"/>
          </a:ln>
        </p:spPr>
      </p:sp>
      <p:sp>
        <p:nvSpPr>
          <p:cNvPr id="165" name="p2-o75">
            <a:extLst>
              <a:ext uri="{FF2B5EF4-FFF2-40B4-BE49-F238E27FC236}">
                <a16:creationId xmlns:a16="http://schemas.microsoft.com/office/drawing/2014/main" id="{347C2D89-E041-4F18-AE83-AE3D8D2C5B9B}"/>
              </a:ext>
            </a:extLst>
          </p:cNvPr>
          <p:cNvSpPr>
            <a:spLocks noGrp="1"/>
          </p:cNvSpPr>
          <p:nvPr/>
        </p:nvSpPr>
        <p:spPr>
          <a:xfrm>
            <a:off x="7448421" y="4013626"/>
            <a:ext cx="66675" cy="66675"/>
          </a:xfrm>
          <a:custGeom>
            <a:avLst/>
            <a:gdLst/>
            <a:ahLst/>
            <a:cxnLst/>
            <a:rect l="0" t="0" r="0" b="0"/>
            <a:pathLst>
              <a:path w="66675" h="66675">
                <a:moveTo>
                  <a:pt x="66675" y="33338"/>
                </a:moveTo>
                <a:lnTo>
                  <a:pt x="0" y="0"/>
                </a:lnTo>
                <a:lnTo>
                  <a:pt x="0" y="66675"/>
                </a:lnTo>
                <a:close/>
              </a:path>
            </a:pathLst>
          </a:custGeom>
          <a:solidFill>
            <a:srgbClr val="DB0019"/>
          </a:solidFill>
          <a:ln w="9525">
            <a:noFill/>
          </a:ln>
        </p:spPr>
      </p:sp>
      <p:sp>
        <p:nvSpPr>
          <p:cNvPr id="166" name="p2-line76">
            <a:extLst>
              <a:ext uri="{FF2B5EF4-FFF2-40B4-BE49-F238E27FC236}">
                <a16:creationId xmlns:a16="http://schemas.microsoft.com/office/drawing/2014/main" id="{667F52FB-461F-4979-8323-D605691C0525}"/>
              </a:ext>
            </a:extLst>
          </p:cNvPr>
          <p:cNvSpPr>
            <a:spLocks noGrp="1"/>
          </p:cNvSpPr>
          <p:nvPr/>
        </p:nvSpPr>
        <p:spPr>
          <a:xfrm>
            <a:off x="6400671" y="4046963"/>
            <a:ext cx="1114425" cy="9525"/>
          </a:xfrm>
          <a:custGeom>
            <a:avLst/>
            <a:gdLst/>
            <a:ahLst/>
            <a:cxnLst/>
            <a:rect l="0" t="0" r="0" b="0"/>
            <a:pathLst>
              <a:path w="1114425" h="9525">
                <a:moveTo>
                  <a:pt x="1114425" y="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DB0019"/>
            </a:solidFill>
            <a:prstDash val="dash"/>
          </a:ln>
        </p:spPr>
      </p:sp>
      <p:sp>
        <p:nvSpPr>
          <p:cNvPr id="167" name="p2-o77">
            <a:extLst>
              <a:ext uri="{FF2B5EF4-FFF2-40B4-BE49-F238E27FC236}">
                <a16:creationId xmlns:a16="http://schemas.microsoft.com/office/drawing/2014/main" id="{0B891769-2A82-4DFC-BE8C-1D573FAD3034}"/>
              </a:ext>
            </a:extLst>
          </p:cNvPr>
          <p:cNvSpPr>
            <a:spLocks noGrp="1"/>
          </p:cNvSpPr>
          <p:nvPr/>
        </p:nvSpPr>
        <p:spPr>
          <a:xfrm>
            <a:off x="6400671" y="4013626"/>
            <a:ext cx="66675" cy="66675"/>
          </a:xfrm>
          <a:custGeom>
            <a:avLst/>
            <a:gdLst/>
            <a:ahLst/>
            <a:cxnLst/>
            <a:rect l="0" t="0" r="0" b="0"/>
            <a:pathLst>
              <a:path w="66675" h="66675">
                <a:moveTo>
                  <a:pt x="0" y="33338"/>
                </a:moveTo>
                <a:lnTo>
                  <a:pt x="66675" y="66675"/>
                </a:lnTo>
                <a:lnTo>
                  <a:pt x="66675" y="0"/>
                </a:lnTo>
                <a:close/>
              </a:path>
            </a:pathLst>
          </a:custGeom>
          <a:solidFill>
            <a:srgbClr val="DB0019"/>
          </a:solidFill>
          <a:ln w="9525">
            <a:noFill/>
          </a:ln>
        </p:spPr>
      </p:sp>
      <p:sp>
        <p:nvSpPr>
          <p:cNvPr id="168" name="p2-o78">
            <a:extLst>
              <a:ext uri="{FF2B5EF4-FFF2-40B4-BE49-F238E27FC236}">
                <a16:creationId xmlns:a16="http://schemas.microsoft.com/office/drawing/2014/main" id="{4CB51C7D-EC5E-4B03-8B31-74E91CDD2675}"/>
              </a:ext>
            </a:extLst>
          </p:cNvPr>
          <p:cNvSpPr>
            <a:spLocks noGrp="1"/>
          </p:cNvSpPr>
          <p:nvPr/>
        </p:nvSpPr>
        <p:spPr>
          <a:xfrm>
            <a:off x="6210171" y="3780263"/>
            <a:ext cx="12192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1">
                <a:solidFill>
                  <a:srgbClr val="DB0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DB0019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计算 / 搬运重叠</a:t>
            </a:r>
          </a:p>
        </p:txBody>
      </p:sp>
      <p:sp>
        <p:nvSpPr>
          <p:cNvPr id="170" name="p2-o82">
            <a:extLst>
              <a:ext uri="{FF2B5EF4-FFF2-40B4-BE49-F238E27FC236}">
                <a16:creationId xmlns:a16="http://schemas.microsoft.com/office/drawing/2014/main" id="{EBB5A5A4-3BC2-47C2-8A95-A438640AB8E8}"/>
              </a:ext>
            </a:extLst>
          </p:cNvPr>
          <p:cNvSpPr>
            <a:spLocks noGrp="1"/>
          </p:cNvSpPr>
          <p:nvPr/>
        </p:nvSpPr>
        <p:spPr>
          <a:xfrm>
            <a:off x="333375" y="5791200"/>
            <a:ext cx="1933575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endParaRPr/>
          </a:p>
        </p:txBody>
      </p:sp>
      <p:sp>
        <p:nvSpPr>
          <p:cNvPr id="174" name="p2-o86">
            <a:extLst>
              <a:ext uri="{FF2B5EF4-FFF2-40B4-BE49-F238E27FC236}">
                <a16:creationId xmlns:a16="http://schemas.microsoft.com/office/drawing/2014/main" id="{C6E178EA-3906-495E-96B7-AB19C023BDF9}"/>
              </a:ext>
            </a:extLst>
          </p:cNvPr>
          <p:cNvSpPr>
            <a:spLocks noGrp="1"/>
          </p:cNvSpPr>
          <p:nvPr/>
        </p:nvSpPr>
        <p:spPr>
          <a:xfrm>
            <a:off x="2514600" y="5791200"/>
            <a:ext cx="1933575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endParaRPr/>
          </a:p>
        </p:txBody>
      </p:sp>
      <p:sp>
        <p:nvSpPr>
          <p:cNvPr id="175" name="p2-o87">
            <a:extLst>
              <a:ext uri="{FF2B5EF4-FFF2-40B4-BE49-F238E27FC236}">
                <a16:creationId xmlns:a16="http://schemas.microsoft.com/office/drawing/2014/main" id="{0C803629-5B0B-489D-B7F7-7F54DEF230FE}"/>
              </a:ext>
            </a:extLst>
          </p:cNvPr>
          <p:cNvSpPr>
            <a:spLocks noGrp="1"/>
          </p:cNvSpPr>
          <p:nvPr/>
        </p:nvSpPr>
        <p:spPr>
          <a:xfrm>
            <a:off x="2542991" y="5980538"/>
            <a:ext cx="187642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037E8F"/>
                </a:solidFill>
                <a:latin typeface="Microsoft YaHei"/>
                <a:ea typeface="Microsoft YaHei"/>
                <a:cs typeface="Microsoft YaHei"/>
              </a:defRPr>
            </a:pPr>
            <a:endParaRPr sz="1425" b="1" dirty="0">
              <a:solidFill>
                <a:srgbClr val="037E8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8" name="p2-o90">
            <a:extLst>
              <a:ext uri="{FF2B5EF4-FFF2-40B4-BE49-F238E27FC236}">
                <a16:creationId xmlns:a16="http://schemas.microsoft.com/office/drawing/2014/main" id="{CA16CC19-68F6-4063-9A0F-6E2C6C0AA27C}"/>
              </a:ext>
            </a:extLst>
          </p:cNvPr>
          <p:cNvSpPr>
            <a:spLocks noGrp="1"/>
          </p:cNvSpPr>
          <p:nvPr/>
        </p:nvSpPr>
        <p:spPr>
          <a:xfrm>
            <a:off x="4695825" y="5791200"/>
            <a:ext cx="1933575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endParaRPr/>
          </a:p>
        </p:txBody>
      </p:sp>
      <p:sp>
        <p:nvSpPr>
          <p:cNvPr id="179" name="p2-o91">
            <a:extLst>
              <a:ext uri="{FF2B5EF4-FFF2-40B4-BE49-F238E27FC236}">
                <a16:creationId xmlns:a16="http://schemas.microsoft.com/office/drawing/2014/main" id="{BD1C2929-EA24-4E86-936F-CC2CE8D84CE0}"/>
              </a:ext>
            </a:extLst>
          </p:cNvPr>
          <p:cNvSpPr>
            <a:spLocks noGrp="1"/>
          </p:cNvSpPr>
          <p:nvPr/>
        </p:nvSpPr>
        <p:spPr>
          <a:xfrm>
            <a:off x="4724216" y="5980538"/>
            <a:ext cx="187642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D96700"/>
                </a:solidFill>
                <a:latin typeface="Microsoft YaHei"/>
                <a:ea typeface="Microsoft YaHei"/>
                <a:cs typeface="Microsoft YaHei"/>
              </a:defRPr>
            </a:pPr>
            <a:endParaRPr sz="1425" b="1" dirty="0">
              <a:solidFill>
                <a:srgbClr val="D967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2" name="p2-o94">
            <a:extLst>
              <a:ext uri="{FF2B5EF4-FFF2-40B4-BE49-F238E27FC236}">
                <a16:creationId xmlns:a16="http://schemas.microsoft.com/office/drawing/2014/main" id="{A6E1D916-DCDD-4171-B49E-4EC4CA766E7F}"/>
              </a:ext>
            </a:extLst>
          </p:cNvPr>
          <p:cNvSpPr>
            <a:spLocks noGrp="1"/>
          </p:cNvSpPr>
          <p:nvPr/>
        </p:nvSpPr>
        <p:spPr>
          <a:xfrm>
            <a:off x="6877050" y="5791200"/>
            <a:ext cx="1933575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endParaRPr/>
          </a:p>
        </p:txBody>
      </p:sp>
      <p:sp>
        <p:nvSpPr>
          <p:cNvPr id="183" name="p2-o95">
            <a:extLst>
              <a:ext uri="{FF2B5EF4-FFF2-40B4-BE49-F238E27FC236}">
                <a16:creationId xmlns:a16="http://schemas.microsoft.com/office/drawing/2014/main" id="{51052867-14AA-48B9-B471-8A7A62EDCA45}"/>
              </a:ext>
            </a:extLst>
          </p:cNvPr>
          <p:cNvSpPr>
            <a:spLocks noGrp="1"/>
          </p:cNvSpPr>
          <p:nvPr/>
        </p:nvSpPr>
        <p:spPr>
          <a:xfrm>
            <a:off x="6905441" y="5980538"/>
            <a:ext cx="187642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5B3CCC"/>
                </a:solidFill>
                <a:latin typeface="Microsoft YaHei"/>
                <a:ea typeface="Microsoft YaHei"/>
                <a:cs typeface="Microsoft YaHei"/>
              </a:defRPr>
            </a:pPr>
            <a:endParaRPr sz="1425" b="1" dirty="0">
              <a:solidFill>
                <a:srgbClr val="5B3CC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5" name="p2-o11">
            <a:extLst>
              <a:ext uri="{FF2B5EF4-FFF2-40B4-BE49-F238E27FC236}">
                <a16:creationId xmlns:a16="http://schemas.microsoft.com/office/drawing/2014/main" id="{5FFD9A93-0665-4551-B5AA-A73662C91BB8}"/>
              </a:ext>
            </a:extLst>
          </p:cNvPr>
          <p:cNvSpPr>
            <a:spLocks noGrp="1"/>
          </p:cNvSpPr>
          <p:nvPr/>
        </p:nvSpPr>
        <p:spPr>
          <a:xfrm>
            <a:off x="380645" y="5580489"/>
            <a:ext cx="39243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57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3</a:t>
            </a:r>
            <a:r>
              <a:rPr sz="157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. </a:t>
            </a:r>
            <a:r>
              <a:rPr lang="zh-CN" altLang="en-US" sz="157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其他优化</a:t>
            </a:r>
            <a:endParaRPr sz="1575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Microsoft YaHei"/>
              <a:cs typeface="Times New Roman" panose="02020603050405020304" pitchFamily="18" charset="0"/>
            </a:endParaRPr>
          </a:p>
        </p:txBody>
      </p:sp>
      <p:sp>
        <p:nvSpPr>
          <p:cNvPr id="186" name="文本框 95"/>
          <p:cNvSpPr txBox="1"/>
          <p:nvPr/>
        </p:nvSpPr>
        <p:spPr>
          <a:xfrm>
            <a:off x="909246" y="6001623"/>
            <a:ext cx="1371726" cy="3231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charset="0"/>
              <a:buChar char="p"/>
            </a:pPr>
            <a:r>
              <a:rPr lang="zh-CN" altLang="en-US" sz="1500" b="1" dirty="0" smtClean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权重量化</a:t>
            </a:r>
            <a:endParaRPr lang="zh-CN" altLang="en-US" sz="1500" b="1" dirty="0">
              <a:solidFill>
                <a:srgbClr val="004B9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87" name="文本框 95"/>
          <p:cNvSpPr txBox="1"/>
          <p:nvPr/>
        </p:nvSpPr>
        <p:spPr>
          <a:xfrm>
            <a:off x="2446942" y="6005274"/>
            <a:ext cx="1801480" cy="3231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charset="0"/>
              <a:buChar char="p"/>
            </a:pPr>
            <a:r>
              <a:rPr lang="en-US" altLang="zh-CN" sz="1500" b="1" dirty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LRU </a:t>
            </a:r>
            <a:r>
              <a:rPr lang="zh-CN" altLang="en-US" sz="1500" b="1" dirty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缓存管理</a:t>
            </a:r>
          </a:p>
        </p:txBody>
      </p:sp>
      <p:sp>
        <p:nvSpPr>
          <p:cNvPr id="188" name="文本框 95"/>
          <p:cNvSpPr txBox="1"/>
          <p:nvPr/>
        </p:nvSpPr>
        <p:spPr>
          <a:xfrm>
            <a:off x="4474857" y="6006583"/>
            <a:ext cx="1811385" cy="3231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charset="0"/>
              <a:buChar char="p"/>
            </a:pPr>
            <a:r>
              <a:rPr lang="en-US" altLang="zh-CN" sz="1500" b="1" dirty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INT8 KV </a:t>
            </a:r>
            <a:r>
              <a:rPr lang="zh-CN" altLang="en-US" sz="1500" b="1" dirty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量化</a:t>
            </a:r>
          </a:p>
        </p:txBody>
      </p:sp>
      <p:sp>
        <p:nvSpPr>
          <p:cNvPr id="189" name="文本框 95"/>
          <p:cNvSpPr txBox="1"/>
          <p:nvPr/>
        </p:nvSpPr>
        <p:spPr>
          <a:xfrm>
            <a:off x="6648285" y="5979799"/>
            <a:ext cx="1752671" cy="3231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charset="0"/>
              <a:buChar char="p"/>
            </a:pPr>
            <a:r>
              <a:rPr lang="zh-CN" altLang="en-US" sz="1500" b="1" dirty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自适应加载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</a:t>
            </a:r>
            <a:r>
              <a:rPr lang="zh-CN" altLang="en-US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任务一</a:t>
            </a:r>
            <a:r>
              <a:rPr sz="1950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lu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平台算子优化与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vllm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510903" y="6597079"/>
            <a:ext cx="6589489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Hong, D. B.; Imani, A.; Ahmed, I. “From Anatomy to Smells: An Empirical Study of SKILL.md in Agent Skills.” arXiv:2607.01456, 2026.</a:t>
            </a:r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7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2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vllm</a:t>
            </a:r>
            <a:r>
              <a:rPr lang="zh-CN" altLang="en-US" sz="21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优化：实验结果</a:t>
            </a:r>
            <a:endParaRPr lang="zh-CN" altLang="en-US" sz="2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0" name="p2-o82">
            <a:extLst>
              <a:ext uri="{FF2B5EF4-FFF2-40B4-BE49-F238E27FC236}">
                <a16:creationId xmlns:a16="http://schemas.microsoft.com/office/drawing/2014/main" id="{EBB5A5A4-3BC2-47C2-8A95-A438640AB8E8}"/>
              </a:ext>
            </a:extLst>
          </p:cNvPr>
          <p:cNvSpPr>
            <a:spLocks noGrp="1"/>
          </p:cNvSpPr>
          <p:nvPr/>
        </p:nvSpPr>
        <p:spPr>
          <a:xfrm>
            <a:off x="333375" y="5791200"/>
            <a:ext cx="1933575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endParaRPr/>
          </a:p>
        </p:txBody>
      </p:sp>
      <p:sp>
        <p:nvSpPr>
          <p:cNvPr id="174" name="p2-o86">
            <a:extLst>
              <a:ext uri="{FF2B5EF4-FFF2-40B4-BE49-F238E27FC236}">
                <a16:creationId xmlns:a16="http://schemas.microsoft.com/office/drawing/2014/main" id="{C6E178EA-3906-495E-96B7-AB19C023BDF9}"/>
              </a:ext>
            </a:extLst>
          </p:cNvPr>
          <p:cNvSpPr>
            <a:spLocks noGrp="1"/>
          </p:cNvSpPr>
          <p:nvPr/>
        </p:nvSpPr>
        <p:spPr>
          <a:xfrm>
            <a:off x="2514600" y="5791200"/>
            <a:ext cx="1933575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endParaRPr/>
          </a:p>
        </p:txBody>
      </p:sp>
      <p:sp>
        <p:nvSpPr>
          <p:cNvPr id="178" name="p2-o90">
            <a:extLst>
              <a:ext uri="{FF2B5EF4-FFF2-40B4-BE49-F238E27FC236}">
                <a16:creationId xmlns:a16="http://schemas.microsoft.com/office/drawing/2014/main" id="{CA16CC19-68F6-4063-9A0F-6E2C6C0AA27C}"/>
              </a:ext>
            </a:extLst>
          </p:cNvPr>
          <p:cNvSpPr>
            <a:spLocks noGrp="1"/>
          </p:cNvSpPr>
          <p:nvPr/>
        </p:nvSpPr>
        <p:spPr>
          <a:xfrm>
            <a:off x="4695825" y="5791200"/>
            <a:ext cx="1933575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endParaRPr/>
          </a:p>
        </p:txBody>
      </p:sp>
      <p:sp>
        <p:nvSpPr>
          <p:cNvPr id="182" name="p2-o94">
            <a:extLst>
              <a:ext uri="{FF2B5EF4-FFF2-40B4-BE49-F238E27FC236}">
                <a16:creationId xmlns:a16="http://schemas.microsoft.com/office/drawing/2014/main" id="{A6E1D916-DCDD-4171-B49E-4EC4CA766E7F}"/>
              </a:ext>
            </a:extLst>
          </p:cNvPr>
          <p:cNvSpPr>
            <a:spLocks noGrp="1"/>
          </p:cNvSpPr>
          <p:nvPr/>
        </p:nvSpPr>
        <p:spPr>
          <a:xfrm>
            <a:off x="6877050" y="5791200"/>
            <a:ext cx="1933575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endParaRPr/>
          </a:p>
        </p:txBody>
      </p:sp>
      <p:graphicFrame>
        <p:nvGraphicFramePr>
          <p:cNvPr id="86" name="表格 85"/>
          <p:cNvGraphicFramePr/>
          <p:nvPr>
            <p:extLst>
              <p:ext uri="{D42A27DB-BD31-4B8C-83A1-F6EECF244321}">
                <p14:modId xmlns:p14="http://schemas.microsoft.com/office/powerpoint/2010/main" val="3710056073"/>
              </p:ext>
            </p:extLst>
          </p:nvPr>
        </p:nvGraphicFramePr>
        <p:xfrm>
          <a:off x="276225" y="1876425"/>
          <a:ext cx="8591550" cy="4000500"/>
        </p:xfrm>
        <a:graphic>
          <a:graphicData uri="http://schemas.openxmlformats.org/drawingml/2006/table">
            <a:tbl>
              <a:tblPr/>
              <a:tblGrid>
                <a:gridCol w="280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52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优化前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优化后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变化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/ </a:t>
                      </a:r>
                      <a:r>
                        <a:rPr sz="150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</a:t>
                      </a:r>
                      <a:endParaRPr sz="150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B23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KV Store 耗时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23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307.8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DB001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19.3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DB001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加速 16.0×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B23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KV Load 耗时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23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398.7 ms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DB001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29.8 ms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DB001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加速 13.4×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B23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Prefix HIT 场景 TTFT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23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435.9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DB001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107.8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DB001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缩短 75.3%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B23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KV Cache 容量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23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1×（基准）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DB001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 2×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DB001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INT8 KV 量化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B23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峰值吞吐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23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DB001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2158.1 tok/s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 err="1">
                          <a:solidFill>
                            <a:srgbClr val="DB001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优化后峰值</a:t>
                      </a:r>
                      <a:endParaRPr sz="1500" b="0" dirty="0">
                        <a:solidFill>
                          <a:srgbClr val="DB0019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7" name="文本框 95"/>
          <p:cNvSpPr txBox="1"/>
          <p:nvPr/>
        </p:nvSpPr>
        <p:spPr>
          <a:xfrm>
            <a:off x="909246" y="6001623"/>
            <a:ext cx="3950786" cy="3231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charset="0"/>
              <a:buChar char="p"/>
            </a:pPr>
            <a:r>
              <a:rPr lang="zh-CN" altLang="en-US" sz="1500" b="1" dirty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耗时指标测试条件：</a:t>
            </a:r>
            <a:r>
              <a:rPr lang="en-US" altLang="zh-CN" sz="1500" b="1" dirty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4096 tokens</a:t>
            </a:r>
          </a:p>
        </p:txBody>
      </p:sp>
    </p:spTree>
    <p:extLst>
      <p:ext uri="{BB962C8B-B14F-4D97-AF65-F5344CB8AC3E}">
        <p14:creationId xmlns:p14="http://schemas.microsoft.com/office/powerpoint/2010/main" val="2002017733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</a:t>
            </a:r>
            <a:r>
              <a:rPr lang="zh-CN" altLang="en-US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任务二</a:t>
            </a:r>
            <a:r>
              <a:rPr sz="1950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寒武纪算子开发</a:t>
            </a:r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SKILL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sz="195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510903" y="6597079"/>
            <a:ext cx="6589489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Hong, D. B.; Imani, A.; Ahmed, I. “From Anatomy to Smells: An Empirical Study of SKILL.md in Agent Skills.” arXiv:2607.01456, 2026.</a:t>
            </a:r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84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原始</a:t>
            </a:r>
            <a:r>
              <a:rPr sz="21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Skill </a:t>
            </a:r>
            <a:r>
              <a:rPr sz="2100" b="1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已具备完整开发流程</a:t>
            </a:r>
            <a:endParaRPr sz="2100" b="1" dirty="0">
              <a:solidFill>
                <a:srgbClr val="000000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85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86" name="object_105"/>
          <p:cNvSpPr>
            <a:spLocks noGrp="1"/>
          </p:cNvSpPr>
          <p:nvPr/>
        </p:nvSpPr>
        <p:spPr>
          <a:xfrm>
            <a:off x="559926" y="1883730"/>
            <a:ext cx="1214438" cy="40005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>
                <a:lumMod val="95000"/>
                <a:lumOff val="5000"/>
              </a:schemeClr>
            </a:solidFill>
          </a:ln>
        </p:spPr>
      </p:sp>
      <p:sp>
        <p:nvSpPr>
          <p:cNvPr id="87" name="text_107_需求输入"/>
          <p:cNvSpPr>
            <a:spLocks noGrp="1"/>
          </p:cNvSpPr>
          <p:nvPr/>
        </p:nvSpPr>
        <p:spPr>
          <a:xfrm>
            <a:off x="609932" y="1919448"/>
            <a:ext cx="1114425" cy="328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4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需求输入</a:t>
            </a:r>
            <a:endParaRPr sz="124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object_110"/>
          <p:cNvSpPr>
            <a:spLocks noGrp="1"/>
          </p:cNvSpPr>
          <p:nvPr/>
        </p:nvSpPr>
        <p:spPr>
          <a:xfrm>
            <a:off x="1938670" y="1883730"/>
            <a:ext cx="1214438" cy="40005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>
                <a:lumMod val="95000"/>
                <a:lumOff val="5000"/>
              </a:schemeClr>
            </a:solidFill>
          </a:ln>
        </p:spPr>
      </p:sp>
      <p:sp>
        <p:nvSpPr>
          <p:cNvPr id="91" name="text_112_Main"/>
          <p:cNvSpPr>
            <a:spLocks noGrp="1"/>
          </p:cNvSpPr>
          <p:nvPr/>
        </p:nvSpPr>
        <p:spPr>
          <a:xfrm>
            <a:off x="1988676" y="1919448"/>
            <a:ext cx="1114425" cy="328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4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</a:p>
        </p:txBody>
      </p:sp>
      <p:sp>
        <p:nvSpPr>
          <p:cNvPr id="94" name="object_115"/>
          <p:cNvSpPr>
            <a:spLocks noGrp="1"/>
          </p:cNvSpPr>
          <p:nvPr/>
        </p:nvSpPr>
        <p:spPr>
          <a:xfrm>
            <a:off x="3317413" y="1883730"/>
            <a:ext cx="1214438" cy="40005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>
                <a:lumMod val="95000"/>
                <a:lumOff val="5000"/>
              </a:schemeClr>
            </a:solidFill>
          </a:ln>
        </p:spPr>
      </p:sp>
      <p:sp>
        <p:nvSpPr>
          <p:cNvPr id="95" name="text_117_Code-Gen"/>
          <p:cNvSpPr>
            <a:spLocks noGrp="1"/>
          </p:cNvSpPr>
          <p:nvPr/>
        </p:nvSpPr>
        <p:spPr>
          <a:xfrm>
            <a:off x="3367420" y="1919448"/>
            <a:ext cx="1114425" cy="328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4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Code-Gen</a:t>
            </a:r>
          </a:p>
        </p:txBody>
      </p:sp>
      <p:sp>
        <p:nvSpPr>
          <p:cNvPr id="98" name="object_120"/>
          <p:cNvSpPr>
            <a:spLocks noGrp="1"/>
          </p:cNvSpPr>
          <p:nvPr/>
        </p:nvSpPr>
        <p:spPr>
          <a:xfrm>
            <a:off x="4696157" y="1883730"/>
            <a:ext cx="1214438" cy="40005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>
                <a:lumMod val="95000"/>
                <a:lumOff val="5000"/>
              </a:schemeClr>
            </a:solidFill>
          </a:ln>
        </p:spPr>
      </p:sp>
      <p:sp>
        <p:nvSpPr>
          <p:cNvPr id="99" name="text_122_Code-Review"/>
          <p:cNvSpPr>
            <a:spLocks noGrp="1"/>
          </p:cNvSpPr>
          <p:nvPr/>
        </p:nvSpPr>
        <p:spPr>
          <a:xfrm>
            <a:off x="4746164" y="1919448"/>
            <a:ext cx="1114425" cy="328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4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Code-Review</a:t>
            </a:r>
          </a:p>
        </p:txBody>
      </p:sp>
      <p:sp>
        <p:nvSpPr>
          <p:cNvPr id="102" name="object_125"/>
          <p:cNvSpPr>
            <a:spLocks noGrp="1"/>
          </p:cNvSpPr>
          <p:nvPr/>
        </p:nvSpPr>
        <p:spPr>
          <a:xfrm>
            <a:off x="6074901" y="1883730"/>
            <a:ext cx="1214438" cy="40005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>
                <a:lumMod val="95000"/>
                <a:lumOff val="5000"/>
              </a:schemeClr>
            </a:solidFill>
          </a:ln>
        </p:spPr>
      </p:sp>
      <p:sp>
        <p:nvSpPr>
          <p:cNvPr id="103" name="text_127_Optimize"/>
          <p:cNvSpPr>
            <a:spLocks noGrp="1"/>
          </p:cNvSpPr>
          <p:nvPr/>
        </p:nvSpPr>
        <p:spPr>
          <a:xfrm>
            <a:off x="6124907" y="1919448"/>
            <a:ext cx="1114425" cy="328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4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</a:t>
            </a:r>
          </a:p>
        </p:txBody>
      </p:sp>
      <p:sp>
        <p:nvSpPr>
          <p:cNvPr id="106" name="object_130"/>
          <p:cNvSpPr>
            <a:spLocks noGrp="1"/>
          </p:cNvSpPr>
          <p:nvPr/>
        </p:nvSpPr>
        <p:spPr>
          <a:xfrm>
            <a:off x="7453645" y="1883730"/>
            <a:ext cx="1214438" cy="40005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>
                <a:lumMod val="95000"/>
                <a:lumOff val="5000"/>
              </a:schemeClr>
            </a:solidFill>
          </a:ln>
        </p:spPr>
      </p:sp>
      <p:sp>
        <p:nvSpPr>
          <p:cNvPr id="107" name="text_132_Kernel 交付"/>
          <p:cNvSpPr>
            <a:spLocks noGrp="1"/>
          </p:cNvSpPr>
          <p:nvPr/>
        </p:nvSpPr>
        <p:spPr>
          <a:xfrm>
            <a:off x="7503651" y="1919448"/>
            <a:ext cx="1114425" cy="328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4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Kernel </a:t>
            </a:r>
            <a:r>
              <a:rPr sz="124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交付</a:t>
            </a:r>
            <a:endParaRPr sz="124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text_137_实际使用中的核心问题"/>
          <p:cNvSpPr>
            <a:spLocks noGrp="1"/>
          </p:cNvSpPr>
          <p:nvPr/>
        </p:nvSpPr>
        <p:spPr>
          <a:xfrm>
            <a:off x="616331" y="2689244"/>
            <a:ext cx="34432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使用中</a:t>
            </a: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遇到的</a:t>
            </a:r>
            <a:r>
              <a:rPr sz="21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问题</a:t>
            </a:r>
            <a:endParaRPr sz="21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connector_138"/>
          <p:cNvSpPr>
            <a:spLocks noGrp="1"/>
          </p:cNvSpPr>
          <p:nvPr/>
        </p:nvSpPr>
        <p:spPr>
          <a:xfrm>
            <a:off x="602043" y="3025001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110" name="text_171_上下文重复"/>
          <p:cNvSpPr>
            <a:spLocks noGrp="1"/>
          </p:cNvSpPr>
          <p:nvPr/>
        </p:nvSpPr>
        <p:spPr>
          <a:xfrm>
            <a:off x="1570021" y="4289148"/>
            <a:ext cx="1178719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000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开发</a:t>
            </a:r>
            <a:r>
              <a:rPr lang="zh-CN" altLang="en-US" sz="2000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算子时间长</a:t>
            </a:r>
            <a:endParaRPr sz="2000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text_176_调度过多"/>
          <p:cNvSpPr>
            <a:spLocks noGrp="1"/>
          </p:cNvSpPr>
          <p:nvPr/>
        </p:nvSpPr>
        <p:spPr>
          <a:xfrm>
            <a:off x="1570021" y="4782067"/>
            <a:ext cx="1178719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2000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oken</a:t>
            </a:r>
            <a:r>
              <a:rPr lang="zh-CN" altLang="en-US" sz="2000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消耗高</a:t>
            </a:r>
            <a:endParaRPr sz="2000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text_181_优化不稳"/>
          <p:cNvSpPr>
            <a:spLocks noGrp="1"/>
          </p:cNvSpPr>
          <p:nvPr/>
        </p:nvSpPr>
        <p:spPr>
          <a:xfrm>
            <a:off x="1570021" y="5274985"/>
            <a:ext cx="1178719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000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只</a:t>
            </a:r>
            <a:r>
              <a:rPr lang="zh-CN" altLang="en-US" sz="2000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支持静态</a:t>
            </a:r>
            <a:r>
              <a:rPr lang="en-US" altLang="zh-CN" sz="2000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  <a:endParaRPr sz="2000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text_186_验证成本高"/>
          <p:cNvSpPr>
            <a:spLocks noGrp="1"/>
          </p:cNvSpPr>
          <p:nvPr/>
        </p:nvSpPr>
        <p:spPr>
          <a:xfrm>
            <a:off x="1570021" y="5767904"/>
            <a:ext cx="1178719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000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修改后</a:t>
            </a:r>
            <a:r>
              <a:rPr sz="2000" b="1" dirty="0" err="1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验证成本高</a:t>
            </a:r>
            <a:endParaRPr sz="2000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object_125"/>
          <p:cNvSpPr>
            <a:spLocks noGrp="1"/>
          </p:cNvSpPr>
          <p:nvPr/>
        </p:nvSpPr>
        <p:spPr>
          <a:xfrm>
            <a:off x="1016902" y="3426814"/>
            <a:ext cx="6085433" cy="400050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122" name="text_127_Optimize"/>
          <p:cNvSpPr>
            <a:spLocks noGrp="1"/>
          </p:cNvSpPr>
          <p:nvPr/>
        </p:nvSpPr>
        <p:spPr>
          <a:xfrm>
            <a:off x="3496982" y="3476821"/>
            <a:ext cx="1114425" cy="328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4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例子：输入 </a:t>
            </a:r>
            <a:r>
              <a:rPr lang="en-US" altLang="zh-CN" sz="124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4096*8192</a:t>
            </a:r>
            <a:r>
              <a:rPr lang="zh-CN" altLang="en-US" sz="124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sz="124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zh-CN" altLang="en-US" sz="124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算子，开发时间</a:t>
            </a:r>
            <a:r>
              <a:rPr lang="zh-CN" altLang="en-US" sz="124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三小时</a:t>
            </a:r>
            <a:r>
              <a:rPr lang="zh-CN" altLang="en-US" sz="124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，消耗</a:t>
            </a:r>
            <a:r>
              <a:rPr lang="en-US" altLang="zh-CN" sz="124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</a:t>
            </a:r>
            <a:r>
              <a:rPr lang="zh-CN" altLang="en-US" sz="124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万</a:t>
            </a:r>
            <a:r>
              <a:rPr lang="en-US" altLang="zh-CN" sz="124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token</a:t>
            </a:r>
            <a:r>
              <a:rPr lang="zh-CN" altLang="en-US" sz="124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，加速比</a:t>
            </a:r>
            <a:r>
              <a:rPr lang="en-US" altLang="zh-CN" sz="124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0.87</a:t>
            </a:r>
            <a:endParaRPr sz="124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椭圆 123"/>
          <p:cNvSpPr/>
          <p:nvPr/>
        </p:nvSpPr>
        <p:spPr>
          <a:xfrm>
            <a:off x="1178385" y="4321389"/>
            <a:ext cx="169281" cy="146939"/>
          </a:xfrm>
          <a:prstGeom prst="ellipse">
            <a:avLst/>
          </a:prstGeom>
          <a:solidFill>
            <a:srgbClr val="D7000F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椭圆 124"/>
          <p:cNvSpPr/>
          <p:nvPr/>
        </p:nvSpPr>
        <p:spPr>
          <a:xfrm>
            <a:off x="1178384" y="4841278"/>
            <a:ext cx="169281" cy="146939"/>
          </a:xfrm>
          <a:prstGeom prst="ellipse">
            <a:avLst/>
          </a:prstGeom>
          <a:solidFill>
            <a:srgbClr val="D7000F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" name="椭圆 125"/>
          <p:cNvSpPr/>
          <p:nvPr/>
        </p:nvSpPr>
        <p:spPr>
          <a:xfrm>
            <a:off x="1178385" y="5332787"/>
            <a:ext cx="169281" cy="146939"/>
          </a:xfrm>
          <a:prstGeom prst="ellipse">
            <a:avLst/>
          </a:prstGeom>
          <a:solidFill>
            <a:srgbClr val="D7000F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7" name="椭圆 126"/>
          <p:cNvSpPr/>
          <p:nvPr/>
        </p:nvSpPr>
        <p:spPr>
          <a:xfrm>
            <a:off x="1178385" y="5805162"/>
            <a:ext cx="169281" cy="146939"/>
          </a:xfrm>
          <a:prstGeom prst="ellipse">
            <a:avLst/>
          </a:prstGeom>
          <a:solidFill>
            <a:srgbClr val="D7000F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0" name="直接箭头连接符 129"/>
          <p:cNvCxnSpPr>
            <a:stCxn id="86" idx="3"/>
            <a:endCxn id="90" idx="1"/>
          </p:cNvCxnSpPr>
          <p:nvPr/>
        </p:nvCxnSpPr>
        <p:spPr>
          <a:xfrm>
            <a:off x="1774364" y="2083755"/>
            <a:ext cx="164306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接箭头连接符 131"/>
          <p:cNvCxnSpPr/>
          <p:nvPr/>
        </p:nvCxnSpPr>
        <p:spPr>
          <a:xfrm>
            <a:off x="3163436" y="2088774"/>
            <a:ext cx="164306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接箭头连接符 132"/>
          <p:cNvCxnSpPr/>
          <p:nvPr/>
        </p:nvCxnSpPr>
        <p:spPr>
          <a:xfrm>
            <a:off x="4531851" y="2083755"/>
            <a:ext cx="164306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接箭头连接符 133"/>
          <p:cNvCxnSpPr/>
          <p:nvPr/>
        </p:nvCxnSpPr>
        <p:spPr>
          <a:xfrm>
            <a:off x="5910595" y="2088774"/>
            <a:ext cx="164306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接箭头连接符 134"/>
          <p:cNvCxnSpPr/>
          <p:nvPr/>
        </p:nvCxnSpPr>
        <p:spPr>
          <a:xfrm>
            <a:off x="7289339" y="2088774"/>
            <a:ext cx="164306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</a:t>
            </a:r>
            <a:r>
              <a:rPr lang="zh-CN" altLang="en-US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任务二</a:t>
            </a:r>
            <a:r>
              <a:rPr sz="1950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寒武纪算子开发</a:t>
            </a:r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SKILL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sz="195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510903" y="6597079"/>
            <a:ext cx="6589489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Hong, D. B.; Imani, A.; Ahmed, I. “From Anatomy to Smells: An Empirical Study of SKILL.md in Agent Skills.” arXiv:2607.01456, 2026.</a:t>
            </a:r>
          </a:p>
        </p:txBody>
      </p:sp>
      <p:sp>
        <p:nvSpPr>
          <p:cNvPr id="53" name="text_171_上下文重复"/>
          <p:cNvSpPr>
            <a:spLocks noGrp="1"/>
          </p:cNvSpPr>
          <p:nvPr/>
        </p:nvSpPr>
        <p:spPr>
          <a:xfrm>
            <a:off x="1064395" y="1659968"/>
            <a:ext cx="1178719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原始结构：</a:t>
            </a:r>
            <a:endParaRPr lang="zh-CN" altLang="en-US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56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算子开发时间长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&amp;Token</a:t>
            </a:r>
            <a:r>
              <a:rPr lang="zh-CN" altLang="en-US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消耗高</a:t>
            </a:r>
            <a:endParaRPr lang="zh-CN" altLang="en-US" sz="157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text_268_hardware / profiler"/>
          <p:cNvSpPr>
            <a:spLocks noGrp="1"/>
          </p:cNvSpPr>
          <p:nvPr/>
        </p:nvSpPr>
        <p:spPr>
          <a:xfrm>
            <a:off x="976712" y="3329449"/>
            <a:ext cx="2227445" cy="69350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50000"/>
              </a:lnSpc>
              <a:defRPr sz="10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500" b="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primitive / </a:t>
            </a:r>
            <a:r>
              <a:rPr lang="en-US" altLang="zh-CN" sz="1500" b="1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rules</a:t>
            </a:r>
            <a:endParaRPr lang="en-US" sz="1500" b="1" dirty="0" smtClean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defRPr sz="10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</a:t>
            </a:r>
            <a:r>
              <a:rPr sz="1500" b="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profiler</a:t>
            </a:r>
          </a:p>
        </p:txBody>
      </p:sp>
      <p:sp>
        <p:nvSpPr>
          <p:cNvPr id="140" name="text_258_Main"/>
          <p:cNvSpPr>
            <a:spLocks noGrp="1"/>
          </p:cNvSpPr>
          <p:nvPr/>
        </p:nvSpPr>
        <p:spPr>
          <a:xfrm>
            <a:off x="3449077" y="2115332"/>
            <a:ext cx="2231777" cy="375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</a:p>
        </p:txBody>
      </p:sp>
      <p:sp>
        <p:nvSpPr>
          <p:cNvPr id="142" name="text_258_Main"/>
          <p:cNvSpPr>
            <a:spLocks noGrp="1"/>
          </p:cNvSpPr>
          <p:nvPr/>
        </p:nvSpPr>
        <p:spPr>
          <a:xfrm>
            <a:off x="976712" y="2725299"/>
            <a:ext cx="2231777" cy="375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Code-Gen</a:t>
            </a:r>
            <a:endParaRPr lang="en-US"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" name="text_258_Main"/>
          <p:cNvSpPr>
            <a:spLocks noGrp="1"/>
          </p:cNvSpPr>
          <p:nvPr/>
        </p:nvSpPr>
        <p:spPr>
          <a:xfrm>
            <a:off x="3449077" y="2725299"/>
            <a:ext cx="2231777" cy="375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endParaRPr lang="en-US"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4" name="text_258_Main"/>
          <p:cNvSpPr>
            <a:spLocks noGrp="1"/>
          </p:cNvSpPr>
          <p:nvPr/>
        </p:nvSpPr>
        <p:spPr>
          <a:xfrm>
            <a:off x="5921442" y="2725299"/>
            <a:ext cx="2231777" cy="375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</a:t>
            </a:r>
            <a:endParaRPr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text_268_hardware / profiler"/>
          <p:cNvSpPr>
            <a:spLocks noGrp="1"/>
          </p:cNvSpPr>
          <p:nvPr/>
        </p:nvSpPr>
        <p:spPr>
          <a:xfrm>
            <a:off x="3451795" y="3313594"/>
            <a:ext cx="2224501" cy="69350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50000"/>
              </a:lnSpc>
              <a:defRPr sz="10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500" b="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primitive / </a:t>
            </a:r>
            <a:r>
              <a:rPr lang="en-US" altLang="zh-CN" sz="1500" b="1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rules</a:t>
            </a:r>
            <a:endParaRPr lang="en-US" sz="1500" b="1" dirty="0" smtClean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defRPr sz="10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</a:t>
            </a:r>
            <a:r>
              <a:rPr sz="1500" b="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profiler</a:t>
            </a:r>
          </a:p>
        </p:txBody>
      </p:sp>
      <p:sp>
        <p:nvSpPr>
          <p:cNvPr id="146" name="text_268_hardware / profiler"/>
          <p:cNvSpPr>
            <a:spLocks noGrp="1"/>
          </p:cNvSpPr>
          <p:nvPr/>
        </p:nvSpPr>
        <p:spPr>
          <a:xfrm>
            <a:off x="5921442" y="3340915"/>
            <a:ext cx="2227445" cy="69350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50000"/>
              </a:lnSpc>
              <a:defRPr sz="10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500" b="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primitive / </a:t>
            </a:r>
            <a:r>
              <a:rPr lang="en-US" altLang="zh-CN" sz="1500" b="1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rules</a:t>
            </a:r>
            <a:endParaRPr lang="en-US" sz="1500" b="1" dirty="0" smtClean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defRPr sz="10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</a:t>
            </a:r>
            <a:r>
              <a:rPr sz="1500" b="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profiler</a:t>
            </a:r>
          </a:p>
        </p:txBody>
      </p:sp>
      <p:sp>
        <p:nvSpPr>
          <p:cNvPr id="150" name="object_256"/>
          <p:cNvSpPr>
            <a:spLocks noGrp="1"/>
          </p:cNvSpPr>
          <p:nvPr/>
        </p:nvSpPr>
        <p:spPr>
          <a:xfrm>
            <a:off x="1423220" y="3383298"/>
            <a:ext cx="833272" cy="295302"/>
          </a:xfrm>
          <a:prstGeom prst="rect">
            <a:avLst/>
          </a:prstGeom>
          <a:noFill/>
          <a:ln w="17145">
            <a:solidFill>
              <a:srgbClr val="D7000F"/>
            </a:solidFill>
          </a:ln>
        </p:spPr>
      </p:sp>
      <p:sp>
        <p:nvSpPr>
          <p:cNvPr id="152" name="object_256"/>
          <p:cNvSpPr>
            <a:spLocks noGrp="1"/>
          </p:cNvSpPr>
          <p:nvPr/>
        </p:nvSpPr>
        <p:spPr>
          <a:xfrm>
            <a:off x="3878252" y="3415223"/>
            <a:ext cx="833272" cy="295302"/>
          </a:xfrm>
          <a:prstGeom prst="rect">
            <a:avLst/>
          </a:prstGeom>
          <a:noFill/>
          <a:ln w="17145">
            <a:solidFill>
              <a:srgbClr val="D7000F"/>
            </a:solidFill>
          </a:ln>
        </p:spPr>
      </p:sp>
      <p:sp>
        <p:nvSpPr>
          <p:cNvPr id="153" name="object_256"/>
          <p:cNvSpPr>
            <a:spLocks noGrp="1"/>
          </p:cNvSpPr>
          <p:nvPr/>
        </p:nvSpPr>
        <p:spPr>
          <a:xfrm>
            <a:off x="6314870" y="3431047"/>
            <a:ext cx="833272" cy="295302"/>
          </a:xfrm>
          <a:prstGeom prst="rect">
            <a:avLst/>
          </a:prstGeom>
          <a:noFill/>
          <a:ln w="17145">
            <a:solidFill>
              <a:srgbClr val="D7000F"/>
            </a:solidFill>
          </a:ln>
        </p:spPr>
      </p:sp>
      <p:cxnSp>
        <p:nvCxnSpPr>
          <p:cNvPr id="12" name="直接箭头连接符 11"/>
          <p:cNvCxnSpPr>
            <a:endCxn id="154" idx="0"/>
          </p:cNvCxnSpPr>
          <p:nvPr/>
        </p:nvCxnSpPr>
        <p:spPr>
          <a:xfrm>
            <a:off x="1748015" y="3687669"/>
            <a:ext cx="786052" cy="913647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Rectangle 1"/>
          <p:cNvSpPr>
            <a:spLocks noChangeArrowheads="1"/>
          </p:cNvSpPr>
          <p:nvPr/>
        </p:nvSpPr>
        <p:spPr bwMode="auto">
          <a:xfrm>
            <a:off x="976712" y="4601316"/>
            <a:ext cx="3114710" cy="315471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  <a:miter lim="800000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68580" tIns="34290" rIns="68580" bIns="34290" numCol="1" anchor="ctr" anchorCtr="0" compatLnSpc="1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重复资料存储，导致子</a:t>
            </a:r>
            <a:r>
              <a:rPr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skill</a:t>
            </a:r>
            <a:r>
              <a:rPr lang="zh-CN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臃肿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5" name="直接箭头连接符 154"/>
          <p:cNvCxnSpPr>
            <a:endCxn id="154" idx="0"/>
          </p:cNvCxnSpPr>
          <p:nvPr/>
        </p:nvCxnSpPr>
        <p:spPr>
          <a:xfrm flipH="1">
            <a:off x="2534067" y="3554921"/>
            <a:ext cx="1330384" cy="1046395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箭头连接符 155"/>
          <p:cNvCxnSpPr>
            <a:endCxn id="154" idx="0"/>
          </p:cNvCxnSpPr>
          <p:nvPr/>
        </p:nvCxnSpPr>
        <p:spPr>
          <a:xfrm flipH="1">
            <a:off x="2534067" y="3554921"/>
            <a:ext cx="3777316" cy="1046395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文本框 95"/>
          <p:cNvSpPr txBox="1"/>
          <p:nvPr/>
        </p:nvSpPr>
        <p:spPr>
          <a:xfrm>
            <a:off x="279821" y="5855659"/>
            <a:ext cx="7452314" cy="3231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charset="0"/>
              <a:buChar char="p"/>
            </a:pPr>
            <a:r>
              <a:rPr lang="zh-CN" altLang="en-US" sz="1500" b="1" dirty="0" smtClean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优化</a:t>
            </a:r>
            <a:r>
              <a:rPr lang="zh-CN" altLang="en-US" sz="1500" b="1" dirty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①：</a:t>
            </a:r>
            <a:r>
              <a:rPr lang="zh-CN" altLang="en-US" sz="1500" b="1" dirty="0" smtClean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将流程与资料解耦，各个子代理按需加载共享参考资料</a:t>
            </a:r>
            <a:endParaRPr lang="zh-CN" altLang="en-US" sz="1500" b="1" dirty="0">
              <a:solidFill>
                <a:srgbClr val="004B9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58" name="矩形: 圆角 36"/>
          <p:cNvSpPr/>
          <p:nvPr/>
        </p:nvSpPr>
        <p:spPr>
          <a:xfrm>
            <a:off x="5624439" y="4412731"/>
            <a:ext cx="3203902" cy="117136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9" name="text_329_Case 2：平台规则合并"/>
          <p:cNvSpPr>
            <a:spLocks noGrp="1"/>
          </p:cNvSpPr>
          <p:nvPr/>
        </p:nvSpPr>
        <p:spPr>
          <a:xfrm>
            <a:off x="5972995" y="4461725"/>
            <a:ext cx="2350294" cy="2357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35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优化案例</a:t>
            </a:r>
            <a:r>
              <a:rPr lang="en-US" altLang="zh-CN" sz="135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z="135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：平台规则合并</a:t>
            </a:r>
            <a:endParaRPr sz="135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0" name="text_339_原 20+ 文件：Grid 上限、NRAM、CU"/>
          <p:cNvSpPr>
            <a:spLocks noGrp="1"/>
          </p:cNvSpPr>
          <p:nvPr/>
        </p:nvSpPr>
        <p:spPr>
          <a:xfrm>
            <a:off x="5764478" y="4747475"/>
            <a:ext cx="2767328" cy="20686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15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原 20+ </a:t>
            </a:r>
            <a:r>
              <a:rPr sz="1015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文件：Grid</a:t>
            </a:r>
            <a:r>
              <a:rPr sz="1015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15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上限、NRAM、CUDA→MLU</a:t>
            </a:r>
            <a:endParaRPr sz="1015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1" name="text_341_num_warps、Persistent Ker"/>
          <p:cNvSpPr>
            <a:spLocks noGrp="1"/>
          </p:cNvSpPr>
          <p:nvPr/>
        </p:nvSpPr>
        <p:spPr>
          <a:xfrm>
            <a:off x="5899876" y="4926069"/>
            <a:ext cx="2496533" cy="24186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15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num_warps、Persistent</a:t>
            </a:r>
            <a:r>
              <a:rPr sz="1015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Kernel </a:t>
            </a:r>
            <a:r>
              <a:rPr sz="1015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等平台约束</a:t>
            </a:r>
            <a:endParaRPr sz="1015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2" name="connector_342"/>
          <p:cNvSpPr>
            <a:spLocks noGrp="1"/>
          </p:cNvSpPr>
          <p:nvPr/>
        </p:nvSpPr>
        <p:spPr>
          <a:xfrm>
            <a:off x="7140998" y="5147525"/>
            <a:ext cx="14288" cy="128588"/>
          </a:xfrm>
          <a:custGeom>
            <a:avLst/>
            <a:gdLst/>
            <a:ahLst/>
            <a:cxnLst/>
            <a:rect l="0" t="0" r="0" b="0"/>
            <a:pathLst>
              <a:path w="19050" h="171450">
                <a:moveTo>
                  <a:pt x="9525" y="9525"/>
                </a:moveTo>
                <a:lnTo>
                  <a:pt x="9525" y="1619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63" name="connector_343"/>
          <p:cNvSpPr>
            <a:spLocks noGrp="1"/>
          </p:cNvSpPr>
          <p:nvPr/>
        </p:nvSpPr>
        <p:spPr>
          <a:xfrm>
            <a:off x="7117024" y="5217941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65" name="text_337_share/mlu/references/pri"/>
          <p:cNvSpPr>
            <a:spLocks noGrp="1"/>
          </p:cNvSpPr>
          <p:nvPr/>
        </p:nvSpPr>
        <p:spPr>
          <a:xfrm>
            <a:off x="5966163" y="5325053"/>
            <a:ext cx="2563635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00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share/mlu/references/</a:t>
            </a:r>
            <a:r>
              <a:rPr lang="en-US" altLang="zh-CN" sz="1400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rules</a:t>
            </a:r>
            <a:r>
              <a:rPr sz="1400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.md</a:t>
            </a:r>
            <a:endParaRPr sz="1400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直接箭头连接符 22"/>
          <p:cNvCxnSpPr>
            <a:stCxn id="140" idx="2"/>
            <a:endCxn id="143" idx="0"/>
          </p:cNvCxnSpPr>
          <p:nvPr/>
        </p:nvCxnSpPr>
        <p:spPr>
          <a:xfrm>
            <a:off x="4564966" y="2490332"/>
            <a:ext cx="0" cy="23496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肘形连接符 27"/>
          <p:cNvCxnSpPr>
            <a:stCxn id="140" idx="2"/>
            <a:endCxn id="142" idx="0"/>
          </p:cNvCxnSpPr>
          <p:nvPr/>
        </p:nvCxnSpPr>
        <p:spPr>
          <a:xfrm rot="5400000">
            <a:off x="3211301" y="1371633"/>
            <a:ext cx="234967" cy="2472365"/>
          </a:xfrm>
          <a:prstGeom prst="bentConnector3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肘形连接符 29"/>
          <p:cNvCxnSpPr>
            <a:stCxn id="140" idx="2"/>
            <a:endCxn id="144" idx="0"/>
          </p:cNvCxnSpPr>
          <p:nvPr/>
        </p:nvCxnSpPr>
        <p:spPr>
          <a:xfrm rot="16200000" flipH="1">
            <a:off x="5683665" y="1371632"/>
            <a:ext cx="234967" cy="2472365"/>
          </a:xfrm>
          <a:prstGeom prst="bentConnector3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</a:t>
            </a:r>
            <a:r>
              <a:rPr lang="zh-CN" altLang="en-US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任务二</a:t>
            </a:r>
            <a:r>
              <a:rPr sz="1950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寒武纪算子开发</a:t>
            </a:r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SKILL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sz="195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510903" y="6597079"/>
            <a:ext cx="6589489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Hong, D. B.; Imani, A.; Ahmed, I. “From Anatomy to Smells: An Empirical Study of SKILL.md in Agent Skills.” arXiv:2607.01456, 2026.</a:t>
            </a:r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54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56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算子开发时间长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&amp;Token</a:t>
            </a:r>
            <a:r>
              <a:rPr lang="zh-CN" altLang="en-US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消耗高</a:t>
            </a:r>
            <a:endParaRPr lang="zh-CN" altLang="en-US" sz="157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_171_上下文重复"/>
          <p:cNvSpPr>
            <a:spLocks noGrp="1"/>
          </p:cNvSpPr>
          <p:nvPr/>
        </p:nvSpPr>
        <p:spPr>
          <a:xfrm>
            <a:off x="5436096" y="1777262"/>
            <a:ext cx="1178719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endParaRPr lang="zh-CN" altLang="en-US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_171_上下文重复"/>
          <p:cNvSpPr>
            <a:spLocks noGrp="1"/>
          </p:cNvSpPr>
          <p:nvPr/>
        </p:nvSpPr>
        <p:spPr>
          <a:xfrm>
            <a:off x="526927" y="6176938"/>
            <a:ext cx="1178719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优化</a:t>
            </a:r>
            <a:r>
              <a:rPr lang="zh-CN" altLang="en-US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②</a:t>
            </a:r>
            <a:r>
              <a:rPr lang="zh-CN" altLang="en-US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按需</a:t>
            </a:r>
            <a:r>
              <a:rPr lang="zh-CN" altLang="en-US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优化，依据</a:t>
            </a:r>
            <a:r>
              <a:rPr lang="zh-CN" altLang="en-US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算子类型与 </a:t>
            </a:r>
            <a:r>
              <a:rPr lang="en-US" altLang="zh-CN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Profile </a:t>
            </a:r>
            <a:r>
              <a:rPr lang="zh-CN" altLang="en-US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信号筛选策略，减少</a:t>
            </a:r>
            <a:r>
              <a:rPr lang="zh-CN" altLang="en-US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无效和重复优化</a:t>
            </a:r>
            <a:endParaRPr lang="zh-CN" altLang="en-US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" name="text_681_其他（内存 / 指令 / 流水）"/>
          <p:cNvSpPr>
            <a:spLocks noGrp="1"/>
          </p:cNvSpPr>
          <p:nvPr/>
        </p:nvSpPr>
        <p:spPr>
          <a:xfrm>
            <a:off x="1393014" y="4570773"/>
            <a:ext cx="1855088" cy="310450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01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深度优化</a:t>
            </a:r>
            <a:r>
              <a:rPr sz="101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sz="1015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内存</a:t>
            </a:r>
            <a:r>
              <a:rPr sz="101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sz="1015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指令</a:t>
            </a:r>
            <a:r>
              <a:rPr sz="101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sz="1015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流水</a:t>
            </a:r>
            <a:r>
              <a:rPr sz="101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146" name="object_684"/>
          <p:cNvSpPr>
            <a:spLocks noGrp="1"/>
          </p:cNvSpPr>
          <p:nvPr/>
        </p:nvSpPr>
        <p:spPr>
          <a:xfrm>
            <a:off x="1370440" y="5039454"/>
            <a:ext cx="1893094" cy="457200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147" name="text_686_连续 3 轮无性能提升"/>
          <p:cNvSpPr>
            <a:spLocks noGrp="1"/>
          </p:cNvSpPr>
          <p:nvPr/>
        </p:nvSpPr>
        <p:spPr>
          <a:xfrm>
            <a:off x="1406159" y="5060885"/>
            <a:ext cx="1821656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1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连续 3 轮无性能提升</a:t>
            </a:r>
          </a:p>
        </p:txBody>
      </p:sp>
      <p:sp>
        <p:nvSpPr>
          <p:cNvPr id="148" name="text_688_且 Profile 无新建议？"/>
          <p:cNvSpPr>
            <a:spLocks noGrp="1"/>
          </p:cNvSpPr>
          <p:nvPr/>
        </p:nvSpPr>
        <p:spPr>
          <a:xfrm>
            <a:off x="1406159" y="5239479"/>
            <a:ext cx="1821656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1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 Profile 无新建议？</a:t>
            </a:r>
          </a:p>
        </p:txBody>
      </p:sp>
      <p:sp>
        <p:nvSpPr>
          <p:cNvPr id="151" name="text_694_结束优化"/>
          <p:cNvSpPr>
            <a:spLocks noGrp="1"/>
          </p:cNvSpPr>
          <p:nvPr/>
        </p:nvSpPr>
        <p:spPr>
          <a:xfrm>
            <a:off x="1770438" y="5715853"/>
            <a:ext cx="1092994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 dirty="0" err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结束优化</a:t>
            </a:r>
            <a:endParaRPr sz="1125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5" name="文本框 184"/>
          <p:cNvSpPr txBox="1"/>
          <p:nvPr/>
        </p:nvSpPr>
        <p:spPr>
          <a:xfrm>
            <a:off x="2033479" y="5482884"/>
            <a:ext cx="2880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b="1" dirty="0">
                <a:solidFill>
                  <a:srgbClr val="D7000F"/>
                </a:solidFill>
              </a:rPr>
              <a:t>是</a:t>
            </a:r>
          </a:p>
        </p:txBody>
      </p:sp>
      <p:sp>
        <p:nvSpPr>
          <p:cNvPr id="3" name="矩形 2"/>
          <p:cNvSpPr/>
          <p:nvPr/>
        </p:nvSpPr>
        <p:spPr>
          <a:xfrm>
            <a:off x="1408447" y="1709109"/>
            <a:ext cx="1821552" cy="323165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正确的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</a:p>
        </p:txBody>
      </p:sp>
      <p:sp>
        <p:nvSpPr>
          <p:cNvPr id="73" name="矩形 72"/>
          <p:cNvSpPr/>
          <p:nvPr/>
        </p:nvSpPr>
        <p:spPr>
          <a:xfrm>
            <a:off x="1406159" y="2212734"/>
            <a:ext cx="1821552" cy="276999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基础优化（基础配置）</a:t>
            </a:r>
          </a:p>
        </p:txBody>
      </p:sp>
      <p:sp>
        <p:nvSpPr>
          <p:cNvPr id="74" name="矩形 73"/>
          <p:cNvSpPr/>
          <p:nvPr/>
        </p:nvSpPr>
        <p:spPr>
          <a:xfrm>
            <a:off x="1406159" y="2659423"/>
            <a:ext cx="1821552" cy="276999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Retiling</a:t>
            </a:r>
            <a:r>
              <a:rPr lang="zh-CN" altLang="en-US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Tile / Block</a:t>
            </a:r>
            <a:r>
              <a:rPr lang="zh-CN" altLang="en-US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76" name="矩形 75"/>
          <p:cNvSpPr/>
          <p:nvPr/>
        </p:nvSpPr>
        <p:spPr>
          <a:xfrm>
            <a:off x="1406159" y="3142072"/>
            <a:ext cx="1821552" cy="276999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</a:t>
            </a:r>
            <a:r>
              <a:rPr lang="zh-CN" altLang="en-US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（规约相关）</a:t>
            </a:r>
          </a:p>
        </p:txBody>
      </p:sp>
      <p:sp>
        <p:nvSpPr>
          <p:cNvPr id="77" name="矩形 76"/>
          <p:cNvSpPr/>
          <p:nvPr/>
        </p:nvSpPr>
        <p:spPr>
          <a:xfrm>
            <a:off x="1406159" y="3596940"/>
            <a:ext cx="1821552" cy="276999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Grid</a:t>
            </a:r>
            <a:r>
              <a:rPr lang="zh-CN" altLang="en-US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（并行策略）</a:t>
            </a:r>
          </a:p>
        </p:txBody>
      </p:sp>
      <p:sp>
        <p:nvSpPr>
          <p:cNvPr id="79" name="矩形 78"/>
          <p:cNvSpPr/>
          <p:nvPr/>
        </p:nvSpPr>
        <p:spPr>
          <a:xfrm>
            <a:off x="1406159" y="4081502"/>
            <a:ext cx="1821552" cy="246221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0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</a:t>
            </a:r>
            <a:r>
              <a:rPr lang="zh-CN" altLang="en-US" sz="1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0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num_warps</a:t>
            </a:r>
            <a:r>
              <a:rPr lang="en-US" altLang="zh-CN" sz="1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等）</a:t>
            </a:r>
          </a:p>
        </p:txBody>
      </p:sp>
      <p:cxnSp>
        <p:nvCxnSpPr>
          <p:cNvPr id="5" name="直接箭头连接符 4"/>
          <p:cNvCxnSpPr>
            <a:stCxn id="3" idx="2"/>
            <a:endCxn id="73" idx="0"/>
          </p:cNvCxnSpPr>
          <p:nvPr/>
        </p:nvCxnSpPr>
        <p:spPr>
          <a:xfrm flipH="1">
            <a:off x="2316935" y="2032274"/>
            <a:ext cx="2288" cy="180460"/>
          </a:xfrm>
          <a:prstGeom prst="straightConnector1">
            <a:avLst/>
          </a:prstGeom>
          <a:ln w="19050">
            <a:solidFill>
              <a:srgbClr val="D7000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>
            <a:stCxn id="73" idx="2"/>
            <a:endCxn id="74" idx="0"/>
          </p:cNvCxnSpPr>
          <p:nvPr/>
        </p:nvCxnSpPr>
        <p:spPr>
          <a:xfrm>
            <a:off x="2316935" y="2489733"/>
            <a:ext cx="0" cy="16969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>
            <a:stCxn id="74" idx="2"/>
            <a:endCxn id="76" idx="0"/>
          </p:cNvCxnSpPr>
          <p:nvPr/>
        </p:nvCxnSpPr>
        <p:spPr>
          <a:xfrm>
            <a:off x="2316935" y="2936422"/>
            <a:ext cx="0" cy="20565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stCxn id="76" idx="2"/>
            <a:endCxn id="77" idx="0"/>
          </p:cNvCxnSpPr>
          <p:nvPr/>
        </p:nvCxnSpPr>
        <p:spPr>
          <a:xfrm>
            <a:off x="2316935" y="3419071"/>
            <a:ext cx="0" cy="177869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stCxn id="77" idx="2"/>
            <a:endCxn id="79" idx="0"/>
          </p:cNvCxnSpPr>
          <p:nvPr/>
        </p:nvCxnSpPr>
        <p:spPr>
          <a:xfrm>
            <a:off x="2316935" y="3873939"/>
            <a:ext cx="0" cy="207563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79" idx="2"/>
            <a:endCxn id="143" idx="0"/>
          </p:cNvCxnSpPr>
          <p:nvPr/>
        </p:nvCxnSpPr>
        <p:spPr>
          <a:xfrm>
            <a:off x="2316935" y="4327723"/>
            <a:ext cx="3623" cy="24305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>
            <a:stCxn id="143" idx="2"/>
            <a:endCxn id="147" idx="0"/>
          </p:cNvCxnSpPr>
          <p:nvPr/>
        </p:nvCxnSpPr>
        <p:spPr>
          <a:xfrm flipH="1">
            <a:off x="2316987" y="4881223"/>
            <a:ext cx="3571" cy="179662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stCxn id="148" idx="2"/>
            <a:endCxn id="151" idx="0"/>
          </p:cNvCxnSpPr>
          <p:nvPr/>
        </p:nvCxnSpPr>
        <p:spPr>
          <a:xfrm flipH="1">
            <a:off x="2316935" y="5418073"/>
            <a:ext cx="52" cy="29778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肘形连接符 24"/>
          <p:cNvCxnSpPr>
            <a:stCxn id="151" idx="1"/>
            <a:endCxn id="73" idx="1"/>
          </p:cNvCxnSpPr>
          <p:nvPr/>
        </p:nvCxnSpPr>
        <p:spPr>
          <a:xfrm rot="10800000">
            <a:off x="1406160" y="2351234"/>
            <a:ext cx="364279" cy="3464632"/>
          </a:xfrm>
          <a:prstGeom prst="bentConnector3">
            <a:avLst>
              <a:gd name="adj1" fmla="val 226345"/>
            </a:avLst>
          </a:prstGeom>
          <a:ln>
            <a:solidFill>
              <a:srgbClr val="D7000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文本框 101"/>
          <p:cNvSpPr txBox="1"/>
          <p:nvPr/>
        </p:nvSpPr>
        <p:spPr>
          <a:xfrm>
            <a:off x="571579" y="3646868"/>
            <a:ext cx="2880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b="1" dirty="0">
                <a:solidFill>
                  <a:srgbClr val="D7000F"/>
                </a:solidFill>
              </a:rPr>
              <a:t>否</a:t>
            </a:r>
          </a:p>
        </p:txBody>
      </p:sp>
      <p:sp>
        <p:nvSpPr>
          <p:cNvPr id="103" name="文本框 95"/>
          <p:cNvSpPr txBox="1"/>
          <p:nvPr/>
        </p:nvSpPr>
        <p:spPr>
          <a:xfrm>
            <a:off x="3902488" y="1756464"/>
            <a:ext cx="5110923" cy="116955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charset="0"/>
              <a:buChar char="p"/>
            </a:pPr>
            <a:r>
              <a:rPr lang="zh-CN" altLang="en-US" sz="1400" b="1" dirty="0" smtClean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缺点：</a:t>
            </a:r>
            <a:endParaRPr lang="en-US" altLang="zh-CN" sz="1400" b="1" dirty="0" smtClean="0">
              <a:solidFill>
                <a:srgbClr val="004B9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l">
              <a:buFont typeface="Wingdings" panose="05000000000000000000" charset="0"/>
              <a:buChar char="p"/>
            </a:pPr>
            <a:endParaRPr lang="en-US" altLang="zh-CN" sz="1400" b="1" dirty="0">
              <a:solidFill>
                <a:srgbClr val="004B9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算子不一定使用所有的优化策略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接触优化条件太苛刻。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4" name="矩形 103"/>
          <p:cNvSpPr/>
          <p:nvPr>
            <p:custDataLst>
              <p:tags r:id="rId1"/>
            </p:custDataLst>
          </p:nvPr>
        </p:nvSpPr>
        <p:spPr>
          <a:xfrm>
            <a:off x="3810028" y="1598053"/>
            <a:ext cx="3786307" cy="1544019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105" name="矩形 104"/>
          <p:cNvSpPr/>
          <p:nvPr/>
        </p:nvSpPr>
        <p:spPr>
          <a:xfrm>
            <a:off x="4716228" y="3735439"/>
            <a:ext cx="1821552" cy="276999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性能分析</a:t>
            </a:r>
            <a:endParaRPr lang="zh-CN" altLang="en-US" sz="1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4716228" y="4241422"/>
            <a:ext cx="1821552" cy="276999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算子分类与瓶颈分析</a:t>
            </a:r>
            <a:endParaRPr lang="zh-CN" altLang="en-US" sz="1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矩形 106"/>
          <p:cNvSpPr/>
          <p:nvPr/>
        </p:nvSpPr>
        <p:spPr>
          <a:xfrm>
            <a:off x="4716228" y="4766443"/>
            <a:ext cx="1821552" cy="276999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优化策略选择</a:t>
            </a:r>
            <a:endParaRPr lang="zh-CN" altLang="en-US" sz="1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矩形 107"/>
          <p:cNvSpPr/>
          <p:nvPr/>
        </p:nvSpPr>
        <p:spPr>
          <a:xfrm>
            <a:off x="4719268" y="5299634"/>
            <a:ext cx="1821552" cy="276999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针对性优化</a:t>
            </a:r>
            <a:endParaRPr lang="zh-CN" altLang="en-US" sz="1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" name="直接箭头连接符 28"/>
          <p:cNvCxnSpPr>
            <a:stCxn id="105" idx="2"/>
            <a:endCxn id="106" idx="0"/>
          </p:cNvCxnSpPr>
          <p:nvPr/>
        </p:nvCxnSpPr>
        <p:spPr>
          <a:xfrm>
            <a:off x="5627004" y="4012438"/>
            <a:ext cx="0" cy="228984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106" idx="2"/>
            <a:endCxn id="107" idx="0"/>
          </p:cNvCxnSpPr>
          <p:nvPr/>
        </p:nvCxnSpPr>
        <p:spPr>
          <a:xfrm>
            <a:off x="5627004" y="4518421"/>
            <a:ext cx="0" cy="248022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>
            <a:stCxn id="107" idx="2"/>
            <a:endCxn id="108" idx="0"/>
          </p:cNvCxnSpPr>
          <p:nvPr/>
        </p:nvCxnSpPr>
        <p:spPr>
          <a:xfrm>
            <a:off x="5627004" y="5043442"/>
            <a:ext cx="3040" cy="256192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文本框 95"/>
          <p:cNvSpPr txBox="1"/>
          <p:nvPr/>
        </p:nvSpPr>
        <p:spPr>
          <a:xfrm>
            <a:off x="3918303" y="3289127"/>
            <a:ext cx="5110923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charset="0"/>
              <a:buChar char="p"/>
            </a:pPr>
            <a:r>
              <a:rPr lang="zh-CN" altLang="en-US" sz="1400" b="1" dirty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优化后</a:t>
            </a:r>
            <a:r>
              <a:rPr lang="zh-CN" altLang="en-US" sz="1400" b="1" dirty="0" smtClean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endParaRPr lang="en-US" altLang="zh-CN" sz="1400" b="1" dirty="0" smtClean="0">
              <a:solidFill>
                <a:srgbClr val="004B9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19" name="矩形 118"/>
          <p:cNvSpPr/>
          <p:nvPr>
            <p:custDataLst>
              <p:tags r:id="rId2"/>
            </p:custDataLst>
          </p:nvPr>
        </p:nvSpPr>
        <p:spPr>
          <a:xfrm>
            <a:off x="3810028" y="3280570"/>
            <a:ext cx="3786307" cy="2535295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</a:t>
            </a:r>
            <a:r>
              <a:rPr lang="zh-CN" altLang="en-US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任务二</a:t>
            </a:r>
            <a:r>
              <a:rPr sz="1950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寒武纪算子开发</a:t>
            </a:r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SKILL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sz="195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510903" y="6597079"/>
            <a:ext cx="6589489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Hong, D. B.; Imani, A.; Ahmed, I. “From Anatomy to Smells: An Empirical Study of SKILL.md in Agent Skills.” arXiv:2607.01456, 2026.</a:t>
            </a:r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53" name="text_171_上下文重复"/>
          <p:cNvSpPr>
            <a:spLocks noGrp="1"/>
          </p:cNvSpPr>
          <p:nvPr/>
        </p:nvSpPr>
        <p:spPr>
          <a:xfrm>
            <a:off x="602043" y="5922519"/>
            <a:ext cx="6633782" cy="44386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优化③：</a:t>
            </a:r>
            <a:r>
              <a:rPr lang="zh-CN" altLang="en-US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合并子代理，尽量选择合适的子代理进行合并。需要读取相同的资料，本身</a:t>
            </a:r>
            <a:endParaRPr lang="en-US" altLang="zh-CN" b="1" dirty="0" smtClean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任务量较小</a:t>
            </a:r>
            <a:endParaRPr lang="zh-CN" altLang="en-US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56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算子开发时间长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&amp;Token</a:t>
            </a:r>
            <a:r>
              <a:rPr lang="zh-CN" altLang="en-US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消耗高</a:t>
            </a:r>
            <a:endParaRPr lang="zh-CN" altLang="en-US" sz="157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: 圆角 36"/>
          <p:cNvSpPr/>
          <p:nvPr/>
        </p:nvSpPr>
        <p:spPr>
          <a:xfrm>
            <a:off x="733729" y="5029934"/>
            <a:ext cx="1490408" cy="43633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: 圆角 36"/>
          <p:cNvSpPr/>
          <p:nvPr/>
        </p:nvSpPr>
        <p:spPr>
          <a:xfrm>
            <a:off x="733729" y="4094104"/>
            <a:ext cx="1490408" cy="85658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: 圆角 36"/>
          <p:cNvSpPr/>
          <p:nvPr/>
        </p:nvSpPr>
        <p:spPr>
          <a:xfrm>
            <a:off x="733729" y="2138400"/>
            <a:ext cx="1490408" cy="1877683"/>
          </a:xfrm>
          <a:prstGeom prst="roundRect">
            <a:avLst>
              <a:gd name="adj" fmla="val 8426"/>
            </a:avLst>
          </a:prstGeom>
          <a:solidFill>
            <a:schemeClr val="bg1">
              <a:lumMod val="95000"/>
            </a:schemeClr>
          </a:solidFill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bject_444"/>
          <p:cNvSpPr>
            <a:spLocks noGrp="1"/>
          </p:cNvSpPr>
          <p:nvPr/>
        </p:nvSpPr>
        <p:spPr>
          <a:xfrm>
            <a:off x="895399" y="2251577"/>
            <a:ext cx="1207294" cy="342900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18" name="text_446_1. 需求理解"/>
          <p:cNvSpPr>
            <a:spLocks noGrp="1"/>
          </p:cNvSpPr>
          <p:nvPr/>
        </p:nvSpPr>
        <p:spPr>
          <a:xfrm>
            <a:off x="945405" y="2301583"/>
            <a:ext cx="1107281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需求理解</a:t>
            </a:r>
          </a:p>
        </p:txBody>
      </p:sp>
      <p:sp>
        <p:nvSpPr>
          <p:cNvPr id="20" name="connector_449"/>
          <p:cNvSpPr>
            <a:spLocks noGrp="1"/>
          </p:cNvSpPr>
          <p:nvPr/>
        </p:nvSpPr>
        <p:spPr>
          <a:xfrm>
            <a:off x="1343532" y="2608765"/>
            <a:ext cx="14288" cy="92869"/>
          </a:xfrm>
          <a:custGeom>
            <a:avLst/>
            <a:gdLst/>
            <a:ahLst/>
            <a:cxnLst/>
            <a:rect l="0" t="0" r="0" b="0"/>
            <a:pathLst>
              <a:path w="19050" h="123825">
                <a:moveTo>
                  <a:pt x="9525" y="9525"/>
                </a:moveTo>
                <a:lnTo>
                  <a:pt x="9525" y="11430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21" name="connector_450"/>
          <p:cNvSpPr>
            <a:spLocks noGrp="1"/>
          </p:cNvSpPr>
          <p:nvPr/>
        </p:nvSpPr>
        <p:spPr>
          <a:xfrm>
            <a:off x="1319558" y="2643461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22" name="object_451"/>
          <p:cNvSpPr>
            <a:spLocks noGrp="1"/>
          </p:cNvSpPr>
          <p:nvPr/>
        </p:nvSpPr>
        <p:spPr>
          <a:xfrm>
            <a:off x="895399" y="2715921"/>
            <a:ext cx="1207294" cy="342900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23" name="text_453_2. 语义分析"/>
          <p:cNvSpPr>
            <a:spLocks noGrp="1"/>
          </p:cNvSpPr>
          <p:nvPr/>
        </p:nvSpPr>
        <p:spPr>
          <a:xfrm>
            <a:off x="945405" y="2765927"/>
            <a:ext cx="1107281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语义分析</a:t>
            </a:r>
          </a:p>
        </p:txBody>
      </p:sp>
      <p:sp>
        <p:nvSpPr>
          <p:cNvPr id="25" name="connector_456"/>
          <p:cNvSpPr>
            <a:spLocks noGrp="1"/>
          </p:cNvSpPr>
          <p:nvPr/>
        </p:nvSpPr>
        <p:spPr>
          <a:xfrm>
            <a:off x="1343532" y="3073108"/>
            <a:ext cx="14288" cy="92869"/>
          </a:xfrm>
          <a:custGeom>
            <a:avLst/>
            <a:gdLst/>
            <a:ahLst/>
            <a:cxnLst/>
            <a:rect l="0" t="0" r="0" b="0"/>
            <a:pathLst>
              <a:path w="19050" h="123825">
                <a:moveTo>
                  <a:pt x="9525" y="9525"/>
                </a:moveTo>
                <a:lnTo>
                  <a:pt x="9525" y="11430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26" name="connector_457"/>
          <p:cNvSpPr>
            <a:spLocks noGrp="1"/>
          </p:cNvSpPr>
          <p:nvPr/>
        </p:nvSpPr>
        <p:spPr>
          <a:xfrm>
            <a:off x="1319558" y="3107805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28" name="object_458"/>
          <p:cNvSpPr>
            <a:spLocks noGrp="1"/>
          </p:cNvSpPr>
          <p:nvPr/>
        </p:nvSpPr>
        <p:spPr>
          <a:xfrm>
            <a:off x="895399" y="3180264"/>
            <a:ext cx="1207294" cy="342900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29" name="text_460_3. Mapping 设计"/>
          <p:cNvSpPr>
            <a:spLocks noGrp="1"/>
          </p:cNvSpPr>
          <p:nvPr/>
        </p:nvSpPr>
        <p:spPr>
          <a:xfrm>
            <a:off x="945405" y="3230271"/>
            <a:ext cx="1107281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Mapping 设计</a:t>
            </a:r>
          </a:p>
        </p:txBody>
      </p:sp>
      <p:sp>
        <p:nvSpPr>
          <p:cNvPr id="31" name="connector_463"/>
          <p:cNvSpPr>
            <a:spLocks noGrp="1"/>
          </p:cNvSpPr>
          <p:nvPr/>
        </p:nvSpPr>
        <p:spPr>
          <a:xfrm>
            <a:off x="1343532" y="3537452"/>
            <a:ext cx="14288" cy="92869"/>
          </a:xfrm>
          <a:custGeom>
            <a:avLst/>
            <a:gdLst/>
            <a:ahLst/>
            <a:cxnLst/>
            <a:rect l="0" t="0" r="0" b="0"/>
            <a:pathLst>
              <a:path w="19050" h="123825">
                <a:moveTo>
                  <a:pt x="9525" y="9525"/>
                </a:moveTo>
                <a:lnTo>
                  <a:pt x="9525" y="11430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32" name="connector_464"/>
          <p:cNvSpPr>
            <a:spLocks noGrp="1"/>
          </p:cNvSpPr>
          <p:nvPr/>
        </p:nvSpPr>
        <p:spPr>
          <a:xfrm>
            <a:off x="1319558" y="3572149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33" name="object_465"/>
          <p:cNvSpPr>
            <a:spLocks noGrp="1"/>
          </p:cNvSpPr>
          <p:nvPr/>
        </p:nvSpPr>
        <p:spPr>
          <a:xfrm>
            <a:off x="895399" y="3644608"/>
            <a:ext cx="1207294" cy="342900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34" name="text_467_4. Kernel 设计"/>
          <p:cNvSpPr>
            <a:spLocks noGrp="1"/>
          </p:cNvSpPr>
          <p:nvPr/>
        </p:nvSpPr>
        <p:spPr>
          <a:xfrm>
            <a:off x="945405" y="3694614"/>
            <a:ext cx="1107281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Kernel 设计</a:t>
            </a:r>
          </a:p>
        </p:txBody>
      </p:sp>
      <p:sp>
        <p:nvSpPr>
          <p:cNvPr id="36" name="connector_470"/>
          <p:cNvSpPr>
            <a:spLocks noGrp="1"/>
          </p:cNvSpPr>
          <p:nvPr/>
        </p:nvSpPr>
        <p:spPr>
          <a:xfrm>
            <a:off x="1343532" y="4001796"/>
            <a:ext cx="14288" cy="92869"/>
          </a:xfrm>
          <a:custGeom>
            <a:avLst/>
            <a:gdLst/>
            <a:ahLst/>
            <a:cxnLst/>
            <a:rect l="0" t="0" r="0" b="0"/>
            <a:pathLst>
              <a:path w="19050" h="123825">
                <a:moveTo>
                  <a:pt x="9525" y="9525"/>
                </a:moveTo>
                <a:lnTo>
                  <a:pt x="9525" y="11430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37" name="connector_471"/>
          <p:cNvSpPr>
            <a:spLocks noGrp="1"/>
          </p:cNvSpPr>
          <p:nvPr/>
        </p:nvSpPr>
        <p:spPr>
          <a:xfrm>
            <a:off x="1319558" y="4036493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38" name="object_472"/>
          <p:cNvSpPr>
            <a:spLocks noGrp="1"/>
          </p:cNvSpPr>
          <p:nvPr/>
        </p:nvSpPr>
        <p:spPr>
          <a:xfrm>
            <a:off x="895399" y="4138982"/>
            <a:ext cx="1207294" cy="342900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39" name="text_474_5. 代码生成"/>
          <p:cNvSpPr>
            <a:spLocks noGrp="1"/>
          </p:cNvSpPr>
          <p:nvPr/>
        </p:nvSpPr>
        <p:spPr>
          <a:xfrm>
            <a:off x="945405" y="4188988"/>
            <a:ext cx="1107281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代码生成</a:t>
            </a:r>
          </a:p>
        </p:txBody>
      </p:sp>
      <p:sp>
        <p:nvSpPr>
          <p:cNvPr id="43" name="connector_477"/>
          <p:cNvSpPr>
            <a:spLocks noGrp="1"/>
          </p:cNvSpPr>
          <p:nvPr/>
        </p:nvSpPr>
        <p:spPr>
          <a:xfrm>
            <a:off x="1343532" y="4479763"/>
            <a:ext cx="14288" cy="92869"/>
          </a:xfrm>
          <a:custGeom>
            <a:avLst/>
            <a:gdLst/>
            <a:ahLst/>
            <a:cxnLst/>
            <a:rect l="0" t="0" r="0" b="0"/>
            <a:pathLst>
              <a:path w="19050" h="123825">
                <a:moveTo>
                  <a:pt x="9525" y="9525"/>
                </a:moveTo>
                <a:lnTo>
                  <a:pt x="9525" y="11430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44" name="connector_478"/>
          <p:cNvSpPr>
            <a:spLocks noGrp="1"/>
          </p:cNvSpPr>
          <p:nvPr/>
        </p:nvSpPr>
        <p:spPr>
          <a:xfrm>
            <a:off x="1319558" y="4514459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45" name="object_479"/>
          <p:cNvSpPr>
            <a:spLocks noGrp="1"/>
          </p:cNvSpPr>
          <p:nvPr/>
        </p:nvSpPr>
        <p:spPr>
          <a:xfrm>
            <a:off x="895399" y="4586919"/>
            <a:ext cx="1207294" cy="342900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48" name="text_481_6. 测试生成"/>
          <p:cNvSpPr>
            <a:spLocks noGrp="1"/>
          </p:cNvSpPr>
          <p:nvPr/>
        </p:nvSpPr>
        <p:spPr>
          <a:xfrm>
            <a:off x="945405" y="4636925"/>
            <a:ext cx="1107281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测试生成</a:t>
            </a:r>
          </a:p>
        </p:txBody>
      </p:sp>
      <p:sp>
        <p:nvSpPr>
          <p:cNvPr id="50" name="connector_484"/>
          <p:cNvSpPr>
            <a:spLocks noGrp="1"/>
          </p:cNvSpPr>
          <p:nvPr/>
        </p:nvSpPr>
        <p:spPr>
          <a:xfrm>
            <a:off x="1343532" y="4930483"/>
            <a:ext cx="14288" cy="92869"/>
          </a:xfrm>
          <a:custGeom>
            <a:avLst/>
            <a:gdLst/>
            <a:ahLst/>
            <a:cxnLst/>
            <a:rect l="0" t="0" r="0" b="0"/>
            <a:pathLst>
              <a:path w="19050" h="123825">
                <a:moveTo>
                  <a:pt x="9525" y="9525"/>
                </a:moveTo>
                <a:lnTo>
                  <a:pt x="9525" y="11430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51" name="connector_485"/>
          <p:cNvSpPr>
            <a:spLocks noGrp="1"/>
          </p:cNvSpPr>
          <p:nvPr/>
        </p:nvSpPr>
        <p:spPr>
          <a:xfrm>
            <a:off x="1319558" y="4965180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55" name="object_486"/>
          <p:cNvSpPr>
            <a:spLocks noGrp="1"/>
          </p:cNvSpPr>
          <p:nvPr/>
        </p:nvSpPr>
        <p:spPr>
          <a:xfrm>
            <a:off x="895399" y="5051927"/>
            <a:ext cx="1207294" cy="342900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57" name="text_488_7. 自检与整理"/>
          <p:cNvSpPr>
            <a:spLocks noGrp="1"/>
          </p:cNvSpPr>
          <p:nvPr/>
        </p:nvSpPr>
        <p:spPr>
          <a:xfrm>
            <a:off x="945405" y="5123364"/>
            <a:ext cx="1107281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sz="1125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自检与整理</a:t>
            </a:r>
            <a:endParaRPr sz="112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object_500"/>
          <p:cNvSpPr>
            <a:spLocks noGrp="1"/>
          </p:cNvSpPr>
          <p:nvPr/>
        </p:nvSpPr>
        <p:spPr>
          <a:xfrm>
            <a:off x="2633914" y="2551614"/>
            <a:ext cx="2350294" cy="380711"/>
          </a:xfrm>
          <a:prstGeom prst="rect">
            <a:avLst/>
          </a:prstGeom>
          <a:solidFill>
            <a:srgbClr val="FFFFFF"/>
          </a:solidFill>
          <a:ln w="19050">
            <a:solidFill>
              <a:srgbClr val="D7000F"/>
            </a:solidFill>
          </a:ln>
        </p:spPr>
      </p:sp>
      <p:sp>
        <p:nvSpPr>
          <p:cNvPr id="60" name="text_502_Design Agent  步骤 1–4"/>
          <p:cNvSpPr>
            <a:spLocks noGrp="1"/>
          </p:cNvSpPr>
          <p:nvPr/>
        </p:nvSpPr>
        <p:spPr>
          <a:xfrm>
            <a:off x="2712496" y="2594476"/>
            <a:ext cx="2193131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40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Agent  步骤 1–4</a:t>
            </a:r>
          </a:p>
        </p:txBody>
      </p:sp>
      <p:sp>
        <p:nvSpPr>
          <p:cNvPr id="65" name="object_509"/>
          <p:cNvSpPr>
            <a:spLocks noGrp="1"/>
          </p:cNvSpPr>
          <p:nvPr/>
        </p:nvSpPr>
        <p:spPr>
          <a:xfrm>
            <a:off x="2633914" y="3437439"/>
            <a:ext cx="2350294" cy="392906"/>
          </a:xfrm>
          <a:prstGeom prst="rect">
            <a:avLst/>
          </a:prstGeom>
          <a:solidFill>
            <a:srgbClr val="FFFFFF"/>
          </a:solidFill>
          <a:ln w="19050">
            <a:solidFill>
              <a:srgbClr val="D7000F"/>
            </a:solidFill>
          </a:ln>
        </p:spPr>
      </p:sp>
      <p:sp>
        <p:nvSpPr>
          <p:cNvPr id="66" name="text_511_Build Agent  步骤 5–6"/>
          <p:cNvSpPr>
            <a:spLocks noGrp="1"/>
          </p:cNvSpPr>
          <p:nvPr/>
        </p:nvSpPr>
        <p:spPr>
          <a:xfrm>
            <a:off x="2712496" y="3480301"/>
            <a:ext cx="2193131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40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Agent  步骤 5–6</a:t>
            </a:r>
          </a:p>
        </p:txBody>
      </p:sp>
      <p:sp>
        <p:nvSpPr>
          <p:cNvPr id="71" name="object_518"/>
          <p:cNvSpPr>
            <a:spLocks noGrp="1"/>
          </p:cNvSpPr>
          <p:nvPr/>
        </p:nvSpPr>
        <p:spPr>
          <a:xfrm>
            <a:off x="2633914" y="4323264"/>
            <a:ext cx="2350294" cy="406173"/>
          </a:xfrm>
          <a:prstGeom prst="rect">
            <a:avLst/>
          </a:prstGeom>
          <a:solidFill>
            <a:srgbClr val="FFFFFF"/>
          </a:solidFill>
          <a:ln w="19050">
            <a:solidFill>
              <a:srgbClr val="D7000F"/>
            </a:solidFill>
          </a:ln>
        </p:spPr>
      </p:sp>
      <p:sp>
        <p:nvSpPr>
          <p:cNvPr id="72" name="text_520_Verify Agent  步骤 7"/>
          <p:cNvSpPr>
            <a:spLocks noGrp="1"/>
          </p:cNvSpPr>
          <p:nvPr/>
        </p:nvSpPr>
        <p:spPr>
          <a:xfrm>
            <a:off x="2712496" y="4366126"/>
            <a:ext cx="2193131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40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Verify Agent  步骤 7</a:t>
            </a:r>
          </a:p>
        </p:txBody>
      </p:sp>
      <p:cxnSp>
        <p:nvCxnSpPr>
          <p:cNvPr id="4" name="直接箭头连接符 3"/>
          <p:cNvCxnSpPr>
            <a:stCxn id="59" idx="2"/>
            <a:endCxn id="65" idx="0"/>
          </p:cNvCxnSpPr>
          <p:nvPr/>
        </p:nvCxnSpPr>
        <p:spPr>
          <a:xfrm>
            <a:off x="3809061" y="2932325"/>
            <a:ext cx="0" cy="50511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/>
          <p:nvPr/>
        </p:nvCxnSpPr>
        <p:spPr>
          <a:xfrm>
            <a:off x="3809061" y="3818150"/>
            <a:ext cx="0" cy="50511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箭头连接符 76"/>
          <p:cNvCxnSpPr>
            <a:endCxn id="59" idx="1"/>
          </p:cNvCxnSpPr>
          <p:nvPr/>
        </p:nvCxnSpPr>
        <p:spPr>
          <a:xfrm flipV="1">
            <a:off x="2194557" y="2741970"/>
            <a:ext cx="439357" cy="413815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/>
          <p:cNvCxnSpPr>
            <a:endCxn id="65" idx="1"/>
          </p:cNvCxnSpPr>
          <p:nvPr/>
        </p:nvCxnSpPr>
        <p:spPr>
          <a:xfrm flipV="1">
            <a:off x="2224137" y="3633892"/>
            <a:ext cx="409777" cy="894759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9" name="直接箭头连接符 78"/>
          <p:cNvCxnSpPr>
            <a:endCxn id="71" idx="1"/>
          </p:cNvCxnSpPr>
          <p:nvPr/>
        </p:nvCxnSpPr>
        <p:spPr>
          <a:xfrm flipV="1">
            <a:off x="2224137" y="4526351"/>
            <a:ext cx="409777" cy="769859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1" name="text_354_新版：三个核心 Agent"/>
          <p:cNvSpPr>
            <a:spLocks noGrp="1"/>
          </p:cNvSpPr>
          <p:nvPr/>
        </p:nvSpPr>
        <p:spPr>
          <a:xfrm>
            <a:off x="665195" y="1710022"/>
            <a:ext cx="2028825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58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原本</a:t>
            </a:r>
            <a:r>
              <a:rPr lang="en-US" sz="158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Kernel </a:t>
            </a:r>
            <a:r>
              <a:rPr lang="zh-CN" altLang="en-US" sz="158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生成阶段</a:t>
            </a:r>
            <a:endParaRPr sz="158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4" name="表格 8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958860"/>
              </p:ext>
            </p:extLst>
          </p:nvPr>
        </p:nvGraphicFramePr>
        <p:xfrm>
          <a:off x="5278926" y="2118221"/>
          <a:ext cx="3463443" cy="10477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44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44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4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8636">
                <a:tc>
                  <a:txBody>
                    <a:bodyPr/>
                    <a:lstStyle/>
                    <a:p>
                      <a:endParaRPr lang="zh-CN" alt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dirty="0" smtClean="0"/>
                        <a:t>消耗</a:t>
                      </a:r>
                      <a:r>
                        <a:rPr lang="en-US" altLang="zh-CN" sz="1300" dirty="0" smtClean="0"/>
                        <a:t>token</a:t>
                      </a:r>
                      <a:endParaRPr lang="zh-CN" alt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300" dirty="0" smtClean="0"/>
                        <a:t>消耗</a:t>
                      </a:r>
                      <a:r>
                        <a:rPr lang="en-US" altLang="zh-CN" sz="1300" dirty="0" smtClean="0"/>
                        <a:t>token</a:t>
                      </a:r>
                      <a:endParaRPr lang="zh-CN" alt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792">
                <a:tc>
                  <a:txBody>
                    <a:bodyPr/>
                    <a:lstStyle/>
                    <a:p>
                      <a:r>
                        <a:rPr lang="en-US" altLang="zh-CN" sz="1300" dirty="0" err="1" smtClean="0"/>
                        <a:t>softmax</a:t>
                      </a:r>
                      <a:endParaRPr lang="zh-CN" alt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300" dirty="0" smtClean="0"/>
                        <a:t>186</a:t>
                      </a:r>
                      <a:r>
                        <a:rPr lang="zh-CN" altLang="en-US" sz="1300" dirty="0" smtClean="0"/>
                        <a:t>万</a:t>
                      </a:r>
                      <a:endParaRPr lang="zh-CN" alt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300" dirty="0" smtClean="0"/>
                        <a:t>94</a:t>
                      </a:r>
                      <a:r>
                        <a:rPr lang="zh-CN" altLang="en-US" sz="1300" dirty="0" smtClean="0"/>
                        <a:t>万</a:t>
                      </a:r>
                      <a:endParaRPr lang="zh-CN" alt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792">
                <a:tc>
                  <a:txBody>
                    <a:bodyPr/>
                    <a:lstStyle/>
                    <a:p>
                      <a:r>
                        <a:rPr lang="en-US" altLang="zh-CN" sz="1300" dirty="0" err="1" smtClean="0"/>
                        <a:t>layernorm</a:t>
                      </a:r>
                      <a:endParaRPr lang="zh-CN" alt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300" dirty="0" smtClean="0"/>
                        <a:t>143</a:t>
                      </a:r>
                      <a:r>
                        <a:rPr lang="zh-CN" altLang="en-US" sz="1300" dirty="0" smtClean="0"/>
                        <a:t>万</a:t>
                      </a:r>
                      <a:endParaRPr lang="zh-CN" alt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300" dirty="0" smtClean="0"/>
                        <a:t>80</a:t>
                      </a:r>
                      <a:r>
                        <a:rPr lang="zh-CN" altLang="en-US" sz="1300" dirty="0" smtClean="0"/>
                        <a:t>万</a:t>
                      </a:r>
                      <a:endParaRPr lang="zh-CN" alt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5" name="文本框 95"/>
          <p:cNvSpPr txBox="1"/>
          <p:nvPr/>
        </p:nvSpPr>
        <p:spPr>
          <a:xfrm>
            <a:off x="5278927" y="3384255"/>
            <a:ext cx="3685562" cy="181588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charset="0"/>
              <a:buChar char="p"/>
            </a:pPr>
            <a:r>
              <a:rPr lang="en-US" altLang="zh-CN" sz="1400" b="1" dirty="0" smtClean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kernel</a:t>
            </a:r>
            <a:r>
              <a:rPr lang="zh-CN" altLang="en-US" sz="1400" b="1" dirty="0" smtClean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正确性：</a:t>
            </a:r>
            <a:endParaRPr lang="en-US" altLang="zh-CN" sz="1400" b="1" dirty="0">
              <a:solidFill>
                <a:srgbClr val="004B9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l">
              <a:buFont typeface="Wingdings" panose="05000000000000000000" charset="0"/>
              <a:buChar char="p"/>
            </a:pPr>
            <a:endParaRPr lang="en-US" altLang="zh-CN" sz="1400" b="1" dirty="0">
              <a:solidFill>
                <a:srgbClr val="004B9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理论上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大模型能力变强，新阶段任务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不重且选择融合的都是高度重叠的阶段；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实际测试： 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进行数十种算子开发测试，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新旧版本生成近乎一致。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6" name="text_354_新版：三个核心 Agent"/>
          <p:cNvSpPr>
            <a:spLocks noGrp="1"/>
          </p:cNvSpPr>
          <p:nvPr/>
        </p:nvSpPr>
        <p:spPr>
          <a:xfrm>
            <a:off x="3347864" y="1727665"/>
            <a:ext cx="2028825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58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合并优化</a:t>
            </a:r>
            <a:endParaRPr sz="158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</a:t>
            </a:r>
            <a:r>
              <a:rPr lang="zh-CN" altLang="en-US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任务二</a:t>
            </a:r>
            <a:r>
              <a:rPr sz="1950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寒武纪算子开发</a:t>
            </a:r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SKILL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sz="195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510903" y="6597079"/>
            <a:ext cx="6589489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Hong, D. B.; Imani, A.; Ahmed, I. “From Anatomy to Smells: An Empirical Study of SKILL.md in Agent Skills.” arXiv:2607.01456, 2026.</a:t>
            </a:r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40" name="text_173_相同语义反复读取&#10;Token 消耗高"/>
          <p:cNvSpPr>
            <a:spLocks noGrp="1"/>
          </p:cNvSpPr>
          <p:nvPr/>
        </p:nvSpPr>
        <p:spPr>
          <a:xfrm>
            <a:off x="2801995" y="2135091"/>
            <a:ext cx="4536033" cy="729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静态 </a:t>
            </a:r>
            <a:r>
              <a:rPr lang="en-US" altLang="zh-CN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Kernel </a:t>
            </a:r>
            <a:r>
              <a:rPr lang="zh-CN" alt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结构已经限制尺寸循环范围或输出大小。</a:t>
            </a:r>
            <a:endParaRPr lang="en-US" altLang="zh-CN" sz="1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静态算子在其他 </a:t>
            </a:r>
            <a:r>
              <a:rPr lang="en-US" altLang="zh-C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 </a:t>
            </a:r>
            <a:r>
              <a:rPr lang="zh-CN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上可能出现性能明显下降。</a:t>
            </a:r>
          </a:p>
          <a:p>
            <a:pPr>
              <a:lnSpc>
                <a:spcPct val="150000"/>
              </a:lnSpc>
            </a:pPr>
            <a:endParaRPr lang="en-US" altLang="zh-C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_171_上下文重复"/>
          <p:cNvSpPr>
            <a:spLocks noGrp="1"/>
          </p:cNvSpPr>
          <p:nvPr/>
        </p:nvSpPr>
        <p:spPr>
          <a:xfrm>
            <a:off x="1404694" y="2059695"/>
            <a:ext cx="1178719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原因分析：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_171_上下文重复"/>
          <p:cNvSpPr>
            <a:spLocks noGrp="1"/>
          </p:cNvSpPr>
          <p:nvPr/>
        </p:nvSpPr>
        <p:spPr>
          <a:xfrm>
            <a:off x="1381728" y="3022179"/>
            <a:ext cx="1178719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解决</a:t>
            </a:r>
            <a:r>
              <a:rPr lang="zh-CN" altLang="en-US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方案：</a:t>
            </a:r>
            <a:endParaRPr lang="zh-CN" altLang="en-US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动态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shape</a:t>
            </a:r>
            <a:r>
              <a:rPr lang="zh-CN" altLang="en-US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开发功能扩展</a:t>
            </a:r>
          </a:p>
        </p:txBody>
      </p:sp>
      <p:sp>
        <p:nvSpPr>
          <p:cNvPr id="3" name="矩形 2"/>
          <p:cNvSpPr/>
          <p:nvPr/>
        </p:nvSpPr>
        <p:spPr>
          <a:xfrm>
            <a:off x="3044460" y="3659440"/>
            <a:ext cx="29931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支持动态</a:t>
            </a:r>
            <a:r>
              <a:rPr lang="en-US" altLang="zh-CN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  <a:r>
              <a:rPr lang="zh-CN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  <a:r>
              <a:rPr lang="zh-CN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开发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加号 4"/>
          <p:cNvSpPr/>
          <p:nvPr/>
        </p:nvSpPr>
        <p:spPr>
          <a:xfrm>
            <a:off x="4448613" y="4084954"/>
            <a:ext cx="373980" cy="369093"/>
          </a:xfrm>
          <a:prstGeom prst="mathPlus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3722532" y="4548697"/>
            <a:ext cx="18261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自动化参数搜索</a:t>
            </a:r>
          </a:p>
        </p:txBody>
      </p:sp>
      <p:sp>
        <p:nvSpPr>
          <p:cNvPr id="15" name="矩形 14"/>
          <p:cNvSpPr/>
          <p:nvPr/>
        </p:nvSpPr>
        <p:spPr>
          <a:xfrm>
            <a:off x="3148656" y="5463917"/>
            <a:ext cx="29738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Kernel</a:t>
            </a:r>
            <a:r>
              <a:rPr lang="en-US" altLang="zh-CN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Family</a:t>
            </a: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全</a:t>
            </a:r>
            <a:r>
              <a:rPr lang="en-US" altLang="zh-C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shape</a:t>
            </a: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覆盖</a:t>
            </a:r>
          </a:p>
        </p:txBody>
      </p:sp>
      <p:sp>
        <p:nvSpPr>
          <p:cNvPr id="16" name="加号 15"/>
          <p:cNvSpPr/>
          <p:nvPr/>
        </p:nvSpPr>
        <p:spPr>
          <a:xfrm>
            <a:off x="4448613" y="5052648"/>
            <a:ext cx="373980" cy="369093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</a:t>
            </a:r>
            <a:r>
              <a:rPr lang="zh-CN" altLang="en-US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任务二</a:t>
            </a:r>
            <a:r>
              <a:rPr sz="1950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寒武纪算子开发</a:t>
            </a:r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SKILL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sz="195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510903" y="6597079"/>
            <a:ext cx="6589489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Hong, D. B.; Imani, A.; Ahmed, I. “From Anatomy to Smells: An Empirical Study of SKILL.md in Agent Skills.” arXiv:2607.01456, 2026.</a:t>
            </a:r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53" name="text_171_上下文重复"/>
          <p:cNvSpPr>
            <a:spLocks noGrp="1"/>
          </p:cNvSpPr>
          <p:nvPr/>
        </p:nvSpPr>
        <p:spPr>
          <a:xfrm>
            <a:off x="964994" y="1711567"/>
            <a:ext cx="1178719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解决</a:t>
            </a:r>
            <a:r>
              <a:rPr lang="zh-CN" altLang="en-US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方案：</a:t>
            </a:r>
            <a:endParaRPr lang="zh-CN" altLang="en-US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动态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shape</a:t>
            </a:r>
            <a:r>
              <a:rPr lang="zh-CN" altLang="en-US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开发功能扩展</a:t>
            </a:r>
          </a:p>
        </p:txBody>
      </p:sp>
      <p:sp>
        <p:nvSpPr>
          <p:cNvPr id="17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18" name="矩形 17"/>
          <p:cNvSpPr/>
          <p:nvPr/>
        </p:nvSpPr>
        <p:spPr>
          <a:xfrm>
            <a:off x="2024022" y="2141699"/>
            <a:ext cx="25314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动态</a:t>
            </a:r>
            <a:r>
              <a:rPr lang="en-US" altLang="zh-CN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  <a:r>
              <a:rPr lang="zh-CN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  <a:r>
              <a:rPr lang="zh-CN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开发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043504" y="2138701"/>
            <a:ext cx="18261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自动化参数搜索</a:t>
            </a:r>
          </a:p>
        </p:txBody>
      </p:sp>
      <p:sp>
        <p:nvSpPr>
          <p:cNvPr id="20" name="矩形 19"/>
          <p:cNvSpPr/>
          <p:nvPr/>
        </p:nvSpPr>
        <p:spPr>
          <a:xfrm>
            <a:off x="468619" y="5401341"/>
            <a:ext cx="29738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Kernel</a:t>
            </a:r>
            <a:r>
              <a:rPr lang="en-US" altLang="zh-CN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Family</a:t>
            </a: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全</a:t>
            </a:r>
            <a:r>
              <a:rPr lang="en-US" altLang="zh-C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shape</a:t>
            </a: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覆盖</a:t>
            </a:r>
          </a:p>
        </p:txBody>
      </p:sp>
      <p:sp>
        <p:nvSpPr>
          <p:cNvPr id="21" name="text_545_确定不同输入对应的执行组合"/>
          <p:cNvSpPr>
            <a:spLocks noGrp="1"/>
          </p:cNvSpPr>
          <p:nvPr/>
        </p:nvSpPr>
        <p:spPr>
          <a:xfrm>
            <a:off x="5043504" y="2658222"/>
            <a:ext cx="2486025" cy="2357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180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按照硬件参数去设置配置范围</a:t>
            </a:r>
            <a:endParaRPr sz="118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object_546"/>
          <p:cNvSpPr>
            <a:spLocks noGrp="1"/>
          </p:cNvSpPr>
          <p:nvPr/>
        </p:nvSpPr>
        <p:spPr>
          <a:xfrm>
            <a:off x="5737268" y="3048261"/>
            <a:ext cx="714375" cy="314325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23" name="text_548_Family"/>
          <p:cNvSpPr>
            <a:spLocks noGrp="1"/>
          </p:cNvSpPr>
          <p:nvPr/>
        </p:nvSpPr>
        <p:spPr>
          <a:xfrm>
            <a:off x="5772986" y="3098267"/>
            <a:ext cx="642938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8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Family</a:t>
            </a:r>
          </a:p>
        </p:txBody>
      </p:sp>
      <p:sp>
        <p:nvSpPr>
          <p:cNvPr id="25" name="text_552_×"/>
          <p:cNvSpPr>
            <a:spLocks noGrp="1"/>
          </p:cNvSpPr>
          <p:nvPr/>
        </p:nvSpPr>
        <p:spPr>
          <a:xfrm>
            <a:off x="5951580" y="3355442"/>
            <a:ext cx="228600" cy="1714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70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</a:p>
        </p:txBody>
      </p:sp>
      <p:sp>
        <p:nvSpPr>
          <p:cNvPr id="26" name="object_553"/>
          <p:cNvSpPr>
            <a:spLocks noGrp="1"/>
          </p:cNvSpPr>
          <p:nvPr/>
        </p:nvSpPr>
        <p:spPr>
          <a:xfrm>
            <a:off x="5737268" y="3526892"/>
            <a:ext cx="714375" cy="314325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28" name="text_555_Config"/>
          <p:cNvSpPr>
            <a:spLocks noGrp="1"/>
          </p:cNvSpPr>
          <p:nvPr/>
        </p:nvSpPr>
        <p:spPr>
          <a:xfrm>
            <a:off x="5772986" y="3576898"/>
            <a:ext cx="642938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8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</a:t>
            </a:r>
          </a:p>
        </p:txBody>
      </p:sp>
      <p:sp>
        <p:nvSpPr>
          <p:cNvPr id="30" name="text_559_×"/>
          <p:cNvSpPr>
            <a:spLocks noGrp="1"/>
          </p:cNvSpPr>
          <p:nvPr/>
        </p:nvSpPr>
        <p:spPr>
          <a:xfrm>
            <a:off x="5951580" y="3834073"/>
            <a:ext cx="228600" cy="1714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70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</a:p>
        </p:txBody>
      </p:sp>
      <p:sp>
        <p:nvSpPr>
          <p:cNvPr id="31" name="object_560"/>
          <p:cNvSpPr>
            <a:spLocks noGrp="1"/>
          </p:cNvSpPr>
          <p:nvPr/>
        </p:nvSpPr>
        <p:spPr>
          <a:xfrm>
            <a:off x="5737268" y="4005523"/>
            <a:ext cx="714375" cy="314325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32" name="text_562_Shape"/>
          <p:cNvSpPr>
            <a:spLocks noGrp="1"/>
          </p:cNvSpPr>
          <p:nvPr/>
        </p:nvSpPr>
        <p:spPr>
          <a:xfrm>
            <a:off x="5772986" y="4055529"/>
            <a:ext cx="642938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8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</a:p>
        </p:txBody>
      </p:sp>
      <p:sp>
        <p:nvSpPr>
          <p:cNvPr id="36" name="object_509"/>
          <p:cNvSpPr>
            <a:spLocks noGrp="1"/>
          </p:cNvSpPr>
          <p:nvPr/>
        </p:nvSpPr>
        <p:spPr>
          <a:xfrm>
            <a:off x="2102603" y="2976623"/>
            <a:ext cx="2207419" cy="521494"/>
          </a:xfrm>
          <a:prstGeom prst="rect">
            <a:avLst/>
          </a:prstGeom>
          <a:solidFill>
            <a:srgbClr val="F2F2F2"/>
          </a:solidFill>
          <a:ln w="19050">
            <a:solidFill>
              <a:schemeClr val="tx1"/>
            </a:solidFill>
          </a:ln>
        </p:spPr>
      </p:sp>
      <p:sp>
        <p:nvSpPr>
          <p:cNvPr id="37" name="text_511_Shape 特征与硬件约束"/>
          <p:cNvSpPr>
            <a:spLocks noGrp="1"/>
          </p:cNvSpPr>
          <p:nvPr/>
        </p:nvSpPr>
        <p:spPr>
          <a:xfrm>
            <a:off x="2137127" y="3112550"/>
            <a:ext cx="2107406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 </a:t>
            </a:r>
            <a:r>
              <a:rPr sz="1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特征与硬件约束</a:t>
            </a:r>
            <a:endParaRPr sz="1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connector_514"/>
          <p:cNvSpPr>
            <a:spLocks noGrp="1"/>
          </p:cNvSpPr>
          <p:nvPr/>
        </p:nvSpPr>
        <p:spPr>
          <a:xfrm flipH="1">
            <a:off x="3139154" y="3483830"/>
            <a:ext cx="70966" cy="615173"/>
          </a:xfrm>
          <a:custGeom>
            <a:avLst/>
            <a:gdLst/>
            <a:ahLst/>
            <a:cxnLst/>
            <a:rect l="0" t="0" r="0" b="0"/>
            <a:pathLst>
              <a:path w="19050" h="314325">
                <a:moveTo>
                  <a:pt x="9525" y="9525"/>
                </a:moveTo>
                <a:lnTo>
                  <a:pt x="9525" y="304800"/>
                </a:lnTo>
              </a:path>
            </a:pathLst>
          </a:custGeom>
          <a:noFill/>
          <a:ln w="19050">
            <a:solidFill>
              <a:schemeClr val="tx1"/>
            </a:solidFill>
          </a:ln>
        </p:spPr>
      </p:sp>
      <p:sp>
        <p:nvSpPr>
          <p:cNvPr id="39" name="object_516"/>
          <p:cNvSpPr>
            <a:spLocks noGrp="1"/>
          </p:cNvSpPr>
          <p:nvPr/>
        </p:nvSpPr>
        <p:spPr>
          <a:xfrm>
            <a:off x="2024022" y="4069617"/>
            <a:ext cx="735806" cy="621506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</a:ln>
        </p:spPr>
      </p:sp>
      <p:sp>
        <p:nvSpPr>
          <p:cNvPr id="41" name="text_518_Family A"/>
          <p:cNvSpPr>
            <a:spLocks noGrp="1"/>
          </p:cNvSpPr>
          <p:nvPr/>
        </p:nvSpPr>
        <p:spPr>
          <a:xfrm>
            <a:off x="2074028" y="4105335"/>
            <a:ext cx="635794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Family A</a:t>
            </a:r>
          </a:p>
        </p:txBody>
      </p:sp>
      <p:sp>
        <p:nvSpPr>
          <p:cNvPr id="42" name="text_520_小尺寸优化"/>
          <p:cNvSpPr>
            <a:spLocks noGrp="1"/>
          </p:cNvSpPr>
          <p:nvPr/>
        </p:nvSpPr>
        <p:spPr>
          <a:xfrm>
            <a:off x="2081172" y="4455380"/>
            <a:ext cx="621506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5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小尺寸优化</a:t>
            </a:r>
            <a:endParaRPr sz="95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connector_521"/>
          <p:cNvSpPr>
            <a:spLocks noGrp="1"/>
          </p:cNvSpPr>
          <p:nvPr/>
        </p:nvSpPr>
        <p:spPr>
          <a:xfrm>
            <a:off x="2381209" y="3862449"/>
            <a:ext cx="14288" cy="192881"/>
          </a:xfrm>
          <a:custGeom>
            <a:avLst/>
            <a:gdLst/>
            <a:ahLst/>
            <a:cxnLst/>
            <a:rect l="0" t="0" r="0" b="0"/>
            <a:pathLst>
              <a:path w="19050" h="257175">
                <a:moveTo>
                  <a:pt x="9525" y="9525"/>
                </a:moveTo>
                <a:lnTo>
                  <a:pt x="9525" y="247650"/>
                </a:lnTo>
              </a:path>
            </a:pathLst>
          </a:custGeom>
          <a:noFill/>
          <a:ln w="16193">
            <a:solidFill>
              <a:schemeClr val="tx1"/>
            </a:solidFill>
          </a:ln>
        </p:spPr>
      </p:sp>
      <p:sp>
        <p:nvSpPr>
          <p:cNvPr id="44" name="object_522"/>
          <p:cNvSpPr>
            <a:spLocks noGrp="1"/>
          </p:cNvSpPr>
          <p:nvPr/>
        </p:nvSpPr>
        <p:spPr>
          <a:xfrm>
            <a:off x="2816978" y="4069617"/>
            <a:ext cx="735806" cy="621506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</a:ln>
        </p:spPr>
      </p:sp>
      <p:sp>
        <p:nvSpPr>
          <p:cNvPr id="45" name="text_524_Family B"/>
          <p:cNvSpPr>
            <a:spLocks noGrp="1"/>
          </p:cNvSpPr>
          <p:nvPr/>
        </p:nvSpPr>
        <p:spPr>
          <a:xfrm>
            <a:off x="2866984" y="4105335"/>
            <a:ext cx="635794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Family B</a:t>
            </a:r>
          </a:p>
        </p:txBody>
      </p:sp>
      <p:sp>
        <p:nvSpPr>
          <p:cNvPr id="46" name="text_526_分块 / 分阶段"/>
          <p:cNvSpPr>
            <a:spLocks noGrp="1"/>
          </p:cNvSpPr>
          <p:nvPr/>
        </p:nvSpPr>
        <p:spPr>
          <a:xfrm>
            <a:off x="2874128" y="4455380"/>
            <a:ext cx="621506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5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分块</a:t>
            </a:r>
            <a:r>
              <a:rPr sz="95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sz="950" dirty="0" err="1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分阶段</a:t>
            </a:r>
            <a:endParaRPr sz="95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object_528"/>
          <p:cNvSpPr>
            <a:spLocks noGrp="1"/>
          </p:cNvSpPr>
          <p:nvPr/>
        </p:nvSpPr>
        <p:spPr>
          <a:xfrm>
            <a:off x="3609935" y="4069617"/>
            <a:ext cx="735806" cy="621506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</a:ln>
        </p:spPr>
      </p:sp>
      <p:sp>
        <p:nvSpPr>
          <p:cNvPr id="48" name="text_530_Family C"/>
          <p:cNvSpPr>
            <a:spLocks noGrp="1"/>
          </p:cNvSpPr>
          <p:nvPr/>
        </p:nvSpPr>
        <p:spPr>
          <a:xfrm>
            <a:off x="3659941" y="4105335"/>
            <a:ext cx="635794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Family C</a:t>
            </a:r>
          </a:p>
        </p:txBody>
      </p:sp>
      <p:sp>
        <p:nvSpPr>
          <p:cNvPr id="49" name="text_532_整轴结构"/>
          <p:cNvSpPr>
            <a:spLocks noGrp="1"/>
          </p:cNvSpPr>
          <p:nvPr/>
        </p:nvSpPr>
        <p:spPr>
          <a:xfrm>
            <a:off x="3667085" y="4455380"/>
            <a:ext cx="621506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5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整轴结构</a:t>
            </a:r>
            <a:endParaRPr sz="95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connector_533"/>
          <p:cNvSpPr>
            <a:spLocks noGrp="1"/>
          </p:cNvSpPr>
          <p:nvPr/>
        </p:nvSpPr>
        <p:spPr>
          <a:xfrm>
            <a:off x="3967121" y="3862449"/>
            <a:ext cx="14288" cy="192881"/>
          </a:xfrm>
          <a:custGeom>
            <a:avLst/>
            <a:gdLst/>
            <a:ahLst/>
            <a:cxnLst/>
            <a:rect l="0" t="0" r="0" b="0"/>
            <a:pathLst>
              <a:path w="19050" h="257175">
                <a:moveTo>
                  <a:pt x="9525" y="9525"/>
                </a:moveTo>
                <a:lnTo>
                  <a:pt x="9525" y="247650"/>
                </a:lnTo>
              </a:path>
            </a:pathLst>
          </a:custGeom>
          <a:noFill/>
          <a:ln w="16193">
            <a:solidFill>
              <a:schemeClr val="tx1"/>
            </a:solidFill>
          </a:ln>
        </p:spPr>
      </p:sp>
      <p:sp>
        <p:nvSpPr>
          <p:cNvPr id="51" name="connector_534"/>
          <p:cNvSpPr>
            <a:spLocks noGrp="1"/>
          </p:cNvSpPr>
          <p:nvPr/>
        </p:nvSpPr>
        <p:spPr>
          <a:xfrm>
            <a:off x="2381209" y="3862448"/>
            <a:ext cx="1600200" cy="14288"/>
          </a:xfrm>
          <a:custGeom>
            <a:avLst/>
            <a:gdLst/>
            <a:ahLst/>
            <a:cxnLst/>
            <a:rect l="0" t="0" r="0" b="0"/>
            <a:pathLst>
              <a:path w="2133600" h="19050">
                <a:moveTo>
                  <a:pt x="9525" y="9525"/>
                </a:moveTo>
                <a:lnTo>
                  <a:pt x="2124075" y="9525"/>
                </a:lnTo>
              </a:path>
            </a:pathLst>
          </a:custGeom>
          <a:noFill/>
          <a:ln w="16193">
            <a:solidFill>
              <a:schemeClr val="tx1"/>
            </a:solidFill>
          </a:ln>
        </p:spPr>
      </p:sp>
      <p:sp>
        <p:nvSpPr>
          <p:cNvPr id="63" name="object_583"/>
          <p:cNvSpPr>
            <a:spLocks noGrp="1"/>
          </p:cNvSpPr>
          <p:nvPr/>
        </p:nvSpPr>
        <p:spPr>
          <a:xfrm>
            <a:off x="5026050" y="4835144"/>
            <a:ext cx="2221706" cy="385763"/>
          </a:xfrm>
          <a:prstGeom prst="rect">
            <a:avLst/>
          </a:prstGeom>
          <a:solidFill>
            <a:srgbClr val="F2F2F2"/>
          </a:solidFill>
          <a:ln w="19050">
            <a:solidFill>
              <a:schemeClr val="tx1"/>
            </a:solidFill>
          </a:ln>
        </p:spPr>
      </p:sp>
      <p:sp>
        <p:nvSpPr>
          <p:cNvPr id="64" name="text_585_Dispatch 分派规则"/>
          <p:cNvSpPr>
            <a:spLocks noGrp="1"/>
          </p:cNvSpPr>
          <p:nvPr/>
        </p:nvSpPr>
        <p:spPr>
          <a:xfrm>
            <a:off x="5076056" y="4870863"/>
            <a:ext cx="2121694" cy="314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8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Dispatch </a:t>
            </a:r>
            <a:r>
              <a:rPr sz="118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分派规则</a:t>
            </a:r>
            <a:endParaRPr sz="118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箭头: 下 38"/>
          <p:cNvSpPr/>
          <p:nvPr/>
        </p:nvSpPr>
        <p:spPr>
          <a:xfrm>
            <a:off x="5921204" y="4423605"/>
            <a:ext cx="324000" cy="36667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text_258_Main"/>
          <p:cNvSpPr>
            <a:spLocks noGrp="1"/>
          </p:cNvSpPr>
          <p:nvPr/>
        </p:nvSpPr>
        <p:spPr>
          <a:xfrm>
            <a:off x="426028" y="5964626"/>
            <a:ext cx="1831284" cy="303758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输入</a:t>
            </a:r>
            <a:r>
              <a:rPr lang="en-US" altLang="zh-CN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  <a:endParaRPr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_258_Main"/>
          <p:cNvSpPr>
            <a:spLocks noGrp="1"/>
          </p:cNvSpPr>
          <p:nvPr/>
        </p:nvSpPr>
        <p:spPr>
          <a:xfrm>
            <a:off x="2618417" y="5968735"/>
            <a:ext cx="1831284" cy="303758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Dispatch </a:t>
            </a:r>
            <a:r>
              <a:rPr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分派规则</a:t>
            </a:r>
            <a:endParaRPr lang="zh-CN" altLang="en-US" sz="1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text_258_Main"/>
          <p:cNvSpPr>
            <a:spLocks noGrp="1"/>
          </p:cNvSpPr>
          <p:nvPr/>
        </p:nvSpPr>
        <p:spPr>
          <a:xfrm>
            <a:off x="4813195" y="5973672"/>
            <a:ext cx="1831284" cy="303758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选择</a:t>
            </a:r>
            <a:r>
              <a:rPr lang="en-US" altLang="zh-CN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  <a:endParaRPr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text_258_Main"/>
          <p:cNvSpPr>
            <a:spLocks noGrp="1"/>
          </p:cNvSpPr>
          <p:nvPr/>
        </p:nvSpPr>
        <p:spPr>
          <a:xfrm>
            <a:off x="7029090" y="5968735"/>
            <a:ext cx="1831284" cy="303758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计算</a:t>
            </a:r>
            <a:endParaRPr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直接箭头连接符 4"/>
          <p:cNvCxnSpPr>
            <a:stCxn id="70" idx="3"/>
            <a:endCxn id="73" idx="1"/>
          </p:cNvCxnSpPr>
          <p:nvPr/>
        </p:nvCxnSpPr>
        <p:spPr>
          <a:xfrm>
            <a:off x="2257312" y="6116505"/>
            <a:ext cx="361105" cy="4109"/>
          </a:xfrm>
          <a:prstGeom prst="straightConnector1">
            <a:avLst/>
          </a:prstGeom>
          <a:ln w="19050">
            <a:solidFill>
              <a:srgbClr val="D7000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/>
          <p:nvPr/>
        </p:nvCxnSpPr>
        <p:spPr>
          <a:xfrm>
            <a:off x="4440421" y="6112396"/>
            <a:ext cx="361105" cy="4109"/>
          </a:xfrm>
          <a:prstGeom prst="straightConnector1">
            <a:avLst/>
          </a:prstGeom>
          <a:ln w="19050">
            <a:solidFill>
              <a:srgbClr val="D7000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箭头连接符 76"/>
          <p:cNvCxnSpPr/>
          <p:nvPr/>
        </p:nvCxnSpPr>
        <p:spPr>
          <a:xfrm>
            <a:off x="6667985" y="6120614"/>
            <a:ext cx="361105" cy="4109"/>
          </a:xfrm>
          <a:prstGeom prst="straightConnector1">
            <a:avLst/>
          </a:prstGeom>
          <a:ln w="19050">
            <a:solidFill>
              <a:srgbClr val="D7000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>
            <a:off x="4644008" y="1933023"/>
            <a:ext cx="35720" cy="3427882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</a:t>
            </a:r>
            <a:r>
              <a:rPr lang="zh-CN" altLang="en-US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任务二</a:t>
            </a:r>
            <a:r>
              <a:rPr sz="1950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寒武纪算子开发</a:t>
            </a:r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SKILL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sz="195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510903" y="6597079"/>
            <a:ext cx="6589489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Hong, D. B.; Imani, A.; Ahmed, I. “From Anatomy to Smells: An Empirical Study of SKILL.md in Agent Skills.” arXiv:2607.01456, 2026.</a:t>
            </a:r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56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动态</a:t>
            </a:r>
            <a:r>
              <a:rPr lang="en-US" altLang="zh-CN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shape</a:t>
            </a: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开发功能扩展</a:t>
            </a:r>
            <a:endParaRPr lang="zh-CN" altLang="en-US" sz="2100" b="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</p:txBody>
      </p:sp>
      <p:graphicFrame>
        <p:nvGraphicFramePr>
          <p:cNvPr id="94" name="表格 93"/>
          <p:cNvGraphicFramePr/>
          <p:nvPr>
            <p:extLst>
              <p:ext uri="{D42A27DB-BD31-4B8C-83A1-F6EECF244321}">
                <p14:modId xmlns:p14="http://schemas.microsoft.com/office/powerpoint/2010/main" val="3812710143"/>
              </p:ext>
            </p:extLst>
          </p:nvPr>
        </p:nvGraphicFramePr>
        <p:xfrm>
          <a:off x="1115616" y="1928793"/>
          <a:ext cx="5256584" cy="3372414"/>
        </p:xfrm>
        <a:graphic>
          <a:graphicData uri="http://schemas.openxmlformats.org/drawingml/2006/table">
            <a:tbl>
              <a:tblPr/>
              <a:tblGrid>
                <a:gridCol w="18146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58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19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48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93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20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算子</a:t>
                      </a:r>
                      <a:endParaRPr sz="16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静态</a:t>
                      </a: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开发时间</a:t>
                      </a:r>
                      <a:endParaRPr sz="16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动态</a:t>
                      </a:r>
                      <a:endParaRPr sz="16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开发时间</a:t>
                      </a: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0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softmax</a:t>
                      </a:r>
                      <a:endParaRPr sz="16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1.23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2h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1.182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5h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20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layernorm</a:t>
                      </a:r>
                      <a:endParaRPr sz="16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1.2h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1.02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4.5h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20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rmsnorm</a:t>
                      </a:r>
                      <a:endParaRPr sz="16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0.96</a:t>
                      </a:r>
                      <a:endParaRPr lang="zh-CN" altLang="en-US" sz="1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1.8h</a:t>
                      </a: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3.9h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20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gelu</a:t>
                      </a:r>
                      <a:endParaRPr sz="16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1.15</a:t>
                      </a:r>
                      <a:endParaRPr lang="zh-CN" altLang="en-US" sz="1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1.6h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1.49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4h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2069"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Shape </a:t>
                      </a:r>
                      <a:r>
                        <a:rPr sz="1600" b="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范围</a:t>
                      </a:r>
                      <a:endParaRPr sz="16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单一</a:t>
                      </a:r>
                      <a:endParaRPr sz="16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单一</a:t>
                      </a:r>
                      <a:endParaRPr sz="16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范围</a:t>
                      </a:r>
                      <a:endParaRPr sz="16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范围</a:t>
                      </a:r>
                      <a:endParaRPr sz="16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9D9D9"/>
                      </a:solidFill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5" name="text_771_✓ 支持    △ 初步支持    × 不支持"/>
          <p:cNvSpPr>
            <a:spLocks noGrp="1"/>
          </p:cNvSpPr>
          <p:nvPr/>
        </p:nvSpPr>
        <p:spPr>
          <a:xfrm>
            <a:off x="1149715" y="5597472"/>
            <a:ext cx="3075282" cy="39978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p"/>
              <a:defRPr sz="12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400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值为相比</a:t>
            </a:r>
            <a:r>
              <a:rPr lang="en-US" altLang="zh-CN" sz="1400" dirty="0" err="1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zh-CN" altLang="en-US" sz="1400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官方算子的加速比；</a:t>
            </a:r>
            <a:endParaRPr lang="en-US" altLang="zh-CN" sz="1400" dirty="0" smtClean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p"/>
              <a:defRPr sz="12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400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每个算子开发完成之后随机测试</a:t>
            </a:r>
            <a:r>
              <a:rPr lang="en-US" altLang="zh-CN" sz="1400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144</a:t>
            </a:r>
            <a:r>
              <a:rPr lang="zh-CN" altLang="en-US" sz="1400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altLang="zh-CN" sz="1400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  <a:r>
              <a:rPr lang="zh-CN" altLang="en-US" sz="1400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sz="14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95"/>
          <p:cNvSpPr txBox="1"/>
          <p:nvPr/>
        </p:nvSpPr>
        <p:spPr>
          <a:xfrm>
            <a:off x="6468949" y="2636912"/>
            <a:ext cx="2423531" cy="33866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charset="0"/>
              <a:buChar char="p"/>
            </a:pPr>
            <a:r>
              <a:rPr lang="zh-CN" altLang="en-US" sz="1600" b="1" dirty="0" smtClean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开发时间提升。</a:t>
            </a:r>
            <a:endParaRPr lang="zh-CN" altLang="en-US" sz="1600" b="1" dirty="0">
              <a:solidFill>
                <a:srgbClr val="004B9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文本框 95"/>
          <p:cNvSpPr txBox="1"/>
          <p:nvPr/>
        </p:nvSpPr>
        <p:spPr>
          <a:xfrm>
            <a:off x="6457950" y="3324584"/>
            <a:ext cx="2423531" cy="8309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charset="0"/>
              <a:buChar char="p"/>
            </a:pPr>
            <a:r>
              <a:rPr lang="zh-CN" altLang="en-US" sz="1600" b="1" dirty="0" smtClean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动态</a:t>
            </a:r>
            <a:r>
              <a:rPr lang="en-US" altLang="zh-CN" sz="1600" b="1" dirty="0" smtClean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shape</a:t>
            </a:r>
            <a:r>
              <a:rPr lang="zh-CN" altLang="en-US" sz="1600" b="1" dirty="0" smtClean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时，有些</a:t>
            </a:r>
            <a:endParaRPr lang="en-US" altLang="zh-CN" sz="1600" b="1" dirty="0" smtClean="0">
              <a:solidFill>
                <a:srgbClr val="004B9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en-US" altLang="zh-CN" sz="1600" b="1" dirty="0" smtClean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Shape</a:t>
            </a:r>
            <a:r>
              <a:rPr lang="zh-CN" altLang="en-US" sz="1600" b="1" dirty="0" smtClean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加速比很高，平均下来就高了</a:t>
            </a:r>
            <a:r>
              <a:rPr lang="zh-CN" altLang="en-US" sz="1600" b="1" dirty="0" smtClean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1600" b="1" dirty="0">
              <a:solidFill>
                <a:srgbClr val="004B9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</a:t>
            </a:r>
            <a:r>
              <a:rPr lang="zh-CN" altLang="en-US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任务二</a:t>
            </a:r>
            <a:r>
              <a:rPr sz="1950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寒武纪算子开发</a:t>
            </a:r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SKILL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sz="195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510903" y="6597079"/>
            <a:ext cx="6589489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Hong, D. B.; Imani, A.; Ahmed, I. “From Anatomy to Smells: An Empirical Study of SKILL.md in Agent Skills.” arXiv:2607.01456, 2026.</a:t>
            </a:r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40" name="text_173_相同语义反复读取&#10;Token 消耗高"/>
          <p:cNvSpPr>
            <a:spLocks noGrp="1"/>
          </p:cNvSpPr>
          <p:nvPr/>
        </p:nvSpPr>
        <p:spPr>
          <a:xfrm>
            <a:off x="1668699" y="6106739"/>
            <a:ext cx="4536033" cy="4000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600" b="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</a:t>
            </a:r>
            <a:r>
              <a:rPr lang="en-US" altLang="zh-CN" sz="1600" b="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skill</a:t>
            </a:r>
            <a:r>
              <a:rPr lang="zh-CN" altLang="en-US" sz="1600" b="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进行简单修改后，验证需要重新跑一遍算子开发</a:t>
            </a:r>
          </a:p>
        </p:txBody>
      </p:sp>
      <p:sp>
        <p:nvSpPr>
          <p:cNvPr id="52" name="text_171_上下文重复"/>
          <p:cNvSpPr>
            <a:spLocks noGrp="1"/>
          </p:cNvSpPr>
          <p:nvPr/>
        </p:nvSpPr>
        <p:spPr>
          <a:xfrm>
            <a:off x="489980" y="6196036"/>
            <a:ext cx="1178719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原因分析：</a:t>
            </a:r>
            <a:endParaRPr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_171_上下文重复"/>
          <p:cNvSpPr>
            <a:spLocks noGrp="1"/>
          </p:cNvSpPr>
          <p:nvPr/>
        </p:nvSpPr>
        <p:spPr>
          <a:xfrm>
            <a:off x="704671" y="1665995"/>
            <a:ext cx="1178719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优化</a:t>
            </a:r>
            <a:r>
              <a:rPr lang="zh-CN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①：按照修改范围选择验证深度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S</a:t>
            </a:r>
            <a:r>
              <a:rPr lang="en-US" altLang="zh-CN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kill</a:t>
            </a: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修改后验证成本高</a:t>
            </a:r>
            <a:endParaRPr lang="zh-CN" altLang="en-US" sz="157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object_825"/>
          <p:cNvSpPr>
            <a:spLocks noGrp="1"/>
          </p:cNvSpPr>
          <p:nvPr/>
        </p:nvSpPr>
        <p:spPr>
          <a:xfrm>
            <a:off x="554252" y="2350484"/>
            <a:ext cx="792956" cy="900113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44" name="text_827_L1"/>
          <p:cNvSpPr>
            <a:spLocks noGrp="1"/>
          </p:cNvSpPr>
          <p:nvPr/>
        </p:nvSpPr>
        <p:spPr>
          <a:xfrm>
            <a:off x="582827" y="2464785"/>
            <a:ext cx="735806" cy="3500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7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25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L1</a:t>
            </a:r>
          </a:p>
        </p:txBody>
      </p:sp>
      <p:sp>
        <p:nvSpPr>
          <p:cNvPr id="45" name="text_829_低成本"/>
          <p:cNvSpPr>
            <a:spLocks noGrp="1"/>
          </p:cNvSpPr>
          <p:nvPr/>
        </p:nvSpPr>
        <p:spPr>
          <a:xfrm>
            <a:off x="575683" y="2893410"/>
            <a:ext cx="750094" cy="25003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7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低成本</a:t>
            </a:r>
          </a:p>
        </p:txBody>
      </p:sp>
      <p:sp>
        <p:nvSpPr>
          <p:cNvPr id="46" name="text_831_静态结构验证"/>
          <p:cNvSpPr>
            <a:spLocks noGrp="1"/>
          </p:cNvSpPr>
          <p:nvPr/>
        </p:nvSpPr>
        <p:spPr>
          <a:xfrm>
            <a:off x="1583900" y="2557527"/>
            <a:ext cx="2893219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静态结构验证</a:t>
            </a:r>
            <a:endParaRPr sz="16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_833_快速、低成本"/>
          <p:cNvSpPr>
            <a:spLocks noGrp="1"/>
          </p:cNvSpPr>
          <p:nvPr/>
        </p:nvSpPr>
        <p:spPr>
          <a:xfrm>
            <a:off x="1586729" y="2885976"/>
            <a:ext cx="2893219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dirty="0" err="1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快速</a:t>
            </a:r>
            <a:r>
              <a:rPr lang="zh-CN" altLang="en-US" sz="16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筛查</a:t>
            </a:r>
            <a:endParaRPr sz="16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object_840"/>
          <p:cNvSpPr>
            <a:spLocks noGrp="1"/>
          </p:cNvSpPr>
          <p:nvPr/>
        </p:nvSpPr>
        <p:spPr>
          <a:xfrm>
            <a:off x="554252" y="3493484"/>
            <a:ext cx="792956" cy="900113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49" name="text_842_L2"/>
          <p:cNvSpPr>
            <a:spLocks noGrp="1"/>
          </p:cNvSpPr>
          <p:nvPr/>
        </p:nvSpPr>
        <p:spPr>
          <a:xfrm>
            <a:off x="582827" y="3607785"/>
            <a:ext cx="735806" cy="3500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7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25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L2</a:t>
            </a:r>
          </a:p>
        </p:txBody>
      </p:sp>
      <p:sp>
        <p:nvSpPr>
          <p:cNvPr id="50" name="text_844_中等成本"/>
          <p:cNvSpPr>
            <a:spLocks noGrp="1"/>
          </p:cNvSpPr>
          <p:nvPr/>
        </p:nvSpPr>
        <p:spPr>
          <a:xfrm>
            <a:off x="575683" y="4036410"/>
            <a:ext cx="750094" cy="25003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7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中等成本</a:t>
            </a:r>
          </a:p>
        </p:txBody>
      </p:sp>
      <p:sp>
        <p:nvSpPr>
          <p:cNvPr id="51" name="text_846_Workflow 行为验证"/>
          <p:cNvSpPr>
            <a:spLocks noGrp="1"/>
          </p:cNvSpPr>
          <p:nvPr/>
        </p:nvSpPr>
        <p:spPr>
          <a:xfrm>
            <a:off x="1583856" y="3657179"/>
            <a:ext cx="1515268" cy="28147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 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行为验证</a:t>
            </a:r>
            <a:endParaRPr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_848_验证流程是否按预期工作"/>
          <p:cNvSpPr>
            <a:spLocks noGrp="1"/>
          </p:cNvSpPr>
          <p:nvPr/>
        </p:nvSpPr>
        <p:spPr>
          <a:xfrm>
            <a:off x="1583856" y="4014988"/>
            <a:ext cx="2893219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验证流程是否按预期工作</a:t>
            </a:r>
            <a:endParaRPr sz="16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object_855"/>
          <p:cNvSpPr>
            <a:spLocks noGrp="1"/>
          </p:cNvSpPr>
          <p:nvPr/>
        </p:nvSpPr>
        <p:spPr>
          <a:xfrm>
            <a:off x="554252" y="4636484"/>
            <a:ext cx="792956" cy="900113"/>
          </a:xfrm>
          <a:prstGeom prst="rect">
            <a:avLst/>
          </a:prstGeom>
          <a:solidFill>
            <a:srgbClr val="FCF0F1"/>
          </a:solidFill>
          <a:ln w="9525">
            <a:noFill/>
          </a:ln>
        </p:spPr>
      </p:sp>
      <p:sp>
        <p:nvSpPr>
          <p:cNvPr id="58" name="text_857_L3"/>
          <p:cNvSpPr>
            <a:spLocks noGrp="1"/>
          </p:cNvSpPr>
          <p:nvPr/>
        </p:nvSpPr>
        <p:spPr>
          <a:xfrm>
            <a:off x="582827" y="4750785"/>
            <a:ext cx="735806" cy="3500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7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25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L3</a:t>
            </a:r>
          </a:p>
        </p:txBody>
      </p:sp>
      <p:sp>
        <p:nvSpPr>
          <p:cNvPr id="59" name="text_859_高成本"/>
          <p:cNvSpPr>
            <a:spLocks noGrp="1"/>
          </p:cNvSpPr>
          <p:nvPr/>
        </p:nvSpPr>
        <p:spPr>
          <a:xfrm>
            <a:off x="575683" y="5179410"/>
            <a:ext cx="750094" cy="25003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7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高成本</a:t>
            </a:r>
          </a:p>
        </p:txBody>
      </p:sp>
      <p:sp>
        <p:nvSpPr>
          <p:cNvPr id="60" name="text_861_真实环境验证"/>
          <p:cNvSpPr>
            <a:spLocks noGrp="1"/>
          </p:cNvSpPr>
          <p:nvPr/>
        </p:nvSpPr>
        <p:spPr>
          <a:xfrm>
            <a:off x="1583857" y="4793821"/>
            <a:ext cx="2893219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b="1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真实</a:t>
            </a:r>
            <a:r>
              <a:rPr lang="zh-CN" altLang="en-US" sz="16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开发</a:t>
            </a:r>
            <a:r>
              <a:rPr sz="1600" b="1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验证</a:t>
            </a:r>
            <a:endParaRPr sz="16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_863_硬件与工具链绑定验证"/>
          <p:cNvSpPr>
            <a:spLocks noGrp="1"/>
          </p:cNvSpPr>
          <p:nvPr/>
        </p:nvSpPr>
        <p:spPr>
          <a:xfrm>
            <a:off x="1583858" y="5097731"/>
            <a:ext cx="2893219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600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算子策略相关的修改</a:t>
            </a:r>
            <a:endParaRPr sz="16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object_876"/>
          <p:cNvSpPr>
            <a:spLocks noGrp="1"/>
          </p:cNvSpPr>
          <p:nvPr/>
        </p:nvSpPr>
        <p:spPr>
          <a:xfrm>
            <a:off x="4060379" y="3566493"/>
            <a:ext cx="1282496" cy="635191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98" name="text_878_修改内容"/>
          <p:cNvSpPr>
            <a:spLocks noGrp="1"/>
          </p:cNvSpPr>
          <p:nvPr/>
        </p:nvSpPr>
        <p:spPr>
          <a:xfrm>
            <a:off x="4222399" y="3652006"/>
            <a:ext cx="914400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修改内容</a:t>
            </a:r>
            <a:endParaRPr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text_880_判断修改范围"/>
          <p:cNvSpPr>
            <a:spLocks noGrp="1"/>
          </p:cNvSpPr>
          <p:nvPr/>
        </p:nvSpPr>
        <p:spPr>
          <a:xfrm>
            <a:off x="4251570" y="3926601"/>
            <a:ext cx="900113" cy="1571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判断修改范围</a:t>
            </a:r>
            <a:endParaRPr sz="14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text_900_L1 + L2 + L3 全流程"/>
          <p:cNvSpPr>
            <a:spLocks noGrp="1"/>
          </p:cNvSpPr>
          <p:nvPr/>
        </p:nvSpPr>
        <p:spPr>
          <a:xfrm>
            <a:off x="5812295" y="4430387"/>
            <a:ext cx="1821657" cy="3773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L1 + L2 + </a:t>
            </a:r>
            <a:r>
              <a:rPr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L3</a:t>
            </a:r>
            <a:r>
              <a:rPr lang="zh-CN" altLang="en-US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开发</a:t>
            </a:r>
            <a:endParaRPr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text_906_验证&#10;通过"/>
          <p:cNvSpPr>
            <a:spLocks noGrp="1"/>
          </p:cNvSpPr>
          <p:nvPr/>
        </p:nvSpPr>
        <p:spPr>
          <a:xfrm>
            <a:off x="8241125" y="3609053"/>
            <a:ext cx="307181" cy="5500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endParaRPr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9" name="object_898"/>
          <p:cNvSpPr>
            <a:spLocks noGrp="1"/>
          </p:cNvSpPr>
          <p:nvPr/>
        </p:nvSpPr>
        <p:spPr>
          <a:xfrm>
            <a:off x="5804130" y="3733456"/>
            <a:ext cx="1821657" cy="397419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/>
            </a:solidFill>
          </a:ln>
        </p:spPr>
      </p:sp>
      <p:sp>
        <p:nvSpPr>
          <p:cNvPr id="150" name="text_900_L1 + L2 + L3 全流程"/>
          <p:cNvSpPr>
            <a:spLocks noGrp="1"/>
          </p:cNvSpPr>
          <p:nvPr/>
        </p:nvSpPr>
        <p:spPr>
          <a:xfrm>
            <a:off x="5804130" y="3754516"/>
            <a:ext cx="1821657" cy="37624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L1 + </a:t>
            </a:r>
            <a:r>
              <a:rPr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L2流程</a:t>
            </a:r>
            <a:r>
              <a:rPr lang="zh-CN" altLang="en-US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验证</a:t>
            </a:r>
            <a:endParaRPr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1" name="object_898"/>
          <p:cNvSpPr>
            <a:spLocks noGrp="1"/>
          </p:cNvSpPr>
          <p:nvPr/>
        </p:nvSpPr>
        <p:spPr>
          <a:xfrm>
            <a:off x="5812295" y="3074219"/>
            <a:ext cx="1821657" cy="397419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/>
            </a:solidFill>
          </a:ln>
        </p:spPr>
      </p:sp>
      <p:sp>
        <p:nvSpPr>
          <p:cNvPr id="152" name="text_900_L1 + L2 + L3 全流程"/>
          <p:cNvSpPr>
            <a:spLocks noGrp="1"/>
          </p:cNvSpPr>
          <p:nvPr/>
        </p:nvSpPr>
        <p:spPr>
          <a:xfrm>
            <a:off x="5812295" y="3095279"/>
            <a:ext cx="1821657" cy="37624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L1 </a:t>
            </a:r>
            <a:r>
              <a:rPr lang="zh-CN" altLang="en-US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静态验证</a:t>
            </a:r>
            <a:endParaRPr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左大括号 2"/>
          <p:cNvSpPr/>
          <p:nvPr/>
        </p:nvSpPr>
        <p:spPr>
          <a:xfrm rot="10800000">
            <a:off x="7682858" y="3299862"/>
            <a:ext cx="396215" cy="1270098"/>
          </a:xfrm>
          <a:prstGeom prst="leftBrace">
            <a:avLst>
              <a:gd name="adj1" fmla="val 8333"/>
              <a:gd name="adj2" fmla="val 5096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3" name="左大括号 152"/>
          <p:cNvSpPr/>
          <p:nvPr/>
        </p:nvSpPr>
        <p:spPr>
          <a:xfrm>
            <a:off x="5359010" y="3297451"/>
            <a:ext cx="396215" cy="1270098"/>
          </a:xfrm>
          <a:prstGeom prst="leftBrace">
            <a:avLst>
              <a:gd name="adj1" fmla="val 8333"/>
              <a:gd name="adj2" fmla="val 5096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text_4025_恢复 Artifact"/>
          <p:cNvSpPr>
            <a:spLocks noGrp="1"/>
          </p:cNvSpPr>
          <p:nvPr/>
        </p:nvSpPr>
        <p:spPr>
          <a:xfrm>
            <a:off x="8169687" y="3804205"/>
            <a:ext cx="942975" cy="1714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2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600" b="1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验证</a:t>
            </a:r>
            <a:endParaRPr lang="en-US" altLang="zh-CN" sz="1600" b="1" dirty="0" smtClean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2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600" b="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通过</a:t>
            </a:r>
            <a:endParaRPr lang="en-US" altLang="zh-CN" sz="1600" b="1" dirty="0" smtClean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5" name="矩形 154"/>
          <p:cNvSpPr/>
          <p:nvPr>
            <p:custDataLst>
              <p:tags r:id="rId1"/>
            </p:custDataLst>
          </p:nvPr>
        </p:nvSpPr>
        <p:spPr>
          <a:xfrm>
            <a:off x="168870" y="2011450"/>
            <a:ext cx="3666190" cy="3960056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156" name="矩形 155"/>
          <p:cNvSpPr/>
          <p:nvPr>
            <p:custDataLst>
              <p:tags r:id="rId2"/>
            </p:custDataLst>
          </p:nvPr>
        </p:nvSpPr>
        <p:spPr>
          <a:xfrm>
            <a:off x="4007708" y="2011548"/>
            <a:ext cx="4702367" cy="4000296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</a:t>
            </a:r>
            <a:r>
              <a:rPr lang="zh-CN" altLang="en-US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任务二</a:t>
            </a:r>
            <a:r>
              <a:rPr sz="1950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寒武纪算子开发</a:t>
            </a:r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SKILL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sz="195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510903" y="6597079"/>
            <a:ext cx="6589489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Hong, D. B.; Imani, A.; Ahmed, I. “From Anatomy to Smells: An Empirical Study of SKILL.md in Agent Skills.” arXiv:2607.01456, 2026.</a:t>
            </a:r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56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S</a:t>
            </a:r>
            <a:r>
              <a:rPr lang="en-US" altLang="zh-CN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kill</a:t>
            </a: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修改后验证成本高</a:t>
            </a:r>
            <a:endParaRPr lang="zh-CN" altLang="en-US" sz="157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_3991_原流程"/>
          <p:cNvSpPr>
            <a:spLocks noGrp="1"/>
          </p:cNvSpPr>
          <p:nvPr/>
        </p:nvSpPr>
        <p:spPr>
          <a:xfrm>
            <a:off x="4246202" y="1349529"/>
            <a:ext cx="592931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endParaRPr sz="112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_3993_复用后"/>
          <p:cNvSpPr>
            <a:spLocks noGrp="1"/>
          </p:cNvSpPr>
          <p:nvPr/>
        </p:nvSpPr>
        <p:spPr>
          <a:xfrm>
            <a:off x="597013" y="3879633"/>
            <a:ext cx="592931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</a:t>
            </a: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</a:t>
            </a:r>
          </a:p>
        </p:txBody>
      </p:sp>
      <p:sp>
        <p:nvSpPr>
          <p:cNvPr id="35" name="object_4017"/>
          <p:cNvSpPr>
            <a:spLocks noGrp="1"/>
          </p:cNvSpPr>
          <p:nvPr/>
        </p:nvSpPr>
        <p:spPr>
          <a:xfrm>
            <a:off x="4589680" y="3790952"/>
            <a:ext cx="1311291" cy="366792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36" name="text_4019_Review 重试"/>
          <p:cNvSpPr>
            <a:spLocks noGrp="1"/>
          </p:cNvSpPr>
          <p:nvPr/>
        </p:nvSpPr>
        <p:spPr>
          <a:xfrm>
            <a:off x="4589680" y="3798736"/>
            <a:ext cx="1333293" cy="35900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</a:t>
            </a:r>
            <a:r>
              <a:rPr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重试</a:t>
            </a:r>
            <a:endParaRPr sz="1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_4025_恢复 Artifact"/>
          <p:cNvSpPr>
            <a:spLocks noGrp="1"/>
          </p:cNvSpPr>
          <p:nvPr/>
        </p:nvSpPr>
        <p:spPr>
          <a:xfrm>
            <a:off x="6291600" y="3901065"/>
            <a:ext cx="942975" cy="1714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275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恢复</a:t>
            </a: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Artifact</a:t>
            </a: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继续执行</a:t>
            </a:r>
          </a:p>
        </p:txBody>
      </p:sp>
      <p:sp>
        <p:nvSpPr>
          <p:cNvPr id="46" name="object_4017"/>
          <p:cNvSpPr>
            <a:spLocks noGrp="1"/>
          </p:cNvSpPr>
          <p:nvPr/>
        </p:nvSpPr>
        <p:spPr>
          <a:xfrm>
            <a:off x="2991909" y="3796339"/>
            <a:ext cx="1311291" cy="366792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47" name="text_4019_Review 重试"/>
          <p:cNvSpPr>
            <a:spLocks noGrp="1"/>
          </p:cNvSpPr>
          <p:nvPr/>
        </p:nvSpPr>
        <p:spPr>
          <a:xfrm>
            <a:off x="2991910" y="3804123"/>
            <a:ext cx="1282002" cy="35900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</a:t>
            </a:r>
            <a:r>
              <a:rPr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缓存</a:t>
            </a:r>
          </a:p>
        </p:txBody>
      </p:sp>
      <p:sp>
        <p:nvSpPr>
          <p:cNvPr id="48" name="object_4017"/>
          <p:cNvSpPr>
            <a:spLocks noGrp="1"/>
          </p:cNvSpPr>
          <p:nvPr/>
        </p:nvSpPr>
        <p:spPr>
          <a:xfrm>
            <a:off x="1400610" y="3786323"/>
            <a:ext cx="1311291" cy="366792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49" name="text_4019_Review 重试"/>
          <p:cNvSpPr>
            <a:spLocks noGrp="1"/>
          </p:cNvSpPr>
          <p:nvPr/>
        </p:nvSpPr>
        <p:spPr>
          <a:xfrm>
            <a:off x="1400611" y="3794107"/>
            <a:ext cx="1282002" cy="35900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</a:t>
            </a:r>
            <a:r>
              <a:rPr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缓存</a:t>
            </a:r>
          </a:p>
        </p:txBody>
      </p:sp>
      <p:cxnSp>
        <p:nvCxnSpPr>
          <p:cNvPr id="4" name="直接箭头连接符 3"/>
          <p:cNvCxnSpPr>
            <a:stCxn id="48" idx="3"/>
            <a:endCxn id="46" idx="1"/>
          </p:cNvCxnSpPr>
          <p:nvPr/>
        </p:nvCxnSpPr>
        <p:spPr>
          <a:xfrm>
            <a:off x="2711901" y="3969719"/>
            <a:ext cx="280008" cy="1001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/>
          <p:nvPr/>
        </p:nvCxnSpPr>
        <p:spPr>
          <a:xfrm>
            <a:off x="4325202" y="3973610"/>
            <a:ext cx="280008" cy="1001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_3993_复用后"/>
          <p:cNvSpPr>
            <a:spLocks noGrp="1"/>
          </p:cNvSpPr>
          <p:nvPr/>
        </p:nvSpPr>
        <p:spPr>
          <a:xfrm>
            <a:off x="575011" y="2763403"/>
            <a:ext cx="592931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原流程</a:t>
            </a:r>
          </a:p>
        </p:txBody>
      </p:sp>
      <p:sp>
        <p:nvSpPr>
          <p:cNvPr id="57" name="object_4017"/>
          <p:cNvSpPr>
            <a:spLocks noGrp="1"/>
          </p:cNvSpPr>
          <p:nvPr/>
        </p:nvSpPr>
        <p:spPr>
          <a:xfrm>
            <a:off x="4567678" y="2674722"/>
            <a:ext cx="1311291" cy="366792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58" name="text_4019_Review 重试"/>
          <p:cNvSpPr>
            <a:spLocks noGrp="1"/>
          </p:cNvSpPr>
          <p:nvPr/>
        </p:nvSpPr>
        <p:spPr>
          <a:xfrm>
            <a:off x="4567679" y="2682506"/>
            <a:ext cx="1311290" cy="35900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×</a:t>
            </a:r>
          </a:p>
        </p:txBody>
      </p:sp>
      <p:sp>
        <p:nvSpPr>
          <p:cNvPr id="59" name="text_4025_恢复 Artifact"/>
          <p:cNvSpPr>
            <a:spLocks noGrp="1"/>
          </p:cNvSpPr>
          <p:nvPr/>
        </p:nvSpPr>
        <p:spPr>
          <a:xfrm>
            <a:off x="6269598" y="2784835"/>
            <a:ext cx="942975" cy="1714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2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600" b="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从头执行</a:t>
            </a:r>
          </a:p>
        </p:txBody>
      </p:sp>
      <p:sp>
        <p:nvSpPr>
          <p:cNvPr id="61" name="text_4019_Review 重试"/>
          <p:cNvSpPr>
            <a:spLocks noGrp="1"/>
          </p:cNvSpPr>
          <p:nvPr/>
        </p:nvSpPr>
        <p:spPr>
          <a:xfrm>
            <a:off x="2969907" y="2687893"/>
            <a:ext cx="1333292" cy="35900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✓</a:t>
            </a:r>
          </a:p>
        </p:txBody>
      </p:sp>
      <p:sp>
        <p:nvSpPr>
          <p:cNvPr id="62" name="object_4017"/>
          <p:cNvSpPr>
            <a:spLocks noGrp="1"/>
          </p:cNvSpPr>
          <p:nvPr/>
        </p:nvSpPr>
        <p:spPr>
          <a:xfrm>
            <a:off x="1378608" y="2670093"/>
            <a:ext cx="1311291" cy="366792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63" name="text_4019_Review 重试"/>
          <p:cNvSpPr>
            <a:spLocks noGrp="1"/>
          </p:cNvSpPr>
          <p:nvPr/>
        </p:nvSpPr>
        <p:spPr>
          <a:xfrm>
            <a:off x="1378608" y="2677877"/>
            <a:ext cx="1333293" cy="35900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✓</a:t>
            </a:r>
          </a:p>
        </p:txBody>
      </p:sp>
      <p:cxnSp>
        <p:nvCxnSpPr>
          <p:cNvPr id="64" name="直接箭头连接符 63"/>
          <p:cNvCxnSpPr>
            <a:stCxn id="62" idx="3"/>
          </p:cNvCxnSpPr>
          <p:nvPr/>
        </p:nvCxnSpPr>
        <p:spPr>
          <a:xfrm>
            <a:off x="2689899" y="2853489"/>
            <a:ext cx="280008" cy="1001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/>
          <p:nvPr/>
        </p:nvCxnSpPr>
        <p:spPr>
          <a:xfrm>
            <a:off x="4303200" y="2857380"/>
            <a:ext cx="280008" cy="1001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文本框 95"/>
          <p:cNvSpPr txBox="1"/>
          <p:nvPr/>
        </p:nvSpPr>
        <p:spPr>
          <a:xfrm>
            <a:off x="527749" y="5068817"/>
            <a:ext cx="6949963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charset="0"/>
              <a:buChar char="p"/>
            </a:pPr>
            <a:r>
              <a:rPr lang="zh-CN" altLang="en-US" b="1" dirty="0" smtClean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思路：</a:t>
            </a:r>
            <a:r>
              <a:rPr lang="zh-CN" altLang="en-US" sz="1600" b="1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每一个阶段，每一个子代理，都产出并识别可以复用的</a:t>
            </a:r>
            <a:r>
              <a:rPr lang="en-US" altLang="zh-CN" sz="1600" b="1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Artifact</a:t>
            </a:r>
            <a:r>
              <a:rPr lang="zh-CN" altLang="en-US" sz="1600" b="1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1600" b="1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文本框 95"/>
          <p:cNvSpPr txBox="1"/>
          <p:nvPr/>
        </p:nvSpPr>
        <p:spPr>
          <a:xfrm>
            <a:off x="552084" y="5416718"/>
            <a:ext cx="6283861" cy="5539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altLang="zh-CN" sz="600" b="1" dirty="0">
              <a:solidFill>
                <a:srgbClr val="004B9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当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因为意外中断算子开发时：从最近有效阶段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恢复。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1" name="文本框 95"/>
          <p:cNvSpPr txBox="1"/>
          <p:nvPr/>
        </p:nvSpPr>
        <p:spPr>
          <a:xfrm>
            <a:off x="569737" y="5857819"/>
            <a:ext cx="6283861" cy="5105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altLang="zh-CN" sz="600" b="1" dirty="0">
              <a:solidFill>
                <a:srgbClr val="004B9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当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进行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L3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修改验证时：仅修改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Review Rule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，就从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Review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继续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2" name="text_171_上下文重复"/>
          <p:cNvSpPr>
            <a:spLocks noGrp="1"/>
          </p:cNvSpPr>
          <p:nvPr/>
        </p:nvSpPr>
        <p:spPr>
          <a:xfrm>
            <a:off x="704671" y="1665995"/>
            <a:ext cx="1178719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优化②：中间产物复用与断点续跑机制</a:t>
            </a:r>
          </a:p>
        </p:txBody>
      </p:sp>
      <p:sp>
        <p:nvSpPr>
          <p:cNvPr id="33" name="矩形 32"/>
          <p:cNvSpPr/>
          <p:nvPr>
            <p:custDataLst>
              <p:tags r:id="rId1"/>
            </p:custDataLst>
          </p:nvPr>
        </p:nvSpPr>
        <p:spPr>
          <a:xfrm>
            <a:off x="179512" y="2273085"/>
            <a:ext cx="8530563" cy="2410098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矩形 218"/>
          <p:cNvSpPr/>
          <p:nvPr/>
        </p:nvSpPr>
        <p:spPr>
          <a:xfrm>
            <a:off x="613961" y="3582577"/>
            <a:ext cx="3816936" cy="1170107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8" name="矩形 217"/>
          <p:cNvSpPr/>
          <p:nvPr/>
        </p:nvSpPr>
        <p:spPr>
          <a:xfrm>
            <a:off x="574395" y="2277344"/>
            <a:ext cx="3849359" cy="7196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_3011_通用方法与平台知识"/>
          <p:cNvSpPr>
            <a:spLocks noGrp="1"/>
          </p:cNvSpPr>
          <p:nvPr/>
        </p:nvSpPr>
        <p:spPr>
          <a:xfrm>
            <a:off x="5237208" y="1204082"/>
            <a:ext cx="2228850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跨平台结构</a:t>
            </a:r>
            <a:r>
              <a:rPr lang="zh-CN" altLang="en-US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优化</a:t>
            </a:r>
            <a:endParaRPr sz="2100" b="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</p:txBody>
      </p:sp>
      <p:sp>
        <p:nvSpPr>
          <p:cNvPr id="8" name="connector_3012"/>
          <p:cNvSpPr>
            <a:spLocks noGrp="1"/>
          </p:cNvSpPr>
          <p:nvPr/>
        </p:nvSpPr>
        <p:spPr>
          <a:xfrm>
            <a:off x="5221192" y="1560429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chemeClr val="tx1">
                <a:lumMod val="95000"/>
                <a:lumOff val="5000"/>
              </a:schemeClr>
            </a:solidFill>
          </a:ln>
        </p:spPr>
      </p:sp>
      <p:sp>
        <p:nvSpPr>
          <p:cNvPr id="133" name="text_3165_重复调研和适配，开发成本较高"/>
          <p:cNvSpPr>
            <a:spLocks noGrp="1"/>
          </p:cNvSpPr>
          <p:nvPr/>
        </p:nvSpPr>
        <p:spPr>
          <a:xfrm>
            <a:off x="641858" y="5265861"/>
            <a:ext cx="2450306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endParaRPr sz="1500" b="1" dirty="0">
              <a:solidFill>
                <a:srgbClr val="004B9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34" name="object_3166"/>
          <p:cNvSpPr>
            <a:spLocks noGrp="1"/>
          </p:cNvSpPr>
          <p:nvPr/>
        </p:nvSpPr>
        <p:spPr>
          <a:xfrm>
            <a:off x="5256763" y="1961321"/>
            <a:ext cx="2564606" cy="1321594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136" name="text_3170_Workflow：需求、生成、验证、优化"/>
          <p:cNvSpPr>
            <a:spLocks noGrp="1"/>
          </p:cNvSpPr>
          <p:nvPr/>
        </p:nvSpPr>
        <p:spPr>
          <a:xfrm>
            <a:off x="6135796" y="2354481"/>
            <a:ext cx="2357438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sz="1200" b="1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text_3172_阶段产物与执行契约"/>
          <p:cNvSpPr>
            <a:spLocks noGrp="1"/>
          </p:cNvSpPr>
          <p:nvPr/>
        </p:nvSpPr>
        <p:spPr>
          <a:xfrm>
            <a:off x="6135796" y="2554506"/>
            <a:ext cx="2357438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 dirty="0" err="1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阶段产物</a:t>
            </a:r>
            <a:endParaRPr sz="1200" b="1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text_3174_验证机制与失败恢复"/>
          <p:cNvSpPr>
            <a:spLocks noGrp="1"/>
          </p:cNvSpPr>
          <p:nvPr/>
        </p:nvSpPr>
        <p:spPr>
          <a:xfrm>
            <a:off x="6135796" y="2754531"/>
            <a:ext cx="2357438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 dirty="0" err="1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验证机制</a:t>
            </a:r>
            <a:endParaRPr sz="1200" b="1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9" name="text_3176_Agent 协作与工程规范"/>
          <p:cNvSpPr>
            <a:spLocks noGrp="1"/>
          </p:cNvSpPr>
          <p:nvPr/>
        </p:nvSpPr>
        <p:spPr>
          <a:xfrm>
            <a:off x="6135796" y="2954556"/>
            <a:ext cx="2357438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 </a:t>
            </a:r>
            <a:r>
              <a:rPr sz="1200" b="1" dirty="0" err="1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协作</a:t>
            </a:r>
            <a:endParaRPr sz="1200" b="1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object_3179"/>
          <p:cNvSpPr>
            <a:spLocks noGrp="1"/>
          </p:cNvSpPr>
          <p:nvPr/>
        </p:nvSpPr>
        <p:spPr>
          <a:xfrm>
            <a:off x="5256763" y="3647246"/>
            <a:ext cx="2564606" cy="1343025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143" name="text_3183_硬件架构与特性"/>
          <p:cNvSpPr>
            <a:spLocks noGrp="1"/>
          </p:cNvSpPr>
          <p:nvPr/>
        </p:nvSpPr>
        <p:spPr>
          <a:xfrm>
            <a:off x="6142940" y="4017699"/>
            <a:ext cx="2350294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 dirty="0" err="1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硬件架构</a:t>
            </a:r>
            <a:endParaRPr sz="1200" b="1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4" name="text_3185_编程模型与 API"/>
          <p:cNvSpPr>
            <a:spLocks noGrp="1"/>
          </p:cNvSpPr>
          <p:nvPr/>
        </p:nvSpPr>
        <p:spPr>
          <a:xfrm>
            <a:off x="6142940" y="4224868"/>
            <a:ext cx="2350294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 dirty="0" err="1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编程模型</a:t>
            </a:r>
            <a:endParaRPr sz="1200" b="1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text_3187_开发环境与工具链"/>
          <p:cNvSpPr>
            <a:spLocks noGrp="1"/>
          </p:cNvSpPr>
          <p:nvPr/>
        </p:nvSpPr>
        <p:spPr>
          <a:xfrm>
            <a:off x="5922791" y="4444712"/>
            <a:ext cx="2350294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开发环境与工具链</a:t>
            </a:r>
            <a:endParaRPr sz="1200" b="1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6" name="text_3189_性能分析、优化方法及高性能案例"/>
          <p:cNvSpPr>
            <a:spLocks noGrp="1"/>
          </p:cNvSpPr>
          <p:nvPr/>
        </p:nvSpPr>
        <p:spPr>
          <a:xfrm>
            <a:off x="5807008" y="4687599"/>
            <a:ext cx="2350294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 dirty="0" err="1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优化方法及高性能案例</a:t>
            </a:r>
            <a:endParaRPr sz="1200" b="1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7" name="connector_3190"/>
          <p:cNvSpPr>
            <a:spLocks noGrp="1"/>
          </p:cNvSpPr>
          <p:nvPr/>
        </p:nvSpPr>
        <p:spPr>
          <a:xfrm>
            <a:off x="6535494" y="5018846"/>
            <a:ext cx="14288" cy="150019"/>
          </a:xfrm>
          <a:custGeom>
            <a:avLst/>
            <a:gdLst/>
            <a:ahLst/>
            <a:cxnLst/>
            <a:rect l="0" t="0" r="0" b="0"/>
            <a:pathLst>
              <a:path w="19050" h="200025">
                <a:moveTo>
                  <a:pt x="9525" y="9525"/>
                </a:moveTo>
                <a:lnTo>
                  <a:pt x="9525" y="190500"/>
                </a:lnTo>
              </a:path>
            </a:pathLst>
          </a:custGeom>
          <a:noFill/>
          <a:ln w="19050">
            <a:solidFill>
              <a:schemeClr val="tx1"/>
            </a:solidFill>
          </a:ln>
        </p:spPr>
      </p:sp>
      <p:sp>
        <p:nvSpPr>
          <p:cNvPr id="148" name="connector_3191"/>
          <p:cNvSpPr>
            <a:spLocks noGrp="1"/>
          </p:cNvSpPr>
          <p:nvPr/>
        </p:nvSpPr>
        <p:spPr>
          <a:xfrm>
            <a:off x="6511520" y="5110693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chemeClr val="tx1"/>
            </a:solidFill>
          </a:ln>
        </p:spPr>
      </p:sp>
      <p:sp>
        <p:nvSpPr>
          <p:cNvPr id="149" name="object_3192"/>
          <p:cNvSpPr>
            <a:spLocks noGrp="1"/>
          </p:cNvSpPr>
          <p:nvPr/>
        </p:nvSpPr>
        <p:spPr>
          <a:xfrm>
            <a:off x="5263907" y="5204584"/>
            <a:ext cx="2550319" cy="307181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/>
            </a:solidFill>
          </a:ln>
        </p:spPr>
      </p:sp>
      <p:sp>
        <p:nvSpPr>
          <p:cNvPr id="150" name="text_3194_新平台 Operator Skill"/>
          <p:cNvSpPr>
            <a:spLocks noGrp="1"/>
          </p:cNvSpPr>
          <p:nvPr/>
        </p:nvSpPr>
        <p:spPr>
          <a:xfrm>
            <a:off x="5313913" y="5240302"/>
            <a:ext cx="2450306" cy="2357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95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新平台</a:t>
            </a:r>
            <a:r>
              <a:rPr sz="129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Operator Skill</a:t>
            </a:r>
          </a:p>
        </p:txBody>
      </p:sp>
      <p:sp>
        <p:nvSpPr>
          <p:cNvPr id="156" name="Rectangle 1"/>
          <p:cNvSpPr>
            <a:spLocks noChangeArrowheads="1"/>
          </p:cNvSpPr>
          <p:nvPr/>
        </p:nvSpPr>
        <p:spPr bwMode="auto">
          <a:xfrm>
            <a:off x="7674280" y="2545166"/>
            <a:ext cx="697640" cy="253916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  <a:miter lim="800000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68580" tIns="34290" rIns="68580" bIns="34290" numCol="1" anchor="ctr" anchorCtr="0" compatLnSpc="1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可复用</a:t>
            </a:r>
          </a:p>
        </p:txBody>
      </p:sp>
      <p:sp>
        <p:nvSpPr>
          <p:cNvPr id="157" name="Rectangle 1"/>
          <p:cNvSpPr>
            <a:spLocks noChangeArrowheads="1"/>
          </p:cNvSpPr>
          <p:nvPr/>
        </p:nvSpPr>
        <p:spPr bwMode="auto">
          <a:xfrm>
            <a:off x="7714895" y="4191800"/>
            <a:ext cx="772502" cy="253916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  <a:miter lim="800000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68580" tIns="34290" rIns="68580" bIns="34290" numCol="1" anchor="ctr" anchorCtr="0" compatLnSpc="1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进行替换</a:t>
            </a:r>
          </a:p>
        </p:txBody>
      </p:sp>
      <p:sp>
        <p:nvSpPr>
          <p:cNvPr id="167" name="Rectangle 1"/>
          <p:cNvSpPr>
            <a:spLocks noChangeArrowheads="1"/>
          </p:cNvSpPr>
          <p:nvPr/>
        </p:nvSpPr>
        <p:spPr bwMode="auto">
          <a:xfrm>
            <a:off x="6706944" y="3328130"/>
            <a:ext cx="967336" cy="253916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  <a:miter lim="800000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68580" tIns="34290" rIns="68580" bIns="34290" numCol="1" anchor="ctr" anchorCtr="0" compatLnSpc="1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进行解耦</a:t>
            </a:r>
            <a:endParaRPr lang="zh-CN" altLang="en-US" sz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0" name="object_3500"/>
          <p:cNvSpPr>
            <a:spLocks noGrp="1"/>
          </p:cNvSpPr>
          <p:nvPr/>
        </p:nvSpPr>
        <p:spPr>
          <a:xfrm>
            <a:off x="619944" y="2393619"/>
            <a:ext cx="722045" cy="214313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191" name="text_3502_官方资料"/>
          <p:cNvSpPr>
            <a:spLocks noGrp="1"/>
          </p:cNvSpPr>
          <p:nvPr/>
        </p:nvSpPr>
        <p:spPr>
          <a:xfrm>
            <a:off x="677094" y="2408395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18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需求分析</a:t>
            </a:r>
            <a:endParaRPr sz="118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3" name="object_3500"/>
          <p:cNvSpPr>
            <a:spLocks noGrp="1"/>
          </p:cNvSpPr>
          <p:nvPr/>
        </p:nvSpPr>
        <p:spPr>
          <a:xfrm>
            <a:off x="1505989" y="2393131"/>
            <a:ext cx="722045" cy="214313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194" name="text_3502_官方资料"/>
          <p:cNvSpPr>
            <a:spLocks noGrp="1"/>
          </p:cNvSpPr>
          <p:nvPr/>
        </p:nvSpPr>
        <p:spPr>
          <a:xfrm>
            <a:off x="1563139" y="2407907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18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代码生成</a:t>
            </a:r>
            <a:endParaRPr sz="118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5" name="object_3500"/>
          <p:cNvSpPr>
            <a:spLocks noGrp="1"/>
          </p:cNvSpPr>
          <p:nvPr/>
        </p:nvSpPr>
        <p:spPr>
          <a:xfrm>
            <a:off x="2399389" y="2393131"/>
            <a:ext cx="772981" cy="214313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196" name="text_3502_官方资料"/>
          <p:cNvSpPr>
            <a:spLocks noGrp="1"/>
          </p:cNvSpPr>
          <p:nvPr/>
        </p:nvSpPr>
        <p:spPr>
          <a:xfrm>
            <a:off x="2475301" y="2407907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18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正确性验证</a:t>
            </a:r>
            <a:endParaRPr sz="118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7" name="object_3500"/>
          <p:cNvSpPr>
            <a:spLocks noGrp="1"/>
          </p:cNvSpPr>
          <p:nvPr/>
        </p:nvSpPr>
        <p:spPr>
          <a:xfrm>
            <a:off x="3346382" y="2393450"/>
            <a:ext cx="722045" cy="214313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198" name="text_3502_官方资料"/>
          <p:cNvSpPr>
            <a:spLocks noGrp="1"/>
          </p:cNvSpPr>
          <p:nvPr/>
        </p:nvSpPr>
        <p:spPr>
          <a:xfrm>
            <a:off x="3403532" y="2408226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18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性能分析</a:t>
            </a:r>
            <a:endParaRPr sz="118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9" name="object_3500"/>
          <p:cNvSpPr>
            <a:spLocks noGrp="1"/>
          </p:cNvSpPr>
          <p:nvPr/>
        </p:nvSpPr>
        <p:spPr>
          <a:xfrm>
            <a:off x="2312984" y="2715528"/>
            <a:ext cx="722045" cy="214313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200" name="text_3502_官方资料"/>
          <p:cNvSpPr>
            <a:spLocks noGrp="1"/>
          </p:cNvSpPr>
          <p:nvPr/>
        </p:nvSpPr>
        <p:spPr>
          <a:xfrm>
            <a:off x="2370134" y="2730304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18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迭代优化</a:t>
            </a:r>
            <a:endParaRPr sz="118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1" name="直接箭头连接符 200"/>
          <p:cNvCxnSpPr/>
          <p:nvPr/>
        </p:nvCxnSpPr>
        <p:spPr>
          <a:xfrm>
            <a:off x="1347053" y="2512154"/>
            <a:ext cx="162729" cy="82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直接箭头连接符 203"/>
          <p:cNvCxnSpPr/>
          <p:nvPr/>
        </p:nvCxnSpPr>
        <p:spPr>
          <a:xfrm>
            <a:off x="2225022" y="2503923"/>
            <a:ext cx="178183" cy="336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直接箭头连接符 205"/>
          <p:cNvCxnSpPr/>
          <p:nvPr/>
        </p:nvCxnSpPr>
        <p:spPr>
          <a:xfrm>
            <a:off x="3178170" y="2497204"/>
            <a:ext cx="162729" cy="82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接箭头连接符 206"/>
          <p:cNvCxnSpPr/>
          <p:nvPr/>
        </p:nvCxnSpPr>
        <p:spPr>
          <a:xfrm flipH="1">
            <a:off x="3065062" y="2646333"/>
            <a:ext cx="322451" cy="1845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text_3145_硬件架构"/>
          <p:cNvSpPr>
            <a:spLocks noGrp="1"/>
          </p:cNvSpPr>
          <p:nvPr/>
        </p:nvSpPr>
        <p:spPr>
          <a:xfrm>
            <a:off x="1195795" y="3624875"/>
            <a:ext cx="2443163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95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①平台专</a:t>
            </a:r>
            <a:r>
              <a:rPr lang="zh-CN" altLang="en-US" sz="1295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属</a:t>
            </a:r>
            <a:r>
              <a:rPr lang="zh-CN" altLang="en-US" sz="1295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资料</a:t>
            </a:r>
            <a:r>
              <a:rPr lang="zh-CN" altLang="en-US" sz="1295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差异</a:t>
            </a:r>
            <a:r>
              <a:rPr lang="zh-CN" altLang="en-US" sz="1295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</a:t>
            </a:r>
            <a:endParaRPr sz="1295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3" name="text_3147_计算单元、存储层次、并行结构"/>
          <p:cNvSpPr>
            <a:spLocks noGrp="1"/>
          </p:cNvSpPr>
          <p:nvPr/>
        </p:nvSpPr>
        <p:spPr>
          <a:xfrm>
            <a:off x="1198182" y="3954941"/>
            <a:ext cx="242887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04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硬件架构          编程模型         工具链与环境</a:t>
            </a:r>
            <a:endParaRPr sz="104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_3145_硬件架构"/>
          <p:cNvSpPr>
            <a:spLocks noGrp="1"/>
          </p:cNvSpPr>
          <p:nvPr/>
        </p:nvSpPr>
        <p:spPr>
          <a:xfrm>
            <a:off x="1189933" y="4265682"/>
            <a:ext cx="2443163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95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②平台知识分散在整个开发流程中</a:t>
            </a:r>
            <a:endParaRPr sz="1295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7" name="箭头: 下 38"/>
          <p:cNvSpPr/>
          <p:nvPr/>
        </p:nvSpPr>
        <p:spPr>
          <a:xfrm>
            <a:off x="2182551" y="4752684"/>
            <a:ext cx="324000" cy="36667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0" name="Rectangle 1"/>
          <p:cNvSpPr>
            <a:spLocks noChangeArrowheads="1"/>
          </p:cNvSpPr>
          <p:nvPr/>
        </p:nvSpPr>
        <p:spPr bwMode="auto">
          <a:xfrm>
            <a:off x="2610653" y="4826223"/>
            <a:ext cx="697640" cy="207749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  <a:miter lim="800000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68580" tIns="34290" rIns="68580" bIns="34290" numCol="1" anchor="ctr" anchorCtr="0" compatLnSpc="1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导致</a:t>
            </a:r>
          </a:p>
        </p:txBody>
      </p:sp>
      <p:sp>
        <p:nvSpPr>
          <p:cNvPr id="60" name="矩形 59"/>
          <p:cNvSpPr/>
          <p:nvPr/>
        </p:nvSpPr>
        <p:spPr>
          <a:xfrm>
            <a:off x="1388061" y="6597107"/>
            <a:ext cx="6599967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Yang, J., Jimenez, C. E., </a:t>
            </a:r>
            <a:r>
              <a:rPr lang="en-US" altLang="zh-CN" sz="825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Wettig</a:t>
            </a:r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A., et al. SWE-agent: Agent-Computer Interfaces Enable Automated Software Engineering. arXiv:2405.15793, 2024.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61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chemeClr val="tx1">
                <a:lumMod val="95000"/>
                <a:lumOff val="5000"/>
              </a:schemeClr>
            </a:solidFill>
          </a:ln>
        </p:spPr>
      </p:sp>
      <p:sp>
        <p:nvSpPr>
          <p:cNvPr id="62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目前</a:t>
            </a:r>
            <a:r>
              <a:rPr lang="en-US" altLang="zh-CN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Skill</a:t>
            </a: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结构分析</a:t>
            </a:r>
            <a:endParaRPr lang="zh-CN" altLang="en-US" sz="2100" b="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</p:txBody>
      </p:sp>
      <p:sp>
        <p:nvSpPr>
          <p:cNvPr id="63" name="标题 1"/>
          <p:cNvSpPr txBox="1"/>
          <p:nvPr/>
        </p:nvSpPr>
        <p:spPr bwMode="auto">
          <a:xfrm>
            <a:off x="395288" y="333375"/>
            <a:ext cx="6840537" cy="503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0" tIns="0" rIns="0" bIns="0" numCol="1" anchor="ctr" anchorCtr="0" compatLnSpc="1"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实习任务三： 算子开发 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Skill 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指南</a:t>
            </a:r>
            <a:endParaRPr lang="zh-CN" altLang="en-US" sz="1950" kern="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" name="加号 8"/>
          <p:cNvSpPr/>
          <p:nvPr/>
        </p:nvSpPr>
        <p:spPr>
          <a:xfrm>
            <a:off x="6351633" y="3375283"/>
            <a:ext cx="260489" cy="201590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594990" y="2002763"/>
            <a:ext cx="203132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算子的开发流程具有</a:t>
            </a:r>
            <a:r>
              <a:rPr lang="zh-CN" altLang="en-US" sz="1200" dirty="0" smtClean="0">
                <a:solidFill>
                  <a:srgbClr val="FF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通用性</a:t>
            </a:r>
            <a:endParaRPr lang="zh-CN" altLang="en-US" sz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1610616" y="1973060"/>
            <a:ext cx="1930961" cy="300159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文本框 69"/>
          <p:cNvSpPr txBox="1"/>
          <p:nvPr/>
        </p:nvSpPr>
        <p:spPr>
          <a:xfrm>
            <a:off x="1233804" y="1973060"/>
            <a:ext cx="499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71" name="矩形 70"/>
          <p:cNvSpPr/>
          <p:nvPr/>
        </p:nvSpPr>
        <p:spPr>
          <a:xfrm>
            <a:off x="1781851" y="3325334"/>
            <a:ext cx="144302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平台资料替换困难</a:t>
            </a:r>
            <a:endParaRPr lang="zh-CN" altLang="en-US" sz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1797477" y="3295631"/>
            <a:ext cx="1355647" cy="300159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文本框 72"/>
          <p:cNvSpPr txBox="1"/>
          <p:nvPr/>
        </p:nvSpPr>
        <p:spPr>
          <a:xfrm>
            <a:off x="1420665" y="3295631"/>
            <a:ext cx="499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74" name="文本框 95"/>
          <p:cNvSpPr txBox="1"/>
          <p:nvPr/>
        </p:nvSpPr>
        <p:spPr>
          <a:xfrm>
            <a:off x="225953" y="5595503"/>
            <a:ext cx="8951851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charset="0"/>
              <a:buChar char="p"/>
            </a:pPr>
            <a:r>
              <a:rPr lang="zh-CN" altLang="en-US" sz="1600" b="1" dirty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跨平台需要多个模块大范围修改，替换成本</a:t>
            </a:r>
            <a:r>
              <a:rPr lang="zh-CN" altLang="en-US" sz="1600" b="1" dirty="0" smtClean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高。</a:t>
            </a:r>
            <a:endParaRPr lang="zh-CN" altLang="en-US" sz="1600" b="1" dirty="0">
              <a:solidFill>
                <a:srgbClr val="004B9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5" name="矩形 74"/>
          <p:cNvSpPr/>
          <p:nvPr>
            <p:custDataLst>
              <p:tags r:id="rId1"/>
            </p:custDataLst>
          </p:nvPr>
        </p:nvSpPr>
        <p:spPr>
          <a:xfrm>
            <a:off x="395289" y="1778752"/>
            <a:ext cx="4189610" cy="3518231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76" name="矩形 75"/>
          <p:cNvSpPr/>
          <p:nvPr>
            <p:custDataLst>
              <p:tags r:id="rId2"/>
            </p:custDataLst>
          </p:nvPr>
        </p:nvSpPr>
        <p:spPr>
          <a:xfrm>
            <a:off x="4982272" y="1775200"/>
            <a:ext cx="3510962" cy="3518231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78" name="文本框 77"/>
          <p:cNvSpPr txBox="1"/>
          <p:nvPr/>
        </p:nvSpPr>
        <p:spPr>
          <a:xfrm>
            <a:off x="5651513" y="1993471"/>
            <a:ext cx="2148985" cy="3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450" dirty="0" smtClean="0"/>
              <a:t>通用开发流程：</a:t>
            </a:r>
            <a:endParaRPr lang="zh-CN" altLang="en-US" sz="1450" dirty="0"/>
          </a:p>
        </p:txBody>
      </p:sp>
      <p:sp>
        <p:nvSpPr>
          <p:cNvPr id="79" name="文本框 78"/>
          <p:cNvSpPr txBox="1"/>
          <p:nvPr/>
        </p:nvSpPr>
        <p:spPr>
          <a:xfrm>
            <a:off x="5672384" y="3717457"/>
            <a:ext cx="2148985" cy="3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450" dirty="0" smtClean="0"/>
              <a:t>平台资料：</a:t>
            </a:r>
            <a:endParaRPr lang="zh-CN" altLang="en-US" sz="1450" dirty="0"/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矩形: 圆角 46"/>
          <p:cNvSpPr/>
          <p:nvPr/>
        </p:nvSpPr>
        <p:spPr>
          <a:xfrm>
            <a:off x="557212" y="2649765"/>
            <a:ext cx="7358063" cy="55140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_3200_01"/>
          <p:cNvSpPr>
            <a:spLocks noGrp="1"/>
          </p:cNvSpPr>
          <p:nvPr/>
        </p:nvSpPr>
        <p:spPr>
          <a:xfrm>
            <a:off x="550069" y="1893094"/>
            <a:ext cx="392906" cy="2571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8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01</a:t>
            </a:r>
          </a:p>
        </p:txBody>
      </p:sp>
      <p:sp>
        <p:nvSpPr>
          <p:cNvPr id="5" name="text_3202_任务与边界定义"/>
          <p:cNvSpPr>
            <a:spLocks noGrp="1"/>
          </p:cNvSpPr>
          <p:nvPr/>
        </p:nvSpPr>
        <p:spPr>
          <a:xfrm>
            <a:off x="921544" y="1893094"/>
            <a:ext cx="2271713" cy="2571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158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Workflow</a:t>
            </a:r>
            <a:endParaRPr sz="1580" b="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</p:txBody>
      </p:sp>
      <p:sp>
        <p:nvSpPr>
          <p:cNvPr id="6" name="connector_3203"/>
          <p:cNvSpPr>
            <a:spLocks noGrp="1"/>
          </p:cNvSpPr>
          <p:nvPr/>
        </p:nvSpPr>
        <p:spPr>
          <a:xfrm>
            <a:off x="542925" y="2193131"/>
            <a:ext cx="1585913" cy="14288"/>
          </a:xfrm>
          <a:custGeom>
            <a:avLst/>
            <a:gdLst/>
            <a:ahLst/>
            <a:cxnLst/>
            <a:rect l="0" t="0" r="0" b="0"/>
            <a:pathLst>
              <a:path w="2114550" h="19050">
                <a:moveTo>
                  <a:pt x="9525" y="9525"/>
                </a:moveTo>
                <a:lnTo>
                  <a:pt x="2105025" y="9525"/>
                </a:lnTo>
              </a:path>
            </a:pathLst>
          </a:custGeom>
          <a:noFill/>
          <a:ln w="16193">
            <a:solidFill>
              <a:schemeClr val="tx1"/>
            </a:solidFill>
          </a:ln>
        </p:spPr>
      </p:sp>
      <p:sp>
        <p:nvSpPr>
          <p:cNvPr id="28" name="text_3242_04"/>
          <p:cNvSpPr>
            <a:spLocks noGrp="1"/>
          </p:cNvSpPr>
          <p:nvPr/>
        </p:nvSpPr>
        <p:spPr>
          <a:xfrm>
            <a:off x="550070" y="3542723"/>
            <a:ext cx="392906" cy="2571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8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0</a:t>
            </a:r>
            <a:r>
              <a:rPr lang="en-US" sz="158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2</a:t>
            </a:r>
            <a:endParaRPr sz="1580" b="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</p:txBody>
      </p:sp>
      <p:sp>
        <p:nvSpPr>
          <p:cNvPr id="29" name="text_3244_封装新平台 Skill"/>
          <p:cNvSpPr>
            <a:spLocks noGrp="1"/>
          </p:cNvSpPr>
          <p:nvPr/>
        </p:nvSpPr>
        <p:spPr>
          <a:xfrm>
            <a:off x="921544" y="3542723"/>
            <a:ext cx="2271713" cy="2571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80" b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平台</a:t>
            </a:r>
            <a:r>
              <a:rPr lang="zh-CN" altLang="en-US" sz="158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资料</a:t>
            </a:r>
            <a:r>
              <a:rPr lang="zh-CN" altLang="en-US" sz="158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库</a:t>
            </a:r>
            <a:endParaRPr sz="1580" b="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</p:txBody>
      </p:sp>
      <p:sp>
        <p:nvSpPr>
          <p:cNvPr id="30" name="connector_3245"/>
          <p:cNvSpPr>
            <a:spLocks noGrp="1"/>
          </p:cNvSpPr>
          <p:nvPr/>
        </p:nvSpPr>
        <p:spPr>
          <a:xfrm>
            <a:off x="542925" y="3842760"/>
            <a:ext cx="1585913" cy="14288"/>
          </a:xfrm>
          <a:custGeom>
            <a:avLst/>
            <a:gdLst/>
            <a:ahLst/>
            <a:cxnLst/>
            <a:rect l="0" t="0" r="0" b="0"/>
            <a:pathLst>
              <a:path w="2114550" h="19050">
                <a:moveTo>
                  <a:pt x="9525" y="9525"/>
                </a:moveTo>
                <a:lnTo>
                  <a:pt x="2105025" y="9525"/>
                </a:lnTo>
              </a:path>
            </a:pathLst>
          </a:custGeom>
          <a:noFill/>
          <a:ln w="16193">
            <a:solidFill>
              <a:schemeClr val="tx1"/>
            </a:solidFill>
          </a:ln>
        </p:spPr>
      </p:sp>
      <p:sp>
        <p:nvSpPr>
          <p:cNvPr id="141" name="object_3354"/>
          <p:cNvSpPr>
            <a:spLocks noGrp="1"/>
          </p:cNvSpPr>
          <p:nvPr/>
        </p:nvSpPr>
        <p:spPr>
          <a:xfrm>
            <a:off x="2448903" y="2794264"/>
            <a:ext cx="1168385" cy="24713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/>
            </a:solidFill>
          </a:ln>
        </p:spPr>
      </p:sp>
      <p:sp>
        <p:nvSpPr>
          <p:cNvPr id="142" name="text_3356_Workflow"/>
          <p:cNvSpPr>
            <a:spLocks noGrp="1"/>
          </p:cNvSpPr>
          <p:nvPr/>
        </p:nvSpPr>
        <p:spPr>
          <a:xfrm>
            <a:off x="564357" y="2314575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015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通用</a:t>
            </a:r>
            <a:r>
              <a:rPr lang="zh-CN" altLang="en-US" sz="101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流程</a:t>
            </a:r>
            <a:r>
              <a:rPr lang="zh-CN" altLang="en-US" sz="1015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保持</a:t>
            </a:r>
            <a:r>
              <a:rPr lang="zh-CN" altLang="en-US" sz="101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不变</a:t>
            </a:r>
            <a:endParaRPr sz="101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" name="object_3500"/>
          <p:cNvSpPr>
            <a:spLocks noGrp="1"/>
          </p:cNvSpPr>
          <p:nvPr/>
        </p:nvSpPr>
        <p:spPr>
          <a:xfrm>
            <a:off x="2409392" y="2307431"/>
            <a:ext cx="722045" cy="214313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144" name="text_3502_官方资料"/>
          <p:cNvSpPr>
            <a:spLocks noGrp="1"/>
          </p:cNvSpPr>
          <p:nvPr/>
        </p:nvSpPr>
        <p:spPr>
          <a:xfrm>
            <a:off x="2466542" y="2322207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18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需求分析</a:t>
            </a:r>
            <a:endParaRPr sz="118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object_3500"/>
          <p:cNvSpPr>
            <a:spLocks noGrp="1"/>
          </p:cNvSpPr>
          <p:nvPr/>
        </p:nvSpPr>
        <p:spPr>
          <a:xfrm>
            <a:off x="3295437" y="2306943"/>
            <a:ext cx="722045" cy="214313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146" name="text_3502_官方资料"/>
          <p:cNvSpPr>
            <a:spLocks noGrp="1"/>
          </p:cNvSpPr>
          <p:nvPr/>
        </p:nvSpPr>
        <p:spPr>
          <a:xfrm>
            <a:off x="3352587" y="2321719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18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代码生成</a:t>
            </a:r>
            <a:endParaRPr sz="118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7" name="object_3500"/>
          <p:cNvSpPr>
            <a:spLocks noGrp="1"/>
          </p:cNvSpPr>
          <p:nvPr/>
        </p:nvSpPr>
        <p:spPr>
          <a:xfrm>
            <a:off x="4188837" y="2306943"/>
            <a:ext cx="772981" cy="214313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148" name="text_3502_官方资料"/>
          <p:cNvSpPr>
            <a:spLocks noGrp="1"/>
          </p:cNvSpPr>
          <p:nvPr/>
        </p:nvSpPr>
        <p:spPr>
          <a:xfrm>
            <a:off x="4264750" y="2321719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18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正确性验证</a:t>
            </a:r>
            <a:endParaRPr sz="118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9" name="object_3500"/>
          <p:cNvSpPr>
            <a:spLocks noGrp="1"/>
          </p:cNvSpPr>
          <p:nvPr/>
        </p:nvSpPr>
        <p:spPr>
          <a:xfrm>
            <a:off x="5135830" y="2307262"/>
            <a:ext cx="722045" cy="214313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150" name="text_3502_官方资料"/>
          <p:cNvSpPr>
            <a:spLocks noGrp="1"/>
          </p:cNvSpPr>
          <p:nvPr/>
        </p:nvSpPr>
        <p:spPr>
          <a:xfrm>
            <a:off x="5192980" y="2322039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18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性能分析</a:t>
            </a:r>
            <a:endParaRPr sz="118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1" name="object_3500"/>
          <p:cNvSpPr>
            <a:spLocks noGrp="1"/>
          </p:cNvSpPr>
          <p:nvPr/>
        </p:nvSpPr>
        <p:spPr>
          <a:xfrm>
            <a:off x="6043543" y="2306943"/>
            <a:ext cx="722045" cy="214313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152" name="text_3502_官方资料"/>
          <p:cNvSpPr>
            <a:spLocks noGrp="1"/>
          </p:cNvSpPr>
          <p:nvPr/>
        </p:nvSpPr>
        <p:spPr>
          <a:xfrm>
            <a:off x="6100693" y="2321719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18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迭代优化</a:t>
            </a:r>
            <a:endParaRPr sz="118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3" name="直接箭头连接符 152"/>
          <p:cNvCxnSpPr/>
          <p:nvPr/>
        </p:nvCxnSpPr>
        <p:spPr>
          <a:xfrm>
            <a:off x="3136502" y="2425966"/>
            <a:ext cx="162729" cy="82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接箭头连接符 153"/>
          <p:cNvCxnSpPr/>
          <p:nvPr/>
        </p:nvCxnSpPr>
        <p:spPr>
          <a:xfrm>
            <a:off x="4014471" y="2417735"/>
            <a:ext cx="178183" cy="336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接箭头连接符 154"/>
          <p:cNvCxnSpPr/>
          <p:nvPr/>
        </p:nvCxnSpPr>
        <p:spPr>
          <a:xfrm>
            <a:off x="4967618" y="2411016"/>
            <a:ext cx="162729" cy="82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直接箭头连接符 156"/>
          <p:cNvCxnSpPr/>
          <p:nvPr/>
        </p:nvCxnSpPr>
        <p:spPr>
          <a:xfrm>
            <a:off x="5880813" y="2425966"/>
            <a:ext cx="162729" cy="82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_3356_Workflow"/>
          <p:cNvSpPr>
            <a:spLocks noGrp="1"/>
          </p:cNvSpPr>
          <p:nvPr/>
        </p:nvSpPr>
        <p:spPr>
          <a:xfrm>
            <a:off x="2321719" y="2828114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01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补充平台信息限制</a:t>
            </a:r>
            <a:endParaRPr sz="101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9" name="object_3354"/>
          <p:cNvSpPr>
            <a:spLocks noGrp="1"/>
          </p:cNvSpPr>
          <p:nvPr/>
        </p:nvSpPr>
        <p:spPr>
          <a:xfrm>
            <a:off x="3757380" y="2794264"/>
            <a:ext cx="1168385" cy="24713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/>
            </a:solidFill>
          </a:ln>
        </p:spPr>
      </p:sp>
      <p:sp>
        <p:nvSpPr>
          <p:cNvPr id="160" name="text_3356_Workflow"/>
          <p:cNvSpPr>
            <a:spLocks noGrp="1"/>
          </p:cNvSpPr>
          <p:nvPr/>
        </p:nvSpPr>
        <p:spPr>
          <a:xfrm>
            <a:off x="3630196" y="2828114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01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修改阶段契约</a:t>
            </a:r>
            <a:endParaRPr sz="101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1" name="object_3354"/>
          <p:cNvSpPr>
            <a:spLocks noGrp="1"/>
          </p:cNvSpPr>
          <p:nvPr/>
        </p:nvSpPr>
        <p:spPr>
          <a:xfrm>
            <a:off x="5094802" y="2793572"/>
            <a:ext cx="1168385" cy="24713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/>
            </a:solidFill>
          </a:ln>
        </p:spPr>
      </p:sp>
      <p:sp>
        <p:nvSpPr>
          <p:cNvPr id="162" name="text_3356_Workflow"/>
          <p:cNvSpPr>
            <a:spLocks noGrp="1"/>
          </p:cNvSpPr>
          <p:nvPr/>
        </p:nvSpPr>
        <p:spPr>
          <a:xfrm>
            <a:off x="4967619" y="2827422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01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真实硬件验证</a:t>
            </a:r>
            <a:endParaRPr sz="101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" name="object_3354"/>
          <p:cNvSpPr>
            <a:spLocks noGrp="1"/>
          </p:cNvSpPr>
          <p:nvPr/>
        </p:nvSpPr>
        <p:spPr>
          <a:xfrm>
            <a:off x="6483547" y="2793572"/>
            <a:ext cx="1168385" cy="24713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/>
            </a:solidFill>
          </a:ln>
        </p:spPr>
      </p:sp>
      <p:sp>
        <p:nvSpPr>
          <p:cNvPr id="164" name="text_3356_Workflow"/>
          <p:cNvSpPr>
            <a:spLocks noGrp="1"/>
          </p:cNvSpPr>
          <p:nvPr/>
        </p:nvSpPr>
        <p:spPr>
          <a:xfrm>
            <a:off x="6356364" y="2827422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01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复测流程稳定</a:t>
            </a:r>
            <a:endParaRPr sz="101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5" name="直接箭头连接符 164"/>
          <p:cNvCxnSpPr>
            <a:stCxn id="141" idx="0"/>
          </p:cNvCxnSpPr>
          <p:nvPr/>
        </p:nvCxnSpPr>
        <p:spPr>
          <a:xfrm flipH="1" flipV="1">
            <a:off x="3005843" y="2497553"/>
            <a:ext cx="27253" cy="2967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接箭头连接符 168"/>
          <p:cNvCxnSpPr/>
          <p:nvPr/>
        </p:nvCxnSpPr>
        <p:spPr>
          <a:xfrm flipH="1" flipV="1">
            <a:off x="3711416" y="2482351"/>
            <a:ext cx="167878" cy="34310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接箭头连接符 172"/>
          <p:cNvCxnSpPr/>
          <p:nvPr/>
        </p:nvCxnSpPr>
        <p:spPr>
          <a:xfrm flipH="1" flipV="1">
            <a:off x="5274020" y="2489860"/>
            <a:ext cx="134979" cy="3135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接箭头连接符 174"/>
          <p:cNvCxnSpPr/>
          <p:nvPr/>
        </p:nvCxnSpPr>
        <p:spPr>
          <a:xfrm flipH="1" flipV="1">
            <a:off x="6554530" y="2496150"/>
            <a:ext cx="168662" cy="3042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object_3500"/>
          <p:cNvSpPr>
            <a:spLocks noGrp="1"/>
          </p:cNvSpPr>
          <p:nvPr/>
        </p:nvSpPr>
        <p:spPr>
          <a:xfrm>
            <a:off x="6933021" y="2314087"/>
            <a:ext cx="722045" cy="214313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178" name="text_3502_官方资料"/>
          <p:cNvSpPr>
            <a:spLocks noGrp="1"/>
          </p:cNvSpPr>
          <p:nvPr/>
        </p:nvSpPr>
        <p:spPr>
          <a:xfrm>
            <a:off x="6990171" y="2328863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18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交付输出</a:t>
            </a:r>
            <a:endParaRPr sz="118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9" name="直接箭头连接符 178"/>
          <p:cNvCxnSpPr/>
          <p:nvPr/>
        </p:nvCxnSpPr>
        <p:spPr>
          <a:xfrm>
            <a:off x="6770291" y="2433110"/>
            <a:ext cx="162729" cy="82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text_3356_Workflow"/>
          <p:cNvSpPr>
            <a:spLocks noGrp="1"/>
          </p:cNvSpPr>
          <p:nvPr/>
        </p:nvSpPr>
        <p:spPr>
          <a:xfrm>
            <a:off x="550069" y="2827422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01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新平台按需补充修改</a:t>
            </a:r>
            <a:endParaRPr lang="en-US" altLang="zh-CN" sz="101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01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（修改程度低）</a:t>
            </a:r>
            <a:endParaRPr sz="101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2" name="connector_3499"/>
          <p:cNvSpPr>
            <a:spLocks noGrp="1"/>
          </p:cNvSpPr>
          <p:nvPr/>
        </p:nvSpPr>
        <p:spPr>
          <a:xfrm>
            <a:off x="510508" y="5491216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chemeClr val="tx1"/>
            </a:solidFill>
          </a:ln>
        </p:spPr>
      </p:sp>
      <p:sp>
        <p:nvSpPr>
          <p:cNvPr id="183" name="object_3500"/>
          <p:cNvSpPr>
            <a:spLocks noGrp="1"/>
          </p:cNvSpPr>
          <p:nvPr/>
        </p:nvSpPr>
        <p:spPr>
          <a:xfrm>
            <a:off x="531940" y="5591228"/>
            <a:ext cx="1850231" cy="414338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184" name="text_3502_官方资料"/>
          <p:cNvSpPr>
            <a:spLocks noGrp="1"/>
          </p:cNvSpPr>
          <p:nvPr/>
        </p:nvSpPr>
        <p:spPr>
          <a:xfrm>
            <a:off x="536486" y="5612660"/>
            <a:ext cx="1795680" cy="41689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8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官方资料</a:t>
            </a:r>
            <a:endParaRPr sz="118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6" name="connector_3505"/>
          <p:cNvSpPr>
            <a:spLocks noGrp="1"/>
          </p:cNvSpPr>
          <p:nvPr/>
        </p:nvSpPr>
        <p:spPr>
          <a:xfrm>
            <a:off x="2396459" y="5791253"/>
            <a:ext cx="150019" cy="14288"/>
          </a:xfrm>
          <a:custGeom>
            <a:avLst/>
            <a:gdLst/>
            <a:ahLst/>
            <a:cxnLst/>
            <a:rect l="0" t="0" r="0" b="0"/>
            <a:pathLst>
              <a:path w="200025" h="19050">
                <a:moveTo>
                  <a:pt x="9525" y="9525"/>
                </a:moveTo>
                <a:lnTo>
                  <a:pt x="190500" y="9525"/>
                </a:lnTo>
              </a:path>
            </a:pathLst>
          </a:custGeom>
          <a:noFill/>
          <a:ln w="19050">
            <a:solidFill>
              <a:schemeClr val="tx1"/>
            </a:solidFill>
          </a:ln>
        </p:spPr>
      </p:sp>
      <p:sp>
        <p:nvSpPr>
          <p:cNvPr id="187" name="connector_3506"/>
          <p:cNvSpPr>
            <a:spLocks noGrp="1"/>
          </p:cNvSpPr>
          <p:nvPr/>
        </p:nvSpPr>
        <p:spPr>
          <a:xfrm>
            <a:off x="2488306" y="5767279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chemeClr val="tx1"/>
            </a:solidFill>
          </a:ln>
        </p:spPr>
      </p:sp>
      <p:sp>
        <p:nvSpPr>
          <p:cNvPr id="188" name="object_3507"/>
          <p:cNvSpPr>
            <a:spLocks noGrp="1"/>
          </p:cNvSpPr>
          <p:nvPr/>
        </p:nvSpPr>
        <p:spPr>
          <a:xfrm>
            <a:off x="2567909" y="5591228"/>
            <a:ext cx="1850231" cy="414338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189" name="text_3509_环境检测"/>
          <p:cNvSpPr>
            <a:spLocks noGrp="1"/>
          </p:cNvSpPr>
          <p:nvPr/>
        </p:nvSpPr>
        <p:spPr>
          <a:xfrm>
            <a:off x="2580055" y="5612660"/>
            <a:ext cx="1788080" cy="39290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8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环境检测</a:t>
            </a:r>
            <a:endParaRPr sz="118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1" name="connector_3512"/>
          <p:cNvSpPr>
            <a:spLocks noGrp="1"/>
          </p:cNvSpPr>
          <p:nvPr/>
        </p:nvSpPr>
        <p:spPr>
          <a:xfrm>
            <a:off x="4432428" y="5791253"/>
            <a:ext cx="150019" cy="14288"/>
          </a:xfrm>
          <a:custGeom>
            <a:avLst/>
            <a:gdLst/>
            <a:ahLst/>
            <a:cxnLst/>
            <a:rect l="0" t="0" r="0" b="0"/>
            <a:pathLst>
              <a:path w="200025" h="19050">
                <a:moveTo>
                  <a:pt x="9525" y="9525"/>
                </a:moveTo>
                <a:lnTo>
                  <a:pt x="190500" y="9525"/>
                </a:lnTo>
              </a:path>
            </a:pathLst>
          </a:custGeom>
          <a:noFill/>
          <a:ln w="19050">
            <a:solidFill>
              <a:schemeClr val="tx1"/>
            </a:solidFill>
          </a:ln>
        </p:spPr>
      </p:sp>
      <p:sp>
        <p:nvSpPr>
          <p:cNvPr id="192" name="connector_3513"/>
          <p:cNvSpPr>
            <a:spLocks noGrp="1"/>
          </p:cNvSpPr>
          <p:nvPr/>
        </p:nvSpPr>
        <p:spPr>
          <a:xfrm>
            <a:off x="4524274" y="5767279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chemeClr val="tx1"/>
            </a:solidFill>
          </a:ln>
        </p:spPr>
      </p:sp>
      <p:sp>
        <p:nvSpPr>
          <p:cNvPr id="193" name="object_3514"/>
          <p:cNvSpPr>
            <a:spLocks noGrp="1"/>
          </p:cNvSpPr>
          <p:nvPr/>
        </p:nvSpPr>
        <p:spPr>
          <a:xfrm>
            <a:off x="4603878" y="5591228"/>
            <a:ext cx="1850231" cy="414338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194" name="text_3516_Microbenchmark"/>
          <p:cNvSpPr>
            <a:spLocks noGrp="1"/>
          </p:cNvSpPr>
          <p:nvPr/>
        </p:nvSpPr>
        <p:spPr>
          <a:xfrm>
            <a:off x="4596734" y="5612660"/>
            <a:ext cx="1807370" cy="39290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8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Microbenchmark</a:t>
            </a:r>
            <a:endParaRPr sz="118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6" name="connector_3519"/>
          <p:cNvSpPr>
            <a:spLocks noGrp="1"/>
          </p:cNvSpPr>
          <p:nvPr/>
        </p:nvSpPr>
        <p:spPr>
          <a:xfrm>
            <a:off x="6468396" y="5791253"/>
            <a:ext cx="150019" cy="14288"/>
          </a:xfrm>
          <a:custGeom>
            <a:avLst/>
            <a:gdLst/>
            <a:ahLst/>
            <a:cxnLst/>
            <a:rect l="0" t="0" r="0" b="0"/>
            <a:pathLst>
              <a:path w="200025" h="19050">
                <a:moveTo>
                  <a:pt x="9525" y="9525"/>
                </a:moveTo>
                <a:lnTo>
                  <a:pt x="190500" y="9525"/>
                </a:lnTo>
              </a:path>
            </a:pathLst>
          </a:custGeom>
          <a:noFill/>
          <a:ln w="19050">
            <a:solidFill>
              <a:schemeClr val="tx1"/>
            </a:solidFill>
          </a:ln>
        </p:spPr>
      </p:sp>
      <p:sp>
        <p:nvSpPr>
          <p:cNvPr id="197" name="connector_3520"/>
          <p:cNvSpPr>
            <a:spLocks noGrp="1"/>
          </p:cNvSpPr>
          <p:nvPr/>
        </p:nvSpPr>
        <p:spPr>
          <a:xfrm>
            <a:off x="6560243" y="5767279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chemeClr val="tx1"/>
            </a:solidFill>
          </a:ln>
        </p:spPr>
      </p:sp>
      <p:sp>
        <p:nvSpPr>
          <p:cNvPr id="198" name="object_3521"/>
          <p:cNvSpPr>
            <a:spLocks noGrp="1"/>
          </p:cNvSpPr>
          <p:nvPr/>
        </p:nvSpPr>
        <p:spPr>
          <a:xfrm>
            <a:off x="6639847" y="5591228"/>
            <a:ext cx="1850231" cy="414338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199" name="text_3523_实际开发经验"/>
          <p:cNvSpPr>
            <a:spLocks noGrp="1"/>
          </p:cNvSpPr>
          <p:nvPr/>
        </p:nvSpPr>
        <p:spPr>
          <a:xfrm>
            <a:off x="6673423" y="5612660"/>
            <a:ext cx="1766650" cy="39290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8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实际开发经验</a:t>
            </a:r>
            <a:endParaRPr sz="118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3" name="text_3244_封装新平台 Skill"/>
          <p:cNvSpPr>
            <a:spLocks noGrp="1"/>
          </p:cNvSpPr>
          <p:nvPr/>
        </p:nvSpPr>
        <p:spPr>
          <a:xfrm>
            <a:off x="627343" y="4758194"/>
            <a:ext cx="2271713" cy="2571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endParaRPr sz="1580" b="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</p:txBody>
      </p:sp>
      <p:sp>
        <p:nvSpPr>
          <p:cNvPr id="205" name="矩形: 圆角 46"/>
          <p:cNvSpPr/>
          <p:nvPr/>
        </p:nvSpPr>
        <p:spPr>
          <a:xfrm>
            <a:off x="579127" y="3912073"/>
            <a:ext cx="7358063" cy="92495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6" name="object_3354"/>
          <p:cNvSpPr>
            <a:spLocks noGrp="1"/>
          </p:cNvSpPr>
          <p:nvPr/>
        </p:nvSpPr>
        <p:spPr>
          <a:xfrm>
            <a:off x="3064136" y="4036190"/>
            <a:ext cx="1168385" cy="24713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/>
            </a:solidFill>
          </a:ln>
        </p:spPr>
      </p:sp>
      <p:sp>
        <p:nvSpPr>
          <p:cNvPr id="207" name="text_3356_Workflow"/>
          <p:cNvSpPr>
            <a:spLocks noGrp="1"/>
          </p:cNvSpPr>
          <p:nvPr/>
        </p:nvSpPr>
        <p:spPr>
          <a:xfrm>
            <a:off x="2936953" y="4070040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01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硬件架构</a:t>
            </a:r>
            <a:endParaRPr sz="101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8" name="object_3354"/>
          <p:cNvSpPr>
            <a:spLocks noGrp="1"/>
          </p:cNvSpPr>
          <p:nvPr/>
        </p:nvSpPr>
        <p:spPr>
          <a:xfrm>
            <a:off x="4372613" y="4036190"/>
            <a:ext cx="1168385" cy="24713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/>
            </a:solidFill>
          </a:ln>
        </p:spPr>
      </p:sp>
      <p:sp>
        <p:nvSpPr>
          <p:cNvPr id="209" name="text_3356_Workflow"/>
          <p:cNvSpPr>
            <a:spLocks noGrp="1"/>
          </p:cNvSpPr>
          <p:nvPr/>
        </p:nvSpPr>
        <p:spPr>
          <a:xfrm>
            <a:off x="4245430" y="4070040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01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编程环境</a:t>
            </a:r>
            <a:endParaRPr sz="101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0" name="object_3354"/>
          <p:cNvSpPr>
            <a:spLocks noGrp="1"/>
          </p:cNvSpPr>
          <p:nvPr/>
        </p:nvSpPr>
        <p:spPr>
          <a:xfrm>
            <a:off x="5710036" y="4035498"/>
            <a:ext cx="1168385" cy="24713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/>
            </a:solidFill>
          </a:ln>
        </p:spPr>
      </p:sp>
      <p:sp>
        <p:nvSpPr>
          <p:cNvPr id="211" name="text_3356_Workflow"/>
          <p:cNvSpPr>
            <a:spLocks noGrp="1"/>
          </p:cNvSpPr>
          <p:nvPr/>
        </p:nvSpPr>
        <p:spPr>
          <a:xfrm>
            <a:off x="5582852" y="4069347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01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算子画像</a:t>
            </a:r>
            <a:endParaRPr sz="101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2" name="object_3354"/>
          <p:cNvSpPr>
            <a:spLocks noGrp="1"/>
          </p:cNvSpPr>
          <p:nvPr/>
        </p:nvSpPr>
        <p:spPr>
          <a:xfrm>
            <a:off x="3064136" y="4439185"/>
            <a:ext cx="1168385" cy="24713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/>
            </a:solidFill>
          </a:ln>
        </p:spPr>
      </p:sp>
      <p:sp>
        <p:nvSpPr>
          <p:cNvPr id="213" name="text_3356_Workflow"/>
          <p:cNvSpPr>
            <a:spLocks noGrp="1"/>
          </p:cNvSpPr>
          <p:nvPr/>
        </p:nvSpPr>
        <p:spPr>
          <a:xfrm>
            <a:off x="2936953" y="4473034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01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性能分析</a:t>
            </a:r>
            <a:endParaRPr sz="101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4" name="text_3356_Workflow"/>
          <p:cNvSpPr>
            <a:spLocks noGrp="1"/>
          </p:cNvSpPr>
          <p:nvPr/>
        </p:nvSpPr>
        <p:spPr>
          <a:xfrm>
            <a:off x="578575" y="4255398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01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文件结构不变</a:t>
            </a:r>
            <a:endParaRPr lang="en-US" altLang="zh-CN" sz="101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01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内容几乎全部修改</a:t>
            </a:r>
            <a:endParaRPr lang="en-US" altLang="zh-CN" sz="101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object_3354"/>
          <p:cNvSpPr>
            <a:spLocks noGrp="1"/>
          </p:cNvSpPr>
          <p:nvPr/>
        </p:nvSpPr>
        <p:spPr>
          <a:xfrm>
            <a:off x="4385342" y="4440862"/>
            <a:ext cx="1168385" cy="24713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/>
            </a:solidFill>
          </a:ln>
        </p:spPr>
      </p:sp>
      <p:sp>
        <p:nvSpPr>
          <p:cNvPr id="216" name="text_3356_Workflow"/>
          <p:cNvSpPr>
            <a:spLocks noGrp="1"/>
          </p:cNvSpPr>
          <p:nvPr/>
        </p:nvSpPr>
        <p:spPr>
          <a:xfrm>
            <a:off x="4258159" y="4474712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01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优化方法</a:t>
            </a:r>
            <a:endParaRPr sz="101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7" name="object_3354"/>
          <p:cNvSpPr>
            <a:spLocks noGrp="1"/>
          </p:cNvSpPr>
          <p:nvPr/>
        </p:nvSpPr>
        <p:spPr>
          <a:xfrm>
            <a:off x="5722765" y="4440170"/>
            <a:ext cx="1168385" cy="24713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/>
            </a:solidFill>
          </a:ln>
        </p:spPr>
      </p:sp>
      <p:sp>
        <p:nvSpPr>
          <p:cNvPr id="218" name="text_3356_Workflow"/>
          <p:cNvSpPr>
            <a:spLocks noGrp="1"/>
          </p:cNvSpPr>
          <p:nvPr/>
        </p:nvSpPr>
        <p:spPr>
          <a:xfrm>
            <a:off x="5595581" y="4474020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01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支持原语</a:t>
            </a:r>
            <a:endParaRPr sz="101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text_3529_Common Workflow  +  Plat"/>
          <p:cNvSpPr>
            <a:spLocks noGrp="1"/>
          </p:cNvSpPr>
          <p:nvPr/>
        </p:nvSpPr>
        <p:spPr>
          <a:xfrm>
            <a:off x="600006" y="6311667"/>
            <a:ext cx="8072438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 dirty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Workflow  +  </a:t>
            </a:r>
            <a:r>
              <a:rPr lang="zh-CN" altLang="en-US" sz="1500" b="1" dirty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平台资料库</a:t>
            </a:r>
            <a:r>
              <a:rPr sz="1295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500" b="1" dirty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=</a:t>
            </a:r>
            <a:r>
              <a:rPr sz="1295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500" b="1" dirty="0" err="1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新平台</a:t>
            </a:r>
            <a:r>
              <a:rPr sz="1295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b="1" dirty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Operator</a:t>
            </a:r>
            <a:r>
              <a:rPr sz="1295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b="1" dirty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Skill</a:t>
            </a:r>
          </a:p>
        </p:txBody>
      </p:sp>
      <p:sp>
        <p:nvSpPr>
          <p:cNvPr id="80" name="矩形 79"/>
          <p:cNvSpPr/>
          <p:nvPr/>
        </p:nvSpPr>
        <p:spPr>
          <a:xfrm>
            <a:off x="1335339" y="6597107"/>
            <a:ext cx="6599967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Yang, J., Jimenez, C. E., </a:t>
            </a:r>
            <a:r>
              <a:rPr lang="en-US" altLang="zh-CN" sz="825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Wettig</a:t>
            </a:r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A., et al. SWE-agent: Agent-Computer Interfaces Enable Automated Software Engineering. arXiv:2405.15793, 2024.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82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83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开发新平台</a:t>
            </a:r>
            <a:r>
              <a:rPr lang="en-US" altLang="zh-CN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Skill</a:t>
            </a: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流程</a:t>
            </a:r>
            <a:endParaRPr lang="zh-CN" altLang="en-US" sz="2100" b="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</p:txBody>
      </p:sp>
      <p:sp>
        <p:nvSpPr>
          <p:cNvPr id="89" name="标题 1"/>
          <p:cNvSpPr txBox="1"/>
          <p:nvPr/>
        </p:nvSpPr>
        <p:spPr bwMode="auto">
          <a:xfrm>
            <a:off x="395288" y="333375"/>
            <a:ext cx="6840537" cy="503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0" tIns="0" rIns="0" bIns="0" numCol="1" anchor="ctr" anchorCtr="0" compatLnSpc="1"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实习任务三： 算子开发 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Skill 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指南</a:t>
            </a:r>
            <a:endParaRPr lang="zh-CN" altLang="en-US" sz="1950" kern="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00247" y="5105418"/>
            <a:ext cx="16273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资料</a:t>
            </a:r>
            <a:r>
              <a:rPr lang="zh-CN" altLang="en-US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来源</a:t>
            </a:r>
            <a:r>
              <a:rPr lang="zh-CN" altLang="en-US" dirty="0" smtClean="0"/>
              <a:t>：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_3790_相对 PyTorch 加速比"/>
          <p:cNvSpPr>
            <a:spLocks noGrp="1"/>
          </p:cNvSpPr>
          <p:nvPr/>
        </p:nvSpPr>
        <p:spPr>
          <a:xfrm>
            <a:off x="658580" y="5587382"/>
            <a:ext cx="4922044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80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相对</a:t>
            </a:r>
            <a:r>
              <a:rPr sz="152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80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PyTorch</a:t>
            </a:r>
            <a:r>
              <a:rPr sz="152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80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加速比</a:t>
            </a:r>
            <a:endParaRPr sz="1580" b="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</p:txBody>
      </p:sp>
      <p:sp>
        <p:nvSpPr>
          <p:cNvPr id="5" name="text_3794_实验设置与结果分析"/>
          <p:cNvSpPr>
            <a:spLocks noGrp="1"/>
          </p:cNvSpPr>
          <p:nvPr/>
        </p:nvSpPr>
        <p:spPr>
          <a:xfrm>
            <a:off x="6116746" y="1401667"/>
            <a:ext cx="2214563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实验设置与结果分析</a:t>
            </a:r>
            <a:endParaRPr sz="1200" b="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</p:txBody>
      </p:sp>
      <p:sp>
        <p:nvSpPr>
          <p:cNvPr id="6" name="connector_3795"/>
          <p:cNvSpPr>
            <a:spLocks noGrp="1"/>
          </p:cNvSpPr>
          <p:nvPr/>
        </p:nvSpPr>
        <p:spPr>
          <a:xfrm>
            <a:off x="6116746" y="1748532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graphicFrame>
        <p:nvGraphicFramePr>
          <p:cNvPr id="122" name="表格 121"/>
          <p:cNvGraphicFramePr/>
          <p:nvPr/>
        </p:nvGraphicFramePr>
        <p:xfrm>
          <a:off x="589782" y="2167511"/>
          <a:ext cx="5236370" cy="3244185"/>
        </p:xfrm>
        <a:graphic>
          <a:graphicData uri="http://schemas.openxmlformats.org/drawingml/2006/table">
            <a:tbl>
              <a:tblPr/>
              <a:tblGrid>
                <a:gridCol w="1466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6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67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7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8837"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Skill / </a:t>
                      </a:r>
                      <a:r>
                        <a:rPr sz="1600" b="1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算子</a:t>
                      </a:r>
                      <a:endParaRPr sz="16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LayerNorm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Softmax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MatMul</a:t>
                      </a:r>
                      <a:endParaRPr sz="16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8837"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MLU </a:t>
                      </a:r>
                      <a:r>
                        <a:rPr sz="1600" b="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Triton</a:t>
                      </a:r>
                      <a:endParaRPr sz="16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D7000F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1.00×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D7000F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1.23×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0.45×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8837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BANG C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0.01×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0.05×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0.33×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8837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GPU Triton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D7000F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1.43×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D7000F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1.06×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0.</a:t>
                      </a:r>
                      <a:r>
                        <a:rPr lang="en-US" sz="1600" b="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sz="1600" b="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sz="16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8837"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CUDA C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D7000F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1.45×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D7000F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1.06×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0.</a:t>
                      </a:r>
                      <a:r>
                        <a:rPr lang="en-US" sz="1600" b="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sz="1600" b="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sz="16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5" name="text_3841_统一测试设置"/>
          <p:cNvSpPr>
            <a:spLocks noGrp="1"/>
          </p:cNvSpPr>
          <p:nvPr/>
        </p:nvSpPr>
        <p:spPr>
          <a:xfrm>
            <a:off x="6131034" y="1855689"/>
            <a:ext cx="2528888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统一测试设置</a:t>
            </a:r>
          </a:p>
        </p:txBody>
      </p:sp>
      <p:sp>
        <p:nvSpPr>
          <p:cNvPr id="56" name="text_3843_平台：寒武纪 MLU、NVIDIA GPU"/>
          <p:cNvSpPr>
            <a:spLocks noGrp="1"/>
          </p:cNvSpPr>
          <p:nvPr/>
        </p:nvSpPr>
        <p:spPr>
          <a:xfrm>
            <a:off x="6126386" y="2076053"/>
            <a:ext cx="2507456" cy="94694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marL="171450" indent="-171450" algn="l">
              <a:buFont typeface="Wingdings" panose="05000000000000000000" pitchFamily="2" charset="2"/>
              <a:buChar char="p"/>
              <a:defRPr sz="13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平台：寒武纪</a:t>
            </a:r>
            <a:r>
              <a:rPr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MLU、NVIDIA GPU</a:t>
            </a:r>
            <a:r>
              <a:rPr lang="zh-CN" altLang="en-US" sz="1200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sz="1200" dirty="0" smtClean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p"/>
              <a:defRPr sz="13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编程模型：</a:t>
            </a:r>
            <a:r>
              <a:rPr lang="en-US" altLang="zh-CN" sz="1200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Triton</a:t>
            </a:r>
            <a:r>
              <a:rPr lang="zh-CN" altLang="en-US" sz="1200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200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BANG C</a:t>
            </a:r>
            <a:r>
              <a:rPr lang="zh-CN" altLang="en-US" sz="1200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200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CUDA C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12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p"/>
              <a:defRPr sz="13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算子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LayerNorm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MatMul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12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p"/>
              <a:defRPr sz="13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：典型静态 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动态 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12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p"/>
              <a:defRPr sz="13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精度：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FP16 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计算，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FP32 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累加。</a:t>
            </a:r>
          </a:p>
        </p:txBody>
      </p:sp>
      <p:sp>
        <p:nvSpPr>
          <p:cNvPr id="61" name="connector_3852"/>
          <p:cNvSpPr>
            <a:spLocks noGrp="1"/>
          </p:cNvSpPr>
          <p:nvPr/>
        </p:nvSpPr>
        <p:spPr>
          <a:xfrm>
            <a:off x="6131034" y="3134420"/>
            <a:ext cx="2536031" cy="14288"/>
          </a:xfrm>
          <a:custGeom>
            <a:avLst/>
            <a:gdLst/>
            <a:ahLst/>
            <a:cxnLst/>
            <a:rect l="0" t="0" r="0" b="0"/>
            <a:pathLst>
              <a:path w="3381375" h="19050">
                <a:moveTo>
                  <a:pt x="9525" y="9525"/>
                </a:moveTo>
                <a:lnTo>
                  <a:pt x="3371850" y="9525"/>
                </a:lnTo>
              </a:path>
            </a:pathLst>
          </a:custGeom>
          <a:noFill/>
          <a:ln w="14288">
            <a:solidFill>
              <a:srgbClr val="D9D9D9"/>
            </a:solidFill>
          </a:ln>
        </p:spPr>
      </p:sp>
      <p:sp>
        <p:nvSpPr>
          <p:cNvPr id="62" name="text_3854_方法具备跨平台复用性"/>
          <p:cNvSpPr>
            <a:spLocks noGrp="1"/>
          </p:cNvSpPr>
          <p:nvPr/>
        </p:nvSpPr>
        <p:spPr>
          <a:xfrm>
            <a:off x="6138178" y="3234432"/>
            <a:ext cx="2521744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方法具备跨平台复用性</a:t>
            </a:r>
          </a:p>
        </p:txBody>
      </p:sp>
      <p:sp>
        <p:nvSpPr>
          <p:cNvPr id="63" name="text_3856_四类 Skill 均完成算子开发与验证。"/>
          <p:cNvSpPr>
            <a:spLocks noGrp="1"/>
          </p:cNvSpPr>
          <p:nvPr/>
        </p:nvSpPr>
        <p:spPr>
          <a:xfrm>
            <a:off x="6141750" y="3481677"/>
            <a:ext cx="2507456" cy="58936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marL="171450" indent="-171450" algn="l">
              <a:buFont typeface="Wingdings" panose="05000000000000000000" pitchFamily="2" charset="2"/>
              <a:buChar char="p"/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四类</a:t>
            </a:r>
            <a:r>
              <a:rPr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Skill </a:t>
            </a:r>
            <a:r>
              <a:rPr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均完成算子开发与验证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sz="12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p"/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部分 </a:t>
            </a:r>
            <a:r>
              <a:rPr lang="en-US" altLang="zh-CN"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LayerNorm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altLang="zh-CN"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200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达到</a:t>
            </a:r>
            <a:endParaRPr lang="en-US" altLang="zh-CN" sz="12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超过 </a:t>
            </a:r>
            <a:r>
              <a:rPr lang="en-US" altLang="zh-CN"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基线性能。</a:t>
            </a:r>
          </a:p>
        </p:txBody>
      </p:sp>
      <p:sp>
        <p:nvSpPr>
          <p:cNvPr id="66" name="text_3862_性能差距仍需补足"/>
          <p:cNvSpPr>
            <a:spLocks noGrp="1"/>
          </p:cNvSpPr>
          <p:nvPr/>
        </p:nvSpPr>
        <p:spPr>
          <a:xfrm>
            <a:off x="6138178" y="4155976"/>
            <a:ext cx="2521744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 dirty="0" err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性能差距</a:t>
            </a:r>
            <a:endParaRPr sz="1200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text_3864_MatMul 加速比均低于 1×。"/>
          <p:cNvSpPr>
            <a:spLocks noGrp="1"/>
          </p:cNvSpPr>
          <p:nvPr/>
        </p:nvSpPr>
        <p:spPr>
          <a:xfrm>
            <a:off x="6145322" y="4388148"/>
            <a:ext cx="2626562" cy="8001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marL="171450" indent="-171450" algn="l">
              <a:buFont typeface="Wingdings" panose="05000000000000000000" pitchFamily="2" charset="2"/>
              <a:buChar char="p"/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MatMul</a:t>
            </a:r>
            <a:r>
              <a:rPr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加速比均低于</a:t>
            </a:r>
            <a:r>
              <a:rPr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1×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sz="12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p"/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BANG C 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的三类算子均低于基线；</a:t>
            </a:r>
          </a:p>
          <a:p>
            <a:pPr marL="171450" indent="-171450">
              <a:buFont typeface="Wingdings" panose="05000000000000000000" pitchFamily="2" charset="2"/>
              <a:buChar char="p"/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继续补充 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Tiling / Memory / Compute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12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p"/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知识与高性能 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71" name="text_3872_以实验反馈完善 Platform Profile"/>
          <p:cNvSpPr>
            <a:spLocks noGrp="1"/>
          </p:cNvSpPr>
          <p:nvPr/>
        </p:nvSpPr>
        <p:spPr>
          <a:xfrm>
            <a:off x="6138178" y="5306120"/>
            <a:ext cx="2521744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以实验反馈完善 Platform Profile</a:t>
            </a:r>
          </a:p>
        </p:txBody>
      </p:sp>
      <p:sp>
        <p:nvSpPr>
          <p:cNvPr id="49" name="灯片编号占位符 4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64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65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多平台实践结果分析</a:t>
            </a:r>
            <a:endParaRPr lang="zh-CN" altLang="en-US" sz="2100" b="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</p:txBody>
      </p:sp>
      <p:cxnSp>
        <p:nvCxnSpPr>
          <p:cNvPr id="68" name="直接连接符 67"/>
          <p:cNvCxnSpPr/>
          <p:nvPr/>
        </p:nvCxnSpPr>
        <p:spPr>
          <a:xfrm>
            <a:off x="5966358" y="1436863"/>
            <a:ext cx="19893" cy="4150519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标题 1"/>
          <p:cNvSpPr txBox="1"/>
          <p:nvPr/>
        </p:nvSpPr>
        <p:spPr bwMode="auto">
          <a:xfrm>
            <a:off x="395288" y="333375"/>
            <a:ext cx="6840537" cy="503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0" tIns="0" rIns="0" bIns="0" numCol="1" anchor="ctr" anchorCtr="0" compatLnSpc="1"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实习任务三： 算子开发 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Skill 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指南</a:t>
            </a:r>
            <a:endParaRPr lang="zh-CN" altLang="en-US" sz="1950" kern="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3" name="文本框 95"/>
          <p:cNvSpPr txBox="1"/>
          <p:nvPr/>
        </p:nvSpPr>
        <p:spPr>
          <a:xfrm>
            <a:off x="535263" y="6183268"/>
            <a:ext cx="5692921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charset="0"/>
              <a:buChar char="p"/>
            </a:pPr>
            <a:r>
              <a:rPr lang="zh-CN" altLang="en-US" sz="1600" b="1" dirty="0" smtClean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目前</a:t>
            </a:r>
            <a:r>
              <a:rPr lang="zh-CN" altLang="en-US" sz="1600" b="1" dirty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已经进行四类</a:t>
            </a:r>
            <a:r>
              <a:rPr lang="en-US" altLang="zh-CN" sz="1600" b="1" dirty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skill</a:t>
            </a:r>
            <a:r>
              <a:rPr lang="zh-CN" altLang="en-US" sz="1600" b="1" dirty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的开发与</a:t>
            </a:r>
            <a:r>
              <a:rPr lang="zh-CN" altLang="en-US" sz="1600" b="1" dirty="0" smtClean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验证。</a:t>
            </a:r>
            <a:endParaRPr lang="zh-CN" altLang="en-US" sz="1600" b="1" dirty="0">
              <a:solidFill>
                <a:srgbClr val="004B9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_3839_开发耗时（小时，从需求输入到通过验证）"/>
          <p:cNvSpPr>
            <a:spLocks noGrp="1"/>
          </p:cNvSpPr>
          <p:nvPr/>
        </p:nvSpPr>
        <p:spPr>
          <a:xfrm>
            <a:off x="623202" y="5856410"/>
            <a:ext cx="5229225" cy="22070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80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开发耗时（小时</a:t>
            </a:r>
            <a:r>
              <a:rPr sz="1240" b="1" dirty="0" err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sz="1580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从需求输入到通过验证</a:t>
            </a:r>
            <a:r>
              <a:rPr sz="158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）</a:t>
            </a:r>
          </a:p>
        </p:txBody>
      </p:sp>
      <p:graphicFrame>
        <p:nvGraphicFramePr>
          <p:cNvPr id="127" name="Chart"/>
          <p:cNvGraphicFramePr/>
          <p:nvPr/>
        </p:nvGraphicFramePr>
        <p:xfrm>
          <a:off x="587483" y="1791396"/>
          <a:ext cx="5264944" cy="39986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9" name="灯片编号占位符 4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64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65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多平台实践结果分析</a:t>
            </a:r>
            <a:endParaRPr lang="zh-CN" altLang="en-US" sz="2100" b="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</p:txBody>
      </p:sp>
      <p:sp>
        <p:nvSpPr>
          <p:cNvPr id="68" name="text_3794_实验设置与结果分析"/>
          <p:cNvSpPr>
            <a:spLocks noGrp="1"/>
          </p:cNvSpPr>
          <p:nvPr/>
        </p:nvSpPr>
        <p:spPr>
          <a:xfrm>
            <a:off x="6116746" y="1401667"/>
            <a:ext cx="2214563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实验设置与结果分析</a:t>
            </a:r>
            <a:endParaRPr sz="1200" b="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</p:txBody>
      </p:sp>
      <p:sp>
        <p:nvSpPr>
          <p:cNvPr id="69" name="connector_3795"/>
          <p:cNvSpPr>
            <a:spLocks noGrp="1"/>
          </p:cNvSpPr>
          <p:nvPr/>
        </p:nvSpPr>
        <p:spPr>
          <a:xfrm>
            <a:off x="6116746" y="1748532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70" name="text_3841_统一测试设置"/>
          <p:cNvSpPr>
            <a:spLocks noGrp="1"/>
          </p:cNvSpPr>
          <p:nvPr/>
        </p:nvSpPr>
        <p:spPr>
          <a:xfrm>
            <a:off x="6131034" y="1855689"/>
            <a:ext cx="2528888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统一测试设置</a:t>
            </a:r>
          </a:p>
        </p:txBody>
      </p:sp>
      <p:sp>
        <p:nvSpPr>
          <p:cNvPr id="73" name="text_3843_平台：寒武纪 MLU、NVIDIA GPU"/>
          <p:cNvSpPr>
            <a:spLocks noGrp="1"/>
          </p:cNvSpPr>
          <p:nvPr/>
        </p:nvSpPr>
        <p:spPr>
          <a:xfrm>
            <a:off x="6126386" y="2076053"/>
            <a:ext cx="2507456" cy="94694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marL="171450" indent="-171450" algn="l">
              <a:buFont typeface="Wingdings" panose="05000000000000000000" pitchFamily="2" charset="2"/>
              <a:buChar char="p"/>
              <a:defRPr sz="13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平台：寒武纪</a:t>
            </a:r>
            <a:r>
              <a:rPr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MLU、NVIDIA GPU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sz="12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p"/>
              <a:defRPr sz="13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编程模型：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Triton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BANG C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CUDA C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12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p"/>
              <a:defRPr sz="13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算子：</a:t>
            </a:r>
            <a:r>
              <a:rPr lang="en-US" altLang="zh-CN"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LayerNorm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MatMul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12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p"/>
              <a:defRPr sz="13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：典型静态 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动态 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12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p"/>
              <a:defRPr sz="13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精度：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FP16 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计算，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FP32 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累加。</a:t>
            </a:r>
          </a:p>
        </p:txBody>
      </p:sp>
      <p:sp>
        <p:nvSpPr>
          <p:cNvPr id="74" name="connector_3852"/>
          <p:cNvSpPr>
            <a:spLocks noGrp="1"/>
          </p:cNvSpPr>
          <p:nvPr/>
        </p:nvSpPr>
        <p:spPr>
          <a:xfrm>
            <a:off x="6131034" y="3134420"/>
            <a:ext cx="2536031" cy="14288"/>
          </a:xfrm>
          <a:custGeom>
            <a:avLst/>
            <a:gdLst/>
            <a:ahLst/>
            <a:cxnLst/>
            <a:rect l="0" t="0" r="0" b="0"/>
            <a:pathLst>
              <a:path w="3381375" h="19050">
                <a:moveTo>
                  <a:pt x="9525" y="9525"/>
                </a:moveTo>
                <a:lnTo>
                  <a:pt x="3371850" y="9525"/>
                </a:lnTo>
              </a:path>
            </a:pathLst>
          </a:custGeom>
          <a:noFill/>
          <a:ln w="14288">
            <a:solidFill>
              <a:srgbClr val="D9D9D9"/>
            </a:solidFill>
          </a:ln>
        </p:spPr>
      </p:sp>
      <p:sp>
        <p:nvSpPr>
          <p:cNvPr id="76" name="text_3854_方法具备跨平台复用性"/>
          <p:cNvSpPr>
            <a:spLocks noGrp="1"/>
          </p:cNvSpPr>
          <p:nvPr/>
        </p:nvSpPr>
        <p:spPr>
          <a:xfrm>
            <a:off x="6138178" y="3234432"/>
            <a:ext cx="2521744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方法具备跨平台复用性</a:t>
            </a:r>
          </a:p>
        </p:txBody>
      </p:sp>
      <p:sp>
        <p:nvSpPr>
          <p:cNvPr id="77" name="text_3856_四类 Skill 均完成算子开发与验证。"/>
          <p:cNvSpPr>
            <a:spLocks noGrp="1"/>
          </p:cNvSpPr>
          <p:nvPr/>
        </p:nvSpPr>
        <p:spPr>
          <a:xfrm>
            <a:off x="6141750" y="3481677"/>
            <a:ext cx="2507456" cy="58936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marL="171450" indent="-171450" algn="l">
              <a:buFont typeface="Wingdings" panose="05000000000000000000" pitchFamily="2" charset="2"/>
              <a:buChar char="p"/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四类</a:t>
            </a:r>
            <a:r>
              <a:rPr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Skill </a:t>
            </a:r>
            <a:r>
              <a:rPr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均完成算子开发与验证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sz="12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p"/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部分 </a:t>
            </a:r>
            <a:r>
              <a:rPr lang="en-US" altLang="zh-CN"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LayerNorm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altLang="zh-CN"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达到；</a:t>
            </a:r>
          </a:p>
          <a:p>
            <a:pPr marL="171450" indent="-171450">
              <a:buFont typeface="Wingdings" panose="05000000000000000000" pitchFamily="2" charset="2"/>
              <a:buChar char="p"/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或超过 </a:t>
            </a:r>
            <a:r>
              <a:rPr lang="en-US" altLang="zh-CN"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基线性能。</a:t>
            </a:r>
          </a:p>
        </p:txBody>
      </p:sp>
      <p:sp>
        <p:nvSpPr>
          <p:cNvPr id="78" name="text_3862_性能差距仍需补足"/>
          <p:cNvSpPr>
            <a:spLocks noGrp="1"/>
          </p:cNvSpPr>
          <p:nvPr/>
        </p:nvSpPr>
        <p:spPr>
          <a:xfrm>
            <a:off x="6138178" y="4155976"/>
            <a:ext cx="2521744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 dirty="0" err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性能差距</a:t>
            </a:r>
            <a:endParaRPr sz="1200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text_3864_MatMul 加速比均低于 1×。"/>
          <p:cNvSpPr>
            <a:spLocks noGrp="1"/>
          </p:cNvSpPr>
          <p:nvPr/>
        </p:nvSpPr>
        <p:spPr>
          <a:xfrm>
            <a:off x="6145322" y="4388148"/>
            <a:ext cx="2626562" cy="8001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marL="171450" indent="-171450" algn="l">
              <a:buFont typeface="Wingdings" panose="05000000000000000000" pitchFamily="2" charset="2"/>
              <a:buChar char="p"/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MatMul</a:t>
            </a:r>
            <a:r>
              <a:rPr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加速比均低于</a:t>
            </a:r>
            <a:r>
              <a:rPr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1×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sz="12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p"/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BANG C 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的三类算子均低于基线；</a:t>
            </a:r>
          </a:p>
          <a:p>
            <a:pPr marL="171450" indent="-171450">
              <a:buFont typeface="Wingdings" panose="05000000000000000000" pitchFamily="2" charset="2"/>
              <a:buChar char="p"/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继续补充 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Tiling / Memory / Compute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12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p"/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知识与高性能 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80" name="text_3872_以实验反馈完善 Platform Profile"/>
          <p:cNvSpPr>
            <a:spLocks noGrp="1"/>
          </p:cNvSpPr>
          <p:nvPr/>
        </p:nvSpPr>
        <p:spPr>
          <a:xfrm>
            <a:off x="6138178" y="5306120"/>
            <a:ext cx="2521744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以实验反馈完善 Platform Profile</a:t>
            </a:r>
          </a:p>
        </p:txBody>
      </p:sp>
      <p:cxnSp>
        <p:nvCxnSpPr>
          <p:cNvPr id="81" name="直接连接符 80"/>
          <p:cNvCxnSpPr/>
          <p:nvPr/>
        </p:nvCxnSpPr>
        <p:spPr>
          <a:xfrm>
            <a:off x="5966358" y="1436863"/>
            <a:ext cx="19893" cy="4150519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标题 1"/>
          <p:cNvSpPr txBox="1"/>
          <p:nvPr/>
        </p:nvSpPr>
        <p:spPr bwMode="auto">
          <a:xfrm>
            <a:off x="395288" y="333375"/>
            <a:ext cx="6840537" cy="503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0" tIns="0" rIns="0" bIns="0" numCol="1" anchor="ctr" anchorCtr="0" compatLnSpc="1"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实习任务三： 算子开发 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Skill 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指南</a:t>
            </a:r>
            <a:endParaRPr lang="zh-CN" altLang="en-US" sz="1950" kern="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9"/>
          <p:cNvSpPr txBox="1">
            <a:spLocks noChangeArrowheads="1"/>
          </p:cNvSpPr>
          <p:nvPr/>
        </p:nvSpPr>
        <p:spPr bwMode="auto">
          <a:xfrm>
            <a:off x="2051050" y="2492375"/>
            <a:ext cx="4962525" cy="1785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22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>
              <a:buFont typeface="Wingdings" panose="05000000000000000000" pitchFamily="2" charset="2"/>
              <a:buNone/>
            </a:pPr>
            <a:r>
              <a:rPr lang="zh-CN" altLang="en-US" sz="9600" kern="0"/>
              <a:t>谢谢！</a:t>
            </a:r>
            <a:endParaRPr lang="en-US" altLang="zh-CN" sz="9600" kern="0"/>
          </a:p>
        </p:txBody>
      </p:sp>
      <p:pic>
        <p:nvPicPr>
          <p:cNvPr id="4" name="Picture 2" descr="D:\PPT\新PPT样式\bg封底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50000"/>
                  <a:lumOff val="50000"/>
                </a:schemeClr>
              </a:gs>
              <a:gs pos="50000">
                <a:schemeClr val="bg1">
                  <a:lumMod val="50000"/>
                  <a:shade val="67500"/>
                  <a:satMod val="115000"/>
                </a:schemeClr>
              </a:gs>
              <a:gs pos="100000">
                <a:schemeClr val="bg1">
                  <a:lumMod val="50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9525">
            <a:noFill/>
            <a:miter lim="800000"/>
            <a:headEnd/>
            <a:tailEnd/>
          </a:ln>
        </p:spPr>
      </p:pic>
      <p:grpSp>
        <p:nvGrpSpPr>
          <p:cNvPr id="5" name="组合 4"/>
          <p:cNvGrpSpPr/>
          <p:nvPr/>
        </p:nvGrpSpPr>
        <p:grpSpPr>
          <a:xfrm>
            <a:off x="323528" y="3933056"/>
            <a:ext cx="8496950" cy="1728192"/>
            <a:chOff x="323528" y="3933056"/>
            <a:chExt cx="8496950" cy="1728192"/>
          </a:xfrm>
        </p:grpSpPr>
        <p:sp>
          <p:nvSpPr>
            <p:cNvPr id="7" name="任意多边形 6"/>
            <p:cNvSpPr/>
            <p:nvPr/>
          </p:nvSpPr>
          <p:spPr>
            <a:xfrm>
              <a:off x="323528" y="3933056"/>
              <a:ext cx="8496950" cy="1728192"/>
            </a:xfrm>
            <a:custGeom>
              <a:avLst/>
              <a:gdLst>
                <a:gd name="connsiteX0" fmla="*/ 7 w 6336704"/>
                <a:gd name="connsiteY0" fmla="*/ 660109 h 1728192"/>
                <a:gd name="connsiteX1" fmla="*/ 3168352 w 6336704"/>
                <a:gd name="connsiteY1" fmla="*/ 0 h 1728192"/>
                <a:gd name="connsiteX2" fmla="*/ 6336697 w 6336704"/>
                <a:gd name="connsiteY2" fmla="*/ 660109 h 1728192"/>
                <a:gd name="connsiteX3" fmla="*/ 5126503 w 6336704"/>
                <a:gd name="connsiteY3" fmla="*/ 1728186 h 1728192"/>
                <a:gd name="connsiteX4" fmla="*/ 1210201 w 6336704"/>
                <a:gd name="connsiteY4" fmla="*/ 1728186 h 1728192"/>
                <a:gd name="connsiteX5" fmla="*/ 7 w 6336704"/>
                <a:gd name="connsiteY5" fmla="*/ 660109 h 1728192"/>
                <a:gd name="connsiteX0-1" fmla="*/ 7 w 6336697"/>
                <a:gd name="connsiteY0-2" fmla="*/ 660109 h 1728192"/>
                <a:gd name="connsiteX1-3" fmla="*/ 3168352 w 6336697"/>
                <a:gd name="connsiteY1-4" fmla="*/ 0 h 1728192"/>
                <a:gd name="connsiteX2-5" fmla="*/ 6336697 w 6336697"/>
                <a:gd name="connsiteY2-6" fmla="*/ 660109 h 1728192"/>
                <a:gd name="connsiteX3-7" fmla="*/ 5126503 w 6336697"/>
                <a:gd name="connsiteY3-8" fmla="*/ 1728186 h 1728192"/>
                <a:gd name="connsiteX4-9" fmla="*/ 0 w 6336697"/>
                <a:gd name="connsiteY4-10" fmla="*/ 1728192 h 1728192"/>
                <a:gd name="connsiteX5-11" fmla="*/ 7 w 6336697"/>
                <a:gd name="connsiteY5-12" fmla="*/ 660109 h 1728192"/>
                <a:gd name="connsiteX0-13" fmla="*/ 7 w 6336697"/>
                <a:gd name="connsiteY0-14" fmla="*/ 156053 h 1224136"/>
                <a:gd name="connsiteX1-15" fmla="*/ 5544617 w 6336697"/>
                <a:gd name="connsiteY1-16" fmla="*/ 0 h 1224136"/>
                <a:gd name="connsiteX2-17" fmla="*/ 6336697 w 6336697"/>
                <a:gd name="connsiteY2-18" fmla="*/ 156053 h 1224136"/>
                <a:gd name="connsiteX3-19" fmla="*/ 5126503 w 6336697"/>
                <a:gd name="connsiteY3-20" fmla="*/ 1224130 h 1224136"/>
                <a:gd name="connsiteX4-21" fmla="*/ 0 w 6336697"/>
                <a:gd name="connsiteY4-22" fmla="*/ 1224136 h 1224136"/>
                <a:gd name="connsiteX5-23" fmla="*/ 7 w 6336697"/>
                <a:gd name="connsiteY5-24" fmla="*/ 156053 h 1224136"/>
                <a:gd name="connsiteX0-25" fmla="*/ 7 w 6336705"/>
                <a:gd name="connsiteY0-26" fmla="*/ 156053 h 1224136"/>
                <a:gd name="connsiteX1-27" fmla="*/ 5544617 w 6336705"/>
                <a:gd name="connsiteY1-28" fmla="*/ 0 h 1224136"/>
                <a:gd name="connsiteX2-29" fmla="*/ 6336697 w 6336705"/>
                <a:gd name="connsiteY2-30" fmla="*/ 156053 h 1224136"/>
                <a:gd name="connsiteX3-31" fmla="*/ 6336705 w 6336705"/>
                <a:gd name="connsiteY3-32" fmla="*/ 1224136 h 1224136"/>
                <a:gd name="connsiteX4-33" fmla="*/ 0 w 6336705"/>
                <a:gd name="connsiteY4-34" fmla="*/ 1224136 h 1224136"/>
                <a:gd name="connsiteX5-35" fmla="*/ 7 w 6336705"/>
                <a:gd name="connsiteY5-36" fmla="*/ 156053 h 1224136"/>
                <a:gd name="connsiteX0-37" fmla="*/ 7 w 6336708"/>
                <a:gd name="connsiteY0-38" fmla="*/ 156053 h 1224136"/>
                <a:gd name="connsiteX1-39" fmla="*/ 5544617 w 6336708"/>
                <a:gd name="connsiteY1-40" fmla="*/ 0 h 1224136"/>
                <a:gd name="connsiteX2-41" fmla="*/ 6336705 w 6336708"/>
                <a:gd name="connsiteY2-42" fmla="*/ 504056 h 1224136"/>
                <a:gd name="connsiteX3-43" fmla="*/ 6336705 w 6336708"/>
                <a:gd name="connsiteY3-44" fmla="*/ 1224136 h 1224136"/>
                <a:gd name="connsiteX4-45" fmla="*/ 0 w 6336708"/>
                <a:gd name="connsiteY4-46" fmla="*/ 1224136 h 1224136"/>
                <a:gd name="connsiteX5-47" fmla="*/ 7 w 6336708"/>
                <a:gd name="connsiteY5-48" fmla="*/ 156053 h 1224136"/>
                <a:gd name="connsiteX0-49" fmla="*/ 7 w 6336708"/>
                <a:gd name="connsiteY0-50" fmla="*/ 12037 h 1080120"/>
                <a:gd name="connsiteX1-51" fmla="*/ 5544616 w 6336708"/>
                <a:gd name="connsiteY1-52" fmla="*/ 0 h 1080120"/>
                <a:gd name="connsiteX2-53" fmla="*/ 6336705 w 6336708"/>
                <a:gd name="connsiteY2-54" fmla="*/ 360040 h 1080120"/>
                <a:gd name="connsiteX3-55" fmla="*/ 6336705 w 6336708"/>
                <a:gd name="connsiteY3-56" fmla="*/ 1080120 h 1080120"/>
                <a:gd name="connsiteX4-57" fmla="*/ 0 w 6336708"/>
                <a:gd name="connsiteY4-58" fmla="*/ 1080120 h 1080120"/>
                <a:gd name="connsiteX5-59" fmla="*/ 7 w 6336708"/>
                <a:gd name="connsiteY5-60" fmla="*/ 12037 h 1080120"/>
                <a:gd name="connsiteX0-61" fmla="*/ 7 w 7403286"/>
                <a:gd name="connsiteY0-62" fmla="*/ 12037 h 1080120"/>
                <a:gd name="connsiteX1-63" fmla="*/ 5544616 w 7403286"/>
                <a:gd name="connsiteY1-64" fmla="*/ 0 h 1080120"/>
                <a:gd name="connsiteX2-65" fmla="*/ 7403283 w 7403286"/>
                <a:gd name="connsiteY2-66" fmla="*/ 450050 h 1080120"/>
                <a:gd name="connsiteX3-67" fmla="*/ 6336705 w 7403286"/>
                <a:gd name="connsiteY3-68" fmla="*/ 1080120 h 1080120"/>
                <a:gd name="connsiteX4-69" fmla="*/ 0 w 7403286"/>
                <a:gd name="connsiteY4-70" fmla="*/ 1080120 h 1080120"/>
                <a:gd name="connsiteX5-71" fmla="*/ 7 w 7403286"/>
                <a:gd name="connsiteY5-72" fmla="*/ 12037 h 1080120"/>
                <a:gd name="connsiteX0-73" fmla="*/ 7 w 7403286"/>
                <a:gd name="connsiteY0-74" fmla="*/ 12037 h 1080120"/>
                <a:gd name="connsiteX1-75" fmla="*/ 5544616 w 7403286"/>
                <a:gd name="connsiteY1-76" fmla="*/ 0 h 1080120"/>
                <a:gd name="connsiteX2-77" fmla="*/ 7403283 w 7403286"/>
                <a:gd name="connsiteY2-78" fmla="*/ 450050 h 1080120"/>
                <a:gd name="connsiteX3-79" fmla="*/ 7403283 w 7403286"/>
                <a:gd name="connsiteY3-80" fmla="*/ 1080120 h 1080120"/>
                <a:gd name="connsiteX4-81" fmla="*/ 0 w 7403286"/>
                <a:gd name="connsiteY4-82" fmla="*/ 1080120 h 1080120"/>
                <a:gd name="connsiteX5-83" fmla="*/ 7 w 7403286"/>
                <a:gd name="connsiteY5-84" fmla="*/ 12037 h 1080120"/>
                <a:gd name="connsiteX0-85" fmla="*/ 7 w 7403286"/>
                <a:gd name="connsiteY0-86" fmla="*/ 12037 h 1080120"/>
                <a:gd name="connsiteX1-87" fmla="*/ 6713146 w 7403286"/>
                <a:gd name="connsiteY1-88" fmla="*/ 0 h 1080120"/>
                <a:gd name="connsiteX2-89" fmla="*/ 7403283 w 7403286"/>
                <a:gd name="connsiteY2-90" fmla="*/ 450050 h 1080120"/>
                <a:gd name="connsiteX3-91" fmla="*/ 7403283 w 7403286"/>
                <a:gd name="connsiteY3-92" fmla="*/ 1080120 h 1080120"/>
                <a:gd name="connsiteX4-93" fmla="*/ 0 w 7403286"/>
                <a:gd name="connsiteY4-94" fmla="*/ 1080120 h 1080120"/>
                <a:gd name="connsiteX5-95" fmla="*/ 7 w 7403286"/>
                <a:gd name="connsiteY5-96" fmla="*/ 12037 h 1080120"/>
                <a:gd name="connsiteX0-97" fmla="*/ 7 w 7403286"/>
                <a:gd name="connsiteY0-98" fmla="*/ 12037 h 1080120"/>
                <a:gd name="connsiteX1-99" fmla="*/ 6713146 w 7403286"/>
                <a:gd name="connsiteY1-100" fmla="*/ 0 h 1080120"/>
                <a:gd name="connsiteX2-101" fmla="*/ 7403283 w 7403286"/>
                <a:gd name="connsiteY2-102" fmla="*/ 450050 h 1080120"/>
                <a:gd name="connsiteX3-103" fmla="*/ 7403283 w 7403286"/>
                <a:gd name="connsiteY3-104" fmla="*/ 1080120 h 1080120"/>
                <a:gd name="connsiteX4-105" fmla="*/ 0 w 7403286"/>
                <a:gd name="connsiteY4-106" fmla="*/ 1080120 h 1080120"/>
                <a:gd name="connsiteX5-107" fmla="*/ 7 w 7403286"/>
                <a:gd name="connsiteY5-108" fmla="*/ 12037 h 1080120"/>
                <a:gd name="connsiteX0-109" fmla="*/ 7 w 7403286"/>
                <a:gd name="connsiteY0-110" fmla="*/ 12037 h 1080120"/>
                <a:gd name="connsiteX1-111" fmla="*/ 6713146 w 7403286"/>
                <a:gd name="connsiteY1-112" fmla="*/ 0 h 1080120"/>
                <a:gd name="connsiteX2-113" fmla="*/ 7403283 w 7403286"/>
                <a:gd name="connsiteY2-114" fmla="*/ 450050 h 1080120"/>
                <a:gd name="connsiteX3-115" fmla="*/ 7403283 w 7403286"/>
                <a:gd name="connsiteY3-116" fmla="*/ 1080120 h 1080120"/>
                <a:gd name="connsiteX4-117" fmla="*/ 0 w 7403286"/>
                <a:gd name="connsiteY4-118" fmla="*/ 1080120 h 1080120"/>
                <a:gd name="connsiteX5-119" fmla="*/ 7 w 7403286"/>
                <a:gd name="connsiteY5-120" fmla="*/ 12037 h 1080120"/>
                <a:gd name="connsiteX0-121" fmla="*/ 7 w 7403286"/>
                <a:gd name="connsiteY0-122" fmla="*/ 12037 h 1125125"/>
                <a:gd name="connsiteX1-123" fmla="*/ 6713146 w 7403286"/>
                <a:gd name="connsiteY1-124" fmla="*/ 0 h 1125125"/>
                <a:gd name="connsiteX2-125" fmla="*/ 7403283 w 7403286"/>
                <a:gd name="connsiteY2-126" fmla="*/ 450050 h 1125125"/>
                <a:gd name="connsiteX3-127" fmla="*/ 7403283 w 7403286"/>
                <a:gd name="connsiteY3-128" fmla="*/ 1080120 h 1125125"/>
                <a:gd name="connsiteX4-129" fmla="*/ 0 w 7403286"/>
                <a:gd name="connsiteY4-130" fmla="*/ 1125125 h 1125125"/>
                <a:gd name="connsiteX5-131" fmla="*/ 7 w 7403286"/>
                <a:gd name="connsiteY5-132" fmla="*/ 12037 h 1125125"/>
                <a:gd name="connsiteX0-133" fmla="*/ 7 w 7403286"/>
                <a:gd name="connsiteY0-134" fmla="*/ 12037 h 1080120"/>
                <a:gd name="connsiteX1-135" fmla="*/ 6713146 w 7403286"/>
                <a:gd name="connsiteY1-136" fmla="*/ 0 h 1080120"/>
                <a:gd name="connsiteX2-137" fmla="*/ 7403283 w 7403286"/>
                <a:gd name="connsiteY2-138" fmla="*/ 450050 h 1080120"/>
                <a:gd name="connsiteX3-139" fmla="*/ 7403283 w 7403286"/>
                <a:gd name="connsiteY3-140" fmla="*/ 1080120 h 1080120"/>
                <a:gd name="connsiteX4-141" fmla="*/ 0 w 7403286"/>
                <a:gd name="connsiteY4-142" fmla="*/ 1080120 h 1080120"/>
                <a:gd name="connsiteX5-143" fmla="*/ 7 w 7403286"/>
                <a:gd name="connsiteY5-144" fmla="*/ 12037 h 1080120"/>
                <a:gd name="connsiteX0-145" fmla="*/ 2 w 7403288"/>
                <a:gd name="connsiteY0-146" fmla="*/ 0 h 1080120"/>
                <a:gd name="connsiteX1-147" fmla="*/ 6713148 w 7403288"/>
                <a:gd name="connsiteY1-148" fmla="*/ 0 h 1080120"/>
                <a:gd name="connsiteX2-149" fmla="*/ 7403285 w 7403288"/>
                <a:gd name="connsiteY2-150" fmla="*/ 450050 h 1080120"/>
                <a:gd name="connsiteX3-151" fmla="*/ 7403285 w 7403288"/>
                <a:gd name="connsiteY3-152" fmla="*/ 1080120 h 1080120"/>
                <a:gd name="connsiteX4-153" fmla="*/ 2 w 7403288"/>
                <a:gd name="connsiteY4-154" fmla="*/ 1080120 h 1080120"/>
                <a:gd name="connsiteX5-155" fmla="*/ 2 w 7403288"/>
                <a:gd name="connsiteY5-156" fmla="*/ 0 h 108012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7403288" h="1080120">
                  <a:moveTo>
                    <a:pt x="2" y="0"/>
                  </a:moveTo>
                  <a:lnTo>
                    <a:pt x="6713148" y="0"/>
                  </a:lnTo>
                  <a:lnTo>
                    <a:pt x="7403285" y="450050"/>
                  </a:lnTo>
                  <a:cubicBezTo>
                    <a:pt x="7403288" y="806078"/>
                    <a:pt x="7403282" y="724092"/>
                    <a:pt x="7403285" y="1080120"/>
                  </a:cubicBezTo>
                  <a:lnTo>
                    <a:pt x="2" y="1080120"/>
                  </a:lnTo>
                  <a:cubicBezTo>
                    <a:pt x="4" y="724092"/>
                    <a:pt x="0" y="356028"/>
                    <a:pt x="2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50000">
                  <a:schemeClr val="bg1">
                    <a:lumMod val="50000"/>
                    <a:shade val="67500"/>
                    <a:satMod val="115000"/>
                  </a:schemeClr>
                </a:gs>
                <a:gs pos="100000">
                  <a:schemeClr val="bg1">
                    <a:lumMod val="50000"/>
                    <a:shade val="100000"/>
                    <a:satMod val="115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5000"/>
                </a:lnSpc>
                <a:spcAft>
                  <a:spcPts val="0"/>
                </a:spcAft>
              </a:pPr>
              <a:endParaRPr lang="zh-CN" alt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83568" y="4149080"/>
              <a:ext cx="4032448" cy="13080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zh-CN" altLang="en-US" sz="1600" b="1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公司总部：杭州市滨江区阡陌路</a:t>
              </a:r>
              <a:r>
                <a:rPr lang="en-US" altLang="zh-CN" sz="1600" b="1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555</a:t>
              </a:r>
              <a:r>
                <a:rPr lang="zh-CN" altLang="en-US" sz="1600" b="1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号</a:t>
              </a:r>
              <a:endParaRPr lang="en-US" altLang="zh-CN" sz="16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spcAft>
                  <a:spcPts val="600"/>
                </a:spcAft>
              </a:pPr>
              <a:r>
                <a:rPr lang="zh-CN" altLang="en-US" sz="1600" b="1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股票代码：</a:t>
              </a:r>
              <a:r>
                <a:rPr lang="en-US" altLang="zh-CN" sz="1600" b="1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002415</a:t>
              </a:r>
            </a:p>
            <a:p>
              <a:pPr>
                <a:spcAft>
                  <a:spcPts val="600"/>
                </a:spcAft>
              </a:pPr>
              <a:r>
                <a:rPr lang="zh-CN" altLang="en-US" sz="1600" b="1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客服电话：</a:t>
              </a:r>
              <a:r>
                <a:rPr lang="en-US" altLang="zh-CN" sz="1600" b="1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400-700-5998</a:t>
              </a:r>
            </a:p>
            <a:p>
              <a:pPr>
                <a:spcAft>
                  <a:spcPts val="600"/>
                </a:spcAft>
              </a:pPr>
              <a:r>
                <a:rPr lang="en-US" altLang="zh-CN" sz="1600" b="1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www.hikvision.com</a:t>
              </a:r>
              <a:endParaRPr lang="zh-CN" altLang="en-US" sz="16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64*115"/>
  <p:tag name="TABLE_ENDDRAG_RECT" val="35*385*664*11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84*97"/>
  <p:tag name="TABLE_ENDDRAG_RECT" val="35*403*584*9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7.71976377952757,&quot;left&quot;:131.26622047244092,&quot;top&quot;:92.05259842519685,&quot;width&quot;:825.7899212598426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7.71976377952757,&quot;left&quot;:131.26622047244092,&quot;top&quot;:92.05259842519685,&quot;width&quot;:825.7899212598426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7.71976377952757,&quot;left&quot;:131.26622047244092,&quot;top&quot;:92.05259842519685,&quot;width&quot;:825.7899212598426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7.71976377952757,&quot;left&quot;:131.26622047244092,&quot;top&quot;:92.05259842519685,&quot;width&quot;:825.7899212598426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7.71976377952757,&quot;left&quot;:131.26622047244092,&quot;top&quot;:92.05259842519685,&quot;width&quot;:825.7899212598426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7.71976377952757,&quot;left&quot;:131.26622047244092,&quot;top&quot;:92.05259842519685,&quot;width&quot;:825.7899212598426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7.71976377952757,&quot;left&quot;:131.26622047244092,&quot;top&quot;:92.05259842519685,&quot;width&quot;:825.7899212598426}"/>
</p:tagLst>
</file>

<file path=ppt/theme/theme1.xml><?xml version="1.0" encoding="utf-8"?>
<a:theme xmlns:a="http://schemas.openxmlformats.org/drawingml/2006/main" name="04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04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活力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4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3205</Words>
  <Application>Microsoft Office PowerPoint</Application>
  <PresentationFormat>全屏显示(4:3)</PresentationFormat>
  <Paragraphs>639</Paragraphs>
  <Slides>25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4" baseType="lpstr">
      <vt:lpstr>黑体</vt:lpstr>
      <vt:lpstr>宋体</vt:lpstr>
      <vt:lpstr>Microsoft YaHei</vt:lpstr>
      <vt:lpstr>Microsoft YaHei</vt:lpstr>
      <vt:lpstr>Arial</vt:lpstr>
      <vt:lpstr>Calibri</vt:lpstr>
      <vt:lpstr>Times New Roman</vt:lpstr>
      <vt:lpstr>Wingdings</vt:lpstr>
      <vt:lpstr>04</vt:lpstr>
      <vt:lpstr>转正答辩</vt:lpstr>
      <vt:lpstr>目录</vt:lpstr>
      <vt:lpstr>自我介绍</vt:lpstr>
      <vt:lpstr>实习任务一：Mlu平台算子优化与vllm优化</vt:lpstr>
      <vt:lpstr>实习任务一：Mlu平台算子优化与vllm优化</vt:lpstr>
      <vt:lpstr>实习任务一：Mlu平台算子优化与vllm优化</vt:lpstr>
      <vt:lpstr>实习任务一：Mlu平台算子优化与vllm优化</vt:lpstr>
      <vt:lpstr>实习任务一：Mlu平台算子优化与vllm优化</vt:lpstr>
      <vt:lpstr>实习任务一：Mlu平台算子优化与vllm优化</vt:lpstr>
      <vt:lpstr>实习任务一：Mlu平台算子优化与vllm优化</vt:lpstr>
      <vt:lpstr>实习任务一：Mlu平台算子优化与vllm优化</vt:lpstr>
      <vt:lpstr>实习任务二：寒武纪算子开发SKILL优化</vt:lpstr>
      <vt:lpstr>实习任务二：寒武纪算子开发SKILL优化</vt:lpstr>
      <vt:lpstr>实习任务二：寒武纪算子开发SKILL优化</vt:lpstr>
      <vt:lpstr>实习任务二：寒武纪算子开发SKILL优化</vt:lpstr>
      <vt:lpstr>实习任务二：寒武纪算子开发SKILL优化</vt:lpstr>
      <vt:lpstr>实习任务二：寒武纪算子开发SKILL优化</vt:lpstr>
      <vt:lpstr>实习任务二：寒武纪算子开发SKILL优化</vt:lpstr>
      <vt:lpstr>实习任务二：寒武纪算子开发SKILL优化</vt:lpstr>
      <vt:lpstr>实习任务二：寒武纪算子开发SKILL优化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2015年供应链任职资格宣贯</dc:title>
  <dc:creator>俞璐3</dc:creator>
  <cp:lastModifiedBy>霍子昂</cp:lastModifiedBy>
  <cp:revision>789</cp:revision>
  <dcterms:created xsi:type="dcterms:W3CDTF">2015-03-26T10:14:00Z</dcterms:created>
  <dcterms:modified xsi:type="dcterms:W3CDTF">2026-09-20T03:30:06Z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KSORubyTemplateID">
    <vt:lpwstr>8</vt:lpwstr>
  </property>
  <property fmtid="{D5CDD505-2E9C-101B-9397-08002B2CF9AE}" pid="4" name="ICV">
    <vt:lpwstr>187AA265A4374DD1BC55CE0BB879D649_13</vt:lpwstr>
  </property>
</Properties>
</file>
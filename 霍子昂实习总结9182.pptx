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3.xml" ContentType="application/vnd.openxmlformats-officedocument.presentationml.notesSlide+xml"/>
  <Override PartName="/ppt/tags/tag5.xml" ContentType="application/vnd.openxmlformats-officedocument.presentationml.tags+xml"/>
  <Override PartName="/ppt/notesSlides/notesSlide1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86" r:id="rId4"/>
    <p:sldId id="330" r:id="rId5"/>
    <p:sldId id="309" r:id="rId6"/>
    <p:sldId id="310" r:id="rId7"/>
    <p:sldId id="313" r:id="rId8"/>
    <p:sldId id="315" r:id="rId9"/>
    <p:sldId id="317" r:id="rId10"/>
    <p:sldId id="329" r:id="rId11"/>
    <p:sldId id="318" r:id="rId12"/>
    <p:sldId id="319" r:id="rId13"/>
    <p:sldId id="327" r:id="rId14"/>
    <p:sldId id="326" r:id="rId15"/>
    <p:sldId id="322" r:id="rId16"/>
    <p:sldId id="328" r:id="rId17"/>
    <p:sldId id="323" r:id="rId18"/>
    <p:sldId id="324" r:id="rId19"/>
    <p:sldId id="325" r:id="rId20"/>
    <p:sldId id="285" r:id="rId2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4A4EE3E-A92F-4C5F-8B6C-4E1C00B88B07}">
          <p14:sldIdLst>
            <p14:sldId id="256"/>
            <p14:sldId id="257"/>
            <p14:sldId id="286"/>
            <p14:sldId id="330"/>
            <p14:sldId id="309"/>
            <p14:sldId id="310"/>
            <p14:sldId id="313"/>
            <p14:sldId id="315"/>
            <p14:sldId id="317"/>
            <p14:sldId id="329"/>
            <p14:sldId id="318"/>
            <p14:sldId id="319"/>
            <p14:sldId id="327"/>
            <p14:sldId id="326"/>
            <p14:sldId id="322"/>
            <p14:sldId id="328"/>
            <p14:sldId id="323"/>
            <p14:sldId id="324"/>
            <p14:sldId id="325"/>
          </p14:sldIdLst>
        </p14:section>
        <p14:section name="无标题节" id="{37246721-A1E7-42EC-8ABD-C60CA6BBCE74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6">
          <p15:clr>
            <a:srgbClr val="A4A3A4"/>
          </p15:clr>
        </p15:guide>
        <p15:guide id="2" pos="285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000F"/>
    <a:srgbClr val="FFFFFF"/>
    <a:srgbClr val="1C334E"/>
    <a:srgbClr val="CCFFFF"/>
    <a:srgbClr val="CCECFF"/>
    <a:srgbClr val="FF9933"/>
    <a:srgbClr val="6699FF"/>
    <a:srgbClr val="00CC66"/>
    <a:srgbClr val="FF9900"/>
    <a:srgbClr val="D9D9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621" autoAdjust="0"/>
  </p:normalViewPr>
  <p:slideViewPr>
    <p:cSldViewPr>
      <p:cViewPr varScale="1">
        <p:scale>
          <a:sx n="79" d="100"/>
          <a:sy n="79" d="100"/>
        </p:scale>
        <p:origin x="108" y="324"/>
      </p:cViewPr>
      <p:guideLst>
        <p:guide orient="horz" pos="2186"/>
        <p:guide pos="285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LayerNorm</c:v>
          </c:tx>
          <c:spPr>
            <a:solidFill>
              <a:srgbClr val="C4BD9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38">
                    <a:solidFill>
                      <a:srgbClr val="000000"/>
                    </a:solidFill>
                    <a:latin typeface="Times New Roman" panose="02020603050405020304" pitchFamily="18" charset="0"/>
                    <a:ea typeface="Arial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</c:v>
                </c:pt>
                <c:pt idx="1">
                  <c:v>3.5</c:v>
                </c:pt>
                <c:pt idx="2">
                  <c:v>0.8</c:v>
                </c:pt>
                <c:pt idx="3">
                  <c:v>0.7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136-418B-8CFB-10AFD841DEC9}"/>
            </c:ext>
          </c:extLst>
        </c:ser>
        <c:ser>
          <c:idx val="1"/>
          <c:order val="1"/>
          <c:tx>
            <c:v>Softmax</c:v>
          </c:tx>
          <c:spPr>
            <a:solidFill>
              <a:srgbClr val="4F81B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38">
                    <a:solidFill>
                      <a:srgbClr val="000000"/>
                    </a:solidFill>
                    <a:latin typeface="Times New Roman" panose="02020603050405020304" pitchFamily="18" charset="0"/>
                    <a:ea typeface="Arial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1.2</c:v>
                </c:pt>
                <c:pt idx="1">
                  <c:v>3.2</c:v>
                </c:pt>
                <c:pt idx="2">
                  <c:v>1</c:v>
                </c:pt>
                <c:pt idx="3">
                  <c:v>0.9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136-418B-8CFB-10AFD841DEC9}"/>
            </c:ext>
          </c:extLst>
        </c:ser>
        <c:ser>
          <c:idx val="2"/>
          <c:order val="2"/>
          <c:tx>
            <c:v>MatMul</c:v>
          </c:tx>
          <c:spPr>
            <a:solidFill>
              <a:srgbClr val="0D0D0D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38">
                    <a:solidFill>
                      <a:srgbClr val="000000"/>
                    </a:solidFill>
                    <a:latin typeface="Times New Roman" panose="02020603050405020304" pitchFamily="18" charset="0"/>
                    <a:ea typeface="Arial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Data'!$E$2:$E$5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Data'!$F$2:$F$5</c:f>
              <c:numCache>
                <c:formatCode>0.0</c:formatCode>
                <c:ptCount val="4"/>
                <c:pt idx="0">
                  <c:v>1.8</c:v>
                </c:pt>
                <c:pt idx="1">
                  <c:v>4</c:v>
                </c:pt>
                <c:pt idx="2">
                  <c:v>1.6</c:v>
                </c:pt>
                <c:pt idx="3">
                  <c:v>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7136-418B-8CFB-10AFD841DEC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 anchorCtr="1"/>
          <a:lstStyle/>
          <a:p>
            <a:pPr>
              <a:defRPr sz="863">
                <a:solidFill>
                  <a:srgbClr val="242424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.5"/>
          <c:min val="0"/>
        </c:scaling>
        <c:delete val="0"/>
        <c:axPos val="l"/>
        <c:majorGridlines>
          <c:spPr>
            <a:ln w="4763">
              <a:solidFill>
                <a:srgbClr val="D9D9D9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 anchorCtr="1"/>
          <a:lstStyle/>
          <a:p>
            <a:pPr>
              <a:defRPr sz="90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</c:spPr>
    </c:plotArea>
    <c:legend>
      <c:legendPos val="t"/>
      <c:layout/>
      <c:overlay val="0"/>
      <c:txPr>
        <a:bodyPr anchorCtr="1"/>
        <a:lstStyle/>
        <a:p>
          <a:pPr>
            <a:defRPr sz="975">
              <a:solidFill>
                <a:srgbClr val="242424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704665-A736-4D9D-8335-F52D0001726A}" type="doc">
      <dgm:prSet loTypeId="urn:microsoft.com/office/officeart/2005/8/layout/list1#1" loCatId="list" qsTypeId="urn:microsoft.com/office/officeart/2005/8/quickstyle/simple1#1" qsCatId="simple" csTypeId="urn:microsoft.com/office/officeart/2005/8/colors/colorful3#1" csCatId="colorful" phldr="1"/>
      <dgm:spPr/>
      <dgm:t>
        <a:bodyPr/>
        <a:lstStyle/>
        <a:p>
          <a:endParaRPr lang="zh-CN" altLang="en-US"/>
        </a:p>
      </dgm:t>
    </dgm:pt>
    <dgm:pt modelId="{E61598D1-5714-48B6-8D09-72944FE9F33B}">
      <dgm:prSet phldrT="[文本]" custT="1"/>
      <dgm:spPr>
        <a:solidFill>
          <a:srgbClr val="C00000"/>
        </a:solidFill>
      </dgm:spPr>
      <dgm:t>
        <a:bodyPr/>
        <a:lstStyle/>
        <a:p>
          <a:pPr algn="l"/>
          <a:r>
            <a:rPr lang="zh-CN" altLang="en-US" sz="2000" b="1"/>
            <a:t>自我介绍</a:t>
          </a:r>
        </a:p>
      </dgm:t>
    </dgm:pt>
    <dgm:pt modelId="{93B0F235-AD2E-4B57-AD3A-0FA3DCEEC602}" type="par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1DFD91-6042-4471-98C1-87903CF1668E}" type="sib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C1DE5D-0C7B-4F77-A8E1-863ADFF7D298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/>
            <a:t>实习期间的工作</a:t>
          </a:r>
          <a:endParaRPr sz="1800" dirty="0"/>
        </a:p>
      </dgm:t>
    </dgm:pt>
    <dgm:pt modelId="{2F56BB86-74F7-4F59-A92B-1698457E79E8}" type="par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3DAB2A60-3F2E-4034-81A2-3EB9E57EE331}" type="sib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CA79CA1E-6203-4C5E-89B8-D5BC85C20887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/>
            <a:t>实习期间工作总结与个人发展计划</a:t>
          </a:r>
          <a:endParaRPr sz="1800" dirty="0"/>
        </a:p>
      </dgm:t>
    </dgm:pt>
    <dgm:pt modelId="{2E0C74A6-90CB-4972-9BFC-F8A200BA693D}" type="par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AD6EB47E-6070-4E3A-8230-56564994DA6C}" type="sib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1F9E5051-CCF5-4A33-A6E9-64414976A650}" type="pres">
      <dgm:prSet presAssocID="{94704665-A736-4D9D-8335-F52D0001726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0EA8654-DEE7-4CDF-ACEA-95FAEC5EB7B6}" type="pres">
      <dgm:prSet presAssocID="{E61598D1-5714-48B6-8D09-72944FE9F33B}" presName="parentLin" presStyleCnt="0"/>
      <dgm:spPr/>
    </dgm:pt>
    <dgm:pt modelId="{6FFBADE6-0AA7-4D85-B7A6-2AA7C805E598}" type="pres">
      <dgm:prSet presAssocID="{E61598D1-5714-48B6-8D09-72944FE9F33B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C709F359-301E-4C8A-A678-3A5064987B42}" type="pres">
      <dgm:prSet presAssocID="{E61598D1-5714-48B6-8D09-72944FE9F33B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EB85027-A905-4D19-B3BE-E5E5FCA331DE}" type="pres">
      <dgm:prSet presAssocID="{E61598D1-5714-48B6-8D09-72944FE9F33B}" presName="negativeSpace" presStyleCnt="0"/>
      <dgm:spPr/>
    </dgm:pt>
    <dgm:pt modelId="{3159482F-45E3-424C-97E7-6642D85469CE}" type="pres">
      <dgm:prSet presAssocID="{E61598D1-5714-48B6-8D09-72944FE9F33B}" presName="childText" presStyleLbl="conFgAcc1" presStyleIdx="0" presStyleCnt="3">
        <dgm:presLayoutVars>
          <dgm:bulletEnabled val="1"/>
        </dgm:presLayoutVars>
      </dgm:prSet>
      <dgm:spPr/>
    </dgm:pt>
    <dgm:pt modelId="{8C07274C-1018-4D57-AA5C-718010CCE74F}" type="pres">
      <dgm:prSet presAssocID="{3A1DFD91-6042-4471-98C1-87903CF1668E}" presName="spaceBetweenRectangles" presStyleCnt="0"/>
      <dgm:spPr/>
    </dgm:pt>
    <dgm:pt modelId="{67A6475B-C843-4769-AFD7-BD620849CA3A}" type="pres">
      <dgm:prSet presAssocID="{3AC1DE5D-0C7B-4F77-A8E1-863ADFF7D298}" presName="parentLin" presStyleCnt="0"/>
      <dgm:spPr/>
    </dgm:pt>
    <dgm:pt modelId="{FD2A137D-8787-4399-83E3-F753DA75BC74}" type="pres">
      <dgm:prSet presAssocID="{3AC1DE5D-0C7B-4F77-A8E1-863ADFF7D298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4F479855-378F-4D03-960B-E6F8A5F36BE8}" type="pres">
      <dgm:prSet presAssocID="{3AC1DE5D-0C7B-4F77-A8E1-863ADFF7D298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B2F4E33-FA0D-45C9-803C-2CC0271C8E37}" type="pres">
      <dgm:prSet presAssocID="{3AC1DE5D-0C7B-4F77-A8E1-863ADFF7D298}" presName="negativeSpace" presStyleCnt="0"/>
      <dgm:spPr/>
    </dgm:pt>
    <dgm:pt modelId="{1BB52BDE-442F-421C-B0F1-427936E17B4E}" type="pres">
      <dgm:prSet presAssocID="{3AC1DE5D-0C7B-4F77-A8E1-863ADFF7D298}" presName="childText" presStyleLbl="conFgAcc1" presStyleIdx="1" presStyleCnt="3">
        <dgm:presLayoutVars>
          <dgm:bulletEnabled val="1"/>
        </dgm:presLayoutVars>
      </dgm:prSet>
      <dgm:spPr/>
    </dgm:pt>
    <dgm:pt modelId="{4181A8A4-D221-487B-8F17-E170D730C7F3}" type="pres">
      <dgm:prSet presAssocID="{3DAB2A60-3F2E-4034-81A2-3EB9E57EE331}" presName="spaceBetweenRectangles" presStyleCnt="0"/>
      <dgm:spPr/>
    </dgm:pt>
    <dgm:pt modelId="{70E5C4EF-B51E-438D-A083-CA000233B185}" type="pres">
      <dgm:prSet presAssocID="{CA79CA1E-6203-4C5E-89B8-D5BC85C20887}" presName="parentLin" presStyleCnt="0"/>
      <dgm:spPr/>
    </dgm:pt>
    <dgm:pt modelId="{52AC27CC-DEA6-4698-924F-E39ED5060F9D}" type="pres">
      <dgm:prSet presAssocID="{CA79CA1E-6203-4C5E-89B8-D5BC85C20887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05B1D53B-862E-473A-8C4A-4F092E184EE5}" type="pres">
      <dgm:prSet presAssocID="{CA79CA1E-6203-4C5E-89B8-D5BC85C20887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7E37543-E3F7-4FB7-B815-978E6B45ADA8}" type="pres">
      <dgm:prSet presAssocID="{CA79CA1E-6203-4C5E-89B8-D5BC85C20887}" presName="negativeSpace" presStyleCnt="0"/>
      <dgm:spPr/>
    </dgm:pt>
    <dgm:pt modelId="{82C7D334-A469-4AAB-80F8-6B34A23098CC}" type="pres">
      <dgm:prSet presAssocID="{CA79CA1E-6203-4C5E-89B8-D5BC85C2088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F2D337E-D5BE-46B7-809C-2956CB1FF9BC}" type="presOf" srcId="{CA79CA1E-6203-4C5E-89B8-D5BC85C20887}" destId="{52AC27CC-DEA6-4698-924F-E39ED5060F9D}" srcOrd="0" destOrd="0" presId="urn:microsoft.com/office/officeart/2005/8/layout/list1#1"/>
    <dgm:cxn modelId="{99C42502-0C96-4E87-939E-773241D1D822}" type="presOf" srcId="{E61598D1-5714-48B6-8D09-72944FE9F33B}" destId="{C709F359-301E-4C8A-A678-3A5064987B42}" srcOrd="1" destOrd="0" presId="urn:microsoft.com/office/officeart/2005/8/layout/list1#1"/>
    <dgm:cxn modelId="{0BD9185B-CCCD-4251-B3F3-1EFD81AD3711}" type="presOf" srcId="{3AC1DE5D-0C7B-4F77-A8E1-863ADFF7D298}" destId="{4F479855-378F-4D03-960B-E6F8A5F36BE8}" srcOrd="1" destOrd="0" presId="urn:microsoft.com/office/officeart/2005/8/layout/list1#1"/>
    <dgm:cxn modelId="{D7105DAC-7992-4F39-9A5C-991DA03AFC83}" type="presOf" srcId="{E61598D1-5714-48B6-8D09-72944FE9F33B}" destId="{6FFBADE6-0AA7-4D85-B7A6-2AA7C805E598}" srcOrd="0" destOrd="0" presId="urn:microsoft.com/office/officeart/2005/8/layout/list1#1"/>
    <dgm:cxn modelId="{87BAD9B3-7F0D-4D7D-A284-F9C646BA1652}" type="presOf" srcId="{94704665-A736-4D9D-8335-F52D0001726A}" destId="{1F9E5051-CCF5-4A33-A6E9-64414976A650}" srcOrd="0" destOrd="0" presId="urn:microsoft.com/office/officeart/2005/8/layout/list1#1"/>
    <dgm:cxn modelId="{FDD4248E-A4F8-4914-9FC1-67F9FDF198CB}" srcId="{94704665-A736-4D9D-8335-F52D0001726A}" destId="{CA79CA1E-6203-4C5E-89B8-D5BC85C20887}" srcOrd="2" destOrd="0" parTransId="{2E0C74A6-90CB-4972-9BFC-F8A200BA693D}" sibTransId="{AD6EB47E-6070-4E3A-8230-56564994DA6C}"/>
    <dgm:cxn modelId="{12CDDFDE-0DC9-454D-947E-579354A6853F}" type="presOf" srcId="{CA79CA1E-6203-4C5E-89B8-D5BC85C20887}" destId="{05B1D53B-862E-473A-8C4A-4F092E184EE5}" srcOrd="1" destOrd="0" presId="urn:microsoft.com/office/officeart/2005/8/layout/list1#1"/>
    <dgm:cxn modelId="{B99F2629-7A48-4225-A786-33DB37B34471}" srcId="{94704665-A736-4D9D-8335-F52D0001726A}" destId="{E61598D1-5714-48B6-8D09-72944FE9F33B}" srcOrd="0" destOrd="0" parTransId="{93B0F235-AD2E-4B57-AD3A-0FA3DCEEC602}" sibTransId="{3A1DFD91-6042-4471-98C1-87903CF1668E}"/>
    <dgm:cxn modelId="{A4E85EE0-E31B-414F-BF72-195AAB924613}" type="presOf" srcId="{3AC1DE5D-0C7B-4F77-A8E1-863ADFF7D298}" destId="{FD2A137D-8787-4399-83E3-F753DA75BC74}" srcOrd="0" destOrd="0" presId="urn:microsoft.com/office/officeart/2005/8/layout/list1#1"/>
    <dgm:cxn modelId="{E55B3D29-929C-4E77-BF3E-85FDB7FEA21C}" srcId="{94704665-A736-4D9D-8335-F52D0001726A}" destId="{3AC1DE5D-0C7B-4F77-A8E1-863ADFF7D298}" srcOrd="1" destOrd="0" parTransId="{2F56BB86-74F7-4F59-A92B-1698457E79E8}" sibTransId="{3DAB2A60-3F2E-4034-81A2-3EB9E57EE331}"/>
    <dgm:cxn modelId="{6ED7FC1A-A691-459F-A24F-9CA9E4B05282}" type="presParOf" srcId="{1F9E5051-CCF5-4A33-A6E9-64414976A650}" destId="{20EA8654-DEE7-4CDF-ACEA-95FAEC5EB7B6}" srcOrd="0" destOrd="0" presId="urn:microsoft.com/office/officeart/2005/8/layout/list1#1"/>
    <dgm:cxn modelId="{BBEA9F1A-6F56-4E17-B5B7-3252E43B11FE}" type="presParOf" srcId="{20EA8654-DEE7-4CDF-ACEA-95FAEC5EB7B6}" destId="{6FFBADE6-0AA7-4D85-B7A6-2AA7C805E598}" srcOrd="0" destOrd="0" presId="urn:microsoft.com/office/officeart/2005/8/layout/list1#1"/>
    <dgm:cxn modelId="{316FCDC8-9394-4998-BBED-4A252036AD6E}" type="presParOf" srcId="{20EA8654-DEE7-4CDF-ACEA-95FAEC5EB7B6}" destId="{C709F359-301E-4C8A-A678-3A5064987B42}" srcOrd="1" destOrd="0" presId="urn:microsoft.com/office/officeart/2005/8/layout/list1#1"/>
    <dgm:cxn modelId="{3370ADD6-A81E-4BF0-8C1B-8A83BD92EB46}" type="presParOf" srcId="{1F9E5051-CCF5-4A33-A6E9-64414976A650}" destId="{EEB85027-A905-4D19-B3BE-E5E5FCA331DE}" srcOrd="1" destOrd="0" presId="urn:microsoft.com/office/officeart/2005/8/layout/list1#1"/>
    <dgm:cxn modelId="{E92FB42B-0B79-4306-A096-5B049E11B50C}" type="presParOf" srcId="{1F9E5051-CCF5-4A33-A6E9-64414976A650}" destId="{3159482F-45E3-424C-97E7-6642D85469CE}" srcOrd="2" destOrd="0" presId="urn:microsoft.com/office/officeart/2005/8/layout/list1#1"/>
    <dgm:cxn modelId="{34E299DF-CEF7-4A1A-BDA6-B0E30DCE2A1A}" type="presParOf" srcId="{1F9E5051-CCF5-4A33-A6E9-64414976A650}" destId="{8C07274C-1018-4D57-AA5C-718010CCE74F}" srcOrd="3" destOrd="0" presId="urn:microsoft.com/office/officeart/2005/8/layout/list1#1"/>
    <dgm:cxn modelId="{B81D7DF5-9DFA-4A36-84AB-3D1FF7270639}" type="presParOf" srcId="{1F9E5051-CCF5-4A33-A6E9-64414976A650}" destId="{67A6475B-C843-4769-AFD7-BD620849CA3A}" srcOrd="4" destOrd="0" presId="urn:microsoft.com/office/officeart/2005/8/layout/list1#1"/>
    <dgm:cxn modelId="{F2387A21-4A05-4906-AAE9-1AC7BABE9868}" type="presParOf" srcId="{67A6475B-C843-4769-AFD7-BD620849CA3A}" destId="{FD2A137D-8787-4399-83E3-F753DA75BC74}" srcOrd="0" destOrd="0" presId="urn:microsoft.com/office/officeart/2005/8/layout/list1#1"/>
    <dgm:cxn modelId="{B334A592-406D-4ECA-8063-C89B5C8C251E}" type="presParOf" srcId="{67A6475B-C843-4769-AFD7-BD620849CA3A}" destId="{4F479855-378F-4D03-960B-E6F8A5F36BE8}" srcOrd="1" destOrd="0" presId="urn:microsoft.com/office/officeart/2005/8/layout/list1#1"/>
    <dgm:cxn modelId="{F0D96521-622C-47AB-AFF3-F4CF044924AD}" type="presParOf" srcId="{1F9E5051-CCF5-4A33-A6E9-64414976A650}" destId="{4B2F4E33-FA0D-45C9-803C-2CC0271C8E37}" srcOrd="5" destOrd="0" presId="urn:microsoft.com/office/officeart/2005/8/layout/list1#1"/>
    <dgm:cxn modelId="{9FE99DFF-C7AA-439C-A2F3-848CABCE81E4}" type="presParOf" srcId="{1F9E5051-CCF5-4A33-A6E9-64414976A650}" destId="{1BB52BDE-442F-421C-B0F1-427936E17B4E}" srcOrd="6" destOrd="0" presId="urn:microsoft.com/office/officeart/2005/8/layout/list1#1"/>
    <dgm:cxn modelId="{E12DF517-652A-4AA2-B663-56D38FA74225}" type="presParOf" srcId="{1F9E5051-CCF5-4A33-A6E9-64414976A650}" destId="{4181A8A4-D221-487B-8F17-E170D730C7F3}" srcOrd="7" destOrd="0" presId="urn:microsoft.com/office/officeart/2005/8/layout/list1#1"/>
    <dgm:cxn modelId="{BA0DDDD6-73C7-4C1F-A400-AD4A0DB702C6}" type="presParOf" srcId="{1F9E5051-CCF5-4A33-A6E9-64414976A650}" destId="{70E5C4EF-B51E-438D-A083-CA000233B185}" srcOrd="8" destOrd="0" presId="urn:microsoft.com/office/officeart/2005/8/layout/list1#1"/>
    <dgm:cxn modelId="{30962298-70D2-41E2-9B8A-0167E4BE607B}" type="presParOf" srcId="{70E5C4EF-B51E-438D-A083-CA000233B185}" destId="{52AC27CC-DEA6-4698-924F-E39ED5060F9D}" srcOrd="0" destOrd="0" presId="urn:microsoft.com/office/officeart/2005/8/layout/list1#1"/>
    <dgm:cxn modelId="{1A222B7D-B67A-4C3E-9C87-1250A5253EEC}" type="presParOf" srcId="{70E5C4EF-B51E-438D-A083-CA000233B185}" destId="{05B1D53B-862E-473A-8C4A-4F092E184EE5}" srcOrd="1" destOrd="0" presId="urn:microsoft.com/office/officeart/2005/8/layout/list1#1"/>
    <dgm:cxn modelId="{A75229C9-FBEC-49DA-A484-073E7FBAC728}" type="presParOf" srcId="{1F9E5051-CCF5-4A33-A6E9-64414976A650}" destId="{37E37543-E3F7-4FB7-B815-978E6B45ADA8}" srcOrd="9" destOrd="0" presId="urn:microsoft.com/office/officeart/2005/8/layout/list1#1"/>
    <dgm:cxn modelId="{B59D8263-4887-4D67-BE6C-CED54CDA2385}" type="presParOf" srcId="{1F9E5051-CCF5-4A33-A6E9-64414976A650}" destId="{82C7D334-A469-4AAB-80F8-6B34A23098CC}" srcOrd="1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9482F-45E3-424C-97E7-6642D85469CE}">
      <dsp:nvSpPr>
        <dsp:cNvPr id="0" name=""/>
        <dsp:cNvSpPr/>
      </dsp:nvSpPr>
      <dsp:spPr>
        <a:xfrm>
          <a:off x="0" y="48052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9F359-301E-4C8A-A678-3A5064987B42}">
      <dsp:nvSpPr>
        <dsp:cNvPr id="0" name=""/>
        <dsp:cNvSpPr/>
      </dsp:nvSpPr>
      <dsp:spPr>
        <a:xfrm>
          <a:off x="304800" y="22969"/>
          <a:ext cx="4267200" cy="915120"/>
        </a:xfrm>
        <a:prstGeom prst="round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/>
            <a:t>自我介绍</a:t>
          </a:r>
        </a:p>
      </dsp:txBody>
      <dsp:txXfrm>
        <a:off x="349472" y="67641"/>
        <a:ext cx="4177856" cy="825776"/>
      </dsp:txXfrm>
    </dsp:sp>
    <dsp:sp modelId="{1BB52BDE-442F-421C-B0F1-427936E17B4E}">
      <dsp:nvSpPr>
        <dsp:cNvPr id="0" name=""/>
        <dsp:cNvSpPr/>
      </dsp:nvSpPr>
      <dsp:spPr>
        <a:xfrm>
          <a:off x="0" y="188668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79855-378F-4D03-960B-E6F8A5F36BE8}">
      <dsp:nvSpPr>
        <dsp:cNvPr id="0" name=""/>
        <dsp:cNvSpPr/>
      </dsp:nvSpPr>
      <dsp:spPr>
        <a:xfrm>
          <a:off x="304800" y="1429129"/>
          <a:ext cx="4267200" cy="915120"/>
        </a:xfrm>
        <a:prstGeom prst="round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/>
            <a:t>实习期间的工作</a:t>
          </a:r>
          <a:endParaRPr sz="1800" kern="1200" dirty="0"/>
        </a:p>
      </dsp:txBody>
      <dsp:txXfrm>
        <a:off x="349472" y="1473801"/>
        <a:ext cx="4177856" cy="825776"/>
      </dsp:txXfrm>
    </dsp:sp>
    <dsp:sp modelId="{82C7D334-A469-4AAB-80F8-6B34A23098CC}">
      <dsp:nvSpPr>
        <dsp:cNvPr id="0" name=""/>
        <dsp:cNvSpPr/>
      </dsp:nvSpPr>
      <dsp:spPr>
        <a:xfrm>
          <a:off x="0" y="3292850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B1D53B-862E-473A-8C4A-4F092E184EE5}">
      <dsp:nvSpPr>
        <dsp:cNvPr id="0" name=""/>
        <dsp:cNvSpPr/>
      </dsp:nvSpPr>
      <dsp:spPr>
        <a:xfrm>
          <a:off x="304800" y="2835290"/>
          <a:ext cx="4267200" cy="915120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/>
            <a:t>实习期间工作总结与个人发展计划</a:t>
          </a:r>
          <a:endParaRPr sz="1800" kern="1200" dirty="0"/>
        </a:p>
      </dsp:txBody>
      <dsp:txXfrm>
        <a:off x="349472" y="2879962"/>
        <a:ext cx="4177856" cy="8257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4FED9-3A6F-41BA-8FF6-39438EA9BD0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FC9F5-C5B3-4F9C-AB2F-06E1DBE394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A28CE1-A9CD-4F41-A4DB-3C7991DDFF33}" type="slidenum">
              <a:rPr lang="en-US" altLang="zh-CN" smtClean="0">
                <a:solidFill>
                  <a:prstClr val="black"/>
                </a:solidFill>
                <a:ea typeface="宋体" panose="02010600030101010101" pitchFamily="2" charset="-122"/>
              </a:rPr>
              <a:t>1</a:t>
            </a:fld>
            <a:endParaRPr lang="en-US" altLang="zh-CN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2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0F7BE-16CD-4F2A-A360-0B281A81F73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605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3817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4620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4510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8181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9524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784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98214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6268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0323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13033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65881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>
                <a:solidFill>
                  <a:srgbClr val="242424"/>
                </a:solidFill>
                <a:latin typeface="Arial"/>
                <a:ea typeface="Arial"/>
                <a:cs typeface="Arial"/>
              </a:rPr>
              <a:t>算子的开发流程具有通用性，但是由于</a:t>
            </a:r>
          </a:p>
          <a:p>
            <a:pPr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>
                <a:solidFill>
                  <a:srgbClr val="242424"/>
                </a:solidFill>
                <a:latin typeface="Arial"/>
                <a:ea typeface="Arial"/>
                <a:cs typeface="Arial"/>
              </a:rPr>
              <a:t>硬件架构的差异和原</a:t>
            </a:r>
            <a:r>
              <a:rPr lang="en-US" altLang="zh-CN" dirty="0">
                <a:solidFill>
                  <a:srgbClr val="242424"/>
                </a:solidFill>
                <a:latin typeface="Arial"/>
                <a:ea typeface="Arial"/>
                <a:cs typeface="Arial"/>
              </a:rPr>
              <a:t>skill</a:t>
            </a:r>
            <a:r>
              <a:rPr lang="zh-CN" altLang="en-US" dirty="0">
                <a:solidFill>
                  <a:srgbClr val="242424"/>
                </a:solidFill>
                <a:latin typeface="Arial"/>
                <a:ea typeface="Arial"/>
                <a:cs typeface="Arial"/>
              </a:rPr>
              <a:t>流程与</a:t>
            </a:r>
          </a:p>
          <a:p>
            <a:pPr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>
                <a:solidFill>
                  <a:srgbClr val="242424"/>
                </a:solidFill>
                <a:latin typeface="Arial"/>
                <a:ea typeface="Arial"/>
                <a:cs typeface="Arial"/>
              </a:rPr>
              <a:t>各种专属信息相互耦合，无法简单修改复用。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07821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>
                <a:solidFill>
                  <a:srgbClr val="242424"/>
                </a:solidFill>
                <a:latin typeface="Arial"/>
                <a:ea typeface="Arial"/>
                <a:cs typeface="Arial"/>
              </a:rPr>
              <a:t>算子的开发流程具有通用性，但是由于</a:t>
            </a:r>
          </a:p>
          <a:p>
            <a:pPr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>
                <a:solidFill>
                  <a:srgbClr val="242424"/>
                </a:solidFill>
                <a:latin typeface="Arial"/>
                <a:ea typeface="Arial"/>
                <a:cs typeface="Arial"/>
              </a:rPr>
              <a:t>硬件架构的差异和原</a:t>
            </a:r>
            <a:r>
              <a:rPr lang="en-US" altLang="zh-CN" dirty="0">
                <a:solidFill>
                  <a:srgbClr val="242424"/>
                </a:solidFill>
                <a:latin typeface="Arial"/>
                <a:ea typeface="Arial"/>
                <a:cs typeface="Arial"/>
              </a:rPr>
              <a:t>skill</a:t>
            </a:r>
            <a:r>
              <a:rPr lang="zh-CN" altLang="en-US" dirty="0">
                <a:solidFill>
                  <a:srgbClr val="242424"/>
                </a:solidFill>
                <a:latin typeface="Arial"/>
                <a:ea typeface="Arial"/>
                <a:cs typeface="Arial"/>
              </a:rPr>
              <a:t>流程与</a:t>
            </a:r>
          </a:p>
          <a:p>
            <a:pPr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>
                <a:solidFill>
                  <a:srgbClr val="242424"/>
                </a:solidFill>
                <a:latin typeface="Arial"/>
                <a:ea typeface="Arial"/>
                <a:cs typeface="Arial"/>
              </a:rPr>
              <a:t>各种专属信息相互耦合，无法简单修改复用。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00071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第一阶段明确目标平台（GPU、MLU、Ascend或其他</a:t>
            </a:r>
            <a:r>
              <a:rPr dirty="0"/>
              <a:t>）、</a:t>
            </a:r>
            <a:r>
              <a:rPr dirty="0" err="1"/>
              <a:t>编程后端（Triton、CUDA</a:t>
            </a:r>
            <a:r>
              <a:rPr dirty="0"/>
              <a:t> C、BANG </a:t>
            </a:r>
            <a:r>
              <a:rPr dirty="0" err="1"/>
              <a:t>C、Ascend</a:t>
            </a:r>
            <a:r>
              <a:rPr dirty="0"/>
              <a:t> </a:t>
            </a:r>
            <a:r>
              <a:rPr dirty="0" err="1"/>
              <a:t>C等</a:t>
            </a:r>
            <a:r>
              <a:rPr dirty="0"/>
              <a:t>）、环境版本及算子需求。精度示例为FP16、BF16、FP32，性能指标为相对基线或绝对值。第二阶段复用已验证的方法，不重新设计流程。第三阶段补齐可执行机制：执行阶段生成Kernel/Test/Script，经编译、运行、精度、性能Gate检查，PASS进入下一阶段，FAIL进入自动或人工Retry，也可Fallback；保留Artifact并利用Cache加速迭代。第四阶段按规范封装为&lt;platform&gt;-operator V0。第五阶段依次检查L1基础能力、L2平台行为、L3典型算子，并输出测试结果与问题清单。第六阶段根据结果持续优化，形成稳定、可恢复、可复用且工程规范完善的Skill。后续扩展算子类型、Shape、精度、平台及社区分享。验证失败时分别定位Workflow、Platform </a:t>
            </a:r>
            <a:r>
              <a:rPr dirty="0" err="1"/>
              <a:t>Knowledge、Optimization问题，修改流程、补充平台知识、完善优化规则后重新测试，直至满足要求</a:t>
            </a:r>
            <a:r>
              <a:rPr dirty="0"/>
              <a:t>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99198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测试配置：统一测试集，LayerNorm、Softmax、MatMul；典型静态与动态Shape；FP16计算、FP32累加；指标包括相对PyTorch加速比、开发耗时及正确性。四类Skill为寒武纪MLU+Triton、寒武纪MLU+BANG C、NVIDIA </a:t>
            </a:r>
            <a:r>
              <a:rPr dirty="0" err="1"/>
              <a:t>GPU+Triton、NVIDIA</a:t>
            </a:r>
            <a:r>
              <a:rPr dirty="0"/>
              <a:t> GPU+CUDA C。</a:t>
            </a:r>
          </a:p>
          <a:p>
            <a:r>
              <a:rPr dirty="0" err="1"/>
              <a:t>性能（LayerNorm</a:t>
            </a:r>
            <a:r>
              <a:rPr dirty="0"/>
              <a:t>/</a:t>
            </a:r>
            <a:r>
              <a:rPr dirty="0" err="1"/>
              <a:t>Softmax</a:t>
            </a:r>
            <a:r>
              <a:rPr dirty="0"/>
              <a:t>/</a:t>
            </a:r>
            <a:r>
              <a:rPr dirty="0" err="1"/>
              <a:t>MatMul</a:t>
            </a:r>
            <a:r>
              <a:rPr dirty="0"/>
              <a:t>）：MLU Triton=1.00/1.23/0.45倍，BANG C=0.01/0.05/0.33倍，GPU Triton=1.43/1.06/0.53倍，CUDA C=1.45/1.06/0.33倍。加速比小于1表示慢于PyTorch基线。</a:t>
            </a:r>
          </a:p>
          <a:p>
            <a:r>
              <a:rPr dirty="0" err="1"/>
              <a:t>开发耗时从需求输入到通过验证，单位小时：MLU</a:t>
            </a:r>
            <a:r>
              <a:rPr dirty="0"/>
              <a:t> Triton=1.0/1.2/1.8，BANG C=3.5/3.2/4.0，GPU Triton=0.8/1.0/1.6，CUDA C=0.7/0.9/1.5。</a:t>
            </a:r>
          </a:p>
          <a:p>
            <a:r>
              <a:rPr dirty="0" err="1"/>
              <a:t>本组结果支持方法可复用、可迁移，但MatMul表现和BANG</a:t>
            </a:r>
            <a:r>
              <a:rPr dirty="0"/>
              <a:t> </a:t>
            </a:r>
            <a:r>
              <a:rPr dirty="0" err="1"/>
              <a:t>C整体性能暴露平台知识不足。通过定位问题、补充Platform</a:t>
            </a:r>
            <a:r>
              <a:rPr dirty="0"/>
              <a:t> Profile、优化规则及参考实现持续完善。具体设备型号、软件版本、完整Shape清单及统计口径未随图片提供，数值按原图报告，未独立复测。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15827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测试配置：统一测试集，LayerNorm、Softmax、MatMul；典型静态与动态Shape；FP16计算、FP32累加；指标包括相对PyTorch加速比、开发耗时及正确性。四类Skill为寒武纪MLU+Triton、寒武纪MLU+BANG C、NVIDIA </a:t>
            </a:r>
            <a:r>
              <a:rPr dirty="0" err="1"/>
              <a:t>GPU+Triton、NVIDIA</a:t>
            </a:r>
            <a:r>
              <a:rPr dirty="0"/>
              <a:t> GPU+CUDA C。</a:t>
            </a:r>
          </a:p>
          <a:p>
            <a:r>
              <a:rPr dirty="0" err="1"/>
              <a:t>性能（LayerNorm</a:t>
            </a:r>
            <a:r>
              <a:rPr dirty="0"/>
              <a:t>/</a:t>
            </a:r>
            <a:r>
              <a:rPr dirty="0" err="1"/>
              <a:t>Softmax</a:t>
            </a:r>
            <a:r>
              <a:rPr dirty="0"/>
              <a:t>/</a:t>
            </a:r>
            <a:r>
              <a:rPr dirty="0" err="1"/>
              <a:t>MatMul</a:t>
            </a:r>
            <a:r>
              <a:rPr dirty="0"/>
              <a:t>）：MLU Triton=1.00/1.23/0.45倍，BANG C=0.01/0.05/0.33倍，GPU Triton=1.43/1.06/0.53倍，CUDA C=1.45/1.06/0.33倍。加速比小于1表示慢于PyTorch基线。</a:t>
            </a:r>
          </a:p>
          <a:p>
            <a:r>
              <a:rPr dirty="0" err="1"/>
              <a:t>开发耗时从需求输入到通过验证，单位小时：MLU</a:t>
            </a:r>
            <a:r>
              <a:rPr dirty="0"/>
              <a:t> Triton=1.0/1.2/1.8，BANG C=3.5/3.2/4.0，GPU Triton=0.8/1.0/1.6，CUDA C=0.7/0.9/1.5。</a:t>
            </a:r>
          </a:p>
          <a:p>
            <a:r>
              <a:rPr dirty="0" err="1"/>
              <a:t>本组结果支持方法可复用、可迁移，但MatMul表现和BANG</a:t>
            </a:r>
            <a:r>
              <a:rPr dirty="0"/>
              <a:t> </a:t>
            </a:r>
            <a:r>
              <a:rPr dirty="0" err="1"/>
              <a:t>C整体性能暴露平台知识不足。通过定位问题、补充Platform</a:t>
            </a:r>
            <a:r>
              <a:rPr dirty="0"/>
              <a:t> Profile、优化规则及参考实现持续完善。具体设备型号、软件版本、完整Shape清单及统计口径未随图片提供，数值按原图报告，未独立复测。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31292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20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Documents and Settings\DingQi\桌面\封面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887788" y="981075"/>
            <a:ext cx="3924300" cy="360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4213" y="4437063"/>
            <a:ext cx="7415212" cy="792162"/>
          </a:xfrm>
        </p:spPr>
        <p:txBody>
          <a:bodyPr/>
          <a:lstStyle>
            <a:lvl1pPr algn="ctr">
              <a:defRPr sz="2400">
                <a:latin typeface="黑体" panose="02010609060101010101" pitchFamily="2" charset="-122"/>
              </a:defRPr>
            </a:lvl1pPr>
          </a:lstStyle>
          <a:p>
            <a:r>
              <a:rPr lang="zh-CN" altLang="en-US"/>
              <a:t>海康威视</a:t>
            </a:r>
            <a:r>
              <a:rPr lang="en-US" altLang="zh-CN"/>
              <a:t>-</a:t>
            </a:r>
            <a:r>
              <a:rPr lang="zh-CN" altLang="en-US"/>
              <a:t>致力于人人轻松享有安全的品质生活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258888" y="5373688"/>
            <a:ext cx="6192837" cy="6477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500">
                <a:solidFill>
                  <a:srgbClr val="FF0000"/>
                </a:solidFill>
                <a:ea typeface="黑体" panose="02010609060101010101" pitchFamily="2" charset="-122"/>
              </a:defRPr>
            </a:lvl1pPr>
          </a:lstStyle>
          <a:p>
            <a:r>
              <a:rPr lang="zh-CN" altLang="en-US"/>
              <a:t>提示：此为企业简介素材稿，实际使用时，务必根据受众进行修改！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87ADB12-80F7-A01C-7F44-7855CE7E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CED75-4792-49C9-96DE-52CEC5167801}" type="datetime1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8E686C-B0CD-7532-F19D-FA0F51A40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FDAC54-4A7D-4095-2F47-521798DAA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638" y="1125538"/>
            <a:ext cx="8418512" cy="503976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FE0A0F-4D04-41F2-5C75-2BD399A4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13C77-157B-4068-91CA-B8A816C91099}" type="datetime1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8958FF-8B96-DB04-35F1-04AF939F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78DB94-BC2B-40EC-C4DB-9A205EA66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E29EAC0-EE8D-413D-A21B-0D2A72478F42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1638" y="1125538"/>
            <a:ext cx="4132262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25538"/>
            <a:ext cx="4133850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F1968E-894F-4211-B0BF-63EE4DA3F7B9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764506"/>
            <a:ext cx="4040188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2474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764506"/>
            <a:ext cx="4041775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9A7CA4D-2171-408E-A939-F36EE516B6AF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9DD1D4-B7E5-4098-8F5C-EB7642E9FDEF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25AE5E8-78B1-4C3B-BC84-D093E810BF5A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0483DA-DF80-4B08-ACB7-D0B629795B5C}" type="slidenum"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B201915-0E22-43AE-BDDF-AED20E46C431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960EE9-FF42-4359-8489-CF7EF7090110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5125" y="333375"/>
            <a:ext cx="2105025" cy="6119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333375"/>
            <a:ext cx="6167437" cy="61198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BC52341-E375-4B05-82D0-BA6978ED3076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9" descr="内页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1638" y="1125538"/>
            <a:ext cx="8418512" cy="5327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9271A2-93DF-7A6F-2D2B-5F92F6267D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AECCDF-A69F-4AEA-A1AD-E760662E1A1D}" type="datetime1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8F8061-CB16-1679-5F72-560D272EB7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555A88-A7DE-EDB4-CB1B-79506CBAD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21AC1-4C4D-435F-BACF-B518BC126F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p"/>
        <a:defRPr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3"/>
          <p:cNvSpPr>
            <a:spLocks noGrp="1"/>
          </p:cNvSpPr>
          <p:nvPr>
            <p:ph type="ctrTitle"/>
          </p:nvPr>
        </p:nvSpPr>
        <p:spPr>
          <a:xfrm>
            <a:off x="792460" y="4509046"/>
            <a:ext cx="7415213" cy="792162"/>
          </a:xfrm>
        </p:spPr>
        <p:txBody>
          <a:bodyPr/>
          <a:lstStyle/>
          <a:p>
            <a:pPr>
              <a:defRPr/>
            </a:pPr>
            <a:r>
              <a:rPr lang="zh-CN" altLang="en-US" sz="2800" dirty="0">
                <a:latin typeface="+mn-ea"/>
                <a:ea typeface="+mn-ea"/>
              </a:rPr>
              <a:t>转正答辩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099" name="副标题 4"/>
          <p:cNvSpPr>
            <a:spLocks noGrp="1"/>
          </p:cNvSpPr>
          <p:nvPr>
            <p:ph type="subTitle" idx="1"/>
          </p:nvPr>
        </p:nvSpPr>
        <p:spPr>
          <a:xfrm>
            <a:off x="1403648" y="5445596"/>
            <a:ext cx="6192837" cy="647700"/>
          </a:xfrm>
        </p:spPr>
        <p:txBody>
          <a:bodyPr/>
          <a:lstStyle/>
          <a:p>
            <a:pPr>
              <a:defRPr/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霍子昂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2026/09/23</a:t>
            </a:r>
            <a:endParaRPr lang="en-US" altLang="zh-CN" sz="18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576205554"/>
              </p:ext>
            </p:extLst>
          </p:nvPr>
        </p:nvGraphicFramePr>
        <p:xfrm>
          <a:off x="1763688" y="1556792"/>
          <a:ext cx="6096000" cy="4097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64AD72-0CB9-F65C-826C-7B203E1FF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自我介绍</a:t>
            </a:r>
          </a:p>
        </p:txBody>
      </p:sp>
      <p:sp>
        <p:nvSpPr>
          <p:cNvPr id="4" name="矩形 3"/>
          <p:cNvSpPr/>
          <p:nvPr/>
        </p:nvSpPr>
        <p:spPr>
          <a:xfrm>
            <a:off x="618823" y="1554212"/>
            <a:ext cx="8771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lang="zh-CN" altLang="en-US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基本信息</a:t>
            </a:r>
          </a:p>
        </p:txBody>
      </p:sp>
      <p:sp>
        <p:nvSpPr>
          <p:cNvPr id="6" name="矩形 5"/>
          <p:cNvSpPr/>
          <p:nvPr/>
        </p:nvSpPr>
        <p:spPr>
          <a:xfrm>
            <a:off x="618823" y="2996278"/>
            <a:ext cx="207199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实习工作职责</a:t>
            </a:r>
            <a:r>
              <a:rPr lang="en-US" altLang="zh-CN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核心贡献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531760"/>
              </p:ext>
            </p:extLst>
          </p:nvPr>
        </p:nvGraphicFramePr>
        <p:xfrm>
          <a:off x="730081" y="1910372"/>
          <a:ext cx="7683839" cy="877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8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2121">
                  <a:extLst>
                    <a:ext uri="{9D8B030D-6E8A-4147-A177-3AD203B41FA5}">
                      <a16:colId xmlns:a16="http://schemas.microsoft.com/office/drawing/2014/main" val="3920443464"/>
                    </a:ext>
                  </a:extLst>
                </a:gridCol>
                <a:gridCol w="1425556">
                  <a:extLst>
                    <a:ext uri="{9D8B030D-6E8A-4147-A177-3AD203B41FA5}">
                      <a16:colId xmlns:a16="http://schemas.microsoft.com/office/drawing/2014/main" val="984309687"/>
                    </a:ext>
                  </a:extLst>
                </a:gridCol>
                <a:gridCol w="2317919">
                  <a:extLst>
                    <a:ext uri="{9D8B030D-6E8A-4147-A177-3AD203B41FA5}">
                      <a16:colId xmlns:a16="http://schemas.microsoft.com/office/drawing/2014/main" val="2918942851"/>
                    </a:ext>
                  </a:extLst>
                </a:gridCol>
              </a:tblGrid>
              <a:tr h="4386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实习部门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智能计算平台部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并行计算平台组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并行计算平台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实习岗位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AI</a:t>
                      </a:r>
                      <a:r>
                        <a:rPr lang="zh-CN" altLang="en-US" sz="1100" dirty="0"/>
                        <a:t>加速算子开发工程师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6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实习时间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至今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毕业院校、学历、专业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西安电子科技大学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硕士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仪器科学与技术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884032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79649" y="3290818"/>
            <a:ext cx="7996807" cy="23878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kumimoji="1"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责任概述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、负责寒武纪算子开发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的优化与重构；</a:t>
            </a:r>
            <a:endParaRPr kumimoji="1"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、负责动态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算子开发能力建设；</a:t>
            </a:r>
            <a:endParaRPr kumimoji="1"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、总结跨平台算子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开发方法并验证。</a:t>
            </a:r>
            <a:endParaRPr kumimoji="1" lang="en-US" altLang="zh-CN" sz="1200" dirty="0">
              <a:solidFill>
                <a:prstClr val="white">
                  <a:lumMod val="50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kumimoji="1"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核心贡献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、完成算子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架构优化：通过平台知识解耦、上下文精简、按需优化、分层验证及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Artifact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复用；</a:t>
            </a:r>
            <a:endParaRPr kumimoji="1"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、构建动态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算子开发方案：形成动态支持、自动化参数搜索、多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Family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适配的完整演进路线；</a:t>
            </a:r>
            <a:endParaRPr kumimoji="1"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、总结跨平台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开发方法，并在多个平台上完成算子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开发与验证。</a:t>
            </a:r>
            <a:endParaRPr kumimoji="1"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FDBAA2B-BB9B-4FB0-E73A-9C64CB7D3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8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>
            <a:extLst>
              <a:ext uri="{FF2B5EF4-FFF2-40B4-BE49-F238E27FC236}">
                <a16:creationId xmlns:a16="http://schemas.microsoft.com/office/drawing/2014/main" id="{3A2E0B23-0ACD-7EF5-594D-956873623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算子优化</a:t>
            </a:r>
            <a:endParaRPr sz="21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5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86" name="object_105"/>
          <p:cNvSpPr>
            <a:spLocks noGrp="1"/>
          </p:cNvSpPr>
          <p:nvPr/>
        </p:nvSpPr>
        <p:spPr>
          <a:xfrm>
            <a:off x="559926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87" name="text_107_需求输入"/>
          <p:cNvSpPr>
            <a:spLocks noGrp="1"/>
          </p:cNvSpPr>
          <p:nvPr/>
        </p:nvSpPr>
        <p:spPr>
          <a:xfrm>
            <a:off x="609932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需求输入</a:t>
            </a:r>
            <a:endParaRPr sz="1238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object_110"/>
          <p:cNvSpPr>
            <a:spLocks noGrp="1"/>
          </p:cNvSpPr>
          <p:nvPr/>
        </p:nvSpPr>
        <p:spPr>
          <a:xfrm>
            <a:off x="1938670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91" name="text_112_Main"/>
          <p:cNvSpPr>
            <a:spLocks noGrp="1"/>
          </p:cNvSpPr>
          <p:nvPr/>
        </p:nvSpPr>
        <p:spPr>
          <a:xfrm>
            <a:off x="1988676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94" name="object_115"/>
          <p:cNvSpPr>
            <a:spLocks noGrp="1"/>
          </p:cNvSpPr>
          <p:nvPr/>
        </p:nvSpPr>
        <p:spPr>
          <a:xfrm>
            <a:off x="3317413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95" name="text_117_Code-Gen"/>
          <p:cNvSpPr>
            <a:spLocks noGrp="1"/>
          </p:cNvSpPr>
          <p:nvPr/>
        </p:nvSpPr>
        <p:spPr>
          <a:xfrm>
            <a:off x="3367420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</a:t>
            </a:r>
          </a:p>
        </p:txBody>
      </p:sp>
      <p:sp>
        <p:nvSpPr>
          <p:cNvPr id="98" name="object_120"/>
          <p:cNvSpPr>
            <a:spLocks noGrp="1"/>
          </p:cNvSpPr>
          <p:nvPr/>
        </p:nvSpPr>
        <p:spPr>
          <a:xfrm>
            <a:off x="4696157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99" name="text_122_Code-Review"/>
          <p:cNvSpPr>
            <a:spLocks noGrp="1"/>
          </p:cNvSpPr>
          <p:nvPr/>
        </p:nvSpPr>
        <p:spPr>
          <a:xfrm>
            <a:off x="4746164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Code-Review</a:t>
            </a:r>
          </a:p>
        </p:txBody>
      </p:sp>
      <p:sp>
        <p:nvSpPr>
          <p:cNvPr id="102" name="object_125"/>
          <p:cNvSpPr>
            <a:spLocks noGrp="1"/>
          </p:cNvSpPr>
          <p:nvPr/>
        </p:nvSpPr>
        <p:spPr>
          <a:xfrm>
            <a:off x="6074901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03" name="text_127_Optimize"/>
          <p:cNvSpPr>
            <a:spLocks noGrp="1"/>
          </p:cNvSpPr>
          <p:nvPr/>
        </p:nvSpPr>
        <p:spPr>
          <a:xfrm>
            <a:off x="6124907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</a:p>
        </p:txBody>
      </p:sp>
      <p:sp>
        <p:nvSpPr>
          <p:cNvPr id="106" name="object_130"/>
          <p:cNvSpPr>
            <a:spLocks noGrp="1"/>
          </p:cNvSpPr>
          <p:nvPr/>
        </p:nvSpPr>
        <p:spPr>
          <a:xfrm>
            <a:off x="7453645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07" name="text_132_Kernel 交付"/>
          <p:cNvSpPr>
            <a:spLocks noGrp="1"/>
          </p:cNvSpPr>
          <p:nvPr/>
        </p:nvSpPr>
        <p:spPr>
          <a:xfrm>
            <a:off x="7503651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sz="1238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交付</a:t>
            </a:r>
            <a:endParaRPr sz="1238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_137_实际使用中的核心问题"/>
          <p:cNvSpPr>
            <a:spLocks noGrp="1"/>
          </p:cNvSpPr>
          <p:nvPr/>
        </p:nvSpPr>
        <p:spPr>
          <a:xfrm>
            <a:off x="616331" y="2689244"/>
            <a:ext cx="34432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使用中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遇到的</a:t>
            </a:r>
            <a:r>
              <a:rPr sz="21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endParaRPr sz="21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connector_138"/>
          <p:cNvSpPr>
            <a:spLocks noGrp="1"/>
          </p:cNvSpPr>
          <p:nvPr/>
        </p:nvSpPr>
        <p:spPr>
          <a:xfrm>
            <a:off x="602043" y="302500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0" name="text_171_上下文重复"/>
          <p:cNvSpPr>
            <a:spLocks noGrp="1"/>
          </p:cNvSpPr>
          <p:nvPr/>
        </p:nvSpPr>
        <p:spPr>
          <a:xfrm>
            <a:off x="1570021" y="4289148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</a:t>
            </a: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算子时间长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ext_176_调度过多"/>
          <p:cNvSpPr>
            <a:spLocks noGrp="1"/>
          </p:cNvSpPr>
          <p:nvPr/>
        </p:nvSpPr>
        <p:spPr>
          <a:xfrm>
            <a:off x="1570021" y="4782067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oken</a:t>
            </a: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消耗高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_181_优化不稳"/>
          <p:cNvSpPr>
            <a:spLocks noGrp="1"/>
          </p:cNvSpPr>
          <p:nvPr/>
        </p:nvSpPr>
        <p:spPr>
          <a:xfrm>
            <a:off x="1570021" y="5274985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</a:t>
            </a: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支持静态</a:t>
            </a:r>
            <a:r>
              <a:rPr lang="en-US" altLang="zh-CN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ext_186_验证成本高"/>
          <p:cNvSpPr>
            <a:spLocks noGrp="1"/>
          </p:cNvSpPr>
          <p:nvPr/>
        </p:nvSpPr>
        <p:spPr>
          <a:xfrm>
            <a:off x="1570021" y="5767904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修改后</a:t>
            </a:r>
            <a:r>
              <a:rPr sz="2000" b="1" dirty="0" err="1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验证成本高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object_125"/>
          <p:cNvSpPr>
            <a:spLocks noGrp="1"/>
          </p:cNvSpPr>
          <p:nvPr/>
        </p:nvSpPr>
        <p:spPr>
          <a:xfrm>
            <a:off x="1016902" y="3426814"/>
            <a:ext cx="6085433" cy="4000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22" name="text_127_Optimize"/>
          <p:cNvSpPr>
            <a:spLocks noGrp="1"/>
          </p:cNvSpPr>
          <p:nvPr/>
        </p:nvSpPr>
        <p:spPr>
          <a:xfrm>
            <a:off x="3496982" y="3476821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38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例子：输入 </a:t>
            </a:r>
            <a:r>
              <a:rPr lang="en-US" altLang="zh-CN" sz="1238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4096*8192</a:t>
            </a:r>
            <a:r>
              <a:rPr lang="zh-CN" altLang="en-US" sz="1238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238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-US" sz="1238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算子，开发时间</a:t>
            </a:r>
            <a:r>
              <a:rPr lang="zh-CN" altLang="en-US" sz="1238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三小时</a:t>
            </a:r>
            <a:r>
              <a:rPr lang="zh-CN" altLang="en-US" sz="1238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，消耗</a:t>
            </a:r>
            <a:r>
              <a:rPr lang="en-US" altLang="zh-CN" sz="1238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zh-CN" altLang="en-US" sz="1238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</a:t>
            </a:r>
            <a:r>
              <a:rPr lang="en-US" altLang="zh-CN" sz="1238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1238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，加速比</a:t>
            </a:r>
            <a:r>
              <a:rPr lang="en-US" altLang="zh-CN" sz="1238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0.87</a:t>
            </a:r>
            <a:endParaRPr sz="1238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1178385" y="4321389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1178384" y="4841278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1178385" y="5332787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1178385" y="5805162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0" name="直接箭头连接符 129"/>
          <p:cNvCxnSpPr>
            <a:stCxn id="86" idx="3"/>
            <a:endCxn id="90" idx="1"/>
          </p:cNvCxnSpPr>
          <p:nvPr/>
        </p:nvCxnSpPr>
        <p:spPr>
          <a:xfrm>
            <a:off x="1774364" y="2083755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>
            <a:off x="3163436" y="2088774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/>
          <p:nvPr/>
        </p:nvCxnSpPr>
        <p:spPr>
          <a:xfrm>
            <a:off x="4531851" y="2083755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/>
          <p:cNvCxnSpPr/>
          <p:nvPr/>
        </p:nvCxnSpPr>
        <p:spPr>
          <a:xfrm>
            <a:off x="5910595" y="2088774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>
            <a:off x="7289339" y="2088774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59756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>
            <a:extLst>
              <a:ext uri="{FF2B5EF4-FFF2-40B4-BE49-F238E27FC236}">
                <a16:creationId xmlns:a16="http://schemas.microsoft.com/office/drawing/2014/main" id="{3A2E0B23-0ACD-7EF5-594D-956873623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原始</a:t>
            </a:r>
            <a:r>
              <a:rPr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Skill </a:t>
            </a:r>
            <a:r>
              <a:rPr sz="2100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已具备完整开发流程</a:t>
            </a:r>
            <a:endParaRPr sz="21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5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86" name="object_105"/>
          <p:cNvSpPr>
            <a:spLocks noGrp="1"/>
          </p:cNvSpPr>
          <p:nvPr/>
        </p:nvSpPr>
        <p:spPr>
          <a:xfrm>
            <a:off x="559926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87" name="text_107_需求输入"/>
          <p:cNvSpPr>
            <a:spLocks noGrp="1"/>
          </p:cNvSpPr>
          <p:nvPr/>
        </p:nvSpPr>
        <p:spPr>
          <a:xfrm>
            <a:off x="609932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需求输入</a:t>
            </a:r>
            <a:endParaRPr sz="1238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object_110"/>
          <p:cNvSpPr>
            <a:spLocks noGrp="1"/>
          </p:cNvSpPr>
          <p:nvPr/>
        </p:nvSpPr>
        <p:spPr>
          <a:xfrm>
            <a:off x="1938670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91" name="text_112_Main"/>
          <p:cNvSpPr>
            <a:spLocks noGrp="1"/>
          </p:cNvSpPr>
          <p:nvPr/>
        </p:nvSpPr>
        <p:spPr>
          <a:xfrm>
            <a:off x="1988676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94" name="object_115"/>
          <p:cNvSpPr>
            <a:spLocks noGrp="1"/>
          </p:cNvSpPr>
          <p:nvPr/>
        </p:nvSpPr>
        <p:spPr>
          <a:xfrm>
            <a:off x="3317413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95" name="text_117_Code-Gen"/>
          <p:cNvSpPr>
            <a:spLocks noGrp="1"/>
          </p:cNvSpPr>
          <p:nvPr/>
        </p:nvSpPr>
        <p:spPr>
          <a:xfrm>
            <a:off x="3367420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</a:t>
            </a:r>
          </a:p>
        </p:txBody>
      </p:sp>
      <p:sp>
        <p:nvSpPr>
          <p:cNvPr id="98" name="object_120"/>
          <p:cNvSpPr>
            <a:spLocks noGrp="1"/>
          </p:cNvSpPr>
          <p:nvPr/>
        </p:nvSpPr>
        <p:spPr>
          <a:xfrm>
            <a:off x="4696157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99" name="text_122_Code-Review"/>
          <p:cNvSpPr>
            <a:spLocks noGrp="1"/>
          </p:cNvSpPr>
          <p:nvPr/>
        </p:nvSpPr>
        <p:spPr>
          <a:xfrm>
            <a:off x="4746164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Code-Review</a:t>
            </a:r>
          </a:p>
        </p:txBody>
      </p:sp>
      <p:sp>
        <p:nvSpPr>
          <p:cNvPr id="102" name="object_125"/>
          <p:cNvSpPr>
            <a:spLocks noGrp="1"/>
          </p:cNvSpPr>
          <p:nvPr/>
        </p:nvSpPr>
        <p:spPr>
          <a:xfrm>
            <a:off x="6074901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03" name="text_127_Optimize"/>
          <p:cNvSpPr>
            <a:spLocks noGrp="1"/>
          </p:cNvSpPr>
          <p:nvPr/>
        </p:nvSpPr>
        <p:spPr>
          <a:xfrm>
            <a:off x="6124907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</a:p>
        </p:txBody>
      </p:sp>
      <p:sp>
        <p:nvSpPr>
          <p:cNvPr id="106" name="object_130"/>
          <p:cNvSpPr>
            <a:spLocks noGrp="1"/>
          </p:cNvSpPr>
          <p:nvPr/>
        </p:nvSpPr>
        <p:spPr>
          <a:xfrm>
            <a:off x="7453645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07" name="text_132_Kernel 交付"/>
          <p:cNvSpPr>
            <a:spLocks noGrp="1"/>
          </p:cNvSpPr>
          <p:nvPr/>
        </p:nvSpPr>
        <p:spPr>
          <a:xfrm>
            <a:off x="7503651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sz="1238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交付</a:t>
            </a:r>
            <a:endParaRPr sz="1238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_137_实际使用中的核心问题"/>
          <p:cNvSpPr>
            <a:spLocks noGrp="1"/>
          </p:cNvSpPr>
          <p:nvPr/>
        </p:nvSpPr>
        <p:spPr>
          <a:xfrm>
            <a:off x="616331" y="2689244"/>
            <a:ext cx="34432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使用中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遇到的</a:t>
            </a:r>
            <a:r>
              <a:rPr sz="21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endParaRPr sz="21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connector_138"/>
          <p:cNvSpPr>
            <a:spLocks noGrp="1"/>
          </p:cNvSpPr>
          <p:nvPr/>
        </p:nvSpPr>
        <p:spPr>
          <a:xfrm>
            <a:off x="602043" y="302500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0" name="text_171_上下文重复"/>
          <p:cNvSpPr>
            <a:spLocks noGrp="1"/>
          </p:cNvSpPr>
          <p:nvPr/>
        </p:nvSpPr>
        <p:spPr>
          <a:xfrm>
            <a:off x="1570021" y="4289148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</a:t>
            </a: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算子时间长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ext_176_调度过多"/>
          <p:cNvSpPr>
            <a:spLocks noGrp="1"/>
          </p:cNvSpPr>
          <p:nvPr/>
        </p:nvSpPr>
        <p:spPr>
          <a:xfrm>
            <a:off x="1570021" y="4782067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oken</a:t>
            </a: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消耗高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_181_优化不稳"/>
          <p:cNvSpPr>
            <a:spLocks noGrp="1"/>
          </p:cNvSpPr>
          <p:nvPr/>
        </p:nvSpPr>
        <p:spPr>
          <a:xfrm>
            <a:off x="1570021" y="5274985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</a:t>
            </a: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支持静态</a:t>
            </a:r>
            <a:r>
              <a:rPr lang="en-US" altLang="zh-CN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ext_186_验证成本高"/>
          <p:cNvSpPr>
            <a:spLocks noGrp="1"/>
          </p:cNvSpPr>
          <p:nvPr/>
        </p:nvSpPr>
        <p:spPr>
          <a:xfrm>
            <a:off x="1570021" y="5767904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修改后</a:t>
            </a:r>
            <a:r>
              <a:rPr sz="2000" b="1" dirty="0" err="1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验证成本高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object_125"/>
          <p:cNvSpPr>
            <a:spLocks noGrp="1"/>
          </p:cNvSpPr>
          <p:nvPr/>
        </p:nvSpPr>
        <p:spPr>
          <a:xfrm>
            <a:off x="1016902" y="3426814"/>
            <a:ext cx="6085433" cy="4000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22" name="text_127_Optimize"/>
          <p:cNvSpPr>
            <a:spLocks noGrp="1"/>
          </p:cNvSpPr>
          <p:nvPr/>
        </p:nvSpPr>
        <p:spPr>
          <a:xfrm>
            <a:off x="3496982" y="3476821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38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例子：输入 </a:t>
            </a:r>
            <a:r>
              <a:rPr lang="en-US" altLang="zh-CN" sz="1238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4096*8192</a:t>
            </a:r>
            <a:r>
              <a:rPr lang="zh-CN" altLang="en-US" sz="1238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238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-US" sz="1238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算子，开发时间</a:t>
            </a:r>
            <a:r>
              <a:rPr lang="zh-CN" altLang="en-US" sz="1238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三小时</a:t>
            </a:r>
            <a:r>
              <a:rPr lang="zh-CN" altLang="en-US" sz="1238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，消耗</a:t>
            </a:r>
            <a:r>
              <a:rPr lang="en-US" altLang="zh-CN" sz="1238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zh-CN" altLang="en-US" sz="1238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</a:t>
            </a:r>
            <a:r>
              <a:rPr lang="en-US" altLang="zh-CN" sz="1238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1238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，加速比</a:t>
            </a:r>
            <a:r>
              <a:rPr lang="en-US" altLang="zh-CN" sz="1238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0.87</a:t>
            </a:r>
            <a:endParaRPr sz="1238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1178385" y="4321389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1178384" y="4841278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1178385" y="5332787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1178385" y="5805162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0" name="直接箭头连接符 129"/>
          <p:cNvCxnSpPr>
            <a:stCxn id="86" idx="3"/>
            <a:endCxn id="90" idx="1"/>
          </p:cNvCxnSpPr>
          <p:nvPr/>
        </p:nvCxnSpPr>
        <p:spPr>
          <a:xfrm>
            <a:off x="1774364" y="2083755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>
            <a:off x="3163436" y="2088774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/>
          <p:nvPr/>
        </p:nvCxnSpPr>
        <p:spPr>
          <a:xfrm>
            <a:off x="4531851" y="2083755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/>
          <p:cNvCxnSpPr/>
          <p:nvPr/>
        </p:nvCxnSpPr>
        <p:spPr>
          <a:xfrm>
            <a:off x="5910595" y="2088774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>
            <a:off x="7289339" y="2088774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81664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53" name="text_171_上下文重复"/>
          <p:cNvSpPr>
            <a:spLocks noGrp="1"/>
          </p:cNvSpPr>
          <p:nvPr/>
        </p:nvSpPr>
        <p:spPr>
          <a:xfrm>
            <a:off x="1064395" y="1659968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原始结构：</a:t>
            </a: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算子开发时间长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&amp;Token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消耗高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_268_hardware / profiler"/>
          <p:cNvSpPr>
            <a:spLocks noGrp="1"/>
          </p:cNvSpPr>
          <p:nvPr/>
        </p:nvSpPr>
        <p:spPr>
          <a:xfrm>
            <a:off x="976712" y="3329449"/>
            <a:ext cx="2227445" cy="69350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/ </a:t>
            </a:r>
            <a:r>
              <a:rPr lang="en-US" altLang="zh-CN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endParaRPr lang="en-US" sz="15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profiler</a:t>
            </a:r>
          </a:p>
        </p:txBody>
      </p:sp>
      <p:sp>
        <p:nvSpPr>
          <p:cNvPr id="140" name="text_258_Main"/>
          <p:cNvSpPr>
            <a:spLocks noGrp="1"/>
          </p:cNvSpPr>
          <p:nvPr/>
        </p:nvSpPr>
        <p:spPr>
          <a:xfrm>
            <a:off x="3449077" y="2115332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142" name="text_258_Main"/>
          <p:cNvSpPr>
            <a:spLocks noGrp="1"/>
          </p:cNvSpPr>
          <p:nvPr/>
        </p:nvSpPr>
        <p:spPr>
          <a:xfrm>
            <a:off x="976712" y="2725299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</a:t>
            </a:r>
            <a:endParaRPr lang="en-US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text_258_Main"/>
          <p:cNvSpPr>
            <a:spLocks noGrp="1"/>
          </p:cNvSpPr>
          <p:nvPr/>
        </p:nvSpPr>
        <p:spPr>
          <a:xfrm>
            <a:off x="3449077" y="2725299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text_258_Main"/>
          <p:cNvSpPr>
            <a:spLocks noGrp="1"/>
          </p:cNvSpPr>
          <p:nvPr/>
        </p:nvSpPr>
        <p:spPr>
          <a:xfrm>
            <a:off x="5921442" y="2725299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_268_hardware / profiler"/>
          <p:cNvSpPr>
            <a:spLocks noGrp="1"/>
          </p:cNvSpPr>
          <p:nvPr/>
        </p:nvSpPr>
        <p:spPr>
          <a:xfrm>
            <a:off x="3451795" y="3313594"/>
            <a:ext cx="2224501" cy="69350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/ </a:t>
            </a:r>
            <a:r>
              <a:rPr lang="en-US" altLang="zh-CN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endParaRPr lang="en-US" sz="15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profiler</a:t>
            </a:r>
          </a:p>
        </p:txBody>
      </p:sp>
      <p:sp>
        <p:nvSpPr>
          <p:cNvPr id="146" name="text_268_hardware / profiler"/>
          <p:cNvSpPr>
            <a:spLocks noGrp="1"/>
          </p:cNvSpPr>
          <p:nvPr/>
        </p:nvSpPr>
        <p:spPr>
          <a:xfrm>
            <a:off x="5921442" y="3340915"/>
            <a:ext cx="2227445" cy="69350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/ </a:t>
            </a:r>
            <a:r>
              <a:rPr lang="en-US" altLang="zh-CN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endParaRPr lang="en-US" sz="15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profiler</a:t>
            </a:r>
          </a:p>
        </p:txBody>
      </p:sp>
      <p:sp>
        <p:nvSpPr>
          <p:cNvPr id="150" name="object_256"/>
          <p:cNvSpPr>
            <a:spLocks noGrp="1"/>
          </p:cNvSpPr>
          <p:nvPr/>
        </p:nvSpPr>
        <p:spPr>
          <a:xfrm>
            <a:off x="1423220" y="3383298"/>
            <a:ext cx="833272" cy="295302"/>
          </a:xfrm>
          <a:prstGeom prst="rect">
            <a:avLst/>
          </a:prstGeom>
          <a:noFill/>
          <a:ln w="17145">
            <a:solidFill>
              <a:srgbClr val="D7000F"/>
            </a:solidFill>
          </a:ln>
        </p:spPr>
      </p:sp>
      <p:sp>
        <p:nvSpPr>
          <p:cNvPr id="152" name="object_256"/>
          <p:cNvSpPr>
            <a:spLocks noGrp="1"/>
          </p:cNvSpPr>
          <p:nvPr/>
        </p:nvSpPr>
        <p:spPr>
          <a:xfrm>
            <a:off x="3878252" y="3415223"/>
            <a:ext cx="833272" cy="295302"/>
          </a:xfrm>
          <a:prstGeom prst="rect">
            <a:avLst/>
          </a:prstGeom>
          <a:noFill/>
          <a:ln w="17145">
            <a:solidFill>
              <a:srgbClr val="D7000F"/>
            </a:solidFill>
          </a:ln>
        </p:spPr>
      </p:sp>
      <p:sp>
        <p:nvSpPr>
          <p:cNvPr id="153" name="object_256"/>
          <p:cNvSpPr>
            <a:spLocks noGrp="1"/>
          </p:cNvSpPr>
          <p:nvPr/>
        </p:nvSpPr>
        <p:spPr>
          <a:xfrm>
            <a:off x="6314870" y="3431047"/>
            <a:ext cx="833272" cy="295302"/>
          </a:xfrm>
          <a:prstGeom prst="rect">
            <a:avLst/>
          </a:prstGeom>
          <a:noFill/>
          <a:ln w="17145">
            <a:solidFill>
              <a:srgbClr val="D7000F"/>
            </a:solidFill>
          </a:ln>
        </p:spPr>
      </p:sp>
      <p:cxnSp>
        <p:nvCxnSpPr>
          <p:cNvPr id="12" name="直接箭头连接符 11"/>
          <p:cNvCxnSpPr>
            <a:endCxn id="154" idx="0"/>
          </p:cNvCxnSpPr>
          <p:nvPr/>
        </p:nvCxnSpPr>
        <p:spPr>
          <a:xfrm>
            <a:off x="1748015" y="3687669"/>
            <a:ext cx="711488" cy="904365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">
            <a:extLst>
              <a:ext uri="{FF2B5EF4-FFF2-40B4-BE49-F238E27FC236}">
                <a16:creationId xmlns:a16="http://schemas.microsoft.com/office/drawing/2014/main" id="{8960AFFF-E899-C418-B077-71AE72F5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3" y="4592034"/>
            <a:ext cx="3263839" cy="31547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重复资料存储，导致子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臃肿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5" name="直接箭头连接符 154"/>
          <p:cNvCxnSpPr>
            <a:endCxn id="154" idx="0"/>
          </p:cNvCxnSpPr>
          <p:nvPr/>
        </p:nvCxnSpPr>
        <p:spPr>
          <a:xfrm flipH="1">
            <a:off x="2459503" y="3554921"/>
            <a:ext cx="1404948" cy="1037113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endCxn id="154" idx="0"/>
          </p:cNvCxnSpPr>
          <p:nvPr/>
        </p:nvCxnSpPr>
        <p:spPr>
          <a:xfrm flipH="1">
            <a:off x="2459503" y="3554921"/>
            <a:ext cx="3851880" cy="1037113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文本框 95">
            <a:extLst>
              <a:ext uri="{FF2B5EF4-FFF2-40B4-BE49-F238E27FC236}">
                <a16:creationId xmlns:a16="http://schemas.microsoft.com/office/drawing/2014/main" id="{B7F99FC9-A169-FE75-8B63-574A44DE41F6}"/>
              </a:ext>
            </a:extLst>
          </p:cNvPr>
          <p:cNvSpPr txBox="1"/>
          <p:nvPr/>
        </p:nvSpPr>
        <p:spPr>
          <a:xfrm>
            <a:off x="279821" y="5855659"/>
            <a:ext cx="7452314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500" b="1" dirty="0" smtClean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优化</a:t>
            </a:r>
            <a:r>
              <a:rPr lang="zh-CN" altLang="en-US" sz="1500" b="1" dirty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①：</a:t>
            </a:r>
            <a:r>
              <a:rPr lang="zh-CN" altLang="en-US" sz="1500" b="1" dirty="0" smtClean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将流程与资料解耦，各个子代理按需加载共享参考资料</a:t>
            </a:r>
            <a:endParaRPr lang="zh-CN" altLang="en-US" sz="1500" b="1" dirty="0">
              <a:solidFill>
                <a:srgbClr val="004B9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8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5624439" y="4412731"/>
            <a:ext cx="3203902" cy="117136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text_329_Case 2：平台规则合并"/>
          <p:cNvSpPr>
            <a:spLocks noGrp="1"/>
          </p:cNvSpPr>
          <p:nvPr/>
        </p:nvSpPr>
        <p:spPr>
          <a:xfrm>
            <a:off x="5972995" y="4461725"/>
            <a:ext cx="235029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35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优化案例</a:t>
            </a:r>
            <a:r>
              <a:rPr lang="en-US" altLang="zh-CN" sz="13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35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：平台规则合并</a:t>
            </a:r>
            <a:endParaRPr sz="135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text_339_原 20+ 文件：Grid 上限、NRAM、CU"/>
          <p:cNvSpPr>
            <a:spLocks noGrp="1"/>
          </p:cNvSpPr>
          <p:nvPr/>
        </p:nvSpPr>
        <p:spPr>
          <a:xfrm>
            <a:off x="5764478" y="4747475"/>
            <a:ext cx="2767328" cy="20686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 20+ </a:t>
            </a:r>
            <a:r>
              <a:rPr sz="1013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文件：Grid</a:t>
            </a:r>
            <a:r>
              <a:rPr sz="1013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13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上限、NRAM、CUDA→MLU</a:t>
            </a:r>
            <a:endParaRPr sz="1013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text_341_num_warps、Persistent Ker"/>
          <p:cNvSpPr>
            <a:spLocks noGrp="1"/>
          </p:cNvSpPr>
          <p:nvPr/>
        </p:nvSpPr>
        <p:spPr>
          <a:xfrm>
            <a:off x="5899876" y="4926069"/>
            <a:ext cx="2496533" cy="24186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num_warps、Persistent</a:t>
            </a:r>
            <a:r>
              <a:rPr sz="1013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Kernel </a:t>
            </a:r>
            <a:r>
              <a:rPr sz="1013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等平台约束</a:t>
            </a:r>
            <a:endParaRPr sz="1013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connector_342"/>
          <p:cNvSpPr>
            <a:spLocks noGrp="1"/>
          </p:cNvSpPr>
          <p:nvPr/>
        </p:nvSpPr>
        <p:spPr>
          <a:xfrm>
            <a:off x="7140998" y="5147525"/>
            <a:ext cx="14288" cy="128588"/>
          </a:xfrm>
          <a:custGeom>
            <a:avLst/>
            <a:gdLst/>
            <a:ahLst/>
            <a:cxnLst/>
            <a:rect l="0" t="0" r="0" b="0"/>
            <a:pathLst>
              <a:path w="19050" h="171450">
                <a:moveTo>
                  <a:pt x="9525" y="9525"/>
                </a:moveTo>
                <a:lnTo>
                  <a:pt x="9525" y="1619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63" name="connector_343"/>
          <p:cNvSpPr>
            <a:spLocks noGrp="1"/>
          </p:cNvSpPr>
          <p:nvPr/>
        </p:nvSpPr>
        <p:spPr>
          <a:xfrm>
            <a:off x="7117024" y="5217941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65" name="text_337_share/mlu/references/pri"/>
          <p:cNvSpPr>
            <a:spLocks noGrp="1"/>
          </p:cNvSpPr>
          <p:nvPr/>
        </p:nvSpPr>
        <p:spPr>
          <a:xfrm>
            <a:off x="5966163" y="5325053"/>
            <a:ext cx="2563635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share/mlu/references/</a:t>
            </a:r>
            <a:r>
              <a:rPr lang="en-US" altLang="zh-CN" sz="14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sz="14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.md</a:t>
            </a:r>
            <a:endParaRPr sz="14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/>
          <p:cNvCxnSpPr>
            <a:stCxn id="140" idx="2"/>
            <a:endCxn id="143" idx="0"/>
          </p:cNvCxnSpPr>
          <p:nvPr/>
        </p:nvCxnSpPr>
        <p:spPr>
          <a:xfrm>
            <a:off x="4564966" y="2490332"/>
            <a:ext cx="0" cy="23496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140" idx="2"/>
            <a:endCxn id="142" idx="0"/>
          </p:cNvCxnSpPr>
          <p:nvPr/>
        </p:nvCxnSpPr>
        <p:spPr>
          <a:xfrm rot="5400000">
            <a:off x="3211301" y="1371633"/>
            <a:ext cx="234967" cy="2472365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肘形连接符 29"/>
          <p:cNvCxnSpPr>
            <a:stCxn id="140" idx="2"/>
            <a:endCxn id="144" idx="0"/>
          </p:cNvCxnSpPr>
          <p:nvPr/>
        </p:nvCxnSpPr>
        <p:spPr>
          <a:xfrm rot="16200000" flipH="1">
            <a:off x="5683665" y="1371632"/>
            <a:ext cx="234967" cy="2472365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607884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>
            <a:extLst>
              <a:ext uri="{FF2B5EF4-FFF2-40B4-BE49-F238E27FC236}">
                <a16:creationId xmlns:a16="http://schemas.microsoft.com/office/drawing/2014/main" id="{3A2E0B23-0ACD-7EF5-594D-956873623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3" name="text_171_上下文重复"/>
          <p:cNvSpPr>
            <a:spLocks noGrp="1"/>
          </p:cNvSpPr>
          <p:nvPr/>
        </p:nvSpPr>
        <p:spPr>
          <a:xfrm>
            <a:off x="602043" y="5922519"/>
            <a:ext cx="6633782" cy="44386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优化②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：合并子代理，尽量选择合适的子代理进行合并。需要读取相同的资料，本身</a:t>
            </a:r>
            <a:endParaRPr lang="en-US" altLang="zh-CN" b="1" dirty="0" smtClean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任务量较小</a:t>
            </a: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算子开发时间长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&amp;Token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消耗高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733729" y="5029934"/>
            <a:ext cx="1490408" cy="4363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733729" y="4094104"/>
            <a:ext cx="1490408" cy="85658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733729" y="2138400"/>
            <a:ext cx="1490408" cy="1877683"/>
          </a:xfrm>
          <a:prstGeom prst="roundRect">
            <a:avLst>
              <a:gd name="adj" fmla="val 8426"/>
            </a:avLst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_444"/>
          <p:cNvSpPr>
            <a:spLocks noGrp="1"/>
          </p:cNvSpPr>
          <p:nvPr/>
        </p:nvSpPr>
        <p:spPr>
          <a:xfrm>
            <a:off x="895399" y="2251577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8" name="text_446_1. 需求理解"/>
          <p:cNvSpPr>
            <a:spLocks noGrp="1"/>
          </p:cNvSpPr>
          <p:nvPr/>
        </p:nvSpPr>
        <p:spPr>
          <a:xfrm>
            <a:off x="945405" y="2301583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需求理解</a:t>
            </a:r>
          </a:p>
        </p:txBody>
      </p:sp>
      <p:sp>
        <p:nvSpPr>
          <p:cNvPr id="20" name="connector_449"/>
          <p:cNvSpPr>
            <a:spLocks noGrp="1"/>
          </p:cNvSpPr>
          <p:nvPr/>
        </p:nvSpPr>
        <p:spPr>
          <a:xfrm>
            <a:off x="1343532" y="2608765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1" name="connector_450"/>
          <p:cNvSpPr>
            <a:spLocks noGrp="1"/>
          </p:cNvSpPr>
          <p:nvPr/>
        </p:nvSpPr>
        <p:spPr>
          <a:xfrm>
            <a:off x="1319558" y="2643461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2" name="object_451"/>
          <p:cNvSpPr>
            <a:spLocks noGrp="1"/>
          </p:cNvSpPr>
          <p:nvPr/>
        </p:nvSpPr>
        <p:spPr>
          <a:xfrm>
            <a:off x="895399" y="2715921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23" name="text_453_2. 语义分析"/>
          <p:cNvSpPr>
            <a:spLocks noGrp="1"/>
          </p:cNvSpPr>
          <p:nvPr/>
        </p:nvSpPr>
        <p:spPr>
          <a:xfrm>
            <a:off x="945405" y="2765927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语义分析</a:t>
            </a:r>
          </a:p>
        </p:txBody>
      </p:sp>
      <p:sp>
        <p:nvSpPr>
          <p:cNvPr id="25" name="connector_456"/>
          <p:cNvSpPr>
            <a:spLocks noGrp="1"/>
          </p:cNvSpPr>
          <p:nvPr/>
        </p:nvSpPr>
        <p:spPr>
          <a:xfrm>
            <a:off x="1343532" y="3073108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6" name="connector_457"/>
          <p:cNvSpPr>
            <a:spLocks noGrp="1"/>
          </p:cNvSpPr>
          <p:nvPr/>
        </p:nvSpPr>
        <p:spPr>
          <a:xfrm>
            <a:off x="1319558" y="3107805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8" name="object_458"/>
          <p:cNvSpPr>
            <a:spLocks noGrp="1"/>
          </p:cNvSpPr>
          <p:nvPr/>
        </p:nvSpPr>
        <p:spPr>
          <a:xfrm>
            <a:off x="895399" y="3180264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29" name="text_460_3. Mapping 设计"/>
          <p:cNvSpPr>
            <a:spLocks noGrp="1"/>
          </p:cNvSpPr>
          <p:nvPr/>
        </p:nvSpPr>
        <p:spPr>
          <a:xfrm>
            <a:off x="945405" y="3230271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Mapping 设计</a:t>
            </a:r>
          </a:p>
        </p:txBody>
      </p:sp>
      <p:sp>
        <p:nvSpPr>
          <p:cNvPr id="31" name="connector_463"/>
          <p:cNvSpPr>
            <a:spLocks noGrp="1"/>
          </p:cNvSpPr>
          <p:nvPr/>
        </p:nvSpPr>
        <p:spPr>
          <a:xfrm>
            <a:off x="1343532" y="3537452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2" name="connector_464"/>
          <p:cNvSpPr>
            <a:spLocks noGrp="1"/>
          </p:cNvSpPr>
          <p:nvPr/>
        </p:nvSpPr>
        <p:spPr>
          <a:xfrm>
            <a:off x="1319558" y="3572149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3" name="object_465"/>
          <p:cNvSpPr>
            <a:spLocks noGrp="1"/>
          </p:cNvSpPr>
          <p:nvPr/>
        </p:nvSpPr>
        <p:spPr>
          <a:xfrm>
            <a:off x="895399" y="3644608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34" name="text_467_4. Kernel 设计"/>
          <p:cNvSpPr>
            <a:spLocks noGrp="1"/>
          </p:cNvSpPr>
          <p:nvPr/>
        </p:nvSpPr>
        <p:spPr>
          <a:xfrm>
            <a:off x="945405" y="3694614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Kernel 设计</a:t>
            </a:r>
          </a:p>
        </p:txBody>
      </p:sp>
      <p:sp>
        <p:nvSpPr>
          <p:cNvPr id="36" name="connector_470"/>
          <p:cNvSpPr>
            <a:spLocks noGrp="1"/>
          </p:cNvSpPr>
          <p:nvPr/>
        </p:nvSpPr>
        <p:spPr>
          <a:xfrm>
            <a:off x="1343532" y="4001796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7" name="connector_471"/>
          <p:cNvSpPr>
            <a:spLocks noGrp="1"/>
          </p:cNvSpPr>
          <p:nvPr/>
        </p:nvSpPr>
        <p:spPr>
          <a:xfrm>
            <a:off x="1319558" y="403649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8" name="object_472"/>
          <p:cNvSpPr>
            <a:spLocks noGrp="1"/>
          </p:cNvSpPr>
          <p:nvPr/>
        </p:nvSpPr>
        <p:spPr>
          <a:xfrm>
            <a:off x="895399" y="4138982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39" name="text_474_5. 代码生成"/>
          <p:cNvSpPr>
            <a:spLocks noGrp="1"/>
          </p:cNvSpPr>
          <p:nvPr/>
        </p:nvSpPr>
        <p:spPr>
          <a:xfrm>
            <a:off x="945405" y="4188988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代码生成</a:t>
            </a:r>
          </a:p>
        </p:txBody>
      </p:sp>
      <p:sp>
        <p:nvSpPr>
          <p:cNvPr id="43" name="connector_477"/>
          <p:cNvSpPr>
            <a:spLocks noGrp="1"/>
          </p:cNvSpPr>
          <p:nvPr/>
        </p:nvSpPr>
        <p:spPr>
          <a:xfrm>
            <a:off x="1343532" y="4479763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44" name="connector_478"/>
          <p:cNvSpPr>
            <a:spLocks noGrp="1"/>
          </p:cNvSpPr>
          <p:nvPr/>
        </p:nvSpPr>
        <p:spPr>
          <a:xfrm>
            <a:off x="1319558" y="4514459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45" name="object_479"/>
          <p:cNvSpPr>
            <a:spLocks noGrp="1"/>
          </p:cNvSpPr>
          <p:nvPr/>
        </p:nvSpPr>
        <p:spPr>
          <a:xfrm>
            <a:off x="895399" y="4586919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48" name="text_481_6. 测试生成"/>
          <p:cNvSpPr>
            <a:spLocks noGrp="1"/>
          </p:cNvSpPr>
          <p:nvPr/>
        </p:nvSpPr>
        <p:spPr>
          <a:xfrm>
            <a:off x="945405" y="4636925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测试生成</a:t>
            </a:r>
          </a:p>
        </p:txBody>
      </p:sp>
      <p:sp>
        <p:nvSpPr>
          <p:cNvPr id="50" name="connector_484"/>
          <p:cNvSpPr>
            <a:spLocks noGrp="1"/>
          </p:cNvSpPr>
          <p:nvPr/>
        </p:nvSpPr>
        <p:spPr>
          <a:xfrm>
            <a:off x="1343532" y="4930483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51" name="connector_485"/>
          <p:cNvSpPr>
            <a:spLocks noGrp="1"/>
          </p:cNvSpPr>
          <p:nvPr/>
        </p:nvSpPr>
        <p:spPr>
          <a:xfrm>
            <a:off x="1319558" y="4965180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55" name="object_486"/>
          <p:cNvSpPr>
            <a:spLocks noGrp="1"/>
          </p:cNvSpPr>
          <p:nvPr/>
        </p:nvSpPr>
        <p:spPr>
          <a:xfrm>
            <a:off x="895399" y="5051927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57" name="text_488_7. 自检与整理"/>
          <p:cNvSpPr>
            <a:spLocks noGrp="1"/>
          </p:cNvSpPr>
          <p:nvPr/>
        </p:nvSpPr>
        <p:spPr>
          <a:xfrm>
            <a:off x="945405" y="5123364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自检与整理</a:t>
            </a: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object_500"/>
          <p:cNvSpPr>
            <a:spLocks noGrp="1"/>
          </p:cNvSpPr>
          <p:nvPr/>
        </p:nvSpPr>
        <p:spPr>
          <a:xfrm>
            <a:off x="2633914" y="2551614"/>
            <a:ext cx="2350294" cy="380711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60" name="text_502_Design Agent  步骤 1–4"/>
          <p:cNvSpPr>
            <a:spLocks noGrp="1"/>
          </p:cNvSpPr>
          <p:nvPr/>
        </p:nvSpPr>
        <p:spPr>
          <a:xfrm>
            <a:off x="2712496" y="2594476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Agent  步骤 1–4</a:t>
            </a:r>
          </a:p>
        </p:txBody>
      </p:sp>
      <p:sp>
        <p:nvSpPr>
          <p:cNvPr id="65" name="object_509"/>
          <p:cNvSpPr>
            <a:spLocks noGrp="1"/>
          </p:cNvSpPr>
          <p:nvPr/>
        </p:nvSpPr>
        <p:spPr>
          <a:xfrm>
            <a:off x="2633914" y="3437439"/>
            <a:ext cx="2350294" cy="392906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66" name="text_511_Build Agent  步骤 5–6"/>
          <p:cNvSpPr>
            <a:spLocks noGrp="1"/>
          </p:cNvSpPr>
          <p:nvPr/>
        </p:nvSpPr>
        <p:spPr>
          <a:xfrm>
            <a:off x="2712496" y="3480301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Agent  步骤 5–6</a:t>
            </a:r>
          </a:p>
        </p:txBody>
      </p:sp>
      <p:sp>
        <p:nvSpPr>
          <p:cNvPr id="71" name="object_518"/>
          <p:cNvSpPr>
            <a:spLocks noGrp="1"/>
          </p:cNvSpPr>
          <p:nvPr/>
        </p:nvSpPr>
        <p:spPr>
          <a:xfrm>
            <a:off x="2633914" y="4323264"/>
            <a:ext cx="2350294" cy="406173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72" name="text_520_Verify Agent  步骤 7"/>
          <p:cNvSpPr>
            <a:spLocks noGrp="1"/>
          </p:cNvSpPr>
          <p:nvPr/>
        </p:nvSpPr>
        <p:spPr>
          <a:xfrm>
            <a:off x="2712496" y="4366126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Agent  步骤 7</a:t>
            </a:r>
          </a:p>
        </p:txBody>
      </p:sp>
      <p:cxnSp>
        <p:nvCxnSpPr>
          <p:cNvPr id="4" name="直接箭头连接符 3"/>
          <p:cNvCxnSpPr>
            <a:stCxn id="59" idx="2"/>
            <a:endCxn id="65" idx="0"/>
          </p:cNvCxnSpPr>
          <p:nvPr/>
        </p:nvCxnSpPr>
        <p:spPr>
          <a:xfrm>
            <a:off x="3809061" y="2932325"/>
            <a:ext cx="0" cy="50511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3809061" y="3818150"/>
            <a:ext cx="0" cy="50511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DE67E09F-0FF9-5896-2EA8-88162E29AAF0}"/>
              </a:ext>
            </a:extLst>
          </p:cNvPr>
          <p:cNvCxnSpPr>
            <a:endCxn id="59" idx="1"/>
          </p:cNvCxnSpPr>
          <p:nvPr/>
        </p:nvCxnSpPr>
        <p:spPr>
          <a:xfrm flipV="1">
            <a:off x="2194557" y="2741970"/>
            <a:ext cx="439357" cy="41381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DE67E09F-0FF9-5896-2EA8-88162E29AAF0}"/>
              </a:ext>
            </a:extLst>
          </p:cNvPr>
          <p:cNvCxnSpPr>
            <a:endCxn id="65" idx="1"/>
          </p:cNvCxnSpPr>
          <p:nvPr/>
        </p:nvCxnSpPr>
        <p:spPr>
          <a:xfrm flipV="1">
            <a:off x="2224137" y="3633892"/>
            <a:ext cx="409777" cy="89475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DE67E09F-0FF9-5896-2EA8-88162E29AAF0}"/>
              </a:ext>
            </a:extLst>
          </p:cNvPr>
          <p:cNvCxnSpPr>
            <a:endCxn id="71" idx="1"/>
          </p:cNvCxnSpPr>
          <p:nvPr/>
        </p:nvCxnSpPr>
        <p:spPr>
          <a:xfrm flipV="1">
            <a:off x="2224137" y="4526351"/>
            <a:ext cx="409777" cy="76985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1" name="text_354_新版：三个核心 Agent"/>
          <p:cNvSpPr>
            <a:spLocks noGrp="1"/>
          </p:cNvSpPr>
          <p:nvPr/>
        </p:nvSpPr>
        <p:spPr>
          <a:xfrm>
            <a:off x="665195" y="1710022"/>
            <a:ext cx="2028825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原本</a:t>
            </a:r>
            <a:r>
              <a:rPr 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lang="zh-CN" alt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生成阶段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4" name="表格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530766"/>
              </p:ext>
            </p:extLst>
          </p:nvPr>
        </p:nvGraphicFramePr>
        <p:xfrm>
          <a:off x="5278926" y="2118221"/>
          <a:ext cx="3463443" cy="1047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481">
                  <a:extLst>
                    <a:ext uri="{9D8B030D-6E8A-4147-A177-3AD203B41FA5}">
                      <a16:colId xmlns:a16="http://schemas.microsoft.com/office/drawing/2014/main" val="3696870881"/>
                    </a:ext>
                  </a:extLst>
                </a:gridCol>
                <a:gridCol w="1154481">
                  <a:extLst>
                    <a:ext uri="{9D8B030D-6E8A-4147-A177-3AD203B41FA5}">
                      <a16:colId xmlns:a16="http://schemas.microsoft.com/office/drawing/2014/main" val="1639134420"/>
                    </a:ext>
                  </a:extLst>
                </a:gridCol>
                <a:gridCol w="1154481">
                  <a:extLst>
                    <a:ext uri="{9D8B030D-6E8A-4147-A177-3AD203B41FA5}">
                      <a16:colId xmlns:a16="http://schemas.microsoft.com/office/drawing/2014/main" val="1130084807"/>
                    </a:ext>
                  </a:extLst>
                </a:gridCol>
              </a:tblGrid>
              <a:tr h="468636">
                <a:tc>
                  <a:txBody>
                    <a:bodyPr/>
                    <a:lstStyle/>
                    <a:p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 smtClean="0"/>
                        <a:t>消耗</a:t>
                      </a:r>
                      <a:r>
                        <a:rPr lang="en-US" altLang="zh-CN" sz="1300" dirty="0" smtClean="0"/>
                        <a:t>token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300" dirty="0" smtClean="0"/>
                        <a:t>消耗</a:t>
                      </a:r>
                      <a:r>
                        <a:rPr lang="en-US" altLang="zh-CN" sz="1300" dirty="0" smtClean="0"/>
                        <a:t>token</a:t>
                      </a:r>
                      <a:endParaRPr lang="zh-CN" alt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71420"/>
                  </a:ext>
                </a:extLst>
              </a:tr>
              <a:tr h="267792">
                <a:tc>
                  <a:txBody>
                    <a:bodyPr/>
                    <a:lstStyle/>
                    <a:p>
                      <a:r>
                        <a:rPr lang="en-US" altLang="zh-CN" sz="1300" dirty="0" err="1" smtClean="0"/>
                        <a:t>softmax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 smtClean="0"/>
                        <a:t>56</a:t>
                      </a:r>
                      <a:r>
                        <a:rPr lang="zh-CN" altLang="en-US" sz="1300" dirty="0" smtClean="0"/>
                        <a:t>万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 smtClean="0"/>
                        <a:t>21</a:t>
                      </a:r>
                      <a:r>
                        <a:rPr lang="zh-CN" altLang="en-US" sz="1300" dirty="0" smtClean="0"/>
                        <a:t>万</a:t>
                      </a:r>
                      <a:endParaRPr lang="zh-CN" alt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870533"/>
                  </a:ext>
                </a:extLst>
              </a:tr>
              <a:tr h="267792">
                <a:tc>
                  <a:txBody>
                    <a:bodyPr/>
                    <a:lstStyle/>
                    <a:p>
                      <a:r>
                        <a:rPr lang="en-US" altLang="zh-CN" sz="1300" dirty="0" err="1" smtClean="0"/>
                        <a:t>layernorm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 smtClean="0"/>
                        <a:t>43</a:t>
                      </a:r>
                      <a:r>
                        <a:rPr lang="zh-CN" altLang="en-US" sz="1300" dirty="0" smtClean="0"/>
                        <a:t>万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 smtClean="0"/>
                        <a:t>19</a:t>
                      </a:r>
                      <a:r>
                        <a:rPr lang="zh-CN" altLang="en-US" sz="1300" dirty="0" smtClean="0"/>
                        <a:t>万</a:t>
                      </a:r>
                      <a:endParaRPr lang="zh-CN" alt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226283"/>
                  </a:ext>
                </a:extLst>
              </a:tr>
            </a:tbl>
          </a:graphicData>
        </a:graphic>
      </p:graphicFrame>
      <p:sp>
        <p:nvSpPr>
          <p:cNvPr id="85" name="文本框 95">
            <a:extLst>
              <a:ext uri="{FF2B5EF4-FFF2-40B4-BE49-F238E27FC236}">
                <a16:creationId xmlns:a16="http://schemas.microsoft.com/office/drawing/2014/main" id="{D0864842-D5A9-C745-8CB5-79048B22415F}"/>
              </a:ext>
            </a:extLst>
          </p:cNvPr>
          <p:cNvSpPr txBox="1"/>
          <p:nvPr/>
        </p:nvSpPr>
        <p:spPr>
          <a:xfrm>
            <a:off x="5278927" y="3384255"/>
            <a:ext cx="3685562" cy="18158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charset="0"/>
              <a:buChar char="p"/>
            </a:pPr>
            <a:r>
              <a:rPr lang="en-US" altLang="zh-CN" sz="1400" b="1" dirty="0" smtClean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kernel</a:t>
            </a:r>
            <a:r>
              <a:rPr lang="zh-CN" altLang="en-US" sz="1400" b="1" dirty="0" smtClean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正确性</a:t>
            </a:r>
            <a:r>
              <a:rPr lang="zh-CN" altLang="en-US" sz="1400" b="1" dirty="0" smtClean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altLang="zh-CN" sz="1400" b="1" dirty="0">
              <a:solidFill>
                <a:srgbClr val="004B9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p"/>
            </a:pPr>
            <a:endParaRPr lang="en-US" altLang="zh-CN" sz="1400" b="1" dirty="0">
              <a:solidFill>
                <a:srgbClr val="004B9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理论上</a:t>
            </a:r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大模型能力变强，新阶段任务</a:t>
            </a:r>
            <a:endParaRPr lang="en-US" altLang="zh-CN" sz="1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不重且选择融合的都是高度重叠的阶段；</a:t>
            </a:r>
            <a:endParaRPr lang="en-US" altLang="zh-CN" sz="1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实际测试： 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进行数十种算子开发测试，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新旧版本生成近乎一致。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6" name="text_354_新版：三个核心 Agent"/>
          <p:cNvSpPr>
            <a:spLocks noGrp="1"/>
          </p:cNvSpPr>
          <p:nvPr/>
        </p:nvSpPr>
        <p:spPr>
          <a:xfrm>
            <a:off x="3347864" y="1727665"/>
            <a:ext cx="2028825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合并优化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10518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>
            <a:extLst>
              <a:ext uri="{FF2B5EF4-FFF2-40B4-BE49-F238E27FC236}">
                <a16:creationId xmlns:a16="http://schemas.microsoft.com/office/drawing/2014/main" id="{3A2E0B23-0ACD-7EF5-594D-956873623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算子开发时间长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&amp;Token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消耗高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_171_上下文重复"/>
          <p:cNvSpPr>
            <a:spLocks noGrp="1"/>
          </p:cNvSpPr>
          <p:nvPr/>
        </p:nvSpPr>
        <p:spPr>
          <a:xfrm>
            <a:off x="5436096" y="1777262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_171_上下文重复"/>
          <p:cNvSpPr>
            <a:spLocks noGrp="1"/>
          </p:cNvSpPr>
          <p:nvPr/>
        </p:nvSpPr>
        <p:spPr>
          <a:xfrm>
            <a:off x="526927" y="6176938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：按需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优化，依据</a:t>
            </a: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算子类型与 </a:t>
            </a:r>
            <a:r>
              <a:rPr lang="en-US" altLang="zh-CN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信号筛选策略，减少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无效和重复优化</a:t>
            </a: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text_681_其他（内存 / 指令 / 流水）"/>
          <p:cNvSpPr>
            <a:spLocks noGrp="1"/>
          </p:cNvSpPr>
          <p:nvPr/>
        </p:nvSpPr>
        <p:spPr>
          <a:xfrm>
            <a:off x="1393014" y="4570773"/>
            <a:ext cx="1855088" cy="31045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深度优化</a:t>
            </a:r>
            <a:r>
              <a:rPr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sz="1013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内存</a:t>
            </a:r>
            <a:r>
              <a:rPr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013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013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流水</a:t>
            </a:r>
            <a:r>
              <a:rPr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46" name="object_684"/>
          <p:cNvSpPr>
            <a:spLocks noGrp="1"/>
          </p:cNvSpPr>
          <p:nvPr/>
        </p:nvSpPr>
        <p:spPr>
          <a:xfrm>
            <a:off x="1370440" y="5039454"/>
            <a:ext cx="1893094" cy="4572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47" name="text_686_连续 3 轮无性能提升"/>
          <p:cNvSpPr>
            <a:spLocks noGrp="1"/>
          </p:cNvSpPr>
          <p:nvPr/>
        </p:nvSpPr>
        <p:spPr>
          <a:xfrm>
            <a:off x="1406159" y="5060885"/>
            <a:ext cx="182165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连续 3 轮无性能提升</a:t>
            </a:r>
          </a:p>
        </p:txBody>
      </p:sp>
      <p:sp>
        <p:nvSpPr>
          <p:cNvPr id="148" name="text_688_且 Profile 无新建议？"/>
          <p:cNvSpPr>
            <a:spLocks noGrp="1"/>
          </p:cNvSpPr>
          <p:nvPr/>
        </p:nvSpPr>
        <p:spPr>
          <a:xfrm>
            <a:off x="1406159" y="5239479"/>
            <a:ext cx="182165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 Profile 无新建议？</a:t>
            </a:r>
          </a:p>
        </p:txBody>
      </p:sp>
      <p:sp>
        <p:nvSpPr>
          <p:cNvPr id="151" name="text_694_结束优化"/>
          <p:cNvSpPr>
            <a:spLocks noGrp="1"/>
          </p:cNvSpPr>
          <p:nvPr/>
        </p:nvSpPr>
        <p:spPr>
          <a:xfrm>
            <a:off x="1770438" y="5715853"/>
            <a:ext cx="109299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结束优化</a:t>
            </a:r>
            <a:endParaRPr sz="1125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359F24AB-D4F8-5588-688E-D661FB1A2209}"/>
              </a:ext>
            </a:extLst>
          </p:cNvPr>
          <p:cNvSpPr txBox="1"/>
          <p:nvPr/>
        </p:nvSpPr>
        <p:spPr>
          <a:xfrm>
            <a:off x="2033479" y="5482884"/>
            <a:ext cx="2880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solidFill>
                  <a:srgbClr val="D7000F"/>
                </a:solidFill>
              </a:rPr>
              <a:t>是</a:t>
            </a:r>
          </a:p>
        </p:txBody>
      </p:sp>
      <p:sp>
        <p:nvSpPr>
          <p:cNvPr id="3" name="矩形 2"/>
          <p:cNvSpPr/>
          <p:nvPr/>
        </p:nvSpPr>
        <p:spPr>
          <a:xfrm>
            <a:off x="1408447" y="1709109"/>
            <a:ext cx="1821552" cy="32316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406159" y="2212734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基础优化（基础配置）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406159" y="2659423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Retiling</a:t>
            </a: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Tile / Block</a:t>
            </a: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406159" y="3142072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（规约相关）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406159" y="3596940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（并行策略）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1406159" y="4081502"/>
            <a:ext cx="1821552" cy="24622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zh-CN" altLang="en-US" sz="1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num_warps</a:t>
            </a:r>
            <a:r>
              <a:rPr lang="en-US" altLang="zh-CN" sz="1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等）</a:t>
            </a:r>
            <a:endParaRPr lang="zh-CN" altLang="en-US" sz="1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接箭头连接符 4"/>
          <p:cNvCxnSpPr>
            <a:stCxn id="3" idx="2"/>
            <a:endCxn id="73" idx="0"/>
          </p:cNvCxnSpPr>
          <p:nvPr/>
        </p:nvCxnSpPr>
        <p:spPr>
          <a:xfrm flipH="1">
            <a:off x="2316935" y="2032274"/>
            <a:ext cx="2288" cy="180460"/>
          </a:xfrm>
          <a:prstGeom prst="straightConnector1">
            <a:avLst/>
          </a:prstGeom>
          <a:ln w="19050"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73" idx="2"/>
            <a:endCxn id="74" idx="0"/>
          </p:cNvCxnSpPr>
          <p:nvPr/>
        </p:nvCxnSpPr>
        <p:spPr>
          <a:xfrm>
            <a:off x="2316935" y="2489733"/>
            <a:ext cx="0" cy="16969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74" idx="2"/>
            <a:endCxn id="76" idx="0"/>
          </p:cNvCxnSpPr>
          <p:nvPr/>
        </p:nvCxnSpPr>
        <p:spPr>
          <a:xfrm>
            <a:off x="2316935" y="2936422"/>
            <a:ext cx="0" cy="20565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76" idx="2"/>
            <a:endCxn id="77" idx="0"/>
          </p:cNvCxnSpPr>
          <p:nvPr/>
        </p:nvCxnSpPr>
        <p:spPr>
          <a:xfrm>
            <a:off x="2316935" y="3419071"/>
            <a:ext cx="0" cy="17786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7" idx="2"/>
            <a:endCxn id="79" idx="0"/>
          </p:cNvCxnSpPr>
          <p:nvPr/>
        </p:nvCxnSpPr>
        <p:spPr>
          <a:xfrm>
            <a:off x="2316935" y="3873939"/>
            <a:ext cx="0" cy="20756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79" idx="2"/>
            <a:endCxn id="143" idx="0"/>
          </p:cNvCxnSpPr>
          <p:nvPr/>
        </p:nvCxnSpPr>
        <p:spPr>
          <a:xfrm>
            <a:off x="2316935" y="4327723"/>
            <a:ext cx="3623" cy="24305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43" idx="2"/>
            <a:endCxn id="147" idx="0"/>
          </p:cNvCxnSpPr>
          <p:nvPr/>
        </p:nvCxnSpPr>
        <p:spPr>
          <a:xfrm flipH="1">
            <a:off x="2316987" y="4881223"/>
            <a:ext cx="3571" cy="17966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48" idx="2"/>
            <a:endCxn id="151" idx="0"/>
          </p:cNvCxnSpPr>
          <p:nvPr/>
        </p:nvCxnSpPr>
        <p:spPr>
          <a:xfrm flipH="1">
            <a:off x="2316935" y="5418073"/>
            <a:ext cx="52" cy="29778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151" idx="1"/>
            <a:endCxn id="73" idx="1"/>
          </p:cNvCxnSpPr>
          <p:nvPr/>
        </p:nvCxnSpPr>
        <p:spPr>
          <a:xfrm rot="10800000">
            <a:off x="1406160" y="2351234"/>
            <a:ext cx="364279" cy="3464632"/>
          </a:xfrm>
          <a:prstGeom prst="bentConnector3">
            <a:avLst>
              <a:gd name="adj1" fmla="val 226345"/>
            </a:avLst>
          </a:prstGeom>
          <a:ln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01">
            <a:extLst>
              <a:ext uri="{FF2B5EF4-FFF2-40B4-BE49-F238E27FC236}">
                <a16:creationId xmlns:a16="http://schemas.microsoft.com/office/drawing/2014/main" id="{359F24AB-D4F8-5588-688E-D661FB1A2209}"/>
              </a:ext>
            </a:extLst>
          </p:cNvPr>
          <p:cNvSpPr txBox="1"/>
          <p:nvPr/>
        </p:nvSpPr>
        <p:spPr>
          <a:xfrm>
            <a:off x="571579" y="3646868"/>
            <a:ext cx="2880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solidFill>
                  <a:srgbClr val="D7000F"/>
                </a:solidFill>
              </a:rPr>
              <a:t>否</a:t>
            </a:r>
            <a:endParaRPr lang="zh-CN" altLang="en-US" sz="1000" b="1" dirty="0">
              <a:solidFill>
                <a:srgbClr val="D7000F"/>
              </a:solidFill>
            </a:endParaRPr>
          </a:p>
        </p:txBody>
      </p:sp>
      <p:sp>
        <p:nvSpPr>
          <p:cNvPr id="103" name="文本框 95">
            <a:extLst>
              <a:ext uri="{FF2B5EF4-FFF2-40B4-BE49-F238E27FC236}">
                <a16:creationId xmlns:a16="http://schemas.microsoft.com/office/drawing/2014/main" id="{D0864842-D5A9-C745-8CB5-79048B22415F}"/>
              </a:ext>
            </a:extLst>
          </p:cNvPr>
          <p:cNvSpPr txBox="1"/>
          <p:nvPr/>
        </p:nvSpPr>
        <p:spPr>
          <a:xfrm>
            <a:off x="3902488" y="1756464"/>
            <a:ext cx="5110923" cy="11695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charset="0"/>
              <a:buChar char="p"/>
            </a:pPr>
            <a:r>
              <a:rPr lang="zh-CN" altLang="en-US" sz="1400" b="1" dirty="0" smtClean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缺点：</a:t>
            </a:r>
            <a:endParaRPr lang="en-US" altLang="zh-CN" sz="1400" b="1" dirty="0" smtClean="0">
              <a:solidFill>
                <a:srgbClr val="004B9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p"/>
            </a:pPr>
            <a:endParaRPr lang="en-US" altLang="zh-CN" sz="1400" b="1" dirty="0">
              <a:solidFill>
                <a:srgbClr val="004B9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算子不一定使用所有的优化策略</a:t>
            </a:r>
            <a:endParaRPr lang="en-US" altLang="zh-CN" sz="1400" dirty="0" smtClean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接触优化条件太苛刻。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19822223-FA03-4A87-4F3C-D54A216717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810028" y="1598053"/>
            <a:ext cx="3786307" cy="1544019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05" name="矩形 104"/>
          <p:cNvSpPr/>
          <p:nvPr/>
        </p:nvSpPr>
        <p:spPr>
          <a:xfrm>
            <a:off x="4716228" y="3735439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716228" y="4241422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算子分类与瓶颈分析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4716228" y="4766443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优化策略选择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4719268" y="5299634"/>
            <a:ext cx="1821552" cy="27699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针对性优化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/>
          <p:cNvCxnSpPr>
            <a:stCxn id="105" idx="2"/>
            <a:endCxn id="106" idx="0"/>
          </p:cNvCxnSpPr>
          <p:nvPr/>
        </p:nvCxnSpPr>
        <p:spPr>
          <a:xfrm>
            <a:off x="5627004" y="4012438"/>
            <a:ext cx="0" cy="22898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06" idx="2"/>
            <a:endCxn id="107" idx="0"/>
          </p:cNvCxnSpPr>
          <p:nvPr/>
        </p:nvCxnSpPr>
        <p:spPr>
          <a:xfrm>
            <a:off x="5627004" y="4518421"/>
            <a:ext cx="0" cy="24802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07" idx="2"/>
            <a:endCxn id="108" idx="0"/>
          </p:cNvCxnSpPr>
          <p:nvPr/>
        </p:nvCxnSpPr>
        <p:spPr>
          <a:xfrm>
            <a:off x="5627004" y="5043442"/>
            <a:ext cx="3040" cy="25619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95">
            <a:extLst>
              <a:ext uri="{FF2B5EF4-FFF2-40B4-BE49-F238E27FC236}">
                <a16:creationId xmlns:a16="http://schemas.microsoft.com/office/drawing/2014/main" id="{D0864842-D5A9-C745-8CB5-79048B22415F}"/>
              </a:ext>
            </a:extLst>
          </p:cNvPr>
          <p:cNvSpPr txBox="1"/>
          <p:nvPr/>
        </p:nvSpPr>
        <p:spPr>
          <a:xfrm>
            <a:off x="3918303" y="3289127"/>
            <a:ext cx="5110923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charset="0"/>
              <a:buChar char="p"/>
            </a:pPr>
            <a:r>
              <a:rPr lang="zh-CN" altLang="en-US" sz="1400" b="1" dirty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优化后</a:t>
            </a:r>
            <a:r>
              <a:rPr lang="zh-CN" altLang="en-US" sz="1400" b="1" dirty="0" smtClean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en-US" altLang="zh-CN" sz="1400" b="1" dirty="0" smtClean="0">
              <a:solidFill>
                <a:srgbClr val="004B9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19822223-FA03-4A87-4F3C-D54A2167176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10028" y="3280570"/>
            <a:ext cx="3786307" cy="253529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3978970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>
            <a:extLst>
              <a:ext uri="{FF2B5EF4-FFF2-40B4-BE49-F238E27FC236}">
                <a16:creationId xmlns:a16="http://schemas.microsoft.com/office/drawing/2014/main" id="{3A2E0B23-0ACD-7EF5-594D-956873623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40" name="text_173_相同语义反复读取&#10;Token 消耗高"/>
          <p:cNvSpPr>
            <a:spLocks noGrp="1"/>
          </p:cNvSpPr>
          <p:nvPr/>
        </p:nvSpPr>
        <p:spPr>
          <a:xfrm>
            <a:off x="2360727" y="5756429"/>
            <a:ext cx="4536033" cy="729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静态 </a:t>
            </a:r>
            <a:r>
              <a:rPr lang="en-US" altLang="zh-C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lang="zh-CN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结构已经限制尺寸循环范围或输出大小。</a:t>
            </a:r>
            <a:endParaRPr lang="en-US" altLang="zh-CN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静态算子在其他 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上可能出现性能明显下降。</a:t>
            </a:r>
          </a:p>
          <a:p>
            <a:pPr>
              <a:lnSpc>
                <a:spcPct val="150000"/>
              </a:lnSpc>
            </a:pPr>
            <a:endParaRPr lang="en-US" altLang="zh-C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_171_上下文重复"/>
          <p:cNvSpPr>
            <a:spLocks noGrp="1"/>
          </p:cNvSpPr>
          <p:nvPr/>
        </p:nvSpPr>
        <p:spPr>
          <a:xfrm>
            <a:off x="963426" y="5681033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原因分析：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_171_上下文重复"/>
          <p:cNvSpPr>
            <a:spLocks noGrp="1"/>
          </p:cNvSpPr>
          <p:nvPr/>
        </p:nvSpPr>
        <p:spPr>
          <a:xfrm>
            <a:off x="964994" y="1711567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解决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方案：</a:t>
            </a: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动态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开发功能扩展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850611" y="2907628"/>
            <a:ext cx="2993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支持动态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加号 4"/>
          <p:cNvSpPr/>
          <p:nvPr/>
        </p:nvSpPr>
        <p:spPr>
          <a:xfrm>
            <a:off x="4254764" y="3333142"/>
            <a:ext cx="373980" cy="369093"/>
          </a:xfrm>
          <a:prstGeom prst="mathPlus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528683" y="3796885"/>
            <a:ext cx="1826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自动化参数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搜索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954807" y="4712105"/>
            <a:ext cx="2973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Kernel</a:t>
            </a:r>
            <a:r>
              <a:rPr lang="en-US" altLang="zh-CN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Family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全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覆盖</a:t>
            </a:r>
          </a:p>
        </p:txBody>
      </p:sp>
      <p:sp>
        <p:nvSpPr>
          <p:cNvPr id="16" name="加号 15"/>
          <p:cNvSpPr/>
          <p:nvPr/>
        </p:nvSpPr>
        <p:spPr>
          <a:xfrm>
            <a:off x="4254764" y="4300836"/>
            <a:ext cx="373980" cy="369093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</p:spTree>
    <p:extLst>
      <p:ext uri="{BB962C8B-B14F-4D97-AF65-F5344CB8AC3E}">
        <p14:creationId xmlns:p14="http://schemas.microsoft.com/office/powerpoint/2010/main" val="156673454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>
            <a:extLst>
              <a:ext uri="{FF2B5EF4-FFF2-40B4-BE49-F238E27FC236}">
                <a16:creationId xmlns:a16="http://schemas.microsoft.com/office/drawing/2014/main" id="{3A2E0B23-0ACD-7EF5-594D-956873623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40" name="text_173_相同语义反复读取&#10;Token 消耗高"/>
          <p:cNvSpPr>
            <a:spLocks noGrp="1"/>
          </p:cNvSpPr>
          <p:nvPr/>
        </p:nvSpPr>
        <p:spPr>
          <a:xfrm>
            <a:off x="2360727" y="5756429"/>
            <a:ext cx="4536033" cy="729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静态 </a:t>
            </a:r>
            <a:r>
              <a:rPr lang="en-US" altLang="zh-C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lang="zh-CN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结构已经限制尺寸循环范围或输出大小。</a:t>
            </a:r>
            <a:endParaRPr lang="en-US" altLang="zh-CN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静态算子在其他 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上可能出现性能明显下降。</a:t>
            </a:r>
          </a:p>
          <a:p>
            <a:pPr>
              <a:lnSpc>
                <a:spcPct val="150000"/>
              </a:lnSpc>
            </a:pPr>
            <a:endParaRPr lang="en-US" altLang="zh-C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_171_上下文重复"/>
          <p:cNvSpPr>
            <a:spLocks noGrp="1"/>
          </p:cNvSpPr>
          <p:nvPr/>
        </p:nvSpPr>
        <p:spPr>
          <a:xfrm>
            <a:off x="963426" y="5681033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原因分析：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_171_上下文重复"/>
          <p:cNvSpPr>
            <a:spLocks noGrp="1"/>
          </p:cNvSpPr>
          <p:nvPr/>
        </p:nvSpPr>
        <p:spPr>
          <a:xfrm>
            <a:off x="964994" y="1711567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解决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方案：</a:t>
            </a: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动态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开发功能扩展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17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8" name="矩形 17"/>
          <p:cNvSpPr/>
          <p:nvPr/>
        </p:nvSpPr>
        <p:spPr>
          <a:xfrm>
            <a:off x="288921" y="2078355"/>
            <a:ext cx="2993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支持动态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707904" y="2103779"/>
            <a:ext cx="1826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自动化参数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搜索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975489" y="2078355"/>
            <a:ext cx="2973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Kernel</a:t>
            </a:r>
            <a:r>
              <a:rPr lang="en-US" altLang="zh-CN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Family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全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覆盖</a:t>
            </a:r>
          </a:p>
        </p:txBody>
      </p:sp>
      <p:sp>
        <p:nvSpPr>
          <p:cNvPr id="21" name="text_545_确定不同输入对应的执行组合">
            <a:extLst>
              <a:ext uri="{FF2B5EF4-FFF2-40B4-BE49-F238E27FC236}">
                <a16:creationId xmlns:a16="http://schemas.microsoft.com/office/drawing/2014/main" id="{2700A8EE-3FB0-43FF-B3A8-314CFEB41440}"/>
              </a:ext>
            </a:extLst>
          </p:cNvPr>
          <p:cNvSpPr>
            <a:spLocks noGrp="1"/>
          </p:cNvSpPr>
          <p:nvPr/>
        </p:nvSpPr>
        <p:spPr>
          <a:xfrm>
            <a:off x="3675352" y="2784376"/>
            <a:ext cx="2486025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确定不同输入对应的执行组合</a:t>
            </a:r>
            <a:endParaRPr sz="118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_546">
            <a:extLst>
              <a:ext uri="{FF2B5EF4-FFF2-40B4-BE49-F238E27FC236}">
                <a16:creationId xmlns:a16="http://schemas.microsoft.com/office/drawing/2014/main" id="{ECB1E21D-6586-47C6-B57B-E08C670045BD}"/>
              </a:ext>
            </a:extLst>
          </p:cNvPr>
          <p:cNvSpPr>
            <a:spLocks noGrp="1"/>
          </p:cNvSpPr>
          <p:nvPr/>
        </p:nvSpPr>
        <p:spPr>
          <a:xfrm>
            <a:off x="3568998" y="3165581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23" name="text_548_Family">
            <a:extLst>
              <a:ext uri="{FF2B5EF4-FFF2-40B4-BE49-F238E27FC236}">
                <a16:creationId xmlns:a16="http://schemas.microsoft.com/office/drawing/2014/main" id="{5B09708D-83B0-4702-AB2C-40B4C7E8A662}"/>
              </a:ext>
            </a:extLst>
          </p:cNvPr>
          <p:cNvSpPr>
            <a:spLocks noGrp="1"/>
          </p:cNvSpPr>
          <p:nvPr/>
        </p:nvSpPr>
        <p:spPr>
          <a:xfrm>
            <a:off x="3604716" y="3215587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</a:p>
        </p:txBody>
      </p:sp>
      <p:sp>
        <p:nvSpPr>
          <p:cNvPr id="24" name="text_550_候选计算与调度结构">
            <a:extLst>
              <a:ext uri="{FF2B5EF4-FFF2-40B4-BE49-F238E27FC236}">
                <a16:creationId xmlns:a16="http://schemas.microsoft.com/office/drawing/2014/main" id="{C5B90CA6-C114-467A-9863-9A01ED3F70CD}"/>
              </a:ext>
            </a:extLst>
          </p:cNvPr>
          <p:cNvSpPr>
            <a:spLocks noGrp="1"/>
          </p:cNvSpPr>
          <p:nvPr/>
        </p:nvSpPr>
        <p:spPr>
          <a:xfrm>
            <a:off x="4411960" y="3222731"/>
            <a:ext cx="1657350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8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候选计算与调度结构</a:t>
            </a:r>
            <a:endParaRPr sz="98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_552_×">
            <a:extLst>
              <a:ext uri="{FF2B5EF4-FFF2-40B4-BE49-F238E27FC236}">
                <a16:creationId xmlns:a16="http://schemas.microsoft.com/office/drawing/2014/main" id="{B27A0C86-1575-42A4-9E25-4A708A8B0BAD}"/>
              </a:ext>
            </a:extLst>
          </p:cNvPr>
          <p:cNvSpPr>
            <a:spLocks noGrp="1"/>
          </p:cNvSpPr>
          <p:nvPr/>
        </p:nvSpPr>
        <p:spPr>
          <a:xfrm>
            <a:off x="3783310" y="3472762"/>
            <a:ext cx="228600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069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26" name="object_553">
            <a:extLst>
              <a:ext uri="{FF2B5EF4-FFF2-40B4-BE49-F238E27FC236}">
                <a16:creationId xmlns:a16="http://schemas.microsoft.com/office/drawing/2014/main" id="{F1F3A8C8-13C1-409B-98A9-B738AEDDA807}"/>
              </a:ext>
            </a:extLst>
          </p:cNvPr>
          <p:cNvSpPr>
            <a:spLocks noGrp="1"/>
          </p:cNvSpPr>
          <p:nvPr/>
        </p:nvSpPr>
        <p:spPr>
          <a:xfrm>
            <a:off x="3568998" y="3644212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28" name="text_555_Config">
            <a:extLst>
              <a:ext uri="{FF2B5EF4-FFF2-40B4-BE49-F238E27FC236}">
                <a16:creationId xmlns:a16="http://schemas.microsoft.com/office/drawing/2014/main" id="{CA620727-5F3F-4CCD-9D26-B96F2C561BC1}"/>
              </a:ext>
            </a:extLst>
          </p:cNvPr>
          <p:cNvSpPr>
            <a:spLocks noGrp="1"/>
          </p:cNvSpPr>
          <p:nvPr/>
        </p:nvSpPr>
        <p:spPr>
          <a:xfrm>
            <a:off x="3604716" y="3694218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</a:p>
        </p:txBody>
      </p:sp>
      <p:sp>
        <p:nvSpPr>
          <p:cNvPr id="29" name="text_557_每个 Family 的独立参数空间">
            <a:extLst>
              <a:ext uri="{FF2B5EF4-FFF2-40B4-BE49-F238E27FC236}">
                <a16:creationId xmlns:a16="http://schemas.microsoft.com/office/drawing/2014/main" id="{139B27E4-FAF7-4242-A03A-6FCC9A66DDF9}"/>
              </a:ext>
            </a:extLst>
          </p:cNvPr>
          <p:cNvSpPr>
            <a:spLocks noGrp="1"/>
          </p:cNvSpPr>
          <p:nvPr/>
        </p:nvSpPr>
        <p:spPr>
          <a:xfrm>
            <a:off x="4411960" y="3701362"/>
            <a:ext cx="1657350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8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 Family 的独立参数空间</a:t>
            </a:r>
          </a:p>
        </p:txBody>
      </p:sp>
      <p:sp>
        <p:nvSpPr>
          <p:cNvPr id="30" name="text_559_×">
            <a:extLst>
              <a:ext uri="{FF2B5EF4-FFF2-40B4-BE49-F238E27FC236}">
                <a16:creationId xmlns:a16="http://schemas.microsoft.com/office/drawing/2014/main" id="{280D6DE1-B9F3-4527-88DF-9A018C871414}"/>
              </a:ext>
            </a:extLst>
          </p:cNvPr>
          <p:cNvSpPr>
            <a:spLocks noGrp="1"/>
          </p:cNvSpPr>
          <p:nvPr/>
        </p:nvSpPr>
        <p:spPr>
          <a:xfrm>
            <a:off x="3783310" y="3951393"/>
            <a:ext cx="228600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069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31" name="object_560">
            <a:extLst>
              <a:ext uri="{FF2B5EF4-FFF2-40B4-BE49-F238E27FC236}">
                <a16:creationId xmlns:a16="http://schemas.microsoft.com/office/drawing/2014/main" id="{110145B9-5BB1-42AB-9E26-8490F7BACB4A}"/>
              </a:ext>
            </a:extLst>
          </p:cNvPr>
          <p:cNvSpPr>
            <a:spLocks noGrp="1"/>
          </p:cNvSpPr>
          <p:nvPr/>
        </p:nvSpPr>
        <p:spPr>
          <a:xfrm>
            <a:off x="3568998" y="4122843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32" name="text_562_Shape">
            <a:extLst>
              <a:ext uri="{FF2B5EF4-FFF2-40B4-BE49-F238E27FC236}">
                <a16:creationId xmlns:a16="http://schemas.microsoft.com/office/drawing/2014/main" id="{18A6342E-0E63-4338-9766-B577D84E345B}"/>
              </a:ext>
            </a:extLst>
          </p:cNvPr>
          <p:cNvSpPr>
            <a:spLocks noGrp="1"/>
          </p:cNvSpPr>
          <p:nvPr/>
        </p:nvSpPr>
        <p:spPr>
          <a:xfrm>
            <a:off x="3604716" y="4172849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</p:txBody>
      </p:sp>
      <p:sp>
        <p:nvSpPr>
          <p:cNvPr id="33" name="text_564_代表输入及完整验证域">
            <a:extLst>
              <a:ext uri="{FF2B5EF4-FFF2-40B4-BE49-F238E27FC236}">
                <a16:creationId xmlns:a16="http://schemas.microsoft.com/office/drawing/2014/main" id="{70A448AA-6906-404F-A4FF-327130831010}"/>
              </a:ext>
            </a:extLst>
          </p:cNvPr>
          <p:cNvSpPr>
            <a:spLocks noGrp="1"/>
          </p:cNvSpPr>
          <p:nvPr/>
        </p:nvSpPr>
        <p:spPr>
          <a:xfrm>
            <a:off x="4411960" y="4179993"/>
            <a:ext cx="1657350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8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代表输入及完整验证域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3355822" y="2177317"/>
            <a:ext cx="18836" cy="394839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5988462" y="2181569"/>
            <a:ext cx="18836" cy="394839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bject_509">
            <a:extLst>
              <a:ext uri="{FF2B5EF4-FFF2-40B4-BE49-F238E27FC236}">
                <a16:creationId xmlns:a16="http://schemas.microsoft.com/office/drawing/2014/main" id="{599FE5CF-EA8B-49A4-91A4-675520E94A0D}"/>
              </a:ext>
            </a:extLst>
          </p:cNvPr>
          <p:cNvSpPr>
            <a:spLocks noGrp="1"/>
          </p:cNvSpPr>
          <p:nvPr/>
        </p:nvSpPr>
        <p:spPr>
          <a:xfrm>
            <a:off x="734451" y="3102777"/>
            <a:ext cx="2207419" cy="521494"/>
          </a:xfrm>
          <a:prstGeom prst="rect">
            <a:avLst/>
          </a:prstGeom>
          <a:solidFill>
            <a:srgbClr val="F2F2F2"/>
          </a:solidFill>
          <a:ln w="19050">
            <a:solidFill>
              <a:schemeClr val="tx1"/>
            </a:solidFill>
          </a:ln>
        </p:spPr>
      </p:sp>
      <p:sp>
        <p:nvSpPr>
          <p:cNvPr id="37" name="text_511_Shape 特征与硬件约束">
            <a:extLst>
              <a:ext uri="{FF2B5EF4-FFF2-40B4-BE49-F238E27FC236}">
                <a16:creationId xmlns:a16="http://schemas.microsoft.com/office/drawing/2014/main" id="{DCEDCAE8-7407-45A4-9DAC-37C29A01601F}"/>
              </a:ext>
            </a:extLst>
          </p:cNvPr>
          <p:cNvSpPr>
            <a:spLocks noGrp="1"/>
          </p:cNvSpPr>
          <p:nvPr/>
        </p:nvSpPr>
        <p:spPr>
          <a:xfrm>
            <a:off x="768975" y="3238704"/>
            <a:ext cx="2107406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特征与硬件约束</a:t>
            </a:r>
            <a:endParaRPr sz="1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connector_514">
            <a:extLst>
              <a:ext uri="{FF2B5EF4-FFF2-40B4-BE49-F238E27FC236}">
                <a16:creationId xmlns:a16="http://schemas.microsoft.com/office/drawing/2014/main" id="{5CCFD52D-A60D-46B5-BD5A-911E96835CDA}"/>
              </a:ext>
            </a:extLst>
          </p:cNvPr>
          <p:cNvSpPr>
            <a:spLocks noGrp="1"/>
          </p:cNvSpPr>
          <p:nvPr/>
        </p:nvSpPr>
        <p:spPr>
          <a:xfrm flipH="1">
            <a:off x="1771002" y="3609984"/>
            <a:ext cx="70966" cy="615173"/>
          </a:xfrm>
          <a:custGeom>
            <a:avLst/>
            <a:gdLst/>
            <a:ahLst/>
            <a:cxnLst/>
            <a:rect l="0" t="0" r="0" b="0"/>
            <a:pathLst>
              <a:path w="19050" h="314325">
                <a:moveTo>
                  <a:pt x="9525" y="9525"/>
                </a:moveTo>
                <a:lnTo>
                  <a:pt x="9525" y="3048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39" name="object_516">
            <a:extLst>
              <a:ext uri="{FF2B5EF4-FFF2-40B4-BE49-F238E27FC236}">
                <a16:creationId xmlns:a16="http://schemas.microsoft.com/office/drawing/2014/main" id="{8754589E-DC80-4B44-BDE8-359DBAA8140D}"/>
              </a:ext>
            </a:extLst>
          </p:cNvPr>
          <p:cNvSpPr>
            <a:spLocks noGrp="1"/>
          </p:cNvSpPr>
          <p:nvPr/>
        </p:nvSpPr>
        <p:spPr>
          <a:xfrm>
            <a:off x="655870" y="4195771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41" name="text_518_Family A">
            <a:extLst>
              <a:ext uri="{FF2B5EF4-FFF2-40B4-BE49-F238E27FC236}">
                <a16:creationId xmlns:a16="http://schemas.microsoft.com/office/drawing/2014/main" id="{0D502887-3DAC-40E2-8103-622ECACCF5AB}"/>
              </a:ext>
            </a:extLst>
          </p:cNvPr>
          <p:cNvSpPr>
            <a:spLocks noGrp="1"/>
          </p:cNvSpPr>
          <p:nvPr/>
        </p:nvSpPr>
        <p:spPr>
          <a:xfrm>
            <a:off x="705876" y="4231489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A</a:t>
            </a:r>
          </a:p>
        </p:txBody>
      </p:sp>
      <p:sp>
        <p:nvSpPr>
          <p:cNvPr id="42" name="text_520_小尺寸优化">
            <a:extLst>
              <a:ext uri="{FF2B5EF4-FFF2-40B4-BE49-F238E27FC236}">
                <a16:creationId xmlns:a16="http://schemas.microsoft.com/office/drawing/2014/main" id="{DE2AFA2C-CF93-4F04-9706-37FF9EA9B2A0}"/>
              </a:ext>
            </a:extLst>
          </p:cNvPr>
          <p:cNvSpPr>
            <a:spLocks noGrp="1"/>
          </p:cNvSpPr>
          <p:nvPr/>
        </p:nvSpPr>
        <p:spPr>
          <a:xfrm>
            <a:off x="713020" y="4581534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小尺寸优化</a:t>
            </a:r>
            <a:endParaRPr sz="9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connector_521">
            <a:extLst>
              <a:ext uri="{FF2B5EF4-FFF2-40B4-BE49-F238E27FC236}">
                <a16:creationId xmlns:a16="http://schemas.microsoft.com/office/drawing/2014/main" id="{E739D5DF-5AEC-41A9-9076-6C7B6694DF22}"/>
              </a:ext>
            </a:extLst>
          </p:cNvPr>
          <p:cNvSpPr>
            <a:spLocks noGrp="1"/>
          </p:cNvSpPr>
          <p:nvPr/>
        </p:nvSpPr>
        <p:spPr>
          <a:xfrm>
            <a:off x="1013057" y="3988603"/>
            <a:ext cx="14288" cy="192881"/>
          </a:xfrm>
          <a:custGeom>
            <a:avLst/>
            <a:gdLst/>
            <a:ahLst/>
            <a:cxnLst/>
            <a:rect l="0" t="0" r="0" b="0"/>
            <a:pathLst>
              <a:path w="19050" h="257175">
                <a:moveTo>
                  <a:pt x="9525" y="9525"/>
                </a:moveTo>
                <a:lnTo>
                  <a:pt x="9525" y="247650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44" name="object_522">
            <a:extLst>
              <a:ext uri="{FF2B5EF4-FFF2-40B4-BE49-F238E27FC236}">
                <a16:creationId xmlns:a16="http://schemas.microsoft.com/office/drawing/2014/main" id="{9A8FCD52-212F-4F8B-9CE8-D8B7C497D1A0}"/>
              </a:ext>
            </a:extLst>
          </p:cNvPr>
          <p:cNvSpPr>
            <a:spLocks noGrp="1"/>
          </p:cNvSpPr>
          <p:nvPr/>
        </p:nvSpPr>
        <p:spPr>
          <a:xfrm>
            <a:off x="1448826" y="4195771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45" name="text_524_Family B">
            <a:extLst>
              <a:ext uri="{FF2B5EF4-FFF2-40B4-BE49-F238E27FC236}">
                <a16:creationId xmlns:a16="http://schemas.microsoft.com/office/drawing/2014/main" id="{0689E7E8-3EF0-42E8-9DFC-C18494148775}"/>
              </a:ext>
            </a:extLst>
          </p:cNvPr>
          <p:cNvSpPr>
            <a:spLocks noGrp="1"/>
          </p:cNvSpPr>
          <p:nvPr/>
        </p:nvSpPr>
        <p:spPr>
          <a:xfrm>
            <a:off x="1498832" y="4231489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B</a:t>
            </a:r>
          </a:p>
        </p:txBody>
      </p:sp>
      <p:sp>
        <p:nvSpPr>
          <p:cNvPr id="46" name="text_526_分块 / 分阶段">
            <a:extLst>
              <a:ext uri="{FF2B5EF4-FFF2-40B4-BE49-F238E27FC236}">
                <a16:creationId xmlns:a16="http://schemas.microsoft.com/office/drawing/2014/main" id="{37F14FA7-5505-4631-ADAC-04AEEF84525D}"/>
              </a:ext>
            </a:extLst>
          </p:cNvPr>
          <p:cNvSpPr>
            <a:spLocks noGrp="1"/>
          </p:cNvSpPr>
          <p:nvPr/>
        </p:nvSpPr>
        <p:spPr>
          <a:xfrm>
            <a:off x="1505976" y="4581534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分块</a:t>
            </a:r>
            <a:r>
              <a:rPr sz="9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950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分阶段</a:t>
            </a:r>
            <a:endParaRPr sz="9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object_528">
            <a:extLst>
              <a:ext uri="{FF2B5EF4-FFF2-40B4-BE49-F238E27FC236}">
                <a16:creationId xmlns:a16="http://schemas.microsoft.com/office/drawing/2014/main" id="{7D3E2448-F299-48BF-8DDA-3AE3D70E4647}"/>
              </a:ext>
            </a:extLst>
          </p:cNvPr>
          <p:cNvSpPr>
            <a:spLocks noGrp="1"/>
          </p:cNvSpPr>
          <p:nvPr/>
        </p:nvSpPr>
        <p:spPr>
          <a:xfrm>
            <a:off x="2241783" y="4195771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48" name="text_530_Family C">
            <a:extLst>
              <a:ext uri="{FF2B5EF4-FFF2-40B4-BE49-F238E27FC236}">
                <a16:creationId xmlns:a16="http://schemas.microsoft.com/office/drawing/2014/main" id="{D9F93969-9FE6-47B5-864C-15B5279D1EA9}"/>
              </a:ext>
            </a:extLst>
          </p:cNvPr>
          <p:cNvSpPr>
            <a:spLocks noGrp="1"/>
          </p:cNvSpPr>
          <p:nvPr/>
        </p:nvSpPr>
        <p:spPr>
          <a:xfrm>
            <a:off x="2291789" y="4231489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C</a:t>
            </a:r>
          </a:p>
        </p:txBody>
      </p:sp>
      <p:sp>
        <p:nvSpPr>
          <p:cNvPr id="49" name="text_532_整轴结构">
            <a:extLst>
              <a:ext uri="{FF2B5EF4-FFF2-40B4-BE49-F238E27FC236}">
                <a16:creationId xmlns:a16="http://schemas.microsoft.com/office/drawing/2014/main" id="{F306B480-5DD0-42A4-AE1B-7E4D95BB26F5}"/>
              </a:ext>
            </a:extLst>
          </p:cNvPr>
          <p:cNvSpPr>
            <a:spLocks noGrp="1"/>
          </p:cNvSpPr>
          <p:nvPr/>
        </p:nvSpPr>
        <p:spPr>
          <a:xfrm>
            <a:off x="2298933" y="4581534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整轴结构</a:t>
            </a:r>
            <a:endParaRPr sz="9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connector_533">
            <a:extLst>
              <a:ext uri="{FF2B5EF4-FFF2-40B4-BE49-F238E27FC236}">
                <a16:creationId xmlns:a16="http://schemas.microsoft.com/office/drawing/2014/main" id="{B65F86A3-A3F0-46C6-9F04-DFCE1FB66A28}"/>
              </a:ext>
            </a:extLst>
          </p:cNvPr>
          <p:cNvSpPr>
            <a:spLocks noGrp="1"/>
          </p:cNvSpPr>
          <p:nvPr/>
        </p:nvSpPr>
        <p:spPr>
          <a:xfrm>
            <a:off x="2598969" y="3988603"/>
            <a:ext cx="14288" cy="192881"/>
          </a:xfrm>
          <a:custGeom>
            <a:avLst/>
            <a:gdLst/>
            <a:ahLst/>
            <a:cxnLst/>
            <a:rect l="0" t="0" r="0" b="0"/>
            <a:pathLst>
              <a:path w="19050" h="257175">
                <a:moveTo>
                  <a:pt x="9525" y="9525"/>
                </a:moveTo>
                <a:lnTo>
                  <a:pt x="9525" y="247650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51" name="connector_534">
            <a:extLst>
              <a:ext uri="{FF2B5EF4-FFF2-40B4-BE49-F238E27FC236}">
                <a16:creationId xmlns:a16="http://schemas.microsoft.com/office/drawing/2014/main" id="{7876BC28-7B2F-4444-9F7E-BF2536D17E7D}"/>
              </a:ext>
            </a:extLst>
          </p:cNvPr>
          <p:cNvSpPr>
            <a:spLocks noGrp="1"/>
          </p:cNvSpPr>
          <p:nvPr/>
        </p:nvSpPr>
        <p:spPr>
          <a:xfrm>
            <a:off x="1013057" y="3988602"/>
            <a:ext cx="1600200" cy="14288"/>
          </a:xfrm>
          <a:custGeom>
            <a:avLst/>
            <a:gdLst/>
            <a:ahLst/>
            <a:cxnLst/>
            <a:rect l="0" t="0" r="0" b="0"/>
            <a:pathLst>
              <a:path w="2133600" h="19050">
                <a:moveTo>
                  <a:pt x="9525" y="9525"/>
                </a:moveTo>
                <a:lnTo>
                  <a:pt x="212407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54" name="object_578">
            <a:extLst>
              <a:ext uri="{FF2B5EF4-FFF2-40B4-BE49-F238E27FC236}">
                <a16:creationId xmlns:a16="http://schemas.microsoft.com/office/drawing/2014/main" id="{4F831D10-4DE6-436E-8CCB-81E900073FAC}"/>
              </a:ext>
            </a:extLst>
          </p:cNvPr>
          <p:cNvSpPr>
            <a:spLocks noGrp="1"/>
          </p:cNvSpPr>
          <p:nvPr/>
        </p:nvSpPr>
        <p:spPr>
          <a:xfrm>
            <a:off x="6315457" y="2904712"/>
            <a:ext cx="2221706" cy="385763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55" name="text_580_输入 Shape">
            <a:extLst>
              <a:ext uri="{FF2B5EF4-FFF2-40B4-BE49-F238E27FC236}">
                <a16:creationId xmlns:a16="http://schemas.microsoft.com/office/drawing/2014/main" id="{71AF5102-B161-4314-A148-71203D787F0C}"/>
              </a:ext>
            </a:extLst>
          </p:cNvPr>
          <p:cNvSpPr>
            <a:spLocks noGrp="1"/>
          </p:cNvSpPr>
          <p:nvPr/>
        </p:nvSpPr>
        <p:spPr>
          <a:xfrm>
            <a:off x="6365463" y="2940431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 Shape</a:t>
            </a:r>
          </a:p>
        </p:txBody>
      </p:sp>
      <p:sp>
        <p:nvSpPr>
          <p:cNvPr id="57" name="object_583">
            <a:extLst>
              <a:ext uri="{FF2B5EF4-FFF2-40B4-BE49-F238E27FC236}">
                <a16:creationId xmlns:a16="http://schemas.microsoft.com/office/drawing/2014/main" id="{C8D64E60-4214-4C9F-90DA-729D10C60DEA}"/>
              </a:ext>
            </a:extLst>
          </p:cNvPr>
          <p:cNvSpPr>
            <a:spLocks noGrp="1"/>
          </p:cNvSpPr>
          <p:nvPr/>
        </p:nvSpPr>
        <p:spPr>
          <a:xfrm>
            <a:off x="6315457" y="3490500"/>
            <a:ext cx="2221706" cy="385763"/>
          </a:xfrm>
          <a:prstGeom prst="rect">
            <a:avLst/>
          </a:prstGeom>
          <a:solidFill>
            <a:srgbClr val="F2F2F2"/>
          </a:solidFill>
          <a:ln w="19050">
            <a:solidFill>
              <a:schemeClr val="tx1"/>
            </a:solidFill>
          </a:ln>
        </p:spPr>
      </p:sp>
      <p:sp>
        <p:nvSpPr>
          <p:cNvPr id="58" name="text_585_Dispatch 分派规则">
            <a:extLst>
              <a:ext uri="{FF2B5EF4-FFF2-40B4-BE49-F238E27FC236}">
                <a16:creationId xmlns:a16="http://schemas.microsoft.com/office/drawing/2014/main" id="{48788025-6777-4391-9E64-91E623830B78}"/>
              </a:ext>
            </a:extLst>
          </p:cNvPr>
          <p:cNvSpPr>
            <a:spLocks noGrp="1"/>
          </p:cNvSpPr>
          <p:nvPr/>
        </p:nvSpPr>
        <p:spPr>
          <a:xfrm>
            <a:off x="6365463" y="3526219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Dispatch 分派规则</a:t>
            </a:r>
          </a:p>
        </p:txBody>
      </p:sp>
      <p:sp>
        <p:nvSpPr>
          <p:cNvPr id="59" name="object_588">
            <a:extLst>
              <a:ext uri="{FF2B5EF4-FFF2-40B4-BE49-F238E27FC236}">
                <a16:creationId xmlns:a16="http://schemas.microsoft.com/office/drawing/2014/main" id="{3E4134D9-711B-4FC3-9EFA-8B9D2BC1C8D2}"/>
              </a:ext>
            </a:extLst>
          </p:cNvPr>
          <p:cNvSpPr>
            <a:spLocks noGrp="1"/>
          </p:cNvSpPr>
          <p:nvPr/>
        </p:nvSpPr>
        <p:spPr>
          <a:xfrm>
            <a:off x="6315457" y="4076287"/>
            <a:ext cx="2221706" cy="385763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60" name="text_590_Kernel Family + Config">
            <a:extLst>
              <a:ext uri="{FF2B5EF4-FFF2-40B4-BE49-F238E27FC236}">
                <a16:creationId xmlns:a16="http://schemas.microsoft.com/office/drawing/2014/main" id="{37523FFE-9BB8-4E19-A672-1DC4825FFEC1}"/>
              </a:ext>
            </a:extLst>
          </p:cNvPr>
          <p:cNvSpPr>
            <a:spLocks noGrp="1"/>
          </p:cNvSpPr>
          <p:nvPr/>
        </p:nvSpPr>
        <p:spPr>
          <a:xfrm>
            <a:off x="6365463" y="4112006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Family + Config</a:t>
            </a:r>
          </a:p>
        </p:txBody>
      </p:sp>
      <p:sp>
        <p:nvSpPr>
          <p:cNvPr id="61" name="object_593">
            <a:extLst>
              <a:ext uri="{FF2B5EF4-FFF2-40B4-BE49-F238E27FC236}">
                <a16:creationId xmlns:a16="http://schemas.microsoft.com/office/drawing/2014/main" id="{6A3E4DC9-8045-425B-A98A-35A255449B7E}"/>
              </a:ext>
            </a:extLst>
          </p:cNvPr>
          <p:cNvSpPr>
            <a:spLocks noGrp="1"/>
          </p:cNvSpPr>
          <p:nvPr/>
        </p:nvSpPr>
        <p:spPr>
          <a:xfrm>
            <a:off x="6315457" y="4662075"/>
            <a:ext cx="2221706" cy="385763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62" name="text_595_执行对应 Kernel">
            <a:extLst>
              <a:ext uri="{FF2B5EF4-FFF2-40B4-BE49-F238E27FC236}">
                <a16:creationId xmlns:a16="http://schemas.microsoft.com/office/drawing/2014/main" id="{380DB6E5-EBBD-4320-89CC-A46D13F79DC2}"/>
              </a:ext>
            </a:extLst>
          </p:cNvPr>
          <p:cNvSpPr>
            <a:spLocks noGrp="1"/>
          </p:cNvSpPr>
          <p:nvPr/>
        </p:nvSpPr>
        <p:spPr>
          <a:xfrm>
            <a:off x="6365463" y="4697794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执行对应 Kernel</a:t>
            </a:r>
          </a:p>
        </p:txBody>
      </p:sp>
      <p:sp>
        <p:nvSpPr>
          <p:cNvPr id="63" name="object_583">
            <a:extLst>
              <a:ext uri="{FF2B5EF4-FFF2-40B4-BE49-F238E27FC236}">
                <a16:creationId xmlns:a16="http://schemas.microsoft.com/office/drawing/2014/main" id="{C8D64E60-4214-4C9F-90DA-729D10C60DEA}"/>
              </a:ext>
            </a:extLst>
          </p:cNvPr>
          <p:cNvSpPr>
            <a:spLocks noGrp="1"/>
          </p:cNvSpPr>
          <p:nvPr/>
        </p:nvSpPr>
        <p:spPr>
          <a:xfrm>
            <a:off x="3657898" y="4961298"/>
            <a:ext cx="2221706" cy="385763"/>
          </a:xfrm>
          <a:prstGeom prst="rect">
            <a:avLst/>
          </a:prstGeom>
          <a:solidFill>
            <a:srgbClr val="F2F2F2"/>
          </a:solidFill>
          <a:ln w="19050">
            <a:solidFill>
              <a:schemeClr val="tx1"/>
            </a:solidFill>
          </a:ln>
        </p:spPr>
      </p:sp>
      <p:sp>
        <p:nvSpPr>
          <p:cNvPr id="64" name="text_585_Dispatch 分派规则">
            <a:extLst>
              <a:ext uri="{FF2B5EF4-FFF2-40B4-BE49-F238E27FC236}">
                <a16:creationId xmlns:a16="http://schemas.microsoft.com/office/drawing/2014/main" id="{48788025-6777-4391-9E64-91E623830B78}"/>
              </a:ext>
            </a:extLst>
          </p:cNvPr>
          <p:cNvSpPr>
            <a:spLocks noGrp="1"/>
          </p:cNvSpPr>
          <p:nvPr/>
        </p:nvSpPr>
        <p:spPr>
          <a:xfrm>
            <a:off x="3707904" y="4997017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Dispatch </a:t>
            </a:r>
            <a:r>
              <a:rPr sz="1181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分派规则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箭头: 下 38">
            <a:extLst>
              <a:ext uri="{FF2B5EF4-FFF2-40B4-BE49-F238E27FC236}">
                <a16:creationId xmlns:a16="http://schemas.microsoft.com/office/drawing/2014/main" id="{EAB7CA23-300E-472A-92F7-F2EA8CBA1F02}"/>
              </a:ext>
            </a:extLst>
          </p:cNvPr>
          <p:cNvSpPr/>
          <p:nvPr/>
        </p:nvSpPr>
        <p:spPr>
          <a:xfrm>
            <a:off x="4553052" y="4549759"/>
            <a:ext cx="324000" cy="3666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直接箭头连接符 65"/>
          <p:cNvCxnSpPr>
            <a:stCxn id="54" idx="2"/>
            <a:endCxn id="57" idx="0"/>
          </p:cNvCxnSpPr>
          <p:nvPr/>
        </p:nvCxnSpPr>
        <p:spPr>
          <a:xfrm>
            <a:off x="7426310" y="3290475"/>
            <a:ext cx="0" cy="2000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>
            <a:off x="7448099" y="3868608"/>
            <a:ext cx="0" cy="2000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7484675" y="4477949"/>
            <a:ext cx="0" cy="2000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94176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>
            <a:extLst>
              <a:ext uri="{FF2B5EF4-FFF2-40B4-BE49-F238E27FC236}">
                <a16:creationId xmlns:a16="http://schemas.microsoft.com/office/drawing/2014/main" id="{3A2E0B23-0ACD-7EF5-594D-956873623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动态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开发功能扩展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7108" y="1845405"/>
            <a:ext cx="2993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支持动态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686091" y="1870829"/>
            <a:ext cx="1826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自动化参数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搜索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953676" y="1845405"/>
            <a:ext cx="2973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Kernel</a:t>
            </a:r>
            <a:r>
              <a:rPr lang="en-US" altLang="zh-CN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Family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全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覆盖</a:t>
            </a:r>
          </a:p>
        </p:txBody>
      </p:sp>
      <p:sp>
        <p:nvSpPr>
          <p:cNvPr id="35" name="text_545_确定不同输入对应的执行组合">
            <a:extLst>
              <a:ext uri="{FF2B5EF4-FFF2-40B4-BE49-F238E27FC236}">
                <a16:creationId xmlns:a16="http://schemas.microsoft.com/office/drawing/2014/main" id="{2700A8EE-3FB0-43FF-B3A8-314CFEB41440}"/>
              </a:ext>
            </a:extLst>
          </p:cNvPr>
          <p:cNvSpPr>
            <a:spLocks noGrp="1"/>
          </p:cNvSpPr>
          <p:nvPr/>
        </p:nvSpPr>
        <p:spPr>
          <a:xfrm>
            <a:off x="3653539" y="2551426"/>
            <a:ext cx="2486025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确定不同输入对应的执行组合</a:t>
            </a:r>
            <a:endParaRPr sz="118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object_546">
            <a:extLst>
              <a:ext uri="{FF2B5EF4-FFF2-40B4-BE49-F238E27FC236}">
                <a16:creationId xmlns:a16="http://schemas.microsoft.com/office/drawing/2014/main" id="{ECB1E21D-6586-47C6-B57B-E08C670045BD}"/>
              </a:ext>
            </a:extLst>
          </p:cNvPr>
          <p:cNvSpPr>
            <a:spLocks noGrp="1"/>
          </p:cNvSpPr>
          <p:nvPr/>
        </p:nvSpPr>
        <p:spPr>
          <a:xfrm>
            <a:off x="3551690" y="3357052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37" name="text_548_Family">
            <a:extLst>
              <a:ext uri="{FF2B5EF4-FFF2-40B4-BE49-F238E27FC236}">
                <a16:creationId xmlns:a16="http://schemas.microsoft.com/office/drawing/2014/main" id="{5B09708D-83B0-4702-AB2C-40B4C7E8A662}"/>
              </a:ext>
            </a:extLst>
          </p:cNvPr>
          <p:cNvSpPr>
            <a:spLocks noGrp="1"/>
          </p:cNvSpPr>
          <p:nvPr/>
        </p:nvSpPr>
        <p:spPr>
          <a:xfrm>
            <a:off x="3587408" y="3407058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</a:p>
        </p:txBody>
      </p:sp>
      <p:sp>
        <p:nvSpPr>
          <p:cNvPr id="38" name="text_550_候选计算与调度结构">
            <a:extLst>
              <a:ext uri="{FF2B5EF4-FFF2-40B4-BE49-F238E27FC236}">
                <a16:creationId xmlns:a16="http://schemas.microsoft.com/office/drawing/2014/main" id="{C5B90CA6-C114-467A-9863-9A01ED3F70CD}"/>
              </a:ext>
            </a:extLst>
          </p:cNvPr>
          <p:cNvSpPr>
            <a:spLocks noGrp="1"/>
          </p:cNvSpPr>
          <p:nvPr/>
        </p:nvSpPr>
        <p:spPr>
          <a:xfrm>
            <a:off x="4394652" y="3414202"/>
            <a:ext cx="1657350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8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候选计算与调度结构</a:t>
            </a:r>
          </a:p>
        </p:txBody>
      </p:sp>
      <p:sp>
        <p:nvSpPr>
          <p:cNvPr id="39" name="text_552_×">
            <a:extLst>
              <a:ext uri="{FF2B5EF4-FFF2-40B4-BE49-F238E27FC236}">
                <a16:creationId xmlns:a16="http://schemas.microsoft.com/office/drawing/2014/main" id="{B27A0C86-1575-42A4-9E25-4A708A8B0BAD}"/>
              </a:ext>
            </a:extLst>
          </p:cNvPr>
          <p:cNvSpPr>
            <a:spLocks noGrp="1"/>
          </p:cNvSpPr>
          <p:nvPr/>
        </p:nvSpPr>
        <p:spPr>
          <a:xfrm>
            <a:off x="3766002" y="3664233"/>
            <a:ext cx="228600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069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42" name="object_553">
            <a:extLst>
              <a:ext uri="{FF2B5EF4-FFF2-40B4-BE49-F238E27FC236}">
                <a16:creationId xmlns:a16="http://schemas.microsoft.com/office/drawing/2014/main" id="{F1F3A8C8-13C1-409B-98A9-B738AEDDA807}"/>
              </a:ext>
            </a:extLst>
          </p:cNvPr>
          <p:cNvSpPr>
            <a:spLocks noGrp="1"/>
          </p:cNvSpPr>
          <p:nvPr/>
        </p:nvSpPr>
        <p:spPr>
          <a:xfrm>
            <a:off x="3551690" y="3835683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43" name="text_555_Config">
            <a:extLst>
              <a:ext uri="{FF2B5EF4-FFF2-40B4-BE49-F238E27FC236}">
                <a16:creationId xmlns:a16="http://schemas.microsoft.com/office/drawing/2014/main" id="{CA620727-5F3F-4CCD-9D26-B96F2C561BC1}"/>
              </a:ext>
            </a:extLst>
          </p:cNvPr>
          <p:cNvSpPr>
            <a:spLocks noGrp="1"/>
          </p:cNvSpPr>
          <p:nvPr/>
        </p:nvSpPr>
        <p:spPr>
          <a:xfrm>
            <a:off x="3587408" y="3885689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</a:p>
        </p:txBody>
      </p:sp>
      <p:sp>
        <p:nvSpPr>
          <p:cNvPr id="44" name="text_557_每个 Family 的独立参数空间">
            <a:extLst>
              <a:ext uri="{FF2B5EF4-FFF2-40B4-BE49-F238E27FC236}">
                <a16:creationId xmlns:a16="http://schemas.microsoft.com/office/drawing/2014/main" id="{139B27E4-FAF7-4242-A03A-6FCC9A66DDF9}"/>
              </a:ext>
            </a:extLst>
          </p:cNvPr>
          <p:cNvSpPr>
            <a:spLocks noGrp="1"/>
          </p:cNvSpPr>
          <p:nvPr/>
        </p:nvSpPr>
        <p:spPr>
          <a:xfrm>
            <a:off x="4394652" y="3892833"/>
            <a:ext cx="1657350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8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 Family 的独立参数空间</a:t>
            </a:r>
          </a:p>
        </p:txBody>
      </p:sp>
      <p:sp>
        <p:nvSpPr>
          <p:cNvPr id="45" name="text_559_×">
            <a:extLst>
              <a:ext uri="{FF2B5EF4-FFF2-40B4-BE49-F238E27FC236}">
                <a16:creationId xmlns:a16="http://schemas.microsoft.com/office/drawing/2014/main" id="{280D6DE1-B9F3-4527-88DF-9A018C871414}"/>
              </a:ext>
            </a:extLst>
          </p:cNvPr>
          <p:cNvSpPr>
            <a:spLocks noGrp="1"/>
          </p:cNvSpPr>
          <p:nvPr/>
        </p:nvSpPr>
        <p:spPr>
          <a:xfrm>
            <a:off x="3766002" y="4142864"/>
            <a:ext cx="228600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069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46" name="object_560">
            <a:extLst>
              <a:ext uri="{FF2B5EF4-FFF2-40B4-BE49-F238E27FC236}">
                <a16:creationId xmlns:a16="http://schemas.microsoft.com/office/drawing/2014/main" id="{110145B9-5BB1-42AB-9E26-8490F7BACB4A}"/>
              </a:ext>
            </a:extLst>
          </p:cNvPr>
          <p:cNvSpPr>
            <a:spLocks noGrp="1"/>
          </p:cNvSpPr>
          <p:nvPr/>
        </p:nvSpPr>
        <p:spPr>
          <a:xfrm>
            <a:off x="3551690" y="4314314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47" name="text_562_Shape">
            <a:extLst>
              <a:ext uri="{FF2B5EF4-FFF2-40B4-BE49-F238E27FC236}">
                <a16:creationId xmlns:a16="http://schemas.microsoft.com/office/drawing/2014/main" id="{18A6342E-0E63-4338-9766-B577D84E345B}"/>
              </a:ext>
            </a:extLst>
          </p:cNvPr>
          <p:cNvSpPr>
            <a:spLocks noGrp="1"/>
          </p:cNvSpPr>
          <p:nvPr/>
        </p:nvSpPr>
        <p:spPr>
          <a:xfrm>
            <a:off x="3587408" y="4364320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</p:txBody>
      </p:sp>
      <p:sp>
        <p:nvSpPr>
          <p:cNvPr id="48" name="text_564_代表输入及完整验证域">
            <a:extLst>
              <a:ext uri="{FF2B5EF4-FFF2-40B4-BE49-F238E27FC236}">
                <a16:creationId xmlns:a16="http://schemas.microsoft.com/office/drawing/2014/main" id="{70A448AA-6906-404F-A4FF-327130831010}"/>
              </a:ext>
            </a:extLst>
          </p:cNvPr>
          <p:cNvSpPr>
            <a:spLocks noGrp="1"/>
          </p:cNvSpPr>
          <p:nvPr/>
        </p:nvSpPr>
        <p:spPr>
          <a:xfrm>
            <a:off x="4394652" y="4371464"/>
            <a:ext cx="1657350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8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代表输入及完整验证域</a:t>
            </a: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3334009" y="1944367"/>
            <a:ext cx="18836" cy="394839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5966649" y="1948619"/>
            <a:ext cx="18836" cy="394839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bject_509">
            <a:extLst>
              <a:ext uri="{FF2B5EF4-FFF2-40B4-BE49-F238E27FC236}">
                <a16:creationId xmlns:a16="http://schemas.microsoft.com/office/drawing/2014/main" id="{599FE5CF-EA8B-49A4-91A4-675520E94A0D}"/>
              </a:ext>
            </a:extLst>
          </p:cNvPr>
          <p:cNvSpPr>
            <a:spLocks noGrp="1"/>
          </p:cNvSpPr>
          <p:nvPr/>
        </p:nvSpPr>
        <p:spPr>
          <a:xfrm>
            <a:off x="712638" y="2869827"/>
            <a:ext cx="2207419" cy="521494"/>
          </a:xfrm>
          <a:prstGeom prst="rect">
            <a:avLst/>
          </a:prstGeom>
          <a:solidFill>
            <a:srgbClr val="F2F2F2"/>
          </a:solidFill>
          <a:ln w="19050">
            <a:solidFill>
              <a:schemeClr val="tx1"/>
            </a:solidFill>
          </a:ln>
        </p:spPr>
      </p:sp>
      <p:sp>
        <p:nvSpPr>
          <p:cNvPr id="61" name="text_511_Shape 特征与硬件约束">
            <a:extLst>
              <a:ext uri="{FF2B5EF4-FFF2-40B4-BE49-F238E27FC236}">
                <a16:creationId xmlns:a16="http://schemas.microsoft.com/office/drawing/2014/main" id="{DCEDCAE8-7407-45A4-9DAC-37C29A01601F}"/>
              </a:ext>
            </a:extLst>
          </p:cNvPr>
          <p:cNvSpPr>
            <a:spLocks noGrp="1"/>
          </p:cNvSpPr>
          <p:nvPr/>
        </p:nvSpPr>
        <p:spPr>
          <a:xfrm>
            <a:off x="747162" y="3005754"/>
            <a:ext cx="2107406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特征与硬件约束</a:t>
            </a:r>
            <a:endParaRPr sz="1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connector_514">
            <a:extLst>
              <a:ext uri="{FF2B5EF4-FFF2-40B4-BE49-F238E27FC236}">
                <a16:creationId xmlns:a16="http://schemas.microsoft.com/office/drawing/2014/main" id="{5CCFD52D-A60D-46B5-BD5A-911E96835CDA}"/>
              </a:ext>
            </a:extLst>
          </p:cNvPr>
          <p:cNvSpPr>
            <a:spLocks noGrp="1"/>
          </p:cNvSpPr>
          <p:nvPr/>
        </p:nvSpPr>
        <p:spPr>
          <a:xfrm flipH="1">
            <a:off x="1749189" y="3377034"/>
            <a:ext cx="70966" cy="615173"/>
          </a:xfrm>
          <a:custGeom>
            <a:avLst/>
            <a:gdLst/>
            <a:ahLst/>
            <a:cxnLst/>
            <a:rect l="0" t="0" r="0" b="0"/>
            <a:pathLst>
              <a:path w="19050" h="314325">
                <a:moveTo>
                  <a:pt x="9525" y="9525"/>
                </a:moveTo>
                <a:lnTo>
                  <a:pt x="9525" y="3048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64" name="object_516">
            <a:extLst>
              <a:ext uri="{FF2B5EF4-FFF2-40B4-BE49-F238E27FC236}">
                <a16:creationId xmlns:a16="http://schemas.microsoft.com/office/drawing/2014/main" id="{8754589E-DC80-4B44-BDE8-359DBAA8140D}"/>
              </a:ext>
            </a:extLst>
          </p:cNvPr>
          <p:cNvSpPr>
            <a:spLocks noGrp="1"/>
          </p:cNvSpPr>
          <p:nvPr/>
        </p:nvSpPr>
        <p:spPr>
          <a:xfrm>
            <a:off x="634057" y="3962821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65" name="text_518_Family A">
            <a:extLst>
              <a:ext uri="{FF2B5EF4-FFF2-40B4-BE49-F238E27FC236}">
                <a16:creationId xmlns:a16="http://schemas.microsoft.com/office/drawing/2014/main" id="{0D502887-3DAC-40E2-8103-622ECACCF5AB}"/>
              </a:ext>
            </a:extLst>
          </p:cNvPr>
          <p:cNvSpPr>
            <a:spLocks noGrp="1"/>
          </p:cNvSpPr>
          <p:nvPr/>
        </p:nvSpPr>
        <p:spPr>
          <a:xfrm>
            <a:off x="684063" y="3998539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A</a:t>
            </a:r>
          </a:p>
        </p:txBody>
      </p:sp>
      <p:sp>
        <p:nvSpPr>
          <p:cNvPr id="66" name="text_520_小尺寸优化">
            <a:extLst>
              <a:ext uri="{FF2B5EF4-FFF2-40B4-BE49-F238E27FC236}">
                <a16:creationId xmlns:a16="http://schemas.microsoft.com/office/drawing/2014/main" id="{DE2AFA2C-CF93-4F04-9706-37FF9EA9B2A0}"/>
              </a:ext>
            </a:extLst>
          </p:cNvPr>
          <p:cNvSpPr>
            <a:spLocks noGrp="1"/>
          </p:cNvSpPr>
          <p:nvPr/>
        </p:nvSpPr>
        <p:spPr>
          <a:xfrm>
            <a:off x="691207" y="4348584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小尺寸优化</a:t>
            </a:r>
            <a:endParaRPr sz="9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connector_521">
            <a:extLst>
              <a:ext uri="{FF2B5EF4-FFF2-40B4-BE49-F238E27FC236}">
                <a16:creationId xmlns:a16="http://schemas.microsoft.com/office/drawing/2014/main" id="{E739D5DF-5AEC-41A9-9076-6C7B6694DF22}"/>
              </a:ext>
            </a:extLst>
          </p:cNvPr>
          <p:cNvSpPr>
            <a:spLocks noGrp="1"/>
          </p:cNvSpPr>
          <p:nvPr/>
        </p:nvSpPr>
        <p:spPr>
          <a:xfrm>
            <a:off x="991244" y="3755653"/>
            <a:ext cx="14288" cy="192881"/>
          </a:xfrm>
          <a:custGeom>
            <a:avLst/>
            <a:gdLst/>
            <a:ahLst/>
            <a:cxnLst/>
            <a:rect l="0" t="0" r="0" b="0"/>
            <a:pathLst>
              <a:path w="19050" h="257175">
                <a:moveTo>
                  <a:pt x="9525" y="9525"/>
                </a:moveTo>
                <a:lnTo>
                  <a:pt x="9525" y="247650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68" name="object_522">
            <a:extLst>
              <a:ext uri="{FF2B5EF4-FFF2-40B4-BE49-F238E27FC236}">
                <a16:creationId xmlns:a16="http://schemas.microsoft.com/office/drawing/2014/main" id="{9A8FCD52-212F-4F8B-9CE8-D8B7C497D1A0}"/>
              </a:ext>
            </a:extLst>
          </p:cNvPr>
          <p:cNvSpPr>
            <a:spLocks noGrp="1"/>
          </p:cNvSpPr>
          <p:nvPr/>
        </p:nvSpPr>
        <p:spPr>
          <a:xfrm>
            <a:off x="1427013" y="3962821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69" name="text_524_Family B">
            <a:extLst>
              <a:ext uri="{FF2B5EF4-FFF2-40B4-BE49-F238E27FC236}">
                <a16:creationId xmlns:a16="http://schemas.microsoft.com/office/drawing/2014/main" id="{0689E7E8-3EF0-42E8-9DFC-C18494148775}"/>
              </a:ext>
            </a:extLst>
          </p:cNvPr>
          <p:cNvSpPr>
            <a:spLocks noGrp="1"/>
          </p:cNvSpPr>
          <p:nvPr/>
        </p:nvSpPr>
        <p:spPr>
          <a:xfrm>
            <a:off x="1477019" y="3998539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B</a:t>
            </a:r>
          </a:p>
        </p:txBody>
      </p:sp>
      <p:sp>
        <p:nvSpPr>
          <p:cNvPr id="70" name="text_526_分块 / 分阶段">
            <a:extLst>
              <a:ext uri="{FF2B5EF4-FFF2-40B4-BE49-F238E27FC236}">
                <a16:creationId xmlns:a16="http://schemas.microsoft.com/office/drawing/2014/main" id="{37F14FA7-5505-4631-ADAC-04AEEF84525D}"/>
              </a:ext>
            </a:extLst>
          </p:cNvPr>
          <p:cNvSpPr>
            <a:spLocks noGrp="1"/>
          </p:cNvSpPr>
          <p:nvPr/>
        </p:nvSpPr>
        <p:spPr>
          <a:xfrm>
            <a:off x="1484163" y="4348584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分块</a:t>
            </a:r>
            <a:r>
              <a:rPr sz="9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950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分阶段</a:t>
            </a:r>
            <a:endParaRPr sz="9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object_528">
            <a:extLst>
              <a:ext uri="{FF2B5EF4-FFF2-40B4-BE49-F238E27FC236}">
                <a16:creationId xmlns:a16="http://schemas.microsoft.com/office/drawing/2014/main" id="{7D3E2448-F299-48BF-8DDA-3AE3D70E4647}"/>
              </a:ext>
            </a:extLst>
          </p:cNvPr>
          <p:cNvSpPr>
            <a:spLocks noGrp="1"/>
          </p:cNvSpPr>
          <p:nvPr/>
        </p:nvSpPr>
        <p:spPr>
          <a:xfrm>
            <a:off x="2219970" y="3962821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72" name="text_530_Family C">
            <a:extLst>
              <a:ext uri="{FF2B5EF4-FFF2-40B4-BE49-F238E27FC236}">
                <a16:creationId xmlns:a16="http://schemas.microsoft.com/office/drawing/2014/main" id="{D9F93969-9FE6-47B5-864C-15B5279D1EA9}"/>
              </a:ext>
            </a:extLst>
          </p:cNvPr>
          <p:cNvSpPr>
            <a:spLocks noGrp="1"/>
          </p:cNvSpPr>
          <p:nvPr/>
        </p:nvSpPr>
        <p:spPr>
          <a:xfrm>
            <a:off x="2269976" y="3998539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C</a:t>
            </a:r>
          </a:p>
        </p:txBody>
      </p:sp>
      <p:sp>
        <p:nvSpPr>
          <p:cNvPr id="73" name="text_532_整轴结构">
            <a:extLst>
              <a:ext uri="{FF2B5EF4-FFF2-40B4-BE49-F238E27FC236}">
                <a16:creationId xmlns:a16="http://schemas.microsoft.com/office/drawing/2014/main" id="{F306B480-5DD0-42A4-AE1B-7E4D95BB26F5}"/>
              </a:ext>
            </a:extLst>
          </p:cNvPr>
          <p:cNvSpPr>
            <a:spLocks noGrp="1"/>
          </p:cNvSpPr>
          <p:nvPr/>
        </p:nvSpPr>
        <p:spPr>
          <a:xfrm>
            <a:off x="2277120" y="4348584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整轴结构</a:t>
            </a:r>
            <a:endParaRPr sz="9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connector_533">
            <a:extLst>
              <a:ext uri="{FF2B5EF4-FFF2-40B4-BE49-F238E27FC236}">
                <a16:creationId xmlns:a16="http://schemas.microsoft.com/office/drawing/2014/main" id="{B65F86A3-A3F0-46C6-9F04-DFCE1FB66A28}"/>
              </a:ext>
            </a:extLst>
          </p:cNvPr>
          <p:cNvSpPr>
            <a:spLocks noGrp="1"/>
          </p:cNvSpPr>
          <p:nvPr/>
        </p:nvSpPr>
        <p:spPr>
          <a:xfrm>
            <a:off x="2577156" y="3755653"/>
            <a:ext cx="14288" cy="192881"/>
          </a:xfrm>
          <a:custGeom>
            <a:avLst/>
            <a:gdLst/>
            <a:ahLst/>
            <a:cxnLst/>
            <a:rect l="0" t="0" r="0" b="0"/>
            <a:pathLst>
              <a:path w="19050" h="257175">
                <a:moveTo>
                  <a:pt x="9525" y="9525"/>
                </a:moveTo>
                <a:lnTo>
                  <a:pt x="9525" y="247650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75" name="connector_534">
            <a:extLst>
              <a:ext uri="{FF2B5EF4-FFF2-40B4-BE49-F238E27FC236}">
                <a16:creationId xmlns:a16="http://schemas.microsoft.com/office/drawing/2014/main" id="{7876BC28-7B2F-4444-9F7E-BF2536D17E7D}"/>
              </a:ext>
            </a:extLst>
          </p:cNvPr>
          <p:cNvSpPr>
            <a:spLocks noGrp="1"/>
          </p:cNvSpPr>
          <p:nvPr/>
        </p:nvSpPr>
        <p:spPr>
          <a:xfrm>
            <a:off x="991244" y="3755652"/>
            <a:ext cx="1600200" cy="14288"/>
          </a:xfrm>
          <a:custGeom>
            <a:avLst/>
            <a:gdLst/>
            <a:ahLst/>
            <a:cxnLst/>
            <a:rect l="0" t="0" r="0" b="0"/>
            <a:pathLst>
              <a:path w="2133600" h="19050">
                <a:moveTo>
                  <a:pt x="9525" y="9525"/>
                </a:moveTo>
                <a:lnTo>
                  <a:pt x="212407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76" name="object_578">
            <a:extLst>
              <a:ext uri="{FF2B5EF4-FFF2-40B4-BE49-F238E27FC236}">
                <a16:creationId xmlns:a16="http://schemas.microsoft.com/office/drawing/2014/main" id="{4F831D10-4DE6-436E-8CCB-81E900073FAC}"/>
              </a:ext>
            </a:extLst>
          </p:cNvPr>
          <p:cNvSpPr>
            <a:spLocks noGrp="1"/>
          </p:cNvSpPr>
          <p:nvPr/>
        </p:nvSpPr>
        <p:spPr>
          <a:xfrm>
            <a:off x="6293644" y="2671762"/>
            <a:ext cx="2221706" cy="385763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77" name="text_580_输入 Shape">
            <a:extLst>
              <a:ext uri="{FF2B5EF4-FFF2-40B4-BE49-F238E27FC236}">
                <a16:creationId xmlns:a16="http://schemas.microsoft.com/office/drawing/2014/main" id="{71AF5102-B161-4314-A148-71203D787F0C}"/>
              </a:ext>
            </a:extLst>
          </p:cNvPr>
          <p:cNvSpPr>
            <a:spLocks noGrp="1"/>
          </p:cNvSpPr>
          <p:nvPr/>
        </p:nvSpPr>
        <p:spPr>
          <a:xfrm>
            <a:off x="6343650" y="2707481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 Shape</a:t>
            </a:r>
          </a:p>
        </p:txBody>
      </p:sp>
      <p:sp>
        <p:nvSpPr>
          <p:cNvPr id="80" name="object_583">
            <a:extLst>
              <a:ext uri="{FF2B5EF4-FFF2-40B4-BE49-F238E27FC236}">
                <a16:creationId xmlns:a16="http://schemas.microsoft.com/office/drawing/2014/main" id="{C8D64E60-4214-4C9F-90DA-729D10C60DEA}"/>
              </a:ext>
            </a:extLst>
          </p:cNvPr>
          <p:cNvSpPr>
            <a:spLocks noGrp="1"/>
          </p:cNvSpPr>
          <p:nvPr/>
        </p:nvSpPr>
        <p:spPr>
          <a:xfrm>
            <a:off x="6293644" y="3257550"/>
            <a:ext cx="2221706" cy="385763"/>
          </a:xfrm>
          <a:prstGeom prst="rect">
            <a:avLst/>
          </a:prstGeom>
          <a:solidFill>
            <a:srgbClr val="F2F2F2"/>
          </a:solidFill>
          <a:ln w="19050">
            <a:solidFill>
              <a:schemeClr val="tx1"/>
            </a:solidFill>
          </a:ln>
        </p:spPr>
      </p:sp>
      <p:sp>
        <p:nvSpPr>
          <p:cNvPr id="81" name="text_585_Dispatch 分派规则">
            <a:extLst>
              <a:ext uri="{FF2B5EF4-FFF2-40B4-BE49-F238E27FC236}">
                <a16:creationId xmlns:a16="http://schemas.microsoft.com/office/drawing/2014/main" id="{48788025-6777-4391-9E64-91E623830B78}"/>
              </a:ext>
            </a:extLst>
          </p:cNvPr>
          <p:cNvSpPr>
            <a:spLocks noGrp="1"/>
          </p:cNvSpPr>
          <p:nvPr/>
        </p:nvSpPr>
        <p:spPr>
          <a:xfrm>
            <a:off x="6343650" y="3293269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Dispatch 分派规则</a:t>
            </a:r>
          </a:p>
        </p:txBody>
      </p:sp>
      <p:sp>
        <p:nvSpPr>
          <p:cNvPr id="85" name="object_588">
            <a:extLst>
              <a:ext uri="{FF2B5EF4-FFF2-40B4-BE49-F238E27FC236}">
                <a16:creationId xmlns:a16="http://schemas.microsoft.com/office/drawing/2014/main" id="{3E4134D9-711B-4FC3-9EFA-8B9D2BC1C8D2}"/>
              </a:ext>
            </a:extLst>
          </p:cNvPr>
          <p:cNvSpPr>
            <a:spLocks noGrp="1"/>
          </p:cNvSpPr>
          <p:nvPr/>
        </p:nvSpPr>
        <p:spPr>
          <a:xfrm>
            <a:off x="6293644" y="3843337"/>
            <a:ext cx="2221706" cy="385763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86" name="text_590_Kernel Family + Config">
            <a:extLst>
              <a:ext uri="{FF2B5EF4-FFF2-40B4-BE49-F238E27FC236}">
                <a16:creationId xmlns:a16="http://schemas.microsoft.com/office/drawing/2014/main" id="{37523FFE-9BB8-4E19-A672-1DC4825FFEC1}"/>
              </a:ext>
            </a:extLst>
          </p:cNvPr>
          <p:cNvSpPr>
            <a:spLocks noGrp="1"/>
          </p:cNvSpPr>
          <p:nvPr/>
        </p:nvSpPr>
        <p:spPr>
          <a:xfrm>
            <a:off x="6343650" y="3879056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Family + Config</a:t>
            </a:r>
          </a:p>
        </p:txBody>
      </p:sp>
      <p:sp>
        <p:nvSpPr>
          <p:cNvPr id="89" name="object_593">
            <a:extLst>
              <a:ext uri="{FF2B5EF4-FFF2-40B4-BE49-F238E27FC236}">
                <a16:creationId xmlns:a16="http://schemas.microsoft.com/office/drawing/2014/main" id="{6A3E4DC9-8045-425B-A98A-35A255449B7E}"/>
              </a:ext>
            </a:extLst>
          </p:cNvPr>
          <p:cNvSpPr>
            <a:spLocks noGrp="1"/>
          </p:cNvSpPr>
          <p:nvPr/>
        </p:nvSpPr>
        <p:spPr>
          <a:xfrm>
            <a:off x="6293644" y="4429125"/>
            <a:ext cx="2221706" cy="385763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90" name="text_595_执行对应 Kernel">
            <a:extLst>
              <a:ext uri="{FF2B5EF4-FFF2-40B4-BE49-F238E27FC236}">
                <a16:creationId xmlns:a16="http://schemas.microsoft.com/office/drawing/2014/main" id="{380DB6E5-EBBD-4320-89CC-A46D13F79DC2}"/>
              </a:ext>
            </a:extLst>
          </p:cNvPr>
          <p:cNvSpPr>
            <a:spLocks noGrp="1"/>
          </p:cNvSpPr>
          <p:nvPr/>
        </p:nvSpPr>
        <p:spPr>
          <a:xfrm>
            <a:off x="6343650" y="4464844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执行对应 Kernel</a:t>
            </a:r>
          </a:p>
        </p:txBody>
      </p:sp>
      <p:sp>
        <p:nvSpPr>
          <p:cNvPr id="91" name="object_583">
            <a:extLst>
              <a:ext uri="{FF2B5EF4-FFF2-40B4-BE49-F238E27FC236}">
                <a16:creationId xmlns:a16="http://schemas.microsoft.com/office/drawing/2014/main" id="{C8D64E60-4214-4C9F-90DA-729D10C60DEA}"/>
              </a:ext>
            </a:extLst>
          </p:cNvPr>
          <p:cNvSpPr>
            <a:spLocks noGrp="1"/>
          </p:cNvSpPr>
          <p:nvPr/>
        </p:nvSpPr>
        <p:spPr>
          <a:xfrm>
            <a:off x="3640590" y="5152769"/>
            <a:ext cx="2221706" cy="385763"/>
          </a:xfrm>
          <a:prstGeom prst="rect">
            <a:avLst/>
          </a:prstGeom>
          <a:solidFill>
            <a:srgbClr val="F2F2F2"/>
          </a:solidFill>
          <a:ln w="19050">
            <a:solidFill>
              <a:schemeClr val="tx1"/>
            </a:solidFill>
          </a:ln>
        </p:spPr>
      </p:sp>
      <p:sp>
        <p:nvSpPr>
          <p:cNvPr id="92" name="text_585_Dispatch 分派规则">
            <a:extLst>
              <a:ext uri="{FF2B5EF4-FFF2-40B4-BE49-F238E27FC236}">
                <a16:creationId xmlns:a16="http://schemas.microsoft.com/office/drawing/2014/main" id="{48788025-6777-4391-9E64-91E623830B78}"/>
              </a:ext>
            </a:extLst>
          </p:cNvPr>
          <p:cNvSpPr>
            <a:spLocks noGrp="1"/>
          </p:cNvSpPr>
          <p:nvPr/>
        </p:nvSpPr>
        <p:spPr>
          <a:xfrm>
            <a:off x="3690596" y="5188488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Dispatch </a:t>
            </a:r>
            <a:r>
              <a:rPr sz="1181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分派规则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箭头: 下 38">
            <a:extLst>
              <a:ext uri="{FF2B5EF4-FFF2-40B4-BE49-F238E27FC236}">
                <a16:creationId xmlns:a16="http://schemas.microsoft.com/office/drawing/2014/main" id="{EAB7CA23-300E-472A-92F7-F2EA8CBA1F02}"/>
              </a:ext>
            </a:extLst>
          </p:cNvPr>
          <p:cNvSpPr/>
          <p:nvPr/>
        </p:nvSpPr>
        <p:spPr>
          <a:xfrm>
            <a:off x="4535744" y="4741230"/>
            <a:ext cx="324000" cy="3666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/>
          <p:cNvCxnSpPr>
            <a:stCxn id="76" idx="2"/>
            <a:endCxn id="80" idx="0"/>
          </p:cNvCxnSpPr>
          <p:nvPr/>
        </p:nvCxnSpPr>
        <p:spPr>
          <a:xfrm>
            <a:off x="7404497" y="3057525"/>
            <a:ext cx="0" cy="2000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>
            <a:off x="7426286" y="3635658"/>
            <a:ext cx="0" cy="2000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>
            <a:off x="7462862" y="4244999"/>
            <a:ext cx="0" cy="2000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54465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>
            <a:extLst>
              <a:ext uri="{FF2B5EF4-FFF2-40B4-BE49-F238E27FC236}">
                <a16:creationId xmlns:a16="http://schemas.microsoft.com/office/drawing/2014/main" id="{3A2E0B23-0ACD-7EF5-594D-956873623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动态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开发功能扩展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graphicFrame>
        <p:nvGraphicFramePr>
          <p:cNvPr id="94" name="表格 93"/>
          <p:cNvGraphicFramePr/>
          <p:nvPr>
            <p:extLst>
              <p:ext uri="{D42A27DB-BD31-4B8C-83A1-F6EECF244321}">
                <p14:modId xmlns:p14="http://schemas.microsoft.com/office/powerpoint/2010/main" val="857982517"/>
              </p:ext>
            </p:extLst>
          </p:nvPr>
        </p:nvGraphicFramePr>
        <p:xfrm>
          <a:off x="1115616" y="1928793"/>
          <a:ext cx="4601940" cy="3237521"/>
        </p:xfrm>
        <a:graphic>
          <a:graphicData uri="http://schemas.openxmlformats.org/drawingml/2006/table">
            <a:tbl>
              <a:tblPr/>
              <a:tblGrid>
                <a:gridCol w="1610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5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5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250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算子</a:t>
                      </a:r>
                      <a:endParaRPr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静态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V1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V2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V3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5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softmax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1.23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1.182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5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layernorm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5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rmsnorm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0.96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5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gelu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1.15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5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matmul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0.45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503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Shape 范围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单一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范围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范围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范围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5" name="text_771_✓ 支持    △ 初步支持    × 不支持">
            <a:extLst>
              <a:ext uri="{FF2B5EF4-FFF2-40B4-BE49-F238E27FC236}">
                <a16:creationId xmlns:a16="http://schemas.microsoft.com/office/drawing/2014/main" id="{1A86A0C8-5993-4073-AE87-50570B253DCE}"/>
              </a:ext>
            </a:extLst>
          </p:cNvPr>
          <p:cNvSpPr>
            <a:spLocks noGrp="1"/>
          </p:cNvSpPr>
          <p:nvPr/>
        </p:nvSpPr>
        <p:spPr>
          <a:xfrm>
            <a:off x="1115616" y="5323589"/>
            <a:ext cx="3075282" cy="39978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值为相比</a:t>
            </a:r>
            <a:r>
              <a:rPr lang="en-US" altLang="zh-CN" sz="10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sz="10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官方算子的加速比；</a:t>
            </a:r>
            <a:endParaRPr lang="en-US" altLang="zh-CN" sz="10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p"/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每个算子开发完成之后随机测试</a:t>
            </a:r>
            <a:r>
              <a:rPr lang="en-US" altLang="zh-CN" sz="10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144</a:t>
            </a:r>
            <a:r>
              <a:rPr lang="zh-CN" altLang="en-US" sz="10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10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0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sz="10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93556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>
            <a:extLst>
              <a:ext uri="{FF2B5EF4-FFF2-40B4-BE49-F238E27FC236}">
                <a16:creationId xmlns:a16="http://schemas.microsoft.com/office/drawing/2014/main" id="{3A2E0B23-0ACD-7EF5-594D-956873623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40" name="text_173_相同语义反复读取&#10;Token 消耗高"/>
          <p:cNvSpPr>
            <a:spLocks noGrp="1"/>
          </p:cNvSpPr>
          <p:nvPr/>
        </p:nvSpPr>
        <p:spPr>
          <a:xfrm>
            <a:off x="1668699" y="6106739"/>
            <a:ext cx="4536033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lang="zh-CN" altLang="en-US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进行简单修改后，验证需要重新跑一遍算子开发</a:t>
            </a:r>
          </a:p>
        </p:txBody>
      </p:sp>
      <p:sp>
        <p:nvSpPr>
          <p:cNvPr id="52" name="text_171_上下文重复"/>
          <p:cNvSpPr>
            <a:spLocks noGrp="1"/>
          </p:cNvSpPr>
          <p:nvPr/>
        </p:nvSpPr>
        <p:spPr>
          <a:xfrm>
            <a:off x="489980" y="6196036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原因分析：</a:t>
            </a:r>
            <a:endParaRPr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_171_上下文重复"/>
          <p:cNvSpPr>
            <a:spLocks noGrp="1"/>
          </p:cNvSpPr>
          <p:nvPr/>
        </p:nvSpPr>
        <p:spPr>
          <a:xfrm>
            <a:off x="704671" y="1665995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①：按照修改范围选择验证深度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kill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修改后验证成本高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object_825"/>
          <p:cNvSpPr>
            <a:spLocks noGrp="1"/>
          </p:cNvSpPr>
          <p:nvPr/>
        </p:nvSpPr>
        <p:spPr>
          <a:xfrm>
            <a:off x="554252" y="2350484"/>
            <a:ext cx="792956" cy="900113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44" name="text_827_L1"/>
          <p:cNvSpPr>
            <a:spLocks noGrp="1"/>
          </p:cNvSpPr>
          <p:nvPr/>
        </p:nvSpPr>
        <p:spPr>
          <a:xfrm>
            <a:off x="582827" y="2464785"/>
            <a:ext cx="735806" cy="3500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</a:p>
        </p:txBody>
      </p:sp>
      <p:sp>
        <p:nvSpPr>
          <p:cNvPr id="45" name="text_829_低成本"/>
          <p:cNvSpPr>
            <a:spLocks noGrp="1"/>
          </p:cNvSpPr>
          <p:nvPr/>
        </p:nvSpPr>
        <p:spPr>
          <a:xfrm>
            <a:off x="575683" y="2893410"/>
            <a:ext cx="75009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低成本</a:t>
            </a:r>
          </a:p>
        </p:txBody>
      </p:sp>
      <p:sp>
        <p:nvSpPr>
          <p:cNvPr id="46" name="text_831_静态结构验证"/>
          <p:cNvSpPr>
            <a:spLocks noGrp="1"/>
          </p:cNvSpPr>
          <p:nvPr/>
        </p:nvSpPr>
        <p:spPr>
          <a:xfrm>
            <a:off x="1583900" y="2557527"/>
            <a:ext cx="2893219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静态结构验证</a:t>
            </a:r>
            <a:endParaRPr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_833_快速、低成本"/>
          <p:cNvSpPr>
            <a:spLocks noGrp="1"/>
          </p:cNvSpPr>
          <p:nvPr/>
        </p:nvSpPr>
        <p:spPr>
          <a:xfrm>
            <a:off x="1586729" y="2885976"/>
            <a:ext cx="289321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快速</a:t>
            </a:r>
            <a:r>
              <a:rPr lang="zh-CN" altLang="en-US" sz="16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筛查</a:t>
            </a:r>
            <a:endParaRPr sz="16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object_840"/>
          <p:cNvSpPr>
            <a:spLocks noGrp="1"/>
          </p:cNvSpPr>
          <p:nvPr/>
        </p:nvSpPr>
        <p:spPr>
          <a:xfrm>
            <a:off x="554252" y="3493484"/>
            <a:ext cx="792956" cy="900113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49" name="text_842_L2"/>
          <p:cNvSpPr>
            <a:spLocks noGrp="1"/>
          </p:cNvSpPr>
          <p:nvPr/>
        </p:nvSpPr>
        <p:spPr>
          <a:xfrm>
            <a:off x="582827" y="3607785"/>
            <a:ext cx="735806" cy="3500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</a:p>
        </p:txBody>
      </p:sp>
      <p:sp>
        <p:nvSpPr>
          <p:cNvPr id="50" name="text_844_中等成本"/>
          <p:cNvSpPr>
            <a:spLocks noGrp="1"/>
          </p:cNvSpPr>
          <p:nvPr/>
        </p:nvSpPr>
        <p:spPr>
          <a:xfrm>
            <a:off x="575683" y="4036410"/>
            <a:ext cx="75009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中等成本</a:t>
            </a:r>
          </a:p>
        </p:txBody>
      </p:sp>
      <p:sp>
        <p:nvSpPr>
          <p:cNvPr id="51" name="text_846_Workflow 行为验证"/>
          <p:cNvSpPr>
            <a:spLocks noGrp="1"/>
          </p:cNvSpPr>
          <p:nvPr/>
        </p:nvSpPr>
        <p:spPr>
          <a:xfrm>
            <a:off x="1583856" y="3657179"/>
            <a:ext cx="1515268" cy="28147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行为验证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_848_验证流程是否按预期工作"/>
          <p:cNvSpPr>
            <a:spLocks noGrp="1"/>
          </p:cNvSpPr>
          <p:nvPr/>
        </p:nvSpPr>
        <p:spPr>
          <a:xfrm>
            <a:off x="1583856" y="4014988"/>
            <a:ext cx="289321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验证流程是否按预期工作</a:t>
            </a:r>
            <a:endParaRPr sz="16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object_855"/>
          <p:cNvSpPr>
            <a:spLocks noGrp="1"/>
          </p:cNvSpPr>
          <p:nvPr/>
        </p:nvSpPr>
        <p:spPr>
          <a:xfrm>
            <a:off x="554252" y="4636484"/>
            <a:ext cx="792956" cy="900113"/>
          </a:xfrm>
          <a:prstGeom prst="rect">
            <a:avLst/>
          </a:prstGeom>
          <a:solidFill>
            <a:srgbClr val="FCF0F1"/>
          </a:solidFill>
          <a:ln w="9525">
            <a:noFill/>
          </a:ln>
        </p:spPr>
      </p:sp>
      <p:sp>
        <p:nvSpPr>
          <p:cNvPr id="58" name="text_857_L3"/>
          <p:cNvSpPr>
            <a:spLocks noGrp="1"/>
          </p:cNvSpPr>
          <p:nvPr/>
        </p:nvSpPr>
        <p:spPr>
          <a:xfrm>
            <a:off x="582827" y="4750785"/>
            <a:ext cx="735806" cy="3500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L3</a:t>
            </a:r>
          </a:p>
        </p:txBody>
      </p:sp>
      <p:sp>
        <p:nvSpPr>
          <p:cNvPr id="59" name="text_859_高成本"/>
          <p:cNvSpPr>
            <a:spLocks noGrp="1"/>
          </p:cNvSpPr>
          <p:nvPr/>
        </p:nvSpPr>
        <p:spPr>
          <a:xfrm>
            <a:off x="575683" y="5179410"/>
            <a:ext cx="75009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高成本</a:t>
            </a:r>
          </a:p>
        </p:txBody>
      </p:sp>
      <p:sp>
        <p:nvSpPr>
          <p:cNvPr id="60" name="text_861_真实环境验证"/>
          <p:cNvSpPr>
            <a:spLocks noGrp="1"/>
          </p:cNvSpPr>
          <p:nvPr/>
        </p:nvSpPr>
        <p:spPr>
          <a:xfrm>
            <a:off x="1583857" y="4793821"/>
            <a:ext cx="2893219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真实</a:t>
            </a:r>
            <a:r>
              <a:rPr lang="zh-CN" altLang="en-US" sz="1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</a:t>
            </a:r>
            <a:r>
              <a:rPr sz="16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</a:t>
            </a:r>
            <a:endParaRPr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_863_硬件与工具链绑定验证"/>
          <p:cNvSpPr>
            <a:spLocks noGrp="1"/>
          </p:cNvSpPr>
          <p:nvPr/>
        </p:nvSpPr>
        <p:spPr>
          <a:xfrm>
            <a:off x="1583858" y="5097731"/>
            <a:ext cx="289321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算子策略相关的修改</a:t>
            </a:r>
            <a:endParaRPr sz="16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object_876"/>
          <p:cNvSpPr>
            <a:spLocks noGrp="1"/>
          </p:cNvSpPr>
          <p:nvPr/>
        </p:nvSpPr>
        <p:spPr>
          <a:xfrm>
            <a:off x="4060379" y="3566493"/>
            <a:ext cx="1282496" cy="635191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98" name="text_878_修改内容"/>
          <p:cNvSpPr>
            <a:spLocks noGrp="1"/>
          </p:cNvSpPr>
          <p:nvPr/>
        </p:nvSpPr>
        <p:spPr>
          <a:xfrm>
            <a:off x="4222399" y="3652006"/>
            <a:ext cx="914400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修改内容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_880_判断修改范围"/>
          <p:cNvSpPr>
            <a:spLocks noGrp="1"/>
          </p:cNvSpPr>
          <p:nvPr/>
        </p:nvSpPr>
        <p:spPr>
          <a:xfrm>
            <a:off x="4251570" y="3926601"/>
            <a:ext cx="900113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判断修改范围</a:t>
            </a:r>
            <a:endParaRPr sz="14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_900_L1 + L2 + L3 全流程"/>
          <p:cNvSpPr>
            <a:spLocks noGrp="1"/>
          </p:cNvSpPr>
          <p:nvPr/>
        </p:nvSpPr>
        <p:spPr>
          <a:xfrm>
            <a:off x="5812295" y="4430387"/>
            <a:ext cx="1821657" cy="3773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+ L2 + </a:t>
            </a:r>
            <a:r>
              <a:rPr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L3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text_906_验证&#10;通过"/>
          <p:cNvSpPr>
            <a:spLocks noGrp="1"/>
          </p:cNvSpPr>
          <p:nvPr/>
        </p:nvSpPr>
        <p:spPr>
          <a:xfrm>
            <a:off x="8241125" y="3609053"/>
            <a:ext cx="307181" cy="5500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object_898"/>
          <p:cNvSpPr>
            <a:spLocks noGrp="1"/>
          </p:cNvSpPr>
          <p:nvPr/>
        </p:nvSpPr>
        <p:spPr>
          <a:xfrm>
            <a:off x="5804130" y="3733456"/>
            <a:ext cx="1821657" cy="397419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50" name="text_900_L1 + L2 + L3 全流程"/>
          <p:cNvSpPr>
            <a:spLocks noGrp="1"/>
          </p:cNvSpPr>
          <p:nvPr/>
        </p:nvSpPr>
        <p:spPr>
          <a:xfrm>
            <a:off x="5804130" y="3754516"/>
            <a:ext cx="1821657" cy="37624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+ </a:t>
            </a:r>
            <a:r>
              <a:rPr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L2流程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object_898"/>
          <p:cNvSpPr>
            <a:spLocks noGrp="1"/>
          </p:cNvSpPr>
          <p:nvPr/>
        </p:nvSpPr>
        <p:spPr>
          <a:xfrm>
            <a:off x="5812295" y="3074219"/>
            <a:ext cx="1821657" cy="397419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52" name="text_900_L1 + L2 + L3 全流程"/>
          <p:cNvSpPr>
            <a:spLocks noGrp="1"/>
          </p:cNvSpPr>
          <p:nvPr/>
        </p:nvSpPr>
        <p:spPr>
          <a:xfrm>
            <a:off x="5812295" y="3095279"/>
            <a:ext cx="1821657" cy="37624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静态验证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左大括号 2"/>
          <p:cNvSpPr/>
          <p:nvPr/>
        </p:nvSpPr>
        <p:spPr>
          <a:xfrm rot="10800000">
            <a:off x="7682858" y="3299862"/>
            <a:ext cx="396215" cy="1270098"/>
          </a:xfrm>
          <a:prstGeom prst="leftBrace">
            <a:avLst>
              <a:gd name="adj1" fmla="val 8333"/>
              <a:gd name="adj2" fmla="val 5096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左大括号 152"/>
          <p:cNvSpPr/>
          <p:nvPr/>
        </p:nvSpPr>
        <p:spPr>
          <a:xfrm>
            <a:off x="5359010" y="3297451"/>
            <a:ext cx="396215" cy="1270098"/>
          </a:xfrm>
          <a:prstGeom prst="leftBrace">
            <a:avLst>
              <a:gd name="adj1" fmla="val 8333"/>
              <a:gd name="adj2" fmla="val 5096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text_4025_恢复 Artifact">
            <a:extLst>
              <a:ext uri="{FF2B5EF4-FFF2-40B4-BE49-F238E27FC236}">
                <a16:creationId xmlns:a16="http://schemas.microsoft.com/office/drawing/2014/main" id="{62DC45B2-C78E-4440-A063-6F6D039DD935}"/>
              </a:ext>
            </a:extLst>
          </p:cNvPr>
          <p:cNvSpPr>
            <a:spLocks noGrp="1"/>
          </p:cNvSpPr>
          <p:nvPr/>
        </p:nvSpPr>
        <p:spPr>
          <a:xfrm>
            <a:off x="8169687" y="3804205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2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6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</a:t>
            </a:r>
            <a:endParaRPr lang="en-US" altLang="zh-CN" sz="16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endParaRPr lang="en-US" altLang="zh-CN" sz="16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C89477B4-3588-D86D-7D0B-44DD34C0CAD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68870" y="2011450"/>
            <a:ext cx="3666190" cy="3960056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C89477B4-3588-D86D-7D0B-44DD34C0CAD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07708" y="2011548"/>
            <a:ext cx="4702367" cy="4000296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3658749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>
            <a:extLst>
              <a:ext uri="{FF2B5EF4-FFF2-40B4-BE49-F238E27FC236}">
                <a16:creationId xmlns:a16="http://schemas.microsoft.com/office/drawing/2014/main" id="{3A2E0B23-0ACD-7EF5-594D-956873623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kill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修改后验证成本高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_3991_原流程">
            <a:extLst>
              <a:ext uri="{FF2B5EF4-FFF2-40B4-BE49-F238E27FC236}">
                <a16:creationId xmlns:a16="http://schemas.microsoft.com/office/drawing/2014/main" id="{E2B6EAAC-BFC4-4706-B17B-CEDD781AC09A}"/>
              </a:ext>
            </a:extLst>
          </p:cNvPr>
          <p:cNvSpPr>
            <a:spLocks noGrp="1"/>
          </p:cNvSpPr>
          <p:nvPr/>
        </p:nvSpPr>
        <p:spPr>
          <a:xfrm>
            <a:off x="4246202" y="1349529"/>
            <a:ext cx="5929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_3993_复用后">
            <a:extLst>
              <a:ext uri="{FF2B5EF4-FFF2-40B4-BE49-F238E27FC236}">
                <a16:creationId xmlns:a16="http://schemas.microsoft.com/office/drawing/2014/main" id="{DA95F36B-6413-4FEF-9A24-ABF36EC59F6B}"/>
              </a:ext>
            </a:extLst>
          </p:cNvPr>
          <p:cNvSpPr>
            <a:spLocks noGrp="1"/>
          </p:cNvSpPr>
          <p:nvPr/>
        </p:nvSpPr>
        <p:spPr>
          <a:xfrm>
            <a:off x="597013" y="3879633"/>
            <a:ext cx="5929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优化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后</a:t>
            </a:r>
          </a:p>
        </p:txBody>
      </p:sp>
      <p:sp>
        <p:nvSpPr>
          <p:cNvPr id="35" name="object_4017">
            <a:extLst>
              <a:ext uri="{FF2B5EF4-FFF2-40B4-BE49-F238E27FC236}">
                <a16:creationId xmlns:a16="http://schemas.microsoft.com/office/drawing/2014/main" id="{40FB0EC9-6998-46A9-BAF8-A39B03F877E7}"/>
              </a:ext>
            </a:extLst>
          </p:cNvPr>
          <p:cNvSpPr>
            <a:spLocks noGrp="1"/>
          </p:cNvSpPr>
          <p:nvPr/>
        </p:nvSpPr>
        <p:spPr>
          <a:xfrm>
            <a:off x="4589680" y="3790952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36" name="text_4019_Review 重试">
            <a:extLst>
              <a:ext uri="{FF2B5EF4-FFF2-40B4-BE49-F238E27FC236}">
                <a16:creationId xmlns:a16="http://schemas.microsoft.com/office/drawing/2014/main" id="{E81BE23F-D20C-49FC-B32C-4A1B6A3C6C8A}"/>
              </a:ext>
            </a:extLst>
          </p:cNvPr>
          <p:cNvSpPr>
            <a:spLocks noGrp="1"/>
          </p:cNvSpPr>
          <p:nvPr/>
        </p:nvSpPr>
        <p:spPr>
          <a:xfrm>
            <a:off x="4589680" y="3798736"/>
            <a:ext cx="1333293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</a:t>
            </a:r>
            <a:r>
              <a:rPr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重试</a:t>
            </a:r>
            <a:endParaRPr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_4025_恢复 Artifact">
            <a:extLst>
              <a:ext uri="{FF2B5EF4-FFF2-40B4-BE49-F238E27FC236}">
                <a16:creationId xmlns:a16="http://schemas.microsoft.com/office/drawing/2014/main" id="{62DC45B2-C78E-4440-A063-6F6D039DD935}"/>
              </a:ext>
            </a:extLst>
          </p:cNvPr>
          <p:cNvSpPr>
            <a:spLocks noGrp="1"/>
          </p:cNvSpPr>
          <p:nvPr/>
        </p:nvSpPr>
        <p:spPr>
          <a:xfrm>
            <a:off x="6291600" y="3901065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2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恢复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Artifact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继续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object_4017">
            <a:extLst>
              <a:ext uri="{FF2B5EF4-FFF2-40B4-BE49-F238E27FC236}">
                <a16:creationId xmlns:a16="http://schemas.microsoft.com/office/drawing/2014/main" id="{40FB0EC9-6998-46A9-BAF8-A39B03F877E7}"/>
              </a:ext>
            </a:extLst>
          </p:cNvPr>
          <p:cNvSpPr>
            <a:spLocks noGrp="1"/>
          </p:cNvSpPr>
          <p:nvPr/>
        </p:nvSpPr>
        <p:spPr>
          <a:xfrm>
            <a:off x="2991909" y="3796339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47" name="text_4019_Review 重试">
            <a:extLst>
              <a:ext uri="{FF2B5EF4-FFF2-40B4-BE49-F238E27FC236}">
                <a16:creationId xmlns:a16="http://schemas.microsoft.com/office/drawing/2014/main" id="{E81BE23F-D20C-49FC-B32C-4A1B6A3C6C8A}"/>
              </a:ext>
            </a:extLst>
          </p:cNvPr>
          <p:cNvSpPr>
            <a:spLocks noGrp="1"/>
          </p:cNvSpPr>
          <p:nvPr/>
        </p:nvSpPr>
        <p:spPr>
          <a:xfrm>
            <a:off x="2991910" y="3804123"/>
            <a:ext cx="1282002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缓存</a:t>
            </a:r>
            <a:endParaRPr lang="zh-CN" altLang="en-US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object_4017">
            <a:extLst>
              <a:ext uri="{FF2B5EF4-FFF2-40B4-BE49-F238E27FC236}">
                <a16:creationId xmlns:a16="http://schemas.microsoft.com/office/drawing/2014/main" id="{40FB0EC9-6998-46A9-BAF8-A39B03F877E7}"/>
              </a:ext>
            </a:extLst>
          </p:cNvPr>
          <p:cNvSpPr>
            <a:spLocks noGrp="1"/>
          </p:cNvSpPr>
          <p:nvPr/>
        </p:nvSpPr>
        <p:spPr>
          <a:xfrm>
            <a:off x="1400610" y="3786323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49" name="text_4019_Review 重试">
            <a:extLst>
              <a:ext uri="{FF2B5EF4-FFF2-40B4-BE49-F238E27FC236}">
                <a16:creationId xmlns:a16="http://schemas.microsoft.com/office/drawing/2014/main" id="{E81BE23F-D20C-49FC-B32C-4A1B6A3C6C8A}"/>
              </a:ext>
            </a:extLst>
          </p:cNvPr>
          <p:cNvSpPr>
            <a:spLocks noGrp="1"/>
          </p:cNvSpPr>
          <p:nvPr/>
        </p:nvSpPr>
        <p:spPr>
          <a:xfrm>
            <a:off x="1400611" y="3794107"/>
            <a:ext cx="1282002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缓存</a:t>
            </a:r>
            <a:endParaRPr lang="zh-CN" altLang="en-US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/>
          <p:cNvCxnSpPr>
            <a:stCxn id="48" idx="3"/>
            <a:endCxn id="46" idx="1"/>
          </p:cNvCxnSpPr>
          <p:nvPr/>
        </p:nvCxnSpPr>
        <p:spPr>
          <a:xfrm>
            <a:off x="2711901" y="3969719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4325202" y="3973610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_3993_复用后">
            <a:extLst>
              <a:ext uri="{FF2B5EF4-FFF2-40B4-BE49-F238E27FC236}">
                <a16:creationId xmlns:a16="http://schemas.microsoft.com/office/drawing/2014/main" id="{DA95F36B-6413-4FEF-9A24-ABF36EC59F6B}"/>
              </a:ext>
            </a:extLst>
          </p:cNvPr>
          <p:cNvSpPr>
            <a:spLocks noGrp="1"/>
          </p:cNvSpPr>
          <p:nvPr/>
        </p:nvSpPr>
        <p:spPr>
          <a:xfrm>
            <a:off x="575011" y="2763403"/>
            <a:ext cx="5929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原流程</a:t>
            </a:r>
            <a:endParaRPr lang="zh-CN" altLang="en-US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object_4017">
            <a:extLst>
              <a:ext uri="{FF2B5EF4-FFF2-40B4-BE49-F238E27FC236}">
                <a16:creationId xmlns:a16="http://schemas.microsoft.com/office/drawing/2014/main" id="{40FB0EC9-6998-46A9-BAF8-A39B03F877E7}"/>
              </a:ext>
            </a:extLst>
          </p:cNvPr>
          <p:cNvSpPr>
            <a:spLocks noGrp="1"/>
          </p:cNvSpPr>
          <p:nvPr/>
        </p:nvSpPr>
        <p:spPr>
          <a:xfrm>
            <a:off x="4567678" y="2674722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58" name="text_4019_Review 重试">
            <a:extLst>
              <a:ext uri="{FF2B5EF4-FFF2-40B4-BE49-F238E27FC236}">
                <a16:creationId xmlns:a16="http://schemas.microsoft.com/office/drawing/2014/main" id="{E81BE23F-D20C-49FC-B32C-4A1B6A3C6C8A}"/>
              </a:ext>
            </a:extLst>
          </p:cNvPr>
          <p:cNvSpPr>
            <a:spLocks noGrp="1"/>
          </p:cNvSpPr>
          <p:nvPr/>
        </p:nvSpPr>
        <p:spPr>
          <a:xfrm>
            <a:off x="4567679" y="2682506"/>
            <a:ext cx="1311290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×</a:t>
            </a:r>
            <a:endParaRPr lang="en-US" altLang="zh-CN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_4025_恢复 Artifact">
            <a:extLst>
              <a:ext uri="{FF2B5EF4-FFF2-40B4-BE49-F238E27FC236}">
                <a16:creationId xmlns:a16="http://schemas.microsoft.com/office/drawing/2014/main" id="{62DC45B2-C78E-4440-A063-6F6D039DD935}"/>
              </a:ext>
            </a:extLst>
          </p:cNvPr>
          <p:cNvSpPr>
            <a:spLocks noGrp="1"/>
          </p:cNvSpPr>
          <p:nvPr/>
        </p:nvSpPr>
        <p:spPr>
          <a:xfrm>
            <a:off x="6269598" y="2784835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2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从头执行</a:t>
            </a:r>
            <a:endParaRPr lang="zh-CN" altLang="en-US" sz="16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_4019_Review 重试">
            <a:extLst>
              <a:ext uri="{FF2B5EF4-FFF2-40B4-BE49-F238E27FC236}">
                <a16:creationId xmlns:a16="http://schemas.microsoft.com/office/drawing/2014/main" id="{E81BE23F-D20C-49FC-B32C-4A1B6A3C6C8A}"/>
              </a:ext>
            </a:extLst>
          </p:cNvPr>
          <p:cNvSpPr>
            <a:spLocks noGrp="1"/>
          </p:cNvSpPr>
          <p:nvPr/>
        </p:nvSpPr>
        <p:spPr>
          <a:xfrm>
            <a:off x="2969907" y="2687893"/>
            <a:ext cx="1333292" cy="35900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✓</a:t>
            </a:r>
            <a:endParaRPr lang="en-US" altLang="zh-CN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object_4017">
            <a:extLst>
              <a:ext uri="{FF2B5EF4-FFF2-40B4-BE49-F238E27FC236}">
                <a16:creationId xmlns:a16="http://schemas.microsoft.com/office/drawing/2014/main" id="{40FB0EC9-6998-46A9-BAF8-A39B03F877E7}"/>
              </a:ext>
            </a:extLst>
          </p:cNvPr>
          <p:cNvSpPr>
            <a:spLocks noGrp="1"/>
          </p:cNvSpPr>
          <p:nvPr/>
        </p:nvSpPr>
        <p:spPr>
          <a:xfrm>
            <a:off x="1378608" y="2670093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63" name="text_4019_Review 重试">
            <a:extLst>
              <a:ext uri="{FF2B5EF4-FFF2-40B4-BE49-F238E27FC236}">
                <a16:creationId xmlns:a16="http://schemas.microsoft.com/office/drawing/2014/main" id="{E81BE23F-D20C-49FC-B32C-4A1B6A3C6C8A}"/>
              </a:ext>
            </a:extLst>
          </p:cNvPr>
          <p:cNvSpPr>
            <a:spLocks noGrp="1"/>
          </p:cNvSpPr>
          <p:nvPr/>
        </p:nvSpPr>
        <p:spPr>
          <a:xfrm>
            <a:off x="1378608" y="2677877"/>
            <a:ext cx="1333293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✓</a:t>
            </a:r>
            <a:endParaRPr lang="en-US" altLang="zh-CN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" name="直接箭头连接符 63"/>
          <p:cNvCxnSpPr>
            <a:stCxn id="62" idx="3"/>
          </p:cNvCxnSpPr>
          <p:nvPr/>
        </p:nvCxnSpPr>
        <p:spPr>
          <a:xfrm>
            <a:off x="2689899" y="2853489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4303200" y="2857380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95">
            <a:extLst>
              <a:ext uri="{FF2B5EF4-FFF2-40B4-BE49-F238E27FC236}">
                <a16:creationId xmlns:a16="http://schemas.microsoft.com/office/drawing/2014/main" id="{D0864842-D5A9-C745-8CB5-79048B22415F}"/>
              </a:ext>
            </a:extLst>
          </p:cNvPr>
          <p:cNvSpPr txBox="1"/>
          <p:nvPr/>
        </p:nvSpPr>
        <p:spPr>
          <a:xfrm>
            <a:off x="527749" y="5068817"/>
            <a:ext cx="694996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b="1" dirty="0" smtClean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思路：</a:t>
            </a:r>
            <a:r>
              <a:rPr lang="zh-CN" altLang="en-US" sz="16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每一个阶段，每一个子代理，都产出并识别可以复用的</a:t>
            </a:r>
            <a:r>
              <a:rPr lang="en-US" altLang="zh-CN" sz="16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Artifact</a:t>
            </a:r>
            <a:r>
              <a:rPr lang="zh-CN" altLang="en-US" sz="16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6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95">
            <a:extLst>
              <a:ext uri="{FF2B5EF4-FFF2-40B4-BE49-F238E27FC236}">
                <a16:creationId xmlns:a16="http://schemas.microsoft.com/office/drawing/2014/main" id="{D0864842-D5A9-C745-8CB5-79048B22415F}"/>
              </a:ext>
            </a:extLst>
          </p:cNvPr>
          <p:cNvSpPr txBox="1"/>
          <p:nvPr/>
        </p:nvSpPr>
        <p:spPr>
          <a:xfrm>
            <a:off x="552084" y="5416718"/>
            <a:ext cx="628386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600" b="1" dirty="0">
              <a:solidFill>
                <a:srgbClr val="004B9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当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因为意外中断算子开发时：从最近有效阶段</a:t>
            </a:r>
            <a:r>
              <a: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恢复。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1" name="文本框 95">
            <a:extLst>
              <a:ext uri="{FF2B5EF4-FFF2-40B4-BE49-F238E27FC236}">
                <a16:creationId xmlns:a16="http://schemas.microsoft.com/office/drawing/2014/main" id="{D0864842-D5A9-C745-8CB5-79048B22415F}"/>
              </a:ext>
            </a:extLst>
          </p:cNvPr>
          <p:cNvSpPr txBox="1"/>
          <p:nvPr/>
        </p:nvSpPr>
        <p:spPr>
          <a:xfrm>
            <a:off x="569737" y="5857819"/>
            <a:ext cx="6283861" cy="5105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600" b="1" dirty="0">
              <a:solidFill>
                <a:srgbClr val="004B9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当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L3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修改验证时：仅修改 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Review Rule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，就从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Review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继续</a:t>
            </a:r>
            <a:r>
              <a: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" name="text_171_上下文重复"/>
          <p:cNvSpPr>
            <a:spLocks noGrp="1"/>
          </p:cNvSpPr>
          <p:nvPr/>
        </p:nvSpPr>
        <p:spPr>
          <a:xfrm>
            <a:off x="704671" y="1665995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优化②：中间产物复用与断点续跑机制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89477B4-3588-D86D-7D0B-44DD34C0CAD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79512" y="2273085"/>
            <a:ext cx="8530563" cy="24100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278861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矩形 218">
            <a:extLst>
              <a:ext uri="{FF2B5EF4-FFF2-40B4-BE49-F238E27FC236}">
                <a16:creationId xmlns:a16="http://schemas.microsoft.com/office/drawing/2014/main" id="{6BA68242-CA70-5220-B2FF-EF28795A5707}"/>
              </a:ext>
            </a:extLst>
          </p:cNvPr>
          <p:cNvSpPr/>
          <p:nvPr/>
        </p:nvSpPr>
        <p:spPr>
          <a:xfrm>
            <a:off x="613961" y="3582577"/>
            <a:ext cx="3816936" cy="11701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6BA68242-CA70-5220-B2FF-EF28795A5707}"/>
              </a:ext>
            </a:extLst>
          </p:cNvPr>
          <p:cNvSpPr/>
          <p:nvPr/>
        </p:nvSpPr>
        <p:spPr>
          <a:xfrm>
            <a:off x="574395" y="2277344"/>
            <a:ext cx="3849359" cy="7196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_3011_通用方法与平台知识">
            <a:extLst>
              <a:ext uri="{FF2B5EF4-FFF2-40B4-BE49-F238E27FC236}">
                <a16:creationId xmlns:a16="http://schemas.microsoft.com/office/drawing/2014/main" id="{B946F9B2-F59C-4C26-8EA8-E4D27EF57EC8}"/>
              </a:ext>
            </a:extLst>
          </p:cNvPr>
          <p:cNvSpPr>
            <a:spLocks noGrp="1"/>
          </p:cNvSpPr>
          <p:nvPr/>
        </p:nvSpPr>
        <p:spPr>
          <a:xfrm>
            <a:off x="5237208" y="1204082"/>
            <a:ext cx="2228850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跨平台结构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优化</a:t>
            </a:r>
            <a:endParaRPr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8" name="connector_3012">
            <a:extLst>
              <a:ext uri="{FF2B5EF4-FFF2-40B4-BE49-F238E27FC236}">
                <a16:creationId xmlns:a16="http://schemas.microsoft.com/office/drawing/2014/main" id="{1484AA8D-62C7-48CE-A060-506885F7DCEF}"/>
              </a:ext>
            </a:extLst>
          </p:cNvPr>
          <p:cNvSpPr>
            <a:spLocks noGrp="1"/>
          </p:cNvSpPr>
          <p:nvPr/>
        </p:nvSpPr>
        <p:spPr>
          <a:xfrm>
            <a:off x="5221192" y="1560429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33" name="text_3165_重复调研和适配，开发成本较高">
            <a:extLst>
              <a:ext uri="{FF2B5EF4-FFF2-40B4-BE49-F238E27FC236}">
                <a16:creationId xmlns:a16="http://schemas.microsoft.com/office/drawing/2014/main" id="{4C176C11-F3E6-4C74-878E-1DE4B4ACB1CF}"/>
              </a:ext>
            </a:extLst>
          </p:cNvPr>
          <p:cNvSpPr>
            <a:spLocks noGrp="1"/>
          </p:cNvSpPr>
          <p:nvPr/>
        </p:nvSpPr>
        <p:spPr>
          <a:xfrm>
            <a:off x="641858" y="5265861"/>
            <a:ext cx="2450306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endParaRPr sz="1500" b="1" dirty="0">
              <a:solidFill>
                <a:srgbClr val="004B9D"/>
              </a:solidFill>
              <a:latin typeface="微软雅黑" panose="020B0503020204020204" charset="-122"/>
              <a:ea typeface="微软雅黑" panose="020B0503020204020204" charset="-122"/>
              <a:cs typeface="Arial"/>
            </a:endParaRPr>
          </a:p>
        </p:txBody>
      </p:sp>
      <p:sp>
        <p:nvSpPr>
          <p:cNvPr id="134" name="object_3166">
            <a:extLst>
              <a:ext uri="{FF2B5EF4-FFF2-40B4-BE49-F238E27FC236}">
                <a16:creationId xmlns:a16="http://schemas.microsoft.com/office/drawing/2014/main" id="{7CD56B57-A605-40A7-BD25-A15405155E1F}"/>
              </a:ext>
            </a:extLst>
          </p:cNvPr>
          <p:cNvSpPr>
            <a:spLocks noGrp="1"/>
          </p:cNvSpPr>
          <p:nvPr/>
        </p:nvSpPr>
        <p:spPr>
          <a:xfrm>
            <a:off x="5256763" y="1961321"/>
            <a:ext cx="2564606" cy="1321594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36" name="text_3170_Workflow：需求、生成、验证、优化">
            <a:extLst>
              <a:ext uri="{FF2B5EF4-FFF2-40B4-BE49-F238E27FC236}">
                <a16:creationId xmlns:a16="http://schemas.microsoft.com/office/drawing/2014/main" id="{D195D165-6D48-41E2-BD0F-91F2356CCFA0}"/>
              </a:ext>
            </a:extLst>
          </p:cNvPr>
          <p:cNvSpPr>
            <a:spLocks noGrp="1"/>
          </p:cNvSpPr>
          <p:nvPr/>
        </p:nvSpPr>
        <p:spPr>
          <a:xfrm>
            <a:off x="6135796" y="2354481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_3172_阶段产物与执行契约">
            <a:extLst>
              <a:ext uri="{FF2B5EF4-FFF2-40B4-BE49-F238E27FC236}">
                <a16:creationId xmlns:a16="http://schemas.microsoft.com/office/drawing/2014/main" id="{3D77C95E-A31E-4BF9-B08F-C4E8D18825EE}"/>
              </a:ext>
            </a:extLst>
          </p:cNvPr>
          <p:cNvSpPr>
            <a:spLocks noGrp="1"/>
          </p:cNvSpPr>
          <p:nvPr/>
        </p:nvSpPr>
        <p:spPr>
          <a:xfrm>
            <a:off x="6135796" y="2554506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阶段产物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_3174_验证机制与失败恢复">
            <a:extLst>
              <a:ext uri="{FF2B5EF4-FFF2-40B4-BE49-F238E27FC236}">
                <a16:creationId xmlns:a16="http://schemas.microsoft.com/office/drawing/2014/main" id="{B904FAB1-611A-4A2B-8614-58A3F7E57EA4}"/>
              </a:ext>
            </a:extLst>
          </p:cNvPr>
          <p:cNvSpPr>
            <a:spLocks noGrp="1"/>
          </p:cNvSpPr>
          <p:nvPr/>
        </p:nvSpPr>
        <p:spPr>
          <a:xfrm>
            <a:off x="6135796" y="2754531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验证机制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_3176_Agent 协作与工程规范">
            <a:extLst>
              <a:ext uri="{FF2B5EF4-FFF2-40B4-BE49-F238E27FC236}">
                <a16:creationId xmlns:a16="http://schemas.microsoft.com/office/drawing/2014/main" id="{477B3743-8636-4860-896E-25D8AD11E8C6}"/>
              </a:ext>
            </a:extLst>
          </p:cNvPr>
          <p:cNvSpPr>
            <a:spLocks noGrp="1"/>
          </p:cNvSpPr>
          <p:nvPr/>
        </p:nvSpPr>
        <p:spPr>
          <a:xfrm>
            <a:off x="6135796" y="2954556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</a:t>
            </a: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协作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object_3179">
            <a:extLst>
              <a:ext uri="{FF2B5EF4-FFF2-40B4-BE49-F238E27FC236}">
                <a16:creationId xmlns:a16="http://schemas.microsoft.com/office/drawing/2014/main" id="{9120DF7D-D295-48D5-8034-E3C0101F9283}"/>
              </a:ext>
            </a:extLst>
          </p:cNvPr>
          <p:cNvSpPr>
            <a:spLocks noGrp="1"/>
          </p:cNvSpPr>
          <p:nvPr/>
        </p:nvSpPr>
        <p:spPr>
          <a:xfrm>
            <a:off x="5256763" y="3647246"/>
            <a:ext cx="2564606" cy="13430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43" name="text_3183_硬件架构与特性">
            <a:extLst>
              <a:ext uri="{FF2B5EF4-FFF2-40B4-BE49-F238E27FC236}">
                <a16:creationId xmlns:a16="http://schemas.microsoft.com/office/drawing/2014/main" id="{B03C6696-9242-48CD-844D-AC9E9765DD99}"/>
              </a:ext>
            </a:extLst>
          </p:cNvPr>
          <p:cNvSpPr>
            <a:spLocks noGrp="1"/>
          </p:cNvSpPr>
          <p:nvPr/>
        </p:nvSpPr>
        <p:spPr>
          <a:xfrm>
            <a:off x="6142940" y="4017699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text_3185_编程模型与 API">
            <a:extLst>
              <a:ext uri="{FF2B5EF4-FFF2-40B4-BE49-F238E27FC236}">
                <a16:creationId xmlns:a16="http://schemas.microsoft.com/office/drawing/2014/main" id="{5F8D1034-148F-4C2B-BE10-5738C138EC27}"/>
              </a:ext>
            </a:extLst>
          </p:cNvPr>
          <p:cNvSpPr>
            <a:spLocks noGrp="1"/>
          </p:cNvSpPr>
          <p:nvPr/>
        </p:nvSpPr>
        <p:spPr>
          <a:xfrm>
            <a:off x="6142940" y="4224868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_3187_开发环境与工具链">
            <a:extLst>
              <a:ext uri="{FF2B5EF4-FFF2-40B4-BE49-F238E27FC236}">
                <a16:creationId xmlns:a16="http://schemas.microsoft.com/office/drawing/2014/main" id="{C7B23265-56AA-4899-A9CE-EA6ADE91F7B9}"/>
              </a:ext>
            </a:extLst>
          </p:cNvPr>
          <p:cNvSpPr>
            <a:spLocks noGrp="1"/>
          </p:cNvSpPr>
          <p:nvPr/>
        </p:nvSpPr>
        <p:spPr>
          <a:xfrm>
            <a:off x="5922791" y="4444712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开发环境与工具链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text_3189_性能分析、优化方法及高性能案例">
            <a:extLst>
              <a:ext uri="{FF2B5EF4-FFF2-40B4-BE49-F238E27FC236}">
                <a16:creationId xmlns:a16="http://schemas.microsoft.com/office/drawing/2014/main" id="{30A462AE-D02C-4F27-B950-C3930F0150FC}"/>
              </a:ext>
            </a:extLst>
          </p:cNvPr>
          <p:cNvSpPr>
            <a:spLocks noGrp="1"/>
          </p:cNvSpPr>
          <p:nvPr/>
        </p:nvSpPr>
        <p:spPr>
          <a:xfrm>
            <a:off x="5807008" y="4687599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优化方法及高性能案例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connector_3190">
            <a:extLst>
              <a:ext uri="{FF2B5EF4-FFF2-40B4-BE49-F238E27FC236}">
                <a16:creationId xmlns:a16="http://schemas.microsoft.com/office/drawing/2014/main" id="{C1A0E153-E4F2-490A-9A2C-174F996C8A33}"/>
              </a:ext>
            </a:extLst>
          </p:cNvPr>
          <p:cNvSpPr>
            <a:spLocks noGrp="1"/>
          </p:cNvSpPr>
          <p:nvPr/>
        </p:nvSpPr>
        <p:spPr>
          <a:xfrm>
            <a:off x="6535494" y="5018846"/>
            <a:ext cx="14288" cy="150019"/>
          </a:xfrm>
          <a:custGeom>
            <a:avLst/>
            <a:gdLst/>
            <a:ahLst/>
            <a:cxnLst/>
            <a:rect l="0" t="0" r="0" b="0"/>
            <a:pathLst>
              <a:path w="19050" h="200025">
                <a:moveTo>
                  <a:pt x="9525" y="9525"/>
                </a:moveTo>
                <a:lnTo>
                  <a:pt x="9525" y="1905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48" name="connector_3191">
            <a:extLst>
              <a:ext uri="{FF2B5EF4-FFF2-40B4-BE49-F238E27FC236}">
                <a16:creationId xmlns:a16="http://schemas.microsoft.com/office/drawing/2014/main" id="{AF6EB9AD-15F1-4C8F-BE74-42B2EE9FA87A}"/>
              </a:ext>
            </a:extLst>
          </p:cNvPr>
          <p:cNvSpPr>
            <a:spLocks noGrp="1"/>
          </p:cNvSpPr>
          <p:nvPr/>
        </p:nvSpPr>
        <p:spPr>
          <a:xfrm>
            <a:off x="6511520" y="511069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49" name="object_3192">
            <a:extLst>
              <a:ext uri="{FF2B5EF4-FFF2-40B4-BE49-F238E27FC236}">
                <a16:creationId xmlns:a16="http://schemas.microsoft.com/office/drawing/2014/main" id="{E35B37D6-86C8-4767-B87C-300C13F475C5}"/>
              </a:ext>
            </a:extLst>
          </p:cNvPr>
          <p:cNvSpPr>
            <a:spLocks noGrp="1"/>
          </p:cNvSpPr>
          <p:nvPr/>
        </p:nvSpPr>
        <p:spPr>
          <a:xfrm>
            <a:off x="5263907" y="5204584"/>
            <a:ext cx="2550319" cy="307181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50" name="text_3194_新平台 Operator Skill">
            <a:extLst>
              <a:ext uri="{FF2B5EF4-FFF2-40B4-BE49-F238E27FC236}">
                <a16:creationId xmlns:a16="http://schemas.microsoft.com/office/drawing/2014/main" id="{E07D6F8F-5C57-4289-925D-84D9CE52A3B1}"/>
              </a:ext>
            </a:extLst>
          </p:cNvPr>
          <p:cNvSpPr>
            <a:spLocks noGrp="1"/>
          </p:cNvSpPr>
          <p:nvPr/>
        </p:nvSpPr>
        <p:spPr>
          <a:xfrm>
            <a:off x="5313913" y="5240302"/>
            <a:ext cx="2450306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新平台</a:t>
            </a:r>
            <a:r>
              <a:rPr sz="1294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Operator Skill</a:t>
            </a:r>
          </a:p>
        </p:txBody>
      </p:sp>
      <p:sp>
        <p:nvSpPr>
          <p:cNvPr id="156" name="Rectangle 1">
            <a:extLst>
              <a:ext uri="{FF2B5EF4-FFF2-40B4-BE49-F238E27FC236}">
                <a16:creationId xmlns:a16="http://schemas.microsoft.com/office/drawing/2014/main" id="{8960AFFF-E899-C418-B077-71AE72F5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4280" y="2545166"/>
            <a:ext cx="697640" cy="25391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可复用</a:t>
            </a:r>
          </a:p>
        </p:txBody>
      </p:sp>
      <p:sp>
        <p:nvSpPr>
          <p:cNvPr id="157" name="Rectangle 1">
            <a:extLst>
              <a:ext uri="{FF2B5EF4-FFF2-40B4-BE49-F238E27FC236}">
                <a16:creationId xmlns:a16="http://schemas.microsoft.com/office/drawing/2014/main" id="{8960AFFF-E899-C418-B077-71AE72F5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4895" y="4191800"/>
            <a:ext cx="772502" cy="25391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进行替换</a:t>
            </a:r>
          </a:p>
        </p:txBody>
      </p:sp>
      <p:sp>
        <p:nvSpPr>
          <p:cNvPr id="167" name="Rectangle 1">
            <a:extLst>
              <a:ext uri="{FF2B5EF4-FFF2-40B4-BE49-F238E27FC236}">
                <a16:creationId xmlns:a16="http://schemas.microsoft.com/office/drawing/2014/main" id="{8960AFFF-E899-C418-B077-71AE72F5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6944" y="3328130"/>
            <a:ext cx="967336" cy="25391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进行解耦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619944" y="2393619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1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677094" y="2408395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需求分析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1505989" y="2393131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4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1563139" y="2407907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代码生成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2399389" y="2393131"/>
            <a:ext cx="772981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6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2475301" y="2407907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正确性验证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3346382" y="2393450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8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3403532" y="2408226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2312984" y="2715528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200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2370134" y="2730304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迭代优化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1347053" y="2512154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2225022" y="2503923"/>
            <a:ext cx="178183" cy="33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3178170" y="2497204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 flipH="1">
            <a:off x="3065062" y="2646333"/>
            <a:ext cx="322451" cy="1845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_3145_硬件架构">
            <a:extLst>
              <a:ext uri="{FF2B5EF4-FFF2-40B4-BE49-F238E27FC236}">
                <a16:creationId xmlns:a16="http://schemas.microsoft.com/office/drawing/2014/main" id="{39D336CD-F4B7-481E-9518-62ACE98CB404}"/>
              </a:ext>
            </a:extLst>
          </p:cNvPr>
          <p:cNvSpPr>
            <a:spLocks noGrp="1"/>
          </p:cNvSpPr>
          <p:nvPr/>
        </p:nvSpPr>
        <p:spPr>
          <a:xfrm>
            <a:off x="1195795" y="3624875"/>
            <a:ext cx="24431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94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①平台专</a:t>
            </a:r>
            <a:r>
              <a:rPr lang="zh-CN" altLang="en-US" sz="1294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属</a:t>
            </a:r>
            <a:r>
              <a:rPr lang="zh-CN" altLang="en-US" sz="1294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资料</a:t>
            </a:r>
            <a:r>
              <a:rPr lang="zh-CN" altLang="en-US" sz="1294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差异</a:t>
            </a:r>
            <a:r>
              <a:rPr lang="zh-CN" altLang="en-US" sz="1294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</a:t>
            </a:r>
            <a:endParaRPr sz="1294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text_3147_计算单元、存储层次、并行结构">
            <a:extLst>
              <a:ext uri="{FF2B5EF4-FFF2-40B4-BE49-F238E27FC236}">
                <a16:creationId xmlns:a16="http://schemas.microsoft.com/office/drawing/2014/main" id="{74B9F589-F68E-416B-A4B3-A773C17EBD7E}"/>
              </a:ext>
            </a:extLst>
          </p:cNvPr>
          <p:cNvSpPr>
            <a:spLocks noGrp="1"/>
          </p:cNvSpPr>
          <p:nvPr/>
        </p:nvSpPr>
        <p:spPr>
          <a:xfrm>
            <a:off x="1198182" y="3954941"/>
            <a:ext cx="242887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          编程模型         工具链与环境</a:t>
            </a:r>
            <a:endParaRPr sz="104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_3145_硬件架构">
            <a:extLst>
              <a:ext uri="{FF2B5EF4-FFF2-40B4-BE49-F238E27FC236}">
                <a16:creationId xmlns:a16="http://schemas.microsoft.com/office/drawing/2014/main" id="{39D336CD-F4B7-481E-9518-62ACE98CB404}"/>
              </a:ext>
            </a:extLst>
          </p:cNvPr>
          <p:cNvSpPr>
            <a:spLocks noGrp="1"/>
          </p:cNvSpPr>
          <p:nvPr/>
        </p:nvSpPr>
        <p:spPr>
          <a:xfrm>
            <a:off x="1189933" y="4265682"/>
            <a:ext cx="24431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94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②平台知识分散在整个开发流程中</a:t>
            </a:r>
            <a:endParaRPr sz="1294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箭头: 下 38">
            <a:extLst>
              <a:ext uri="{FF2B5EF4-FFF2-40B4-BE49-F238E27FC236}">
                <a16:creationId xmlns:a16="http://schemas.microsoft.com/office/drawing/2014/main" id="{EAB7CA23-300E-472A-92F7-F2EA8CBA1F02}"/>
              </a:ext>
            </a:extLst>
          </p:cNvPr>
          <p:cNvSpPr/>
          <p:nvPr/>
        </p:nvSpPr>
        <p:spPr>
          <a:xfrm>
            <a:off x="2182551" y="4752684"/>
            <a:ext cx="324000" cy="3666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Rectangle 1">
            <a:extLst>
              <a:ext uri="{FF2B5EF4-FFF2-40B4-BE49-F238E27FC236}">
                <a16:creationId xmlns:a16="http://schemas.microsoft.com/office/drawing/2014/main" id="{8960AFFF-E899-C418-B077-71AE72F5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0653" y="4826223"/>
            <a:ext cx="697640" cy="207749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导致</a:t>
            </a:r>
          </a:p>
        </p:txBody>
      </p:sp>
      <p:sp>
        <p:nvSpPr>
          <p:cNvPr id="60" name="矩形 59"/>
          <p:cNvSpPr/>
          <p:nvPr/>
        </p:nvSpPr>
        <p:spPr>
          <a:xfrm>
            <a:off x="1388061" y="6597107"/>
            <a:ext cx="65999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Yang, J., Jimenez, C. E.,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Wettig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SWE-agent: Agent-Computer Interfaces Enable Automated Software Engineering. arXiv:2405.15793, 2024.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BE36382-81E3-8B07-8038-63DFDAFDC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1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62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目前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Skill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结构分析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63" name="标题 1"/>
          <p:cNvSpPr txBox="1">
            <a:spLocks/>
          </p:cNvSpPr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加号 8"/>
          <p:cNvSpPr/>
          <p:nvPr/>
        </p:nvSpPr>
        <p:spPr>
          <a:xfrm>
            <a:off x="6351633" y="3375283"/>
            <a:ext cx="260489" cy="201590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94990" y="2002763"/>
            <a:ext cx="20313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算子的开发流程具有</a:t>
            </a:r>
            <a:r>
              <a:rPr lang="zh-CN" altLang="en-US" sz="1200" dirty="0" smtClean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通用性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94DDE62-F162-C8D8-0D1A-D5550CEAD231}"/>
              </a:ext>
            </a:extLst>
          </p:cNvPr>
          <p:cNvSpPr/>
          <p:nvPr/>
        </p:nvSpPr>
        <p:spPr>
          <a:xfrm>
            <a:off x="1610616" y="1973060"/>
            <a:ext cx="1930961" cy="300159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CA9E6DE-333F-3152-1FAC-93FFB2531ED1}"/>
              </a:ext>
            </a:extLst>
          </p:cNvPr>
          <p:cNvSpPr txBox="1"/>
          <p:nvPr/>
        </p:nvSpPr>
        <p:spPr>
          <a:xfrm>
            <a:off x="1233804" y="1973060"/>
            <a:ext cx="499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71" name="矩形 70"/>
          <p:cNvSpPr/>
          <p:nvPr/>
        </p:nvSpPr>
        <p:spPr>
          <a:xfrm>
            <a:off x="1781851" y="3325334"/>
            <a:ext cx="14430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平台资料替换困难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94DDE62-F162-C8D8-0D1A-D5550CEAD231}"/>
              </a:ext>
            </a:extLst>
          </p:cNvPr>
          <p:cNvSpPr/>
          <p:nvPr/>
        </p:nvSpPr>
        <p:spPr>
          <a:xfrm>
            <a:off x="1797477" y="3295631"/>
            <a:ext cx="1355647" cy="300159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CA9E6DE-333F-3152-1FAC-93FFB2531ED1}"/>
              </a:ext>
            </a:extLst>
          </p:cNvPr>
          <p:cNvSpPr txBox="1"/>
          <p:nvPr/>
        </p:nvSpPr>
        <p:spPr>
          <a:xfrm>
            <a:off x="1420665" y="3295631"/>
            <a:ext cx="499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4" name="文本框 95">
            <a:extLst>
              <a:ext uri="{FF2B5EF4-FFF2-40B4-BE49-F238E27FC236}">
                <a16:creationId xmlns:a16="http://schemas.microsoft.com/office/drawing/2014/main" id="{DD176048-0C11-5EFB-2598-5F2C2058CB64}"/>
              </a:ext>
            </a:extLst>
          </p:cNvPr>
          <p:cNvSpPr txBox="1"/>
          <p:nvPr/>
        </p:nvSpPr>
        <p:spPr>
          <a:xfrm>
            <a:off x="303609" y="5405067"/>
            <a:ext cx="8951851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跨平台需要多个模块大范围修改，替换成本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600" b="1" dirty="0">
              <a:solidFill>
                <a:srgbClr val="004B9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89477B4-3588-D86D-7D0B-44DD34C0CAD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95289" y="1778752"/>
            <a:ext cx="4189610" cy="3518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89477B4-3588-D86D-7D0B-44DD34C0CAD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982272" y="1775200"/>
            <a:ext cx="3510962" cy="3518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29C694BA-2540-E275-D73E-77C176D48657}"/>
              </a:ext>
            </a:extLst>
          </p:cNvPr>
          <p:cNvSpPr txBox="1"/>
          <p:nvPr/>
        </p:nvSpPr>
        <p:spPr>
          <a:xfrm>
            <a:off x="5651513" y="1993471"/>
            <a:ext cx="214898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50" dirty="0" smtClean="0"/>
              <a:t>通用开发流程</a:t>
            </a:r>
            <a:r>
              <a:rPr lang="zh-CN" altLang="en-US" sz="1450" dirty="0" smtClean="0"/>
              <a:t>：</a:t>
            </a:r>
            <a:endParaRPr lang="zh-CN" altLang="en-US" sz="1450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29C694BA-2540-E275-D73E-77C176D48657}"/>
              </a:ext>
            </a:extLst>
          </p:cNvPr>
          <p:cNvSpPr txBox="1"/>
          <p:nvPr/>
        </p:nvSpPr>
        <p:spPr>
          <a:xfrm>
            <a:off x="5672384" y="3717457"/>
            <a:ext cx="214898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50" dirty="0" smtClean="0"/>
              <a:t>平台资料</a:t>
            </a:r>
            <a:r>
              <a:rPr lang="zh-CN" altLang="en-US" sz="1450" dirty="0" smtClean="0"/>
              <a:t>：</a:t>
            </a:r>
            <a:endParaRPr lang="zh-CN" altLang="en-US" sz="1450" dirty="0"/>
          </a:p>
        </p:txBody>
      </p:sp>
    </p:spTree>
    <p:extLst>
      <p:ext uri="{BB962C8B-B14F-4D97-AF65-F5344CB8AC3E}">
        <p14:creationId xmlns:p14="http://schemas.microsoft.com/office/powerpoint/2010/main" val="219706241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矩形 218">
            <a:extLst>
              <a:ext uri="{FF2B5EF4-FFF2-40B4-BE49-F238E27FC236}">
                <a16:creationId xmlns:a16="http://schemas.microsoft.com/office/drawing/2014/main" id="{6BA68242-CA70-5220-B2FF-EF28795A5707}"/>
              </a:ext>
            </a:extLst>
          </p:cNvPr>
          <p:cNvSpPr/>
          <p:nvPr/>
        </p:nvSpPr>
        <p:spPr>
          <a:xfrm>
            <a:off x="613961" y="3582577"/>
            <a:ext cx="3816936" cy="11701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6BA68242-CA70-5220-B2FF-EF28795A5707}"/>
              </a:ext>
            </a:extLst>
          </p:cNvPr>
          <p:cNvSpPr/>
          <p:nvPr/>
        </p:nvSpPr>
        <p:spPr>
          <a:xfrm>
            <a:off x="574395" y="2277344"/>
            <a:ext cx="3849359" cy="7196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_3011_通用方法与平台知识">
            <a:extLst>
              <a:ext uri="{FF2B5EF4-FFF2-40B4-BE49-F238E27FC236}">
                <a16:creationId xmlns:a16="http://schemas.microsoft.com/office/drawing/2014/main" id="{B946F9B2-F59C-4C26-8EA8-E4D27EF57EC8}"/>
              </a:ext>
            </a:extLst>
          </p:cNvPr>
          <p:cNvSpPr>
            <a:spLocks noGrp="1"/>
          </p:cNvSpPr>
          <p:nvPr/>
        </p:nvSpPr>
        <p:spPr>
          <a:xfrm>
            <a:off x="5237208" y="1204082"/>
            <a:ext cx="2228850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跨平台结构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优化</a:t>
            </a:r>
            <a:endParaRPr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8" name="connector_3012">
            <a:extLst>
              <a:ext uri="{FF2B5EF4-FFF2-40B4-BE49-F238E27FC236}">
                <a16:creationId xmlns:a16="http://schemas.microsoft.com/office/drawing/2014/main" id="{1484AA8D-62C7-48CE-A060-506885F7DCEF}"/>
              </a:ext>
            </a:extLst>
          </p:cNvPr>
          <p:cNvSpPr>
            <a:spLocks noGrp="1"/>
          </p:cNvSpPr>
          <p:nvPr/>
        </p:nvSpPr>
        <p:spPr>
          <a:xfrm>
            <a:off x="5221192" y="1560429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33" name="text_3165_重复调研和适配，开发成本较高">
            <a:extLst>
              <a:ext uri="{FF2B5EF4-FFF2-40B4-BE49-F238E27FC236}">
                <a16:creationId xmlns:a16="http://schemas.microsoft.com/office/drawing/2014/main" id="{4C176C11-F3E6-4C74-878E-1DE4B4ACB1CF}"/>
              </a:ext>
            </a:extLst>
          </p:cNvPr>
          <p:cNvSpPr>
            <a:spLocks noGrp="1"/>
          </p:cNvSpPr>
          <p:nvPr/>
        </p:nvSpPr>
        <p:spPr>
          <a:xfrm>
            <a:off x="641858" y="5265861"/>
            <a:ext cx="2450306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endParaRPr sz="1500" b="1" dirty="0">
              <a:solidFill>
                <a:srgbClr val="004B9D"/>
              </a:solidFill>
              <a:latin typeface="微软雅黑" panose="020B0503020204020204" charset="-122"/>
              <a:ea typeface="微软雅黑" panose="020B0503020204020204" charset="-122"/>
              <a:cs typeface="Arial"/>
            </a:endParaRPr>
          </a:p>
        </p:txBody>
      </p:sp>
      <p:sp>
        <p:nvSpPr>
          <p:cNvPr id="134" name="object_3166">
            <a:extLst>
              <a:ext uri="{FF2B5EF4-FFF2-40B4-BE49-F238E27FC236}">
                <a16:creationId xmlns:a16="http://schemas.microsoft.com/office/drawing/2014/main" id="{7CD56B57-A605-40A7-BD25-A15405155E1F}"/>
              </a:ext>
            </a:extLst>
          </p:cNvPr>
          <p:cNvSpPr>
            <a:spLocks noGrp="1"/>
          </p:cNvSpPr>
          <p:nvPr/>
        </p:nvSpPr>
        <p:spPr>
          <a:xfrm>
            <a:off x="5256763" y="1961321"/>
            <a:ext cx="2564606" cy="1321594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36" name="text_3170_Workflow：需求、生成、验证、优化">
            <a:extLst>
              <a:ext uri="{FF2B5EF4-FFF2-40B4-BE49-F238E27FC236}">
                <a16:creationId xmlns:a16="http://schemas.microsoft.com/office/drawing/2014/main" id="{D195D165-6D48-41E2-BD0F-91F2356CCFA0}"/>
              </a:ext>
            </a:extLst>
          </p:cNvPr>
          <p:cNvSpPr>
            <a:spLocks noGrp="1"/>
          </p:cNvSpPr>
          <p:nvPr/>
        </p:nvSpPr>
        <p:spPr>
          <a:xfrm>
            <a:off x="6135796" y="2354481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_3172_阶段产物与执行契约">
            <a:extLst>
              <a:ext uri="{FF2B5EF4-FFF2-40B4-BE49-F238E27FC236}">
                <a16:creationId xmlns:a16="http://schemas.microsoft.com/office/drawing/2014/main" id="{3D77C95E-A31E-4BF9-B08F-C4E8D18825EE}"/>
              </a:ext>
            </a:extLst>
          </p:cNvPr>
          <p:cNvSpPr>
            <a:spLocks noGrp="1"/>
          </p:cNvSpPr>
          <p:nvPr/>
        </p:nvSpPr>
        <p:spPr>
          <a:xfrm>
            <a:off x="6135796" y="2554506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阶段产物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_3174_验证机制与失败恢复">
            <a:extLst>
              <a:ext uri="{FF2B5EF4-FFF2-40B4-BE49-F238E27FC236}">
                <a16:creationId xmlns:a16="http://schemas.microsoft.com/office/drawing/2014/main" id="{B904FAB1-611A-4A2B-8614-58A3F7E57EA4}"/>
              </a:ext>
            </a:extLst>
          </p:cNvPr>
          <p:cNvSpPr>
            <a:spLocks noGrp="1"/>
          </p:cNvSpPr>
          <p:nvPr/>
        </p:nvSpPr>
        <p:spPr>
          <a:xfrm>
            <a:off x="6135796" y="2754531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验证机制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_3176_Agent 协作与工程规范">
            <a:extLst>
              <a:ext uri="{FF2B5EF4-FFF2-40B4-BE49-F238E27FC236}">
                <a16:creationId xmlns:a16="http://schemas.microsoft.com/office/drawing/2014/main" id="{477B3743-8636-4860-896E-25D8AD11E8C6}"/>
              </a:ext>
            </a:extLst>
          </p:cNvPr>
          <p:cNvSpPr>
            <a:spLocks noGrp="1"/>
          </p:cNvSpPr>
          <p:nvPr/>
        </p:nvSpPr>
        <p:spPr>
          <a:xfrm>
            <a:off x="6135796" y="2954556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</a:t>
            </a: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协作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object_3179">
            <a:extLst>
              <a:ext uri="{FF2B5EF4-FFF2-40B4-BE49-F238E27FC236}">
                <a16:creationId xmlns:a16="http://schemas.microsoft.com/office/drawing/2014/main" id="{9120DF7D-D295-48D5-8034-E3C0101F9283}"/>
              </a:ext>
            </a:extLst>
          </p:cNvPr>
          <p:cNvSpPr>
            <a:spLocks noGrp="1"/>
          </p:cNvSpPr>
          <p:nvPr/>
        </p:nvSpPr>
        <p:spPr>
          <a:xfrm>
            <a:off x="5256763" y="3647246"/>
            <a:ext cx="2564606" cy="13430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43" name="text_3183_硬件架构与特性">
            <a:extLst>
              <a:ext uri="{FF2B5EF4-FFF2-40B4-BE49-F238E27FC236}">
                <a16:creationId xmlns:a16="http://schemas.microsoft.com/office/drawing/2014/main" id="{B03C6696-9242-48CD-844D-AC9E9765DD99}"/>
              </a:ext>
            </a:extLst>
          </p:cNvPr>
          <p:cNvSpPr>
            <a:spLocks noGrp="1"/>
          </p:cNvSpPr>
          <p:nvPr/>
        </p:nvSpPr>
        <p:spPr>
          <a:xfrm>
            <a:off x="6142940" y="4017699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text_3185_编程模型与 API">
            <a:extLst>
              <a:ext uri="{FF2B5EF4-FFF2-40B4-BE49-F238E27FC236}">
                <a16:creationId xmlns:a16="http://schemas.microsoft.com/office/drawing/2014/main" id="{5F8D1034-148F-4C2B-BE10-5738C138EC27}"/>
              </a:ext>
            </a:extLst>
          </p:cNvPr>
          <p:cNvSpPr>
            <a:spLocks noGrp="1"/>
          </p:cNvSpPr>
          <p:nvPr/>
        </p:nvSpPr>
        <p:spPr>
          <a:xfrm>
            <a:off x="6142940" y="4224868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_3187_开发环境与工具链">
            <a:extLst>
              <a:ext uri="{FF2B5EF4-FFF2-40B4-BE49-F238E27FC236}">
                <a16:creationId xmlns:a16="http://schemas.microsoft.com/office/drawing/2014/main" id="{C7B23265-56AA-4899-A9CE-EA6ADE91F7B9}"/>
              </a:ext>
            </a:extLst>
          </p:cNvPr>
          <p:cNvSpPr>
            <a:spLocks noGrp="1"/>
          </p:cNvSpPr>
          <p:nvPr/>
        </p:nvSpPr>
        <p:spPr>
          <a:xfrm>
            <a:off x="5922791" y="4444712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开发环境与工具链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text_3189_性能分析、优化方法及高性能案例">
            <a:extLst>
              <a:ext uri="{FF2B5EF4-FFF2-40B4-BE49-F238E27FC236}">
                <a16:creationId xmlns:a16="http://schemas.microsoft.com/office/drawing/2014/main" id="{30A462AE-D02C-4F27-B950-C3930F0150FC}"/>
              </a:ext>
            </a:extLst>
          </p:cNvPr>
          <p:cNvSpPr>
            <a:spLocks noGrp="1"/>
          </p:cNvSpPr>
          <p:nvPr/>
        </p:nvSpPr>
        <p:spPr>
          <a:xfrm>
            <a:off x="5807008" y="4687599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优化方法及高性能案例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connector_3190">
            <a:extLst>
              <a:ext uri="{FF2B5EF4-FFF2-40B4-BE49-F238E27FC236}">
                <a16:creationId xmlns:a16="http://schemas.microsoft.com/office/drawing/2014/main" id="{C1A0E153-E4F2-490A-9A2C-174F996C8A33}"/>
              </a:ext>
            </a:extLst>
          </p:cNvPr>
          <p:cNvSpPr>
            <a:spLocks noGrp="1"/>
          </p:cNvSpPr>
          <p:nvPr/>
        </p:nvSpPr>
        <p:spPr>
          <a:xfrm>
            <a:off x="6535494" y="5018846"/>
            <a:ext cx="14288" cy="150019"/>
          </a:xfrm>
          <a:custGeom>
            <a:avLst/>
            <a:gdLst/>
            <a:ahLst/>
            <a:cxnLst/>
            <a:rect l="0" t="0" r="0" b="0"/>
            <a:pathLst>
              <a:path w="19050" h="200025">
                <a:moveTo>
                  <a:pt x="9525" y="9525"/>
                </a:moveTo>
                <a:lnTo>
                  <a:pt x="9525" y="1905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48" name="connector_3191">
            <a:extLst>
              <a:ext uri="{FF2B5EF4-FFF2-40B4-BE49-F238E27FC236}">
                <a16:creationId xmlns:a16="http://schemas.microsoft.com/office/drawing/2014/main" id="{AF6EB9AD-15F1-4C8F-BE74-42B2EE9FA87A}"/>
              </a:ext>
            </a:extLst>
          </p:cNvPr>
          <p:cNvSpPr>
            <a:spLocks noGrp="1"/>
          </p:cNvSpPr>
          <p:nvPr/>
        </p:nvSpPr>
        <p:spPr>
          <a:xfrm>
            <a:off x="6511520" y="511069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49" name="object_3192">
            <a:extLst>
              <a:ext uri="{FF2B5EF4-FFF2-40B4-BE49-F238E27FC236}">
                <a16:creationId xmlns:a16="http://schemas.microsoft.com/office/drawing/2014/main" id="{E35B37D6-86C8-4767-B87C-300C13F475C5}"/>
              </a:ext>
            </a:extLst>
          </p:cNvPr>
          <p:cNvSpPr>
            <a:spLocks noGrp="1"/>
          </p:cNvSpPr>
          <p:nvPr/>
        </p:nvSpPr>
        <p:spPr>
          <a:xfrm>
            <a:off x="5263907" y="5204584"/>
            <a:ext cx="2550319" cy="307181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50" name="text_3194_新平台 Operator Skill">
            <a:extLst>
              <a:ext uri="{FF2B5EF4-FFF2-40B4-BE49-F238E27FC236}">
                <a16:creationId xmlns:a16="http://schemas.microsoft.com/office/drawing/2014/main" id="{E07D6F8F-5C57-4289-925D-84D9CE52A3B1}"/>
              </a:ext>
            </a:extLst>
          </p:cNvPr>
          <p:cNvSpPr>
            <a:spLocks noGrp="1"/>
          </p:cNvSpPr>
          <p:nvPr/>
        </p:nvSpPr>
        <p:spPr>
          <a:xfrm>
            <a:off x="5313913" y="5240302"/>
            <a:ext cx="2450306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新平台</a:t>
            </a:r>
            <a:r>
              <a:rPr sz="1294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Operator Skill</a:t>
            </a:r>
          </a:p>
        </p:txBody>
      </p:sp>
      <p:sp>
        <p:nvSpPr>
          <p:cNvPr id="156" name="Rectangle 1">
            <a:extLst>
              <a:ext uri="{FF2B5EF4-FFF2-40B4-BE49-F238E27FC236}">
                <a16:creationId xmlns:a16="http://schemas.microsoft.com/office/drawing/2014/main" id="{8960AFFF-E899-C418-B077-71AE72F5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4280" y="2545166"/>
            <a:ext cx="697640" cy="25391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可复用</a:t>
            </a:r>
          </a:p>
        </p:txBody>
      </p:sp>
      <p:sp>
        <p:nvSpPr>
          <p:cNvPr id="157" name="Rectangle 1">
            <a:extLst>
              <a:ext uri="{FF2B5EF4-FFF2-40B4-BE49-F238E27FC236}">
                <a16:creationId xmlns:a16="http://schemas.microsoft.com/office/drawing/2014/main" id="{8960AFFF-E899-C418-B077-71AE72F5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4895" y="4191800"/>
            <a:ext cx="772502" cy="25391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进行替换</a:t>
            </a:r>
          </a:p>
        </p:txBody>
      </p:sp>
      <p:sp>
        <p:nvSpPr>
          <p:cNvPr id="167" name="Rectangle 1">
            <a:extLst>
              <a:ext uri="{FF2B5EF4-FFF2-40B4-BE49-F238E27FC236}">
                <a16:creationId xmlns:a16="http://schemas.microsoft.com/office/drawing/2014/main" id="{8960AFFF-E899-C418-B077-71AE72F5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6944" y="3328130"/>
            <a:ext cx="967336" cy="25391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进行解耦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619944" y="2393619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1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677094" y="2408395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需求分析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1505989" y="2393131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4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1563139" y="2407907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代码生成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2399389" y="2393131"/>
            <a:ext cx="772981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6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2475301" y="2407907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正确性验证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3346382" y="2393450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8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3403532" y="2408226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2312984" y="2715528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200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2370134" y="2730304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迭代优化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1347053" y="2512154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2225022" y="2503923"/>
            <a:ext cx="178183" cy="33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3178170" y="2497204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 flipH="1">
            <a:off x="3065062" y="2646333"/>
            <a:ext cx="322451" cy="1845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_3145_硬件架构">
            <a:extLst>
              <a:ext uri="{FF2B5EF4-FFF2-40B4-BE49-F238E27FC236}">
                <a16:creationId xmlns:a16="http://schemas.microsoft.com/office/drawing/2014/main" id="{39D336CD-F4B7-481E-9518-62ACE98CB404}"/>
              </a:ext>
            </a:extLst>
          </p:cNvPr>
          <p:cNvSpPr>
            <a:spLocks noGrp="1"/>
          </p:cNvSpPr>
          <p:nvPr/>
        </p:nvSpPr>
        <p:spPr>
          <a:xfrm>
            <a:off x="1195795" y="3624875"/>
            <a:ext cx="24431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94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①平台专</a:t>
            </a:r>
            <a:r>
              <a:rPr lang="zh-CN" altLang="en-US" sz="1294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属</a:t>
            </a:r>
            <a:r>
              <a:rPr lang="zh-CN" altLang="en-US" sz="1294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资料</a:t>
            </a:r>
            <a:r>
              <a:rPr lang="zh-CN" altLang="en-US" sz="1294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差异</a:t>
            </a:r>
            <a:r>
              <a:rPr lang="zh-CN" altLang="en-US" sz="1294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</a:t>
            </a:r>
            <a:endParaRPr sz="1294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text_3147_计算单元、存储层次、并行结构">
            <a:extLst>
              <a:ext uri="{FF2B5EF4-FFF2-40B4-BE49-F238E27FC236}">
                <a16:creationId xmlns:a16="http://schemas.microsoft.com/office/drawing/2014/main" id="{74B9F589-F68E-416B-A4B3-A773C17EBD7E}"/>
              </a:ext>
            </a:extLst>
          </p:cNvPr>
          <p:cNvSpPr>
            <a:spLocks noGrp="1"/>
          </p:cNvSpPr>
          <p:nvPr/>
        </p:nvSpPr>
        <p:spPr>
          <a:xfrm>
            <a:off x="1198182" y="3954941"/>
            <a:ext cx="242887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          编程模型         工具链与环境</a:t>
            </a:r>
            <a:endParaRPr sz="104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_3145_硬件架构">
            <a:extLst>
              <a:ext uri="{FF2B5EF4-FFF2-40B4-BE49-F238E27FC236}">
                <a16:creationId xmlns:a16="http://schemas.microsoft.com/office/drawing/2014/main" id="{39D336CD-F4B7-481E-9518-62ACE98CB404}"/>
              </a:ext>
            </a:extLst>
          </p:cNvPr>
          <p:cNvSpPr>
            <a:spLocks noGrp="1"/>
          </p:cNvSpPr>
          <p:nvPr/>
        </p:nvSpPr>
        <p:spPr>
          <a:xfrm>
            <a:off x="1189933" y="4265682"/>
            <a:ext cx="24431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94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②平台知识分散在整个开发流程中</a:t>
            </a:r>
            <a:endParaRPr sz="1294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箭头: 下 38">
            <a:extLst>
              <a:ext uri="{FF2B5EF4-FFF2-40B4-BE49-F238E27FC236}">
                <a16:creationId xmlns:a16="http://schemas.microsoft.com/office/drawing/2014/main" id="{EAB7CA23-300E-472A-92F7-F2EA8CBA1F02}"/>
              </a:ext>
            </a:extLst>
          </p:cNvPr>
          <p:cNvSpPr/>
          <p:nvPr/>
        </p:nvSpPr>
        <p:spPr>
          <a:xfrm>
            <a:off x="2182551" y="4752684"/>
            <a:ext cx="324000" cy="3666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Rectangle 1">
            <a:extLst>
              <a:ext uri="{FF2B5EF4-FFF2-40B4-BE49-F238E27FC236}">
                <a16:creationId xmlns:a16="http://schemas.microsoft.com/office/drawing/2014/main" id="{8960AFFF-E899-C418-B077-71AE72F5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0653" y="4826223"/>
            <a:ext cx="697640" cy="207749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导致</a:t>
            </a:r>
          </a:p>
        </p:txBody>
      </p:sp>
      <p:sp>
        <p:nvSpPr>
          <p:cNvPr id="60" name="矩形 59"/>
          <p:cNvSpPr/>
          <p:nvPr/>
        </p:nvSpPr>
        <p:spPr>
          <a:xfrm>
            <a:off x="1388061" y="6597107"/>
            <a:ext cx="65999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Yang, J., Jimenez, C. E.,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Wettig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SWE-agent: Agent-Computer Interfaces Enable Automated Software Engineering. arXiv:2405.15793, 2024.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BE36382-81E3-8B07-8038-63DFDAFDC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1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62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目前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Skill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结构分析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63" name="标题 1"/>
          <p:cNvSpPr txBox="1">
            <a:spLocks/>
          </p:cNvSpPr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加号 8"/>
          <p:cNvSpPr/>
          <p:nvPr/>
        </p:nvSpPr>
        <p:spPr>
          <a:xfrm>
            <a:off x="6351633" y="3375283"/>
            <a:ext cx="260489" cy="201590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94990" y="2002763"/>
            <a:ext cx="20313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算子的开发流程具有</a:t>
            </a:r>
            <a:r>
              <a:rPr lang="zh-CN" altLang="en-US" sz="1200" dirty="0" smtClean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通用性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94DDE62-F162-C8D8-0D1A-D5550CEAD231}"/>
              </a:ext>
            </a:extLst>
          </p:cNvPr>
          <p:cNvSpPr/>
          <p:nvPr/>
        </p:nvSpPr>
        <p:spPr>
          <a:xfrm>
            <a:off x="1610616" y="1973060"/>
            <a:ext cx="1930961" cy="300159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CA9E6DE-333F-3152-1FAC-93FFB2531ED1}"/>
              </a:ext>
            </a:extLst>
          </p:cNvPr>
          <p:cNvSpPr txBox="1"/>
          <p:nvPr/>
        </p:nvSpPr>
        <p:spPr>
          <a:xfrm>
            <a:off x="1233804" y="1973060"/>
            <a:ext cx="499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71" name="矩形 70"/>
          <p:cNvSpPr/>
          <p:nvPr/>
        </p:nvSpPr>
        <p:spPr>
          <a:xfrm>
            <a:off x="1781851" y="3325334"/>
            <a:ext cx="14430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平台资料替换困难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94DDE62-F162-C8D8-0D1A-D5550CEAD231}"/>
              </a:ext>
            </a:extLst>
          </p:cNvPr>
          <p:cNvSpPr/>
          <p:nvPr/>
        </p:nvSpPr>
        <p:spPr>
          <a:xfrm>
            <a:off x="1797477" y="3295631"/>
            <a:ext cx="1355647" cy="300159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CA9E6DE-333F-3152-1FAC-93FFB2531ED1}"/>
              </a:ext>
            </a:extLst>
          </p:cNvPr>
          <p:cNvSpPr txBox="1"/>
          <p:nvPr/>
        </p:nvSpPr>
        <p:spPr>
          <a:xfrm>
            <a:off x="1420665" y="3295631"/>
            <a:ext cx="499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4" name="文本框 95">
            <a:extLst>
              <a:ext uri="{FF2B5EF4-FFF2-40B4-BE49-F238E27FC236}">
                <a16:creationId xmlns:a16="http://schemas.microsoft.com/office/drawing/2014/main" id="{DD176048-0C11-5EFB-2598-5F2C2058CB64}"/>
              </a:ext>
            </a:extLst>
          </p:cNvPr>
          <p:cNvSpPr txBox="1"/>
          <p:nvPr/>
        </p:nvSpPr>
        <p:spPr>
          <a:xfrm>
            <a:off x="303609" y="5405067"/>
            <a:ext cx="8951851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跨平台需要多个模块大范围修改，替换成本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600" b="1" dirty="0">
              <a:solidFill>
                <a:srgbClr val="004B9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89477B4-3588-D86D-7D0B-44DD34C0CAD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95289" y="1778752"/>
            <a:ext cx="4189610" cy="3518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89477B4-3588-D86D-7D0B-44DD34C0CAD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982272" y="1775200"/>
            <a:ext cx="3510962" cy="3518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29C694BA-2540-E275-D73E-77C176D48657}"/>
              </a:ext>
            </a:extLst>
          </p:cNvPr>
          <p:cNvSpPr txBox="1"/>
          <p:nvPr/>
        </p:nvSpPr>
        <p:spPr>
          <a:xfrm>
            <a:off x="5651513" y="1993471"/>
            <a:ext cx="214898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50" dirty="0" smtClean="0"/>
              <a:t>通用开发流程</a:t>
            </a:r>
            <a:r>
              <a:rPr lang="zh-CN" altLang="en-US" sz="1450" dirty="0" smtClean="0"/>
              <a:t>：</a:t>
            </a:r>
            <a:endParaRPr lang="zh-CN" altLang="en-US" sz="1450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29C694BA-2540-E275-D73E-77C176D48657}"/>
              </a:ext>
            </a:extLst>
          </p:cNvPr>
          <p:cNvSpPr txBox="1"/>
          <p:nvPr/>
        </p:nvSpPr>
        <p:spPr>
          <a:xfrm>
            <a:off x="5672384" y="3717457"/>
            <a:ext cx="214898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50" dirty="0" smtClean="0"/>
              <a:t>平台资料</a:t>
            </a:r>
            <a:r>
              <a:rPr lang="zh-CN" altLang="en-US" sz="1450" dirty="0" smtClean="0"/>
              <a:t>：</a:t>
            </a:r>
            <a:endParaRPr lang="zh-CN" altLang="en-US" sz="1450" dirty="0"/>
          </a:p>
        </p:txBody>
      </p:sp>
    </p:spTree>
    <p:extLst>
      <p:ext uri="{BB962C8B-B14F-4D97-AF65-F5344CB8AC3E}">
        <p14:creationId xmlns:p14="http://schemas.microsoft.com/office/powerpoint/2010/main" val="345497343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: 圆角 46">
            <a:extLst>
              <a:ext uri="{FF2B5EF4-FFF2-40B4-BE49-F238E27FC236}">
                <a16:creationId xmlns:a16="http://schemas.microsoft.com/office/drawing/2014/main" id="{5190E84F-3680-43C0-AE87-E3EB77ADFDCE}"/>
              </a:ext>
            </a:extLst>
          </p:cNvPr>
          <p:cNvSpPr/>
          <p:nvPr/>
        </p:nvSpPr>
        <p:spPr>
          <a:xfrm>
            <a:off x="557212" y="2649765"/>
            <a:ext cx="7358063" cy="55140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_3200_01">
            <a:extLst>
              <a:ext uri="{FF2B5EF4-FFF2-40B4-BE49-F238E27FC236}">
                <a16:creationId xmlns:a16="http://schemas.microsoft.com/office/drawing/2014/main" id="{DCD53DF0-42BE-405B-9D7C-AF719DE1E431}"/>
              </a:ext>
            </a:extLst>
          </p:cNvPr>
          <p:cNvSpPr>
            <a:spLocks noGrp="1"/>
          </p:cNvSpPr>
          <p:nvPr/>
        </p:nvSpPr>
        <p:spPr>
          <a:xfrm>
            <a:off x="550069" y="1893094"/>
            <a:ext cx="392906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5" name="text_3202_任务与边界定义">
            <a:extLst>
              <a:ext uri="{FF2B5EF4-FFF2-40B4-BE49-F238E27FC236}">
                <a16:creationId xmlns:a16="http://schemas.microsoft.com/office/drawing/2014/main" id="{C014E2EF-2092-43FF-BC8B-65BDFD006B04}"/>
              </a:ext>
            </a:extLst>
          </p:cNvPr>
          <p:cNvSpPr>
            <a:spLocks noGrp="1"/>
          </p:cNvSpPr>
          <p:nvPr/>
        </p:nvSpPr>
        <p:spPr>
          <a:xfrm>
            <a:off x="921544" y="1893094"/>
            <a:ext cx="2271713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Workflow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6" name="connector_3203">
            <a:extLst>
              <a:ext uri="{FF2B5EF4-FFF2-40B4-BE49-F238E27FC236}">
                <a16:creationId xmlns:a16="http://schemas.microsoft.com/office/drawing/2014/main" id="{EBDD30F3-E939-4C57-83AE-8E6EEC373FA8}"/>
              </a:ext>
            </a:extLst>
          </p:cNvPr>
          <p:cNvSpPr>
            <a:spLocks noGrp="1"/>
          </p:cNvSpPr>
          <p:nvPr/>
        </p:nvSpPr>
        <p:spPr>
          <a:xfrm>
            <a:off x="542925" y="2193131"/>
            <a:ext cx="1585913" cy="14288"/>
          </a:xfrm>
          <a:custGeom>
            <a:avLst/>
            <a:gdLst/>
            <a:ahLst/>
            <a:cxnLst/>
            <a:rect l="0" t="0" r="0" b="0"/>
            <a:pathLst>
              <a:path w="2114550" h="19050">
                <a:moveTo>
                  <a:pt x="9525" y="9525"/>
                </a:moveTo>
                <a:lnTo>
                  <a:pt x="210502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28" name="text_3242_04">
            <a:extLst>
              <a:ext uri="{FF2B5EF4-FFF2-40B4-BE49-F238E27FC236}">
                <a16:creationId xmlns:a16="http://schemas.microsoft.com/office/drawing/2014/main" id="{7C6F4B14-A145-4657-B20D-3DE37E47739F}"/>
              </a:ext>
            </a:extLst>
          </p:cNvPr>
          <p:cNvSpPr>
            <a:spLocks noGrp="1"/>
          </p:cNvSpPr>
          <p:nvPr/>
        </p:nvSpPr>
        <p:spPr>
          <a:xfrm>
            <a:off x="550070" y="3542723"/>
            <a:ext cx="392906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</a:t>
            </a:r>
            <a:r>
              <a:rPr 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29" name="text_3244_封装新平台 Skill">
            <a:extLst>
              <a:ext uri="{FF2B5EF4-FFF2-40B4-BE49-F238E27FC236}">
                <a16:creationId xmlns:a16="http://schemas.microsoft.com/office/drawing/2014/main" id="{51D64DED-0F9F-48F3-B968-BD36EB3AC932}"/>
              </a:ext>
            </a:extLst>
          </p:cNvPr>
          <p:cNvSpPr>
            <a:spLocks noGrp="1"/>
          </p:cNvSpPr>
          <p:nvPr/>
        </p:nvSpPr>
        <p:spPr>
          <a:xfrm>
            <a:off x="921544" y="3542723"/>
            <a:ext cx="2271713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平台</a:t>
            </a:r>
            <a:r>
              <a:rPr lang="zh-CN" alt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资料</a:t>
            </a:r>
            <a:r>
              <a:rPr lang="zh-CN" alt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库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30" name="connector_3245">
            <a:extLst>
              <a:ext uri="{FF2B5EF4-FFF2-40B4-BE49-F238E27FC236}">
                <a16:creationId xmlns:a16="http://schemas.microsoft.com/office/drawing/2014/main" id="{CC8350A8-9979-46FB-A1F1-B7205E7B131C}"/>
              </a:ext>
            </a:extLst>
          </p:cNvPr>
          <p:cNvSpPr>
            <a:spLocks noGrp="1"/>
          </p:cNvSpPr>
          <p:nvPr/>
        </p:nvSpPr>
        <p:spPr>
          <a:xfrm>
            <a:off x="542925" y="3842760"/>
            <a:ext cx="1585913" cy="14288"/>
          </a:xfrm>
          <a:custGeom>
            <a:avLst/>
            <a:gdLst/>
            <a:ahLst/>
            <a:cxnLst/>
            <a:rect l="0" t="0" r="0" b="0"/>
            <a:pathLst>
              <a:path w="2114550" h="19050">
                <a:moveTo>
                  <a:pt x="9525" y="9525"/>
                </a:moveTo>
                <a:lnTo>
                  <a:pt x="210502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141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2448903" y="2794264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42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564357" y="2314575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通用</a:t>
            </a: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流程</a:t>
            </a:r>
            <a:r>
              <a:rPr lang="zh-CN" altLang="en-US" sz="1013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保持</a:t>
            </a: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不变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2409392" y="2307431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44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2466542" y="2322207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需求分析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3295437" y="2306943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46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3352587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代码生成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4188837" y="2306943"/>
            <a:ext cx="772981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48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4264750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正确性验证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5135830" y="2307262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50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5192980" y="232203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6043543" y="2306943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52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6100693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迭代优化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3136502" y="2425966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4014471" y="2417735"/>
            <a:ext cx="178183" cy="33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4967618" y="2411016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5880813" y="2425966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2321719" y="2828114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补充平台信息限制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3757380" y="2794264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60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3630196" y="2828114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修改阶段契约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5094802" y="279357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62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4967619" y="282742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真实硬件验证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6483547" y="279357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64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6356364" y="282742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复测流程稳定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>
            <a:stCxn id="141" idx="0"/>
          </p:cNvCxnSpPr>
          <p:nvPr/>
        </p:nvCxnSpPr>
        <p:spPr>
          <a:xfrm flipH="1" flipV="1">
            <a:off x="3005843" y="2497553"/>
            <a:ext cx="27253" cy="296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 flipH="1" flipV="1">
            <a:off x="3711416" y="2482351"/>
            <a:ext cx="167878" cy="3431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 flipH="1" flipV="1">
            <a:off x="5274020" y="2489860"/>
            <a:ext cx="134979" cy="3135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 flipH="1" flipV="1">
            <a:off x="6554530" y="2496150"/>
            <a:ext cx="168662" cy="304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6933021" y="2314087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78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6990171" y="2328863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交付输出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6770291" y="2433110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550069" y="282742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新平台按需补充修改</a:t>
            </a:r>
            <a:endParaRPr lang="en-US" altLang="zh-CN"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（修改程度低）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connector_3499">
            <a:extLst>
              <a:ext uri="{FF2B5EF4-FFF2-40B4-BE49-F238E27FC236}">
                <a16:creationId xmlns:a16="http://schemas.microsoft.com/office/drawing/2014/main" id="{8C406022-D031-48D5-9739-1265C14FE1E9}"/>
              </a:ext>
            </a:extLst>
          </p:cNvPr>
          <p:cNvSpPr>
            <a:spLocks noGrp="1"/>
          </p:cNvSpPr>
          <p:nvPr/>
        </p:nvSpPr>
        <p:spPr>
          <a:xfrm>
            <a:off x="510508" y="5491216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183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531940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84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536486" y="5612660"/>
            <a:ext cx="1795680" cy="41689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官方资料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connector_3505">
            <a:extLst>
              <a:ext uri="{FF2B5EF4-FFF2-40B4-BE49-F238E27FC236}">
                <a16:creationId xmlns:a16="http://schemas.microsoft.com/office/drawing/2014/main" id="{BC400654-A816-4C3C-B9ED-6BCD74115811}"/>
              </a:ext>
            </a:extLst>
          </p:cNvPr>
          <p:cNvSpPr>
            <a:spLocks noGrp="1"/>
          </p:cNvSpPr>
          <p:nvPr/>
        </p:nvSpPr>
        <p:spPr>
          <a:xfrm>
            <a:off x="2396459" y="5791253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87" name="connector_3506">
            <a:extLst>
              <a:ext uri="{FF2B5EF4-FFF2-40B4-BE49-F238E27FC236}">
                <a16:creationId xmlns:a16="http://schemas.microsoft.com/office/drawing/2014/main" id="{93549F69-0610-4614-9275-20174FEA38F7}"/>
              </a:ext>
            </a:extLst>
          </p:cNvPr>
          <p:cNvSpPr>
            <a:spLocks noGrp="1"/>
          </p:cNvSpPr>
          <p:nvPr/>
        </p:nvSpPr>
        <p:spPr>
          <a:xfrm>
            <a:off x="2488306" y="5767279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88" name="object_3507">
            <a:extLst>
              <a:ext uri="{FF2B5EF4-FFF2-40B4-BE49-F238E27FC236}">
                <a16:creationId xmlns:a16="http://schemas.microsoft.com/office/drawing/2014/main" id="{BD516D98-3864-4EC7-ABC3-38B838FAB2FD}"/>
              </a:ext>
            </a:extLst>
          </p:cNvPr>
          <p:cNvSpPr>
            <a:spLocks noGrp="1"/>
          </p:cNvSpPr>
          <p:nvPr/>
        </p:nvSpPr>
        <p:spPr>
          <a:xfrm>
            <a:off x="2567909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89" name="text_3509_环境检测">
            <a:extLst>
              <a:ext uri="{FF2B5EF4-FFF2-40B4-BE49-F238E27FC236}">
                <a16:creationId xmlns:a16="http://schemas.microsoft.com/office/drawing/2014/main" id="{9575021B-49ED-41B4-83D9-2564F67B68C6}"/>
              </a:ext>
            </a:extLst>
          </p:cNvPr>
          <p:cNvSpPr>
            <a:spLocks noGrp="1"/>
          </p:cNvSpPr>
          <p:nvPr/>
        </p:nvSpPr>
        <p:spPr>
          <a:xfrm>
            <a:off x="2580055" y="5612660"/>
            <a:ext cx="1788080" cy="3929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环境检测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connector_3512">
            <a:extLst>
              <a:ext uri="{FF2B5EF4-FFF2-40B4-BE49-F238E27FC236}">
                <a16:creationId xmlns:a16="http://schemas.microsoft.com/office/drawing/2014/main" id="{4C11D78A-7179-4B70-BBBB-7B5DE6A6744F}"/>
              </a:ext>
            </a:extLst>
          </p:cNvPr>
          <p:cNvSpPr>
            <a:spLocks noGrp="1"/>
          </p:cNvSpPr>
          <p:nvPr/>
        </p:nvSpPr>
        <p:spPr>
          <a:xfrm>
            <a:off x="4432428" y="5791253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2" name="connector_3513">
            <a:extLst>
              <a:ext uri="{FF2B5EF4-FFF2-40B4-BE49-F238E27FC236}">
                <a16:creationId xmlns:a16="http://schemas.microsoft.com/office/drawing/2014/main" id="{366E0B97-0F28-4444-ACCC-18846969A814}"/>
              </a:ext>
            </a:extLst>
          </p:cNvPr>
          <p:cNvSpPr>
            <a:spLocks noGrp="1"/>
          </p:cNvSpPr>
          <p:nvPr/>
        </p:nvSpPr>
        <p:spPr>
          <a:xfrm>
            <a:off x="4524274" y="5767279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3" name="object_3514">
            <a:extLst>
              <a:ext uri="{FF2B5EF4-FFF2-40B4-BE49-F238E27FC236}">
                <a16:creationId xmlns:a16="http://schemas.microsoft.com/office/drawing/2014/main" id="{A3721140-1C5D-4D18-9B29-9BB4FAE03E67}"/>
              </a:ext>
            </a:extLst>
          </p:cNvPr>
          <p:cNvSpPr>
            <a:spLocks noGrp="1"/>
          </p:cNvSpPr>
          <p:nvPr/>
        </p:nvSpPr>
        <p:spPr>
          <a:xfrm>
            <a:off x="4603878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4" name="text_3516_Microbenchmark">
            <a:extLst>
              <a:ext uri="{FF2B5EF4-FFF2-40B4-BE49-F238E27FC236}">
                <a16:creationId xmlns:a16="http://schemas.microsoft.com/office/drawing/2014/main" id="{9477D07E-9812-4755-9498-A412279DD421}"/>
              </a:ext>
            </a:extLst>
          </p:cNvPr>
          <p:cNvSpPr>
            <a:spLocks noGrp="1"/>
          </p:cNvSpPr>
          <p:nvPr/>
        </p:nvSpPr>
        <p:spPr>
          <a:xfrm>
            <a:off x="4596734" y="5612660"/>
            <a:ext cx="1807370" cy="3929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Microbenchmark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connector_3519">
            <a:extLst>
              <a:ext uri="{FF2B5EF4-FFF2-40B4-BE49-F238E27FC236}">
                <a16:creationId xmlns:a16="http://schemas.microsoft.com/office/drawing/2014/main" id="{F65BA303-A9F8-4E6E-8A1A-C228AD168028}"/>
              </a:ext>
            </a:extLst>
          </p:cNvPr>
          <p:cNvSpPr>
            <a:spLocks noGrp="1"/>
          </p:cNvSpPr>
          <p:nvPr/>
        </p:nvSpPr>
        <p:spPr>
          <a:xfrm>
            <a:off x="6468396" y="5791253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7" name="connector_3520">
            <a:extLst>
              <a:ext uri="{FF2B5EF4-FFF2-40B4-BE49-F238E27FC236}">
                <a16:creationId xmlns:a16="http://schemas.microsoft.com/office/drawing/2014/main" id="{8FF3BF51-51B5-4BE5-8897-86AD504B03BE}"/>
              </a:ext>
            </a:extLst>
          </p:cNvPr>
          <p:cNvSpPr>
            <a:spLocks noGrp="1"/>
          </p:cNvSpPr>
          <p:nvPr/>
        </p:nvSpPr>
        <p:spPr>
          <a:xfrm>
            <a:off x="6560243" y="5767279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8" name="object_3521">
            <a:extLst>
              <a:ext uri="{FF2B5EF4-FFF2-40B4-BE49-F238E27FC236}">
                <a16:creationId xmlns:a16="http://schemas.microsoft.com/office/drawing/2014/main" id="{CEF1CC45-8D77-41AF-A98F-7CA1DBC28DEE}"/>
              </a:ext>
            </a:extLst>
          </p:cNvPr>
          <p:cNvSpPr>
            <a:spLocks noGrp="1"/>
          </p:cNvSpPr>
          <p:nvPr/>
        </p:nvSpPr>
        <p:spPr>
          <a:xfrm>
            <a:off x="6639847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9" name="text_3523_实际开发经验">
            <a:extLst>
              <a:ext uri="{FF2B5EF4-FFF2-40B4-BE49-F238E27FC236}">
                <a16:creationId xmlns:a16="http://schemas.microsoft.com/office/drawing/2014/main" id="{587E5221-3F01-493D-9635-CA2E1CED8157}"/>
              </a:ext>
            </a:extLst>
          </p:cNvPr>
          <p:cNvSpPr>
            <a:spLocks noGrp="1"/>
          </p:cNvSpPr>
          <p:nvPr/>
        </p:nvSpPr>
        <p:spPr>
          <a:xfrm>
            <a:off x="6673423" y="5612660"/>
            <a:ext cx="1766650" cy="3929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实际开发经验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text_3244_封装新平台 Skill">
            <a:extLst>
              <a:ext uri="{FF2B5EF4-FFF2-40B4-BE49-F238E27FC236}">
                <a16:creationId xmlns:a16="http://schemas.microsoft.com/office/drawing/2014/main" id="{51D64DED-0F9F-48F3-B968-BD36EB3AC932}"/>
              </a:ext>
            </a:extLst>
          </p:cNvPr>
          <p:cNvSpPr>
            <a:spLocks noGrp="1"/>
          </p:cNvSpPr>
          <p:nvPr/>
        </p:nvSpPr>
        <p:spPr>
          <a:xfrm>
            <a:off x="627343" y="4758194"/>
            <a:ext cx="2271713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205" name="矩形: 圆角 46">
            <a:extLst>
              <a:ext uri="{FF2B5EF4-FFF2-40B4-BE49-F238E27FC236}">
                <a16:creationId xmlns:a16="http://schemas.microsoft.com/office/drawing/2014/main" id="{5190E84F-3680-43C0-AE87-E3EB77ADFDCE}"/>
              </a:ext>
            </a:extLst>
          </p:cNvPr>
          <p:cNvSpPr/>
          <p:nvPr/>
        </p:nvSpPr>
        <p:spPr>
          <a:xfrm>
            <a:off x="579127" y="3912073"/>
            <a:ext cx="7358063" cy="9249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3064136" y="403619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07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2936953" y="4070040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4372613" y="403619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09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4245430" y="4070040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编程环境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5710036" y="4035498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1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5582852" y="4069347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算子画像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3064136" y="4439185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3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2936953" y="4473034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578575" y="4255398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文件结构不变</a:t>
            </a:r>
            <a:endParaRPr lang="en-US" altLang="zh-CN"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内容几乎全部修改</a:t>
            </a:r>
            <a:endParaRPr lang="en-US" altLang="zh-CN"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4385342" y="444086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6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4258159" y="447471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优化方法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5722765" y="444017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8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5595581" y="4474020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支持原语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_3529_Common Workflow  +  Plat">
            <a:extLst>
              <a:ext uri="{FF2B5EF4-FFF2-40B4-BE49-F238E27FC236}">
                <a16:creationId xmlns:a16="http://schemas.microsoft.com/office/drawing/2014/main" id="{C6B21923-9CED-4B48-AF9C-5F33B631B2EB}"/>
              </a:ext>
            </a:extLst>
          </p:cNvPr>
          <p:cNvSpPr>
            <a:spLocks noGrp="1"/>
          </p:cNvSpPr>
          <p:nvPr/>
        </p:nvSpPr>
        <p:spPr>
          <a:xfrm>
            <a:off x="600006" y="6311667"/>
            <a:ext cx="80724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cs typeface="Arial"/>
              </a:rPr>
              <a:t>Workflow</a:t>
            </a:r>
            <a:r>
              <a:rPr sz="1500" b="1" dirty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cs typeface="Arial"/>
              </a:rPr>
              <a:t>  </a:t>
            </a:r>
            <a:r>
              <a:rPr sz="1500" b="1" dirty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cs typeface="Arial"/>
              </a:rPr>
              <a:t>+  </a:t>
            </a:r>
            <a:r>
              <a:rPr lang="zh-CN" altLang="en-US" sz="1500" b="1" dirty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cs typeface="Arial"/>
              </a:rPr>
              <a:t>平台资料库</a:t>
            </a:r>
            <a:r>
              <a:rPr sz="1294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500" b="1" dirty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cs typeface="Arial"/>
              </a:rPr>
              <a:t>=</a:t>
            </a:r>
            <a:r>
              <a:rPr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500" b="1" dirty="0" err="1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cs typeface="Arial"/>
              </a:rPr>
              <a:t>新平台</a:t>
            </a:r>
            <a:r>
              <a:rPr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cs typeface="Arial"/>
              </a:rPr>
              <a:t>Operator</a:t>
            </a:r>
            <a:r>
              <a:rPr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cs typeface="Arial"/>
              </a:rPr>
              <a:t>Skill</a:t>
            </a:r>
          </a:p>
        </p:txBody>
      </p:sp>
      <p:sp>
        <p:nvSpPr>
          <p:cNvPr id="80" name="矩形 79"/>
          <p:cNvSpPr/>
          <p:nvPr/>
        </p:nvSpPr>
        <p:spPr>
          <a:xfrm>
            <a:off x="1335339" y="6597107"/>
            <a:ext cx="65999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Yang, J., Jimenez, C. E.,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Wettig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SWE-agent: Agent-Computer Interfaces Enable Automated Software Engineering. arXiv:2405.15793, 2024.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CA9F4C-544B-43F1-951F-88DEFABEA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82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83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开发新平台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Skill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流程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89" name="标题 1"/>
          <p:cNvSpPr txBox="1">
            <a:spLocks/>
          </p:cNvSpPr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0247" y="5105418"/>
            <a:ext cx="1627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资料</a:t>
            </a:r>
            <a:r>
              <a:rPr lang="zh-CN" altLang="en-US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来源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16167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3790_相对 PyTorch 加速比">
            <a:extLst>
              <a:ext uri="{FF2B5EF4-FFF2-40B4-BE49-F238E27FC236}">
                <a16:creationId xmlns:a16="http://schemas.microsoft.com/office/drawing/2014/main" id="{3D0503E4-4F1E-48F3-A232-4930459B91D7}"/>
              </a:ext>
            </a:extLst>
          </p:cNvPr>
          <p:cNvSpPr>
            <a:spLocks noGrp="1"/>
          </p:cNvSpPr>
          <p:nvPr/>
        </p:nvSpPr>
        <p:spPr>
          <a:xfrm>
            <a:off x="658580" y="5587382"/>
            <a:ext cx="4922044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相对</a:t>
            </a:r>
            <a:r>
              <a:rPr sz="151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PyTorch</a:t>
            </a:r>
            <a:r>
              <a:rPr sz="151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加速比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5" name="text_3794_实验设置与结果分析">
            <a:extLst>
              <a:ext uri="{FF2B5EF4-FFF2-40B4-BE49-F238E27FC236}">
                <a16:creationId xmlns:a16="http://schemas.microsoft.com/office/drawing/2014/main" id="{F0A626C2-B49A-4B4A-858E-D972705AA006}"/>
              </a:ext>
            </a:extLst>
          </p:cNvPr>
          <p:cNvSpPr>
            <a:spLocks noGrp="1"/>
          </p:cNvSpPr>
          <p:nvPr/>
        </p:nvSpPr>
        <p:spPr>
          <a:xfrm>
            <a:off x="6116746" y="1401667"/>
            <a:ext cx="221456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实验设置与结果分析</a:t>
            </a:r>
            <a:endParaRPr sz="12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6" name="connector_3795">
            <a:extLst>
              <a:ext uri="{FF2B5EF4-FFF2-40B4-BE49-F238E27FC236}">
                <a16:creationId xmlns:a16="http://schemas.microsoft.com/office/drawing/2014/main" id="{DF94E079-CFE8-4F12-B7E7-E2129E467E31}"/>
              </a:ext>
            </a:extLst>
          </p:cNvPr>
          <p:cNvSpPr>
            <a:spLocks noGrp="1"/>
          </p:cNvSpPr>
          <p:nvPr/>
        </p:nvSpPr>
        <p:spPr>
          <a:xfrm>
            <a:off x="6116746" y="1748532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graphicFrame>
        <p:nvGraphicFramePr>
          <p:cNvPr id="122" name="表格 121"/>
          <p:cNvGraphicFramePr/>
          <p:nvPr>
            <p:extLst>
              <p:ext uri="{D42A27DB-BD31-4B8C-83A1-F6EECF244321}">
                <p14:modId xmlns:p14="http://schemas.microsoft.com/office/powerpoint/2010/main" val="3621655002"/>
              </p:ext>
            </p:extLst>
          </p:nvPr>
        </p:nvGraphicFramePr>
        <p:xfrm>
          <a:off x="589782" y="2167511"/>
          <a:ext cx="5236370" cy="3244185"/>
        </p:xfrm>
        <a:graphic>
          <a:graphicData uri="http://schemas.openxmlformats.org/drawingml/2006/table">
            <a:tbl>
              <a:tblPr/>
              <a:tblGrid>
                <a:gridCol w="1466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Skill / </a:t>
                      </a:r>
                      <a:r>
                        <a:rPr sz="1600" b="1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算子</a:t>
                      </a:r>
                      <a:endParaRPr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LayerNorm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Softmax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MatMul</a:t>
                      </a:r>
                      <a:endParaRPr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MLU </a:t>
                      </a:r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Triton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1.00×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1.23×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0.45×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BANG C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0.01×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0.05×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0.33×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GPU Triton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1.43×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1.06×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CUDA C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1.45×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1.06×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" name="text_3841_统一测试设置">
            <a:extLst>
              <a:ext uri="{FF2B5EF4-FFF2-40B4-BE49-F238E27FC236}">
                <a16:creationId xmlns:a16="http://schemas.microsoft.com/office/drawing/2014/main" id="{8CFF1FB7-994E-4DFD-AC68-3922EDE2D53A}"/>
              </a:ext>
            </a:extLst>
          </p:cNvPr>
          <p:cNvSpPr>
            <a:spLocks noGrp="1"/>
          </p:cNvSpPr>
          <p:nvPr/>
        </p:nvSpPr>
        <p:spPr>
          <a:xfrm>
            <a:off x="6131034" y="1855689"/>
            <a:ext cx="252888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统一测试设置</a:t>
            </a:r>
          </a:p>
        </p:txBody>
      </p:sp>
      <p:sp>
        <p:nvSpPr>
          <p:cNvPr id="56" name="text_3843_平台：寒武纪 MLU、NVIDIA GPU">
            <a:extLst>
              <a:ext uri="{FF2B5EF4-FFF2-40B4-BE49-F238E27FC236}">
                <a16:creationId xmlns:a16="http://schemas.microsoft.com/office/drawing/2014/main" id="{AC1F755E-1ADB-4AC1-92C2-BF93571B9DB4}"/>
              </a:ext>
            </a:extLst>
          </p:cNvPr>
          <p:cNvSpPr>
            <a:spLocks noGrp="1"/>
          </p:cNvSpPr>
          <p:nvPr/>
        </p:nvSpPr>
        <p:spPr>
          <a:xfrm>
            <a:off x="6126386" y="2076053"/>
            <a:ext cx="2507456" cy="94694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平台：寒武纪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MLU、NVIDIA GPU</a:t>
            </a: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编程模型：</a:t>
            </a:r>
            <a:r>
              <a:rPr lang="en-US" altLang="zh-CN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Triton</a:t>
            </a: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</a:t>
            </a: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CUDA C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：典型静态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精度：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FP16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计算，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FP32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累加。</a:t>
            </a:r>
          </a:p>
        </p:txBody>
      </p:sp>
      <p:sp>
        <p:nvSpPr>
          <p:cNvPr id="61" name="connector_3852">
            <a:extLst>
              <a:ext uri="{FF2B5EF4-FFF2-40B4-BE49-F238E27FC236}">
                <a16:creationId xmlns:a16="http://schemas.microsoft.com/office/drawing/2014/main" id="{CEEE67E7-7874-4603-A89F-62DBE00BECA4}"/>
              </a:ext>
            </a:extLst>
          </p:cNvPr>
          <p:cNvSpPr>
            <a:spLocks noGrp="1"/>
          </p:cNvSpPr>
          <p:nvPr/>
        </p:nvSpPr>
        <p:spPr>
          <a:xfrm>
            <a:off x="6131034" y="3134420"/>
            <a:ext cx="2536031" cy="14288"/>
          </a:xfrm>
          <a:custGeom>
            <a:avLst/>
            <a:gdLst/>
            <a:ahLst/>
            <a:cxnLst/>
            <a:rect l="0" t="0" r="0" b="0"/>
            <a:pathLst>
              <a:path w="3381375" h="19050">
                <a:moveTo>
                  <a:pt x="9525" y="9525"/>
                </a:moveTo>
                <a:lnTo>
                  <a:pt x="3371850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62" name="text_3854_方法具备跨平台复用性">
            <a:extLst>
              <a:ext uri="{FF2B5EF4-FFF2-40B4-BE49-F238E27FC236}">
                <a16:creationId xmlns:a16="http://schemas.microsoft.com/office/drawing/2014/main" id="{10FBF139-8AE0-404B-9444-FFAF30C7837D}"/>
              </a:ext>
            </a:extLst>
          </p:cNvPr>
          <p:cNvSpPr>
            <a:spLocks noGrp="1"/>
          </p:cNvSpPr>
          <p:nvPr/>
        </p:nvSpPr>
        <p:spPr>
          <a:xfrm>
            <a:off x="6138178" y="3234432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方法具备跨平台复用性</a:t>
            </a:r>
          </a:p>
        </p:txBody>
      </p:sp>
      <p:sp>
        <p:nvSpPr>
          <p:cNvPr id="63" name="text_3856_四类 Skill 均完成算子开发与验证。">
            <a:extLst>
              <a:ext uri="{FF2B5EF4-FFF2-40B4-BE49-F238E27FC236}">
                <a16:creationId xmlns:a16="http://schemas.microsoft.com/office/drawing/2014/main" id="{BAE0D7AF-B4E2-4789-A092-03D0552A4111}"/>
              </a:ext>
            </a:extLst>
          </p:cNvPr>
          <p:cNvSpPr>
            <a:spLocks noGrp="1"/>
          </p:cNvSpPr>
          <p:nvPr/>
        </p:nvSpPr>
        <p:spPr>
          <a:xfrm>
            <a:off x="6141750" y="3481677"/>
            <a:ext cx="2507456" cy="58936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四类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Skill </a:t>
            </a: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均完成算子开发与验证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部分 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达到；</a:t>
            </a: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或超过 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基线性能。</a:t>
            </a:r>
          </a:p>
        </p:txBody>
      </p:sp>
      <p:sp>
        <p:nvSpPr>
          <p:cNvPr id="66" name="text_3862_性能差距仍需补足">
            <a:extLst>
              <a:ext uri="{FF2B5EF4-FFF2-40B4-BE49-F238E27FC236}">
                <a16:creationId xmlns:a16="http://schemas.microsoft.com/office/drawing/2014/main" id="{B6B28731-BF9B-4A3F-A272-C7D390E07228}"/>
              </a:ext>
            </a:extLst>
          </p:cNvPr>
          <p:cNvSpPr>
            <a:spLocks noGrp="1"/>
          </p:cNvSpPr>
          <p:nvPr/>
        </p:nvSpPr>
        <p:spPr>
          <a:xfrm>
            <a:off x="6138178" y="4155976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性能差距</a:t>
            </a:r>
            <a:endParaRPr sz="12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_3864_MatMul 加速比均低于 1×。">
            <a:extLst>
              <a:ext uri="{FF2B5EF4-FFF2-40B4-BE49-F238E27FC236}">
                <a16:creationId xmlns:a16="http://schemas.microsoft.com/office/drawing/2014/main" id="{F8DBC509-C153-4A58-88AE-AC70045DDD8B}"/>
              </a:ext>
            </a:extLst>
          </p:cNvPr>
          <p:cNvSpPr>
            <a:spLocks noGrp="1"/>
          </p:cNvSpPr>
          <p:nvPr/>
        </p:nvSpPr>
        <p:spPr>
          <a:xfrm>
            <a:off x="6145322" y="4388148"/>
            <a:ext cx="2626562" cy="800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加速比均低于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1×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的三类算子均低于基线；</a:t>
            </a: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继续补充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Tiling / Memory / Compute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知识与高性能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1" name="text_3872_以实验反馈完善 Platform Profile">
            <a:extLst>
              <a:ext uri="{FF2B5EF4-FFF2-40B4-BE49-F238E27FC236}">
                <a16:creationId xmlns:a16="http://schemas.microsoft.com/office/drawing/2014/main" id="{E38CF88B-6E14-4AAB-BB17-6C0E07C1A393}"/>
              </a:ext>
            </a:extLst>
          </p:cNvPr>
          <p:cNvSpPr>
            <a:spLocks noGrp="1"/>
          </p:cNvSpPr>
          <p:nvPr/>
        </p:nvSpPr>
        <p:spPr>
          <a:xfrm>
            <a:off x="6138178" y="5306120"/>
            <a:ext cx="2521744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以实验反馈完善 Platform Profile</a:t>
            </a:r>
          </a:p>
        </p:txBody>
      </p:sp>
      <p:sp>
        <p:nvSpPr>
          <p:cNvPr id="49" name="灯片编号占位符 48">
            <a:extLst>
              <a:ext uri="{FF2B5EF4-FFF2-40B4-BE49-F238E27FC236}">
                <a16:creationId xmlns:a16="http://schemas.microsoft.com/office/drawing/2014/main" id="{0D4A52AD-132A-22DE-1593-2740E6A26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65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多平台实践结果分析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5966358" y="1436863"/>
            <a:ext cx="19893" cy="415051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标题 1"/>
          <p:cNvSpPr txBox="1">
            <a:spLocks/>
          </p:cNvSpPr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3" name="文本框 95">
            <a:extLst>
              <a:ext uri="{FF2B5EF4-FFF2-40B4-BE49-F238E27FC236}">
                <a16:creationId xmlns:a16="http://schemas.microsoft.com/office/drawing/2014/main" id="{DD176048-0C11-5EFB-2598-5F2C2058CB64}"/>
              </a:ext>
            </a:extLst>
          </p:cNvPr>
          <p:cNvSpPr txBox="1"/>
          <p:nvPr/>
        </p:nvSpPr>
        <p:spPr>
          <a:xfrm>
            <a:off x="535263" y="6183268"/>
            <a:ext cx="5692921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目前</a:t>
            </a:r>
            <a:r>
              <a:rPr lang="zh-CN" altLang="en-US" sz="1600" b="1" dirty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已经进行四类</a:t>
            </a:r>
            <a:r>
              <a:rPr lang="en-US" altLang="zh-CN" sz="1600" b="1" dirty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skill</a:t>
            </a:r>
            <a:r>
              <a:rPr lang="zh-CN" altLang="en-US" sz="1600" b="1" dirty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的开发与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验证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600" b="1" dirty="0">
              <a:solidFill>
                <a:srgbClr val="004B9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3300961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_3839_开发耗时（小时，从需求输入到通过验证）">
            <a:extLst>
              <a:ext uri="{FF2B5EF4-FFF2-40B4-BE49-F238E27FC236}">
                <a16:creationId xmlns:a16="http://schemas.microsoft.com/office/drawing/2014/main" id="{84094D75-E3FD-484F-BC75-337402FC4795}"/>
              </a:ext>
            </a:extLst>
          </p:cNvPr>
          <p:cNvSpPr>
            <a:spLocks noGrp="1"/>
          </p:cNvSpPr>
          <p:nvPr/>
        </p:nvSpPr>
        <p:spPr>
          <a:xfrm>
            <a:off x="623202" y="5856410"/>
            <a:ext cx="5229225" cy="22070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开发耗时（小时</a:t>
            </a:r>
            <a:r>
              <a:rPr sz="1238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从需求输入到通过验证</a:t>
            </a: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127" name="Chart"/>
          <p:cNvGraphicFramePr/>
          <p:nvPr>
            <p:extLst>
              <p:ext uri="{D42A27DB-BD31-4B8C-83A1-F6EECF244321}">
                <p14:modId xmlns:p14="http://schemas.microsoft.com/office/powerpoint/2010/main" val="3079102412"/>
              </p:ext>
            </p:extLst>
          </p:nvPr>
        </p:nvGraphicFramePr>
        <p:xfrm>
          <a:off x="587483" y="1791396"/>
          <a:ext cx="5264944" cy="3998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9" name="灯片编号占位符 48">
            <a:extLst>
              <a:ext uri="{FF2B5EF4-FFF2-40B4-BE49-F238E27FC236}">
                <a16:creationId xmlns:a16="http://schemas.microsoft.com/office/drawing/2014/main" id="{0D4A52AD-132A-22DE-1593-2740E6A26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65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多平台实践结果分析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68" name="text_3794_实验设置与结果分析">
            <a:extLst>
              <a:ext uri="{FF2B5EF4-FFF2-40B4-BE49-F238E27FC236}">
                <a16:creationId xmlns:a16="http://schemas.microsoft.com/office/drawing/2014/main" id="{F0A626C2-B49A-4B4A-858E-D972705AA006}"/>
              </a:ext>
            </a:extLst>
          </p:cNvPr>
          <p:cNvSpPr>
            <a:spLocks noGrp="1"/>
          </p:cNvSpPr>
          <p:nvPr/>
        </p:nvSpPr>
        <p:spPr>
          <a:xfrm>
            <a:off x="6116746" y="1401667"/>
            <a:ext cx="221456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实验设置与结果分析</a:t>
            </a:r>
            <a:endParaRPr sz="12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69" name="connector_3795">
            <a:extLst>
              <a:ext uri="{FF2B5EF4-FFF2-40B4-BE49-F238E27FC236}">
                <a16:creationId xmlns:a16="http://schemas.microsoft.com/office/drawing/2014/main" id="{DF94E079-CFE8-4F12-B7E7-E2129E467E31}"/>
              </a:ext>
            </a:extLst>
          </p:cNvPr>
          <p:cNvSpPr>
            <a:spLocks noGrp="1"/>
          </p:cNvSpPr>
          <p:nvPr/>
        </p:nvSpPr>
        <p:spPr>
          <a:xfrm>
            <a:off x="6116746" y="1748532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0" name="text_3841_统一测试设置">
            <a:extLst>
              <a:ext uri="{FF2B5EF4-FFF2-40B4-BE49-F238E27FC236}">
                <a16:creationId xmlns:a16="http://schemas.microsoft.com/office/drawing/2014/main" id="{8CFF1FB7-994E-4DFD-AC68-3922EDE2D53A}"/>
              </a:ext>
            </a:extLst>
          </p:cNvPr>
          <p:cNvSpPr>
            <a:spLocks noGrp="1"/>
          </p:cNvSpPr>
          <p:nvPr/>
        </p:nvSpPr>
        <p:spPr>
          <a:xfrm>
            <a:off x="6131034" y="1855689"/>
            <a:ext cx="252888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统一测试设置</a:t>
            </a:r>
          </a:p>
        </p:txBody>
      </p:sp>
      <p:sp>
        <p:nvSpPr>
          <p:cNvPr id="73" name="text_3843_平台：寒武纪 MLU、NVIDIA GPU">
            <a:extLst>
              <a:ext uri="{FF2B5EF4-FFF2-40B4-BE49-F238E27FC236}">
                <a16:creationId xmlns:a16="http://schemas.microsoft.com/office/drawing/2014/main" id="{AC1F755E-1ADB-4AC1-92C2-BF93571B9DB4}"/>
              </a:ext>
            </a:extLst>
          </p:cNvPr>
          <p:cNvSpPr>
            <a:spLocks noGrp="1"/>
          </p:cNvSpPr>
          <p:nvPr/>
        </p:nvSpPr>
        <p:spPr>
          <a:xfrm>
            <a:off x="6126386" y="2076053"/>
            <a:ext cx="2507456" cy="94694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平台：寒武纪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MLU、NVIDIA GPU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编程模型：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Triton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CUDA C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算子：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：典型静态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精度：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FP16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计算，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FP32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累加。</a:t>
            </a:r>
          </a:p>
        </p:txBody>
      </p:sp>
      <p:sp>
        <p:nvSpPr>
          <p:cNvPr id="74" name="connector_3852">
            <a:extLst>
              <a:ext uri="{FF2B5EF4-FFF2-40B4-BE49-F238E27FC236}">
                <a16:creationId xmlns:a16="http://schemas.microsoft.com/office/drawing/2014/main" id="{CEEE67E7-7874-4603-A89F-62DBE00BECA4}"/>
              </a:ext>
            </a:extLst>
          </p:cNvPr>
          <p:cNvSpPr>
            <a:spLocks noGrp="1"/>
          </p:cNvSpPr>
          <p:nvPr/>
        </p:nvSpPr>
        <p:spPr>
          <a:xfrm>
            <a:off x="6131034" y="3134420"/>
            <a:ext cx="2536031" cy="14288"/>
          </a:xfrm>
          <a:custGeom>
            <a:avLst/>
            <a:gdLst/>
            <a:ahLst/>
            <a:cxnLst/>
            <a:rect l="0" t="0" r="0" b="0"/>
            <a:pathLst>
              <a:path w="3381375" h="19050">
                <a:moveTo>
                  <a:pt x="9525" y="9525"/>
                </a:moveTo>
                <a:lnTo>
                  <a:pt x="3371850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76" name="text_3854_方法具备跨平台复用性">
            <a:extLst>
              <a:ext uri="{FF2B5EF4-FFF2-40B4-BE49-F238E27FC236}">
                <a16:creationId xmlns:a16="http://schemas.microsoft.com/office/drawing/2014/main" id="{10FBF139-8AE0-404B-9444-FFAF30C7837D}"/>
              </a:ext>
            </a:extLst>
          </p:cNvPr>
          <p:cNvSpPr>
            <a:spLocks noGrp="1"/>
          </p:cNvSpPr>
          <p:nvPr/>
        </p:nvSpPr>
        <p:spPr>
          <a:xfrm>
            <a:off x="6138178" y="3234432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方法具备跨平台复用性</a:t>
            </a:r>
          </a:p>
        </p:txBody>
      </p:sp>
      <p:sp>
        <p:nvSpPr>
          <p:cNvPr id="77" name="text_3856_四类 Skill 均完成算子开发与验证。">
            <a:extLst>
              <a:ext uri="{FF2B5EF4-FFF2-40B4-BE49-F238E27FC236}">
                <a16:creationId xmlns:a16="http://schemas.microsoft.com/office/drawing/2014/main" id="{BAE0D7AF-B4E2-4789-A092-03D0552A4111}"/>
              </a:ext>
            </a:extLst>
          </p:cNvPr>
          <p:cNvSpPr>
            <a:spLocks noGrp="1"/>
          </p:cNvSpPr>
          <p:nvPr/>
        </p:nvSpPr>
        <p:spPr>
          <a:xfrm>
            <a:off x="6141750" y="3481677"/>
            <a:ext cx="2507456" cy="58936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四类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Skill </a:t>
            </a: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均完成算子开发与验证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部分 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达到；</a:t>
            </a: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或超过 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基线性能。</a:t>
            </a:r>
          </a:p>
        </p:txBody>
      </p:sp>
      <p:sp>
        <p:nvSpPr>
          <p:cNvPr id="78" name="text_3862_性能差距仍需补足">
            <a:extLst>
              <a:ext uri="{FF2B5EF4-FFF2-40B4-BE49-F238E27FC236}">
                <a16:creationId xmlns:a16="http://schemas.microsoft.com/office/drawing/2014/main" id="{B6B28731-BF9B-4A3F-A272-C7D390E07228}"/>
              </a:ext>
            </a:extLst>
          </p:cNvPr>
          <p:cNvSpPr>
            <a:spLocks noGrp="1"/>
          </p:cNvSpPr>
          <p:nvPr/>
        </p:nvSpPr>
        <p:spPr>
          <a:xfrm>
            <a:off x="6138178" y="4155976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性能差距</a:t>
            </a:r>
            <a:endParaRPr sz="12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_3864_MatMul 加速比均低于 1×。">
            <a:extLst>
              <a:ext uri="{FF2B5EF4-FFF2-40B4-BE49-F238E27FC236}">
                <a16:creationId xmlns:a16="http://schemas.microsoft.com/office/drawing/2014/main" id="{F8DBC509-C153-4A58-88AE-AC70045DDD8B}"/>
              </a:ext>
            </a:extLst>
          </p:cNvPr>
          <p:cNvSpPr>
            <a:spLocks noGrp="1"/>
          </p:cNvSpPr>
          <p:nvPr/>
        </p:nvSpPr>
        <p:spPr>
          <a:xfrm>
            <a:off x="6145322" y="4388148"/>
            <a:ext cx="2626562" cy="800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加速比均低于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1×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的三类算子均低于基线；</a:t>
            </a: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继续补充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Tiling / Memory / Compute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知识与高性能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0" name="text_3872_以实验反馈完善 Platform Profile">
            <a:extLst>
              <a:ext uri="{FF2B5EF4-FFF2-40B4-BE49-F238E27FC236}">
                <a16:creationId xmlns:a16="http://schemas.microsoft.com/office/drawing/2014/main" id="{E38CF88B-6E14-4AAB-BB17-6C0E07C1A393}"/>
              </a:ext>
            </a:extLst>
          </p:cNvPr>
          <p:cNvSpPr>
            <a:spLocks noGrp="1"/>
          </p:cNvSpPr>
          <p:nvPr/>
        </p:nvSpPr>
        <p:spPr>
          <a:xfrm>
            <a:off x="6138178" y="5306120"/>
            <a:ext cx="2521744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以实验反馈完善 Platform Profile</a:t>
            </a: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5966358" y="1436863"/>
            <a:ext cx="19893" cy="415051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标题 1"/>
          <p:cNvSpPr txBox="1">
            <a:spLocks/>
          </p:cNvSpPr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343487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 txBox="1">
            <a:spLocks noChangeArrowheads="1"/>
          </p:cNvSpPr>
          <p:nvPr/>
        </p:nvSpPr>
        <p:spPr bwMode="auto">
          <a:xfrm>
            <a:off x="2051050" y="2492375"/>
            <a:ext cx="4962525" cy="1785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22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zh-CN" altLang="en-US" sz="9600" kern="0"/>
              <a:t>谢谢！</a:t>
            </a:r>
            <a:endParaRPr lang="en-US" altLang="zh-CN" sz="9600" kern="0"/>
          </a:p>
        </p:txBody>
      </p:sp>
      <p:pic>
        <p:nvPicPr>
          <p:cNvPr id="4" name="Picture 2" descr="D:\PPT\新PPT样式\bg封底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50000">
                <a:schemeClr val="bg1">
                  <a:lumMod val="50000"/>
                  <a:shade val="67500"/>
                  <a:satMod val="115000"/>
                </a:schemeClr>
              </a:gs>
              <a:gs pos="100000">
                <a:schemeClr val="bg1">
                  <a:lumMod val="5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9525">
            <a:noFill/>
            <a:miter lim="800000"/>
            <a:headEnd/>
            <a:tailEnd/>
          </a:ln>
        </p:spPr>
      </p:pic>
      <p:grpSp>
        <p:nvGrpSpPr>
          <p:cNvPr id="5" name="组合 4"/>
          <p:cNvGrpSpPr/>
          <p:nvPr/>
        </p:nvGrpSpPr>
        <p:grpSpPr>
          <a:xfrm>
            <a:off x="323528" y="3933056"/>
            <a:ext cx="8496950" cy="1728192"/>
            <a:chOff x="323528" y="3933056"/>
            <a:chExt cx="8496950" cy="1728192"/>
          </a:xfrm>
        </p:grpSpPr>
        <p:sp>
          <p:nvSpPr>
            <p:cNvPr id="7" name="任意多边形 6"/>
            <p:cNvSpPr/>
            <p:nvPr/>
          </p:nvSpPr>
          <p:spPr>
            <a:xfrm>
              <a:off x="323528" y="3933056"/>
              <a:ext cx="8496950" cy="1728192"/>
            </a:xfrm>
            <a:custGeom>
              <a:avLst/>
              <a:gdLst>
                <a:gd name="connsiteX0" fmla="*/ 7 w 6336704"/>
                <a:gd name="connsiteY0" fmla="*/ 660109 h 1728192"/>
                <a:gd name="connsiteX1" fmla="*/ 3168352 w 6336704"/>
                <a:gd name="connsiteY1" fmla="*/ 0 h 1728192"/>
                <a:gd name="connsiteX2" fmla="*/ 6336697 w 6336704"/>
                <a:gd name="connsiteY2" fmla="*/ 660109 h 1728192"/>
                <a:gd name="connsiteX3" fmla="*/ 5126503 w 6336704"/>
                <a:gd name="connsiteY3" fmla="*/ 1728186 h 1728192"/>
                <a:gd name="connsiteX4" fmla="*/ 1210201 w 6336704"/>
                <a:gd name="connsiteY4" fmla="*/ 1728186 h 1728192"/>
                <a:gd name="connsiteX5" fmla="*/ 7 w 6336704"/>
                <a:gd name="connsiteY5" fmla="*/ 660109 h 1728192"/>
                <a:gd name="connsiteX0-1" fmla="*/ 7 w 6336697"/>
                <a:gd name="connsiteY0-2" fmla="*/ 660109 h 1728192"/>
                <a:gd name="connsiteX1-3" fmla="*/ 3168352 w 6336697"/>
                <a:gd name="connsiteY1-4" fmla="*/ 0 h 1728192"/>
                <a:gd name="connsiteX2-5" fmla="*/ 6336697 w 6336697"/>
                <a:gd name="connsiteY2-6" fmla="*/ 660109 h 1728192"/>
                <a:gd name="connsiteX3-7" fmla="*/ 5126503 w 6336697"/>
                <a:gd name="connsiteY3-8" fmla="*/ 1728186 h 1728192"/>
                <a:gd name="connsiteX4-9" fmla="*/ 0 w 6336697"/>
                <a:gd name="connsiteY4-10" fmla="*/ 1728192 h 1728192"/>
                <a:gd name="connsiteX5-11" fmla="*/ 7 w 6336697"/>
                <a:gd name="connsiteY5-12" fmla="*/ 660109 h 1728192"/>
                <a:gd name="connsiteX0-13" fmla="*/ 7 w 6336697"/>
                <a:gd name="connsiteY0-14" fmla="*/ 156053 h 1224136"/>
                <a:gd name="connsiteX1-15" fmla="*/ 5544617 w 6336697"/>
                <a:gd name="connsiteY1-16" fmla="*/ 0 h 1224136"/>
                <a:gd name="connsiteX2-17" fmla="*/ 6336697 w 6336697"/>
                <a:gd name="connsiteY2-18" fmla="*/ 156053 h 1224136"/>
                <a:gd name="connsiteX3-19" fmla="*/ 5126503 w 6336697"/>
                <a:gd name="connsiteY3-20" fmla="*/ 1224130 h 1224136"/>
                <a:gd name="connsiteX4-21" fmla="*/ 0 w 6336697"/>
                <a:gd name="connsiteY4-22" fmla="*/ 1224136 h 1224136"/>
                <a:gd name="connsiteX5-23" fmla="*/ 7 w 6336697"/>
                <a:gd name="connsiteY5-24" fmla="*/ 156053 h 1224136"/>
                <a:gd name="connsiteX0-25" fmla="*/ 7 w 6336705"/>
                <a:gd name="connsiteY0-26" fmla="*/ 156053 h 1224136"/>
                <a:gd name="connsiteX1-27" fmla="*/ 5544617 w 6336705"/>
                <a:gd name="connsiteY1-28" fmla="*/ 0 h 1224136"/>
                <a:gd name="connsiteX2-29" fmla="*/ 6336697 w 6336705"/>
                <a:gd name="connsiteY2-30" fmla="*/ 156053 h 1224136"/>
                <a:gd name="connsiteX3-31" fmla="*/ 6336705 w 6336705"/>
                <a:gd name="connsiteY3-32" fmla="*/ 1224136 h 1224136"/>
                <a:gd name="connsiteX4-33" fmla="*/ 0 w 6336705"/>
                <a:gd name="connsiteY4-34" fmla="*/ 1224136 h 1224136"/>
                <a:gd name="connsiteX5-35" fmla="*/ 7 w 6336705"/>
                <a:gd name="connsiteY5-36" fmla="*/ 156053 h 1224136"/>
                <a:gd name="connsiteX0-37" fmla="*/ 7 w 6336708"/>
                <a:gd name="connsiteY0-38" fmla="*/ 156053 h 1224136"/>
                <a:gd name="connsiteX1-39" fmla="*/ 5544617 w 6336708"/>
                <a:gd name="connsiteY1-40" fmla="*/ 0 h 1224136"/>
                <a:gd name="connsiteX2-41" fmla="*/ 6336705 w 6336708"/>
                <a:gd name="connsiteY2-42" fmla="*/ 504056 h 1224136"/>
                <a:gd name="connsiteX3-43" fmla="*/ 6336705 w 6336708"/>
                <a:gd name="connsiteY3-44" fmla="*/ 1224136 h 1224136"/>
                <a:gd name="connsiteX4-45" fmla="*/ 0 w 6336708"/>
                <a:gd name="connsiteY4-46" fmla="*/ 1224136 h 1224136"/>
                <a:gd name="connsiteX5-47" fmla="*/ 7 w 6336708"/>
                <a:gd name="connsiteY5-48" fmla="*/ 156053 h 1224136"/>
                <a:gd name="connsiteX0-49" fmla="*/ 7 w 6336708"/>
                <a:gd name="connsiteY0-50" fmla="*/ 12037 h 1080120"/>
                <a:gd name="connsiteX1-51" fmla="*/ 5544616 w 6336708"/>
                <a:gd name="connsiteY1-52" fmla="*/ 0 h 1080120"/>
                <a:gd name="connsiteX2-53" fmla="*/ 6336705 w 6336708"/>
                <a:gd name="connsiteY2-54" fmla="*/ 360040 h 1080120"/>
                <a:gd name="connsiteX3-55" fmla="*/ 6336705 w 6336708"/>
                <a:gd name="connsiteY3-56" fmla="*/ 1080120 h 1080120"/>
                <a:gd name="connsiteX4-57" fmla="*/ 0 w 6336708"/>
                <a:gd name="connsiteY4-58" fmla="*/ 1080120 h 1080120"/>
                <a:gd name="connsiteX5-59" fmla="*/ 7 w 6336708"/>
                <a:gd name="connsiteY5-60" fmla="*/ 12037 h 1080120"/>
                <a:gd name="connsiteX0-61" fmla="*/ 7 w 7403286"/>
                <a:gd name="connsiteY0-62" fmla="*/ 12037 h 1080120"/>
                <a:gd name="connsiteX1-63" fmla="*/ 5544616 w 7403286"/>
                <a:gd name="connsiteY1-64" fmla="*/ 0 h 1080120"/>
                <a:gd name="connsiteX2-65" fmla="*/ 7403283 w 7403286"/>
                <a:gd name="connsiteY2-66" fmla="*/ 450050 h 1080120"/>
                <a:gd name="connsiteX3-67" fmla="*/ 6336705 w 7403286"/>
                <a:gd name="connsiteY3-68" fmla="*/ 1080120 h 1080120"/>
                <a:gd name="connsiteX4-69" fmla="*/ 0 w 7403286"/>
                <a:gd name="connsiteY4-70" fmla="*/ 1080120 h 1080120"/>
                <a:gd name="connsiteX5-71" fmla="*/ 7 w 7403286"/>
                <a:gd name="connsiteY5-72" fmla="*/ 12037 h 1080120"/>
                <a:gd name="connsiteX0-73" fmla="*/ 7 w 7403286"/>
                <a:gd name="connsiteY0-74" fmla="*/ 12037 h 1080120"/>
                <a:gd name="connsiteX1-75" fmla="*/ 5544616 w 7403286"/>
                <a:gd name="connsiteY1-76" fmla="*/ 0 h 1080120"/>
                <a:gd name="connsiteX2-77" fmla="*/ 7403283 w 7403286"/>
                <a:gd name="connsiteY2-78" fmla="*/ 450050 h 1080120"/>
                <a:gd name="connsiteX3-79" fmla="*/ 7403283 w 7403286"/>
                <a:gd name="connsiteY3-80" fmla="*/ 1080120 h 1080120"/>
                <a:gd name="connsiteX4-81" fmla="*/ 0 w 7403286"/>
                <a:gd name="connsiteY4-82" fmla="*/ 1080120 h 1080120"/>
                <a:gd name="connsiteX5-83" fmla="*/ 7 w 7403286"/>
                <a:gd name="connsiteY5-84" fmla="*/ 12037 h 1080120"/>
                <a:gd name="connsiteX0-85" fmla="*/ 7 w 7403286"/>
                <a:gd name="connsiteY0-86" fmla="*/ 12037 h 1080120"/>
                <a:gd name="connsiteX1-87" fmla="*/ 6713146 w 7403286"/>
                <a:gd name="connsiteY1-88" fmla="*/ 0 h 1080120"/>
                <a:gd name="connsiteX2-89" fmla="*/ 7403283 w 7403286"/>
                <a:gd name="connsiteY2-90" fmla="*/ 450050 h 1080120"/>
                <a:gd name="connsiteX3-91" fmla="*/ 7403283 w 7403286"/>
                <a:gd name="connsiteY3-92" fmla="*/ 1080120 h 1080120"/>
                <a:gd name="connsiteX4-93" fmla="*/ 0 w 7403286"/>
                <a:gd name="connsiteY4-94" fmla="*/ 1080120 h 1080120"/>
                <a:gd name="connsiteX5-95" fmla="*/ 7 w 7403286"/>
                <a:gd name="connsiteY5-96" fmla="*/ 12037 h 1080120"/>
                <a:gd name="connsiteX0-97" fmla="*/ 7 w 7403286"/>
                <a:gd name="connsiteY0-98" fmla="*/ 12037 h 1080120"/>
                <a:gd name="connsiteX1-99" fmla="*/ 6713146 w 7403286"/>
                <a:gd name="connsiteY1-100" fmla="*/ 0 h 1080120"/>
                <a:gd name="connsiteX2-101" fmla="*/ 7403283 w 7403286"/>
                <a:gd name="connsiteY2-102" fmla="*/ 450050 h 1080120"/>
                <a:gd name="connsiteX3-103" fmla="*/ 7403283 w 7403286"/>
                <a:gd name="connsiteY3-104" fmla="*/ 1080120 h 1080120"/>
                <a:gd name="connsiteX4-105" fmla="*/ 0 w 7403286"/>
                <a:gd name="connsiteY4-106" fmla="*/ 1080120 h 1080120"/>
                <a:gd name="connsiteX5-107" fmla="*/ 7 w 7403286"/>
                <a:gd name="connsiteY5-108" fmla="*/ 12037 h 1080120"/>
                <a:gd name="connsiteX0-109" fmla="*/ 7 w 7403286"/>
                <a:gd name="connsiteY0-110" fmla="*/ 12037 h 1080120"/>
                <a:gd name="connsiteX1-111" fmla="*/ 6713146 w 7403286"/>
                <a:gd name="connsiteY1-112" fmla="*/ 0 h 1080120"/>
                <a:gd name="connsiteX2-113" fmla="*/ 7403283 w 7403286"/>
                <a:gd name="connsiteY2-114" fmla="*/ 450050 h 1080120"/>
                <a:gd name="connsiteX3-115" fmla="*/ 7403283 w 7403286"/>
                <a:gd name="connsiteY3-116" fmla="*/ 1080120 h 1080120"/>
                <a:gd name="connsiteX4-117" fmla="*/ 0 w 7403286"/>
                <a:gd name="connsiteY4-118" fmla="*/ 1080120 h 1080120"/>
                <a:gd name="connsiteX5-119" fmla="*/ 7 w 7403286"/>
                <a:gd name="connsiteY5-120" fmla="*/ 12037 h 1080120"/>
                <a:gd name="connsiteX0-121" fmla="*/ 7 w 7403286"/>
                <a:gd name="connsiteY0-122" fmla="*/ 12037 h 1125125"/>
                <a:gd name="connsiteX1-123" fmla="*/ 6713146 w 7403286"/>
                <a:gd name="connsiteY1-124" fmla="*/ 0 h 1125125"/>
                <a:gd name="connsiteX2-125" fmla="*/ 7403283 w 7403286"/>
                <a:gd name="connsiteY2-126" fmla="*/ 450050 h 1125125"/>
                <a:gd name="connsiteX3-127" fmla="*/ 7403283 w 7403286"/>
                <a:gd name="connsiteY3-128" fmla="*/ 1080120 h 1125125"/>
                <a:gd name="connsiteX4-129" fmla="*/ 0 w 7403286"/>
                <a:gd name="connsiteY4-130" fmla="*/ 1125125 h 1125125"/>
                <a:gd name="connsiteX5-131" fmla="*/ 7 w 7403286"/>
                <a:gd name="connsiteY5-132" fmla="*/ 12037 h 1125125"/>
                <a:gd name="connsiteX0-133" fmla="*/ 7 w 7403286"/>
                <a:gd name="connsiteY0-134" fmla="*/ 12037 h 1080120"/>
                <a:gd name="connsiteX1-135" fmla="*/ 6713146 w 7403286"/>
                <a:gd name="connsiteY1-136" fmla="*/ 0 h 1080120"/>
                <a:gd name="connsiteX2-137" fmla="*/ 7403283 w 7403286"/>
                <a:gd name="connsiteY2-138" fmla="*/ 450050 h 1080120"/>
                <a:gd name="connsiteX3-139" fmla="*/ 7403283 w 7403286"/>
                <a:gd name="connsiteY3-140" fmla="*/ 1080120 h 1080120"/>
                <a:gd name="connsiteX4-141" fmla="*/ 0 w 7403286"/>
                <a:gd name="connsiteY4-142" fmla="*/ 1080120 h 1080120"/>
                <a:gd name="connsiteX5-143" fmla="*/ 7 w 7403286"/>
                <a:gd name="connsiteY5-144" fmla="*/ 12037 h 1080120"/>
                <a:gd name="connsiteX0-145" fmla="*/ 2 w 7403288"/>
                <a:gd name="connsiteY0-146" fmla="*/ 0 h 1080120"/>
                <a:gd name="connsiteX1-147" fmla="*/ 6713148 w 7403288"/>
                <a:gd name="connsiteY1-148" fmla="*/ 0 h 1080120"/>
                <a:gd name="connsiteX2-149" fmla="*/ 7403285 w 7403288"/>
                <a:gd name="connsiteY2-150" fmla="*/ 450050 h 1080120"/>
                <a:gd name="connsiteX3-151" fmla="*/ 7403285 w 7403288"/>
                <a:gd name="connsiteY3-152" fmla="*/ 1080120 h 1080120"/>
                <a:gd name="connsiteX4-153" fmla="*/ 2 w 7403288"/>
                <a:gd name="connsiteY4-154" fmla="*/ 1080120 h 1080120"/>
                <a:gd name="connsiteX5-155" fmla="*/ 2 w 7403288"/>
                <a:gd name="connsiteY5-156" fmla="*/ 0 h 108012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7403288" h="1080120">
                  <a:moveTo>
                    <a:pt x="2" y="0"/>
                  </a:moveTo>
                  <a:lnTo>
                    <a:pt x="6713148" y="0"/>
                  </a:lnTo>
                  <a:lnTo>
                    <a:pt x="7403285" y="450050"/>
                  </a:lnTo>
                  <a:cubicBezTo>
                    <a:pt x="7403288" y="806078"/>
                    <a:pt x="7403282" y="724092"/>
                    <a:pt x="7403285" y="1080120"/>
                  </a:cubicBezTo>
                  <a:lnTo>
                    <a:pt x="2" y="1080120"/>
                  </a:lnTo>
                  <a:cubicBezTo>
                    <a:pt x="4" y="724092"/>
                    <a:pt x="0" y="356028"/>
                    <a:pt x="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50000"/>
                    <a:shade val="67500"/>
                    <a:satMod val="115000"/>
                  </a:schemeClr>
                </a:gs>
                <a:gs pos="100000">
                  <a:schemeClr val="bg1">
                    <a:lumMod val="50000"/>
                    <a:shade val="100000"/>
                    <a:satMod val="11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  <a:spcAft>
                  <a:spcPts val="0"/>
                </a:spcAft>
              </a:pPr>
              <a:endParaRPr lang="zh-CN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3568" y="4149080"/>
              <a:ext cx="4032448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公司总部：杭州市滨江区阡陌路</a:t>
              </a: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555</a:t>
              </a: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号</a:t>
              </a:r>
              <a:endParaRPr lang="en-US" altLang="zh-CN" sz="16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spcAft>
                  <a:spcPts val="600"/>
                </a:spcAft>
              </a:pP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股票代码：</a:t>
              </a: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002415</a:t>
              </a:r>
            </a:p>
            <a:p>
              <a:pPr>
                <a:spcAft>
                  <a:spcPts val="600"/>
                </a:spcAft>
              </a:pP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客服电话：</a:t>
              </a: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400-700-5998</a:t>
              </a:r>
            </a:p>
            <a:p>
              <a:pPr>
                <a:spcAft>
                  <a:spcPts val="600"/>
                </a:spcAft>
              </a:pP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www.hikvision.com</a:t>
              </a:r>
              <a:endParaRPr lang="zh-CN" altLang="en-US" sz="16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heme/theme1.xml><?xml version="1.0" encoding="utf-8"?>
<a:theme xmlns:a="http://schemas.openxmlformats.org/drawingml/2006/main" name="0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0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活力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15593</TotalTime>
  <Words>2680</Words>
  <Application>Microsoft Office PowerPoint</Application>
  <PresentationFormat>全屏显示(4:3)</PresentationFormat>
  <Paragraphs>484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宋体</vt:lpstr>
      <vt:lpstr>Arial</vt:lpstr>
      <vt:lpstr>Calibri</vt:lpstr>
      <vt:lpstr>Times New Roman</vt:lpstr>
      <vt:lpstr>Wingdings</vt:lpstr>
      <vt:lpstr>黑体</vt:lpstr>
      <vt:lpstr>微软雅黑</vt:lpstr>
      <vt:lpstr>04</vt:lpstr>
      <vt:lpstr>转正答辩</vt:lpstr>
      <vt:lpstr>目录</vt:lpstr>
      <vt:lpstr>自我介绍</vt:lpstr>
      <vt:lpstr>实习任务一：Mlu平台算子优化与vllm优化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2015年供应链任职资格宣贯</dc:title>
  <dc:creator>俞璐3</dc:creator>
  <cp:lastModifiedBy>霍子昂</cp:lastModifiedBy>
  <cp:revision>734</cp:revision>
  <dcterms:created xsi:type="dcterms:W3CDTF">2015-03-26T10:14:00Z</dcterms:created>
  <dcterms:modified xsi:type="dcterms:W3CDTF">2026-09-18T10:20:41Z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  <property fmtid="{D5CDD505-2E9C-101B-9397-08002B2CF9AE}" pid="3" name="KSORubyTemplateID">
    <vt:lpwstr>8</vt:lpwstr>
  </property>
</Properties>
</file>
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91" r:id="rId2"/>
    <p:sldId id="257" r:id="rId3"/>
    <p:sldId id="294" r:id="rId4"/>
    <p:sldId id="295" r:id="rId5"/>
    <p:sldId id="296" r:id="rId6"/>
    <p:sldId id="297" r:id="rId7"/>
    <p:sldId id="298" r:id="rId8"/>
    <p:sldId id="299" r:id="rId9"/>
    <p:sldId id="300" r:id="rId10"/>
    <p:sldId id="301" r:id="rId11"/>
    <p:sldId id="304" r:id="rId12"/>
    <p:sldId id="305" r:id="rId13"/>
    <p:sldId id="310" r:id="rId14"/>
    <p:sldId id="284" r:id="rId15"/>
    <p:sldId id="261" r:id="rId16"/>
    <p:sldId id="262" r:id="rId17"/>
    <p:sldId id="280" r:id="rId18"/>
    <p:sldId id="285" r:id="rId19"/>
    <p:sldId id="289" r:id="rId20"/>
    <p:sldId id="311" r:id="rId21"/>
    <p:sldId id="279" r:id="rId22"/>
    <p:sldId id="277" r:id="rId23"/>
    <p:sldId id="278" r:id="rId24"/>
    <p:sldId id="268" r:id="rId25"/>
    <p:sldId id="288" r:id="rId26"/>
    <p:sldId id="267" r:id="rId27"/>
    <p:sldId id="303" r:id="rId28"/>
    <p:sldId id="286" r:id="rId29"/>
    <p:sldId id="290" r:id="rId3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胡 燕鹏" initials="胡" lastIdx="0" clrIdx="0"/>
  <p:cmAuthor id="2" name="李浩宇" initials="李" lastIdx="0" clrIdx="1"/>
  <p:cmAuthor id="3" name="win10" initials="w"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112" autoAdjust="0"/>
  </p:normalViewPr>
  <p:slideViewPr>
    <p:cSldViewPr snapToGrid="0">
      <p:cViewPr varScale="1">
        <p:scale>
          <a:sx n="96" d="100"/>
          <a:sy n="96" d="100"/>
        </p:scale>
        <p:origin x="160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大家好，今天结合我最近在算子</a:t>
            </a:r>
            <a:r>
              <a:rPr lang="en-US" altLang="zh-CN" dirty="0" smtClean="0"/>
              <a:t>skill</a:t>
            </a:r>
            <a:r>
              <a:rPr lang="zh-CN" altLang="en-US" dirty="0" smtClean="0"/>
              <a:t>开发中的实际工作进行一个</a:t>
            </a:r>
            <a:r>
              <a:rPr lang="en-US" altLang="zh-CN" dirty="0" smtClean="0"/>
              <a:t>《Skill </a:t>
            </a:r>
            <a:r>
              <a:rPr lang="zh-CN" altLang="en-US" dirty="0" smtClean="0"/>
              <a:t>使用、开发和经验分享</a:t>
            </a:r>
            <a:r>
              <a:rPr lang="en-US" altLang="zh-CN" dirty="0" smtClean="0"/>
              <a:t>》</a:t>
            </a:r>
            <a:r>
              <a:rPr lang="zh-CN" altLang="en-US" dirty="0" smtClean="0"/>
              <a:t>的报告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整个汇报分为四部分。第一部分介绍 </a:t>
            </a:r>
            <a:r>
              <a:rPr lang="en-US" altLang="zh-CN" dirty="0" smtClean="0"/>
              <a:t>Agent </a:t>
            </a:r>
            <a:r>
              <a:rPr lang="zh-CN" altLang="en-US" dirty="0" smtClean="0"/>
              <a:t>和 </a:t>
            </a:r>
            <a:r>
              <a:rPr lang="en-US" altLang="zh-CN" dirty="0" smtClean="0"/>
              <a:t>Skill </a:t>
            </a:r>
            <a:r>
              <a:rPr lang="zh-CN" altLang="en-US" dirty="0" smtClean="0"/>
              <a:t>的基础，以及一个 </a:t>
            </a:r>
            <a:r>
              <a:rPr lang="en-US" altLang="zh-CN" dirty="0" smtClean="0"/>
              <a:t>Skill </a:t>
            </a:r>
            <a:r>
              <a:rPr lang="zh-CN" altLang="en-US" dirty="0" smtClean="0"/>
              <a:t>应该怎么设计。第二部分介绍寒武纪算子 </a:t>
            </a:r>
            <a:r>
              <a:rPr lang="en-US" altLang="zh-CN" dirty="0" smtClean="0"/>
              <a:t>Skill </a:t>
            </a:r>
            <a:r>
              <a:rPr lang="zh-CN" altLang="en-US" dirty="0" smtClean="0"/>
              <a:t>的实际开发和遇到的问题。第三部分是重点，介绍算子 </a:t>
            </a:r>
            <a:r>
              <a:rPr lang="en-US" altLang="zh-CN" dirty="0" smtClean="0"/>
              <a:t>Skill </a:t>
            </a:r>
            <a:r>
              <a:rPr lang="zh-CN" altLang="en-US" dirty="0" smtClean="0"/>
              <a:t>的通用开发指南，以及目前四个平台的实践结果。最后简单介绍后续计划。</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Workflow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定义“做什么”；</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sz="124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明确职责 明确顺序 明确产物   </a:t>
            </a:r>
            <a:r>
              <a:rPr lang="zh-CN" altLang="en-US" sz="1200" b="1" dirty="0" smtClean="0">
                <a:solidFill>
                  <a:srgbClr val="414951"/>
                </a:solidFill>
                <a:latin typeface="微软雅黑" panose="020B0503020204020204" charset="-122"/>
                <a:ea typeface="微软雅黑" panose="020B0503020204020204" charset="-122"/>
                <a:cs typeface="微软雅黑" panose="020B0503020204020204" charset="-122"/>
              </a:rPr>
              <a:t>进入下一阶段前必须满足判断条件。</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Gate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决定能否继续；</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Routing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决定往哪里走；</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Retry / Fallback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决定失败后怎么办。有时需要跳过这一阶段，到下一阶段</a:t>
            </a:r>
          </a:p>
          <a:p>
            <a:pPr marL="0" marR="0" lvl="0" indent="0" algn="l" defTabSz="914400" rtl="0" eaLnBrk="1" fontAlgn="auto" latinLnBrk="0" hangingPunct="1">
              <a:lnSpc>
                <a:spcPct val="100000"/>
              </a:lnSpc>
              <a:spcBef>
                <a:spcPts val="0"/>
              </a:spcBef>
              <a:spcAft>
                <a:spcPts val="0"/>
              </a:spcAft>
              <a:buClrTx/>
              <a:buSzTx/>
              <a:buFontTx/>
              <a:buNone/>
              <a:defRPr sz="1240" b="1">
                <a:solidFill>
                  <a:srgbClr val="557A96"/>
                </a:solidFill>
                <a:latin typeface="微软雅黑" panose="020B0503020204020204" charset="-122"/>
                <a:ea typeface="微软雅黑" panose="020B0503020204020204" charset="-122"/>
                <a:cs typeface="微软雅黑" panose="020B0503020204020204" charset="-122"/>
              </a:defRPr>
            </a:pPr>
            <a:endParaRPr lang="zh-CN" altLang="en-US" sz="1200" b="1" dirty="0" smtClean="0">
              <a:solidFill>
                <a:srgbClr val="414951"/>
              </a:solidFill>
              <a:latin typeface="微软雅黑" panose="020B0503020204020204" charset="-122"/>
              <a:ea typeface="微软雅黑" panose="020B0503020204020204" charset="-122"/>
              <a:cs typeface="微软雅黑" panose="020B0503020204020204" charset="-122"/>
            </a:endParaRPr>
          </a:p>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endPar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每个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Stage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执行时，可以读取、运行或调用什么？</a:t>
            </a:r>
          </a:p>
          <a:p>
            <a:r>
              <a:rPr lang="zh-CN" altLang="en-US" dirty="0" smtClean="0"/>
              <a:t>首先 资源调用会发生规划好任务的阶段中。</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先明确</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“任务怎么完成”</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，再考虑“如何把它封装成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Skill”</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简单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Main Agent  ·  </a:t>
            </a: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确定性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Script</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独立推理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Subagent  ·  </a:t>
            </a: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完整能力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Other Skill</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基础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Workflow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解决“任务怎么跑通”，这一页解决“怎么让它稳定、可调用、可复用”。</a:t>
            </a:r>
            <a:endPar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252B31"/>
                </a:solidFill>
                <a:latin typeface="微软雅黑" panose="020B0503020204020204" charset="-122"/>
                <a:ea typeface="微软雅黑" panose="020B0503020204020204" charset="-122"/>
                <a:cs typeface="微软雅黑" panose="020B0503020204020204" charset="-122"/>
              </a:rPr>
              <a:t>从基础 </a:t>
            </a:r>
            <a:r>
              <a:rPr lang="en-US" altLang="zh-CN" sz="1200" b="1" dirty="0" smtClean="0">
                <a:solidFill>
                  <a:srgbClr val="252B31"/>
                </a:solidFill>
                <a:latin typeface="微软雅黑" panose="020B0503020204020204" charset="-122"/>
                <a:ea typeface="微软雅黑" panose="020B0503020204020204" charset="-122"/>
                <a:cs typeface="微软雅黑" panose="020B0503020204020204" charset="-122"/>
              </a:rPr>
              <a:t>Workflow </a:t>
            </a:r>
            <a:r>
              <a:rPr lang="zh-CN" altLang="en-US" sz="1200" b="1" dirty="0" smtClean="0">
                <a:solidFill>
                  <a:srgbClr val="252B31"/>
                </a:solidFill>
                <a:latin typeface="微软雅黑" panose="020B0503020204020204" charset="-122"/>
                <a:ea typeface="微软雅黑" panose="020B0503020204020204" charset="-122"/>
                <a:cs typeface="微软雅黑" panose="020B0503020204020204" charset="-122"/>
              </a:rPr>
              <a:t>到完整 </a:t>
            </a:r>
            <a:r>
              <a:rPr lang="en-US" altLang="zh-CN" sz="1200" b="1" dirty="0" smtClean="0">
                <a:solidFill>
                  <a:srgbClr val="252B31"/>
                </a:solidFill>
                <a:latin typeface="微软雅黑" panose="020B0503020204020204" charset="-122"/>
                <a:ea typeface="微软雅黑" panose="020B0503020204020204" charset="-122"/>
                <a:cs typeface="微软雅黑" panose="020B0503020204020204" charset="-122"/>
              </a:rPr>
              <a:t>Skill</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检查每个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Stage</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Agent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还缺什么？</a:t>
            </a:r>
            <a:endParaRPr lang="en-US" sz="1200" b="1" dirty="0" smtClean="0">
              <a:solidFill>
                <a:srgbClr val="252B3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让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稳定、可发现、可调用</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用真实任务验证“是否真的好用”</a:t>
            </a:r>
          </a:p>
          <a:p>
            <a:pPr marL="0" marR="0" lvl="0" indent="0" algn="l" defTabSz="914400" rtl="0" eaLnBrk="1" fontAlgn="auto" latinLnBrk="0" hangingPunct="1">
              <a:lnSpc>
                <a:spcPct val="100000"/>
              </a:lnSpc>
              <a:spcBef>
                <a:spcPts val="0"/>
              </a:spcBef>
              <a:spcAft>
                <a:spcPts val="0"/>
              </a:spcAft>
              <a:buClrTx/>
              <a:buSzTx/>
              <a:buFontTx/>
              <a:buNone/>
              <a:defRPr/>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从基础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Workflow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到资源封装，再到真实任务验证与迭代</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好的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Skill</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，只需把边界、流程、资源和触说清楚。这些虽然看起来比较简单，但是实际开发时，没有那么容易达到。</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sz="1200" b="0">
                <a:solidFill>
                  <a:srgbClr val="68727B"/>
                </a:solidFill>
                <a:latin typeface="微软雅黑" panose="020B0503020204020204" charset="-122"/>
                <a:ea typeface="微软雅黑" panose="020B0503020204020204" charset="-122"/>
                <a:cs typeface="微软雅黑" panose="020B0503020204020204" charset="-122"/>
              </a:rPr>
              <a:t>基础 Workflow 解决“任务怎么跑通”，这一页解决“怎么让它稳定、可调用、可复用”。</a:t>
            </a:r>
          </a:p>
          <a:p>
            <a:pPr marL="0" marR="0" lvl="0" indent="0" algn="l" defTabSz="914400">
              <a:lnSpc>
                <a:spcPct val="100000"/>
              </a:lnSpc>
              <a:spcBef>
                <a:spcPts val="0"/>
              </a:spcBef>
              <a:spcAft>
                <a:spcPts val="0"/>
              </a:spcAft>
              <a:buClrTx/>
              <a:buSzTx/>
              <a:buFontTx/>
              <a:buNone/>
            </a:pPr>
            <a:r>
              <a:rPr sz="1200" b="1">
                <a:solidFill>
                  <a:srgbClr val="252B31"/>
                </a:solidFill>
                <a:latin typeface="微软雅黑" panose="020B0503020204020204" charset="-122"/>
                <a:ea typeface="微软雅黑" panose="020B0503020204020204" charset="-122"/>
                <a:cs typeface="微软雅黑" panose="020B0503020204020204" charset="-122"/>
              </a:rPr>
              <a:t>从基础 Workflow 到完整 Skill</a:t>
            </a:r>
          </a:p>
          <a:p>
            <a:pPr marL="0" marR="0" lvl="0" indent="0" algn="l" defTabSz="914400">
              <a:lnSpc>
                <a:spcPct val="100000"/>
              </a:lnSpc>
              <a:spcBef>
                <a:spcPts val="0"/>
              </a:spcBef>
              <a:spcAft>
                <a:spcPts val="0"/>
              </a:spcAft>
              <a:buClrTx/>
              <a:buSzTx/>
              <a:buFontTx/>
              <a:buNone/>
            </a:pPr>
            <a:r>
              <a:rPr sz="1200" b="1">
                <a:solidFill>
                  <a:srgbClr val="557A96"/>
                </a:solidFill>
                <a:latin typeface="微软雅黑" panose="020B0503020204020204" charset="-122"/>
                <a:ea typeface="微软雅黑" panose="020B0503020204020204" charset="-122"/>
                <a:cs typeface="微软雅黑" panose="020B0503020204020204" charset="-122"/>
              </a:rPr>
              <a:t>检查每个 Stage：Agent 还缺什么？</a:t>
            </a:r>
            <a:endParaRPr sz="1200" b="1">
              <a:solidFill>
                <a:srgbClr val="252B31"/>
              </a:solidFill>
              <a:latin typeface="微软雅黑" panose="020B0503020204020204" charset="-122"/>
              <a:ea typeface="微软雅黑" panose="020B0503020204020204" charset="-122"/>
              <a:cs typeface="微软雅黑" panose="020B0503020204020204" charset="-122"/>
            </a:endParaRPr>
          </a:p>
          <a:p>
            <a:pPr marL="0" marR="0" lvl="0" indent="0" algn="l" defTabSz="914400">
              <a:lnSpc>
                <a:spcPct val="100000"/>
              </a:lnSpc>
              <a:spcBef>
                <a:spcPts val="0"/>
              </a:spcBef>
              <a:spcAft>
                <a:spcPts val="0"/>
              </a:spcAft>
              <a:buClrTx/>
              <a:buSzTx/>
              <a:buFontTx/>
              <a:buNone/>
            </a:pPr>
            <a:r>
              <a:rPr sz="1200" b="1">
                <a:solidFill>
                  <a:srgbClr val="557A96"/>
                </a:solidFill>
                <a:latin typeface="微软雅黑" panose="020B0503020204020204" charset="-122"/>
                <a:ea typeface="微软雅黑" panose="020B0503020204020204" charset="-122"/>
                <a:cs typeface="微软雅黑" panose="020B0503020204020204" charset="-122"/>
              </a:rPr>
              <a:t>让 Skill 稳定、可发现、可调用</a:t>
            </a:r>
          </a:p>
          <a:p>
            <a:pPr marL="0" marR="0" lvl="0" indent="0" algn="l" defTabSz="914400">
              <a:lnSpc>
                <a:spcPct val="100000"/>
              </a:lnSpc>
              <a:spcBef>
                <a:spcPts val="0"/>
              </a:spcBef>
              <a:spcAft>
                <a:spcPts val="0"/>
              </a:spcAft>
              <a:buClrTx/>
              <a:buSzTx/>
              <a:buFontTx/>
              <a:buNone/>
            </a:pPr>
            <a:r>
              <a:rPr sz="1200" b="1">
                <a:solidFill>
                  <a:srgbClr val="557A96"/>
                </a:solidFill>
                <a:latin typeface="微软雅黑" panose="020B0503020204020204" charset="-122"/>
                <a:ea typeface="微软雅黑" panose="020B0503020204020204" charset="-122"/>
                <a:cs typeface="微软雅黑" panose="020B0503020204020204" charset="-122"/>
              </a:rPr>
              <a:t>用真实任务验证“是否真的好用”</a:t>
            </a:r>
          </a:p>
          <a:p>
            <a:pPr marL="0" marR="0" lvl="0" indent="0" algn="l" defTabSz="914400">
              <a:lnSpc>
                <a:spcPct val="100000"/>
              </a:lnSpc>
              <a:spcBef>
                <a:spcPts val="0"/>
              </a:spcBef>
              <a:spcAft>
                <a:spcPts val="0"/>
              </a:spcAft>
              <a:buClrTx/>
              <a:buSzTx/>
              <a:buFontTx/>
              <a:buNone/>
            </a:pPr>
            <a:endParaRPr sz="12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smtClean="0"/>
              <a:t>在尽可能不降低优化质量的情况下，加快生成速度。</a:t>
            </a:r>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如何根据指南开发一个新平台skill，我把整个过程整理成八步。首先确定平台和编程语言，cuda或者 triton然后系统收集平台资料。接着进行真实环境检测和微基准，确认平台实际行为。验证过的信息再整理进 Platform Knowledge，并接入前面的通用 Workflow。最后使用 LayerNorm、Softmax 和 MatMul 三个标准算子进行完整验证。如果过程中发现问题，就分类处理：平台事实有偏差就更新知识，优化策略失效就更新规则，流程不合理就调整 Workflow。所以新平台 Skill 的开发，本质上是“</a:t>
            </a:r>
            <a:r>
              <a:rPr sz="1200" b="1">
                <a:solidFill>
                  <a:srgbClr val="2F3A45"/>
                </a:solidFill>
                <a:latin typeface="Arial" panose="020B0604020202020204"/>
                <a:ea typeface="Arial" panose="020B0604020202020204"/>
                <a:cs typeface="Arial" panose="020B0604020202020204"/>
              </a:rPr>
              <a:t>通用框架上补齐目标平台知识，并通过真实验证不断校准。最关键就是 搜集平台知识这步。要根据 官方、网络资料，已有的工程经验 和现有的真实平台测试 去补充真实有效的平台知识。</a:t>
            </a:r>
            <a:endParaRPr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下面进入第二部分。这里主要介绍我最开始在寒武纪 </a:t>
            </a:r>
            <a:r>
              <a:rPr lang="en-US" altLang="zh-CN" dirty="0" smtClean="0"/>
              <a:t>MLU Triton </a:t>
            </a:r>
            <a:r>
              <a:rPr lang="zh-CN" altLang="en-US" dirty="0" smtClean="0"/>
              <a:t>平台上对算子开发 </a:t>
            </a:r>
            <a:r>
              <a:rPr lang="en-US" altLang="zh-CN" dirty="0" smtClean="0"/>
              <a:t>Skill</a:t>
            </a:r>
            <a:r>
              <a:rPr lang="zh-CN" altLang="en-US" dirty="0" smtClean="0"/>
              <a:t>使用的心得和问题优化。</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这是原来 </a:t>
            </a:r>
            <a:r>
              <a:rPr lang="en-US" altLang="zh-CN" dirty="0" smtClean="0"/>
              <a:t>MLU Triton </a:t>
            </a:r>
            <a:r>
              <a:rPr lang="zh-CN" altLang="en-US" dirty="0" smtClean="0"/>
              <a:t>算子 </a:t>
            </a:r>
            <a:r>
              <a:rPr lang="en-US" altLang="zh-CN" dirty="0" smtClean="0"/>
              <a:t>Skill </a:t>
            </a:r>
            <a:r>
              <a:rPr lang="zh-CN" altLang="en-US" dirty="0" smtClean="0"/>
              <a:t>的整体结构。主要分为四个部分。。</a:t>
            </a:r>
            <a:r>
              <a:rPr lang="en-US" altLang="zh-CN" dirty="0" smtClean="0"/>
              <a:t>Main </a:t>
            </a:r>
            <a:r>
              <a:rPr lang="zh-CN" altLang="en-US" dirty="0" smtClean="0"/>
              <a:t>主要负责整体编排，它会调用三个</a:t>
            </a:r>
            <a:r>
              <a:rPr lang="en-US" altLang="zh-CN" dirty="0" smtClean="0"/>
              <a:t>skill</a:t>
            </a:r>
            <a:r>
              <a:rPr lang="zh-CN" altLang="en-US" dirty="0" smtClean="0"/>
              <a:t>；</a:t>
            </a:r>
            <a:r>
              <a:rPr lang="en-US" altLang="zh-CN" dirty="0" smtClean="0"/>
              <a:t>Code-Gen </a:t>
            </a:r>
            <a:r>
              <a:rPr lang="zh-CN" altLang="en-US" dirty="0" smtClean="0"/>
              <a:t>负责生成 </a:t>
            </a:r>
            <a:r>
              <a:rPr lang="en-US" altLang="zh-CN" dirty="0" smtClean="0"/>
              <a:t>Kernel </a:t>
            </a:r>
            <a:r>
              <a:rPr lang="zh-CN" altLang="en-US" dirty="0" smtClean="0"/>
              <a:t>和测试代码；</a:t>
            </a:r>
            <a:r>
              <a:rPr lang="en-US" altLang="zh-CN" dirty="0" smtClean="0"/>
              <a:t>Code-Review </a:t>
            </a:r>
            <a:r>
              <a:rPr lang="zh-CN" altLang="en-US" dirty="0" smtClean="0"/>
              <a:t>通过真实执行完成正确性验证和修复；</a:t>
            </a:r>
            <a:r>
              <a:rPr lang="en-US" altLang="zh-CN" dirty="0" smtClean="0"/>
              <a:t>Optimize </a:t>
            </a:r>
            <a:r>
              <a:rPr lang="zh-CN" altLang="en-US" dirty="0" smtClean="0"/>
              <a:t>则根据 </a:t>
            </a:r>
            <a:r>
              <a:rPr lang="en-US" altLang="zh-CN" dirty="0" smtClean="0"/>
              <a:t>Benchmark </a:t>
            </a:r>
            <a:r>
              <a:rPr lang="zh-CN" altLang="en-US" dirty="0" smtClean="0"/>
              <a:t>和性能分析继续优化 </a:t>
            </a:r>
            <a:r>
              <a:rPr lang="en-US" altLang="zh-CN" dirty="0" smtClean="0"/>
              <a:t>Kernel</a:t>
            </a:r>
            <a:r>
              <a:rPr lang="zh-CN" altLang="en-US" dirty="0" smtClean="0"/>
              <a:t>。其中复杂阶段还会继续拆给多个专业 </a:t>
            </a:r>
            <a:r>
              <a:rPr lang="en-US" altLang="zh-CN" dirty="0" smtClean="0"/>
              <a:t>Sub-Agent</a:t>
            </a:r>
            <a:r>
              <a:rPr lang="zh-CN" altLang="en-US" dirty="0" smtClean="0"/>
              <a:t>（比如代码生成</a:t>
            </a:r>
            <a:r>
              <a:rPr lang="en-US" altLang="zh-CN" dirty="0" smtClean="0"/>
              <a:t>skill</a:t>
            </a:r>
            <a:r>
              <a:rPr lang="zh-CN" altLang="en-US" dirty="0" smtClean="0"/>
              <a:t>使用了</a:t>
            </a:r>
            <a:r>
              <a:rPr lang="en-US" altLang="zh-CN" dirty="0" smtClean="0"/>
              <a:t>6</a:t>
            </a:r>
            <a:r>
              <a:rPr lang="zh-CN" altLang="en-US" dirty="0" smtClean="0"/>
              <a:t>个子代理 去严格约束 显示算子</a:t>
            </a:r>
            <a:r>
              <a:rPr lang="en-US" altLang="zh-CN" dirty="0" smtClean="0"/>
              <a:t>kernel</a:t>
            </a:r>
            <a:r>
              <a:rPr lang="zh-CN" altLang="en-US" dirty="0" smtClean="0"/>
              <a:t>的生成流程，确保生成的算子的合理 正确且可优化的）。所以整体上，它采用的是“主流程编排 </a:t>
            </a:r>
            <a:r>
              <a:rPr lang="en-US" altLang="zh-CN" dirty="0" smtClean="0"/>
              <a:t>+ </a:t>
            </a:r>
            <a:r>
              <a:rPr lang="zh-CN" altLang="en-US" dirty="0" smtClean="0"/>
              <a:t>阶段 </a:t>
            </a:r>
            <a:r>
              <a:rPr lang="en-US" altLang="zh-CN" dirty="0" smtClean="0"/>
              <a:t>Skill + </a:t>
            </a:r>
            <a:r>
              <a:rPr lang="zh-CN" altLang="en-US" dirty="0" smtClean="0"/>
              <a:t>专业 </a:t>
            </a:r>
            <a:r>
              <a:rPr lang="en-US" altLang="zh-CN" dirty="0" smtClean="0"/>
              <a:t>Sub-Agent”</a:t>
            </a:r>
            <a:r>
              <a:rPr lang="zh-CN" altLang="en-US" dirty="0" smtClean="0"/>
              <a:t>的结构，把算子开发拆成生成、验证和优化三个连续阶段。</a:t>
            </a:r>
          </a:p>
          <a:p>
            <a:endParaRPr lang="zh-CN" altLang="en-US" smtClean="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这部分是使用前面的</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skill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进行算子开发的实际流程。一个算子从需求到最终交付，大致经过六步：用户输入、环境与需求准备、</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和测试生成、正确性验证与修复、性能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Benchmark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与优化，最后统一交付代码和报告。这里有两个关键点。第一，要契约规定每阶段好输出和输入。第二，不同算子的效率有差别。右边是三个算子的实际结果。</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Softmax</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已经达到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1.23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倍加速，但 </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LayerNorm</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是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0.86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MatMul</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只有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0.45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倍。这说明流程已经能够把算子开发完整跑通，但“生成正确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和“高性能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相比 有些情况下还是有些差距，但是这些差距是可以通过更新平台相关的硬件信息和效率好的算子画像弥补。（这是挑选了三个比较有代表性的 简单算子）</a:t>
            </a:r>
            <a:endParaRPr b="0" dirty="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实际使用以后，这套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有三个比较明显的优势。第一，环境、需求、生成、验证、优化的完整流程已经跑通。第二，代码生成和真实验证形成了闭环。第三，性能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Benchmark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和优化已经进入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的自动流程。但同时也暴露出四个问题：平台知识比较分散、整体结构比较绑定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MLU Triton</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、因为目前的平台信息和流程</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混合在一起 所以新增优化策略不够方便，而且算子开发开发时间仍然比较长。针对这些问题，我提出了一个算子</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结构</a:t>
            </a:r>
            <a:r>
              <a:rPr lang="zh-CN" altLang="en-US" sz="1200" dirty="0" smtClean="0">
                <a:solidFill>
                  <a:srgbClr val="2F3A45"/>
                </a:solidFill>
                <a:latin typeface="Arial" panose="020B0604020202020204" pitchFamily="34" charset="0"/>
                <a:ea typeface="微软雅黑" panose="020B0503020204020204" charset="-122"/>
                <a:cs typeface="微软雅黑" panose="020B0503020204020204" charset="-122"/>
              </a:rPr>
              <a:t>通用开发流程</a:t>
            </a:r>
            <a:r>
              <a:rPr lang="en-US" altLang="zh-CN" sz="1200" dirty="0" smtClean="0">
                <a:solidFill>
                  <a:srgbClr val="2F3A45"/>
                </a:solidFill>
                <a:latin typeface="Arial" panose="020B0604020202020204" pitchFamily="34" charset="0"/>
                <a:ea typeface="微软雅黑" panose="020B0503020204020204" charset="-122"/>
                <a:cs typeface="微软雅黑" panose="020B0503020204020204" charset="-122"/>
              </a:rPr>
              <a:t>+</a:t>
            </a:r>
            <a:r>
              <a:rPr lang="zh-CN" altLang="en-US" sz="1200" dirty="0" smtClean="0">
                <a:solidFill>
                  <a:srgbClr val="294A6D"/>
                </a:solidFill>
                <a:latin typeface="Arial" panose="020B0604020202020204" pitchFamily="34" charset="0"/>
                <a:ea typeface="微软雅黑" panose="020B0503020204020204" charset="-122"/>
                <a:cs typeface="微软雅黑" panose="020B0503020204020204" charset="-122"/>
              </a:rPr>
              <a:t>平台专属知识。目的是解决上述问题。</a:t>
            </a:r>
            <a:r>
              <a:rPr lang="zh-CN" altLang="en-US" sz="1200" dirty="0" smtClean="0">
                <a:solidFill>
                  <a:srgbClr val="2F3A45"/>
                </a:solidFill>
                <a:latin typeface="Arial" panose="020B0604020202020204" pitchFamily="34" charset="0"/>
                <a:ea typeface="微软雅黑" panose="020B0503020204020204" charset="-122"/>
                <a:cs typeface="微软雅黑" panose="020B0503020204020204" charset="-122"/>
              </a:rPr>
              <a:t>对于开发时间比较长，是因为原</a:t>
            </a:r>
            <a:r>
              <a:rPr lang="en-US" altLang="zh-CN" sz="1200" dirty="0" smtClean="0">
                <a:solidFill>
                  <a:srgbClr val="2F3A45"/>
                </a:solidFill>
                <a:latin typeface="Arial" panose="020B0604020202020204" pitchFamily="34" charset="0"/>
                <a:ea typeface="微软雅黑" panose="020B0503020204020204" charset="-122"/>
                <a:cs typeface="微软雅黑" panose="020B0503020204020204" charset="-122"/>
              </a:rPr>
              <a:t>skill</a:t>
            </a:r>
            <a:r>
              <a:rPr lang="zh-CN" altLang="en-US" sz="1200" dirty="0" smtClean="0">
                <a:solidFill>
                  <a:srgbClr val="2F3A45"/>
                </a:solidFill>
                <a:latin typeface="Arial" panose="020B0604020202020204" pitchFamily="34" charset="0"/>
                <a:ea typeface="微软雅黑" panose="020B0503020204020204" charset="-122"/>
                <a:cs typeface="微软雅黑" panose="020B0503020204020204" charset="-122"/>
              </a:rPr>
              <a:t>便利进行所有优化，我们在平台信息提前准备好不同算子应该侧重哪些优化，使开发时不进行明显不合理的优化，降低开发时间的同时 保证效率。现在问题就成为了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两部分：一部分是可以跨平台复用的通用开发流程，另一部分是每个平台自己的专属知识怎么获取。</a:t>
            </a:r>
            <a:endParaRPr lang="zh-CN" altLang="en-US"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下面进入第三部分，也是这次汇报的重点。这里主要回答一个问题：如果换到一个新的硬件平台，怎样尽量复用已有经验，而不是重新从零开发一套 </a:t>
            </a:r>
            <a:r>
              <a:rPr lang="en-US" altLang="zh-CN" dirty="0" smtClean="0"/>
              <a:t>Skill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smtClean="0"/>
              <a:t>1</a:t>
            </a:r>
            <a:r>
              <a:rPr lang="zh-CN" altLang="en-US" dirty="0" smtClean="0"/>
              <a:t>、新框架如右图所示，入口只有一个，不再依赖多个顶层 </a:t>
            </a:r>
            <a:r>
              <a:rPr lang="en-US" altLang="zh-CN" dirty="0" smtClean="0"/>
              <a:t>Skill </a:t>
            </a:r>
            <a:r>
              <a:rPr lang="zh-CN" altLang="en-US" dirty="0" smtClean="0"/>
              <a:t>互相调用，触发和调度逻辑更明确一点。流程、角色、策略、设备知识和脚本分别管理，减少内容混放。阶段顺序和产物交接契约不变，结构调整不会影响现有执行结果。</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这一页是整个算子 </a:t>
            </a:r>
            <a:r>
              <a:rPr lang="en-US" altLang="zh-CN" dirty="0" smtClean="0"/>
              <a:t>Skill </a:t>
            </a:r>
            <a:r>
              <a:rPr lang="zh-CN" altLang="en-US" dirty="0" smtClean="0"/>
              <a:t>开发指南的核心框架。第一部分是通用框架，也就是“需求、生成、验证、优化、输出”。这条主流程在不同平台之间基本可以复用。第二部分是平台知识。真正需要随着平台变化的主要是 </a:t>
            </a:r>
            <a:r>
              <a:rPr lang="en-US" altLang="zh-CN" dirty="0" smtClean="0"/>
              <a:t>Hardware</a:t>
            </a:r>
            <a:r>
              <a:rPr lang="zh-CN" altLang="en-US" dirty="0" smtClean="0"/>
              <a:t>、</a:t>
            </a:r>
            <a:r>
              <a:rPr lang="en-US" altLang="zh-CN" dirty="0" smtClean="0"/>
              <a:t>Programming Model</a:t>
            </a:r>
            <a:r>
              <a:rPr lang="zh-CN" altLang="en-US" dirty="0" smtClean="0"/>
              <a:t>、</a:t>
            </a:r>
            <a:r>
              <a:rPr lang="en-US" altLang="zh-CN" dirty="0" smtClean="0"/>
              <a:t>API</a:t>
            </a:r>
            <a:r>
              <a:rPr lang="zh-CN" altLang="en-US" dirty="0" smtClean="0"/>
              <a:t>、</a:t>
            </a:r>
            <a:r>
              <a:rPr lang="en-US" altLang="zh-CN" dirty="0" smtClean="0"/>
              <a:t>Environment</a:t>
            </a:r>
            <a:r>
              <a:rPr lang="zh-CN" altLang="en-US" dirty="0" smtClean="0"/>
              <a:t>、</a:t>
            </a:r>
            <a:r>
              <a:rPr lang="en-US" altLang="zh-CN" dirty="0" smtClean="0"/>
              <a:t>Profiler </a:t>
            </a:r>
            <a:r>
              <a:rPr lang="zh-CN" altLang="en-US" dirty="0" smtClean="0"/>
              <a:t>和 </a:t>
            </a:r>
            <a:r>
              <a:rPr lang="en-US" altLang="zh-CN" dirty="0" smtClean="0"/>
              <a:t>Optimization </a:t>
            </a:r>
            <a:r>
              <a:rPr lang="zh-CN" altLang="en-US" dirty="0" smtClean="0"/>
              <a:t>等内容。第三部分是验证与校准。我把验证分成三层：</a:t>
            </a:r>
            <a:r>
              <a:rPr lang="en-US" altLang="zh-CN" dirty="0" smtClean="0"/>
              <a:t>L1 </a:t>
            </a:r>
            <a:r>
              <a:rPr lang="zh-CN" altLang="en-US" dirty="0" smtClean="0"/>
              <a:t>验证环境能不能正常运行；</a:t>
            </a:r>
            <a:r>
              <a:rPr lang="en-US" altLang="zh-CN" dirty="0" smtClean="0"/>
              <a:t>L2 </a:t>
            </a:r>
            <a:r>
              <a:rPr lang="zh-CN" altLang="en-US" dirty="0" smtClean="0"/>
              <a:t>通过微基准验证我们理解的平台行为是否正确；</a:t>
            </a:r>
            <a:r>
              <a:rPr lang="en-US" altLang="zh-CN" dirty="0" smtClean="0"/>
              <a:t>L3 </a:t>
            </a:r>
            <a:r>
              <a:rPr lang="zh-CN" altLang="en-US" dirty="0" smtClean="0"/>
              <a:t>再用 </a:t>
            </a:r>
            <a:r>
              <a:rPr lang="en-US" altLang="zh-CN" dirty="0" err="1" smtClean="0"/>
              <a:t>LayerNorm</a:t>
            </a:r>
            <a:r>
              <a:rPr lang="zh-CN" altLang="en-US" dirty="0" smtClean="0"/>
              <a:t>、</a:t>
            </a:r>
            <a:r>
              <a:rPr lang="en-US" altLang="zh-CN" dirty="0" err="1" smtClean="0"/>
              <a:t>Softmax</a:t>
            </a:r>
            <a:r>
              <a:rPr lang="zh-CN" altLang="en-US" dirty="0" smtClean="0"/>
              <a:t>、</a:t>
            </a:r>
            <a:r>
              <a:rPr lang="en-US" altLang="zh-CN" dirty="0" err="1" smtClean="0"/>
              <a:t>MatMul</a:t>
            </a:r>
            <a:r>
              <a:rPr lang="en-US" altLang="zh-CN" dirty="0" smtClean="0"/>
              <a:t> </a:t>
            </a:r>
            <a:r>
              <a:rPr lang="zh-CN" altLang="en-US" dirty="0" smtClean="0"/>
              <a:t>三个典型算子做实际验证。如果验证发现平台知识不对，就更新 </a:t>
            </a:r>
            <a:r>
              <a:rPr lang="en-US" altLang="zh-CN" dirty="0" smtClean="0"/>
              <a:t>Knowledge</a:t>
            </a:r>
            <a:r>
              <a:rPr lang="zh-CN" altLang="en-US" dirty="0" smtClean="0"/>
              <a:t>；优化策略无效，就更新优化规则；流程本身有问题，就调整 </a:t>
            </a:r>
            <a:r>
              <a:rPr lang="en-US" altLang="zh-CN" dirty="0" smtClean="0"/>
              <a:t>Workflow</a:t>
            </a:r>
            <a:r>
              <a:rPr lang="zh-CN" altLang="en-US" dirty="0" smtClean="0"/>
              <a:t>。所以核心思想就是：通用框架提供骨架，平台知识负责平台差异，真实硬件测试不断校准两者。当然  </a:t>
            </a:r>
            <a:r>
              <a:rPr lang="zh-CN" altLang="en-US" sz="1200" dirty="0" smtClean="0">
                <a:solidFill>
                  <a:srgbClr val="2F3A45"/>
                </a:solidFill>
                <a:latin typeface="Arial" panose="020B0604020202020204" pitchFamily="34" charset="0"/>
                <a:ea typeface="微软雅黑" panose="020B0503020204020204" charset="-122"/>
              </a:rPr>
              <a:t>算子开发</a:t>
            </a:r>
            <a:r>
              <a:rPr lang="en-US" altLang="zh-CN" sz="1200" dirty="0" smtClean="0">
                <a:solidFill>
                  <a:srgbClr val="2F3A45"/>
                </a:solidFill>
                <a:latin typeface="Arial" panose="020B0604020202020204" pitchFamily="34" charset="0"/>
                <a:ea typeface="微软雅黑" panose="020B0503020204020204" charset="-122"/>
              </a:rPr>
              <a:t>skill</a:t>
            </a:r>
            <a:r>
              <a:rPr lang="zh-CN" altLang="en-US" sz="1200" dirty="0" smtClean="0">
                <a:solidFill>
                  <a:srgbClr val="2F3A45"/>
                </a:solidFill>
                <a:latin typeface="Arial" panose="020B0604020202020204" pitchFamily="34" charset="0"/>
                <a:ea typeface="微软雅黑" panose="020B0503020204020204" charset="-122"/>
              </a:rPr>
              <a:t>的开发不是一蹴而就的，需要不断的完善和更新迭代。平台事实验证和环境验证看起来复杂，实际上可以通过一类模板指令让大模型进行检测。</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322683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这一页是整个算子 </a:t>
            </a:r>
            <a:r>
              <a:rPr lang="en-US" altLang="zh-CN" dirty="0" smtClean="0"/>
              <a:t>Skill </a:t>
            </a:r>
            <a:r>
              <a:rPr lang="zh-CN" altLang="en-US" dirty="0" smtClean="0"/>
              <a:t>开发指南的核心框架。第一部分是通用框架，也就是“需求、生成、验证、优化、输出”。这条主流程在不同平台之间基本可以复用。第二部分是平台知识。真正需要随着平台变化的主要是 </a:t>
            </a:r>
            <a:r>
              <a:rPr lang="en-US" altLang="zh-CN" dirty="0" smtClean="0"/>
              <a:t>Hardware</a:t>
            </a:r>
            <a:r>
              <a:rPr lang="zh-CN" altLang="en-US" dirty="0" smtClean="0"/>
              <a:t>、</a:t>
            </a:r>
            <a:r>
              <a:rPr lang="en-US" altLang="zh-CN" dirty="0" smtClean="0"/>
              <a:t>Programming Model</a:t>
            </a:r>
            <a:r>
              <a:rPr lang="zh-CN" altLang="en-US" dirty="0" smtClean="0"/>
              <a:t>、</a:t>
            </a:r>
            <a:r>
              <a:rPr lang="en-US" altLang="zh-CN" dirty="0" smtClean="0"/>
              <a:t>API</a:t>
            </a:r>
            <a:r>
              <a:rPr lang="zh-CN" altLang="en-US" dirty="0" smtClean="0"/>
              <a:t>、</a:t>
            </a:r>
            <a:r>
              <a:rPr lang="en-US" altLang="zh-CN" dirty="0" smtClean="0"/>
              <a:t>Environment</a:t>
            </a:r>
            <a:r>
              <a:rPr lang="zh-CN" altLang="en-US" dirty="0" smtClean="0"/>
              <a:t>、</a:t>
            </a:r>
            <a:r>
              <a:rPr lang="en-US" altLang="zh-CN" dirty="0" smtClean="0"/>
              <a:t>Profiler </a:t>
            </a:r>
            <a:r>
              <a:rPr lang="zh-CN" altLang="en-US" dirty="0" smtClean="0"/>
              <a:t>和 </a:t>
            </a:r>
            <a:r>
              <a:rPr lang="en-US" altLang="zh-CN" dirty="0" smtClean="0"/>
              <a:t>Optimization </a:t>
            </a:r>
            <a:r>
              <a:rPr lang="zh-CN" altLang="en-US" dirty="0" smtClean="0"/>
              <a:t>等内容。第三部分是验证与校准。我把验证分成三层：</a:t>
            </a:r>
            <a:r>
              <a:rPr lang="en-US" altLang="zh-CN" dirty="0" smtClean="0"/>
              <a:t>L1 </a:t>
            </a:r>
            <a:r>
              <a:rPr lang="zh-CN" altLang="en-US" dirty="0" smtClean="0"/>
              <a:t>验证环境能不能正常运行；</a:t>
            </a:r>
            <a:r>
              <a:rPr lang="en-US" altLang="zh-CN" dirty="0" smtClean="0"/>
              <a:t>L2 </a:t>
            </a:r>
            <a:r>
              <a:rPr lang="zh-CN" altLang="en-US" dirty="0" smtClean="0"/>
              <a:t>通过微基准验证我们理解的平台行为是否正确；</a:t>
            </a:r>
            <a:r>
              <a:rPr lang="en-US" altLang="zh-CN" dirty="0" smtClean="0"/>
              <a:t>L3 </a:t>
            </a:r>
            <a:r>
              <a:rPr lang="zh-CN" altLang="en-US" dirty="0" smtClean="0"/>
              <a:t>再用 </a:t>
            </a:r>
            <a:r>
              <a:rPr lang="en-US" altLang="zh-CN" dirty="0" err="1" smtClean="0"/>
              <a:t>LayerNorm</a:t>
            </a:r>
            <a:r>
              <a:rPr lang="zh-CN" altLang="en-US" dirty="0" smtClean="0"/>
              <a:t>、</a:t>
            </a:r>
            <a:r>
              <a:rPr lang="en-US" altLang="zh-CN" dirty="0" err="1" smtClean="0"/>
              <a:t>Softmax</a:t>
            </a:r>
            <a:r>
              <a:rPr lang="zh-CN" altLang="en-US" dirty="0" smtClean="0"/>
              <a:t>、</a:t>
            </a:r>
            <a:r>
              <a:rPr lang="en-US" altLang="zh-CN" dirty="0" err="1" smtClean="0"/>
              <a:t>MatMul</a:t>
            </a:r>
            <a:r>
              <a:rPr lang="zh-CN" altLang="en-US" dirty="0" smtClean="0"/>
              <a:t> 三个典型算子做实际验证。如果验证发现平台知识不对，就更新 </a:t>
            </a:r>
            <a:r>
              <a:rPr lang="en-US" altLang="zh-CN" dirty="0" smtClean="0"/>
              <a:t>Knowledge</a:t>
            </a:r>
            <a:r>
              <a:rPr lang="zh-CN" altLang="en-US" dirty="0" smtClean="0"/>
              <a:t>；优化策略无效，就更新优化规则；流程本身有问题，就调整 </a:t>
            </a:r>
            <a:r>
              <a:rPr lang="en-US" altLang="zh-CN" dirty="0" smtClean="0"/>
              <a:t>Workflow</a:t>
            </a:r>
            <a:r>
              <a:rPr lang="zh-CN" altLang="en-US" dirty="0" smtClean="0"/>
              <a:t>。所以核心思想就是：通用框架提供骨架，平台知识负责平台差异，真实硬件测试不断校准两者。当然  </a:t>
            </a:r>
            <a:r>
              <a:rPr lang="zh-CN" altLang="en-US" sz="1200" dirty="0" smtClean="0">
                <a:solidFill>
                  <a:srgbClr val="2F3A45"/>
                </a:solidFill>
                <a:latin typeface="Arial" panose="020B0604020202020204" pitchFamily="34" charset="0"/>
                <a:ea typeface="微软雅黑" panose="020B0503020204020204" charset="-122"/>
              </a:rPr>
              <a:t>算子开发</a:t>
            </a:r>
            <a:r>
              <a:rPr lang="en-US" altLang="zh-CN" sz="1200" dirty="0" smtClean="0">
                <a:solidFill>
                  <a:srgbClr val="2F3A45"/>
                </a:solidFill>
                <a:latin typeface="Arial" panose="020B0604020202020204" pitchFamily="34" charset="0"/>
                <a:ea typeface="微软雅黑" panose="020B0503020204020204" charset="-122"/>
              </a:rPr>
              <a:t>skill</a:t>
            </a:r>
            <a:r>
              <a:rPr lang="zh-CN" altLang="en-US" sz="1200" dirty="0" smtClean="0">
                <a:solidFill>
                  <a:srgbClr val="2F3A45"/>
                </a:solidFill>
                <a:latin typeface="Arial" panose="020B0604020202020204" pitchFamily="34" charset="0"/>
                <a:ea typeface="微软雅黑" panose="020B0503020204020204" charset="-122"/>
              </a:rPr>
              <a:t>的开发不是一蹴而就的，需要不断的完善和更新迭代。平台事实验证和环境验证看起来复杂，实际上可以通过一类模板指令让大模型进行检测。</a:t>
            </a:r>
            <a:endParaRPr lang="zh-CN" altLang="en-US" dirty="0" smtClean="0"/>
          </a:p>
          <a:p>
            <a:r>
              <a:rPr lang="zh-CN" altLang="en-US" dirty="0" smtClean="0"/>
              <a:t>左边也详细列出来我们</a:t>
            </a:r>
            <a:r>
              <a:rPr lang="zh-CN" altLang="en-US" dirty="0" smtClean="0"/>
              <a:t>在进行算子</a:t>
            </a:r>
            <a:r>
              <a:rPr lang="en-US" altLang="zh-CN" dirty="0" smtClean="0"/>
              <a:t>skill</a:t>
            </a:r>
            <a:r>
              <a:rPr lang="zh-CN" altLang="en-US" dirty="0" smtClean="0"/>
              <a:t>开发时，需要真正去收集的资料。</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smtClean="0"/>
              <a:t>如何根据指南开发一个新平台</a:t>
            </a:r>
            <a:r>
              <a:rPr lang="en-US" altLang="zh-CN" sz="1200" dirty="0" smtClean="0"/>
              <a:t>skill</a:t>
            </a:r>
            <a:r>
              <a:rPr lang="zh-CN" altLang="en-US" sz="1200" dirty="0" smtClean="0"/>
              <a:t>，我把整个过程整理成八步。首先确定平台和编程语言，</a:t>
            </a:r>
            <a:r>
              <a:rPr lang="en-US" altLang="zh-CN" sz="1200" dirty="0" err="1" smtClean="0"/>
              <a:t>cuda</a:t>
            </a:r>
            <a:r>
              <a:rPr lang="zh-CN" altLang="en-US" sz="1200" dirty="0" smtClean="0"/>
              <a:t>或者 </a:t>
            </a:r>
            <a:r>
              <a:rPr lang="en-US" altLang="zh-CN" sz="1200" dirty="0" smtClean="0"/>
              <a:t>triton</a:t>
            </a:r>
            <a:r>
              <a:rPr lang="zh-CN" altLang="en-US" sz="1200" dirty="0" smtClean="0"/>
              <a:t>然后系统收集平台资料。接着进行真实环境检测和微基准，确认平台实际行为。验证过的信息再整理进 </a:t>
            </a:r>
            <a:r>
              <a:rPr lang="en-US" altLang="zh-CN" sz="1200" dirty="0" smtClean="0"/>
              <a:t>Platform Knowledge</a:t>
            </a:r>
            <a:r>
              <a:rPr lang="zh-CN" altLang="en-US" sz="1200" dirty="0" smtClean="0"/>
              <a:t>，并接入前面的通用 </a:t>
            </a:r>
            <a:r>
              <a:rPr lang="en-US" altLang="zh-CN" sz="1200" dirty="0" smtClean="0"/>
              <a:t>Workflow</a:t>
            </a:r>
            <a:r>
              <a:rPr lang="zh-CN" altLang="en-US" sz="1200" dirty="0" smtClean="0"/>
              <a:t>。最后使用 </a:t>
            </a:r>
            <a:r>
              <a:rPr lang="en-US" altLang="zh-CN" sz="1200" dirty="0" err="1" smtClean="0"/>
              <a:t>LayerNorm</a:t>
            </a:r>
            <a:r>
              <a:rPr lang="zh-CN" altLang="en-US" sz="1200" dirty="0" smtClean="0"/>
              <a:t>、</a:t>
            </a:r>
            <a:r>
              <a:rPr lang="en-US" altLang="zh-CN" sz="1200" dirty="0" err="1" smtClean="0"/>
              <a:t>Softmax</a:t>
            </a:r>
            <a:r>
              <a:rPr lang="en-US" altLang="zh-CN" sz="1200" dirty="0" smtClean="0"/>
              <a:t> </a:t>
            </a:r>
            <a:r>
              <a:rPr lang="zh-CN" altLang="en-US" sz="1200" dirty="0" smtClean="0"/>
              <a:t>和 </a:t>
            </a:r>
            <a:r>
              <a:rPr lang="en-US" altLang="zh-CN" sz="1200" dirty="0" err="1" smtClean="0"/>
              <a:t>MatMul</a:t>
            </a:r>
            <a:r>
              <a:rPr lang="en-US" altLang="zh-CN" sz="1200" dirty="0" smtClean="0"/>
              <a:t> </a:t>
            </a:r>
            <a:r>
              <a:rPr lang="zh-CN" altLang="en-US" sz="1200" dirty="0" smtClean="0"/>
              <a:t>三个标准算子进行完整验证。如果过程中发现问题，就分类处理：平台事实有偏差就更新知识，优化策略失效就更新规则，流程不合理就调整 </a:t>
            </a:r>
            <a:r>
              <a:rPr lang="en-US" altLang="zh-CN" sz="1200" dirty="0" smtClean="0"/>
              <a:t>Workflow</a:t>
            </a:r>
            <a:r>
              <a:rPr lang="zh-CN" altLang="en-US" sz="1200" dirty="0" smtClean="0"/>
              <a:t>。所以新平台 </a:t>
            </a:r>
            <a:r>
              <a:rPr lang="en-US" altLang="zh-CN" sz="1200" dirty="0" smtClean="0"/>
              <a:t>Skill </a:t>
            </a:r>
            <a:r>
              <a:rPr lang="zh-CN" altLang="en-US" sz="1200" dirty="0" smtClean="0"/>
              <a:t>的开发，本质上是“</a:t>
            </a:r>
            <a:r>
              <a:rPr lang="zh-CN" altLang="en-US" sz="1200" b="1" dirty="0" smtClean="0">
                <a:solidFill>
                  <a:srgbClr val="2F3A45"/>
                </a:solidFill>
                <a:latin typeface="Arial" panose="020B0604020202020204" pitchFamily="34" charset="0"/>
                <a:ea typeface="微软雅黑" panose="020B0503020204020204" charset="-122"/>
                <a:cs typeface="微软雅黑" panose="020B0503020204020204" charset="-122"/>
              </a:rPr>
              <a:t>通用框架上补齐目标平台知识，并通过真实验证不断校准。最关键就是 搜集平台知识这步。要根据 官方、网络资料，已有的工程经验 和现有的真实平台测试</a:t>
            </a:r>
            <a:r>
              <a:rPr lang="zh-CN" altLang="en-US" sz="1200" b="1" baseline="0" dirty="0" smtClean="0">
                <a:solidFill>
                  <a:srgbClr val="2F3A45"/>
                </a:solidFill>
                <a:latin typeface="Arial" panose="020B0604020202020204" pitchFamily="34" charset="0"/>
                <a:ea typeface="微软雅黑" panose="020B0503020204020204" charset="-122"/>
                <a:cs typeface="微软雅黑" panose="020B0503020204020204" charset="-122"/>
              </a:rPr>
              <a:t> 去补充真实有效的平台知识。</a:t>
            </a:r>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按照前面的思路，目前我已经在四个平台上进行了不同程度的实践。</a:t>
            </a:r>
            <a:r>
              <a:rPr lang="en-US" altLang="zh-CN" dirty="0" smtClean="0"/>
              <a:t>MLU Triton </a:t>
            </a:r>
            <a:r>
              <a:rPr lang="zh-CN" altLang="en-US" dirty="0" smtClean="0"/>
              <a:t>是基于寒武纪的</a:t>
            </a:r>
            <a:r>
              <a:rPr lang="en-US" altLang="zh-CN" dirty="0" smtClean="0"/>
              <a:t>skill</a:t>
            </a:r>
            <a:r>
              <a:rPr lang="zh-CN" altLang="en-US" dirty="0" smtClean="0"/>
              <a:t>开始做的，目前完整度最高，生成、验证、</a:t>
            </a:r>
            <a:r>
              <a:rPr lang="en-US" altLang="zh-CN" dirty="0" smtClean="0"/>
              <a:t>Benchmark </a:t>
            </a:r>
            <a:r>
              <a:rPr lang="zh-CN" altLang="en-US" dirty="0" smtClean="0"/>
              <a:t>和优化闭环基本都已经跑通。</a:t>
            </a:r>
            <a:r>
              <a:rPr lang="en-US" altLang="zh-CN" dirty="0" smtClean="0"/>
              <a:t>BANG C </a:t>
            </a:r>
            <a:r>
              <a:rPr lang="zh-CN" altLang="en-US" dirty="0" smtClean="0"/>
              <a:t>已经能够完成真机编译、执行、正确性验证和 </a:t>
            </a:r>
            <a:r>
              <a:rPr lang="en-US" altLang="zh-CN" dirty="0" smtClean="0"/>
              <a:t>Benchmark</a:t>
            </a:r>
            <a:r>
              <a:rPr lang="zh-CN" altLang="en-US" dirty="0" smtClean="0"/>
              <a:t>，但高性能优化仍然是主要短板，特别是片上存储、</a:t>
            </a:r>
            <a:r>
              <a:rPr lang="en-US" altLang="zh-CN" dirty="0" smtClean="0"/>
              <a:t>DMA</a:t>
            </a:r>
            <a:r>
              <a:rPr lang="zh-CN" altLang="en-US" dirty="0" smtClean="0"/>
              <a:t>、</a:t>
            </a:r>
            <a:r>
              <a:rPr lang="en-US" altLang="zh-CN" dirty="0" smtClean="0"/>
              <a:t>Pipeline </a:t>
            </a:r>
            <a:r>
              <a:rPr lang="zh-CN" altLang="en-US" dirty="0" smtClean="0"/>
              <a:t>和 </a:t>
            </a:r>
            <a:r>
              <a:rPr lang="en-US" altLang="zh-CN" dirty="0" smtClean="0"/>
              <a:t>Core/Cluster </a:t>
            </a:r>
            <a:r>
              <a:rPr lang="zh-CN" altLang="en-US" dirty="0" smtClean="0"/>
              <a:t>分工等平台知识还需要继续补。</a:t>
            </a:r>
            <a:r>
              <a:rPr lang="en-US" altLang="zh-CN" dirty="0" smtClean="0"/>
              <a:t>CUDA C </a:t>
            </a:r>
            <a:r>
              <a:rPr lang="zh-CN" altLang="en-US" dirty="0" smtClean="0"/>
              <a:t>的基础 </a:t>
            </a:r>
            <a:r>
              <a:rPr lang="en-US" altLang="zh-CN" dirty="0" smtClean="0"/>
              <a:t>Skill </a:t>
            </a:r>
            <a:r>
              <a:rPr lang="zh-CN" altLang="en-US" dirty="0" smtClean="0"/>
              <a:t>已经完成，目前需要通过更多真实算子和 </a:t>
            </a:r>
            <a:r>
              <a:rPr lang="en-US" altLang="zh-CN" dirty="0" err="1" smtClean="0"/>
              <a:t>Nsight</a:t>
            </a:r>
            <a:r>
              <a:rPr lang="en-US" altLang="zh-CN" dirty="0" smtClean="0"/>
              <a:t> Profiling </a:t>
            </a:r>
            <a:r>
              <a:rPr lang="zh-CN" altLang="en-US" dirty="0" smtClean="0"/>
              <a:t>进一步完善平台知识。</a:t>
            </a:r>
            <a:r>
              <a:rPr lang="en-US" altLang="zh-CN" dirty="0" smtClean="0"/>
              <a:t>GPU Triton </a:t>
            </a:r>
            <a:r>
              <a:rPr lang="zh-CN" altLang="en-US" dirty="0" smtClean="0"/>
              <a:t>也完成了基础框架和环境信息迁移，后续主要是补</a:t>
            </a:r>
            <a:r>
              <a:rPr lang="en-US" altLang="zh-CN" dirty="0" smtClean="0"/>
              <a:t>3090</a:t>
            </a:r>
            <a:r>
              <a:rPr lang="zh-CN" altLang="en-US" dirty="0" smtClean="0"/>
              <a:t>平台真实参数和更多算子验证。</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这一页比较的是四类 </a:t>
            </a:r>
            <a:r>
              <a:rPr lang="en-US" dirty="0" smtClean="0"/>
              <a:t>Skill </a:t>
            </a:r>
            <a:r>
              <a:rPr lang="zh-CN" altLang="en-US" dirty="0" smtClean="0"/>
              <a:t>生成 </a:t>
            </a:r>
            <a:r>
              <a:rPr lang="en-US" dirty="0" smtClean="0"/>
              <a:t>Kernel </a:t>
            </a:r>
            <a:r>
              <a:rPr lang="zh-CN" altLang="en-US" dirty="0" smtClean="0"/>
              <a:t>的绝对运行时间。测试都是统一精度 同意输入的。</a:t>
            </a:r>
            <a:r>
              <a:rPr lang="en-US" dirty="0" smtClean="0"/>
              <a:t>MLU </a:t>
            </a:r>
            <a:r>
              <a:rPr lang="zh-CN" altLang="en-US" dirty="0" smtClean="0"/>
              <a:t>平台使用 </a:t>
            </a:r>
            <a:r>
              <a:rPr lang="en-US" dirty="0" err="1" smtClean="0"/>
              <a:t>PyTorch</a:t>
            </a:r>
            <a:r>
              <a:rPr lang="en-US" dirty="0" smtClean="0"/>
              <a:t>-MLU </a:t>
            </a:r>
            <a:r>
              <a:rPr lang="zh-CN" altLang="en-US" dirty="0" smtClean="0"/>
              <a:t>作为 </a:t>
            </a:r>
            <a:r>
              <a:rPr lang="en-US" dirty="0" err="1" smtClean="0"/>
              <a:t>Baseline，GPU</a:t>
            </a:r>
            <a:r>
              <a:rPr lang="en-US" dirty="0" smtClean="0"/>
              <a:t> </a:t>
            </a:r>
            <a:r>
              <a:rPr lang="zh-CN" altLang="en-US" dirty="0" smtClean="0"/>
              <a:t>平台使用 </a:t>
            </a:r>
            <a:r>
              <a:rPr lang="en-US" dirty="0" err="1" smtClean="0"/>
              <a:t>PyTorch</a:t>
            </a:r>
            <a:r>
              <a:rPr lang="en-US" dirty="0" smtClean="0"/>
              <a:t>-CUDA </a:t>
            </a:r>
            <a:r>
              <a:rPr lang="zh-CN" altLang="en-US" dirty="0" smtClean="0"/>
              <a:t>作为 </a:t>
            </a:r>
            <a:r>
              <a:rPr lang="en-US" dirty="0" smtClean="0"/>
              <a:t>Baseline。</a:t>
            </a:r>
            <a:r>
              <a:rPr lang="zh-CN" altLang="en-US" dirty="0" smtClean="0"/>
              <a:t>表格里的格式是“</a:t>
            </a:r>
            <a:r>
              <a:rPr lang="en-US" dirty="0" smtClean="0"/>
              <a:t>Kernel </a:t>
            </a:r>
            <a:r>
              <a:rPr lang="zh-CN" altLang="en-US" dirty="0" smtClean="0"/>
              <a:t>时间 </a:t>
            </a:r>
            <a:r>
              <a:rPr lang="en-US" altLang="zh-CN" dirty="0" smtClean="0"/>
              <a:t>/ </a:t>
            </a:r>
            <a:r>
              <a:rPr lang="en-US" dirty="0" err="1" smtClean="0"/>
              <a:t>PyTorch</a:t>
            </a:r>
            <a:r>
              <a:rPr lang="en-US" dirty="0" smtClean="0"/>
              <a:t> </a:t>
            </a:r>
            <a:r>
              <a:rPr lang="zh-CN" altLang="en-US" dirty="0" smtClean="0"/>
              <a:t>时间”。先看 </a:t>
            </a:r>
            <a:r>
              <a:rPr lang="en-US" dirty="0" smtClean="0"/>
              <a:t>MLU </a:t>
            </a:r>
            <a:r>
              <a:rPr lang="en-US" dirty="0" err="1" smtClean="0"/>
              <a:t>Triton。LayerNorm</a:t>
            </a:r>
            <a:r>
              <a:rPr lang="en-US" dirty="0" smtClean="0"/>
              <a:t> </a:t>
            </a:r>
            <a:r>
              <a:rPr lang="zh-CN" altLang="en-US" dirty="0" smtClean="0"/>
              <a:t>是 </a:t>
            </a:r>
            <a:r>
              <a:rPr lang="en-US" altLang="zh-CN" dirty="0" smtClean="0"/>
              <a:t>0.15 </a:t>
            </a:r>
            <a:r>
              <a:rPr lang="en-US" dirty="0" err="1" smtClean="0"/>
              <a:t>ms</a:t>
            </a:r>
            <a:r>
              <a:rPr lang="en-US" dirty="0" smtClean="0"/>
              <a:t> </a:t>
            </a:r>
            <a:r>
              <a:rPr lang="zh-CN" altLang="en-US" dirty="0" smtClean="0"/>
              <a:t>对 </a:t>
            </a:r>
            <a:r>
              <a:rPr lang="en-US" altLang="zh-CN" dirty="0" smtClean="0"/>
              <a:t>0.15 </a:t>
            </a:r>
            <a:r>
              <a:rPr lang="en-US" dirty="0" err="1" smtClean="0"/>
              <a:t>ms</a:t>
            </a:r>
            <a:r>
              <a:rPr lang="en-US" dirty="0" smtClean="0"/>
              <a:t>，</a:t>
            </a:r>
            <a:r>
              <a:rPr lang="zh-CN" altLang="en-US" dirty="0" smtClean="0"/>
              <a:t>基本持平；</a:t>
            </a:r>
            <a:r>
              <a:rPr lang="en-US" dirty="0" err="1" smtClean="0"/>
              <a:t>Softmax</a:t>
            </a:r>
            <a:r>
              <a:rPr lang="en-US" dirty="0" smtClean="0"/>
              <a:t> </a:t>
            </a:r>
            <a:r>
              <a:rPr lang="zh-CN" altLang="en-US" dirty="0" smtClean="0"/>
              <a:t>是 </a:t>
            </a:r>
            <a:r>
              <a:rPr lang="en-US" altLang="zh-CN" dirty="0" smtClean="0"/>
              <a:t>0.086 </a:t>
            </a:r>
            <a:r>
              <a:rPr lang="en-US" dirty="0" err="1" smtClean="0"/>
              <a:t>ms</a:t>
            </a:r>
            <a:r>
              <a:rPr lang="en-US" dirty="0" smtClean="0"/>
              <a:t> </a:t>
            </a:r>
            <a:r>
              <a:rPr lang="zh-CN" altLang="en-US" dirty="0" smtClean="0"/>
              <a:t>对 </a:t>
            </a:r>
            <a:r>
              <a:rPr lang="en-US" altLang="zh-CN" dirty="0" smtClean="0"/>
              <a:t>0.11 </a:t>
            </a:r>
            <a:r>
              <a:rPr lang="en-US" dirty="0" err="1" smtClean="0"/>
              <a:t>ms</a:t>
            </a:r>
            <a:r>
              <a:rPr lang="en-US" dirty="0" smtClean="0"/>
              <a:t>，</a:t>
            </a:r>
            <a:r>
              <a:rPr lang="zh-CN" altLang="en-US" dirty="0" smtClean="0"/>
              <a:t>已经快于 </a:t>
            </a:r>
            <a:r>
              <a:rPr lang="en-US" dirty="0" err="1" smtClean="0"/>
              <a:t>PyTorch</a:t>
            </a:r>
            <a:r>
              <a:rPr lang="en-US" dirty="0" smtClean="0"/>
              <a:t>-MLU；</a:t>
            </a:r>
            <a:r>
              <a:rPr lang="zh-CN" altLang="en-US" dirty="0" smtClean="0"/>
              <a:t>所以 </a:t>
            </a:r>
            <a:r>
              <a:rPr lang="en-US" dirty="0" smtClean="0"/>
              <a:t>MLU Triton </a:t>
            </a:r>
            <a:r>
              <a:rPr lang="zh-CN" altLang="en-US" dirty="0" smtClean="0"/>
              <a:t>在相对简单的归一化和 </a:t>
            </a:r>
            <a:r>
              <a:rPr lang="en-US" dirty="0" err="1" smtClean="0"/>
              <a:t>Softmax</a:t>
            </a:r>
            <a:r>
              <a:rPr lang="en-US" dirty="0" smtClean="0"/>
              <a:t> </a:t>
            </a:r>
            <a:r>
              <a:rPr lang="zh-CN" altLang="en-US" dirty="0" smtClean="0"/>
              <a:t>上表现已经可以，但 </a:t>
            </a:r>
            <a:r>
              <a:rPr lang="en-US" dirty="0" err="1" smtClean="0"/>
              <a:t>MatMul</a:t>
            </a:r>
            <a:r>
              <a:rPr lang="en-US" dirty="0" smtClean="0"/>
              <a:t> </a:t>
            </a:r>
            <a:r>
              <a:rPr lang="zh-CN" altLang="en-US" dirty="0" smtClean="0"/>
              <a:t>还没有达到平台库的性能水平。再看 </a:t>
            </a:r>
            <a:r>
              <a:rPr lang="en-US" dirty="0" smtClean="0"/>
              <a:t>BANG C</a:t>
            </a:r>
            <a:r>
              <a:rPr lang="zh-CN" altLang="en-US" dirty="0" smtClean="0"/>
              <a:t>三个算子都明显慢于同平台 </a:t>
            </a:r>
            <a:r>
              <a:rPr lang="en-US" dirty="0" err="1" smtClean="0"/>
              <a:t>PyTorch</a:t>
            </a:r>
            <a:r>
              <a:rPr lang="en-US" dirty="0" smtClean="0"/>
              <a:t>，</a:t>
            </a:r>
            <a:r>
              <a:rPr lang="zh-CN" altLang="en-US" dirty="0" smtClean="0"/>
              <a:t>尤其 </a:t>
            </a:r>
            <a:r>
              <a:rPr lang="en-US" dirty="0" err="1" smtClean="0"/>
              <a:t>LayerNorm</a:t>
            </a:r>
            <a:r>
              <a:rPr lang="en-US" dirty="0" smtClean="0"/>
              <a:t> </a:t>
            </a:r>
            <a:r>
              <a:rPr lang="zh-CN" altLang="en-US" dirty="0" smtClean="0"/>
              <a:t>和 </a:t>
            </a:r>
            <a:r>
              <a:rPr lang="en-US" dirty="0" err="1" smtClean="0"/>
              <a:t>Softmax</a:t>
            </a:r>
            <a:r>
              <a:rPr lang="en-US" dirty="0" smtClean="0"/>
              <a:t> </a:t>
            </a:r>
            <a:r>
              <a:rPr lang="zh-CN" altLang="en-US" dirty="0" smtClean="0"/>
              <a:t>差距很大。这说明当前 </a:t>
            </a:r>
            <a:r>
              <a:rPr lang="en-US" dirty="0" smtClean="0"/>
              <a:t>BANG C Skill </a:t>
            </a:r>
            <a:r>
              <a:rPr lang="zh-CN" altLang="en-US" dirty="0" smtClean="0"/>
              <a:t>的问题不是“不能生成正确代码”，而是缺少足够成熟的高性能实现知识。</a:t>
            </a:r>
            <a:r>
              <a:rPr lang="en-US" dirty="0" smtClean="0"/>
              <a:t>GPU Triton </a:t>
            </a:r>
            <a:r>
              <a:rPr lang="zh-CN" altLang="en-US" dirty="0" smtClean="0"/>
              <a:t>与 </a:t>
            </a:r>
            <a:r>
              <a:rPr lang="en-US" dirty="0" smtClean="0"/>
              <a:t>CUDA C </a:t>
            </a:r>
            <a:r>
              <a:rPr lang="zh-CN" altLang="en-US" dirty="0" smtClean="0"/>
              <a:t>类似。</a:t>
            </a:r>
            <a:r>
              <a:rPr lang="en-US" dirty="0" err="1" smtClean="0"/>
              <a:t>LayerNorm</a:t>
            </a:r>
            <a:r>
              <a:rPr lang="en-US" dirty="0" smtClean="0"/>
              <a:t> ，</a:t>
            </a:r>
            <a:r>
              <a:rPr lang="en-US" dirty="0" err="1" smtClean="0"/>
              <a:t>Softmax</a:t>
            </a:r>
            <a:r>
              <a:rPr lang="en-US" dirty="0" smtClean="0"/>
              <a:t> </a:t>
            </a:r>
            <a:r>
              <a:rPr lang="zh-CN" altLang="en-US" dirty="0" smtClean="0"/>
              <a:t>都比较接近或者超过基线；从绝对时间上看，</a:t>
            </a:r>
            <a:r>
              <a:rPr lang="en-US" dirty="0" err="1" smtClean="0"/>
              <a:t>LayerNorm</a:t>
            </a:r>
            <a:r>
              <a:rPr lang="en-US" dirty="0" smtClean="0"/>
              <a:t> </a:t>
            </a:r>
            <a:r>
              <a:rPr lang="zh-CN" altLang="en-US" dirty="0" smtClean="0"/>
              <a:t>和 </a:t>
            </a:r>
            <a:r>
              <a:rPr lang="en-US" dirty="0" err="1" smtClean="0"/>
              <a:t>Softmax</a:t>
            </a:r>
            <a:r>
              <a:rPr lang="en-US" dirty="0" smtClean="0"/>
              <a:t> </a:t>
            </a:r>
            <a:r>
              <a:rPr lang="zh-CN" altLang="en-US" dirty="0" smtClean="0"/>
              <a:t>已经能体现出 </a:t>
            </a:r>
            <a:r>
              <a:rPr lang="en-US" dirty="0" smtClean="0"/>
              <a:t>Skill </a:t>
            </a:r>
            <a:r>
              <a:rPr lang="zh-CN" altLang="en-US" dirty="0" smtClean="0"/>
              <a:t>的实际可用性，但 </a:t>
            </a:r>
            <a:r>
              <a:rPr lang="en-US" dirty="0" err="1" smtClean="0"/>
              <a:t>MatMul</a:t>
            </a:r>
            <a:r>
              <a:rPr lang="en-US" dirty="0" smtClean="0"/>
              <a:t> </a:t>
            </a:r>
            <a:r>
              <a:rPr lang="zh-CN" altLang="en-US" dirty="0" smtClean="0"/>
              <a:t>在四类 </a:t>
            </a:r>
            <a:r>
              <a:rPr lang="en-US" dirty="0" smtClean="0"/>
              <a:t>Skill </a:t>
            </a:r>
            <a:r>
              <a:rPr lang="zh-CN" altLang="en-US" dirty="0" smtClean="0"/>
              <a:t>上都是难点。</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这一页把上一页的数据换成加速比，更容易横向比较。</a:t>
            </a:r>
            <a:r>
              <a:rPr lang="en-US" altLang="zh-CN" dirty="0" err="1" smtClean="0"/>
              <a:t>LayerNorm</a:t>
            </a:r>
            <a:r>
              <a:rPr lang="en-US" altLang="zh-CN" dirty="0" smtClean="0"/>
              <a:t> </a:t>
            </a:r>
            <a:r>
              <a:rPr lang="zh-CN" altLang="en-US" dirty="0" smtClean="0"/>
              <a:t>中，</a:t>
            </a:r>
            <a:r>
              <a:rPr lang="en-US" altLang="zh-CN" dirty="0" smtClean="0"/>
              <a:t>GPU Triton </a:t>
            </a:r>
            <a:r>
              <a:rPr lang="zh-CN" altLang="en-US" dirty="0" smtClean="0"/>
              <a:t>是 </a:t>
            </a:r>
            <a:r>
              <a:rPr lang="en-US" altLang="zh-CN" dirty="0" smtClean="0"/>
              <a:t>1.45 </a:t>
            </a:r>
            <a:r>
              <a:rPr lang="zh-CN" altLang="en-US" dirty="0" smtClean="0"/>
              <a:t>倍，</a:t>
            </a:r>
            <a:r>
              <a:rPr lang="en-US" altLang="zh-CN" dirty="0" smtClean="0"/>
              <a:t>CUDA C </a:t>
            </a:r>
            <a:r>
              <a:rPr lang="zh-CN" altLang="en-US" dirty="0" smtClean="0"/>
              <a:t>是 </a:t>
            </a:r>
            <a:r>
              <a:rPr lang="en-US" altLang="zh-CN" dirty="0" smtClean="0"/>
              <a:t>1.43 </a:t>
            </a:r>
            <a:r>
              <a:rPr lang="zh-CN" altLang="en-US" dirty="0" smtClean="0"/>
              <a:t>倍，</a:t>
            </a:r>
            <a:r>
              <a:rPr lang="en-US" altLang="zh-CN" dirty="0" smtClean="0"/>
              <a:t>MLU Triton </a:t>
            </a:r>
            <a:r>
              <a:rPr lang="zh-CN" altLang="en-US" dirty="0" smtClean="0"/>
              <a:t>与基线基本持平，对于</a:t>
            </a:r>
            <a:r>
              <a:rPr lang="en-US" altLang="zh-CN" dirty="0" err="1" smtClean="0"/>
              <a:t>layernorm</a:t>
            </a:r>
            <a:r>
              <a:rPr lang="en-US" altLang="zh-CN" dirty="0" smtClean="0"/>
              <a:t> </a:t>
            </a:r>
            <a:r>
              <a:rPr lang="zh-CN" altLang="en-US" dirty="0" smtClean="0"/>
              <a:t>（注意 原先版本的 加速比是</a:t>
            </a:r>
            <a:r>
              <a:rPr lang="en-US" altLang="zh-CN" dirty="0" smtClean="0"/>
              <a:t>0.86</a:t>
            </a:r>
            <a:r>
              <a:rPr lang="zh-CN" altLang="en-US" dirty="0" smtClean="0"/>
              <a:t>）。</a:t>
            </a:r>
            <a:r>
              <a:rPr lang="en-US" altLang="zh-CN" dirty="0" err="1" smtClean="0"/>
              <a:t>Softmax</a:t>
            </a:r>
            <a:r>
              <a:rPr lang="en-US" altLang="zh-CN" dirty="0" smtClean="0"/>
              <a:t> </a:t>
            </a:r>
            <a:r>
              <a:rPr lang="zh-CN" altLang="en-US" dirty="0" smtClean="0"/>
              <a:t>中，</a:t>
            </a:r>
            <a:r>
              <a:rPr lang="en-US" altLang="zh-CN" dirty="0" smtClean="0"/>
              <a:t>MLU Triton </a:t>
            </a:r>
            <a:r>
              <a:rPr lang="zh-CN" altLang="en-US" dirty="0" smtClean="0"/>
              <a:t>达到 </a:t>
            </a:r>
            <a:r>
              <a:rPr lang="en-US" altLang="zh-CN" dirty="0" smtClean="0"/>
              <a:t>1.23 </a:t>
            </a:r>
            <a:r>
              <a:rPr lang="zh-CN" altLang="en-US" dirty="0" smtClean="0"/>
              <a:t>倍，</a:t>
            </a:r>
            <a:r>
              <a:rPr lang="en-US" altLang="zh-CN" dirty="0" smtClean="0"/>
              <a:t>CUDA C </a:t>
            </a:r>
            <a:r>
              <a:rPr lang="zh-CN" altLang="en-US" dirty="0" smtClean="0"/>
              <a:t>和 </a:t>
            </a:r>
            <a:r>
              <a:rPr lang="en-US" altLang="zh-CN" dirty="0" smtClean="0"/>
              <a:t>GPU Triton </a:t>
            </a:r>
            <a:r>
              <a:rPr lang="zh-CN" altLang="en-US" dirty="0" smtClean="0"/>
              <a:t>都在 </a:t>
            </a:r>
            <a:r>
              <a:rPr lang="en-US" altLang="zh-CN" dirty="0" smtClean="0"/>
              <a:t>1.06 </a:t>
            </a:r>
            <a:r>
              <a:rPr lang="zh-CN" altLang="en-US" dirty="0" smtClean="0"/>
              <a:t>倍左右。但 </a:t>
            </a:r>
            <a:r>
              <a:rPr lang="en-US" altLang="zh-CN" dirty="0" err="1" smtClean="0"/>
              <a:t>MatMul</a:t>
            </a:r>
            <a:r>
              <a:rPr lang="en-US" altLang="zh-CN" dirty="0" smtClean="0"/>
              <a:t> </a:t>
            </a:r>
            <a:r>
              <a:rPr lang="zh-CN" altLang="en-US" dirty="0" smtClean="0"/>
              <a:t>四个平台全部低于 </a:t>
            </a:r>
            <a:r>
              <a:rPr lang="en-US" altLang="zh-CN" dirty="0" smtClean="0"/>
              <a:t>1 </a:t>
            </a:r>
            <a:r>
              <a:rPr lang="zh-CN" altLang="en-US" dirty="0" smtClean="0"/>
              <a:t>倍，最高的 </a:t>
            </a:r>
            <a:r>
              <a:rPr lang="en-US" altLang="zh-CN" dirty="0" smtClean="0"/>
              <a:t>CUDA C </a:t>
            </a:r>
            <a:r>
              <a:rPr lang="zh-CN" altLang="en-US" dirty="0" smtClean="0"/>
              <a:t>也只有 </a:t>
            </a:r>
            <a:r>
              <a:rPr lang="en-US" altLang="zh-CN" dirty="0" smtClean="0"/>
              <a:t>0.53 </a:t>
            </a:r>
            <a:r>
              <a:rPr lang="zh-CN" altLang="en-US" dirty="0" smtClean="0"/>
              <a:t>倍。所以目前可以看到一个比较明确的规律：对于 </a:t>
            </a:r>
            <a:r>
              <a:rPr lang="en-US" altLang="zh-CN" dirty="0" err="1" smtClean="0"/>
              <a:t>LayerNorm</a:t>
            </a:r>
            <a:r>
              <a:rPr lang="zh-CN" altLang="en-US" dirty="0" smtClean="0"/>
              <a:t>、</a:t>
            </a:r>
            <a:r>
              <a:rPr lang="en-US" altLang="zh-CN" dirty="0" err="1" smtClean="0"/>
              <a:t>Softmax</a:t>
            </a:r>
            <a:r>
              <a:rPr lang="en-US" altLang="zh-CN" dirty="0" smtClean="0"/>
              <a:t> </a:t>
            </a:r>
            <a:r>
              <a:rPr lang="zh-CN" altLang="en-US" dirty="0" smtClean="0"/>
              <a:t>这类算子，</a:t>
            </a:r>
            <a:r>
              <a:rPr lang="en-US" altLang="zh-CN" dirty="0" smtClean="0"/>
              <a:t>Skill </a:t>
            </a:r>
            <a:r>
              <a:rPr lang="zh-CN" altLang="en-US" dirty="0" smtClean="0"/>
              <a:t>已经能够生成有竞争力的实现；但 </a:t>
            </a:r>
            <a:r>
              <a:rPr lang="en-US" altLang="zh-CN" dirty="0" err="1" smtClean="0"/>
              <a:t>MatMul</a:t>
            </a:r>
            <a:r>
              <a:rPr lang="en-US" altLang="zh-CN" dirty="0" smtClean="0"/>
              <a:t> </a:t>
            </a:r>
            <a:r>
              <a:rPr lang="zh-CN" altLang="en-US" dirty="0" smtClean="0"/>
              <a:t>这种更依赖 </a:t>
            </a:r>
            <a:r>
              <a:rPr lang="en-US" altLang="zh-CN" dirty="0" smtClean="0"/>
              <a:t>Tiling</a:t>
            </a:r>
            <a:r>
              <a:rPr lang="zh-CN" altLang="en-US" dirty="0" smtClean="0"/>
              <a:t>、数据搬运和硬件计算能力的算子，仅靠通用开发流程还不够。另外 </a:t>
            </a:r>
            <a:r>
              <a:rPr lang="en-US" altLang="zh-CN" dirty="0" smtClean="0"/>
              <a:t>BANG C </a:t>
            </a:r>
            <a:r>
              <a:rPr lang="zh-CN" altLang="en-US" dirty="0" smtClean="0"/>
              <a:t>三项都低于基线，也说明后续需要重点补充高性能 </a:t>
            </a:r>
            <a:r>
              <a:rPr lang="en-US" altLang="zh-CN" dirty="0" smtClean="0"/>
              <a:t>Reference </a:t>
            </a:r>
            <a:r>
              <a:rPr lang="zh-CN" altLang="en-US" dirty="0" smtClean="0"/>
              <a:t>和平台优化规则。</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除了最终性能，我还统计了从需求提交到最终交付的开发时间。目前 </a:t>
            </a:r>
            <a:r>
              <a:rPr lang="en-US" altLang="zh-CN" dirty="0" smtClean="0"/>
              <a:t>CUDA C </a:t>
            </a:r>
            <a:r>
              <a:rPr lang="zh-CN" altLang="en-US" dirty="0" smtClean="0"/>
              <a:t>平均约 </a:t>
            </a:r>
            <a:r>
              <a:rPr lang="en-US" altLang="zh-CN" dirty="0" smtClean="0"/>
              <a:t>1 </a:t>
            </a:r>
            <a:r>
              <a:rPr lang="zh-CN" altLang="en-US" dirty="0" smtClean="0"/>
              <a:t>小时 </a:t>
            </a:r>
            <a:r>
              <a:rPr lang="en-US" altLang="zh-CN" dirty="0" smtClean="0"/>
              <a:t>29 </a:t>
            </a:r>
            <a:r>
              <a:rPr lang="zh-CN" altLang="en-US" dirty="0" smtClean="0"/>
              <a:t>分，开发时间最短；</a:t>
            </a:r>
            <a:r>
              <a:rPr lang="en-US" altLang="zh-CN" dirty="0" smtClean="0"/>
              <a:t>GPU Triton </a:t>
            </a:r>
            <a:r>
              <a:rPr lang="zh-CN" altLang="en-US" dirty="0" smtClean="0"/>
              <a:t>大约 </a:t>
            </a:r>
            <a:r>
              <a:rPr lang="en-US" altLang="zh-CN" dirty="0" smtClean="0"/>
              <a:t>2 </a:t>
            </a:r>
            <a:r>
              <a:rPr lang="zh-CN" altLang="en-US" dirty="0" smtClean="0"/>
              <a:t>小时 </a:t>
            </a:r>
            <a:r>
              <a:rPr lang="en-US" altLang="zh-CN" dirty="0" smtClean="0"/>
              <a:t>20 </a:t>
            </a:r>
            <a:r>
              <a:rPr lang="zh-CN" altLang="en-US" dirty="0" smtClean="0"/>
              <a:t>分；</a:t>
            </a:r>
            <a:r>
              <a:rPr lang="en-US" altLang="zh-CN" dirty="0" smtClean="0"/>
              <a:t>MLU Triton </a:t>
            </a:r>
            <a:r>
              <a:rPr lang="zh-CN" altLang="en-US" dirty="0" smtClean="0"/>
              <a:t>大约 </a:t>
            </a:r>
            <a:r>
              <a:rPr lang="en-US" altLang="zh-CN" dirty="0" smtClean="0"/>
              <a:t>2 </a:t>
            </a:r>
            <a:r>
              <a:rPr lang="zh-CN" altLang="en-US" dirty="0" smtClean="0"/>
              <a:t>小时 </a:t>
            </a:r>
            <a:r>
              <a:rPr lang="en-US" altLang="zh-CN" dirty="0" smtClean="0"/>
              <a:t>49 </a:t>
            </a:r>
            <a:r>
              <a:rPr lang="zh-CN" altLang="en-US" dirty="0" smtClean="0"/>
              <a:t>分；</a:t>
            </a:r>
            <a:r>
              <a:rPr lang="en-US" altLang="zh-CN" dirty="0" smtClean="0"/>
              <a:t>BANG C </a:t>
            </a:r>
            <a:r>
              <a:rPr lang="zh-CN" altLang="en-US" dirty="0" smtClean="0"/>
              <a:t>平均约 </a:t>
            </a:r>
            <a:r>
              <a:rPr lang="en-US" altLang="zh-CN" dirty="0" smtClean="0"/>
              <a:t>8 </a:t>
            </a:r>
            <a:r>
              <a:rPr lang="zh-CN" altLang="en-US" dirty="0" smtClean="0"/>
              <a:t>小时，耗时最长。但这里需要注意，开发快并不代表最终性能一定好，但是开发效率在实际开发中也十分重要。我个人认为目前 </a:t>
            </a:r>
            <a:r>
              <a:rPr lang="en-US" altLang="zh-CN" dirty="0" smtClean="0"/>
              <a:t>MLU Triton</a:t>
            </a:r>
            <a:r>
              <a:rPr lang="zh-CN" altLang="en-US" dirty="0" smtClean="0"/>
              <a:t>、</a:t>
            </a:r>
            <a:r>
              <a:rPr lang="en-US" altLang="zh-CN" dirty="0" smtClean="0"/>
              <a:t>CUDA C </a:t>
            </a:r>
            <a:r>
              <a:rPr lang="zh-CN" altLang="en-US" dirty="0" smtClean="0"/>
              <a:t>和 </a:t>
            </a:r>
            <a:r>
              <a:rPr lang="en-US" altLang="zh-CN" dirty="0" smtClean="0"/>
              <a:t>GPU Triton </a:t>
            </a:r>
            <a:r>
              <a:rPr lang="zh-CN" altLang="en-US" dirty="0" smtClean="0"/>
              <a:t>的开发效率已经比较可用，但仍然需要更多算子验证；</a:t>
            </a:r>
            <a:r>
              <a:rPr lang="en-US" altLang="zh-CN" dirty="0" smtClean="0"/>
              <a:t>BANG C </a:t>
            </a:r>
            <a:r>
              <a:rPr lang="zh-CN" altLang="en-US" dirty="0" smtClean="0"/>
              <a:t>当前主要需要继续补平台知识和优化经验。</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lang="en-US" altLang="zh-CN" sz="1200" b="0" dirty="0" err="1" smtClean="0">
                <a:solidFill>
                  <a:srgbClr val="252B33"/>
                </a:solidFill>
                <a:latin typeface="微软雅黑" panose="020B0503020204020204" charset="-122"/>
                <a:ea typeface="微软雅黑" panose="020B0503020204020204" charset="-122"/>
                <a:cs typeface="微软雅黑" panose="020B0503020204020204" charset="-122"/>
              </a:rPr>
              <a:t>softmax</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 / </a:t>
            </a:r>
            <a:r>
              <a:rPr lang="en-US" altLang="zh-CN" sz="1200" b="0" dirty="0" err="1" smtClean="0">
                <a:solidFill>
                  <a:srgbClr val="252B33"/>
                </a:solidFill>
                <a:latin typeface="微软雅黑" panose="020B0503020204020204" charset="-122"/>
                <a:ea typeface="微软雅黑" panose="020B0503020204020204" charset="-122"/>
                <a:cs typeface="微软雅黑" panose="020B0503020204020204" charset="-122"/>
              </a:rPr>
              <a:t>layernorm</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最终都受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DRAM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带宽限制。</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CUDA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具备更高的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occupancy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与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SM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利用率；</a:t>
            </a:r>
          </a:p>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Triton </a:t>
            </a:r>
            <a:r>
              <a:rPr lang="en-US" altLang="zh-CN" sz="1200" b="0" dirty="0" err="1" smtClean="0">
                <a:solidFill>
                  <a:srgbClr val="252B33"/>
                </a:solidFill>
                <a:latin typeface="微软雅黑" panose="020B0503020204020204" charset="-122"/>
                <a:ea typeface="微软雅黑" panose="020B0503020204020204" charset="-122"/>
                <a:cs typeface="微软雅黑" panose="020B0503020204020204" charset="-122"/>
              </a:rPr>
              <a:t>softmax</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虽受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108 </a:t>
            </a:r>
            <a:r>
              <a:rPr lang="en-US" altLang="zh-CN" sz="1200" b="0" dirty="0" err="1" smtClean="0">
                <a:solidFill>
                  <a:srgbClr val="252B33"/>
                </a:solidFill>
                <a:latin typeface="微软雅黑" panose="020B0503020204020204" charset="-122"/>
                <a:ea typeface="微软雅黑" panose="020B0503020204020204" charset="-122"/>
                <a:cs typeface="微软雅黑" panose="020B0503020204020204" charset="-122"/>
              </a:rPr>
              <a:t>regs</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/thread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限制，仍凭借合并访存将带宽打满。</a:t>
            </a:r>
            <a:endPar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Triton </a:t>
            </a:r>
            <a:r>
              <a:rPr lang="en-US" altLang="zh-CN" sz="1200" b="0" dirty="0" err="1" smtClean="0">
                <a:solidFill>
                  <a:srgbClr val="252B33"/>
                </a:solidFill>
                <a:latin typeface="微软雅黑" panose="020B0503020204020204" charset="-122"/>
                <a:ea typeface="微软雅黑" panose="020B0503020204020204" charset="-122"/>
                <a:cs typeface="微软雅黑" panose="020B0503020204020204" charset="-122"/>
              </a:rPr>
              <a:t>matmul</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出现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255 </a:t>
            </a:r>
            <a:r>
              <a:rPr lang="en-US" altLang="zh-CN" sz="1200" b="0" dirty="0" err="1" smtClean="0">
                <a:solidFill>
                  <a:srgbClr val="252B33"/>
                </a:solidFill>
                <a:latin typeface="微软雅黑" panose="020B0503020204020204" charset="-122"/>
                <a:ea typeface="微软雅黑" panose="020B0503020204020204" charset="-122"/>
                <a:cs typeface="微软雅黑" panose="020B0503020204020204" charset="-122"/>
              </a:rPr>
              <a:t>regs</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/thread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与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116 spills</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occupancy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降至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~16.67%</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，属于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latency-bound</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a:t>
            </a:r>
          </a:p>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CUDA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通过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WMMA / Tensor Core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改变瓶颈，但仍需继续优化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tiling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与数据复用。</a:t>
            </a:r>
            <a:endPar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CUDA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更积极使用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SMEM</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a:t>
            </a:r>
            <a:r>
              <a:rPr lang="en-US" altLang="zh-CN" sz="1200" b="0" dirty="0" err="1" smtClean="0">
                <a:solidFill>
                  <a:srgbClr val="252B33"/>
                </a:solidFill>
                <a:latin typeface="微软雅黑" panose="020B0503020204020204" charset="-122"/>
                <a:ea typeface="微软雅黑" panose="020B0503020204020204" charset="-122"/>
                <a:cs typeface="微软雅黑" panose="020B0503020204020204" charset="-122"/>
              </a:rPr>
              <a:t>softmax</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 使用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32 KB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动态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SMEM</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a:t>
            </a:r>
            <a:r>
              <a:rPr lang="en-US" altLang="zh-CN" sz="1200" b="0" dirty="0" err="1" smtClean="0">
                <a:solidFill>
                  <a:srgbClr val="252B33"/>
                </a:solidFill>
                <a:latin typeface="微软雅黑" panose="020B0503020204020204" charset="-122"/>
                <a:ea typeface="微软雅黑" panose="020B0503020204020204" charset="-122"/>
                <a:cs typeface="微软雅黑" panose="020B0503020204020204" charset="-122"/>
              </a:rPr>
              <a:t>matmul</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 使用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24 KB</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a:t>
            </a:r>
          </a:p>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体现了手写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CUDA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对片上资源的精细控制优势。</a:t>
            </a:r>
          </a:p>
          <a:p>
            <a:pPr marL="0" marR="0" lvl="0" indent="0" algn="l" defTabSz="914400" rtl="0" eaLnBrk="1" fontAlgn="auto" latinLnBrk="0" hangingPunct="1">
              <a:lnSpc>
                <a:spcPct val="96000"/>
              </a:lnSpc>
              <a:spcBef>
                <a:spcPts val="0"/>
              </a:spcBef>
              <a:spcAft>
                <a:spcPts val="0"/>
              </a:spcAft>
              <a:buClrTx/>
              <a:buSzTx/>
              <a:buFontTx/>
              <a:buNone/>
              <a:tabLst/>
              <a:defRPr sz="840" b="0">
                <a:solidFill>
                  <a:srgbClr val="252B33"/>
                </a:solidFill>
                <a:latin typeface="微软雅黑" panose="020B0503020204020204" charset="-122"/>
                <a:ea typeface="微软雅黑" panose="020B0503020204020204" charset="-122"/>
                <a:cs typeface="微软雅黑" panose="020B0503020204020204" charset="-122"/>
              </a:defRPr>
            </a:pP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仅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Triton </a:t>
            </a:r>
            <a:r>
              <a:rPr lang="en-US" altLang="zh-CN" sz="1200" b="0" dirty="0" err="1" smtClean="0">
                <a:solidFill>
                  <a:srgbClr val="252B33"/>
                </a:solidFill>
                <a:latin typeface="微软雅黑" panose="020B0503020204020204" charset="-122"/>
                <a:ea typeface="微软雅黑" panose="020B0503020204020204" charset="-122"/>
                <a:cs typeface="微软雅黑" panose="020B0503020204020204" charset="-122"/>
              </a:rPr>
              <a:t>matmul</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 </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出现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116 spills</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，会增加 </a:t>
            </a:r>
            <a:r>
              <a:rPr lang="en-US" altLang="zh-CN" sz="1200" b="0" dirty="0" smtClean="0">
                <a:solidFill>
                  <a:srgbClr val="252B33"/>
                </a:solidFill>
                <a:latin typeface="微软雅黑" panose="020B0503020204020204" charset="-122"/>
                <a:ea typeface="微软雅黑" panose="020B0503020204020204" charset="-122"/>
                <a:cs typeface="微软雅黑" panose="020B0503020204020204" charset="-122"/>
              </a:rPr>
              <a:t>local memory traffic</a:t>
            </a:r>
            <a:r>
              <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rPr>
              <a:t>，是最直接的优化点。</a:t>
            </a:r>
          </a:p>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endPar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endParaRPr lang="zh-CN" altLang="en-US" sz="1200" b="0" dirty="0" smtClean="0">
              <a:solidFill>
                <a:srgbClr val="252B33"/>
              </a:solidFill>
              <a:latin typeface="微软雅黑" panose="020B0503020204020204" charset="-122"/>
              <a:ea typeface="微软雅黑" panose="020B0503020204020204" charset="-122"/>
              <a:cs typeface="微软雅黑" panose="020B0503020204020204" charset="-122"/>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下面是未来计划</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0"/>
            <a:ext cx="2844800" cy="365125"/>
          </a:xfrm>
        </p:spPr>
        <p:txBody>
          <a:bodyPr/>
          <a:lstStyle/>
          <a:p>
            <a:pPr fontAlgn="auto">
              <a:defRPr/>
            </a:pPr>
            <a:fld id="{BF415795-042F-4949-9313-AD09E35C5059}" type="datetime1">
              <a:rPr lang="zh-CN" altLang="en-US" strike="noStrike" noProof="1">
                <a:latin typeface="+mn-lt"/>
                <a:ea typeface="+mn-ea"/>
                <a:cs typeface="+mn-cs"/>
              </a:rPr>
              <a:t>2026/8/27</a:t>
            </a:fld>
            <a:endParaRPr lang="zh-CN" altLang="en-US" strike="noStrike" noProof="1"/>
          </a:p>
        </p:txBody>
      </p:sp>
      <p:sp>
        <p:nvSpPr>
          <p:cNvPr id="3" name="页脚占位符 2"/>
          <p:cNvSpPr>
            <a:spLocks noGrp="1"/>
          </p:cNvSpPr>
          <p:nvPr>
            <p:ph type="ftr" sz="quarter" idx="11"/>
          </p:nvPr>
        </p:nvSpPr>
        <p:spPr>
          <a:xfrm>
            <a:off x="4165600" y="6356350"/>
            <a:ext cx="3860800" cy="365125"/>
          </a:xfrm>
        </p:spPr>
        <p:txBody>
          <a:bodyPr/>
          <a:lstStyle/>
          <a:p>
            <a:pPr fontAlgn="auto">
              <a:defRPr/>
            </a:pPr>
            <a:endParaRPr lang="en-US" altLang="zh-CN" strike="noStrike" noProof="1"/>
          </a:p>
        </p:txBody>
      </p:sp>
      <p:sp>
        <p:nvSpPr>
          <p:cNvPr id="4" name="灯片编号占位符 3"/>
          <p:cNvSpPr>
            <a:spLocks noGrp="1"/>
          </p:cNvSpPr>
          <p:nvPr>
            <p:ph type="sldNum" sz="quarter" idx="12"/>
          </p:nvPr>
        </p:nvSpPr>
        <p:spPr>
          <a:xfrm>
            <a:off x="8737600" y="6356350"/>
            <a:ext cx="2844800" cy="365125"/>
          </a:xfrm>
        </p:spPr>
        <p:txBody>
          <a:bodyPr/>
          <a:lstStyle/>
          <a:p>
            <a:pPr fontAlgn="auto">
              <a:defRPr/>
            </a:pPr>
            <a:fld id="{E6EDE1DC-439A-425E-8995-2DD3A7B9393D}" type="slidenum">
              <a:rPr lang="zh-CN" altLang="en-US" strike="noStrike" noProof="1">
                <a:latin typeface="Times New Roman" panose="02020603050405020304" pitchFamily="18" charset="0"/>
                <a:ea typeface="楷体_GB2312" pitchFamily="1" charset="-122"/>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ver-title"/>
          <p:cNvSpPr>
            <a:spLocks noGrp="1"/>
          </p:cNvSpPr>
          <p:nvPr/>
        </p:nvSpPr>
        <p:spPr>
          <a:xfrm>
            <a:off x="3408680" y="1701165"/>
            <a:ext cx="7048500" cy="876300"/>
          </a:xfrm>
          <a:prstGeom prst="rect">
            <a:avLst/>
          </a:prstGeom>
          <a:noFill/>
          <a:ln w="0">
            <a:noFill/>
            <a:prstDash val="solid"/>
          </a:ln>
        </p:spPr>
        <p:txBody>
          <a:bodyPr wrap="square" lIns="0" tIns="0" rIns="0" bIns="0" anchor="ctr">
            <a:normAutofit/>
          </a:bodyPr>
          <a:lstStyle/>
          <a:p>
            <a:pPr algn="l">
              <a:defRPr sz="3450" b="1">
                <a:solidFill>
                  <a:srgbClr val="072A67"/>
                </a:solidFill>
                <a:latin typeface="微软雅黑" panose="020B0503020204020204" charset="-122"/>
                <a:ea typeface="微软雅黑" panose="020B0503020204020204" charset="-122"/>
                <a:cs typeface="微软雅黑" panose="020B0503020204020204" charset="-122"/>
              </a:defRPr>
            </a:pPr>
            <a:r>
              <a:rPr sz="3450" b="1">
                <a:solidFill>
                  <a:srgbClr val="072A67"/>
                </a:solidFill>
                <a:latin typeface="微软雅黑" panose="020B0503020204020204" charset="-122"/>
                <a:ea typeface="微软雅黑" panose="020B0503020204020204" charset="-122"/>
                <a:cs typeface="微软雅黑" panose="020B0503020204020204" charset="-122"/>
              </a:rPr>
              <a:t>Skill 使用、开发和经验分享</a:t>
            </a:r>
          </a:p>
        </p:txBody>
      </p:sp>
      <p:sp>
        <p:nvSpPr>
          <p:cNvPr id="4" name="cover-subtitle"/>
          <p:cNvSpPr>
            <a:spLocks noGrp="1"/>
          </p:cNvSpPr>
          <p:nvPr/>
        </p:nvSpPr>
        <p:spPr>
          <a:xfrm>
            <a:off x="4295775" y="2708910"/>
            <a:ext cx="6858000" cy="419100"/>
          </a:xfrm>
          <a:prstGeom prst="rect">
            <a:avLst/>
          </a:prstGeom>
          <a:noFill/>
          <a:ln w="0">
            <a:noFill/>
            <a:prstDash val="solid"/>
          </a:ln>
        </p:spPr>
        <p:txBody>
          <a:bodyPr wrap="square" lIns="0" tIns="0" rIns="0" bIns="0" anchor="ctr">
            <a:normAutofit/>
          </a:bodyPr>
          <a:lstStyle/>
          <a:p>
            <a:pPr algn="l">
              <a:defRPr sz="1650" b="0">
                <a:solidFill>
                  <a:srgbClr val="56627A"/>
                </a:solidFill>
                <a:latin typeface="微软雅黑" panose="020B0503020204020204" charset="-122"/>
                <a:ea typeface="微软雅黑" panose="020B0503020204020204" charset="-122"/>
                <a:cs typeface="微软雅黑" panose="020B0503020204020204" charset="-122"/>
              </a:defRPr>
            </a:pPr>
            <a:r>
              <a:rPr sz="1650" b="0">
                <a:solidFill>
                  <a:srgbClr val="56627A"/>
                </a:solidFill>
                <a:latin typeface="微软雅黑" panose="020B0503020204020204" charset="-122"/>
                <a:ea typeface="微软雅黑" panose="020B0503020204020204" charset="-122"/>
                <a:cs typeface="微软雅黑" panose="020B0503020204020204" charset="-122"/>
              </a:rPr>
              <a:t>从 Agent Skill 基础到跨平台算子开发</a:t>
            </a:r>
            <a:r>
              <a:rPr lang="zh-CN" sz="1650" b="0">
                <a:solidFill>
                  <a:srgbClr val="56627A"/>
                </a:solidFill>
                <a:latin typeface="微软雅黑" panose="020B0503020204020204" charset="-122"/>
                <a:ea typeface="微软雅黑" panose="020B0503020204020204" charset="-122"/>
                <a:cs typeface="微软雅黑" panose="020B0503020204020204" charset="-122"/>
              </a:rPr>
              <a:t>指南</a:t>
            </a:r>
          </a:p>
        </p:txBody>
      </p:sp>
      <p:sp>
        <p:nvSpPr>
          <p:cNvPr id="14" name="cover-bottom-rule"/>
          <p:cNvSpPr>
            <a:spLocks noGrp="1"/>
          </p:cNvSpPr>
          <p:nvPr/>
        </p:nvSpPr>
        <p:spPr>
          <a:xfrm>
            <a:off x="723900" y="5905500"/>
            <a:ext cx="10363200" cy="14288"/>
          </a:xfrm>
          <a:prstGeom prst="rect">
            <a:avLst/>
          </a:prstGeom>
          <a:solidFill>
            <a:srgbClr val="C8D9F3"/>
          </a:solidFill>
          <a:ln w="0">
            <a:noFill/>
            <a:prstDash val="solid"/>
          </a:ln>
        </p:spPr>
      </p:sp>
      <p:sp>
        <p:nvSpPr>
          <p:cNvPr id="15" name="cover-meta-left"/>
          <p:cNvSpPr>
            <a:spLocks noGrp="1"/>
          </p:cNvSpPr>
          <p:nvPr/>
        </p:nvSpPr>
        <p:spPr>
          <a:xfrm>
            <a:off x="723900" y="6105525"/>
            <a:ext cx="5143500" cy="266700"/>
          </a:xfrm>
          <a:prstGeom prst="rect">
            <a:avLst/>
          </a:prstGeom>
          <a:noFill/>
          <a:ln w="0">
            <a:noFill/>
            <a:prstDash val="solid"/>
          </a:ln>
        </p:spPr>
        <p:txBody>
          <a:bodyPr wrap="square" lIns="0" tIns="0" rIns="0" bIns="0" anchor="ctr">
            <a:normAutofit/>
          </a:bodyPr>
          <a:lstStyle/>
          <a:p>
            <a:pPr algn="l">
              <a:defRPr sz="975" b="1">
                <a:solidFill>
                  <a:srgbClr val="072A67"/>
                </a:solidFill>
                <a:latin typeface="微软雅黑" panose="020B0503020204020204" charset="-122"/>
                <a:ea typeface="微软雅黑" panose="020B0503020204020204" charset="-122"/>
                <a:cs typeface="微软雅黑" panose="020B0503020204020204" charset="-122"/>
              </a:defRPr>
            </a:pPr>
            <a:r>
              <a:rPr lang="en-US" sz="1400" b="1">
                <a:solidFill>
                  <a:srgbClr val="072A67"/>
                </a:solidFill>
                <a:latin typeface="微软雅黑" panose="020B0503020204020204" charset="-122"/>
                <a:ea typeface="微软雅黑" panose="020B0503020204020204" charset="-122"/>
                <a:cs typeface="微软雅黑" panose="020B0503020204020204" charset="-122"/>
              </a:rPr>
              <a:t>2026</a:t>
            </a:r>
            <a:r>
              <a:rPr sz="1400" b="1">
                <a:solidFill>
                  <a:srgbClr val="072A67"/>
                </a:solidFill>
                <a:latin typeface="微软雅黑" panose="020B0503020204020204" charset="-122"/>
                <a:ea typeface="微软雅黑" panose="020B0503020204020204" charset="-122"/>
                <a:cs typeface="微软雅黑" panose="020B0503020204020204" charset="-122"/>
              </a:rPr>
              <a:t>  ·  </a:t>
            </a:r>
            <a:r>
              <a:rPr lang="en-US" sz="1400" b="1">
                <a:solidFill>
                  <a:srgbClr val="072A67"/>
                </a:solidFill>
                <a:latin typeface="微软雅黑" panose="020B0503020204020204" charset="-122"/>
                <a:ea typeface="微软雅黑" panose="020B0503020204020204" charset="-122"/>
                <a:cs typeface="微软雅黑" panose="020B0503020204020204" charset="-122"/>
              </a:rPr>
              <a:t>08</a:t>
            </a:r>
            <a:r>
              <a:rPr sz="1400" b="1">
                <a:solidFill>
                  <a:srgbClr val="072A67"/>
                </a:solidFill>
                <a:latin typeface="微软雅黑" panose="020B0503020204020204" charset="-122"/>
                <a:ea typeface="微软雅黑" panose="020B0503020204020204" charset="-122"/>
                <a:cs typeface="微软雅黑" panose="020B0503020204020204" charset="-122"/>
              </a:rPr>
              <a:t> ·  </a:t>
            </a:r>
            <a:r>
              <a:rPr lang="en-US" sz="1400" b="1">
                <a:solidFill>
                  <a:srgbClr val="072A67"/>
                </a:solidFill>
                <a:latin typeface="微软雅黑" panose="020B0503020204020204" charset="-122"/>
                <a:ea typeface="微软雅黑" panose="020B0503020204020204" charset="-122"/>
                <a:cs typeface="微软雅黑" panose="020B0503020204020204" charset="-122"/>
              </a:rPr>
              <a:t>19</a:t>
            </a:r>
          </a:p>
        </p:txBody>
      </p:sp>
      <p:sp>
        <p:nvSpPr>
          <p:cNvPr id="16" name="cover-meta-right"/>
          <p:cNvSpPr>
            <a:spLocks noGrp="1"/>
          </p:cNvSpPr>
          <p:nvPr/>
        </p:nvSpPr>
        <p:spPr>
          <a:xfrm>
            <a:off x="6629400" y="6105525"/>
            <a:ext cx="4457700" cy="266700"/>
          </a:xfrm>
          <a:prstGeom prst="rect">
            <a:avLst/>
          </a:prstGeom>
          <a:noFill/>
          <a:ln w="0">
            <a:noFill/>
            <a:prstDash val="solid"/>
          </a:ln>
        </p:spPr>
        <p:txBody>
          <a:bodyPr wrap="square" lIns="0" tIns="0" rIns="0" bIns="0" anchor="ctr">
            <a:normAutofit/>
          </a:bodyPr>
          <a:lstStyle/>
          <a:p>
            <a:pPr algn="r">
              <a:defRPr sz="940" b="0">
                <a:solidFill>
                  <a:srgbClr val="56627A"/>
                </a:solidFill>
                <a:latin typeface="微软雅黑" panose="020B0503020204020204" charset="-122"/>
                <a:ea typeface="微软雅黑" panose="020B0503020204020204" charset="-122"/>
                <a:cs typeface="微软雅黑" panose="020B0503020204020204" charset="-122"/>
              </a:defRPr>
            </a:pPr>
            <a:r>
              <a:rPr sz="1400" b="1">
                <a:solidFill>
                  <a:srgbClr val="56627A"/>
                </a:solidFill>
                <a:latin typeface="微软雅黑" panose="020B0503020204020204" charset="-122"/>
                <a:ea typeface="微软雅黑" panose="020B0503020204020204" charset="-122"/>
                <a:cs typeface="微软雅黑" panose="020B0503020204020204" charset="-122"/>
              </a:rPr>
              <a:t>汇报人：</a:t>
            </a:r>
            <a:r>
              <a:rPr lang="zh-CN" sz="1400" b="1">
                <a:solidFill>
                  <a:srgbClr val="56627A"/>
                </a:solidFill>
                <a:latin typeface="微软雅黑" panose="020B0503020204020204" charset="-122"/>
                <a:ea typeface="微软雅黑" panose="020B0503020204020204" charset="-122"/>
                <a:cs typeface="微软雅黑" panose="020B0503020204020204" charset="-122"/>
              </a:rPr>
              <a:t>霍子昂</a:t>
            </a:r>
            <a:r>
              <a:rPr sz="1400" b="1">
                <a:solidFill>
                  <a:srgbClr val="56627A"/>
                </a:solidFill>
                <a:latin typeface="微软雅黑" panose="020B0503020204020204" charset="-122"/>
                <a:ea typeface="微软雅黑" panose="020B0503020204020204" charset="-122"/>
                <a:cs typeface="微软雅黑" panose="020B0503020204020204" charset="-122"/>
              </a:rPr>
              <a:t>   _</a:t>
            </a:r>
          </a:p>
        </p:txBody>
      </p:sp>
      <p:sp>
        <p:nvSpPr>
          <p:cNvPr id="17" name="cover-bottom-accent"/>
          <p:cNvSpPr>
            <a:spLocks noGrp="1"/>
          </p:cNvSpPr>
          <p:nvPr/>
        </p:nvSpPr>
        <p:spPr>
          <a:xfrm>
            <a:off x="0" y="6743700"/>
            <a:ext cx="12192000" cy="114300"/>
          </a:xfrm>
          <a:prstGeom prst="rect">
            <a:avLst/>
          </a:prstGeom>
          <a:solidFill>
            <a:srgbClr val="072A67"/>
          </a:solidFill>
          <a:ln w="0">
            <a:noFill/>
            <a:prstDash val="solid"/>
          </a:ln>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微软雅黑" panose="020B050302020402020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EEF2F5"/>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5B7188"/>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微软雅黑" panose="020B050302020402020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b="1">
                <a:solidFill>
                  <a:srgbClr val="243B53"/>
                </a:solidFill>
                <a:latin typeface="Arial" panose="020B0604020202020204" pitchFamily="34" charset="0"/>
                <a:ea typeface="微软雅黑" panose="020B0503020204020204" charset="-122"/>
                <a:cs typeface="微软雅黑" panose="020B0503020204020204" charset="-122"/>
              </a:rPr>
              <a:t>Agent/</a:t>
            </a:r>
            <a:r>
              <a:rPr sz="1600" b="1">
                <a:solidFill>
                  <a:srgbClr val="243B53"/>
                </a:solidFill>
                <a:latin typeface="Arial" panose="020B0604020202020204" pitchFamily="34" charset="0"/>
                <a:ea typeface="微软雅黑" panose="020B050302020402020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微软雅黑" panose="020B0503020204020204" charset="-122"/>
                <a:cs typeface="微软雅黑" panose="020B0503020204020204" charset="-122"/>
              </a:rPr>
              <a:t>寒武纪</a:t>
            </a:r>
            <a:r>
              <a:rPr sz="1600">
                <a:solidFill>
                  <a:srgbClr val="2F3A45"/>
                </a:solidFill>
                <a:latin typeface="Arial" panose="020B0604020202020204" pitchFamily="34" charset="0"/>
                <a:ea typeface="微软雅黑" panose="020B050302020402020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dirty="0" err="1" smtClean="0">
                <a:solidFill>
                  <a:srgbClr val="2F3A45"/>
                </a:solidFill>
                <a:latin typeface="Arial" panose="020B0604020202020204" pitchFamily="34" charset="0"/>
                <a:ea typeface="微软雅黑" panose="020B0503020204020204" charset="-122"/>
                <a:cs typeface="微软雅黑" panose="020B0503020204020204" charset="-122"/>
              </a:rPr>
              <a:t>未来</a:t>
            </a:r>
            <a:r>
              <a:rPr lang="zh-CN" altLang="en-US" sz="1600" dirty="0" smtClean="0">
                <a:solidFill>
                  <a:srgbClr val="2F3A45"/>
                </a:solidFill>
                <a:latin typeface="Arial" panose="020B0604020202020204" pitchFamily="34" charset="0"/>
                <a:ea typeface="微软雅黑" panose="020B0503020204020204" charset="-122"/>
                <a:cs typeface="微软雅黑" panose="020B0503020204020204" charset="-122"/>
              </a:rPr>
              <a:t>计划</a:t>
            </a:r>
            <a:endParaRPr sz="16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6191250" y="1257300"/>
            <a:ext cx="0" cy="4524375"/>
          </a:xfrm>
          <a:prstGeom prst="line">
            <a:avLst/>
          </a:prstGeom>
          <a:noFill/>
          <a:ln w="9525">
            <a:solidFill>
              <a:srgbClr val="E7EAED"/>
            </a:solidFill>
            <a:prstDash val="solid"/>
          </a:ln>
        </p:spPr>
      </p:sp>
      <p:sp>
        <p:nvSpPr>
          <p:cNvPr id="4" name="logic-header-rule"/>
          <p:cNvSpPr>
            <a:spLocks noGrp="1"/>
          </p:cNvSpPr>
          <p:nvPr/>
        </p:nvSpPr>
        <p:spPr>
          <a:xfrm>
            <a:off x="609600" y="1600200"/>
            <a:ext cx="5334000" cy="0"/>
          </a:xfrm>
          <a:prstGeom prst="line">
            <a:avLst/>
          </a:prstGeom>
          <a:noFill/>
          <a:ln w="9525">
            <a:solidFill>
              <a:srgbClr val="D5DBE0"/>
            </a:solidFill>
            <a:prstDash val="solid"/>
          </a:ln>
        </p:spPr>
      </p:sp>
      <p:sp>
        <p:nvSpPr>
          <p:cNvPr id="5" name="files-header-rule"/>
          <p:cNvSpPr>
            <a:spLocks noGrp="1"/>
          </p:cNvSpPr>
          <p:nvPr/>
        </p:nvSpPr>
        <p:spPr>
          <a:xfrm>
            <a:off x="6553200" y="1600200"/>
            <a:ext cx="5029200" cy="0"/>
          </a:xfrm>
          <a:prstGeom prst="line">
            <a:avLst/>
          </a:prstGeom>
          <a:noFill/>
          <a:ln w="9525">
            <a:solidFill>
              <a:srgbClr val="D5DBE0"/>
            </a:solidFill>
            <a:prstDash val="solid"/>
          </a:ln>
        </p:spPr>
      </p:sp>
      <p:sp>
        <p:nvSpPr>
          <p:cNvPr id="17" name="directory-panel"/>
          <p:cNvSpPr>
            <a:spLocks noGrp="1"/>
          </p:cNvSpPr>
          <p:nvPr/>
        </p:nvSpPr>
        <p:spPr>
          <a:xfrm>
            <a:off x="6553200" y="1733550"/>
            <a:ext cx="5029200" cy="4067175"/>
          </a:xfrm>
          <a:prstGeom prst="rect">
            <a:avLst/>
          </a:prstGeom>
          <a:solidFill>
            <a:srgbClr val="F8F9FA"/>
          </a:solidFill>
          <a:ln w="9525">
            <a:solidFill>
              <a:srgbClr val="E7EAED"/>
            </a:solidFill>
            <a:prstDash val="solid"/>
          </a:ln>
        </p:spPr>
      </p:sp>
      <p:sp>
        <p:nvSpPr>
          <p:cNvPr id="18" name="directory-accent"/>
          <p:cNvSpPr>
            <a:spLocks noGrp="1"/>
          </p:cNvSpPr>
          <p:nvPr/>
        </p:nvSpPr>
        <p:spPr>
          <a:xfrm>
            <a:off x="6553200" y="1733550"/>
            <a:ext cx="38100" cy="4067175"/>
          </a:xfrm>
          <a:prstGeom prst="rect">
            <a:avLst/>
          </a:prstGeom>
          <a:solidFill>
            <a:srgbClr val="557A96"/>
          </a:solidFill>
          <a:ln w="0">
            <a:noFill/>
            <a:prstDash val="solid"/>
          </a:ln>
        </p:spPr>
      </p:sp>
      <p:sp>
        <p:nvSpPr>
          <p:cNvPr id="19" name="summary-band"/>
          <p:cNvSpPr>
            <a:spLocks noGrp="1"/>
          </p:cNvSpPr>
          <p:nvPr/>
        </p:nvSpPr>
        <p:spPr>
          <a:xfrm>
            <a:off x="609600" y="6172200"/>
            <a:ext cx="10972800" cy="438150"/>
          </a:xfrm>
          <a:prstGeom prst="rect">
            <a:avLst/>
          </a:prstGeom>
          <a:solidFill>
            <a:srgbClr val="F3F4F5"/>
          </a:solidFill>
          <a:ln w="0">
            <a:noFill/>
            <a:prstDash val="solid"/>
          </a:ln>
        </p:spPr>
      </p:sp>
      <p:sp>
        <p:nvSpPr>
          <p:cNvPr id="20" name="summary-accent"/>
          <p:cNvSpPr>
            <a:spLocks noGrp="1"/>
          </p:cNvSpPr>
          <p:nvPr/>
        </p:nvSpPr>
        <p:spPr>
          <a:xfrm>
            <a:off x="609600" y="6172200"/>
            <a:ext cx="38100" cy="438150"/>
          </a:xfrm>
          <a:prstGeom prst="rect">
            <a:avLst/>
          </a:prstGeom>
          <a:solidFill>
            <a:srgbClr val="557A96"/>
          </a:solidFill>
          <a:ln w="0">
            <a:noFill/>
            <a:prstDash val="solid"/>
          </a:ln>
        </p:spPr>
      </p:sp>
      <p:sp>
        <p:nvSpPr>
          <p:cNvPr id="21" name="slide-title"/>
          <p:cNvSpPr>
            <a:spLocks noGrp="1"/>
          </p:cNvSpPr>
          <p:nvPr/>
        </p:nvSpPr>
        <p:spPr>
          <a:xfrm>
            <a:off x="-2543174" y="161925"/>
            <a:ext cx="10972800" cy="571500"/>
          </a:xfrm>
          <a:prstGeom prst="rect">
            <a:avLst/>
          </a:prstGeom>
          <a:noFill/>
          <a:ln w="0">
            <a:noFill/>
            <a:prstDash val="solid"/>
          </a:ln>
        </p:spPr>
        <p:txBody>
          <a:bodyPr wrap="none" lIns="0" tIns="0" rIns="0" bIns="0" anchor="ctr">
            <a:normAutofit/>
          </a:bodyPr>
          <a:lstStyle/>
          <a:p>
            <a:pPr algn="ctr">
              <a:buNone/>
              <a:defRPr sz="3600" b="1">
                <a:solidFill>
                  <a:srgbClr val="242A30"/>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一个</a:t>
            </a:r>
            <a:r>
              <a:rPr sz="2700" b="1" dirty="0">
                <a:solidFill>
                  <a:srgbClr val="243B53"/>
                </a:solidFill>
                <a:latin typeface="Arial" panose="020B0604020202020204" pitchFamily="34" charset="0"/>
                <a:ea typeface="微软雅黑" panose="020B0503020204020204" charset="-122"/>
                <a:cs typeface="微软雅黑" panose="020B0503020204020204" charset="-122"/>
              </a:rPr>
              <a:t> Skill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由什么组成</a:t>
            </a:r>
            <a:r>
              <a:rPr sz="2700" b="1" dirty="0">
                <a:solidFill>
                  <a:srgbClr val="243B53"/>
                </a:solidFill>
                <a:latin typeface="Arial" panose="020B0604020202020204" pitchFamily="34" charset="0"/>
                <a:ea typeface="微软雅黑" panose="020B0503020204020204" charset="-122"/>
                <a:cs typeface="微软雅黑" panose="020B0503020204020204" charset="-122"/>
              </a:rPr>
              <a:t>？</a:t>
            </a:r>
          </a:p>
        </p:txBody>
      </p:sp>
      <p:sp>
        <p:nvSpPr>
          <p:cNvPr id="22" name="logic-heading"/>
          <p:cNvSpPr>
            <a:spLocks noGrp="1"/>
          </p:cNvSpPr>
          <p:nvPr/>
        </p:nvSpPr>
        <p:spPr>
          <a:xfrm>
            <a:off x="609600" y="1190625"/>
            <a:ext cx="2381250" cy="361950"/>
          </a:xfrm>
          <a:prstGeom prst="rect">
            <a:avLst/>
          </a:prstGeom>
          <a:noFill/>
          <a:ln w="0">
            <a:noFill/>
            <a:prstDash val="solid"/>
          </a:ln>
        </p:spPr>
        <p:txBody>
          <a:bodyPr wrap="none" lIns="0" tIns="0" rIns="0" bIns="0" anchor="ctr">
            <a:normAutofit fontScale="98958" lnSpcReduction="10000"/>
          </a:bodyPr>
          <a:lstStyle/>
          <a:p>
            <a:pPr algn="l">
              <a:buNone/>
              <a:defRPr sz="2400" b="1">
                <a:solidFill>
                  <a:srgbClr val="242A30"/>
                </a:solidFill>
                <a:latin typeface="微软雅黑" panose="020B0503020204020204" charset="-122"/>
                <a:ea typeface="微软雅黑" panose="020B0503020204020204" charset="-122"/>
                <a:cs typeface="微软雅黑" panose="020B0503020204020204" charset="-122"/>
              </a:defRPr>
            </a:pPr>
            <a:r>
              <a:rPr sz="2400" b="1">
                <a:solidFill>
                  <a:srgbClr val="242A30"/>
                </a:solidFill>
                <a:latin typeface="微软雅黑" panose="020B0503020204020204" charset="-122"/>
                <a:ea typeface="微软雅黑" panose="020B0503020204020204" charset="-122"/>
                <a:cs typeface="微软雅黑" panose="020B0503020204020204" charset="-122"/>
              </a:rPr>
              <a:t>逻辑结构</a:t>
            </a:r>
          </a:p>
        </p:txBody>
      </p:sp>
      <p:sp>
        <p:nvSpPr>
          <p:cNvPr id="23" name="files-heading"/>
          <p:cNvSpPr>
            <a:spLocks noGrp="1"/>
          </p:cNvSpPr>
          <p:nvPr/>
        </p:nvSpPr>
        <p:spPr>
          <a:xfrm>
            <a:off x="6553200" y="1190625"/>
            <a:ext cx="2476500" cy="361950"/>
          </a:xfrm>
          <a:prstGeom prst="rect">
            <a:avLst/>
          </a:prstGeom>
          <a:noFill/>
          <a:ln w="0">
            <a:noFill/>
            <a:prstDash val="solid"/>
          </a:ln>
        </p:spPr>
        <p:txBody>
          <a:bodyPr wrap="none" lIns="0" tIns="0" rIns="0" bIns="0" anchor="ctr">
            <a:normAutofit fontScale="98958" lnSpcReduction="10000"/>
          </a:bodyPr>
          <a:lstStyle/>
          <a:p>
            <a:pPr algn="l">
              <a:buNone/>
              <a:defRPr sz="2400" b="1">
                <a:solidFill>
                  <a:srgbClr val="242A30"/>
                </a:solidFill>
                <a:latin typeface="微软雅黑" panose="020B0503020204020204" charset="-122"/>
                <a:ea typeface="微软雅黑" panose="020B0503020204020204" charset="-122"/>
                <a:cs typeface="微软雅黑" panose="020B0503020204020204" charset="-122"/>
              </a:defRPr>
            </a:pPr>
            <a:r>
              <a:rPr sz="2400" b="1" dirty="0" err="1" smtClean="0">
                <a:solidFill>
                  <a:srgbClr val="242A30"/>
                </a:solidFill>
                <a:latin typeface="微软雅黑" panose="020B0503020204020204" charset="-122"/>
                <a:ea typeface="微软雅黑" panose="020B0503020204020204" charset="-122"/>
                <a:cs typeface="微软雅黑" panose="020B0503020204020204" charset="-122"/>
              </a:rPr>
              <a:t>实际文件</a:t>
            </a:r>
            <a:r>
              <a:rPr lang="zh-CN" altLang="en-US" sz="2400" b="1" dirty="0">
                <a:solidFill>
                  <a:srgbClr val="242A30"/>
                </a:solidFill>
                <a:latin typeface="微软雅黑" panose="020B0503020204020204" charset="-122"/>
                <a:ea typeface="微软雅黑" panose="020B0503020204020204" charset="-122"/>
                <a:cs typeface="微软雅黑" panose="020B0503020204020204" charset="-122"/>
              </a:rPr>
              <a:t>夹</a:t>
            </a:r>
            <a:r>
              <a:rPr lang="zh-CN" altLang="en-US" sz="2400" b="1" dirty="0" smtClean="0">
                <a:solidFill>
                  <a:srgbClr val="242A30"/>
                </a:solidFill>
                <a:latin typeface="微软雅黑" panose="020B0503020204020204" charset="-122"/>
                <a:ea typeface="微软雅黑" panose="020B0503020204020204" charset="-122"/>
                <a:cs typeface="微软雅黑" panose="020B0503020204020204" charset="-122"/>
              </a:rPr>
              <a:t>例子</a:t>
            </a:r>
            <a:endParaRPr sz="2400"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40" name="tree-line-01"/>
          <p:cNvSpPr>
            <a:spLocks noGrp="1"/>
          </p:cNvSpPr>
          <p:nvPr/>
        </p:nvSpPr>
        <p:spPr>
          <a:xfrm>
            <a:off x="6800850" y="1838325"/>
            <a:ext cx="4552950" cy="228600"/>
          </a:xfrm>
          <a:prstGeom prst="rect">
            <a:avLst/>
          </a:prstGeom>
          <a:noFill/>
          <a:ln w="0">
            <a:noFill/>
            <a:prstDash val="solid"/>
          </a:ln>
        </p:spPr>
        <p:txBody>
          <a:bodyPr wrap="none" lIns="0" tIns="0" rIns="0" bIns="0" anchor="ctr">
            <a:normAutofit fontScale="92582" lnSpcReduction="10000"/>
          </a:bodyPr>
          <a:lstStyle/>
          <a:p>
            <a:pPr algn="l">
              <a:buNone/>
              <a:defRPr sz="1765" b="1">
                <a:solidFill>
                  <a:srgbClr val="242A30"/>
                </a:solidFill>
                <a:latin typeface="微软雅黑" panose="020B0503020204020204" charset="-122"/>
                <a:ea typeface="微软雅黑" panose="020B0503020204020204" charset="-122"/>
                <a:cs typeface="微软雅黑" panose="020B0503020204020204" charset="-122"/>
              </a:defRPr>
            </a:pPr>
            <a:r>
              <a:rPr lang="en-US" altLang="zh-CN" sz="1765" b="1" dirty="0" smtClean="0">
                <a:solidFill>
                  <a:srgbClr val="242A30"/>
                </a:solidFill>
                <a:latin typeface="微软雅黑" panose="020B0503020204020204" charset="-122"/>
                <a:ea typeface="微软雅黑" panose="020B0503020204020204" charset="-122"/>
                <a:cs typeface="微软雅黑" panose="020B0503020204020204" charset="-122"/>
              </a:rPr>
              <a:t>Skill-name</a:t>
            </a:r>
            <a:r>
              <a:rPr sz="1765" b="1" dirty="0" smtClean="0">
                <a:solidFill>
                  <a:srgbClr val="242A30"/>
                </a:solidFill>
                <a:latin typeface="微软雅黑" panose="020B0503020204020204" charset="-122"/>
                <a:ea typeface="微软雅黑" panose="020B0503020204020204" charset="-122"/>
                <a:cs typeface="微软雅黑" panose="020B0503020204020204" charset="-122"/>
              </a:rPr>
              <a:t>-*/</a:t>
            </a:r>
            <a:endParaRPr sz="1765"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41" name="tree-line-02"/>
          <p:cNvSpPr>
            <a:spLocks noGrp="1"/>
          </p:cNvSpPr>
          <p:nvPr/>
        </p:nvSpPr>
        <p:spPr>
          <a:xfrm>
            <a:off x="6800850" y="206121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557A96"/>
                </a:solidFill>
                <a:latin typeface="微软雅黑" panose="020B0503020204020204" charset="-122"/>
                <a:ea typeface="微软雅黑" panose="020B0503020204020204" charset="-122"/>
                <a:cs typeface="微软雅黑" panose="020B0503020204020204" charset="-122"/>
              </a:defRPr>
            </a:pPr>
            <a:r>
              <a:rPr sz="1615" b="1">
                <a:solidFill>
                  <a:srgbClr val="557A96"/>
                </a:solidFill>
                <a:latin typeface="微软雅黑" panose="020B0503020204020204" charset="-122"/>
                <a:ea typeface="微软雅黑" panose="020B0503020204020204" charset="-122"/>
                <a:cs typeface="微软雅黑" panose="020B0503020204020204" charset="-122"/>
              </a:rPr>
              <a:t>├── SKILL.md</a:t>
            </a:r>
          </a:p>
        </p:txBody>
      </p:sp>
      <p:sp>
        <p:nvSpPr>
          <p:cNvPr id="42" name="tree-line-03"/>
          <p:cNvSpPr>
            <a:spLocks noGrp="1"/>
          </p:cNvSpPr>
          <p:nvPr/>
        </p:nvSpPr>
        <p:spPr>
          <a:xfrm>
            <a:off x="6800850" y="2284095"/>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subagents/</a:t>
            </a:r>
          </a:p>
        </p:txBody>
      </p:sp>
      <p:sp>
        <p:nvSpPr>
          <p:cNvPr id="43" name="tree-line-04"/>
          <p:cNvSpPr>
            <a:spLocks noGrp="1"/>
          </p:cNvSpPr>
          <p:nvPr/>
        </p:nvSpPr>
        <p:spPr>
          <a:xfrm>
            <a:off x="6800850" y="250698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EnvConfig.md</a:t>
            </a:r>
          </a:p>
        </p:txBody>
      </p:sp>
      <p:sp>
        <p:nvSpPr>
          <p:cNvPr id="44" name="tree-line-05"/>
          <p:cNvSpPr>
            <a:spLocks noGrp="1"/>
          </p:cNvSpPr>
          <p:nvPr/>
        </p:nvSpPr>
        <p:spPr>
          <a:xfrm>
            <a:off x="6800850" y="272986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Extractor.md</a:t>
            </a:r>
          </a:p>
        </p:txBody>
      </p:sp>
      <p:sp>
        <p:nvSpPr>
          <p:cNvPr id="45" name="tree-line-06"/>
          <p:cNvSpPr>
            <a:spLocks noGrp="1"/>
          </p:cNvSpPr>
          <p:nvPr/>
        </p:nvSpPr>
        <p:spPr>
          <a:xfrm>
            <a:off x="6800850" y="295275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GenerateCode.md</a:t>
            </a:r>
          </a:p>
        </p:txBody>
      </p:sp>
      <p:sp>
        <p:nvSpPr>
          <p:cNvPr id="46" name="tree-line-07"/>
          <p:cNvSpPr>
            <a:spLocks noGrp="1"/>
          </p:cNvSpPr>
          <p:nvPr/>
        </p:nvSpPr>
        <p:spPr>
          <a:xfrm>
            <a:off x="6800850" y="317563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p>
        </p:txBody>
      </p:sp>
      <p:sp>
        <p:nvSpPr>
          <p:cNvPr id="47" name="tree-line-08"/>
          <p:cNvSpPr>
            <a:spLocks noGrp="1"/>
          </p:cNvSpPr>
          <p:nvPr/>
        </p:nvSpPr>
        <p:spPr>
          <a:xfrm>
            <a:off x="6800850" y="339852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scripts/</a:t>
            </a:r>
          </a:p>
        </p:txBody>
      </p:sp>
      <p:sp>
        <p:nvSpPr>
          <p:cNvPr id="48" name="tree-line-09"/>
          <p:cNvSpPr>
            <a:spLocks noGrp="1"/>
          </p:cNvSpPr>
          <p:nvPr/>
        </p:nvSpPr>
        <p:spPr>
          <a:xfrm>
            <a:off x="6800850" y="362140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get_device_info.py</a:t>
            </a:r>
          </a:p>
        </p:txBody>
      </p:sp>
      <p:sp>
        <p:nvSpPr>
          <p:cNvPr id="49" name="tree-line-10"/>
          <p:cNvSpPr>
            <a:spLocks noGrp="1"/>
          </p:cNvSpPr>
          <p:nvPr/>
        </p:nvSpPr>
        <p:spPr>
          <a:xfrm>
            <a:off x="6800850" y="384429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test_env_code.py</a:t>
            </a:r>
          </a:p>
        </p:txBody>
      </p:sp>
      <p:sp>
        <p:nvSpPr>
          <p:cNvPr id="50" name="tree-line-11"/>
          <p:cNvSpPr>
            <a:spLocks noGrp="1"/>
          </p:cNvSpPr>
          <p:nvPr/>
        </p:nvSpPr>
        <p:spPr>
          <a:xfrm>
            <a:off x="6800850" y="406717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p>
        </p:txBody>
      </p:sp>
      <p:sp>
        <p:nvSpPr>
          <p:cNvPr id="51" name="tree-line-12"/>
          <p:cNvSpPr>
            <a:spLocks noGrp="1"/>
          </p:cNvSpPr>
          <p:nvPr/>
        </p:nvSpPr>
        <p:spPr>
          <a:xfrm>
            <a:off x="6800850" y="429006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ref/</a:t>
            </a:r>
          </a:p>
        </p:txBody>
      </p:sp>
      <p:sp>
        <p:nvSpPr>
          <p:cNvPr id="52" name="tree-line-13"/>
          <p:cNvSpPr>
            <a:spLocks noGrp="1"/>
          </p:cNvSpPr>
          <p:nvPr/>
        </p:nvSpPr>
        <p:spPr>
          <a:xfrm>
            <a:off x="6800850" y="451294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mlu_supported_primitives.md</a:t>
            </a:r>
          </a:p>
        </p:txBody>
      </p:sp>
      <p:sp>
        <p:nvSpPr>
          <p:cNvPr id="53" name="tree-line-14"/>
          <p:cNvSpPr>
            <a:spLocks noGrp="1"/>
          </p:cNvSpPr>
          <p:nvPr/>
        </p:nvSpPr>
        <p:spPr>
          <a:xfrm>
            <a:off x="6800850" y="473583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examples/</a:t>
            </a:r>
          </a:p>
        </p:txBody>
      </p:sp>
      <p:sp>
        <p:nvSpPr>
          <p:cNvPr id="54" name="tree-line-15"/>
          <p:cNvSpPr>
            <a:spLocks noGrp="1"/>
          </p:cNvSpPr>
          <p:nvPr/>
        </p:nvSpPr>
        <p:spPr>
          <a:xfrm>
            <a:off x="6800850" y="495871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generate_code_reduce_sum.md</a:t>
            </a:r>
          </a:p>
        </p:txBody>
      </p:sp>
      <p:sp>
        <p:nvSpPr>
          <p:cNvPr id="55" name="tree-line-16"/>
          <p:cNvSpPr>
            <a:spLocks noGrp="1"/>
          </p:cNvSpPr>
          <p:nvPr/>
        </p:nvSpPr>
        <p:spPr>
          <a:xfrm>
            <a:off x="6800850" y="518160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generate_code_axis_fusion.md</a:t>
            </a:r>
          </a:p>
        </p:txBody>
      </p:sp>
      <p:sp>
        <p:nvSpPr>
          <p:cNvPr id="56" name="tree-line-17"/>
          <p:cNvSpPr>
            <a:spLocks noGrp="1"/>
          </p:cNvSpPr>
          <p:nvPr/>
        </p:nvSpPr>
        <p:spPr>
          <a:xfrm>
            <a:off x="6800850" y="540448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p>
        </p:txBody>
      </p:sp>
      <p:sp>
        <p:nvSpPr>
          <p:cNvPr id="57" name="summary-text"/>
          <p:cNvSpPr>
            <a:spLocks noGrp="1"/>
          </p:cNvSpPr>
          <p:nvPr/>
        </p:nvSpPr>
        <p:spPr>
          <a:xfrm>
            <a:off x="838200" y="6219825"/>
            <a:ext cx="10515600" cy="342900"/>
          </a:xfrm>
          <a:prstGeom prst="rect">
            <a:avLst/>
          </a:prstGeom>
          <a:noFill/>
          <a:ln w="0">
            <a:noFill/>
            <a:prstDash val="solid"/>
          </a:ln>
        </p:spPr>
        <p:txBody>
          <a:bodyPr wrap="none" lIns="0" tIns="0" rIns="0" bIns="0" anchor="ctr">
            <a:normAutofit/>
          </a:bodyPr>
          <a:lstStyle/>
          <a:p>
            <a:pPr algn="ctr">
              <a:buNone/>
              <a:defRPr sz="1615" b="1">
                <a:solidFill>
                  <a:srgbClr val="3E464E"/>
                </a:solidFill>
                <a:latin typeface="微软雅黑" panose="020B0503020204020204" charset="-122"/>
                <a:ea typeface="微软雅黑" panose="020B0503020204020204" charset="-122"/>
                <a:cs typeface="微软雅黑" panose="020B0503020204020204" charset="-122"/>
              </a:defRPr>
            </a:pPr>
            <a:r>
              <a:rPr sz="1615" b="1">
                <a:solidFill>
                  <a:srgbClr val="3E464E"/>
                </a:solidFill>
                <a:latin typeface="微软雅黑" panose="020B0503020204020204" charset="-122"/>
                <a:ea typeface="微软雅黑" panose="020B0503020204020204" charset="-122"/>
                <a:cs typeface="微软雅黑" panose="020B0503020204020204" charset="-122"/>
              </a:rPr>
              <a:t>Skill 以 SKILL.md 为核心，并根据任务需要组织 Subagent、Script、Reference、Example 等资源。</a:t>
            </a:r>
          </a:p>
        </p:txBody>
      </p:sp>
      <p:sp>
        <p:nvSpPr>
          <p:cNvPr id="59" name="diagram-root-link"/>
          <p:cNvSpPr>
            <a:spLocks noGrp="1"/>
          </p:cNvSpPr>
          <p:nvPr/>
        </p:nvSpPr>
        <p:spPr>
          <a:xfrm>
            <a:off x="1600200" y="3810000"/>
            <a:ext cx="276225" cy="0"/>
          </a:xfrm>
          <a:prstGeom prst="line">
            <a:avLst/>
          </a:prstGeom>
          <a:noFill/>
          <a:ln w="16193">
            <a:solidFill>
              <a:srgbClr val="557A96"/>
            </a:solidFill>
            <a:prstDash val="solid"/>
          </a:ln>
        </p:spPr>
      </p:sp>
      <p:sp>
        <p:nvSpPr>
          <p:cNvPr id="60" name="diagram-bus"/>
          <p:cNvSpPr>
            <a:spLocks noGrp="1"/>
          </p:cNvSpPr>
          <p:nvPr/>
        </p:nvSpPr>
        <p:spPr>
          <a:xfrm>
            <a:off x="1876425" y="2133600"/>
            <a:ext cx="0" cy="3238500"/>
          </a:xfrm>
          <a:prstGeom prst="line">
            <a:avLst/>
          </a:prstGeom>
          <a:noFill/>
          <a:ln w="16193">
            <a:solidFill>
              <a:srgbClr val="557A96"/>
            </a:solidFill>
            <a:prstDash val="solid"/>
          </a:ln>
        </p:spPr>
      </p:sp>
      <p:sp>
        <p:nvSpPr>
          <p:cNvPr id="61" name="diagram-branch-skill"/>
          <p:cNvSpPr>
            <a:spLocks noGrp="1"/>
          </p:cNvSpPr>
          <p:nvPr/>
        </p:nvSpPr>
        <p:spPr>
          <a:xfrm>
            <a:off x="1876425" y="2133600"/>
            <a:ext cx="352425" cy="0"/>
          </a:xfrm>
          <a:prstGeom prst="line">
            <a:avLst/>
          </a:prstGeom>
          <a:noFill/>
          <a:ln w="16193">
            <a:solidFill>
              <a:srgbClr val="557A96"/>
            </a:solidFill>
            <a:prstDash val="solid"/>
          </a:ln>
        </p:spPr>
      </p:sp>
      <p:sp>
        <p:nvSpPr>
          <p:cNvPr id="62" name="diagram-arrow-skill"/>
          <p:cNvSpPr>
            <a:spLocks noGrp="1"/>
          </p:cNvSpPr>
          <p:nvPr/>
        </p:nvSpPr>
        <p:spPr>
          <a:xfrm rot="5400000">
            <a:off x="2209800" y="2085975"/>
            <a:ext cx="85725" cy="95250"/>
          </a:xfrm>
          <a:prstGeom prst="triangle">
            <a:avLst/>
          </a:prstGeom>
          <a:solidFill>
            <a:srgbClr val="557A96"/>
          </a:solidFill>
          <a:ln w="4763">
            <a:solidFill>
              <a:srgbClr val="557A96"/>
            </a:solidFill>
            <a:prstDash val="solid"/>
          </a:ln>
        </p:spPr>
      </p:sp>
      <p:sp>
        <p:nvSpPr>
          <p:cNvPr id="63" name="diagram-branch-subagents"/>
          <p:cNvSpPr>
            <a:spLocks noGrp="1"/>
          </p:cNvSpPr>
          <p:nvPr/>
        </p:nvSpPr>
        <p:spPr>
          <a:xfrm>
            <a:off x="1876425" y="3571875"/>
            <a:ext cx="352425" cy="0"/>
          </a:xfrm>
          <a:prstGeom prst="line">
            <a:avLst/>
          </a:prstGeom>
          <a:noFill/>
          <a:ln w="16193">
            <a:solidFill>
              <a:srgbClr val="557A96"/>
            </a:solidFill>
            <a:prstDash val="solid"/>
          </a:ln>
        </p:spPr>
      </p:sp>
      <p:sp>
        <p:nvSpPr>
          <p:cNvPr id="64" name="diagram-arrow-subagents"/>
          <p:cNvSpPr>
            <a:spLocks noGrp="1"/>
          </p:cNvSpPr>
          <p:nvPr/>
        </p:nvSpPr>
        <p:spPr>
          <a:xfrm rot="5400000">
            <a:off x="2209800" y="3524250"/>
            <a:ext cx="85725" cy="95250"/>
          </a:xfrm>
          <a:prstGeom prst="triangle">
            <a:avLst/>
          </a:prstGeom>
          <a:solidFill>
            <a:srgbClr val="557A96"/>
          </a:solidFill>
          <a:ln w="4763">
            <a:solidFill>
              <a:srgbClr val="557A96"/>
            </a:solidFill>
            <a:prstDash val="solid"/>
          </a:ln>
        </p:spPr>
      </p:sp>
      <p:sp>
        <p:nvSpPr>
          <p:cNvPr id="65" name="diagram-branch-scripts"/>
          <p:cNvSpPr>
            <a:spLocks noGrp="1"/>
          </p:cNvSpPr>
          <p:nvPr/>
        </p:nvSpPr>
        <p:spPr>
          <a:xfrm>
            <a:off x="1876425" y="4171950"/>
            <a:ext cx="352425" cy="0"/>
          </a:xfrm>
          <a:prstGeom prst="line">
            <a:avLst/>
          </a:prstGeom>
          <a:noFill/>
          <a:ln w="16193">
            <a:solidFill>
              <a:srgbClr val="557A96"/>
            </a:solidFill>
            <a:prstDash val="solid"/>
          </a:ln>
        </p:spPr>
      </p:sp>
      <p:sp>
        <p:nvSpPr>
          <p:cNvPr id="66" name="diagram-arrow-scripts"/>
          <p:cNvSpPr>
            <a:spLocks noGrp="1"/>
          </p:cNvSpPr>
          <p:nvPr/>
        </p:nvSpPr>
        <p:spPr>
          <a:xfrm rot="5400000">
            <a:off x="2209800" y="4124325"/>
            <a:ext cx="85725" cy="95250"/>
          </a:xfrm>
          <a:prstGeom prst="triangle">
            <a:avLst/>
          </a:prstGeom>
          <a:solidFill>
            <a:srgbClr val="557A96"/>
          </a:solidFill>
          <a:ln w="4763">
            <a:solidFill>
              <a:srgbClr val="557A96"/>
            </a:solidFill>
            <a:prstDash val="solid"/>
          </a:ln>
        </p:spPr>
      </p:sp>
      <p:sp>
        <p:nvSpPr>
          <p:cNvPr id="67" name="diagram-branch-references"/>
          <p:cNvSpPr>
            <a:spLocks noGrp="1"/>
          </p:cNvSpPr>
          <p:nvPr/>
        </p:nvSpPr>
        <p:spPr>
          <a:xfrm>
            <a:off x="1876425" y="4772025"/>
            <a:ext cx="352425" cy="0"/>
          </a:xfrm>
          <a:prstGeom prst="line">
            <a:avLst/>
          </a:prstGeom>
          <a:noFill/>
          <a:ln w="16193">
            <a:solidFill>
              <a:srgbClr val="557A96"/>
            </a:solidFill>
            <a:prstDash val="solid"/>
          </a:ln>
        </p:spPr>
      </p:sp>
      <p:sp>
        <p:nvSpPr>
          <p:cNvPr id="68" name="diagram-arrow-references"/>
          <p:cNvSpPr>
            <a:spLocks noGrp="1"/>
          </p:cNvSpPr>
          <p:nvPr/>
        </p:nvSpPr>
        <p:spPr>
          <a:xfrm rot="5400000">
            <a:off x="2209800" y="4724400"/>
            <a:ext cx="85725" cy="95250"/>
          </a:xfrm>
          <a:prstGeom prst="triangle">
            <a:avLst/>
          </a:prstGeom>
          <a:solidFill>
            <a:srgbClr val="557A96"/>
          </a:solidFill>
          <a:ln w="4763">
            <a:solidFill>
              <a:srgbClr val="557A96"/>
            </a:solidFill>
            <a:prstDash val="solid"/>
          </a:ln>
        </p:spPr>
      </p:sp>
      <p:sp>
        <p:nvSpPr>
          <p:cNvPr id="69" name="diagram-branch-examples"/>
          <p:cNvSpPr>
            <a:spLocks noGrp="1"/>
          </p:cNvSpPr>
          <p:nvPr/>
        </p:nvSpPr>
        <p:spPr>
          <a:xfrm>
            <a:off x="1876425" y="5372100"/>
            <a:ext cx="352425" cy="0"/>
          </a:xfrm>
          <a:prstGeom prst="line">
            <a:avLst/>
          </a:prstGeom>
          <a:noFill/>
          <a:ln w="16193">
            <a:solidFill>
              <a:srgbClr val="557A96"/>
            </a:solidFill>
            <a:prstDash val="solid"/>
          </a:ln>
        </p:spPr>
      </p:sp>
      <p:sp>
        <p:nvSpPr>
          <p:cNvPr id="70" name="diagram-arrow-examples"/>
          <p:cNvSpPr>
            <a:spLocks noGrp="1"/>
          </p:cNvSpPr>
          <p:nvPr/>
        </p:nvSpPr>
        <p:spPr>
          <a:xfrm rot="5400000">
            <a:off x="2209800" y="5324475"/>
            <a:ext cx="85725" cy="95250"/>
          </a:xfrm>
          <a:prstGeom prst="triangle">
            <a:avLst/>
          </a:prstGeom>
          <a:solidFill>
            <a:srgbClr val="557A96"/>
          </a:solidFill>
          <a:ln w="4763">
            <a:solidFill>
              <a:srgbClr val="557A96"/>
            </a:solidFill>
            <a:prstDash val="solid"/>
          </a:ln>
        </p:spPr>
      </p:sp>
      <p:sp>
        <p:nvSpPr>
          <p:cNvPr id="71" name="diagram-skill-keyword-link"/>
          <p:cNvSpPr>
            <a:spLocks noGrp="1"/>
          </p:cNvSpPr>
          <p:nvPr/>
        </p:nvSpPr>
        <p:spPr>
          <a:xfrm>
            <a:off x="4000500" y="2133600"/>
            <a:ext cx="161925" cy="0"/>
          </a:xfrm>
          <a:prstGeom prst="line">
            <a:avLst/>
          </a:prstGeom>
          <a:noFill/>
          <a:ln w="12383">
            <a:solidFill>
              <a:srgbClr val="557A96"/>
            </a:solidFill>
            <a:prstDash val="dash"/>
          </a:ln>
        </p:spPr>
      </p:sp>
      <p:sp>
        <p:nvSpPr>
          <p:cNvPr id="72" name="diagram-keyword-spine"/>
          <p:cNvSpPr>
            <a:spLocks noGrp="1"/>
          </p:cNvSpPr>
          <p:nvPr/>
        </p:nvSpPr>
        <p:spPr>
          <a:xfrm>
            <a:off x="4381500" y="1914525"/>
            <a:ext cx="0" cy="1171575"/>
          </a:xfrm>
          <a:prstGeom prst="line">
            <a:avLst/>
          </a:prstGeom>
          <a:noFill/>
          <a:ln w="11430">
            <a:solidFill>
              <a:srgbClr val="557A96"/>
            </a:solidFill>
            <a:prstDash val="solid"/>
          </a:ln>
        </p:spPr>
      </p:sp>
      <p:sp>
        <p:nvSpPr>
          <p:cNvPr id="73" name="diagram-root-node"/>
          <p:cNvSpPr>
            <a:spLocks noGrp="1"/>
          </p:cNvSpPr>
          <p:nvPr/>
        </p:nvSpPr>
        <p:spPr>
          <a:xfrm>
            <a:off x="666750" y="3524250"/>
            <a:ext cx="933450" cy="571500"/>
          </a:xfrm>
          <a:prstGeom prst="roundRect">
            <a:avLst>
              <a:gd name="adj" fmla="val 15000"/>
            </a:avLst>
          </a:prstGeom>
          <a:solidFill>
            <a:srgbClr val="F5F8FA"/>
          </a:solidFill>
          <a:ln w="10954">
            <a:solidFill>
              <a:srgbClr val="7898AF"/>
            </a:solidFill>
            <a:prstDash val="solid"/>
          </a:ln>
        </p:spPr>
      </p:sp>
      <p:sp>
        <p:nvSpPr>
          <p:cNvPr id="74" name="diagram-skill-node"/>
          <p:cNvSpPr>
            <a:spLocks noGrp="1"/>
          </p:cNvSpPr>
          <p:nvPr/>
        </p:nvSpPr>
        <p:spPr>
          <a:xfrm>
            <a:off x="2286000" y="1866900"/>
            <a:ext cx="1714500" cy="533400"/>
          </a:xfrm>
          <a:prstGeom prst="roundRect">
            <a:avLst>
              <a:gd name="adj" fmla="val 16071"/>
            </a:avLst>
          </a:prstGeom>
          <a:solidFill>
            <a:srgbClr val="F5F8FA"/>
          </a:solidFill>
          <a:ln w="10954">
            <a:solidFill>
              <a:srgbClr val="7898AF"/>
            </a:solidFill>
            <a:prstDash val="solid"/>
          </a:ln>
        </p:spPr>
      </p:sp>
      <p:sp>
        <p:nvSpPr>
          <p:cNvPr id="75" name="diagram-subagents-node"/>
          <p:cNvSpPr>
            <a:spLocks noGrp="1"/>
          </p:cNvSpPr>
          <p:nvPr/>
        </p:nvSpPr>
        <p:spPr>
          <a:xfrm>
            <a:off x="2286000" y="3333750"/>
            <a:ext cx="3505200" cy="476250"/>
          </a:xfrm>
          <a:prstGeom prst="roundRect">
            <a:avLst>
              <a:gd name="adj" fmla="val 18000"/>
            </a:avLst>
          </a:prstGeom>
          <a:solidFill>
            <a:srgbClr val="F5F8FA"/>
          </a:solidFill>
          <a:ln w="10954">
            <a:solidFill>
              <a:srgbClr val="7898AF"/>
            </a:solidFill>
            <a:prstDash val="solid"/>
          </a:ln>
        </p:spPr>
      </p:sp>
      <p:sp>
        <p:nvSpPr>
          <p:cNvPr id="76" name="diagram-scripts-node"/>
          <p:cNvSpPr>
            <a:spLocks noGrp="1"/>
          </p:cNvSpPr>
          <p:nvPr/>
        </p:nvSpPr>
        <p:spPr>
          <a:xfrm>
            <a:off x="2286000" y="3933825"/>
            <a:ext cx="3505200" cy="476250"/>
          </a:xfrm>
          <a:prstGeom prst="roundRect">
            <a:avLst>
              <a:gd name="adj" fmla="val 18000"/>
            </a:avLst>
          </a:prstGeom>
          <a:solidFill>
            <a:srgbClr val="F5F8FA"/>
          </a:solidFill>
          <a:ln w="10954">
            <a:solidFill>
              <a:srgbClr val="7898AF"/>
            </a:solidFill>
            <a:prstDash val="solid"/>
          </a:ln>
        </p:spPr>
      </p:sp>
      <p:sp>
        <p:nvSpPr>
          <p:cNvPr id="77" name="diagram-references-node"/>
          <p:cNvSpPr>
            <a:spLocks noGrp="1"/>
          </p:cNvSpPr>
          <p:nvPr/>
        </p:nvSpPr>
        <p:spPr>
          <a:xfrm>
            <a:off x="2286000" y="4533900"/>
            <a:ext cx="3505200" cy="476250"/>
          </a:xfrm>
          <a:prstGeom prst="roundRect">
            <a:avLst>
              <a:gd name="adj" fmla="val 18000"/>
            </a:avLst>
          </a:prstGeom>
          <a:solidFill>
            <a:srgbClr val="F5F8FA"/>
          </a:solidFill>
          <a:ln w="10954">
            <a:solidFill>
              <a:srgbClr val="7898AF"/>
            </a:solidFill>
            <a:prstDash val="solid"/>
          </a:ln>
        </p:spPr>
      </p:sp>
      <p:sp>
        <p:nvSpPr>
          <p:cNvPr id="78" name="diagram-examples-node"/>
          <p:cNvSpPr>
            <a:spLocks noGrp="1"/>
          </p:cNvSpPr>
          <p:nvPr/>
        </p:nvSpPr>
        <p:spPr>
          <a:xfrm>
            <a:off x="2286000" y="5133975"/>
            <a:ext cx="3505200" cy="476250"/>
          </a:xfrm>
          <a:prstGeom prst="roundRect">
            <a:avLst>
              <a:gd name="adj" fmla="val 18000"/>
            </a:avLst>
          </a:prstGeom>
          <a:solidFill>
            <a:srgbClr val="F5F8FA"/>
          </a:solidFill>
          <a:ln w="10954">
            <a:solidFill>
              <a:srgbClr val="7898AF"/>
            </a:solidFill>
            <a:prstDash val="solid"/>
          </a:ln>
        </p:spPr>
      </p:sp>
      <p:sp>
        <p:nvSpPr>
          <p:cNvPr id="79" name="diagram-keywords-node"/>
          <p:cNvSpPr>
            <a:spLocks noGrp="1"/>
          </p:cNvSpPr>
          <p:nvPr/>
        </p:nvSpPr>
        <p:spPr>
          <a:xfrm>
            <a:off x="4162425" y="1733550"/>
            <a:ext cx="1628775" cy="1524000"/>
          </a:xfrm>
          <a:prstGeom prst="roundRect">
            <a:avLst>
              <a:gd name="adj" fmla="val 5625"/>
            </a:avLst>
          </a:prstGeom>
          <a:noFill/>
          <a:ln w="12383">
            <a:solidFill>
              <a:srgbClr val="7898AF"/>
            </a:solidFill>
            <a:prstDash val="dash"/>
          </a:ln>
        </p:spPr>
      </p:sp>
      <p:sp>
        <p:nvSpPr>
          <p:cNvPr id="80" name="diagram-root-text"/>
          <p:cNvSpPr>
            <a:spLocks noGrp="1"/>
          </p:cNvSpPr>
          <p:nvPr/>
        </p:nvSpPr>
        <p:spPr>
          <a:xfrm>
            <a:off x="723900" y="3629025"/>
            <a:ext cx="819150" cy="361950"/>
          </a:xfrm>
          <a:prstGeom prst="rect">
            <a:avLst/>
          </a:prstGeom>
          <a:noFill/>
          <a:ln w="0">
            <a:noFill/>
            <a:prstDash val="solid"/>
          </a:ln>
        </p:spPr>
        <p:txBody>
          <a:bodyPr wrap="none" lIns="0" tIns="0" rIns="0" bIns="0" anchor="ctr">
            <a:normAutofit/>
          </a:bodyPr>
          <a:lstStyle/>
          <a:p>
            <a:pPr algn="ctr">
              <a:defRPr sz="2100" b="1">
                <a:solidFill>
                  <a:srgbClr val="557A96"/>
                </a:solidFill>
                <a:latin typeface="微软雅黑" panose="020B0503020204020204" charset="-122"/>
                <a:ea typeface="微软雅黑" panose="020B0503020204020204" charset="-122"/>
                <a:cs typeface="微软雅黑" panose="020B0503020204020204" charset="-122"/>
              </a:defRPr>
            </a:pPr>
            <a:r>
              <a:rPr sz="2100" b="1">
                <a:solidFill>
                  <a:srgbClr val="557A96"/>
                </a:solidFill>
                <a:latin typeface="微软雅黑" panose="020B0503020204020204" charset="-122"/>
                <a:ea typeface="微软雅黑" panose="020B0503020204020204" charset="-122"/>
                <a:cs typeface="微软雅黑" panose="020B0503020204020204" charset="-122"/>
              </a:rPr>
              <a:t>Skill</a:t>
            </a:r>
          </a:p>
        </p:txBody>
      </p:sp>
      <p:sp>
        <p:nvSpPr>
          <p:cNvPr id="81" name="diagram-skill-text"/>
          <p:cNvSpPr>
            <a:spLocks noGrp="1"/>
          </p:cNvSpPr>
          <p:nvPr/>
        </p:nvSpPr>
        <p:spPr>
          <a:xfrm>
            <a:off x="2381250" y="1971675"/>
            <a:ext cx="1524000" cy="323850"/>
          </a:xfrm>
          <a:prstGeom prst="rect">
            <a:avLst/>
          </a:prstGeom>
          <a:noFill/>
          <a:ln w="0">
            <a:noFill/>
            <a:prstDash val="solid"/>
          </a:ln>
        </p:spPr>
        <p:txBody>
          <a:bodyPr wrap="none" lIns="0" tIns="0" rIns="0" bIns="0" anchor="ctr">
            <a:normAutofit/>
          </a:bodyPr>
          <a:lstStyle/>
          <a:p>
            <a:pPr algn="ctr">
              <a:defRPr sz="1875" b="1">
                <a:solidFill>
                  <a:srgbClr val="557A96"/>
                </a:solidFill>
                <a:latin typeface="微软雅黑" panose="020B0503020204020204" charset="-122"/>
                <a:ea typeface="微软雅黑" panose="020B0503020204020204" charset="-122"/>
                <a:cs typeface="微软雅黑" panose="020B0503020204020204" charset="-122"/>
              </a:defRPr>
            </a:pPr>
            <a:r>
              <a:rPr sz="1875" b="1">
                <a:solidFill>
                  <a:srgbClr val="557A96"/>
                </a:solidFill>
                <a:latin typeface="微软雅黑" panose="020B0503020204020204" charset="-122"/>
                <a:ea typeface="微软雅黑" panose="020B0503020204020204" charset="-122"/>
                <a:cs typeface="微软雅黑" panose="020B0503020204020204" charset="-122"/>
              </a:rPr>
              <a:t>SKILL.md</a:t>
            </a:r>
          </a:p>
        </p:txBody>
      </p:sp>
      <p:sp>
        <p:nvSpPr>
          <p:cNvPr id="82" name="diagram-subagents-label"/>
          <p:cNvSpPr>
            <a:spLocks noGrp="1"/>
          </p:cNvSpPr>
          <p:nvPr/>
        </p:nvSpPr>
        <p:spPr>
          <a:xfrm>
            <a:off x="2427633" y="3452813"/>
            <a:ext cx="11811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Subagents</a:t>
            </a:r>
          </a:p>
        </p:txBody>
      </p:sp>
      <p:sp>
        <p:nvSpPr>
          <p:cNvPr id="84" name="diagram-subagents-description"/>
          <p:cNvSpPr>
            <a:spLocks noGrp="1"/>
          </p:cNvSpPr>
          <p:nvPr/>
        </p:nvSpPr>
        <p:spPr>
          <a:xfrm>
            <a:off x="3750366" y="3505199"/>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子任务拆分与独立执行</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85" name="diagram-scripts-label"/>
          <p:cNvSpPr>
            <a:spLocks noGrp="1"/>
          </p:cNvSpPr>
          <p:nvPr/>
        </p:nvSpPr>
        <p:spPr>
          <a:xfrm>
            <a:off x="2447926" y="4052887"/>
            <a:ext cx="8001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Scripts</a:t>
            </a:r>
          </a:p>
        </p:txBody>
      </p:sp>
      <p:sp>
        <p:nvSpPr>
          <p:cNvPr id="87" name="diagram-scripts-description"/>
          <p:cNvSpPr>
            <a:spLocks noGrp="1"/>
          </p:cNvSpPr>
          <p:nvPr/>
        </p:nvSpPr>
        <p:spPr>
          <a:xfrm>
            <a:off x="3429000" y="4092849"/>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环境检测、测试与确定性操作</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88" name="diagram-references-label"/>
          <p:cNvSpPr>
            <a:spLocks noGrp="1"/>
          </p:cNvSpPr>
          <p:nvPr/>
        </p:nvSpPr>
        <p:spPr>
          <a:xfrm>
            <a:off x="2383941" y="4669631"/>
            <a:ext cx="1228725"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References</a:t>
            </a:r>
          </a:p>
        </p:txBody>
      </p:sp>
      <p:sp>
        <p:nvSpPr>
          <p:cNvPr id="90" name="diagram-references-description"/>
          <p:cNvSpPr>
            <a:spLocks noGrp="1"/>
          </p:cNvSpPr>
          <p:nvPr/>
        </p:nvSpPr>
        <p:spPr>
          <a:xfrm>
            <a:off x="3881437" y="4732103"/>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平台知识、</a:t>
            </a:r>
            <a:r>
              <a:rPr sz="1500" b="0" dirty="0" err="1" smtClean="0">
                <a:solidFill>
                  <a:srgbClr val="66717A"/>
                </a:solidFill>
                <a:latin typeface="微软雅黑" panose="020B0503020204020204" charset="-122"/>
                <a:ea typeface="微软雅黑" panose="020B0503020204020204" charset="-122"/>
                <a:cs typeface="微软雅黑" panose="020B0503020204020204" charset="-122"/>
              </a:rPr>
              <a:t>技术规则</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91" name="diagram-examples-label"/>
          <p:cNvSpPr>
            <a:spLocks noGrp="1"/>
          </p:cNvSpPr>
          <p:nvPr/>
        </p:nvSpPr>
        <p:spPr>
          <a:xfrm>
            <a:off x="2447926" y="5253038"/>
            <a:ext cx="9906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Examples</a:t>
            </a:r>
          </a:p>
        </p:txBody>
      </p:sp>
      <p:sp>
        <p:nvSpPr>
          <p:cNvPr id="93" name="diagram-examples-description"/>
          <p:cNvSpPr>
            <a:spLocks noGrp="1"/>
          </p:cNvSpPr>
          <p:nvPr/>
        </p:nvSpPr>
        <p:spPr>
          <a:xfrm>
            <a:off x="3881437" y="5311140"/>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已有案例</a:t>
            </a:r>
            <a:r>
              <a:rPr sz="1500" b="0" dirty="0" err="1" smtClean="0">
                <a:solidFill>
                  <a:srgbClr val="66717A"/>
                </a:solidFill>
                <a:latin typeface="微软雅黑" panose="020B0503020204020204" charset="-122"/>
                <a:ea typeface="微软雅黑" panose="020B0503020204020204" charset="-122"/>
                <a:cs typeface="微软雅黑" panose="020B0503020204020204" charset="-122"/>
              </a:rPr>
              <a:t>，提供参考</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94" name="diagram-keyword-dot-1"/>
          <p:cNvSpPr>
            <a:spLocks noGrp="1"/>
          </p:cNvSpPr>
          <p:nvPr/>
        </p:nvSpPr>
        <p:spPr>
          <a:xfrm>
            <a:off x="4352925" y="1905000"/>
            <a:ext cx="57150" cy="57150"/>
          </a:xfrm>
          <a:prstGeom prst="ellipse">
            <a:avLst/>
          </a:prstGeom>
          <a:solidFill>
            <a:srgbClr val="557A96"/>
          </a:solidFill>
          <a:ln w="0">
            <a:solidFill>
              <a:srgbClr val="557A96"/>
            </a:solidFill>
            <a:prstDash val="solid"/>
          </a:ln>
        </p:spPr>
      </p:sp>
      <p:sp>
        <p:nvSpPr>
          <p:cNvPr id="95" name="diagram-keyword-1"/>
          <p:cNvSpPr>
            <a:spLocks noGrp="1"/>
          </p:cNvSpPr>
          <p:nvPr/>
        </p:nvSpPr>
        <p:spPr>
          <a:xfrm>
            <a:off x="4524375" y="1857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Metadata</a:t>
            </a:r>
          </a:p>
        </p:txBody>
      </p:sp>
      <p:sp>
        <p:nvSpPr>
          <p:cNvPr id="96" name="diagram-keyword-dot-2"/>
          <p:cNvSpPr>
            <a:spLocks noGrp="1"/>
          </p:cNvSpPr>
          <p:nvPr/>
        </p:nvSpPr>
        <p:spPr>
          <a:xfrm>
            <a:off x="4352925" y="2095500"/>
            <a:ext cx="57150" cy="57150"/>
          </a:xfrm>
          <a:prstGeom prst="ellipse">
            <a:avLst/>
          </a:prstGeom>
          <a:solidFill>
            <a:srgbClr val="557A96"/>
          </a:solidFill>
          <a:ln w="0">
            <a:solidFill>
              <a:srgbClr val="557A96"/>
            </a:solidFill>
            <a:prstDash val="solid"/>
          </a:ln>
        </p:spPr>
      </p:sp>
      <p:sp>
        <p:nvSpPr>
          <p:cNvPr id="97" name="diagram-keyword-2"/>
          <p:cNvSpPr>
            <a:spLocks noGrp="1"/>
          </p:cNvSpPr>
          <p:nvPr/>
        </p:nvSpPr>
        <p:spPr>
          <a:xfrm>
            <a:off x="4524375" y="2047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Workflow</a:t>
            </a:r>
          </a:p>
        </p:txBody>
      </p:sp>
      <p:sp>
        <p:nvSpPr>
          <p:cNvPr id="98" name="diagram-keyword-dot-3"/>
          <p:cNvSpPr>
            <a:spLocks noGrp="1"/>
          </p:cNvSpPr>
          <p:nvPr/>
        </p:nvSpPr>
        <p:spPr>
          <a:xfrm>
            <a:off x="4352925" y="2286000"/>
            <a:ext cx="57150" cy="57150"/>
          </a:xfrm>
          <a:prstGeom prst="ellipse">
            <a:avLst/>
          </a:prstGeom>
          <a:solidFill>
            <a:srgbClr val="557A96"/>
          </a:solidFill>
          <a:ln w="0">
            <a:solidFill>
              <a:srgbClr val="557A96"/>
            </a:solidFill>
            <a:prstDash val="solid"/>
          </a:ln>
        </p:spPr>
      </p:sp>
      <p:sp>
        <p:nvSpPr>
          <p:cNvPr id="99" name="diagram-keyword-3"/>
          <p:cNvSpPr>
            <a:spLocks noGrp="1"/>
          </p:cNvSpPr>
          <p:nvPr/>
        </p:nvSpPr>
        <p:spPr>
          <a:xfrm>
            <a:off x="4524375" y="2238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Contract</a:t>
            </a:r>
          </a:p>
        </p:txBody>
      </p:sp>
      <p:sp>
        <p:nvSpPr>
          <p:cNvPr id="100" name="diagram-keyword-dot-4"/>
          <p:cNvSpPr>
            <a:spLocks noGrp="1"/>
          </p:cNvSpPr>
          <p:nvPr/>
        </p:nvSpPr>
        <p:spPr>
          <a:xfrm>
            <a:off x="4352925" y="2476500"/>
            <a:ext cx="57150" cy="57150"/>
          </a:xfrm>
          <a:prstGeom prst="ellipse">
            <a:avLst/>
          </a:prstGeom>
          <a:solidFill>
            <a:srgbClr val="557A96"/>
          </a:solidFill>
          <a:ln w="0">
            <a:solidFill>
              <a:srgbClr val="557A96"/>
            </a:solidFill>
            <a:prstDash val="solid"/>
          </a:ln>
        </p:spPr>
      </p:sp>
      <p:sp>
        <p:nvSpPr>
          <p:cNvPr id="101" name="diagram-keyword-4"/>
          <p:cNvSpPr>
            <a:spLocks noGrp="1"/>
          </p:cNvSpPr>
          <p:nvPr/>
        </p:nvSpPr>
        <p:spPr>
          <a:xfrm>
            <a:off x="4524375" y="2428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Gate</a:t>
            </a:r>
          </a:p>
        </p:txBody>
      </p:sp>
      <p:sp>
        <p:nvSpPr>
          <p:cNvPr id="102" name="diagram-keyword-dot-5"/>
          <p:cNvSpPr>
            <a:spLocks noGrp="1"/>
          </p:cNvSpPr>
          <p:nvPr/>
        </p:nvSpPr>
        <p:spPr>
          <a:xfrm>
            <a:off x="4352925" y="2667000"/>
            <a:ext cx="57150" cy="57150"/>
          </a:xfrm>
          <a:prstGeom prst="ellipse">
            <a:avLst/>
          </a:prstGeom>
          <a:solidFill>
            <a:srgbClr val="557A96"/>
          </a:solidFill>
          <a:ln w="0">
            <a:solidFill>
              <a:srgbClr val="557A96"/>
            </a:solidFill>
            <a:prstDash val="solid"/>
          </a:ln>
        </p:spPr>
      </p:sp>
      <p:sp>
        <p:nvSpPr>
          <p:cNvPr id="103" name="diagram-keyword-5"/>
          <p:cNvSpPr>
            <a:spLocks noGrp="1"/>
          </p:cNvSpPr>
          <p:nvPr/>
        </p:nvSpPr>
        <p:spPr>
          <a:xfrm>
            <a:off x="4524375" y="2619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Routing</a:t>
            </a:r>
          </a:p>
        </p:txBody>
      </p:sp>
      <p:sp>
        <p:nvSpPr>
          <p:cNvPr id="104" name="diagram-keyword-dot-6"/>
          <p:cNvSpPr>
            <a:spLocks noGrp="1"/>
          </p:cNvSpPr>
          <p:nvPr/>
        </p:nvSpPr>
        <p:spPr>
          <a:xfrm>
            <a:off x="4352925" y="2857500"/>
            <a:ext cx="57150" cy="57150"/>
          </a:xfrm>
          <a:prstGeom prst="ellipse">
            <a:avLst/>
          </a:prstGeom>
          <a:solidFill>
            <a:srgbClr val="557A96"/>
          </a:solidFill>
          <a:ln w="0">
            <a:solidFill>
              <a:srgbClr val="557A96"/>
            </a:solidFill>
            <a:prstDash val="solid"/>
          </a:ln>
        </p:spPr>
      </p:sp>
      <p:sp>
        <p:nvSpPr>
          <p:cNvPr id="105" name="diagram-keyword-6"/>
          <p:cNvSpPr>
            <a:spLocks noGrp="1"/>
          </p:cNvSpPr>
          <p:nvPr/>
        </p:nvSpPr>
        <p:spPr>
          <a:xfrm>
            <a:off x="4524375" y="2809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Skill Call</a:t>
            </a:r>
          </a:p>
        </p:txBody>
      </p:sp>
      <p:sp>
        <p:nvSpPr>
          <p:cNvPr id="106" name="diagram-keyword-dot-7"/>
          <p:cNvSpPr>
            <a:spLocks noGrp="1"/>
          </p:cNvSpPr>
          <p:nvPr/>
        </p:nvSpPr>
        <p:spPr>
          <a:xfrm>
            <a:off x="4352925" y="3048000"/>
            <a:ext cx="57150" cy="57150"/>
          </a:xfrm>
          <a:prstGeom prst="ellipse">
            <a:avLst/>
          </a:prstGeom>
          <a:solidFill>
            <a:srgbClr val="557A96"/>
          </a:solidFill>
          <a:ln w="0">
            <a:solidFill>
              <a:srgbClr val="557A96"/>
            </a:solidFill>
            <a:prstDash val="solid"/>
          </a:ln>
        </p:spPr>
      </p:sp>
      <p:sp>
        <p:nvSpPr>
          <p:cNvPr id="107" name="diagram-keyword-7"/>
          <p:cNvSpPr>
            <a:spLocks noGrp="1"/>
          </p:cNvSpPr>
          <p:nvPr/>
        </p:nvSpPr>
        <p:spPr>
          <a:xfrm>
            <a:off x="4524375" y="3000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Handoff</a:t>
            </a:r>
          </a:p>
        </p:txBody>
      </p:sp>
      <p:sp>
        <p:nvSpPr>
          <p:cNvPr id="10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1</a:t>
            </a: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0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10"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1</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61010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917733"/>
            <a:ext cx="6629400" cy="0"/>
          </a:xfrm>
          <a:prstGeom prst="line">
            <a:avLst/>
          </a:prstGeom>
          <a:noFill/>
          <a:ln w="9525">
            <a:solidFill>
              <a:srgbClr val="D8DEE3"/>
            </a:solidFill>
            <a:prstDash val="solid"/>
          </a:ln>
        </p:spPr>
      </p:sp>
      <p:sp>
        <p:nvSpPr>
          <p:cNvPr id="6" name="slide-title"/>
          <p:cNvSpPr>
            <a:spLocks noGrp="1"/>
          </p:cNvSpPr>
          <p:nvPr/>
        </p:nvSpPr>
        <p:spPr>
          <a:xfrm>
            <a:off x="977900" y="190122"/>
            <a:ext cx="8096250" cy="561975"/>
          </a:xfrm>
          <a:prstGeom prst="rect">
            <a:avLst/>
          </a:prstGeom>
          <a:noFill/>
          <a:ln w="0">
            <a:noFill/>
            <a:prstDash val="solid"/>
          </a:ln>
        </p:spPr>
        <p:txBody>
          <a:bodyPr wrap="none" lIns="0" tIns="0" rIns="0" bIns="0" anchor="ctr">
            <a:normAutofit/>
          </a:bodyPr>
          <a:lstStyle/>
          <a:p>
            <a:pPr algn="l">
              <a:defRPr sz="345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SKILL.md：Skill</a:t>
            </a:r>
            <a:r>
              <a:rPr sz="2700" b="1" dirty="0">
                <a:solidFill>
                  <a:srgbClr val="243B53"/>
                </a:solidFill>
                <a:latin typeface="Arial" panose="020B0604020202020204" pitchFamily="34" charset="0"/>
                <a:ea typeface="微软雅黑" panose="020B0503020204020204" charset="-122"/>
                <a:cs typeface="微软雅黑" panose="020B0503020204020204" charset="-122"/>
              </a:rPr>
              <a:t>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的核心控制文档</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 name="left-heading"/>
          <p:cNvSpPr>
            <a:spLocks noGrp="1"/>
          </p:cNvSpPr>
          <p:nvPr/>
        </p:nvSpPr>
        <p:spPr>
          <a:xfrm>
            <a:off x="609600" y="1209675"/>
            <a:ext cx="266700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lang="en-US" altLang="zh-CN" sz="1875" b="1" dirty="0" smtClean="0">
                <a:solidFill>
                  <a:srgbClr val="252B31"/>
                </a:solidFill>
                <a:latin typeface="微软雅黑" panose="020B0503020204020204" charset="-122"/>
                <a:ea typeface="微软雅黑" panose="020B0503020204020204" charset="-122"/>
                <a:cs typeface="微软雅黑" panose="020B0503020204020204" charset="-122"/>
              </a:rPr>
              <a:t>Skill.md </a:t>
            </a:r>
            <a:r>
              <a:rPr lang="zh-CN" altLang="en-US" sz="1875" b="1" dirty="0" smtClean="0">
                <a:solidFill>
                  <a:srgbClr val="252B31"/>
                </a:solidFill>
                <a:latin typeface="微软雅黑" panose="020B0503020204020204" charset="-122"/>
                <a:ea typeface="微软雅黑" panose="020B0503020204020204" charset="-122"/>
                <a:cs typeface="微软雅黑" panose="020B0503020204020204" charset="-122"/>
              </a:rPr>
              <a:t>核心框架</a:t>
            </a:r>
            <a:endParaRPr sz="187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 name="right-heading"/>
          <p:cNvSpPr>
            <a:spLocks noGrp="1"/>
          </p:cNvSpPr>
          <p:nvPr/>
        </p:nvSpPr>
        <p:spPr>
          <a:xfrm>
            <a:off x="4953000" y="1209675"/>
            <a:ext cx="295275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875" b="1" dirty="0" smtClean="0">
                <a:solidFill>
                  <a:srgbClr val="252B31"/>
                </a:solidFill>
                <a:latin typeface="微软雅黑" panose="020B0503020204020204" charset="-122"/>
                <a:ea typeface="微软雅黑" panose="020B0503020204020204" charset="-122"/>
                <a:cs typeface="微软雅黑" panose="020B0503020204020204" charset="-122"/>
              </a:rPr>
              <a:t>这些结构是干嘛的</a:t>
            </a:r>
            <a:endParaRPr sz="187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 name="editor-frame"/>
          <p:cNvSpPr>
            <a:spLocks noGrp="1"/>
          </p:cNvSpPr>
          <p:nvPr/>
        </p:nvSpPr>
        <p:spPr>
          <a:xfrm>
            <a:off x="609600" y="1600200"/>
            <a:ext cx="4000500" cy="42862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33375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a:solidFill>
                  <a:srgbClr val="252B31"/>
                </a:solidFill>
                <a:latin typeface="Consolas" panose="020B0609020204030204"/>
                <a:ea typeface="Consolas" panose="020B0609020204030204"/>
                <a:cs typeface="Consolas" panose="020B0609020204030204"/>
              </a:rPr>
              <a:t>SKILL.md </a:t>
            </a:r>
          </a:p>
        </p:txBody>
      </p:sp>
      <p:sp>
        <p:nvSpPr>
          <p:cNvPr id="13" name="code-metadata-block"/>
          <p:cNvSpPr>
            <a:spLocks noGrp="1"/>
          </p:cNvSpPr>
          <p:nvPr/>
        </p:nvSpPr>
        <p:spPr>
          <a:xfrm>
            <a:off x="742950" y="2009775"/>
            <a:ext cx="3733800" cy="742950"/>
          </a:xfrm>
          <a:prstGeom prst="rect">
            <a:avLst/>
          </a:prstGeom>
          <a:solidFill>
            <a:srgbClr val="F7F9FA"/>
          </a:solidFill>
          <a:ln w="5715">
            <a:solidFill>
              <a:srgbClr val="D8DEE3"/>
            </a:solidFill>
            <a:prstDash val="solid"/>
          </a:ln>
        </p:spPr>
      </p:sp>
      <p:sp>
        <p:nvSpPr>
          <p:cNvPr id="14" name="code-metadata-accent"/>
          <p:cNvSpPr>
            <a:spLocks noGrp="1"/>
          </p:cNvSpPr>
          <p:nvPr/>
        </p:nvSpPr>
        <p:spPr>
          <a:xfrm>
            <a:off x="742950" y="2009775"/>
            <a:ext cx="28575" cy="742950"/>
          </a:xfrm>
          <a:prstGeom prst="rect">
            <a:avLst/>
          </a:prstGeom>
          <a:solidFill>
            <a:srgbClr val="557A96"/>
          </a:solidFill>
          <a:ln w="0">
            <a:noFill/>
            <a:prstDash val="solid"/>
          </a:ln>
        </p:spPr>
      </p:sp>
      <p:sp>
        <p:nvSpPr>
          <p:cNvPr id="15" name="code-metadata-text"/>
          <p:cNvSpPr>
            <a:spLocks noGrp="1"/>
          </p:cNvSpPr>
          <p:nvPr/>
        </p:nvSpPr>
        <p:spPr>
          <a:xfrm>
            <a:off x="895350" y="2047875"/>
            <a:ext cx="3429000" cy="666750"/>
          </a:xfrm>
          <a:prstGeom prst="rect">
            <a:avLst/>
          </a:prstGeom>
          <a:noFill/>
          <a:ln w="0">
            <a:noFill/>
            <a:prstDash val="solid"/>
          </a:ln>
        </p:spPr>
        <p:txBody>
          <a:bodyPr wrap="none" lIns="0" tIns="0" rIns="0" bIns="0" anchor="t">
            <a:normAutofit fontScale="90802" lnSpcReduction="10000"/>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FF0000"/>
                </a:solidFill>
                <a:latin typeface="Consolas" panose="020B0609020204030204"/>
                <a:ea typeface="Consolas" panose="020B0609020204030204"/>
                <a:cs typeface="Consolas" panose="020B0609020204030204"/>
              </a:rPr>
              <a:t>name</a:t>
            </a:r>
            <a:r>
              <a:rPr sz="1315" b="0" dirty="0">
                <a:solidFill>
                  <a:srgbClr val="414951"/>
                </a:solidFill>
                <a:latin typeface="Consolas" panose="020B0609020204030204"/>
                <a:ea typeface="Consolas" panose="020B0609020204030204"/>
                <a:cs typeface="Consolas" panose="020B0609020204030204"/>
              </a:rPr>
              <a:t>: example-skill</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description: ...</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16" name="code-overview-block"/>
          <p:cNvSpPr>
            <a:spLocks noGrp="1"/>
          </p:cNvSpPr>
          <p:nvPr/>
        </p:nvSpPr>
        <p:spPr>
          <a:xfrm>
            <a:off x="742950" y="2819400"/>
            <a:ext cx="3733800" cy="495300"/>
          </a:xfrm>
          <a:prstGeom prst="rect">
            <a:avLst/>
          </a:prstGeom>
          <a:solidFill>
            <a:srgbClr val="F7F9FA"/>
          </a:solidFill>
          <a:ln w="5715">
            <a:solidFill>
              <a:srgbClr val="D8DEE3"/>
            </a:solidFill>
            <a:prstDash val="solid"/>
          </a:ln>
        </p:spPr>
      </p:sp>
      <p:sp>
        <p:nvSpPr>
          <p:cNvPr id="17" name="code-overview-accent"/>
          <p:cNvSpPr>
            <a:spLocks noGrp="1"/>
          </p:cNvSpPr>
          <p:nvPr/>
        </p:nvSpPr>
        <p:spPr>
          <a:xfrm>
            <a:off x="742950" y="2819400"/>
            <a:ext cx="28575" cy="495300"/>
          </a:xfrm>
          <a:prstGeom prst="rect">
            <a:avLst/>
          </a:prstGeom>
          <a:solidFill>
            <a:srgbClr val="557A96"/>
          </a:solidFill>
          <a:ln w="0">
            <a:noFill/>
            <a:prstDash val="solid"/>
          </a:ln>
        </p:spPr>
      </p:sp>
      <p:sp>
        <p:nvSpPr>
          <p:cNvPr id="18" name="code-overview-text"/>
          <p:cNvSpPr>
            <a:spLocks noGrp="1"/>
          </p:cNvSpPr>
          <p:nvPr/>
        </p:nvSpPr>
        <p:spPr>
          <a:xfrm>
            <a:off x="895350" y="2857500"/>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Overview</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19" name="code-policy-block"/>
          <p:cNvSpPr>
            <a:spLocks noGrp="1"/>
          </p:cNvSpPr>
          <p:nvPr/>
        </p:nvSpPr>
        <p:spPr>
          <a:xfrm>
            <a:off x="742950" y="3381375"/>
            <a:ext cx="3733800" cy="495300"/>
          </a:xfrm>
          <a:prstGeom prst="rect">
            <a:avLst/>
          </a:prstGeom>
          <a:solidFill>
            <a:srgbClr val="F7F9FA"/>
          </a:solidFill>
          <a:ln w="5715">
            <a:solidFill>
              <a:srgbClr val="D8DEE3"/>
            </a:solidFill>
            <a:prstDash val="solid"/>
          </a:ln>
        </p:spPr>
      </p:sp>
      <p:sp>
        <p:nvSpPr>
          <p:cNvPr id="20" name="code-policy-accent"/>
          <p:cNvSpPr>
            <a:spLocks noGrp="1"/>
          </p:cNvSpPr>
          <p:nvPr/>
        </p:nvSpPr>
        <p:spPr>
          <a:xfrm>
            <a:off x="742950" y="3381375"/>
            <a:ext cx="28575" cy="495300"/>
          </a:xfrm>
          <a:prstGeom prst="rect">
            <a:avLst/>
          </a:prstGeom>
          <a:solidFill>
            <a:srgbClr val="557A96"/>
          </a:solidFill>
          <a:ln w="0">
            <a:noFill/>
            <a:prstDash val="solid"/>
          </a:ln>
        </p:spPr>
      </p:sp>
      <p:sp>
        <p:nvSpPr>
          <p:cNvPr id="21" name="code-policy-text"/>
          <p:cNvSpPr>
            <a:spLocks noGrp="1"/>
          </p:cNvSpPr>
          <p:nvPr/>
        </p:nvSpPr>
        <p:spPr>
          <a:xfrm>
            <a:off x="895350" y="3419475"/>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Execution Policy</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22" name="code-contract-block"/>
          <p:cNvSpPr>
            <a:spLocks noGrp="1"/>
          </p:cNvSpPr>
          <p:nvPr/>
        </p:nvSpPr>
        <p:spPr>
          <a:xfrm>
            <a:off x="742950" y="3943350"/>
            <a:ext cx="3733800" cy="495300"/>
          </a:xfrm>
          <a:prstGeom prst="rect">
            <a:avLst/>
          </a:prstGeom>
          <a:solidFill>
            <a:srgbClr val="F7F9FA"/>
          </a:solidFill>
          <a:ln w="5715">
            <a:solidFill>
              <a:srgbClr val="D8DEE3"/>
            </a:solidFill>
            <a:prstDash val="solid"/>
          </a:ln>
        </p:spPr>
      </p:sp>
      <p:sp>
        <p:nvSpPr>
          <p:cNvPr id="23" name="code-contract-accent"/>
          <p:cNvSpPr>
            <a:spLocks noGrp="1"/>
          </p:cNvSpPr>
          <p:nvPr/>
        </p:nvSpPr>
        <p:spPr>
          <a:xfrm>
            <a:off x="742950" y="3943350"/>
            <a:ext cx="28575" cy="495300"/>
          </a:xfrm>
          <a:prstGeom prst="rect">
            <a:avLst/>
          </a:prstGeom>
          <a:solidFill>
            <a:srgbClr val="557A96"/>
          </a:solidFill>
          <a:ln w="0">
            <a:noFill/>
            <a:prstDash val="solid"/>
          </a:ln>
        </p:spPr>
      </p:sp>
      <p:sp>
        <p:nvSpPr>
          <p:cNvPr id="24" name="code-contract-text"/>
          <p:cNvSpPr>
            <a:spLocks noGrp="1"/>
          </p:cNvSpPr>
          <p:nvPr/>
        </p:nvSpPr>
        <p:spPr>
          <a:xfrm>
            <a:off x="895350" y="3981450"/>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Input / Output Contract</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25" name="code-workflow-block"/>
          <p:cNvSpPr>
            <a:spLocks noGrp="1"/>
          </p:cNvSpPr>
          <p:nvPr/>
        </p:nvSpPr>
        <p:spPr>
          <a:xfrm>
            <a:off x="742950" y="4505325"/>
            <a:ext cx="3733800" cy="971550"/>
          </a:xfrm>
          <a:prstGeom prst="rect">
            <a:avLst/>
          </a:prstGeom>
          <a:solidFill>
            <a:srgbClr val="F7F9FA"/>
          </a:solidFill>
          <a:ln w="5715">
            <a:solidFill>
              <a:srgbClr val="D8DEE3"/>
            </a:solidFill>
            <a:prstDash val="solid"/>
          </a:ln>
        </p:spPr>
      </p:sp>
      <p:sp>
        <p:nvSpPr>
          <p:cNvPr id="26" name="code-workflow-accent"/>
          <p:cNvSpPr>
            <a:spLocks noGrp="1"/>
          </p:cNvSpPr>
          <p:nvPr/>
        </p:nvSpPr>
        <p:spPr>
          <a:xfrm>
            <a:off x="742950" y="4505325"/>
            <a:ext cx="28575" cy="971550"/>
          </a:xfrm>
          <a:prstGeom prst="rect">
            <a:avLst/>
          </a:prstGeom>
          <a:solidFill>
            <a:srgbClr val="557A96"/>
          </a:solidFill>
          <a:ln w="0">
            <a:noFill/>
            <a:prstDash val="solid"/>
          </a:ln>
        </p:spPr>
      </p:sp>
      <p:sp>
        <p:nvSpPr>
          <p:cNvPr id="27" name="code-workflow-text"/>
          <p:cNvSpPr>
            <a:spLocks noGrp="1"/>
          </p:cNvSpPr>
          <p:nvPr/>
        </p:nvSpPr>
        <p:spPr>
          <a:xfrm>
            <a:off x="895350" y="4543425"/>
            <a:ext cx="3429000" cy="895350"/>
          </a:xfrm>
          <a:prstGeom prst="rect">
            <a:avLst/>
          </a:prstGeom>
          <a:noFill/>
          <a:ln w="0">
            <a:noFill/>
            <a:prstDash val="solid"/>
          </a:ln>
        </p:spPr>
        <p:txBody>
          <a:bodyPr wrap="none" lIns="0" tIns="0" rIns="0" bIns="0" anchor="t">
            <a:normAutofit fontScale="89490" lnSpcReduction="10000"/>
          </a:bodyPr>
          <a:lstStyle/>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Workflow</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Stage 1</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Stage 2</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a:t>
            </a:r>
          </a:p>
        </p:txBody>
      </p:sp>
      <p:sp>
        <p:nvSpPr>
          <p:cNvPr id="29" name="metadata-card"/>
          <p:cNvSpPr>
            <a:spLocks noGrp="1"/>
          </p:cNvSpPr>
          <p:nvPr/>
        </p:nvSpPr>
        <p:spPr>
          <a:xfrm>
            <a:off x="4953000" y="1993933"/>
            <a:ext cx="3238500" cy="1638300"/>
          </a:xfrm>
          <a:prstGeom prst="roundRect">
            <a:avLst>
              <a:gd name="adj" fmla="val 4070"/>
            </a:avLst>
          </a:prstGeom>
          <a:solidFill>
            <a:srgbClr val="FFFFFF"/>
          </a:solidFill>
          <a:ln w="9525">
            <a:solidFill>
              <a:srgbClr val="D8DEE3"/>
            </a:solidFill>
            <a:prstDash val="solid"/>
          </a:ln>
        </p:spPr>
      </p:sp>
      <p:sp>
        <p:nvSpPr>
          <p:cNvPr id="30" name="metadata-accent"/>
          <p:cNvSpPr>
            <a:spLocks noGrp="1"/>
          </p:cNvSpPr>
          <p:nvPr/>
        </p:nvSpPr>
        <p:spPr>
          <a:xfrm>
            <a:off x="4953000" y="1993933"/>
            <a:ext cx="3238500" cy="28575"/>
          </a:xfrm>
          <a:prstGeom prst="rect">
            <a:avLst/>
          </a:prstGeom>
          <a:solidFill>
            <a:srgbClr val="557A96"/>
          </a:solidFill>
          <a:ln w="0">
            <a:noFill/>
            <a:prstDash val="solid"/>
          </a:ln>
        </p:spPr>
      </p:sp>
      <p:sp>
        <p:nvSpPr>
          <p:cNvPr id="31" name="metadata-number"/>
          <p:cNvSpPr>
            <a:spLocks noGrp="1"/>
          </p:cNvSpPr>
          <p:nvPr/>
        </p:nvSpPr>
        <p:spPr>
          <a:xfrm>
            <a:off x="5105400" y="210823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32" name="metadata-title"/>
          <p:cNvSpPr>
            <a:spLocks noGrp="1"/>
          </p:cNvSpPr>
          <p:nvPr/>
        </p:nvSpPr>
        <p:spPr>
          <a:xfrm>
            <a:off x="5467350" y="208918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Metadata</a:t>
            </a:r>
          </a:p>
        </p:txBody>
      </p:sp>
      <p:sp>
        <p:nvSpPr>
          <p:cNvPr id="33" name="metadata-subtitle"/>
          <p:cNvSpPr>
            <a:spLocks noGrp="1"/>
          </p:cNvSpPr>
          <p:nvPr/>
        </p:nvSpPr>
        <p:spPr>
          <a:xfrm>
            <a:off x="6877050" y="2108233"/>
            <a:ext cx="1162050" cy="238125"/>
          </a:xfrm>
          <a:prstGeom prst="rect">
            <a:avLst/>
          </a:prstGeom>
          <a:noFill/>
          <a:ln w="0">
            <a:noFill/>
            <a:prstDash val="solid"/>
          </a:ln>
        </p:spPr>
        <p:txBody>
          <a:bodyPr wrap="none" lIns="0" tIns="0" rIns="0" bIns="0" anchor="ctr">
            <a:normAutofit/>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err="1">
                <a:solidFill>
                  <a:srgbClr val="557A96"/>
                </a:solidFill>
                <a:latin typeface="微软雅黑" panose="020B0503020204020204" charset="-122"/>
                <a:ea typeface="微软雅黑" panose="020B0503020204020204" charset="-122"/>
                <a:cs typeface="微软雅黑" panose="020B0503020204020204" charset="-122"/>
              </a:rPr>
              <a:t>身份与触发</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4" name="metadata-name"/>
          <p:cNvSpPr>
            <a:spLocks noGrp="1"/>
          </p:cNvSpPr>
          <p:nvPr/>
        </p:nvSpPr>
        <p:spPr>
          <a:xfrm>
            <a:off x="5124450" y="2432083"/>
            <a:ext cx="876300" cy="22860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name</a:t>
            </a:r>
          </a:p>
        </p:txBody>
      </p:sp>
      <p:sp>
        <p:nvSpPr>
          <p:cNvPr id="35" name="metadata-name-path"/>
          <p:cNvSpPr>
            <a:spLocks noGrp="1"/>
          </p:cNvSpPr>
          <p:nvPr/>
        </p:nvSpPr>
        <p:spPr>
          <a:xfrm>
            <a:off x="5981700" y="2432083"/>
            <a:ext cx="1981200" cy="228600"/>
          </a:xfrm>
          <a:prstGeom prst="rect">
            <a:avLst/>
          </a:prstGeom>
          <a:noFill/>
          <a:ln w="0">
            <a:noFill/>
            <a:prstDash val="solid"/>
          </a:ln>
        </p:spPr>
        <p:txBody>
          <a:bodyPr wrap="none" lIns="0" tIns="0" rIns="0" bIns="0" anchor="ctr">
            <a:normAutofit/>
          </a:bodyPr>
          <a:lstStyle/>
          <a:p>
            <a:pPr algn="l">
              <a:defRPr sz="1390" b="0">
                <a:solidFill>
                  <a:srgbClr val="414951"/>
                </a:solidFill>
                <a:latin typeface="微软雅黑" panose="020B0503020204020204" charset="-122"/>
                <a:ea typeface="微软雅黑" panose="020B0503020204020204" charset="-122"/>
                <a:cs typeface="微软雅黑" panose="020B0503020204020204" charset="-122"/>
              </a:defRPr>
            </a:pPr>
            <a:r>
              <a:rPr sz="1390" b="0" dirty="0">
                <a:solidFill>
                  <a:srgbClr val="414951"/>
                </a:solidFill>
                <a:latin typeface="微软雅黑" panose="020B0503020204020204" charset="-122"/>
                <a:ea typeface="微软雅黑" panose="020B0503020204020204" charset="-122"/>
                <a:cs typeface="微软雅黑" panose="020B0503020204020204" charset="-122"/>
              </a:rPr>
              <a:t>→  /name </a:t>
            </a:r>
            <a:r>
              <a:rPr sz="1390" b="0" dirty="0" err="1">
                <a:solidFill>
                  <a:srgbClr val="414951"/>
                </a:solidFill>
                <a:latin typeface="微软雅黑" panose="020B0503020204020204" charset="-122"/>
                <a:ea typeface="微软雅黑" panose="020B0503020204020204" charset="-122"/>
                <a:cs typeface="微软雅黑" panose="020B0503020204020204" charset="-122"/>
              </a:rPr>
              <a:t>显式调用</a:t>
            </a:r>
            <a:endParaRPr sz="139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36" name="metadata-description"/>
          <p:cNvSpPr>
            <a:spLocks noGrp="1"/>
          </p:cNvSpPr>
          <p:nvPr/>
        </p:nvSpPr>
        <p:spPr>
          <a:xfrm>
            <a:off x="5124450" y="2746408"/>
            <a:ext cx="1104900" cy="22860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description</a:t>
            </a:r>
          </a:p>
        </p:txBody>
      </p:sp>
      <p:sp>
        <p:nvSpPr>
          <p:cNvPr id="37" name="metadata-description-path"/>
          <p:cNvSpPr>
            <a:spLocks noGrp="1"/>
          </p:cNvSpPr>
          <p:nvPr/>
        </p:nvSpPr>
        <p:spPr>
          <a:xfrm>
            <a:off x="6200775" y="2603533"/>
            <a:ext cx="1809750" cy="571500"/>
          </a:xfrm>
          <a:prstGeom prst="rect">
            <a:avLst/>
          </a:prstGeom>
          <a:noFill/>
          <a:ln w="0">
            <a:noFill/>
            <a:prstDash val="solid"/>
          </a:ln>
        </p:spPr>
        <p:txBody>
          <a:bodyPr wrap="none" lIns="0" tIns="0" rIns="0" bIns="0" anchor="ctr">
            <a:normAutofit fontScale="98468"/>
          </a:bodyPr>
          <a:lstStyle/>
          <a:p>
            <a:pPr algn="l">
              <a:defRPr sz="1275" b="0">
                <a:solidFill>
                  <a:srgbClr val="414951"/>
                </a:solidFill>
                <a:latin typeface="微软雅黑" panose="020B0503020204020204" charset="-122"/>
                <a:ea typeface="微软雅黑" panose="020B0503020204020204" charset="-122"/>
                <a:cs typeface="微软雅黑" panose="020B0503020204020204" charset="-122"/>
              </a:defRPr>
            </a:pPr>
            <a:r>
              <a:rPr sz="1275" b="0" dirty="0" smtClean="0">
                <a:solidFill>
                  <a:srgbClr val="414951"/>
                </a:solidFill>
                <a:latin typeface="微软雅黑" panose="020B0503020204020204" charset="-122"/>
                <a:ea typeface="微软雅黑" panose="020B0503020204020204" charset="-122"/>
                <a:cs typeface="微软雅黑" panose="020B0503020204020204" charset="-122"/>
              </a:rPr>
              <a:t>→ </a:t>
            </a:r>
            <a:r>
              <a:rPr sz="1275" b="0" dirty="0">
                <a:solidFill>
                  <a:srgbClr val="414951"/>
                </a:solidFill>
                <a:latin typeface="微软雅黑" panose="020B0503020204020204" charset="-122"/>
                <a:ea typeface="微软雅黑" panose="020B0503020204020204" charset="-122"/>
                <a:cs typeface="微软雅黑" panose="020B0503020204020204" charset="-122"/>
              </a:rPr>
              <a:t>Agent </a:t>
            </a:r>
            <a:r>
              <a:rPr lang="zh-CN" altLang="en-US" sz="1275" b="0" dirty="0" smtClean="0">
                <a:solidFill>
                  <a:srgbClr val="414951"/>
                </a:solidFill>
                <a:latin typeface="微软雅黑" panose="020B0503020204020204" charset="-122"/>
                <a:ea typeface="微软雅黑" panose="020B0503020204020204" charset="-122"/>
                <a:cs typeface="微软雅黑" panose="020B0503020204020204" charset="-122"/>
              </a:rPr>
              <a:t>自动</a:t>
            </a:r>
            <a:r>
              <a:rPr sz="1275" b="0" dirty="0" err="1" smtClean="0">
                <a:solidFill>
                  <a:srgbClr val="414951"/>
                </a:solidFill>
                <a:latin typeface="微软雅黑" panose="020B0503020204020204" charset="-122"/>
                <a:ea typeface="微软雅黑" panose="020B0503020204020204" charset="-122"/>
                <a:cs typeface="微软雅黑" panose="020B0503020204020204" charset="-122"/>
              </a:rPr>
              <a:t>匹配</a:t>
            </a:r>
            <a:endParaRPr sz="127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38" name="metadata-answer-band"/>
          <p:cNvSpPr>
            <a:spLocks noGrp="1"/>
          </p:cNvSpPr>
          <p:nvPr/>
        </p:nvSpPr>
        <p:spPr>
          <a:xfrm>
            <a:off x="5067300" y="3289333"/>
            <a:ext cx="3009900" cy="238125"/>
          </a:xfrm>
          <a:prstGeom prst="rect">
            <a:avLst/>
          </a:prstGeom>
          <a:solidFill>
            <a:srgbClr val="F2F6F8"/>
          </a:solidFill>
          <a:ln w="0">
            <a:noFill/>
            <a:prstDash val="solid"/>
          </a:ln>
        </p:spPr>
      </p:sp>
      <p:sp>
        <p:nvSpPr>
          <p:cNvPr id="39" name="metadata-answer"/>
          <p:cNvSpPr>
            <a:spLocks noGrp="1"/>
          </p:cNvSpPr>
          <p:nvPr/>
        </p:nvSpPr>
        <p:spPr>
          <a:xfrm>
            <a:off x="5181600" y="3298858"/>
            <a:ext cx="2781300" cy="219075"/>
          </a:xfrm>
          <a:prstGeom prst="rect">
            <a:avLst/>
          </a:prstGeom>
          <a:noFill/>
          <a:ln w="0">
            <a:noFill/>
            <a:prstDash val="solid"/>
          </a:ln>
        </p:spPr>
        <p:txBody>
          <a:bodyPr wrap="none" lIns="0" tIns="0" rIns="0" bIns="0" anchor="ctr">
            <a:normAutofit/>
          </a:bodyPr>
          <a:lstStyle/>
          <a:p>
            <a:pPr algn="l">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dirty="0" err="1">
                <a:solidFill>
                  <a:srgbClr val="557A96"/>
                </a:solidFill>
                <a:latin typeface="微软雅黑" panose="020B0503020204020204" charset="-122"/>
                <a:ea typeface="微软雅黑" panose="020B0503020204020204" charset="-122"/>
                <a:cs typeface="微软雅黑" panose="020B0503020204020204" charset="-122"/>
              </a:rPr>
              <a:t>回答</a:t>
            </a:r>
            <a:r>
              <a:rPr sz="1275" b="1" dirty="0" err="1" smtClean="0">
                <a:solidFill>
                  <a:srgbClr val="557A96"/>
                </a:solidFill>
                <a:latin typeface="微软雅黑" panose="020B0503020204020204" charset="-122"/>
                <a:ea typeface="微软雅黑" panose="020B0503020204020204" charset="-122"/>
                <a:cs typeface="微软雅黑" panose="020B0503020204020204" charset="-122"/>
              </a:rPr>
              <a:t>：</a:t>
            </a:r>
            <a:r>
              <a:rPr lang="en-US" altLang="zh-CN" sz="1275" b="1" dirty="0" err="1" smtClean="0">
                <a:solidFill>
                  <a:srgbClr val="557A96"/>
                </a:solidFill>
                <a:latin typeface="微软雅黑" panose="020B0503020204020204" charset="-122"/>
                <a:ea typeface="微软雅黑" panose="020B0503020204020204" charset="-122"/>
                <a:cs typeface="微软雅黑" panose="020B0503020204020204" charset="-122"/>
              </a:rPr>
              <a:t>skill</a:t>
            </a:r>
            <a:r>
              <a:rPr lang="zh-CN" altLang="en-US" sz="1275" b="1" dirty="0">
                <a:solidFill>
                  <a:srgbClr val="557A96"/>
                </a:solidFill>
                <a:latin typeface="微软雅黑" panose="020B0503020204020204" charset="-122"/>
                <a:ea typeface="微软雅黑" panose="020B0503020204020204" charset="-122"/>
                <a:cs typeface="微软雅黑" panose="020B0503020204020204" charset="-122"/>
              </a:rPr>
              <a:t>名字</a:t>
            </a:r>
            <a:r>
              <a:rPr sz="1275" b="1" dirty="0" smtClean="0">
                <a:solidFill>
                  <a:srgbClr val="557A96"/>
                </a:solidFill>
                <a:latin typeface="微软雅黑" panose="020B0503020204020204" charset="-122"/>
                <a:ea typeface="微软雅黑" panose="020B0503020204020204" charset="-122"/>
                <a:cs typeface="微软雅黑" panose="020B0503020204020204" charset="-122"/>
              </a:rPr>
              <a:t>？</a:t>
            </a:r>
            <a:r>
              <a:rPr sz="1275" b="1" dirty="0" err="1" smtClean="0">
                <a:solidFill>
                  <a:srgbClr val="557A96"/>
                </a:solidFill>
                <a:latin typeface="微软雅黑" panose="020B0503020204020204" charset="-122"/>
                <a:ea typeface="微软雅黑" panose="020B0503020204020204" charset="-122"/>
                <a:cs typeface="微软雅黑" panose="020B0503020204020204" charset="-122"/>
              </a:rPr>
              <a:t>什么时候调用</a:t>
            </a:r>
            <a:r>
              <a:rPr lang="en-US" altLang="zh-CN" sz="1275" b="1" dirty="0" err="1" smtClean="0">
                <a:solidFill>
                  <a:srgbClr val="557A96"/>
                </a:solidFill>
                <a:latin typeface="微软雅黑" panose="020B0503020204020204" charset="-122"/>
                <a:ea typeface="微软雅黑" panose="020B0503020204020204" charset="-122"/>
                <a:cs typeface="微软雅黑" panose="020B0503020204020204" charset="-122"/>
              </a:rPr>
              <a:t>skill</a:t>
            </a:r>
            <a:r>
              <a:rPr sz="1275" b="1" dirty="0" smtClean="0">
                <a:solidFill>
                  <a:srgbClr val="557A96"/>
                </a:solidFill>
                <a:latin typeface="微软雅黑" panose="020B0503020204020204" charset="-122"/>
                <a:ea typeface="微软雅黑" panose="020B0503020204020204" charset="-122"/>
                <a:cs typeface="微软雅黑" panose="020B0503020204020204" charset="-122"/>
              </a:rPr>
              <a:t>？</a:t>
            </a:r>
            <a:endParaRPr sz="127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0" name="overview-card"/>
          <p:cNvSpPr>
            <a:spLocks noGrp="1"/>
          </p:cNvSpPr>
          <p:nvPr/>
        </p:nvSpPr>
        <p:spPr>
          <a:xfrm>
            <a:off x="8343900" y="1993933"/>
            <a:ext cx="3238500" cy="1638300"/>
          </a:xfrm>
          <a:prstGeom prst="roundRect">
            <a:avLst>
              <a:gd name="adj" fmla="val 4070"/>
            </a:avLst>
          </a:prstGeom>
          <a:solidFill>
            <a:srgbClr val="FFFFFF"/>
          </a:solidFill>
          <a:ln w="9525">
            <a:solidFill>
              <a:srgbClr val="D8DEE3"/>
            </a:solidFill>
            <a:prstDash val="solid"/>
          </a:ln>
        </p:spPr>
      </p:sp>
      <p:sp>
        <p:nvSpPr>
          <p:cNvPr id="41" name="overview-accent"/>
          <p:cNvSpPr>
            <a:spLocks noGrp="1"/>
          </p:cNvSpPr>
          <p:nvPr/>
        </p:nvSpPr>
        <p:spPr>
          <a:xfrm>
            <a:off x="8343900" y="1993933"/>
            <a:ext cx="3238500" cy="28575"/>
          </a:xfrm>
          <a:prstGeom prst="rect">
            <a:avLst/>
          </a:prstGeom>
          <a:solidFill>
            <a:srgbClr val="557A96"/>
          </a:solidFill>
          <a:ln w="0">
            <a:noFill/>
            <a:prstDash val="solid"/>
          </a:ln>
        </p:spPr>
      </p:sp>
      <p:sp>
        <p:nvSpPr>
          <p:cNvPr id="42" name="overview-number"/>
          <p:cNvSpPr>
            <a:spLocks noGrp="1"/>
          </p:cNvSpPr>
          <p:nvPr/>
        </p:nvSpPr>
        <p:spPr>
          <a:xfrm>
            <a:off x="8496300" y="210823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43" name="overview-title"/>
          <p:cNvSpPr>
            <a:spLocks noGrp="1"/>
          </p:cNvSpPr>
          <p:nvPr/>
        </p:nvSpPr>
        <p:spPr>
          <a:xfrm>
            <a:off x="8858250" y="208918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Overview</a:t>
            </a:r>
          </a:p>
        </p:txBody>
      </p:sp>
      <p:sp>
        <p:nvSpPr>
          <p:cNvPr id="44" name="overview-subtitle"/>
          <p:cNvSpPr>
            <a:spLocks noGrp="1"/>
          </p:cNvSpPr>
          <p:nvPr/>
        </p:nvSpPr>
        <p:spPr>
          <a:xfrm>
            <a:off x="10267950" y="2108233"/>
            <a:ext cx="1162050" cy="238125"/>
          </a:xfrm>
          <a:prstGeom prst="rect">
            <a:avLst/>
          </a:prstGeom>
          <a:noFill/>
          <a:ln w="0">
            <a:noFill/>
            <a:prstDash val="solid"/>
          </a:ln>
        </p:spPr>
        <p:txBody>
          <a:bodyPr wrap="none" lIns="0" tIns="0" rIns="0" bIns="0" anchor="ctr">
            <a:normAutofit/>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能力边界</a:t>
            </a:r>
          </a:p>
        </p:txBody>
      </p:sp>
      <p:sp>
        <p:nvSpPr>
          <p:cNvPr id="45" name="overview-key-0"/>
          <p:cNvSpPr>
            <a:spLocks noGrp="1"/>
          </p:cNvSpPr>
          <p:nvPr/>
        </p:nvSpPr>
        <p:spPr>
          <a:xfrm>
            <a:off x="8515350" y="2422558"/>
            <a:ext cx="781050" cy="209550"/>
          </a:xfrm>
          <a:prstGeom prst="rect">
            <a:avLst/>
          </a:prstGeom>
          <a:noFill/>
          <a:ln w="0">
            <a:noFill/>
            <a:prstDash val="solid"/>
          </a:ln>
        </p:spPr>
        <p:txBody>
          <a:bodyPr wrap="none" lIns="0" tIns="0" rIns="0" bIns="0" anchor="ctr">
            <a:normAutofit/>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负责什么</a:t>
            </a:r>
          </a:p>
        </p:txBody>
      </p:sp>
      <p:sp>
        <p:nvSpPr>
          <p:cNvPr id="46" name="overview-value-0"/>
          <p:cNvSpPr>
            <a:spLocks noGrp="1"/>
          </p:cNvSpPr>
          <p:nvPr/>
        </p:nvSpPr>
        <p:spPr>
          <a:xfrm>
            <a:off x="9315450" y="24225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Skill 的任务范围</a:t>
            </a:r>
          </a:p>
        </p:txBody>
      </p:sp>
      <p:sp>
        <p:nvSpPr>
          <p:cNvPr id="47" name="overview-key-1"/>
          <p:cNvSpPr>
            <a:spLocks noGrp="1"/>
          </p:cNvSpPr>
          <p:nvPr/>
        </p:nvSpPr>
        <p:spPr>
          <a:xfrm>
            <a:off x="8515350" y="2651158"/>
            <a:ext cx="781050" cy="209550"/>
          </a:xfrm>
          <a:prstGeom prst="rect">
            <a:avLst/>
          </a:prstGeom>
          <a:noFill/>
          <a:ln w="0">
            <a:noFill/>
            <a:prstDash val="solid"/>
          </a:ln>
        </p:spPr>
        <p:txBody>
          <a:bodyPr wrap="none" lIns="0" tIns="0" rIns="0" bIns="0" anchor="ctr">
            <a:normAutofit fontScale="93750"/>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有哪些阶段</a:t>
            </a:r>
          </a:p>
        </p:txBody>
      </p:sp>
      <p:sp>
        <p:nvSpPr>
          <p:cNvPr id="48" name="overview-value-1"/>
          <p:cNvSpPr>
            <a:spLocks noGrp="1"/>
          </p:cNvSpPr>
          <p:nvPr/>
        </p:nvSpPr>
        <p:spPr>
          <a:xfrm>
            <a:off x="9315450" y="26511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整体执行框架</a:t>
            </a:r>
          </a:p>
        </p:txBody>
      </p:sp>
      <p:sp>
        <p:nvSpPr>
          <p:cNvPr id="49" name="overview-key-2"/>
          <p:cNvSpPr>
            <a:spLocks noGrp="1"/>
          </p:cNvSpPr>
          <p:nvPr/>
        </p:nvSpPr>
        <p:spPr>
          <a:xfrm>
            <a:off x="8515350" y="2879758"/>
            <a:ext cx="781050" cy="209550"/>
          </a:xfrm>
          <a:prstGeom prst="rect">
            <a:avLst/>
          </a:prstGeom>
          <a:noFill/>
          <a:ln w="0">
            <a:noFill/>
            <a:prstDash val="solid"/>
          </a:ln>
        </p:spPr>
        <p:txBody>
          <a:bodyPr wrap="none" lIns="0" tIns="0" rIns="0" bIns="0" anchor="ctr">
            <a:normAutofit/>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与谁协作</a:t>
            </a:r>
          </a:p>
        </p:txBody>
      </p:sp>
      <p:sp>
        <p:nvSpPr>
          <p:cNvPr id="50" name="overview-value-2"/>
          <p:cNvSpPr>
            <a:spLocks noGrp="1"/>
          </p:cNvSpPr>
          <p:nvPr/>
        </p:nvSpPr>
        <p:spPr>
          <a:xfrm>
            <a:off x="9315450" y="28797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模块 / 能力关系</a:t>
            </a:r>
          </a:p>
        </p:txBody>
      </p:sp>
      <p:sp>
        <p:nvSpPr>
          <p:cNvPr id="53" name="overview-answer-band"/>
          <p:cNvSpPr>
            <a:spLocks noGrp="1"/>
          </p:cNvSpPr>
          <p:nvPr/>
        </p:nvSpPr>
        <p:spPr>
          <a:xfrm>
            <a:off x="8458200" y="3365533"/>
            <a:ext cx="3009900" cy="190500"/>
          </a:xfrm>
          <a:prstGeom prst="rect">
            <a:avLst/>
          </a:prstGeom>
          <a:solidFill>
            <a:srgbClr val="F2F6F8"/>
          </a:solidFill>
          <a:ln w="0">
            <a:noFill/>
            <a:prstDash val="solid"/>
          </a:ln>
        </p:spPr>
      </p:sp>
      <p:sp>
        <p:nvSpPr>
          <p:cNvPr id="54" name="overview-answer"/>
          <p:cNvSpPr>
            <a:spLocks noGrp="1"/>
          </p:cNvSpPr>
          <p:nvPr/>
        </p:nvSpPr>
        <p:spPr>
          <a:xfrm>
            <a:off x="8572500" y="3365533"/>
            <a:ext cx="2781300" cy="190500"/>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回答：整体负责什么、怎么运转？</a:t>
            </a:r>
          </a:p>
        </p:txBody>
      </p:sp>
      <p:sp>
        <p:nvSpPr>
          <p:cNvPr id="55" name="policy-card"/>
          <p:cNvSpPr>
            <a:spLocks noGrp="1"/>
          </p:cNvSpPr>
          <p:nvPr/>
        </p:nvSpPr>
        <p:spPr>
          <a:xfrm>
            <a:off x="4953000" y="3765583"/>
            <a:ext cx="3238500" cy="1924050"/>
          </a:xfrm>
          <a:prstGeom prst="roundRect">
            <a:avLst>
              <a:gd name="adj" fmla="val 3465"/>
            </a:avLst>
          </a:prstGeom>
          <a:solidFill>
            <a:srgbClr val="FFFFFF"/>
          </a:solidFill>
          <a:ln w="9525">
            <a:solidFill>
              <a:srgbClr val="D8DEE3"/>
            </a:solidFill>
            <a:prstDash val="solid"/>
          </a:ln>
        </p:spPr>
      </p:sp>
      <p:sp>
        <p:nvSpPr>
          <p:cNvPr id="56" name="policy-accent"/>
          <p:cNvSpPr>
            <a:spLocks noGrp="1"/>
          </p:cNvSpPr>
          <p:nvPr/>
        </p:nvSpPr>
        <p:spPr>
          <a:xfrm>
            <a:off x="4953000" y="3765583"/>
            <a:ext cx="3238500" cy="28575"/>
          </a:xfrm>
          <a:prstGeom prst="rect">
            <a:avLst/>
          </a:prstGeom>
          <a:solidFill>
            <a:srgbClr val="557A96"/>
          </a:solidFill>
          <a:ln w="0">
            <a:noFill/>
            <a:prstDash val="solid"/>
          </a:ln>
        </p:spPr>
      </p:sp>
      <p:sp>
        <p:nvSpPr>
          <p:cNvPr id="57" name="policy-number"/>
          <p:cNvSpPr>
            <a:spLocks noGrp="1"/>
          </p:cNvSpPr>
          <p:nvPr/>
        </p:nvSpPr>
        <p:spPr>
          <a:xfrm>
            <a:off x="5105400" y="387988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58" name="policy-title"/>
          <p:cNvSpPr>
            <a:spLocks noGrp="1"/>
          </p:cNvSpPr>
          <p:nvPr/>
        </p:nvSpPr>
        <p:spPr>
          <a:xfrm>
            <a:off x="5467350" y="3860833"/>
            <a:ext cx="1524000" cy="276225"/>
          </a:xfrm>
          <a:prstGeom prst="rect">
            <a:avLst/>
          </a:prstGeom>
          <a:noFill/>
          <a:ln w="0">
            <a:noFill/>
            <a:prstDash val="solid"/>
          </a:ln>
        </p:spPr>
        <p:txBody>
          <a:bodyPr wrap="none" lIns="0" tIns="0" rIns="0" bIns="0" anchor="ctr">
            <a:normAutofit fontScale="93250"/>
          </a:bodyPr>
          <a:lstStyle/>
          <a:p>
            <a:pPr algn="l">
              <a:defRPr sz="1575" b="1">
                <a:solidFill>
                  <a:srgbClr val="252B31"/>
                </a:solidFill>
                <a:latin typeface="微软雅黑" panose="020B0503020204020204" charset="-122"/>
                <a:ea typeface="微软雅黑" panose="020B0503020204020204" charset="-122"/>
                <a:cs typeface="微软雅黑" panose="020B0503020204020204" charset="-122"/>
              </a:defRPr>
            </a:pPr>
            <a:r>
              <a:rPr sz="1575" b="1">
                <a:solidFill>
                  <a:srgbClr val="252B31"/>
                </a:solidFill>
                <a:latin typeface="微软雅黑" panose="020B0503020204020204" charset="-122"/>
                <a:ea typeface="微软雅黑" panose="020B0503020204020204" charset="-122"/>
                <a:cs typeface="微软雅黑" panose="020B0503020204020204" charset="-122"/>
              </a:rPr>
              <a:t>Execution Policy</a:t>
            </a:r>
          </a:p>
        </p:txBody>
      </p:sp>
      <p:sp>
        <p:nvSpPr>
          <p:cNvPr id="59" name="policy-subtitle"/>
          <p:cNvSpPr>
            <a:spLocks noGrp="1"/>
          </p:cNvSpPr>
          <p:nvPr/>
        </p:nvSpPr>
        <p:spPr>
          <a:xfrm>
            <a:off x="7124700" y="3879883"/>
            <a:ext cx="91440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a:solidFill>
                  <a:srgbClr val="557A96"/>
                </a:solidFill>
                <a:latin typeface="微软雅黑" panose="020B0503020204020204" charset="-122"/>
                <a:ea typeface="微软雅黑" panose="020B0503020204020204" charset="-122"/>
                <a:cs typeface="微软雅黑" panose="020B0503020204020204" charset="-122"/>
              </a:rPr>
              <a:t>策略与约束</a:t>
            </a:r>
          </a:p>
        </p:txBody>
      </p:sp>
      <p:sp>
        <p:nvSpPr>
          <p:cNvPr id="60" name="policy-intro"/>
          <p:cNvSpPr>
            <a:spLocks noGrp="1"/>
          </p:cNvSpPr>
          <p:nvPr/>
        </p:nvSpPr>
        <p:spPr>
          <a:xfrm>
            <a:off x="5124450" y="4194208"/>
            <a:ext cx="2895600" cy="219075"/>
          </a:xfrm>
          <a:prstGeom prst="rect">
            <a:avLst/>
          </a:prstGeom>
          <a:noFill/>
          <a:ln w="0">
            <a:noFill/>
            <a:prstDash val="solid"/>
          </a:ln>
        </p:spPr>
        <p:txBody>
          <a:bodyPr wrap="none" lIns="0" tIns="0" rIns="0" bIns="0" anchor="ctr">
            <a:normAutofit/>
          </a:bodyPr>
          <a:lstStyle/>
          <a:p>
            <a:pPr algn="l">
              <a:defRPr sz="1350" b="1">
                <a:solidFill>
                  <a:srgbClr val="68727B"/>
                </a:solidFill>
                <a:latin typeface="微软雅黑" panose="020B0503020204020204" charset="-122"/>
                <a:ea typeface="微软雅黑" panose="020B0503020204020204" charset="-122"/>
                <a:cs typeface="微软雅黑" panose="020B0503020204020204" charset="-122"/>
              </a:defRPr>
            </a:pPr>
            <a:r>
              <a:rPr sz="1350" b="1" dirty="0" err="1">
                <a:solidFill>
                  <a:srgbClr val="68727B"/>
                </a:solidFill>
                <a:latin typeface="微软雅黑" panose="020B0503020204020204" charset="-122"/>
                <a:ea typeface="微软雅黑" panose="020B0503020204020204" charset="-122"/>
                <a:cs typeface="微软雅黑" panose="020B0503020204020204" charset="-122"/>
              </a:rPr>
              <a:t>执行时始终需要遵守的全局规则</a:t>
            </a:r>
            <a:endParaRPr sz="135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61" name="policy-bullet-1-dot"/>
          <p:cNvSpPr>
            <a:spLocks noGrp="1"/>
          </p:cNvSpPr>
          <p:nvPr/>
        </p:nvSpPr>
        <p:spPr>
          <a:xfrm>
            <a:off x="5143500" y="4537108"/>
            <a:ext cx="47625" cy="47625"/>
          </a:xfrm>
          <a:prstGeom prst="ellipse">
            <a:avLst/>
          </a:prstGeom>
          <a:solidFill>
            <a:srgbClr val="557A96"/>
          </a:solidFill>
          <a:ln w="0">
            <a:solidFill>
              <a:srgbClr val="557A96"/>
            </a:solidFill>
            <a:prstDash val="solid"/>
          </a:ln>
        </p:spPr>
      </p:sp>
      <p:sp>
        <p:nvSpPr>
          <p:cNvPr id="62" name="policy-bullet-1"/>
          <p:cNvSpPr>
            <a:spLocks noGrp="1"/>
          </p:cNvSpPr>
          <p:nvPr/>
        </p:nvSpPr>
        <p:spPr>
          <a:xfrm>
            <a:off x="5276850" y="4460908"/>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任务按指定顺序执行</a:t>
            </a:r>
          </a:p>
        </p:txBody>
      </p:sp>
      <p:sp>
        <p:nvSpPr>
          <p:cNvPr id="63" name="policy-bullet-2-dot"/>
          <p:cNvSpPr>
            <a:spLocks noGrp="1"/>
          </p:cNvSpPr>
          <p:nvPr/>
        </p:nvSpPr>
        <p:spPr>
          <a:xfrm>
            <a:off x="5143500" y="4756183"/>
            <a:ext cx="47625" cy="47625"/>
          </a:xfrm>
          <a:prstGeom prst="ellipse">
            <a:avLst/>
          </a:prstGeom>
          <a:solidFill>
            <a:srgbClr val="557A96"/>
          </a:solidFill>
          <a:ln w="0">
            <a:solidFill>
              <a:srgbClr val="557A96"/>
            </a:solidFill>
            <a:prstDash val="solid"/>
          </a:ln>
        </p:spPr>
      </p:sp>
      <p:sp>
        <p:nvSpPr>
          <p:cNvPr id="64" name="policy-bullet-2"/>
          <p:cNvSpPr>
            <a:spLocks noGrp="1"/>
          </p:cNvSpPr>
          <p:nvPr/>
        </p:nvSpPr>
        <p:spPr>
          <a:xfrm>
            <a:off x="5276850" y="4679983"/>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dirty="0" err="1">
                <a:solidFill>
                  <a:srgbClr val="414951"/>
                </a:solidFill>
                <a:latin typeface="微软雅黑" panose="020B0503020204020204" charset="-122"/>
                <a:ea typeface="微软雅黑" panose="020B0503020204020204" charset="-122"/>
                <a:cs typeface="微软雅黑" panose="020B0503020204020204" charset="-122"/>
              </a:rPr>
              <a:t>委派任务需阻塞等待</a:t>
            </a:r>
            <a:endParaRPr sz="131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5" name="policy-bullet-3-dot"/>
          <p:cNvSpPr>
            <a:spLocks noGrp="1"/>
          </p:cNvSpPr>
          <p:nvPr/>
        </p:nvSpPr>
        <p:spPr>
          <a:xfrm>
            <a:off x="5143500" y="4975258"/>
            <a:ext cx="47625" cy="47625"/>
          </a:xfrm>
          <a:prstGeom prst="ellipse">
            <a:avLst/>
          </a:prstGeom>
          <a:solidFill>
            <a:srgbClr val="557A96"/>
          </a:solidFill>
          <a:ln w="0">
            <a:solidFill>
              <a:srgbClr val="557A96"/>
            </a:solidFill>
            <a:prstDash val="solid"/>
          </a:ln>
        </p:spPr>
      </p:sp>
      <p:sp>
        <p:nvSpPr>
          <p:cNvPr id="66" name="policy-bullet-3"/>
          <p:cNvSpPr>
            <a:spLocks noGrp="1"/>
          </p:cNvSpPr>
          <p:nvPr/>
        </p:nvSpPr>
        <p:spPr>
          <a:xfrm>
            <a:off x="5276850" y="4899058"/>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dirty="0" err="1">
                <a:solidFill>
                  <a:srgbClr val="414951"/>
                </a:solidFill>
                <a:latin typeface="微软雅黑" panose="020B0503020204020204" charset="-122"/>
                <a:ea typeface="微软雅黑" panose="020B0503020204020204" charset="-122"/>
                <a:cs typeface="微软雅黑" panose="020B0503020204020204" charset="-122"/>
              </a:rPr>
              <a:t>禁止主流程越权接管专门任务</a:t>
            </a:r>
            <a:endParaRPr sz="131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9" name="policy-answer-band"/>
          <p:cNvSpPr>
            <a:spLocks noGrp="1"/>
          </p:cNvSpPr>
          <p:nvPr/>
        </p:nvSpPr>
        <p:spPr>
          <a:xfrm>
            <a:off x="5067300" y="5365783"/>
            <a:ext cx="3009900" cy="238125"/>
          </a:xfrm>
          <a:prstGeom prst="rect">
            <a:avLst/>
          </a:prstGeom>
          <a:solidFill>
            <a:srgbClr val="F2F6F8"/>
          </a:solidFill>
          <a:ln w="0">
            <a:noFill/>
            <a:prstDash val="solid"/>
          </a:ln>
        </p:spPr>
      </p:sp>
      <p:sp>
        <p:nvSpPr>
          <p:cNvPr id="70" name="policy-answer"/>
          <p:cNvSpPr>
            <a:spLocks noGrp="1"/>
          </p:cNvSpPr>
          <p:nvPr/>
        </p:nvSpPr>
        <p:spPr>
          <a:xfrm>
            <a:off x="5153025" y="5375308"/>
            <a:ext cx="2857500" cy="219075"/>
          </a:xfrm>
          <a:prstGeom prst="rect">
            <a:avLst/>
          </a:prstGeom>
          <a:noFill/>
          <a:ln w="0">
            <a:noFill/>
            <a:prstDash val="solid"/>
          </a:ln>
        </p:spPr>
        <p:txBody>
          <a:bodyPr wrap="none" lIns="0" tIns="0" rIns="0" bIns="0" anchor="ctr">
            <a:normAutofit fontScale="98351"/>
          </a:bodyPr>
          <a:lstStyle/>
          <a:p>
            <a:pPr algn="ctr">
              <a:defRPr sz="1240" b="1">
                <a:solidFill>
                  <a:srgbClr val="557A96"/>
                </a:solidFill>
                <a:latin typeface="微软雅黑" panose="020B0503020204020204" charset="-122"/>
                <a:ea typeface="微软雅黑" panose="020B0503020204020204" charset="-122"/>
                <a:cs typeface="微软雅黑" panose="020B0503020204020204" charset="-122"/>
              </a:defRPr>
            </a:pPr>
            <a:endParaRPr sz="124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1" name="contract-card"/>
          <p:cNvSpPr>
            <a:spLocks noGrp="1"/>
          </p:cNvSpPr>
          <p:nvPr/>
        </p:nvSpPr>
        <p:spPr>
          <a:xfrm>
            <a:off x="8343900" y="3765583"/>
            <a:ext cx="3238500" cy="1924050"/>
          </a:xfrm>
          <a:prstGeom prst="roundRect">
            <a:avLst>
              <a:gd name="adj" fmla="val 3465"/>
            </a:avLst>
          </a:prstGeom>
          <a:solidFill>
            <a:srgbClr val="FFFFFF"/>
          </a:solidFill>
          <a:ln w="9525">
            <a:solidFill>
              <a:srgbClr val="D8DEE3"/>
            </a:solidFill>
            <a:prstDash val="solid"/>
          </a:ln>
        </p:spPr>
      </p:sp>
      <p:sp>
        <p:nvSpPr>
          <p:cNvPr id="72" name="contract-accent"/>
          <p:cNvSpPr>
            <a:spLocks noGrp="1"/>
          </p:cNvSpPr>
          <p:nvPr/>
        </p:nvSpPr>
        <p:spPr>
          <a:xfrm>
            <a:off x="8343900" y="3765583"/>
            <a:ext cx="3238500" cy="28575"/>
          </a:xfrm>
          <a:prstGeom prst="rect">
            <a:avLst/>
          </a:prstGeom>
          <a:solidFill>
            <a:srgbClr val="557A96"/>
          </a:solidFill>
          <a:ln w="0">
            <a:noFill/>
            <a:prstDash val="solid"/>
          </a:ln>
        </p:spPr>
      </p:sp>
      <p:sp>
        <p:nvSpPr>
          <p:cNvPr id="73" name="contract-number"/>
          <p:cNvSpPr>
            <a:spLocks noGrp="1"/>
          </p:cNvSpPr>
          <p:nvPr/>
        </p:nvSpPr>
        <p:spPr>
          <a:xfrm>
            <a:off x="8496300" y="387988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74" name="contract-title"/>
          <p:cNvSpPr>
            <a:spLocks noGrp="1"/>
          </p:cNvSpPr>
          <p:nvPr/>
        </p:nvSpPr>
        <p:spPr>
          <a:xfrm>
            <a:off x="8858250" y="386083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Contract</a:t>
            </a:r>
          </a:p>
        </p:txBody>
      </p:sp>
      <p:sp>
        <p:nvSpPr>
          <p:cNvPr id="75" name="contract-subtitle"/>
          <p:cNvSpPr>
            <a:spLocks noGrp="1"/>
          </p:cNvSpPr>
          <p:nvPr/>
        </p:nvSpPr>
        <p:spPr>
          <a:xfrm>
            <a:off x="10267950" y="3879883"/>
            <a:ext cx="1162050" cy="238125"/>
          </a:xfrm>
          <a:prstGeom prst="rect">
            <a:avLst/>
          </a:prstGeom>
          <a:noFill/>
          <a:ln w="0">
            <a:noFill/>
            <a:prstDash val="solid"/>
          </a:ln>
        </p:spPr>
        <p:txBody>
          <a:bodyPr wrap="none" lIns="0" tIns="0" rIns="0" bIns="0" anchor="ctr">
            <a:normAutofit fontScale="95875"/>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输入 / 输出契约</a:t>
            </a:r>
          </a:p>
        </p:txBody>
      </p:sp>
      <p:sp>
        <p:nvSpPr>
          <p:cNvPr id="76" name="contract-input-title"/>
          <p:cNvSpPr>
            <a:spLocks noGrp="1"/>
          </p:cNvSpPr>
          <p:nvPr/>
        </p:nvSpPr>
        <p:spPr>
          <a:xfrm>
            <a:off x="8515350" y="4194208"/>
            <a:ext cx="1219200" cy="209550"/>
          </a:xfrm>
          <a:prstGeom prst="rect">
            <a:avLst/>
          </a:prstGeom>
          <a:noFill/>
          <a:ln w="0">
            <a:noFill/>
            <a:prstDash val="solid"/>
          </a:ln>
        </p:spPr>
        <p:txBody>
          <a:bodyPr wrap="none" lIns="0" tIns="0" rIns="0" bIns="0" anchor="ctr">
            <a:normAutofit fontScale="97164"/>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Input Contract</a:t>
            </a:r>
          </a:p>
        </p:txBody>
      </p:sp>
      <p:sp>
        <p:nvSpPr>
          <p:cNvPr id="77" name="contract-input-flow"/>
          <p:cNvSpPr>
            <a:spLocks noGrp="1"/>
          </p:cNvSpPr>
          <p:nvPr/>
        </p:nvSpPr>
        <p:spPr>
          <a:xfrm>
            <a:off x="9753600" y="4194208"/>
            <a:ext cx="1581150" cy="209550"/>
          </a:xfrm>
          <a:prstGeom prst="rect">
            <a:avLst/>
          </a:prstGeom>
          <a:noFill/>
          <a:ln w="0">
            <a:noFill/>
            <a:prstDash val="solid"/>
          </a:ln>
        </p:spPr>
        <p:txBody>
          <a:bodyPr wrap="none" lIns="0" tIns="0" rIns="0" bIns="0" anchor="ctr">
            <a:normAutofit fontScale="96491" lnSpcReduction="10000"/>
          </a:bodyPr>
          <a:lstStyle/>
          <a:p>
            <a:pPr algn="ctr">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User   →   Skill</a:t>
            </a:r>
          </a:p>
        </p:txBody>
      </p:sp>
      <p:sp>
        <p:nvSpPr>
          <p:cNvPr id="78" name="contract-input-items"/>
          <p:cNvSpPr>
            <a:spLocks noGrp="1"/>
          </p:cNvSpPr>
          <p:nvPr/>
        </p:nvSpPr>
        <p:spPr>
          <a:xfrm>
            <a:off x="8515350" y="4441858"/>
            <a:ext cx="2838450" cy="200025"/>
          </a:xfrm>
          <a:prstGeom prst="rect">
            <a:avLst/>
          </a:prstGeom>
          <a:noFill/>
          <a:ln w="0">
            <a:noFill/>
            <a:prstDash val="solid"/>
          </a:ln>
        </p:spPr>
        <p:txBody>
          <a:bodyPr wrap="none" lIns="0" tIns="0" rIns="0" bIns="0" anchor="ctr">
            <a:normAutofit/>
          </a:bodyPr>
          <a:lstStyle/>
          <a:p>
            <a:pPr algn="l">
              <a:defRPr sz="1275" b="0">
                <a:solidFill>
                  <a:srgbClr val="68727B"/>
                </a:solidFill>
                <a:latin typeface="微软雅黑" panose="020B0503020204020204" charset="-122"/>
                <a:ea typeface="微软雅黑" panose="020B0503020204020204" charset="-122"/>
                <a:cs typeface="微软雅黑" panose="020B0503020204020204" charset="-122"/>
              </a:defRPr>
            </a:pPr>
            <a:r>
              <a:rPr sz="1275" b="0">
                <a:solidFill>
                  <a:srgbClr val="68727B"/>
                </a:solidFill>
                <a:latin typeface="微软雅黑" panose="020B0503020204020204" charset="-122"/>
                <a:ea typeface="微软雅黑" panose="020B0503020204020204" charset="-122"/>
                <a:cs typeface="微软雅黑" panose="020B0503020204020204" charset="-122"/>
              </a:rPr>
              <a:t>需求 / 参数 / 文件 / Code</a:t>
            </a:r>
          </a:p>
        </p:txBody>
      </p:sp>
      <p:sp>
        <p:nvSpPr>
          <p:cNvPr id="79" name="contract-divider"/>
          <p:cNvSpPr>
            <a:spLocks noGrp="1"/>
          </p:cNvSpPr>
          <p:nvPr/>
        </p:nvSpPr>
        <p:spPr>
          <a:xfrm>
            <a:off x="8515350" y="4699033"/>
            <a:ext cx="2838450" cy="0"/>
          </a:xfrm>
          <a:prstGeom prst="line">
            <a:avLst/>
          </a:prstGeom>
          <a:noFill/>
          <a:ln w="9525">
            <a:solidFill>
              <a:srgbClr val="D8DEE3"/>
            </a:solidFill>
            <a:prstDash val="solid"/>
          </a:ln>
        </p:spPr>
      </p:sp>
      <p:sp>
        <p:nvSpPr>
          <p:cNvPr id="80" name="contract-output-title"/>
          <p:cNvSpPr>
            <a:spLocks noGrp="1"/>
          </p:cNvSpPr>
          <p:nvPr/>
        </p:nvSpPr>
        <p:spPr>
          <a:xfrm>
            <a:off x="8515350" y="4756183"/>
            <a:ext cx="1314450" cy="209550"/>
          </a:xfrm>
          <a:prstGeom prst="rect">
            <a:avLst/>
          </a:prstGeom>
          <a:noFill/>
          <a:ln w="0">
            <a:noFill/>
            <a:prstDash val="solid"/>
          </a:ln>
        </p:spPr>
        <p:txBody>
          <a:bodyPr wrap="none" lIns="0" tIns="0" rIns="0" bIns="0" anchor="ctr">
            <a:normAutofit fontScale="92892"/>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Output Contract</a:t>
            </a:r>
          </a:p>
        </p:txBody>
      </p:sp>
      <p:sp>
        <p:nvSpPr>
          <p:cNvPr id="81" name="contract-output-flow"/>
          <p:cNvSpPr>
            <a:spLocks noGrp="1"/>
          </p:cNvSpPr>
          <p:nvPr/>
        </p:nvSpPr>
        <p:spPr>
          <a:xfrm>
            <a:off x="10096500" y="4765708"/>
            <a:ext cx="1371600" cy="209550"/>
          </a:xfrm>
          <a:prstGeom prst="rect">
            <a:avLst/>
          </a:prstGeom>
          <a:noFill/>
          <a:ln w="0">
            <a:noFill/>
            <a:prstDash val="solid"/>
          </a:ln>
        </p:spPr>
        <p:txBody>
          <a:bodyPr wrap="none" lIns="0" tIns="0" rIns="0" bIns="0" anchor="ctr">
            <a:normAutofit fontScale="99702" lnSpcReduction="10000"/>
          </a:bodyPr>
          <a:lstStyle/>
          <a:p>
            <a:pPr algn="r">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dirty="0">
                <a:solidFill>
                  <a:srgbClr val="252B31"/>
                </a:solidFill>
                <a:latin typeface="微软雅黑" panose="020B0503020204020204" charset="-122"/>
                <a:ea typeface="微软雅黑" panose="020B0503020204020204" charset="-122"/>
                <a:cs typeface="微软雅黑" panose="020B0503020204020204" charset="-122"/>
              </a:rPr>
              <a:t>Skill   →   Output</a:t>
            </a:r>
          </a:p>
        </p:txBody>
      </p:sp>
      <p:sp>
        <p:nvSpPr>
          <p:cNvPr id="82" name="contract-output-items"/>
          <p:cNvSpPr>
            <a:spLocks noGrp="1"/>
          </p:cNvSpPr>
          <p:nvPr/>
        </p:nvSpPr>
        <p:spPr>
          <a:xfrm>
            <a:off x="8515350" y="5003833"/>
            <a:ext cx="2838450" cy="200025"/>
          </a:xfrm>
          <a:prstGeom prst="rect">
            <a:avLst/>
          </a:prstGeom>
          <a:noFill/>
          <a:ln w="0">
            <a:noFill/>
            <a:prstDash val="solid"/>
          </a:ln>
        </p:spPr>
        <p:txBody>
          <a:bodyPr wrap="none" lIns="0" tIns="0" rIns="0" bIns="0" anchor="ctr">
            <a:normAutofit/>
          </a:bodyPr>
          <a:lstStyle/>
          <a:p>
            <a:pPr algn="l">
              <a:defRPr sz="1275" b="0">
                <a:solidFill>
                  <a:srgbClr val="68727B"/>
                </a:solidFill>
                <a:latin typeface="微软雅黑" panose="020B0503020204020204" charset="-122"/>
                <a:ea typeface="微软雅黑" panose="020B0503020204020204" charset="-122"/>
                <a:cs typeface="微软雅黑" panose="020B0503020204020204" charset="-122"/>
              </a:defRPr>
            </a:pPr>
            <a:r>
              <a:rPr sz="1275" b="0">
                <a:solidFill>
                  <a:srgbClr val="68727B"/>
                </a:solidFill>
                <a:latin typeface="微软雅黑" panose="020B0503020204020204" charset="-122"/>
                <a:ea typeface="微软雅黑" panose="020B0503020204020204" charset="-122"/>
                <a:cs typeface="微软雅黑" panose="020B0503020204020204" charset="-122"/>
              </a:rPr>
              <a:t>文件 / Code / 报告 / Result</a:t>
            </a:r>
          </a:p>
        </p:txBody>
      </p:sp>
      <p:sp>
        <p:nvSpPr>
          <p:cNvPr id="83" name="contract-hook-band"/>
          <p:cNvSpPr>
            <a:spLocks noGrp="1"/>
          </p:cNvSpPr>
          <p:nvPr/>
        </p:nvSpPr>
        <p:spPr>
          <a:xfrm>
            <a:off x="8458200" y="5365783"/>
            <a:ext cx="3009900" cy="238125"/>
          </a:xfrm>
          <a:prstGeom prst="rect">
            <a:avLst/>
          </a:prstGeom>
          <a:solidFill>
            <a:srgbClr val="F2F6F8"/>
          </a:solidFill>
          <a:ln w="0">
            <a:noFill/>
            <a:prstDash val="solid"/>
          </a:ln>
        </p:spPr>
      </p:sp>
      <p:sp>
        <p:nvSpPr>
          <p:cNvPr id="84" name="contract-hook"/>
          <p:cNvSpPr>
            <a:spLocks noGrp="1"/>
          </p:cNvSpPr>
          <p:nvPr/>
        </p:nvSpPr>
        <p:spPr>
          <a:xfrm>
            <a:off x="8553450" y="5375308"/>
            <a:ext cx="2819400" cy="219075"/>
          </a:xfrm>
          <a:prstGeom prst="rect">
            <a:avLst/>
          </a:prstGeom>
          <a:noFill/>
          <a:ln w="0">
            <a:noFill/>
            <a:prstDash val="solid"/>
          </a:ln>
        </p:spPr>
        <p:txBody>
          <a:bodyPr wrap="none" lIns="0" tIns="0" rIns="0" bIns="0" anchor="ctr">
            <a:normAutofit fontScale="94634"/>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dirty="0" err="1" smtClean="0">
                <a:solidFill>
                  <a:srgbClr val="557A96"/>
                </a:solidFill>
                <a:latin typeface="微软雅黑" panose="020B0503020204020204" charset="-122"/>
                <a:ea typeface="微软雅黑" panose="020B0503020204020204" charset="-122"/>
                <a:cs typeface="微软雅黑" panose="020B0503020204020204" charset="-122"/>
              </a:rPr>
              <a:t>阶段间契约将在下一页结合</a:t>
            </a:r>
            <a:r>
              <a:rPr sz="1200" b="1" dirty="0" smtClean="0">
                <a:solidFill>
                  <a:srgbClr val="557A96"/>
                </a:solidFill>
                <a:latin typeface="微软雅黑" panose="020B0503020204020204" charset="-122"/>
                <a:ea typeface="微软雅黑" panose="020B0503020204020204" charset="-122"/>
                <a:cs typeface="微软雅黑" panose="020B0503020204020204" charset="-122"/>
              </a:rPr>
              <a:t> </a:t>
            </a:r>
            <a:r>
              <a:rPr sz="1200" b="1" dirty="0">
                <a:solidFill>
                  <a:srgbClr val="557A96"/>
                </a:solidFill>
                <a:latin typeface="微软雅黑" panose="020B0503020204020204" charset="-122"/>
                <a:ea typeface="微软雅黑" panose="020B0503020204020204" charset="-122"/>
                <a:cs typeface="微软雅黑" panose="020B0503020204020204" charset="-122"/>
              </a:rPr>
              <a:t>Workflow </a:t>
            </a:r>
            <a:r>
              <a:rPr sz="1200" b="1" dirty="0" err="1">
                <a:solidFill>
                  <a:srgbClr val="557A96"/>
                </a:solidFill>
                <a:latin typeface="微软雅黑" panose="020B0503020204020204" charset="-122"/>
                <a:ea typeface="微软雅黑" panose="020B0503020204020204" charset="-122"/>
                <a:cs typeface="微软雅黑" panose="020B0503020204020204" charset="-122"/>
              </a:rPr>
              <a:t>展开</a:t>
            </a:r>
            <a:endParaRPr sz="120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0" name="summary-band"/>
          <p:cNvSpPr>
            <a:spLocks noGrp="1"/>
          </p:cNvSpPr>
          <p:nvPr/>
        </p:nvSpPr>
        <p:spPr>
          <a:xfrm>
            <a:off x="609600" y="6191250"/>
            <a:ext cx="10972800" cy="419100"/>
          </a:xfrm>
          <a:prstGeom prst="rect">
            <a:avLst/>
          </a:prstGeom>
          <a:solidFill>
            <a:srgbClr val="F3F4F5"/>
          </a:solidFill>
          <a:ln w="0">
            <a:noFill/>
            <a:prstDash val="solid"/>
          </a:ln>
        </p:spPr>
      </p:sp>
      <p:sp>
        <p:nvSpPr>
          <p:cNvPr id="91" name="summary-accent"/>
          <p:cNvSpPr>
            <a:spLocks noGrp="1"/>
          </p:cNvSpPr>
          <p:nvPr/>
        </p:nvSpPr>
        <p:spPr>
          <a:xfrm>
            <a:off x="609600" y="6191250"/>
            <a:ext cx="38100" cy="419100"/>
          </a:xfrm>
          <a:prstGeom prst="rect">
            <a:avLst/>
          </a:prstGeom>
          <a:solidFill>
            <a:srgbClr val="557A96"/>
          </a:solidFill>
          <a:ln w="0">
            <a:noFill/>
            <a:prstDash val="solid"/>
          </a:ln>
        </p:spPr>
      </p:sp>
      <p:sp>
        <p:nvSpPr>
          <p:cNvPr id="92" name="summary-text"/>
          <p:cNvSpPr>
            <a:spLocks noGrp="1"/>
          </p:cNvSpPr>
          <p:nvPr/>
        </p:nvSpPr>
        <p:spPr>
          <a:xfrm>
            <a:off x="819150" y="6229350"/>
            <a:ext cx="10534650" cy="342900"/>
          </a:xfrm>
          <a:prstGeom prst="rect">
            <a:avLst/>
          </a:prstGeom>
          <a:noFill/>
          <a:ln w="0">
            <a:noFill/>
            <a:prstDash val="solid"/>
          </a:ln>
        </p:spPr>
        <p:txBody>
          <a:bodyPr wrap="none" lIns="0" tIns="0" rIns="0" bIns="0" anchor="ctr">
            <a:normAutofit fontScale="95266"/>
          </a:bodyPr>
          <a:lstStyle/>
          <a:p>
            <a:pPr algn="ctr">
              <a:defRPr sz="1390" b="1">
                <a:solidFill>
                  <a:srgbClr val="414951"/>
                </a:solidFill>
                <a:latin typeface="微软雅黑" panose="020B0503020204020204" charset="-122"/>
                <a:ea typeface="微软雅黑" panose="020B0503020204020204" charset="-122"/>
                <a:cs typeface="微软雅黑" panose="020B0503020204020204" charset="-122"/>
              </a:defRPr>
            </a:pPr>
            <a:r>
              <a:rPr sz="1390" b="1" dirty="0">
                <a:solidFill>
                  <a:srgbClr val="414951"/>
                </a:solidFill>
                <a:latin typeface="微软雅黑" panose="020B0503020204020204" charset="-122"/>
                <a:ea typeface="微软雅黑" panose="020B0503020204020204" charset="-122"/>
                <a:cs typeface="微软雅黑" panose="020B0503020204020204" charset="-122"/>
              </a:rPr>
              <a:t>SKILL.md </a:t>
            </a:r>
            <a:r>
              <a:rPr sz="1390" b="1" dirty="0" smtClean="0">
                <a:solidFill>
                  <a:srgbClr val="414951"/>
                </a:solidFill>
                <a:latin typeface="微软雅黑" panose="020B0503020204020204" charset="-122"/>
                <a:ea typeface="微软雅黑" panose="020B0503020204020204" charset="-122"/>
                <a:cs typeface="微软雅黑" panose="020B0503020204020204" charset="-122"/>
              </a:rPr>
              <a:t>：</a:t>
            </a:r>
            <a:r>
              <a:rPr sz="1390" b="1" dirty="0">
                <a:solidFill>
                  <a:srgbClr val="414951"/>
                </a:solidFill>
                <a:latin typeface="微软雅黑" panose="020B0503020204020204" charset="-122"/>
                <a:ea typeface="微软雅黑" panose="020B0503020204020204" charset="-122"/>
                <a:cs typeface="微软雅黑" panose="020B0503020204020204" charset="-122"/>
              </a:rPr>
              <a:t>定义“</a:t>
            </a:r>
            <a:r>
              <a:rPr sz="1390" b="1" dirty="0" err="1">
                <a:solidFill>
                  <a:srgbClr val="414951"/>
                </a:solidFill>
                <a:latin typeface="微软雅黑" panose="020B0503020204020204" charset="-122"/>
                <a:ea typeface="微软雅黑" panose="020B0503020204020204" charset="-122"/>
                <a:cs typeface="微软雅黑" panose="020B0503020204020204" charset="-122"/>
              </a:rPr>
              <a:t>我是谁、负责什么、遵守什么规则、接受和产出什么</a:t>
            </a:r>
            <a:r>
              <a:rPr sz="1390" b="1" dirty="0">
                <a:solidFill>
                  <a:srgbClr val="414951"/>
                </a:solidFill>
                <a:latin typeface="微软雅黑" panose="020B0503020204020204" charset="-122"/>
                <a:ea typeface="微软雅黑" panose="020B0503020204020204" charset="-122"/>
                <a:cs typeface="微软雅黑" panose="020B0503020204020204" charset="-122"/>
              </a:rPr>
              <a:t>”，</a:t>
            </a:r>
            <a:r>
              <a:rPr sz="1390" b="1" dirty="0" err="1">
                <a:solidFill>
                  <a:srgbClr val="414951"/>
                </a:solidFill>
                <a:latin typeface="微软雅黑" panose="020B0503020204020204" charset="-122"/>
                <a:ea typeface="微软雅黑" panose="020B0503020204020204" charset="-122"/>
                <a:cs typeface="微软雅黑" panose="020B0503020204020204" charset="-122"/>
              </a:rPr>
              <a:t>并通过</a:t>
            </a:r>
            <a:r>
              <a:rPr sz="1390" b="1" dirty="0">
                <a:solidFill>
                  <a:srgbClr val="414951"/>
                </a:solidFill>
                <a:latin typeface="微软雅黑" panose="020B0503020204020204" charset="-122"/>
                <a:ea typeface="微软雅黑" panose="020B0503020204020204" charset="-122"/>
                <a:cs typeface="微软雅黑" panose="020B0503020204020204" charset="-122"/>
              </a:rPr>
              <a:t> Workflow </a:t>
            </a:r>
            <a:r>
              <a:rPr sz="1390" b="1" dirty="0" err="1">
                <a:solidFill>
                  <a:srgbClr val="414951"/>
                </a:solidFill>
                <a:latin typeface="微软雅黑" panose="020B0503020204020204" charset="-122"/>
                <a:ea typeface="微软雅黑" panose="020B0503020204020204" charset="-122"/>
                <a:cs typeface="微软雅黑" panose="020B0503020204020204" charset="-122"/>
              </a:rPr>
              <a:t>将这些定义组织成实际执行流程</a:t>
            </a:r>
            <a:r>
              <a:rPr sz="13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94" name="stage-number"/>
          <p:cNvSpPr>
            <a:spLocks noGrp="1"/>
          </p:cNvSpPr>
          <p:nvPr/>
        </p:nvSpPr>
        <p:spPr>
          <a:xfrm>
            <a:off x="3889721" y="229076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95" name="stage-number"/>
          <p:cNvSpPr>
            <a:spLocks noGrp="1"/>
          </p:cNvSpPr>
          <p:nvPr/>
        </p:nvSpPr>
        <p:spPr>
          <a:xfrm>
            <a:off x="3895725" y="2970246"/>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2</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6" name="stage-number"/>
          <p:cNvSpPr>
            <a:spLocks noGrp="1"/>
          </p:cNvSpPr>
          <p:nvPr/>
        </p:nvSpPr>
        <p:spPr>
          <a:xfrm>
            <a:off x="3900280" y="4065726"/>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a:solidFill>
                  <a:srgbClr val="557A96"/>
                </a:solidFill>
                <a:latin typeface="微软雅黑" panose="020B0503020204020204" charset="-122"/>
                <a:ea typeface="微软雅黑" panose="020B0503020204020204" charset="-122"/>
                <a:cs typeface="微软雅黑" panose="020B0503020204020204" charset="-122"/>
              </a:rPr>
              <a:t>4</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7" name="stage-number"/>
          <p:cNvSpPr>
            <a:spLocks noGrp="1"/>
          </p:cNvSpPr>
          <p:nvPr/>
        </p:nvSpPr>
        <p:spPr>
          <a:xfrm>
            <a:off x="3901937" y="3522801"/>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3</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8" name="stage-number"/>
          <p:cNvSpPr>
            <a:spLocks noGrp="1"/>
          </p:cNvSpPr>
          <p:nvPr/>
        </p:nvSpPr>
        <p:spPr>
          <a:xfrm>
            <a:off x="3895725" y="484822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5</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00"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1.2</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01"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2</a:t>
            </a:r>
          </a:p>
        </p:txBody>
      </p:sp>
      <p:sp>
        <p:nvSpPr>
          <p:cNvPr id="89" name="文本框 88"/>
          <p:cNvSpPr txBox="1"/>
          <p:nvPr/>
        </p:nvSpPr>
        <p:spPr>
          <a:xfrm>
            <a:off x="5552925" y="5355878"/>
            <a:ext cx="2876850" cy="461665"/>
          </a:xfrm>
          <a:prstGeom prst="rect">
            <a:avLst/>
          </a:prstGeom>
          <a:noFill/>
        </p:spPr>
        <p:txBody>
          <a:bodyPr wrap="square" rtlCol="0">
            <a:spAutoFit/>
          </a:bodyPr>
          <a:lstStyle/>
          <a:p>
            <a:r>
              <a:rPr lang="en-US" altLang="zh-CN" sz="1200" b="1" dirty="0">
                <a:solidFill>
                  <a:srgbClr val="557A96"/>
                </a:solidFill>
                <a:latin typeface="微软雅黑" panose="020B0503020204020204" charset="-122"/>
                <a:ea typeface="微软雅黑" panose="020B0503020204020204" charset="-122"/>
                <a:cs typeface="微软雅黑" panose="020B0503020204020204" charset="-122"/>
              </a:rPr>
              <a:t>Policy </a:t>
            </a:r>
            <a:r>
              <a:rPr lang="zh-CN" altLang="en-US" sz="1200" b="1" dirty="0">
                <a:solidFill>
                  <a:srgbClr val="557A96"/>
                </a:solidFill>
                <a:latin typeface="微软雅黑" panose="020B0503020204020204" charset="-122"/>
                <a:ea typeface="微软雅黑" panose="020B0503020204020204" charset="-122"/>
                <a:cs typeface="微软雅黑" panose="020B0503020204020204" charset="-122"/>
              </a:rPr>
              <a:t>定义</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“必须如何做”</a:t>
            </a:r>
            <a:endParaRPr lang="zh-CN" altLang="en-US" sz="1200" b="1" dirty="0">
              <a:solidFill>
                <a:srgbClr val="557A96"/>
              </a:solidFill>
              <a:latin typeface="微软雅黑" panose="020B0503020204020204" charset="-122"/>
              <a:ea typeface="微软雅黑" panose="020B0503020204020204" charset="-122"/>
              <a:cs typeface="微软雅黑" panose="020B0503020204020204" charset="-122"/>
            </a:endParaRPr>
          </a:p>
          <a:p>
            <a:endParaRPr lang="zh-CN" alt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61010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524000"/>
            <a:ext cx="6629400" cy="0"/>
          </a:xfrm>
          <a:prstGeom prst="line">
            <a:avLst/>
          </a:prstGeom>
          <a:noFill/>
          <a:ln w="9525">
            <a:solidFill>
              <a:srgbClr val="D8DEE3"/>
            </a:solidFill>
            <a:prstDash val="solid"/>
          </a:ln>
        </p:spPr>
      </p:sp>
      <p:sp>
        <p:nvSpPr>
          <p:cNvPr id="6" name="slide-title"/>
          <p:cNvSpPr>
            <a:spLocks noGrp="1"/>
          </p:cNvSpPr>
          <p:nvPr/>
        </p:nvSpPr>
        <p:spPr>
          <a:xfrm>
            <a:off x="1095375" y="190500"/>
            <a:ext cx="9810750" cy="561975"/>
          </a:xfrm>
          <a:prstGeom prst="rect">
            <a:avLst/>
          </a:prstGeom>
          <a:noFill/>
          <a:ln w="0">
            <a:noFill/>
            <a:prstDash val="solid"/>
          </a:ln>
        </p:spPr>
        <p:txBody>
          <a:bodyPr wrap="none" lIns="0" tIns="0" rIns="0" bIns="0" anchor="ctr">
            <a:normAutofit/>
          </a:bodyPr>
          <a:lstStyle/>
          <a:p>
            <a:pPr algn="l">
              <a:defRPr sz="330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Workflow：如何控制任务一步步向前推进</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 name="left-heading"/>
          <p:cNvSpPr>
            <a:spLocks noGrp="1"/>
          </p:cNvSpPr>
          <p:nvPr/>
        </p:nvSpPr>
        <p:spPr>
          <a:xfrm>
            <a:off x="609600" y="1209675"/>
            <a:ext cx="3695700" cy="285750"/>
          </a:xfrm>
          <a:prstGeom prst="rect">
            <a:avLst/>
          </a:prstGeom>
          <a:noFill/>
          <a:ln w="0">
            <a:noFill/>
            <a:prstDash val="solid"/>
          </a:ln>
        </p:spPr>
        <p:txBody>
          <a:bodyPr wrap="none" lIns="0" tIns="0" rIns="0" bIns="0" anchor="ctr">
            <a:normAutofit fontScale="99760"/>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SKILL.md 示例（Workflow 展开）</a:t>
            </a:r>
          </a:p>
        </p:txBody>
      </p:sp>
      <p:sp>
        <p:nvSpPr>
          <p:cNvPr id="9" name="right-heading"/>
          <p:cNvSpPr>
            <a:spLocks noGrp="1"/>
          </p:cNvSpPr>
          <p:nvPr/>
        </p:nvSpPr>
        <p:spPr>
          <a:xfrm>
            <a:off x="4953000" y="1209675"/>
            <a:ext cx="295275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sz="1875" b="1">
                <a:solidFill>
                  <a:srgbClr val="252B31"/>
                </a:solidFill>
                <a:latin typeface="微软雅黑" panose="020B0503020204020204" charset="-122"/>
                <a:ea typeface="微软雅黑" panose="020B0503020204020204" charset="-122"/>
                <a:cs typeface="微软雅黑" panose="020B0503020204020204" charset="-122"/>
              </a:rPr>
              <a:t>Workflow 内部结构</a:t>
            </a:r>
          </a:p>
        </p:txBody>
      </p:sp>
      <p:sp>
        <p:nvSpPr>
          <p:cNvPr id="10" name="editor-frame"/>
          <p:cNvSpPr>
            <a:spLocks noGrp="1"/>
          </p:cNvSpPr>
          <p:nvPr/>
        </p:nvSpPr>
        <p:spPr>
          <a:xfrm>
            <a:off x="609600" y="1600200"/>
            <a:ext cx="4000500" cy="42862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23850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smtClean="0">
                <a:solidFill>
                  <a:srgbClr val="252B31"/>
                </a:solidFill>
                <a:latin typeface="Consolas" panose="020B0609020204030204"/>
                <a:ea typeface="Consolas" panose="020B0609020204030204"/>
                <a:cs typeface="Consolas" panose="020B0609020204030204"/>
              </a:rPr>
              <a:t>SKILL.md</a:t>
            </a:r>
            <a:endParaRPr sz="1350" b="1" dirty="0">
              <a:solidFill>
                <a:srgbClr val="252B31"/>
              </a:solidFill>
              <a:latin typeface="Consolas" panose="020B0609020204030204"/>
              <a:ea typeface="Consolas" panose="020B0609020204030204"/>
              <a:cs typeface="Consolas" panose="020B0609020204030204"/>
            </a:endParaRPr>
          </a:p>
        </p:txBody>
      </p:sp>
      <p:sp>
        <p:nvSpPr>
          <p:cNvPr id="13" name="compressed-sections"/>
          <p:cNvSpPr>
            <a:spLocks noGrp="1"/>
          </p:cNvSpPr>
          <p:nvPr/>
        </p:nvSpPr>
        <p:spPr>
          <a:xfrm>
            <a:off x="742950" y="2009775"/>
            <a:ext cx="3733800" cy="876300"/>
          </a:xfrm>
          <a:prstGeom prst="rect">
            <a:avLst/>
          </a:prstGeom>
          <a:solidFill>
            <a:srgbClr val="F7F9FA"/>
          </a:solidFill>
          <a:ln w="6668">
            <a:solidFill>
              <a:srgbClr val="D8DEE3"/>
            </a:solidFill>
            <a:prstDash val="solid"/>
          </a:ln>
        </p:spPr>
      </p:sp>
      <p:sp>
        <p:nvSpPr>
          <p:cNvPr id="14" name="compressed-accent"/>
          <p:cNvSpPr>
            <a:spLocks noGrp="1"/>
          </p:cNvSpPr>
          <p:nvPr/>
        </p:nvSpPr>
        <p:spPr>
          <a:xfrm>
            <a:off x="742950" y="2009775"/>
            <a:ext cx="28575" cy="876300"/>
          </a:xfrm>
          <a:prstGeom prst="rect">
            <a:avLst/>
          </a:prstGeom>
          <a:solidFill>
            <a:srgbClr val="7F9DB2"/>
          </a:solidFill>
          <a:ln w="0">
            <a:noFill/>
            <a:prstDash val="solid"/>
          </a:ln>
        </p:spPr>
      </p:sp>
      <p:sp>
        <p:nvSpPr>
          <p:cNvPr id="15" name="compact-0-label"/>
          <p:cNvSpPr>
            <a:spLocks noGrp="1"/>
          </p:cNvSpPr>
          <p:nvPr/>
        </p:nvSpPr>
        <p:spPr>
          <a:xfrm>
            <a:off x="895350" y="2066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Metadata</a:t>
            </a:r>
          </a:p>
        </p:txBody>
      </p:sp>
      <p:sp>
        <p:nvSpPr>
          <p:cNvPr id="16" name="compact-0-dots"/>
          <p:cNvSpPr>
            <a:spLocks noGrp="1"/>
          </p:cNvSpPr>
          <p:nvPr/>
        </p:nvSpPr>
        <p:spPr>
          <a:xfrm>
            <a:off x="3886200" y="2066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dirty="0">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7" name="compact-1-label"/>
          <p:cNvSpPr>
            <a:spLocks noGrp="1"/>
          </p:cNvSpPr>
          <p:nvPr/>
        </p:nvSpPr>
        <p:spPr>
          <a:xfrm>
            <a:off x="895350" y="2257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Overview</a:t>
            </a:r>
          </a:p>
        </p:txBody>
      </p:sp>
      <p:sp>
        <p:nvSpPr>
          <p:cNvPr id="18" name="compact-1-dots"/>
          <p:cNvSpPr>
            <a:spLocks noGrp="1"/>
          </p:cNvSpPr>
          <p:nvPr/>
        </p:nvSpPr>
        <p:spPr>
          <a:xfrm>
            <a:off x="3886200" y="2257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9" name="compact-2-label"/>
          <p:cNvSpPr>
            <a:spLocks noGrp="1"/>
          </p:cNvSpPr>
          <p:nvPr/>
        </p:nvSpPr>
        <p:spPr>
          <a:xfrm>
            <a:off x="895350" y="2447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Execution Policy</a:t>
            </a:r>
          </a:p>
        </p:txBody>
      </p:sp>
      <p:sp>
        <p:nvSpPr>
          <p:cNvPr id="20" name="compact-2-dots"/>
          <p:cNvSpPr>
            <a:spLocks noGrp="1"/>
          </p:cNvSpPr>
          <p:nvPr/>
        </p:nvSpPr>
        <p:spPr>
          <a:xfrm>
            <a:off x="3886200" y="2447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1" name="compact-3-label"/>
          <p:cNvSpPr>
            <a:spLocks noGrp="1"/>
          </p:cNvSpPr>
          <p:nvPr/>
        </p:nvSpPr>
        <p:spPr>
          <a:xfrm>
            <a:off x="895350" y="2638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Input / Output Contract</a:t>
            </a:r>
          </a:p>
        </p:txBody>
      </p:sp>
      <p:sp>
        <p:nvSpPr>
          <p:cNvPr id="22" name="compact-3-dots"/>
          <p:cNvSpPr>
            <a:spLocks noGrp="1"/>
          </p:cNvSpPr>
          <p:nvPr/>
        </p:nvSpPr>
        <p:spPr>
          <a:xfrm>
            <a:off x="3886200" y="2638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3" name="workflow-section-divider"/>
          <p:cNvSpPr>
            <a:spLocks noGrp="1"/>
          </p:cNvSpPr>
          <p:nvPr/>
        </p:nvSpPr>
        <p:spPr>
          <a:xfrm>
            <a:off x="895350" y="2971800"/>
            <a:ext cx="3276600" cy="0"/>
          </a:xfrm>
          <a:prstGeom prst="line">
            <a:avLst/>
          </a:prstGeom>
          <a:noFill/>
          <a:ln w="9525">
            <a:solidFill>
              <a:srgbClr val="D8DEE3"/>
            </a:solidFill>
            <a:prstDash val="solid"/>
          </a:ln>
        </p:spPr>
      </p:sp>
      <p:sp>
        <p:nvSpPr>
          <p:cNvPr id="24" name="workflow-code-block"/>
          <p:cNvSpPr>
            <a:spLocks noGrp="1"/>
          </p:cNvSpPr>
          <p:nvPr/>
        </p:nvSpPr>
        <p:spPr>
          <a:xfrm>
            <a:off x="742950" y="3067050"/>
            <a:ext cx="3733800" cy="2686050"/>
          </a:xfrm>
          <a:prstGeom prst="rect">
            <a:avLst/>
          </a:prstGeom>
          <a:solidFill>
            <a:srgbClr val="F2F6F8"/>
          </a:solidFill>
          <a:ln w="9525">
            <a:solidFill>
              <a:srgbClr val="7F9DB2"/>
            </a:solidFill>
            <a:prstDash val="solid"/>
          </a:ln>
        </p:spPr>
      </p:sp>
      <p:sp>
        <p:nvSpPr>
          <p:cNvPr id="25" name="workflow-code-accent"/>
          <p:cNvSpPr>
            <a:spLocks noGrp="1"/>
          </p:cNvSpPr>
          <p:nvPr/>
        </p:nvSpPr>
        <p:spPr>
          <a:xfrm>
            <a:off x="742950" y="3067050"/>
            <a:ext cx="38100" cy="2686050"/>
          </a:xfrm>
          <a:prstGeom prst="rect">
            <a:avLst/>
          </a:prstGeom>
          <a:solidFill>
            <a:srgbClr val="557A96"/>
          </a:solidFill>
          <a:ln w="0">
            <a:noFill/>
            <a:prstDash val="solid"/>
          </a:ln>
        </p:spPr>
      </p:sp>
      <p:sp>
        <p:nvSpPr>
          <p:cNvPr id="26" name="workflow-code"/>
          <p:cNvSpPr>
            <a:spLocks noGrp="1"/>
          </p:cNvSpPr>
          <p:nvPr/>
        </p:nvSpPr>
        <p:spPr>
          <a:xfrm>
            <a:off x="914400" y="3143250"/>
            <a:ext cx="3333750" cy="2514600"/>
          </a:xfrm>
          <a:prstGeom prst="rect">
            <a:avLst/>
          </a:prstGeom>
          <a:noFill/>
          <a:ln w="0">
            <a:noFill/>
            <a:prstDash val="solid"/>
          </a:ln>
        </p:spPr>
        <p:txBody>
          <a:bodyPr wrap="none" lIns="0" tIns="0" rIns="0" bIns="0" anchor="t">
            <a:normAutofit/>
          </a:bodyPr>
          <a:lstStyle/>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Workflow</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Stage</a:t>
            </a:r>
            <a:r>
              <a:rPr sz="1090" b="0" dirty="0">
                <a:solidFill>
                  <a:srgbClr val="414951"/>
                </a:solidFill>
                <a:latin typeface="Consolas" panose="020B0609020204030204"/>
                <a:ea typeface="Consolas" panose="020B0609020204030204"/>
                <a:cs typeface="Consolas" panose="020B0609020204030204"/>
              </a:rPr>
              <a:t> 1</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Input: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Action: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FF0000"/>
                </a:solidFill>
                <a:latin typeface="Consolas" panose="020B0609020204030204"/>
                <a:ea typeface="Consolas" panose="020B0609020204030204"/>
                <a:cs typeface="Consolas" panose="020B0609020204030204"/>
              </a:rPr>
              <a:t>Output</a:t>
            </a:r>
            <a:r>
              <a:rPr sz="1090" b="0" dirty="0">
                <a:solidFill>
                  <a:srgbClr val="414951"/>
                </a:solidFill>
                <a:latin typeface="Consolas" panose="020B0609020204030204"/>
                <a:ea typeface="Consolas" panose="020B0609020204030204"/>
                <a:cs typeface="Consolas" panose="020B0609020204030204"/>
              </a:rPr>
              <a:t>: </a:t>
            </a:r>
            <a:r>
              <a:rPr sz="1090" b="0" dirty="0" err="1">
                <a:solidFill>
                  <a:srgbClr val="414951"/>
                </a:solidFill>
                <a:latin typeface="Consolas" panose="020B0609020204030204"/>
                <a:ea typeface="Consolas" panose="020B0609020204030204"/>
                <a:cs typeface="Consolas" panose="020B0609020204030204"/>
              </a:rPr>
              <a:t>artifact_A</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Gate</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Condition: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Stage 2</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Input: </a:t>
            </a:r>
            <a:r>
              <a:rPr sz="1090" b="0" dirty="0" err="1">
                <a:solidFill>
                  <a:srgbClr val="414951"/>
                </a:solidFill>
                <a:latin typeface="Consolas" panose="020B0609020204030204"/>
                <a:ea typeface="Consolas" panose="020B0609020204030204"/>
                <a:cs typeface="Consolas" panose="020B0609020204030204"/>
              </a:rPr>
              <a:t>artifact_A</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Action: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Output: </a:t>
            </a:r>
            <a:r>
              <a:rPr sz="1090" b="0" dirty="0" err="1">
                <a:solidFill>
                  <a:srgbClr val="414951"/>
                </a:solidFill>
                <a:latin typeface="Consolas" panose="020B0609020204030204"/>
                <a:ea typeface="Consolas" panose="020B0609020204030204"/>
                <a:cs typeface="Consolas" panose="020B0609020204030204"/>
              </a:rPr>
              <a:t>artifact_B</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Routing</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Retry / Fallback</a:t>
            </a:r>
            <a:r>
              <a:rPr sz="1090" b="0" dirty="0">
                <a:solidFill>
                  <a:srgbClr val="414951"/>
                </a:solidFill>
                <a:latin typeface="Consolas" panose="020B0609020204030204"/>
                <a:ea typeface="Consolas" panose="020B0609020204030204"/>
                <a:cs typeface="Consolas" panose="020B0609020204030204"/>
              </a:rPr>
              <a:t>: ...</a:t>
            </a:r>
          </a:p>
        </p:txBody>
      </p:sp>
      <p:sp>
        <p:nvSpPr>
          <p:cNvPr id="27" name="stage-card"/>
          <p:cNvSpPr>
            <a:spLocks noGrp="1"/>
          </p:cNvSpPr>
          <p:nvPr/>
        </p:nvSpPr>
        <p:spPr>
          <a:xfrm>
            <a:off x="4921526" y="1590675"/>
            <a:ext cx="3048000" cy="1809750"/>
          </a:xfrm>
          <a:prstGeom prst="roundRect">
            <a:avLst>
              <a:gd name="adj" fmla="val 3684"/>
            </a:avLst>
          </a:prstGeom>
          <a:solidFill>
            <a:srgbClr val="FFFFFF"/>
          </a:solidFill>
          <a:ln w="9525">
            <a:solidFill>
              <a:srgbClr val="D8DEE3"/>
            </a:solidFill>
            <a:prstDash val="solid"/>
          </a:ln>
        </p:spPr>
      </p:sp>
      <p:sp>
        <p:nvSpPr>
          <p:cNvPr id="28" name="stage-accent"/>
          <p:cNvSpPr>
            <a:spLocks noGrp="1"/>
          </p:cNvSpPr>
          <p:nvPr/>
        </p:nvSpPr>
        <p:spPr>
          <a:xfrm>
            <a:off x="4953000" y="1600200"/>
            <a:ext cx="3048000" cy="28575"/>
          </a:xfrm>
          <a:prstGeom prst="rect">
            <a:avLst/>
          </a:prstGeom>
          <a:solidFill>
            <a:srgbClr val="557A96"/>
          </a:solidFill>
          <a:ln w="0">
            <a:noFill/>
            <a:prstDash val="solid"/>
          </a:ln>
        </p:spPr>
      </p:sp>
      <p:sp>
        <p:nvSpPr>
          <p:cNvPr id="29" name="stage-number"/>
          <p:cNvSpPr>
            <a:spLocks noGrp="1"/>
          </p:cNvSpPr>
          <p:nvPr/>
        </p:nvSpPr>
        <p:spPr>
          <a:xfrm>
            <a:off x="5105400" y="17049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30" name="stage-title"/>
          <p:cNvSpPr>
            <a:spLocks noGrp="1"/>
          </p:cNvSpPr>
          <p:nvPr/>
        </p:nvSpPr>
        <p:spPr>
          <a:xfrm>
            <a:off x="5467350" y="1685925"/>
            <a:ext cx="876300"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Stage</a:t>
            </a:r>
          </a:p>
        </p:txBody>
      </p:sp>
      <p:sp>
        <p:nvSpPr>
          <p:cNvPr id="31" name="stage-subtitle"/>
          <p:cNvSpPr>
            <a:spLocks noGrp="1"/>
          </p:cNvSpPr>
          <p:nvPr/>
        </p:nvSpPr>
        <p:spPr>
          <a:xfrm>
            <a:off x="6452980" y="1785314"/>
            <a:ext cx="100965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dirty="0" err="1">
                <a:solidFill>
                  <a:srgbClr val="557A96"/>
                </a:solidFill>
                <a:latin typeface="微软雅黑" panose="020B0503020204020204" charset="-122"/>
                <a:ea typeface="微软雅黑" panose="020B0503020204020204" charset="-122"/>
                <a:cs typeface="微软雅黑" panose="020B0503020204020204" charset="-122"/>
              </a:rPr>
              <a:t>阶段拆分</a:t>
            </a:r>
            <a:endParaRPr sz="131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2" name="contract-card"/>
          <p:cNvSpPr>
            <a:spLocks noGrp="1"/>
          </p:cNvSpPr>
          <p:nvPr/>
        </p:nvSpPr>
        <p:spPr>
          <a:xfrm>
            <a:off x="8134350" y="1628775"/>
            <a:ext cx="3429000" cy="1809750"/>
          </a:xfrm>
          <a:prstGeom prst="roundRect">
            <a:avLst>
              <a:gd name="adj" fmla="val 3684"/>
            </a:avLst>
          </a:prstGeom>
          <a:solidFill>
            <a:srgbClr val="FFFFFF"/>
          </a:solidFill>
          <a:ln w="9525">
            <a:solidFill>
              <a:srgbClr val="D8DEE3"/>
            </a:solidFill>
            <a:prstDash val="solid"/>
          </a:ln>
        </p:spPr>
      </p:sp>
      <p:sp>
        <p:nvSpPr>
          <p:cNvPr id="33" name="contract-accent"/>
          <p:cNvSpPr>
            <a:spLocks noGrp="1"/>
          </p:cNvSpPr>
          <p:nvPr/>
        </p:nvSpPr>
        <p:spPr>
          <a:xfrm>
            <a:off x="8153400" y="1600200"/>
            <a:ext cx="3429000" cy="28575"/>
          </a:xfrm>
          <a:prstGeom prst="rect">
            <a:avLst/>
          </a:prstGeom>
          <a:solidFill>
            <a:srgbClr val="557A96"/>
          </a:solidFill>
          <a:ln w="0">
            <a:noFill/>
            <a:prstDash val="solid"/>
          </a:ln>
        </p:spPr>
      </p:sp>
      <p:sp>
        <p:nvSpPr>
          <p:cNvPr id="34" name="contract-number"/>
          <p:cNvSpPr>
            <a:spLocks noGrp="1"/>
          </p:cNvSpPr>
          <p:nvPr/>
        </p:nvSpPr>
        <p:spPr>
          <a:xfrm>
            <a:off x="8305800" y="17049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35" name="contract-title"/>
          <p:cNvSpPr>
            <a:spLocks noGrp="1"/>
          </p:cNvSpPr>
          <p:nvPr/>
        </p:nvSpPr>
        <p:spPr>
          <a:xfrm>
            <a:off x="8667750" y="1685925"/>
            <a:ext cx="1752600" cy="276225"/>
          </a:xfrm>
          <a:prstGeom prst="rect">
            <a:avLst/>
          </a:prstGeom>
          <a:noFill/>
          <a:ln w="0">
            <a:noFill/>
            <a:prstDash val="solid"/>
          </a:ln>
        </p:spPr>
        <p:txBody>
          <a:bodyPr wrap="none" lIns="0" tIns="0" rIns="0" bIns="0" anchor="ctr">
            <a:normAutofit fontScale="97151"/>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Contract &amp; Handoff</a:t>
            </a:r>
          </a:p>
        </p:txBody>
      </p:sp>
      <p:sp>
        <p:nvSpPr>
          <p:cNvPr id="36" name="contract-subtitle"/>
          <p:cNvSpPr>
            <a:spLocks noGrp="1"/>
          </p:cNvSpPr>
          <p:nvPr/>
        </p:nvSpPr>
        <p:spPr>
          <a:xfrm>
            <a:off x="10496550" y="1704975"/>
            <a:ext cx="933450" cy="238125"/>
          </a:xfrm>
          <a:prstGeom prst="rect">
            <a:avLst/>
          </a:prstGeom>
          <a:noFill/>
          <a:ln w="0">
            <a:noFill/>
            <a:prstDash val="solid"/>
          </a:ln>
        </p:spPr>
        <p:txBody>
          <a:bodyPr wrap="none" lIns="0" tIns="0" rIns="0" bIns="0" anchor="ctr">
            <a:normAutofit/>
          </a:bodyPr>
          <a:lstStyle/>
          <a:p>
            <a:pPr algn="r">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契约与交接</a:t>
            </a:r>
          </a:p>
        </p:txBody>
      </p:sp>
      <p:sp>
        <p:nvSpPr>
          <p:cNvPr id="37" name="gate-card"/>
          <p:cNvSpPr>
            <a:spLocks noGrp="1"/>
          </p:cNvSpPr>
          <p:nvPr/>
        </p:nvSpPr>
        <p:spPr>
          <a:xfrm>
            <a:off x="4953000" y="3543300"/>
            <a:ext cx="3048000" cy="2362200"/>
          </a:xfrm>
          <a:prstGeom prst="roundRect">
            <a:avLst>
              <a:gd name="adj" fmla="val 2823"/>
            </a:avLst>
          </a:prstGeom>
          <a:solidFill>
            <a:srgbClr val="FFFFFF"/>
          </a:solidFill>
          <a:ln w="9525">
            <a:solidFill>
              <a:srgbClr val="D8DEE3"/>
            </a:solidFill>
            <a:prstDash val="solid"/>
          </a:ln>
        </p:spPr>
      </p:sp>
      <p:sp>
        <p:nvSpPr>
          <p:cNvPr id="38" name="gate-accent"/>
          <p:cNvSpPr>
            <a:spLocks noGrp="1"/>
          </p:cNvSpPr>
          <p:nvPr/>
        </p:nvSpPr>
        <p:spPr>
          <a:xfrm>
            <a:off x="4953000" y="3543300"/>
            <a:ext cx="3048000" cy="28575"/>
          </a:xfrm>
          <a:prstGeom prst="rect">
            <a:avLst/>
          </a:prstGeom>
          <a:solidFill>
            <a:srgbClr val="557A96"/>
          </a:solidFill>
          <a:ln w="0">
            <a:noFill/>
            <a:prstDash val="solid"/>
          </a:ln>
        </p:spPr>
      </p:sp>
      <p:sp>
        <p:nvSpPr>
          <p:cNvPr id="39" name="gate-number"/>
          <p:cNvSpPr>
            <a:spLocks noGrp="1"/>
          </p:cNvSpPr>
          <p:nvPr/>
        </p:nvSpPr>
        <p:spPr>
          <a:xfrm>
            <a:off x="5105400" y="36480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40" name="gate-title"/>
          <p:cNvSpPr>
            <a:spLocks noGrp="1"/>
          </p:cNvSpPr>
          <p:nvPr/>
        </p:nvSpPr>
        <p:spPr>
          <a:xfrm>
            <a:off x="5467350" y="3629025"/>
            <a:ext cx="838200"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Gate</a:t>
            </a:r>
          </a:p>
        </p:txBody>
      </p:sp>
      <p:sp>
        <p:nvSpPr>
          <p:cNvPr id="41" name="gate-subtitle"/>
          <p:cNvSpPr>
            <a:spLocks noGrp="1"/>
          </p:cNvSpPr>
          <p:nvPr/>
        </p:nvSpPr>
        <p:spPr>
          <a:xfrm>
            <a:off x="6838950" y="3648075"/>
            <a:ext cx="100965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a:solidFill>
                  <a:srgbClr val="557A96"/>
                </a:solidFill>
                <a:latin typeface="微软雅黑" panose="020B0503020204020204" charset="-122"/>
                <a:ea typeface="微软雅黑" panose="020B0503020204020204" charset="-122"/>
                <a:cs typeface="微软雅黑" panose="020B0503020204020204" charset="-122"/>
              </a:rPr>
              <a:t>阶段门禁</a:t>
            </a:r>
          </a:p>
        </p:txBody>
      </p:sp>
      <p:sp>
        <p:nvSpPr>
          <p:cNvPr id="42" name="flow-card"/>
          <p:cNvSpPr>
            <a:spLocks noGrp="1"/>
          </p:cNvSpPr>
          <p:nvPr/>
        </p:nvSpPr>
        <p:spPr>
          <a:xfrm>
            <a:off x="8153400" y="3543300"/>
            <a:ext cx="3429000" cy="2362200"/>
          </a:xfrm>
          <a:prstGeom prst="roundRect">
            <a:avLst>
              <a:gd name="adj" fmla="val 2823"/>
            </a:avLst>
          </a:prstGeom>
          <a:solidFill>
            <a:srgbClr val="FFFFFF"/>
          </a:solidFill>
          <a:ln w="9525">
            <a:solidFill>
              <a:srgbClr val="D8DEE3"/>
            </a:solidFill>
            <a:prstDash val="solid"/>
          </a:ln>
        </p:spPr>
      </p:sp>
      <p:sp>
        <p:nvSpPr>
          <p:cNvPr id="43" name="flow-accent"/>
          <p:cNvSpPr>
            <a:spLocks noGrp="1"/>
          </p:cNvSpPr>
          <p:nvPr/>
        </p:nvSpPr>
        <p:spPr>
          <a:xfrm>
            <a:off x="8153400" y="3543300"/>
            <a:ext cx="3429000" cy="28575"/>
          </a:xfrm>
          <a:prstGeom prst="rect">
            <a:avLst/>
          </a:prstGeom>
          <a:solidFill>
            <a:srgbClr val="557A96"/>
          </a:solidFill>
          <a:ln w="0">
            <a:noFill/>
            <a:prstDash val="solid"/>
          </a:ln>
        </p:spPr>
      </p:sp>
      <p:sp>
        <p:nvSpPr>
          <p:cNvPr id="44" name="flow-number"/>
          <p:cNvSpPr>
            <a:spLocks noGrp="1"/>
          </p:cNvSpPr>
          <p:nvPr/>
        </p:nvSpPr>
        <p:spPr>
          <a:xfrm>
            <a:off x="8305800" y="36480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45" name="flow-title"/>
          <p:cNvSpPr>
            <a:spLocks noGrp="1"/>
          </p:cNvSpPr>
          <p:nvPr/>
        </p:nvSpPr>
        <p:spPr>
          <a:xfrm>
            <a:off x="8667750" y="3629025"/>
            <a:ext cx="1314450" cy="276225"/>
          </a:xfrm>
          <a:prstGeom prst="rect">
            <a:avLst/>
          </a:prstGeom>
          <a:noFill/>
          <a:ln w="0">
            <a:noFill/>
            <a:prstDash val="solid"/>
          </a:ln>
        </p:spPr>
        <p:txBody>
          <a:bodyPr wrap="none" lIns="0" tIns="0" rIns="0" bIns="0" anchor="ctr">
            <a:normAutofit/>
          </a:bodyPr>
          <a:lstStyle/>
          <a:p>
            <a:pPr algn="l">
              <a:defRPr sz="1575" b="1">
                <a:solidFill>
                  <a:srgbClr val="252B31"/>
                </a:solidFill>
                <a:latin typeface="微软雅黑" panose="020B0503020204020204" charset="-122"/>
                <a:ea typeface="微软雅黑" panose="020B0503020204020204" charset="-122"/>
                <a:cs typeface="微软雅黑" panose="020B0503020204020204" charset="-122"/>
              </a:defRPr>
            </a:pPr>
            <a:r>
              <a:rPr sz="1575" b="1">
                <a:solidFill>
                  <a:srgbClr val="252B31"/>
                </a:solidFill>
                <a:latin typeface="微软雅黑" panose="020B0503020204020204" charset="-122"/>
                <a:ea typeface="微软雅黑" panose="020B0503020204020204" charset="-122"/>
                <a:cs typeface="微软雅黑" panose="020B0503020204020204" charset="-122"/>
              </a:rPr>
              <a:t>Flow Control</a:t>
            </a:r>
          </a:p>
        </p:txBody>
      </p:sp>
      <p:sp>
        <p:nvSpPr>
          <p:cNvPr id="47" name="stage-input-line"/>
          <p:cNvSpPr>
            <a:spLocks noGrp="1"/>
          </p:cNvSpPr>
          <p:nvPr/>
        </p:nvSpPr>
        <p:spPr>
          <a:xfrm>
            <a:off x="5657850" y="2254112"/>
            <a:ext cx="0" cy="114300"/>
          </a:xfrm>
          <a:prstGeom prst="line">
            <a:avLst/>
          </a:prstGeom>
          <a:noFill/>
          <a:ln w="12383">
            <a:solidFill>
              <a:srgbClr val="557A96"/>
            </a:solidFill>
            <a:prstDash val="solid"/>
          </a:ln>
        </p:spPr>
      </p:sp>
      <p:sp>
        <p:nvSpPr>
          <p:cNvPr id="48" name="stage-input-arrow"/>
          <p:cNvSpPr>
            <a:spLocks noGrp="1"/>
          </p:cNvSpPr>
          <p:nvPr/>
        </p:nvSpPr>
        <p:spPr>
          <a:xfrm rot="10800000">
            <a:off x="5619750" y="2330312"/>
            <a:ext cx="76200" cy="76200"/>
          </a:xfrm>
          <a:prstGeom prst="triangle">
            <a:avLst/>
          </a:prstGeom>
          <a:solidFill>
            <a:srgbClr val="557A96"/>
          </a:solidFill>
          <a:ln w="0">
            <a:solidFill>
              <a:srgbClr val="557A96"/>
            </a:solidFill>
            <a:prstDash val="solid"/>
          </a:ln>
        </p:spPr>
      </p:sp>
      <p:sp>
        <p:nvSpPr>
          <p:cNvPr id="49" name="stage-a-b-line"/>
          <p:cNvSpPr>
            <a:spLocks noGrp="1"/>
          </p:cNvSpPr>
          <p:nvPr/>
        </p:nvSpPr>
        <p:spPr>
          <a:xfrm>
            <a:off x="5657850" y="2625587"/>
            <a:ext cx="0" cy="142875"/>
          </a:xfrm>
          <a:prstGeom prst="line">
            <a:avLst/>
          </a:prstGeom>
          <a:noFill/>
          <a:ln w="12383">
            <a:solidFill>
              <a:srgbClr val="557A96"/>
            </a:solidFill>
            <a:prstDash val="solid"/>
          </a:ln>
        </p:spPr>
      </p:sp>
      <p:sp>
        <p:nvSpPr>
          <p:cNvPr id="50" name="stage-a-b-arrow"/>
          <p:cNvSpPr>
            <a:spLocks noGrp="1"/>
          </p:cNvSpPr>
          <p:nvPr/>
        </p:nvSpPr>
        <p:spPr>
          <a:xfrm rot="10800000">
            <a:off x="5619750" y="2730362"/>
            <a:ext cx="76200" cy="76200"/>
          </a:xfrm>
          <a:prstGeom prst="triangle">
            <a:avLst/>
          </a:prstGeom>
          <a:solidFill>
            <a:srgbClr val="557A96"/>
          </a:solidFill>
          <a:ln w="0">
            <a:solidFill>
              <a:srgbClr val="557A96"/>
            </a:solidFill>
            <a:prstDash val="solid"/>
          </a:ln>
        </p:spPr>
      </p:sp>
      <p:sp>
        <p:nvSpPr>
          <p:cNvPr id="53" name="stage-input"/>
          <p:cNvSpPr>
            <a:spLocks noGrp="1"/>
          </p:cNvSpPr>
          <p:nvPr/>
        </p:nvSpPr>
        <p:spPr>
          <a:xfrm>
            <a:off x="5362575" y="2101712"/>
            <a:ext cx="590550" cy="190500"/>
          </a:xfrm>
          <a:prstGeom prst="rect">
            <a:avLst/>
          </a:prstGeom>
          <a:noFill/>
          <a:ln w="0">
            <a:noFill/>
            <a:prstDash val="solid"/>
          </a:ln>
        </p:spPr>
        <p:txBody>
          <a:bodyPr wrap="none" lIns="0" tIns="0" rIns="0" bIns="0" anchor="ctr">
            <a:normAutofit/>
          </a:bodyPr>
          <a:lstStyle/>
          <a:p>
            <a:pPr algn="ctr">
              <a:defRPr sz="1200" b="1">
                <a:solidFill>
                  <a:srgbClr val="68727B"/>
                </a:solidFill>
                <a:latin typeface="微软雅黑" panose="020B0503020204020204" charset="-122"/>
                <a:ea typeface="微软雅黑" panose="020B0503020204020204" charset="-122"/>
                <a:cs typeface="微软雅黑" panose="020B0503020204020204" charset="-122"/>
              </a:defRPr>
            </a:pPr>
            <a:r>
              <a:rPr sz="1200" b="1">
                <a:solidFill>
                  <a:srgbClr val="68727B"/>
                </a:solidFill>
                <a:latin typeface="微软雅黑" panose="020B0503020204020204" charset="-122"/>
                <a:ea typeface="微软雅黑" panose="020B0503020204020204" charset="-122"/>
                <a:cs typeface="微软雅黑" panose="020B0503020204020204" charset="-122"/>
              </a:rPr>
              <a:t>Input</a:t>
            </a:r>
          </a:p>
        </p:txBody>
      </p:sp>
      <p:sp>
        <p:nvSpPr>
          <p:cNvPr id="54" name="stage-a-box"/>
          <p:cNvSpPr>
            <a:spLocks noGrp="1"/>
          </p:cNvSpPr>
          <p:nvPr/>
        </p:nvSpPr>
        <p:spPr>
          <a:xfrm>
            <a:off x="5210175" y="2368412"/>
            <a:ext cx="895350" cy="257175"/>
          </a:xfrm>
          <a:prstGeom prst="roundRect">
            <a:avLst>
              <a:gd name="adj" fmla="val 18519"/>
            </a:avLst>
          </a:prstGeom>
          <a:solidFill>
            <a:srgbClr val="F7F9FA"/>
          </a:solidFill>
          <a:ln w="9525">
            <a:solidFill>
              <a:srgbClr val="7F9DB2"/>
            </a:solidFill>
            <a:prstDash val="solid"/>
          </a:ln>
        </p:spPr>
      </p:sp>
      <p:sp>
        <p:nvSpPr>
          <p:cNvPr id="55" name="stage-a-text"/>
          <p:cNvSpPr>
            <a:spLocks noGrp="1"/>
          </p:cNvSpPr>
          <p:nvPr/>
        </p:nvSpPr>
        <p:spPr>
          <a:xfrm>
            <a:off x="5257800" y="2387462"/>
            <a:ext cx="800100" cy="219075"/>
          </a:xfrm>
          <a:prstGeom prst="rect">
            <a:avLst/>
          </a:prstGeom>
          <a:noFill/>
          <a:ln w="0">
            <a:noFill/>
            <a:prstDash val="solid"/>
          </a:ln>
        </p:spPr>
        <p:txBody>
          <a:bodyPr wrap="none" lIns="0" tIns="0" rIns="0" bIns="0" anchor="ctr">
            <a:normAutofit/>
          </a:bodyPr>
          <a:lstStyle/>
          <a:p>
            <a:pPr algn="ctr">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56" name="stage-b-box"/>
          <p:cNvSpPr>
            <a:spLocks noGrp="1"/>
          </p:cNvSpPr>
          <p:nvPr/>
        </p:nvSpPr>
        <p:spPr>
          <a:xfrm>
            <a:off x="5210175" y="2739887"/>
            <a:ext cx="895350" cy="257175"/>
          </a:xfrm>
          <a:prstGeom prst="roundRect">
            <a:avLst>
              <a:gd name="adj" fmla="val 18519"/>
            </a:avLst>
          </a:prstGeom>
          <a:solidFill>
            <a:srgbClr val="F7F9FA"/>
          </a:solidFill>
          <a:ln w="9525">
            <a:solidFill>
              <a:srgbClr val="7F9DB2"/>
            </a:solidFill>
            <a:prstDash val="solid"/>
          </a:ln>
        </p:spPr>
      </p:sp>
      <p:sp>
        <p:nvSpPr>
          <p:cNvPr id="57" name="stage-b-text"/>
          <p:cNvSpPr>
            <a:spLocks noGrp="1"/>
          </p:cNvSpPr>
          <p:nvPr/>
        </p:nvSpPr>
        <p:spPr>
          <a:xfrm>
            <a:off x="5257800" y="2758937"/>
            <a:ext cx="800100" cy="219075"/>
          </a:xfrm>
          <a:prstGeom prst="rect">
            <a:avLst/>
          </a:prstGeom>
          <a:noFill/>
          <a:ln w="0">
            <a:noFill/>
            <a:prstDash val="solid"/>
          </a:ln>
        </p:spPr>
        <p:txBody>
          <a:bodyPr wrap="none" lIns="0" tIns="0" rIns="0" bIns="0" anchor="ctr">
            <a:normAutofit/>
          </a:bodyPr>
          <a:lstStyle/>
          <a:p>
            <a:pPr algn="ctr">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60" name="stage-definition"/>
          <p:cNvSpPr>
            <a:spLocks noGrp="1"/>
          </p:cNvSpPr>
          <p:nvPr/>
        </p:nvSpPr>
        <p:spPr>
          <a:xfrm>
            <a:off x="6286500" y="2333625"/>
            <a:ext cx="1524000" cy="552450"/>
          </a:xfrm>
          <a:prstGeom prst="rect">
            <a:avLst/>
          </a:prstGeom>
          <a:noFill/>
          <a:ln w="0">
            <a:noFill/>
            <a:prstDash val="solid"/>
          </a:ln>
        </p:spPr>
        <p:txBody>
          <a:bodyPr wrap="square" lIns="0" tIns="0" rIns="0" bIns="0" anchor="t">
            <a:normAutofit fontScale="94771"/>
          </a:bodyPr>
          <a:lstStyle/>
          <a:p>
            <a:pPr algn="l">
              <a:defRPr sz="1275" b="1">
                <a:solidFill>
                  <a:srgbClr val="414951"/>
                </a:solidFill>
                <a:latin typeface="微软雅黑" panose="020B0503020204020204" charset="-122"/>
                <a:ea typeface="微软雅黑" panose="020B0503020204020204" charset="-122"/>
                <a:cs typeface="微软雅黑" panose="020B0503020204020204" charset="-122"/>
              </a:defRPr>
            </a:pPr>
            <a:r>
              <a:rPr sz="1275" b="1" dirty="0" err="1">
                <a:solidFill>
                  <a:srgbClr val="414951"/>
                </a:solidFill>
                <a:latin typeface="微软雅黑" panose="020B0503020204020204" charset="-122"/>
                <a:ea typeface="微软雅黑" panose="020B0503020204020204" charset="-122"/>
                <a:cs typeface="微软雅黑" panose="020B0503020204020204" charset="-122"/>
              </a:rPr>
              <a:t>将复杂任务拆成职责明确、顺序可控的执行阶段</a:t>
            </a:r>
            <a:r>
              <a:rPr sz="1275"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61" name="stage-keywords"/>
          <p:cNvSpPr>
            <a:spLocks noGrp="1"/>
          </p:cNvSpPr>
          <p:nvPr/>
        </p:nvSpPr>
        <p:spPr>
          <a:xfrm>
            <a:off x="6286500" y="2676525"/>
            <a:ext cx="1333500" cy="495300"/>
          </a:xfrm>
          <a:prstGeom prst="rect">
            <a:avLst/>
          </a:prstGeom>
          <a:noFill/>
          <a:ln w="0">
            <a:noFill/>
            <a:prstDash val="solid"/>
          </a:ln>
        </p:spPr>
        <p:txBody>
          <a:bodyPr wrap="none" lIns="0" tIns="0" rIns="0" bIns="0" anchor="t">
            <a:normAutofit fontScale="95007"/>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endParaRPr sz="124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2" name="stage-answer-band"/>
          <p:cNvSpPr>
            <a:spLocks noGrp="1"/>
          </p:cNvSpPr>
          <p:nvPr/>
        </p:nvSpPr>
        <p:spPr>
          <a:xfrm>
            <a:off x="5067300" y="3209925"/>
            <a:ext cx="2819400" cy="152400"/>
          </a:xfrm>
          <a:prstGeom prst="rect">
            <a:avLst/>
          </a:prstGeom>
          <a:solidFill>
            <a:srgbClr val="F2F6F8"/>
          </a:solidFill>
          <a:ln w="0">
            <a:noFill/>
            <a:prstDash val="solid"/>
          </a:ln>
        </p:spPr>
      </p:sp>
      <p:sp>
        <p:nvSpPr>
          <p:cNvPr id="63" name="stage-answer"/>
          <p:cNvSpPr>
            <a:spLocks noGrp="1"/>
          </p:cNvSpPr>
          <p:nvPr/>
        </p:nvSpPr>
        <p:spPr>
          <a:xfrm>
            <a:off x="5181600" y="3209925"/>
            <a:ext cx="2590800" cy="152400"/>
          </a:xfrm>
          <a:prstGeom prst="rect">
            <a:avLst/>
          </a:prstGeom>
          <a:noFill/>
          <a:ln w="0">
            <a:noFill/>
            <a:prstDash val="solid"/>
          </a:ln>
        </p:spPr>
        <p:txBody>
          <a:bodyPr wrap="none" lIns="0" tIns="0" rIns="0" bIns="0" anchor="ctr">
            <a:normAutofit fontScale="96389" lnSpcReduction="10000"/>
          </a:bodyPr>
          <a:lstStyle/>
          <a:p>
            <a:pPr algn="l">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a:solidFill>
                  <a:srgbClr val="557A96"/>
                </a:solidFill>
                <a:latin typeface="微软雅黑" panose="020B0503020204020204" charset="-122"/>
                <a:ea typeface="微软雅黑" panose="020B0503020204020204" charset="-122"/>
                <a:cs typeface="微软雅黑" panose="020B0503020204020204" charset="-122"/>
              </a:rPr>
              <a:t>回答：任务怎么拆？</a:t>
            </a:r>
          </a:p>
        </p:txBody>
      </p:sp>
      <p:sp>
        <p:nvSpPr>
          <p:cNvPr id="64" name="contract-a-artifact-line"/>
          <p:cNvSpPr>
            <a:spLocks noGrp="1"/>
          </p:cNvSpPr>
          <p:nvPr/>
        </p:nvSpPr>
        <p:spPr>
          <a:xfrm>
            <a:off x="9188726" y="2453515"/>
            <a:ext cx="238125" cy="0"/>
          </a:xfrm>
          <a:prstGeom prst="line">
            <a:avLst/>
          </a:prstGeom>
          <a:noFill/>
          <a:ln w="12383">
            <a:solidFill>
              <a:srgbClr val="557A96"/>
            </a:solidFill>
            <a:prstDash val="solid"/>
          </a:ln>
        </p:spPr>
      </p:sp>
      <p:sp>
        <p:nvSpPr>
          <p:cNvPr id="65" name="contract-a-artifact-arrow"/>
          <p:cNvSpPr>
            <a:spLocks noGrp="1"/>
          </p:cNvSpPr>
          <p:nvPr/>
        </p:nvSpPr>
        <p:spPr>
          <a:xfrm rot="5400000">
            <a:off x="9388751" y="2415415"/>
            <a:ext cx="76200" cy="76200"/>
          </a:xfrm>
          <a:prstGeom prst="triangle">
            <a:avLst/>
          </a:prstGeom>
          <a:solidFill>
            <a:srgbClr val="557A96"/>
          </a:solidFill>
          <a:ln w="0">
            <a:solidFill>
              <a:srgbClr val="557A96"/>
            </a:solidFill>
            <a:prstDash val="solid"/>
          </a:ln>
        </p:spPr>
      </p:sp>
      <p:sp>
        <p:nvSpPr>
          <p:cNvPr id="66" name="contract-artifact-b-line"/>
          <p:cNvSpPr>
            <a:spLocks noGrp="1"/>
          </p:cNvSpPr>
          <p:nvPr/>
        </p:nvSpPr>
        <p:spPr>
          <a:xfrm>
            <a:off x="10388876" y="2453515"/>
            <a:ext cx="209550" cy="0"/>
          </a:xfrm>
          <a:prstGeom prst="line">
            <a:avLst/>
          </a:prstGeom>
          <a:noFill/>
          <a:ln w="12383">
            <a:solidFill>
              <a:srgbClr val="557A96"/>
            </a:solidFill>
            <a:prstDash val="solid"/>
          </a:ln>
        </p:spPr>
      </p:sp>
      <p:sp>
        <p:nvSpPr>
          <p:cNvPr id="67" name="contract-artifact-b-arrow"/>
          <p:cNvSpPr>
            <a:spLocks noGrp="1"/>
          </p:cNvSpPr>
          <p:nvPr/>
        </p:nvSpPr>
        <p:spPr>
          <a:xfrm rot="5400000">
            <a:off x="10560326" y="2415415"/>
            <a:ext cx="76200" cy="76200"/>
          </a:xfrm>
          <a:prstGeom prst="triangle">
            <a:avLst/>
          </a:prstGeom>
          <a:solidFill>
            <a:srgbClr val="557A96"/>
          </a:solidFill>
          <a:ln w="0">
            <a:solidFill>
              <a:srgbClr val="557A96"/>
            </a:solidFill>
            <a:prstDash val="solid"/>
          </a:ln>
        </p:spPr>
      </p:sp>
      <p:sp>
        <p:nvSpPr>
          <p:cNvPr id="68" name="output-contract-label"/>
          <p:cNvSpPr>
            <a:spLocks noGrp="1"/>
          </p:cNvSpPr>
          <p:nvPr/>
        </p:nvSpPr>
        <p:spPr>
          <a:xfrm>
            <a:off x="8950601" y="2129665"/>
            <a:ext cx="1047750" cy="17145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Output Contract</a:t>
            </a:r>
          </a:p>
        </p:txBody>
      </p:sp>
      <p:sp>
        <p:nvSpPr>
          <p:cNvPr id="69" name="input-contract-label"/>
          <p:cNvSpPr>
            <a:spLocks noGrp="1"/>
          </p:cNvSpPr>
          <p:nvPr/>
        </p:nvSpPr>
        <p:spPr>
          <a:xfrm>
            <a:off x="10122176" y="2129665"/>
            <a:ext cx="1000125" cy="17145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Input Contract</a:t>
            </a:r>
          </a:p>
        </p:txBody>
      </p:sp>
      <p:sp>
        <p:nvSpPr>
          <p:cNvPr id="70" name="contract-stage-a-box"/>
          <p:cNvSpPr>
            <a:spLocks noGrp="1"/>
          </p:cNvSpPr>
          <p:nvPr/>
        </p:nvSpPr>
        <p:spPr>
          <a:xfrm>
            <a:off x="8331476" y="2282065"/>
            <a:ext cx="857250" cy="457200"/>
          </a:xfrm>
          <a:prstGeom prst="roundRect">
            <a:avLst>
              <a:gd name="adj" fmla="val 10417"/>
            </a:avLst>
          </a:prstGeom>
          <a:solidFill>
            <a:srgbClr val="F7F9FA"/>
          </a:solidFill>
          <a:ln w="9525">
            <a:solidFill>
              <a:srgbClr val="7F9DB2"/>
            </a:solidFill>
            <a:prstDash val="solid"/>
          </a:ln>
        </p:spPr>
      </p:sp>
      <p:sp>
        <p:nvSpPr>
          <p:cNvPr id="71" name="contract-stage-a-text"/>
          <p:cNvSpPr>
            <a:spLocks noGrp="1"/>
          </p:cNvSpPr>
          <p:nvPr/>
        </p:nvSpPr>
        <p:spPr>
          <a:xfrm>
            <a:off x="8379101" y="2301115"/>
            <a:ext cx="762000" cy="419100"/>
          </a:xfrm>
          <a:prstGeom prst="rect">
            <a:avLst/>
          </a:prstGeom>
          <a:noFill/>
          <a:ln w="0">
            <a:noFill/>
            <a:prstDash val="solid"/>
          </a:ln>
        </p:spPr>
        <p:txBody>
          <a:bodyPr wrap="none" lIns="0" tIns="0" rIns="0" bIns="0" anchor="ctr">
            <a:normAutofit fontScale="99951"/>
          </a:bodyPr>
          <a:lstStyle/>
          <a:p>
            <a:pPr algn="ctr">
              <a:defRPr sz="1090" b="1">
                <a:solidFill>
                  <a:srgbClr val="252B31"/>
                </a:solidFill>
                <a:latin typeface="微软雅黑" panose="020B0503020204020204" charset="-122"/>
                <a:ea typeface="微软雅黑" panose="020B0503020204020204" charset="-122"/>
                <a:cs typeface="微软雅黑" panose="020B0503020204020204" charset="-122"/>
              </a:defRPr>
            </a:pPr>
            <a:r>
              <a:rPr sz="1090" b="1" dirty="0" smtClean="0">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72" name="contract-artifact-box"/>
          <p:cNvSpPr>
            <a:spLocks noGrp="1"/>
          </p:cNvSpPr>
          <p:nvPr/>
        </p:nvSpPr>
        <p:spPr>
          <a:xfrm>
            <a:off x="9436376" y="2282065"/>
            <a:ext cx="952500" cy="457200"/>
          </a:xfrm>
          <a:prstGeom prst="roundRect">
            <a:avLst>
              <a:gd name="adj" fmla="val 10417"/>
            </a:avLst>
          </a:prstGeom>
          <a:solidFill>
            <a:srgbClr val="F2F6F8"/>
          </a:solidFill>
          <a:ln w="9525">
            <a:solidFill>
              <a:srgbClr val="7F9DB2"/>
            </a:solidFill>
            <a:prstDash val="solid"/>
          </a:ln>
        </p:spPr>
      </p:sp>
      <p:sp>
        <p:nvSpPr>
          <p:cNvPr id="73" name="contract-artifact-text"/>
          <p:cNvSpPr>
            <a:spLocks noGrp="1"/>
          </p:cNvSpPr>
          <p:nvPr/>
        </p:nvSpPr>
        <p:spPr>
          <a:xfrm>
            <a:off x="9484001" y="2301115"/>
            <a:ext cx="857250" cy="419100"/>
          </a:xfrm>
          <a:prstGeom prst="rect">
            <a:avLst/>
          </a:prstGeom>
          <a:noFill/>
          <a:ln w="0">
            <a:noFill/>
            <a:prstDash val="solid"/>
          </a:ln>
        </p:spPr>
        <p:txBody>
          <a:bodyPr wrap="none" lIns="0" tIns="0" rIns="0" bIns="0" anchor="ctr">
            <a:normAutofit fontScale="98158"/>
          </a:bodyPr>
          <a:lstStyle/>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dirty="0">
                <a:solidFill>
                  <a:srgbClr val="557A96"/>
                </a:solidFill>
                <a:latin typeface="微软雅黑" panose="020B0503020204020204" charset="-122"/>
                <a:ea typeface="微软雅黑" panose="020B0503020204020204" charset="-122"/>
                <a:cs typeface="微软雅黑" panose="020B0503020204020204" charset="-122"/>
              </a:rPr>
              <a:t>Artifact</a:t>
            </a:r>
          </a:p>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dirty="0">
                <a:solidFill>
                  <a:srgbClr val="557A96"/>
                </a:solidFill>
                <a:latin typeface="微软雅黑" panose="020B0503020204020204" charset="-122"/>
                <a:ea typeface="微软雅黑" panose="020B0503020204020204" charset="-122"/>
                <a:cs typeface="微软雅黑" panose="020B0503020204020204" charset="-122"/>
              </a:rPr>
              <a:t>file </a:t>
            </a:r>
            <a:r>
              <a:rPr sz="1090" b="1" dirty="0" smtClean="0">
                <a:solidFill>
                  <a:srgbClr val="557A96"/>
                </a:solidFill>
                <a:latin typeface="微软雅黑" panose="020B0503020204020204" charset="-122"/>
                <a:ea typeface="微软雅黑" panose="020B0503020204020204" charset="-122"/>
                <a:cs typeface="微软雅黑" panose="020B0503020204020204" charset="-122"/>
              </a:rPr>
              <a:t>· </a:t>
            </a:r>
            <a:r>
              <a:rPr sz="1090" b="1" dirty="0">
                <a:solidFill>
                  <a:srgbClr val="557A96"/>
                </a:solidFill>
                <a:latin typeface="微软雅黑" panose="020B0503020204020204" charset="-122"/>
                <a:ea typeface="微软雅黑" panose="020B0503020204020204" charset="-122"/>
                <a:cs typeface="微软雅黑" panose="020B0503020204020204" charset="-122"/>
              </a:rPr>
              <a:t>code</a:t>
            </a:r>
          </a:p>
        </p:txBody>
      </p:sp>
      <p:sp>
        <p:nvSpPr>
          <p:cNvPr id="74" name="contract-stage-b-box"/>
          <p:cNvSpPr>
            <a:spLocks noGrp="1"/>
          </p:cNvSpPr>
          <p:nvPr/>
        </p:nvSpPr>
        <p:spPr>
          <a:xfrm>
            <a:off x="10617476" y="2282065"/>
            <a:ext cx="742950" cy="457200"/>
          </a:xfrm>
          <a:prstGeom prst="roundRect">
            <a:avLst>
              <a:gd name="adj" fmla="val 10417"/>
            </a:avLst>
          </a:prstGeom>
          <a:solidFill>
            <a:srgbClr val="F7F9FA"/>
          </a:solidFill>
          <a:ln w="9525">
            <a:solidFill>
              <a:srgbClr val="7F9DB2"/>
            </a:solidFill>
            <a:prstDash val="solid"/>
          </a:ln>
        </p:spPr>
      </p:sp>
      <p:sp>
        <p:nvSpPr>
          <p:cNvPr id="75" name="contract-stage-b-text"/>
          <p:cNvSpPr>
            <a:spLocks noGrp="1"/>
          </p:cNvSpPr>
          <p:nvPr/>
        </p:nvSpPr>
        <p:spPr>
          <a:xfrm>
            <a:off x="10665101" y="2301115"/>
            <a:ext cx="647700" cy="419100"/>
          </a:xfrm>
          <a:prstGeom prst="rect">
            <a:avLst/>
          </a:prstGeom>
          <a:noFill/>
          <a:ln w="0">
            <a:noFill/>
            <a:prstDash val="solid"/>
          </a:ln>
        </p:spPr>
        <p:txBody>
          <a:bodyPr wrap="none" lIns="0" tIns="0" rIns="0" bIns="0" anchor="ctr">
            <a:normAutofit/>
          </a:bodyPr>
          <a:lstStyle/>
          <a:p>
            <a:pPr algn="ctr">
              <a:defRPr sz="1200" b="1">
                <a:solidFill>
                  <a:srgbClr val="252B31"/>
                </a:solidFill>
                <a:latin typeface="微软雅黑" panose="020B0503020204020204" charset="-122"/>
                <a:ea typeface="微软雅黑" panose="020B0503020204020204" charset="-122"/>
                <a:cs typeface="微软雅黑" panose="020B0503020204020204" charset="-122"/>
              </a:defRPr>
            </a:pPr>
            <a:r>
              <a:rPr sz="1200"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77" name="artifact-concept"/>
          <p:cNvSpPr>
            <a:spLocks noGrp="1"/>
          </p:cNvSpPr>
          <p:nvPr/>
        </p:nvSpPr>
        <p:spPr>
          <a:xfrm>
            <a:off x="8826776" y="2906574"/>
            <a:ext cx="3028950" cy="180975"/>
          </a:xfrm>
          <a:prstGeom prst="rect">
            <a:avLst/>
          </a:prstGeom>
          <a:noFill/>
          <a:ln w="0">
            <a:noFill/>
            <a:prstDash val="solid"/>
          </a:ln>
        </p:spPr>
        <p:txBody>
          <a:bodyPr wrap="none" lIns="0" tIns="0" rIns="0" bIns="0" anchor="ctr">
            <a:normAutofit/>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dirty="0">
                <a:solidFill>
                  <a:srgbClr val="414951"/>
                </a:solidFill>
                <a:latin typeface="微软雅黑" panose="020B0503020204020204" charset="-122"/>
                <a:ea typeface="微软雅黑" panose="020B0503020204020204" charset="-122"/>
                <a:cs typeface="微软雅黑" panose="020B0503020204020204" charset="-122"/>
              </a:rPr>
              <a:t>Artifact   </a:t>
            </a:r>
            <a:r>
              <a:rPr sz="1165" b="0" dirty="0" err="1" smtClean="0">
                <a:solidFill>
                  <a:srgbClr val="414951"/>
                </a:solidFill>
                <a:latin typeface="微软雅黑" panose="020B0503020204020204" charset="-122"/>
                <a:ea typeface="微软雅黑" panose="020B0503020204020204" charset="-122"/>
                <a:cs typeface="微软雅黑" panose="020B0503020204020204" charset="-122"/>
              </a:rPr>
              <a:t>文件或</a:t>
            </a:r>
            <a:r>
              <a:rPr lang="zh-CN" altLang="en-US" sz="1165" b="0" dirty="0" smtClean="0">
                <a:solidFill>
                  <a:srgbClr val="414951"/>
                </a:solidFill>
                <a:latin typeface="微软雅黑" panose="020B0503020204020204" charset="-122"/>
                <a:ea typeface="微软雅黑" panose="020B0503020204020204" charset="-122"/>
                <a:cs typeface="微软雅黑" panose="020B0503020204020204" charset="-122"/>
              </a:rPr>
              <a:t>其他</a:t>
            </a:r>
            <a:r>
              <a:rPr sz="1165" b="0" dirty="0" err="1" smtClean="0">
                <a:solidFill>
                  <a:srgbClr val="414951"/>
                </a:solidFill>
                <a:latin typeface="微软雅黑" panose="020B0503020204020204" charset="-122"/>
                <a:ea typeface="微软雅黑" panose="020B0503020204020204" charset="-122"/>
                <a:cs typeface="微软雅黑" panose="020B0503020204020204" charset="-122"/>
              </a:rPr>
              <a:t>结果</a:t>
            </a:r>
            <a:endParaRPr sz="116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79" name="contract-example-band"/>
          <p:cNvSpPr>
            <a:spLocks noGrp="1"/>
          </p:cNvSpPr>
          <p:nvPr/>
        </p:nvSpPr>
        <p:spPr>
          <a:xfrm>
            <a:off x="8267700" y="3200400"/>
            <a:ext cx="3200400" cy="152400"/>
          </a:xfrm>
          <a:prstGeom prst="rect">
            <a:avLst/>
          </a:prstGeom>
          <a:solidFill>
            <a:srgbClr val="F2F6F8"/>
          </a:solidFill>
          <a:ln w="0">
            <a:noFill/>
            <a:prstDash val="solid"/>
          </a:ln>
        </p:spPr>
      </p:sp>
      <p:sp>
        <p:nvSpPr>
          <p:cNvPr id="80" name="contract-example"/>
          <p:cNvSpPr>
            <a:spLocks noGrp="1"/>
          </p:cNvSpPr>
          <p:nvPr/>
        </p:nvSpPr>
        <p:spPr>
          <a:xfrm>
            <a:off x="8362950" y="3200400"/>
            <a:ext cx="3009900" cy="152400"/>
          </a:xfrm>
          <a:prstGeom prst="rect">
            <a:avLst/>
          </a:prstGeom>
          <a:noFill/>
          <a:ln w="0">
            <a:noFill/>
            <a:prstDash val="solid"/>
          </a:ln>
        </p:spPr>
        <p:txBody>
          <a:bodyPr wrap="none" lIns="0" tIns="0" rIns="0" bIns="0" anchor="ctr">
            <a:normAutofit fontScale="98717"/>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15" b="1" dirty="0">
                <a:solidFill>
                  <a:srgbClr val="557A96"/>
                </a:solidFill>
                <a:latin typeface="微软雅黑" panose="020B0503020204020204" charset="-122"/>
                <a:ea typeface="微软雅黑" panose="020B0503020204020204" charset="-122"/>
                <a:cs typeface="微软雅黑" panose="020B0503020204020204" charset="-122"/>
              </a:rPr>
              <a:t>接受什么 </a:t>
            </a:r>
            <a:r>
              <a:rPr lang="en-US" altLang="zh-CN" sz="1015" b="1" dirty="0">
                <a:solidFill>
                  <a:srgbClr val="557A96"/>
                </a:solidFill>
                <a:latin typeface="微软雅黑" panose="020B0503020204020204" charset="-122"/>
                <a:ea typeface="微软雅黑" panose="020B0503020204020204" charset="-122"/>
                <a:cs typeface="微软雅黑" panose="020B0503020204020204" charset="-122"/>
              </a:rPr>
              <a:t>/ </a:t>
            </a:r>
            <a:r>
              <a:rPr lang="zh-CN" altLang="en-US" sz="1015" b="1" dirty="0">
                <a:solidFill>
                  <a:srgbClr val="557A96"/>
                </a:solidFill>
                <a:latin typeface="微软雅黑" panose="020B0503020204020204" charset="-122"/>
                <a:ea typeface="微软雅黑" panose="020B0503020204020204" charset="-122"/>
                <a:cs typeface="微软雅黑" panose="020B0503020204020204" charset="-122"/>
              </a:rPr>
              <a:t>必须产生</a:t>
            </a:r>
            <a:r>
              <a:rPr lang="zh-CN" altLang="en-US" sz="1015" b="1" dirty="0" smtClean="0">
                <a:solidFill>
                  <a:srgbClr val="557A96"/>
                </a:solidFill>
                <a:latin typeface="微软雅黑" panose="020B0503020204020204" charset="-122"/>
                <a:ea typeface="微软雅黑" panose="020B0503020204020204" charset="-122"/>
                <a:cs typeface="微软雅黑" panose="020B0503020204020204" charset="-122"/>
              </a:rPr>
              <a:t>什么，交给下阶段继续处理</a:t>
            </a:r>
            <a:endParaRPr lang="zh-CN" altLang="en-US" sz="101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1" name="gate-validation-line"/>
          <p:cNvSpPr>
            <a:spLocks noGrp="1"/>
          </p:cNvSpPr>
          <p:nvPr/>
        </p:nvSpPr>
        <p:spPr>
          <a:xfrm>
            <a:off x="6477000" y="4010025"/>
            <a:ext cx="0" cy="133350"/>
          </a:xfrm>
          <a:prstGeom prst="line">
            <a:avLst/>
          </a:prstGeom>
          <a:noFill/>
          <a:ln w="12383">
            <a:solidFill>
              <a:srgbClr val="557A96"/>
            </a:solidFill>
            <a:prstDash val="solid"/>
          </a:ln>
        </p:spPr>
      </p:sp>
      <p:sp>
        <p:nvSpPr>
          <p:cNvPr id="82" name="gate-validation-arrow"/>
          <p:cNvSpPr>
            <a:spLocks noGrp="1"/>
          </p:cNvSpPr>
          <p:nvPr/>
        </p:nvSpPr>
        <p:spPr>
          <a:xfrm rot="10800000">
            <a:off x="6438900" y="4105275"/>
            <a:ext cx="76200" cy="76200"/>
          </a:xfrm>
          <a:prstGeom prst="triangle">
            <a:avLst/>
          </a:prstGeom>
          <a:solidFill>
            <a:srgbClr val="557A96"/>
          </a:solidFill>
          <a:ln w="0">
            <a:solidFill>
              <a:srgbClr val="557A96"/>
            </a:solidFill>
            <a:prstDash val="solid"/>
          </a:ln>
        </p:spPr>
      </p:sp>
      <p:sp>
        <p:nvSpPr>
          <p:cNvPr id="83" name="gate-down-line"/>
          <p:cNvSpPr>
            <a:spLocks noGrp="1"/>
          </p:cNvSpPr>
          <p:nvPr/>
        </p:nvSpPr>
        <p:spPr>
          <a:xfrm>
            <a:off x="6477000" y="4438650"/>
            <a:ext cx="0" cy="114300"/>
          </a:xfrm>
          <a:prstGeom prst="line">
            <a:avLst/>
          </a:prstGeom>
          <a:noFill/>
          <a:ln w="12383">
            <a:solidFill>
              <a:srgbClr val="557A96"/>
            </a:solidFill>
            <a:prstDash val="solid"/>
          </a:ln>
        </p:spPr>
      </p:sp>
      <p:sp>
        <p:nvSpPr>
          <p:cNvPr id="84" name="gate-branch-line"/>
          <p:cNvSpPr>
            <a:spLocks noGrp="1"/>
          </p:cNvSpPr>
          <p:nvPr/>
        </p:nvSpPr>
        <p:spPr>
          <a:xfrm>
            <a:off x="5619750" y="4552950"/>
            <a:ext cx="1714500" cy="0"/>
          </a:xfrm>
          <a:prstGeom prst="line">
            <a:avLst/>
          </a:prstGeom>
          <a:noFill/>
          <a:ln w="12383">
            <a:solidFill>
              <a:srgbClr val="557A96"/>
            </a:solidFill>
            <a:prstDash val="solid"/>
          </a:ln>
        </p:spPr>
      </p:sp>
      <p:sp>
        <p:nvSpPr>
          <p:cNvPr id="85" name="gate-pass-line"/>
          <p:cNvSpPr>
            <a:spLocks noGrp="1"/>
          </p:cNvSpPr>
          <p:nvPr/>
        </p:nvSpPr>
        <p:spPr>
          <a:xfrm>
            <a:off x="5619750" y="4552950"/>
            <a:ext cx="0" cy="95250"/>
          </a:xfrm>
          <a:prstGeom prst="line">
            <a:avLst/>
          </a:prstGeom>
          <a:noFill/>
          <a:ln w="12383">
            <a:solidFill>
              <a:srgbClr val="557A96"/>
            </a:solidFill>
            <a:prstDash val="solid"/>
          </a:ln>
        </p:spPr>
      </p:sp>
      <p:sp>
        <p:nvSpPr>
          <p:cNvPr id="86" name="gate-pass-arrow"/>
          <p:cNvSpPr>
            <a:spLocks noGrp="1"/>
          </p:cNvSpPr>
          <p:nvPr/>
        </p:nvSpPr>
        <p:spPr>
          <a:xfrm rot="10800000">
            <a:off x="5581650" y="4610100"/>
            <a:ext cx="76200" cy="76200"/>
          </a:xfrm>
          <a:prstGeom prst="triangle">
            <a:avLst/>
          </a:prstGeom>
          <a:solidFill>
            <a:srgbClr val="557A96"/>
          </a:solidFill>
          <a:ln w="0">
            <a:solidFill>
              <a:srgbClr val="557A96"/>
            </a:solidFill>
            <a:prstDash val="solid"/>
          </a:ln>
        </p:spPr>
      </p:sp>
      <p:sp>
        <p:nvSpPr>
          <p:cNvPr id="87" name="gate-fail-line"/>
          <p:cNvSpPr>
            <a:spLocks noGrp="1"/>
          </p:cNvSpPr>
          <p:nvPr/>
        </p:nvSpPr>
        <p:spPr>
          <a:xfrm>
            <a:off x="7334250" y="4552950"/>
            <a:ext cx="0" cy="95250"/>
          </a:xfrm>
          <a:prstGeom prst="line">
            <a:avLst/>
          </a:prstGeom>
          <a:noFill/>
          <a:ln w="12383">
            <a:solidFill>
              <a:srgbClr val="557A96"/>
            </a:solidFill>
            <a:prstDash val="solid"/>
          </a:ln>
        </p:spPr>
      </p:sp>
      <p:sp>
        <p:nvSpPr>
          <p:cNvPr id="88" name="gate-fail-arrow"/>
          <p:cNvSpPr>
            <a:spLocks noGrp="1"/>
          </p:cNvSpPr>
          <p:nvPr/>
        </p:nvSpPr>
        <p:spPr>
          <a:xfrm rot="10800000">
            <a:off x="7296150" y="4610100"/>
            <a:ext cx="76200" cy="76200"/>
          </a:xfrm>
          <a:prstGeom prst="triangle">
            <a:avLst/>
          </a:prstGeom>
          <a:solidFill>
            <a:srgbClr val="557A96"/>
          </a:solidFill>
          <a:ln w="0">
            <a:solidFill>
              <a:srgbClr val="557A96"/>
            </a:solidFill>
            <a:prstDash val="solid"/>
          </a:ln>
        </p:spPr>
      </p:sp>
      <p:sp>
        <p:nvSpPr>
          <p:cNvPr id="89" name="gate-validation"/>
          <p:cNvSpPr>
            <a:spLocks noGrp="1"/>
          </p:cNvSpPr>
          <p:nvPr/>
        </p:nvSpPr>
        <p:spPr>
          <a:xfrm>
            <a:off x="6048375" y="3857625"/>
            <a:ext cx="857250" cy="190500"/>
          </a:xfrm>
          <a:prstGeom prst="rect">
            <a:avLst/>
          </a:prstGeom>
          <a:noFill/>
          <a:ln w="0">
            <a:noFill/>
            <a:prstDash val="solid"/>
          </a:ln>
        </p:spPr>
        <p:txBody>
          <a:bodyPr wrap="none" lIns="0" tIns="0" rIns="0" bIns="0" anchor="ctr">
            <a:normAutofit/>
          </a:bodyPr>
          <a:lstStyle/>
          <a:p>
            <a:pPr algn="ctr">
              <a:defRPr sz="1200" b="1">
                <a:solidFill>
                  <a:srgbClr val="68727B"/>
                </a:solidFill>
                <a:latin typeface="微软雅黑" panose="020B0503020204020204" charset="-122"/>
                <a:ea typeface="微软雅黑" panose="020B0503020204020204" charset="-122"/>
                <a:cs typeface="微软雅黑" panose="020B0503020204020204" charset="-122"/>
              </a:defRPr>
            </a:pPr>
            <a:r>
              <a:rPr sz="1200" b="1">
                <a:solidFill>
                  <a:srgbClr val="68727B"/>
                </a:solidFill>
                <a:latin typeface="微软雅黑" panose="020B0503020204020204" charset="-122"/>
                <a:ea typeface="微软雅黑" panose="020B0503020204020204" charset="-122"/>
                <a:cs typeface="微软雅黑" panose="020B0503020204020204" charset="-122"/>
              </a:rPr>
              <a:t>Validation</a:t>
            </a:r>
          </a:p>
        </p:txBody>
      </p:sp>
      <p:sp>
        <p:nvSpPr>
          <p:cNvPr id="90" name="gate-node-box"/>
          <p:cNvSpPr>
            <a:spLocks noGrp="1"/>
          </p:cNvSpPr>
          <p:nvPr/>
        </p:nvSpPr>
        <p:spPr>
          <a:xfrm>
            <a:off x="6000750" y="4162425"/>
            <a:ext cx="952500" cy="285750"/>
          </a:xfrm>
          <a:prstGeom prst="roundRect">
            <a:avLst>
              <a:gd name="adj" fmla="val 16667"/>
            </a:avLst>
          </a:prstGeom>
          <a:solidFill>
            <a:srgbClr val="F2F6F8"/>
          </a:solidFill>
          <a:ln w="9525">
            <a:solidFill>
              <a:srgbClr val="7F9DB2"/>
            </a:solidFill>
            <a:prstDash val="solid"/>
          </a:ln>
        </p:spPr>
      </p:sp>
      <p:sp>
        <p:nvSpPr>
          <p:cNvPr id="91" name="gate-node-text"/>
          <p:cNvSpPr>
            <a:spLocks noGrp="1"/>
          </p:cNvSpPr>
          <p:nvPr/>
        </p:nvSpPr>
        <p:spPr>
          <a:xfrm>
            <a:off x="6048375" y="4181475"/>
            <a:ext cx="857250" cy="247650"/>
          </a:xfrm>
          <a:prstGeom prst="rect">
            <a:avLst/>
          </a:prstGeom>
          <a:noFill/>
          <a:ln w="0">
            <a:noFill/>
            <a:prstDash val="solid"/>
          </a:ln>
        </p:spPr>
        <p:txBody>
          <a:bodyPr wrap="none" lIns="0" tIns="0" rIns="0" bIns="0" anchor="ctr">
            <a:normAutofit/>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92" name="gate-pass-box"/>
          <p:cNvSpPr>
            <a:spLocks noGrp="1"/>
          </p:cNvSpPr>
          <p:nvPr/>
        </p:nvSpPr>
        <p:spPr>
          <a:xfrm>
            <a:off x="5219700" y="4657725"/>
            <a:ext cx="800100" cy="266700"/>
          </a:xfrm>
          <a:prstGeom prst="roundRect">
            <a:avLst>
              <a:gd name="adj" fmla="val 17857"/>
            </a:avLst>
          </a:prstGeom>
          <a:solidFill>
            <a:srgbClr val="F7F9FA"/>
          </a:solidFill>
          <a:ln w="9525">
            <a:solidFill>
              <a:srgbClr val="7F9DB2"/>
            </a:solidFill>
            <a:prstDash val="solid"/>
          </a:ln>
        </p:spPr>
      </p:sp>
      <p:sp>
        <p:nvSpPr>
          <p:cNvPr id="93" name="gate-pass-text"/>
          <p:cNvSpPr>
            <a:spLocks noGrp="1"/>
          </p:cNvSpPr>
          <p:nvPr/>
        </p:nvSpPr>
        <p:spPr>
          <a:xfrm>
            <a:off x="5267325" y="4676775"/>
            <a:ext cx="704850" cy="2286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PASS</a:t>
            </a:r>
          </a:p>
        </p:txBody>
      </p:sp>
      <p:sp>
        <p:nvSpPr>
          <p:cNvPr id="94" name="gate-fail-box"/>
          <p:cNvSpPr>
            <a:spLocks noGrp="1"/>
          </p:cNvSpPr>
          <p:nvPr/>
        </p:nvSpPr>
        <p:spPr>
          <a:xfrm>
            <a:off x="6934200" y="4657725"/>
            <a:ext cx="800100" cy="266700"/>
          </a:xfrm>
          <a:prstGeom prst="roundRect">
            <a:avLst>
              <a:gd name="adj" fmla="val 17857"/>
            </a:avLst>
          </a:prstGeom>
          <a:solidFill>
            <a:srgbClr val="F7F9FA"/>
          </a:solidFill>
          <a:ln w="9525">
            <a:solidFill>
              <a:srgbClr val="7F9DB2"/>
            </a:solidFill>
            <a:prstDash val="solid"/>
          </a:ln>
        </p:spPr>
      </p:sp>
      <p:sp>
        <p:nvSpPr>
          <p:cNvPr id="95" name="gate-fail-text"/>
          <p:cNvSpPr>
            <a:spLocks noGrp="1"/>
          </p:cNvSpPr>
          <p:nvPr/>
        </p:nvSpPr>
        <p:spPr>
          <a:xfrm>
            <a:off x="6981825" y="4676775"/>
            <a:ext cx="704850" cy="2286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FAIL</a:t>
            </a:r>
          </a:p>
        </p:txBody>
      </p:sp>
      <p:sp>
        <p:nvSpPr>
          <p:cNvPr id="96" name="gate-next"/>
          <p:cNvSpPr>
            <a:spLocks noGrp="1"/>
          </p:cNvSpPr>
          <p:nvPr/>
        </p:nvSpPr>
        <p:spPr>
          <a:xfrm>
            <a:off x="5162550" y="4943475"/>
            <a:ext cx="914400" cy="180975"/>
          </a:xfrm>
          <a:prstGeom prst="rect">
            <a:avLst/>
          </a:prstGeom>
          <a:noFill/>
          <a:ln w="0">
            <a:noFill/>
            <a:prstDash val="solid"/>
          </a:ln>
        </p:spPr>
        <p:txBody>
          <a:bodyPr wrap="none" lIns="0" tIns="0" rIns="0" bIns="0" anchor="ctr">
            <a:normAutofit/>
          </a:bodyPr>
          <a:lstStyle/>
          <a:p>
            <a:pPr algn="ctr">
              <a:defRPr sz="1125" b="1">
                <a:solidFill>
                  <a:srgbClr val="414951"/>
                </a:solidFill>
                <a:latin typeface="微软雅黑" panose="020B0503020204020204" charset="-122"/>
                <a:ea typeface="微软雅黑" panose="020B0503020204020204" charset="-122"/>
                <a:cs typeface="微软雅黑" panose="020B0503020204020204" charset="-122"/>
              </a:defRPr>
            </a:pPr>
            <a:r>
              <a:rPr sz="1125" b="1">
                <a:solidFill>
                  <a:srgbClr val="414951"/>
                </a:solidFill>
                <a:latin typeface="微软雅黑" panose="020B0503020204020204" charset="-122"/>
                <a:ea typeface="微软雅黑" panose="020B0503020204020204" charset="-122"/>
                <a:cs typeface="微软雅黑" panose="020B0503020204020204" charset="-122"/>
              </a:rPr>
              <a:t>Next Stage</a:t>
            </a:r>
          </a:p>
        </p:txBody>
      </p:sp>
      <p:sp>
        <p:nvSpPr>
          <p:cNvPr id="97" name="gate-retry"/>
          <p:cNvSpPr>
            <a:spLocks noGrp="1"/>
          </p:cNvSpPr>
          <p:nvPr/>
        </p:nvSpPr>
        <p:spPr>
          <a:xfrm>
            <a:off x="6667500" y="4943475"/>
            <a:ext cx="1333500" cy="180975"/>
          </a:xfrm>
          <a:prstGeom prst="rect">
            <a:avLst/>
          </a:prstGeom>
          <a:noFill/>
          <a:ln w="0">
            <a:noFill/>
            <a:prstDash val="solid"/>
          </a:ln>
        </p:spPr>
        <p:txBody>
          <a:bodyPr wrap="none" lIns="0" tIns="0" rIns="0" bIns="0" anchor="ctr">
            <a:normAutofit/>
          </a:bodyPr>
          <a:lstStyle/>
          <a:p>
            <a:pPr algn="ctr">
              <a:defRPr sz="1125" b="1">
                <a:solidFill>
                  <a:srgbClr val="414951"/>
                </a:solidFill>
                <a:latin typeface="微软雅黑" panose="020B0503020204020204" charset="-122"/>
                <a:ea typeface="微软雅黑" panose="020B0503020204020204" charset="-122"/>
                <a:cs typeface="微软雅黑" panose="020B0503020204020204" charset="-122"/>
              </a:defRPr>
            </a:pPr>
            <a:r>
              <a:rPr sz="1125" b="1">
                <a:solidFill>
                  <a:srgbClr val="414951"/>
                </a:solidFill>
                <a:latin typeface="微软雅黑" panose="020B0503020204020204" charset="-122"/>
                <a:ea typeface="微软雅黑" panose="020B0503020204020204" charset="-122"/>
                <a:cs typeface="微软雅黑" panose="020B0503020204020204" charset="-122"/>
              </a:rPr>
              <a:t>Retry / Fallback</a:t>
            </a:r>
          </a:p>
        </p:txBody>
      </p:sp>
      <p:sp>
        <p:nvSpPr>
          <p:cNvPr id="98" name="gate-definition"/>
          <p:cNvSpPr>
            <a:spLocks noGrp="1"/>
          </p:cNvSpPr>
          <p:nvPr/>
        </p:nvSpPr>
        <p:spPr>
          <a:xfrm>
            <a:off x="5143500" y="5153025"/>
            <a:ext cx="2667000" cy="200025"/>
          </a:xfrm>
          <a:prstGeom prst="rect">
            <a:avLst/>
          </a:prstGeom>
          <a:noFill/>
          <a:ln w="0">
            <a:noFill/>
            <a:prstDash val="solid"/>
          </a:ln>
        </p:spPr>
        <p:txBody>
          <a:bodyPr wrap="none" lIns="0" tIns="0" rIns="0" bIns="0" anchor="ctr">
            <a:normAutofit/>
          </a:bodyPr>
          <a:lstStyle/>
          <a:p>
            <a:pPr algn="ctr">
              <a:defRPr sz="1240" b="1">
                <a:solidFill>
                  <a:srgbClr val="414951"/>
                </a:solidFill>
                <a:latin typeface="微软雅黑" panose="020B0503020204020204" charset="-122"/>
                <a:ea typeface="微软雅黑" panose="020B0503020204020204" charset="-122"/>
                <a:cs typeface="微软雅黑" panose="020B0503020204020204" charset="-122"/>
              </a:defRPr>
            </a:pPr>
            <a:endParaRPr sz="1240"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9" name="gate-examples"/>
          <p:cNvSpPr>
            <a:spLocks noGrp="1"/>
          </p:cNvSpPr>
          <p:nvPr/>
        </p:nvSpPr>
        <p:spPr>
          <a:xfrm>
            <a:off x="5210175" y="5281820"/>
            <a:ext cx="2667000" cy="190500"/>
          </a:xfrm>
          <a:prstGeom prst="rect">
            <a:avLst/>
          </a:prstGeom>
          <a:noFill/>
          <a:ln w="0">
            <a:noFill/>
            <a:prstDash val="solid"/>
          </a:ln>
        </p:spPr>
        <p:txBody>
          <a:bodyPr wrap="none" lIns="0" tIns="0" rIns="0" bIns="0" anchor="ctr">
            <a:normAutofit/>
          </a:bodyPr>
          <a:lstStyle/>
          <a:p>
            <a:pPr algn="ctr">
              <a:defRPr sz="1165" b="0">
                <a:solidFill>
                  <a:srgbClr val="68727B"/>
                </a:solidFill>
                <a:latin typeface="微软雅黑" panose="020B0503020204020204" charset="-122"/>
                <a:ea typeface="微软雅黑" panose="020B0503020204020204" charset="-122"/>
                <a:cs typeface="微软雅黑" panose="020B0503020204020204" charset="-122"/>
              </a:defRPr>
            </a:pPr>
            <a:r>
              <a:rPr sz="1165" b="0" dirty="0" err="1">
                <a:solidFill>
                  <a:srgbClr val="68727B"/>
                </a:solidFill>
                <a:latin typeface="微软雅黑" panose="020B0503020204020204" charset="-122"/>
                <a:ea typeface="微软雅黑" panose="020B0503020204020204" charset="-122"/>
                <a:cs typeface="微软雅黑" panose="020B0503020204020204" charset="-122"/>
              </a:rPr>
              <a:t>文件存在</a:t>
            </a:r>
            <a:r>
              <a:rPr sz="1165" b="0" dirty="0">
                <a:solidFill>
                  <a:srgbClr val="68727B"/>
                </a:solidFill>
                <a:latin typeface="微软雅黑" panose="020B0503020204020204" charset="-122"/>
                <a:ea typeface="微软雅黑" panose="020B0503020204020204" charset="-122"/>
                <a:cs typeface="微软雅黑" panose="020B0503020204020204" charset="-122"/>
              </a:rPr>
              <a:t>？ · </a:t>
            </a:r>
            <a:r>
              <a:rPr sz="1165" b="0" dirty="0" err="1">
                <a:solidFill>
                  <a:srgbClr val="68727B"/>
                </a:solidFill>
                <a:latin typeface="微软雅黑" panose="020B0503020204020204" charset="-122"/>
                <a:ea typeface="微软雅黑" panose="020B0503020204020204" charset="-122"/>
                <a:cs typeface="微软雅黑" panose="020B0503020204020204" charset="-122"/>
              </a:rPr>
              <a:t>执行成功</a:t>
            </a:r>
            <a:r>
              <a:rPr sz="1165" b="0" dirty="0">
                <a:solidFill>
                  <a:srgbClr val="68727B"/>
                </a:solidFill>
                <a:latin typeface="微软雅黑" panose="020B0503020204020204" charset="-122"/>
                <a:ea typeface="微软雅黑" panose="020B0503020204020204" charset="-122"/>
                <a:cs typeface="微软雅黑" panose="020B0503020204020204" charset="-122"/>
              </a:rPr>
              <a:t>？ · </a:t>
            </a:r>
            <a:r>
              <a:rPr sz="1165" b="0" dirty="0" err="1">
                <a:solidFill>
                  <a:srgbClr val="68727B"/>
                </a:solidFill>
                <a:latin typeface="微软雅黑" panose="020B0503020204020204" charset="-122"/>
                <a:ea typeface="微软雅黑" panose="020B0503020204020204" charset="-122"/>
                <a:cs typeface="微软雅黑" panose="020B0503020204020204" charset="-122"/>
              </a:rPr>
              <a:t>结果合格</a:t>
            </a:r>
            <a:r>
              <a:rPr sz="1165" b="0" dirty="0">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00" name="gate-rule-band"/>
          <p:cNvSpPr>
            <a:spLocks noGrp="1"/>
          </p:cNvSpPr>
          <p:nvPr/>
        </p:nvSpPr>
        <p:spPr>
          <a:xfrm>
            <a:off x="5067300" y="5610225"/>
            <a:ext cx="2819400" cy="219075"/>
          </a:xfrm>
          <a:prstGeom prst="rect">
            <a:avLst/>
          </a:prstGeom>
          <a:solidFill>
            <a:srgbClr val="F2F6F8"/>
          </a:solidFill>
          <a:ln w="0">
            <a:noFill/>
            <a:prstDash val="solid"/>
          </a:ln>
        </p:spPr>
      </p:sp>
      <p:sp>
        <p:nvSpPr>
          <p:cNvPr id="101" name="gate-rule"/>
          <p:cNvSpPr>
            <a:spLocks noGrp="1"/>
          </p:cNvSpPr>
          <p:nvPr/>
        </p:nvSpPr>
        <p:spPr>
          <a:xfrm>
            <a:off x="5162550" y="5610225"/>
            <a:ext cx="2628900" cy="219075"/>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Gate 未通过，不允许进入下一阶段。</a:t>
            </a:r>
          </a:p>
        </p:txBody>
      </p:sp>
      <p:sp>
        <p:nvSpPr>
          <p:cNvPr id="102" name="routing-label-box"/>
          <p:cNvSpPr>
            <a:spLocks noGrp="1"/>
          </p:cNvSpPr>
          <p:nvPr/>
        </p:nvSpPr>
        <p:spPr>
          <a:xfrm>
            <a:off x="8324850" y="3990975"/>
            <a:ext cx="742950" cy="409575"/>
          </a:xfrm>
          <a:prstGeom prst="roundRect">
            <a:avLst>
              <a:gd name="adj" fmla="val 11628"/>
            </a:avLst>
          </a:prstGeom>
          <a:solidFill>
            <a:srgbClr val="F2F6F8"/>
          </a:solidFill>
          <a:ln w="7620">
            <a:solidFill>
              <a:srgbClr val="D8DEE3"/>
            </a:solidFill>
            <a:prstDash val="solid"/>
          </a:ln>
        </p:spPr>
      </p:sp>
      <p:sp>
        <p:nvSpPr>
          <p:cNvPr id="103" name="routing-label"/>
          <p:cNvSpPr>
            <a:spLocks noGrp="1"/>
          </p:cNvSpPr>
          <p:nvPr/>
        </p:nvSpPr>
        <p:spPr>
          <a:xfrm>
            <a:off x="8401050" y="4057650"/>
            <a:ext cx="590550" cy="266700"/>
          </a:xfrm>
          <a:prstGeom prst="rect">
            <a:avLst/>
          </a:prstGeom>
          <a:noFill/>
          <a:ln w="0">
            <a:noFill/>
            <a:prstDash val="solid"/>
          </a:ln>
        </p:spPr>
        <p:txBody>
          <a:bodyPr wrap="none" lIns="0" tIns="0" rIns="0" bIns="0" anchor="ctr">
            <a:normAutofit fontScale="93731"/>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Routing</a:t>
            </a:r>
          </a:p>
        </p:txBody>
      </p:sp>
      <p:sp>
        <p:nvSpPr>
          <p:cNvPr id="104" name="routing-diagram"/>
          <p:cNvSpPr>
            <a:spLocks noGrp="1"/>
          </p:cNvSpPr>
          <p:nvPr/>
        </p:nvSpPr>
        <p:spPr>
          <a:xfrm>
            <a:off x="9201150" y="4010025"/>
            <a:ext cx="2152650" cy="190500"/>
          </a:xfrm>
          <a:prstGeom prst="rect">
            <a:avLst/>
          </a:prstGeom>
          <a:noFill/>
          <a:ln w="0">
            <a:noFill/>
            <a:prstDash val="solid"/>
          </a:ln>
        </p:spPr>
        <p:txBody>
          <a:bodyPr wrap="none" lIns="0" tIns="0" rIns="0" bIns="0" anchor="ctr">
            <a:normAutofit fontScale="93715"/>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Condition → Path A / Path B</a:t>
            </a:r>
          </a:p>
        </p:txBody>
      </p:sp>
      <p:sp>
        <p:nvSpPr>
          <p:cNvPr id="105" name="routing-description"/>
          <p:cNvSpPr>
            <a:spLocks noGrp="1"/>
          </p:cNvSpPr>
          <p:nvPr/>
        </p:nvSpPr>
        <p:spPr>
          <a:xfrm>
            <a:off x="9201150" y="41910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按条件选择下一条执行路径</a:t>
            </a:r>
          </a:p>
        </p:txBody>
      </p:sp>
      <p:sp>
        <p:nvSpPr>
          <p:cNvPr id="106" name="retry-label-box"/>
          <p:cNvSpPr>
            <a:spLocks noGrp="1"/>
          </p:cNvSpPr>
          <p:nvPr/>
        </p:nvSpPr>
        <p:spPr>
          <a:xfrm>
            <a:off x="8324850" y="4486275"/>
            <a:ext cx="742950" cy="409575"/>
          </a:xfrm>
          <a:prstGeom prst="roundRect">
            <a:avLst>
              <a:gd name="adj" fmla="val 11628"/>
            </a:avLst>
          </a:prstGeom>
          <a:solidFill>
            <a:srgbClr val="F2F6F8"/>
          </a:solidFill>
          <a:ln w="7620">
            <a:solidFill>
              <a:srgbClr val="D8DEE3"/>
            </a:solidFill>
            <a:prstDash val="solid"/>
          </a:ln>
        </p:spPr>
      </p:sp>
      <p:sp>
        <p:nvSpPr>
          <p:cNvPr id="107" name="retry-label"/>
          <p:cNvSpPr>
            <a:spLocks noGrp="1"/>
          </p:cNvSpPr>
          <p:nvPr/>
        </p:nvSpPr>
        <p:spPr>
          <a:xfrm>
            <a:off x="8401050" y="4552950"/>
            <a:ext cx="590550" cy="266700"/>
          </a:xfrm>
          <a:prstGeom prst="rect">
            <a:avLst/>
          </a:prstGeom>
          <a:noFill/>
          <a:ln w="0">
            <a:noFill/>
            <a:prstDash val="solid"/>
          </a:ln>
        </p:spPr>
        <p:txBody>
          <a:bodyPr wrap="none" lIns="0" tIns="0" rIns="0" bIns="0" anchor="ctr">
            <a:normAutofit/>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Retry</a:t>
            </a:r>
          </a:p>
        </p:txBody>
      </p:sp>
      <p:sp>
        <p:nvSpPr>
          <p:cNvPr id="108" name="retry-diagram"/>
          <p:cNvSpPr>
            <a:spLocks noGrp="1"/>
          </p:cNvSpPr>
          <p:nvPr/>
        </p:nvSpPr>
        <p:spPr>
          <a:xfrm>
            <a:off x="9201150" y="4505325"/>
            <a:ext cx="2152650" cy="190500"/>
          </a:xfrm>
          <a:prstGeom prst="rect">
            <a:avLst/>
          </a:prstGeom>
          <a:noFill/>
          <a:ln w="0">
            <a:noFill/>
            <a:prstDash val="solid"/>
          </a:ln>
        </p:spPr>
        <p:txBody>
          <a:bodyPr wrap="none" lIns="0" tIns="0" rIns="0" bIns="0" anchor="ctr">
            <a:normAutofit fontScale="98039"/>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B  FAIL  ↺</a:t>
            </a:r>
          </a:p>
        </p:txBody>
      </p:sp>
      <p:sp>
        <p:nvSpPr>
          <p:cNvPr id="109" name="retry-description"/>
          <p:cNvSpPr>
            <a:spLocks noGrp="1"/>
          </p:cNvSpPr>
          <p:nvPr/>
        </p:nvSpPr>
        <p:spPr>
          <a:xfrm>
            <a:off x="9201150" y="46863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失败后重新执行当前阶段</a:t>
            </a:r>
          </a:p>
        </p:txBody>
      </p:sp>
      <p:sp>
        <p:nvSpPr>
          <p:cNvPr id="110" name="fallback-label-box"/>
          <p:cNvSpPr>
            <a:spLocks noGrp="1"/>
          </p:cNvSpPr>
          <p:nvPr/>
        </p:nvSpPr>
        <p:spPr>
          <a:xfrm>
            <a:off x="8324850" y="4981575"/>
            <a:ext cx="742950" cy="409575"/>
          </a:xfrm>
          <a:prstGeom prst="roundRect">
            <a:avLst>
              <a:gd name="adj" fmla="val 11628"/>
            </a:avLst>
          </a:prstGeom>
          <a:solidFill>
            <a:srgbClr val="F2F6F8"/>
          </a:solidFill>
          <a:ln w="7620">
            <a:solidFill>
              <a:srgbClr val="D8DEE3"/>
            </a:solidFill>
            <a:prstDash val="solid"/>
          </a:ln>
        </p:spPr>
      </p:sp>
      <p:sp>
        <p:nvSpPr>
          <p:cNvPr id="111" name="fallback-label"/>
          <p:cNvSpPr>
            <a:spLocks noGrp="1"/>
          </p:cNvSpPr>
          <p:nvPr/>
        </p:nvSpPr>
        <p:spPr>
          <a:xfrm>
            <a:off x="8401050" y="5048250"/>
            <a:ext cx="590550" cy="266700"/>
          </a:xfrm>
          <a:prstGeom prst="rect">
            <a:avLst/>
          </a:prstGeom>
          <a:noFill/>
          <a:ln w="0">
            <a:noFill/>
            <a:prstDash val="solid"/>
          </a:ln>
        </p:spPr>
        <p:txBody>
          <a:bodyPr wrap="none" lIns="0" tIns="0" rIns="0" bIns="0" anchor="ctr">
            <a:normAutofit fontScale="93114"/>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Fallback</a:t>
            </a:r>
          </a:p>
        </p:txBody>
      </p:sp>
      <p:sp>
        <p:nvSpPr>
          <p:cNvPr id="112" name="fallback-diagram"/>
          <p:cNvSpPr>
            <a:spLocks noGrp="1"/>
          </p:cNvSpPr>
          <p:nvPr/>
        </p:nvSpPr>
        <p:spPr>
          <a:xfrm>
            <a:off x="9201150" y="5000625"/>
            <a:ext cx="2152650" cy="190500"/>
          </a:xfrm>
          <a:prstGeom prst="rect">
            <a:avLst/>
          </a:prstGeom>
          <a:noFill/>
          <a:ln w="0">
            <a:noFill/>
            <a:prstDash val="solid"/>
          </a:ln>
        </p:spPr>
        <p:txBody>
          <a:bodyPr wrap="none" lIns="0" tIns="0" rIns="0" bIns="0" anchor="ctr">
            <a:normAutofit fontScale="98039"/>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C  FAIL  →  Stage B</a:t>
            </a:r>
          </a:p>
        </p:txBody>
      </p:sp>
      <p:sp>
        <p:nvSpPr>
          <p:cNvPr id="113" name="fallback-description"/>
          <p:cNvSpPr>
            <a:spLocks noGrp="1"/>
          </p:cNvSpPr>
          <p:nvPr/>
        </p:nvSpPr>
        <p:spPr>
          <a:xfrm>
            <a:off x="9201150" y="51816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无法继续时返回前一阶段</a:t>
            </a:r>
          </a:p>
        </p:txBody>
      </p:sp>
      <p:sp>
        <p:nvSpPr>
          <p:cNvPr id="115" name="flow-rule"/>
          <p:cNvSpPr>
            <a:spLocks noGrp="1"/>
          </p:cNvSpPr>
          <p:nvPr/>
        </p:nvSpPr>
        <p:spPr>
          <a:xfrm>
            <a:off x="8362950" y="5553075"/>
            <a:ext cx="3009900" cy="266700"/>
          </a:xfrm>
          <a:prstGeom prst="rect">
            <a:avLst/>
          </a:prstGeom>
          <a:noFill/>
          <a:ln w="0">
            <a:noFill/>
            <a:prstDash val="solid"/>
          </a:ln>
        </p:spPr>
        <p:txBody>
          <a:bodyPr wrap="none" lIns="0" tIns="0" rIns="0" bIns="0" anchor="ctr">
            <a:normAutofit fontScale="93226"/>
          </a:bodyPr>
          <a:lstStyle/>
          <a:p>
            <a:pPr algn="ctr">
              <a:defRPr sz="1110" b="1">
                <a:solidFill>
                  <a:srgbClr val="557A96"/>
                </a:solidFill>
                <a:latin typeface="微软雅黑" panose="020B0503020204020204" charset="-122"/>
                <a:ea typeface="微软雅黑" panose="020B0503020204020204" charset="-122"/>
                <a:cs typeface="微软雅黑" panose="020B0503020204020204" charset="-122"/>
              </a:defRPr>
            </a:pPr>
            <a:endParaRPr sz="111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6" name="summary-band"/>
          <p:cNvSpPr>
            <a:spLocks noGrp="1"/>
          </p:cNvSpPr>
          <p:nvPr/>
        </p:nvSpPr>
        <p:spPr>
          <a:xfrm>
            <a:off x="609600" y="6191250"/>
            <a:ext cx="10972800" cy="419100"/>
          </a:xfrm>
          <a:prstGeom prst="rect">
            <a:avLst/>
          </a:prstGeom>
          <a:solidFill>
            <a:srgbClr val="F3F4F5"/>
          </a:solidFill>
          <a:ln w="0">
            <a:noFill/>
            <a:prstDash val="solid"/>
          </a:ln>
        </p:spPr>
      </p:sp>
      <p:sp>
        <p:nvSpPr>
          <p:cNvPr id="117" name="summary-accent"/>
          <p:cNvSpPr>
            <a:spLocks noGrp="1"/>
          </p:cNvSpPr>
          <p:nvPr/>
        </p:nvSpPr>
        <p:spPr>
          <a:xfrm>
            <a:off x="609600" y="6191250"/>
            <a:ext cx="38100" cy="419100"/>
          </a:xfrm>
          <a:prstGeom prst="rect">
            <a:avLst/>
          </a:prstGeom>
          <a:solidFill>
            <a:srgbClr val="557A96"/>
          </a:solidFill>
          <a:ln w="0">
            <a:noFill/>
            <a:prstDash val="solid"/>
          </a:ln>
        </p:spPr>
      </p:sp>
      <p:sp>
        <p:nvSpPr>
          <p:cNvPr id="118" name="summary-text"/>
          <p:cNvSpPr>
            <a:spLocks noGrp="1"/>
          </p:cNvSpPr>
          <p:nvPr/>
        </p:nvSpPr>
        <p:spPr>
          <a:xfrm>
            <a:off x="819150" y="6229350"/>
            <a:ext cx="10534650" cy="342900"/>
          </a:xfrm>
          <a:prstGeom prst="rect">
            <a:avLst/>
          </a:prstGeom>
          <a:noFill/>
          <a:ln w="0">
            <a:noFill/>
            <a:prstDash val="solid"/>
          </a:ln>
        </p:spPr>
        <p:txBody>
          <a:bodyPr wrap="none" lIns="0" tIns="0" rIns="0" bIns="0" anchor="ctr">
            <a:normAutofit fontScale="95266"/>
          </a:bodyPr>
          <a:lstStyle/>
          <a:p>
            <a:pPr algn="ctr">
              <a:defRPr sz="1390" b="1">
                <a:solidFill>
                  <a:srgbClr val="414951"/>
                </a:solidFill>
                <a:latin typeface="微软雅黑" panose="020B0503020204020204" charset="-122"/>
                <a:ea typeface="微软雅黑" panose="020B0503020204020204" charset="-122"/>
                <a:cs typeface="微软雅黑" panose="020B0503020204020204" charset="-122"/>
              </a:defRPr>
            </a:pPr>
            <a:r>
              <a:rPr sz="1390" b="1" dirty="0">
                <a:solidFill>
                  <a:srgbClr val="414951"/>
                </a:solidFill>
                <a:latin typeface="微软雅黑" panose="020B0503020204020204" charset="-122"/>
                <a:ea typeface="微软雅黑" panose="020B0503020204020204" charset="-122"/>
                <a:cs typeface="微软雅黑" panose="020B0503020204020204" charset="-122"/>
              </a:rPr>
              <a:t>Workflow </a:t>
            </a:r>
            <a:r>
              <a:rPr sz="1390" b="1" dirty="0" err="1">
                <a:solidFill>
                  <a:srgbClr val="414951"/>
                </a:solidFill>
                <a:latin typeface="微软雅黑" panose="020B0503020204020204" charset="-122"/>
                <a:ea typeface="微软雅黑" panose="020B0503020204020204" charset="-122"/>
                <a:cs typeface="微软雅黑" panose="020B0503020204020204" charset="-122"/>
              </a:rPr>
              <a:t>不只是步骤列表，而是通过</a:t>
            </a:r>
            <a:r>
              <a:rPr sz="1390" b="1" dirty="0">
                <a:solidFill>
                  <a:srgbClr val="414951"/>
                </a:solidFill>
                <a:latin typeface="微软雅黑" panose="020B0503020204020204" charset="-122"/>
                <a:ea typeface="微软雅黑" panose="020B0503020204020204" charset="-122"/>
                <a:cs typeface="微软雅黑" panose="020B0503020204020204" charset="-122"/>
              </a:rPr>
              <a:t> </a:t>
            </a:r>
            <a:r>
              <a:rPr lang="zh-CN" altLang="en-US" sz="1390" b="1" dirty="0" smtClean="0">
                <a:solidFill>
                  <a:srgbClr val="414951"/>
                </a:solidFill>
                <a:latin typeface="微软雅黑" panose="020B0503020204020204" charset="-122"/>
                <a:ea typeface="微软雅黑" panose="020B0503020204020204" charset="-122"/>
                <a:cs typeface="微软雅黑" panose="020B0503020204020204" charset="-122"/>
              </a:rPr>
              <a:t>上述这些结构</a:t>
            </a:r>
            <a:r>
              <a:rPr sz="1390" b="1" dirty="0" smtClean="0">
                <a:solidFill>
                  <a:srgbClr val="414951"/>
                </a:solidFill>
                <a:latin typeface="微软雅黑" panose="020B0503020204020204" charset="-122"/>
                <a:ea typeface="微软雅黑" panose="020B0503020204020204" charset="-122"/>
                <a:cs typeface="微软雅黑" panose="020B0503020204020204" charset="-122"/>
              </a:rPr>
              <a:t>，</a:t>
            </a:r>
            <a:r>
              <a:rPr sz="1390" b="1" dirty="0" err="1">
                <a:solidFill>
                  <a:srgbClr val="414951"/>
                </a:solidFill>
                <a:latin typeface="微软雅黑" panose="020B0503020204020204" charset="-122"/>
                <a:ea typeface="微软雅黑" panose="020B0503020204020204" charset="-122"/>
                <a:cs typeface="微软雅黑" panose="020B0503020204020204" charset="-122"/>
              </a:rPr>
              <a:t>让任务以可检查、可回退的方式向前推进</a:t>
            </a:r>
            <a:r>
              <a:rPr sz="13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21"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2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1.3</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2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3</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55295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524000"/>
            <a:ext cx="6629400" cy="0"/>
          </a:xfrm>
          <a:prstGeom prst="line">
            <a:avLst/>
          </a:prstGeom>
          <a:noFill/>
          <a:ln w="9525">
            <a:solidFill>
              <a:srgbClr val="D8DEE3"/>
            </a:solidFill>
            <a:prstDash val="solid"/>
          </a:ln>
        </p:spPr>
      </p:sp>
      <p:sp>
        <p:nvSpPr>
          <p:cNvPr id="6" name="slide-title"/>
          <p:cNvSpPr>
            <a:spLocks noGrp="1"/>
          </p:cNvSpPr>
          <p:nvPr/>
        </p:nvSpPr>
        <p:spPr>
          <a:xfrm>
            <a:off x="1009650" y="209550"/>
            <a:ext cx="8572500" cy="561975"/>
          </a:xfrm>
          <a:prstGeom prst="rect">
            <a:avLst/>
          </a:prstGeom>
          <a:noFill/>
          <a:ln w="0">
            <a:noFill/>
            <a:prstDash val="solid"/>
          </a:ln>
        </p:spPr>
        <p:txBody>
          <a:bodyPr wrap="none" lIns="0" tIns="0" rIns="0" bIns="0" anchor="ctr">
            <a:normAutofit/>
          </a:bodyPr>
          <a:lstStyle/>
          <a:p>
            <a:pPr algn="l">
              <a:defRPr sz="330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Workflow：如何调用资源与外部能力</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 name="left-heading"/>
          <p:cNvSpPr>
            <a:spLocks noGrp="1"/>
          </p:cNvSpPr>
          <p:nvPr/>
        </p:nvSpPr>
        <p:spPr>
          <a:xfrm>
            <a:off x="609600" y="1209675"/>
            <a:ext cx="3524250" cy="285750"/>
          </a:xfrm>
          <a:prstGeom prst="rect">
            <a:avLst/>
          </a:prstGeom>
          <a:noFill/>
          <a:ln w="0">
            <a:noFill/>
            <a:prstDash val="solid"/>
          </a:ln>
        </p:spPr>
        <p:txBody>
          <a:bodyPr wrap="none" lIns="0" tIns="0" rIns="0" bIns="0" anchor="ctr">
            <a:normAutofit/>
          </a:bodyPr>
          <a:lstStyle/>
          <a:p>
            <a:pPr>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dirty="0" smtClean="0">
                <a:solidFill>
                  <a:srgbClr val="252B31"/>
                </a:solidFill>
                <a:latin typeface="微软雅黑" panose="020B0503020204020204" charset="-122"/>
                <a:ea typeface="微软雅黑" panose="020B0503020204020204" charset="-122"/>
                <a:cs typeface="微软雅黑" panose="020B0503020204020204" charset="-122"/>
              </a:rPr>
              <a:t>SKILL.md （</a:t>
            </a:r>
            <a:r>
              <a:rPr sz="1800" b="1" dirty="0" err="1" smtClean="0">
                <a:solidFill>
                  <a:srgbClr val="252B31"/>
                </a:solidFill>
                <a:latin typeface="微软雅黑" panose="020B0503020204020204" charset="-122"/>
                <a:ea typeface="微软雅黑" panose="020B0503020204020204" charset="-122"/>
                <a:cs typeface="微软雅黑" panose="020B0503020204020204" charset="-122"/>
              </a:rPr>
              <a:t>资源调用</a:t>
            </a:r>
            <a:r>
              <a:rPr lang="zh-CN" altLang="en-US" b="1" dirty="0">
                <a:solidFill>
                  <a:srgbClr val="252B31"/>
                </a:solidFill>
                <a:latin typeface="微软雅黑" panose="020B0503020204020204" charset="-122"/>
                <a:ea typeface="微软雅黑" panose="020B0503020204020204" charset="-122"/>
                <a:cs typeface="微软雅黑" panose="020B0503020204020204" charset="-122"/>
              </a:rPr>
              <a:t>示例</a:t>
            </a:r>
            <a:r>
              <a:rPr sz="1800" b="1" dirty="0" smtClean="0">
                <a:solidFill>
                  <a:srgbClr val="252B31"/>
                </a:solidFill>
                <a:latin typeface="微软雅黑" panose="020B0503020204020204" charset="-122"/>
                <a:ea typeface="微软雅黑" panose="020B0503020204020204" charset="-122"/>
                <a:cs typeface="微软雅黑" panose="020B0503020204020204" charset="-122"/>
              </a:rPr>
              <a:t>）</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 name="right-heading"/>
          <p:cNvSpPr>
            <a:spLocks noGrp="1"/>
          </p:cNvSpPr>
          <p:nvPr/>
        </p:nvSpPr>
        <p:spPr>
          <a:xfrm>
            <a:off x="4953000" y="1209675"/>
            <a:ext cx="342900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sz="1875" b="1">
                <a:solidFill>
                  <a:srgbClr val="252B31"/>
                </a:solidFill>
                <a:latin typeface="微软雅黑" panose="020B0503020204020204" charset="-122"/>
                <a:ea typeface="微软雅黑" panose="020B0503020204020204" charset="-122"/>
                <a:cs typeface="微软雅黑" panose="020B0503020204020204" charset="-122"/>
              </a:rPr>
              <a:t>Workflow 可用资源与能力</a:t>
            </a:r>
          </a:p>
        </p:txBody>
      </p:sp>
      <p:sp>
        <p:nvSpPr>
          <p:cNvPr id="10" name="editor-frame"/>
          <p:cNvSpPr>
            <a:spLocks noGrp="1"/>
          </p:cNvSpPr>
          <p:nvPr/>
        </p:nvSpPr>
        <p:spPr>
          <a:xfrm>
            <a:off x="609600" y="1600200"/>
            <a:ext cx="4000500" cy="42481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23850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smtClean="0">
                <a:solidFill>
                  <a:srgbClr val="252B31"/>
                </a:solidFill>
                <a:latin typeface="Consolas" panose="020B0609020204030204"/>
                <a:ea typeface="Consolas" panose="020B0609020204030204"/>
                <a:cs typeface="Consolas" panose="020B0609020204030204"/>
              </a:rPr>
              <a:t>SKILL.md</a:t>
            </a:r>
            <a:endParaRPr sz="1350" b="1" dirty="0">
              <a:solidFill>
                <a:srgbClr val="252B31"/>
              </a:solidFill>
              <a:latin typeface="Consolas" panose="020B0609020204030204"/>
              <a:ea typeface="Consolas" panose="020B0609020204030204"/>
              <a:cs typeface="Consolas" panose="020B0609020204030204"/>
            </a:endParaRPr>
          </a:p>
        </p:txBody>
      </p:sp>
      <p:sp>
        <p:nvSpPr>
          <p:cNvPr id="13" name="compressed-sections"/>
          <p:cNvSpPr>
            <a:spLocks noGrp="1"/>
          </p:cNvSpPr>
          <p:nvPr/>
        </p:nvSpPr>
        <p:spPr>
          <a:xfrm>
            <a:off x="742950" y="2009775"/>
            <a:ext cx="3733800" cy="876300"/>
          </a:xfrm>
          <a:prstGeom prst="rect">
            <a:avLst/>
          </a:prstGeom>
          <a:solidFill>
            <a:srgbClr val="F7F9FA"/>
          </a:solidFill>
          <a:ln w="6668">
            <a:solidFill>
              <a:srgbClr val="D8DEE3"/>
            </a:solidFill>
            <a:prstDash val="solid"/>
          </a:ln>
        </p:spPr>
      </p:sp>
      <p:sp>
        <p:nvSpPr>
          <p:cNvPr id="14" name="compressed-accent"/>
          <p:cNvSpPr>
            <a:spLocks noGrp="1"/>
          </p:cNvSpPr>
          <p:nvPr/>
        </p:nvSpPr>
        <p:spPr>
          <a:xfrm>
            <a:off x="742950" y="2009775"/>
            <a:ext cx="28575" cy="876300"/>
          </a:xfrm>
          <a:prstGeom prst="rect">
            <a:avLst/>
          </a:prstGeom>
          <a:solidFill>
            <a:srgbClr val="7F9DB2"/>
          </a:solidFill>
          <a:ln w="0">
            <a:noFill/>
            <a:prstDash val="solid"/>
          </a:ln>
        </p:spPr>
      </p:sp>
      <p:sp>
        <p:nvSpPr>
          <p:cNvPr id="15" name="compact-0-label"/>
          <p:cNvSpPr>
            <a:spLocks noGrp="1"/>
          </p:cNvSpPr>
          <p:nvPr/>
        </p:nvSpPr>
        <p:spPr>
          <a:xfrm>
            <a:off x="895350" y="2066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Metadata</a:t>
            </a:r>
          </a:p>
        </p:txBody>
      </p:sp>
      <p:sp>
        <p:nvSpPr>
          <p:cNvPr id="16" name="compact-0-dots"/>
          <p:cNvSpPr>
            <a:spLocks noGrp="1"/>
          </p:cNvSpPr>
          <p:nvPr/>
        </p:nvSpPr>
        <p:spPr>
          <a:xfrm>
            <a:off x="3886200" y="2066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7" name="compact-1-label"/>
          <p:cNvSpPr>
            <a:spLocks noGrp="1"/>
          </p:cNvSpPr>
          <p:nvPr/>
        </p:nvSpPr>
        <p:spPr>
          <a:xfrm>
            <a:off x="895350" y="2257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Overview</a:t>
            </a:r>
          </a:p>
        </p:txBody>
      </p:sp>
      <p:sp>
        <p:nvSpPr>
          <p:cNvPr id="18" name="compact-1-dots"/>
          <p:cNvSpPr>
            <a:spLocks noGrp="1"/>
          </p:cNvSpPr>
          <p:nvPr/>
        </p:nvSpPr>
        <p:spPr>
          <a:xfrm>
            <a:off x="3886200" y="2257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9" name="compact-2-label"/>
          <p:cNvSpPr>
            <a:spLocks noGrp="1"/>
          </p:cNvSpPr>
          <p:nvPr/>
        </p:nvSpPr>
        <p:spPr>
          <a:xfrm>
            <a:off x="895350" y="2447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Execution Policy</a:t>
            </a:r>
          </a:p>
        </p:txBody>
      </p:sp>
      <p:sp>
        <p:nvSpPr>
          <p:cNvPr id="20" name="compact-2-dots"/>
          <p:cNvSpPr>
            <a:spLocks noGrp="1"/>
          </p:cNvSpPr>
          <p:nvPr/>
        </p:nvSpPr>
        <p:spPr>
          <a:xfrm>
            <a:off x="3886200" y="2447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1" name="compact-3-label"/>
          <p:cNvSpPr>
            <a:spLocks noGrp="1"/>
          </p:cNvSpPr>
          <p:nvPr/>
        </p:nvSpPr>
        <p:spPr>
          <a:xfrm>
            <a:off x="895350" y="2638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Input / Output Contract</a:t>
            </a:r>
          </a:p>
        </p:txBody>
      </p:sp>
      <p:sp>
        <p:nvSpPr>
          <p:cNvPr id="22" name="compact-3-dots"/>
          <p:cNvSpPr>
            <a:spLocks noGrp="1"/>
          </p:cNvSpPr>
          <p:nvPr/>
        </p:nvSpPr>
        <p:spPr>
          <a:xfrm>
            <a:off x="3886200" y="2638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3" name="workflow-section-divider"/>
          <p:cNvSpPr>
            <a:spLocks noGrp="1"/>
          </p:cNvSpPr>
          <p:nvPr/>
        </p:nvSpPr>
        <p:spPr>
          <a:xfrm>
            <a:off x="895350" y="2971800"/>
            <a:ext cx="3276600" cy="0"/>
          </a:xfrm>
          <a:prstGeom prst="line">
            <a:avLst/>
          </a:prstGeom>
          <a:noFill/>
          <a:ln w="9525">
            <a:solidFill>
              <a:srgbClr val="D8DEE3"/>
            </a:solidFill>
            <a:prstDash val="solid"/>
          </a:ln>
        </p:spPr>
      </p:sp>
      <p:sp>
        <p:nvSpPr>
          <p:cNvPr id="24" name="workflow-code-block"/>
          <p:cNvSpPr>
            <a:spLocks noGrp="1"/>
          </p:cNvSpPr>
          <p:nvPr/>
        </p:nvSpPr>
        <p:spPr>
          <a:xfrm>
            <a:off x="742950" y="3067050"/>
            <a:ext cx="3733800" cy="2381250"/>
          </a:xfrm>
          <a:prstGeom prst="rect">
            <a:avLst/>
          </a:prstGeom>
          <a:solidFill>
            <a:srgbClr val="F2F6F8"/>
          </a:solidFill>
          <a:ln w="9525">
            <a:solidFill>
              <a:srgbClr val="7F9DB2"/>
            </a:solidFill>
            <a:prstDash val="solid"/>
          </a:ln>
        </p:spPr>
      </p:sp>
      <p:sp>
        <p:nvSpPr>
          <p:cNvPr id="25" name="workflow-code-accent"/>
          <p:cNvSpPr>
            <a:spLocks noGrp="1"/>
          </p:cNvSpPr>
          <p:nvPr/>
        </p:nvSpPr>
        <p:spPr>
          <a:xfrm>
            <a:off x="742950" y="3067050"/>
            <a:ext cx="38100" cy="2381250"/>
          </a:xfrm>
          <a:prstGeom prst="rect">
            <a:avLst/>
          </a:prstGeom>
          <a:solidFill>
            <a:srgbClr val="557A96"/>
          </a:solidFill>
          <a:ln w="0">
            <a:noFill/>
            <a:prstDash val="solid"/>
          </a:ln>
        </p:spPr>
      </p:sp>
      <p:sp>
        <p:nvSpPr>
          <p:cNvPr id="26" name="workflow-code"/>
          <p:cNvSpPr>
            <a:spLocks noGrp="1"/>
          </p:cNvSpPr>
          <p:nvPr/>
        </p:nvSpPr>
        <p:spPr>
          <a:xfrm>
            <a:off x="914400" y="3152775"/>
            <a:ext cx="3333750" cy="2133600"/>
          </a:xfrm>
          <a:prstGeom prst="rect">
            <a:avLst/>
          </a:prstGeom>
          <a:noFill/>
          <a:ln w="0">
            <a:noFill/>
            <a:prstDash val="solid"/>
          </a:ln>
        </p:spPr>
        <p:txBody>
          <a:bodyPr wrap="none" lIns="0" tIns="0" rIns="0" bIns="0" anchor="t">
            <a:normAutofit/>
          </a:bodyPr>
          <a:lstStyle/>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 Workflow</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 Stage A</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Read: </a:t>
            </a:r>
            <a:r>
              <a:rPr sz="1110" b="1" dirty="0">
                <a:solidFill>
                  <a:srgbClr val="FF0000"/>
                </a:solidFill>
                <a:latin typeface="Consolas" panose="020B0609020204030204"/>
                <a:ea typeface="Consolas" panose="020B0609020204030204"/>
                <a:cs typeface="Consolas" panose="020B0609020204030204"/>
              </a:rPr>
              <a:t>references</a:t>
            </a:r>
            <a:r>
              <a:rPr sz="1110" b="0" dirty="0">
                <a:solidFill>
                  <a:srgbClr val="414951"/>
                </a:solidFill>
                <a:latin typeface="Consolas" panose="020B0609020204030204"/>
                <a:ea typeface="Consolas" panose="020B0609020204030204"/>
                <a:cs typeface="Consolas" panose="020B0609020204030204"/>
              </a:rPr>
              <a:t>/rules.md</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If needed: </a:t>
            </a:r>
            <a:r>
              <a:rPr sz="1110" b="0" dirty="0">
                <a:solidFill>
                  <a:srgbClr val="FF0000"/>
                </a:solidFill>
                <a:latin typeface="Consolas" panose="020B0609020204030204"/>
                <a:ea typeface="Consolas" panose="020B0609020204030204"/>
                <a:cs typeface="Consolas" panose="020B0609020204030204"/>
              </a:rPr>
              <a:t>examples</a:t>
            </a:r>
            <a:r>
              <a:rPr sz="1110" b="0" dirty="0">
                <a:solidFill>
                  <a:srgbClr val="414951"/>
                </a:solidFill>
                <a:latin typeface="Consolas" panose="020B0609020204030204"/>
                <a:ea typeface="Consolas" panose="020B0609020204030204"/>
                <a:cs typeface="Consolas" panose="020B0609020204030204"/>
              </a:rPr>
              <a:t>/example.md</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Run: scripts/check.py</a:t>
            </a:r>
          </a:p>
          <a:p>
            <a:pPr algn="l">
              <a:defRPr sz="1110" b="0">
                <a:solidFill>
                  <a:srgbClr val="414951"/>
                </a:solidFill>
                <a:latin typeface="Consolas" panose="020B0609020204030204"/>
                <a:ea typeface="Consolas" panose="020B0609020204030204"/>
                <a:cs typeface="Consolas" panose="020B0609020204030204"/>
              </a:defRPr>
            </a:pPr>
            <a:endParaRPr lang="en-US" sz="1110" b="0" dirty="0" smtClean="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smtClean="0">
                <a:solidFill>
                  <a:srgbClr val="414951"/>
                </a:solidFill>
                <a:latin typeface="Consolas" panose="020B0609020204030204"/>
                <a:ea typeface="Consolas" panose="020B0609020204030204"/>
                <a:cs typeface="Consolas" panose="020B0609020204030204"/>
              </a:rPr>
              <a:t>## </a:t>
            </a:r>
            <a:r>
              <a:rPr sz="1110" b="0" dirty="0">
                <a:solidFill>
                  <a:srgbClr val="414951"/>
                </a:solidFill>
                <a:latin typeface="Consolas" panose="020B0609020204030204"/>
                <a:ea typeface="Consolas" panose="020B0609020204030204"/>
                <a:cs typeface="Consolas" panose="020B0609020204030204"/>
              </a:rPr>
              <a:t>Stage B</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Delegate: </a:t>
            </a:r>
            <a:r>
              <a:rPr sz="1110" b="0" dirty="0">
                <a:solidFill>
                  <a:srgbClr val="FF0000"/>
                </a:solidFill>
                <a:latin typeface="Consolas" panose="020B0609020204030204"/>
                <a:ea typeface="Consolas" panose="020B0609020204030204"/>
                <a:cs typeface="Consolas" panose="020B0609020204030204"/>
              </a:rPr>
              <a:t>subagent</a:t>
            </a:r>
          </a:p>
          <a:p>
            <a:pPr algn="l">
              <a:defRPr sz="1110" b="0">
                <a:solidFill>
                  <a:srgbClr val="414951"/>
                </a:solidFill>
                <a:latin typeface="Consolas" panose="020B0609020204030204"/>
                <a:ea typeface="Consolas" panose="020B0609020204030204"/>
                <a:cs typeface="Consolas" panose="020B0609020204030204"/>
              </a:defRPr>
            </a:pPr>
            <a:endParaRPr lang="en-US" sz="1110" b="0" dirty="0" smtClean="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endParaRPr lang="en-US" sz="1110" dirty="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smtClean="0">
                <a:solidFill>
                  <a:srgbClr val="414951"/>
                </a:solidFill>
                <a:latin typeface="Consolas" panose="020B0609020204030204"/>
                <a:ea typeface="Consolas" panose="020B0609020204030204"/>
                <a:cs typeface="Consolas" panose="020B0609020204030204"/>
              </a:rPr>
              <a:t>## </a:t>
            </a:r>
            <a:r>
              <a:rPr sz="1110" b="0" dirty="0">
                <a:solidFill>
                  <a:srgbClr val="414951"/>
                </a:solidFill>
                <a:latin typeface="Consolas" panose="020B0609020204030204"/>
                <a:ea typeface="Consolas" panose="020B0609020204030204"/>
                <a:cs typeface="Consolas" panose="020B0609020204030204"/>
              </a:rPr>
              <a:t>Stage C</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Call: </a:t>
            </a:r>
            <a:r>
              <a:rPr sz="1110" b="0" dirty="0">
                <a:solidFill>
                  <a:srgbClr val="FF0000"/>
                </a:solidFill>
                <a:latin typeface="Consolas" panose="020B0609020204030204"/>
                <a:ea typeface="Consolas" panose="020B0609020204030204"/>
                <a:cs typeface="Consolas" panose="020B0609020204030204"/>
              </a:rPr>
              <a:t>another-skill</a:t>
            </a:r>
          </a:p>
        </p:txBody>
      </p:sp>
      <p:sp>
        <p:nvSpPr>
          <p:cNvPr id="28" name="resources-number"/>
          <p:cNvSpPr>
            <a:spLocks noGrp="1"/>
          </p:cNvSpPr>
          <p:nvPr/>
        </p:nvSpPr>
        <p:spPr>
          <a:xfrm>
            <a:off x="4953000" y="1600200"/>
            <a:ext cx="361950" cy="2762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29" name="resources-heading"/>
          <p:cNvSpPr>
            <a:spLocks noGrp="1"/>
          </p:cNvSpPr>
          <p:nvPr/>
        </p:nvSpPr>
        <p:spPr>
          <a:xfrm>
            <a:off x="5353050" y="1581150"/>
            <a:ext cx="1257300" cy="295275"/>
          </a:xfrm>
          <a:prstGeom prst="rect">
            <a:avLst/>
          </a:prstGeom>
          <a:noFill/>
          <a:ln w="0">
            <a:noFill/>
            <a:prstDash val="solid"/>
          </a:ln>
        </p:spPr>
        <p:txBody>
          <a:bodyPr wrap="none" lIns="0" tIns="0" rIns="0" bIns="0" anchor="ctr">
            <a:normAutofit/>
          </a:bodyPr>
          <a:lstStyle/>
          <a:p>
            <a:pPr algn="l">
              <a:defRPr sz="1725" b="1">
                <a:solidFill>
                  <a:srgbClr val="252B31"/>
                </a:solidFill>
                <a:latin typeface="微软雅黑" panose="020B0503020204020204" charset="-122"/>
                <a:ea typeface="微软雅黑" panose="020B0503020204020204" charset="-122"/>
                <a:cs typeface="微软雅黑" panose="020B0503020204020204" charset="-122"/>
              </a:defRPr>
            </a:pPr>
            <a:r>
              <a:rPr sz="1725" b="1">
                <a:solidFill>
                  <a:srgbClr val="252B31"/>
                </a:solidFill>
                <a:latin typeface="微软雅黑" panose="020B0503020204020204" charset="-122"/>
                <a:ea typeface="微软雅黑" panose="020B0503020204020204" charset="-122"/>
                <a:cs typeface="微软雅黑" panose="020B0503020204020204" charset="-122"/>
              </a:rPr>
              <a:t>Resources</a:t>
            </a:r>
          </a:p>
        </p:txBody>
      </p:sp>
      <p:sp>
        <p:nvSpPr>
          <p:cNvPr id="30" name="resources-subheading"/>
          <p:cNvSpPr>
            <a:spLocks noGrp="1"/>
          </p:cNvSpPr>
          <p:nvPr/>
        </p:nvSpPr>
        <p:spPr>
          <a:xfrm>
            <a:off x="6705600" y="1619250"/>
            <a:ext cx="3429000" cy="228600"/>
          </a:xfrm>
          <a:prstGeom prst="rect">
            <a:avLst/>
          </a:prstGeom>
          <a:noFill/>
          <a:ln w="0">
            <a:noFill/>
            <a:prstDash val="solid"/>
          </a:ln>
        </p:spPr>
        <p:txBody>
          <a:bodyPr wrap="none" lIns="0" tIns="0" rIns="0" bIns="0" anchor="ctr">
            <a:normAutofit/>
          </a:bodyPr>
          <a:lstStyle/>
          <a:p>
            <a:pPr algn="l">
              <a:defRPr sz="1200" b="0">
                <a:solidFill>
                  <a:srgbClr val="68727B"/>
                </a:solidFill>
                <a:latin typeface="微软雅黑" panose="020B0503020204020204" charset="-122"/>
                <a:ea typeface="微软雅黑" panose="020B0503020204020204" charset="-122"/>
                <a:cs typeface="微软雅黑" panose="020B0503020204020204" charset="-122"/>
              </a:defRPr>
            </a:pPr>
            <a:r>
              <a:rPr sz="1200" b="0">
                <a:solidFill>
                  <a:srgbClr val="68727B"/>
                </a:solidFill>
                <a:latin typeface="微软雅黑" panose="020B0503020204020204" charset="-122"/>
                <a:ea typeface="微软雅黑" panose="020B0503020204020204" charset="-122"/>
                <a:cs typeface="微软雅黑" panose="020B0503020204020204" charset="-122"/>
              </a:rPr>
              <a:t>执行过程中可以按需读取或运行的资源</a:t>
            </a:r>
          </a:p>
        </p:txBody>
      </p:sp>
      <p:sp>
        <p:nvSpPr>
          <p:cNvPr id="31" name="reference-card"/>
          <p:cNvSpPr>
            <a:spLocks noGrp="1"/>
          </p:cNvSpPr>
          <p:nvPr/>
        </p:nvSpPr>
        <p:spPr>
          <a:xfrm>
            <a:off x="4953000" y="1943100"/>
            <a:ext cx="2133600" cy="1704975"/>
          </a:xfrm>
          <a:prstGeom prst="roundRect">
            <a:avLst>
              <a:gd name="adj" fmla="val 3352"/>
            </a:avLst>
          </a:prstGeom>
          <a:solidFill>
            <a:srgbClr val="FFFFFF"/>
          </a:solidFill>
          <a:ln w="9525">
            <a:solidFill>
              <a:srgbClr val="D8DEE3"/>
            </a:solidFill>
            <a:prstDash val="solid"/>
          </a:ln>
        </p:spPr>
      </p:sp>
      <p:sp>
        <p:nvSpPr>
          <p:cNvPr id="32" name="reference-accent"/>
          <p:cNvSpPr>
            <a:spLocks noGrp="1"/>
          </p:cNvSpPr>
          <p:nvPr/>
        </p:nvSpPr>
        <p:spPr>
          <a:xfrm>
            <a:off x="4953000" y="1943100"/>
            <a:ext cx="2133600" cy="28575"/>
          </a:xfrm>
          <a:prstGeom prst="rect">
            <a:avLst/>
          </a:prstGeom>
          <a:solidFill>
            <a:srgbClr val="557A96"/>
          </a:solidFill>
          <a:ln w="0">
            <a:noFill/>
            <a:prstDash val="solid"/>
          </a:ln>
        </p:spPr>
      </p:sp>
      <p:sp>
        <p:nvSpPr>
          <p:cNvPr id="33" name="reference-title"/>
          <p:cNvSpPr>
            <a:spLocks noGrp="1"/>
          </p:cNvSpPr>
          <p:nvPr/>
        </p:nvSpPr>
        <p:spPr>
          <a:xfrm>
            <a:off x="50863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References</a:t>
            </a:r>
          </a:p>
        </p:txBody>
      </p:sp>
      <p:sp>
        <p:nvSpPr>
          <p:cNvPr id="35" name="reference-subtitle"/>
          <p:cNvSpPr>
            <a:spLocks noGrp="1"/>
          </p:cNvSpPr>
          <p:nvPr/>
        </p:nvSpPr>
        <p:spPr>
          <a:xfrm>
            <a:off x="50863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a:solidFill>
                  <a:srgbClr val="557A96"/>
                </a:solidFill>
                <a:latin typeface="微软雅黑" panose="020B0503020204020204" charset="-122"/>
                <a:ea typeface="微软雅黑" panose="020B0503020204020204" charset="-122"/>
                <a:cs typeface="微软雅黑" panose="020B0503020204020204" charset="-122"/>
              </a:rPr>
              <a:t>知识与规则</a:t>
            </a:r>
          </a:p>
        </p:txBody>
      </p:sp>
      <p:sp>
        <p:nvSpPr>
          <p:cNvPr id="36" name="reference-bullets"/>
          <p:cNvSpPr>
            <a:spLocks noGrp="1"/>
          </p:cNvSpPr>
          <p:nvPr/>
        </p:nvSpPr>
        <p:spPr>
          <a:xfrm>
            <a:off x="50863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专业领域知识</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平台 / 硬件信息</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API / Primitive</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技术规范 / 优化规则</a:t>
            </a:r>
          </a:p>
        </p:txBody>
      </p:sp>
      <p:sp>
        <p:nvSpPr>
          <p:cNvPr id="40" name="examples-card"/>
          <p:cNvSpPr>
            <a:spLocks noGrp="1"/>
          </p:cNvSpPr>
          <p:nvPr/>
        </p:nvSpPr>
        <p:spPr>
          <a:xfrm>
            <a:off x="7200900" y="1943100"/>
            <a:ext cx="2133600" cy="1704975"/>
          </a:xfrm>
          <a:prstGeom prst="roundRect">
            <a:avLst>
              <a:gd name="adj" fmla="val 3352"/>
            </a:avLst>
          </a:prstGeom>
          <a:solidFill>
            <a:srgbClr val="FFFFFF"/>
          </a:solidFill>
          <a:ln w="9525">
            <a:solidFill>
              <a:srgbClr val="D8DEE3"/>
            </a:solidFill>
            <a:prstDash val="solid"/>
          </a:ln>
        </p:spPr>
      </p:sp>
      <p:sp>
        <p:nvSpPr>
          <p:cNvPr id="41" name="examples-accent"/>
          <p:cNvSpPr>
            <a:spLocks noGrp="1"/>
          </p:cNvSpPr>
          <p:nvPr/>
        </p:nvSpPr>
        <p:spPr>
          <a:xfrm>
            <a:off x="7200900" y="1943100"/>
            <a:ext cx="2133600" cy="28575"/>
          </a:xfrm>
          <a:prstGeom prst="rect">
            <a:avLst/>
          </a:prstGeom>
          <a:solidFill>
            <a:srgbClr val="557A96"/>
          </a:solidFill>
          <a:ln w="0">
            <a:noFill/>
            <a:prstDash val="solid"/>
          </a:ln>
        </p:spPr>
      </p:sp>
      <p:sp>
        <p:nvSpPr>
          <p:cNvPr id="42" name="examples-title"/>
          <p:cNvSpPr>
            <a:spLocks noGrp="1"/>
          </p:cNvSpPr>
          <p:nvPr/>
        </p:nvSpPr>
        <p:spPr>
          <a:xfrm>
            <a:off x="73342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Examples</a:t>
            </a:r>
          </a:p>
        </p:txBody>
      </p:sp>
      <p:sp>
        <p:nvSpPr>
          <p:cNvPr id="44" name="examples-subtitle"/>
          <p:cNvSpPr>
            <a:spLocks noGrp="1"/>
          </p:cNvSpPr>
          <p:nvPr/>
        </p:nvSpPr>
        <p:spPr>
          <a:xfrm>
            <a:off x="73342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a:solidFill>
                  <a:srgbClr val="557A96"/>
                </a:solidFill>
                <a:latin typeface="微软雅黑" panose="020B0503020204020204" charset="-122"/>
                <a:ea typeface="微软雅黑" panose="020B0503020204020204" charset="-122"/>
                <a:cs typeface="微软雅黑" panose="020B0503020204020204" charset="-122"/>
              </a:rPr>
              <a:t>已有案例</a:t>
            </a:r>
          </a:p>
        </p:txBody>
      </p:sp>
      <p:sp>
        <p:nvSpPr>
          <p:cNvPr id="45" name="examples-bullets"/>
          <p:cNvSpPr>
            <a:spLocks noGrp="1"/>
          </p:cNvSpPr>
          <p:nvPr/>
        </p:nvSpPr>
        <p:spPr>
          <a:xfrm>
            <a:off x="73342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类似任务案例</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输入 / 输出示例</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已有实现</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常见场景解法</a:t>
            </a:r>
          </a:p>
        </p:txBody>
      </p:sp>
      <p:sp>
        <p:nvSpPr>
          <p:cNvPr id="48" name="examples-takeaway"/>
          <p:cNvSpPr>
            <a:spLocks noGrp="1"/>
          </p:cNvSpPr>
          <p:nvPr/>
        </p:nvSpPr>
        <p:spPr>
          <a:xfrm>
            <a:off x="7334250" y="3419475"/>
            <a:ext cx="1866900" cy="1714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dirty="0" err="1">
                <a:solidFill>
                  <a:srgbClr val="557A96"/>
                </a:solidFill>
                <a:latin typeface="微软雅黑" panose="020B0503020204020204" charset="-122"/>
                <a:ea typeface="微软雅黑" panose="020B0503020204020204" charset="-122"/>
                <a:cs typeface="微软雅黑" panose="020B0503020204020204" charset="-122"/>
              </a:rPr>
              <a:t>参考类似问题以前怎么做</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9" name="scripts-card"/>
          <p:cNvSpPr>
            <a:spLocks noGrp="1"/>
          </p:cNvSpPr>
          <p:nvPr/>
        </p:nvSpPr>
        <p:spPr>
          <a:xfrm>
            <a:off x="9448800" y="1943100"/>
            <a:ext cx="2133600" cy="1704975"/>
          </a:xfrm>
          <a:prstGeom prst="roundRect">
            <a:avLst>
              <a:gd name="adj" fmla="val 3352"/>
            </a:avLst>
          </a:prstGeom>
          <a:solidFill>
            <a:srgbClr val="FFFFFF"/>
          </a:solidFill>
          <a:ln w="9525">
            <a:solidFill>
              <a:srgbClr val="D8DEE3"/>
            </a:solidFill>
            <a:prstDash val="solid"/>
          </a:ln>
        </p:spPr>
      </p:sp>
      <p:sp>
        <p:nvSpPr>
          <p:cNvPr id="50" name="scripts-accent"/>
          <p:cNvSpPr>
            <a:spLocks noGrp="1"/>
          </p:cNvSpPr>
          <p:nvPr/>
        </p:nvSpPr>
        <p:spPr>
          <a:xfrm>
            <a:off x="9448800" y="1943100"/>
            <a:ext cx="2133600" cy="28575"/>
          </a:xfrm>
          <a:prstGeom prst="rect">
            <a:avLst/>
          </a:prstGeom>
          <a:solidFill>
            <a:srgbClr val="557A96"/>
          </a:solidFill>
          <a:ln w="0">
            <a:noFill/>
            <a:prstDash val="solid"/>
          </a:ln>
        </p:spPr>
      </p:sp>
      <p:sp>
        <p:nvSpPr>
          <p:cNvPr id="51" name="scripts-title"/>
          <p:cNvSpPr>
            <a:spLocks noGrp="1"/>
          </p:cNvSpPr>
          <p:nvPr/>
        </p:nvSpPr>
        <p:spPr>
          <a:xfrm>
            <a:off x="95821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Scripts</a:t>
            </a:r>
          </a:p>
        </p:txBody>
      </p:sp>
      <p:sp>
        <p:nvSpPr>
          <p:cNvPr id="53" name="scripts-subtitle"/>
          <p:cNvSpPr>
            <a:spLocks noGrp="1"/>
          </p:cNvSpPr>
          <p:nvPr/>
        </p:nvSpPr>
        <p:spPr>
          <a:xfrm>
            <a:off x="95821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dirty="0" err="1">
                <a:solidFill>
                  <a:srgbClr val="557A96"/>
                </a:solidFill>
                <a:latin typeface="微软雅黑" panose="020B0503020204020204" charset="-122"/>
                <a:ea typeface="微软雅黑" panose="020B0503020204020204" charset="-122"/>
                <a:cs typeface="微软雅黑" panose="020B0503020204020204" charset="-122"/>
              </a:rPr>
              <a:t>确定性执行工具</a:t>
            </a: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4" name="scripts-bullets"/>
          <p:cNvSpPr>
            <a:spLocks noGrp="1"/>
          </p:cNvSpPr>
          <p:nvPr/>
        </p:nvSpPr>
        <p:spPr>
          <a:xfrm>
            <a:off x="95821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环境检测</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编译 / 执行</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测试 / Benchmark</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文件 / 日志处理</a:t>
            </a:r>
          </a:p>
        </p:txBody>
      </p:sp>
      <p:sp>
        <p:nvSpPr>
          <p:cNvPr id="57" name="scripts-takeaway"/>
          <p:cNvSpPr>
            <a:spLocks noGrp="1"/>
          </p:cNvSpPr>
          <p:nvPr/>
        </p:nvSpPr>
        <p:spPr>
          <a:xfrm>
            <a:off x="9582150" y="3419475"/>
            <a:ext cx="1866900" cy="1714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65" b="1" dirty="0" smtClean="0">
                <a:solidFill>
                  <a:srgbClr val="557A96"/>
                </a:solidFill>
                <a:latin typeface="微软雅黑" panose="020B0503020204020204" charset="-122"/>
                <a:ea typeface="微软雅黑" panose="020B0503020204020204" charset="-122"/>
                <a:cs typeface="微软雅黑" panose="020B0503020204020204" charset="-122"/>
              </a:rPr>
              <a:t>一般是脚本和函数</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0" name="capability-number"/>
          <p:cNvSpPr>
            <a:spLocks noGrp="1"/>
          </p:cNvSpPr>
          <p:nvPr/>
        </p:nvSpPr>
        <p:spPr>
          <a:xfrm>
            <a:off x="4914900" y="3838576"/>
            <a:ext cx="361950" cy="2762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61" name="capability-heading"/>
          <p:cNvSpPr>
            <a:spLocks noGrp="1"/>
          </p:cNvSpPr>
          <p:nvPr/>
        </p:nvSpPr>
        <p:spPr>
          <a:xfrm>
            <a:off x="5314950" y="3819526"/>
            <a:ext cx="1809750" cy="295275"/>
          </a:xfrm>
          <a:prstGeom prst="rect">
            <a:avLst/>
          </a:prstGeom>
          <a:noFill/>
          <a:ln w="0">
            <a:noFill/>
            <a:prstDash val="solid"/>
          </a:ln>
        </p:spPr>
        <p:txBody>
          <a:bodyPr wrap="none" lIns="0" tIns="0" rIns="0" bIns="0" anchor="ctr">
            <a:normAutofit/>
          </a:bodyPr>
          <a:lstStyle/>
          <a:p>
            <a:pPr algn="l">
              <a:defRPr sz="172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725" b="1" dirty="0" smtClean="0">
                <a:solidFill>
                  <a:srgbClr val="252B31"/>
                </a:solidFill>
                <a:latin typeface="微软雅黑" panose="020B0503020204020204" charset="-122"/>
                <a:ea typeface="微软雅黑" panose="020B0503020204020204" charset="-122"/>
                <a:cs typeface="微软雅黑" panose="020B0503020204020204" charset="-122"/>
              </a:rPr>
              <a:t>扩展能力</a:t>
            </a:r>
            <a:endParaRPr sz="17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62" name="capability-subheading"/>
          <p:cNvSpPr>
            <a:spLocks noGrp="1"/>
          </p:cNvSpPr>
          <p:nvPr/>
        </p:nvSpPr>
        <p:spPr>
          <a:xfrm>
            <a:off x="7153275" y="3857626"/>
            <a:ext cx="3143250" cy="228600"/>
          </a:xfrm>
          <a:prstGeom prst="rect">
            <a:avLst/>
          </a:prstGeom>
          <a:noFill/>
          <a:ln w="0">
            <a:noFill/>
            <a:prstDash val="solid"/>
          </a:ln>
        </p:spPr>
        <p:txBody>
          <a:bodyPr wrap="none" lIns="0" tIns="0" rIns="0" bIns="0" anchor="ctr">
            <a:normAutofit/>
          </a:bodyPr>
          <a:lstStyle/>
          <a:p>
            <a:pPr algn="l">
              <a:defRPr sz="1200" b="0">
                <a:solidFill>
                  <a:srgbClr val="68727B"/>
                </a:solidFill>
                <a:latin typeface="微软雅黑" panose="020B0503020204020204" charset="-122"/>
                <a:ea typeface="微软雅黑" panose="020B0503020204020204" charset="-122"/>
                <a:cs typeface="微软雅黑" panose="020B0503020204020204" charset="-122"/>
              </a:defRPr>
            </a:pPr>
            <a:r>
              <a:rPr sz="1200" b="0" dirty="0" err="1">
                <a:solidFill>
                  <a:srgbClr val="68727B"/>
                </a:solidFill>
                <a:latin typeface="微软雅黑" panose="020B0503020204020204" charset="-122"/>
                <a:ea typeface="微软雅黑" panose="020B0503020204020204" charset="-122"/>
                <a:cs typeface="微软雅黑" panose="020B0503020204020204" charset="-122"/>
              </a:rPr>
              <a:t>当前</a:t>
            </a:r>
            <a:r>
              <a:rPr sz="1200" b="0" dirty="0">
                <a:solidFill>
                  <a:srgbClr val="68727B"/>
                </a:solidFill>
                <a:latin typeface="微软雅黑" panose="020B0503020204020204" charset="-122"/>
                <a:ea typeface="微软雅黑" panose="020B0503020204020204" charset="-122"/>
                <a:cs typeface="微软雅黑" panose="020B0503020204020204" charset="-122"/>
              </a:rPr>
              <a:t> Stage </a:t>
            </a:r>
            <a:r>
              <a:rPr sz="1200" b="0" dirty="0" err="1" smtClean="0">
                <a:solidFill>
                  <a:srgbClr val="68727B"/>
                </a:solidFill>
                <a:latin typeface="微软雅黑" panose="020B0503020204020204" charset="-122"/>
                <a:ea typeface="微软雅黑" panose="020B0503020204020204" charset="-122"/>
                <a:cs typeface="微软雅黑" panose="020B0503020204020204" charset="-122"/>
              </a:rPr>
              <a:t>不直接完成，</a:t>
            </a:r>
            <a:r>
              <a:rPr sz="1200" b="0" dirty="0" err="1">
                <a:solidFill>
                  <a:srgbClr val="68727B"/>
                </a:solidFill>
                <a:latin typeface="微软雅黑" panose="020B0503020204020204" charset="-122"/>
                <a:ea typeface="微软雅黑" panose="020B0503020204020204" charset="-122"/>
                <a:cs typeface="微软雅黑" panose="020B0503020204020204" charset="-122"/>
              </a:rPr>
              <a:t>把工作交出去</a:t>
            </a:r>
            <a:endParaRPr sz="120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63" name="subagent-card"/>
          <p:cNvSpPr>
            <a:spLocks noGrp="1"/>
          </p:cNvSpPr>
          <p:nvPr/>
        </p:nvSpPr>
        <p:spPr>
          <a:xfrm>
            <a:off x="4914900" y="4152901"/>
            <a:ext cx="3257550" cy="1524000"/>
          </a:xfrm>
          <a:prstGeom prst="roundRect">
            <a:avLst>
              <a:gd name="adj" fmla="val 3750"/>
            </a:avLst>
          </a:prstGeom>
          <a:solidFill>
            <a:srgbClr val="FFFFFF"/>
          </a:solidFill>
          <a:ln w="9525">
            <a:solidFill>
              <a:srgbClr val="D8DEE3"/>
            </a:solidFill>
            <a:prstDash val="solid"/>
          </a:ln>
        </p:spPr>
      </p:sp>
      <p:sp>
        <p:nvSpPr>
          <p:cNvPr id="64" name="subagent-accent"/>
          <p:cNvSpPr>
            <a:spLocks noGrp="1"/>
          </p:cNvSpPr>
          <p:nvPr/>
        </p:nvSpPr>
        <p:spPr>
          <a:xfrm>
            <a:off x="4914900" y="4152901"/>
            <a:ext cx="3257550" cy="28575"/>
          </a:xfrm>
          <a:prstGeom prst="rect">
            <a:avLst/>
          </a:prstGeom>
          <a:solidFill>
            <a:srgbClr val="557A96"/>
          </a:solidFill>
          <a:ln w="0">
            <a:noFill/>
            <a:prstDash val="solid"/>
          </a:ln>
        </p:spPr>
      </p:sp>
      <p:sp>
        <p:nvSpPr>
          <p:cNvPr id="68" name="subagent-line-1"/>
          <p:cNvSpPr>
            <a:spLocks noGrp="1"/>
          </p:cNvSpPr>
          <p:nvPr/>
        </p:nvSpPr>
        <p:spPr>
          <a:xfrm>
            <a:off x="5857875" y="4676776"/>
            <a:ext cx="238125" cy="0"/>
          </a:xfrm>
          <a:prstGeom prst="line">
            <a:avLst/>
          </a:prstGeom>
          <a:noFill/>
          <a:ln w="11430">
            <a:solidFill>
              <a:srgbClr val="557A96"/>
            </a:solidFill>
            <a:prstDash val="solid"/>
          </a:ln>
        </p:spPr>
      </p:sp>
      <p:sp>
        <p:nvSpPr>
          <p:cNvPr id="69" name="subagent-arrow-1"/>
          <p:cNvSpPr>
            <a:spLocks noGrp="1"/>
          </p:cNvSpPr>
          <p:nvPr/>
        </p:nvSpPr>
        <p:spPr>
          <a:xfrm rot="5400000">
            <a:off x="6057900" y="4638676"/>
            <a:ext cx="76200" cy="76200"/>
          </a:xfrm>
          <a:prstGeom prst="triangle">
            <a:avLst/>
          </a:prstGeom>
          <a:solidFill>
            <a:srgbClr val="557A96"/>
          </a:solidFill>
          <a:ln w="0">
            <a:solidFill>
              <a:srgbClr val="557A96"/>
            </a:solidFill>
            <a:prstDash val="solid"/>
          </a:ln>
        </p:spPr>
      </p:sp>
      <p:sp>
        <p:nvSpPr>
          <p:cNvPr id="70" name="subagent-line-2"/>
          <p:cNvSpPr>
            <a:spLocks noGrp="1"/>
          </p:cNvSpPr>
          <p:nvPr/>
        </p:nvSpPr>
        <p:spPr>
          <a:xfrm>
            <a:off x="6943725" y="4676776"/>
            <a:ext cx="238125" cy="0"/>
          </a:xfrm>
          <a:prstGeom prst="line">
            <a:avLst/>
          </a:prstGeom>
          <a:noFill/>
          <a:ln w="11430">
            <a:solidFill>
              <a:srgbClr val="557A96"/>
            </a:solidFill>
            <a:prstDash val="solid"/>
          </a:ln>
        </p:spPr>
      </p:sp>
      <p:sp>
        <p:nvSpPr>
          <p:cNvPr id="71" name="subagent-arrow-2"/>
          <p:cNvSpPr>
            <a:spLocks noGrp="1"/>
          </p:cNvSpPr>
          <p:nvPr/>
        </p:nvSpPr>
        <p:spPr>
          <a:xfrm rot="5400000">
            <a:off x="7143750" y="4638676"/>
            <a:ext cx="76200" cy="76200"/>
          </a:xfrm>
          <a:prstGeom prst="triangle">
            <a:avLst/>
          </a:prstGeom>
          <a:solidFill>
            <a:srgbClr val="557A96"/>
          </a:solidFill>
          <a:ln w="0">
            <a:solidFill>
              <a:srgbClr val="557A96"/>
            </a:solidFill>
            <a:prstDash val="solid"/>
          </a:ln>
        </p:spPr>
      </p:sp>
      <p:sp>
        <p:nvSpPr>
          <p:cNvPr id="72" name="subagent-current-box"/>
          <p:cNvSpPr>
            <a:spLocks noGrp="1"/>
          </p:cNvSpPr>
          <p:nvPr/>
        </p:nvSpPr>
        <p:spPr>
          <a:xfrm>
            <a:off x="5067300" y="4533901"/>
            <a:ext cx="790575" cy="295275"/>
          </a:xfrm>
          <a:prstGeom prst="roundRect">
            <a:avLst>
              <a:gd name="adj" fmla="val 12903"/>
            </a:avLst>
          </a:prstGeom>
          <a:solidFill>
            <a:srgbClr val="F7F9FA"/>
          </a:solidFill>
          <a:ln w="9525">
            <a:solidFill>
              <a:srgbClr val="7F9DB2"/>
            </a:solidFill>
            <a:prstDash val="solid"/>
          </a:ln>
        </p:spPr>
      </p:sp>
      <p:sp>
        <p:nvSpPr>
          <p:cNvPr id="73" name="subagent-current-text"/>
          <p:cNvSpPr>
            <a:spLocks noGrp="1"/>
          </p:cNvSpPr>
          <p:nvPr/>
        </p:nvSpPr>
        <p:spPr>
          <a:xfrm>
            <a:off x="5105400" y="4552951"/>
            <a:ext cx="714375" cy="257175"/>
          </a:xfrm>
          <a:prstGeom prst="rect">
            <a:avLst/>
          </a:prstGeom>
          <a:noFill/>
          <a:ln w="0">
            <a:noFill/>
            <a:prstDash val="solid"/>
          </a:ln>
        </p:spPr>
        <p:txBody>
          <a:bodyPr wrap="none" lIns="0" tIns="0" rIns="0" bIns="0" anchor="ctr">
            <a:normAutofit fontScale="97452" lnSpcReduction="10000"/>
          </a:bodyPr>
          <a:lstStyle/>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Current</a:t>
            </a:r>
          </a:p>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Workflow</a:t>
            </a:r>
          </a:p>
        </p:txBody>
      </p:sp>
      <p:sp>
        <p:nvSpPr>
          <p:cNvPr id="74" name="subagent-middle-box"/>
          <p:cNvSpPr>
            <a:spLocks noGrp="1"/>
          </p:cNvSpPr>
          <p:nvPr/>
        </p:nvSpPr>
        <p:spPr>
          <a:xfrm>
            <a:off x="6143625" y="4533901"/>
            <a:ext cx="800100" cy="295275"/>
          </a:xfrm>
          <a:prstGeom prst="roundRect">
            <a:avLst>
              <a:gd name="adj" fmla="val 12903"/>
            </a:avLst>
          </a:prstGeom>
          <a:solidFill>
            <a:srgbClr val="F2F6F8"/>
          </a:solidFill>
          <a:ln w="9525">
            <a:solidFill>
              <a:srgbClr val="7F9DB2"/>
            </a:solidFill>
            <a:prstDash val="solid"/>
          </a:ln>
        </p:spPr>
      </p:sp>
      <p:sp>
        <p:nvSpPr>
          <p:cNvPr id="75" name="subagent-middle-text"/>
          <p:cNvSpPr>
            <a:spLocks noGrp="1"/>
          </p:cNvSpPr>
          <p:nvPr/>
        </p:nvSpPr>
        <p:spPr>
          <a:xfrm>
            <a:off x="6181725" y="4552951"/>
            <a:ext cx="723900" cy="257175"/>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Subagent</a:t>
            </a:r>
          </a:p>
        </p:txBody>
      </p:sp>
      <p:sp>
        <p:nvSpPr>
          <p:cNvPr id="76" name="subagent-result-box"/>
          <p:cNvSpPr>
            <a:spLocks noGrp="1"/>
          </p:cNvSpPr>
          <p:nvPr/>
        </p:nvSpPr>
        <p:spPr>
          <a:xfrm>
            <a:off x="7219950" y="4533901"/>
            <a:ext cx="685800" cy="295275"/>
          </a:xfrm>
          <a:prstGeom prst="roundRect">
            <a:avLst>
              <a:gd name="adj" fmla="val 12903"/>
            </a:avLst>
          </a:prstGeom>
          <a:solidFill>
            <a:srgbClr val="F7F9FA"/>
          </a:solidFill>
          <a:ln w="9525">
            <a:solidFill>
              <a:srgbClr val="7F9DB2"/>
            </a:solidFill>
            <a:prstDash val="solid"/>
          </a:ln>
        </p:spPr>
      </p:sp>
      <p:sp>
        <p:nvSpPr>
          <p:cNvPr id="77" name="subagent-result-text"/>
          <p:cNvSpPr>
            <a:spLocks noGrp="1"/>
          </p:cNvSpPr>
          <p:nvPr/>
        </p:nvSpPr>
        <p:spPr>
          <a:xfrm>
            <a:off x="7258050" y="4552951"/>
            <a:ext cx="609600" cy="257175"/>
          </a:xfrm>
          <a:prstGeom prst="rect">
            <a:avLst/>
          </a:prstGeom>
          <a:noFill/>
          <a:ln w="0">
            <a:noFill/>
            <a:prstDash val="solid"/>
          </a:ln>
        </p:spPr>
        <p:txBody>
          <a:bodyPr wrap="none" lIns="0" tIns="0" rIns="0" bIns="0" anchor="ctr">
            <a:normAutofit/>
          </a:bodyPr>
          <a:lstStyle/>
          <a:p>
            <a:pPr algn="ctr">
              <a:defRPr sz="1015" b="1">
                <a:solidFill>
                  <a:srgbClr val="252B31"/>
                </a:solidFill>
                <a:latin typeface="微软雅黑" panose="020B0503020204020204" charset="-122"/>
                <a:ea typeface="微软雅黑" panose="020B0503020204020204" charset="-122"/>
                <a:cs typeface="微软雅黑" panose="020B0503020204020204" charset="-122"/>
              </a:defRPr>
            </a:pPr>
            <a:r>
              <a:rPr sz="1015" b="1">
                <a:solidFill>
                  <a:srgbClr val="252B31"/>
                </a:solidFill>
                <a:latin typeface="微软雅黑" panose="020B0503020204020204" charset="-122"/>
                <a:ea typeface="微软雅黑" panose="020B0503020204020204" charset="-122"/>
                <a:cs typeface="微软雅黑" panose="020B0503020204020204" charset="-122"/>
              </a:rPr>
              <a:t>Result</a:t>
            </a:r>
          </a:p>
        </p:txBody>
      </p:sp>
      <p:sp>
        <p:nvSpPr>
          <p:cNvPr id="78" name="subagent-description"/>
          <p:cNvSpPr>
            <a:spLocks noGrp="1"/>
          </p:cNvSpPr>
          <p:nvPr/>
        </p:nvSpPr>
        <p:spPr>
          <a:xfrm>
            <a:off x="5086350" y="5024647"/>
            <a:ext cx="2952750" cy="209550"/>
          </a:xfrm>
          <a:prstGeom prst="rect">
            <a:avLst/>
          </a:prstGeom>
          <a:noFill/>
          <a:ln w="0">
            <a:noFill/>
            <a:prstDash val="solid"/>
          </a:ln>
        </p:spPr>
        <p:txBody>
          <a:bodyPr wrap="none" lIns="0" tIns="0" rIns="0" bIns="0" anchor="ctr">
            <a:normAutofit/>
          </a:bodyPr>
          <a:lstStyle/>
          <a:p>
            <a:pPr algn="ctr">
              <a:defRPr sz="1165" b="1">
                <a:solidFill>
                  <a:srgbClr val="414951"/>
                </a:solidFill>
                <a:latin typeface="微软雅黑" panose="020B0503020204020204" charset="-122"/>
                <a:ea typeface="微软雅黑" panose="020B0503020204020204" charset="-122"/>
                <a:cs typeface="微软雅黑" panose="020B0503020204020204" charset="-122"/>
              </a:defRPr>
            </a:pPr>
            <a:r>
              <a:rPr sz="1165" b="1" dirty="0" err="1">
                <a:solidFill>
                  <a:srgbClr val="414951"/>
                </a:solidFill>
                <a:latin typeface="微软雅黑" panose="020B0503020204020204" charset="-122"/>
                <a:ea typeface="微软雅黑" panose="020B0503020204020204" charset="-122"/>
                <a:cs typeface="微软雅黑" panose="020B0503020204020204" charset="-122"/>
              </a:rPr>
              <a:t>把明确的具体子任务交给独立</a:t>
            </a:r>
            <a:r>
              <a:rPr sz="1165" b="1" dirty="0">
                <a:solidFill>
                  <a:srgbClr val="414951"/>
                </a:solidFill>
                <a:latin typeface="微软雅黑" panose="020B0503020204020204" charset="-122"/>
                <a:ea typeface="微软雅黑" panose="020B0503020204020204" charset="-122"/>
                <a:cs typeface="微软雅黑" panose="020B0503020204020204" charset="-122"/>
              </a:rPr>
              <a:t> Agent</a:t>
            </a:r>
          </a:p>
        </p:txBody>
      </p:sp>
      <p:sp>
        <p:nvSpPr>
          <p:cNvPr id="82" name="other-skill-card"/>
          <p:cNvSpPr>
            <a:spLocks noGrp="1"/>
          </p:cNvSpPr>
          <p:nvPr/>
        </p:nvSpPr>
        <p:spPr>
          <a:xfrm>
            <a:off x="8286750" y="4152901"/>
            <a:ext cx="3257550" cy="1524000"/>
          </a:xfrm>
          <a:prstGeom prst="roundRect">
            <a:avLst>
              <a:gd name="adj" fmla="val 3750"/>
            </a:avLst>
          </a:prstGeom>
          <a:solidFill>
            <a:srgbClr val="FFFFFF"/>
          </a:solidFill>
          <a:ln w="9525">
            <a:solidFill>
              <a:srgbClr val="D8DEE3"/>
            </a:solidFill>
            <a:prstDash val="solid"/>
          </a:ln>
        </p:spPr>
      </p:sp>
      <p:sp>
        <p:nvSpPr>
          <p:cNvPr id="83" name="other-skill-accent"/>
          <p:cNvSpPr>
            <a:spLocks noGrp="1"/>
          </p:cNvSpPr>
          <p:nvPr/>
        </p:nvSpPr>
        <p:spPr>
          <a:xfrm>
            <a:off x="8286750" y="4152901"/>
            <a:ext cx="3257550" cy="28575"/>
          </a:xfrm>
          <a:prstGeom prst="rect">
            <a:avLst/>
          </a:prstGeom>
          <a:solidFill>
            <a:srgbClr val="557A96"/>
          </a:solidFill>
          <a:ln w="0">
            <a:noFill/>
            <a:prstDash val="solid"/>
          </a:ln>
        </p:spPr>
      </p:sp>
      <p:sp>
        <p:nvSpPr>
          <p:cNvPr id="87" name="other-skill-line-1"/>
          <p:cNvSpPr>
            <a:spLocks noGrp="1"/>
          </p:cNvSpPr>
          <p:nvPr/>
        </p:nvSpPr>
        <p:spPr>
          <a:xfrm>
            <a:off x="9229725" y="4676776"/>
            <a:ext cx="238125" cy="0"/>
          </a:xfrm>
          <a:prstGeom prst="line">
            <a:avLst/>
          </a:prstGeom>
          <a:noFill/>
          <a:ln w="11430">
            <a:solidFill>
              <a:srgbClr val="557A96"/>
            </a:solidFill>
            <a:prstDash val="solid"/>
          </a:ln>
        </p:spPr>
      </p:sp>
      <p:sp>
        <p:nvSpPr>
          <p:cNvPr id="88" name="other-skill-arrow-1"/>
          <p:cNvSpPr>
            <a:spLocks noGrp="1"/>
          </p:cNvSpPr>
          <p:nvPr/>
        </p:nvSpPr>
        <p:spPr>
          <a:xfrm rot="5400000">
            <a:off x="9429750" y="4638676"/>
            <a:ext cx="76200" cy="76200"/>
          </a:xfrm>
          <a:prstGeom prst="triangle">
            <a:avLst/>
          </a:prstGeom>
          <a:solidFill>
            <a:srgbClr val="557A96"/>
          </a:solidFill>
          <a:ln w="0">
            <a:solidFill>
              <a:srgbClr val="557A96"/>
            </a:solidFill>
            <a:prstDash val="solid"/>
          </a:ln>
        </p:spPr>
      </p:sp>
      <p:sp>
        <p:nvSpPr>
          <p:cNvPr id="89" name="other-skill-line-2"/>
          <p:cNvSpPr>
            <a:spLocks noGrp="1"/>
          </p:cNvSpPr>
          <p:nvPr/>
        </p:nvSpPr>
        <p:spPr>
          <a:xfrm>
            <a:off x="10315575" y="4676776"/>
            <a:ext cx="238125" cy="0"/>
          </a:xfrm>
          <a:prstGeom prst="line">
            <a:avLst/>
          </a:prstGeom>
          <a:noFill/>
          <a:ln w="11430">
            <a:solidFill>
              <a:srgbClr val="557A96"/>
            </a:solidFill>
            <a:prstDash val="solid"/>
          </a:ln>
        </p:spPr>
      </p:sp>
      <p:sp>
        <p:nvSpPr>
          <p:cNvPr id="90" name="other-skill-arrow-2"/>
          <p:cNvSpPr>
            <a:spLocks noGrp="1"/>
          </p:cNvSpPr>
          <p:nvPr/>
        </p:nvSpPr>
        <p:spPr>
          <a:xfrm rot="5400000">
            <a:off x="10515600" y="4638676"/>
            <a:ext cx="76200" cy="76200"/>
          </a:xfrm>
          <a:prstGeom prst="triangle">
            <a:avLst/>
          </a:prstGeom>
          <a:solidFill>
            <a:srgbClr val="557A96"/>
          </a:solidFill>
          <a:ln w="0">
            <a:solidFill>
              <a:srgbClr val="557A96"/>
            </a:solidFill>
            <a:prstDash val="solid"/>
          </a:ln>
        </p:spPr>
      </p:sp>
      <p:sp>
        <p:nvSpPr>
          <p:cNvPr id="91" name="other-skill-current-box"/>
          <p:cNvSpPr>
            <a:spLocks noGrp="1"/>
          </p:cNvSpPr>
          <p:nvPr/>
        </p:nvSpPr>
        <p:spPr>
          <a:xfrm>
            <a:off x="8439150" y="4533901"/>
            <a:ext cx="790575" cy="295275"/>
          </a:xfrm>
          <a:prstGeom prst="roundRect">
            <a:avLst>
              <a:gd name="adj" fmla="val 12903"/>
            </a:avLst>
          </a:prstGeom>
          <a:solidFill>
            <a:srgbClr val="F7F9FA"/>
          </a:solidFill>
          <a:ln w="9525">
            <a:solidFill>
              <a:srgbClr val="7F9DB2"/>
            </a:solidFill>
            <a:prstDash val="solid"/>
          </a:ln>
        </p:spPr>
      </p:sp>
      <p:sp>
        <p:nvSpPr>
          <p:cNvPr id="92" name="other-skill-current-text"/>
          <p:cNvSpPr>
            <a:spLocks noGrp="1"/>
          </p:cNvSpPr>
          <p:nvPr/>
        </p:nvSpPr>
        <p:spPr>
          <a:xfrm>
            <a:off x="8477250" y="4552951"/>
            <a:ext cx="714375" cy="257175"/>
          </a:xfrm>
          <a:prstGeom prst="rect">
            <a:avLst/>
          </a:prstGeom>
          <a:noFill/>
          <a:ln w="0">
            <a:noFill/>
            <a:prstDash val="solid"/>
          </a:ln>
        </p:spPr>
        <p:txBody>
          <a:bodyPr wrap="none" lIns="0" tIns="0" rIns="0" bIns="0" anchor="ctr">
            <a:normAutofit fontScale="97452" lnSpcReduction="10000"/>
          </a:bodyPr>
          <a:lstStyle/>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Current</a:t>
            </a:r>
          </a:p>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93" name="other-skill-middle-box"/>
          <p:cNvSpPr>
            <a:spLocks noGrp="1"/>
          </p:cNvSpPr>
          <p:nvPr/>
        </p:nvSpPr>
        <p:spPr>
          <a:xfrm>
            <a:off x="9515475" y="4533901"/>
            <a:ext cx="800100" cy="295275"/>
          </a:xfrm>
          <a:prstGeom prst="roundRect">
            <a:avLst>
              <a:gd name="adj" fmla="val 12903"/>
            </a:avLst>
          </a:prstGeom>
          <a:solidFill>
            <a:srgbClr val="F2F6F8"/>
          </a:solidFill>
          <a:ln w="9525">
            <a:solidFill>
              <a:srgbClr val="7F9DB2"/>
            </a:solidFill>
            <a:prstDash val="solid"/>
          </a:ln>
        </p:spPr>
      </p:sp>
      <p:sp>
        <p:nvSpPr>
          <p:cNvPr id="94" name="other-skill-middle-text"/>
          <p:cNvSpPr>
            <a:spLocks noGrp="1"/>
          </p:cNvSpPr>
          <p:nvPr/>
        </p:nvSpPr>
        <p:spPr>
          <a:xfrm>
            <a:off x="9553575" y="4552951"/>
            <a:ext cx="723900" cy="257175"/>
          </a:xfrm>
          <a:prstGeom prst="rect">
            <a:avLst/>
          </a:prstGeom>
          <a:noFill/>
          <a:ln w="0">
            <a:noFill/>
            <a:prstDash val="solid"/>
          </a:ln>
        </p:spPr>
        <p:txBody>
          <a:bodyPr wrap="none" lIns="0" tIns="0" rIns="0" bIns="0" anchor="ctr">
            <a:normAutofit fontScale="90792" lnSpcReduction="10000"/>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Other</a:t>
            </a:r>
          </a:p>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Skill</a:t>
            </a:r>
          </a:p>
        </p:txBody>
      </p:sp>
      <p:sp>
        <p:nvSpPr>
          <p:cNvPr id="95" name="other-skill-result-box"/>
          <p:cNvSpPr>
            <a:spLocks noGrp="1"/>
          </p:cNvSpPr>
          <p:nvPr/>
        </p:nvSpPr>
        <p:spPr>
          <a:xfrm>
            <a:off x="10591800" y="4533901"/>
            <a:ext cx="685800" cy="295275"/>
          </a:xfrm>
          <a:prstGeom prst="roundRect">
            <a:avLst>
              <a:gd name="adj" fmla="val 12903"/>
            </a:avLst>
          </a:prstGeom>
          <a:solidFill>
            <a:srgbClr val="F7F9FA"/>
          </a:solidFill>
          <a:ln w="9525">
            <a:solidFill>
              <a:srgbClr val="7F9DB2"/>
            </a:solidFill>
            <a:prstDash val="solid"/>
          </a:ln>
        </p:spPr>
      </p:sp>
      <p:sp>
        <p:nvSpPr>
          <p:cNvPr id="96" name="other-skill-result-text"/>
          <p:cNvSpPr>
            <a:spLocks noGrp="1"/>
          </p:cNvSpPr>
          <p:nvPr/>
        </p:nvSpPr>
        <p:spPr>
          <a:xfrm>
            <a:off x="10629900" y="4552951"/>
            <a:ext cx="609600" cy="257175"/>
          </a:xfrm>
          <a:prstGeom prst="rect">
            <a:avLst/>
          </a:prstGeom>
          <a:noFill/>
          <a:ln w="0">
            <a:noFill/>
            <a:prstDash val="solid"/>
          </a:ln>
        </p:spPr>
        <p:txBody>
          <a:bodyPr wrap="none" lIns="0" tIns="0" rIns="0" bIns="0" anchor="ctr">
            <a:normAutofit/>
          </a:bodyPr>
          <a:lstStyle/>
          <a:p>
            <a:pPr algn="ctr">
              <a:defRPr sz="1015" b="1">
                <a:solidFill>
                  <a:srgbClr val="252B31"/>
                </a:solidFill>
                <a:latin typeface="微软雅黑" panose="020B0503020204020204" charset="-122"/>
                <a:ea typeface="微软雅黑" panose="020B0503020204020204" charset="-122"/>
                <a:cs typeface="微软雅黑" panose="020B0503020204020204" charset="-122"/>
              </a:defRPr>
            </a:pPr>
            <a:r>
              <a:rPr sz="1015" b="1">
                <a:solidFill>
                  <a:srgbClr val="252B31"/>
                </a:solidFill>
                <a:latin typeface="微软雅黑" panose="020B0503020204020204" charset="-122"/>
                <a:ea typeface="微软雅黑" panose="020B0503020204020204" charset="-122"/>
                <a:cs typeface="微软雅黑" panose="020B0503020204020204" charset="-122"/>
              </a:rPr>
              <a:t>Result</a:t>
            </a:r>
          </a:p>
        </p:txBody>
      </p:sp>
      <p:sp>
        <p:nvSpPr>
          <p:cNvPr id="97" name="other-skill-description"/>
          <p:cNvSpPr>
            <a:spLocks noGrp="1"/>
          </p:cNvSpPr>
          <p:nvPr/>
        </p:nvSpPr>
        <p:spPr>
          <a:xfrm>
            <a:off x="8420100" y="5044111"/>
            <a:ext cx="2952750" cy="209550"/>
          </a:xfrm>
          <a:prstGeom prst="rect">
            <a:avLst/>
          </a:prstGeom>
          <a:noFill/>
          <a:ln w="0">
            <a:noFill/>
            <a:prstDash val="solid"/>
          </a:ln>
        </p:spPr>
        <p:txBody>
          <a:bodyPr wrap="none" lIns="0" tIns="0" rIns="0" bIns="0" anchor="ctr">
            <a:normAutofit/>
          </a:bodyPr>
          <a:lstStyle/>
          <a:p>
            <a:pPr algn="ctr">
              <a:defRPr sz="1165" b="1">
                <a:solidFill>
                  <a:srgbClr val="414951"/>
                </a:solidFill>
                <a:latin typeface="微软雅黑" panose="020B0503020204020204" charset="-122"/>
                <a:ea typeface="微软雅黑" panose="020B0503020204020204" charset="-122"/>
                <a:cs typeface="微软雅黑" panose="020B0503020204020204" charset="-122"/>
              </a:defRPr>
            </a:pPr>
            <a:r>
              <a:rPr sz="1165" b="1" dirty="0" err="1">
                <a:solidFill>
                  <a:srgbClr val="414951"/>
                </a:solidFill>
                <a:latin typeface="微软雅黑" panose="020B0503020204020204" charset="-122"/>
                <a:ea typeface="微软雅黑" panose="020B0503020204020204" charset="-122"/>
                <a:cs typeface="微软雅黑" panose="020B0503020204020204" charset="-122"/>
              </a:rPr>
              <a:t>复用已独立封装的完整能力模块</a:t>
            </a:r>
            <a:endParaRPr sz="116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01" name="summary-band"/>
          <p:cNvSpPr>
            <a:spLocks noGrp="1"/>
          </p:cNvSpPr>
          <p:nvPr/>
        </p:nvSpPr>
        <p:spPr>
          <a:xfrm>
            <a:off x="609600" y="6000750"/>
            <a:ext cx="10972800" cy="609600"/>
          </a:xfrm>
          <a:prstGeom prst="rect">
            <a:avLst/>
          </a:prstGeom>
          <a:solidFill>
            <a:srgbClr val="F3F4F5"/>
          </a:solidFill>
          <a:ln w="0">
            <a:noFill/>
            <a:prstDash val="solid"/>
          </a:ln>
        </p:spPr>
      </p:sp>
      <p:sp>
        <p:nvSpPr>
          <p:cNvPr id="102" name="summary-accent"/>
          <p:cNvSpPr>
            <a:spLocks noGrp="1"/>
          </p:cNvSpPr>
          <p:nvPr/>
        </p:nvSpPr>
        <p:spPr>
          <a:xfrm>
            <a:off x="609600" y="6000750"/>
            <a:ext cx="38100" cy="609600"/>
          </a:xfrm>
          <a:prstGeom prst="rect">
            <a:avLst/>
          </a:prstGeom>
          <a:solidFill>
            <a:srgbClr val="557A96"/>
          </a:solidFill>
          <a:ln w="0">
            <a:noFill/>
            <a:prstDash val="solid"/>
          </a:ln>
        </p:spPr>
      </p:sp>
      <p:sp>
        <p:nvSpPr>
          <p:cNvPr id="103" name="summary-title"/>
          <p:cNvSpPr>
            <a:spLocks noGrp="1"/>
          </p:cNvSpPr>
          <p:nvPr/>
        </p:nvSpPr>
        <p:spPr>
          <a:xfrm>
            <a:off x="800100" y="6156876"/>
            <a:ext cx="2457450" cy="238125"/>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dirty="0" err="1">
                <a:solidFill>
                  <a:srgbClr val="252B31"/>
                </a:solidFill>
                <a:latin typeface="微软雅黑" panose="020B0503020204020204" charset="-122"/>
                <a:ea typeface="微软雅黑" panose="020B0503020204020204" charset="-122"/>
                <a:cs typeface="微软雅黑" panose="020B0503020204020204" charset="-122"/>
              </a:rPr>
              <a:t>按需组合，而不是固定模板</a:t>
            </a:r>
            <a:endParaRPr sz="14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5" name="summary-body"/>
          <p:cNvSpPr>
            <a:spLocks noGrp="1"/>
          </p:cNvSpPr>
          <p:nvPr/>
        </p:nvSpPr>
        <p:spPr>
          <a:xfrm>
            <a:off x="3409950" y="6214028"/>
            <a:ext cx="7962900" cy="228600"/>
          </a:xfrm>
          <a:prstGeom prst="rect">
            <a:avLst/>
          </a:prstGeom>
          <a:noFill/>
          <a:ln w="0">
            <a:noFill/>
            <a:prstDash val="solid"/>
          </a:ln>
        </p:spPr>
        <p:txBody>
          <a:bodyPr wrap="none" lIns="0" tIns="0" rIns="0" bIns="0" anchor="ctr">
            <a:normAutofit/>
          </a:bodyPr>
          <a:lstStyle/>
          <a:p>
            <a:pPr algn="l">
              <a:defRPr sz="1240" b="1">
                <a:solidFill>
                  <a:srgbClr val="414951"/>
                </a:solidFill>
                <a:latin typeface="微软雅黑" panose="020B0503020204020204" charset="-122"/>
                <a:ea typeface="微软雅黑" panose="020B0503020204020204" charset="-122"/>
                <a:cs typeface="微软雅黑" panose="020B0503020204020204" charset="-122"/>
              </a:defRPr>
            </a:pPr>
            <a:r>
              <a:rPr sz="1240" b="1" dirty="0" err="1">
                <a:solidFill>
                  <a:srgbClr val="414951"/>
                </a:solidFill>
                <a:latin typeface="微软雅黑" panose="020B0503020204020204" charset="-122"/>
                <a:ea typeface="微软雅黑" panose="020B0503020204020204" charset="-122"/>
                <a:cs typeface="微软雅黑" panose="020B0503020204020204" charset="-122"/>
              </a:rPr>
              <a:t>Reference、Example、Script、Subagent、Other</a:t>
            </a:r>
            <a:r>
              <a:rPr sz="1240" b="1" dirty="0">
                <a:solidFill>
                  <a:srgbClr val="414951"/>
                </a:solidFill>
                <a:latin typeface="微软雅黑" panose="020B0503020204020204" charset="-122"/>
                <a:ea typeface="微软雅黑" panose="020B0503020204020204" charset="-122"/>
                <a:cs typeface="微软雅黑" panose="020B0503020204020204" charset="-122"/>
              </a:rPr>
              <a:t> Skill </a:t>
            </a:r>
            <a:r>
              <a:rPr sz="1240" b="1" dirty="0" err="1" smtClean="0">
                <a:solidFill>
                  <a:srgbClr val="414951"/>
                </a:solidFill>
                <a:latin typeface="微软雅黑" panose="020B0503020204020204" charset="-122"/>
                <a:ea typeface="微软雅黑" panose="020B0503020204020204" charset="-122"/>
                <a:cs typeface="微软雅黑" panose="020B0503020204020204" charset="-122"/>
              </a:rPr>
              <a:t>非强制</a:t>
            </a:r>
            <a:r>
              <a:rPr sz="1240" b="1" dirty="0" err="1">
                <a:solidFill>
                  <a:srgbClr val="414951"/>
                </a:solidFill>
                <a:latin typeface="微软雅黑" panose="020B0503020204020204" charset="-122"/>
                <a:ea typeface="微软雅黑" panose="020B0503020204020204" charset="-122"/>
                <a:cs typeface="微软雅黑" panose="020B0503020204020204" charset="-122"/>
              </a:rPr>
              <a:t>；只配置完成当前职责真正需要的部分</a:t>
            </a:r>
            <a:r>
              <a:rPr sz="124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08"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0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1.4</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10"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4</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85850" y="172729"/>
            <a:ext cx="10572750" cy="533400"/>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微软雅黑" panose="020B0503020204020204" charset="-122"/>
                <a:cs typeface="微软雅黑" panose="020B0503020204020204" charset="-122"/>
              </a:rPr>
              <a:t>Skill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开发流程</a:t>
            </a:r>
            <a:r>
              <a:rPr sz="2700" b="1" dirty="0">
                <a:solidFill>
                  <a:srgbClr val="243B53"/>
                </a:solidFill>
                <a:latin typeface="Arial" panose="020B0604020202020204" pitchFamily="34" charset="0"/>
                <a:ea typeface="微软雅黑" panose="020B0503020204020204" charset="-122"/>
                <a:cs typeface="微软雅黑" panose="020B0503020204020204" charset="-122"/>
              </a:rPr>
              <a:t>①</a:t>
            </a:r>
          </a:p>
        </p:txBody>
      </p:sp>
      <p:sp>
        <p:nvSpPr>
          <p:cNvPr id="3" name="subtitle-prefix"/>
          <p:cNvSpPr>
            <a:spLocks noGrp="1"/>
          </p:cNvSpPr>
          <p:nvPr/>
        </p:nvSpPr>
        <p:spPr>
          <a:xfrm>
            <a:off x="800100" y="752475"/>
            <a:ext cx="628650" cy="257175"/>
          </a:xfrm>
          <a:prstGeom prst="rect">
            <a:avLst/>
          </a:prstGeom>
          <a:noFill/>
          <a:ln w="0">
            <a:noFill/>
            <a:prstDash val="solid"/>
          </a:ln>
        </p:spPr>
        <p:txBody>
          <a:bodyPr wrap="none" lIns="0" tIns="0" rIns="0" bIns="0" anchor="ctr">
            <a:normAutofit/>
          </a:bodyPr>
          <a:lstStyle/>
          <a:p>
            <a:pPr algn="l">
              <a:defRPr sz="1390" b="0">
                <a:solidFill>
                  <a:srgbClr val="68727B"/>
                </a:solidFill>
                <a:latin typeface="微软雅黑" panose="020B0503020204020204" charset="-122"/>
                <a:ea typeface="微软雅黑" panose="020B0503020204020204" charset="-122"/>
                <a:cs typeface="微软雅黑" panose="020B0503020204020204" charset="-122"/>
              </a:defRPr>
            </a:pPr>
            <a:endParaRPr sz="139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 name="subtitle-suffix"/>
          <p:cNvSpPr>
            <a:spLocks noGrp="1"/>
          </p:cNvSpPr>
          <p:nvPr/>
        </p:nvSpPr>
        <p:spPr>
          <a:xfrm>
            <a:off x="3067050" y="752475"/>
            <a:ext cx="4000500" cy="257175"/>
          </a:xfrm>
          <a:prstGeom prst="rect">
            <a:avLst/>
          </a:prstGeom>
          <a:noFill/>
          <a:ln w="0">
            <a:noFill/>
            <a:prstDash val="solid"/>
          </a:ln>
        </p:spPr>
        <p:txBody>
          <a:bodyPr wrap="none" lIns="0" tIns="0" rIns="0" bIns="0" anchor="ctr">
            <a:normAutofit/>
          </a:bodyPr>
          <a:lstStyle/>
          <a:p>
            <a:pPr algn="l">
              <a:defRPr sz="1390" b="0">
                <a:solidFill>
                  <a:srgbClr val="68727B"/>
                </a:solidFill>
                <a:latin typeface="微软雅黑" panose="020B0503020204020204" charset="-122"/>
                <a:ea typeface="微软雅黑" panose="020B0503020204020204" charset="-122"/>
                <a:cs typeface="微软雅黑" panose="020B0503020204020204" charset="-122"/>
              </a:defRPr>
            </a:pPr>
            <a:endParaRPr sz="139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7" name="what-how-line"/>
          <p:cNvSpPr>
            <a:spLocks noGrp="1"/>
          </p:cNvSpPr>
          <p:nvPr/>
        </p:nvSpPr>
        <p:spPr>
          <a:xfrm>
            <a:off x="2809875" y="1225412"/>
            <a:ext cx="2133600" cy="0"/>
          </a:xfrm>
          <a:prstGeom prst="line">
            <a:avLst/>
          </a:prstGeom>
          <a:noFill/>
          <a:ln w="12383">
            <a:solidFill>
              <a:srgbClr val="7F9DB2"/>
            </a:solidFill>
            <a:prstDash val="solid"/>
          </a:ln>
        </p:spPr>
      </p:sp>
      <p:sp>
        <p:nvSpPr>
          <p:cNvPr id="8" name="what-how-arrow"/>
          <p:cNvSpPr>
            <a:spLocks noGrp="1"/>
          </p:cNvSpPr>
          <p:nvPr/>
        </p:nvSpPr>
        <p:spPr>
          <a:xfrm rot="5400000">
            <a:off x="4905375" y="1187312"/>
            <a:ext cx="76200" cy="76200"/>
          </a:xfrm>
          <a:prstGeom prst="triangle">
            <a:avLst/>
          </a:prstGeom>
          <a:solidFill>
            <a:srgbClr val="557A96"/>
          </a:solidFill>
          <a:ln w="0">
            <a:solidFill>
              <a:srgbClr val="557A96"/>
            </a:solidFill>
            <a:prstDash val="solid"/>
          </a:ln>
        </p:spPr>
      </p:sp>
      <p:sp>
        <p:nvSpPr>
          <p:cNvPr id="9" name="how-who-line"/>
          <p:cNvSpPr>
            <a:spLocks noGrp="1"/>
          </p:cNvSpPr>
          <p:nvPr/>
        </p:nvSpPr>
        <p:spPr>
          <a:xfrm>
            <a:off x="6962775" y="1225412"/>
            <a:ext cx="1971675" cy="0"/>
          </a:xfrm>
          <a:prstGeom prst="line">
            <a:avLst/>
          </a:prstGeom>
          <a:noFill/>
          <a:ln w="12383">
            <a:solidFill>
              <a:srgbClr val="7F9DB2"/>
            </a:solidFill>
            <a:prstDash val="solid"/>
          </a:ln>
        </p:spPr>
      </p:sp>
      <p:sp>
        <p:nvSpPr>
          <p:cNvPr id="10" name="how-who-arrow"/>
          <p:cNvSpPr>
            <a:spLocks noGrp="1"/>
          </p:cNvSpPr>
          <p:nvPr/>
        </p:nvSpPr>
        <p:spPr>
          <a:xfrm rot="5400000">
            <a:off x="8896350" y="1187312"/>
            <a:ext cx="76200" cy="76200"/>
          </a:xfrm>
          <a:prstGeom prst="triangle">
            <a:avLst/>
          </a:prstGeom>
          <a:solidFill>
            <a:srgbClr val="557A96"/>
          </a:solidFill>
          <a:ln w="0">
            <a:solidFill>
              <a:srgbClr val="557A96"/>
            </a:solidFill>
            <a:prstDash val="solid"/>
          </a:ln>
        </p:spPr>
      </p:sp>
      <p:sp>
        <p:nvSpPr>
          <p:cNvPr id="11" name="what-how-label"/>
          <p:cNvSpPr>
            <a:spLocks noGrp="1"/>
          </p:cNvSpPr>
          <p:nvPr/>
        </p:nvSpPr>
        <p:spPr>
          <a:xfrm>
            <a:off x="3267075" y="977762"/>
            <a:ext cx="1238250" cy="19050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得到目标与边界</a:t>
            </a:r>
          </a:p>
        </p:txBody>
      </p:sp>
      <p:sp>
        <p:nvSpPr>
          <p:cNvPr id="12" name="how-who-label"/>
          <p:cNvSpPr>
            <a:spLocks noGrp="1"/>
          </p:cNvSpPr>
          <p:nvPr/>
        </p:nvSpPr>
        <p:spPr>
          <a:xfrm>
            <a:off x="7334250" y="977762"/>
            <a:ext cx="1276350" cy="19050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lang="zh-CN" altLang="en-US" sz="1015" dirty="0">
                <a:solidFill>
                  <a:srgbClr val="68727B"/>
                </a:solidFill>
                <a:latin typeface="微软雅黑" panose="020B0503020204020204" charset="-122"/>
                <a:ea typeface="微软雅黑" panose="020B0503020204020204" charset="-122"/>
                <a:cs typeface="微软雅黑" panose="020B0503020204020204" charset="-122"/>
              </a:rPr>
              <a:t>划分</a:t>
            </a:r>
            <a:r>
              <a:rPr sz="1015" b="0" dirty="0" smtClean="0">
                <a:solidFill>
                  <a:srgbClr val="68727B"/>
                </a:solidFill>
                <a:latin typeface="微软雅黑" panose="020B0503020204020204" charset="-122"/>
                <a:ea typeface="微软雅黑" panose="020B0503020204020204" charset="-122"/>
                <a:cs typeface="微软雅黑" panose="020B0503020204020204" charset="-122"/>
              </a:rPr>
              <a:t>Stage </a:t>
            </a:r>
            <a:r>
              <a:rPr sz="1015" b="0" dirty="0" err="1">
                <a:solidFill>
                  <a:srgbClr val="68727B"/>
                </a:solidFill>
                <a:latin typeface="微软雅黑" panose="020B0503020204020204" charset="-122"/>
                <a:ea typeface="微软雅黑" panose="020B0503020204020204" charset="-122"/>
                <a:cs typeface="微软雅黑" panose="020B0503020204020204" charset="-122"/>
              </a:rPr>
              <a:t>与交接</a:t>
            </a:r>
            <a:endParaRPr sz="101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3" name="what-en"/>
          <p:cNvSpPr>
            <a:spLocks noGrp="1"/>
          </p:cNvSpPr>
          <p:nvPr/>
        </p:nvSpPr>
        <p:spPr>
          <a:xfrm>
            <a:off x="155257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WHAT</a:t>
            </a:r>
          </a:p>
        </p:txBody>
      </p:sp>
      <p:sp>
        <p:nvSpPr>
          <p:cNvPr id="14" name="what-cn"/>
          <p:cNvSpPr>
            <a:spLocks noGrp="1"/>
          </p:cNvSpPr>
          <p:nvPr/>
        </p:nvSpPr>
        <p:spPr>
          <a:xfrm>
            <a:off x="155257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做什么</a:t>
            </a:r>
          </a:p>
        </p:txBody>
      </p:sp>
      <p:sp>
        <p:nvSpPr>
          <p:cNvPr id="15" name="how-en"/>
          <p:cNvSpPr>
            <a:spLocks noGrp="1"/>
          </p:cNvSpPr>
          <p:nvPr/>
        </p:nvSpPr>
        <p:spPr>
          <a:xfrm>
            <a:off x="538162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HOW</a:t>
            </a:r>
          </a:p>
        </p:txBody>
      </p:sp>
      <p:sp>
        <p:nvSpPr>
          <p:cNvPr id="16" name="how-cn"/>
          <p:cNvSpPr>
            <a:spLocks noGrp="1"/>
          </p:cNvSpPr>
          <p:nvPr/>
        </p:nvSpPr>
        <p:spPr>
          <a:xfrm>
            <a:off x="538162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怎么做</a:t>
            </a:r>
          </a:p>
        </p:txBody>
      </p:sp>
      <p:sp>
        <p:nvSpPr>
          <p:cNvPr id="17" name="who-en"/>
          <p:cNvSpPr>
            <a:spLocks noGrp="1"/>
          </p:cNvSpPr>
          <p:nvPr/>
        </p:nvSpPr>
        <p:spPr>
          <a:xfrm>
            <a:off x="919162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WHO</a:t>
            </a:r>
          </a:p>
        </p:txBody>
      </p:sp>
      <p:sp>
        <p:nvSpPr>
          <p:cNvPr id="18" name="who-cn"/>
          <p:cNvSpPr>
            <a:spLocks noGrp="1"/>
          </p:cNvSpPr>
          <p:nvPr/>
        </p:nvSpPr>
        <p:spPr>
          <a:xfrm>
            <a:off x="919162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谁来做</a:t>
            </a:r>
          </a:p>
        </p:txBody>
      </p:sp>
      <p:sp>
        <p:nvSpPr>
          <p:cNvPr id="19" name="define-frame"/>
          <p:cNvSpPr>
            <a:spLocks noGrp="1"/>
          </p:cNvSpPr>
          <p:nvPr/>
        </p:nvSpPr>
        <p:spPr>
          <a:xfrm>
            <a:off x="609600" y="1828800"/>
            <a:ext cx="3333750" cy="3981450"/>
          </a:xfrm>
          <a:prstGeom prst="roundRect">
            <a:avLst>
              <a:gd name="adj" fmla="val 1429"/>
            </a:avLst>
          </a:prstGeom>
          <a:solidFill>
            <a:srgbClr val="FFFFFF"/>
          </a:solidFill>
          <a:ln w="9525">
            <a:solidFill>
              <a:srgbClr val="D8DEE3"/>
            </a:solidFill>
            <a:prstDash val="solid"/>
          </a:ln>
        </p:spPr>
      </p:sp>
      <p:sp>
        <p:nvSpPr>
          <p:cNvPr id="20" name="define-accent"/>
          <p:cNvSpPr>
            <a:spLocks noGrp="1"/>
          </p:cNvSpPr>
          <p:nvPr/>
        </p:nvSpPr>
        <p:spPr>
          <a:xfrm>
            <a:off x="609600" y="1828800"/>
            <a:ext cx="3333750" cy="28575"/>
          </a:xfrm>
          <a:prstGeom prst="rect">
            <a:avLst/>
          </a:prstGeom>
          <a:solidFill>
            <a:srgbClr val="557A96"/>
          </a:solidFill>
          <a:ln w="0">
            <a:noFill/>
            <a:prstDash val="solid"/>
          </a:ln>
        </p:spPr>
      </p:sp>
      <p:sp>
        <p:nvSpPr>
          <p:cNvPr id="21" name="define-number"/>
          <p:cNvSpPr>
            <a:spLocks noGrp="1"/>
          </p:cNvSpPr>
          <p:nvPr/>
        </p:nvSpPr>
        <p:spPr>
          <a:xfrm>
            <a:off x="762000"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22" name="define-title"/>
          <p:cNvSpPr>
            <a:spLocks noGrp="1"/>
          </p:cNvSpPr>
          <p:nvPr/>
        </p:nvSpPr>
        <p:spPr>
          <a:xfrm>
            <a:off x="1162050" y="1905000"/>
            <a:ext cx="2628900"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定义任务</a:t>
            </a:r>
          </a:p>
        </p:txBody>
      </p:sp>
      <p:sp>
        <p:nvSpPr>
          <p:cNvPr id="23" name="define-subtitle"/>
          <p:cNvSpPr>
            <a:spLocks noGrp="1"/>
          </p:cNvSpPr>
          <p:nvPr/>
        </p:nvSpPr>
        <p:spPr>
          <a:xfrm>
            <a:off x="762000" y="2209800"/>
            <a:ext cx="3028950"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先明确“做什么”</a:t>
            </a:r>
          </a:p>
        </p:txBody>
      </p:sp>
      <p:sp>
        <p:nvSpPr>
          <p:cNvPr id="24" name="define-header-line"/>
          <p:cNvSpPr>
            <a:spLocks noGrp="1"/>
          </p:cNvSpPr>
          <p:nvPr/>
        </p:nvSpPr>
        <p:spPr>
          <a:xfrm>
            <a:off x="762000" y="2486025"/>
            <a:ext cx="3028950" cy="0"/>
          </a:xfrm>
          <a:prstGeom prst="line">
            <a:avLst/>
          </a:prstGeom>
          <a:noFill/>
          <a:ln w="9525">
            <a:solidFill>
              <a:srgbClr val="D8DEE3"/>
            </a:solidFill>
            <a:prstDash val="solid"/>
          </a:ln>
        </p:spPr>
      </p:sp>
      <p:sp>
        <p:nvSpPr>
          <p:cNvPr id="25" name="workflow-frame"/>
          <p:cNvSpPr>
            <a:spLocks noGrp="1"/>
          </p:cNvSpPr>
          <p:nvPr/>
        </p:nvSpPr>
        <p:spPr>
          <a:xfrm>
            <a:off x="4200525" y="1828800"/>
            <a:ext cx="3781425" cy="3981450"/>
          </a:xfrm>
          <a:prstGeom prst="roundRect">
            <a:avLst>
              <a:gd name="adj" fmla="val 1259"/>
            </a:avLst>
          </a:prstGeom>
          <a:solidFill>
            <a:srgbClr val="FFFFFF"/>
          </a:solidFill>
          <a:ln w="9525">
            <a:solidFill>
              <a:srgbClr val="D8DEE3"/>
            </a:solidFill>
            <a:prstDash val="solid"/>
          </a:ln>
        </p:spPr>
      </p:sp>
      <p:sp>
        <p:nvSpPr>
          <p:cNvPr id="26" name="workflow-accent"/>
          <p:cNvSpPr>
            <a:spLocks noGrp="1"/>
          </p:cNvSpPr>
          <p:nvPr/>
        </p:nvSpPr>
        <p:spPr>
          <a:xfrm>
            <a:off x="4200525" y="1828800"/>
            <a:ext cx="3781425" cy="28575"/>
          </a:xfrm>
          <a:prstGeom prst="rect">
            <a:avLst/>
          </a:prstGeom>
          <a:solidFill>
            <a:srgbClr val="557A96"/>
          </a:solidFill>
          <a:ln w="0">
            <a:noFill/>
            <a:prstDash val="solid"/>
          </a:ln>
        </p:spPr>
      </p:sp>
      <p:sp>
        <p:nvSpPr>
          <p:cNvPr id="27" name="workflow-number"/>
          <p:cNvSpPr>
            <a:spLocks noGrp="1"/>
          </p:cNvSpPr>
          <p:nvPr/>
        </p:nvSpPr>
        <p:spPr>
          <a:xfrm>
            <a:off x="4352925"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28" name="workflow-title"/>
          <p:cNvSpPr>
            <a:spLocks noGrp="1"/>
          </p:cNvSpPr>
          <p:nvPr/>
        </p:nvSpPr>
        <p:spPr>
          <a:xfrm>
            <a:off x="4752975" y="1905000"/>
            <a:ext cx="3076575"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设计基础 Workflow</a:t>
            </a:r>
          </a:p>
        </p:txBody>
      </p:sp>
      <p:sp>
        <p:nvSpPr>
          <p:cNvPr id="29" name="workflow-subtitle"/>
          <p:cNvSpPr>
            <a:spLocks noGrp="1"/>
          </p:cNvSpPr>
          <p:nvPr/>
        </p:nvSpPr>
        <p:spPr>
          <a:xfrm>
            <a:off x="4352925" y="2209800"/>
            <a:ext cx="3476625"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划分具体阶段，</a:t>
            </a:r>
            <a:r>
              <a:rPr sz="1200" b="1" dirty="0" err="1" smtClean="0">
                <a:solidFill>
                  <a:srgbClr val="557A96"/>
                </a:solidFill>
                <a:latin typeface="微软雅黑" panose="020B0503020204020204" charset="-122"/>
                <a:ea typeface="微软雅黑" panose="020B0503020204020204" charset="-122"/>
                <a:cs typeface="微软雅黑" panose="020B0503020204020204" charset="-122"/>
              </a:rPr>
              <a:t>明确</a:t>
            </a:r>
            <a:r>
              <a:rPr sz="1200" b="1" dirty="0" err="1">
                <a:solidFill>
                  <a:srgbClr val="557A96"/>
                </a:solidFill>
                <a:latin typeface="微软雅黑" panose="020B0503020204020204" charset="-122"/>
                <a:ea typeface="微软雅黑" panose="020B0503020204020204" charset="-122"/>
                <a:cs typeface="微软雅黑" panose="020B0503020204020204" charset="-122"/>
              </a:rPr>
              <a:t>“怎么做</a:t>
            </a:r>
            <a:r>
              <a:rPr sz="1200" b="1" dirty="0">
                <a:solidFill>
                  <a:srgbClr val="557A96"/>
                </a:solidFill>
                <a:latin typeface="微软雅黑" panose="020B0503020204020204" charset="-122"/>
                <a:ea typeface="微软雅黑" panose="020B0503020204020204" charset="-122"/>
                <a:cs typeface="微软雅黑" panose="020B0503020204020204" charset="-122"/>
              </a:rPr>
              <a:t>”</a:t>
            </a:r>
          </a:p>
        </p:txBody>
      </p:sp>
      <p:sp>
        <p:nvSpPr>
          <p:cNvPr id="30" name="workflow-header-line"/>
          <p:cNvSpPr>
            <a:spLocks noGrp="1"/>
          </p:cNvSpPr>
          <p:nvPr/>
        </p:nvSpPr>
        <p:spPr>
          <a:xfrm>
            <a:off x="4352925" y="2486025"/>
            <a:ext cx="3476625" cy="0"/>
          </a:xfrm>
          <a:prstGeom prst="line">
            <a:avLst/>
          </a:prstGeom>
          <a:noFill/>
          <a:ln w="9525">
            <a:solidFill>
              <a:srgbClr val="D8DEE3"/>
            </a:solidFill>
            <a:prstDash val="solid"/>
          </a:ln>
        </p:spPr>
      </p:sp>
      <p:sp>
        <p:nvSpPr>
          <p:cNvPr id="31" name="roles-frame"/>
          <p:cNvSpPr>
            <a:spLocks noGrp="1"/>
          </p:cNvSpPr>
          <p:nvPr/>
        </p:nvSpPr>
        <p:spPr>
          <a:xfrm>
            <a:off x="8239125" y="1828800"/>
            <a:ext cx="3343275" cy="3981450"/>
          </a:xfrm>
          <a:prstGeom prst="roundRect">
            <a:avLst>
              <a:gd name="adj" fmla="val 1425"/>
            </a:avLst>
          </a:prstGeom>
          <a:solidFill>
            <a:srgbClr val="FFFFFF"/>
          </a:solidFill>
          <a:ln w="9525">
            <a:solidFill>
              <a:srgbClr val="D8DEE3"/>
            </a:solidFill>
            <a:prstDash val="solid"/>
          </a:ln>
        </p:spPr>
      </p:sp>
      <p:sp>
        <p:nvSpPr>
          <p:cNvPr id="32" name="roles-accent"/>
          <p:cNvSpPr>
            <a:spLocks noGrp="1"/>
          </p:cNvSpPr>
          <p:nvPr/>
        </p:nvSpPr>
        <p:spPr>
          <a:xfrm>
            <a:off x="8239125" y="1828800"/>
            <a:ext cx="3343275" cy="28575"/>
          </a:xfrm>
          <a:prstGeom prst="rect">
            <a:avLst/>
          </a:prstGeom>
          <a:solidFill>
            <a:srgbClr val="557A96"/>
          </a:solidFill>
          <a:ln w="0">
            <a:noFill/>
            <a:prstDash val="solid"/>
          </a:ln>
        </p:spPr>
      </p:sp>
      <p:sp>
        <p:nvSpPr>
          <p:cNvPr id="33" name="roles-number"/>
          <p:cNvSpPr>
            <a:spLocks noGrp="1"/>
          </p:cNvSpPr>
          <p:nvPr/>
        </p:nvSpPr>
        <p:spPr>
          <a:xfrm>
            <a:off x="8391525"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34" name="roles-title"/>
          <p:cNvSpPr>
            <a:spLocks noGrp="1"/>
          </p:cNvSpPr>
          <p:nvPr/>
        </p:nvSpPr>
        <p:spPr>
          <a:xfrm>
            <a:off x="8791575" y="1905000"/>
            <a:ext cx="2638425"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划分执行职责</a:t>
            </a:r>
          </a:p>
        </p:txBody>
      </p:sp>
      <p:sp>
        <p:nvSpPr>
          <p:cNvPr id="35" name="roles-subtitle"/>
          <p:cNvSpPr>
            <a:spLocks noGrp="1"/>
          </p:cNvSpPr>
          <p:nvPr/>
        </p:nvSpPr>
        <p:spPr>
          <a:xfrm>
            <a:off x="8391525" y="2209800"/>
            <a:ext cx="3038475"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明确“谁来做”</a:t>
            </a:r>
          </a:p>
        </p:txBody>
      </p:sp>
      <p:sp>
        <p:nvSpPr>
          <p:cNvPr id="36" name="roles-header-line"/>
          <p:cNvSpPr>
            <a:spLocks noGrp="1"/>
          </p:cNvSpPr>
          <p:nvPr/>
        </p:nvSpPr>
        <p:spPr>
          <a:xfrm>
            <a:off x="8334375" y="2488095"/>
            <a:ext cx="3038475" cy="0"/>
          </a:xfrm>
          <a:prstGeom prst="line">
            <a:avLst/>
          </a:prstGeom>
          <a:noFill/>
          <a:ln w="9525">
            <a:solidFill>
              <a:srgbClr val="D8DEE3"/>
            </a:solidFill>
            <a:prstDash val="solid"/>
          </a:ln>
        </p:spPr>
      </p:sp>
      <p:sp>
        <p:nvSpPr>
          <p:cNvPr id="37" name="define-equation-band"/>
          <p:cNvSpPr>
            <a:spLocks noGrp="1"/>
          </p:cNvSpPr>
          <p:nvPr/>
        </p:nvSpPr>
        <p:spPr>
          <a:xfrm>
            <a:off x="762000" y="2571750"/>
            <a:ext cx="3028950" cy="323850"/>
          </a:xfrm>
          <a:prstGeom prst="rect">
            <a:avLst/>
          </a:prstGeom>
          <a:solidFill>
            <a:srgbClr val="F2F6F8"/>
          </a:solidFill>
          <a:ln w="0">
            <a:noFill/>
            <a:prstDash val="solid"/>
          </a:ln>
        </p:spPr>
      </p:sp>
      <p:sp>
        <p:nvSpPr>
          <p:cNvPr id="38" name="define-equation"/>
          <p:cNvSpPr>
            <a:spLocks noGrp="1"/>
          </p:cNvSpPr>
          <p:nvPr/>
        </p:nvSpPr>
        <p:spPr>
          <a:xfrm>
            <a:off x="876300" y="2581275"/>
            <a:ext cx="2800350" cy="3048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输入 X   →   处理过程   →   输出 Y</a:t>
            </a:r>
          </a:p>
        </p:txBody>
      </p:sp>
      <p:sp>
        <p:nvSpPr>
          <p:cNvPr id="39" name="goal-label"/>
          <p:cNvSpPr>
            <a:spLocks noGrp="1"/>
          </p:cNvSpPr>
          <p:nvPr/>
        </p:nvSpPr>
        <p:spPr>
          <a:xfrm>
            <a:off x="762000" y="30099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任务目标</a:t>
            </a:r>
          </a:p>
        </p:txBody>
      </p:sp>
      <p:sp>
        <p:nvSpPr>
          <p:cNvPr id="40" name="goal-detail"/>
          <p:cNvSpPr>
            <a:spLocks noGrp="1"/>
          </p:cNvSpPr>
          <p:nvPr/>
        </p:nvSpPr>
        <p:spPr>
          <a:xfrm>
            <a:off x="1676400" y="30099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最终解决什么问题？</a:t>
            </a:r>
          </a:p>
        </p:txBody>
      </p:sp>
      <p:sp>
        <p:nvSpPr>
          <p:cNvPr id="41" name="goal-line"/>
          <p:cNvSpPr>
            <a:spLocks noGrp="1"/>
          </p:cNvSpPr>
          <p:nvPr/>
        </p:nvSpPr>
        <p:spPr>
          <a:xfrm>
            <a:off x="762000" y="3305175"/>
            <a:ext cx="3028950" cy="0"/>
          </a:xfrm>
          <a:prstGeom prst="line">
            <a:avLst/>
          </a:prstGeom>
          <a:noFill/>
          <a:ln w="6668">
            <a:solidFill>
              <a:srgbClr val="D8DEE3"/>
            </a:solidFill>
            <a:prstDash val="solid"/>
          </a:ln>
        </p:spPr>
      </p:sp>
      <p:sp>
        <p:nvSpPr>
          <p:cNvPr id="42" name="input-label"/>
          <p:cNvSpPr>
            <a:spLocks noGrp="1"/>
          </p:cNvSpPr>
          <p:nvPr/>
        </p:nvSpPr>
        <p:spPr>
          <a:xfrm>
            <a:off x="762000" y="340995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Input</a:t>
            </a:r>
          </a:p>
        </p:txBody>
      </p:sp>
      <p:sp>
        <p:nvSpPr>
          <p:cNvPr id="43" name="input-detail"/>
          <p:cNvSpPr>
            <a:spLocks noGrp="1"/>
          </p:cNvSpPr>
          <p:nvPr/>
        </p:nvSpPr>
        <p:spPr>
          <a:xfrm>
            <a:off x="1676400" y="340995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需求 / 文件 / 代码 / 参数 / 数据</a:t>
            </a:r>
          </a:p>
        </p:txBody>
      </p:sp>
      <p:sp>
        <p:nvSpPr>
          <p:cNvPr id="44" name="input-line"/>
          <p:cNvSpPr>
            <a:spLocks noGrp="1"/>
          </p:cNvSpPr>
          <p:nvPr/>
        </p:nvSpPr>
        <p:spPr>
          <a:xfrm>
            <a:off x="762000" y="3705225"/>
            <a:ext cx="3028950" cy="0"/>
          </a:xfrm>
          <a:prstGeom prst="line">
            <a:avLst/>
          </a:prstGeom>
          <a:noFill/>
          <a:ln w="6668">
            <a:solidFill>
              <a:srgbClr val="D8DEE3"/>
            </a:solidFill>
            <a:prstDash val="solid"/>
          </a:ln>
        </p:spPr>
      </p:sp>
      <p:sp>
        <p:nvSpPr>
          <p:cNvPr id="45" name="output-label"/>
          <p:cNvSpPr>
            <a:spLocks noGrp="1"/>
          </p:cNvSpPr>
          <p:nvPr/>
        </p:nvSpPr>
        <p:spPr>
          <a:xfrm>
            <a:off x="762000" y="38100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Output</a:t>
            </a:r>
          </a:p>
        </p:txBody>
      </p:sp>
      <p:sp>
        <p:nvSpPr>
          <p:cNvPr id="46" name="output-detail"/>
          <p:cNvSpPr>
            <a:spLocks noGrp="1"/>
          </p:cNvSpPr>
          <p:nvPr/>
        </p:nvSpPr>
        <p:spPr>
          <a:xfrm>
            <a:off x="1676400" y="38100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代码 / 文档 / 文件 / 结果 / 报告</a:t>
            </a:r>
          </a:p>
        </p:txBody>
      </p:sp>
      <p:sp>
        <p:nvSpPr>
          <p:cNvPr id="47" name="output-line"/>
          <p:cNvSpPr>
            <a:spLocks noGrp="1"/>
          </p:cNvSpPr>
          <p:nvPr/>
        </p:nvSpPr>
        <p:spPr>
          <a:xfrm>
            <a:off x="762000" y="4105275"/>
            <a:ext cx="3028950" cy="0"/>
          </a:xfrm>
          <a:prstGeom prst="line">
            <a:avLst/>
          </a:prstGeom>
          <a:noFill/>
          <a:ln w="6668">
            <a:solidFill>
              <a:srgbClr val="D8DEE3"/>
            </a:solidFill>
            <a:prstDash val="solid"/>
          </a:ln>
        </p:spPr>
      </p:sp>
      <p:sp>
        <p:nvSpPr>
          <p:cNvPr id="48" name="boundary-label"/>
          <p:cNvSpPr>
            <a:spLocks noGrp="1"/>
          </p:cNvSpPr>
          <p:nvPr/>
        </p:nvSpPr>
        <p:spPr>
          <a:xfrm>
            <a:off x="762000" y="421005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Boundary</a:t>
            </a:r>
          </a:p>
        </p:txBody>
      </p:sp>
      <p:sp>
        <p:nvSpPr>
          <p:cNvPr id="49" name="boundary-detail"/>
          <p:cNvSpPr>
            <a:spLocks noGrp="1"/>
          </p:cNvSpPr>
          <p:nvPr/>
        </p:nvSpPr>
        <p:spPr>
          <a:xfrm>
            <a:off x="1676400" y="421005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负责什么；不修改未指定内容</a:t>
            </a:r>
          </a:p>
        </p:txBody>
      </p:sp>
      <p:sp>
        <p:nvSpPr>
          <p:cNvPr id="50" name="boundary-line"/>
          <p:cNvSpPr>
            <a:spLocks noGrp="1"/>
          </p:cNvSpPr>
          <p:nvPr/>
        </p:nvSpPr>
        <p:spPr>
          <a:xfrm>
            <a:off x="762000" y="4505325"/>
            <a:ext cx="3028950" cy="0"/>
          </a:xfrm>
          <a:prstGeom prst="line">
            <a:avLst/>
          </a:prstGeom>
          <a:noFill/>
          <a:ln w="6668">
            <a:solidFill>
              <a:srgbClr val="D8DEE3"/>
            </a:solidFill>
            <a:prstDash val="solid"/>
          </a:ln>
        </p:spPr>
      </p:sp>
      <p:sp>
        <p:nvSpPr>
          <p:cNvPr id="51" name="success-label"/>
          <p:cNvSpPr>
            <a:spLocks noGrp="1"/>
          </p:cNvSpPr>
          <p:nvPr/>
        </p:nvSpPr>
        <p:spPr>
          <a:xfrm>
            <a:off x="762000" y="46101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Success</a:t>
            </a:r>
          </a:p>
        </p:txBody>
      </p:sp>
      <p:sp>
        <p:nvSpPr>
          <p:cNvPr id="52" name="success-detail"/>
          <p:cNvSpPr>
            <a:spLocks noGrp="1"/>
          </p:cNvSpPr>
          <p:nvPr/>
        </p:nvSpPr>
        <p:spPr>
          <a:xfrm>
            <a:off x="1676400" y="46101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文件存在 · 测试通过 · 格式合规</a:t>
            </a:r>
          </a:p>
        </p:txBody>
      </p:sp>
      <p:sp>
        <p:nvSpPr>
          <p:cNvPr id="53" name="success-line"/>
          <p:cNvSpPr>
            <a:spLocks noGrp="1"/>
          </p:cNvSpPr>
          <p:nvPr/>
        </p:nvSpPr>
        <p:spPr>
          <a:xfrm>
            <a:off x="762000" y="4905375"/>
            <a:ext cx="3028950" cy="0"/>
          </a:xfrm>
          <a:prstGeom prst="line">
            <a:avLst/>
          </a:prstGeom>
          <a:noFill/>
          <a:ln w="6668">
            <a:solidFill>
              <a:srgbClr val="D8DEE3"/>
            </a:solidFill>
            <a:prstDash val="solid"/>
          </a:ln>
        </p:spPr>
      </p:sp>
      <p:sp>
        <p:nvSpPr>
          <p:cNvPr id="54" name="define-product-band"/>
          <p:cNvSpPr>
            <a:spLocks noGrp="1"/>
          </p:cNvSpPr>
          <p:nvPr/>
        </p:nvSpPr>
        <p:spPr>
          <a:xfrm>
            <a:off x="762000" y="5314950"/>
            <a:ext cx="3028950" cy="333375"/>
          </a:xfrm>
          <a:prstGeom prst="rect">
            <a:avLst/>
          </a:prstGeom>
          <a:solidFill>
            <a:srgbClr val="F7F9FA"/>
          </a:solidFill>
          <a:ln w="6668">
            <a:solidFill>
              <a:srgbClr val="D8DEE3"/>
            </a:solidFill>
            <a:prstDash val="solid"/>
          </a:ln>
        </p:spPr>
      </p:sp>
      <p:sp>
        <p:nvSpPr>
          <p:cNvPr id="55" name="define-product"/>
          <p:cNvSpPr>
            <a:spLocks noGrp="1"/>
          </p:cNvSpPr>
          <p:nvPr/>
        </p:nvSpPr>
        <p:spPr>
          <a:xfrm>
            <a:off x="876300" y="5334000"/>
            <a:ext cx="2800350" cy="295275"/>
          </a:xfrm>
          <a:prstGeom prst="rect">
            <a:avLst/>
          </a:prstGeom>
          <a:noFill/>
          <a:ln w="0">
            <a:noFill/>
            <a:prstDash val="solid"/>
          </a:ln>
        </p:spPr>
        <p:txBody>
          <a:bodyPr wrap="none" lIns="0" tIns="0" rIns="0" bIns="0" anchor="ctr">
            <a:normAutofit/>
          </a:bodyPr>
          <a:lstStyle/>
          <a:p>
            <a:pPr algn="ctr">
              <a:defRPr sz="111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110" b="1" dirty="0">
                <a:solidFill>
                  <a:srgbClr val="557A96"/>
                </a:solidFill>
                <a:latin typeface="微软雅黑" panose="020B0503020204020204" charset="-122"/>
                <a:ea typeface="微软雅黑" panose="020B0503020204020204" charset="-122"/>
                <a:cs typeface="微软雅黑" panose="020B0503020204020204" charset="-122"/>
              </a:rPr>
              <a:t>完成</a:t>
            </a:r>
            <a:r>
              <a:rPr sz="1110" b="1" dirty="0" smtClean="0">
                <a:solidFill>
                  <a:srgbClr val="557A96"/>
                </a:solidFill>
                <a:latin typeface="微软雅黑" panose="020B0503020204020204" charset="-122"/>
                <a:ea typeface="微软雅黑" panose="020B0503020204020204" charset="-122"/>
                <a:cs typeface="微软雅黑" panose="020B0503020204020204" charset="-122"/>
              </a:rPr>
              <a:t>：</a:t>
            </a:r>
            <a:r>
              <a:rPr sz="1110" b="1" dirty="0" err="1">
                <a:solidFill>
                  <a:srgbClr val="557A96"/>
                </a:solidFill>
                <a:latin typeface="微软雅黑" panose="020B0503020204020204" charset="-122"/>
                <a:ea typeface="微软雅黑" panose="020B0503020204020204" charset="-122"/>
                <a:cs typeface="微软雅黑" panose="020B0503020204020204" charset="-122"/>
              </a:rPr>
              <a:t>任务定义</a:t>
            </a:r>
            <a:r>
              <a:rPr sz="1110" b="1" dirty="0">
                <a:solidFill>
                  <a:srgbClr val="557A96"/>
                </a:solidFill>
                <a:latin typeface="微软雅黑" panose="020B0503020204020204" charset="-122"/>
                <a:ea typeface="微软雅黑" panose="020B0503020204020204" charset="-122"/>
                <a:cs typeface="微软雅黑" panose="020B0503020204020204" charset="-122"/>
              </a:rPr>
              <a:t> + </a:t>
            </a:r>
            <a:r>
              <a:rPr sz="1110" b="1" dirty="0" err="1">
                <a:solidFill>
                  <a:srgbClr val="557A96"/>
                </a:solidFill>
                <a:latin typeface="微软雅黑" panose="020B0503020204020204" charset="-122"/>
                <a:ea typeface="微软雅黑" panose="020B0503020204020204" charset="-122"/>
                <a:cs typeface="微软雅黑" panose="020B0503020204020204" charset="-122"/>
              </a:rPr>
              <a:t>初始输入输出契约</a:t>
            </a:r>
            <a:endParaRPr sz="111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6" name="workflow-flow-line-0"/>
          <p:cNvSpPr>
            <a:spLocks noGrp="1"/>
          </p:cNvSpPr>
          <p:nvPr/>
        </p:nvSpPr>
        <p:spPr>
          <a:xfrm>
            <a:off x="4867275" y="2781300"/>
            <a:ext cx="152400" cy="0"/>
          </a:xfrm>
          <a:prstGeom prst="line">
            <a:avLst/>
          </a:prstGeom>
          <a:noFill/>
          <a:ln w="11430">
            <a:solidFill>
              <a:srgbClr val="557A96"/>
            </a:solidFill>
            <a:prstDash val="solid"/>
          </a:ln>
        </p:spPr>
      </p:sp>
      <p:sp>
        <p:nvSpPr>
          <p:cNvPr id="57" name="workflow-flow-arrow-0"/>
          <p:cNvSpPr>
            <a:spLocks noGrp="1"/>
          </p:cNvSpPr>
          <p:nvPr/>
        </p:nvSpPr>
        <p:spPr>
          <a:xfrm rot="5400000">
            <a:off x="4972050" y="2743200"/>
            <a:ext cx="76200" cy="76200"/>
          </a:xfrm>
          <a:prstGeom prst="triangle">
            <a:avLst/>
          </a:prstGeom>
          <a:solidFill>
            <a:srgbClr val="557A96"/>
          </a:solidFill>
          <a:ln w="0">
            <a:solidFill>
              <a:srgbClr val="557A96"/>
            </a:solidFill>
            <a:prstDash val="solid"/>
          </a:ln>
        </p:spPr>
      </p:sp>
      <p:sp>
        <p:nvSpPr>
          <p:cNvPr id="58" name="workflow-flow-line-1"/>
          <p:cNvSpPr>
            <a:spLocks noGrp="1"/>
          </p:cNvSpPr>
          <p:nvPr/>
        </p:nvSpPr>
        <p:spPr>
          <a:xfrm>
            <a:off x="5610225" y="2781300"/>
            <a:ext cx="152400" cy="0"/>
          </a:xfrm>
          <a:prstGeom prst="line">
            <a:avLst/>
          </a:prstGeom>
          <a:noFill/>
          <a:ln w="11430">
            <a:solidFill>
              <a:srgbClr val="557A96"/>
            </a:solidFill>
            <a:prstDash val="solid"/>
          </a:ln>
        </p:spPr>
      </p:sp>
      <p:sp>
        <p:nvSpPr>
          <p:cNvPr id="59" name="workflow-flow-arrow-1"/>
          <p:cNvSpPr>
            <a:spLocks noGrp="1"/>
          </p:cNvSpPr>
          <p:nvPr/>
        </p:nvSpPr>
        <p:spPr>
          <a:xfrm rot="5400000">
            <a:off x="5715000" y="2743200"/>
            <a:ext cx="76200" cy="76200"/>
          </a:xfrm>
          <a:prstGeom prst="triangle">
            <a:avLst/>
          </a:prstGeom>
          <a:solidFill>
            <a:srgbClr val="557A96"/>
          </a:solidFill>
          <a:ln w="0">
            <a:solidFill>
              <a:srgbClr val="557A96"/>
            </a:solidFill>
            <a:prstDash val="solid"/>
          </a:ln>
        </p:spPr>
      </p:sp>
      <p:sp>
        <p:nvSpPr>
          <p:cNvPr id="60" name="workflow-flow-line-2"/>
          <p:cNvSpPr>
            <a:spLocks noGrp="1"/>
          </p:cNvSpPr>
          <p:nvPr/>
        </p:nvSpPr>
        <p:spPr>
          <a:xfrm>
            <a:off x="6467475" y="2781300"/>
            <a:ext cx="152400" cy="0"/>
          </a:xfrm>
          <a:prstGeom prst="line">
            <a:avLst/>
          </a:prstGeom>
          <a:noFill/>
          <a:ln w="11430">
            <a:solidFill>
              <a:srgbClr val="557A96"/>
            </a:solidFill>
            <a:prstDash val="solid"/>
          </a:ln>
        </p:spPr>
      </p:sp>
      <p:sp>
        <p:nvSpPr>
          <p:cNvPr id="61" name="workflow-flow-arrow-2"/>
          <p:cNvSpPr>
            <a:spLocks noGrp="1"/>
          </p:cNvSpPr>
          <p:nvPr/>
        </p:nvSpPr>
        <p:spPr>
          <a:xfrm rot="5400000">
            <a:off x="6572250" y="2743200"/>
            <a:ext cx="76200" cy="76200"/>
          </a:xfrm>
          <a:prstGeom prst="triangle">
            <a:avLst/>
          </a:prstGeom>
          <a:solidFill>
            <a:srgbClr val="557A96"/>
          </a:solidFill>
          <a:ln w="0">
            <a:solidFill>
              <a:srgbClr val="557A96"/>
            </a:solidFill>
            <a:prstDash val="solid"/>
          </a:ln>
        </p:spPr>
      </p:sp>
      <p:sp>
        <p:nvSpPr>
          <p:cNvPr id="62" name="workflow-flow-line-3"/>
          <p:cNvSpPr>
            <a:spLocks noGrp="1"/>
          </p:cNvSpPr>
          <p:nvPr/>
        </p:nvSpPr>
        <p:spPr>
          <a:xfrm>
            <a:off x="7210425" y="2781300"/>
            <a:ext cx="152400" cy="0"/>
          </a:xfrm>
          <a:prstGeom prst="line">
            <a:avLst/>
          </a:prstGeom>
          <a:noFill/>
          <a:ln w="11430">
            <a:solidFill>
              <a:srgbClr val="557A96"/>
            </a:solidFill>
            <a:prstDash val="solid"/>
          </a:ln>
        </p:spPr>
      </p:sp>
      <p:sp>
        <p:nvSpPr>
          <p:cNvPr id="63" name="workflow-flow-arrow-3"/>
          <p:cNvSpPr>
            <a:spLocks noGrp="1"/>
          </p:cNvSpPr>
          <p:nvPr/>
        </p:nvSpPr>
        <p:spPr>
          <a:xfrm rot="5400000">
            <a:off x="7315200" y="2743200"/>
            <a:ext cx="76200" cy="76200"/>
          </a:xfrm>
          <a:prstGeom prst="triangle">
            <a:avLst/>
          </a:prstGeom>
          <a:solidFill>
            <a:srgbClr val="557A96"/>
          </a:solidFill>
          <a:ln w="0">
            <a:solidFill>
              <a:srgbClr val="557A96"/>
            </a:solidFill>
            <a:prstDash val="solid"/>
          </a:ln>
        </p:spPr>
      </p:sp>
      <p:sp>
        <p:nvSpPr>
          <p:cNvPr id="64" name="input-node-box"/>
          <p:cNvSpPr>
            <a:spLocks noGrp="1"/>
          </p:cNvSpPr>
          <p:nvPr/>
        </p:nvSpPr>
        <p:spPr>
          <a:xfrm>
            <a:off x="4362450" y="2628900"/>
            <a:ext cx="504825" cy="304800"/>
          </a:xfrm>
          <a:prstGeom prst="roundRect">
            <a:avLst>
              <a:gd name="adj" fmla="val 12500"/>
            </a:avLst>
          </a:prstGeom>
          <a:solidFill>
            <a:srgbClr val="F7F9FA"/>
          </a:solidFill>
          <a:ln w="9525">
            <a:solidFill>
              <a:srgbClr val="7F9DB2"/>
            </a:solidFill>
            <a:prstDash val="solid"/>
          </a:ln>
        </p:spPr>
      </p:sp>
      <p:sp>
        <p:nvSpPr>
          <p:cNvPr id="65" name="input-node-text"/>
          <p:cNvSpPr>
            <a:spLocks noGrp="1"/>
          </p:cNvSpPr>
          <p:nvPr/>
        </p:nvSpPr>
        <p:spPr>
          <a:xfrm>
            <a:off x="4391025" y="2647950"/>
            <a:ext cx="447675"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66" name="stage-a-node-box"/>
          <p:cNvSpPr>
            <a:spLocks noGrp="1"/>
          </p:cNvSpPr>
          <p:nvPr/>
        </p:nvSpPr>
        <p:spPr>
          <a:xfrm>
            <a:off x="5019675" y="2628900"/>
            <a:ext cx="590550" cy="304800"/>
          </a:xfrm>
          <a:prstGeom prst="roundRect">
            <a:avLst>
              <a:gd name="adj" fmla="val 12500"/>
            </a:avLst>
          </a:prstGeom>
          <a:solidFill>
            <a:srgbClr val="F7F9FA"/>
          </a:solidFill>
          <a:ln w="9525">
            <a:solidFill>
              <a:srgbClr val="7F9DB2"/>
            </a:solidFill>
            <a:prstDash val="solid"/>
          </a:ln>
        </p:spPr>
      </p:sp>
      <p:sp>
        <p:nvSpPr>
          <p:cNvPr id="67" name="stage-a-node-text"/>
          <p:cNvSpPr>
            <a:spLocks noGrp="1"/>
          </p:cNvSpPr>
          <p:nvPr/>
        </p:nvSpPr>
        <p:spPr>
          <a:xfrm>
            <a:off x="5048250" y="2647950"/>
            <a:ext cx="533400"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68" name="artifact-node-box"/>
          <p:cNvSpPr>
            <a:spLocks noGrp="1"/>
          </p:cNvSpPr>
          <p:nvPr/>
        </p:nvSpPr>
        <p:spPr>
          <a:xfrm>
            <a:off x="5762625" y="2628900"/>
            <a:ext cx="704850" cy="304800"/>
          </a:xfrm>
          <a:prstGeom prst="roundRect">
            <a:avLst>
              <a:gd name="adj" fmla="val 12500"/>
            </a:avLst>
          </a:prstGeom>
          <a:solidFill>
            <a:srgbClr val="F2F6F8"/>
          </a:solidFill>
          <a:ln w="9525">
            <a:solidFill>
              <a:srgbClr val="7F9DB2"/>
            </a:solidFill>
            <a:prstDash val="solid"/>
          </a:ln>
        </p:spPr>
      </p:sp>
      <p:sp>
        <p:nvSpPr>
          <p:cNvPr id="69" name="artifact-node-text"/>
          <p:cNvSpPr>
            <a:spLocks noGrp="1"/>
          </p:cNvSpPr>
          <p:nvPr/>
        </p:nvSpPr>
        <p:spPr>
          <a:xfrm>
            <a:off x="5791200" y="2647950"/>
            <a:ext cx="647700" cy="266700"/>
          </a:xfrm>
          <a:prstGeom prst="rect">
            <a:avLst/>
          </a:prstGeom>
          <a:noFill/>
          <a:ln w="0">
            <a:noFill/>
            <a:prstDash val="solid"/>
          </a:ln>
        </p:spPr>
        <p:txBody>
          <a:bodyPr wrap="none" lIns="0" tIns="0" rIns="0" bIns="0" anchor="ctr">
            <a:normAutofit/>
          </a:bodyPr>
          <a:lstStyle/>
          <a:p>
            <a:pPr algn="ctr">
              <a:defRPr sz="955" b="1">
                <a:solidFill>
                  <a:srgbClr val="557A96"/>
                </a:solidFill>
                <a:latin typeface="微软雅黑" panose="020B0503020204020204" charset="-122"/>
                <a:ea typeface="微软雅黑" panose="020B0503020204020204" charset="-122"/>
                <a:cs typeface="微软雅黑" panose="020B0503020204020204" charset="-122"/>
              </a:defRPr>
            </a:pPr>
            <a:r>
              <a:rPr sz="955" b="1">
                <a:solidFill>
                  <a:srgbClr val="557A96"/>
                </a:solidFill>
                <a:latin typeface="微软雅黑" panose="020B0503020204020204" charset="-122"/>
                <a:ea typeface="微软雅黑" panose="020B0503020204020204" charset="-122"/>
                <a:cs typeface="微软雅黑" panose="020B0503020204020204" charset="-122"/>
              </a:rPr>
              <a:t>Artifact A</a:t>
            </a:r>
          </a:p>
        </p:txBody>
      </p:sp>
      <p:sp>
        <p:nvSpPr>
          <p:cNvPr id="70" name="stage-b-node-box"/>
          <p:cNvSpPr>
            <a:spLocks noGrp="1"/>
          </p:cNvSpPr>
          <p:nvPr/>
        </p:nvSpPr>
        <p:spPr>
          <a:xfrm>
            <a:off x="6619875" y="2628900"/>
            <a:ext cx="590550" cy="304800"/>
          </a:xfrm>
          <a:prstGeom prst="roundRect">
            <a:avLst>
              <a:gd name="adj" fmla="val 12500"/>
            </a:avLst>
          </a:prstGeom>
          <a:solidFill>
            <a:srgbClr val="F7F9FA"/>
          </a:solidFill>
          <a:ln w="9525">
            <a:solidFill>
              <a:srgbClr val="7F9DB2"/>
            </a:solidFill>
            <a:prstDash val="solid"/>
          </a:ln>
        </p:spPr>
      </p:sp>
      <p:sp>
        <p:nvSpPr>
          <p:cNvPr id="71" name="stage-b-node-text"/>
          <p:cNvSpPr>
            <a:spLocks noGrp="1"/>
          </p:cNvSpPr>
          <p:nvPr/>
        </p:nvSpPr>
        <p:spPr>
          <a:xfrm>
            <a:off x="6648450" y="2647950"/>
            <a:ext cx="533400"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72" name="output-node-box"/>
          <p:cNvSpPr>
            <a:spLocks noGrp="1"/>
          </p:cNvSpPr>
          <p:nvPr/>
        </p:nvSpPr>
        <p:spPr>
          <a:xfrm>
            <a:off x="7362825" y="2628900"/>
            <a:ext cx="495300" cy="304800"/>
          </a:xfrm>
          <a:prstGeom prst="roundRect">
            <a:avLst>
              <a:gd name="adj" fmla="val 12500"/>
            </a:avLst>
          </a:prstGeom>
          <a:solidFill>
            <a:srgbClr val="F7F9FA"/>
          </a:solidFill>
          <a:ln w="9525">
            <a:solidFill>
              <a:srgbClr val="7F9DB2"/>
            </a:solidFill>
            <a:prstDash val="solid"/>
          </a:ln>
        </p:spPr>
      </p:sp>
      <p:sp>
        <p:nvSpPr>
          <p:cNvPr id="73" name="output-node-text"/>
          <p:cNvSpPr>
            <a:spLocks noGrp="1"/>
          </p:cNvSpPr>
          <p:nvPr/>
        </p:nvSpPr>
        <p:spPr>
          <a:xfrm>
            <a:off x="7391400" y="2647950"/>
            <a:ext cx="438150" cy="266700"/>
          </a:xfrm>
          <a:prstGeom prst="rect">
            <a:avLst/>
          </a:prstGeom>
          <a:noFill/>
          <a:ln w="0">
            <a:noFill/>
            <a:prstDash val="solid"/>
          </a:ln>
        </p:spPr>
        <p:txBody>
          <a:bodyPr wrap="none" lIns="0" tIns="0" rIns="0" bIns="0" anchor="ctr">
            <a:normAutofit fontScale="96398"/>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75" name="stage-row-label"/>
          <p:cNvSpPr>
            <a:spLocks noGrp="1"/>
          </p:cNvSpPr>
          <p:nvPr/>
        </p:nvSpPr>
        <p:spPr>
          <a:xfrm>
            <a:off x="4371975" y="319087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Stage</a:t>
            </a:r>
          </a:p>
        </p:txBody>
      </p:sp>
      <p:sp>
        <p:nvSpPr>
          <p:cNvPr id="76" name="stage-row-detail"/>
          <p:cNvSpPr>
            <a:spLocks noGrp="1"/>
          </p:cNvSpPr>
          <p:nvPr/>
        </p:nvSpPr>
        <p:spPr>
          <a:xfrm>
            <a:off x="5191125" y="319087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每阶段明确 Input · Action · Output</a:t>
            </a:r>
          </a:p>
        </p:txBody>
      </p:sp>
      <p:sp>
        <p:nvSpPr>
          <p:cNvPr id="77" name="stage-row-line"/>
          <p:cNvSpPr>
            <a:spLocks noGrp="1"/>
          </p:cNvSpPr>
          <p:nvPr/>
        </p:nvSpPr>
        <p:spPr>
          <a:xfrm>
            <a:off x="4371975" y="3486150"/>
            <a:ext cx="3448050" cy="0"/>
          </a:xfrm>
          <a:prstGeom prst="line">
            <a:avLst/>
          </a:prstGeom>
          <a:noFill/>
          <a:ln w="6668">
            <a:solidFill>
              <a:srgbClr val="D8DEE3"/>
            </a:solidFill>
            <a:prstDash val="solid"/>
          </a:ln>
        </p:spPr>
      </p:sp>
      <p:sp>
        <p:nvSpPr>
          <p:cNvPr id="78" name="handoff-row-label"/>
          <p:cNvSpPr>
            <a:spLocks noGrp="1"/>
          </p:cNvSpPr>
          <p:nvPr/>
        </p:nvSpPr>
        <p:spPr>
          <a:xfrm>
            <a:off x="4371975" y="359092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Handoff</a:t>
            </a:r>
          </a:p>
        </p:txBody>
      </p:sp>
      <p:sp>
        <p:nvSpPr>
          <p:cNvPr id="79" name="handoff-row-detail"/>
          <p:cNvSpPr>
            <a:spLocks noGrp="1"/>
          </p:cNvSpPr>
          <p:nvPr/>
        </p:nvSpPr>
        <p:spPr>
          <a:xfrm>
            <a:off x="5191125" y="3590925"/>
            <a:ext cx="2628900" cy="238125"/>
          </a:xfrm>
          <a:prstGeom prst="rect">
            <a:avLst/>
          </a:prstGeom>
          <a:noFill/>
          <a:ln w="0">
            <a:noFill/>
            <a:prstDash val="solid"/>
          </a:ln>
        </p:spPr>
        <p:txBody>
          <a:bodyPr wrap="none" lIns="0" tIns="0" rIns="0" bIns="0" anchor="ctr">
            <a:normAutofit fontScale="95808"/>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Output Contract → Artifact → Input Contract</a:t>
            </a:r>
          </a:p>
        </p:txBody>
      </p:sp>
      <p:sp>
        <p:nvSpPr>
          <p:cNvPr id="80" name="handoff-row-line"/>
          <p:cNvSpPr>
            <a:spLocks noGrp="1"/>
          </p:cNvSpPr>
          <p:nvPr/>
        </p:nvSpPr>
        <p:spPr>
          <a:xfrm>
            <a:off x="4371975" y="3886200"/>
            <a:ext cx="3448050" cy="0"/>
          </a:xfrm>
          <a:prstGeom prst="line">
            <a:avLst/>
          </a:prstGeom>
          <a:noFill/>
          <a:ln w="6668">
            <a:solidFill>
              <a:srgbClr val="D8DEE3"/>
            </a:solidFill>
            <a:prstDash val="solid"/>
          </a:ln>
        </p:spPr>
      </p:sp>
      <p:sp>
        <p:nvSpPr>
          <p:cNvPr id="81" name="gate-row-label"/>
          <p:cNvSpPr>
            <a:spLocks noGrp="1"/>
          </p:cNvSpPr>
          <p:nvPr/>
        </p:nvSpPr>
        <p:spPr>
          <a:xfrm>
            <a:off x="4371975" y="399097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82" name="gate-row-detail"/>
          <p:cNvSpPr>
            <a:spLocks noGrp="1"/>
          </p:cNvSpPr>
          <p:nvPr/>
        </p:nvSpPr>
        <p:spPr>
          <a:xfrm>
            <a:off x="5191125" y="399097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PASS 才推进；FAIL 转入失败路径</a:t>
            </a:r>
          </a:p>
        </p:txBody>
      </p:sp>
      <p:sp>
        <p:nvSpPr>
          <p:cNvPr id="83" name="gate-row-line"/>
          <p:cNvSpPr>
            <a:spLocks noGrp="1"/>
          </p:cNvSpPr>
          <p:nvPr/>
        </p:nvSpPr>
        <p:spPr>
          <a:xfrm>
            <a:off x="4371975" y="4286250"/>
            <a:ext cx="3448050" cy="0"/>
          </a:xfrm>
          <a:prstGeom prst="line">
            <a:avLst/>
          </a:prstGeom>
          <a:noFill/>
          <a:ln w="6668">
            <a:solidFill>
              <a:srgbClr val="D8DEE3"/>
            </a:solidFill>
            <a:prstDash val="solid"/>
          </a:ln>
        </p:spPr>
      </p:sp>
      <p:sp>
        <p:nvSpPr>
          <p:cNvPr id="84" name="failure-row-label"/>
          <p:cNvSpPr>
            <a:spLocks noGrp="1"/>
          </p:cNvSpPr>
          <p:nvPr/>
        </p:nvSpPr>
        <p:spPr>
          <a:xfrm>
            <a:off x="4371975" y="439102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Failure</a:t>
            </a:r>
          </a:p>
        </p:txBody>
      </p:sp>
      <p:sp>
        <p:nvSpPr>
          <p:cNvPr id="85" name="failure-row-detail"/>
          <p:cNvSpPr>
            <a:spLocks noGrp="1"/>
          </p:cNvSpPr>
          <p:nvPr/>
        </p:nvSpPr>
        <p:spPr>
          <a:xfrm>
            <a:off x="5191125" y="439102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Retry 当前阶段 · Fallback 前一阶段</a:t>
            </a:r>
          </a:p>
        </p:txBody>
      </p:sp>
      <p:sp>
        <p:nvSpPr>
          <p:cNvPr id="86" name="failure-row-line"/>
          <p:cNvSpPr>
            <a:spLocks noGrp="1"/>
          </p:cNvSpPr>
          <p:nvPr/>
        </p:nvSpPr>
        <p:spPr>
          <a:xfrm>
            <a:off x="4371975" y="4686300"/>
            <a:ext cx="3448050" cy="0"/>
          </a:xfrm>
          <a:prstGeom prst="line">
            <a:avLst/>
          </a:prstGeom>
          <a:noFill/>
          <a:ln w="6668">
            <a:solidFill>
              <a:srgbClr val="D8DEE3"/>
            </a:solidFill>
            <a:prstDash val="solid"/>
          </a:ln>
        </p:spPr>
      </p:sp>
      <p:sp>
        <p:nvSpPr>
          <p:cNvPr id="87" name="routing-note-band"/>
          <p:cNvSpPr>
            <a:spLocks noGrp="1"/>
          </p:cNvSpPr>
          <p:nvPr/>
        </p:nvSpPr>
        <p:spPr>
          <a:xfrm>
            <a:off x="4352925" y="4857750"/>
            <a:ext cx="3476625" cy="352425"/>
          </a:xfrm>
          <a:prstGeom prst="rect">
            <a:avLst/>
          </a:prstGeom>
          <a:solidFill>
            <a:srgbClr val="F7F9FA"/>
          </a:solidFill>
          <a:ln w="0">
            <a:noFill/>
            <a:prstDash val="solid"/>
          </a:ln>
        </p:spPr>
      </p:sp>
      <p:sp>
        <p:nvSpPr>
          <p:cNvPr id="88" name="routing-note"/>
          <p:cNvSpPr>
            <a:spLocks noGrp="1"/>
          </p:cNvSpPr>
          <p:nvPr/>
        </p:nvSpPr>
        <p:spPr>
          <a:xfrm>
            <a:off x="4476750" y="4876800"/>
            <a:ext cx="3228975" cy="314325"/>
          </a:xfrm>
          <a:prstGeom prst="rect">
            <a:avLst/>
          </a:prstGeom>
          <a:noFill/>
          <a:ln w="0">
            <a:noFill/>
            <a:prstDash val="solid"/>
          </a:ln>
        </p:spPr>
        <p:txBody>
          <a:bodyPr wrap="none" lIns="0" tIns="0" rIns="0" bIns="0" anchor="ctr">
            <a:normAutofit/>
          </a:bodyPr>
          <a:lstStyle/>
          <a:p>
            <a:pPr algn="ctr">
              <a:defRPr sz="1035" b="1">
                <a:solidFill>
                  <a:srgbClr val="414951"/>
                </a:solidFill>
                <a:latin typeface="微软雅黑" panose="020B0503020204020204" charset="-122"/>
                <a:ea typeface="微软雅黑" panose="020B0503020204020204" charset="-122"/>
                <a:cs typeface="微软雅黑" panose="020B0503020204020204" charset="-122"/>
              </a:defRPr>
            </a:pPr>
            <a:r>
              <a:rPr sz="1035" b="1" dirty="0">
                <a:solidFill>
                  <a:srgbClr val="414951"/>
                </a:solidFill>
                <a:latin typeface="微软雅黑" panose="020B0503020204020204" charset="-122"/>
                <a:ea typeface="微软雅黑" panose="020B0503020204020204" charset="-122"/>
                <a:cs typeface="微软雅黑" panose="020B0503020204020204" charset="-122"/>
              </a:rPr>
              <a:t>Routing </a:t>
            </a:r>
            <a:r>
              <a:rPr lang="zh-CN" altLang="en-US" sz="1035" b="1" dirty="0" smtClean="0">
                <a:solidFill>
                  <a:srgbClr val="414951"/>
                </a:solidFill>
                <a:latin typeface="微软雅黑" panose="020B0503020204020204" charset="-122"/>
                <a:ea typeface="微软雅黑" panose="020B0503020204020204" charset="-122"/>
                <a:cs typeface="微软雅黑" panose="020B0503020204020204" charset="-122"/>
              </a:rPr>
              <a:t>一般</a:t>
            </a:r>
            <a:r>
              <a:rPr sz="1035" b="1" dirty="0" err="1" smtClean="0">
                <a:solidFill>
                  <a:srgbClr val="414951"/>
                </a:solidFill>
                <a:latin typeface="微软雅黑" panose="020B0503020204020204" charset="-122"/>
                <a:ea typeface="微软雅黑" panose="020B0503020204020204" charset="-122"/>
                <a:cs typeface="微软雅黑" panose="020B0503020204020204" charset="-122"/>
              </a:rPr>
              <a:t>仅在多分支时设计</a:t>
            </a:r>
            <a:r>
              <a:rPr sz="1035" b="1" dirty="0" smtClean="0">
                <a:solidFill>
                  <a:srgbClr val="414951"/>
                </a:solidFill>
                <a:latin typeface="微软雅黑" panose="020B0503020204020204" charset="-122"/>
                <a:ea typeface="微软雅黑" panose="020B0503020204020204" charset="-122"/>
                <a:cs typeface="微软雅黑" panose="020B0503020204020204" charset="-122"/>
              </a:rPr>
              <a:t>。</a:t>
            </a:r>
            <a:endParaRPr sz="103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9" name="workflow-product-band"/>
          <p:cNvSpPr>
            <a:spLocks noGrp="1"/>
          </p:cNvSpPr>
          <p:nvPr/>
        </p:nvSpPr>
        <p:spPr>
          <a:xfrm>
            <a:off x="4352925" y="5314950"/>
            <a:ext cx="3476625" cy="333375"/>
          </a:xfrm>
          <a:prstGeom prst="rect">
            <a:avLst/>
          </a:prstGeom>
          <a:solidFill>
            <a:srgbClr val="F2F6F8"/>
          </a:solidFill>
          <a:ln w="6668">
            <a:solidFill>
              <a:srgbClr val="D8DEE3"/>
            </a:solidFill>
            <a:prstDash val="solid"/>
          </a:ln>
        </p:spPr>
      </p:sp>
      <p:sp>
        <p:nvSpPr>
          <p:cNvPr id="90" name="workflow-product"/>
          <p:cNvSpPr>
            <a:spLocks noGrp="1"/>
          </p:cNvSpPr>
          <p:nvPr/>
        </p:nvSpPr>
        <p:spPr>
          <a:xfrm>
            <a:off x="4453973" y="5381624"/>
            <a:ext cx="3267075" cy="200025"/>
          </a:xfrm>
          <a:prstGeom prst="rect">
            <a:avLst/>
          </a:prstGeom>
          <a:noFill/>
          <a:ln w="0">
            <a:noFill/>
            <a:prstDash val="solid"/>
          </a:ln>
        </p:spPr>
        <p:txBody>
          <a:bodyPr wrap="none" lIns="0" tIns="0" rIns="0" bIns="0" anchor="ctr">
            <a:normAutofit/>
          </a:bodyPr>
          <a:lstStyle/>
          <a:p>
            <a:pPr algn="ctr">
              <a:defRPr sz="106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60" b="1" dirty="0">
                <a:solidFill>
                  <a:srgbClr val="557A96"/>
                </a:solidFill>
                <a:latin typeface="微软雅黑" panose="020B0503020204020204" charset="-122"/>
                <a:ea typeface="微软雅黑" panose="020B0503020204020204" charset="-122"/>
                <a:cs typeface="微软雅黑" panose="020B0503020204020204" charset="-122"/>
              </a:rPr>
              <a:t>完成</a:t>
            </a:r>
            <a:r>
              <a:rPr sz="1060" b="1" dirty="0" smtClean="0">
                <a:solidFill>
                  <a:srgbClr val="557A96"/>
                </a:solidFill>
                <a:latin typeface="微软雅黑" panose="020B0503020204020204" charset="-122"/>
                <a:ea typeface="微软雅黑" panose="020B0503020204020204" charset="-122"/>
                <a:cs typeface="微软雅黑" panose="020B0503020204020204" charset="-122"/>
              </a:rPr>
              <a:t>：</a:t>
            </a:r>
            <a:r>
              <a:rPr sz="1060" b="1" dirty="0">
                <a:solidFill>
                  <a:srgbClr val="557A96"/>
                </a:solidFill>
                <a:latin typeface="微软雅黑" panose="020B0503020204020204" charset="-122"/>
                <a:ea typeface="微软雅黑" panose="020B0503020204020204" charset="-122"/>
                <a:cs typeface="微软雅黑" panose="020B0503020204020204" charset="-122"/>
              </a:rPr>
              <a:t>从 Input 到 Output </a:t>
            </a:r>
            <a:r>
              <a:rPr sz="1060" b="1" dirty="0" err="1">
                <a:solidFill>
                  <a:srgbClr val="557A96"/>
                </a:solidFill>
                <a:latin typeface="微软雅黑" panose="020B0503020204020204" charset="-122"/>
                <a:ea typeface="微软雅黑" panose="020B0503020204020204" charset="-122"/>
                <a:cs typeface="微软雅黑" panose="020B0503020204020204" charset="-122"/>
              </a:rPr>
              <a:t>的最小可运行</a:t>
            </a:r>
            <a:r>
              <a:rPr sz="1060" b="1" dirty="0">
                <a:solidFill>
                  <a:srgbClr val="557A96"/>
                </a:solidFill>
                <a:latin typeface="微软雅黑" panose="020B0503020204020204" charset="-122"/>
                <a:ea typeface="微软雅黑" panose="020B0503020204020204" charset="-122"/>
                <a:cs typeface="微软雅黑" panose="020B0503020204020204" charset="-122"/>
              </a:rPr>
              <a:t> Workflow</a:t>
            </a:r>
          </a:p>
        </p:txBody>
      </p:sp>
      <p:sp>
        <p:nvSpPr>
          <p:cNvPr id="92" name="roles-intro"/>
          <p:cNvSpPr>
            <a:spLocks noGrp="1"/>
          </p:cNvSpPr>
          <p:nvPr/>
        </p:nvSpPr>
        <p:spPr>
          <a:xfrm>
            <a:off x="8391525" y="2765562"/>
            <a:ext cx="2990850" cy="209550"/>
          </a:xfrm>
          <a:prstGeom prst="rect">
            <a:avLst/>
          </a:prstGeom>
          <a:noFill/>
          <a:ln w="0">
            <a:noFill/>
            <a:prstDash val="solid"/>
          </a:ln>
        </p:spPr>
        <p:txBody>
          <a:bodyPr wrap="none" lIns="0" tIns="0" rIns="0" bIns="0" anchor="ctr">
            <a:normAutofit/>
          </a:bodyPr>
          <a:lstStyle/>
          <a:p>
            <a:pPr algn="ctr">
              <a:defRPr sz="1110" b="0">
                <a:solidFill>
                  <a:srgbClr val="68727B"/>
                </a:solidFill>
                <a:latin typeface="微软雅黑" panose="020B0503020204020204" charset="-122"/>
                <a:ea typeface="微软雅黑" panose="020B0503020204020204" charset="-122"/>
                <a:cs typeface="微软雅黑" panose="020B0503020204020204" charset="-122"/>
              </a:defRPr>
            </a:pPr>
            <a:r>
              <a:rPr sz="1110" b="0" dirty="0" err="1" smtClean="0">
                <a:solidFill>
                  <a:srgbClr val="68727B"/>
                </a:solidFill>
                <a:latin typeface="微软雅黑" panose="020B0503020204020204" charset="-122"/>
                <a:ea typeface="微软雅黑" panose="020B0503020204020204" charset="-122"/>
                <a:cs typeface="微软雅黑" panose="020B0503020204020204" charset="-122"/>
              </a:rPr>
              <a:t>逐个判断每个</a:t>
            </a:r>
            <a:r>
              <a:rPr sz="1110" b="0" dirty="0" smtClean="0">
                <a:solidFill>
                  <a:srgbClr val="68727B"/>
                </a:solidFill>
                <a:latin typeface="微软雅黑" panose="020B0503020204020204" charset="-122"/>
                <a:ea typeface="微软雅黑" panose="020B0503020204020204" charset="-122"/>
                <a:cs typeface="微软雅黑" panose="020B0503020204020204" charset="-122"/>
              </a:rPr>
              <a:t> Stage</a:t>
            </a:r>
            <a:r>
              <a:rPr lang="zh-CN" altLang="en-US" sz="1110" b="0" dirty="0" smtClean="0">
                <a:solidFill>
                  <a:srgbClr val="68727B"/>
                </a:solidFill>
                <a:latin typeface="微软雅黑" panose="020B0503020204020204" charset="-122"/>
                <a:ea typeface="微软雅黑" panose="020B0503020204020204" charset="-122"/>
                <a:cs typeface="微软雅黑" panose="020B0503020204020204" charset="-122"/>
              </a:rPr>
              <a:t>是什么，需要什么</a:t>
            </a:r>
            <a:endParaRPr sz="111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93" name="role-stage-down"/>
          <p:cNvSpPr>
            <a:spLocks noGrp="1"/>
          </p:cNvSpPr>
          <p:nvPr/>
        </p:nvSpPr>
        <p:spPr>
          <a:xfrm>
            <a:off x="9896475" y="3279912"/>
            <a:ext cx="0" cy="114300"/>
          </a:xfrm>
          <a:prstGeom prst="line">
            <a:avLst/>
          </a:prstGeom>
          <a:noFill/>
          <a:ln w="11430">
            <a:solidFill>
              <a:srgbClr val="557A96"/>
            </a:solidFill>
            <a:prstDash val="solid"/>
          </a:ln>
        </p:spPr>
      </p:sp>
      <p:sp>
        <p:nvSpPr>
          <p:cNvPr id="94" name="role-branch"/>
          <p:cNvSpPr>
            <a:spLocks noGrp="1"/>
          </p:cNvSpPr>
          <p:nvPr/>
        </p:nvSpPr>
        <p:spPr>
          <a:xfrm>
            <a:off x="8724900" y="3394212"/>
            <a:ext cx="2295525" cy="0"/>
          </a:xfrm>
          <a:prstGeom prst="line">
            <a:avLst/>
          </a:prstGeom>
          <a:noFill/>
          <a:ln w="11430">
            <a:solidFill>
              <a:srgbClr val="557A96"/>
            </a:solidFill>
            <a:prstDash val="solid"/>
          </a:ln>
        </p:spPr>
      </p:sp>
      <p:sp>
        <p:nvSpPr>
          <p:cNvPr id="95" name="role-drop-0"/>
          <p:cNvSpPr>
            <a:spLocks noGrp="1"/>
          </p:cNvSpPr>
          <p:nvPr/>
        </p:nvSpPr>
        <p:spPr>
          <a:xfrm>
            <a:off x="8724900" y="3394212"/>
            <a:ext cx="0" cy="85725"/>
          </a:xfrm>
          <a:prstGeom prst="line">
            <a:avLst/>
          </a:prstGeom>
          <a:noFill/>
          <a:ln w="11430">
            <a:solidFill>
              <a:srgbClr val="557A96"/>
            </a:solidFill>
            <a:prstDash val="solid"/>
          </a:ln>
        </p:spPr>
      </p:sp>
      <p:sp>
        <p:nvSpPr>
          <p:cNvPr id="96" name="role-arrow-0"/>
          <p:cNvSpPr>
            <a:spLocks noGrp="1"/>
          </p:cNvSpPr>
          <p:nvPr/>
        </p:nvSpPr>
        <p:spPr>
          <a:xfrm rot="10800000">
            <a:off x="8686800" y="3441837"/>
            <a:ext cx="76200" cy="76200"/>
          </a:xfrm>
          <a:prstGeom prst="triangle">
            <a:avLst/>
          </a:prstGeom>
          <a:solidFill>
            <a:srgbClr val="557A96"/>
          </a:solidFill>
          <a:ln w="0">
            <a:solidFill>
              <a:srgbClr val="557A96"/>
            </a:solidFill>
            <a:prstDash val="solid"/>
          </a:ln>
        </p:spPr>
      </p:sp>
      <p:sp>
        <p:nvSpPr>
          <p:cNvPr id="97" name="role-drop-1"/>
          <p:cNvSpPr>
            <a:spLocks noGrp="1"/>
          </p:cNvSpPr>
          <p:nvPr/>
        </p:nvSpPr>
        <p:spPr>
          <a:xfrm>
            <a:off x="9477375" y="3394212"/>
            <a:ext cx="0" cy="85725"/>
          </a:xfrm>
          <a:prstGeom prst="line">
            <a:avLst/>
          </a:prstGeom>
          <a:noFill/>
          <a:ln w="11430">
            <a:solidFill>
              <a:srgbClr val="557A96"/>
            </a:solidFill>
            <a:prstDash val="solid"/>
          </a:ln>
        </p:spPr>
      </p:sp>
      <p:sp>
        <p:nvSpPr>
          <p:cNvPr id="98" name="role-arrow-1"/>
          <p:cNvSpPr>
            <a:spLocks noGrp="1"/>
          </p:cNvSpPr>
          <p:nvPr/>
        </p:nvSpPr>
        <p:spPr>
          <a:xfrm rot="10800000">
            <a:off x="9439275" y="3441837"/>
            <a:ext cx="76200" cy="76200"/>
          </a:xfrm>
          <a:prstGeom prst="triangle">
            <a:avLst/>
          </a:prstGeom>
          <a:solidFill>
            <a:srgbClr val="557A96"/>
          </a:solidFill>
          <a:ln w="0">
            <a:solidFill>
              <a:srgbClr val="557A96"/>
            </a:solidFill>
            <a:prstDash val="solid"/>
          </a:ln>
        </p:spPr>
      </p:sp>
      <p:sp>
        <p:nvSpPr>
          <p:cNvPr id="99" name="role-drop-2"/>
          <p:cNvSpPr>
            <a:spLocks noGrp="1"/>
          </p:cNvSpPr>
          <p:nvPr/>
        </p:nvSpPr>
        <p:spPr>
          <a:xfrm>
            <a:off x="10229850" y="3394212"/>
            <a:ext cx="0" cy="85725"/>
          </a:xfrm>
          <a:prstGeom prst="line">
            <a:avLst/>
          </a:prstGeom>
          <a:noFill/>
          <a:ln w="11430">
            <a:solidFill>
              <a:srgbClr val="557A96"/>
            </a:solidFill>
            <a:prstDash val="solid"/>
          </a:ln>
        </p:spPr>
      </p:sp>
      <p:sp>
        <p:nvSpPr>
          <p:cNvPr id="100" name="role-arrow-2"/>
          <p:cNvSpPr>
            <a:spLocks noGrp="1"/>
          </p:cNvSpPr>
          <p:nvPr/>
        </p:nvSpPr>
        <p:spPr>
          <a:xfrm rot="10800000">
            <a:off x="10191750" y="3441837"/>
            <a:ext cx="76200" cy="76200"/>
          </a:xfrm>
          <a:prstGeom prst="triangle">
            <a:avLst/>
          </a:prstGeom>
          <a:solidFill>
            <a:srgbClr val="557A96"/>
          </a:solidFill>
          <a:ln w="0">
            <a:solidFill>
              <a:srgbClr val="557A96"/>
            </a:solidFill>
            <a:prstDash val="solid"/>
          </a:ln>
        </p:spPr>
      </p:sp>
      <p:sp>
        <p:nvSpPr>
          <p:cNvPr id="101" name="role-drop-3"/>
          <p:cNvSpPr>
            <a:spLocks noGrp="1"/>
          </p:cNvSpPr>
          <p:nvPr/>
        </p:nvSpPr>
        <p:spPr>
          <a:xfrm>
            <a:off x="11020425" y="3394212"/>
            <a:ext cx="0" cy="85725"/>
          </a:xfrm>
          <a:prstGeom prst="line">
            <a:avLst/>
          </a:prstGeom>
          <a:noFill/>
          <a:ln w="11430">
            <a:solidFill>
              <a:srgbClr val="557A96"/>
            </a:solidFill>
            <a:prstDash val="solid"/>
          </a:ln>
        </p:spPr>
      </p:sp>
      <p:sp>
        <p:nvSpPr>
          <p:cNvPr id="102" name="role-arrow-3"/>
          <p:cNvSpPr>
            <a:spLocks noGrp="1"/>
          </p:cNvSpPr>
          <p:nvPr/>
        </p:nvSpPr>
        <p:spPr>
          <a:xfrm rot="10800000">
            <a:off x="10982325" y="3441837"/>
            <a:ext cx="76200" cy="76200"/>
          </a:xfrm>
          <a:prstGeom prst="triangle">
            <a:avLst/>
          </a:prstGeom>
          <a:solidFill>
            <a:srgbClr val="557A96"/>
          </a:solidFill>
          <a:ln w="0">
            <a:solidFill>
              <a:srgbClr val="557A96"/>
            </a:solidFill>
            <a:prstDash val="solid"/>
          </a:ln>
        </p:spPr>
      </p:sp>
      <p:sp>
        <p:nvSpPr>
          <p:cNvPr id="103" name="stage-owner-box"/>
          <p:cNvSpPr>
            <a:spLocks noGrp="1"/>
          </p:cNvSpPr>
          <p:nvPr/>
        </p:nvSpPr>
        <p:spPr>
          <a:xfrm>
            <a:off x="9544050" y="2994162"/>
            <a:ext cx="704850" cy="285750"/>
          </a:xfrm>
          <a:prstGeom prst="roundRect">
            <a:avLst>
              <a:gd name="adj" fmla="val 13333"/>
            </a:avLst>
          </a:prstGeom>
          <a:solidFill>
            <a:srgbClr val="F2F6F8"/>
          </a:solidFill>
          <a:ln w="9525">
            <a:solidFill>
              <a:srgbClr val="7F9DB2"/>
            </a:solidFill>
            <a:prstDash val="solid"/>
          </a:ln>
        </p:spPr>
      </p:sp>
      <p:sp>
        <p:nvSpPr>
          <p:cNvPr id="104" name="stage-owner-text"/>
          <p:cNvSpPr>
            <a:spLocks noGrp="1"/>
          </p:cNvSpPr>
          <p:nvPr/>
        </p:nvSpPr>
        <p:spPr>
          <a:xfrm>
            <a:off x="9572625" y="3013212"/>
            <a:ext cx="647700" cy="2476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Stage</a:t>
            </a:r>
          </a:p>
        </p:txBody>
      </p:sp>
      <p:sp>
        <p:nvSpPr>
          <p:cNvPr id="105" name="main-agent-node-box"/>
          <p:cNvSpPr>
            <a:spLocks noGrp="1"/>
          </p:cNvSpPr>
          <p:nvPr/>
        </p:nvSpPr>
        <p:spPr>
          <a:xfrm>
            <a:off x="8382000" y="3518037"/>
            <a:ext cx="685800" cy="342900"/>
          </a:xfrm>
          <a:prstGeom prst="roundRect">
            <a:avLst>
              <a:gd name="adj" fmla="val 11111"/>
            </a:avLst>
          </a:prstGeom>
          <a:solidFill>
            <a:srgbClr val="F7F9FA"/>
          </a:solidFill>
          <a:ln w="9525">
            <a:solidFill>
              <a:srgbClr val="7F9DB2"/>
            </a:solidFill>
            <a:prstDash val="solid"/>
          </a:ln>
        </p:spPr>
      </p:sp>
      <p:sp>
        <p:nvSpPr>
          <p:cNvPr id="106" name="main-agent-node-text"/>
          <p:cNvSpPr>
            <a:spLocks noGrp="1"/>
          </p:cNvSpPr>
          <p:nvPr/>
        </p:nvSpPr>
        <p:spPr>
          <a:xfrm>
            <a:off x="8410575" y="3537087"/>
            <a:ext cx="628650" cy="304800"/>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Main</a:t>
            </a: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Agent</a:t>
            </a:r>
          </a:p>
        </p:txBody>
      </p:sp>
      <p:sp>
        <p:nvSpPr>
          <p:cNvPr id="107" name="script-node-box"/>
          <p:cNvSpPr>
            <a:spLocks noGrp="1"/>
          </p:cNvSpPr>
          <p:nvPr/>
        </p:nvSpPr>
        <p:spPr>
          <a:xfrm>
            <a:off x="9134475" y="3518037"/>
            <a:ext cx="685800" cy="342900"/>
          </a:xfrm>
          <a:prstGeom prst="roundRect">
            <a:avLst>
              <a:gd name="adj" fmla="val 11111"/>
            </a:avLst>
          </a:prstGeom>
          <a:solidFill>
            <a:srgbClr val="F7F9FA"/>
          </a:solidFill>
          <a:ln w="9525">
            <a:solidFill>
              <a:srgbClr val="7F9DB2"/>
            </a:solidFill>
            <a:prstDash val="solid"/>
          </a:ln>
        </p:spPr>
      </p:sp>
      <p:sp>
        <p:nvSpPr>
          <p:cNvPr id="108" name="script-node-text"/>
          <p:cNvSpPr>
            <a:spLocks noGrp="1"/>
          </p:cNvSpPr>
          <p:nvPr/>
        </p:nvSpPr>
        <p:spPr>
          <a:xfrm>
            <a:off x="9163050" y="3537087"/>
            <a:ext cx="628650" cy="3048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Script</a:t>
            </a:r>
          </a:p>
        </p:txBody>
      </p:sp>
      <p:sp>
        <p:nvSpPr>
          <p:cNvPr id="109" name="subagent-node-box"/>
          <p:cNvSpPr>
            <a:spLocks noGrp="1"/>
          </p:cNvSpPr>
          <p:nvPr/>
        </p:nvSpPr>
        <p:spPr>
          <a:xfrm>
            <a:off x="9886950" y="3518037"/>
            <a:ext cx="685800" cy="342900"/>
          </a:xfrm>
          <a:prstGeom prst="roundRect">
            <a:avLst>
              <a:gd name="adj" fmla="val 11111"/>
            </a:avLst>
          </a:prstGeom>
          <a:solidFill>
            <a:srgbClr val="F7F9FA"/>
          </a:solidFill>
          <a:ln w="9525">
            <a:solidFill>
              <a:srgbClr val="7F9DB2"/>
            </a:solidFill>
            <a:prstDash val="solid"/>
          </a:ln>
        </p:spPr>
      </p:sp>
      <p:sp>
        <p:nvSpPr>
          <p:cNvPr id="110" name="subagent-node-text"/>
          <p:cNvSpPr>
            <a:spLocks noGrp="1"/>
          </p:cNvSpPr>
          <p:nvPr/>
        </p:nvSpPr>
        <p:spPr>
          <a:xfrm>
            <a:off x="9915525" y="3537087"/>
            <a:ext cx="628650" cy="304800"/>
          </a:xfrm>
          <a:prstGeom prst="rect">
            <a:avLst/>
          </a:prstGeom>
          <a:noFill/>
          <a:ln w="0">
            <a:noFill/>
            <a:prstDash val="solid"/>
          </a:ln>
        </p:spPr>
        <p:txBody>
          <a:bodyPr wrap="none" lIns="0" tIns="0" rIns="0" bIns="0" anchor="ctr">
            <a:normAutofit/>
          </a:bodyPr>
          <a:lstStyle/>
          <a:p>
            <a:pPr algn="ctr">
              <a:defRPr sz="930" b="1">
                <a:solidFill>
                  <a:srgbClr val="252B31"/>
                </a:solidFill>
                <a:latin typeface="微软雅黑" panose="020B0503020204020204" charset="-122"/>
                <a:ea typeface="微软雅黑" panose="020B0503020204020204" charset="-122"/>
                <a:cs typeface="微软雅黑" panose="020B0503020204020204" charset="-122"/>
              </a:defRPr>
            </a:pPr>
            <a:r>
              <a:rPr sz="930" b="1">
                <a:solidFill>
                  <a:srgbClr val="252B31"/>
                </a:solidFill>
                <a:latin typeface="微软雅黑" panose="020B0503020204020204" charset="-122"/>
                <a:ea typeface="微软雅黑" panose="020B0503020204020204" charset="-122"/>
                <a:cs typeface="微软雅黑" panose="020B0503020204020204" charset="-122"/>
              </a:rPr>
              <a:t>Subagent</a:t>
            </a:r>
          </a:p>
        </p:txBody>
      </p:sp>
      <p:sp>
        <p:nvSpPr>
          <p:cNvPr id="111" name="other-skill-node-box"/>
          <p:cNvSpPr>
            <a:spLocks noGrp="1"/>
          </p:cNvSpPr>
          <p:nvPr/>
        </p:nvSpPr>
        <p:spPr>
          <a:xfrm>
            <a:off x="10639425" y="3518037"/>
            <a:ext cx="762000" cy="342900"/>
          </a:xfrm>
          <a:prstGeom prst="roundRect">
            <a:avLst>
              <a:gd name="adj" fmla="val 11111"/>
            </a:avLst>
          </a:prstGeom>
          <a:solidFill>
            <a:srgbClr val="F7F9FA"/>
          </a:solidFill>
          <a:ln w="9525">
            <a:solidFill>
              <a:srgbClr val="7F9DB2"/>
            </a:solidFill>
            <a:prstDash val="solid"/>
          </a:ln>
        </p:spPr>
      </p:sp>
      <p:sp>
        <p:nvSpPr>
          <p:cNvPr id="112" name="other-skill-node-text"/>
          <p:cNvSpPr>
            <a:spLocks noGrp="1"/>
          </p:cNvSpPr>
          <p:nvPr/>
        </p:nvSpPr>
        <p:spPr>
          <a:xfrm>
            <a:off x="10668000" y="3537087"/>
            <a:ext cx="704850" cy="304800"/>
          </a:xfrm>
          <a:prstGeom prst="rect">
            <a:avLst/>
          </a:prstGeom>
          <a:noFill/>
          <a:ln w="0">
            <a:noFill/>
            <a:prstDash val="solid"/>
          </a:ln>
        </p:spPr>
        <p:txBody>
          <a:bodyPr wrap="none" lIns="0" tIns="0" rIns="0" bIns="0" anchor="ctr">
            <a:normAutofit/>
          </a:bodyPr>
          <a:lstStyle/>
          <a:p>
            <a:pPr algn="ctr">
              <a:defRPr sz="915" b="1">
                <a:solidFill>
                  <a:srgbClr val="252B31"/>
                </a:solidFill>
                <a:latin typeface="微软雅黑" panose="020B0503020204020204" charset="-122"/>
                <a:ea typeface="微软雅黑" panose="020B0503020204020204" charset="-122"/>
                <a:cs typeface="微软雅黑" panose="020B0503020204020204" charset="-122"/>
              </a:defRPr>
            </a:pPr>
            <a:r>
              <a:rPr sz="915" b="1">
                <a:solidFill>
                  <a:srgbClr val="252B31"/>
                </a:solidFill>
                <a:latin typeface="微软雅黑" panose="020B0503020204020204" charset="-122"/>
                <a:ea typeface="微软雅黑" panose="020B0503020204020204" charset="-122"/>
                <a:cs typeface="微软雅黑" panose="020B0503020204020204" charset="-122"/>
              </a:rPr>
              <a:t>Other</a:t>
            </a:r>
          </a:p>
          <a:p>
            <a:pPr algn="ctr">
              <a:defRPr sz="915" b="1">
                <a:solidFill>
                  <a:srgbClr val="252B31"/>
                </a:solidFill>
                <a:latin typeface="微软雅黑" panose="020B0503020204020204" charset="-122"/>
                <a:ea typeface="微软雅黑" panose="020B0503020204020204" charset="-122"/>
                <a:cs typeface="微软雅黑" panose="020B0503020204020204" charset="-122"/>
              </a:defRPr>
            </a:pPr>
            <a:r>
              <a:rPr sz="915" b="1">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113" name="main-agent-row-label"/>
          <p:cNvSpPr>
            <a:spLocks noGrp="1"/>
          </p:cNvSpPr>
          <p:nvPr/>
        </p:nvSpPr>
        <p:spPr>
          <a:xfrm>
            <a:off x="8391525" y="3965712"/>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Main Agent</a:t>
            </a:r>
          </a:p>
        </p:txBody>
      </p:sp>
      <p:sp>
        <p:nvSpPr>
          <p:cNvPr id="114" name="main-agent-row-detail"/>
          <p:cNvSpPr>
            <a:spLocks noGrp="1"/>
          </p:cNvSpPr>
          <p:nvPr/>
        </p:nvSpPr>
        <p:spPr>
          <a:xfrm>
            <a:off x="9296400" y="3965712"/>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简单判断 / 编排 / 轻量推理</a:t>
            </a:r>
          </a:p>
        </p:txBody>
      </p:sp>
      <p:sp>
        <p:nvSpPr>
          <p:cNvPr id="115" name="main-agent-row-line"/>
          <p:cNvSpPr>
            <a:spLocks noGrp="1"/>
          </p:cNvSpPr>
          <p:nvPr/>
        </p:nvSpPr>
        <p:spPr>
          <a:xfrm>
            <a:off x="8391525" y="4232412"/>
            <a:ext cx="2990850" cy="0"/>
          </a:xfrm>
          <a:prstGeom prst="line">
            <a:avLst/>
          </a:prstGeom>
          <a:noFill/>
          <a:ln w="6668">
            <a:solidFill>
              <a:srgbClr val="D8DEE3"/>
            </a:solidFill>
            <a:prstDash val="solid"/>
          </a:ln>
        </p:spPr>
      </p:sp>
      <p:sp>
        <p:nvSpPr>
          <p:cNvPr id="116" name="script-row-label"/>
          <p:cNvSpPr>
            <a:spLocks noGrp="1"/>
          </p:cNvSpPr>
          <p:nvPr/>
        </p:nvSpPr>
        <p:spPr>
          <a:xfrm>
            <a:off x="8391525" y="4280037"/>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Script</a:t>
            </a:r>
          </a:p>
        </p:txBody>
      </p:sp>
      <p:sp>
        <p:nvSpPr>
          <p:cNvPr id="117" name="script-row-detail"/>
          <p:cNvSpPr>
            <a:spLocks noGrp="1"/>
          </p:cNvSpPr>
          <p:nvPr/>
        </p:nvSpPr>
        <p:spPr>
          <a:xfrm>
            <a:off x="9296400" y="4280037"/>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确定性 / 程序化 / 真实执行</a:t>
            </a:r>
          </a:p>
        </p:txBody>
      </p:sp>
      <p:sp>
        <p:nvSpPr>
          <p:cNvPr id="118" name="script-row-line"/>
          <p:cNvSpPr>
            <a:spLocks noGrp="1"/>
          </p:cNvSpPr>
          <p:nvPr/>
        </p:nvSpPr>
        <p:spPr>
          <a:xfrm>
            <a:off x="8391525" y="4546737"/>
            <a:ext cx="2990850" cy="0"/>
          </a:xfrm>
          <a:prstGeom prst="line">
            <a:avLst/>
          </a:prstGeom>
          <a:noFill/>
          <a:ln w="6668">
            <a:solidFill>
              <a:srgbClr val="D8DEE3"/>
            </a:solidFill>
            <a:prstDash val="solid"/>
          </a:ln>
        </p:spPr>
      </p:sp>
      <p:sp>
        <p:nvSpPr>
          <p:cNvPr id="119" name="subagent-row-label"/>
          <p:cNvSpPr>
            <a:spLocks noGrp="1"/>
          </p:cNvSpPr>
          <p:nvPr/>
        </p:nvSpPr>
        <p:spPr>
          <a:xfrm>
            <a:off x="8391525" y="4594362"/>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Subagent</a:t>
            </a:r>
          </a:p>
        </p:txBody>
      </p:sp>
      <p:sp>
        <p:nvSpPr>
          <p:cNvPr id="120" name="subagent-row-detail"/>
          <p:cNvSpPr>
            <a:spLocks noGrp="1"/>
          </p:cNvSpPr>
          <p:nvPr/>
        </p:nvSpPr>
        <p:spPr>
          <a:xfrm>
            <a:off x="9296400" y="4594362"/>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独立复杂任务 / 上下文隔离</a:t>
            </a:r>
          </a:p>
        </p:txBody>
      </p:sp>
      <p:sp>
        <p:nvSpPr>
          <p:cNvPr id="121" name="subagent-row-line"/>
          <p:cNvSpPr>
            <a:spLocks noGrp="1"/>
          </p:cNvSpPr>
          <p:nvPr/>
        </p:nvSpPr>
        <p:spPr>
          <a:xfrm>
            <a:off x="8391525" y="4861062"/>
            <a:ext cx="2990850" cy="0"/>
          </a:xfrm>
          <a:prstGeom prst="line">
            <a:avLst/>
          </a:prstGeom>
          <a:noFill/>
          <a:ln w="6668">
            <a:solidFill>
              <a:srgbClr val="D8DEE3"/>
            </a:solidFill>
            <a:prstDash val="solid"/>
          </a:ln>
        </p:spPr>
      </p:sp>
      <p:sp>
        <p:nvSpPr>
          <p:cNvPr id="122" name="other-skill-row-label"/>
          <p:cNvSpPr>
            <a:spLocks noGrp="1"/>
          </p:cNvSpPr>
          <p:nvPr/>
        </p:nvSpPr>
        <p:spPr>
          <a:xfrm>
            <a:off x="8391525" y="4908687"/>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Other Skill</a:t>
            </a:r>
          </a:p>
        </p:txBody>
      </p:sp>
      <p:sp>
        <p:nvSpPr>
          <p:cNvPr id="123" name="other-skill-row-detail"/>
          <p:cNvSpPr>
            <a:spLocks noGrp="1"/>
          </p:cNvSpPr>
          <p:nvPr/>
        </p:nvSpPr>
        <p:spPr>
          <a:xfrm>
            <a:off x="9296400" y="4908687"/>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完整能力 / 自有 Workflow / 复用</a:t>
            </a:r>
          </a:p>
        </p:txBody>
      </p:sp>
      <p:sp>
        <p:nvSpPr>
          <p:cNvPr id="124" name="other-skill-row-line"/>
          <p:cNvSpPr>
            <a:spLocks noGrp="1"/>
          </p:cNvSpPr>
          <p:nvPr/>
        </p:nvSpPr>
        <p:spPr>
          <a:xfrm>
            <a:off x="8391525" y="5175387"/>
            <a:ext cx="2990850" cy="0"/>
          </a:xfrm>
          <a:prstGeom prst="line">
            <a:avLst/>
          </a:prstGeom>
          <a:noFill/>
          <a:ln w="6668">
            <a:solidFill>
              <a:srgbClr val="D8DEE3"/>
            </a:solidFill>
            <a:prstDash val="solid"/>
          </a:ln>
        </p:spPr>
      </p:sp>
      <p:sp>
        <p:nvSpPr>
          <p:cNvPr id="126" name="role-decision-1"/>
          <p:cNvSpPr>
            <a:spLocks noGrp="1"/>
          </p:cNvSpPr>
          <p:nvPr/>
        </p:nvSpPr>
        <p:spPr>
          <a:xfrm>
            <a:off x="8496300" y="5000625"/>
            <a:ext cx="2828925" cy="171450"/>
          </a:xfrm>
          <a:prstGeom prst="rect">
            <a:avLst/>
          </a:prstGeom>
          <a:noFill/>
          <a:ln w="0">
            <a:noFill/>
            <a:prstDash val="solid"/>
          </a:ln>
        </p:spPr>
        <p:txBody>
          <a:bodyPr wrap="none" lIns="0" tIns="0" rIns="0" bIns="0" anchor="ctr">
            <a:normAutofit/>
          </a:bodyPr>
          <a:lstStyle/>
          <a:p>
            <a:pPr algn="ctr">
              <a:defRPr sz="960" b="1">
                <a:solidFill>
                  <a:srgbClr val="68727B"/>
                </a:solidFill>
                <a:latin typeface="微软雅黑" panose="020B0503020204020204" charset="-122"/>
                <a:ea typeface="微软雅黑" panose="020B0503020204020204" charset="-122"/>
                <a:cs typeface="微软雅黑" panose="020B0503020204020204" charset="-122"/>
              </a:defRPr>
            </a:pPr>
            <a:endParaRPr sz="96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7" name="role-decision-2"/>
          <p:cNvSpPr>
            <a:spLocks noGrp="1"/>
          </p:cNvSpPr>
          <p:nvPr/>
        </p:nvSpPr>
        <p:spPr>
          <a:xfrm>
            <a:off x="8496300" y="5172075"/>
            <a:ext cx="2828925" cy="161925"/>
          </a:xfrm>
          <a:prstGeom prst="rect">
            <a:avLst/>
          </a:prstGeom>
          <a:noFill/>
          <a:ln w="0">
            <a:noFill/>
            <a:prstDash val="solid"/>
          </a:ln>
        </p:spPr>
        <p:txBody>
          <a:bodyPr wrap="none" lIns="0" tIns="0" rIns="0" bIns="0" anchor="ctr">
            <a:normAutofit/>
          </a:bodyPr>
          <a:lstStyle/>
          <a:p>
            <a:pPr algn="ctr">
              <a:defRPr sz="930" b="1">
                <a:solidFill>
                  <a:srgbClr val="68727B"/>
                </a:solidFill>
                <a:latin typeface="微软雅黑" panose="020B0503020204020204" charset="-122"/>
                <a:ea typeface="微软雅黑" panose="020B0503020204020204" charset="-122"/>
                <a:cs typeface="微软雅黑" panose="020B0503020204020204" charset="-122"/>
              </a:defRPr>
            </a:pPr>
            <a:endParaRPr sz="93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8" name="role-principle-band"/>
          <p:cNvSpPr>
            <a:spLocks noGrp="1"/>
          </p:cNvSpPr>
          <p:nvPr/>
        </p:nvSpPr>
        <p:spPr>
          <a:xfrm>
            <a:off x="8391525" y="5327788"/>
            <a:ext cx="3038475" cy="358637"/>
          </a:xfrm>
          <a:prstGeom prst="rect">
            <a:avLst/>
          </a:prstGeom>
          <a:solidFill>
            <a:srgbClr val="F2F6F8"/>
          </a:solidFill>
          <a:ln w="0">
            <a:noFill/>
            <a:prstDash val="solid"/>
          </a:ln>
        </p:spPr>
      </p:sp>
      <p:sp>
        <p:nvSpPr>
          <p:cNvPr id="129" name="role-principle"/>
          <p:cNvSpPr>
            <a:spLocks noGrp="1"/>
          </p:cNvSpPr>
          <p:nvPr/>
        </p:nvSpPr>
        <p:spPr>
          <a:xfrm>
            <a:off x="8496300" y="5318263"/>
            <a:ext cx="2828925" cy="358638"/>
          </a:xfrm>
          <a:prstGeom prst="rect">
            <a:avLst/>
          </a:prstGeom>
          <a:noFill/>
          <a:ln w="0">
            <a:noFill/>
            <a:prstDash val="solid"/>
          </a:ln>
        </p:spPr>
        <p:txBody>
          <a:bodyPr wrap="none" lIns="0" tIns="0" rIns="0" bIns="0" anchor="ctr">
            <a:normAutofit fontScale="94019"/>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1100" b="1" dirty="0" err="1">
                <a:solidFill>
                  <a:srgbClr val="557A96"/>
                </a:solidFill>
                <a:latin typeface="微软雅黑" panose="020B0503020204020204" charset="-122"/>
                <a:ea typeface="微软雅黑" panose="020B0503020204020204" charset="-122"/>
                <a:cs typeface="微软雅黑" panose="020B0503020204020204" charset="-122"/>
              </a:rPr>
              <a:t>在复杂度需要时增加层级</a:t>
            </a:r>
            <a:r>
              <a:rPr sz="975" b="1" dirty="0">
                <a:solidFill>
                  <a:srgbClr val="557A96"/>
                </a:solidFill>
                <a:latin typeface="微软雅黑" panose="020B0503020204020204" charset="-122"/>
                <a:ea typeface="微软雅黑" panose="020B0503020204020204" charset="-122"/>
                <a:cs typeface="微软雅黑" panose="020B0503020204020204" charset="-122"/>
              </a:rPr>
              <a:t>。</a:t>
            </a:r>
          </a:p>
        </p:txBody>
      </p:sp>
      <p:sp>
        <p:nvSpPr>
          <p:cNvPr id="130" name="summary-band"/>
          <p:cNvSpPr>
            <a:spLocks noGrp="1"/>
          </p:cNvSpPr>
          <p:nvPr/>
        </p:nvSpPr>
        <p:spPr>
          <a:xfrm>
            <a:off x="609600" y="6000750"/>
            <a:ext cx="10972800" cy="609600"/>
          </a:xfrm>
          <a:prstGeom prst="rect">
            <a:avLst/>
          </a:prstGeom>
          <a:solidFill>
            <a:srgbClr val="F3F4F5"/>
          </a:solidFill>
          <a:ln w="0">
            <a:noFill/>
            <a:prstDash val="solid"/>
          </a:ln>
        </p:spPr>
      </p:sp>
      <p:sp>
        <p:nvSpPr>
          <p:cNvPr id="131" name="summary-accent"/>
          <p:cNvSpPr>
            <a:spLocks noGrp="1"/>
          </p:cNvSpPr>
          <p:nvPr/>
        </p:nvSpPr>
        <p:spPr>
          <a:xfrm>
            <a:off x="609600" y="6000750"/>
            <a:ext cx="38100" cy="609600"/>
          </a:xfrm>
          <a:prstGeom prst="rect">
            <a:avLst/>
          </a:prstGeom>
          <a:solidFill>
            <a:srgbClr val="557A96"/>
          </a:solidFill>
          <a:ln w="0">
            <a:noFill/>
            <a:prstDash val="solid"/>
          </a:ln>
        </p:spPr>
      </p:sp>
      <p:sp>
        <p:nvSpPr>
          <p:cNvPr id="134" name="summary-body"/>
          <p:cNvSpPr>
            <a:spLocks noGrp="1"/>
          </p:cNvSpPr>
          <p:nvPr/>
        </p:nvSpPr>
        <p:spPr>
          <a:xfrm>
            <a:off x="1714914" y="5905500"/>
            <a:ext cx="8124411" cy="719136"/>
          </a:xfrm>
          <a:prstGeom prst="rect">
            <a:avLst/>
          </a:prstGeom>
          <a:noFill/>
          <a:ln w="0">
            <a:noFill/>
            <a:prstDash val="solid"/>
          </a:ln>
        </p:spPr>
        <p:txBody>
          <a:bodyPr wrap="none" lIns="0" tIns="0" rIns="0" bIns="0" anchor="ctr">
            <a:normAutofit/>
          </a:bodyPr>
          <a:lstStyle/>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400" b="1" dirty="0">
                <a:solidFill>
                  <a:srgbClr val="252B31"/>
                </a:solidFill>
                <a:latin typeface="微软雅黑" panose="020B0503020204020204" charset="-122"/>
                <a:ea typeface="微软雅黑" panose="020B0503020204020204" charset="-122"/>
                <a:cs typeface="微软雅黑" panose="020B0503020204020204" charset="-122"/>
              </a:rPr>
              <a:t>从任务定义到基础 </a:t>
            </a:r>
            <a:r>
              <a:rPr lang="en-US" altLang="zh-CN" sz="1400" b="1" dirty="0">
                <a:solidFill>
                  <a:srgbClr val="252B31"/>
                </a:solidFill>
                <a:latin typeface="微软雅黑" panose="020B0503020204020204" charset="-122"/>
                <a:ea typeface="微软雅黑" panose="020B0503020204020204" charset="-122"/>
                <a:cs typeface="微软雅黑" panose="020B0503020204020204" charset="-122"/>
              </a:rPr>
              <a:t>Workflow</a:t>
            </a:r>
          </a:p>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sz="1290" b="1" dirty="0" err="1" smtClean="0">
                <a:solidFill>
                  <a:srgbClr val="414951"/>
                </a:solidFill>
                <a:latin typeface="微软雅黑" panose="020B0503020204020204" charset="-122"/>
                <a:ea typeface="微软雅黑" panose="020B0503020204020204" charset="-122"/>
                <a:cs typeface="微软雅黑" panose="020B0503020204020204" charset="-122"/>
              </a:rPr>
              <a:t>先得到目标与边界</a:t>
            </a:r>
            <a:r>
              <a:rPr sz="1290" b="1" dirty="0" err="1">
                <a:solidFill>
                  <a:srgbClr val="414951"/>
                </a:solidFill>
                <a:latin typeface="微软雅黑" panose="020B0503020204020204" charset="-122"/>
                <a:ea typeface="微软雅黑" panose="020B0503020204020204" charset="-122"/>
                <a:cs typeface="微软雅黑" panose="020B0503020204020204" charset="-122"/>
              </a:rPr>
              <a:t>，再形成最小可运行</a:t>
            </a:r>
            <a:r>
              <a:rPr sz="1290" b="1" dirty="0">
                <a:solidFill>
                  <a:srgbClr val="414951"/>
                </a:solidFill>
                <a:latin typeface="微软雅黑" panose="020B0503020204020204" charset="-122"/>
                <a:ea typeface="微软雅黑" panose="020B0503020204020204" charset="-122"/>
                <a:cs typeface="微软雅黑" panose="020B0503020204020204" charset="-122"/>
              </a:rPr>
              <a:t> </a:t>
            </a:r>
            <a:r>
              <a:rPr sz="1290" b="1" dirty="0" err="1">
                <a:solidFill>
                  <a:srgbClr val="414951"/>
                </a:solidFill>
                <a:latin typeface="微软雅黑" panose="020B0503020204020204" charset="-122"/>
                <a:ea typeface="微软雅黑" panose="020B0503020204020204" charset="-122"/>
                <a:cs typeface="微软雅黑" panose="020B0503020204020204" charset="-122"/>
              </a:rPr>
              <a:t>Workflow，最后按复杂度分配执行者</a:t>
            </a:r>
            <a:r>
              <a:rPr sz="12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36"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3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1.5</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39"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5</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04887" y="171035"/>
            <a:ext cx="10572750" cy="523875"/>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微软雅黑" panose="020B0503020204020204" charset="-122"/>
                <a:cs typeface="微软雅黑" panose="020B0503020204020204" charset="-122"/>
              </a:rPr>
              <a:t>Skill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开发流程</a:t>
            </a:r>
            <a:r>
              <a:rPr sz="2700" b="1" dirty="0">
                <a:solidFill>
                  <a:srgbClr val="243B53"/>
                </a:solidFill>
                <a:latin typeface="Arial" panose="020B0604020202020204" pitchFamily="34" charset="0"/>
                <a:ea typeface="微软雅黑" panose="020B0503020204020204" charset="-122"/>
                <a:cs typeface="微软雅黑" panose="020B0503020204020204" charset="-122"/>
              </a:rPr>
              <a:t>②</a:t>
            </a:r>
          </a:p>
        </p:txBody>
      </p:sp>
      <p:sp>
        <p:nvSpPr>
          <p:cNvPr id="5" name="resources-constraints-line"/>
          <p:cNvSpPr>
            <a:spLocks noGrp="1"/>
          </p:cNvSpPr>
          <p:nvPr/>
        </p:nvSpPr>
        <p:spPr>
          <a:xfrm>
            <a:off x="2809875" y="1183998"/>
            <a:ext cx="2133600" cy="0"/>
          </a:xfrm>
          <a:prstGeom prst="line">
            <a:avLst/>
          </a:prstGeom>
          <a:noFill/>
          <a:ln w="11430">
            <a:solidFill>
              <a:srgbClr val="7F9DB2"/>
            </a:solidFill>
            <a:prstDash val="solid"/>
          </a:ln>
        </p:spPr>
      </p:sp>
      <p:sp>
        <p:nvSpPr>
          <p:cNvPr id="6" name="resources-constraints-arrow"/>
          <p:cNvSpPr>
            <a:spLocks noGrp="1"/>
          </p:cNvSpPr>
          <p:nvPr/>
        </p:nvSpPr>
        <p:spPr>
          <a:xfrm rot="5400000">
            <a:off x="4905375" y="1145898"/>
            <a:ext cx="76200" cy="76200"/>
          </a:xfrm>
          <a:prstGeom prst="triangle">
            <a:avLst/>
          </a:prstGeom>
          <a:solidFill>
            <a:srgbClr val="557A96"/>
          </a:solidFill>
          <a:ln w="0">
            <a:solidFill>
              <a:srgbClr val="557A96"/>
            </a:solidFill>
            <a:prstDash val="solid"/>
          </a:ln>
        </p:spPr>
      </p:sp>
      <p:sp>
        <p:nvSpPr>
          <p:cNvPr id="7" name="constraints-validation-line"/>
          <p:cNvSpPr>
            <a:spLocks noGrp="1"/>
          </p:cNvSpPr>
          <p:nvPr/>
        </p:nvSpPr>
        <p:spPr>
          <a:xfrm>
            <a:off x="6962775" y="1183998"/>
            <a:ext cx="1971675" cy="0"/>
          </a:xfrm>
          <a:prstGeom prst="line">
            <a:avLst/>
          </a:prstGeom>
          <a:noFill/>
          <a:ln w="11430">
            <a:solidFill>
              <a:srgbClr val="7F9DB2"/>
            </a:solidFill>
            <a:prstDash val="solid"/>
          </a:ln>
        </p:spPr>
      </p:sp>
      <p:sp>
        <p:nvSpPr>
          <p:cNvPr id="8" name="constraints-validation-arrow"/>
          <p:cNvSpPr>
            <a:spLocks noGrp="1"/>
          </p:cNvSpPr>
          <p:nvPr/>
        </p:nvSpPr>
        <p:spPr>
          <a:xfrm rot="5400000">
            <a:off x="8896350" y="1145898"/>
            <a:ext cx="76200" cy="76200"/>
          </a:xfrm>
          <a:prstGeom prst="triangle">
            <a:avLst/>
          </a:prstGeom>
          <a:solidFill>
            <a:srgbClr val="557A96"/>
          </a:solidFill>
          <a:ln w="0">
            <a:solidFill>
              <a:srgbClr val="557A96"/>
            </a:solidFill>
            <a:prstDash val="solid"/>
          </a:ln>
        </p:spPr>
      </p:sp>
      <p:sp>
        <p:nvSpPr>
          <p:cNvPr id="9" name="resources-en"/>
          <p:cNvSpPr>
            <a:spLocks noGrp="1"/>
          </p:cNvSpPr>
          <p:nvPr/>
        </p:nvSpPr>
        <p:spPr>
          <a:xfrm>
            <a:off x="1552575" y="945873"/>
            <a:ext cx="123825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RESOURCES</a:t>
            </a:r>
          </a:p>
        </p:txBody>
      </p:sp>
      <p:sp>
        <p:nvSpPr>
          <p:cNvPr id="10" name="resources-cn"/>
          <p:cNvSpPr>
            <a:spLocks noGrp="1"/>
          </p:cNvSpPr>
          <p:nvPr/>
        </p:nvSpPr>
        <p:spPr>
          <a:xfrm>
            <a:off x="1552575" y="1107798"/>
            <a:ext cx="1238250" cy="228600"/>
          </a:xfrm>
          <a:prstGeom prst="rect">
            <a:avLst/>
          </a:prstGeom>
          <a:noFill/>
          <a:ln w="0">
            <a:noFill/>
            <a:prstDash val="solid"/>
          </a:ln>
        </p:spPr>
        <p:txBody>
          <a:bodyPr wrap="none" lIns="0" tIns="0" rIns="0" bIns="0" anchor="ctr">
            <a:normAutofit/>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补“缺什么”</a:t>
            </a:r>
          </a:p>
        </p:txBody>
      </p:sp>
      <p:sp>
        <p:nvSpPr>
          <p:cNvPr id="11" name="constraints-en"/>
          <p:cNvSpPr>
            <a:spLocks noGrp="1"/>
          </p:cNvSpPr>
          <p:nvPr/>
        </p:nvSpPr>
        <p:spPr>
          <a:xfrm>
            <a:off x="5114925" y="945873"/>
            <a:ext cx="175260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CONSTRAINTS + TRIGGER</a:t>
            </a:r>
          </a:p>
        </p:txBody>
      </p:sp>
      <p:sp>
        <p:nvSpPr>
          <p:cNvPr id="12" name="constraints-cn"/>
          <p:cNvSpPr>
            <a:spLocks noGrp="1"/>
          </p:cNvSpPr>
          <p:nvPr/>
        </p:nvSpPr>
        <p:spPr>
          <a:xfrm>
            <a:off x="5114925" y="1107798"/>
            <a:ext cx="1752600" cy="228600"/>
          </a:xfrm>
          <a:prstGeom prst="rect">
            <a:avLst/>
          </a:prstGeom>
          <a:noFill/>
          <a:ln w="0">
            <a:noFill/>
            <a:prstDash val="solid"/>
          </a:ln>
        </p:spPr>
        <p:txBody>
          <a:bodyPr wrap="none" lIns="0" tIns="0" rIns="0" bIns="0" anchor="ctr">
            <a:normAutofit/>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补“不能乱做什么”</a:t>
            </a:r>
          </a:p>
        </p:txBody>
      </p:sp>
      <p:sp>
        <p:nvSpPr>
          <p:cNvPr id="13" name="validation-en"/>
          <p:cNvSpPr>
            <a:spLocks noGrp="1"/>
          </p:cNvSpPr>
          <p:nvPr/>
        </p:nvSpPr>
        <p:spPr>
          <a:xfrm>
            <a:off x="9096375" y="945873"/>
            <a:ext cx="142875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VALIDATION</a:t>
            </a:r>
          </a:p>
        </p:txBody>
      </p:sp>
      <p:sp>
        <p:nvSpPr>
          <p:cNvPr id="14" name="validation-cn"/>
          <p:cNvSpPr>
            <a:spLocks noGrp="1"/>
          </p:cNvSpPr>
          <p:nvPr/>
        </p:nvSpPr>
        <p:spPr>
          <a:xfrm>
            <a:off x="9001125" y="1107798"/>
            <a:ext cx="1619250" cy="228600"/>
          </a:xfrm>
          <a:prstGeom prst="rect">
            <a:avLst/>
          </a:prstGeom>
          <a:noFill/>
          <a:ln w="0">
            <a:noFill/>
            <a:prstDash val="solid"/>
          </a:ln>
        </p:spPr>
        <p:txBody>
          <a:bodyPr wrap="none" lIns="0" tIns="0" rIns="0" bIns="0" anchor="ctr">
            <a:normAutofit fontScale="97589"/>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验证“是否真的好用”</a:t>
            </a:r>
          </a:p>
        </p:txBody>
      </p:sp>
      <p:sp>
        <p:nvSpPr>
          <p:cNvPr id="15" name="resources-frame"/>
          <p:cNvSpPr>
            <a:spLocks noGrp="1"/>
          </p:cNvSpPr>
          <p:nvPr/>
        </p:nvSpPr>
        <p:spPr>
          <a:xfrm>
            <a:off x="609600" y="1562100"/>
            <a:ext cx="3333750" cy="3905250"/>
          </a:xfrm>
          <a:prstGeom prst="roundRect">
            <a:avLst>
              <a:gd name="adj" fmla="val 1429"/>
            </a:avLst>
          </a:prstGeom>
          <a:solidFill>
            <a:srgbClr val="FFFFFF"/>
          </a:solidFill>
          <a:ln w="9525">
            <a:solidFill>
              <a:srgbClr val="D8DEE3"/>
            </a:solidFill>
            <a:prstDash val="solid"/>
          </a:ln>
        </p:spPr>
      </p:sp>
      <p:sp>
        <p:nvSpPr>
          <p:cNvPr id="16" name="resources-accent"/>
          <p:cNvSpPr>
            <a:spLocks noGrp="1"/>
          </p:cNvSpPr>
          <p:nvPr/>
        </p:nvSpPr>
        <p:spPr>
          <a:xfrm>
            <a:off x="609600" y="1562100"/>
            <a:ext cx="3333750" cy="28575"/>
          </a:xfrm>
          <a:prstGeom prst="rect">
            <a:avLst/>
          </a:prstGeom>
          <a:solidFill>
            <a:srgbClr val="557A96"/>
          </a:solidFill>
          <a:ln w="0">
            <a:noFill/>
            <a:prstDash val="solid"/>
          </a:ln>
        </p:spPr>
      </p:sp>
      <p:sp>
        <p:nvSpPr>
          <p:cNvPr id="17" name="resources-number"/>
          <p:cNvSpPr>
            <a:spLocks noGrp="1"/>
          </p:cNvSpPr>
          <p:nvPr/>
        </p:nvSpPr>
        <p:spPr>
          <a:xfrm>
            <a:off x="762000"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18" name="resources-title"/>
          <p:cNvSpPr>
            <a:spLocks noGrp="1"/>
          </p:cNvSpPr>
          <p:nvPr/>
        </p:nvSpPr>
        <p:spPr>
          <a:xfrm>
            <a:off x="1162050" y="1638300"/>
            <a:ext cx="2628900"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补充资源与知识</a:t>
            </a:r>
          </a:p>
        </p:txBody>
      </p:sp>
      <p:sp>
        <p:nvSpPr>
          <p:cNvPr id="19" name="resources-subtitle"/>
          <p:cNvSpPr>
            <a:spLocks noGrp="1"/>
          </p:cNvSpPr>
          <p:nvPr/>
        </p:nvSpPr>
        <p:spPr>
          <a:xfrm>
            <a:off x="762000" y="1943100"/>
            <a:ext cx="3028950"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1" name="constraints-frame"/>
          <p:cNvSpPr>
            <a:spLocks noGrp="1"/>
          </p:cNvSpPr>
          <p:nvPr/>
        </p:nvSpPr>
        <p:spPr>
          <a:xfrm>
            <a:off x="4200525" y="1562100"/>
            <a:ext cx="3781425" cy="3905250"/>
          </a:xfrm>
          <a:prstGeom prst="roundRect">
            <a:avLst>
              <a:gd name="adj" fmla="val 1259"/>
            </a:avLst>
          </a:prstGeom>
          <a:solidFill>
            <a:srgbClr val="FFFFFF"/>
          </a:solidFill>
          <a:ln w="9525">
            <a:solidFill>
              <a:srgbClr val="D8DEE3"/>
            </a:solidFill>
            <a:prstDash val="solid"/>
          </a:ln>
        </p:spPr>
      </p:sp>
      <p:sp>
        <p:nvSpPr>
          <p:cNvPr id="22" name="constraints-accent"/>
          <p:cNvSpPr>
            <a:spLocks noGrp="1"/>
          </p:cNvSpPr>
          <p:nvPr/>
        </p:nvSpPr>
        <p:spPr>
          <a:xfrm>
            <a:off x="4200525" y="1562100"/>
            <a:ext cx="3781425" cy="28575"/>
          </a:xfrm>
          <a:prstGeom prst="rect">
            <a:avLst/>
          </a:prstGeom>
          <a:solidFill>
            <a:srgbClr val="557A96"/>
          </a:solidFill>
          <a:ln w="0">
            <a:noFill/>
            <a:prstDash val="solid"/>
          </a:ln>
        </p:spPr>
      </p:sp>
      <p:sp>
        <p:nvSpPr>
          <p:cNvPr id="23" name="constraints-number"/>
          <p:cNvSpPr>
            <a:spLocks noGrp="1"/>
          </p:cNvSpPr>
          <p:nvPr/>
        </p:nvSpPr>
        <p:spPr>
          <a:xfrm>
            <a:off x="4352925"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05</a:t>
            </a:r>
          </a:p>
        </p:txBody>
      </p:sp>
      <p:sp>
        <p:nvSpPr>
          <p:cNvPr id="24" name="constraints-title"/>
          <p:cNvSpPr>
            <a:spLocks noGrp="1"/>
          </p:cNvSpPr>
          <p:nvPr/>
        </p:nvSpPr>
        <p:spPr>
          <a:xfrm>
            <a:off x="4752975" y="1638300"/>
            <a:ext cx="3076575"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dirty="0" err="1" smtClean="0">
                <a:solidFill>
                  <a:srgbClr val="252B31"/>
                </a:solidFill>
                <a:latin typeface="微软雅黑" panose="020B0503020204020204" charset="-122"/>
                <a:ea typeface="微软雅黑" panose="020B0503020204020204" charset="-122"/>
                <a:cs typeface="微软雅黑" panose="020B0503020204020204" charset="-122"/>
              </a:rPr>
              <a:t>完善约束与</a:t>
            </a:r>
            <a:r>
              <a:rPr lang="zh-CN" altLang="en-US" sz="1615" b="1" dirty="0" smtClean="0">
                <a:solidFill>
                  <a:srgbClr val="252B31"/>
                </a:solidFill>
                <a:latin typeface="微软雅黑" panose="020B0503020204020204" charset="-122"/>
                <a:ea typeface="微软雅黑" panose="020B0503020204020204" charset="-122"/>
                <a:cs typeface="微软雅黑" panose="020B0503020204020204" charset="-122"/>
              </a:rPr>
              <a:t>调用规则</a:t>
            </a:r>
            <a:endParaRPr sz="161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5" name="constraints-subtitle"/>
          <p:cNvSpPr>
            <a:spLocks noGrp="1"/>
          </p:cNvSpPr>
          <p:nvPr/>
        </p:nvSpPr>
        <p:spPr>
          <a:xfrm>
            <a:off x="4352925" y="1943100"/>
            <a:ext cx="3476625"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6" name="constraints-header-line"/>
          <p:cNvSpPr>
            <a:spLocks noGrp="1"/>
          </p:cNvSpPr>
          <p:nvPr/>
        </p:nvSpPr>
        <p:spPr>
          <a:xfrm>
            <a:off x="4352925" y="2219325"/>
            <a:ext cx="3476625" cy="0"/>
          </a:xfrm>
          <a:prstGeom prst="line">
            <a:avLst/>
          </a:prstGeom>
          <a:noFill/>
          <a:ln w="9525">
            <a:solidFill>
              <a:srgbClr val="D8DEE3"/>
            </a:solidFill>
            <a:prstDash val="solid"/>
          </a:ln>
        </p:spPr>
      </p:sp>
      <p:sp>
        <p:nvSpPr>
          <p:cNvPr id="27" name="validation-frame"/>
          <p:cNvSpPr>
            <a:spLocks noGrp="1"/>
          </p:cNvSpPr>
          <p:nvPr/>
        </p:nvSpPr>
        <p:spPr>
          <a:xfrm>
            <a:off x="8239125" y="1562100"/>
            <a:ext cx="3343275" cy="3905250"/>
          </a:xfrm>
          <a:prstGeom prst="roundRect">
            <a:avLst>
              <a:gd name="adj" fmla="val 1425"/>
            </a:avLst>
          </a:prstGeom>
          <a:solidFill>
            <a:srgbClr val="FFFFFF"/>
          </a:solidFill>
          <a:ln w="9525">
            <a:solidFill>
              <a:srgbClr val="D8DEE3"/>
            </a:solidFill>
            <a:prstDash val="solid"/>
          </a:ln>
        </p:spPr>
      </p:sp>
      <p:sp>
        <p:nvSpPr>
          <p:cNvPr id="28" name="validation-accent"/>
          <p:cNvSpPr>
            <a:spLocks noGrp="1"/>
          </p:cNvSpPr>
          <p:nvPr/>
        </p:nvSpPr>
        <p:spPr>
          <a:xfrm>
            <a:off x="8239125" y="1562100"/>
            <a:ext cx="3343275" cy="28575"/>
          </a:xfrm>
          <a:prstGeom prst="rect">
            <a:avLst/>
          </a:prstGeom>
          <a:solidFill>
            <a:srgbClr val="557A96"/>
          </a:solidFill>
          <a:ln w="0">
            <a:noFill/>
            <a:prstDash val="solid"/>
          </a:ln>
        </p:spPr>
      </p:sp>
      <p:sp>
        <p:nvSpPr>
          <p:cNvPr id="29" name="validation-number"/>
          <p:cNvSpPr>
            <a:spLocks noGrp="1"/>
          </p:cNvSpPr>
          <p:nvPr/>
        </p:nvSpPr>
        <p:spPr>
          <a:xfrm>
            <a:off x="8391525"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06</a:t>
            </a:r>
          </a:p>
        </p:txBody>
      </p:sp>
      <p:sp>
        <p:nvSpPr>
          <p:cNvPr id="30" name="validation-title"/>
          <p:cNvSpPr>
            <a:spLocks noGrp="1"/>
          </p:cNvSpPr>
          <p:nvPr/>
        </p:nvSpPr>
        <p:spPr>
          <a:xfrm>
            <a:off x="8791575" y="1638300"/>
            <a:ext cx="2638425"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实测验证与迭代</a:t>
            </a:r>
          </a:p>
        </p:txBody>
      </p:sp>
      <p:sp>
        <p:nvSpPr>
          <p:cNvPr id="31" name="validation-subtitle"/>
          <p:cNvSpPr>
            <a:spLocks noGrp="1"/>
          </p:cNvSpPr>
          <p:nvPr/>
        </p:nvSpPr>
        <p:spPr>
          <a:xfrm>
            <a:off x="8391525" y="1943100"/>
            <a:ext cx="3038475"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3" name="stage-question-line"/>
          <p:cNvSpPr>
            <a:spLocks noGrp="1"/>
          </p:cNvSpPr>
          <p:nvPr/>
        </p:nvSpPr>
        <p:spPr>
          <a:xfrm>
            <a:off x="2276475" y="2600325"/>
            <a:ext cx="0" cy="85725"/>
          </a:xfrm>
          <a:prstGeom prst="line">
            <a:avLst/>
          </a:prstGeom>
          <a:noFill/>
          <a:ln w="11430">
            <a:solidFill>
              <a:srgbClr val="557A96"/>
            </a:solidFill>
            <a:prstDash val="solid"/>
          </a:ln>
        </p:spPr>
      </p:sp>
      <p:sp>
        <p:nvSpPr>
          <p:cNvPr id="34" name="question-branch-down"/>
          <p:cNvSpPr>
            <a:spLocks noGrp="1"/>
          </p:cNvSpPr>
          <p:nvPr/>
        </p:nvSpPr>
        <p:spPr>
          <a:xfrm>
            <a:off x="2276475" y="2943225"/>
            <a:ext cx="0" cy="95250"/>
          </a:xfrm>
          <a:prstGeom prst="line">
            <a:avLst/>
          </a:prstGeom>
          <a:noFill/>
          <a:ln w="11430">
            <a:solidFill>
              <a:srgbClr val="557A96"/>
            </a:solidFill>
            <a:prstDash val="solid"/>
          </a:ln>
        </p:spPr>
      </p:sp>
      <p:sp>
        <p:nvSpPr>
          <p:cNvPr id="35" name="resource-branch"/>
          <p:cNvSpPr>
            <a:spLocks noGrp="1"/>
          </p:cNvSpPr>
          <p:nvPr/>
        </p:nvSpPr>
        <p:spPr>
          <a:xfrm>
            <a:off x="1228725" y="3038475"/>
            <a:ext cx="2095500" cy="0"/>
          </a:xfrm>
          <a:prstGeom prst="line">
            <a:avLst/>
          </a:prstGeom>
          <a:noFill/>
          <a:ln w="11430">
            <a:solidFill>
              <a:srgbClr val="557A96"/>
            </a:solidFill>
            <a:prstDash val="solid"/>
          </a:ln>
        </p:spPr>
      </p:sp>
      <p:sp>
        <p:nvSpPr>
          <p:cNvPr id="36" name="resource-drop-0"/>
          <p:cNvSpPr>
            <a:spLocks noGrp="1"/>
          </p:cNvSpPr>
          <p:nvPr/>
        </p:nvSpPr>
        <p:spPr>
          <a:xfrm>
            <a:off x="1228725" y="3038475"/>
            <a:ext cx="0" cy="76200"/>
          </a:xfrm>
          <a:prstGeom prst="line">
            <a:avLst/>
          </a:prstGeom>
          <a:noFill/>
          <a:ln w="11430">
            <a:solidFill>
              <a:srgbClr val="557A96"/>
            </a:solidFill>
            <a:prstDash val="solid"/>
          </a:ln>
        </p:spPr>
      </p:sp>
      <p:sp>
        <p:nvSpPr>
          <p:cNvPr id="37" name="resource-arrow-0"/>
          <p:cNvSpPr>
            <a:spLocks noGrp="1"/>
          </p:cNvSpPr>
          <p:nvPr/>
        </p:nvSpPr>
        <p:spPr>
          <a:xfrm rot="10800000">
            <a:off x="1190625" y="3076575"/>
            <a:ext cx="76200" cy="76200"/>
          </a:xfrm>
          <a:prstGeom prst="triangle">
            <a:avLst/>
          </a:prstGeom>
          <a:solidFill>
            <a:srgbClr val="557A96"/>
          </a:solidFill>
          <a:ln w="0">
            <a:solidFill>
              <a:srgbClr val="557A96"/>
            </a:solidFill>
            <a:prstDash val="solid"/>
          </a:ln>
        </p:spPr>
      </p:sp>
      <p:sp>
        <p:nvSpPr>
          <p:cNvPr id="38" name="resource-drop-1"/>
          <p:cNvSpPr>
            <a:spLocks noGrp="1"/>
          </p:cNvSpPr>
          <p:nvPr/>
        </p:nvSpPr>
        <p:spPr>
          <a:xfrm>
            <a:off x="2276475" y="3038475"/>
            <a:ext cx="0" cy="76200"/>
          </a:xfrm>
          <a:prstGeom prst="line">
            <a:avLst/>
          </a:prstGeom>
          <a:noFill/>
          <a:ln w="11430">
            <a:solidFill>
              <a:srgbClr val="557A96"/>
            </a:solidFill>
            <a:prstDash val="solid"/>
          </a:ln>
        </p:spPr>
      </p:sp>
      <p:sp>
        <p:nvSpPr>
          <p:cNvPr id="39" name="resource-arrow-1"/>
          <p:cNvSpPr>
            <a:spLocks noGrp="1"/>
          </p:cNvSpPr>
          <p:nvPr/>
        </p:nvSpPr>
        <p:spPr>
          <a:xfrm rot="10800000">
            <a:off x="2238375" y="3076575"/>
            <a:ext cx="76200" cy="76200"/>
          </a:xfrm>
          <a:prstGeom prst="triangle">
            <a:avLst/>
          </a:prstGeom>
          <a:solidFill>
            <a:srgbClr val="557A96"/>
          </a:solidFill>
          <a:ln w="0">
            <a:solidFill>
              <a:srgbClr val="557A96"/>
            </a:solidFill>
            <a:prstDash val="solid"/>
          </a:ln>
        </p:spPr>
      </p:sp>
      <p:sp>
        <p:nvSpPr>
          <p:cNvPr id="40" name="resource-drop-2"/>
          <p:cNvSpPr>
            <a:spLocks noGrp="1"/>
          </p:cNvSpPr>
          <p:nvPr/>
        </p:nvSpPr>
        <p:spPr>
          <a:xfrm>
            <a:off x="3324225" y="3038475"/>
            <a:ext cx="0" cy="76200"/>
          </a:xfrm>
          <a:prstGeom prst="line">
            <a:avLst/>
          </a:prstGeom>
          <a:noFill/>
          <a:ln w="11430">
            <a:solidFill>
              <a:srgbClr val="557A96"/>
            </a:solidFill>
            <a:prstDash val="solid"/>
          </a:ln>
        </p:spPr>
      </p:sp>
      <p:sp>
        <p:nvSpPr>
          <p:cNvPr id="41" name="resource-arrow-2"/>
          <p:cNvSpPr>
            <a:spLocks noGrp="1"/>
          </p:cNvSpPr>
          <p:nvPr/>
        </p:nvSpPr>
        <p:spPr>
          <a:xfrm rot="10800000">
            <a:off x="3286125" y="3076575"/>
            <a:ext cx="76200" cy="76200"/>
          </a:xfrm>
          <a:prstGeom prst="triangle">
            <a:avLst/>
          </a:prstGeom>
          <a:solidFill>
            <a:srgbClr val="557A96"/>
          </a:solidFill>
          <a:ln w="0">
            <a:solidFill>
              <a:srgbClr val="557A96"/>
            </a:solidFill>
            <a:prstDash val="solid"/>
          </a:ln>
        </p:spPr>
      </p:sp>
      <p:sp>
        <p:nvSpPr>
          <p:cNvPr id="42" name="resource-stage-box"/>
          <p:cNvSpPr>
            <a:spLocks noGrp="1"/>
          </p:cNvSpPr>
          <p:nvPr/>
        </p:nvSpPr>
        <p:spPr>
          <a:xfrm>
            <a:off x="1857375" y="2324100"/>
            <a:ext cx="838200" cy="276225"/>
          </a:xfrm>
          <a:prstGeom prst="roundRect">
            <a:avLst>
              <a:gd name="adj" fmla="val 13793"/>
            </a:avLst>
          </a:prstGeom>
          <a:solidFill>
            <a:srgbClr val="F2F6F8"/>
          </a:solidFill>
          <a:ln w="9525">
            <a:solidFill>
              <a:srgbClr val="7F9DB2"/>
            </a:solidFill>
            <a:prstDash val="solid"/>
          </a:ln>
        </p:spPr>
      </p:sp>
      <p:sp>
        <p:nvSpPr>
          <p:cNvPr id="43" name="resource-stage-text"/>
          <p:cNvSpPr>
            <a:spLocks noGrp="1"/>
          </p:cNvSpPr>
          <p:nvPr/>
        </p:nvSpPr>
        <p:spPr>
          <a:xfrm>
            <a:off x="1885950" y="2343150"/>
            <a:ext cx="781050" cy="238125"/>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某个 Stage</a:t>
            </a:r>
          </a:p>
        </p:txBody>
      </p:sp>
      <p:sp>
        <p:nvSpPr>
          <p:cNvPr id="44" name="resource-question-band"/>
          <p:cNvSpPr>
            <a:spLocks noGrp="1"/>
          </p:cNvSpPr>
          <p:nvPr/>
        </p:nvSpPr>
        <p:spPr>
          <a:xfrm>
            <a:off x="1209675" y="2686050"/>
            <a:ext cx="2133600" cy="257175"/>
          </a:xfrm>
          <a:prstGeom prst="rect">
            <a:avLst/>
          </a:prstGeom>
          <a:solidFill>
            <a:srgbClr val="F7F9FA"/>
          </a:solidFill>
          <a:ln w="0">
            <a:noFill/>
            <a:prstDash val="solid"/>
          </a:ln>
        </p:spPr>
      </p:sp>
      <p:sp>
        <p:nvSpPr>
          <p:cNvPr id="45" name="resource-question"/>
          <p:cNvSpPr>
            <a:spLocks noGrp="1"/>
          </p:cNvSpPr>
          <p:nvPr/>
        </p:nvSpPr>
        <p:spPr>
          <a:xfrm>
            <a:off x="1323975" y="2695575"/>
            <a:ext cx="1905000" cy="238125"/>
          </a:xfrm>
          <a:prstGeom prst="rect">
            <a:avLst/>
          </a:prstGeom>
          <a:noFill/>
          <a:ln w="0">
            <a:noFill/>
            <a:prstDash val="solid"/>
          </a:ln>
        </p:spPr>
        <p:txBody>
          <a:bodyPr wrap="none" lIns="0" tIns="0" rIns="0" bIns="0" anchor="ctr">
            <a:normAutofit/>
          </a:bodyPr>
          <a:lstStyle/>
          <a:p>
            <a:pPr algn="ctr">
              <a:defRPr sz="1090" b="1">
                <a:solidFill>
                  <a:srgbClr val="414951"/>
                </a:solidFill>
                <a:latin typeface="微软雅黑" panose="020B0503020204020204" charset="-122"/>
                <a:ea typeface="微软雅黑" panose="020B0503020204020204" charset="-122"/>
                <a:cs typeface="微软雅黑" panose="020B0503020204020204" charset="-122"/>
              </a:defRPr>
            </a:pPr>
            <a:r>
              <a:rPr sz="1090" b="1">
                <a:solidFill>
                  <a:srgbClr val="414951"/>
                </a:solidFill>
                <a:latin typeface="微软雅黑" panose="020B0503020204020204" charset="-122"/>
                <a:ea typeface="微软雅黑" panose="020B0503020204020204" charset="-122"/>
                <a:cs typeface="微软雅黑" panose="020B0503020204020204" charset="-122"/>
              </a:rPr>
              <a:t>Agent 还缺什么？</a:t>
            </a:r>
          </a:p>
        </p:txBody>
      </p:sp>
      <p:sp>
        <p:nvSpPr>
          <p:cNvPr id="46" name="references-node-box"/>
          <p:cNvSpPr>
            <a:spLocks noGrp="1"/>
          </p:cNvSpPr>
          <p:nvPr/>
        </p:nvSpPr>
        <p:spPr>
          <a:xfrm>
            <a:off x="781050" y="3143250"/>
            <a:ext cx="895350" cy="352425"/>
          </a:xfrm>
          <a:prstGeom prst="roundRect">
            <a:avLst>
              <a:gd name="adj" fmla="val 10811"/>
            </a:avLst>
          </a:prstGeom>
          <a:solidFill>
            <a:srgbClr val="F7F9FA"/>
          </a:solidFill>
          <a:ln w="9525">
            <a:solidFill>
              <a:srgbClr val="7F9DB2"/>
            </a:solidFill>
            <a:prstDash val="solid"/>
          </a:ln>
        </p:spPr>
      </p:sp>
      <p:sp>
        <p:nvSpPr>
          <p:cNvPr id="47" name="references-node-text"/>
          <p:cNvSpPr>
            <a:spLocks noGrp="1"/>
          </p:cNvSpPr>
          <p:nvPr/>
        </p:nvSpPr>
        <p:spPr>
          <a:xfrm>
            <a:off x="809625" y="3162300"/>
            <a:ext cx="838200" cy="314325"/>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缺知识</a:t>
            </a: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References</a:t>
            </a:r>
          </a:p>
        </p:txBody>
      </p:sp>
      <p:sp>
        <p:nvSpPr>
          <p:cNvPr id="48" name="examples-node-box"/>
          <p:cNvSpPr>
            <a:spLocks noGrp="1"/>
          </p:cNvSpPr>
          <p:nvPr/>
        </p:nvSpPr>
        <p:spPr>
          <a:xfrm>
            <a:off x="1828800" y="3143250"/>
            <a:ext cx="895350" cy="352425"/>
          </a:xfrm>
          <a:prstGeom prst="roundRect">
            <a:avLst>
              <a:gd name="adj" fmla="val 10811"/>
            </a:avLst>
          </a:prstGeom>
          <a:solidFill>
            <a:srgbClr val="F7F9FA"/>
          </a:solidFill>
          <a:ln w="9525">
            <a:solidFill>
              <a:srgbClr val="7F9DB2"/>
            </a:solidFill>
            <a:prstDash val="solid"/>
          </a:ln>
        </p:spPr>
      </p:sp>
      <p:sp>
        <p:nvSpPr>
          <p:cNvPr id="49" name="examples-node-text"/>
          <p:cNvSpPr>
            <a:spLocks noGrp="1"/>
          </p:cNvSpPr>
          <p:nvPr/>
        </p:nvSpPr>
        <p:spPr>
          <a:xfrm>
            <a:off x="1857375" y="3162300"/>
            <a:ext cx="838200" cy="314325"/>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缺案例</a:t>
            </a: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Examples</a:t>
            </a:r>
          </a:p>
        </p:txBody>
      </p:sp>
      <p:sp>
        <p:nvSpPr>
          <p:cNvPr id="50" name="scripts-node-box"/>
          <p:cNvSpPr>
            <a:spLocks noGrp="1"/>
          </p:cNvSpPr>
          <p:nvPr/>
        </p:nvSpPr>
        <p:spPr>
          <a:xfrm>
            <a:off x="2876550" y="3143250"/>
            <a:ext cx="895350" cy="352425"/>
          </a:xfrm>
          <a:prstGeom prst="roundRect">
            <a:avLst>
              <a:gd name="adj" fmla="val 10811"/>
            </a:avLst>
          </a:prstGeom>
          <a:solidFill>
            <a:srgbClr val="F7F9FA"/>
          </a:solidFill>
          <a:ln w="9525">
            <a:solidFill>
              <a:srgbClr val="7F9DB2"/>
            </a:solidFill>
            <a:prstDash val="solid"/>
          </a:ln>
        </p:spPr>
      </p:sp>
      <p:sp>
        <p:nvSpPr>
          <p:cNvPr id="51" name="scripts-node-text"/>
          <p:cNvSpPr>
            <a:spLocks noGrp="1"/>
          </p:cNvSpPr>
          <p:nvPr/>
        </p:nvSpPr>
        <p:spPr>
          <a:xfrm>
            <a:off x="2905125" y="3162300"/>
            <a:ext cx="838200" cy="314325"/>
          </a:xfrm>
          <a:prstGeom prst="rect">
            <a:avLst/>
          </a:prstGeom>
          <a:noFill/>
          <a:ln w="0">
            <a:noFill/>
            <a:prstDash val="solid"/>
          </a:ln>
        </p:spPr>
        <p:txBody>
          <a:bodyPr wrap="none" lIns="0" tIns="0" rIns="0" bIns="0" anchor="ctr">
            <a:normAutofit/>
          </a:bodyPr>
          <a:lstStyle/>
          <a:p>
            <a:pPr algn="ctr">
              <a:defRPr sz="905" b="1">
                <a:solidFill>
                  <a:srgbClr val="252B31"/>
                </a:solidFill>
                <a:latin typeface="微软雅黑" panose="020B0503020204020204" charset="-122"/>
                <a:ea typeface="微软雅黑" panose="020B0503020204020204" charset="-122"/>
                <a:cs typeface="微软雅黑" panose="020B0503020204020204" charset="-122"/>
              </a:defRPr>
            </a:pPr>
            <a:r>
              <a:rPr sz="905" b="1">
                <a:solidFill>
                  <a:srgbClr val="252B31"/>
                </a:solidFill>
                <a:latin typeface="微软雅黑" panose="020B0503020204020204" charset="-122"/>
                <a:ea typeface="微软雅黑" panose="020B0503020204020204" charset="-122"/>
                <a:cs typeface="微软雅黑" panose="020B0503020204020204" charset="-122"/>
              </a:rPr>
              <a:t>缺确定执行</a:t>
            </a:r>
          </a:p>
          <a:p>
            <a:pPr algn="ctr">
              <a:defRPr sz="905" b="1">
                <a:solidFill>
                  <a:srgbClr val="252B31"/>
                </a:solidFill>
                <a:latin typeface="微软雅黑" panose="020B0503020204020204" charset="-122"/>
                <a:ea typeface="微软雅黑" panose="020B0503020204020204" charset="-122"/>
                <a:cs typeface="微软雅黑" panose="020B0503020204020204" charset="-122"/>
              </a:defRPr>
            </a:pPr>
            <a:r>
              <a:rPr sz="905" b="1">
                <a:solidFill>
                  <a:srgbClr val="252B31"/>
                </a:solidFill>
                <a:latin typeface="微软雅黑" panose="020B0503020204020204" charset="-122"/>
                <a:ea typeface="微软雅黑" panose="020B0503020204020204" charset="-122"/>
                <a:cs typeface="微软雅黑" panose="020B0503020204020204" charset="-122"/>
              </a:rPr>
              <a:t>Scripts</a:t>
            </a:r>
          </a:p>
        </p:txBody>
      </p:sp>
      <p:sp>
        <p:nvSpPr>
          <p:cNvPr id="52" name="references-keywords"/>
          <p:cNvSpPr>
            <a:spLocks noGrp="1"/>
          </p:cNvSpPr>
          <p:nvPr/>
        </p:nvSpPr>
        <p:spPr>
          <a:xfrm>
            <a:off x="78105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领域 / API</a:t>
            </a: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规则 / 限制</a:t>
            </a:r>
          </a:p>
        </p:txBody>
      </p:sp>
      <p:sp>
        <p:nvSpPr>
          <p:cNvPr id="53" name="examples-keywords"/>
          <p:cNvSpPr>
            <a:spLocks noGrp="1"/>
          </p:cNvSpPr>
          <p:nvPr/>
        </p:nvSpPr>
        <p:spPr>
          <a:xfrm>
            <a:off x="182880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案例 / I-O</a:t>
            </a: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解法 / 实现</a:t>
            </a:r>
          </a:p>
        </p:txBody>
      </p:sp>
      <p:sp>
        <p:nvSpPr>
          <p:cNvPr id="54" name="scripts-keywords"/>
          <p:cNvSpPr>
            <a:spLocks noGrp="1"/>
          </p:cNvSpPr>
          <p:nvPr/>
        </p:nvSpPr>
        <p:spPr>
          <a:xfrm>
            <a:off x="287655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检测 / 执行</a:t>
            </a: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测试 / Bench</a:t>
            </a:r>
          </a:p>
        </p:txBody>
      </p:sp>
      <p:sp>
        <p:nvSpPr>
          <p:cNvPr id="55" name="templates-band"/>
          <p:cNvSpPr>
            <a:spLocks noGrp="1"/>
          </p:cNvSpPr>
          <p:nvPr/>
        </p:nvSpPr>
        <p:spPr>
          <a:xfrm>
            <a:off x="847725" y="4352925"/>
            <a:ext cx="2990850" cy="400050"/>
          </a:xfrm>
          <a:prstGeom prst="rect">
            <a:avLst/>
          </a:prstGeom>
          <a:solidFill>
            <a:srgbClr val="F7F9FA"/>
          </a:solidFill>
          <a:ln w="6668">
            <a:solidFill>
              <a:srgbClr val="D8DEE3"/>
            </a:solidFill>
            <a:prstDash val="solid"/>
          </a:ln>
        </p:spPr>
      </p:sp>
      <p:sp>
        <p:nvSpPr>
          <p:cNvPr id="56" name="templates-title"/>
          <p:cNvSpPr>
            <a:spLocks noGrp="1"/>
          </p:cNvSpPr>
          <p:nvPr/>
        </p:nvSpPr>
        <p:spPr>
          <a:xfrm>
            <a:off x="1013791" y="4457700"/>
            <a:ext cx="876300" cy="190500"/>
          </a:xfrm>
          <a:prstGeom prst="rect">
            <a:avLst/>
          </a:prstGeom>
          <a:noFill/>
          <a:ln w="0">
            <a:noFill/>
            <a:prstDash val="solid"/>
          </a:ln>
        </p:spPr>
        <p:txBody>
          <a:bodyPr wrap="none" lIns="0" tIns="0" rIns="0" bIns="0" anchor="ctr">
            <a:normAutofit/>
          </a:bodyPr>
          <a:lstStyle/>
          <a:p>
            <a:pPr algn="l">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dirty="0">
                <a:solidFill>
                  <a:srgbClr val="557A96"/>
                </a:solidFill>
                <a:latin typeface="微软雅黑" panose="020B0503020204020204" charset="-122"/>
                <a:ea typeface="微软雅黑" panose="020B0503020204020204" charset="-122"/>
                <a:cs typeface="微软雅黑" panose="020B0503020204020204" charset="-122"/>
              </a:rPr>
              <a:t>Templates</a:t>
            </a:r>
          </a:p>
        </p:txBody>
      </p:sp>
      <p:sp>
        <p:nvSpPr>
          <p:cNvPr id="57" name="templates-detail"/>
          <p:cNvSpPr>
            <a:spLocks noGrp="1"/>
          </p:cNvSpPr>
          <p:nvPr/>
        </p:nvSpPr>
        <p:spPr>
          <a:xfrm>
            <a:off x="1466850" y="4381500"/>
            <a:ext cx="1828800" cy="314325"/>
          </a:xfrm>
          <a:prstGeom prst="rect">
            <a:avLst/>
          </a:prstGeom>
          <a:noFill/>
          <a:ln w="0">
            <a:noFill/>
            <a:prstDash val="solid"/>
          </a:ln>
        </p:spPr>
        <p:txBody>
          <a:bodyPr wrap="none" lIns="0" tIns="0" rIns="0" bIns="0" anchor="ctr">
            <a:normAutofit fontScale="94395"/>
          </a:bodyPr>
          <a:lstStyle/>
          <a:p>
            <a:pPr algn="r">
              <a:defRPr sz="960" b="0">
                <a:solidFill>
                  <a:srgbClr val="414951"/>
                </a:solidFill>
                <a:latin typeface="微软雅黑" panose="020B0503020204020204" charset="-122"/>
                <a:ea typeface="微软雅黑" panose="020B0503020204020204" charset="-122"/>
                <a:cs typeface="微软雅黑" panose="020B0503020204020204" charset="-122"/>
              </a:defRPr>
            </a:pPr>
            <a:r>
              <a:rPr sz="960" b="0" dirty="0" err="1">
                <a:solidFill>
                  <a:srgbClr val="414951"/>
                </a:solidFill>
                <a:latin typeface="微软雅黑" panose="020B0503020204020204" charset="-122"/>
                <a:ea typeface="微软雅黑" panose="020B0503020204020204" charset="-122"/>
                <a:cs typeface="微软雅黑" panose="020B0503020204020204" charset="-122"/>
              </a:rPr>
              <a:t>固定结构</a:t>
            </a:r>
            <a:r>
              <a:rPr sz="960" b="0" dirty="0">
                <a:solidFill>
                  <a:srgbClr val="414951"/>
                </a:solidFill>
                <a:latin typeface="微软雅黑" panose="020B0503020204020204" charset="-122"/>
                <a:ea typeface="微软雅黑" panose="020B0503020204020204" charset="-122"/>
                <a:cs typeface="微软雅黑" panose="020B0503020204020204" charset="-122"/>
              </a:rPr>
              <a:t> / </a:t>
            </a:r>
            <a:r>
              <a:rPr sz="960" b="0" dirty="0" err="1">
                <a:solidFill>
                  <a:srgbClr val="414951"/>
                </a:solidFill>
                <a:latin typeface="微软雅黑" panose="020B0503020204020204" charset="-122"/>
                <a:ea typeface="微软雅黑" panose="020B0503020204020204" charset="-122"/>
                <a:cs typeface="微软雅黑" panose="020B0503020204020204" charset="-122"/>
              </a:rPr>
              <a:t>格式骨架</a:t>
            </a:r>
            <a:r>
              <a:rPr sz="960" b="0" dirty="0" smtClean="0">
                <a:solidFill>
                  <a:srgbClr val="414951"/>
                </a:solidFill>
                <a:latin typeface="微软雅黑" panose="020B0503020204020204" charset="-122"/>
                <a:ea typeface="微软雅黑" panose="020B0503020204020204" charset="-122"/>
                <a:cs typeface="微软雅黑" panose="020B0503020204020204" charset="-122"/>
              </a:rPr>
              <a:t>，</a:t>
            </a:r>
            <a:endParaRPr sz="96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0" name="resources-product-band"/>
          <p:cNvSpPr>
            <a:spLocks noGrp="1"/>
          </p:cNvSpPr>
          <p:nvPr/>
        </p:nvSpPr>
        <p:spPr>
          <a:xfrm>
            <a:off x="781050" y="5029200"/>
            <a:ext cx="2990850" cy="295275"/>
          </a:xfrm>
          <a:prstGeom prst="rect">
            <a:avLst/>
          </a:prstGeom>
          <a:solidFill>
            <a:srgbClr val="F7F9FA"/>
          </a:solidFill>
          <a:ln w="6668">
            <a:solidFill>
              <a:srgbClr val="D8DEE3"/>
            </a:solidFill>
            <a:prstDash val="solid"/>
          </a:ln>
        </p:spPr>
      </p:sp>
      <p:sp>
        <p:nvSpPr>
          <p:cNvPr id="61" name="resources-product"/>
          <p:cNvSpPr>
            <a:spLocks noGrp="1"/>
          </p:cNvSpPr>
          <p:nvPr/>
        </p:nvSpPr>
        <p:spPr>
          <a:xfrm>
            <a:off x="895350" y="5038725"/>
            <a:ext cx="2762250" cy="276225"/>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dirty="0" err="1">
                <a:solidFill>
                  <a:srgbClr val="557A96"/>
                </a:solidFill>
                <a:latin typeface="微软雅黑" panose="020B0503020204020204" charset="-122"/>
                <a:ea typeface="微软雅黑" panose="020B0503020204020204" charset="-122"/>
                <a:cs typeface="微软雅黑" panose="020B0503020204020204" charset="-122"/>
              </a:rPr>
              <a:t>产物：支撑各</a:t>
            </a:r>
            <a:r>
              <a:rPr sz="1065" b="1" dirty="0">
                <a:solidFill>
                  <a:srgbClr val="557A96"/>
                </a:solidFill>
                <a:latin typeface="微软雅黑" panose="020B0503020204020204" charset="-122"/>
                <a:ea typeface="微软雅黑" panose="020B0503020204020204" charset="-122"/>
                <a:cs typeface="微软雅黑" panose="020B0503020204020204" charset="-122"/>
              </a:rPr>
              <a:t> Stage </a:t>
            </a:r>
            <a:r>
              <a:rPr sz="1065" b="1" dirty="0" err="1">
                <a:solidFill>
                  <a:srgbClr val="557A96"/>
                </a:solidFill>
                <a:latin typeface="微软雅黑" panose="020B0503020204020204" charset="-122"/>
                <a:ea typeface="微软雅黑" panose="020B0503020204020204" charset="-122"/>
                <a:cs typeface="微软雅黑" panose="020B0503020204020204" charset="-122"/>
              </a:rPr>
              <a:t>的按需资源集</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2" name="trigger-line-0"/>
          <p:cNvSpPr>
            <a:spLocks noGrp="1"/>
          </p:cNvSpPr>
          <p:nvPr/>
        </p:nvSpPr>
        <p:spPr>
          <a:xfrm>
            <a:off x="5191125" y="2514600"/>
            <a:ext cx="238125" cy="0"/>
          </a:xfrm>
          <a:prstGeom prst="line">
            <a:avLst/>
          </a:prstGeom>
          <a:noFill/>
          <a:ln w="11430">
            <a:solidFill>
              <a:srgbClr val="557A96"/>
            </a:solidFill>
            <a:prstDash val="solid"/>
          </a:ln>
        </p:spPr>
      </p:sp>
      <p:sp>
        <p:nvSpPr>
          <p:cNvPr id="63" name="trigger-arrow-0"/>
          <p:cNvSpPr>
            <a:spLocks noGrp="1"/>
          </p:cNvSpPr>
          <p:nvPr/>
        </p:nvSpPr>
        <p:spPr>
          <a:xfrm rot="5400000">
            <a:off x="5381625" y="2476500"/>
            <a:ext cx="76200" cy="76200"/>
          </a:xfrm>
          <a:prstGeom prst="triangle">
            <a:avLst/>
          </a:prstGeom>
          <a:solidFill>
            <a:srgbClr val="557A96"/>
          </a:solidFill>
          <a:ln w="0">
            <a:solidFill>
              <a:srgbClr val="557A96"/>
            </a:solidFill>
            <a:prstDash val="solid"/>
          </a:ln>
        </p:spPr>
      </p:sp>
      <p:sp>
        <p:nvSpPr>
          <p:cNvPr id="64" name="trigger-line-1"/>
          <p:cNvSpPr>
            <a:spLocks noGrp="1"/>
          </p:cNvSpPr>
          <p:nvPr/>
        </p:nvSpPr>
        <p:spPr>
          <a:xfrm>
            <a:off x="6496050" y="2514600"/>
            <a:ext cx="238125" cy="0"/>
          </a:xfrm>
          <a:prstGeom prst="line">
            <a:avLst/>
          </a:prstGeom>
          <a:noFill/>
          <a:ln w="11430">
            <a:solidFill>
              <a:srgbClr val="557A96"/>
            </a:solidFill>
            <a:prstDash val="solid"/>
          </a:ln>
        </p:spPr>
      </p:sp>
      <p:sp>
        <p:nvSpPr>
          <p:cNvPr id="65" name="trigger-arrow-1"/>
          <p:cNvSpPr>
            <a:spLocks noGrp="1"/>
          </p:cNvSpPr>
          <p:nvPr/>
        </p:nvSpPr>
        <p:spPr>
          <a:xfrm rot="5400000">
            <a:off x="6686550" y="2476500"/>
            <a:ext cx="76200" cy="76200"/>
          </a:xfrm>
          <a:prstGeom prst="triangle">
            <a:avLst/>
          </a:prstGeom>
          <a:solidFill>
            <a:srgbClr val="557A96"/>
          </a:solidFill>
          <a:ln w="0">
            <a:solidFill>
              <a:srgbClr val="557A96"/>
            </a:solidFill>
            <a:prstDash val="solid"/>
          </a:ln>
        </p:spPr>
      </p:sp>
      <p:sp>
        <p:nvSpPr>
          <p:cNvPr id="66" name="request-node-box"/>
          <p:cNvSpPr>
            <a:spLocks noGrp="1"/>
          </p:cNvSpPr>
          <p:nvPr/>
        </p:nvSpPr>
        <p:spPr>
          <a:xfrm>
            <a:off x="4371975" y="2371725"/>
            <a:ext cx="819150" cy="285750"/>
          </a:xfrm>
          <a:prstGeom prst="roundRect">
            <a:avLst>
              <a:gd name="adj" fmla="val 13333"/>
            </a:avLst>
          </a:prstGeom>
          <a:solidFill>
            <a:srgbClr val="F7F9FA"/>
          </a:solidFill>
          <a:ln w="9525">
            <a:solidFill>
              <a:srgbClr val="7F9DB2"/>
            </a:solidFill>
            <a:prstDash val="solid"/>
          </a:ln>
        </p:spPr>
      </p:sp>
      <p:sp>
        <p:nvSpPr>
          <p:cNvPr id="67" name="request-node-text"/>
          <p:cNvSpPr>
            <a:spLocks noGrp="1"/>
          </p:cNvSpPr>
          <p:nvPr/>
        </p:nvSpPr>
        <p:spPr>
          <a:xfrm>
            <a:off x="4400550" y="2390775"/>
            <a:ext cx="762000" cy="247650"/>
          </a:xfrm>
          <a:prstGeom prst="rect">
            <a:avLst/>
          </a:prstGeom>
          <a:noFill/>
          <a:ln w="0">
            <a:noFill/>
            <a:prstDash val="solid"/>
          </a:ln>
        </p:spPr>
        <p:txBody>
          <a:bodyPr wrap="none" lIns="0" tIns="0" rIns="0" bIns="0" anchor="ctr">
            <a:normAutofit fontScale="92673"/>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User Request</a:t>
            </a:r>
          </a:p>
        </p:txBody>
      </p:sp>
      <p:sp>
        <p:nvSpPr>
          <p:cNvPr id="68" name="description-node-box"/>
          <p:cNvSpPr>
            <a:spLocks noGrp="1"/>
          </p:cNvSpPr>
          <p:nvPr/>
        </p:nvSpPr>
        <p:spPr>
          <a:xfrm>
            <a:off x="5429250" y="2371725"/>
            <a:ext cx="1066800" cy="285750"/>
          </a:xfrm>
          <a:prstGeom prst="roundRect">
            <a:avLst>
              <a:gd name="adj" fmla="val 13333"/>
            </a:avLst>
          </a:prstGeom>
          <a:solidFill>
            <a:srgbClr val="F2F6F8"/>
          </a:solidFill>
          <a:ln w="9525">
            <a:solidFill>
              <a:srgbClr val="7F9DB2"/>
            </a:solidFill>
            <a:prstDash val="solid"/>
          </a:ln>
        </p:spPr>
      </p:sp>
      <p:sp>
        <p:nvSpPr>
          <p:cNvPr id="69" name="description-node-text"/>
          <p:cNvSpPr>
            <a:spLocks noGrp="1"/>
          </p:cNvSpPr>
          <p:nvPr/>
        </p:nvSpPr>
        <p:spPr>
          <a:xfrm>
            <a:off x="5457825" y="2390775"/>
            <a:ext cx="1009650" cy="247650"/>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description</a:t>
            </a:r>
          </a:p>
        </p:txBody>
      </p:sp>
      <p:sp>
        <p:nvSpPr>
          <p:cNvPr id="70" name="skill-node-box"/>
          <p:cNvSpPr>
            <a:spLocks noGrp="1"/>
          </p:cNvSpPr>
          <p:nvPr/>
        </p:nvSpPr>
        <p:spPr>
          <a:xfrm>
            <a:off x="6734175" y="2371725"/>
            <a:ext cx="895350" cy="285750"/>
          </a:xfrm>
          <a:prstGeom prst="roundRect">
            <a:avLst>
              <a:gd name="adj" fmla="val 13333"/>
            </a:avLst>
          </a:prstGeom>
          <a:solidFill>
            <a:srgbClr val="F7F9FA"/>
          </a:solidFill>
          <a:ln w="9525">
            <a:solidFill>
              <a:srgbClr val="7F9DB2"/>
            </a:solidFill>
            <a:prstDash val="solid"/>
          </a:ln>
        </p:spPr>
      </p:sp>
      <p:sp>
        <p:nvSpPr>
          <p:cNvPr id="71" name="skill-node-text"/>
          <p:cNvSpPr>
            <a:spLocks noGrp="1"/>
          </p:cNvSpPr>
          <p:nvPr/>
        </p:nvSpPr>
        <p:spPr>
          <a:xfrm>
            <a:off x="6762750" y="2390775"/>
            <a:ext cx="8382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73" name="boundary-row-label"/>
          <p:cNvSpPr>
            <a:spLocks noGrp="1"/>
          </p:cNvSpPr>
          <p:nvPr/>
        </p:nvSpPr>
        <p:spPr>
          <a:xfrm>
            <a:off x="4371975" y="294322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Boundary</a:t>
            </a:r>
          </a:p>
        </p:txBody>
      </p:sp>
      <p:sp>
        <p:nvSpPr>
          <p:cNvPr id="74" name="boundary-row-detail"/>
          <p:cNvSpPr>
            <a:spLocks noGrp="1"/>
          </p:cNvSpPr>
          <p:nvPr/>
        </p:nvSpPr>
        <p:spPr>
          <a:xfrm>
            <a:off x="5676900" y="294322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明确做什么 / 不做什么</a:t>
            </a:r>
          </a:p>
        </p:txBody>
      </p:sp>
      <p:sp>
        <p:nvSpPr>
          <p:cNvPr id="75" name="boundary-row-line"/>
          <p:cNvSpPr>
            <a:spLocks noGrp="1"/>
          </p:cNvSpPr>
          <p:nvPr/>
        </p:nvSpPr>
        <p:spPr>
          <a:xfrm>
            <a:off x="4371975" y="3238500"/>
            <a:ext cx="3448050" cy="0"/>
          </a:xfrm>
          <a:prstGeom prst="line">
            <a:avLst/>
          </a:prstGeom>
          <a:noFill/>
          <a:ln w="6668">
            <a:solidFill>
              <a:srgbClr val="D8DEE3"/>
            </a:solidFill>
            <a:prstDash val="solid"/>
          </a:ln>
        </p:spPr>
      </p:sp>
      <p:sp>
        <p:nvSpPr>
          <p:cNvPr id="76" name="contract-policy-row-label"/>
          <p:cNvSpPr>
            <a:spLocks noGrp="1"/>
          </p:cNvSpPr>
          <p:nvPr/>
        </p:nvSpPr>
        <p:spPr>
          <a:xfrm>
            <a:off x="4371975" y="334327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Contract / Policy</a:t>
            </a:r>
          </a:p>
        </p:txBody>
      </p:sp>
      <p:sp>
        <p:nvSpPr>
          <p:cNvPr id="77" name="contract-policy-row-detail"/>
          <p:cNvSpPr>
            <a:spLocks noGrp="1"/>
          </p:cNvSpPr>
          <p:nvPr/>
        </p:nvSpPr>
        <p:spPr>
          <a:xfrm>
            <a:off x="5676900" y="334327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接受什么 / 产出什么 / 如何执行</a:t>
            </a:r>
          </a:p>
        </p:txBody>
      </p:sp>
      <p:sp>
        <p:nvSpPr>
          <p:cNvPr id="78" name="contract-policy-row-line"/>
          <p:cNvSpPr>
            <a:spLocks noGrp="1"/>
          </p:cNvSpPr>
          <p:nvPr/>
        </p:nvSpPr>
        <p:spPr>
          <a:xfrm>
            <a:off x="4371975" y="3638550"/>
            <a:ext cx="3448050" cy="0"/>
          </a:xfrm>
          <a:prstGeom prst="line">
            <a:avLst/>
          </a:prstGeom>
          <a:noFill/>
          <a:ln w="6668">
            <a:solidFill>
              <a:srgbClr val="D8DEE3"/>
            </a:solidFill>
            <a:prstDash val="solid"/>
          </a:ln>
        </p:spPr>
      </p:sp>
      <p:sp>
        <p:nvSpPr>
          <p:cNvPr id="79" name="constraint-gate-row-label"/>
          <p:cNvSpPr>
            <a:spLocks noGrp="1"/>
          </p:cNvSpPr>
          <p:nvPr/>
        </p:nvSpPr>
        <p:spPr>
          <a:xfrm>
            <a:off x="4371975" y="374332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80" name="constraint-gate-row-detail"/>
          <p:cNvSpPr>
            <a:spLocks noGrp="1"/>
          </p:cNvSpPr>
          <p:nvPr/>
        </p:nvSpPr>
        <p:spPr>
          <a:xfrm>
            <a:off x="5676900" y="374332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条件未满足时绝不推进</a:t>
            </a:r>
          </a:p>
        </p:txBody>
      </p:sp>
      <p:sp>
        <p:nvSpPr>
          <p:cNvPr id="81" name="constraint-gate-row-line"/>
          <p:cNvSpPr>
            <a:spLocks noGrp="1"/>
          </p:cNvSpPr>
          <p:nvPr/>
        </p:nvSpPr>
        <p:spPr>
          <a:xfrm>
            <a:off x="4371975" y="4038600"/>
            <a:ext cx="3448050" cy="0"/>
          </a:xfrm>
          <a:prstGeom prst="line">
            <a:avLst/>
          </a:prstGeom>
          <a:noFill/>
          <a:ln w="6668">
            <a:solidFill>
              <a:srgbClr val="D8DEE3"/>
            </a:solidFill>
            <a:prstDash val="solid"/>
          </a:ln>
        </p:spPr>
      </p:sp>
      <p:sp>
        <p:nvSpPr>
          <p:cNvPr id="82" name="identity-row-label"/>
          <p:cNvSpPr>
            <a:spLocks noGrp="1"/>
          </p:cNvSpPr>
          <p:nvPr/>
        </p:nvSpPr>
        <p:spPr>
          <a:xfrm>
            <a:off x="4371975" y="4143375"/>
            <a:ext cx="1257300" cy="238125"/>
          </a:xfrm>
          <a:prstGeom prst="rect">
            <a:avLst/>
          </a:prstGeom>
          <a:noFill/>
          <a:ln w="0">
            <a:noFill/>
            <a:prstDash val="solid"/>
          </a:ln>
        </p:spPr>
        <p:txBody>
          <a:bodyPr wrap="none" lIns="0" tIns="0" rIns="0" bIns="0" anchor="ctr">
            <a:normAutofit fontScale="95463"/>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name / description</a:t>
            </a:r>
          </a:p>
        </p:txBody>
      </p:sp>
      <p:sp>
        <p:nvSpPr>
          <p:cNvPr id="83" name="identity-row-detail"/>
          <p:cNvSpPr>
            <a:spLocks noGrp="1"/>
          </p:cNvSpPr>
          <p:nvPr/>
        </p:nvSpPr>
        <p:spPr>
          <a:xfrm>
            <a:off x="5676900" y="414337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能力身份 + 触发边界</a:t>
            </a:r>
          </a:p>
        </p:txBody>
      </p:sp>
      <p:sp>
        <p:nvSpPr>
          <p:cNvPr id="84" name="identity-row-line"/>
          <p:cNvSpPr>
            <a:spLocks noGrp="1"/>
          </p:cNvSpPr>
          <p:nvPr/>
        </p:nvSpPr>
        <p:spPr>
          <a:xfrm>
            <a:off x="4371975" y="4438650"/>
            <a:ext cx="3448050" cy="0"/>
          </a:xfrm>
          <a:prstGeom prst="line">
            <a:avLst/>
          </a:prstGeom>
          <a:noFill/>
          <a:ln w="6668">
            <a:solidFill>
              <a:srgbClr val="D8DEE3"/>
            </a:solidFill>
            <a:prstDash val="solid"/>
          </a:ln>
        </p:spPr>
      </p:sp>
      <p:sp>
        <p:nvSpPr>
          <p:cNvPr id="85" name="constraints-principle-band"/>
          <p:cNvSpPr>
            <a:spLocks noGrp="1"/>
          </p:cNvSpPr>
          <p:nvPr/>
        </p:nvSpPr>
        <p:spPr>
          <a:xfrm>
            <a:off x="4352925" y="4572000"/>
            <a:ext cx="3476625" cy="333375"/>
          </a:xfrm>
          <a:prstGeom prst="rect">
            <a:avLst/>
          </a:prstGeom>
          <a:solidFill>
            <a:srgbClr val="F2F6F8"/>
          </a:solidFill>
          <a:ln w="0">
            <a:noFill/>
            <a:prstDash val="solid"/>
          </a:ln>
        </p:spPr>
      </p:sp>
      <p:sp>
        <p:nvSpPr>
          <p:cNvPr id="86" name="constraints-principle"/>
          <p:cNvSpPr>
            <a:spLocks noGrp="1"/>
          </p:cNvSpPr>
          <p:nvPr/>
        </p:nvSpPr>
        <p:spPr>
          <a:xfrm>
            <a:off x="4476750" y="4581525"/>
            <a:ext cx="3228975" cy="314325"/>
          </a:xfrm>
          <a:prstGeom prst="rect">
            <a:avLst/>
          </a:prstGeom>
          <a:noFill/>
          <a:ln w="0">
            <a:noFill/>
            <a:prstDash val="solid"/>
          </a:ln>
        </p:spPr>
        <p:txBody>
          <a:bodyPr wrap="none" lIns="0" tIns="0" rIns="0" bIns="0" anchor="ctr">
            <a:normAutofit/>
          </a:bodyPr>
          <a:lstStyle/>
          <a:p>
            <a:pPr algn="ctr">
              <a:defRPr sz="1015" b="1">
                <a:solidFill>
                  <a:srgbClr val="414951"/>
                </a:solidFill>
                <a:latin typeface="微软雅黑" panose="020B0503020204020204" charset="-122"/>
                <a:ea typeface="微软雅黑" panose="020B0503020204020204" charset="-122"/>
                <a:cs typeface="微软雅黑" panose="020B0503020204020204" charset="-122"/>
              </a:defRPr>
            </a:pPr>
            <a:r>
              <a:rPr sz="1015" b="1">
                <a:solidFill>
                  <a:srgbClr val="414951"/>
                </a:solidFill>
                <a:latin typeface="微软雅黑" panose="020B0503020204020204" charset="-122"/>
                <a:ea typeface="微软雅黑" panose="020B0503020204020204" charset="-122"/>
                <a:cs typeface="微软雅黑" panose="020B0503020204020204" charset="-122"/>
              </a:rPr>
              <a:t>约束越清楚，运行越稳定；描述越准确，触发越可靠。</a:t>
            </a:r>
          </a:p>
        </p:txBody>
      </p:sp>
      <p:sp>
        <p:nvSpPr>
          <p:cNvPr id="87" name="constraints-product-band"/>
          <p:cNvSpPr>
            <a:spLocks noGrp="1"/>
          </p:cNvSpPr>
          <p:nvPr/>
        </p:nvSpPr>
        <p:spPr>
          <a:xfrm>
            <a:off x="4352925" y="5029200"/>
            <a:ext cx="3476625" cy="295275"/>
          </a:xfrm>
          <a:prstGeom prst="rect">
            <a:avLst/>
          </a:prstGeom>
          <a:solidFill>
            <a:srgbClr val="F7F9FA"/>
          </a:solidFill>
          <a:ln w="6668">
            <a:solidFill>
              <a:srgbClr val="D8DEE3"/>
            </a:solidFill>
            <a:prstDash val="solid"/>
          </a:ln>
        </p:spPr>
      </p:sp>
      <p:sp>
        <p:nvSpPr>
          <p:cNvPr id="88" name="constraints-product"/>
          <p:cNvSpPr>
            <a:spLocks noGrp="1"/>
          </p:cNvSpPr>
          <p:nvPr/>
        </p:nvSpPr>
        <p:spPr>
          <a:xfrm>
            <a:off x="4476750" y="5038725"/>
            <a:ext cx="3228975" cy="276225"/>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产物：稳定边界 + 可发现、可调用入口</a:t>
            </a:r>
          </a:p>
        </p:txBody>
      </p:sp>
      <p:sp>
        <p:nvSpPr>
          <p:cNvPr id="89" name="test-line-0"/>
          <p:cNvSpPr>
            <a:spLocks noGrp="1"/>
          </p:cNvSpPr>
          <p:nvPr/>
        </p:nvSpPr>
        <p:spPr>
          <a:xfrm>
            <a:off x="9906000" y="2714625"/>
            <a:ext cx="0" cy="104775"/>
          </a:xfrm>
          <a:prstGeom prst="line">
            <a:avLst/>
          </a:prstGeom>
          <a:noFill/>
          <a:ln w="11430">
            <a:solidFill>
              <a:srgbClr val="557A96"/>
            </a:solidFill>
            <a:prstDash val="solid"/>
          </a:ln>
        </p:spPr>
      </p:sp>
      <p:sp>
        <p:nvSpPr>
          <p:cNvPr id="90" name="test-arrow-0"/>
          <p:cNvSpPr>
            <a:spLocks noGrp="1"/>
          </p:cNvSpPr>
          <p:nvPr/>
        </p:nvSpPr>
        <p:spPr>
          <a:xfrm rot="10800000">
            <a:off x="9867900" y="2781300"/>
            <a:ext cx="76200" cy="76200"/>
          </a:xfrm>
          <a:prstGeom prst="triangle">
            <a:avLst/>
          </a:prstGeom>
          <a:solidFill>
            <a:srgbClr val="557A96"/>
          </a:solidFill>
          <a:ln w="0">
            <a:solidFill>
              <a:srgbClr val="557A96"/>
            </a:solidFill>
            <a:prstDash val="solid"/>
          </a:ln>
        </p:spPr>
      </p:sp>
      <p:sp>
        <p:nvSpPr>
          <p:cNvPr id="91" name="test-line-1"/>
          <p:cNvSpPr>
            <a:spLocks noGrp="1"/>
          </p:cNvSpPr>
          <p:nvPr/>
        </p:nvSpPr>
        <p:spPr>
          <a:xfrm>
            <a:off x="9906000" y="3190875"/>
            <a:ext cx="0" cy="104775"/>
          </a:xfrm>
          <a:prstGeom prst="line">
            <a:avLst/>
          </a:prstGeom>
          <a:noFill/>
          <a:ln w="11430">
            <a:solidFill>
              <a:srgbClr val="557A96"/>
            </a:solidFill>
            <a:prstDash val="solid"/>
          </a:ln>
        </p:spPr>
      </p:sp>
      <p:sp>
        <p:nvSpPr>
          <p:cNvPr id="92" name="test-arrow-1"/>
          <p:cNvSpPr>
            <a:spLocks noGrp="1"/>
          </p:cNvSpPr>
          <p:nvPr/>
        </p:nvSpPr>
        <p:spPr>
          <a:xfrm rot="10800000">
            <a:off x="9867900" y="3257550"/>
            <a:ext cx="76200" cy="76200"/>
          </a:xfrm>
          <a:prstGeom prst="triangle">
            <a:avLst/>
          </a:prstGeom>
          <a:solidFill>
            <a:srgbClr val="557A96"/>
          </a:solidFill>
          <a:ln w="0">
            <a:solidFill>
              <a:srgbClr val="557A96"/>
            </a:solidFill>
            <a:prstDash val="solid"/>
          </a:ln>
        </p:spPr>
      </p:sp>
      <p:sp>
        <p:nvSpPr>
          <p:cNvPr id="93" name="test-line-2"/>
          <p:cNvSpPr>
            <a:spLocks noGrp="1"/>
          </p:cNvSpPr>
          <p:nvPr/>
        </p:nvSpPr>
        <p:spPr>
          <a:xfrm>
            <a:off x="9906000" y="3667125"/>
            <a:ext cx="0" cy="104775"/>
          </a:xfrm>
          <a:prstGeom prst="line">
            <a:avLst/>
          </a:prstGeom>
          <a:noFill/>
          <a:ln w="11430">
            <a:solidFill>
              <a:srgbClr val="557A96"/>
            </a:solidFill>
            <a:prstDash val="solid"/>
          </a:ln>
        </p:spPr>
      </p:sp>
      <p:sp>
        <p:nvSpPr>
          <p:cNvPr id="94" name="test-arrow-2"/>
          <p:cNvSpPr>
            <a:spLocks noGrp="1"/>
          </p:cNvSpPr>
          <p:nvPr/>
        </p:nvSpPr>
        <p:spPr>
          <a:xfrm rot="10800000">
            <a:off x="9867900" y="3733800"/>
            <a:ext cx="76200" cy="76200"/>
          </a:xfrm>
          <a:prstGeom prst="triangle">
            <a:avLst/>
          </a:prstGeom>
          <a:solidFill>
            <a:srgbClr val="557A96"/>
          </a:solidFill>
          <a:ln w="0">
            <a:solidFill>
              <a:srgbClr val="557A96"/>
            </a:solidFill>
            <a:prstDash val="solid"/>
          </a:ln>
        </p:spPr>
      </p:sp>
      <p:sp>
        <p:nvSpPr>
          <p:cNvPr id="95" name="trigger-test-band"/>
          <p:cNvSpPr>
            <a:spLocks noGrp="1"/>
          </p:cNvSpPr>
          <p:nvPr/>
        </p:nvSpPr>
        <p:spPr>
          <a:xfrm>
            <a:off x="8410575" y="2343150"/>
            <a:ext cx="2990850" cy="371475"/>
          </a:xfrm>
          <a:prstGeom prst="rect">
            <a:avLst/>
          </a:prstGeom>
          <a:solidFill>
            <a:srgbClr val="F7F9FA"/>
          </a:solidFill>
          <a:ln w="6668">
            <a:solidFill>
              <a:srgbClr val="D8DEE3"/>
            </a:solidFill>
            <a:prstDash val="solid"/>
          </a:ln>
        </p:spPr>
      </p:sp>
      <p:sp>
        <p:nvSpPr>
          <p:cNvPr id="96" name="trigger-test-label"/>
          <p:cNvSpPr>
            <a:spLocks noGrp="1"/>
          </p:cNvSpPr>
          <p:nvPr/>
        </p:nvSpPr>
        <p:spPr>
          <a:xfrm>
            <a:off x="8524875" y="238125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Trigger Test</a:t>
            </a:r>
          </a:p>
        </p:txBody>
      </p:sp>
      <p:sp>
        <p:nvSpPr>
          <p:cNvPr id="97" name="trigger-test-detail"/>
          <p:cNvSpPr>
            <a:spLocks noGrp="1"/>
          </p:cNvSpPr>
          <p:nvPr/>
        </p:nvSpPr>
        <p:spPr>
          <a:xfrm>
            <a:off x="9658350" y="238125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dirty="0" err="1">
                <a:solidFill>
                  <a:srgbClr val="414951"/>
                </a:solidFill>
                <a:latin typeface="微软雅黑" panose="020B0503020204020204" charset="-122"/>
                <a:ea typeface="微软雅黑" panose="020B0503020204020204" charset="-122"/>
                <a:cs typeface="微软雅黑" panose="020B0503020204020204" charset="-122"/>
              </a:rPr>
              <a:t>应触发</a:t>
            </a:r>
            <a:r>
              <a:rPr sz="1035" b="0" dirty="0">
                <a:solidFill>
                  <a:srgbClr val="414951"/>
                </a:solidFill>
                <a:latin typeface="微软雅黑" panose="020B0503020204020204" charset="-122"/>
                <a:ea typeface="微软雅黑" panose="020B0503020204020204" charset="-122"/>
                <a:cs typeface="微软雅黑" panose="020B0503020204020204" charset="-122"/>
              </a:rPr>
              <a:t> / </a:t>
            </a:r>
            <a:r>
              <a:rPr sz="1035" b="0" dirty="0" err="1">
                <a:solidFill>
                  <a:srgbClr val="414951"/>
                </a:solidFill>
                <a:latin typeface="微软雅黑" panose="020B0503020204020204" charset="-122"/>
                <a:ea typeface="微软雅黑" panose="020B0503020204020204" charset="-122"/>
                <a:cs typeface="微软雅黑" panose="020B0503020204020204" charset="-122"/>
              </a:rPr>
              <a:t>不应触发</a:t>
            </a:r>
            <a:endParaRPr sz="103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8" name="workflow-test-band"/>
          <p:cNvSpPr>
            <a:spLocks noGrp="1"/>
          </p:cNvSpPr>
          <p:nvPr/>
        </p:nvSpPr>
        <p:spPr>
          <a:xfrm>
            <a:off x="8410575" y="2819400"/>
            <a:ext cx="2990850" cy="371475"/>
          </a:xfrm>
          <a:prstGeom prst="rect">
            <a:avLst/>
          </a:prstGeom>
          <a:solidFill>
            <a:srgbClr val="F7F9FA"/>
          </a:solidFill>
          <a:ln w="6668">
            <a:solidFill>
              <a:srgbClr val="D8DEE3"/>
            </a:solidFill>
            <a:prstDash val="solid"/>
          </a:ln>
        </p:spPr>
      </p:sp>
      <p:sp>
        <p:nvSpPr>
          <p:cNvPr id="99" name="workflow-test-label"/>
          <p:cNvSpPr>
            <a:spLocks noGrp="1"/>
          </p:cNvSpPr>
          <p:nvPr/>
        </p:nvSpPr>
        <p:spPr>
          <a:xfrm>
            <a:off x="8524875" y="285750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Workflow Test</a:t>
            </a:r>
          </a:p>
        </p:txBody>
      </p:sp>
      <p:sp>
        <p:nvSpPr>
          <p:cNvPr id="100" name="workflow-test-detail"/>
          <p:cNvSpPr>
            <a:spLocks noGrp="1"/>
          </p:cNvSpPr>
          <p:nvPr/>
        </p:nvSpPr>
        <p:spPr>
          <a:xfrm>
            <a:off x="9658350" y="285750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dirty="0">
                <a:solidFill>
                  <a:srgbClr val="414951"/>
                </a:solidFill>
                <a:latin typeface="微软雅黑" panose="020B0503020204020204" charset="-122"/>
                <a:ea typeface="微软雅黑" panose="020B0503020204020204" charset="-122"/>
                <a:cs typeface="微软雅黑" panose="020B0503020204020204" charset="-122"/>
              </a:rPr>
              <a:t>Stage / Handoff / Gate</a:t>
            </a:r>
          </a:p>
        </p:txBody>
      </p:sp>
      <p:sp>
        <p:nvSpPr>
          <p:cNvPr id="101" name="result-test-band"/>
          <p:cNvSpPr>
            <a:spLocks noGrp="1"/>
          </p:cNvSpPr>
          <p:nvPr/>
        </p:nvSpPr>
        <p:spPr>
          <a:xfrm>
            <a:off x="8410575" y="3295650"/>
            <a:ext cx="2990850" cy="371475"/>
          </a:xfrm>
          <a:prstGeom prst="rect">
            <a:avLst/>
          </a:prstGeom>
          <a:solidFill>
            <a:srgbClr val="F7F9FA"/>
          </a:solidFill>
          <a:ln w="6668">
            <a:solidFill>
              <a:srgbClr val="D8DEE3"/>
            </a:solidFill>
            <a:prstDash val="solid"/>
          </a:ln>
        </p:spPr>
      </p:sp>
      <p:sp>
        <p:nvSpPr>
          <p:cNvPr id="102" name="result-test-label"/>
          <p:cNvSpPr>
            <a:spLocks noGrp="1"/>
          </p:cNvSpPr>
          <p:nvPr/>
        </p:nvSpPr>
        <p:spPr>
          <a:xfrm>
            <a:off x="8524875" y="333375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Result Test</a:t>
            </a:r>
          </a:p>
        </p:txBody>
      </p:sp>
      <p:sp>
        <p:nvSpPr>
          <p:cNvPr id="103" name="result-test-detail"/>
          <p:cNvSpPr>
            <a:spLocks noGrp="1"/>
          </p:cNvSpPr>
          <p:nvPr/>
        </p:nvSpPr>
        <p:spPr>
          <a:xfrm>
            <a:off x="9658350" y="333375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a:solidFill>
                  <a:srgbClr val="414951"/>
                </a:solidFill>
                <a:latin typeface="微软雅黑" panose="020B0503020204020204" charset="-122"/>
                <a:ea typeface="微软雅黑" panose="020B0503020204020204" charset="-122"/>
                <a:cs typeface="微软雅黑" panose="020B0503020204020204" charset="-122"/>
              </a:rPr>
              <a:t>内容 / 格式 / 测试</a:t>
            </a:r>
          </a:p>
        </p:txBody>
      </p:sp>
      <p:sp>
        <p:nvSpPr>
          <p:cNvPr id="104" name="failure-fix-band"/>
          <p:cNvSpPr>
            <a:spLocks noGrp="1"/>
          </p:cNvSpPr>
          <p:nvPr/>
        </p:nvSpPr>
        <p:spPr>
          <a:xfrm>
            <a:off x="8410575" y="3771900"/>
            <a:ext cx="2990850" cy="371475"/>
          </a:xfrm>
          <a:prstGeom prst="rect">
            <a:avLst/>
          </a:prstGeom>
          <a:solidFill>
            <a:srgbClr val="F7F9FA"/>
          </a:solidFill>
          <a:ln w="6668">
            <a:solidFill>
              <a:srgbClr val="D8DEE3"/>
            </a:solidFill>
            <a:prstDash val="solid"/>
          </a:ln>
        </p:spPr>
      </p:sp>
      <p:sp>
        <p:nvSpPr>
          <p:cNvPr id="105" name="failure-fix-label"/>
          <p:cNvSpPr>
            <a:spLocks noGrp="1"/>
          </p:cNvSpPr>
          <p:nvPr/>
        </p:nvSpPr>
        <p:spPr>
          <a:xfrm>
            <a:off x="8524875" y="381000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Failure Fix  ↺</a:t>
            </a:r>
          </a:p>
        </p:txBody>
      </p:sp>
      <p:sp>
        <p:nvSpPr>
          <p:cNvPr id="106" name="failure-fix-detail"/>
          <p:cNvSpPr>
            <a:spLocks noGrp="1"/>
          </p:cNvSpPr>
          <p:nvPr/>
        </p:nvSpPr>
        <p:spPr>
          <a:xfrm>
            <a:off x="9658350" y="381000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a:solidFill>
                  <a:srgbClr val="414951"/>
                </a:solidFill>
                <a:latin typeface="微软雅黑" panose="020B0503020204020204" charset="-122"/>
                <a:ea typeface="微软雅黑" panose="020B0503020204020204" charset="-122"/>
                <a:cs typeface="微软雅黑" panose="020B0503020204020204" charset="-122"/>
              </a:rPr>
              <a:t>补资源 / 修约束 / 调流程</a:t>
            </a:r>
          </a:p>
        </p:txBody>
      </p:sp>
      <p:sp>
        <p:nvSpPr>
          <p:cNvPr id="107" name="iteration-loop-label"/>
          <p:cNvSpPr>
            <a:spLocks noGrp="1"/>
          </p:cNvSpPr>
          <p:nvPr/>
        </p:nvSpPr>
        <p:spPr>
          <a:xfrm>
            <a:off x="8553450" y="4269271"/>
            <a:ext cx="2667000" cy="209550"/>
          </a:xfrm>
          <a:prstGeom prst="rect">
            <a:avLst/>
          </a:prstGeom>
          <a:noFill/>
          <a:ln w="0">
            <a:noFill/>
            <a:prstDash val="solid"/>
          </a:ln>
        </p:spPr>
        <p:txBody>
          <a:bodyPr wrap="none" lIns="0" tIns="0" rIns="0" bIns="0" anchor="ctr">
            <a:normAutofit/>
          </a:bodyPr>
          <a:lstStyle/>
          <a:p>
            <a:pPr algn="ctr">
              <a:defRPr sz="975" b="1">
                <a:solidFill>
                  <a:srgbClr val="68727B"/>
                </a:solidFill>
                <a:latin typeface="微软雅黑" panose="020B0503020204020204" charset="-122"/>
                <a:ea typeface="微软雅黑" panose="020B0503020204020204" charset="-122"/>
                <a:cs typeface="微软雅黑" panose="020B0503020204020204" charset="-122"/>
              </a:defRPr>
            </a:pPr>
            <a:r>
              <a:rPr sz="975" b="1" dirty="0" err="1">
                <a:solidFill>
                  <a:srgbClr val="68727B"/>
                </a:solidFill>
                <a:latin typeface="微软雅黑" panose="020B0503020204020204" charset="-122"/>
                <a:ea typeface="微软雅黑" panose="020B0503020204020204" charset="-122"/>
                <a:cs typeface="微软雅黑" panose="020B0503020204020204" charset="-122"/>
              </a:rPr>
              <a:t>发现问题</a:t>
            </a:r>
            <a:r>
              <a:rPr sz="975" b="1" dirty="0">
                <a:solidFill>
                  <a:srgbClr val="68727B"/>
                </a:solidFill>
                <a:latin typeface="微软雅黑" panose="020B0503020204020204" charset="-122"/>
                <a:ea typeface="微软雅黑" panose="020B0503020204020204" charset="-122"/>
                <a:cs typeface="微软雅黑" panose="020B0503020204020204" charset="-122"/>
              </a:rPr>
              <a:t> → </a:t>
            </a:r>
            <a:r>
              <a:rPr sz="975" b="1" dirty="0" err="1">
                <a:solidFill>
                  <a:srgbClr val="68727B"/>
                </a:solidFill>
                <a:latin typeface="微软雅黑" panose="020B0503020204020204" charset="-122"/>
                <a:ea typeface="微软雅黑" panose="020B0503020204020204" charset="-122"/>
                <a:cs typeface="微软雅黑" panose="020B0503020204020204" charset="-122"/>
              </a:rPr>
              <a:t>修正</a:t>
            </a:r>
            <a:r>
              <a:rPr sz="975" b="1" dirty="0">
                <a:solidFill>
                  <a:srgbClr val="68727B"/>
                </a:solidFill>
                <a:latin typeface="微软雅黑" panose="020B0503020204020204" charset="-122"/>
                <a:ea typeface="微软雅黑" panose="020B0503020204020204" charset="-122"/>
                <a:cs typeface="微软雅黑" panose="020B0503020204020204" charset="-122"/>
              </a:rPr>
              <a:t> → </a:t>
            </a:r>
            <a:r>
              <a:rPr sz="975" b="1" dirty="0" err="1">
                <a:solidFill>
                  <a:srgbClr val="68727B"/>
                </a:solidFill>
                <a:latin typeface="微软雅黑" panose="020B0503020204020204" charset="-122"/>
                <a:ea typeface="微软雅黑" panose="020B0503020204020204" charset="-122"/>
                <a:cs typeface="微软雅黑" panose="020B0503020204020204" charset="-122"/>
              </a:rPr>
              <a:t>回到真实任务再测</a:t>
            </a:r>
            <a:endParaRPr sz="975"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10" name="validation-product-band"/>
          <p:cNvSpPr>
            <a:spLocks noGrp="1"/>
          </p:cNvSpPr>
          <p:nvPr/>
        </p:nvSpPr>
        <p:spPr>
          <a:xfrm>
            <a:off x="8391525" y="5029200"/>
            <a:ext cx="3038475" cy="295275"/>
          </a:xfrm>
          <a:prstGeom prst="rect">
            <a:avLst/>
          </a:prstGeom>
          <a:solidFill>
            <a:srgbClr val="F7F9FA"/>
          </a:solidFill>
          <a:ln w="6668">
            <a:solidFill>
              <a:srgbClr val="D8DEE3"/>
            </a:solidFill>
            <a:prstDash val="solid"/>
          </a:ln>
        </p:spPr>
      </p:sp>
      <p:sp>
        <p:nvSpPr>
          <p:cNvPr id="111" name="validation-product"/>
          <p:cNvSpPr>
            <a:spLocks noGrp="1"/>
          </p:cNvSpPr>
          <p:nvPr/>
        </p:nvSpPr>
        <p:spPr>
          <a:xfrm>
            <a:off x="8505825" y="5038725"/>
            <a:ext cx="2809875" cy="276225"/>
          </a:xfrm>
          <a:prstGeom prst="rect">
            <a:avLst/>
          </a:prstGeom>
          <a:noFill/>
          <a:ln w="0">
            <a:noFill/>
            <a:prstDash val="solid"/>
          </a:ln>
        </p:spPr>
        <p:txBody>
          <a:bodyPr wrap="none" lIns="0" tIns="0" rIns="0" bIns="0" anchor="ctr">
            <a:normAutofit/>
          </a:bodyPr>
          <a:lstStyle/>
          <a:p>
            <a:pPr algn="ctr">
              <a:defRPr sz="1050" b="1">
                <a:solidFill>
                  <a:srgbClr val="557A96"/>
                </a:solidFill>
                <a:latin typeface="微软雅黑" panose="020B0503020204020204" charset="-122"/>
                <a:ea typeface="微软雅黑" panose="020B0503020204020204" charset="-122"/>
                <a:cs typeface="微软雅黑" panose="020B0503020204020204" charset="-122"/>
              </a:defRPr>
            </a:pPr>
            <a:r>
              <a:rPr sz="1050" b="1">
                <a:solidFill>
                  <a:srgbClr val="557A96"/>
                </a:solidFill>
                <a:latin typeface="微软雅黑" panose="020B0503020204020204" charset="-122"/>
                <a:ea typeface="微软雅黑" panose="020B0503020204020204" charset="-122"/>
                <a:cs typeface="微软雅黑" panose="020B0503020204020204" charset="-122"/>
              </a:rPr>
              <a:t>产物：经实测验证、可持续迭代的 Skill</a:t>
            </a:r>
          </a:p>
        </p:txBody>
      </p:sp>
      <p:sp>
        <p:nvSpPr>
          <p:cNvPr id="14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50" name="summary-band"/>
          <p:cNvSpPr>
            <a:spLocks noGrp="1"/>
          </p:cNvSpPr>
          <p:nvPr/>
        </p:nvSpPr>
        <p:spPr>
          <a:xfrm>
            <a:off x="609600" y="6000750"/>
            <a:ext cx="10972800" cy="609600"/>
          </a:xfrm>
          <a:prstGeom prst="rect">
            <a:avLst/>
          </a:prstGeom>
          <a:solidFill>
            <a:srgbClr val="F3F4F5"/>
          </a:solidFill>
          <a:ln w="0">
            <a:noFill/>
            <a:prstDash val="solid"/>
          </a:ln>
        </p:spPr>
      </p:sp>
      <p:sp>
        <p:nvSpPr>
          <p:cNvPr id="151" name="summary-accent"/>
          <p:cNvSpPr>
            <a:spLocks noGrp="1"/>
          </p:cNvSpPr>
          <p:nvPr/>
        </p:nvSpPr>
        <p:spPr>
          <a:xfrm>
            <a:off x="609600" y="6000750"/>
            <a:ext cx="38100" cy="609600"/>
          </a:xfrm>
          <a:prstGeom prst="rect">
            <a:avLst/>
          </a:prstGeom>
          <a:solidFill>
            <a:srgbClr val="557A96"/>
          </a:solidFill>
          <a:ln w="0">
            <a:noFill/>
            <a:prstDash val="solid"/>
          </a:ln>
        </p:spPr>
      </p:sp>
      <p:sp>
        <p:nvSpPr>
          <p:cNvPr id="152" name="文本框 151"/>
          <p:cNvSpPr txBox="1"/>
          <p:nvPr/>
        </p:nvSpPr>
        <p:spPr>
          <a:xfrm>
            <a:off x="4041591" y="6134784"/>
            <a:ext cx="4108817" cy="646331"/>
          </a:xfrm>
          <a:prstGeom prst="rect">
            <a:avLst/>
          </a:prstGeom>
          <a:noFill/>
        </p:spPr>
        <p:txBody>
          <a:bodyPr wrap="none" rtlCol="0">
            <a:spAutoFit/>
          </a:bodyPr>
          <a:lstStyle/>
          <a:p>
            <a:r>
              <a:rPr lang="zh-CN" altLang="en-US" b="1" dirty="0">
                <a:solidFill>
                  <a:srgbClr val="68727B"/>
                </a:solidFill>
                <a:latin typeface="微软雅黑" panose="020B0503020204020204" charset="-122"/>
                <a:ea typeface="微软雅黑" panose="020B0503020204020204" charset="-122"/>
                <a:cs typeface="微软雅黑" panose="020B0503020204020204" charset="-122"/>
              </a:rPr>
              <a:t>每次修正都应回到真实任务重新验证。</a:t>
            </a:r>
          </a:p>
          <a:p>
            <a:endParaRPr lang="zh-CN" altLang="en-US" dirty="0"/>
          </a:p>
        </p:txBody>
      </p:sp>
      <p:sp>
        <p:nvSpPr>
          <p:cNvPr id="15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1.5</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54"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6</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200150" y="171450"/>
            <a:ext cx="10572750" cy="523875"/>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微软雅黑" panose="020B0503020204020204" charset="-122"/>
                <a:cs typeface="微软雅黑" panose="020B0503020204020204" charset="-122"/>
              </a:rPr>
              <a:t>Skill</a:t>
            </a:r>
            <a:r>
              <a:rPr lang="en-US" sz="2700" b="1" dirty="0">
                <a:solidFill>
                  <a:srgbClr val="243B53"/>
                </a:solidFill>
                <a:latin typeface="Arial" panose="020B0604020202020204" pitchFamily="34" charset="0"/>
                <a:ea typeface="微软雅黑" panose="020B0503020204020204" charset="-122"/>
                <a:cs typeface="微软雅黑" panose="020B0503020204020204" charset="-122"/>
              </a:rPr>
              <a:t> </a:t>
            </a:r>
            <a:r>
              <a:rPr lang="zh-CN" altLang="en-US" sz="2700" b="1" dirty="0">
                <a:solidFill>
                  <a:srgbClr val="243B53"/>
                </a:solidFill>
                <a:latin typeface="Arial" panose="020B0604020202020204" pitchFamily="34" charset="0"/>
                <a:ea typeface="微软雅黑" panose="020B0503020204020204" charset="-122"/>
                <a:cs typeface="微软雅黑" panose="020B0503020204020204" charset="-122"/>
              </a:rPr>
              <a:t>开发流程</a:t>
            </a:r>
            <a:r>
              <a:rPr sz="2700" b="1" dirty="0">
                <a:solidFill>
                  <a:srgbClr val="243B53"/>
                </a:solidFill>
                <a:latin typeface="Arial" panose="020B0604020202020204" pitchFamily="34" charset="0"/>
                <a:ea typeface="微软雅黑" panose="020B0503020204020204" charset="-122"/>
                <a:cs typeface="微软雅黑" panose="020B0503020204020204" charset="-122"/>
              </a:rPr>
              <a:t>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的完整演化</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slide-subtitle"/>
          <p:cNvSpPr>
            <a:spLocks noGrp="1"/>
          </p:cNvSpPr>
          <p:nvPr/>
        </p:nvSpPr>
        <p:spPr>
          <a:xfrm>
            <a:off x="800100" y="714375"/>
            <a:ext cx="7810500" cy="247650"/>
          </a:xfrm>
          <a:prstGeom prst="rect">
            <a:avLst/>
          </a:prstGeom>
          <a:noFill/>
          <a:ln w="0">
            <a:noFill/>
            <a:prstDash val="solid"/>
          </a:ln>
        </p:spPr>
        <p:txBody>
          <a:bodyPr wrap="none" lIns="0" tIns="0" rIns="0" bIns="0" anchor="ctr">
            <a:normAutofit/>
          </a:bodyPr>
          <a:lstStyle/>
          <a:p>
            <a:pPr algn="l">
              <a:defRPr sz="1335" b="0">
                <a:solidFill>
                  <a:srgbClr val="68727B"/>
                </a:solidFill>
                <a:latin typeface="微软雅黑" panose="020B0503020204020204" charset="-122"/>
                <a:ea typeface="微软雅黑" panose="020B0503020204020204" charset="-122"/>
                <a:cs typeface="微软雅黑" panose="020B0503020204020204" charset="-122"/>
              </a:defRPr>
            </a:pPr>
            <a:endParaRPr sz="133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 name="main-column-divider"/>
          <p:cNvSpPr>
            <a:spLocks noGrp="1"/>
          </p:cNvSpPr>
          <p:nvPr/>
        </p:nvSpPr>
        <p:spPr>
          <a:xfrm>
            <a:off x="8610600" y="1162050"/>
            <a:ext cx="0" cy="4933950"/>
          </a:xfrm>
          <a:prstGeom prst="line">
            <a:avLst/>
          </a:prstGeom>
          <a:noFill/>
          <a:ln w="9525">
            <a:solidFill>
              <a:srgbClr val="D8DEE3"/>
            </a:solidFill>
            <a:prstDash val="solid"/>
          </a:ln>
        </p:spPr>
      </p:sp>
      <p:sp>
        <p:nvSpPr>
          <p:cNvPr id="6" name="main-heading"/>
          <p:cNvSpPr>
            <a:spLocks noGrp="1"/>
          </p:cNvSpPr>
          <p:nvPr/>
        </p:nvSpPr>
        <p:spPr>
          <a:xfrm>
            <a:off x="609600" y="1143000"/>
            <a:ext cx="3333750" cy="266700"/>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dirty="0" err="1" smtClean="0">
                <a:solidFill>
                  <a:srgbClr val="252B31"/>
                </a:solidFill>
                <a:latin typeface="微软雅黑" panose="020B0503020204020204" charset="-122"/>
                <a:ea typeface="微软雅黑" panose="020B0503020204020204" charset="-122"/>
                <a:cs typeface="微软雅黑" panose="020B0503020204020204" charset="-122"/>
              </a:rPr>
              <a:t>从</a:t>
            </a:r>
            <a:r>
              <a:rPr lang="en-US" altLang="zh-CN" sz="1650" b="1" dirty="0" err="1" smtClean="0">
                <a:solidFill>
                  <a:srgbClr val="252B31"/>
                </a:solidFill>
                <a:latin typeface="微软雅黑" panose="020B0503020204020204" charset="-122"/>
                <a:ea typeface="微软雅黑" panose="020B0503020204020204" charset="-122"/>
                <a:cs typeface="微软雅黑" panose="020B0503020204020204" charset="-122"/>
              </a:rPr>
              <a:t>task</a:t>
            </a:r>
            <a:r>
              <a:rPr sz="1650" b="1" dirty="0" err="1" smtClean="0">
                <a:solidFill>
                  <a:srgbClr val="252B31"/>
                </a:solidFill>
                <a:latin typeface="微软雅黑" panose="020B0503020204020204" charset="-122"/>
                <a:ea typeface="微软雅黑" panose="020B0503020204020204" charset="-122"/>
                <a:cs typeface="微软雅黑" panose="020B0503020204020204" charset="-122"/>
              </a:rPr>
              <a:t>到稳定</a:t>
            </a:r>
            <a:r>
              <a:rPr sz="1650" b="1" dirty="0" smtClean="0">
                <a:solidFill>
                  <a:srgbClr val="252B31"/>
                </a:solidFill>
                <a:latin typeface="微软雅黑" panose="020B0503020204020204" charset="-122"/>
                <a:ea typeface="微软雅黑" panose="020B0503020204020204" charset="-122"/>
                <a:cs typeface="微软雅黑" panose="020B0503020204020204" charset="-122"/>
              </a:rPr>
              <a:t> </a:t>
            </a:r>
            <a:r>
              <a:rPr sz="1650" b="1" dirty="0">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8" name="iteration-heading"/>
          <p:cNvSpPr>
            <a:spLocks noGrp="1"/>
          </p:cNvSpPr>
          <p:nvPr/>
        </p:nvSpPr>
        <p:spPr>
          <a:xfrm>
            <a:off x="8724900" y="1143000"/>
            <a:ext cx="2857500" cy="266700"/>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失败定位与迭代</a:t>
            </a:r>
          </a:p>
        </p:txBody>
      </p:sp>
      <p:sp>
        <p:nvSpPr>
          <p:cNvPr id="9" name="task-band"/>
          <p:cNvSpPr>
            <a:spLocks noGrp="1"/>
          </p:cNvSpPr>
          <p:nvPr/>
        </p:nvSpPr>
        <p:spPr>
          <a:xfrm>
            <a:off x="609600" y="1485900"/>
            <a:ext cx="7886700" cy="666750"/>
          </a:xfrm>
          <a:prstGeom prst="rect">
            <a:avLst/>
          </a:prstGeom>
          <a:solidFill>
            <a:srgbClr val="FFFFFF"/>
          </a:solidFill>
          <a:ln w="9525">
            <a:solidFill>
              <a:srgbClr val="D8DEE3"/>
            </a:solidFill>
            <a:prstDash val="solid"/>
          </a:ln>
        </p:spPr>
      </p:sp>
      <p:sp>
        <p:nvSpPr>
          <p:cNvPr id="10" name="task-accent"/>
          <p:cNvSpPr>
            <a:spLocks noGrp="1"/>
          </p:cNvSpPr>
          <p:nvPr/>
        </p:nvSpPr>
        <p:spPr>
          <a:xfrm>
            <a:off x="609600" y="1485900"/>
            <a:ext cx="28575" cy="666750"/>
          </a:xfrm>
          <a:prstGeom prst="rect">
            <a:avLst/>
          </a:prstGeom>
          <a:solidFill>
            <a:srgbClr val="557A96"/>
          </a:solidFill>
          <a:ln w="0">
            <a:noFill/>
            <a:prstDash val="solid"/>
          </a:ln>
        </p:spPr>
      </p:sp>
      <p:sp>
        <p:nvSpPr>
          <p:cNvPr id="11" name="task-number"/>
          <p:cNvSpPr>
            <a:spLocks noGrp="1"/>
          </p:cNvSpPr>
          <p:nvPr/>
        </p:nvSpPr>
        <p:spPr>
          <a:xfrm>
            <a:off x="762000" y="15621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12" name="task-title"/>
          <p:cNvSpPr>
            <a:spLocks noGrp="1"/>
          </p:cNvSpPr>
          <p:nvPr/>
        </p:nvSpPr>
        <p:spPr>
          <a:xfrm>
            <a:off x="1143000" y="15430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Task</a:t>
            </a:r>
          </a:p>
        </p:txBody>
      </p:sp>
      <p:sp>
        <p:nvSpPr>
          <p:cNvPr id="13" name="task-subtitle"/>
          <p:cNvSpPr>
            <a:spLocks noGrp="1"/>
          </p:cNvSpPr>
          <p:nvPr/>
        </p:nvSpPr>
        <p:spPr>
          <a:xfrm>
            <a:off x="762000" y="18097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明确任务起点和终点</a:t>
            </a:r>
          </a:p>
        </p:txBody>
      </p:sp>
      <p:sp>
        <p:nvSpPr>
          <p:cNvPr id="14" name="basic-workflow-band"/>
          <p:cNvSpPr>
            <a:spLocks noGrp="1"/>
          </p:cNvSpPr>
          <p:nvPr/>
        </p:nvSpPr>
        <p:spPr>
          <a:xfrm>
            <a:off x="609600" y="2209800"/>
            <a:ext cx="7886700" cy="666750"/>
          </a:xfrm>
          <a:prstGeom prst="rect">
            <a:avLst/>
          </a:prstGeom>
          <a:solidFill>
            <a:srgbClr val="FFFFFF"/>
          </a:solidFill>
          <a:ln w="9525">
            <a:solidFill>
              <a:srgbClr val="D8DEE3"/>
            </a:solidFill>
            <a:prstDash val="solid"/>
          </a:ln>
        </p:spPr>
      </p:sp>
      <p:sp>
        <p:nvSpPr>
          <p:cNvPr id="15" name="basic-workflow-accent"/>
          <p:cNvSpPr>
            <a:spLocks noGrp="1"/>
          </p:cNvSpPr>
          <p:nvPr/>
        </p:nvSpPr>
        <p:spPr>
          <a:xfrm>
            <a:off x="609600" y="2209800"/>
            <a:ext cx="28575" cy="666750"/>
          </a:xfrm>
          <a:prstGeom prst="rect">
            <a:avLst/>
          </a:prstGeom>
          <a:solidFill>
            <a:srgbClr val="557A96"/>
          </a:solidFill>
          <a:ln w="0">
            <a:noFill/>
            <a:prstDash val="solid"/>
          </a:ln>
        </p:spPr>
      </p:sp>
      <p:sp>
        <p:nvSpPr>
          <p:cNvPr id="16" name="basic-workflow-number"/>
          <p:cNvSpPr>
            <a:spLocks noGrp="1"/>
          </p:cNvSpPr>
          <p:nvPr/>
        </p:nvSpPr>
        <p:spPr>
          <a:xfrm>
            <a:off x="762000" y="22860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17" name="basic-workflow-title"/>
          <p:cNvSpPr>
            <a:spLocks noGrp="1"/>
          </p:cNvSpPr>
          <p:nvPr/>
        </p:nvSpPr>
        <p:spPr>
          <a:xfrm>
            <a:off x="1143000" y="22669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Basic Workflow</a:t>
            </a:r>
          </a:p>
        </p:txBody>
      </p:sp>
      <p:sp>
        <p:nvSpPr>
          <p:cNvPr id="18" name="basic-workflow-subtitle"/>
          <p:cNvSpPr>
            <a:spLocks noGrp="1"/>
          </p:cNvSpPr>
          <p:nvPr/>
        </p:nvSpPr>
        <p:spPr>
          <a:xfrm>
            <a:off x="762000" y="25336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把任务拆成明确 Stage</a:t>
            </a:r>
          </a:p>
        </p:txBody>
      </p:sp>
      <p:sp>
        <p:nvSpPr>
          <p:cNvPr id="19" name="executable-band"/>
          <p:cNvSpPr>
            <a:spLocks noGrp="1"/>
          </p:cNvSpPr>
          <p:nvPr/>
        </p:nvSpPr>
        <p:spPr>
          <a:xfrm>
            <a:off x="609600" y="2933700"/>
            <a:ext cx="7886700" cy="1276350"/>
          </a:xfrm>
          <a:prstGeom prst="rect">
            <a:avLst/>
          </a:prstGeom>
          <a:solidFill>
            <a:srgbClr val="FFFFFF"/>
          </a:solidFill>
          <a:ln w="9525">
            <a:solidFill>
              <a:srgbClr val="D8DEE3"/>
            </a:solidFill>
            <a:prstDash val="solid"/>
          </a:ln>
        </p:spPr>
      </p:sp>
      <p:sp>
        <p:nvSpPr>
          <p:cNvPr id="20" name="executable-accent"/>
          <p:cNvSpPr>
            <a:spLocks noGrp="1"/>
          </p:cNvSpPr>
          <p:nvPr/>
        </p:nvSpPr>
        <p:spPr>
          <a:xfrm>
            <a:off x="609600" y="2933700"/>
            <a:ext cx="28575" cy="1276350"/>
          </a:xfrm>
          <a:prstGeom prst="rect">
            <a:avLst/>
          </a:prstGeom>
          <a:solidFill>
            <a:srgbClr val="557A96"/>
          </a:solidFill>
          <a:ln w="0">
            <a:noFill/>
            <a:prstDash val="solid"/>
          </a:ln>
        </p:spPr>
      </p:sp>
      <p:sp>
        <p:nvSpPr>
          <p:cNvPr id="21" name="executable-number"/>
          <p:cNvSpPr>
            <a:spLocks noGrp="1"/>
          </p:cNvSpPr>
          <p:nvPr/>
        </p:nvSpPr>
        <p:spPr>
          <a:xfrm>
            <a:off x="762000" y="30099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22" name="executable-title"/>
          <p:cNvSpPr>
            <a:spLocks noGrp="1"/>
          </p:cNvSpPr>
          <p:nvPr/>
        </p:nvSpPr>
        <p:spPr>
          <a:xfrm>
            <a:off x="1143000" y="2990850"/>
            <a:ext cx="1571625" cy="247650"/>
          </a:xfrm>
          <a:prstGeom prst="rect">
            <a:avLst/>
          </a:prstGeom>
          <a:noFill/>
          <a:ln w="0">
            <a:noFill/>
            <a:prstDash val="solid"/>
          </a:ln>
        </p:spPr>
        <p:txBody>
          <a:bodyPr wrap="none" lIns="0" tIns="0" rIns="0" bIns="0" anchor="ctr">
            <a:normAutofit fontScale="96545"/>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Executable Workflow</a:t>
            </a:r>
          </a:p>
        </p:txBody>
      </p:sp>
      <p:sp>
        <p:nvSpPr>
          <p:cNvPr id="23" name="executable-subtitle"/>
          <p:cNvSpPr>
            <a:spLocks noGrp="1"/>
          </p:cNvSpPr>
          <p:nvPr/>
        </p:nvSpPr>
        <p:spPr>
          <a:xfrm>
            <a:off x="762000" y="32575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dirty="0" err="1" smtClean="0">
                <a:solidFill>
                  <a:srgbClr val="68727B"/>
                </a:solidFill>
                <a:latin typeface="微软雅黑" panose="020B0503020204020204" charset="-122"/>
                <a:ea typeface="微软雅黑" panose="020B0503020204020204" charset="-122"/>
                <a:cs typeface="微软雅黑" panose="020B0503020204020204" charset="-122"/>
              </a:rPr>
              <a:t>加入</a:t>
            </a:r>
            <a:r>
              <a:rPr lang="zh-CN" altLang="en-US" sz="1015" b="0" dirty="0" smtClean="0">
                <a:solidFill>
                  <a:srgbClr val="68727B"/>
                </a:solidFill>
                <a:latin typeface="微软雅黑" panose="020B0503020204020204" charset="-122"/>
                <a:ea typeface="微软雅黑" panose="020B0503020204020204" charset="-122"/>
                <a:cs typeface="微软雅黑" panose="020B0503020204020204" charset="-122"/>
              </a:rPr>
              <a:t>中间</a:t>
            </a:r>
            <a:r>
              <a:rPr sz="1015" b="0" dirty="0" err="1" smtClean="0">
                <a:solidFill>
                  <a:srgbClr val="68727B"/>
                </a:solidFill>
                <a:latin typeface="微软雅黑" panose="020B0503020204020204" charset="-122"/>
                <a:ea typeface="微软雅黑" panose="020B0503020204020204" charset="-122"/>
                <a:cs typeface="微软雅黑" panose="020B0503020204020204" charset="-122"/>
              </a:rPr>
              <a:t>产物</a:t>
            </a:r>
            <a:r>
              <a:rPr sz="1015" b="0" dirty="0" err="1">
                <a:solidFill>
                  <a:srgbClr val="68727B"/>
                </a:solidFill>
                <a:latin typeface="微软雅黑" panose="020B0503020204020204" charset="-122"/>
                <a:ea typeface="微软雅黑" panose="020B0503020204020204" charset="-122"/>
                <a:cs typeface="微软雅黑" panose="020B0503020204020204" charset="-122"/>
              </a:rPr>
              <a:t>、门禁与失败路径</a:t>
            </a:r>
            <a:endParaRPr sz="101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24" name="packaging-band"/>
          <p:cNvSpPr>
            <a:spLocks noGrp="1"/>
          </p:cNvSpPr>
          <p:nvPr/>
        </p:nvSpPr>
        <p:spPr>
          <a:xfrm>
            <a:off x="609600" y="4267200"/>
            <a:ext cx="7886700" cy="1257300"/>
          </a:xfrm>
          <a:prstGeom prst="rect">
            <a:avLst/>
          </a:prstGeom>
          <a:solidFill>
            <a:srgbClr val="FFFFFF"/>
          </a:solidFill>
          <a:ln w="9525">
            <a:solidFill>
              <a:srgbClr val="D8DEE3"/>
            </a:solidFill>
            <a:prstDash val="solid"/>
          </a:ln>
        </p:spPr>
      </p:sp>
      <p:sp>
        <p:nvSpPr>
          <p:cNvPr id="25" name="packaging-accent"/>
          <p:cNvSpPr>
            <a:spLocks noGrp="1"/>
          </p:cNvSpPr>
          <p:nvPr/>
        </p:nvSpPr>
        <p:spPr>
          <a:xfrm>
            <a:off x="609600" y="4267200"/>
            <a:ext cx="28575" cy="1257300"/>
          </a:xfrm>
          <a:prstGeom prst="rect">
            <a:avLst/>
          </a:prstGeom>
          <a:solidFill>
            <a:srgbClr val="557A96"/>
          </a:solidFill>
          <a:ln w="0">
            <a:noFill/>
            <a:prstDash val="solid"/>
          </a:ln>
        </p:spPr>
      </p:sp>
      <p:sp>
        <p:nvSpPr>
          <p:cNvPr id="26" name="packaging-number"/>
          <p:cNvSpPr>
            <a:spLocks noGrp="1"/>
          </p:cNvSpPr>
          <p:nvPr/>
        </p:nvSpPr>
        <p:spPr>
          <a:xfrm>
            <a:off x="762000" y="43434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27" name="packaging-title"/>
          <p:cNvSpPr>
            <a:spLocks noGrp="1"/>
          </p:cNvSpPr>
          <p:nvPr/>
        </p:nvSpPr>
        <p:spPr>
          <a:xfrm>
            <a:off x="1143000" y="43243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dirty="0" smtClean="0">
                <a:solidFill>
                  <a:srgbClr val="252B31"/>
                </a:solidFill>
                <a:latin typeface="微软雅黑" panose="020B0503020204020204" charset="-122"/>
                <a:ea typeface="微软雅黑" panose="020B0503020204020204" charset="-122"/>
                <a:cs typeface="微软雅黑" panose="020B0503020204020204" charset="-122"/>
              </a:rPr>
              <a:t>Skill</a:t>
            </a:r>
            <a:r>
              <a:rPr lang="zh-CN" altLang="en-US" sz="1425" b="1" dirty="0" smtClean="0">
                <a:solidFill>
                  <a:srgbClr val="252B31"/>
                </a:solidFill>
                <a:latin typeface="微软雅黑" panose="020B0503020204020204" charset="-122"/>
                <a:ea typeface="微软雅黑" panose="020B0503020204020204" charset="-122"/>
                <a:cs typeface="微软雅黑" panose="020B0503020204020204" charset="-122"/>
              </a:rPr>
              <a:t>封装</a:t>
            </a:r>
            <a:endParaRPr sz="14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8" name="packaging-subtitle"/>
          <p:cNvSpPr>
            <a:spLocks noGrp="1"/>
          </p:cNvSpPr>
          <p:nvPr/>
        </p:nvSpPr>
        <p:spPr>
          <a:xfrm>
            <a:off x="762000" y="45910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从 Workflow 封装成完整 Skill</a:t>
            </a:r>
          </a:p>
        </p:txBody>
      </p:sp>
      <p:sp>
        <p:nvSpPr>
          <p:cNvPr id="29" name="evaluation-band"/>
          <p:cNvSpPr>
            <a:spLocks noGrp="1"/>
          </p:cNvSpPr>
          <p:nvPr/>
        </p:nvSpPr>
        <p:spPr>
          <a:xfrm>
            <a:off x="609600" y="5581650"/>
            <a:ext cx="7886700" cy="514350"/>
          </a:xfrm>
          <a:prstGeom prst="rect">
            <a:avLst/>
          </a:prstGeom>
          <a:solidFill>
            <a:srgbClr val="FFFFFF"/>
          </a:solidFill>
          <a:ln w="9525">
            <a:solidFill>
              <a:srgbClr val="D8DEE3"/>
            </a:solidFill>
            <a:prstDash val="solid"/>
          </a:ln>
        </p:spPr>
      </p:sp>
      <p:sp>
        <p:nvSpPr>
          <p:cNvPr id="30" name="evaluation-accent"/>
          <p:cNvSpPr>
            <a:spLocks noGrp="1"/>
          </p:cNvSpPr>
          <p:nvPr/>
        </p:nvSpPr>
        <p:spPr>
          <a:xfrm>
            <a:off x="609600" y="5581650"/>
            <a:ext cx="28575" cy="514350"/>
          </a:xfrm>
          <a:prstGeom prst="rect">
            <a:avLst/>
          </a:prstGeom>
          <a:solidFill>
            <a:srgbClr val="557A96"/>
          </a:solidFill>
          <a:ln w="0">
            <a:noFill/>
            <a:prstDash val="solid"/>
          </a:ln>
        </p:spPr>
      </p:sp>
      <p:sp>
        <p:nvSpPr>
          <p:cNvPr id="31" name="evaluation-number"/>
          <p:cNvSpPr>
            <a:spLocks noGrp="1"/>
          </p:cNvSpPr>
          <p:nvPr/>
        </p:nvSpPr>
        <p:spPr>
          <a:xfrm>
            <a:off x="762000" y="565785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05</a:t>
            </a:r>
          </a:p>
        </p:txBody>
      </p:sp>
      <p:sp>
        <p:nvSpPr>
          <p:cNvPr id="32" name="evaluation-title"/>
          <p:cNvSpPr>
            <a:spLocks noGrp="1"/>
          </p:cNvSpPr>
          <p:nvPr/>
        </p:nvSpPr>
        <p:spPr>
          <a:xfrm>
            <a:off x="1143000" y="563880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Evaluation</a:t>
            </a:r>
          </a:p>
        </p:txBody>
      </p:sp>
      <p:sp>
        <p:nvSpPr>
          <p:cNvPr id="33" name="evaluation-subtitle"/>
          <p:cNvSpPr>
            <a:spLocks noGrp="1"/>
          </p:cNvSpPr>
          <p:nvPr/>
        </p:nvSpPr>
        <p:spPr>
          <a:xfrm>
            <a:off x="762000" y="590550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真实任务验证</a:t>
            </a:r>
          </a:p>
        </p:txBody>
      </p:sp>
      <p:sp>
        <p:nvSpPr>
          <p:cNvPr id="34" name="task-input-output-line"/>
          <p:cNvSpPr>
            <a:spLocks noGrp="1"/>
          </p:cNvSpPr>
          <p:nvPr/>
        </p:nvSpPr>
        <p:spPr>
          <a:xfrm>
            <a:off x="3714750" y="1819275"/>
            <a:ext cx="2514600" cy="0"/>
          </a:xfrm>
          <a:prstGeom prst="line">
            <a:avLst/>
          </a:prstGeom>
          <a:noFill/>
          <a:ln w="12383">
            <a:solidFill>
              <a:srgbClr val="557A96"/>
            </a:solidFill>
            <a:prstDash val="solid"/>
          </a:ln>
        </p:spPr>
      </p:sp>
      <p:sp>
        <p:nvSpPr>
          <p:cNvPr id="35" name="task-input-output-arrow"/>
          <p:cNvSpPr>
            <a:spLocks noGrp="1"/>
          </p:cNvSpPr>
          <p:nvPr/>
        </p:nvSpPr>
        <p:spPr>
          <a:xfrm rot="5400000">
            <a:off x="6191250" y="1781175"/>
            <a:ext cx="76200" cy="76200"/>
          </a:xfrm>
          <a:prstGeom prst="triangle">
            <a:avLst/>
          </a:prstGeom>
          <a:solidFill>
            <a:srgbClr val="557A96"/>
          </a:solidFill>
          <a:ln w="0">
            <a:solidFill>
              <a:srgbClr val="557A96"/>
            </a:solidFill>
            <a:prstDash val="solid"/>
          </a:ln>
        </p:spPr>
      </p:sp>
      <p:sp>
        <p:nvSpPr>
          <p:cNvPr id="36" name="task-input-box"/>
          <p:cNvSpPr>
            <a:spLocks noGrp="1"/>
          </p:cNvSpPr>
          <p:nvPr/>
        </p:nvSpPr>
        <p:spPr>
          <a:xfrm>
            <a:off x="3067050" y="1676400"/>
            <a:ext cx="647700" cy="285750"/>
          </a:xfrm>
          <a:prstGeom prst="roundRect">
            <a:avLst>
              <a:gd name="adj" fmla="val 13333"/>
            </a:avLst>
          </a:prstGeom>
          <a:solidFill>
            <a:srgbClr val="F7F9FA"/>
          </a:solidFill>
          <a:ln w="9525">
            <a:solidFill>
              <a:srgbClr val="7F9DB2"/>
            </a:solidFill>
            <a:prstDash val="solid"/>
          </a:ln>
        </p:spPr>
      </p:sp>
      <p:sp>
        <p:nvSpPr>
          <p:cNvPr id="37" name="task-input-text"/>
          <p:cNvSpPr>
            <a:spLocks noGrp="1"/>
          </p:cNvSpPr>
          <p:nvPr/>
        </p:nvSpPr>
        <p:spPr>
          <a:xfrm>
            <a:off x="3095625" y="1695450"/>
            <a:ext cx="590550" cy="247650"/>
          </a:xfrm>
          <a:prstGeom prst="rect">
            <a:avLst/>
          </a:prstGeom>
          <a:noFill/>
          <a:ln w="0">
            <a:noFill/>
            <a:prstDash val="solid"/>
          </a:ln>
        </p:spPr>
        <p:txBody>
          <a:bodyPr wrap="none" lIns="0" tIns="0" rIns="0" bIns="0" anchor="ctr">
            <a:normAutofit/>
          </a:bodyPr>
          <a:lstStyle/>
          <a:p>
            <a:pPr algn="ctr">
              <a:defRPr sz="1050" b="1">
                <a:solidFill>
                  <a:srgbClr val="252B31"/>
                </a:solidFill>
                <a:latin typeface="微软雅黑" panose="020B0503020204020204" charset="-122"/>
                <a:ea typeface="微软雅黑" panose="020B0503020204020204" charset="-122"/>
                <a:cs typeface="微软雅黑" panose="020B0503020204020204" charset="-122"/>
              </a:defRPr>
            </a:pPr>
            <a:r>
              <a:rPr sz="1050"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38" name="task-output-box"/>
          <p:cNvSpPr>
            <a:spLocks noGrp="1"/>
          </p:cNvSpPr>
          <p:nvPr/>
        </p:nvSpPr>
        <p:spPr>
          <a:xfrm>
            <a:off x="6267450" y="1676400"/>
            <a:ext cx="723900" cy="285750"/>
          </a:xfrm>
          <a:prstGeom prst="roundRect">
            <a:avLst>
              <a:gd name="adj" fmla="val 13333"/>
            </a:avLst>
          </a:prstGeom>
          <a:solidFill>
            <a:srgbClr val="F7F9FA"/>
          </a:solidFill>
          <a:ln w="9525">
            <a:solidFill>
              <a:srgbClr val="7F9DB2"/>
            </a:solidFill>
            <a:prstDash val="solid"/>
          </a:ln>
        </p:spPr>
      </p:sp>
      <p:sp>
        <p:nvSpPr>
          <p:cNvPr id="39" name="task-output-text"/>
          <p:cNvSpPr>
            <a:spLocks noGrp="1"/>
          </p:cNvSpPr>
          <p:nvPr/>
        </p:nvSpPr>
        <p:spPr>
          <a:xfrm>
            <a:off x="6296025" y="1695450"/>
            <a:ext cx="666750" cy="247650"/>
          </a:xfrm>
          <a:prstGeom prst="rect">
            <a:avLst/>
          </a:prstGeom>
          <a:noFill/>
          <a:ln w="0">
            <a:noFill/>
            <a:prstDash val="solid"/>
          </a:ln>
        </p:spPr>
        <p:txBody>
          <a:bodyPr wrap="none" lIns="0" tIns="0" rIns="0" bIns="0" anchor="ctr">
            <a:normAutofit/>
          </a:bodyPr>
          <a:lstStyle/>
          <a:p>
            <a:pPr algn="ctr">
              <a:defRPr sz="1050" b="1">
                <a:solidFill>
                  <a:srgbClr val="252B31"/>
                </a:solidFill>
                <a:latin typeface="微软雅黑" panose="020B0503020204020204" charset="-122"/>
                <a:ea typeface="微软雅黑" panose="020B0503020204020204" charset="-122"/>
                <a:cs typeface="微软雅黑" panose="020B0503020204020204" charset="-122"/>
              </a:defRPr>
            </a:pPr>
            <a:r>
              <a:rPr sz="1050"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41" name="basic-line-0"/>
          <p:cNvSpPr>
            <a:spLocks noGrp="1"/>
          </p:cNvSpPr>
          <p:nvPr/>
        </p:nvSpPr>
        <p:spPr>
          <a:xfrm>
            <a:off x="3505200" y="2552700"/>
            <a:ext cx="209550" cy="0"/>
          </a:xfrm>
          <a:prstGeom prst="line">
            <a:avLst/>
          </a:prstGeom>
          <a:noFill/>
          <a:ln w="11430">
            <a:solidFill>
              <a:srgbClr val="557A96"/>
            </a:solidFill>
            <a:prstDash val="solid"/>
          </a:ln>
        </p:spPr>
      </p:sp>
      <p:sp>
        <p:nvSpPr>
          <p:cNvPr id="42" name="basic-arrow-0"/>
          <p:cNvSpPr>
            <a:spLocks noGrp="1"/>
          </p:cNvSpPr>
          <p:nvPr/>
        </p:nvSpPr>
        <p:spPr>
          <a:xfrm rot="5400000">
            <a:off x="3667125" y="2514600"/>
            <a:ext cx="76200" cy="76200"/>
          </a:xfrm>
          <a:prstGeom prst="triangle">
            <a:avLst/>
          </a:prstGeom>
          <a:solidFill>
            <a:srgbClr val="557A96"/>
          </a:solidFill>
          <a:ln w="0">
            <a:solidFill>
              <a:srgbClr val="557A96"/>
            </a:solidFill>
            <a:prstDash val="solid"/>
          </a:ln>
        </p:spPr>
      </p:sp>
      <p:sp>
        <p:nvSpPr>
          <p:cNvPr id="43" name="basic-line-1"/>
          <p:cNvSpPr>
            <a:spLocks noGrp="1"/>
          </p:cNvSpPr>
          <p:nvPr/>
        </p:nvSpPr>
        <p:spPr>
          <a:xfrm>
            <a:off x="4381500" y="2552700"/>
            <a:ext cx="209550" cy="0"/>
          </a:xfrm>
          <a:prstGeom prst="line">
            <a:avLst/>
          </a:prstGeom>
          <a:noFill/>
          <a:ln w="11430">
            <a:solidFill>
              <a:srgbClr val="557A96"/>
            </a:solidFill>
            <a:prstDash val="solid"/>
          </a:ln>
        </p:spPr>
      </p:sp>
      <p:sp>
        <p:nvSpPr>
          <p:cNvPr id="44" name="basic-arrow-1"/>
          <p:cNvSpPr>
            <a:spLocks noGrp="1"/>
          </p:cNvSpPr>
          <p:nvPr/>
        </p:nvSpPr>
        <p:spPr>
          <a:xfrm rot="5400000">
            <a:off x="4543425" y="2514600"/>
            <a:ext cx="76200" cy="76200"/>
          </a:xfrm>
          <a:prstGeom prst="triangle">
            <a:avLst/>
          </a:prstGeom>
          <a:solidFill>
            <a:srgbClr val="557A96"/>
          </a:solidFill>
          <a:ln w="0">
            <a:solidFill>
              <a:srgbClr val="557A96"/>
            </a:solidFill>
            <a:prstDash val="solid"/>
          </a:ln>
        </p:spPr>
      </p:sp>
      <p:sp>
        <p:nvSpPr>
          <p:cNvPr id="45" name="basic-line-2"/>
          <p:cNvSpPr>
            <a:spLocks noGrp="1"/>
          </p:cNvSpPr>
          <p:nvPr/>
        </p:nvSpPr>
        <p:spPr>
          <a:xfrm>
            <a:off x="5257800" y="2552700"/>
            <a:ext cx="209550" cy="0"/>
          </a:xfrm>
          <a:prstGeom prst="line">
            <a:avLst/>
          </a:prstGeom>
          <a:noFill/>
          <a:ln w="11430">
            <a:solidFill>
              <a:srgbClr val="557A96"/>
            </a:solidFill>
            <a:prstDash val="solid"/>
          </a:ln>
        </p:spPr>
      </p:sp>
      <p:sp>
        <p:nvSpPr>
          <p:cNvPr id="46" name="basic-arrow-2"/>
          <p:cNvSpPr>
            <a:spLocks noGrp="1"/>
          </p:cNvSpPr>
          <p:nvPr/>
        </p:nvSpPr>
        <p:spPr>
          <a:xfrm rot="5400000">
            <a:off x="5419725" y="2514600"/>
            <a:ext cx="76200" cy="76200"/>
          </a:xfrm>
          <a:prstGeom prst="triangle">
            <a:avLst/>
          </a:prstGeom>
          <a:solidFill>
            <a:srgbClr val="557A96"/>
          </a:solidFill>
          <a:ln w="0">
            <a:solidFill>
              <a:srgbClr val="557A96"/>
            </a:solidFill>
            <a:prstDash val="solid"/>
          </a:ln>
        </p:spPr>
      </p:sp>
      <p:sp>
        <p:nvSpPr>
          <p:cNvPr id="47" name="basic-line-3"/>
          <p:cNvSpPr>
            <a:spLocks noGrp="1"/>
          </p:cNvSpPr>
          <p:nvPr/>
        </p:nvSpPr>
        <p:spPr>
          <a:xfrm>
            <a:off x="6134100" y="2552700"/>
            <a:ext cx="209550" cy="0"/>
          </a:xfrm>
          <a:prstGeom prst="line">
            <a:avLst/>
          </a:prstGeom>
          <a:noFill/>
          <a:ln w="11430">
            <a:solidFill>
              <a:srgbClr val="557A96"/>
            </a:solidFill>
            <a:prstDash val="solid"/>
          </a:ln>
        </p:spPr>
      </p:sp>
      <p:sp>
        <p:nvSpPr>
          <p:cNvPr id="48" name="basic-arrow-3"/>
          <p:cNvSpPr>
            <a:spLocks noGrp="1"/>
          </p:cNvSpPr>
          <p:nvPr/>
        </p:nvSpPr>
        <p:spPr>
          <a:xfrm rot="5400000">
            <a:off x="6296025" y="2514600"/>
            <a:ext cx="76200" cy="76200"/>
          </a:xfrm>
          <a:prstGeom prst="triangle">
            <a:avLst/>
          </a:prstGeom>
          <a:solidFill>
            <a:srgbClr val="557A96"/>
          </a:solidFill>
          <a:ln w="0">
            <a:solidFill>
              <a:srgbClr val="557A96"/>
            </a:solidFill>
            <a:prstDash val="solid"/>
          </a:ln>
        </p:spPr>
      </p:sp>
      <p:sp>
        <p:nvSpPr>
          <p:cNvPr id="49" name="basic-input-box"/>
          <p:cNvSpPr>
            <a:spLocks noGrp="1"/>
          </p:cNvSpPr>
          <p:nvPr/>
        </p:nvSpPr>
        <p:spPr>
          <a:xfrm>
            <a:off x="2952750" y="2409825"/>
            <a:ext cx="552450" cy="285750"/>
          </a:xfrm>
          <a:prstGeom prst="roundRect">
            <a:avLst>
              <a:gd name="adj" fmla="val 13333"/>
            </a:avLst>
          </a:prstGeom>
          <a:solidFill>
            <a:srgbClr val="F7F9FA"/>
          </a:solidFill>
          <a:ln w="9525">
            <a:solidFill>
              <a:srgbClr val="7F9DB2"/>
            </a:solidFill>
            <a:prstDash val="solid"/>
          </a:ln>
        </p:spPr>
      </p:sp>
      <p:sp>
        <p:nvSpPr>
          <p:cNvPr id="50" name="basic-input-text"/>
          <p:cNvSpPr>
            <a:spLocks noGrp="1"/>
          </p:cNvSpPr>
          <p:nvPr/>
        </p:nvSpPr>
        <p:spPr>
          <a:xfrm>
            <a:off x="2981325" y="2428875"/>
            <a:ext cx="4953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51" name="basic-stage-a-box"/>
          <p:cNvSpPr>
            <a:spLocks noGrp="1"/>
          </p:cNvSpPr>
          <p:nvPr/>
        </p:nvSpPr>
        <p:spPr>
          <a:xfrm>
            <a:off x="3714750" y="2409825"/>
            <a:ext cx="666750" cy="285750"/>
          </a:xfrm>
          <a:prstGeom prst="roundRect">
            <a:avLst>
              <a:gd name="adj" fmla="val 13333"/>
            </a:avLst>
          </a:prstGeom>
          <a:solidFill>
            <a:srgbClr val="F7F9FA"/>
          </a:solidFill>
          <a:ln w="9525">
            <a:solidFill>
              <a:srgbClr val="7F9DB2"/>
            </a:solidFill>
            <a:prstDash val="solid"/>
          </a:ln>
        </p:spPr>
      </p:sp>
      <p:sp>
        <p:nvSpPr>
          <p:cNvPr id="52" name="basic-stage-a-text"/>
          <p:cNvSpPr>
            <a:spLocks noGrp="1"/>
          </p:cNvSpPr>
          <p:nvPr/>
        </p:nvSpPr>
        <p:spPr>
          <a:xfrm>
            <a:off x="37433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53" name="basic-stage-b-box"/>
          <p:cNvSpPr>
            <a:spLocks noGrp="1"/>
          </p:cNvSpPr>
          <p:nvPr/>
        </p:nvSpPr>
        <p:spPr>
          <a:xfrm>
            <a:off x="4591050" y="2409825"/>
            <a:ext cx="666750" cy="285750"/>
          </a:xfrm>
          <a:prstGeom prst="roundRect">
            <a:avLst>
              <a:gd name="adj" fmla="val 13333"/>
            </a:avLst>
          </a:prstGeom>
          <a:solidFill>
            <a:srgbClr val="F7F9FA"/>
          </a:solidFill>
          <a:ln w="9525">
            <a:solidFill>
              <a:srgbClr val="7F9DB2"/>
            </a:solidFill>
            <a:prstDash val="solid"/>
          </a:ln>
        </p:spPr>
      </p:sp>
      <p:sp>
        <p:nvSpPr>
          <p:cNvPr id="54" name="basic-stage-b-text"/>
          <p:cNvSpPr>
            <a:spLocks noGrp="1"/>
          </p:cNvSpPr>
          <p:nvPr/>
        </p:nvSpPr>
        <p:spPr>
          <a:xfrm>
            <a:off x="46196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55" name="basic-stage-c-box"/>
          <p:cNvSpPr>
            <a:spLocks noGrp="1"/>
          </p:cNvSpPr>
          <p:nvPr/>
        </p:nvSpPr>
        <p:spPr>
          <a:xfrm>
            <a:off x="5467350" y="2409825"/>
            <a:ext cx="666750" cy="285750"/>
          </a:xfrm>
          <a:prstGeom prst="roundRect">
            <a:avLst>
              <a:gd name="adj" fmla="val 13333"/>
            </a:avLst>
          </a:prstGeom>
          <a:solidFill>
            <a:srgbClr val="F7F9FA"/>
          </a:solidFill>
          <a:ln w="9525">
            <a:solidFill>
              <a:srgbClr val="7F9DB2"/>
            </a:solidFill>
            <a:prstDash val="solid"/>
          </a:ln>
        </p:spPr>
      </p:sp>
      <p:sp>
        <p:nvSpPr>
          <p:cNvPr id="56" name="basic-stage-c-text"/>
          <p:cNvSpPr>
            <a:spLocks noGrp="1"/>
          </p:cNvSpPr>
          <p:nvPr/>
        </p:nvSpPr>
        <p:spPr>
          <a:xfrm>
            <a:off x="54959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C</a:t>
            </a:r>
          </a:p>
        </p:txBody>
      </p:sp>
      <p:sp>
        <p:nvSpPr>
          <p:cNvPr id="57" name="basic-output-box"/>
          <p:cNvSpPr>
            <a:spLocks noGrp="1"/>
          </p:cNvSpPr>
          <p:nvPr/>
        </p:nvSpPr>
        <p:spPr>
          <a:xfrm>
            <a:off x="6343650" y="2409825"/>
            <a:ext cx="647700" cy="285750"/>
          </a:xfrm>
          <a:prstGeom prst="roundRect">
            <a:avLst>
              <a:gd name="adj" fmla="val 13333"/>
            </a:avLst>
          </a:prstGeom>
          <a:solidFill>
            <a:srgbClr val="F7F9FA"/>
          </a:solidFill>
          <a:ln w="9525">
            <a:solidFill>
              <a:srgbClr val="7F9DB2"/>
            </a:solidFill>
            <a:prstDash val="solid"/>
          </a:ln>
        </p:spPr>
      </p:sp>
      <p:sp>
        <p:nvSpPr>
          <p:cNvPr id="58" name="basic-output-text"/>
          <p:cNvSpPr>
            <a:spLocks noGrp="1"/>
          </p:cNvSpPr>
          <p:nvPr/>
        </p:nvSpPr>
        <p:spPr>
          <a:xfrm>
            <a:off x="6372225" y="2428875"/>
            <a:ext cx="5905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60" name="exec-line-0"/>
          <p:cNvSpPr>
            <a:spLocks noGrp="1"/>
          </p:cNvSpPr>
          <p:nvPr/>
        </p:nvSpPr>
        <p:spPr>
          <a:xfrm>
            <a:off x="3371850" y="3333750"/>
            <a:ext cx="190500" cy="0"/>
          </a:xfrm>
          <a:prstGeom prst="line">
            <a:avLst/>
          </a:prstGeom>
          <a:noFill/>
          <a:ln w="11430">
            <a:solidFill>
              <a:srgbClr val="557A96"/>
            </a:solidFill>
            <a:prstDash val="solid"/>
          </a:ln>
        </p:spPr>
      </p:sp>
      <p:sp>
        <p:nvSpPr>
          <p:cNvPr id="61" name="exec-arrow-0"/>
          <p:cNvSpPr>
            <a:spLocks noGrp="1"/>
          </p:cNvSpPr>
          <p:nvPr/>
        </p:nvSpPr>
        <p:spPr>
          <a:xfrm rot="5400000">
            <a:off x="3514725" y="3295650"/>
            <a:ext cx="76200" cy="76200"/>
          </a:xfrm>
          <a:prstGeom prst="triangle">
            <a:avLst/>
          </a:prstGeom>
          <a:solidFill>
            <a:srgbClr val="557A96"/>
          </a:solidFill>
          <a:ln w="0">
            <a:solidFill>
              <a:srgbClr val="557A96"/>
            </a:solidFill>
            <a:prstDash val="solid"/>
          </a:ln>
        </p:spPr>
      </p:sp>
      <p:sp>
        <p:nvSpPr>
          <p:cNvPr id="62" name="exec-line-1"/>
          <p:cNvSpPr>
            <a:spLocks noGrp="1"/>
          </p:cNvSpPr>
          <p:nvPr/>
        </p:nvSpPr>
        <p:spPr>
          <a:xfrm>
            <a:off x="4210050" y="3333750"/>
            <a:ext cx="190500" cy="0"/>
          </a:xfrm>
          <a:prstGeom prst="line">
            <a:avLst/>
          </a:prstGeom>
          <a:noFill/>
          <a:ln w="11430">
            <a:solidFill>
              <a:srgbClr val="557A96"/>
            </a:solidFill>
            <a:prstDash val="solid"/>
          </a:ln>
        </p:spPr>
      </p:sp>
      <p:sp>
        <p:nvSpPr>
          <p:cNvPr id="63" name="exec-arrow-1"/>
          <p:cNvSpPr>
            <a:spLocks noGrp="1"/>
          </p:cNvSpPr>
          <p:nvPr/>
        </p:nvSpPr>
        <p:spPr>
          <a:xfrm rot="5400000">
            <a:off x="4352925" y="3295650"/>
            <a:ext cx="76200" cy="76200"/>
          </a:xfrm>
          <a:prstGeom prst="triangle">
            <a:avLst/>
          </a:prstGeom>
          <a:solidFill>
            <a:srgbClr val="557A96"/>
          </a:solidFill>
          <a:ln w="0">
            <a:solidFill>
              <a:srgbClr val="557A96"/>
            </a:solidFill>
            <a:prstDash val="solid"/>
          </a:ln>
        </p:spPr>
      </p:sp>
      <p:sp>
        <p:nvSpPr>
          <p:cNvPr id="64" name="exec-line-2"/>
          <p:cNvSpPr>
            <a:spLocks noGrp="1"/>
          </p:cNvSpPr>
          <p:nvPr/>
        </p:nvSpPr>
        <p:spPr>
          <a:xfrm>
            <a:off x="5143500" y="3333750"/>
            <a:ext cx="190500" cy="0"/>
          </a:xfrm>
          <a:prstGeom prst="line">
            <a:avLst/>
          </a:prstGeom>
          <a:noFill/>
          <a:ln w="11430">
            <a:solidFill>
              <a:srgbClr val="557A96"/>
            </a:solidFill>
            <a:prstDash val="solid"/>
          </a:ln>
        </p:spPr>
      </p:sp>
      <p:sp>
        <p:nvSpPr>
          <p:cNvPr id="65" name="exec-arrow-2"/>
          <p:cNvSpPr>
            <a:spLocks noGrp="1"/>
          </p:cNvSpPr>
          <p:nvPr/>
        </p:nvSpPr>
        <p:spPr>
          <a:xfrm rot="5400000">
            <a:off x="5286375" y="3295650"/>
            <a:ext cx="76200" cy="76200"/>
          </a:xfrm>
          <a:prstGeom prst="triangle">
            <a:avLst/>
          </a:prstGeom>
          <a:solidFill>
            <a:srgbClr val="557A96"/>
          </a:solidFill>
          <a:ln w="0">
            <a:solidFill>
              <a:srgbClr val="557A96"/>
            </a:solidFill>
            <a:prstDash val="solid"/>
          </a:ln>
        </p:spPr>
      </p:sp>
      <p:sp>
        <p:nvSpPr>
          <p:cNvPr id="66" name="exec-line-3"/>
          <p:cNvSpPr>
            <a:spLocks noGrp="1"/>
          </p:cNvSpPr>
          <p:nvPr/>
        </p:nvSpPr>
        <p:spPr>
          <a:xfrm>
            <a:off x="5886450" y="3333750"/>
            <a:ext cx="571500" cy="0"/>
          </a:xfrm>
          <a:prstGeom prst="line">
            <a:avLst/>
          </a:prstGeom>
          <a:noFill/>
          <a:ln w="11430">
            <a:solidFill>
              <a:srgbClr val="557A96"/>
            </a:solidFill>
            <a:prstDash val="solid"/>
          </a:ln>
        </p:spPr>
      </p:sp>
      <p:sp>
        <p:nvSpPr>
          <p:cNvPr id="67" name="exec-arrow-3"/>
          <p:cNvSpPr>
            <a:spLocks noGrp="1"/>
          </p:cNvSpPr>
          <p:nvPr/>
        </p:nvSpPr>
        <p:spPr>
          <a:xfrm rot="5400000">
            <a:off x="6410325" y="3295650"/>
            <a:ext cx="76200" cy="76200"/>
          </a:xfrm>
          <a:prstGeom prst="triangle">
            <a:avLst/>
          </a:prstGeom>
          <a:solidFill>
            <a:srgbClr val="557A96"/>
          </a:solidFill>
          <a:ln w="0">
            <a:solidFill>
              <a:srgbClr val="557A96"/>
            </a:solidFill>
            <a:prstDash val="solid"/>
          </a:ln>
        </p:spPr>
      </p:sp>
      <p:sp>
        <p:nvSpPr>
          <p:cNvPr id="68" name="exec-line-4"/>
          <p:cNvSpPr>
            <a:spLocks noGrp="1"/>
          </p:cNvSpPr>
          <p:nvPr/>
        </p:nvSpPr>
        <p:spPr>
          <a:xfrm>
            <a:off x="7105650" y="3333750"/>
            <a:ext cx="190500" cy="0"/>
          </a:xfrm>
          <a:prstGeom prst="line">
            <a:avLst/>
          </a:prstGeom>
          <a:noFill/>
          <a:ln w="11430">
            <a:solidFill>
              <a:srgbClr val="557A96"/>
            </a:solidFill>
            <a:prstDash val="solid"/>
          </a:ln>
        </p:spPr>
      </p:sp>
      <p:sp>
        <p:nvSpPr>
          <p:cNvPr id="69" name="exec-arrow-4"/>
          <p:cNvSpPr>
            <a:spLocks noGrp="1"/>
          </p:cNvSpPr>
          <p:nvPr/>
        </p:nvSpPr>
        <p:spPr>
          <a:xfrm rot="5400000">
            <a:off x="7248525" y="3295650"/>
            <a:ext cx="76200" cy="76200"/>
          </a:xfrm>
          <a:prstGeom prst="triangle">
            <a:avLst/>
          </a:prstGeom>
          <a:solidFill>
            <a:srgbClr val="557A96"/>
          </a:solidFill>
          <a:ln w="0">
            <a:solidFill>
              <a:srgbClr val="557A96"/>
            </a:solidFill>
            <a:prstDash val="solid"/>
          </a:ln>
        </p:spPr>
      </p:sp>
      <p:sp>
        <p:nvSpPr>
          <p:cNvPr id="70" name="gate-fail-line"/>
          <p:cNvSpPr>
            <a:spLocks noGrp="1"/>
          </p:cNvSpPr>
          <p:nvPr/>
        </p:nvSpPr>
        <p:spPr>
          <a:xfrm>
            <a:off x="5610225" y="3476625"/>
            <a:ext cx="0" cy="142875"/>
          </a:xfrm>
          <a:prstGeom prst="line">
            <a:avLst/>
          </a:prstGeom>
          <a:noFill/>
          <a:ln w="11430">
            <a:solidFill>
              <a:srgbClr val="557A96"/>
            </a:solidFill>
            <a:prstDash val="solid"/>
          </a:ln>
        </p:spPr>
      </p:sp>
      <p:sp>
        <p:nvSpPr>
          <p:cNvPr id="71" name="gate-fail-arrow"/>
          <p:cNvSpPr>
            <a:spLocks noGrp="1"/>
          </p:cNvSpPr>
          <p:nvPr/>
        </p:nvSpPr>
        <p:spPr>
          <a:xfrm rot="10800000">
            <a:off x="5572125" y="3581400"/>
            <a:ext cx="76200" cy="76200"/>
          </a:xfrm>
          <a:prstGeom prst="triangle">
            <a:avLst/>
          </a:prstGeom>
          <a:solidFill>
            <a:srgbClr val="557A96"/>
          </a:solidFill>
          <a:ln w="0">
            <a:solidFill>
              <a:srgbClr val="557A96"/>
            </a:solidFill>
            <a:prstDash val="solid"/>
          </a:ln>
        </p:spPr>
      </p:sp>
      <p:sp>
        <p:nvSpPr>
          <p:cNvPr id="72" name="exec-input-box"/>
          <p:cNvSpPr>
            <a:spLocks noGrp="1"/>
          </p:cNvSpPr>
          <p:nvPr/>
        </p:nvSpPr>
        <p:spPr>
          <a:xfrm>
            <a:off x="2857500" y="3190875"/>
            <a:ext cx="514350" cy="285750"/>
          </a:xfrm>
          <a:prstGeom prst="roundRect">
            <a:avLst>
              <a:gd name="adj" fmla="val 13333"/>
            </a:avLst>
          </a:prstGeom>
          <a:solidFill>
            <a:srgbClr val="F7F9FA"/>
          </a:solidFill>
          <a:ln w="9525">
            <a:solidFill>
              <a:srgbClr val="7F9DB2"/>
            </a:solidFill>
            <a:prstDash val="solid"/>
          </a:ln>
        </p:spPr>
      </p:sp>
      <p:sp>
        <p:nvSpPr>
          <p:cNvPr id="73" name="exec-input-text"/>
          <p:cNvSpPr>
            <a:spLocks noGrp="1"/>
          </p:cNvSpPr>
          <p:nvPr/>
        </p:nvSpPr>
        <p:spPr>
          <a:xfrm>
            <a:off x="2886075" y="3209925"/>
            <a:ext cx="4572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74" name="exec-stage-a-box"/>
          <p:cNvSpPr>
            <a:spLocks noGrp="1"/>
          </p:cNvSpPr>
          <p:nvPr/>
        </p:nvSpPr>
        <p:spPr>
          <a:xfrm>
            <a:off x="3562350" y="3190875"/>
            <a:ext cx="647700" cy="285750"/>
          </a:xfrm>
          <a:prstGeom prst="roundRect">
            <a:avLst>
              <a:gd name="adj" fmla="val 13333"/>
            </a:avLst>
          </a:prstGeom>
          <a:solidFill>
            <a:srgbClr val="F7F9FA"/>
          </a:solidFill>
          <a:ln w="9525">
            <a:solidFill>
              <a:srgbClr val="7F9DB2"/>
            </a:solidFill>
            <a:prstDash val="solid"/>
          </a:ln>
        </p:spPr>
      </p:sp>
      <p:sp>
        <p:nvSpPr>
          <p:cNvPr id="75" name="exec-stage-a-text"/>
          <p:cNvSpPr>
            <a:spLocks noGrp="1"/>
          </p:cNvSpPr>
          <p:nvPr/>
        </p:nvSpPr>
        <p:spPr>
          <a:xfrm>
            <a:off x="3590925" y="3209925"/>
            <a:ext cx="59055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76" name="exec-artifact-box"/>
          <p:cNvSpPr>
            <a:spLocks noGrp="1"/>
          </p:cNvSpPr>
          <p:nvPr/>
        </p:nvSpPr>
        <p:spPr>
          <a:xfrm>
            <a:off x="4400550" y="3190875"/>
            <a:ext cx="742950" cy="285750"/>
          </a:xfrm>
          <a:prstGeom prst="roundRect">
            <a:avLst>
              <a:gd name="adj" fmla="val 13333"/>
            </a:avLst>
          </a:prstGeom>
          <a:solidFill>
            <a:srgbClr val="F2F6F8"/>
          </a:solidFill>
          <a:ln w="9525">
            <a:solidFill>
              <a:srgbClr val="7F9DB2"/>
            </a:solidFill>
            <a:prstDash val="solid"/>
          </a:ln>
        </p:spPr>
      </p:sp>
      <p:sp>
        <p:nvSpPr>
          <p:cNvPr id="77" name="exec-artifact-text"/>
          <p:cNvSpPr>
            <a:spLocks noGrp="1"/>
          </p:cNvSpPr>
          <p:nvPr/>
        </p:nvSpPr>
        <p:spPr>
          <a:xfrm>
            <a:off x="4429125" y="3209925"/>
            <a:ext cx="685800" cy="247650"/>
          </a:xfrm>
          <a:prstGeom prst="rect">
            <a:avLst/>
          </a:prstGeom>
          <a:noFill/>
          <a:ln w="0">
            <a:noFill/>
            <a:prstDash val="solid"/>
          </a:ln>
        </p:spPr>
        <p:txBody>
          <a:bodyPr wrap="none" lIns="0" tIns="0" rIns="0" bIns="0" anchor="ctr">
            <a:normAutofit/>
          </a:bodyPr>
          <a:lstStyle/>
          <a:p>
            <a:pPr algn="ctr">
              <a:defRPr sz="930" b="1">
                <a:solidFill>
                  <a:srgbClr val="557A96"/>
                </a:solidFill>
                <a:latin typeface="微软雅黑" panose="020B0503020204020204" charset="-122"/>
                <a:ea typeface="微软雅黑" panose="020B0503020204020204" charset="-122"/>
                <a:cs typeface="微软雅黑" panose="020B0503020204020204" charset="-122"/>
              </a:defRPr>
            </a:pPr>
            <a:r>
              <a:rPr sz="930" b="1">
                <a:solidFill>
                  <a:srgbClr val="557A96"/>
                </a:solidFill>
                <a:latin typeface="微软雅黑" panose="020B0503020204020204" charset="-122"/>
                <a:ea typeface="微软雅黑" panose="020B0503020204020204" charset="-122"/>
                <a:cs typeface="微软雅黑" panose="020B0503020204020204" charset="-122"/>
              </a:rPr>
              <a:t>Artifact A</a:t>
            </a:r>
          </a:p>
        </p:txBody>
      </p:sp>
      <p:sp>
        <p:nvSpPr>
          <p:cNvPr id="78" name="exec-gate-box"/>
          <p:cNvSpPr>
            <a:spLocks noGrp="1"/>
          </p:cNvSpPr>
          <p:nvPr/>
        </p:nvSpPr>
        <p:spPr>
          <a:xfrm>
            <a:off x="5334000" y="3190875"/>
            <a:ext cx="552450" cy="285750"/>
          </a:xfrm>
          <a:prstGeom prst="roundRect">
            <a:avLst>
              <a:gd name="adj" fmla="val 13333"/>
            </a:avLst>
          </a:prstGeom>
          <a:solidFill>
            <a:srgbClr val="F2F6F8"/>
          </a:solidFill>
          <a:ln w="9525">
            <a:solidFill>
              <a:srgbClr val="7F9DB2"/>
            </a:solidFill>
            <a:prstDash val="solid"/>
          </a:ln>
        </p:spPr>
      </p:sp>
      <p:sp>
        <p:nvSpPr>
          <p:cNvPr id="79" name="exec-gate-text"/>
          <p:cNvSpPr>
            <a:spLocks noGrp="1"/>
          </p:cNvSpPr>
          <p:nvPr/>
        </p:nvSpPr>
        <p:spPr>
          <a:xfrm>
            <a:off x="5362575" y="3209925"/>
            <a:ext cx="495300" cy="2476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80" name="exec-stage-b-box"/>
          <p:cNvSpPr>
            <a:spLocks noGrp="1"/>
          </p:cNvSpPr>
          <p:nvPr/>
        </p:nvSpPr>
        <p:spPr>
          <a:xfrm>
            <a:off x="6457950" y="3190875"/>
            <a:ext cx="647700" cy="285750"/>
          </a:xfrm>
          <a:prstGeom prst="roundRect">
            <a:avLst>
              <a:gd name="adj" fmla="val 13333"/>
            </a:avLst>
          </a:prstGeom>
          <a:solidFill>
            <a:srgbClr val="F7F9FA"/>
          </a:solidFill>
          <a:ln w="9525">
            <a:solidFill>
              <a:srgbClr val="7F9DB2"/>
            </a:solidFill>
            <a:prstDash val="solid"/>
          </a:ln>
        </p:spPr>
      </p:sp>
      <p:sp>
        <p:nvSpPr>
          <p:cNvPr id="81" name="exec-stage-b-text"/>
          <p:cNvSpPr>
            <a:spLocks noGrp="1"/>
          </p:cNvSpPr>
          <p:nvPr/>
        </p:nvSpPr>
        <p:spPr>
          <a:xfrm>
            <a:off x="6486525" y="3209925"/>
            <a:ext cx="59055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82" name="exec-output-box"/>
          <p:cNvSpPr>
            <a:spLocks noGrp="1"/>
          </p:cNvSpPr>
          <p:nvPr/>
        </p:nvSpPr>
        <p:spPr>
          <a:xfrm>
            <a:off x="7296150" y="3190875"/>
            <a:ext cx="628650" cy="285750"/>
          </a:xfrm>
          <a:prstGeom prst="roundRect">
            <a:avLst>
              <a:gd name="adj" fmla="val 13333"/>
            </a:avLst>
          </a:prstGeom>
          <a:solidFill>
            <a:srgbClr val="F7F9FA"/>
          </a:solidFill>
          <a:ln w="9525">
            <a:solidFill>
              <a:srgbClr val="7F9DB2"/>
            </a:solidFill>
            <a:prstDash val="solid"/>
          </a:ln>
        </p:spPr>
      </p:sp>
      <p:sp>
        <p:nvSpPr>
          <p:cNvPr id="83" name="exec-output-text"/>
          <p:cNvSpPr>
            <a:spLocks noGrp="1"/>
          </p:cNvSpPr>
          <p:nvPr/>
        </p:nvSpPr>
        <p:spPr>
          <a:xfrm>
            <a:off x="7324725" y="3209925"/>
            <a:ext cx="5715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84" name="exec-fail-box"/>
          <p:cNvSpPr>
            <a:spLocks noGrp="1"/>
          </p:cNvSpPr>
          <p:nvPr/>
        </p:nvSpPr>
        <p:spPr>
          <a:xfrm>
            <a:off x="5238750" y="3629025"/>
            <a:ext cx="742950" cy="238125"/>
          </a:xfrm>
          <a:prstGeom prst="roundRect">
            <a:avLst>
              <a:gd name="adj" fmla="val 16000"/>
            </a:avLst>
          </a:prstGeom>
          <a:solidFill>
            <a:srgbClr val="F7F9FA"/>
          </a:solidFill>
          <a:ln w="9525">
            <a:solidFill>
              <a:srgbClr val="7F9DB2"/>
            </a:solidFill>
            <a:prstDash val="solid"/>
          </a:ln>
        </p:spPr>
      </p:sp>
      <p:sp>
        <p:nvSpPr>
          <p:cNvPr id="85" name="exec-fail-text"/>
          <p:cNvSpPr>
            <a:spLocks noGrp="1"/>
          </p:cNvSpPr>
          <p:nvPr/>
        </p:nvSpPr>
        <p:spPr>
          <a:xfrm>
            <a:off x="5267325" y="3648075"/>
            <a:ext cx="685800" cy="200025"/>
          </a:xfrm>
          <a:prstGeom prst="rect">
            <a:avLst/>
          </a:prstGeom>
          <a:noFill/>
          <a:ln w="0">
            <a:noFill/>
            <a:prstDash val="solid"/>
          </a:ln>
        </p:spPr>
        <p:txBody>
          <a:bodyPr wrap="none" lIns="0" tIns="0" rIns="0" bIns="0" anchor="ctr">
            <a:normAutofit/>
          </a:bodyPr>
          <a:lstStyle/>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FAIL  ↺</a:t>
            </a:r>
          </a:p>
        </p:txBody>
      </p:sp>
      <p:sp>
        <p:nvSpPr>
          <p:cNvPr id="86" name="exec-pass"/>
          <p:cNvSpPr>
            <a:spLocks noGrp="1"/>
          </p:cNvSpPr>
          <p:nvPr/>
        </p:nvSpPr>
        <p:spPr>
          <a:xfrm>
            <a:off x="5962650" y="3124200"/>
            <a:ext cx="457200" cy="171450"/>
          </a:xfrm>
          <a:prstGeom prst="rect">
            <a:avLst/>
          </a:prstGeom>
          <a:noFill/>
          <a:ln w="0">
            <a:noFill/>
            <a:prstDash val="solid"/>
          </a:ln>
        </p:spPr>
        <p:txBody>
          <a:bodyPr wrap="none" lIns="0" tIns="0" rIns="0" bIns="0" anchor="ctr">
            <a:normAutofit/>
          </a:bodyPr>
          <a:lstStyle/>
          <a:p>
            <a:pPr algn="ctr">
              <a:defRPr sz="885" b="1">
                <a:solidFill>
                  <a:srgbClr val="557A96"/>
                </a:solidFill>
                <a:latin typeface="微软雅黑" panose="020B0503020204020204" charset="-122"/>
                <a:ea typeface="微软雅黑" panose="020B0503020204020204" charset="-122"/>
                <a:cs typeface="微软雅黑" panose="020B0503020204020204" charset="-122"/>
              </a:defRPr>
            </a:pPr>
            <a:r>
              <a:rPr sz="885" b="1">
                <a:solidFill>
                  <a:srgbClr val="557A96"/>
                </a:solidFill>
                <a:latin typeface="微软雅黑" panose="020B0503020204020204" charset="-122"/>
                <a:ea typeface="微软雅黑" panose="020B0503020204020204" charset="-122"/>
                <a:cs typeface="微软雅黑" panose="020B0503020204020204" charset="-122"/>
              </a:rPr>
              <a:t>PASS</a:t>
            </a:r>
          </a:p>
        </p:txBody>
      </p:sp>
      <p:sp>
        <p:nvSpPr>
          <p:cNvPr id="88" name="exec-failure-caption"/>
          <p:cNvSpPr>
            <a:spLocks noGrp="1"/>
          </p:cNvSpPr>
          <p:nvPr/>
        </p:nvSpPr>
        <p:spPr>
          <a:xfrm>
            <a:off x="6057900" y="3648075"/>
            <a:ext cx="1123950" cy="200025"/>
          </a:xfrm>
          <a:prstGeom prst="rect">
            <a:avLst/>
          </a:prstGeom>
          <a:noFill/>
          <a:ln w="0">
            <a:noFill/>
            <a:prstDash val="solid"/>
          </a:ln>
        </p:spPr>
        <p:txBody>
          <a:bodyPr wrap="none" lIns="0" tIns="0" rIns="0" bIns="0" anchor="ctr">
            <a:normAutofit/>
          </a:bodyPr>
          <a:lstStyle/>
          <a:p>
            <a:pPr algn="l">
              <a:defRPr sz="940" b="1">
                <a:solidFill>
                  <a:srgbClr val="68727B"/>
                </a:solidFill>
                <a:latin typeface="微软雅黑" panose="020B0503020204020204" charset="-122"/>
                <a:ea typeface="微软雅黑" panose="020B0503020204020204" charset="-122"/>
                <a:cs typeface="微软雅黑" panose="020B0503020204020204" charset="-122"/>
              </a:defRPr>
            </a:pPr>
            <a:r>
              <a:rPr sz="940" b="1">
                <a:solidFill>
                  <a:srgbClr val="68727B"/>
                </a:solidFill>
                <a:latin typeface="微软雅黑" panose="020B0503020204020204" charset="-122"/>
                <a:ea typeface="微软雅黑" panose="020B0503020204020204" charset="-122"/>
                <a:cs typeface="微软雅黑" panose="020B0503020204020204" charset="-122"/>
              </a:rPr>
              <a:t>Retry / Fallback</a:t>
            </a:r>
          </a:p>
        </p:txBody>
      </p:sp>
      <p:sp>
        <p:nvSpPr>
          <p:cNvPr id="89" name="minimum-workflow-band"/>
          <p:cNvSpPr>
            <a:spLocks noGrp="1"/>
          </p:cNvSpPr>
          <p:nvPr/>
        </p:nvSpPr>
        <p:spPr>
          <a:xfrm>
            <a:off x="2857500" y="3914775"/>
            <a:ext cx="5067300" cy="219075"/>
          </a:xfrm>
          <a:prstGeom prst="rect">
            <a:avLst/>
          </a:prstGeom>
          <a:solidFill>
            <a:srgbClr val="F2F6F8"/>
          </a:solidFill>
          <a:ln w="0">
            <a:noFill/>
            <a:prstDash val="solid"/>
          </a:ln>
        </p:spPr>
      </p:sp>
      <p:sp>
        <p:nvSpPr>
          <p:cNvPr id="90" name="minimum-workflow"/>
          <p:cNvSpPr>
            <a:spLocks noGrp="1"/>
          </p:cNvSpPr>
          <p:nvPr/>
        </p:nvSpPr>
        <p:spPr>
          <a:xfrm>
            <a:off x="3000375" y="3924300"/>
            <a:ext cx="4781550" cy="200025"/>
          </a:xfrm>
          <a:prstGeom prst="rect">
            <a:avLst/>
          </a:prstGeom>
          <a:noFill/>
          <a:ln w="0">
            <a:noFill/>
            <a:prstDash val="solid"/>
          </a:ln>
        </p:spPr>
        <p:txBody>
          <a:bodyPr wrap="none" lIns="0" tIns="0" rIns="0" bIns="0" anchor="ctr">
            <a:normAutofit/>
          </a:bodyPr>
          <a:lstStyle/>
          <a:p>
            <a:pPr algn="ctr">
              <a:defRPr sz="100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05" b="1" dirty="0" smtClean="0">
                <a:solidFill>
                  <a:srgbClr val="FF0000"/>
                </a:solidFill>
                <a:latin typeface="微软雅黑" panose="020B0503020204020204" charset="-122"/>
                <a:ea typeface="微软雅黑" panose="020B0503020204020204" charset="-122"/>
                <a:cs typeface="微软雅黑" panose="020B0503020204020204" charset="-122"/>
              </a:rPr>
              <a:t>形成</a:t>
            </a:r>
            <a:r>
              <a:rPr sz="1005" b="1" dirty="0" err="1" smtClean="0">
                <a:solidFill>
                  <a:srgbClr val="FF0000"/>
                </a:solidFill>
                <a:latin typeface="微软雅黑" panose="020B0503020204020204" charset="-122"/>
                <a:ea typeface="微软雅黑" panose="020B0503020204020204" charset="-122"/>
                <a:cs typeface="微软雅黑" panose="020B0503020204020204" charset="-122"/>
              </a:rPr>
              <a:t>最小可运行</a:t>
            </a:r>
            <a:r>
              <a:rPr sz="1005" b="1" dirty="0" smtClean="0">
                <a:solidFill>
                  <a:srgbClr val="FF0000"/>
                </a:solidFill>
                <a:latin typeface="微软雅黑" panose="020B0503020204020204" charset="-122"/>
                <a:ea typeface="微软雅黑" panose="020B0503020204020204" charset="-122"/>
                <a:cs typeface="微软雅黑" panose="020B0503020204020204" charset="-122"/>
              </a:rPr>
              <a:t> </a:t>
            </a:r>
            <a:r>
              <a:rPr sz="1005" b="1" dirty="0">
                <a:solidFill>
                  <a:srgbClr val="FF0000"/>
                </a:solidFill>
                <a:latin typeface="微软雅黑" panose="020B0503020204020204" charset="-122"/>
                <a:ea typeface="微软雅黑" panose="020B0503020204020204" charset="-122"/>
                <a:cs typeface="微软雅黑" panose="020B0503020204020204" charset="-122"/>
              </a:rPr>
              <a:t>Workflow</a:t>
            </a:r>
          </a:p>
        </p:txBody>
      </p:sp>
      <p:sp>
        <p:nvSpPr>
          <p:cNvPr id="91" name="base-to-branches"/>
          <p:cNvSpPr>
            <a:spLocks noGrp="1"/>
          </p:cNvSpPr>
          <p:nvPr/>
        </p:nvSpPr>
        <p:spPr>
          <a:xfrm>
            <a:off x="5448300" y="4600575"/>
            <a:ext cx="0" cy="161925"/>
          </a:xfrm>
          <a:prstGeom prst="line">
            <a:avLst/>
          </a:prstGeom>
          <a:noFill/>
          <a:ln w="11430">
            <a:solidFill>
              <a:srgbClr val="557A96"/>
            </a:solidFill>
            <a:prstDash val="solid"/>
          </a:ln>
        </p:spPr>
      </p:sp>
      <p:sp>
        <p:nvSpPr>
          <p:cNvPr id="92" name="package-top-branch"/>
          <p:cNvSpPr>
            <a:spLocks noGrp="1"/>
          </p:cNvSpPr>
          <p:nvPr/>
        </p:nvSpPr>
        <p:spPr>
          <a:xfrm>
            <a:off x="3657600" y="4762500"/>
            <a:ext cx="3581400" cy="0"/>
          </a:xfrm>
          <a:prstGeom prst="line">
            <a:avLst/>
          </a:prstGeom>
          <a:noFill/>
          <a:ln w="11430">
            <a:solidFill>
              <a:srgbClr val="557A96"/>
            </a:solidFill>
            <a:prstDash val="solid"/>
          </a:ln>
        </p:spPr>
      </p:sp>
      <p:sp>
        <p:nvSpPr>
          <p:cNvPr id="93" name="package-down-0"/>
          <p:cNvSpPr>
            <a:spLocks noGrp="1"/>
          </p:cNvSpPr>
          <p:nvPr/>
        </p:nvSpPr>
        <p:spPr>
          <a:xfrm>
            <a:off x="3657600" y="4762500"/>
            <a:ext cx="0" cy="76200"/>
          </a:xfrm>
          <a:prstGeom prst="line">
            <a:avLst/>
          </a:prstGeom>
          <a:noFill/>
          <a:ln w="11430">
            <a:solidFill>
              <a:srgbClr val="557A96"/>
            </a:solidFill>
            <a:prstDash val="solid"/>
          </a:ln>
        </p:spPr>
      </p:sp>
      <p:sp>
        <p:nvSpPr>
          <p:cNvPr id="94" name="package-arrow-0"/>
          <p:cNvSpPr>
            <a:spLocks noGrp="1"/>
          </p:cNvSpPr>
          <p:nvPr/>
        </p:nvSpPr>
        <p:spPr>
          <a:xfrm rot="10800000">
            <a:off x="3619500" y="4800600"/>
            <a:ext cx="76200" cy="76200"/>
          </a:xfrm>
          <a:prstGeom prst="triangle">
            <a:avLst/>
          </a:prstGeom>
          <a:solidFill>
            <a:srgbClr val="557A96"/>
          </a:solidFill>
          <a:ln w="0">
            <a:solidFill>
              <a:srgbClr val="557A96"/>
            </a:solidFill>
            <a:prstDash val="solid"/>
          </a:ln>
        </p:spPr>
      </p:sp>
      <p:sp>
        <p:nvSpPr>
          <p:cNvPr id="95" name="package-converge-0"/>
          <p:cNvSpPr>
            <a:spLocks noGrp="1"/>
          </p:cNvSpPr>
          <p:nvPr/>
        </p:nvSpPr>
        <p:spPr>
          <a:xfrm>
            <a:off x="3657600" y="5162550"/>
            <a:ext cx="0" cy="76200"/>
          </a:xfrm>
          <a:prstGeom prst="line">
            <a:avLst/>
          </a:prstGeom>
          <a:noFill/>
          <a:ln w="11430">
            <a:solidFill>
              <a:srgbClr val="557A96"/>
            </a:solidFill>
            <a:prstDash val="solid"/>
          </a:ln>
        </p:spPr>
      </p:sp>
      <p:sp>
        <p:nvSpPr>
          <p:cNvPr id="96" name="package-down-1"/>
          <p:cNvSpPr>
            <a:spLocks noGrp="1"/>
          </p:cNvSpPr>
          <p:nvPr/>
        </p:nvSpPr>
        <p:spPr>
          <a:xfrm>
            <a:off x="5448300" y="4762500"/>
            <a:ext cx="0" cy="76200"/>
          </a:xfrm>
          <a:prstGeom prst="line">
            <a:avLst/>
          </a:prstGeom>
          <a:noFill/>
          <a:ln w="11430">
            <a:solidFill>
              <a:srgbClr val="557A96"/>
            </a:solidFill>
            <a:prstDash val="solid"/>
          </a:ln>
        </p:spPr>
      </p:sp>
      <p:sp>
        <p:nvSpPr>
          <p:cNvPr id="97" name="package-arrow-1"/>
          <p:cNvSpPr>
            <a:spLocks noGrp="1"/>
          </p:cNvSpPr>
          <p:nvPr/>
        </p:nvSpPr>
        <p:spPr>
          <a:xfrm rot="10800000">
            <a:off x="5410200" y="4800600"/>
            <a:ext cx="76200" cy="76200"/>
          </a:xfrm>
          <a:prstGeom prst="triangle">
            <a:avLst/>
          </a:prstGeom>
          <a:solidFill>
            <a:srgbClr val="557A96"/>
          </a:solidFill>
          <a:ln w="0">
            <a:solidFill>
              <a:srgbClr val="557A96"/>
            </a:solidFill>
            <a:prstDash val="solid"/>
          </a:ln>
        </p:spPr>
      </p:sp>
      <p:sp>
        <p:nvSpPr>
          <p:cNvPr id="98" name="package-converge-1"/>
          <p:cNvSpPr>
            <a:spLocks noGrp="1"/>
          </p:cNvSpPr>
          <p:nvPr/>
        </p:nvSpPr>
        <p:spPr>
          <a:xfrm>
            <a:off x="5448300" y="5162550"/>
            <a:ext cx="0" cy="76200"/>
          </a:xfrm>
          <a:prstGeom prst="line">
            <a:avLst/>
          </a:prstGeom>
          <a:noFill/>
          <a:ln w="11430">
            <a:solidFill>
              <a:srgbClr val="557A96"/>
            </a:solidFill>
            <a:prstDash val="solid"/>
          </a:ln>
        </p:spPr>
      </p:sp>
      <p:sp>
        <p:nvSpPr>
          <p:cNvPr id="99" name="package-down-2"/>
          <p:cNvSpPr>
            <a:spLocks noGrp="1"/>
          </p:cNvSpPr>
          <p:nvPr/>
        </p:nvSpPr>
        <p:spPr>
          <a:xfrm>
            <a:off x="7239000" y="4762500"/>
            <a:ext cx="0" cy="76200"/>
          </a:xfrm>
          <a:prstGeom prst="line">
            <a:avLst/>
          </a:prstGeom>
          <a:noFill/>
          <a:ln w="11430">
            <a:solidFill>
              <a:srgbClr val="557A96"/>
            </a:solidFill>
            <a:prstDash val="solid"/>
          </a:ln>
        </p:spPr>
      </p:sp>
      <p:sp>
        <p:nvSpPr>
          <p:cNvPr id="100" name="package-arrow-2"/>
          <p:cNvSpPr>
            <a:spLocks noGrp="1"/>
          </p:cNvSpPr>
          <p:nvPr/>
        </p:nvSpPr>
        <p:spPr>
          <a:xfrm rot="10800000">
            <a:off x="7200900" y="4800600"/>
            <a:ext cx="76200" cy="76200"/>
          </a:xfrm>
          <a:prstGeom prst="triangle">
            <a:avLst/>
          </a:prstGeom>
          <a:solidFill>
            <a:srgbClr val="557A96"/>
          </a:solidFill>
          <a:ln w="0">
            <a:solidFill>
              <a:srgbClr val="557A96"/>
            </a:solidFill>
            <a:prstDash val="solid"/>
          </a:ln>
        </p:spPr>
      </p:sp>
      <p:sp>
        <p:nvSpPr>
          <p:cNvPr id="101" name="package-converge-2"/>
          <p:cNvSpPr>
            <a:spLocks noGrp="1"/>
          </p:cNvSpPr>
          <p:nvPr/>
        </p:nvSpPr>
        <p:spPr>
          <a:xfrm>
            <a:off x="7239000" y="5162550"/>
            <a:ext cx="0" cy="76200"/>
          </a:xfrm>
          <a:prstGeom prst="line">
            <a:avLst/>
          </a:prstGeom>
          <a:noFill/>
          <a:ln w="11430">
            <a:solidFill>
              <a:srgbClr val="557A96"/>
            </a:solidFill>
            <a:prstDash val="solid"/>
          </a:ln>
        </p:spPr>
      </p:sp>
      <p:sp>
        <p:nvSpPr>
          <p:cNvPr id="102" name="package-bottom-branch"/>
          <p:cNvSpPr>
            <a:spLocks noGrp="1"/>
          </p:cNvSpPr>
          <p:nvPr/>
        </p:nvSpPr>
        <p:spPr>
          <a:xfrm>
            <a:off x="3657600" y="5238750"/>
            <a:ext cx="3581400" cy="0"/>
          </a:xfrm>
          <a:prstGeom prst="line">
            <a:avLst/>
          </a:prstGeom>
          <a:noFill/>
          <a:ln w="11430">
            <a:solidFill>
              <a:srgbClr val="557A96"/>
            </a:solidFill>
            <a:prstDash val="solid"/>
          </a:ln>
        </p:spPr>
      </p:sp>
      <p:sp>
        <p:nvSpPr>
          <p:cNvPr id="103" name="package-to-complete"/>
          <p:cNvSpPr>
            <a:spLocks noGrp="1"/>
          </p:cNvSpPr>
          <p:nvPr/>
        </p:nvSpPr>
        <p:spPr>
          <a:xfrm>
            <a:off x="5448300" y="5238750"/>
            <a:ext cx="0" cy="57150"/>
          </a:xfrm>
          <a:prstGeom prst="line">
            <a:avLst/>
          </a:prstGeom>
          <a:noFill/>
          <a:ln w="11430">
            <a:solidFill>
              <a:srgbClr val="557A96"/>
            </a:solidFill>
            <a:prstDash val="solid"/>
          </a:ln>
        </p:spPr>
      </p:sp>
      <p:sp>
        <p:nvSpPr>
          <p:cNvPr id="104" name="package-complete-arrow"/>
          <p:cNvSpPr>
            <a:spLocks noGrp="1"/>
          </p:cNvSpPr>
          <p:nvPr/>
        </p:nvSpPr>
        <p:spPr>
          <a:xfrm rot="10800000">
            <a:off x="5410200" y="5257800"/>
            <a:ext cx="76200" cy="76200"/>
          </a:xfrm>
          <a:prstGeom prst="triangle">
            <a:avLst/>
          </a:prstGeom>
          <a:solidFill>
            <a:srgbClr val="557A96"/>
          </a:solidFill>
          <a:ln w="0">
            <a:solidFill>
              <a:srgbClr val="557A96"/>
            </a:solidFill>
            <a:prstDash val="solid"/>
          </a:ln>
        </p:spPr>
      </p:sp>
      <p:sp>
        <p:nvSpPr>
          <p:cNvPr id="105" name="package-base-box"/>
          <p:cNvSpPr>
            <a:spLocks noGrp="1"/>
          </p:cNvSpPr>
          <p:nvPr/>
        </p:nvSpPr>
        <p:spPr>
          <a:xfrm>
            <a:off x="4781550" y="4362450"/>
            <a:ext cx="1333500" cy="247650"/>
          </a:xfrm>
          <a:prstGeom prst="roundRect">
            <a:avLst>
              <a:gd name="adj" fmla="val 15385"/>
            </a:avLst>
          </a:prstGeom>
          <a:solidFill>
            <a:srgbClr val="F2F6F8"/>
          </a:solidFill>
          <a:ln w="9525">
            <a:solidFill>
              <a:srgbClr val="7F9DB2"/>
            </a:solidFill>
            <a:prstDash val="solid"/>
          </a:ln>
        </p:spPr>
      </p:sp>
      <p:sp>
        <p:nvSpPr>
          <p:cNvPr id="106" name="package-base-text"/>
          <p:cNvSpPr>
            <a:spLocks noGrp="1"/>
          </p:cNvSpPr>
          <p:nvPr/>
        </p:nvSpPr>
        <p:spPr>
          <a:xfrm>
            <a:off x="4810125" y="4381500"/>
            <a:ext cx="1276350" cy="209550"/>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基础 Workflow</a:t>
            </a:r>
          </a:p>
        </p:txBody>
      </p:sp>
      <p:sp>
        <p:nvSpPr>
          <p:cNvPr id="107" name="package-resources-box"/>
          <p:cNvSpPr>
            <a:spLocks noGrp="1"/>
          </p:cNvSpPr>
          <p:nvPr/>
        </p:nvSpPr>
        <p:spPr>
          <a:xfrm>
            <a:off x="3086100" y="4848225"/>
            <a:ext cx="1143000" cy="323850"/>
          </a:xfrm>
          <a:prstGeom prst="roundRect">
            <a:avLst>
              <a:gd name="adj" fmla="val 11765"/>
            </a:avLst>
          </a:prstGeom>
          <a:solidFill>
            <a:srgbClr val="F7F9FA"/>
          </a:solidFill>
          <a:ln w="9525">
            <a:solidFill>
              <a:srgbClr val="7F9DB2"/>
            </a:solidFill>
            <a:prstDash val="solid"/>
          </a:ln>
        </p:spPr>
      </p:sp>
      <p:sp>
        <p:nvSpPr>
          <p:cNvPr id="108" name="package-resources-text"/>
          <p:cNvSpPr>
            <a:spLocks noGrp="1"/>
          </p:cNvSpPr>
          <p:nvPr/>
        </p:nvSpPr>
        <p:spPr>
          <a:xfrm>
            <a:off x="3114675" y="4867275"/>
            <a:ext cx="1085850" cy="285750"/>
          </a:xfrm>
          <a:prstGeom prst="rect">
            <a:avLst/>
          </a:prstGeom>
          <a:noFill/>
          <a:ln w="0">
            <a:noFill/>
            <a:prstDash val="solid"/>
          </a:ln>
        </p:spPr>
        <p:txBody>
          <a:bodyPr wrap="none" lIns="0" tIns="0" rIns="0" bIns="0" anchor="ctr">
            <a:normAutofit fontScale="97444"/>
          </a:bodyPr>
          <a:lstStyle/>
          <a:p>
            <a:pPr algn="ctr">
              <a:defRPr sz="870" b="1">
                <a:solidFill>
                  <a:srgbClr val="252B31"/>
                </a:solidFill>
                <a:latin typeface="微软雅黑" panose="020B0503020204020204" charset="-122"/>
                <a:ea typeface="微软雅黑" panose="020B0503020204020204" charset="-122"/>
                <a:cs typeface="微软雅黑" panose="020B0503020204020204" charset="-122"/>
              </a:defRPr>
            </a:pPr>
            <a:r>
              <a:rPr sz="870" dirty="0">
                <a:solidFill>
                  <a:srgbClr val="252B31"/>
                </a:solidFill>
                <a:latin typeface="Times New Roman" panose="02020603050405020304" pitchFamily="18" charset="0"/>
                <a:ea typeface="微软雅黑" panose="020B0503020204020204" charset="-122"/>
                <a:cs typeface="Times New Roman" panose="02020603050405020304" pitchFamily="18" charset="0"/>
              </a:rPr>
              <a:t>Resources</a:t>
            </a:r>
          </a:p>
          <a:p>
            <a:pPr algn="ctr">
              <a:defRPr sz="870" b="1">
                <a:solidFill>
                  <a:srgbClr val="252B31"/>
                </a:solidFill>
                <a:latin typeface="微软雅黑" panose="020B0503020204020204" charset="-122"/>
                <a:ea typeface="微软雅黑" panose="020B0503020204020204" charset="-122"/>
                <a:cs typeface="微软雅黑" panose="020B0503020204020204" charset="-122"/>
              </a:defRPr>
            </a:pPr>
            <a:r>
              <a:rPr sz="870" dirty="0">
                <a:solidFill>
                  <a:srgbClr val="252B31"/>
                </a:solidFill>
                <a:latin typeface="Times New Roman" panose="02020603050405020304" pitchFamily="18" charset="0"/>
                <a:ea typeface="微软雅黑" panose="020B0503020204020204" charset="-122"/>
                <a:cs typeface="Times New Roman" panose="02020603050405020304" pitchFamily="18" charset="0"/>
              </a:rPr>
              <a:t>Ref · Example · Script</a:t>
            </a:r>
          </a:p>
        </p:txBody>
      </p:sp>
      <p:sp>
        <p:nvSpPr>
          <p:cNvPr id="109" name="package-constraints-box"/>
          <p:cNvSpPr>
            <a:spLocks noGrp="1"/>
          </p:cNvSpPr>
          <p:nvPr/>
        </p:nvSpPr>
        <p:spPr>
          <a:xfrm>
            <a:off x="4819650" y="4848225"/>
            <a:ext cx="1257300" cy="323850"/>
          </a:xfrm>
          <a:prstGeom prst="roundRect">
            <a:avLst>
              <a:gd name="adj" fmla="val 11765"/>
            </a:avLst>
          </a:prstGeom>
          <a:solidFill>
            <a:srgbClr val="F7F9FA"/>
          </a:solidFill>
          <a:ln w="9525">
            <a:solidFill>
              <a:srgbClr val="7F9DB2"/>
            </a:solidFill>
            <a:prstDash val="solid"/>
          </a:ln>
        </p:spPr>
      </p:sp>
      <p:sp>
        <p:nvSpPr>
          <p:cNvPr id="110" name="package-constraints-text"/>
          <p:cNvSpPr>
            <a:spLocks noGrp="1"/>
          </p:cNvSpPr>
          <p:nvPr/>
        </p:nvSpPr>
        <p:spPr>
          <a:xfrm>
            <a:off x="4848225" y="4867275"/>
            <a:ext cx="1200150" cy="285750"/>
          </a:xfrm>
          <a:prstGeom prst="rect">
            <a:avLst/>
          </a:prstGeom>
          <a:noFill/>
          <a:ln w="0">
            <a:noFill/>
            <a:prstDash val="solid"/>
          </a:ln>
        </p:spPr>
        <p:txBody>
          <a:bodyPr wrap="none" lIns="0" tIns="0" rIns="0" bIns="0" anchor="ctr">
            <a:normAutofit fontScale="98300"/>
          </a:bodyPr>
          <a:lstStyle/>
          <a:p>
            <a:pPr algn="ctr">
              <a:defRPr sz="850" b="1">
                <a:solidFill>
                  <a:srgbClr val="252B31"/>
                </a:solidFill>
                <a:latin typeface="微软雅黑" panose="020B0503020204020204" charset="-122"/>
                <a:ea typeface="微软雅黑" panose="020B0503020204020204" charset="-122"/>
                <a:cs typeface="微软雅黑" panose="020B0503020204020204" charset="-122"/>
              </a:defRPr>
            </a:pPr>
            <a:r>
              <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rPr>
              <a:t>Constraints</a:t>
            </a:r>
          </a:p>
          <a:p>
            <a:pPr algn="ctr">
              <a:defRPr sz="850" b="1">
                <a:solidFill>
                  <a:srgbClr val="252B31"/>
                </a:solidFill>
                <a:latin typeface="微软雅黑" panose="020B0503020204020204" charset="-122"/>
                <a:ea typeface="微软雅黑" panose="020B0503020204020204" charset="-122"/>
                <a:cs typeface="微软雅黑" panose="020B0503020204020204" charset="-122"/>
              </a:defRPr>
            </a:pPr>
            <a:r>
              <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rPr>
              <a:t>Boundary · </a:t>
            </a:r>
            <a:r>
              <a:rPr sz="850" dirty="0" smtClean="0">
                <a:solidFill>
                  <a:srgbClr val="252B31"/>
                </a:solidFill>
                <a:latin typeface="Times New Roman" panose="02020603050405020304" pitchFamily="18" charset="0"/>
                <a:ea typeface="微软雅黑" panose="020B0503020204020204" charset="-122"/>
                <a:cs typeface="Times New Roman" panose="02020603050405020304" pitchFamily="18" charset="0"/>
              </a:rPr>
              <a:t>Policy</a:t>
            </a:r>
            <a:endPar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1" name="package-metadata-box"/>
          <p:cNvSpPr>
            <a:spLocks noGrp="1"/>
          </p:cNvSpPr>
          <p:nvPr/>
        </p:nvSpPr>
        <p:spPr>
          <a:xfrm>
            <a:off x="6477000" y="4848225"/>
            <a:ext cx="1524000" cy="323850"/>
          </a:xfrm>
          <a:prstGeom prst="roundRect">
            <a:avLst>
              <a:gd name="adj" fmla="val 11765"/>
            </a:avLst>
          </a:prstGeom>
          <a:solidFill>
            <a:srgbClr val="F7F9FA"/>
          </a:solidFill>
          <a:ln w="9525">
            <a:solidFill>
              <a:srgbClr val="7F9DB2"/>
            </a:solidFill>
            <a:prstDash val="solid"/>
          </a:ln>
        </p:spPr>
      </p:sp>
      <p:sp>
        <p:nvSpPr>
          <p:cNvPr id="112" name="package-metadata-text"/>
          <p:cNvSpPr>
            <a:spLocks noGrp="1"/>
          </p:cNvSpPr>
          <p:nvPr/>
        </p:nvSpPr>
        <p:spPr>
          <a:xfrm>
            <a:off x="6553200" y="4857750"/>
            <a:ext cx="1371600" cy="285750"/>
          </a:xfrm>
          <a:prstGeom prst="rect">
            <a:avLst/>
          </a:prstGeom>
          <a:noFill/>
          <a:ln w="0">
            <a:noFill/>
            <a:prstDash val="solid"/>
          </a:ln>
        </p:spPr>
        <p:txBody>
          <a:bodyPr wrap="none" lIns="0" tIns="0" rIns="0" bIns="0" anchor="ctr">
            <a:normAutofit fontScale="98622"/>
          </a:bodyPr>
          <a:lstStyle/>
          <a:p>
            <a:pPr algn="ctr">
              <a:defRPr sz="830" b="1">
                <a:solidFill>
                  <a:srgbClr val="252B31"/>
                </a:solidFill>
                <a:latin typeface="微软雅黑" panose="020B0503020204020204" charset="-122"/>
                <a:ea typeface="微软雅黑" panose="020B0503020204020204" charset="-122"/>
                <a:cs typeface="微软雅黑" panose="020B0503020204020204" charset="-122"/>
              </a:defRPr>
            </a:pPr>
            <a:r>
              <a:rPr sz="830" dirty="0">
                <a:solidFill>
                  <a:srgbClr val="252B31"/>
                </a:solidFill>
                <a:latin typeface="Times New Roman" panose="02020603050405020304" pitchFamily="18" charset="0"/>
                <a:ea typeface="微软雅黑" panose="020B0503020204020204" charset="-122"/>
                <a:cs typeface="Times New Roman" panose="02020603050405020304" pitchFamily="18" charset="0"/>
              </a:rPr>
              <a:t>Metadata</a:t>
            </a:r>
          </a:p>
          <a:p>
            <a:pPr algn="ctr">
              <a:defRPr sz="830" b="1">
                <a:solidFill>
                  <a:srgbClr val="252B31"/>
                </a:solidFill>
                <a:latin typeface="微软雅黑" panose="020B0503020204020204" charset="-122"/>
                <a:ea typeface="微软雅黑" panose="020B0503020204020204" charset="-122"/>
                <a:cs typeface="微软雅黑" panose="020B0503020204020204" charset="-122"/>
              </a:defRPr>
            </a:pPr>
            <a:r>
              <a:rPr sz="830" dirty="0">
                <a:solidFill>
                  <a:srgbClr val="252B31"/>
                </a:solidFill>
                <a:latin typeface="Times New Roman" panose="02020603050405020304" pitchFamily="18" charset="0"/>
                <a:ea typeface="微软雅黑" panose="020B0503020204020204" charset="-122"/>
                <a:cs typeface="Times New Roman" panose="02020603050405020304" pitchFamily="18" charset="0"/>
              </a:rPr>
              <a:t>name · description · trigger</a:t>
            </a:r>
          </a:p>
        </p:txBody>
      </p:sp>
      <p:sp>
        <p:nvSpPr>
          <p:cNvPr id="113" name="package-complete-box"/>
          <p:cNvSpPr>
            <a:spLocks noGrp="1"/>
          </p:cNvSpPr>
          <p:nvPr/>
        </p:nvSpPr>
        <p:spPr>
          <a:xfrm>
            <a:off x="4686300" y="5295900"/>
            <a:ext cx="1524000" cy="238125"/>
          </a:xfrm>
          <a:prstGeom prst="roundRect">
            <a:avLst>
              <a:gd name="adj" fmla="val 16000"/>
            </a:avLst>
          </a:prstGeom>
          <a:solidFill>
            <a:srgbClr val="F2F6F8"/>
          </a:solidFill>
          <a:ln w="9525">
            <a:solidFill>
              <a:srgbClr val="7F9DB2"/>
            </a:solidFill>
            <a:prstDash val="solid"/>
          </a:ln>
        </p:spPr>
      </p:sp>
      <p:sp>
        <p:nvSpPr>
          <p:cNvPr id="114" name="package-complete-text"/>
          <p:cNvSpPr>
            <a:spLocks noGrp="1"/>
          </p:cNvSpPr>
          <p:nvPr/>
        </p:nvSpPr>
        <p:spPr>
          <a:xfrm>
            <a:off x="4714875" y="5314950"/>
            <a:ext cx="1466850" cy="200025"/>
          </a:xfrm>
          <a:prstGeom prst="rect">
            <a:avLst/>
          </a:prstGeom>
          <a:noFill/>
          <a:ln w="0">
            <a:noFill/>
            <a:prstDash val="solid"/>
          </a:ln>
        </p:spPr>
        <p:txBody>
          <a:bodyPr wrap="none" lIns="0" tIns="0" rIns="0" bIns="0" anchor="ctr">
            <a:normAutofit/>
          </a:bodyPr>
          <a:lstStyle/>
          <a:p>
            <a:pPr algn="ctr">
              <a:defRPr sz="990" b="1">
                <a:solidFill>
                  <a:srgbClr val="557A96"/>
                </a:solidFill>
                <a:latin typeface="微软雅黑" panose="020B0503020204020204" charset="-122"/>
                <a:ea typeface="微软雅黑" panose="020B0503020204020204" charset="-122"/>
                <a:cs typeface="微软雅黑" panose="020B0503020204020204" charset="-122"/>
              </a:defRPr>
            </a:pPr>
            <a:r>
              <a:rPr sz="990" b="1">
                <a:solidFill>
                  <a:srgbClr val="557A96"/>
                </a:solidFill>
                <a:latin typeface="微软雅黑" panose="020B0503020204020204" charset="-122"/>
                <a:ea typeface="微软雅黑" panose="020B0503020204020204" charset="-122"/>
                <a:cs typeface="微软雅黑" panose="020B0503020204020204" charset="-122"/>
              </a:rPr>
              <a:t>Complete Skill</a:t>
            </a:r>
          </a:p>
        </p:txBody>
      </p:sp>
      <p:sp>
        <p:nvSpPr>
          <p:cNvPr id="115" name="complete-evaluation-line"/>
          <p:cNvSpPr>
            <a:spLocks noGrp="1"/>
          </p:cNvSpPr>
          <p:nvPr/>
        </p:nvSpPr>
        <p:spPr>
          <a:xfrm>
            <a:off x="4000500" y="5838825"/>
            <a:ext cx="523875" cy="0"/>
          </a:xfrm>
          <a:prstGeom prst="line">
            <a:avLst/>
          </a:prstGeom>
          <a:noFill/>
          <a:ln w="11430">
            <a:solidFill>
              <a:srgbClr val="557A96"/>
            </a:solidFill>
            <a:prstDash val="solid"/>
          </a:ln>
        </p:spPr>
      </p:sp>
      <p:sp>
        <p:nvSpPr>
          <p:cNvPr id="116" name="complete-evaluation-arrow"/>
          <p:cNvSpPr>
            <a:spLocks noGrp="1"/>
          </p:cNvSpPr>
          <p:nvPr/>
        </p:nvSpPr>
        <p:spPr>
          <a:xfrm rot="5400000">
            <a:off x="4486275" y="5800725"/>
            <a:ext cx="76200" cy="76200"/>
          </a:xfrm>
          <a:prstGeom prst="triangle">
            <a:avLst/>
          </a:prstGeom>
          <a:solidFill>
            <a:srgbClr val="557A96"/>
          </a:solidFill>
          <a:ln w="0">
            <a:solidFill>
              <a:srgbClr val="557A96"/>
            </a:solidFill>
            <a:prstDash val="solid"/>
          </a:ln>
        </p:spPr>
      </p:sp>
      <p:sp>
        <p:nvSpPr>
          <p:cNvPr id="117" name="evaluation-stable-line"/>
          <p:cNvSpPr>
            <a:spLocks noGrp="1"/>
          </p:cNvSpPr>
          <p:nvPr/>
        </p:nvSpPr>
        <p:spPr>
          <a:xfrm>
            <a:off x="5572125" y="5838825"/>
            <a:ext cx="1000125" cy="0"/>
          </a:xfrm>
          <a:prstGeom prst="line">
            <a:avLst/>
          </a:prstGeom>
          <a:noFill/>
          <a:ln w="11430">
            <a:solidFill>
              <a:srgbClr val="557A96"/>
            </a:solidFill>
            <a:prstDash val="solid"/>
          </a:ln>
        </p:spPr>
      </p:sp>
      <p:sp>
        <p:nvSpPr>
          <p:cNvPr id="118" name="evaluation-stable-arrow"/>
          <p:cNvSpPr>
            <a:spLocks noGrp="1"/>
          </p:cNvSpPr>
          <p:nvPr/>
        </p:nvSpPr>
        <p:spPr>
          <a:xfrm rot="5400000">
            <a:off x="6534150" y="5800725"/>
            <a:ext cx="76200" cy="76200"/>
          </a:xfrm>
          <a:prstGeom prst="triangle">
            <a:avLst/>
          </a:prstGeom>
          <a:solidFill>
            <a:srgbClr val="557A96"/>
          </a:solidFill>
          <a:ln w="0">
            <a:solidFill>
              <a:srgbClr val="557A96"/>
            </a:solidFill>
            <a:prstDash val="solid"/>
          </a:ln>
        </p:spPr>
      </p:sp>
      <p:sp>
        <p:nvSpPr>
          <p:cNvPr id="119" name="evaluation-fail-line"/>
          <p:cNvSpPr>
            <a:spLocks noGrp="1"/>
          </p:cNvSpPr>
          <p:nvPr/>
        </p:nvSpPr>
        <p:spPr>
          <a:xfrm>
            <a:off x="5048250" y="5972175"/>
            <a:ext cx="0" cy="76200"/>
          </a:xfrm>
          <a:prstGeom prst="line">
            <a:avLst/>
          </a:prstGeom>
          <a:noFill/>
          <a:ln w="10478">
            <a:solidFill>
              <a:srgbClr val="557A96"/>
            </a:solidFill>
            <a:prstDash val="solid"/>
          </a:ln>
        </p:spPr>
      </p:sp>
      <p:sp>
        <p:nvSpPr>
          <p:cNvPr id="120" name="evaluation-complete-box"/>
          <p:cNvSpPr>
            <a:spLocks noGrp="1"/>
          </p:cNvSpPr>
          <p:nvPr/>
        </p:nvSpPr>
        <p:spPr>
          <a:xfrm>
            <a:off x="2857500" y="5705475"/>
            <a:ext cx="1143000" cy="266700"/>
          </a:xfrm>
          <a:prstGeom prst="roundRect">
            <a:avLst>
              <a:gd name="adj" fmla="val 14286"/>
            </a:avLst>
          </a:prstGeom>
          <a:solidFill>
            <a:srgbClr val="F7F9FA"/>
          </a:solidFill>
          <a:ln w="9525">
            <a:solidFill>
              <a:srgbClr val="7F9DB2"/>
            </a:solidFill>
            <a:prstDash val="solid"/>
          </a:ln>
        </p:spPr>
      </p:sp>
      <p:sp>
        <p:nvSpPr>
          <p:cNvPr id="121" name="evaluation-complete-text"/>
          <p:cNvSpPr>
            <a:spLocks noGrp="1"/>
          </p:cNvSpPr>
          <p:nvPr/>
        </p:nvSpPr>
        <p:spPr>
          <a:xfrm>
            <a:off x="2886075" y="5724525"/>
            <a:ext cx="1085850" cy="228600"/>
          </a:xfrm>
          <a:prstGeom prst="rect">
            <a:avLst/>
          </a:prstGeom>
          <a:noFill/>
          <a:ln w="0">
            <a:noFill/>
            <a:prstDash val="solid"/>
          </a:ln>
        </p:spPr>
        <p:txBody>
          <a:bodyPr wrap="none" lIns="0" tIns="0" rIns="0" bIns="0" anchor="ctr">
            <a:normAutofit/>
          </a:bodyPr>
          <a:lstStyle/>
          <a:p>
            <a:pPr algn="ctr">
              <a:defRPr sz="960" b="1">
                <a:solidFill>
                  <a:srgbClr val="252B31"/>
                </a:solidFill>
                <a:latin typeface="微软雅黑" panose="020B0503020204020204" charset="-122"/>
                <a:ea typeface="微软雅黑" panose="020B0503020204020204" charset="-122"/>
                <a:cs typeface="微软雅黑" panose="020B0503020204020204" charset="-122"/>
              </a:defRPr>
            </a:pPr>
            <a:r>
              <a:rPr sz="960" b="1">
                <a:solidFill>
                  <a:srgbClr val="252B31"/>
                </a:solidFill>
                <a:latin typeface="微软雅黑" panose="020B0503020204020204" charset="-122"/>
                <a:ea typeface="微软雅黑" panose="020B0503020204020204" charset="-122"/>
                <a:cs typeface="微软雅黑" panose="020B0503020204020204" charset="-122"/>
              </a:rPr>
              <a:t>Complete Skill</a:t>
            </a:r>
          </a:p>
        </p:txBody>
      </p:sp>
      <p:sp>
        <p:nvSpPr>
          <p:cNvPr id="122" name="evaluation-node-box"/>
          <p:cNvSpPr>
            <a:spLocks noGrp="1"/>
          </p:cNvSpPr>
          <p:nvPr/>
        </p:nvSpPr>
        <p:spPr>
          <a:xfrm>
            <a:off x="4524375" y="5705475"/>
            <a:ext cx="1047750" cy="266700"/>
          </a:xfrm>
          <a:prstGeom prst="roundRect">
            <a:avLst>
              <a:gd name="adj" fmla="val 14286"/>
            </a:avLst>
          </a:prstGeom>
          <a:solidFill>
            <a:srgbClr val="F2F6F8"/>
          </a:solidFill>
          <a:ln w="9525">
            <a:solidFill>
              <a:srgbClr val="7F9DB2"/>
            </a:solidFill>
            <a:prstDash val="solid"/>
          </a:ln>
        </p:spPr>
      </p:sp>
      <p:sp>
        <p:nvSpPr>
          <p:cNvPr id="123" name="evaluation-node-text"/>
          <p:cNvSpPr>
            <a:spLocks noGrp="1"/>
          </p:cNvSpPr>
          <p:nvPr/>
        </p:nvSpPr>
        <p:spPr>
          <a:xfrm>
            <a:off x="4552950" y="5724525"/>
            <a:ext cx="990600" cy="22860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Evaluation</a:t>
            </a:r>
          </a:p>
        </p:txBody>
      </p:sp>
      <p:sp>
        <p:nvSpPr>
          <p:cNvPr id="124" name="stable-skill-box"/>
          <p:cNvSpPr>
            <a:spLocks noGrp="1"/>
          </p:cNvSpPr>
          <p:nvPr/>
        </p:nvSpPr>
        <p:spPr>
          <a:xfrm>
            <a:off x="6572250" y="5667375"/>
            <a:ext cx="1714500" cy="342900"/>
          </a:xfrm>
          <a:prstGeom prst="roundRect">
            <a:avLst>
              <a:gd name="adj" fmla="val 11111"/>
            </a:avLst>
          </a:prstGeom>
          <a:solidFill>
            <a:srgbClr val="F2F6F8"/>
          </a:solidFill>
          <a:ln w="9525">
            <a:solidFill>
              <a:srgbClr val="7F9DB2"/>
            </a:solidFill>
            <a:prstDash val="solid"/>
          </a:ln>
        </p:spPr>
      </p:sp>
      <p:sp>
        <p:nvSpPr>
          <p:cNvPr id="125" name="stable-skill-text"/>
          <p:cNvSpPr>
            <a:spLocks noGrp="1"/>
          </p:cNvSpPr>
          <p:nvPr/>
        </p:nvSpPr>
        <p:spPr>
          <a:xfrm>
            <a:off x="6600825" y="5686425"/>
            <a:ext cx="1657350" cy="304800"/>
          </a:xfrm>
          <a:prstGeom prst="rect">
            <a:avLst/>
          </a:prstGeom>
          <a:noFill/>
          <a:ln w="0">
            <a:noFill/>
            <a:prstDash val="solid"/>
          </a:ln>
        </p:spPr>
        <p:txBody>
          <a:bodyPr wrap="none" lIns="0" tIns="0" rIns="0" bIns="0" anchor="ctr">
            <a:normAutofit/>
          </a:bodyPr>
          <a:lstStyle/>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Stable Skill</a:t>
            </a:r>
          </a:p>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稳定 · 可调用 · 可复用</a:t>
            </a:r>
          </a:p>
        </p:txBody>
      </p:sp>
      <p:sp>
        <p:nvSpPr>
          <p:cNvPr id="126" name="evaluation-pass"/>
          <p:cNvSpPr>
            <a:spLocks noGrp="1"/>
          </p:cNvSpPr>
          <p:nvPr/>
        </p:nvSpPr>
        <p:spPr>
          <a:xfrm>
            <a:off x="5772150" y="5657850"/>
            <a:ext cx="533400" cy="161925"/>
          </a:xfrm>
          <a:prstGeom prst="rect">
            <a:avLst/>
          </a:prstGeom>
          <a:noFill/>
          <a:ln w="0">
            <a:noFill/>
            <a:prstDash val="solid"/>
          </a:ln>
        </p:spPr>
        <p:txBody>
          <a:bodyPr wrap="none" lIns="0" tIns="0" rIns="0" bIns="0" anchor="ctr">
            <a:normAutofit/>
          </a:bodyPr>
          <a:lstStyle/>
          <a:p>
            <a:pPr algn="ctr">
              <a:defRPr sz="885" b="1">
                <a:solidFill>
                  <a:srgbClr val="557A96"/>
                </a:solidFill>
                <a:latin typeface="微软雅黑" panose="020B0503020204020204" charset="-122"/>
                <a:ea typeface="微软雅黑" panose="020B0503020204020204" charset="-122"/>
                <a:cs typeface="微软雅黑" panose="020B0503020204020204" charset="-122"/>
              </a:defRPr>
            </a:pPr>
            <a:r>
              <a:rPr sz="885" b="1">
                <a:solidFill>
                  <a:srgbClr val="557A96"/>
                </a:solidFill>
                <a:latin typeface="微软雅黑" panose="020B0503020204020204" charset="-122"/>
                <a:ea typeface="微软雅黑" panose="020B0503020204020204" charset="-122"/>
                <a:cs typeface="微软雅黑" panose="020B0503020204020204" charset="-122"/>
              </a:rPr>
              <a:t>PASS</a:t>
            </a:r>
          </a:p>
        </p:txBody>
      </p:sp>
      <p:sp>
        <p:nvSpPr>
          <p:cNvPr id="127" name="evaluation-fail"/>
          <p:cNvSpPr>
            <a:spLocks noGrp="1"/>
          </p:cNvSpPr>
          <p:nvPr/>
        </p:nvSpPr>
        <p:spPr>
          <a:xfrm>
            <a:off x="5429250" y="5972175"/>
            <a:ext cx="1333500" cy="133350"/>
          </a:xfrm>
          <a:prstGeom prst="rect">
            <a:avLst/>
          </a:prstGeom>
          <a:noFill/>
          <a:ln w="0">
            <a:noFill/>
            <a:prstDash val="solid"/>
          </a:ln>
        </p:spPr>
        <p:txBody>
          <a:bodyPr wrap="none" lIns="0" tIns="0" rIns="0" bIns="0" anchor="ctr">
            <a:normAutofit/>
          </a:bodyPr>
          <a:lstStyle/>
          <a:p>
            <a:pPr algn="l">
              <a:defRPr sz="810" b="1">
                <a:solidFill>
                  <a:srgbClr val="68727B"/>
                </a:solidFill>
                <a:latin typeface="微软雅黑" panose="020B0503020204020204" charset="-122"/>
                <a:ea typeface="微软雅黑" panose="020B0503020204020204" charset="-122"/>
                <a:cs typeface="微软雅黑" panose="020B0503020204020204" charset="-122"/>
              </a:defRPr>
            </a:pPr>
            <a:r>
              <a:rPr sz="810" b="1" dirty="0">
                <a:solidFill>
                  <a:srgbClr val="68727B"/>
                </a:solidFill>
                <a:latin typeface="微软雅黑" panose="020B0503020204020204" charset="-122"/>
                <a:ea typeface="微软雅黑" panose="020B0503020204020204" charset="-122"/>
                <a:cs typeface="微软雅黑" panose="020B0503020204020204" charset="-122"/>
              </a:rPr>
              <a:t>FAIL → </a:t>
            </a:r>
            <a:r>
              <a:rPr sz="810" b="1" dirty="0" err="1">
                <a:solidFill>
                  <a:srgbClr val="68727B"/>
                </a:solidFill>
                <a:latin typeface="微软雅黑" panose="020B0503020204020204" charset="-122"/>
                <a:ea typeface="微软雅黑" panose="020B0503020204020204" charset="-122"/>
                <a:cs typeface="微软雅黑" panose="020B0503020204020204" charset="-122"/>
              </a:rPr>
              <a:t>右侧定位与修正</a:t>
            </a:r>
            <a:endParaRPr sz="81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8" name="iteration-frame"/>
          <p:cNvSpPr>
            <a:spLocks noGrp="1"/>
          </p:cNvSpPr>
          <p:nvPr/>
        </p:nvSpPr>
        <p:spPr>
          <a:xfrm>
            <a:off x="8715374" y="1485900"/>
            <a:ext cx="2857500" cy="4610100"/>
          </a:xfrm>
          <a:prstGeom prst="rect">
            <a:avLst/>
          </a:prstGeom>
          <a:solidFill>
            <a:srgbClr val="FFFFFF"/>
          </a:solidFill>
          <a:ln w="9525">
            <a:solidFill>
              <a:srgbClr val="D8DEE3"/>
            </a:solidFill>
            <a:prstDash val="solid"/>
          </a:ln>
        </p:spPr>
      </p:sp>
      <p:sp>
        <p:nvSpPr>
          <p:cNvPr id="129" name="iteration-accent"/>
          <p:cNvSpPr>
            <a:spLocks noGrp="1"/>
          </p:cNvSpPr>
          <p:nvPr/>
        </p:nvSpPr>
        <p:spPr>
          <a:xfrm>
            <a:off x="8724900" y="1485900"/>
            <a:ext cx="2857500" cy="28575"/>
          </a:xfrm>
          <a:prstGeom prst="rect">
            <a:avLst/>
          </a:prstGeom>
          <a:solidFill>
            <a:srgbClr val="557A96"/>
          </a:solidFill>
          <a:ln w="0">
            <a:noFill/>
            <a:prstDash val="solid"/>
          </a:ln>
        </p:spPr>
      </p:sp>
      <p:sp>
        <p:nvSpPr>
          <p:cNvPr id="133" name="test-fail-down"/>
          <p:cNvSpPr>
            <a:spLocks noGrp="1"/>
          </p:cNvSpPr>
          <p:nvPr/>
        </p:nvSpPr>
        <p:spPr>
          <a:xfrm>
            <a:off x="10153650" y="2581275"/>
            <a:ext cx="0" cy="219075"/>
          </a:xfrm>
          <a:prstGeom prst="line">
            <a:avLst/>
          </a:prstGeom>
          <a:noFill/>
          <a:ln w="11430">
            <a:solidFill>
              <a:srgbClr val="557A96"/>
            </a:solidFill>
            <a:prstDash val="solid"/>
          </a:ln>
        </p:spPr>
      </p:sp>
      <p:sp>
        <p:nvSpPr>
          <p:cNvPr id="134" name="test-fail-arrow"/>
          <p:cNvSpPr>
            <a:spLocks noGrp="1"/>
          </p:cNvSpPr>
          <p:nvPr/>
        </p:nvSpPr>
        <p:spPr>
          <a:xfrm rot="10800000">
            <a:off x="10115550" y="2762250"/>
            <a:ext cx="76200" cy="76200"/>
          </a:xfrm>
          <a:prstGeom prst="triangle">
            <a:avLst/>
          </a:prstGeom>
          <a:solidFill>
            <a:srgbClr val="557A96"/>
          </a:solidFill>
          <a:ln w="0">
            <a:solidFill>
              <a:srgbClr val="557A96"/>
            </a:solidFill>
            <a:prstDash val="solid"/>
          </a:ln>
        </p:spPr>
      </p:sp>
      <p:sp>
        <p:nvSpPr>
          <p:cNvPr id="135" name="locate-branch-down"/>
          <p:cNvSpPr>
            <a:spLocks noGrp="1"/>
          </p:cNvSpPr>
          <p:nvPr/>
        </p:nvSpPr>
        <p:spPr>
          <a:xfrm>
            <a:off x="10153650" y="3124200"/>
            <a:ext cx="0" cy="104775"/>
          </a:xfrm>
          <a:prstGeom prst="line">
            <a:avLst/>
          </a:prstGeom>
          <a:noFill/>
          <a:ln w="11430">
            <a:solidFill>
              <a:srgbClr val="557A96"/>
            </a:solidFill>
            <a:prstDash val="solid"/>
          </a:ln>
        </p:spPr>
      </p:sp>
      <p:sp>
        <p:nvSpPr>
          <p:cNvPr id="136" name="diagnosis-branch"/>
          <p:cNvSpPr>
            <a:spLocks noGrp="1"/>
          </p:cNvSpPr>
          <p:nvPr/>
        </p:nvSpPr>
        <p:spPr>
          <a:xfrm>
            <a:off x="9239250" y="3228975"/>
            <a:ext cx="1828800" cy="0"/>
          </a:xfrm>
          <a:prstGeom prst="line">
            <a:avLst/>
          </a:prstGeom>
          <a:noFill/>
          <a:ln w="11430">
            <a:solidFill>
              <a:srgbClr val="557A96"/>
            </a:solidFill>
            <a:prstDash val="solid"/>
          </a:ln>
        </p:spPr>
      </p:sp>
      <p:sp>
        <p:nvSpPr>
          <p:cNvPr id="137" name="diagnosis-drop-0"/>
          <p:cNvSpPr>
            <a:spLocks noGrp="1"/>
          </p:cNvSpPr>
          <p:nvPr/>
        </p:nvSpPr>
        <p:spPr>
          <a:xfrm>
            <a:off x="9239250" y="3228975"/>
            <a:ext cx="0" cy="85725"/>
          </a:xfrm>
          <a:prstGeom prst="line">
            <a:avLst/>
          </a:prstGeom>
          <a:noFill/>
          <a:ln w="11430">
            <a:solidFill>
              <a:srgbClr val="557A96"/>
            </a:solidFill>
            <a:prstDash val="solid"/>
          </a:ln>
        </p:spPr>
      </p:sp>
      <p:sp>
        <p:nvSpPr>
          <p:cNvPr id="138" name="diagnosis-arrow-0"/>
          <p:cNvSpPr>
            <a:spLocks noGrp="1"/>
          </p:cNvSpPr>
          <p:nvPr/>
        </p:nvSpPr>
        <p:spPr>
          <a:xfrm rot="10800000">
            <a:off x="9201150" y="3276600"/>
            <a:ext cx="76200" cy="76200"/>
          </a:xfrm>
          <a:prstGeom prst="triangle">
            <a:avLst/>
          </a:prstGeom>
          <a:solidFill>
            <a:srgbClr val="557A96"/>
          </a:solidFill>
          <a:ln w="0">
            <a:solidFill>
              <a:srgbClr val="557A96"/>
            </a:solidFill>
            <a:prstDash val="solid"/>
          </a:ln>
        </p:spPr>
      </p:sp>
      <p:sp>
        <p:nvSpPr>
          <p:cNvPr id="139" name="diagnosis-converge-0"/>
          <p:cNvSpPr>
            <a:spLocks noGrp="1"/>
          </p:cNvSpPr>
          <p:nvPr/>
        </p:nvSpPr>
        <p:spPr>
          <a:xfrm>
            <a:off x="9258299" y="3676650"/>
            <a:ext cx="0" cy="152400"/>
          </a:xfrm>
          <a:prstGeom prst="line">
            <a:avLst/>
          </a:prstGeom>
          <a:noFill/>
          <a:ln w="11430">
            <a:solidFill>
              <a:srgbClr val="557A96"/>
            </a:solidFill>
            <a:prstDash val="solid"/>
          </a:ln>
        </p:spPr>
      </p:sp>
      <p:sp>
        <p:nvSpPr>
          <p:cNvPr id="140" name="diagnosis-drop-1"/>
          <p:cNvSpPr>
            <a:spLocks noGrp="1"/>
          </p:cNvSpPr>
          <p:nvPr/>
        </p:nvSpPr>
        <p:spPr>
          <a:xfrm>
            <a:off x="10153650" y="3228975"/>
            <a:ext cx="0" cy="85725"/>
          </a:xfrm>
          <a:prstGeom prst="line">
            <a:avLst/>
          </a:prstGeom>
          <a:noFill/>
          <a:ln w="11430">
            <a:solidFill>
              <a:srgbClr val="557A96"/>
            </a:solidFill>
            <a:prstDash val="solid"/>
          </a:ln>
        </p:spPr>
      </p:sp>
      <p:sp>
        <p:nvSpPr>
          <p:cNvPr id="141" name="diagnosis-arrow-1"/>
          <p:cNvSpPr>
            <a:spLocks noGrp="1"/>
          </p:cNvSpPr>
          <p:nvPr/>
        </p:nvSpPr>
        <p:spPr>
          <a:xfrm rot="10800000">
            <a:off x="10115550" y="3276600"/>
            <a:ext cx="76200" cy="76200"/>
          </a:xfrm>
          <a:prstGeom prst="triangle">
            <a:avLst/>
          </a:prstGeom>
          <a:solidFill>
            <a:srgbClr val="557A96"/>
          </a:solidFill>
          <a:ln w="0">
            <a:solidFill>
              <a:srgbClr val="557A96"/>
            </a:solidFill>
            <a:prstDash val="solid"/>
          </a:ln>
        </p:spPr>
      </p:sp>
      <p:sp>
        <p:nvSpPr>
          <p:cNvPr id="142" name="diagnosis-converge-1"/>
          <p:cNvSpPr>
            <a:spLocks noGrp="1"/>
          </p:cNvSpPr>
          <p:nvPr/>
        </p:nvSpPr>
        <p:spPr>
          <a:xfrm>
            <a:off x="10172699" y="3676650"/>
            <a:ext cx="0" cy="152400"/>
          </a:xfrm>
          <a:prstGeom prst="line">
            <a:avLst/>
          </a:prstGeom>
          <a:noFill/>
          <a:ln w="11430">
            <a:solidFill>
              <a:srgbClr val="557A96"/>
            </a:solidFill>
            <a:prstDash val="solid"/>
          </a:ln>
        </p:spPr>
      </p:sp>
      <p:sp>
        <p:nvSpPr>
          <p:cNvPr id="143" name="diagnosis-drop-2"/>
          <p:cNvSpPr>
            <a:spLocks noGrp="1"/>
          </p:cNvSpPr>
          <p:nvPr/>
        </p:nvSpPr>
        <p:spPr>
          <a:xfrm>
            <a:off x="11068050" y="3228975"/>
            <a:ext cx="0" cy="85725"/>
          </a:xfrm>
          <a:prstGeom prst="line">
            <a:avLst/>
          </a:prstGeom>
          <a:noFill/>
          <a:ln w="11430">
            <a:solidFill>
              <a:srgbClr val="557A96"/>
            </a:solidFill>
            <a:prstDash val="solid"/>
          </a:ln>
        </p:spPr>
      </p:sp>
      <p:sp>
        <p:nvSpPr>
          <p:cNvPr id="144" name="diagnosis-arrow-2"/>
          <p:cNvSpPr>
            <a:spLocks noGrp="1"/>
          </p:cNvSpPr>
          <p:nvPr/>
        </p:nvSpPr>
        <p:spPr>
          <a:xfrm rot="10800000">
            <a:off x="11029950" y="3276600"/>
            <a:ext cx="76200" cy="76200"/>
          </a:xfrm>
          <a:prstGeom prst="triangle">
            <a:avLst/>
          </a:prstGeom>
          <a:solidFill>
            <a:srgbClr val="557A96"/>
          </a:solidFill>
          <a:ln w="0">
            <a:solidFill>
              <a:srgbClr val="557A96"/>
            </a:solidFill>
            <a:prstDash val="solid"/>
          </a:ln>
        </p:spPr>
      </p:sp>
      <p:sp>
        <p:nvSpPr>
          <p:cNvPr id="145" name="diagnosis-converge-2"/>
          <p:cNvSpPr>
            <a:spLocks noGrp="1"/>
          </p:cNvSpPr>
          <p:nvPr/>
        </p:nvSpPr>
        <p:spPr>
          <a:xfrm>
            <a:off x="11087099" y="3676650"/>
            <a:ext cx="0" cy="152400"/>
          </a:xfrm>
          <a:prstGeom prst="line">
            <a:avLst/>
          </a:prstGeom>
          <a:noFill/>
          <a:ln w="11430">
            <a:solidFill>
              <a:srgbClr val="557A96"/>
            </a:solidFill>
            <a:prstDash val="solid"/>
          </a:ln>
        </p:spPr>
      </p:sp>
      <p:sp>
        <p:nvSpPr>
          <p:cNvPr id="146" name="diagnosis-converge-bar"/>
          <p:cNvSpPr>
            <a:spLocks noGrp="1"/>
          </p:cNvSpPr>
          <p:nvPr/>
        </p:nvSpPr>
        <p:spPr>
          <a:xfrm>
            <a:off x="9258299" y="3819525"/>
            <a:ext cx="1828800" cy="0"/>
          </a:xfrm>
          <a:prstGeom prst="line">
            <a:avLst/>
          </a:prstGeom>
          <a:noFill/>
          <a:ln w="11430">
            <a:solidFill>
              <a:srgbClr val="557A96"/>
            </a:solidFill>
            <a:prstDash val="solid"/>
          </a:ln>
        </p:spPr>
      </p:sp>
      <p:sp>
        <p:nvSpPr>
          <p:cNvPr id="147" name="diagnosis-to-modify"/>
          <p:cNvSpPr>
            <a:spLocks noGrp="1"/>
          </p:cNvSpPr>
          <p:nvPr/>
        </p:nvSpPr>
        <p:spPr>
          <a:xfrm>
            <a:off x="10172699" y="3829050"/>
            <a:ext cx="0" cy="152400"/>
          </a:xfrm>
          <a:prstGeom prst="line">
            <a:avLst/>
          </a:prstGeom>
          <a:noFill/>
          <a:ln w="11430">
            <a:solidFill>
              <a:srgbClr val="557A96"/>
            </a:solidFill>
            <a:prstDash val="solid"/>
          </a:ln>
        </p:spPr>
      </p:sp>
      <p:sp>
        <p:nvSpPr>
          <p:cNvPr id="148" name="diagnosis-modify-arrow"/>
          <p:cNvSpPr>
            <a:spLocks noGrp="1"/>
          </p:cNvSpPr>
          <p:nvPr/>
        </p:nvSpPr>
        <p:spPr>
          <a:xfrm rot="10800000">
            <a:off x="10134599" y="3943350"/>
            <a:ext cx="76200" cy="76200"/>
          </a:xfrm>
          <a:prstGeom prst="triangle">
            <a:avLst/>
          </a:prstGeom>
          <a:solidFill>
            <a:srgbClr val="557A96"/>
          </a:solidFill>
          <a:ln w="0">
            <a:solidFill>
              <a:srgbClr val="557A96"/>
            </a:solidFill>
            <a:prstDash val="solid"/>
          </a:ln>
        </p:spPr>
      </p:sp>
      <p:sp>
        <p:nvSpPr>
          <p:cNvPr id="149" name="modify-retest-line"/>
          <p:cNvSpPr>
            <a:spLocks noGrp="1"/>
          </p:cNvSpPr>
          <p:nvPr/>
        </p:nvSpPr>
        <p:spPr>
          <a:xfrm>
            <a:off x="10172699" y="4267200"/>
            <a:ext cx="0" cy="171450"/>
          </a:xfrm>
          <a:prstGeom prst="line">
            <a:avLst/>
          </a:prstGeom>
          <a:noFill/>
          <a:ln w="11430">
            <a:solidFill>
              <a:srgbClr val="557A96"/>
            </a:solidFill>
            <a:prstDash val="solid"/>
          </a:ln>
        </p:spPr>
      </p:sp>
      <p:sp>
        <p:nvSpPr>
          <p:cNvPr id="150" name="modify-retest-arrow"/>
          <p:cNvSpPr>
            <a:spLocks noGrp="1"/>
          </p:cNvSpPr>
          <p:nvPr/>
        </p:nvSpPr>
        <p:spPr>
          <a:xfrm rot="10800000">
            <a:off x="10134599" y="4400550"/>
            <a:ext cx="76200" cy="76200"/>
          </a:xfrm>
          <a:prstGeom prst="triangle">
            <a:avLst/>
          </a:prstGeom>
          <a:solidFill>
            <a:srgbClr val="557A96"/>
          </a:solidFill>
          <a:ln w="0">
            <a:solidFill>
              <a:srgbClr val="557A96"/>
            </a:solidFill>
            <a:prstDash val="solid"/>
          </a:ln>
        </p:spPr>
      </p:sp>
      <p:sp>
        <p:nvSpPr>
          <p:cNvPr id="151" name="retest-loop-right"/>
          <p:cNvSpPr>
            <a:spLocks noGrp="1"/>
          </p:cNvSpPr>
          <p:nvPr/>
        </p:nvSpPr>
        <p:spPr>
          <a:xfrm>
            <a:off x="10829925" y="4610100"/>
            <a:ext cx="581025" cy="0"/>
          </a:xfrm>
          <a:prstGeom prst="line">
            <a:avLst/>
          </a:prstGeom>
          <a:noFill/>
          <a:ln w="10478">
            <a:solidFill>
              <a:srgbClr val="7F9DB2"/>
            </a:solidFill>
            <a:prstDash val="solid"/>
          </a:ln>
        </p:spPr>
      </p:sp>
      <p:sp>
        <p:nvSpPr>
          <p:cNvPr id="152" name="retest-loop-up"/>
          <p:cNvSpPr>
            <a:spLocks noGrp="1"/>
          </p:cNvSpPr>
          <p:nvPr/>
        </p:nvSpPr>
        <p:spPr>
          <a:xfrm>
            <a:off x="11410950" y="2428876"/>
            <a:ext cx="0" cy="2171700"/>
          </a:xfrm>
          <a:prstGeom prst="line">
            <a:avLst/>
          </a:prstGeom>
          <a:noFill/>
          <a:ln w="10478">
            <a:solidFill>
              <a:srgbClr val="7F9DB2"/>
            </a:solidFill>
            <a:prstDash val="solid"/>
          </a:ln>
        </p:spPr>
      </p:sp>
      <p:sp>
        <p:nvSpPr>
          <p:cNvPr id="153" name="retest-loop-left"/>
          <p:cNvSpPr>
            <a:spLocks noGrp="1"/>
          </p:cNvSpPr>
          <p:nvPr/>
        </p:nvSpPr>
        <p:spPr>
          <a:xfrm>
            <a:off x="10782300" y="2428875"/>
            <a:ext cx="628650" cy="0"/>
          </a:xfrm>
          <a:prstGeom prst="line">
            <a:avLst/>
          </a:prstGeom>
          <a:noFill/>
          <a:ln w="10478">
            <a:solidFill>
              <a:srgbClr val="7F9DB2"/>
            </a:solidFill>
            <a:prstDash val="solid"/>
          </a:ln>
        </p:spPr>
      </p:sp>
      <p:sp>
        <p:nvSpPr>
          <p:cNvPr id="154" name="retest-loop-arrow"/>
          <p:cNvSpPr>
            <a:spLocks noGrp="1"/>
          </p:cNvSpPr>
          <p:nvPr/>
        </p:nvSpPr>
        <p:spPr>
          <a:xfrm rot="16200000">
            <a:off x="10744200" y="2390775"/>
            <a:ext cx="76200" cy="76200"/>
          </a:xfrm>
          <a:prstGeom prst="triangle">
            <a:avLst/>
          </a:prstGeom>
          <a:solidFill>
            <a:srgbClr val="557A96"/>
          </a:solidFill>
          <a:ln w="0">
            <a:solidFill>
              <a:srgbClr val="557A96"/>
            </a:solidFill>
            <a:prstDash val="solid"/>
          </a:ln>
        </p:spPr>
      </p:sp>
      <p:sp>
        <p:nvSpPr>
          <p:cNvPr id="155" name="test-node-box"/>
          <p:cNvSpPr>
            <a:spLocks noGrp="1"/>
          </p:cNvSpPr>
          <p:nvPr/>
        </p:nvSpPr>
        <p:spPr>
          <a:xfrm>
            <a:off x="9525000" y="2276475"/>
            <a:ext cx="1257300" cy="304800"/>
          </a:xfrm>
          <a:prstGeom prst="roundRect">
            <a:avLst>
              <a:gd name="adj" fmla="val 12500"/>
            </a:avLst>
          </a:prstGeom>
          <a:solidFill>
            <a:srgbClr val="F2F6F8"/>
          </a:solidFill>
          <a:ln w="9525">
            <a:solidFill>
              <a:srgbClr val="7F9DB2"/>
            </a:solidFill>
            <a:prstDash val="solid"/>
          </a:ln>
        </p:spPr>
      </p:sp>
      <p:sp>
        <p:nvSpPr>
          <p:cNvPr id="156" name="test-node-text"/>
          <p:cNvSpPr>
            <a:spLocks noGrp="1"/>
          </p:cNvSpPr>
          <p:nvPr/>
        </p:nvSpPr>
        <p:spPr>
          <a:xfrm>
            <a:off x="9553575" y="2295525"/>
            <a:ext cx="1200150" cy="266700"/>
          </a:xfrm>
          <a:prstGeom prst="rect">
            <a:avLst/>
          </a:prstGeom>
          <a:noFill/>
          <a:ln w="0">
            <a:noFill/>
            <a:prstDash val="solid"/>
          </a:ln>
        </p:spPr>
        <p:txBody>
          <a:bodyPr wrap="none" lIns="0" tIns="0" rIns="0" bIns="0" anchor="ctr">
            <a:normAutofit/>
          </a:bodyPr>
          <a:lstStyle/>
          <a:p>
            <a:pPr algn="ctr">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a:solidFill>
                  <a:srgbClr val="557A96"/>
                </a:solidFill>
                <a:latin typeface="微软雅黑" panose="020B0503020204020204" charset="-122"/>
                <a:ea typeface="微软雅黑" panose="020B0503020204020204" charset="-122"/>
                <a:cs typeface="微软雅黑" panose="020B0503020204020204" charset="-122"/>
              </a:rPr>
              <a:t>Test</a:t>
            </a:r>
          </a:p>
        </p:txBody>
      </p:sp>
      <p:sp>
        <p:nvSpPr>
          <p:cNvPr id="157" name="fail-label"/>
          <p:cNvSpPr>
            <a:spLocks noGrp="1"/>
          </p:cNvSpPr>
          <p:nvPr/>
        </p:nvSpPr>
        <p:spPr>
          <a:xfrm>
            <a:off x="10106025" y="2628900"/>
            <a:ext cx="533400" cy="171450"/>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dirty="0">
                <a:solidFill>
                  <a:srgbClr val="557A96"/>
                </a:solidFill>
                <a:latin typeface="微软雅黑" panose="020B0503020204020204" charset="-122"/>
                <a:ea typeface="微软雅黑" panose="020B0503020204020204" charset="-122"/>
                <a:cs typeface="微软雅黑" panose="020B0503020204020204" charset="-122"/>
              </a:rPr>
              <a:t>FAIL</a:t>
            </a:r>
          </a:p>
        </p:txBody>
      </p:sp>
      <p:sp>
        <p:nvSpPr>
          <p:cNvPr id="158" name="locate-node-box"/>
          <p:cNvSpPr>
            <a:spLocks noGrp="1"/>
          </p:cNvSpPr>
          <p:nvPr/>
        </p:nvSpPr>
        <p:spPr>
          <a:xfrm>
            <a:off x="9477375" y="2838450"/>
            <a:ext cx="1352550" cy="285750"/>
          </a:xfrm>
          <a:prstGeom prst="roundRect">
            <a:avLst>
              <a:gd name="adj" fmla="val 13333"/>
            </a:avLst>
          </a:prstGeom>
          <a:solidFill>
            <a:srgbClr val="F7F9FA"/>
          </a:solidFill>
          <a:ln w="9525">
            <a:solidFill>
              <a:srgbClr val="7F9DB2"/>
            </a:solidFill>
            <a:prstDash val="solid"/>
          </a:ln>
        </p:spPr>
      </p:sp>
      <p:sp>
        <p:nvSpPr>
          <p:cNvPr id="159" name="locate-node-text"/>
          <p:cNvSpPr>
            <a:spLocks noGrp="1"/>
          </p:cNvSpPr>
          <p:nvPr/>
        </p:nvSpPr>
        <p:spPr>
          <a:xfrm>
            <a:off x="9505950" y="2857500"/>
            <a:ext cx="1295400" cy="247650"/>
          </a:xfrm>
          <a:prstGeom prst="rect">
            <a:avLst/>
          </a:prstGeom>
          <a:noFill/>
          <a:ln w="0">
            <a:noFill/>
            <a:prstDash val="solid"/>
          </a:ln>
        </p:spPr>
        <p:txBody>
          <a:bodyPr wrap="none" lIns="0" tIns="0" rIns="0" bIns="0" anchor="ctr">
            <a:normAutofit/>
          </a:bodyPr>
          <a:lstStyle/>
          <a:p>
            <a:pPr algn="ctr">
              <a:defRPr sz="1090" b="1">
                <a:solidFill>
                  <a:srgbClr val="252B31"/>
                </a:solidFill>
                <a:latin typeface="微软雅黑" panose="020B0503020204020204" charset="-122"/>
                <a:ea typeface="微软雅黑" panose="020B0503020204020204" charset="-122"/>
                <a:cs typeface="微软雅黑" panose="020B0503020204020204" charset="-122"/>
              </a:defRPr>
            </a:pPr>
            <a:r>
              <a:rPr sz="1090" b="1">
                <a:solidFill>
                  <a:srgbClr val="252B31"/>
                </a:solidFill>
                <a:latin typeface="微软雅黑" panose="020B0503020204020204" charset="-122"/>
                <a:ea typeface="微软雅黑" panose="020B0503020204020204" charset="-122"/>
                <a:cs typeface="微软雅黑" panose="020B0503020204020204" charset="-122"/>
              </a:rPr>
              <a:t>定位原因</a:t>
            </a:r>
          </a:p>
        </p:txBody>
      </p:sp>
      <p:sp>
        <p:nvSpPr>
          <p:cNvPr id="160" name="trigger-node-box"/>
          <p:cNvSpPr>
            <a:spLocks noGrp="1"/>
          </p:cNvSpPr>
          <p:nvPr/>
        </p:nvSpPr>
        <p:spPr>
          <a:xfrm>
            <a:off x="8858250" y="3333750"/>
            <a:ext cx="762000" cy="285750"/>
          </a:xfrm>
          <a:prstGeom prst="roundRect">
            <a:avLst>
              <a:gd name="adj" fmla="val 13333"/>
            </a:avLst>
          </a:prstGeom>
          <a:solidFill>
            <a:srgbClr val="F7F9FA"/>
          </a:solidFill>
          <a:ln w="9525">
            <a:solidFill>
              <a:srgbClr val="7F9DB2"/>
            </a:solidFill>
            <a:prstDash val="solid"/>
          </a:ln>
        </p:spPr>
      </p:sp>
      <p:sp>
        <p:nvSpPr>
          <p:cNvPr id="161" name="trigger-node-text"/>
          <p:cNvSpPr>
            <a:spLocks noGrp="1"/>
          </p:cNvSpPr>
          <p:nvPr/>
        </p:nvSpPr>
        <p:spPr>
          <a:xfrm>
            <a:off x="8886825" y="3352800"/>
            <a:ext cx="7048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Trigger</a:t>
            </a:r>
          </a:p>
        </p:txBody>
      </p:sp>
      <p:sp>
        <p:nvSpPr>
          <p:cNvPr id="162" name="workflow-node-box"/>
          <p:cNvSpPr>
            <a:spLocks noGrp="1"/>
          </p:cNvSpPr>
          <p:nvPr/>
        </p:nvSpPr>
        <p:spPr>
          <a:xfrm>
            <a:off x="9725025" y="3333750"/>
            <a:ext cx="857250" cy="285750"/>
          </a:xfrm>
          <a:prstGeom prst="roundRect">
            <a:avLst>
              <a:gd name="adj" fmla="val 13333"/>
            </a:avLst>
          </a:prstGeom>
          <a:solidFill>
            <a:srgbClr val="F7F9FA"/>
          </a:solidFill>
          <a:ln w="9525">
            <a:solidFill>
              <a:srgbClr val="7F9DB2"/>
            </a:solidFill>
            <a:prstDash val="solid"/>
          </a:ln>
        </p:spPr>
      </p:sp>
      <p:sp>
        <p:nvSpPr>
          <p:cNvPr id="163" name="workflow-node-text"/>
          <p:cNvSpPr>
            <a:spLocks noGrp="1"/>
          </p:cNvSpPr>
          <p:nvPr/>
        </p:nvSpPr>
        <p:spPr>
          <a:xfrm>
            <a:off x="9753600" y="3352800"/>
            <a:ext cx="8001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Workflow</a:t>
            </a:r>
          </a:p>
        </p:txBody>
      </p:sp>
      <p:sp>
        <p:nvSpPr>
          <p:cNvPr id="164" name="resource-node-box"/>
          <p:cNvSpPr>
            <a:spLocks noGrp="1"/>
          </p:cNvSpPr>
          <p:nvPr/>
        </p:nvSpPr>
        <p:spPr>
          <a:xfrm>
            <a:off x="10687050" y="3333750"/>
            <a:ext cx="762000" cy="285750"/>
          </a:xfrm>
          <a:prstGeom prst="roundRect">
            <a:avLst>
              <a:gd name="adj" fmla="val 13333"/>
            </a:avLst>
          </a:prstGeom>
          <a:solidFill>
            <a:srgbClr val="F7F9FA"/>
          </a:solidFill>
          <a:ln w="9525">
            <a:solidFill>
              <a:srgbClr val="7F9DB2"/>
            </a:solidFill>
            <a:prstDash val="solid"/>
          </a:ln>
        </p:spPr>
      </p:sp>
      <p:sp>
        <p:nvSpPr>
          <p:cNvPr id="165" name="resource-node-text"/>
          <p:cNvSpPr>
            <a:spLocks noGrp="1"/>
          </p:cNvSpPr>
          <p:nvPr/>
        </p:nvSpPr>
        <p:spPr>
          <a:xfrm>
            <a:off x="10715625" y="3352800"/>
            <a:ext cx="7048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Resource</a:t>
            </a:r>
          </a:p>
        </p:txBody>
      </p:sp>
      <p:sp>
        <p:nvSpPr>
          <p:cNvPr id="169" name="modify-node-box"/>
          <p:cNvSpPr>
            <a:spLocks noGrp="1"/>
          </p:cNvSpPr>
          <p:nvPr/>
        </p:nvSpPr>
        <p:spPr>
          <a:xfrm>
            <a:off x="9496424" y="3990975"/>
            <a:ext cx="1352550" cy="285750"/>
          </a:xfrm>
          <a:prstGeom prst="roundRect">
            <a:avLst>
              <a:gd name="adj" fmla="val 13333"/>
            </a:avLst>
          </a:prstGeom>
          <a:solidFill>
            <a:srgbClr val="F2F6F8"/>
          </a:solidFill>
          <a:ln w="9525">
            <a:solidFill>
              <a:srgbClr val="7F9DB2"/>
            </a:solidFill>
            <a:prstDash val="solid"/>
          </a:ln>
        </p:spPr>
      </p:sp>
      <p:sp>
        <p:nvSpPr>
          <p:cNvPr id="170" name="modify-node-text"/>
          <p:cNvSpPr>
            <a:spLocks noGrp="1"/>
          </p:cNvSpPr>
          <p:nvPr/>
        </p:nvSpPr>
        <p:spPr>
          <a:xfrm>
            <a:off x="9524999" y="4010025"/>
            <a:ext cx="1295400" cy="2476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修改 Skill</a:t>
            </a:r>
          </a:p>
        </p:txBody>
      </p:sp>
      <p:sp>
        <p:nvSpPr>
          <p:cNvPr id="171" name="retest-node-box"/>
          <p:cNvSpPr>
            <a:spLocks noGrp="1"/>
          </p:cNvSpPr>
          <p:nvPr/>
        </p:nvSpPr>
        <p:spPr>
          <a:xfrm>
            <a:off x="9496424" y="4448175"/>
            <a:ext cx="1352550" cy="304800"/>
          </a:xfrm>
          <a:prstGeom prst="roundRect">
            <a:avLst>
              <a:gd name="adj" fmla="val 12500"/>
            </a:avLst>
          </a:prstGeom>
          <a:solidFill>
            <a:srgbClr val="F2F6F8"/>
          </a:solidFill>
          <a:ln w="9525">
            <a:solidFill>
              <a:srgbClr val="7F9DB2"/>
            </a:solidFill>
            <a:prstDash val="solid"/>
          </a:ln>
        </p:spPr>
      </p:sp>
      <p:sp>
        <p:nvSpPr>
          <p:cNvPr id="172" name="retest-node-text"/>
          <p:cNvSpPr>
            <a:spLocks noGrp="1"/>
          </p:cNvSpPr>
          <p:nvPr/>
        </p:nvSpPr>
        <p:spPr>
          <a:xfrm>
            <a:off x="9524999" y="4467225"/>
            <a:ext cx="1295400" cy="266700"/>
          </a:xfrm>
          <a:prstGeom prst="rect">
            <a:avLst/>
          </a:prstGeom>
          <a:noFill/>
          <a:ln w="0">
            <a:noFill/>
            <a:prstDash val="solid"/>
          </a:ln>
        </p:spPr>
        <p:txBody>
          <a:bodyPr wrap="none" lIns="0" tIns="0" rIns="0" bIns="0" anchor="ctr">
            <a:normAutofit/>
          </a:bodyPr>
          <a:lstStyle/>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Re-test</a:t>
            </a:r>
          </a:p>
        </p:txBody>
      </p:sp>
      <p:sp>
        <p:nvSpPr>
          <p:cNvPr id="173" name="iteration-principle-band"/>
          <p:cNvSpPr>
            <a:spLocks noGrp="1"/>
          </p:cNvSpPr>
          <p:nvPr/>
        </p:nvSpPr>
        <p:spPr>
          <a:xfrm>
            <a:off x="8877300" y="5391150"/>
            <a:ext cx="2552700" cy="533400"/>
          </a:xfrm>
          <a:prstGeom prst="rect">
            <a:avLst/>
          </a:prstGeom>
          <a:solidFill>
            <a:srgbClr val="F2F6F8"/>
          </a:solidFill>
          <a:ln w="0">
            <a:noFill/>
            <a:prstDash val="solid"/>
          </a:ln>
        </p:spPr>
      </p:sp>
      <p:sp>
        <p:nvSpPr>
          <p:cNvPr id="174" name="iteration-principle"/>
          <p:cNvSpPr>
            <a:spLocks noGrp="1"/>
          </p:cNvSpPr>
          <p:nvPr/>
        </p:nvSpPr>
        <p:spPr>
          <a:xfrm>
            <a:off x="9010650" y="5429250"/>
            <a:ext cx="2286000" cy="457200"/>
          </a:xfrm>
          <a:prstGeom prst="rect">
            <a:avLst/>
          </a:prstGeom>
          <a:noFill/>
          <a:ln w="0">
            <a:noFill/>
            <a:prstDash val="solid"/>
          </a:ln>
        </p:spPr>
        <p:txBody>
          <a:bodyPr wrap="none" lIns="0" tIns="0" rIns="0" bIns="0" anchor="ctr">
            <a:normAutofit/>
          </a:bodyPr>
          <a:lstStyle/>
          <a:p>
            <a:pPr algn="ctr">
              <a:defRPr sz="990" b="1">
                <a:solidFill>
                  <a:srgbClr val="414951"/>
                </a:solidFill>
                <a:latin typeface="微软雅黑" panose="020B0503020204020204" charset="-122"/>
                <a:ea typeface="微软雅黑" panose="020B0503020204020204" charset="-122"/>
                <a:cs typeface="微软雅黑" panose="020B0503020204020204" charset="-122"/>
              </a:defRPr>
            </a:pPr>
            <a:r>
              <a:rPr sz="990" b="1" dirty="0" err="1">
                <a:solidFill>
                  <a:srgbClr val="414951"/>
                </a:solidFill>
                <a:latin typeface="微软雅黑" panose="020B0503020204020204" charset="-122"/>
                <a:ea typeface="微软雅黑" panose="020B0503020204020204" charset="-122"/>
                <a:cs typeface="微软雅黑" panose="020B0503020204020204" charset="-122"/>
              </a:rPr>
              <a:t>测试不只判断</a:t>
            </a:r>
            <a:r>
              <a:rPr sz="990" b="1" dirty="0">
                <a:solidFill>
                  <a:srgbClr val="414951"/>
                </a:solidFill>
                <a:latin typeface="微软雅黑" panose="020B0503020204020204" charset="-122"/>
                <a:ea typeface="微软雅黑" panose="020B0503020204020204" charset="-122"/>
                <a:cs typeface="微软雅黑" panose="020B0503020204020204" charset="-122"/>
              </a:rPr>
              <a:t> PASS / FAIL，</a:t>
            </a:r>
          </a:p>
          <a:p>
            <a:pPr algn="ctr">
              <a:defRPr sz="990" b="1">
                <a:solidFill>
                  <a:srgbClr val="414951"/>
                </a:solidFill>
                <a:latin typeface="微软雅黑" panose="020B0503020204020204" charset="-122"/>
                <a:ea typeface="微软雅黑" panose="020B0503020204020204" charset="-122"/>
                <a:cs typeface="微软雅黑" panose="020B0503020204020204" charset="-122"/>
              </a:defRPr>
            </a:pPr>
            <a:r>
              <a:rPr sz="990" b="1" dirty="0" err="1">
                <a:solidFill>
                  <a:srgbClr val="414951"/>
                </a:solidFill>
                <a:latin typeface="微软雅黑" panose="020B0503020204020204" charset="-122"/>
                <a:ea typeface="微软雅黑" panose="020B0503020204020204" charset="-122"/>
                <a:cs typeface="微软雅黑" panose="020B0503020204020204" charset="-122"/>
              </a:rPr>
              <a:t>更要定位</a:t>
            </a:r>
            <a:r>
              <a:rPr sz="990" b="1" dirty="0">
                <a:solidFill>
                  <a:srgbClr val="414951"/>
                </a:solidFill>
                <a:latin typeface="微软雅黑" panose="020B0503020204020204" charset="-122"/>
                <a:ea typeface="微软雅黑" panose="020B0503020204020204" charset="-122"/>
                <a:cs typeface="微软雅黑" panose="020B0503020204020204" charset="-122"/>
              </a:rPr>
              <a:t> Skill </a:t>
            </a:r>
            <a:r>
              <a:rPr sz="990" b="1" dirty="0" err="1">
                <a:solidFill>
                  <a:srgbClr val="414951"/>
                </a:solidFill>
                <a:latin typeface="微软雅黑" panose="020B0503020204020204" charset="-122"/>
                <a:ea typeface="微软雅黑" panose="020B0503020204020204" charset="-122"/>
                <a:cs typeface="微软雅黑" panose="020B0503020204020204" charset="-122"/>
              </a:rPr>
              <a:t>的哪一层出了问题</a:t>
            </a:r>
            <a:r>
              <a:rPr sz="9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75" name="summary-band"/>
          <p:cNvSpPr>
            <a:spLocks noGrp="1"/>
          </p:cNvSpPr>
          <p:nvPr/>
        </p:nvSpPr>
        <p:spPr>
          <a:xfrm>
            <a:off x="609600" y="6257925"/>
            <a:ext cx="10972800" cy="371475"/>
          </a:xfrm>
          <a:prstGeom prst="rect">
            <a:avLst/>
          </a:prstGeom>
          <a:solidFill>
            <a:srgbClr val="F3F4F5"/>
          </a:solidFill>
          <a:ln w="0">
            <a:noFill/>
            <a:prstDash val="solid"/>
          </a:ln>
        </p:spPr>
      </p:sp>
      <p:sp>
        <p:nvSpPr>
          <p:cNvPr id="176" name="summary-accent"/>
          <p:cNvSpPr>
            <a:spLocks noGrp="1"/>
          </p:cNvSpPr>
          <p:nvPr/>
        </p:nvSpPr>
        <p:spPr>
          <a:xfrm>
            <a:off x="609600" y="6257925"/>
            <a:ext cx="38100" cy="371475"/>
          </a:xfrm>
          <a:prstGeom prst="rect">
            <a:avLst/>
          </a:prstGeom>
          <a:solidFill>
            <a:srgbClr val="557A96"/>
          </a:solidFill>
          <a:ln w="0">
            <a:noFill/>
            <a:prstDash val="solid"/>
          </a:ln>
        </p:spPr>
      </p:sp>
      <p:sp>
        <p:nvSpPr>
          <p:cNvPr id="177" name="summary-text"/>
          <p:cNvSpPr>
            <a:spLocks noGrp="1"/>
          </p:cNvSpPr>
          <p:nvPr/>
        </p:nvSpPr>
        <p:spPr>
          <a:xfrm>
            <a:off x="819150" y="6286500"/>
            <a:ext cx="10534650" cy="314325"/>
          </a:xfrm>
          <a:prstGeom prst="rect">
            <a:avLst/>
          </a:prstGeom>
          <a:noFill/>
          <a:ln w="0">
            <a:noFill/>
            <a:prstDash val="solid"/>
          </a:ln>
        </p:spPr>
        <p:txBody>
          <a:bodyPr wrap="none" lIns="0" tIns="0" rIns="0" bIns="0" anchor="ctr">
            <a:normAutofit/>
          </a:bodyPr>
          <a:lstStyle/>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sz="1290" b="1">
                <a:solidFill>
                  <a:srgbClr val="414951"/>
                </a:solidFill>
                <a:latin typeface="微软雅黑" panose="020B0503020204020204" charset="-122"/>
                <a:ea typeface="微软雅黑" panose="020B0503020204020204" charset="-122"/>
                <a:cs typeface="微软雅黑" panose="020B0503020204020204" charset="-122"/>
              </a:rPr>
              <a:t>Task → Workflow → Complete Skill → Evaluation → Iteration，构成 Skill 开发的完整闭环。</a:t>
            </a:r>
          </a:p>
        </p:txBody>
      </p:sp>
      <p:sp>
        <p:nvSpPr>
          <p:cNvPr id="17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80"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1.5</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81"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7</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276350" y="171450"/>
            <a:ext cx="10572750" cy="523875"/>
          </a:xfrm>
          <a:prstGeom prst="rect">
            <a:avLst/>
          </a:prstGeom>
          <a:noFill/>
          <a:ln w="0">
            <a:noFill/>
            <a:prstDash val="solid"/>
          </a:ln>
        </p:spPr>
        <p:txBody>
          <a:bodyPr wrap="none" lIns="0" tIns="0" rIns="0" bIns="0" anchor="ctr">
            <a:normAutofit/>
          </a:bodyPr>
          <a:lstStyle/>
          <a:p>
            <a:pPr algn="l">
              <a:buNone/>
              <a:defRPr sz="289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如何写好一个</a:t>
            </a:r>
            <a:r>
              <a:rPr sz="2700" b="1" dirty="0">
                <a:solidFill>
                  <a:srgbClr val="243B53"/>
                </a:solidFill>
                <a:latin typeface="Arial" panose="020B0604020202020204" pitchFamily="34" charset="0"/>
                <a:ea typeface="微软雅黑" panose="020B0503020204020204" charset="-122"/>
                <a:cs typeface="微软雅黑" panose="020B0503020204020204" charset="-122"/>
              </a:rPr>
              <a:t> </a:t>
            </a:r>
            <a:r>
              <a:rPr sz="2700" b="1" dirty="0" smtClean="0">
                <a:solidFill>
                  <a:srgbClr val="243B53"/>
                </a:solidFill>
                <a:latin typeface="Arial" panose="020B0604020202020204" pitchFamily="34" charset="0"/>
                <a:ea typeface="微软雅黑" panose="020B0503020204020204" charset="-122"/>
                <a:cs typeface="微软雅黑" panose="020B0503020204020204" charset="-122"/>
              </a:rPr>
              <a:t>Skill：</a:t>
            </a:r>
            <a:r>
              <a:rPr lang="zh-CN" altLang="en-US" sz="2700" b="1" dirty="0" smtClean="0">
                <a:solidFill>
                  <a:srgbClr val="243B53"/>
                </a:solidFill>
                <a:latin typeface="Arial" panose="020B0604020202020204" pitchFamily="34" charset="0"/>
                <a:ea typeface="微软雅黑" panose="020B0503020204020204" charset="-122"/>
                <a:cs typeface="微软雅黑" panose="020B0503020204020204" charset="-122"/>
              </a:rPr>
              <a:t>七个原则</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5" name="reliability-panel"/>
          <p:cNvSpPr>
            <a:spLocks noGrp="1"/>
          </p:cNvSpPr>
          <p:nvPr/>
        </p:nvSpPr>
        <p:spPr>
          <a:xfrm>
            <a:off x="609600" y="1156910"/>
            <a:ext cx="5353050" cy="3781425"/>
          </a:xfrm>
          <a:prstGeom prst="rect">
            <a:avLst/>
          </a:prstGeom>
          <a:solidFill>
            <a:srgbClr val="FFFFFF"/>
          </a:solidFill>
          <a:ln w="9525">
            <a:solidFill>
              <a:srgbClr val="D8DEE3"/>
            </a:solidFill>
            <a:prstDash val="solid"/>
          </a:ln>
        </p:spPr>
      </p:sp>
      <p:sp>
        <p:nvSpPr>
          <p:cNvPr id="6" name="reliability-accent"/>
          <p:cNvSpPr>
            <a:spLocks noGrp="1"/>
          </p:cNvSpPr>
          <p:nvPr/>
        </p:nvSpPr>
        <p:spPr>
          <a:xfrm>
            <a:off x="609600" y="1156910"/>
            <a:ext cx="5353050" cy="28575"/>
          </a:xfrm>
          <a:prstGeom prst="rect">
            <a:avLst/>
          </a:prstGeom>
          <a:solidFill>
            <a:srgbClr val="557A96"/>
          </a:solidFill>
          <a:ln w="0">
            <a:noFill/>
            <a:prstDash val="solid"/>
          </a:ln>
        </p:spPr>
      </p:sp>
      <p:sp>
        <p:nvSpPr>
          <p:cNvPr id="8" name="usability-accent"/>
          <p:cNvSpPr>
            <a:spLocks noGrp="1"/>
          </p:cNvSpPr>
          <p:nvPr/>
        </p:nvSpPr>
        <p:spPr>
          <a:xfrm>
            <a:off x="6229350" y="1156910"/>
            <a:ext cx="5353050" cy="28575"/>
          </a:xfrm>
          <a:prstGeom prst="rect">
            <a:avLst/>
          </a:prstGeom>
          <a:solidFill>
            <a:srgbClr val="557A96"/>
          </a:solidFill>
          <a:ln w="0">
            <a:noFill/>
            <a:prstDash val="solid"/>
          </a:ln>
        </p:spPr>
      </p:sp>
      <p:sp>
        <p:nvSpPr>
          <p:cNvPr id="9" name="column-divider"/>
          <p:cNvSpPr>
            <a:spLocks noGrp="1"/>
          </p:cNvSpPr>
          <p:nvPr/>
        </p:nvSpPr>
        <p:spPr>
          <a:xfrm>
            <a:off x="6096000" y="1156910"/>
            <a:ext cx="0" cy="3781425"/>
          </a:xfrm>
          <a:prstGeom prst="line">
            <a:avLst/>
          </a:prstGeom>
          <a:noFill/>
          <a:ln w="9525">
            <a:solidFill>
              <a:srgbClr val="D8DEE3"/>
            </a:solidFill>
            <a:prstDash val="solid"/>
          </a:ln>
        </p:spPr>
      </p:sp>
      <p:sp>
        <p:nvSpPr>
          <p:cNvPr id="10" name="reliability-letter"/>
          <p:cNvSpPr>
            <a:spLocks noGrp="1"/>
          </p:cNvSpPr>
          <p:nvPr/>
        </p:nvSpPr>
        <p:spPr>
          <a:xfrm>
            <a:off x="781050" y="1280735"/>
            <a:ext cx="285750" cy="276225"/>
          </a:xfrm>
          <a:prstGeom prst="rect">
            <a:avLst/>
          </a:prstGeom>
          <a:noFill/>
          <a:ln w="0">
            <a:noFill/>
            <a:prstDash val="solid"/>
          </a:ln>
        </p:spPr>
        <p:txBody>
          <a:bodyPr wrap="none" lIns="0" tIns="0" rIns="0" bIns="0" anchor="ctr">
            <a:normAutofit/>
          </a:bodyPr>
          <a:lstStyle/>
          <a:p>
            <a:pPr algn="l">
              <a:buNone/>
              <a:defRPr sz="1425" b="1">
                <a:solidFill>
                  <a:srgbClr val="557A96"/>
                </a:solidFill>
                <a:latin typeface="微软雅黑" panose="020B0503020204020204" charset="-122"/>
                <a:ea typeface="微软雅黑" panose="020B0503020204020204" charset="-122"/>
                <a:cs typeface="微软雅黑" panose="020B0503020204020204" charset="-122"/>
              </a:defRPr>
            </a:pPr>
            <a:endParaRPr sz="142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 name="reliability-title"/>
          <p:cNvSpPr>
            <a:spLocks noGrp="1"/>
          </p:cNvSpPr>
          <p:nvPr/>
        </p:nvSpPr>
        <p:spPr>
          <a:xfrm>
            <a:off x="819150" y="1280735"/>
            <a:ext cx="2143125" cy="314325"/>
          </a:xfrm>
          <a:prstGeom prst="rect">
            <a:avLst/>
          </a:prstGeom>
          <a:noFill/>
          <a:ln w="0">
            <a:noFill/>
            <a:prstDash val="solid"/>
          </a:ln>
        </p:spPr>
        <p:txBody>
          <a:bodyPr wrap="none" lIns="0" tIns="0" rIns="0" bIns="0" anchor="ctr">
            <a:normAutofit/>
          </a:bodyPr>
          <a:lstStyle/>
          <a:p>
            <a:pPr algn="l">
              <a:buNone/>
              <a:defRPr sz="1800"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800" b="1" dirty="0" smtClean="0">
                <a:solidFill>
                  <a:srgbClr val="252B31"/>
                </a:solidFill>
                <a:latin typeface="微软雅黑" panose="020B0503020204020204" charset="-122"/>
                <a:ea typeface="微软雅黑" panose="020B0503020204020204" charset="-122"/>
                <a:cs typeface="微软雅黑" panose="020B0503020204020204" charset="-122"/>
              </a:rPr>
              <a:t>减少生成时间</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3" name="reliability-header-line"/>
          <p:cNvSpPr>
            <a:spLocks noGrp="1"/>
          </p:cNvSpPr>
          <p:nvPr/>
        </p:nvSpPr>
        <p:spPr>
          <a:xfrm>
            <a:off x="781050" y="1671260"/>
            <a:ext cx="5010150" cy="0"/>
          </a:xfrm>
          <a:prstGeom prst="line">
            <a:avLst/>
          </a:prstGeom>
          <a:noFill/>
          <a:ln w="9525">
            <a:solidFill>
              <a:srgbClr val="D8DEE3"/>
            </a:solidFill>
            <a:prstDash val="solid"/>
          </a:ln>
        </p:spPr>
      </p:sp>
      <p:sp>
        <p:nvSpPr>
          <p:cNvPr id="14" name="usability-letter"/>
          <p:cNvSpPr>
            <a:spLocks noGrp="1"/>
          </p:cNvSpPr>
          <p:nvPr/>
        </p:nvSpPr>
        <p:spPr>
          <a:xfrm>
            <a:off x="6400800" y="1280735"/>
            <a:ext cx="285750" cy="276225"/>
          </a:xfrm>
          <a:prstGeom prst="rect">
            <a:avLst/>
          </a:prstGeom>
          <a:noFill/>
          <a:ln w="0">
            <a:noFill/>
            <a:prstDash val="solid"/>
          </a:ln>
        </p:spPr>
        <p:txBody>
          <a:bodyPr wrap="none" lIns="0" tIns="0" rIns="0" bIns="0" anchor="ctr">
            <a:normAutofit/>
          </a:bodyPr>
          <a:lstStyle/>
          <a:p>
            <a:pPr algn="l">
              <a:buNone/>
              <a:defRPr sz="1425" b="1">
                <a:solidFill>
                  <a:srgbClr val="557A96"/>
                </a:solidFill>
                <a:latin typeface="微软雅黑" panose="020B0503020204020204" charset="-122"/>
                <a:ea typeface="微软雅黑" panose="020B0503020204020204" charset="-122"/>
                <a:cs typeface="微软雅黑" panose="020B0503020204020204" charset="-122"/>
              </a:defRPr>
            </a:pPr>
            <a:endParaRPr sz="142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5" name="usability-title"/>
          <p:cNvSpPr>
            <a:spLocks noGrp="1"/>
          </p:cNvSpPr>
          <p:nvPr/>
        </p:nvSpPr>
        <p:spPr>
          <a:xfrm>
            <a:off x="6400800" y="1271210"/>
            <a:ext cx="2667000" cy="314325"/>
          </a:xfrm>
          <a:prstGeom prst="rect">
            <a:avLst/>
          </a:prstGeom>
          <a:noFill/>
          <a:ln w="0">
            <a:noFill/>
            <a:prstDash val="solid"/>
          </a:ln>
        </p:spPr>
        <p:txBody>
          <a:bodyPr wrap="none" lIns="0" tIns="0" rIns="0" bIns="0" anchor="ctr">
            <a:normAutofit/>
          </a:bodyPr>
          <a:lstStyle/>
          <a:p>
            <a:pPr algn="l">
              <a:buNone/>
              <a:defRPr sz="1800" b="1">
                <a:solidFill>
                  <a:srgbClr val="252B31"/>
                </a:solidFill>
                <a:latin typeface="微软雅黑" panose="020B0503020204020204" charset="-122"/>
                <a:ea typeface="微软雅黑" panose="020B0503020204020204" charset="-122"/>
                <a:cs typeface="微软雅黑" panose="020B0503020204020204" charset="-122"/>
              </a:defRPr>
            </a:pPr>
            <a:r>
              <a:rPr lang="zh-CN" altLang="en-US" b="1" dirty="0" smtClean="0">
                <a:solidFill>
                  <a:srgbClr val="252B31"/>
                </a:solidFill>
                <a:latin typeface="微软雅黑" panose="020B0503020204020204" charset="-122"/>
                <a:ea typeface="微软雅黑" panose="020B0503020204020204" charset="-122"/>
                <a:cs typeface="微软雅黑" panose="020B0503020204020204" charset="-122"/>
              </a:rPr>
              <a:t>快速验证修改</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7" name="usability-header-line"/>
          <p:cNvSpPr>
            <a:spLocks noGrp="1"/>
          </p:cNvSpPr>
          <p:nvPr/>
        </p:nvSpPr>
        <p:spPr>
          <a:xfrm>
            <a:off x="6400800" y="1671260"/>
            <a:ext cx="5010150" cy="0"/>
          </a:xfrm>
          <a:prstGeom prst="line">
            <a:avLst/>
          </a:prstGeom>
          <a:noFill/>
          <a:ln w="9525">
            <a:solidFill>
              <a:srgbClr val="D8DEE3"/>
            </a:solidFill>
            <a:prstDash val="solid"/>
          </a:ln>
        </p:spPr>
      </p:sp>
      <p:sp>
        <p:nvSpPr>
          <p:cNvPr id="28" name="focus-row"/>
          <p:cNvSpPr>
            <a:spLocks noGrp="1"/>
          </p:cNvSpPr>
          <p:nvPr/>
        </p:nvSpPr>
        <p:spPr>
          <a:xfrm>
            <a:off x="781050" y="1804610"/>
            <a:ext cx="5010150" cy="628650"/>
          </a:xfrm>
          <a:prstGeom prst="rect">
            <a:avLst/>
          </a:prstGeom>
          <a:solidFill>
            <a:srgbClr val="F7F9FA"/>
          </a:solidFill>
          <a:ln w="0">
            <a:noFill/>
            <a:prstDash val="solid"/>
          </a:ln>
        </p:spPr>
      </p:sp>
      <p:sp>
        <p:nvSpPr>
          <p:cNvPr id="29" name="focus-number"/>
          <p:cNvSpPr>
            <a:spLocks noGrp="1"/>
          </p:cNvSpPr>
          <p:nvPr/>
        </p:nvSpPr>
        <p:spPr>
          <a:xfrm>
            <a:off x="914400" y="189986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30" name="focus-title"/>
          <p:cNvSpPr>
            <a:spLocks noGrp="1"/>
          </p:cNvSpPr>
          <p:nvPr/>
        </p:nvSpPr>
        <p:spPr>
          <a:xfrm>
            <a:off x="1371600" y="188081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职责明确</a:t>
            </a:r>
          </a:p>
        </p:txBody>
      </p:sp>
      <p:sp>
        <p:nvSpPr>
          <p:cNvPr id="31" name="focus-detail"/>
          <p:cNvSpPr>
            <a:spLocks noGrp="1"/>
          </p:cNvSpPr>
          <p:nvPr/>
        </p:nvSpPr>
        <p:spPr>
          <a:xfrm>
            <a:off x="2876550" y="187128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做什么 / 不做什么</a:t>
            </a:r>
          </a:p>
        </p:txBody>
      </p:sp>
      <p:sp>
        <p:nvSpPr>
          <p:cNvPr id="32" name="focus-keywords"/>
          <p:cNvSpPr>
            <a:spLocks noGrp="1"/>
          </p:cNvSpPr>
          <p:nvPr/>
        </p:nvSpPr>
        <p:spPr>
          <a:xfrm>
            <a:off x="2876550" y="213798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边界清晰，避免越界</a:t>
            </a:r>
          </a:p>
        </p:txBody>
      </p:sp>
      <p:sp>
        <p:nvSpPr>
          <p:cNvPr id="34" name="flow-number"/>
          <p:cNvSpPr>
            <a:spLocks noGrp="1"/>
          </p:cNvSpPr>
          <p:nvPr/>
        </p:nvSpPr>
        <p:spPr>
          <a:xfrm>
            <a:off x="914400" y="260471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35" name="flow-title"/>
          <p:cNvSpPr>
            <a:spLocks noGrp="1"/>
          </p:cNvSpPr>
          <p:nvPr/>
        </p:nvSpPr>
        <p:spPr>
          <a:xfrm>
            <a:off x="1371600" y="258566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lang="zh-CN" sz="1390" b="1">
                <a:solidFill>
                  <a:srgbClr val="252B31"/>
                </a:solidFill>
                <a:latin typeface="微软雅黑" panose="020B0503020204020204" charset="-122"/>
                <a:ea typeface="微软雅黑" panose="020B0503020204020204" charset="-122"/>
                <a:cs typeface="微软雅黑" panose="020B0503020204020204" charset="-122"/>
              </a:rPr>
              <a:t>步骤明确</a:t>
            </a:r>
          </a:p>
        </p:txBody>
      </p:sp>
      <p:sp>
        <p:nvSpPr>
          <p:cNvPr id="36" name="flow-detail"/>
          <p:cNvSpPr>
            <a:spLocks noGrp="1"/>
          </p:cNvSpPr>
          <p:nvPr/>
        </p:nvSpPr>
        <p:spPr>
          <a:xfrm>
            <a:off x="2876550" y="257613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Stage / Gate / Failure</a:t>
            </a:r>
          </a:p>
        </p:txBody>
      </p:sp>
      <p:sp>
        <p:nvSpPr>
          <p:cNvPr id="37" name="flow-keywords"/>
          <p:cNvSpPr>
            <a:spLocks noGrp="1"/>
          </p:cNvSpPr>
          <p:nvPr/>
        </p:nvSpPr>
        <p:spPr>
          <a:xfrm>
            <a:off x="2876550" y="284283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步骤明确，推进有条件</a:t>
            </a:r>
          </a:p>
        </p:txBody>
      </p:sp>
      <p:sp>
        <p:nvSpPr>
          <p:cNvPr id="38" name="contract-row"/>
          <p:cNvSpPr>
            <a:spLocks noGrp="1"/>
          </p:cNvSpPr>
          <p:nvPr/>
        </p:nvSpPr>
        <p:spPr>
          <a:xfrm>
            <a:off x="781050" y="3214310"/>
            <a:ext cx="5010150" cy="628650"/>
          </a:xfrm>
          <a:prstGeom prst="rect">
            <a:avLst/>
          </a:prstGeom>
          <a:solidFill>
            <a:srgbClr val="F7F9FA"/>
          </a:solidFill>
          <a:ln w="0">
            <a:noFill/>
            <a:prstDash val="solid"/>
          </a:ln>
        </p:spPr>
      </p:sp>
      <p:sp>
        <p:nvSpPr>
          <p:cNvPr id="39" name="contract-number"/>
          <p:cNvSpPr>
            <a:spLocks noGrp="1"/>
          </p:cNvSpPr>
          <p:nvPr/>
        </p:nvSpPr>
        <p:spPr>
          <a:xfrm>
            <a:off x="914400" y="330956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40" name="contract-title"/>
          <p:cNvSpPr>
            <a:spLocks noGrp="1"/>
          </p:cNvSpPr>
          <p:nvPr/>
        </p:nvSpPr>
        <p:spPr>
          <a:xfrm>
            <a:off x="1371600" y="329051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契约清楚</a:t>
            </a:r>
          </a:p>
        </p:txBody>
      </p:sp>
      <p:sp>
        <p:nvSpPr>
          <p:cNvPr id="41" name="contract-detail"/>
          <p:cNvSpPr>
            <a:spLocks noGrp="1"/>
          </p:cNvSpPr>
          <p:nvPr/>
        </p:nvSpPr>
        <p:spPr>
          <a:xfrm>
            <a:off x="2876550" y="328098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Input / Output</a:t>
            </a:r>
          </a:p>
        </p:txBody>
      </p:sp>
      <p:sp>
        <p:nvSpPr>
          <p:cNvPr id="42" name="contract-keywords"/>
          <p:cNvSpPr>
            <a:spLocks noGrp="1"/>
          </p:cNvSpPr>
          <p:nvPr/>
        </p:nvSpPr>
        <p:spPr>
          <a:xfrm>
            <a:off x="2876550" y="354768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输入与产出说清楚</a:t>
            </a:r>
          </a:p>
        </p:txBody>
      </p:sp>
      <p:sp>
        <p:nvSpPr>
          <p:cNvPr id="43" name="recovery-row"/>
          <p:cNvSpPr>
            <a:spLocks noGrp="1"/>
          </p:cNvSpPr>
          <p:nvPr/>
        </p:nvSpPr>
        <p:spPr>
          <a:xfrm>
            <a:off x="781050" y="3919160"/>
            <a:ext cx="5010150" cy="628650"/>
          </a:xfrm>
          <a:prstGeom prst="rect">
            <a:avLst/>
          </a:prstGeom>
          <a:solidFill>
            <a:srgbClr val="FFFFFF"/>
          </a:solidFill>
          <a:ln w="0">
            <a:noFill/>
            <a:prstDash val="solid"/>
          </a:ln>
        </p:spPr>
      </p:sp>
      <p:sp>
        <p:nvSpPr>
          <p:cNvPr id="44" name="recovery-number"/>
          <p:cNvSpPr>
            <a:spLocks noGrp="1"/>
          </p:cNvSpPr>
          <p:nvPr/>
        </p:nvSpPr>
        <p:spPr>
          <a:xfrm>
            <a:off x="914400" y="401441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45" name="recovery-title"/>
          <p:cNvSpPr>
            <a:spLocks noGrp="1"/>
          </p:cNvSpPr>
          <p:nvPr/>
        </p:nvSpPr>
        <p:spPr>
          <a:xfrm>
            <a:off x="1371600" y="399536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失败可恢复</a:t>
            </a:r>
          </a:p>
        </p:txBody>
      </p:sp>
      <p:sp>
        <p:nvSpPr>
          <p:cNvPr id="46" name="recovery-detail"/>
          <p:cNvSpPr>
            <a:spLocks noGrp="1"/>
          </p:cNvSpPr>
          <p:nvPr/>
        </p:nvSpPr>
        <p:spPr>
          <a:xfrm>
            <a:off x="2876550" y="398583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原因 / 状态 / 下一步</a:t>
            </a:r>
          </a:p>
        </p:txBody>
      </p:sp>
      <p:sp>
        <p:nvSpPr>
          <p:cNvPr id="47" name="recovery-keywords"/>
          <p:cNvSpPr>
            <a:spLocks noGrp="1"/>
          </p:cNvSpPr>
          <p:nvPr/>
        </p:nvSpPr>
        <p:spPr>
          <a:xfrm>
            <a:off x="2876550" y="425253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失败信息直接支持重试</a:t>
            </a:r>
          </a:p>
        </p:txBody>
      </p:sp>
      <p:sp>
        <p:nvSpPr>
          <p:cNvPr id="49" name="on-demand-row"/>
          <p:cNvSpPr>
            <a:spLocks noGrp="1"/>
          </p:cNvSpPr>
          <p:nvPr/>
        </p:nvSpPr>
        <p:spPr>
          <a:xfrm>
            <a:off x="6400800" y="1861760"/>
            <a:ext cx="5010150" cy="838200"/>
          </a:xfrm>
          <a:prstGeom prst="rect">
            <a:avLst/>
          </a:prstGeom>
          <a:solidFill>
            <a:srgbClr val="F7F9FA"/>
          </a:solidFill>
          <a:ln w="0">
            <a:noFill/>
            <a:prstDash val="solid"/>
          </a:ln>
        </p:spPr>
      </p:sp>
      <p:sp>
        <p:nvSpPr>
          <p:cNvPr id="50" name="on-demand-number"/>
          <p:cNvSpPr>
            <a:spLocks noGrp="1"/>
          </p:cNvSpPr>
          <p:nvPr/>
        </p:nvSpPr>
        <p:spPr>
          <a:xfrm>
            <a:off x="6534150" y="198558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05</a:t>
            </a:r>
          </a:p>
        </p:txBody>
      </p:sp>
      <p:sp>
        <p:nvSpPr>
          <p:cNvPr id="51" name="on-demand-title"/>
          <p:cNvSpPr>
            <a:spLocks noGrp="1"/>
          </p:cNvSpPr>
          <p:nvPr/>
        </p:nvSpPr>
        <p:spPr>
          <a:xfrm>
            <a:off x="6991350" y="195701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lang="zh-CN" sz="1390" b="1">
                <a:solidFill>
                  <a:srgbClr val="252B31"/>
                </a:solidFill>
                <a:latin typeface="微软雅黑" panose="020B0503020204020204" charset="-122"/>
                <a:ea typeface="微软雅黑" panose="020B0503020204020204" charset="-122"/>
                <a:cs typeface="微软雅黑" panose="020B0503020204020204" charset="-122"/>
              </a:rPr>
              <a:t>资源</a:t>
            </a:r>
            <a:r>
              <a:rPr sz="1390" b="1">
                <a:solidFill>
                  <a:srgbClr val="252B31"/>
                </a:solidFill>
                <a:latin typeface="微软雅黑" panose="020B0503020204020204" charset="-122"/>
                <a:ea typeface="微软雅黑" panose="020B0503020204020204" charset="-122"/>
                <a:cs typeface="微软雅黑" panose="020B0503020204020204" charset="-122"/>
              </a:rPr>
              <a:t>按需加载</a:t>
            </a:r>
          </a:p>
        </p:txBody>
      </p:sp>
      <p:sp>
        <p:nvSpPr>
          <p:cNvPr id="52" name="on-demand-detail"/>
          <p:cNvSpPr>
            <a:spLocks noGrp="1"/>
          </p:cNvSpPr>
          <p:nvPr/>
        </p:nvSpPr>
        <p:spPr>
          <a:xfrm>
            <a:off x="8496300" y="195701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核心流程 + 必要资源</a:t>
            </a:r>
          </a:p>
        </p:txBody>
      </p:sp>
      <p:sp>
        <p:nvSpPr>
          <p:cNvPr id="53" name="on-demand-keywords"/>
          <p:cNvSpPr>
            <a:spLocks noGrp="1"/>
          </p:cNvSpPr>
          <p:nvPr/>
        </p:nvSpPr>
        <p:spPr>
          <a:xfrm>
            <a:off x="8496300" y="226181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只加载当前任务真正需要的资源</a:t>
            </a:r>
          </a:p>
        </p:txBody>
      </p:sp>
      <p:sp>
        <p:nvSpPr>
          <p:cNvPr id="54" name="constraint-row"/>
          <p:cNvSpPr>
            <a:spLocks noGrp="1"/>
          </p:cNvSpPr>
          <p:nvPr/>
        </p:nvSpPr>
        <p:spPr>
          <a:xfrm>
            <a:off x="6400800" y="2833310"/>
            <a:ext cx="5010150" cy="838200"/>
          </a:xfrm>
          <a:prstGeom prst="rect">
            <a:avLst/>
          </a:prstGeom>
          <a:solidFill>
            <a:srgbClr val="FFFFFF"/>
          </a:solidFill>
          <a:ln w="0">
            <a:noFill/>
            <a:prstDash val="solid"/>
          </a:ln>
        </p:spPr>
      </p:sp>
      <p:sp>
        <p:nvSpPr>
          <p:cNvPr id="55" name="constraint-number"/>
          <p:cNvSpPr>
            <a:spLocks noGrp="1"/>
          </p:cNvSpPr>
          <p:nvPr/>
        </p:nvSpPr>
        <p:spPr>
          <a:xfrm>
            <a:off x="6534150" y="295713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06</a:t>
            </a:r>
          </a:p>
        </p:txBody>
      </p:sp>
      <p:sp>
        <p:nvSpPr>
          <p:cNvPr id="56" name="constraint-title"/>
          <p:cNvSpPr>
            <a:spLocks noGrp="1"/>
          </p:cNvSpPr>
          <p:nvPr/>
        </p:nvSpPr>
        <p:spPr>
          <a:xfrm>
            <a:off x="6991350" y="292856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适度约束</a:t>
            </a:r>
          </a:p>
        </p:txBody>
      </p:sp>
      <p:sp>
        <p:nvSpPr>
          <p:cNvPr id="57" name="constraint-detail"/>
          <p:cNvSpPr>
            <a:spLocks noGrp="1"/>
          </p:cNvSpPr>
          <p:nvPr/>
        </p:nvSpPr>
        <p:spPr>
          <a:xfrm>
            <a:off x="8496300" y="292856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关键处严格，开放处灵活</a:t>
            </a:r>
          </a:p>
        </p:txBody>
      </p:sp>
      <p:sp>
        <p:nvSpPr>
          <p:cNvPr id="58" name="constraint-keywords"/>
          <p:cNvSpPr>
            <a:spLocks noGrp="1"/>
          </p:cNvSpPr>
          <p:nvPr/>
        </p:nvSpPr>
        <p:spPr>
          <a:xfrm>
            <a:off x="8496300" y="323336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Contract / Gate 说清关键条件</a:t>
            </a:r>
          </a:p>
        </p:txBody>
      </p:sp>
      <p:sp>
        <p:nvSpPr>
          <p:cNvPr id="59" name="trigger-row"/>
          <p:cNvSpPr>
            <a:spLocks noGrp="1"/>
          </p:cNvSpPr>
          <p:nvPr/>
        </p:nvSpPr>
        <p:spPr>
          <a:xfrm>
            <a:off x="6400800" y="3804860"/>
            <a:ext cx="5010150" cy="838200"/>
          </a:xfrm>
          <a:prstGeom prst="rect">
            <a:avLst/>
          </a:prstGeom>
          <a:solidFill>
            <a:srgbClr val="F7F9FA"/>
          </a:solidFill>
          <a:ln w="0">
            <a:noFill/>
            <a:prstDash val="solid"/>
          </a:ln>
        </p:spPr>
      </p:sp>
      <p:sp>
        <p:nvSpPr>
          <p:cNvPr id="60" name="trigger-number"/>
          <p:cNvSpPr>
            <a:spLocks noGrp="1"/>
          </p:cNvSpPr>
          <p:nvPr/>
        </p:nvSpPr>
        <p:spPr>
          <a:xfrm>
            <a:off x="6534150" y="392868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07</a:t>
            </a:r>
          </a:p>
        </p:txBody>
      </p:sp>
      <p:sp>
        <p:nvSpPr>
          <p:cNvPr id="61" name="trigger-title"/>
          <p:cNvSpPr>
            <a:spLocks noGrp="1"/>
          </p:cNvSpPr>
          <p:nvPr/>
        </p:nvSpPr>
        <p:spPr>
          <a:xfrm>
            <a:off x="6991350" y="390011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触发清晰</a:t>
            </a:r>
          </a:p>
        </p:txBody>
      </p:sp>
      <p:sp>
        <p:nvSpPr>
          <p:cNvPr id="62" name="trigger-detail"/>
          <p:cNvSpPr>
            <a:spLocks noGrp="1"/>
          </p:cNvSpPr>
          <p:nvPr/>
        </p:nvSpPr>
        <p:spPr>
          <a:xfrm>
            <a:off x="8496300" y="390011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name / description</a:t>
            </a:r>
          </a:p>
        </p:txBody>
      </p:sp>
      <p:sp>
        <p:nvSpPr>
          <p:cNvPr id="63" name="trigger-keywords"/>
          <p:cNvSpPr>
            <a:spLocks noGrp="1"/>
          </p:cNvSpPr>
          <p:nvPr/>
        </p:nvSpPr>
        <p:spPr>
          <a:xfrm>
            <a:off x="8496300" y="420491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让 Agent 知道何时调用</a:t>
            </a:r>
          </a:p>
        </p:txBody>
      </p:sp>
      <p:sp>
        <p:nvSpPr>
          <p:cNvPr id="65" name="self-check-band"/>
          <p:cNvSpPr>
            <a:spLocks noGrp="1"/>
          </p:cNvSpPr>
          <p:nvPr/>
        </p:nvSpPr>
        <p:spPr>
          <a:xfrm>
            <a:off x="609600" y="5719384"/>
            <a:ext cx="10972800" cy="890965"/>
          </a:xfrm>
          <a:prstGeom prst="rect">
            <a:avLst/>
          </a:prstGeom>
          <a:solidFill>
            <a:srgbClr val="F3F4F5"/>
          </a:solidFill>
          <a:ln w="0">
            <a:noFill/>
            <a:prstDash val="solid"/>
          </a:ln>
        </p:spPr>
      </p:sp>
      <p:sp>
        <p:nvSpPr>
          <p:cNvPr id="66" name="self-check-accent"/>
          <p:cNvSpPr>
            <a:spLocks noGrp="1"/>
          </p:cNvSpPr>
          <p:nvPr/>
        </p:nvSpPr>
        <p:spPr>
          <a:xfrm>
            <a:off x="601981" y="5719384"/>
            <a:ext cx="45719" cy="890966"/>
          </a:xfrm>
          <a:prstGeom prst="rect">
            <a:avLst/>
          </a:prstGeom>
          <a:solidFill>
            <a:srgbClr val="557A96"/>
          </a:solidFill>
          <a:ln w="0">
            <a:noFill/>
            <a:prstDash val="solid"/>
          </a:ln>
        </p:spPr>
      </p:sp>
      <p:sp>
        <p:nvSpPr>
          <p:cNvPr id="67" name="self-check-title"/>
          <p:cNvSpPr>
            <a:spLocks noGrp="1"/>
          </p:cNvSpPr>
          <p:nvPr/>
        </p:nvSpPr>
        <p:spPr>
          <a:xfrm>
            <a:off x="819150" y="5876926"/>
            <a:ext cx="2381250" cy="295275"/>
          </a:xfrm>
          <a:prstGeom prst="rect">
            <a:avLst/>
          </a:prstGeom>
          <a:noFill/>
          <a:ln w="0">
            <a:noFill/>
            <a:prstDash val="solid"/>
          </a:ln>
        </p:spPr>
        <p:txBody>
          <a:bodyPr wrap="none" lIns="0" tIns="0" rIns="0" bIns="0" anchor="ctr">
            <a:normAutofit/>
          </a:bodyPr>
          <a:lstStyle/>
          <a:p>
            <a:pPr algn="l">
              <a:buNone/>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dirty="0">
                <a:solidFill>
                  <a:srgbClr val="252B31"/>
                </a:solidFill>
                <a:latin typeface="微软雅黑" panose="020B0503020204020204" charset="-122"/>
                <a:ea typeface="微软雅黑" panose="020B0503020204020204" charset="-122"/>
                <a:cs typeface="微软雅黑" panose="020B0503020204020204" charset="-122"/>
              </a:rPr>
              <a:t>Agent </a:t>
            </a:r>
            <a:r>
              <a:rPr sz="1650" b="1" dirty="0" err="1">
                <a:solidFill>
                  <a:srgbClr val="252B31"/>
                </a:solidFill>
                <a:latin typeface="微软雅黑" panose="020B0503020204020204" charset="-122"/>
                <a:ea typeface="微软雅黑" panose="020B0503020204020204" charset="-122"/>
                <a:cs typeface="微软雅黑" panose="020B0503020204020204" charset="-122"/>
              </a:rPr>
              <a:t>视角自检</a:t>
            </a:r>
            <a:endParaRPr sz="165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1" name="check-trigger-text"/>
          <p:cNvSpPr>
            <a:spLocks noGrp="1"/>
          </p:cNvSpPr>
          <p:nvPr/>
        </p:nvSpPr>
        <p:spPr>
          <a:xfrm>
            <a:off x="2781301" y="5852734"/>
            <a:ext cx="8458199" cy="609601"/>
          </a:xfrm>
          <a:prstGeom prst="rect">
            <a:avLst/>
          </a:prstGeom>
          <a:noFill/>
          <a:ln w="0">
            <a:noFill/>
            <a:prstDash val="solid"/>
          </a:ln>
        </p:spPr>
        <p:txBody>
          <a:bodyPr wrap="none" lIns="0" tIns="0" rIns="0" bIns="0" anchor="ctr">
            <a:normAutofit/>
          </a:bodyPr>
          <a:lstStyle/>
          <a:p>
            <a:pPr>
              <a:lnSpc>
                <a:spcPct val="150000"/>
              </a:lnSpc>
              <a:defRPr sz="1165"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165" dirty="0"/>
              <a:t>在做</a:t>
            </a:r>
            <a:r>
              <a:rPr lang="en-US" altLang="zh-CN" sz="1165" dirty="0"/>
              <a:t>AI Skill</a:t>
            </a:r>
            <a:r>
              <a:rPr lang="zh-CN" altLang="en-US" sz="1165" dirty="0"/>
              <a:t>时</a:t>
            </a:r>
            <a:r>
              <a:rPr lang="zh-CN" altLang="en-US" sz="1165" dirty="0" smtClean="0"/>
              <a:t>，代入</a:t>
            </a:r>
            <a:r>
              <a:rPr lang="zh-CN" altLang="en-US" sz="1165" dirty="0"/>
              <a:t>“</a:t>
            </a:r>
            <a:r>
              <a:rPr lang="en-US" altLang="zh-CN" sz="1165" dirty="0"/>
              <a:t>Agent”</a:t>
            </a:r>
            <a:r>
              <a:rPr lang="zh-CN" altLang="en-US" sz="1165" dirty="0"/>
              <a:t>的角色去思考：</a:t>
            </a:r>
            <a:r>
              <a:rPr lang="zh-CN" altLang="en-US" sz="1165" b="1" dirty="0"/>
              <a:t>“</a:t>
            </a:r>
            <a:r>
              <a:rPr lang="zh-CN" altLang="en-US" sz="1165" b="1" dirty="0" smtClean="0"/>
              <a:t>我</a:t>
            </a:r>
            <a:r>
              <a:rPr lang="zh-CN" altLang="en-US" sz="1165" b="1" dirty="0"/>
              <a:t>是</a:t>
            </a:r>
            <a:r>
              <a:rPr lang="zh-CN" altLang="en-US" sz="1165" b="1" dirty="0" smtClean="0"/>
              <a:t>大</a:t>
            </a:r>
            <a:r>
              <a:rPr lang="zh-CN" altLang="en-US" sz="1165" b="1" dirty="0"/>
              <a:t>模型</a:t>
            </a:r>
            <a:r>
              <a:rPr lang="zh-CN" altLang="en-US" sz="1165" b="1" dirty="0" smtClean="0"/>
              <a:t>，</a:t>
            </a:r>
            <a:r>
              <a:rPr lang="zh-CN" altLang="en-US" sz="1165" b="1" dirty="0"/>
              <a:t>看到这个描述，</a:t>
            </a:r>
            <a:r>
              <a:rPr lang="zh-CN" altLang="en-US" sz="1165" b="1" dirty="0" smtClean="0"/>
              <a:t>我清楚这个</a:t>
            </a:r>
            <a:r>
              <a:rPr lang="zh-CN" altLang="en-US" sz="1165" b="1" dirty="0"/>
              <a:t>工具什么时候用吗</a:t>
            </a:r>
            <a:r>
              <a:rPr lang="zh-CN" altLang="en-US" sz="1165" b="1" dirty="0" smtClean="0"/>
              <a:t>？</a:t>
            </a:r>
            <a:endParaRPr lang="en-US" altLang="zh-CN" sz="1165" b="1" dirty="0" smtClean="0"/>
          </a:p>
          <a:p>
            <a:pPr>
              <a:lnSpc>
                <a:spcPct val="150000"/>
              </a:lnSpc>
              <a:defRPr sz="1165"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165" b="1" dirty="0" smtClean="0"/>
              <a:t>我</a:t>
            </a:r>
            <a:r>
              <a:rPr lang="zh-CN" altLang="en-US" sz="1165" b="1" dirty="0"/>
              <a:t>输出的参数它满意吗？它给我的报错提示我看得懂吗？”</a:t>
            </a:r>
            <a:r>
              <a:rPr sz="1165" b="1" dirty="0" smtClean="0">
                <a:solidFill>
                  <a:srgbClr val="414951"/>
                </a:solidFill>
                <a:latin typeface="微软雅黑" panose="020B0503020204020204" charset="-122"/>
                <a:ea typeface="微软雅黑" panose="020B0503020204020204" charset="-122"/>
                <a:cs typeface="微软雅黑" panose="020B0503020204020204" charset="-122"/>
              </a:rPr>
              <a:t>？</a:t>
            </a:r>
            <a:endParaRPr sz="116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8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1.6</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8</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04887" y="171035"/>
            <a:ext cx="10572750" cy="523875"/>
          </a:xfrm>
          <a:prstGeom prst="rect">
            <a:avLst/>
          </a:prstGeom>
          <a:noFill/>
          <a:ln w="0">
            <a:noFill/>
            <a:prstDash val="solid"/>
          </a:ln>
        </p:spPr>
        <p:txBody>
          <a:bodyPr wrap="none" lIns="0" tIns="0" rIns="0" bIns="0" anchor="ctr">
            <a:normAutofit/>
          </a:bodyPr>
          <a:lstStyle/>
          <a:p>
            <a:pPr algn="l">
              <a:buClrTx/>
              <a:buSzTx/>
              <a:buFontTx/>
              <a:buNone/>
              <a:defRPr sz="289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rPr>
              <a:t>使用 Skill 进行复杂开发时的三个困难</a:t>
            </a:r>
          </a:p>
        </p:txBody>
      </p:sp>
      <p:sp>
        <p:nvSpPr>
          <p:cNvPr id="15" name="resources-frame"/>
          <p:cNvSpPr>
            <a:spLocks noGrp="1"/>
          </p:cNvSpPr>
          <p:nvPr/>
        </p:nvSpPr>
        <p:spPr>
          <a:xfrm>
            <a:off x="609600" y="1562100"/>
            <a:ext cx="3333750" cy="3905250"/>
          </a:xfrm>
          <a:prstGeom prst="roundRect">
            <a:avLst>
              <a:gd name="adj" fmla="val 1429"/>
            </a:avLst>
          </a:prstGeom>
          <a:solidFill>
            <a:srgbClr val="F7F8F9"/>
          </a:solidFill>
          <a:ln w="9525">
            <a:solidFill>
              <a:srgbClr val="D7E0E6"/>
            </a:solidFill>
            <a:prstDash val="solid"/>
          </a:ln>
        </p:spPr>
      </p:sp>
      <p:sp>
        <p:nvSpPr>
          <p:cNvPr id="16" name="resources-accent"/>
          <p:cNvSpPr>
            <a:spLocks noGrp="1"/>
          </p:cNvSpPr>
          <p:nvPr/>
        </p:nvSpPr>
        <p:spPr>
          <a:xfrm>
            <a:off x="609600" y="1562100"/>
            <a:ext cx="3333750" cy="28575"/>
          </a:xfrm>
          <a:prstGeom prst="rect">
            <a:avLst/>
          </a:prstGeom>
          <a:solidFill>
            <a:srgbClr val="5C7F99"/>
          </a:solidFill>
          <a:ln w="0">
            <a:solidFill>
              <a:srgbClr val="5C7F99"/>
            </a:solidFill>
            <a:prstDash val="solid"/>
          </a:ln>
        </p:spPr>
      </p:sp>
      <p:sp>
        <p:nvSpPr>
          <p:cNvPr id="17" name="resources-number"/>
          <p:cNvSpPr>
            <a:spLocks noGrp="1"/>
          </p:cNvSpPr>
          <p:nvPr/>
        </p:nvSpPr>
        <p:spPr>
          <a:xfrm>
            <a:off x="762000"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C7F99"/>
                </a:solidFill>
                <a:latin typeface="微软雅黑" panose="020B0503020204020204" charset="-122"/>
                <a:ea typeface="微软雅黑" panose="020B0503020204020204" charset="-122"/>
                <a:cs typeface="微软雅黑" panose="020B0503020204020204" charset="-122"/>
              </a:rPr>
              <a:t>01</a:t>
            </a:r>
          </a:p>
        </p:txBody>
      </p:sp>
      <p:sp>
        <p:nvSpPr>
          <p:cNvPr id="18" name="resources-title"/>
          <p:cNvSpPr>
            <a:spLocks noGrp="1"/>
          </p:cNvSpPr>
          <p:nvPr/>
        </p:nvSpPr>
        <p:spPr>
          <a:xfrm>
            <a:off x="1162050" y="1638300"/>
            <a:ext cx="2628900"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Token / 额度消耗大</a:t>
            </a:r>
          </a:p>
        </p:txBody>
      </p:sp>
      <p:sp>
        <p:nvSpPr>
          <p:cNvPr id="21" name="constraints-frame"/>
          <p:cNvSpPr>
            <a:spLocks noGrp="1"/>
          </p:cNvSpPr>
          <p:nvPr/>
        </p:nvSpPr>
        <p:spPr>
          <a:xfrm>
            <a:off x="4200525" y="1562100"/>
            <a:ext cx="3781425" cy="3905250"/>
          </a:xfrm>
          <a:prstGeom prst="roundRect">
            <a:avLst>
              <a:gd name="adj" fmla="val 1259"/>
            </a:avLst>
          </a:prstGeom>
          <a:solidFill>
            <a:srgbClr val="F7F8F9"/>
          </a:solidFill>
          <a:ln w="9525">
            <a:solidFill>
              <a:srgbClr val="D7E0E6"/>
            </a:solidFill>
            <a:prstDash val="solid"/>
          </a:ln>
        </p:spPr>
      </p:sp>
      <p:sp>
        <p:nvSpPr>
          <p:cNvPr id="22" name="constraints-accent"/>
          <p:cNvSpPr>
            <a:spLocks noGrp="1"/>
          </p:cNvSpPr>
          <p:nvPr/>
        </p:nvSpPr>
        <p:spPr>
          <a:xfrm>
            <a:off x="4200525" y="1562100"/>
            <a:ext cx="3781425" cy="28575"/>
          </a:xfrm>
          <a:prstGeom prst="rect">
            <a:avLst/>
          </a:prstGeom>
          <a:solidFill>
            <a:srgbClr val="5C7F99"/>
          </a:solidFill>
          <a:ln w="0">
            <a:solidFill>
              <a:srgbClr val="5C7F99"/>
            </a:solidFill>
            <a:prstDash val="solid"/>
          </a:ln>
        </p:spPr>
      </p:sp>
      <p:sp>
        <p:nvSpPr>
          <p:cNvPr id="23" name="constraints-number"/>
          <p:cNvSpPr>
            <a:spLocks noGrp="1"/>
          </p:cNvSpPr>
          <p:nvPr/>
        </p:nvSpPr>
        <p:spPr>
          <a:xfrm>
            <a:off x="4352925"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C7F99"/>
                </a:solidFill>
                <a:latin typeface="微软雅黑" panose="020B0503020204020204" charset="-122"/>
                <a:ea typeface="微软雅黑" panose="020B0503020204020204" charset="-122"/>
                <a:cs typeface="微软雅黑" panose="020B0503020204020204" charset="-122"/>
              </a:rPr>
              <a:t>02</a:t>
            </a:r>
          </a:p>
        </p:txBody>
      </p:sp>
      <p:sp>
        <p:nvSpPr>
          <p:cNvPr id="24" name="constraints-title"/>
          <p:cNvSpPr>
            <a:spLocks noGrp="1"/>
          </p:cNvSpPr>
          <p:nvPr/>
        </p:nvSpPr>
        <p:spPr>
          <a:xfrm>
            <a:off x="4752975" y="1638300"/>
            <a:ext cx="3076575"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端到端开发时间长</a:t>
            </a:r>
          </a:p>
        </p:txBody>
      </p:sp>
      <p:sp>
        <p:nvSpPr>
          <p:cNvPr id="27" name="validation-frame"/>
          <p:cNvSpPr>
            <a:spLocks noGrp="1"/>
          </p:cNvSpPr>
          <p:nvPr/>
        </p:nvSpPr>
        <p:spPr>
          <a:xfrm>
            <a:off x="8239125" y="1562100"/>
            <a:ext cx="3343275" cy="3905250"/>
          </a:xfrm>
          <a:prstGeom prst="roundRect">
            <a:avLst>
              <a:gd name="adj" fmla="val 1425"/>
            </a:avLst>
          </a:prstGeom>
          <a:solidFill>
            <a:srgbClr val="F7F8F9"/>
          </a:solidFill>
          <a:ln w="9525">
            <a:solidFill>
              <a:srgbClr val="D7E0E6"/>
            </a:solidFill>
            <a:prstDash val="solid"/>
          </a:ln>
        </p:spPr>
      </p:sp>
      <p:sp>
        <p:nvSpPr>
          <p:cNvPr id="28" name="validation-accent"/>
          <p:cNvSpPr>
            <a:spLocks noGrp="1"/>
          </p:cNvSpPr>
          <p:nvPr/>
        </p:nvSpPr>
        <p:spPr>
          <a:xfrm>
            <a:off x="8239125" y="1562100"/>
            <a:ext cx="3343275" cy="28575"/>
          </a:xfrm>
          <a:prstGeom prst="rect">
            <a:avLst/>
          </a:prstGeom>
          <a:solidFill>
            <a:srgbClr val="5C7F99"/>
          </a:solidFill>
          <a:ln w="0">
            <a:solidFill>
              <a:srgbClr val="5C7F99"/>
            </a:solidFill>
            <a:prstDash val="solid"/>
          </a:ln>
        </p:spPr>
      </p:sp>
      <p:sp>
        <p:nvSpPr>
          <p:cNvPr id="29" name="validation-number"/>
          <p:cNvSpPr>
            <a:spLocks noGrp="1"/>
          </p:cNvSpPr>
          <p:nvPr/>
        </p:nvSpPr>
        <p:spPr>
          <a:xfrm>
            <a:off x="8391525"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C7F99"/>
                </a:solidFill>
                <a:latin typeface="微软雅黑" panose="020B0503020204020204" charset="-122"/>
                <a:ea typeface="微软雅黑" panose="020B0503020204020204" charset="-122"/>
                <a:cs typeface="微软雅黑" panose="020B0503020204020204" charset="-122"/>
              </a:rPr>
              <a:t>03</a:t>
            </a:r>
          </a:p>
        </p:txBody>
      </p:sp>
      <p:sp>
        <p:nvSpPr>
          <p:cNvPr id="30" name="validation-title"/>
          <p:cNvSpPr>
            <a:spLocks noGrp="1"/>
          </p:cNvSpPr>
          <p:nvPr/>
        </p:nvSpPr>
        <p:spPr>
          <a:xfrm>
            <a:off x="8734425" y="1638300"/>
            <a:ext cx="2695575"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Skill 修改后验证困难</a:t>
            </a:r>
          </a:p>
        </p:txBody>
      </p:sp>
      <p:sp>
        <p:nvSpPr>
          <p:cNvPr id="85" name="constraints-principle-band"/>
          <p:cNvSpPr>
            <a:spLocks noGrp="1"/>
          </p:cNvSpPr>
          <p:nvPr/>
        </p:nvSpPr>
        <p:spPr>
          <a:xfrm>
            <a:off x="4300537" y="2666999"/>
            <a:ext cx="3476625" cy="333375"/>
          </a:xfrm>
          <a:prstGeom prst="rect">
            <a:avLst/>
          </a:prstGeom>
          <a:solidFill>
            <a:srgbClr val="EAF0F4"/>
          </a:solidFill>
          <a:ln w="0">
            <a:noFill/>
            <a:prstDash val="solid"/>
          </a:ln>
        </p:spPr>
      </p:sp>
      <p:sp>
        <p:nvSpPr>
          <p:cNvPr id="86" name="constraints-principle"/>
          <p:cNvSpPr>
            <a:spLocks noGrp="1"/>
          </p:cNvSpPr>
          <p:nvPr/>
        </p:nvSpPr>
        <p:spPr>
          <a:xfrm>
            <a:off x="4424363" y="2666999"/>
            <a:ext cx="3228975" cy="314325"/>
          </a:xfrm>
          <a:prstGeom prst="rect">
            <a:avLst/>
          </a:prstGeom>
          <a:noFill/>
          <a:ln w="0">
            <a:noFill/>
            <a:prstDash val="solid"/>
          </a:ln>
        </p:spPr>
        <p:txBody>
          <a:bodyPr wrap="none" lIns="0" tIns="0" rIns="0" bIns="0" anchor="ctr">
            <a:normAutofit/>
          </a:bodyPr>
          <a:lstStyle/>
          <a:p>
            <a:pPr algn="ctr">
              <a:buNone/>
              <a:defRPr sz="1015" b="1">
                <a:solidFill>
                  <a:srgbClr val="4B6F88"/>
                </a:solidFill>
                <a:latin typeface="微软雅黑" panose="020B0503020204020204" charset="-122"/>
                <a:ea typeface="微软雅黑" panose="020B0503020204020204" charset="-122"/>
                <a:cs typeface="微软雅黑" panose="020B0503020204020204" charset="-122"/>
              </a:defRPr>
            </a:pPr>
            <a:r>
              <a:rPr sz="1100" b="1" dirty="0" err="1">
                <a:solidFill>
                  <a:srgbClr val="4B6F88"/>
                </a:solidFill>
                <a:latin typeface="微软雅黑" panose="020B0503020204020204" charset="-122"/>
                <a:ea typeface="微软雅黑" panose="020B0503020204020204" charset="-122"/>
                <a:cs typeface="微软雅黑" panose="020B0503020204020204" charset="-122"/>
              </a:rPr>
              <a:t>等待时间多，端到端周期持续拉长</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87" name="constraints-product-band"/>
          <p:cNvSpPr>
            <a:spLocks noGrp="1"/>
          </p:cNvSpPr>
          <p:nvPr/>
        </p:nvSpPr>
        <p:spPr>
          <a:xfrm>
            <a:off x="4343400" y="3495675"/>
            <a:ext cx="3476625" cy="295275"/>
          </a:xfrm>
          <a:prstGeom prst="rect">
            <a:avLst/>
          </a:prstGeom>
          <a:solidFill>
            <a:srgbClr val="EAF0F4"/>
          </a:solidFill>
          <a:ln w="0">
            <a:noFill/>
            <a:prstDash val="solid"/>
          </a:ln>
        </p:spPr>
      </p:sp>
      <p:sp>
        <p:nvSpPr>
          <p:cNvPr id="88" name="constraints-product"/>
          <p:cNvSpPr>
            <a:spLocks noGrp="1"/>
          </p:cNvSpPr>
          <p:nvPr/>
        </p:nvSpPr>
        <p:spPr>
          <a:xfrm>
            <a:off x="4521993" y="3505200"/>
            <a:ext cx="3228975" cy="276225"/>
          </a:xfrm>
          <a:prstGeom prst="rect">
            <a:avLst/>
          </a:prstGeom>
          <a:noFill/>
          <a:ln w="0">
            <a:noFill/>
            <a:prstDash val="solid"/>
          </a:ln>
        </p:spPr>
        <p:txBody>
          <a:bodyPr wrap="none" lIns="0" tIns="0" rIns="0" bIns="0" anchor="ctr">
            <a:normAutofit/>
          </a:bodyPr>
          <a:lstStyle/>
          <a:p>
            <a:pPr algn="ctr">
              <a:buNone/>
              <a:defRPr sz="1065" b="1">
                <a:solidFill>
                  <a:srgbClr val="4B6F88"/>
                </a:solidFill>
                <a:latin typeface="微软雅黑" panose="020B0503020204020204" charset="-122"/>
                <a:ea typeface="微软雅黑" panose="020B0503020204020204" charset="-122"/>
                <a:cs typeface="微软雅黑" panose="020B0503020204020204" charset="-122"/>
              </a:defRPr>
            </a:pPr>
            <a:r>
              <a:rPr lang="zh-CN" altLang="en-US" sz="1100" b="1" dirty="0" smtClean="0">
                <a:solidFill>
                  <a:srgbClr val="4B6F88"/>
                </a:solidFill>
                <a:latin typeface="微软雅黑" panose="020B0503020204020204" charset="-122"/>
                <a:ea typeface="微软雅黑" panose="020B0503020204020204" charset="-122"/>
                <a:cs typeface="微软雅黑" panose="020B0503020204020204" charset="-122"/>
              </a:rPr>
              <a:t>开发一个算子需要</a:t>
            </a:r>
            <a:r>
              <a:rPr lang="en-US" altLang="zh-CN" sz="1100" b="1" dirty="0" smtClean="0">
                <a:solidFill>
                  <a:srgbClr val="4B6F88"/>
                </a:solidFill>
                <a:latin typeface="微软雅黑" panose="020B0503020204020204" charset="-122"/>
                <a:ea typeface="微软雅黑" panose="020B0503020204020204" charset="-122"/>
                <a:cs typeface="微软雅黑" panose="020B0503020204020204" charset="-122"/>
              </a:rPr>
              <a:t>2h-5h</a:t>
            </a:r>
            <a:r>
              <a:rPr lang="zh-CN" altLang="en-US" sz="1100" b="1" dirty="0" smtClean="0">
                <a:solidFill>
                  <a:srgbClr val="4B6F88"/>
                </a:solidFill>
                <a:latin typeface="微软雅黑" panose="020B0503020204020204" charset="-122"/>
                <a:ea typeface="微软雅黑" panose="020B0503020204020204" charset="-122"/>
                <a:cs typeface="微软雅黑" panose="020B0503020204020204" charset="-122"/>
              </a:rPr>
              <a:t>不等</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96" name="trigger-test-label"/>
          <p:cNvSpPr>
            <a:spLocks noGrp="1"/>
          </p:cNvSpPr>
          <p:nvPr/>
        </p:nvSpPr>
        <p:spPr>
          <a:xfrm>
            <a:off x="8524875" y="2381250"/>
            <a:ext cx="1104900" cy="295275"/>
          </a:xfrm>
          <a:prstGeom prst="rect">
            <a:avLst/>
          </a:prstGeom>
          <a:noFill/>
          <a:ln w="0">
            <a:noFill/>
            <a:prstDash val="solid"/>
          </a:ln>
        </p:spPr>
        <p:txBody>
          <a:bodyPr wrap="none" lIns="0" tIns="0" rIns="0" bIns="0" anchor="ctr">
            <a:normAutofit/>
          </a:bodyPr>
          <a:lstStyle/>
          <a:p>
            <a:pPr algn="l">
              <a:buNone/>
              <a:defRPr sz="1140" b="1">
                <a:solidFill>
                  <a:srgbClr val="4B6F88"/>
                </a:solidFill>
                <a:latin typeface="微软雅黑" panose="020B0503020204020204" charset="-122"/>
                <a:ea typeface="微软雅黑" panose="020B0503020204020204" charset="-122"/>
                <a:cs typeface="微软雅黑" panose="020B0503020204020204" charset="-122"/>
              </a:defRPr>
            </a:pPr>
            <a:endParaRPr sz="114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97" name="trigger-test-detail"/>
          <p:cNvSpPr>
            <a:spLocks noGrp="1"/>
          </p:cNvSpPr>
          <p:nvPr/>
        </p:nvSpPr>
        <p:spPr>
          <a:xfrm>
            <a:off x="8445500" y="2962275"/>
            <a:ext cx="1628775" cy="295275"/>
          </a:xfrm>
          <a:prstGeom prst="rect">
            <a:avLst/>
          </a:prstGeom>
          <a:noFill/>
          <a:ln w="0">
            <a:noFill/>
            <a:prstDash val="solid"/>
          </a:ln>
        </p:spPr>
        <p:txBody>
          <a:bodyPr wrap="none" lIns="0" tIns="0" rIns="0" bIns="0" anchor="ctr">
            <a:normAutofit/>
          </a:bodyPr>
          <a:lstStyle/>
          <a:p>
            <a:pPr algn="r">
              <a:buNone/>
              <a:defRPr sz="1035" b="0">
                <a:solidFill>
                  <a:srgbClr val="414951"/>
                </a:solidFill>
                <a:latin typeface="微软雅黑" panose="020B0503020204020204" charset="-122"/>
                <a:ea typeface="微软雅黑" panose="020B0503020204020204" charset="-122"/>
                <a:cs typeface="微软雅黑" panose="020B0503020204020204" charset="-122"/>
              </a:defRPr>
            </a:pPr>
            <a:r>
              <a:rPr sz="1000" b="0" dirty="0" err="1">
                <a:solidFill>
                  <a:srgbClr val="414951"/>
                </a:solidFill>
                <a:latin typeface="微软雅黑" panose="020B0503020204020204" charset="-122"/>
                <a:ea typeface="微软雅黑" panose="020B0503020204020204" charset="-122"/>
                <a:cs typeface="微软雅黑" panose="020B0503020204020204" charset="-122"/>
              </a:rPr>
              <a:t>限制</a:t>
            </a:r>
            <a:r>
              <a:rPr sz="1000" b="0" dirty="0">
                <a:solidFill>
                  <a:srgbClr val="414951"/>
                </a:solidFill>
                <a:latin typeface="微软雅黑" panose="020B0503020204020204" charset="-122"/>
                <a:ea typeface="微软雅黑" panose="020B0503020204020204" charset="-122"/>
                <a:cs typeface="微软雅黑" panose="020B0503020204020204" charset="-122"/>
              </a:rPr>
              <a:t> / </a:t>
            </a:r>
            <a:r>
              <a:rPr sz="1000" b="0" dirty="0" err="1">
                <a:solidFill>
                  <a:srgbClr val="414951"/>
                </a:solidFill>
                <a:latin typeface="微软雅黑" panose="020B0503020204020204" charset="-122"/>
                <a:ea typeface="微软雅黑" panose="020B0503020204020204" charset="-122"/>
                <a:cs typeface="微软雅黑" panose="020B0503020204020204" charset="-122"/>
              </a:rPr>
              <a:t>路由</a:t>
            </a:r>
            <a:r>
              <a:rPr sz="1000" b="0" dirty="0">
                <a:solidFill>
                  <a:srgbClr val="414951"/>
                </a:solidFill>
                <a:latin typeface="微软雅黑" panose="020B0503020204020204" charset="-122"/>
                <a:ea typeface="微软雅黑" panose="020B0503020204020204" charset="-122"/>
                <a:cs typeface="微软雅黑" panose="020B0503020204020204" charset="-122"/>
              </a:rPr>
              <a:t> / </a:t>
            </a:r>
            <a:r>
              <a:rPr sz="1000" b="0" dirty="0" err="1">
                <a:solidFill>
                  <a:srgbClr val="414951"/>
                </a:solidFill>
                <a:latin typeface="微软雅黑" panose="020B0503020204020204" charset="-122"/>
                <a:ea typeface="微软雅黑" panose="020B0503020204020204" charset="-122"/>
                <a:cs typeface="微软雅黑" panose="020B0503020204020204" charset="-122"/>
              </a:rPr>
              <a:t>描述</a:t>
            </a:r>
            <a:endParaRPr sz="100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10" name="validation-product-band"/>
          <p:cNvSpPr>
            <a:spLocks noGrp="1"/>
          </p:cNvSpPr>
          <p:nvPr/>
        </p:nvSpPr>
        <p:spPr>
          <a:xfrm>
            <a:off x="8445500" y="2686049"/>
            <a:ext cx="3038475" cy="295275"/>
          </a:xfrm>
          <a:prstGeom prst="rect">
            <a:avLst/>
          </a:prstGeom>
          <a:solidFill>
            <a:srgbClr val="EAF0F4"/>
          </a:solidFill>
          <a:ln w="0">
            <a:noFill/>
            <a:prstDash val="solid"/>
          </a:ln>
        </p:spPr>
      </p:sp>
      <p:sp>
        <p:nvSpPr>
          <p:cNvPr id="111" name="validation-product"/>
          <p:cNvSpPr>
            <a:spLocks noGrp="1"/>
          </p:cNvSpPr>
          <p:nvPr/>
        </p:nvSpPr>
        <p:spPr>
          <a:xfrm>
            <a:off x="8559800" y="2695574"/>
            <a:ext cx="2809875" cy="276225"/>
          </a:xfrm>
          <a:prstGeom prst="rect">
            <a:avLst/>
          </a:prstGeom>
          <a:noFill/>
          <a:ln w="0">
            <a:noFill/>
            <a:prstDash val="solid"/>
          </a:ln>
        </p:spPr>
        <p:txBody>
          <a:bodyPr wrap="none" lIns="0" tIns="0" rIns="0" bIns="0" anchor="ctr">
            <a:normAutofit/>
          </a:bodyPr>
          <a:lstStyle/>
          <a:p>
            <a:pPr algn="ctr">
              <a:buNone/>
              <a:defRPr sz="1050" b="1">
                <a:solidFill>
                  <a:srgbClr val="4B6F88"/>
                </a:solidFill>
                <a:latin typeface="微软雅黑" panose="020B0503020204020204" charset="-122"/>
                <a:ea typeface="微软雅黑" panose="020B0503020204020204" charset="-122"/>
                <a:cs typeface="微软雅黑" panose="020B0503020204020204" charset="-122"/>
              </a:defRPr>
            </a:pPr>
            <a:r>
              <a:rPr lang="zh-CN" altLang="en-US" sz="1100" b="1" dirty="0" smtClean="0">
                <a:solidFill>
                  <a:srgbClr val="4B6F88"/>
                </a:solidFill>
                <a:latin typeface="微软雅黑" panose="020B0503020204020204" charset="-122"/>
                <a:ea typeface="微软雅黑" panose="020B0503020204020204" charset="-122"/>
                <a:cs typeface="微软雅黑" panose="020B0503020204020204" charset="-122"/>
              </a:rPr>
              <a:t>轻微修改规则也要跑完整任务</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140" name="s13-title-rule"/>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150" name="summary-band"/>
          <p:cNvSpPr>
            <a:spLocks noGrp="1"/>
          </p:cNvSpPr>
          <p:nvPr/>
        </p:nvSpPr>
        <p:spPr>
          <a:xfrm>
            <a:off x="609600" y="6238874"/>
            <a:ext cx="10972800" cy="371476"/>
          </a:xfrm>
          <a:prstGeom prst="rect">
            <a:avLst/>
          </a:prstGeom>
          <a:solidFill>
            <a:srgbClr val="173F61"/>
          </a:solidFill>
          <a:ln w="0">
            <a:solidFill>
              <a:srgbClr val="173F61"/>
            </a:solidFill>
            <a:prstDash val="solid"/>
          </a:ln>
        </p:spPr>
      </p:sp>
      <p:sp>
        <p:nvSpPr>
          <p:cNvPr id="151" name="summary-accent"/>
          <p:cNvSpPr>
            <a:spLocks noGrp="1"/>
          </p:cNvSpPr>
          <p:nvPr/>
        </p:nvSpPr>
        <p:spPr>
          <a:xfrm>
            <a:off x="601981" y="6238874"/>
            <a:ext cx="45719" cy="371476"/>
          </a:xfrm>
          <a:prstGeom prst="rect">
            <a:avLst/>
          </a:prstGeom>
          <a:solidFill>
            <a:srgbClr val="5C7F99"/>
          </a:solidFill>
          <a:ln w="0">
            <a:solidFill>
              <a:srgbClr val="5C7F99"/>
            </a:solidFill>
            <a:prstDash val="solid"/>
          </a:ln>
        </p:spPr>
      </p:sp>
      <p:sp>
        <p:nvSpPr>
          <p:cNvPr id="152" name="文本框 151"/>
          <p:cNvSpPr>
            <a:spLocks noGrp="1"/>
          </p:cNvSpPr>
          <p:nvPr/>
        </p:nvSpPr>
        <p:spPr>
          <a:xfrm>
            <a:off x="914400" y="6105525"/>
            <a:ext cx="10363200" cy="640080"/>
          </a:xfrm>
          <a:prstGeom prst="rect">
            <a:avLst/>
          </a:prstGeom>
          <a:noFill/>
        </p:spPr>
        <p:txBody>
          <a:bodyPr wrap="none" lIns="0" tIns="0" rIns="0" bIns="0" anchor="ctr">
            <a:noAutofit/>
          </a:bodyPr>
          <a:lstStyle/>
          <a:p>
            <a:pPr algn="ctr">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dirty="0" err="1" smtClean="0">
                <a:solidFill>
                  <a:srgbClr val="FFFFFF"/>
                </a:solidFill>
                <a:latin typeface="微软雅黑" panose="020B0503020204020204" charset="-122"/>
                <a:ea typeface="微软雅黑" panose="020B0503020204020204" charset="-122"/>
                <a:cs typeface="微软雅黑" panose="020B0503020204020204" charset="-122"/>
              </a:rPr>
              <a:t>这三个问题</a:t>
            </a:r>
            <a:r>
              <a:rPr lang="zh-CN" altLang="en-US" sz="1350" b="1" dirty="0">
                <a:solidFill>
                  <a:srgbClr val="FFFFFF"/>
                </a:solidFill>
                <a:latin typeface="微软雅黑" panose="020B0503020204020204" charset="-122"/>
                <a:ea typeface="微软雅黑" panose="020B0503020204020204" charset="-122"/>
                <a:cs typeface="微软雅黑" panose="020B0503020204020204" charset="-122"/>
              </a:rPr>
              <a:t>让</a:t>
            </a:r>
            <a:r>
              <a:rPr sz="1350" b="1" dirty="0" smtClean="0">
                <a:solidFill>
                  <a:srgbClr val="FFFFFF"/>
                </a:solidFill>
                <a:latin typeface="微软雅黑" panose="020B0503020204020204" charset="-122"/>
                <a:ea typeface="微软雅黑" panose="020B0503020204020204" charset="-122"/>
                <a:cs typeface="微软雅黑" panose="020B0503020204020204" charset="-122"/>
              </a:rPr>
              <a:t>Skill </a:t>
            </a:r>
            <a:r>
              <a:rPr sz="1350" b="1" dirty="0" err="1">
                <a:solidFill>
                  <a:srgbClr val="FFFFFF"/>
                </a:solidFill>
                <a:latin typeface="微软雅黑" panose="020B0503020204020204" charset="-122"/>
                <a:ea typeface="微软雅黑" panose="020B0503020204020204" charset="-122"/>
                <a:cs typeface="微软雅黑" panose="020B0503020204020204" charset="-122"/>
              </a:rPr>
              <a:t>会从“提升开发效率的工具”变成“高成本、慢迭代、难维护的复杂流程</a:t>
            </a:r>
            <a:r>
              <a:rPr sz="1350" b="1" dirty="0">
                <a:solidFill>
                  <a:srgbClr val="FFFFFF"/>
                </a:solidFill>
                <a:latin typeface="微软雅黑" panose="020B0503020204020204" charset="-122"/>
                <a:ea typeface="微软雅黑" panose="020B0503020204020204" charset="-122"/>
                <a:cs typeface="微软雅黑" panose="020B0503020204020204" charset="-122"/>
              </a:rPr>
              <a:t>”。</a:t>
            </a:r>
          </a:p>
        </p:txBody>
      </p:sp>
      <p:sp>
        <p:nvSpPr>
          <p:cNvPr id="153" name="slide-1-title"/>
          <p:cNvSpPr>
            <a:spLocks noGrp="1"/>
          </p:cNvSpPr>
          <p:nvPr/>
        </p:nvSpPr>
        <p:spPr>
          <a:xfrm>
            <a:off x="342900" y="223460"/>
            <a:ext cx="635000"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sz="3000" b="1" dirty="0" smtClean="0">
                <a:solidFill>
                  <a:srgbClr val="243B53"/>
                </a:solidFill>
                <a:latin typeface="Arial" panose="020B0604020202020204"/>
                <a:ea typeface="Arial" panose="020B0604020202020204"/>
                <a:cs typeface="Arial" panose="020B0604020202020204"/>
              </a:rPr>
              <a:t>1.</a:t>
            </a:r>
            <a:r>
              <a:rPr lang="en-US" sz="3000" b="1" dirty="0" smtClean="0">
                <a:solidFill>
                  <a:srgbClr val="243B53"/>
                </a:solidFill>
                <a:latin typeface="Arial" panose="020B0604020202020204"/>
                <a:ea typeface="Arial" panose="020B0604020202020204"/>
                <a:cs typeface="Arial" panose="020B0604020202020204"/>
              </a:rPr>
              <a:t>7</a:t>
            </a:r>
            <a:endParaRPr sz="3000" b="1" dirty="0">
              <a:solidFill>
                <a:srgbClr val="243B53"/>
              </a:solidFill>
              <a:latin typeface="Arial" panose="020B0604020202020204"/>
              <a:ea typeface="Arial" panose="020B0604020202020204"/>
              <a:cs typeface="Arial" panose="020B0604020202020204"/>
            </a:endParaRPr>
          </a:p>
        </p:txBody>
      </p:sp>
      <p:sp>
        <p:nvSpPr>
          <p:cNvPr id="154" name="slide-7-page-number"/>
          <p:cNvSpPr>
            <a:spLocks noGrp="1"/>
          </p:cNvSpPr>
          <p:nvPr/>
        </p:nvSpPr>
        <p:spPr>
          <a:xfrm>
            <a:off x="11366500" y="317500"/>
            <a:ext cx="330200" cy="279400"/>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a:ea typeface="Arial" panose="020B0604020202020204"/>
                <a:cs typeface="Arial" panose="020B0604020202020204"/>
              </a:rPr>
              <a:t>9</a:t>
            </a:r>
            <a:endParaRPr sz="1200" b="1" dirty="0">
              <a:solidFill>
                <a:srgbClr val="66737F"/>
              </a:solidFill>
              <a:latin typeface="Arial" panose="020B0604020202020204"/>
              <a:ea typeface="Arial" panose="020B0604020202020204"/>
              <a:cs typeface="Arial" panose="020B0604020202020204"/>
            </a:endParaRPr>
          </a:p>
        </p:txBody>
      </p:sp>
      <p:sp>
        <p:nvSpPr>
          <p:cNvPr id="108" name="constraints-principle-band"/>
          <p:cNvSpPr>
            <a:spLocks noGrp="1"/>
          </p:cNvSpPr>
          <p:nvPr/>
        </p:nvSpPr>
        <p:spPr>
          <a:xfrm>
            <a:off x="859631" y="2666999"/>
            <a:ext cx="2833688" cy="333375"/>
          </a:xfrm>
          <a:prstGeom prst="rect">
            <a:avLst/>
          </a:prstGeom>
          <a:solidFill>
            <a:srgbClr val="EAF0F4"/>
          </a:solidFill>
          <a:ln w="0">
            <a:noFill/>
            <a:prstDash val="solid"/>
          </a:ln>
        </p:spPr>
      </p:sp>
      <p:sp>
        <p:nvSpPr>
          <p:cNvPr id="109" name="references-node-text"/>
          <p:cNvSpPr>
            <a:spLocks noGrp="1"/>
          </p:cNvSpPr>
          <p:nvPr/>
        </p:nvSpPr>
        <p:spPr>
          <a:xfrm>
            <a:off x="859631" y="2686049"/>
            <a:ext cx="2862263" cy="314325"/>
          </a:xfrm>
          <a:prstGeom prst="rect">
            <a:avLst/>
          </a:prstGeom>
          <a:noFill/>
          <a:ln w="0">
            <a:noFill/>
            <a:prstDash val="solid"/>
          </a:ln>
        </p:spPr>
        <p:txBody>
          <a:bodyPr wrap="none" lIns="0" tIns="0" rIns="0" bIns="0" anchor="ctr">
            <a:normAutofit/>
          </a:bodyPr>
          <a:lstStyle/>
          <a:p>
            <a:pPr algn="ctr">
              <a:buNone/>
              <a:defRPr sz="92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100" b="1" dirty="0">
                <a:solidFill>
                  <a:srgbClr val="4B6F88"/>
                </a:solidFill>
                <a:latin typeface="微软雅黑" panose="020B0503020204020204" charset="-122"/>
                <a:ea typeface="微软雅黑" panose="020B0503020204020204" charset="-122"/>
                <a:cs typeface="微软雅黑" panose="020B0503020204020204" charset="-122"/>
              </a:rPr>
              <a:t>开发一个算子需要消耗数百万</a:t>
            </a:r>
            <a:r>
              <a:rPr lang="en-US" altLang="zh-CN" sz="1100" b="1" dirty="0">
                <a:solidFill>
                  <a:srgbClr val="4B6F88"/>
                </a:solidFill>
                <a:latin typeface="微软雅黑" panose="020B0503020204020204" charset="-122"/>
                <a:ea typeface="微软雅黑" panose="020B0503020204020204" charset="-122"/>
                <a:cs typeface="微软雅黑" panose="020B0503020204020204" charset="-122"/>
              </a:rPr>
              <a:t>token</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112" name="constraints-principle-band"/>
          <p:cNvSpPr>
            <a:spLocks noGrp="1"/>
          </p:cNvSpPr>
          <p:nvPr/>
        </p:nvSpPr>
        <p:spPr>
          <a:xfrm>
            <a:off x="931069" y="3462337"/>
            <a:ext cx="2833688" cy="333375"/>
          </a:xfrm>
          <a:prstGeom prst="rect">
            <a:avLst/>
          </a:prstGeom>
          <a:solidFill>
            <a:srgbClr val="EAF0F4"/>
          </a:solidFill>
          <a:ln w="0">
            <a:noFill/>
            <a:prstDash val="solid"/>
          </a:ln>
        </p:spPr>
      </p:sp>
      <p:sp>
        <p:nvSpPr>
          <p:cNvPr id="113" name="examples-node-text"/>
          <p:cNvSpPr>
            <a:spLocks noGrp="1"/>
          </p:cNvSpPr>
          <p:nvPr/>
        </p:nvSpPr>
        <p:spPr>
          <a:xfrm>
            <a:off x="1509712" y="3505200"/>
            <a:ext cx="1519237" cy="314325"/>
          </a:xfrm>
          <a:prstGeom prst="rect">
            <a:avLst/>
          </a:prstGeom>
          <a:noFill/>
          <a:ln w="0">
            <a:noFill/>
            <a:prstDash val="solid"/>
          </a:ln>
        </p:spPr>
        <p:txBody>
          <a:bodyPr wrap="none" lIns="0" tIns="0" rIns="0" bIns="0" anchor="ctr">
            <a:normAutofit/>
          </a:bodyPr>
          <a:lstStyle/>
          <a:p>
            <a:pPr algn="ctr">
              <a:buNone/>
              <a:defRPr sz="92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100" b="1" dirty="0">
                <a:solidFill>
                  <a:srgbClr val="4B6F88"/>
                </a:solidFill>
                <a:latin typeface="微软雅黑" panose="020B0503020204020204" charset="-122"/>
                <a:ea typeface="微软雅黑" panose="020B0503020204020204" charset="-122"/>
                <a:cs typeface="微软雅黑" panose="020B0503020204020204" charset="-122"/>
              </a:rPr>
              <a:t>一天的内网模型调用额度跑不了三个算子</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114" name="validation-product-band"/>
          <p:cNvSpPr>
            <a:spLocks noGrp="1"/>
          </p:cNvSpPr>
          <p:nvPr/>
        </p:nvSpPr>
        <p:spPr>
          <a:xfrm>
            <a:off x="8445500" y="3486150"/>
            <a:ext cx="3038475" cy="295275"/>
          </a:xfrm>
          <a:prstGeom prst="rect">
            <a:avLst/>
          </a:prstGeom>
          <a:solidFill>
            <a:srgbClr val="EAF0F4"/>
          </a:solidFill>
          <a:ln w="0">
            <a:noFill/>
            <a:prstDash val="solid"/>
          </a:ln>
        </p:spPr>
      </p:sp>
      <p:sp>
        <p:nvSpPr>
          <p:cNvPr id="115" name="validation-product"/>
          <p:cNvSpPr>
            <a:spLocks noGrp="1"/>
          </p:cNvSpPr>
          <p:nvPr/>
        </p:nvSpPr>
        <p:spPr>
          <a:xfrm>
            <a:off x="8559800" y="3495675"/>
            <a:ext cx="2809875" cy="276225"/>
          </a:xfrm>
          <a:prstGeom prst="rect">
            <a:avLst/>
          </a:prstGeom>
          <a:noFill/>
          <a:ln w="0">
            <a:noFill/>
            <a:prstDash val="solid"/>
          </a:ln>
        </p:spPr>
        <p:txBody>
          <a:bodyPr wrap="none" lIns="0" tIns="0" rIns="0" bIns="0" anchor="ctr">
            <a:normAutofit/>
          </a:bodyPr>
          <a:lstStyle/>
          <a:p>
            <a:pPr algn="ctr">
              <a:buNone/>
              <a:defRPr sz="1050" b="1">
                <a:solidFill>
                  <a:srgbClr val="4B6F88"/>
                </a:solidFill>
                <a:latin typeface="微软雅黑" panose="020B0503020204020204" charset="-122"/>
                <a:ea typeface="微软雅黑" panose="020B0503020204020204" charset="-122"/>
                <a:cs typeface="微软雅黑" panose="020B0503020204020204" charset="-122"/>
              </a:defRPr>
            </a:pPr>
            <a:r>
              <a:rPr sz="1100" b="1" dirty="0" err="1">
                <a:solidFill>
                  <a:srgbClr val="4B6F88"/>
                </a:solidFill>
                <a:latin typeface="微软雅黑" panose="020B0503020204020204" charset="-122"/>
                <a:ea typeface="微软雅黑" panose="020B0503020204020204" charset="-122"/>
                <a:cs typeface="微软雅黑" panose="020B0503020204020204" charset="-122"/>
              </a:rPr>
              <a:t>结果：小改动验证成本高</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hase-c-surface"/>
          <p:cNvSpPr>
            <a:spLocks noGrp="1"/>
          </p:cNvSpPr>
          <p:nvPr/>
        </p:nvSpPr>
        <p:spPr>
          <a:xfrm>
            <a:off x="1352550" y="1831659"/>
            <a:ext cx="9601200" cy="1000125"/>
          </a:xfrm>
          <a:prstGeom prst="rect">
            <a:avLst/>
          </a:prstGeom>
          <a:solidFill>
            <a:srgbClr val="F1F5F7"/>
          </a:solidFill>
          <a:ln w="9525">
            <a:solidFill>
              <a:srgbClr val="D7E0E6"/>
            </a:solidFill>
            <a:prstDash val="solid"/>
          </a:ln>
        </p:spPr>
      </p:sp>
      <p:sp>
        <p:nvSpPr>
          <p:cNvPr id="145" name="phase-c-surface"/>
          <p:cNvSpPr>
            <a:spLocks noGrp="1"/>
          </p:cNvSpPr>
          <p:nvPr/>
        </p:nvSpPr>
        <p:spPr>
          <a:xfrm>
            <a:off x="1352550" y="2869884"/>
            <a:ext cx="9601200" cy="1000125"/>
          </a:xfrm>
          <a:prstGeom prst="rect">
            <a:avLst/>
          </a:prstGeom>
          <a:solidFill>
            <a:srgbClr val="F1F5F7"/>
          </a:solidFill>
          <a:ln w="9525">
            <a:solidFill>
              <a:srgbClr val="D7E0E6"/>
            </a:solidFill>
            <a:prstDash val="solid"/>
          </a:ln>
        </p:spPr>
      </p:sp>
      <p:sp>
        <p:nvSpPr>
          <p:cNvPr id="144" name="phase-c-surface"/>
          <p:cNvSpPr>
            <a:spLocks noGrp="1"/>
          </p:cNvSpPr>
          <p:nvPr/>
        </p:nvSpPr>
        <p:spPr>
          <a:xfrm>
            <a:off x="1352550" y="3926205"/>
            <a:ext cx="9601200" cy="1000125"/>
          </a:xfrm>
          <a:prstGeom prst="rect">
            <a:avLst/>
          </a:prstGeom>
          <a:solidFill>
            <a:srgbClr val="F1F5F7"/>
          </a:solidFill>
          <a:ln w="9525">
            <a:solidFill>
              <a:srgbClr val="D7E0E6"/>
            </a:solidFill>
            <a:prstDash val="solid"/>
          </a:ln>
        </p:spPr>
      </p:sp>
      <p:sp>
        <p:nvSpPr>
          <p:cNvPr id="7" name="slide-8-title"/>
          <p:cNvSpPr>
            <a:spLocks noGrp="1"/>
          </p:cNvSpPr>
          <p:nvPr/>
        </p:nvSpPr>
        <p:spPr>
          <a:xfrm>
            <a:off x="1082993" y="246698"/>
            <a:ext cx="9620250" cy="409575"/>
          </a:xfrm>
          <a:prstGeom prst="rect">
            <a:avLst/>
          </a:prstGeom>
          <a:noFill/>
          <a:ln w="0">
            <a:noFill/>
            <a:prstDash val="solid"/>
          </a:ln>
        </p:spPr>
        <p:txBody>
          <a:bodyPr wrap="square" lIns="0" tIns="0" rIns="0" bIns="0" anchor="ctr">
            <a:no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243B53"/>
                </a:solidFill>
                <a:latin typeface="微软雅黑" panose="020B0503020204020204" charset="-122"/>
                <a:ea typeface="微软雅黑" panose="020B0503020204020204" charset="-122"/>
                <a:cs typeface="微软雅黑" panose="020B0503020204020204" charset="-122"/>
              </a:rPr>
              <a:t>优化方向一：降低算子开发时间与 Token 消耗</a:t>
            </a:r>
          </a:p>
        </p:txBody>
      </p:sp>
      <p:sp>
        <p:nvSpPr>
          <p:cNvPr id="9" name="footer-background"/>
          <p:cNvSpPr>
            <a:spLocks noGrp="1"/>
          </p:cNvSpPr>
          <p:nvPr/>
        </p:nvSpPr>
        <p:spPr>
          <a:xfrm>
            <a:off x="200025" y="6172201"/>
            <a:ext cx="11791950" cy="533400"/>
          </a:xfrm>
          <a:prstGeom prst="rect">
            <a:avLst/>
          </a:prstGeom>
          <a:solidFill>
            <a:srgbClr val="173F61"/>
          </a:solidFill>
          <a:ln w="0">
            <a:solidFill>
              <a:srgbClr val="173F61"/>
            </a:solidFill>
            <a:prstDash val="solid"/>
          </a:ln>
        </p:spPr>
        <p:txBody>
          <a:bodyPr wrap="square" lIns="0" tIns="0" rIns="0" bIns="0" anchor="ctr">
            <a:normAutofit/>
          </a:bodyPr>
          <a:lstStyle/>
          <a:p>
            <a:endParaRPr/>
          </a:p>
        </p:txBody>
      </p:sp>
      <p:sp>
        <p:nvSpPr>
          <p:cNvPr id="11" name="slide-8-editable-footer"/>
          <p:cNvSpPr>
            <a:spLocks noGrp="1"/>
          </p:cNvSpPr>
          <p:nvPr/>
        </p:nvSpPr>
        <p:spPr>
          <a:xfrm>
            <a:off x="1000125" y="6200775"/>
            <a:ext cx="10191750" cy="466725"/>
          </a:xfrm>
          <a:prstGeom prst="rect">
            <a:avLst/>
          </a:prstGeom>
          <a:solidFill>
            <a:srgbClr val="173F61"/>
          </a:solidFill>
          <a:ln w="0">
            <a:solidFill>
              <a:srgbClr val="173F61"/>
            </a:solidFill>
            <a:prstDash val="solid"/>
          </a:ln>
        </p:spPr>
        <p:txBody>
          <a:bodyPr wrap="square" lIns="0" tIns="0" rIns="0" bIns="0" anchor="ctr">
            <a:noAutofit/>
          </a:bodyPr>
          <a:lstStyle/>
          <a:p>
            <a:pPr algn="ctr">
              <a:lnSpc>
                <a:spcPct val="100000"/>
              </a:lnSpc>
              <a:buNone/>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dirty="0" err="1">
                <a:solidFill>
                  <a:srgbClr val="FFFFFF"/>
                </a:solidFill>
                <a:latin typeface="微软雅黑" panose="020B0503020204020204" charset="-122"/>
                <a:ea typeface="微软雅黑" panose="020B0503020204020204" charset="-122"/>
                <a:cs typeface="微软雅黑" panose="020B0503020204020204" charset="-122"/>
              </a:rPr>
              <a:t>减少无效流程、无效优化和重复分析，让</a:t>
            </a:r>
            <a:r>
              <a:rPr sz="1275" b="1" dirty="0">
                <a:solidFill>
                  <a:srgbClr val="FFFFFF"/>
                </a:solidFill>
                <a:latin typeface="微软雅黑" panose="020B0503020204020204" charset="-122"/>
                <a:ea typeface="微软雅黑" panose="020B0503020204020204" charset="-122"/>
                <a:cs typeface="微软雅黑" panose="020B0503020204020204" charset="-122"/>
              </a:rPr>
              <a:t> Agent </a:t>
            </a:r>
            <a:r>
              <a:rPr sz="1275" b="1" dirty="0" err="1">
                <a:solidFill>
                  <a:srgbClr val="FFFFFF"/>
                </a:solidFill>
                <a:latin typeface="微软雅黑" panose="020B0503020204020204" charset="-122"/>
                <a:ea typeface="微软雅黑" panose="020B0503020204020204" charset="-122"/>
                <a:cs typeface="微软雅黑" panose="020B0503020204020204" charset="-122"/>
              </a:rPr>
              <a:t>只处理真正需要推理的部分</a:t>
            </a:r>
            <a:r>
              <a:rPr sz="1275" b="1" dirty="0">
                <a:solidFill>
                  <a:srgbClr val="FFFFFF"/>
                </a:solidFill>
                <a:latin typeface="微软雅黑" panose="020B0503020204020204" charset="-122"/>
                <a:ea typeface="微软雅黑" panose="020B0503020204020204" charset="-122"/>
                <a:cs typeface="微软雅黑" panose="020B0503020204020204" charset="-122"/>
              </a:rPr>
              <a:t>。</a:t>
            </a:r>
          </a:p>
        </p:txBody>
      </p:sp>
      <p:sp>
        <p:nvSpPr>
          <p:cNvPr id="20" name="knowledge-source-1"/>
          <p:cNvSpPr>
            <a:spLocks noGrp="1"/>
          </p:cNvSpPr>
          <p:nvPr/>
        </p:nvSpPr>
        <p:spPr>
          <a:xfrm>
            <a:off x="1778635" y="881380"/>
            <a:ext cx="2857500" cy="514350"/>
          </a:xfrm>
          <a:prstGeom prst="roundRect">
            <a:avLst>
              <a:gd name="adj" fmla="val 14815"/>
            </a:avLst>
          </a:prstGeom>
          <a:solidFill>
            <a:srgbClr val="FFFFFF"/>
          </a:solidFill>
          <a:ln w="9525">
            <a:solidFill>
              <a:srgbClr val="D7E0E6"/>
            </a:solidFill>
            <a:prstDash val="solid"/>
          </a:ln>
        </p:spPr>
      </p:sp>
      <p:sp>
        <p:nvSpPr>
          <p:cNvPr id="22" name="knowledge-source-1-title"/>
          <p:cNvSpPr>
            <a:spLocks noGrp="1"/>
          </p:cNvSpPr>
          <p:nvPr/>
        </p:nvSpPr>
        <p:spPr>
          <a:xfrm>
            <a:off x="2057400" y="91694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a:solidFill>
                  <a:srgbClr val="263544"/>
                </a:solidFill>
                <a:latin typeface="微软雅黑" panose="020B0503020204020204" charset="-122"/>
                <a:ea typeface="微软雅黑" panose="020B0503020204020204" charset="-122"/>
                <a:cs typeface="微软雅黑" panose="020B0503020204020204" charset="-122"/>
              </a:rPr>
              <a:t>全流程重复执行</a:t>
            </a:r>
          </a:p>
        </p:txBody>
      </p:sp>
      <p:sp>
        <p:nvSpPr>
          <p:cNvPr id="23" name="knowledge-source-1-note"/>
          <p:cNvSpPr>
            <a:spLocks noGrp="1"/>
          </p:cNvSpPr>
          <p:nvPr/>
        </p:nvSpPr>
        <p:spPr>
          <a:xfrm>
            <a:off x="2057400" y="1145540"/>
            <a:ext cx="2286000" cy="161925"/>
          </a:xfrm>
          <a:prstGeom prst="rect">
            <a:avLst/>
          </a:prstGeom>
          <a:noFill/>
          <a:ln w="0">
            <a:noFill/>
            <a:prstDash val="solid"/>
          </a:ln>
        </p:spPr>
        <p:txBody>
          <a:bodyPr wrap="square" lIns="0" tIns="0" rIns="0" bIns="0" anchor="ctr">
            <a:noAutofit/>
          </a:bodyPr>
          <a:lstStyle/>
          <a:p>
            <a:pPr algn="ctr">
              <a:buNone/>
              <a:defRPr sz="865" b="0">
                <a:solidFill>
                  <a:srgbClr val="677684"/>
                </a:solidFill>
                <a:latin typeface="微软雅黑" panose="020B0503020204020204" charset="-122"/>
                <a:ea typeface="微软雅黑" panose="020B0503020204020204" charset="-122"/>
                <a:cs typeface="微软雅黑" panose="020B0503020204020204" charset="-122"/>
              </a:defRPr>
            </a:pPr>
            <a:r>
              <a:rPr sz="865" b="0">
                <a:solidFill>
                  <a:srgbClr val="677684"/>
                </a:solidFill>
                <a:latin typeface="微软雅黑" panose="020B0503020204020204" charset="-122"/>
                <a:ea typeface="微软雅黑" panose="020B0503020204020204" charset="-122"/>
                <a:cs typeface="微软雅黑" panose="020B0503020204020204" charset="-122"/>
              </a:rPr>
              <a:t>不同任务都从头开始</a:t>
            </a:r>
          </a:p>
        </p:txBody>
      </p:sp>
      <p:sp>
        <p:nvSpPr>
          <p:cNvPr id="24" name="knowledge-source-2"/>
          <p:cNvSpPr>
            <a:spLocks noGrp="1"/>
          </p:cNvSpPr>
          <p:nvPr/>
        </p:nvSpPr>
        <p:spPr>
          <a:xfrm>
            <a:off x="4702810" y="881380"/>
            <a:ext cx="2857500" cy="514350"/>
          </a:xfrm>
          <a:prstGeom prst="roundRect">
            <a:avLst>
              <a:gd name="adj" fmla="val 14815"/>
            </a:avLst>
          </a:prstGeom>
          <a:solidFill>
            <a:srgbClr val="FFFFFF"/>
          </a:solidFill>
          <a:ln w="9525">
            <a:solidFill>
              <a:srgbClr val="D7E0E6"/>
            </a:solidFill>
            <a:prstDash val="solid"/>
          </a:ln>
        </p:spPr>
      </p:sp>
      <p:sp>
        <p:nvSpPr>
          <p:cNvPr id="26" name="knowledge-source-2-title"/>
          <p:cNvSpPr>
            <a:spLocks noGrp="1"/>
          </p:cNvSpPr>
          <p:nvPr/>
        </p:nvSpPr>
        <p:spPr>
          <a:xfrm>
            <a:off x="4991100" y="91694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a:solidFill>
                  <a:srgbClr val="263544"/>
                </a:solidFill>
                <a:latin typeface="微软雅黑" panose="020B0503020204020204" charset="-122"/>
                <a:ea typeface="微软雅黑" panose="020B0503020204020204" charset="-122"/>
                <a:cs typeface="微软雅黑" panose="020B0503020204020204" charset="-122"/>
              </a:rPr>
              <a:t>优化策略过度遍历</a:t>
            </a:r>
          </a:p>
        </p:txBody>
      </p:sp>
      <p:sp>
        <p:nvSpPr>
          <p:cNvPr id="27" name="knowledge-source-2-note"/>
          <p:cNvSpPr>
            <a:spLocks noGrp="1"/>
          </p:cNvSpPr>
          <p:nvPr/>
        </p:nvSpPr>
        <p:spPr>
          <a:xfrm>
            <a:off x="4895850" y="1145540"/>
            <a:ext cx="2476500" cy="161925"/>
          </a:xfrm>
          <a:prstGeom prst="rect">
            <a:avLst/>
          </a:prstGeom>
          <a:noFill/>
          <a:ln w="0">
            <a:noFill/>
            <a:prstDash val="solid"/>
          </a:ln>
        </p:spPr>
        <p:txBody>
          <a:bodyPr wrap="square" lIns="0" tIns="0" rIns="0" bIns="0" anchor="ctr">
            <a:noAutofit/>
          </a:bodyPr>
          <a:lstStyle/>
          <a:p>
            <a:pPr algn="ctr">
              <a:buNone/>
              <a:defRPr sz="865" b="0">
                <a:solidFill>
                  <a:srgbClr val="677684"/>
                </a:solidFill>
                <a:latin typeface="微软雅黑" panose="020B0503020204020204" charset="-122"/>
                <a:ea typeface="微软雅黑" panose="020B0503020204020204" charset="-122"/>
                <a:cs typeface="微软雅黑" panose="020B0503020204020204" charset="-122"/>
              </a:defRPr>
            </a:pPr>
            <a:r>
              <a:rPr sz="865" b="0">
                <a:solidFill>
                  <a:srgbClr val="677684"/>
                </a:solidFill>
                <a:latin typeface="微软雅黑" panose="020B0503020204020204" charset="-122"/>
                <a:ea typeface="微软雅黑" panose="020B0503020204020204" charset="-122"/>
                <a:cs typeface="微软雅黑" panose="020B0503020204020204" charset="-122"/>
              </a:rPr>
              <a:t>缺少瓶颈判断，低收益尝试过多</a:t>
            </a:r>
          </a:p>
        </p:txBody>
      </p:sp>
      <p:sp>
        <p:nvSpPr>
          <p:cNvPr id="28" name="knowledge-source-3"/>
          <p:cNvSpPr>
            <a:spLocks noGrp="1"/>
          </p:cNvSpPr>
          <p:nvPr/>
        </p:nvSpPr>
        <p:spPr>
          <a:xfrm>
            <a:off x="7626985" y="881380"/>
            <a:ext cx="2857500" cy="514350"/>
          </a:xfrm>
          <a:prstGeom prst="roundRect">
            <a:avLst>
              <a:gd name="adj" fmla="val 14815"/>
            </a:avLst>
          </a:prstGeom>
          <a:solidFill>
            <a:srgbClr val="FFFFFF"/>
          </a:solidFill>
          <a:ln w="9525">
            <a:solidFill>
              <a:srgbClr val="D7E0E6"/>
            </a:solidFill>
            <a:prstDash val="solid"/>
          </a:ln>
        </p:spPr>
        <p:txBody>
          <a:bodyPr/>
          <a:lstStyle/>
          <a:p>
            <a:endParaRPr/>
          </a:p>
        </p:txBody>
      </p:sp>
      <p:sp>
        <p:nvSpPr>
          <p:cNvPr id="30" name="knowledge-source-3-title"/>
          <p:cNvSpPr>
            <a:spLocks noGrp="1"/>
          </p:cNvSpPr>
          <p:nvPr/>
        </p:nvSpPr>
        <p:spPr>
          <a:xfrm>
            <a:off x="7915275" y="91694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a:solidFill>
                  <a:srgbClr val="263544"/>
                </a:solidFill>
                <a:latin typeface="微软雅黑" panose="020B0503020204020204" charset="-122"/>
                <a:ea typeface="微软雅黑" panose="020B0503020204020204" charset="-122"/>
                <a:cs typeface="微软雅黑" panose="020B0503020204020204" charset="-122"/>
              </a:rPr>
              <a:t>大量工作交给 Agent</a:t>
            </a:r>
          </a:p>
        </p:txBody>
      </p:sp>
      <p:sp>
        <p:nvSpPr>
          <p:cNvPr id="31" name="knowledge-source-3-note"/>
          <p:cNvSpPr>
            <a:spLocks noGrp="1"/>
          </p:cNvSpPr>
          <p:nvPr/>
        </p:nvSpPr>
        <p:spPr>
          <a:xfrm>
            <a:off x="7772400" y="1145540"/>
            <a:ext cx="2571750" cy="161925"/>
          </a:xfrm>
          <a:prstGeom prst="rect">
            <a:avLst/>
          </a:prstGeom>
          <a:noFill/>
          <a:ln w="0">
            <a:noFill/>
            <a:prstDash val="solid"/>
          </a:ln>
        </p:spPr>
        <p:txBody>
          <a:bodyPr wrap="square" lIns="0" tIns="0" rIns="0" bIns="0" anchor="ctr">
            <a:noAutofit/>
          </a:bodyPr>
          <a:lstStyle/>
          <a:p>
            <a:pPr algn="ctr">
              <a:buNone/>
              <a:defRPr sz="865" b="0">
                <a:solidFill>
                  <a:srgbClr val="677684"/>
                </a:solidFill>
                <a:latin typeface="微软雅黑" panose="020B0503020204020204" charset="-122"/>
                <a:ea typeface="微软雅黑" panose="020B0503020204020204" charset="-122"/>
                <a:cs typeface="微软雅黑" panose="020B0503020204020204" charset="-122"/>
              </a:defRPr>
            </a:pPr>
            <a:r>
              <a:rPr sz="865" b="0">
                <a:solidFill>
                  <a:srgbClr val="677684"/>
                </a:solidFill>
                <a:latin typeface="微软雅黑" panose="020B0503020204020204" charset="-122"/>
                <a:ea typeface="微软雅黑" panose="020B0503020204020204" charset="-122"/>
                <a:cs typeface="微软雅黑" panose="020B0503020204020204" charset="-122"/>
              </a:rPr>
              <a:t>Log / Benchmark / </a:t>
            </a:r>
            <a:r>
              <a:rPr lang="zh-CN" sz="865" b="0">
                <a:solidFill>
                  <a:srgbClr val="677684"/>
                </a:solidFill>
                <a:latin typeface="微软雅黑" panose="020B0503020204020204" charset="-122"/>
                <a:ea typeface="微软雅黑" panose="020B0503020204020204" charset="-122"/>
                <a:cs typeface="微软雅黑" panose="020B0503020204020204" charset="-122"/>
              </a:rPr>
              <a:t>反复</a:t>
            </a:r>
            <a:r>
              <a:rPr sz="865" b="0">
                <a:solidFill>
                  <a:srgbClr val="677684"/>
                </a:solidFill>
                <a:latin typeface="微软雅黑" panose="020B0503020204020204" charset="-122"/>
                <a:ea typeface="微软雅黑" panose="020B0503020204020204" charset="-122"/>
                <a:cs typeface="微软雅黑" panose="020B0503020204020204" charset="-122"/>
              </a:rPr>
              <a:t>Profile</a:t>
            </a:r>
          </a:p>
        </p:txBody>
      </p:sp>
      <p:sp>
        <p:nvSpPr>
          <p:cNvPr id="32" name="platform-knowledge-node"/>
          <p:cNvSpPr>
            <a:spLocks noGrp="1"/>
          </p:cNvSpPr>
          <p:nvPr/>
        </p:nvSpPr>
        <p:spPr>
          <a:xfrm>
            <a:off x="4762500" y="1457325"/>
            <a:ext cx="2667000" cy="295275"/>
          </a:xfrm>
          <a:prstGeom prst="roundRect">
            <a:avLst>
              <a:gd name="adj" fmla="val 24000"/>
            </a:avLst>
          </a:prstGeom>
          <a:solidFill>
            <a:srgbClr val="173F61"/>
          </a:solidFill>
          <a:ln w="0">
            <a:solidFill>
              <a:srgbClr val="173F61"/>
            </a:solidFill>
            <a:prstDash val="solid"/>
          </a:ln>
        </p:spPr>
        <p:txBody>
          <a:bodyPr wrap="square" lIns="0" tIns="0" rIns="0" bIns="0" anchor="ctr">
            <a:noAutofit/>
          </a:bodyPr>
          <a:lstStyle/>
          <a:p>
            <a:pPr algn="ctr">
              <a:buNone/>
              <a:defRPr sz="1125" b="1">
                <a:solidFill>
                  <a:srgbClr val="FFFFFF"/>
                </a:solidFill>
                <a:latin typeface="微软雅黑" panose="020B0503020204020204" charset="-122"/>
                <a:ea typeface="微软雅黑" panose="020B0503020204020204" charset="-122"/>
                <a:cs typeface="微软雅黑" panose="020B0503020204020204" charset="-122"/>
              </a:defRPr>
            </a:pPr>
            <a:r>
              <a:rPr sz="1125" b="1">
                <a:solidFill>
                  <a:srgbClr val="FFFFFF"/>
                </a:solidFill>
                <a:latin typeface="微软雅黑" panose="020B0503020204020204" charset="-122"/>
                <a:ea typeface="微软雅黑" panose="020B0503020204020204" charset="-122"/>
                <a:cs typeface="微软雅黑" panose="020B0503020204020204" charset="-122"/>
              </a:rPr>
              <a:t>开发时间 ↑   +   Token 消耗 ↑</a:t>
            </a:r>
            <a:endParaRPr sz="1400" b="1">
              <a:solidFill>
                <a:srgbClr val="FFFFFF"/>
              </a:solidFill>
              <a:latin typeface="Arial" panose="020B0604020202020204"/>
              <a:ea typeface="Arial" panose="020B0604020202020204"/>
              <a:cs typeface="Arial" panose="020B0604020202020204"/>
            </a:endParaRPr>
          </a:p>
        </p:txBody>
      </p:sp>
      <p:sp>
        <p:nvSpPr>
          <p:cNvPr id="38" name="phase-a-accent"/>
          <p:cNvSpPr>
            <a:spLocks noGrp="1"/>
          </p:cNvSpPr>
          <p:nvPr/>
        </p:nvSpPr>
        <p:spPr>
          <a:xfrm>
            <a:off x="1295400" y="1844675"/>
            <a:ext cx="57150" cy="1000125"/>
          </a:xfrm>
          <a:prstGeom prst="roundRect">
            <a:avLst>
              <a:gd name="adj" fmla="val 50000"/>
            </a:avLst>
          </a:prstGeom>
          <a:solidFill>
            <a:srgbClr val="5C7F99"/>
          </a:solidFill>
          <a:ln w="0">
            <a:solidFill>
              <a:srgbClr val="5C7F99"/>
            </a:solidFill>
            <a:prstDash val="solid"/>
          </a:ln>
        </p:spPr>
      </p:sp>
      <p:sp>
        <p:nvSpPr>
          <p:cNvPr id="39" name="phase-a-letter"/>
          <p:cNvSpPr>
            <a:spLocks noGrp="1"/>
          </p:cNvSpPr>
          <p:nvPr/>
        </p:nvSpPr>
        <p:spPr>
          <a:xfrm>
            <a:off x="1504950" y="1981200"/>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a:solidFill>
                  <a:srgbClr val="5C7F99"/>
                </a:solidFill>
                <a:latin typeface="微软雅黑" panose="020B0503020204020204" charset="-122"/>
                <a:ea typeface="微软雅黑" panose="020B0503020204020204" charset="-122"/>
                <a:cs typeface="微软雅黑" panose="020B0503020204020204" charset="-122"/>
              </a:rPr>
              <a:t>01</a:t>
            </a:r>
          </a:p>
        </p:txBody>
      </p:sp>
      <p:sp>
        <p:nvSpPr>
          <p:cNvPr id="41" name="phase-a-chinese"/>
          <p:cNvSpPr>
            <a:spLocks noGrp="1"/>
          </p:cNvSpPr>
          <p:nvPr/>
        </p:nvSpPr>
        <p:spPr>
          <a:xfrm>
            <a:off x="1866900" y="1952625"/>
            <a:ext cx="1428750" cy="26670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微软雅黑" panose="020B0503020204020204" charset="-122"/>
                <a:ea typeface="微软雅黑" panose="020B0503020204020204" charset="-122"/>
                <a:cs typeface="微软雅黑" panose="020B0503020204020204" charset="-122"/>
              </a:defRPr>
            </a:pPr>
            <a:r>
              <a:rPr sz="1275" b="1" dirty="0" err="1">
                <a:solidFill>
                  <a:srgbClr val="173F61"/>
                </a:solidFill>
                <a:latin typeface="微软雅黑" panose="020B0503020204020204" charset="-122"/>
                <a:ea typeface="微软雅黑" panose="020B0503020204020204" charset="-122"/>
                <a:cs typeface="微软雅黑" panose="020B0503020204020204" charset="-122"/>
              </a:rPr>
              <a:t>任务路由</a:t>
            </a:r>
            <a:endParaRPr sz="1275" b="1" dirty="0">
              <a:solidFill>
                <a:srgbClr val="173F61"/>
              </a:solidFill>
              <a:latin typeface="微软雅黑" panose="020B0503020204020204" charset="-122"/>
              <a:ea typeface="微软雅黑" panose="020B0503020204020204" charset="-122"/>
              <a:cs typeface="微软雅黑" panose="020B0503020204020204" charset="-122"/>
            </a:endParaRPr>
          </a:p>
        </p:txBody>
      </p:sp>
      <p:sp>
        <p:nvSpPr>
          <p:cNvPr id="42" name="phase-a-sidebar-divider"/>
          <p:cNvSpPr>
            <a:spLocks noGrp="1"/>
          </p:cNvSpPr>
          <p:nvPr/>
        </p:nvSpPr>
        <p:spPr>
          <a:xfrm>
            <a:off x="4333875" y="1943100"/>
            <a:ext cx="9525" cy="790575"/>
          </a:xfrm>
          <a:prstGeom prst="rect">
            <a:avLst/>
          </a:prstGeom>
          <a:solidFill>
            <a:srgbClr val="D1DCE3"/>
          </a:solidFill>
          <a:ln w="0">
            <a:solidFill>
              <a:srgbClr val="D1DCE3"/>
            </a:solidFill>
            <a:prstDash val="solid"/>
          </a:ln>
        </p:spPr>
      </p:sp>
      <p:sp>
        <p:nvSpPr>
          <p:cNvPr id="64" name="phase-b-accent"/>
          <p:cNvSpPr>
            <a:spLocks noGrp="1"/>
          </p:cNvSpPr>
          <p:nvPr/>
        </p:nvSpPr>
        <p:spPr>
          <a:xfrm>
            <a:off x="1295400" y="2892425"/>
            <a:ext cx="57150" cy="971550"/>
          </a:xfrm>
          <a:prstGeom prst="roundRect">
            <a:avLst>
              <a:gd name="adj" fmla="val 50000"/>
            </a:avLst>
          </a:prstGeom>
          <a:solidFill>
            <a:srgbClr val="5C7F99"/>
          </a:solidFill>
          <a:ln w="0">
            <a:solidFill>
              <a:srgbClr val="5C7F99"/>
            </a:solidFill>
            <a:prstDash val="solid"/>
          </a:ln>
        </p:spPr>
      </p:sp>
      <p:sp>
        <p:nvSpPr>
          <p:cNvPr id="70" name="step-03-number"/>
          <p:cNvSpPr>
            <a:spLocks noGrp="1"/>
          </p:cNvSpPr>
          <p:nvPr/>
        </p:nvSpPr>
        <p:spPr>
          <a:xfrm>
            <a:off x="1524000" y="3021964"/>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dirty="0" smtClean="0">
                <a:solidFill>
                  <a:srgbClr val="5C7F99"/>
                </a:solidFill>
                <a:latin typeface="微软雅黑" panose="020B0503020204020204" charset="-122"/>
                <a:ea typeface="微软雅黑" panose="020B0503020204020204" charset="-122"/>
                <a:cs typeface="微软雅黑" panose="020B0503020204020204" charset="-122"/>
              </a:rPr>
              <a:t>0</a:t>
            </a:r>
            <a:r>
              <a:rPr lang="en-US" sz="1125" b="1" dirty="0" smtClean="0">
                <a:solidFill>
                  <a:srgbClr val="5C7F99"/>
                </a:solidFill>
                <a:latin typeface="微软雅黑" panose="020B0503020204020204" charset="-122"/>
                <a:ea typeface="微软雅黑" panose="020B0503020204020204" charset="-122"/>
                <a:cs typeface="微软雅黑" panose="020B0503020204020204" charset="-122"/>
              </a:rPr>
              <a:t>2</a:t>
            </a:r>
            <a:endParaRPr sz="1125"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71" name="step-03-title"/>
          <p:cNvSpPr>
            <a:spLocks noGrp="1"/>
          </p:cNvSpPr>
          <p:nvPr/>
        </p:nvSpPr>
        <p:spPr>
          <a:xfrm>
            <a:off x="1876425" y="2991166"/>
            <a:ext cx="1809750" cy="247650"/>
          </a:xfrm>
          <a:prstGeom prst="rect">
            <a:avLst/>
          </a:prstGeom>
          <a:noFill/>
          <a:ln w="0">
            <a:noFill/>
            <a:prstDash val="solid"/>
          </a:ln>
        </p:spPr>
        <p:txBody>
          <a:bodyPr wrap="square" lIns="0" tIns="0" rIns="0" bIns="0" anchor="ctr">
            <a:noAutofit/>
          </a:bodyPr>
          <a:lstStyle/>
          <a:p>
            <a:pPr algn="l">
              <a:buNone/>
              <a:defRPr sz="1275"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75" b="1" dirty="0">
                <a:solidFill>
                  <a:srgbClr val="173F61"/>
                </a:solidFill>
                <a:latin typeface="微软雅黑" panose="020B0503020204020204" charset="-122"/>
                <a:ea typeface="微软雅黑" panose="020B0503020204020204" charset="-122"/>
                <a:cs typeface="微软雅黑" panose="020B0503020204020204" charset="-122"/>
              </a:rPr>
              <a:t>优化策略分析</a:t>
            </a:r>
            <a:endParaRPr sz="1275" b="1" dirty="0">
              <a:solidFill>
                <a:srgbClr val="173F61"/>
              </a:solidFill>
              <a:latin typeface="微软雅黑" panose="020B0503020204020204" charset="-122"/>
              <a:ea typeface="微软雅黑" panose="020B0503020204020204" charset="-122"/>
              <a:cs typeface="微软雅黑" panose="020B0503020204020204" charset="-122"/>
            </a:endParaRPr>
          </a:p>
        </p:txBody>
      </p:sp>
      <p:sp>
        <p:nvSpPr>
          <p:cNvPr id="93" name="phase-c-accent"/>
          <p:cNvSpPr>
            <a:spLocks noGrp="1"/>
          </p:cNvSpPr>
          <p:nvPr/>
        </p:nvSpPr>
        <p:spPr>
          <a:xfrm>
            <a:off x="1295400" y="3911600"/>
            <a:ext cx="57150" cy="1000125"/>
          </a:xfrm>
          <a:prstGeom prst="roundRect">
            <a:avLst>
              <a:gd name="adj" fmla="val 50000"/>
            </a:avLst>
          </a:prstGeom>
          <a:solidFill>
            <a:srgbClr val="5C7F99"/>
          </a:solidFill>
          <a:ln w="0">
            <a:solidFill>
              <a:srgbClr val="5C7F99"/>
            </a:solidFill>
            <a:prstDash val="solid"/>
          </a:ln>
        </p:spPr>
      </p:sp>
      <p:sp>
        <p:nvSpPr>
          <p:cNvPr id="133" name="step-08-number"/>
          <p:cNvSpPr>
            <a:spLocks noGrp="1"/>
          </p:cNvSpPr>
          <p:nvPr/>
        </p:nvSpPr>
        <p:spPr>
          <a:xfrm>
            <a:off x="0" y="0"/>
            <a:ext cx="9525" cy="9525"/>
          </a:xfrm>
          <a:prstGeom prst="roundRect">
            <a:avLst>
              <a:gd name="adj" fmla="val 20690"/>
            </a:avLst>
          </a:prstGeom>
          <a:noFill/>
          <a:ln w="9525">
            <a:noFill/>
            <a:prstDash val="solid"/>
          </a:ln>
        </p:spPr>
        <p:txBody>
          <a:bodyPr wrap="square" lIns="0" tIns="0" rIns="0" bIns="0" anchor="ctr">
            <a:noAutofit/>
          </a:bodyPr>
          <a:lstStyle/>
          <a:p>
            <a:pPr algn="ctr">
              <a:buNone/>
              <a:defRPr sz="1200" b="1">
                <a:solidFill>
                  <a:srgbClr val="FFFFFF"/>
                </a:solidFill>
                <a:latin typeface="Calibri" panose="020F0502020204030204"/>
                <a:ea typeface="Calibri" panose="020F0502020204030204"/>
                <a:cs typeface="Calibri" panose="020F0502020204030204"/>
              </a:defRPr>
            </a:pPr>
            <a:endParaRPr/>
          </a:p>
        </p:txBody>
      </p:sp>
      <p:sp>
        <p:nvSpPr>
          <p:cNvPr id="134" name="step-08-title"/>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1125" b="1">
                <a:solidFill>
                  <a:srgbClr val="14855C"/>
                </a:solidFill>
                <a:latin typeface="微软雅黑" panose="020B0503020204020204" charset="-122"/>
                <a:ea typeface="微软雅黑" panose="020B0503020204020204" charset="-122"/>
                <a:cs typeface="微软雅黑" panose="020B0503020204020204" charset="-122"/>
              </a:defRPr>
            </a:pPr>
            <a:endParaRPr/>
          </a:p>
        </p:txBody>
      </p:sp>
      <p:sp>
        <p:nvSpPr>
          <p:cNvPr id="135" name="step-08-subtitle"/>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825" b="1">
                <a:solidFill>
                  <a:srgbClr val="27364A"/>
                </a:solidFill>
                <a:latin typeface="微软雅黑" panose="020B0503020204020204" charset="-122"/>
                <a:ea typeface="微软雅黑" panose="020B0503020204020204" charset="-122"/>
                <a:cs typeface="微软雅黑" panose="020B0503020204020204" charset="-122"/>
              </a:defRPr>
            </a:pPr>
            <a:endParaRPr/>
          </a:p>
        </p:txBody>
      </p:sp>
      <p:sp>
        <p:nvSpPr>
          <p:cNvPr id="3" name="slide-7-page-number"/>
          <p:cNvSpPr>
            <a:spLocks noGrp="1"/>
          </p:cNvSpPr>
          <p:nvPr/>
        </p:nvSpPr>
        <p:spPr>
          <a:xfrm>
            <a:off x="11366183" y="317183"/>
            <a:ext cx="330518" cy="279083"/>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Arial" panose="020B0604020202020204"/>
                <a:ea typeface="Arial" panose="020B0604020202020204"/>
                <a:cs typeface="Arial" panose="020B0604020202020204"/>
              </a:rPr>
              <a:t>10</a:t>
            </a:r>
          </a:p>
        </p:txBody>
      </p:sp>
      <p:sp>
        <p:nvSpPr>
          <p:cNvPr id="103" name="slide-1-title"/>
          <p:cNvSpPr>
            <a:spLocks noGrp="1"/>
          </p:cNvSpPr>
          <p:nvPr/>
        </p:nvSpPr>
        <p:spPr>
          <a:xfrm>
            <a:off x="342900" y="223838"/>
            <a:ext cx="638175"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微软雅黑" panose="020B0503020204020204" charset="-122"/>
                <a:ea typeface="微软雅黑" panose="020B0503020204020204" charset="-122"/>
                <a:cs typeface="微软雅黑" panose="020B0503020204020204" charset="-122"/>
              </a:rPr>
              <a:t>1</a:t>
            </a:r>
            <a:r>
              <a:rPr sz="3000" b="1" dirty="0" smtClean="0">
                <a:solidFill>
                  <a:srgbClr val="243B53"/>
                </a:solidFill>
                <a:latin typeface="微软雅黑" panose="020B0503020204020204" charset="-122"/>
                <a:ea typeface="微软雅黑" panose="020B0503020204020204" charset="-122"/>
                <a:cs typeface="微软雅黑" panose="020B0503020204020204" charset="-122"/>
              </a:rPr>
              <a:t>.</a:t>
            </a:r>
            <a:r>
              <a:rPr lang="en-US" sz="3000" b="1" dirty="0" smtClean="0">
                <a:solidFill>
                  <a:srgbClr val="243B53"/>
                </a:solidFill>
                <a:latin typeface="微软雅黑" panose="020B0503020204020204" charset="-122"/>
                <a:ea typeface="微软雅黑" panose="020B0503020204020204" charset="-122"/>
                <a:cs typeface="微软雅黑" panose="020B0503020204020204" charset="-122"/>
              </a:rPr>
              <a:t>7</a:t>
            </a:r>
            <a:endParaRPr sz="3000" b="1" dirty="0">
              <a:solidFill>
                <a:srgbClr val="243B53"/>
              </a:solidFill>
              <a:latin typeface="Arial" panose="020B0604020202020204"/>
              <a:ea typeface="Arial" panose="020B0604020202020204"/>
              <a:cs typeface="Arial" panose="020B0604020202020204"/>
            </a:endParaRPr>
          </a:p>
        </p:txBody>
      </p:sp>
      <p:sp>
        <p:nvSpPr>
          <p:cNvPr id="104" name="s15-title-rule"/>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90" name="phase-b-chinese"/>
          <p:cNvSpPr>
            <a:spLocks noGrp="1"/>
          </p:cNvSpPr>
          <p:nvPr/>
        </p:nvSpPr>
        <p:spPr>
          <a:xfrm>
            <a:off x="1685925" y="2248215"/>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C7F99"/>
                </a:solidFill>
                <a:latin typeface="微软雅黑" panose="020B0503020204020204" charset="-122"/>
                <a:ea typeface="微软雅黑" panose="020B0503020204020204" charset="-122"/>
                <a:cs typeface="微软雅黑" panose="020B0503020204020204" charset="-122"/>
              </a:rPr>
              <a:t>根据不同的输入，直接进入对于的阶段。</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91" name="step-05-title"/>
          <p:cNvSpPr>
            <a:spLocks noGrp="1"/>
          </p:cNvSpPr>
          <p:nvPr/>
        </p:nvSpPr>
        <p:spPr>
          <a:xfrm>
            <a:off x="4598033" y="2265362"/>
            <a:ext cx="419100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263544"/>
                </a:solidFill>
                <a:latin typeface="微软雅黑" panose="020B0503020204020204" charset="-122"/>
                <a:ea typeface="微软雅黑" panose="020B0503020204020204" charset="-122"/>
                <a:cs typeface="微软雅黑" panose="020B0503020204020204" charset="-122"/>
              </a:rPr>
              <a:t>根据用户输入，从正确的阶段进入，不是每次从头开始</a:t>
            </a:r>
            <a:endParaRPr sz="1200"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10" name="phase-b-chinese"/>
          <p:cNvSpPr>
            <a:spLocks noGrp="1"/>
          </p:cNvSpPr>
          <p:nvPr/>
        </p:nvSpPr>
        <p:spPr>
          <a:xfrm>
            <a:off x="1752600" y="3257866"/>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C7F99"/>
                </a:solidFill>
                <a:latin typeface="微软雅黑" panose="020B0503020204020204" charset="-122"/>
                <a:ea typeface="微软雅黑" panose="020B0503020204020204" charset="-122"/>
                <a:cs typeface="微软雅黑" panose="020B0503020204020204" charset="-122"/>
              </a:rPr>
              <a:t>不便利所有优化，根据输入的类型，选择效率高的优化。</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11" name="step-04-number"/>
          <p:cNvSpPr>
            <a:spLocks noGrp="1"/>
          </p:cNvSpPr>
          <p:nvPr/>
        </p:nvSpPr>
        <p:spPr>
          <a:xfrm>
            <a:off x="1562100" y="4027487"/>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dirty="0" smtClean="0">
                <a:solidFill>
                  <a:srgbClr val="5C7F99"/>
                </a:solidFill>
                <a:latin typeface="微软雅黑" panose="020B0503020204020204" charset="-122"/>
                <a:ea typeface="微软雅黑" panose="020B0503020204020204" charset="-122"/>
                <a:cs typeface="微软雅黑" panose="020B0503020204020204" charset="-122"/>
              </a:rPr>
              <a:t>0</a:t>
            </a:r>
            <a:r>
              <a:rPr lang="en-US" sz="1125" b="1" dirty="0" smtClean="0">
                <a:solidFill>
                  <a:srgbClr val="5C7F99"/>
                </a:solidFill>
                <a:latin typeface="微软雅黑" panose="020B0503020204020204" charset="-122"/>
                <a:ea typeface="微软雅黑" panose="020B0503020204020204" charset="-122"/>
                <a:cs typeface="微软雅黑" panose="020B0503020204020204" charset="-122"/>
              </a:rPr>
              <a:t>3</a:t>
            </a:r>
            <a:endParaRPr sz="1125"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12" name="step-04-title"/>
          <p:cNvSpPr>
            <a:spLocks noGrp="1"/>
          </p:cNvSpPr>
          <p:nvPr/>
        </p:nvSpPr>
        <p:spPr>
          <a:xfrm>
            <a:off x="1876425" y="3998912"/>
            <a:ext cx="2571750" cy="2476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微软雅黑" panose="020B0503020204020204" charset="-122"/>
                <a:ea typeface="微软雅黑" panose="020B0503020204020204" charset="-122"/>
                <a:cs typeface="微软雅黑" panose="020B0503020204020204" charset="-122"/>
              </a:defRPr>
            </a:pPr>
            <a:r>
              <a:rPr sz="1275" b="1" dirty="0" err="1" smtClean="0">
                <a:solidFill>
                  <a:srgbClr val="173F61"/>
                </a:solidFill>
                <a:latin typeface="微软雅黑" panose="020B0503020204020204" charset="-122"/>
                <a:ea typeface="微软雅黑" panose="020B0503020204020204" charset="-122"/>
                <a:cs typeface="微软雅黑" panose="020B0503020204020204" charset="-122"/>
              </a:rPr>
              <a:t>优化</a:t>
            </a:r>
            <a:r>
              <a:rPr lang="zh-CN" altLang="en-US" sz="1275" b="1" dirty="0" smtClean="0">
                <a:solidFill>
                  <a:srgbClr val="173F61"/>
                </a:solidFill>
                <a:latin typeface="微软雅黑" panose="020B0503020204020204" charset="-122"/>
                <a:ea typeface="微软雅黑" panose="020B0503020204020204" charset="-122"/>
                <a:cs typeface="微软雅黑" panose="020B0503020204020204" charset="-122"/>
              </a:rPr>
              <a:t>目标</a:t>
            </a:r>
            <a:r>
              <a:rPr sz="1275" b="1" dirty="0" err="1" smtClean="0">
                <a:solidFill>
                  <a:srgbClr val="173F61"/>
                </a:solidFill>
                <a:latin typeface="微软雅黑" panose="020B0503020204020204" charset="-122"/>
                <a:ea typeface="微软雅黑" panose="020B0503020204020204" charset="-122"/>
                <a:cs typeface="微软雅黑" panose="020B0503020204020204" charset="-122"/>
              </a:rPr>
              <a:t>与停止门禁</a:t>
            </a:r>
            <a:endParaRPr sz="1275" b="1" dirty="0">
              <a:solidFill>
                <a:srgbClr val="173F61"/>
              </a:solidFill>
              <a:latin typeface="微软雅黑" panose="020B0503020204020204" charset="-122"/>
              <a:ea typeface="微软雅黑" panose="020B0503020204020204" charset="-122"/>
              <a:cs typeface="微软雅黑" panose="020B0503020204020204" charset="-122"/>
            </a:endParaRPr>
          </a:p>
        </p:txBody>
      </p:sp>
      <p:sp>
        <p:nvSpPr>
          <p:cNvPr id="113" name="phase-b-chinese"/>
          <p:cNvSpPr>
            <a:spLocks noGrp="1"/>
          </p:cNvSpPr>
          <p:nvPr/>
        </p:nvSpPr>
        <p:spPr>
          <a:xfrm>
            <a:off x="1724025" y="4306252"/>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C7F99"/>
                </a:solidFill>
                <a:latin typeface="微软雅黑" panose="020B0503020204020204" charset="-122"/>
                <a:ea typeface="微软雅黑" panose="020B0503020204020204" charset="-122"/>
                <a:cs typeface="微软雅黑" panose="020B0503020204020204" charset="-122"/>
              </a:rPr>
              <a:t>优化结果满足条件或者多轮优化都不满足条件，停止优化迭代</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nvSpPr>
        <p:spPr>
          <a:xfrm>
            <a:off x="4478067" y="3246053"/>
            <a:ext cx="5617115" cy="276999"/>
          </a:xfrm>
          <a:prstGeom prst="rect">
            <a:avLst/>
          </a:prstGeom>
        </p:spPr>
        <p:txBody>
          <a:bodyPr wrap="none">
            <a:spAutoFit/>
          </a:bodyPr>
          <a:lstStyle/>
          <a:p>
            <a:pPr>
              <a:defRPr sz="1200" b="1">
                <a:solidFill>
                  <a:srgbClr val="263544"/>
                </a:solidFill>
                <a:latin typeface="微软雅黑" panose="020B0503020204020204" charset="-122"/>
                <a:ea typeface="微软雅黑" panose="020B0503020204020204" charset="-122"/>
                <a:cs typeface="微软雅黑" panose="020B0503020204020204" charset="-122"/>
              </a:defRPr>
            </a:pPr>
            <a:r>
              <a:rPr lang="zh-CN" altLang="en-US" b="1" dirty="0" smtClean="0">
                <a:solidFill>
                  <a:srgbClr val="263544"/>
                </a:solidFill>
                <a:latin typeface="微软雅黑" panose="020B0503020204020204" charset="-122"/>
                <a:ea typeface="微软雅黑" panose="020B0503020204020204" charset="-122"/>
                <a:cs typeface="微软雅黑" panose="020B0503020204020204" charset="-122"/>
              </a:rPr>
              <a:t>先进性基础优化，根据</a:t>
            </a:r>
            <a:r>
              <a:rPr lang="en-US" altLang="zh-CN" b="1" dirty="0" smtClean="0">
                <a:solidFill>
                  <a:srgbClr val="263544"/>
                </a:solidFill>
                <a:latin typeface="微软雅黑" panose="020B0503020204020204" charset="-122"/>
                <a:ea typeface="微软雅黑" panose="020B0503020204020204" charset="-122"/>
                <a:cs typeface="微软雅黑" panose="020B0503020204020204" charset="-122"/>
              </a:rPr>
              <a:t>profile</a:t>
            </a:r>
            <a:r>
              <a:rPr lang="zh-CN" altLang="en-US" b="1" dirty="0" smtClean="0">
                <a:solidFill>
                  <a:srgbClr val="263544"/>
                </a:solidFill>
                <a:latin typeface="微软雅黑" panose="020B0503020204020204" charset="-122"/>
                <a:ea typeface="微软雅黑" panose="020B0503020204020204" charset="-122"/>
                <a:cs typeface="微软雅黑" panose="020B0503020204020204" charset="-122"/>
              </a:rPr>
              <a:t>选择性的进行深度优化，只排除明显不合适的优化</a:t>
            </a:r>
            <a:endParaRPr lang="zh-CN" altLang="en-US"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14" name="矩形 113"/>
          <p:cNvSpPr/>
          <p:nvPr/>
        </p:nvSpPr>
        <p:spPr>
          <a:xfrm>
            <a:off x="4555490" y="4332675"/>
            <a:ext cx="4320478" cy="276999"/>
          </a:xfrm>
          <a:prstGeom prst="rect">
            <a:avLst/>
          </a:prstGeom>
        </p:spPr>
        <p:txBody>
          <a:bodyPr wrap="none">
            <a:spAutoFit/>
          </a:bodyPr>
          <a:lstStyle/>
          <a:p>
            <a:pPr>
              <a:defRPr sz="1200" b="1">
                <a:solidFill>
                  <a:srgbClr val="263544"/>
                </a:solidFill>
                <a:latin typeface="微软雅黑" panose="020B0503020204020204" charset="-122"/>
                <a:ea typeface="微软雅黑" panose="020B0503020204020204" charset="-122"/>
                <a:cs typeface="微软雅黑" panose="020B0503020204020204" charset="-122"/>
              </a:defRPr>
            </a:pPr>
            <a:r>
              <a:rPr lang="zh-CN" altLang="en-US" b="1" dirty="0" smtClean="0">
                <a:solidFill>
                  <a:srgbClr val="263544"/>
                </a:solidFill>
                <a:latin typeface="微软雅黑" panose="020B0503020204020204" charset="-122"/>
                <a:ea typeface="微软雅黑" panose="020B0503020204020204" charset="-122"/>
                <a:cs typeface="微软雅黑" panose="020B0503020204020204" charset="-122"/>
              </a:rPr>
              <a:t>仿真大模型无限制的追求高优化，造成开发时间和</a:t>
            </a:r>
            <a:r>
              <a:rPr lang="en-US" altLang="zh-CN" b="1" dirty="0" smtClean="0">
                <a:solidFill>
                  <a:srgbClr val="263544"/>
                </a:solidFill>
                <a:latin typeface="微软雅黑" panose="020B0503020204020204" charset="-122"/>
                <a:ea typeface="微软雅黑" panose="020B0503020204020204" charset="-122"/>
                <a:cs typeface="微软雅黑" panose="020B0503020204020204" charset="-122"/>
              </a:rPr>
              <a:t>token</a:t>
            </a:r>
            <a:r>
              <a:rPr lang="zh-CN" altLang="en-US" b="1" dirty="0">
                <a:solidFill>
                  <a:srgbClr val="263544"/>
                </a:solidFill>
                <a:latin typeface="微软雅黑" panose="020B0503020204020204" charset="-122"/>
                <a:ea typeface="微软雅黑" panose="020B0503020204020204" charset="-122"/>
                <a:cs typeface="微软雅黑" panose="020B0503020204020204" charset="-122"/>
              </a:rPr>
              <a:t>浪费</a:t>
            </a:r>
          </a:p>
        </p:txBody>
      </p:sp>
      <p:sp>
        <p:nvSpPr>
          <p:cNvPr id="115" name="phase-c-surface"/>
          <p:cNvSpPr>
            <a:spLocks noGrp="1"/>
          </p:cNvSpPr>
          <p:nvPr/>
        </p:nvSpPr>
        <p:spPr>
          <a:xfrm>
            <a:off x="1295400" y="5013960"/>
            <a:ext cx="9658350" cy="1000125"/>
          </a:xfrm>
          <a:prstGeom prst="rect">
            <a:avLst/>
          </a:prstGeom>
          <a:solidFill>
            <a:srgbClr val="F1F5F7"/>
          </a:solidFill>
          <a:ln w="9525">
            <a:solidFill>
              <a:srgbClr val="D7E0E6"/>
            </a:solidFill>
            <a:prstDash val="solid"/>
          </a:ln>
        </p:spPr>
      </p:sp>
      <p:sp>
        <p:nvSpPr>
          <p:cNvPr id="116" name="phase-c-accent"/>
          <p:cNvSpPr>
            <a:spLocks noGrp="1"/>
          </p:cNvSpPr>
          <p:nvPr/>
        </p:nvSpPr>
        <p:spPr>
          <a:xfrm>
            <a:off x="1295400" y="5013960"/>
            <a:ext cx="57150" cy="1000125"/>
          </a:xfrm>
          <a:prstGeom prst="roundRect">
            <a:avLst>
              <a:gd name="adj" fmla="val 50000"/>
            </a:avLst>
          </a:prstGeom>
          <a:solidFill>
            <a:srgbClr val="5C7F99"/>
          </a:solidFill>
          <a:ln w="0">
            <a:solidFill>
              <a:srgbClr val="5C7F99"/>
            </a:solidFill>
            <a:prstDash val="solid"/>
          </a:ln>
        </p:spPr>
      </p:sp>
      <p:sp>
        <p:nvSpPr>
          <p:cNvPr id="117" name="phase-c-letter"/>
          <p:cNvSpPr>
            <a:spLocks noGrp="1"/>
          </p:cNvSpPr>
          <p:nvPr/>
        </p:nvSpPr>
        <p:spPr>
          <a:xfrm>
            <a:off x="1504950" y="5131435"/>
            <a:ext cx="295275"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263544"/>
                </a:solidFill>
                <a:latin typeface="微软雅黑" panose="020B0503020204020204" charset="-122"/>
                <a:ea typeface="微软雅黑" panose="020B0503020204020204" charset="-122"/>
                <a:cs typeface="微软雅黑" panose="020B0503020204020204" charset="-122"/>
              </a:defRPr>
            </a:pPr>
            <a:endParaRPr sz="112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21" name="phase-c-chinese"/>
          <p:cNvSpPr>
            <a:spLocks noGrp="1"/>
          </p:cNvSpPr>
          <p:nvPr/>
        </p:nvSpPr>
        <p:spPr>
          <a:xfrm>
            <a:off x="1571625" y="5388610"/>
            <a:ext cx="1238250" cy="2857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微软雅黑" panose="020B0503020204020204" charset="-122"/>
                <a:ea typeface="微软雅黑" panose="020B0503020204020204" charset="-122"/>
                <a:cs typeface="微软雅黑" panose="020B0503020204020204" charset="-122"/>
              </a:defRPr>
            </a:pPr>
            <a:r>
              <a:rPr sz="1275" b="1" dirty="0" err="1" smtClean="0">
                <a:solidFill>
                  <a:srgbClr val="173F61"/>
                </a:solidFill>
                <a:latin typeface="微软雅黑" panose="020B0503020204020204" charset="-122"/>
                <a:ea typeface="微软雅黑" panose="020B0503020204020204" charset="-122"/>
                <a:cs typeface="微软雅黑" panose="020B0503020204020204" charset="-122"/>
              </a:rPr>
              <a:t>机制</a:t>
            </a:r>
            <a:r>
              <a:rPr lang="zh-CN" altLang="en-US" sz="1275" b="1" dirty="0" smtClean="0">
                <a:solidFill>
                  <a:srgbClr val="173F61"/>
                </a:solidFill>
                <a:latin typeface="微软雅黑" panose="020B0503020204020204" charset="-122"/>
                <a:ea typeface="微软雅黑" panose="020B0503020204020204" charset="-122"/>
                <a:cs typeface="微软雅黑" panose="020B0503020204020204" charset="-122"/>
              </a:rPr>
              <a:t>优化</a:t>
            </a:r>
            <a:endParaRPr sz="1275" b="1" dirty="0">
              <a:solidFill>
                <a:srgbClr val="294A6D"/>
              </a:solidFill>
              <a:latin typeface="Arial" panose="020B0604020202020204"/>
              <a:ea typeface="Arial" panose="020B0604020202020204"/>
              <a:cs typeface="Arial" panose="020B0604020202020204"/>
            </a:endParaRPr>
          </a:p>
        </p:txBody>
      </p:sp>
      <p:sp>
        <p:nvSpPr>
          <p:cNvPr id="127" name="phase-c-sidebar-divider"/>
          <p:cNvSpPr>
            <a:spLocks noGrp="1"/>
          </p:cNvSpPr>
          <p:nvPr/>
        </p:nvSpPr>
        <p:spPr>
          <a:xfrm>
            <a:off x="2847975" y="5102860"/>
            <a:ext cx="9525" cy="809625"/>
          </a:xfrm>
          <a:prstGeom prst="rect">
            <a:avLst/>
          </a:prstGeom>
          <a:solidFill>
            <a:srgbClr val="D1DCE3"/>
          </a:solidFill>
          <a:ln w="0">
            <a:solidFill>
              <a:srgbClr val="D1DCE3"/>
            </a:solidFill>
            <a:prstDash val="solid"/>
          </a:ln>
        </p:spPr>
      </p:sp>
      <p:sp>
        <p:nvSpPr>
          <p:cNvPr id="131" name="phase-c-step-divider"/>
          <p:cNvSpPr>
            <a:spLocks noGrp="1"/>
          </p:cNvSpPr>
          <p:nvPr/>
        </p:nvSpPr>
        <p:spPr>
          <a:xfrm>
            <a:off x="6924675" y="5102860"/>
            <a:ext cx="9525" cy="809625"/>
          </a:xfrm>
          <a:prstGeom prst="rect">
            <a:avLst/>
          </a:prstGeom>
          <a:solidFill>
            <a:srgbClr val="D1DCE3"/>
          </a:solidFill>
          <a:ln w="0">
            <a:solidFill>
              <a:srgbClr val="D1DCE3"/>
            </a:solidFill>
            <a:prstDash val="solid"/>
          </a:ln>
        </p:spPr>
      </p:sp>
      <p:sp>
        <p:nvSpPr>
          <p:cNvPr id="132" name="step-05-number"/>
          <p:cNvSpPr>
            <a:spLocks noGrp="1"/>
          </p:cNvSpPr>
          <p:nvPr/>
        </p:nvSpPr>
        <p:spPr>
          <a:xfrm>
            <a:off x="3009900" y="5245735"/>
            <a:ext cx="457200" cy="228600"/>
          </a:xfrm>
          <a:prstGeom prst="roundRect">
            <a:avLst>
              <a:gd name="adj" fmla="val 20690"/>
            </a:avLst>
          </a:prstGeom>
          <a:noFill/>
          <a:ln w="9525">
            <a:noFill/>
            <a:prstDash val="solid"/>
          </a:ln>
        </p:spPr>
        <p:txBody>
          <a:bodyPr wrap="square" lIns="0" tIns="0" rIns="0" bIns="0" anchor="ctr">
            <a:noAutofit/>
          </a:bodyPr>
          <a:lstStyle/>
          <a:p>
            <a:pPr algn="l">
              <a:buNone/>
              <a:defRPr sz="1050" b="1">
                <a:solidFill>
                  <a:srgbClr val="4B6F88"/>
                </a:solidFill>
                <a:latin typeface="微软雅黑" panose="020B0503020204020204" charset="-122"/>
                <a:ea typeface="微软雅黑" panose="020B0503020204020204" charset="-122"/>
                <a:cs typeface="微软雅黑" panose="020B0503020204020204" charset="-122"/>
              </a:defRPr>
            </a:pPr>
            <a:r>
              <a:rPr sz="1050" b="1" dirty="0" err="1">
                <a:solidFill>
                  <a:srgbClr val="4B6F88"/>
                </a:solidFill>
                <a:latin typeface="微软雅黑" panose="020B0503020204020204" charset="-122"/>
                <a:ea typeface="微软雅黑" panose="020B0503020204020204" charset="-122"/>
                <a:cs typeface="微软雅黑" panose="020B0503020204020204" charset="-122"/>
              </a:rPr>
              <a:t>原来</a:t>
            </a:r>
            <a:endParaRPr sz="105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139" name="step-05-title"/>
          <p:cNvSpPr>
            <a:spLocks noGrp="1"/>
          </p:cNvSpPr>
          <p:nvPr/>
        </p:nvSpPr>
        <p:spPr>
          <a:xfrm>
            <a:off x="3524250" y="5207635"/>
            <a:ext cx="314325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微软雅黑" panose="020B0503020204020204" charset="-122"/>
                <a:ea typeface="微软雅黑" panose="020B0503020204020204" charset="-122"/>
                <a:cs typeface="微软雅黑" panose="020B0503020204020204" charset="-122"/>
              </a:defRPr>
            </a:pPr>
            <a:r>
              <a:rPr sz="1200" b="1">
                <a:solidFill>
                  <a:srgbClr val="263544"/>
                </a:solidFill>
                <a:latin typeface="微软雅黑" panose="020B0503020204020204" charset="-122"/>
                <a:ea typeface="微软雅黑" panose="020B0503020204020204" charset="-122"/>
                <a:cs typeface="微软雅黑" panose="020B0503020204020204" charset="-122"/>
              </a:rPr>
              <a:t>全流程 × 全策略 × 全量上下文</a:t>
            </a:r>
          </a:p>
        </p:txBody>
      </p:sp>
      <p:sp>
        <p:nvSpPr>
          <p:cNvPr id="140" name="step-05-subtitle"/>
          <p:cNvSpPr>
            <a:spLocks noGrp="1"/>
          </p:cNvSpPr>
          <p:nvPr/>
        </p:nvSpPr>
        <p:spPr>
          <a:xfrm>
            <a:off x="3524250" y="5541010"/>
            <a:ext cx="2857500" cy="209550"/>
          </a:xfrm>
          <a:prstGeom prst="rect">
            <a:avLst/>
          </a:prstGeom>
          <a:noFill/>
          <a:ln w="0">
            <a:noFill/>
            <a:prstDash val="solid"/>
          </a:ln>
        </p:spPr>
        <p:txBody>
          <a:bodyPr wrap="square" lIns="0" tIns="0" rIns="0" bIns="0" anchor="ctr">
            <a:noAutofit/>
          </a:bodyPr>
          <a:lstStyle/>
          <a:p>
            <a:pPr algn="l">
              <a:buNone/>
              <a:defRPr sz="975" b="1">
                <a:solidFill>
                  <a:srgbClr val="4B6F88"/>
                </a:solidFill>
                <a:latin typeface="微软雅黑" panose="020B0503020204020204" charset="-122"/>
                <a:ea typeface="微软雅黑" panose="020B0503020204020204" charset="-122"/>
                <a:cs typeface="微软雅黑" panose="020B0503020204020204" charset="-122"/>
              </a:defRPr>
            </a:pPr>
            <a:r>
              <a:rPr sz="975" b="1">
                <a:solidFill>
                  <a:srgbClr val="4B6F88"/>
                </a:solidFill>
                <a:latin typeface="微软雅黑" panose="020B0503020204020204" charset="-122"/>
                <a:ea typeface="微软雅黑" panose="020B0503020204020204" charset="-122"/>
                <a:cs typeface="微软雅黑" panose="020B0503020204020204" charset="-122"/>
              </a:rPr>
              <a:t>多轮尝试  →  慢 + 贵</a:t>
            </a:r>
            <a:endParaRPr sz="825" b="1">
              <a:solidFill>
                <a:srgbClr val="2F3A45"/>
              </a:solidFill>
              <a:latin typeface="Arial" panose="020B0604020202020204"/>
              <a:ea typeface="Arial" panose="020B0604020202020204"/>
              <a:cs typeface="Arial" panose="020B0604020202020204"/>
            </a:endParaRPr>
          </a:p>
        </p:txBody>
      </p:sp>
      <p:sp>
        <p:nvSpPr>
          <p:cNvPr id="141" name="step-06-number"/>
          <p:cNvSpPr>
            <a:spLocks noGrp="1"/>
          </p:cNvSpPr>
          <p:nvPr/>
        </p:nvSpPr>
        <p:spPr>
          <a:xfrm>
            <a:off x="7067550" y="5245735"/>
            <a:ext cx="609600" cy="228600"/>
          </a:xfrm>
          <a:prstGeom prst="roundRect">
            <a:avLst>
              <a:gd name="adj" fmla="val 20690"/>
            </a:avLst>
          </a:prstGeom>
          <a:noFill/>
          <a:ln w="9525">
            <a:noFill/>
            <a:prstDash val="solid"/>
          </a:ln>
        </p:spPr>
        <p:txBody>
          <a:bodyPr wrap="square" lIns="0" tIns="0" rIns="0" bIns="0" anchor="ctr">
            <a:noAutofit/>
          </a:bodyPr>
          <a:lstStyle/>
          <a:p>
            <a:pPr algn="l">
              <a:buNone/>
              <a:defRPr sz="1050" b="1">
                <a:solidFill>
                  <a:srgbClr val="5C7F99"/>
                </a:solidFill>
                <a:latin typeface="微软雅黑" panose="020B0503020204020204" charset="-122"/>
                <a:ea typeface="微软雅黑" panose="020B0503020204020204" charset="-122"/>
                <a:cs typeface="微软雅黑" panose="020B0503020204020204" charset="-122"/>
              </a:defRPr>
            </a:pPr>
            <a:r>
              <a:rPr sz="1050" b="1">
                <a:solidFill>
                  <a:srgbClr val="5C7F99"/>
                </a:solidFill>
                <a:latin typeface="微软雅黑" panose="020B0503020204020204" charset="-122"/>
                <a:ea typeface="微软雅黑" panose="020B0503020204020204" charset="-122"/>
                <a:cs typeface="微软雅黑" panose="020B0503020204020204" charset="-122"/>
              </a:rPr>
              <a:t>优化后</a:t>
            </a:r>
          </a:p>
        </p:txBody>
      </p:sp>
      <p:sp>
        <p:nvSpPr>
          <p:cNvPr id="142" name="step-06-title"/>
          <p:cNvSpPr>
            <a:spLocks noGrp="1"/>
          </p:cNvSpPr>
          <p:nvPr/>
        </p:nvSpPr>
        <p:spPr>
          <a:xfrm>
            <a:off x="7715250" y="5207635"/>
            <a:ext cx="302895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微软雅黑" panose="020B0503020204020204" charset="-122"/>
                <a:ea typeface="微软雅黑" panose="020B0503020204020204" charset="-122"/>
                <a:cs typeface="微软雅黑" panose="020B0503020204020204" charset="-122"/>
              </a:defRPr>
            </a:pPr>
            <a:r>
              <a:rPr sz="1200" b="1" dirty="0" err="1">
                <a:solidFill>
                  <a:srgbClr val="263544"/>
                </a:solidFill>
                <a:latin typeface="微软雅黑" panose="020B0503020204020204" charset="-122"/>
                <a:ea typeface="微软雅黑" panose="020B0503020204020204" charset="-122"/>
                <a:cs typeface="微软雅黑" panose="020B0503020204020204" charset="-122"/>
              </a:rPr>
              <a:t>按需进入</a:t>
            </a:r>
            <a:r>
              <a:rPr sz="1200" b="1" dirty="0">
                <a:solidFill>
                  <a:srgbClr val="263544"/>
                </a:solidFill>
                <a:latin typeface="微软雅黑" panose="020B0503020204020204" charset="-122"/>
                <a:ea typeface="微软雅黑" panose="020B0503020204020204" charset="-122"/>
                <a:cs typeface="微软雅黑" panose="020B0503020204020204" charset="-122"/>
              </a:rPr>
              <a:t> + </a:t>
            </a:r>
            <a:r>
              <a:rPr sz="1200" b="1" dirty="0" err="1">
                <a:solidFill>
                  <a:srgbClr val="263544"/>
                </a:solidFill>
                <a:latin typeface="微软雅黑" panose="020B0503020204020204" charset="-122"/>
                <a:ea typeface="微软雅黑" panose="020B0503020204020204" charset="-122"/>
                <a:cs typeface="微软雅黑" panose="020B0503020204020204" charset="-122"/>
              </a:rPr>
              <a:t>按瓶颈</a:t>
            </a:r>
            <a:r>
              <a:rPr sz="1200" b="1" dirty="0">
                <a:solidFill>
                  <a:srgbClr val="263544"/>
                </a:solidFill>
                <a:latin typeface="微软雅黑" panose="020B0503020204020204" charset="-122"/>
                <a:ea typeface="微软雅黑" panose="020B0503020204020204" charset="-122"/>
                <a:cs typeface="微软雅黑" panose="020B0503020204020204" charset="-122"/>
              </a:rPr>
              <a:t> + </a:t>
            </a:r>
            <a:r>
              <a:rPr sz="1200" b="1" dirty="0" err="1">
                <a:solidFill>
                  <a:srgbClr val="263544"/>
                </a:solidFill>
                <a:latin typeface="微软雅黑" panose="020B0503020204020204" charset="-122"/>
                <a:ea typeface="微软雅黑" panose="020B0503020204020204" charset="-122"/>
                <a:cs typeface="微软雅黑" panose="020B0503020204020204" charset="-122"/>
              </a:rPr>
              <a:t>复用</a:t>
            </a:r>
            <a:r>
              <a:rPr sz="1200" b="1" dirty="0">
                <a:solidFill>
                  <a:srgbClr val="263544"/>
                </a:solidFill>
                <a:latin typeface="微软雅黑" panose="020B0503020204020204" charset="-122"/>
                <a:ea typeface="微软雅黑" panose="020B0503020204020204" charset="-122"/>
                <a:cs typeface="微软雅黑" panose="020B0503020204020204" charset="-122"/>
              </a:rPr>
              <a:t> + </a:t>
            </a:r>
            <a:r>
              <a:rPr lang="zh-CN" altLang="en-US" sz="1200" b="1" dirty="0" smtClean="0">
                <a:solidFill>
                  <a:srgbClr val="263544"/>
                </a:solidFill>
                <a:latin typeface="微软雅黑" panose="020B0503020204020204" charset="-122"/>
                <a:ea typeface="微软雅黑" panose="020B0503020204020204" charset="-122"/>
                <a:cs typeface="微软雅黑" panose="020B0503020204020204" charset="-122"/>
              </a:rPr>
              <a:t>合理优化</a:t>
            </a:r>
            <a:endParaRPr sz="1125" b="1" dirty="0">
              <a:solidFill>
                <a:srgbClr val="294A6D"/>
              </a:solidFill>
              <a:latin typeface="Arial" panose="020B0604020202020204"/>
              <a:ea typeface="Arial" panose="020B0604020202020204"/>
              <a:cs typeface="Arial" panose="020B0604020202020204"/>
            </a:endParaRPr>
          </a:p>
        </p:txBody>
      </p:sp>
      <p:sp>
        <p:nvSpPr>
          <p:cNvPr id="143" name="step-06-subtitle"/>
          <p:cNvSpPr>
            <a:spLocks noGrp="1"/>
          </p:cNvSpPr>
          <p:nvPr/>
        </p:nvSpPr>
        <p:spPr>
          <a:xfrm>
            <a:off x="7715250" y="5541010"/>
            <a:ext cx="3028950" cy="209550"/>
          </a:xfrm>
          <a:prstGeom prst="rect">
            <a:avLst/>
          </a:prstGeom>
          <a:noFill/>
          <a:ln w="0">
            <a:noFill/>
            <a:prstDash val="solid"/>
          </a:ln>
        </p:spPr>
        <p:txBody>
          <a:bodyPr wrap="square" lIns="0" tIns="0" rIns="0" bIns="0" anchor="ctr">
            <a:noAutofit/>
          </a:bodyPr>
          <a:lstStyle/>
          <a:p>
            <a:pPr algn="l">
              <a:buNone/>
              <a:defRPr sz="975" b="1">
                <a:solidFill>
                  <a:srgbClr val="5C7F99"/>
                </a:solidFill>
                <a:latin typeface="微软雅黑" panose="020B0503020204020204" charset="-122"/>
                <a:ea typeface="微软雅黑" panose="020B0503020204020204" charset="-122"/>
                <a:cs typeface="微软雅黑" panose="020B0503020204020204" charset="-122"/>
              </a:defRPr>
            </a:pPr>
            <a:r>
              <a:rPr sz="975" b="1">
                <a:solidFill>
                  <a:srgbClr val="5C7F99"/>
                </a:solidFill>
                <a:latin typeface="微软雅黑" panose="020B0503020204020204" charset="-122"/>
                <a:ea typeface="微软雅黑" panose="020B0503020204020204" charset="-122"/>
                <a:cs typeface="微软雅黑" panose="020B0503020204020204" charset="-122"/>
              </a:rPr>
              <a:t>及时停止  →  更短流程 + 更少 Token</a:t>
            </a:r>
          </a:p>
        </p:txBody>
      </p:sp>
      <p:sp>
        <p:nvSpPr>
          <p:cNvPr id="147" name="phase-a-sidebar-divider"/>
          <p:cNvSpPr>
            <a:spLocks noGrp="1"/>
          </p:cNvSpPr>
          <p:nvPr/>
        </p:nvSpPr>
        <p:spPr>
          <a:xfrm>
            <a:off x="4314825" y="2916554"/>
            <a:ext cx="9525" cy="790575"/>
          </a:xfrm>
          <a:prstGeom prst="rect">
            <a:avLst/>
          </a:prstGeom>
          <a:solidFill>
            <a:srgbClr val="D1DCE3"/>
          </a:solidFill>
          <a:ln w="0">
            <a:solidFill>
              <a:srgbClr val="D1DCE3"/>
            </a:solidFill>
            <a:prstDash val="solid"/>
          </a:ln>
        </p:spPr>
      </p:sp>
      <p:sp>
        <p:nvSpPr>
          <p:cNvPr id="148" name="phase-a-sidebar-divider"/>
          <p:cNvSpPr>
            <a:spLocks noGrp="1"/>
          </p:cNvSpPr>
          <p:nvPr/>
        </p:nvSpPr>
        <p:spPr>
          <a:xfrm>
            <a:off x="4314825" y="4093214"/>
            <a:ext cx="9525" cy="790575"/>
          </a:xfrm>
          <a:prstGeom prst="rect">
            <a:avLst/>
          </a:prstGeom>
          <a:solidFill>
            <a:srgbClr val="D1DCE3"/>
          </a:solidFill>
          <a:ln w="0">
            <a:solidFill>
              <a:srgbClr val="D1DCE3"/>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hase-c-surface"/>
          <p:cNvSpPr>
            <a:spLocks noGrp="1"/>
          </p:cNvSpPr>
          <p:nvPr/>
        </p:nvSpPr>
        <p:spPr>
          <a:xfrm>
            <a:off x="2164080" y="2663401"/>
            <a:ext cx="7458075" cy="1000125"/>
          </a:xfrm>
          <a:prstGeom prst="rect">
            <a:avLst/>
          </a:prstGeom>
          <a:solidFill>
            <a:srgbClr val="F1F5F7"/>
          </a:solidFill>
          <a:ln w="9525">
            <a:solidFill>
              <a:srgbClr val="D7E0E6"/>
            </a:solidFill>
            <a:prstDash val="solid"/>
          </a:ln>
        </p:spPr>
      </p:sp>
      <p:sp>
        <p:nvSpPr>
          <p:cNvPr id="171" name="phase-c-surface"/>
          <p:cNvSpPr>
            <a:spLocks noGrp="1"/>
          </p:cNvSpPr>
          <p:nvPr/>
        </p:nvSpPr>
        <p:spPr>
          <a:xfrm>
            <a:off x="2164080" y="3958400"/>
            <a:ext cx="7458075" cy="1000125"/>
          </a:xfrm>
          <a:prstGeom prst="rect">
            <a:avLst/>
          </a:prstGeom>
          <a:solidFill>
            <a:srgbClr val="F1F5F7"/>
          </a:solidFill>
          <a:ln w="9525">
            <a:solidFill>
              <a:srgbClr val="D7E0E6"/>
            </a:solidFill>
            <a:prstDash val="solid"/>
          </a:ln>
        </p:spPr>
      </p:sp>
      <p:sp>
        <p:nvSpPr>
          <p:cNvPr id="7" name="slide-8-title"/>
          <p:cNvSpPr>
            <a:spLocks noGrp="1"/>
          </p:cNvSpPr>
          <p:nvPr/>
        </p:nvSpPr>
        <p:spPr>
          <a:xfrm>
            <a:off x="1082993" y="246698"/>
            <a:ext cx="9620250" cy="409575"/>
          </a:xfrm>
          <a:prstGeom prst="rect">
            <a:avLst/>
          </a:prstGeom>
          <a:noFill/>
          <a:ln w="0">
            <a:noFill/>
            <a:prstDash val="solid"/>
          </a:ln>
        </p:spPr>
        <p:txBody>
          <a:bodyPr wrap="square" lIns="0" tIns="0" rIns="0" bIns="0" anchor="ctr">
            <a:no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243B53"/>
                </a:solidFill>
                <a:latin typeface="微软雅黑" panose="020B0503020204020204" charset="-122"/>
                <a:ea typeface="微软雅黑" panose="020B0503020204020204" charset="-122"/>
                <a:cs typeface="微软雅黑" panose="020B0503020204020204" charset="-122"/>
              </a:rPr>
              <a:t>优化方向二：建立快速、分层的 Skill 验证机制</a:t>
            </a:r>
          </a:p>
        </p:txBody>
      </p:sp>
      <p:sp>
        <p:nvSpPr>
          <p:cNvPr id="9" name="footer-background"/>
          <p:cNvSpPr>
            <a:spLocks noGrp="1"/>
          </p:cNvSpPr>
          <p:nvPr/>
        </p:nvSpPr>
        <p:spPr>
          <a:xfrm>
            <a:off x="200025" y="6172201"/>
            <a:ext cx="11791950" cy="533400"/>
          </a:xfrm>
          <a:prstGeom prst="rect">
            <a:avLst/>
          </a:prstGeom>
          <a:solidFill>
            <a:srgbClr val="173F61"/>
          </a:solidFill>
          <a:ln w="0">
            <a:solidFill>
              <a:srgbClr val="173F61"/>
            </a:solidFill>
            <a:prstDash val="solid"/>
          </a:ln>
        </p:spPr>
        <p:txBody>
          <a:bodyPr wrap="square" lIns="0" tIns="0" rIns="0" bIns="0" anchor="ctr">
            <a:normAutofit/>
          </a:bodyPr>
          <a:lstStyle/>
          <a:p>
            <a:endParaRPr/>
          </a:p>
        </p:txBody>
      </p:sp>
      <p:sp>
        <p:nvSpPr>
          <p:cNvPr id="11" name="slide-8-editable-footer"/>
          <p:cNvSpPr>
            <a:spLocks noGrp="1"/>
          </p:cNvSpPr>
          <p:nvPr/>
        </p:nvSpPr>
        <p:spPr>
          <a:xfrm>
            <a:off x="1000125" y="6200775"/>
            <a:ext cx="10191750" cy="466725"/>
          </a:xfrm>
          <a:prstGeom prst="rect">
            <a:avLst/>
          </a:prstGeom>
          <a:solidFill>
            <a:srgbClr val="173F61"/>
          </a:solidFill>
          <a:ln w="0">
            <a:solidFill>
              <a:srgbClr val="173F61"/>
            </a:solidFill>
            <a:prstDash val="solid"/>
          </a:ln>
        </p:spPr>
        <p:txBody>
          <a:bodyPr wrap="square" lIns="0" tIns="0" rIns="0" bIns="0" anchor="ctr">
            <a:noAutofit/>
          </a:bodyPr>
          <a:lstStyle/>
          <a:p>
            <a:pPr algn="ctr">
              <a:lnSpc>
                <a:spcPct val="100000"/>
              </a:lnSpc>
              <a:buNone/>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a:solidFill>
                  <a:srgbClr val="FFFFFF"/>
                </a:solidFill>
                <a:latin typeface="微软雅黑" panose="020B0503020204020204" charset="-122"/>
                <a:ea typeface="微软雅黑" panose="020B0503020204020204" charset="-122"/>
                <a:cs typeface="微软雅黑" panose="020B0503020204020204" charset="-122"/>
              </a:rPr>
              <a:t>局部修改局部验证，流程修改分层验证，全面测试负责最终兜底。</a:t>
            </a:r>
          </a:p>
        </p:txBody>
      </p:sp>
      <p:sp>
        <p:nvSpPr>
          <p:cNvPr id="20" name="knowledge-source-1"/>
          <p:cNvSpPr>
            <a:spLocks noGrp="1"/>
          </p:cNvSpPr>
          <p:nvPr/>
        </p:nvSpPr>
        <p:spPr>
          <a:xfrm>
            <a:off x="1378202" y="1069767"/>
            <a:ext cx="2857500" cy="514350"/>
          </a:xfrm>
          <a:prstGeom prst="roundRect">
            <a:avLst>
              <a:gd name="adj" fmla="val 14815"/>
            </a:avLst>
          </a:prstGeom>
          <a:solidFill>
            <a:srgbClr val="FFFFFF"/>
          </a:solidFill>
          <a:ln w="9525">
            <a:solidFill>
              <a:srgbClr val="D7E0E6"/>
            </a:solidFill>
            <a:prstDash val="solid"/>
          </a:ln>
        </p:spPr>
      </p:sp>
      <p:sp>
        <p:nvSpPr>
          <p:cNvPr id="22" name="knowledge-source-1-title"/>
          <p:cNvSpPr>
            <a:spLocks noGrp="1"/>
          </p:cNvSpPr>
          <p:nvPr/>
        </p:nvSpPr>
        <p:spPr>
          <a:xfrm>
            <a:off x="1656967" y="1105327"/>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a:solidFill>
                  <a:srgbClr val="263544"/>
                </a:solidFill>
                <a:latin typeface="微软雅黑" panose="020B0503020204020204" charset="-122"/>
                <a:ea typeface="微软雅黑" panose="020B0503020204020204" charset="-122"/>
                <a:cs typeface="微软雅黑" panose="020B0503020204020204" charset="-122"/>
              </a:rPr>
              <a:t>Skill 小修改</a:t>
            </a:r>
          </a:p>
        </p:txBody>
      </p:sp>
      <p:sp>
        <p:nvSpPr>
          <p:cNvPr id="23" name="knowledge-source-1-note"/>
          <p:cNvSpPr>
            <a:spLocks noGrp="1"/>
          </p:cNvSpPr>
          <p:nvPr/>
        </p:nvSpPr>
        <p:spPr>
          <a:xfrm>
            <a:off x="1561717" y="1333927"/>
            <a:ext cx="2476500" cy="161925"/>
          </a:xfrm>
          <a:prstGeom prst="rect">
            <a:avLst/>
          </a:prstGeom>
          <a:noFill/>
          <a:ln w="0">
            <a:noFill/>
            <a:prstDash val="solid"/>
          </a:ln>
        </p:spPr>
        <p:txBody>
          <a:bodyPr wrap="square" lIns="0" tIns="0" rIns="0" bIns="0" anchor="ctr">
            <a:noAutofit/>
          </a:bodyPr>
          <a:lstStyle/>
          <a:p>
            <a:pPr algn="ctr">
              <a:buNone/>
              <a:defRPr sz="865" b="0">
                <a:solidFill>
                  <a:srgbClr val="677684"/>
                </a:solidFill>
                <a:latin typeface="微软雅黑" panose="020B0503020204020204" charset="-122"/>
                <a:ea typeface="微软雅黑" panose="020B0503020204020204" charset="-122"/>
                <a:cs typeface="微软雅黑" panose="020B0503020204020204" charset="-122"/>
              </a:defRPr>
            </a:pPr>
            <a:r>
              <a:rPr sz="865" b="0">
                <a:solidFill>
                  <a:srgbClr val="677684"/>
                </a:solidFill>
                <a:latin typeface="微软雅黑" panose="020B0503020204020204" charset="-122"/>
                <a:ea typeface="微软雅黑" panose="020B0503020204020204" charset="-122"/>
                <a:cs typeface="微软雅黑" panose="020B0503020204020204" charset="-122"/>
              </a:rPr>
              <a:t>路由 / Prompt / Gate / 限制</a:t>
            </a:r>
          </a:p>
        </p:txBody>
      </p:sp>
      <p:sp>
        <p:nvSpPr>
          <p:cNvPr id="24" name="knowledge-source-2"/>
          <p:cNvSpPr>
            <a:spLocks noGrp="1"/>
          </p:cNvSpPr>
          <p:nvPr/>
        </p:nvSpPr>
        <p:spPr>
          <a:xfrm>
            <a:off x="4302377" y="1069767"/>
            <a:ext cx="2857500" cy="514350"/>
          </a:xfrm>
          <a:prstGeom prst="roundRect">
            <a:avLst>
              <a:gd name="adj" fmla="val 14815"/>
            </a:avLst>
          </a:prstGeom>
          <a:solidFill>
            <a:srgbClr val="FFFFFF"/>
          </a:solidFill>
          <a:ln w="9525">
            <a:solidFill>
              <a:srgbClr val="D7E0E6"/>
            </a:solidFill>
            <a:prstDash val="solid"/>
          </a:ln>
        </p:spPr>
      </p:sp>
      <p:sp>
        <p:nvSpPr>
          <p:cNvPr id="26" name="knowledge-source-2-title"/>
          <p:cNvSpPr>
            <a:spLocks noGrp="1"/>
          </p:cNvSpPr>
          <p:nvPr/>
        </p:nvSpPr>
        <p:spPr>
          <a:xfrm>
            <a:off x="4438267" y="1219627"/>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dirty="0" err="1">
                <a:solidFill>
                  <a:srgbClr val="263544"/>
                </a:solidFill>
                <a:latin typeface="微软雅黑" panose="020B0503020204020204" charset="-122"/>
                <a:ea typeface="微软雅黑" panose="020B0503020204020204" charset="-122"/>
                <a:cs typeface="微软雅黑" panose="020B0503020204020204" charset="-122"/>
              </a:rPr>
              <a:t>重新运行完整开发</a:t>
            </a:r>
            <a:endParaRPr sz="112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28" name="knowledge-source-3"/>
          <p:cNvSpPr>
            <a:spLocks noGrp="1"/>
          </p:cNvSpPr>
          <p:nvPr/>
        </p:nvSpPr>
        <p:spPr>
          <a:xfrm>
            <a:off x="7226552" y="1069767"/>
            <a:ext cx="2857500" cy="514350"/>
          </a:xfrm>
          <a:prstGeom prst="roundRect">
            <a:avLst>
              <a:gd name="adj" fmla="val 14815"/>
            </a:avLst>
          </a:prstGeom>
          <a:solidFill>
            <a:srgbClr val="FFFFFF"/>
          </a:solidFill>
          <a:ln w="9525">
            <a:solidFill>
              <a:srgbClr val="D7E0E6"/>
            </a:solidFill>
            <a:prstDash val="solid"/>
          </a:ln>
        </p:spPr>
        <p:txBody>
          <a:bodyPr/>
          <a:lstStyle/>
          <a:p>
            <a:endParaRPr/>
          </a:p>
        </p:txBody>
      </p:sp>
      <p:sp>
        <p:nvSpPr>
          <p:cNvPr id="30" name="knowledge-source-3-title"/>
          <p:cNvSpPr>
            <a:spLocks noGrp="1"/>
          </p:cNvSpPr>
          <p:nvPr/>
        </p:nvSpPr>
        <p:spPr>
          <a:xfrm>
            <a:off x="7495792" y="1210102"/>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dirty="0" err="1">
                <a:solidFill>
                  <a:srgbClr val="263544"/>
                </a:solidFill>
                <a:latin typeface="微软雅黑" panose="020B0503020204020204" charset="-122"/>
                <a:ea typeface="微软雅黑" panose="020B0503020204020204" charset="-122"/>
                <a:cs typeface="微软雅黑" panose="020B0503020204020204" charset="-122"/>
              </a:rPr>
              <a:t>验证成本高</a:t>
            </a:r>
            <a:endParaRPr sz="112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32" name="platform-knowledge-node"/>
          <p:cNvSpPr>
            <a:spLocks noGrp="1"/>
          </p:cNvSpPr>
          <p:nvPr/>
        </p:nvSpPr>
        <p:spPr>
          <a:xfrm>
            <a:off x="4188712" y="1733977"/>
            <a:ext cx="3200400" cy="295275"/>
          </a:xfrm>
          <a:prstGeom prst="roundRect">
            <a:avLst>
              <a:gd name="adj" fmla="val 24000"/>
            </a:avLst>
          </a:prstGeom>
          <a:solidFill>
            <a:srgbClr val="173F61"/>
          </a:solidFill>
          <a:ln w="0">
            <a:solidFill>
              <a:srgbClr val="173F61"/>
            </a:solidFill>
            <a:prstDash val="solid"/>
          </a:ln>
        </p:spPr>
        <p:txBody>
          <a:bodyPr wrap="square" lIns="0" tIns="0" rIns="0" bIns="0" anchor="ctr">
            <a:noAutofit/>
          </a:bodyPr>
          <a:lstStyle/>
          <a:p>
            <a:pPr algn="ctr">
              <a:buNone/>
              <a:defRPr sz="1090" b="1">
                <a:solidFill>
                  <a:srgbClr val="FFFFFF"/>
                </a:solidFill>
                <a:latin typeface="微软雅黑" panose="020B0503020204020204" charset="-122"/>
                <a:ea typeface="微软雅黑" panose="020B0503020204020204" charset="-122"/>
                <a:cs typeface="微软雅黑" panose="020B0503020204020204" charset="-122"/>
              </a:defRPr>
            </a:pPr>
            <a:r>
              <a:rPr sz="1090" b="1" dirty="0" err="1">
                <a:solidFill>
                  <a:srgbClr val="FFFFFF"/>
                </a:solidFill>
                <a:latin typeface="微软雅黑" panose="020B0503020204020204" charset="-122"/>
                <a:ea typeface="微软雅黑" panose="020B0503020204020204" charset="-122"/>
                <a:cs typeface="微软雅黑" panose="020B0503020204020204" charset="-122"/>
              </a:rPr>
              <a:t>问题不在没有验证，而是验证粒度过大</a:t>
            </a:r>
            <a:endParaRPr sz="1400" b="1" dirty="0">
              <a:solidFill>
                <a:srgbClr val="FFFFFF"/>
              </a:solidFill>
              <a:latin typeface="Arial" panose="020B0604020202020204"/>
              <a:ea typeface="Arial" panose="020B0604020202020204"/>
              <a:cs typeface="Arial" panose="020B0604020202020204"/>
            </a:endParaRPr>
          </a:p>
        </p:txBody>
      </p:sp>
      <p:sp>
        <p:nvSpPr>
          <p:cNvPr id="38" name="phase-a-accent"/>
          <p:cNvSpPr>
            <a:spLocks noGrp="1"/>
          </p:cNvSpPr>
          <p:nvPr/>
        </p:nvSpPr>
        <p:spPr>
          <a:xfrm>
            <a:off x="2099627" y="2647964"/>
            <a:ext cx="57150" cy="1000125"/>
          </a:xfrm>
          <a:prstGeom prst="roundRect">
            <a:avLst>
              <a:gd name="adj" fmla="val 50000"/>
            </a:avLst>
          </a:prstGeom>
          <a:solidFill>
            <a:srgbClr val="5C7F99"/>
          </a:solidFill>
          <a:ln w="0">
            <a:solidFill>
              <a:srgbClr val="5C7F99"/>
            </a:solidFill>
            <a:prstDash val="solid"/>
          </a:ln>
        </p:spPr>
      </p:sp>
      <p:sp>
        <p:nvSpPr>
          <p:cNvPr id="39" name="phase-a-letter"/>
          <p:cNvSpPr>
            <a:spLocks noGrp="1"/>
          </p:cNvSpPr>
          <p:nvPr/>
        </p:nvSpPr>
        <p:spPr>
          <a:xfrm>
            <a:off x="2309177" y="2784489"/>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a:solidFill>
                  <a:srgbClr val="5C7F99"/>
                </a:solidFill>
                <a:latin typeface="微软雅黑" panose="020B0503020204020204" charset="-122"/>
                <a:ea typeface="微软雅黑" panose="020B0503020204020204" charset="-122"/>
                <a:cs typeface="微软雅黑" panose="020B0503020204020204" charset="-122"/>
              </a:rPr>
              <a:t>01</a:t>
            </a:r>
          </a:p>
        </p:txBody>
      </p:sp>
      <p:sp>
        <p:nvSpPr>
          <p:cNvPr id="41" name="phase-a-chinese"/>
          <p:cNvSpPr>
            <a:spLocks noGrp="1"/>
          </p:cNvSpPr>
          <p:nvPr/>
        </p:nvSpPr>
        <p:spPr>
          <a:xfrm>
            <a:off x="2571115" y="2784489"/>
            <a:ext cx="2333625" cy="266700"/>
          </a:xfrm>
          <a:prstGeom prst="rect">
            <a:avLst/>
          </a:prstGeom>
          <a:noFill/>
          <a:ln w="0">
            <a:noFill/>
            <a:prstDash val="solid"/>
          </a:ln>
        </p:spPr>
        <p:txBody>
          <a:bodyPr wrap="square" lIns="0" tIns="0" rIns="0" bIns="0" anchor="ctr">
            <a:noAutofit/>
          </a:bodyPr>
          <a:lstStyle/>
          <a:p>
            <a:pPr>
              <a:defRPr sz="1240"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a:solidFill>
                  <a:srgbClr val="5C7F99"/>
                </a:solidFill>
                <a:latin typeface="微软雅黑" panose="020B0503020204020204" charset="-122"/>
                <a:ea typeface="微软雅黑" panose="020B0503020204020204" charset="-122"/>
                <a:cs typeface="微软雅黑" panose="020B0503020204020204" charset="-122"/>
              </a:rPr>
              <a:t>主流程修改 → </a:t>
            </a:r>
            <a:r>
              <a:rPr lang="en-US" altLang="zh-CN" sz="1200" b="1" dirty="0">
                <a:solidFill>
                  <a:srgbClr val="5C7F99"/>
                </a:solidFill>
                <a:latin typeface="微软雅黑" panose="020B0503020204020204" charset="-122"/>
                <a:ea typeface="微软雅黑" panose="020B0503020204020204" charset="-122"/>
                <a:cs typeface="微软雅黑" panose="020B0503020204020204" charset="-122"/>
              </a:rPr>
              <a:t>Smoke Test</a:t>
            </a:r>
          </a:p>
        </p:txBody>
      </p:sp>
      <p:sp>
        <p:nvSpPr>
          <p:cNvPr id="42" name="phase-a-sidebar-divider"/>
          <p:cNvSpPr>
            <a:spLocks noGrp="1"/>
          </p:cNvSpPr>
          <p:nvPr/>
        </p:nvSpPr>
        <p:spPr>
          <a:xfrm>
            <a:off x="5501022" y="2757819"/>
            <a:ext cx="9525" cy="790575"/>
          </a:xfrm>
          <a:prstGeom prst="rect">
            <a:avLst/>
          </a:prstGeom>
          <a:solidFill>
            <a:srgbClr val="D1DCE3"/>
          </a:solidFill>
          <a:ln w="0">
            <a:solidFill>
              <a:srgbClr val="D1DCE3"/>
            </a:solidFill>
            <a:prstDash val="solid"/>
          </a:ln>
        </p:spPr>
      </p:sp>
      <p:sp>
        <p:nvSpPr>
          <p:cNvPr id="44" name="step-01-number"/>
          <p:cNvSpPr>
            <a:spLocks noGrp="1"/>
          </p:cNvSpPr>
          <p:nvPr/>
        </p:nvSpPr>
        <p:spPr>
          <a:xfrm>
            <a:off x="5866764" y="2830856"/>
            <a:ext cx="30480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a:solidFill>
                  <a:srgbClr val="5C7F99"/>
                </a:solidFill>
                <a:latin typeface="微软雅黑" panose="020B0503020204020204" charset="-122"/>
                <a:ea typeface="微软雅黑" panose="020B0503020204020204" charset="-122"/>
                <a:cs typeface="微软雅黑" panose="020B0503020204020204" charset="-122"/>
              </a:rPr>
              <a:t>02</a:t>
            </a:r>
          </a:p>
        </p:txBody>
      </p:sp>
      <p:sp>
        <p:nvSpPr>
          <p:cNvPr id="45" name="step-01-title"/>
          <p:cNvSpPr>
            <a:spLocks noGrp="1"/>
          </p:cNvSpPr>
          <p:nvPr/>
        </p:nvSpPr>
        <p:spPr>
          <a:xfrm>
            <a:off x="6228713" y="2802281"/>
            <a:ext cx="2588419" cy="247650"/>
          </a:xfrm>
          <a:prstGeom prst="rect">
            <a:avLst/>
          </a:prstGeom>
          <a:noFill/>
          <a:ln w="0">
            <a:noFill/>
            <a:prstDash val="solid"/>
          </a:ln>
        </p:spPr>
        <p:txBody>
          <a:bodyPr wrap="square" lIns="0" tIns="0" rIns="0" bIns="0" anchor="ctr">
            <a:noAutofit/>
          </a:bodyPr>
          <a:lstStyle/>
          <a:p>
            <a:pPr algn="l">
              <a:buNone/>
              <a:defRPr sz="1200" b="1">
                <a:solidFill>
                  <a:srgbClr val="173F61"/>
                </a:solidFill>
                <a:latin typeface="微软雅黑" panose="020B0503020204020204" charset="-122"/>
                <a:ea typeface="微软雅黑" panose="020B0503020204020204" charset="-122"/>
                <a:cs typeface="微软雅黑" panose="020B0503020204020204" charset="-122"/>
              </a:defRPr>
            </a:pPr>
            <a:r>
              <a:rPr sz="1200" b="1" dirty="0" err="1">
                <a:solidFill>
                  <a:srgbClr val="5C7F99"/>
                </a:solidFill>
                <a:latin typeface="微软雅黑" panose="020B0503020204020204" charset="-122"/>
                <a:ea typeface="微软雅黑" panose="020B0503020204020204" charset="-122"/>
                <a:cs typeface="微软雅黑" panose="020B0503020204020204" charset="-122"/>
              </a:rPr>
              <a:t>子代理修改</a:t>
            </a:r>
            <a:r>
              <a:rPr sz="1200" b="1" dirty="0">
                <a:solidFill>
                  <a:srgbClr val="173F61"/>
                </a:solidFill>
                <a:latin typeface="微软雅黑" panose="020B0503020204020204" charset="-122"/>
                <a:ea typeface="微软雅黑" panose="020B0503020204020204" charset="-122"/>
                <a:cs typeface="微软雅黑" panose="020B0503020204020204" charset="-122"/>
              </a:rPr>
              <a:t> → </a:t>
            </a:r>
            <a:r>
              <a:rPr sz="1200" b="1" dirty="0" err="1">
                <a:solidFill>
                  <a:srgbClr val="5C7F99"/>
                </a:solidFill>
                <a:latin typeface="微软雅黑" panose="020B0503020204020204" charset="-122"/>
                <a:ea typeface="微软雅黑" panose="020B0503020204020204" charset="-122"/>
                <a:cs typeface="微软雅黑" panose="020B0503020204020204" charset="-122"/>
              </a:rPr>
              <a:t>单独运行</a:t>
            </a:r>
            <a:r>
              <a:rPr lang="zh-CN" altLang="en-US" sz="1200" b="1" dirty="0">
                <a:solidFill>
                  <a:srgbClr val="5C7F99"/>
                </a:solidFill>
                <a:latin typeface="微软雅黑" panose="020B0503020204020204" charset="-122"/>
                <a:ea typeface="微软雅黑" panose="020B0503020204020204" charset="-122"/>
                <a:cs typeface="微软雅黑" panose="020B0503020204020204" charset="-122"/>
              </a:rPr>
              <a:t>子代理的</a:t>
            </a:r>
            <a:r>
              <a:rPr lang="en-US" altLang="zh-CN" sz="1200" b="1" dirty="0">
                <a:solidFill>
                  <a:srgbClr val="5C7F99"/>
                </a:solidFill>
                <a:latin typeface="微软雅黑" panose="020B0503020204020204" charset="-122"/>
                <a:ea typeface="微软雅黑" panose="020B0503020204020204" charset="-122"/>
                <a:cs typeface="微软雅黑" panose="020B0503020204020204" charset="-122"/>
              </a:rPr>
              <a:t>skill</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46" name="step-01-subtitle"/>
          <p:cNvSpPr>
            <a:spLocks noGrp="1"/>
          </p:cNvSpPr>
          <p:nvPr/>
        </p:nvSpPr>
        <p:spPr>
          <a:xfrm>
            <a:off x="5866764" y="3107081"/>
            <a:ext cx="2609850" cy="447675"/>
          </a:xfrm>
          <a:prstGeom prst="rect">
            <a:avLst/>
          </a:prstGeom>
          <a:noFill/>
          <a:ln w="0">
            <a:noFill/>
            <a:prstDash val="solid"/>
          </a:ln>
        </p:spPr>
        <p:txBody>
          <a:bodyPr wrap="square" lIns="0" tIns="0" rIns="0" bIns="0" anchor="ctr">
            <a:noAutofit/>
          </a:bodyPr>
          <a:lstStyle/>
          <a:p>
            <a:pPr algn="ctr">
              <a:buNone/>
              <a:defRPr sz="865" b="1">
                <a:solidFill>
                  <a:srgbClr val="263544"/>
                </a:solidFill>
                <a:latin typeface="微软雅黑" panose="020B0503020204020204" charset="-122"/>
                <a:ea typeface="微软雅黑" panose="020B0503020204020204" charset="-122"/>
                <a:cs typeface="微软雅黑" panose="020B0503020204020204" charset="-122"/>
              </a:defRPr>
            </a:pPr>
            <a:r>
              <a:rPr sz="865" b="1">
                <a:solidFill>
                  <a:srgbClr val="263544"/>
                </a:solidFill>
                <a:latin typeface="微软雅黑" panose="020B0503020204020204" charset="-122"/>
                <a:ea typeface="微软雅黑" panose="020B0503020204020204" charset="-122"/>
                <a:cs typeface="微软雅黑" panose="020B0503020204020204" charset="-122"/>
              </a:rPr>
              <a:t>修改哪个，就直接验证哪个</a:t>
            </a:r>
            <a:endParaRPr sz="825" b="1">
              <a:solidFill>
                <a:srgbClr val="2F3A45"/>
              </a:solidFill>
              <a:latin typeface="Arial" panose="020B0604020202020204"/>
              <a:ea typeface="Arial" panose="020B0604020202020204"/>
              <a:cs typeface="Arial" panose="020B0604020202020204"/>
            </a:endParaRPr>
          </a:p>
        </p:txBody>
      </p:sp>
      <p:sp>
        <p:nvSpPr>
          <p:cNvPr id="133" name="step-08-number"/>
          <p:cNvSpPr>
            <a:spLocks noGrp="1"/>
          </p:cNvSpPr>
          <p:nvPr/>
        </p:nvSpPr>
        <p:spPr>
          <a:xfrm>
            <a:off x="0" y="0"/>
            <a:ext cx="9525" cy="9525"/>
          </a:xfrm>
          <a:prstGeom prst="roundRect">
            <a:avLst>
              <a:gd name="adj" fmla="val 20690"/>
            </a:avLst>
          </a:prstGeom>
          <a:noFill/>
          <a:ln w="9525">
            <a:noFill/>
            <a:prstDash val="solid"/>
          </a:ln>
        </p:spPr>
        <p:txBody>
          <a:bodyPr wrap="square" lIns="0" tIns="0" rIns="0" bIns="0" anchor="ctr">
            <a:noAutofit/>
          </a:bodyPr>
          <a:lstStyle/>
          <a:p>
            <a:pPr algn="ctr">
              <a:buNone/>
              <a:defRPr sz="1200" b="1">
                <a:solidFill>
                  <a:srgbClr val="FFFFFF"/>
                </a:solidFill>
                <a:latin typeface="Calibri" panose="020F0502020204030204"/>
                <a:ea typeface="Calibri" panose="020F0502020204030204"/>
                <a:cs typeface="Calibri" panose="020F0502020204030204"/>
              </a:defRPr>
            </a:pPr>
            <a:endParaRPr/>
          </a:p>
        </p:txBody>
      </p:sp>
      <p:sp>
        <p:nvSpPr>
          <p:cNvPr id="134" name="step-08-title"/>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1125" b="1">
                <a:solidFill>
                  <a:srgbClr val="14855C"/>
                </a:solidFill>
                <a:latin typeface="微软雅黑" panose="020B0503020204020204" charset="-122"/>
                <a:ea typeface="微软雅黑" panose="020B0503020204020204" charset="-122"/>
                <a:cs typeface="微软雅黑" panose="020B0503020204020204" charset="-122"/>
              </a:defRPr>
            </a:pPr>
            <a:endParaRPr/>
          </a:p>
        </p:txBody>
      </p:sp>
      <p:sp>
        <p:nvSpPr>
          <p:cNvPr id="135" name="step-08-subtitle"/>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825" b="1">
                <a:solidFill>
                  <a:srgbClr val="27364A"/>
                </a:solidFill>
                <a:latin typeface="微软雅黑" panose="020B0503020204020204" charset="-122"/>
                <a:ea typeface="微软雅黑" panose="020B0503020204020204" charset="-122"/>
                <a:cs typeface="微软雅黑" panose="020B0503020204020204" charset="-122"/>
              </a:defRPr>
            </a:pPr>
            <a:endParaRPr/>
          </a:p>
        </p:txBody>
      </p:sp>
      <p:sp>
        <p:nvSpPr>
          <p:cNvPr id="3" name="slide-7-page-number"/>
          <p:cNvSpPr>
            <a:spLocks noGrp="1"/>
          </p:cNvSpPr>
          <p:nvPr/>
        </p:nvSpPr>
        <p:spPr>
          <a:xfrm>
            <a:off x="11366183" y="317183"/>
            <a:ext cx="330518" cy="279083"/>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微软雅黑" panose="020B0503020204020204" charset="-122"/>
                <a:ea typeface="微软雅黑" panose="020B0503020204020204" charset="-122"/>
                <a:cs typeface="微软雅黑" panose="020B0503020204020204" charset="-122"/>
              </a:rPr>
              <a:t>11</a:t>
            </a:r>
          </a:p>
        </p:txBody>
      </p:sp>
      <p:sp>
        <p:nvSpPr>
          <p:cNvPr id="103" name="slide-1-title"/>
          <p:cNvSpPr>
            <a:spLocks noGrp="1"/>
          </p:cNvSpPr>
          <p:nvPr/>
        </p:nvSpPr>
        <p:spPr>
          <a:xfrm>
            <a:off x="342900" y="223838"/>
            <a:ext cx="638175"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微软雅黑" panose="020B0503020204020204" charset="-122"/>
                <a:ea typeface="微软雅黑" panose="020B0503020204020204" charset="-122"/>
                <a:cs typeface="微软雅黑" panose="020B0503020204020204" charset="-122"/>
              </a:rPr>
              <a:t>1</a:t>
            </a:r>
            <a:r>
              <a:rPr sz="3000" b="1" dirty="0" smtClean="0">
                <a:solidFill>
                  <a:srgbClr val="243B53"/>
                </a:solidFill>
                <a:latin typeface="微软雅黑" panose="020B0503020204020204" charset="-122"/>
                <a:ea typeface="微软雅黑" panose="020B0503020204020204" charset="-122"/>
                <a:cs typeface="微软雅黑" panose="020B0503020204020204" charset="-122"/>
              </a:rPr>
              <a:t>.</a:t>
            </a:r>
            <a:r>
              <a:rPr lang="en-US" sz="3000" b="1" dirty="0" smtClean="0">
                <a:solidFill>
                  <a:srgbClr val="243B53"/>
                </a:solidFill>
                <a:latin typeface="微软雅黑" panose="020B0503020204020204" charset="-122"/>
                <a:ea typeface="微软雅黑" panose="020B0503020204020204" charset="-122"/>
                <a:cs typeface="微软雅黑" panose="020B0503020204020204" charset="-122"/>
              </a:rPr>
              <a:t>7</a:t>
            </a:r>
            <a:endParaRPr sz="3000" b="1" dirty="0">
              <a:solidFill>
                <a:srgbClr val="243B53"/>
              </a:solidFill>
              <a:latin typeface="Arial" panose="020B0604020202020204"/>
              <a:ea typeface="Arial" panose="020B0604020202020204"/>
              <a:cs typeface="Arial" panose="020B0604020202020204"/>
            </a:endParaRPr>
          </a:p>
        </p:txBody>
      </p:sp>
      <p:sp>
        <p:nvSpPr>
          <p:cNvPr id="104" name="s15-title-rule"/>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2" name="矩形 1"/>
          <p:cNvSpPr/>
          <p:nvPr/>
        </p:nvSpPr>
        <p:spPr>
          <a:xfrm>
            <a:off x="2410822" y="3130564"/>
            <a:ext cx="2260555" cy="225126"/>
          </a:xfrm>
          <a:prstGeom prst="rect">
            <a:avLst/>
          </a:prstGeom>
        </p:spPr>
        <p:txBody>
          <a:bodyPr wrap="none">
            <a:spAutoFit/>
          </a:bodyPr>
          <a:lstStyle/>
          <a:p>
            <a:pPr>
              <a:defRPr sz="865" b="1">
                <a:solidFill>
                  <a:srgbClr val="263544"/>
                </a:solidFill>
                <a:latin typeface="微软雅黑" panose="020B0503020204020204" charset="-122"/>
                <a:ea typeface="微软雅黑" panose="020B0503020204020204" charset="-122"/>
                <a:cs typeface="微软雅黑" panose="020B0503020204020204" charset="-122"/>
              </a:defRPr>
            </a:pPr>
            <a:r>
              <a:rPr lang="zh-CN" altLang="en-US" b="1" dirty="0">
                <a:solidFill>
                  <a:srgbClr val="263544"/>
                </a:solidFill>
                <a:latin typeface="微软雅黑" panose="020B0503020204020204" charset="-122"/>
                <a:ea typeface="微软雅黑" panose="020B0503020204020204" charset="-122"/>
                <a:cs typeface="微软雅黑" panose="020B0503020204020204" charset="-122"/>
              </a:rPr>
              <a:t>简单算子 </a:t>
            </a:r>
            <a:r>
              <a:rPr lang="en-US" altLang="zh-CN" b="1" dirty="0">
                <a:solidFill>
                  <a:srgbClr val="263544"/>
                </a:solidFill>
                <a:latin typeface="微软雅黑" panose="020B0503020204020204" charset="-122"/>
                <a:ea typeface="微软雅黑" panose="020B0503020204020204" charset="-122"/>
                <a:cs typeface="微软雅黑" panose="020B0503020204020204" charset="-122"/>
              </a:rPr>
              <a:t>+ </a:t>
            </a:r>
            <a:r>
              <a:rPr lang="zh-CN" altLang="en-US" b="1" dirty="0">
                <a:solidFill>
                  <a:srgbClr val="263544"/>
                </a:solidFill>
                <a:latin typeface="微软雅黑" panose="020B0503020204020204" charset="-122"/>
                <a:ea typeface="微软雅黑" panose="020B0503020204020204" charset="-122"/>
                <a:cs typeface="微软雅黑" panose="020B0503020204020204" charset="-122"/>
              </a:rPr>
              <a:t>小 </a:t>
            </a:r>
            <a:r>
              <a:rPr lang="en-US" altLang="zh-CN" b="1" dirty="0">
                <a:solidFill>
                  <a:srgbClr val="263544"/>
                </a:solidFill>
                <a:latin typeface="微软雅黑" panose="020B0503020204020204" charset="-122"/>
                <a:ea typeface="微软雅黑" panose="020B0503020204020204" charset="-122"/>
                <a:cs typeface="微软雅黑" panose="020B0503020204020204" charset="-122"/>
              </a:rPr>
              <a:t>Shape</a:t>
            </a:r>
            <a:r>
              <a:rPr lang="zh-CN" altLang="en-US" b="1" dirty="0">
                <a:solidFill>
                  <a:srgbClr val="263544"/>
                </a:solidFill>
                <a:latin typeface="微软雅黑" panose="020B0503020204020204" charset="-122"/>
                <a:ea typeface="微软雅黑" panose="020B0503020204020204" charset="-122"/>
                <a:cs typeface="微软雅黑" panose="020B0503020204020204" charset="-122"/>
              </a:rPr>
              <a:t>，快速验证模块连接</a:t>
            </a:r>
          </a:p>
        </p:txBody>
      </p:sp>
      <p:sp>
        <p:nvSpPr>
          <p:cNvPr id="91" name="phase-a-accent"/>
          <p:cNvSpPr>
            <a:spLocks noGrp="1"/>
          </p:cNvSpPr>
          <p:nvPr/>
        </p:nvSpPr>
        <p:spPr>
          <a:xfrm>
            <a:off x="2106930" y="3972353"/>
            <a:ext cx="57150" cy="1000125"/>
          </a:xfrm>
          <a:prstGeom prst="roundRect">
            <a:avLst>
              <a:gd name="adj" fmla="val 50000"/>
            </a:avLst>
          </a:prstGeom>
          <a:solidFill>
            <a:srgbClr val="5C7F99"/>
          </a:solidFill>
          <a:ln w="0">
            <a:solidFill>
              <a:srgbClr val="5C7F99"/>
            </a:solidFill>
            <a:prstDash val="solid"/>
          </a:ln>
        </p:spPr>
      </p:sp>
      <p:sp>
        <p:nvSpPr>
          <p:cNvPr id="95" name="phase-a-letter"/>
          <p:cNvSpPr>
            <a:spLocks noGrp="1"/>
          </p:cNvSpPr>
          <p:nvPr/>
        </p:nvSpPr>
        <p:spPr>
          <a:xfrm>
            <a:off x="2316480" y="4108878"/>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dirty="0" smtClean="0">
                <a:solidFill>
                  <a:srgbClr val="5C7F99"/>
                </a:solidFill>
                <a:latin typeface="微软雅黑" panose="020B0503020204020204" charset="-122"/>
                <a:ea typeface="微软雅黑" panose="020B0503020204020204" charset="-122"/>
                <a:cs typeface="微软雅黑" panose="020B0503020204020204" charset="-122"/>
              </a:rPr>
              <a:t>0</a:t>
            </a:r>
            <a:r>
              <a:rPr lang="en-US" sz="1125" b="1" dirty="0" smtClean="0">
                <a:solidFill>
                  <a:srgbClr val="5C7F99"/>
                </a:solidFill>
                <a:latin typeface="微软雅黑" panose="020B0503020204020204" charset="-122"/>
                <a:ea typeface="微软雅黑" panose="020B0503020204020204" charset="-122"/>
                <a:cs typeface="微软雅黑" panose="020B0503020204020204" charset="-122"/>
              </a:rPr>
              <a:t>3</a:t>
            </a:r>
            <a:endParaRPr sz="1125"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02" name="phase-a-chinese"/>
          <p:cNvSpPr>
            <a:spLocks noGrp="1"/>
          </p:cNvSpPr>
          <p:nvPr/>
        </p:nvSpPr>
        <p:spPr>
          <a:xfrm>
            <a:off x="2578418" y="4108878"/>
            <a:ext cx="2333625" cy="266700"/>
          </a:xfrm>
          <a:prstGeom prst="rect">
            <a:avLst/>
          </a:prstGeom>
          <a:noFill/>
          <a:ln w="0">
            <a:noFill/>
            <a:prstDash val="solid"/>
          </a:ln>
        </p:spPr>
        <p:txBody>
          <a:bodyPr wrap="square" lIns="0" tIns="0" rIns="0" bIns="0" anchor="ctr">
            <a:noAutofit/>
          </a:bodyPr>
          <a:lstStyle/>
          <a:p>
            <a:pPr>
              <a:defRPr sz="1165"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a:solidFill>
                  <a:srgbClr val="5C7F99"/>
                </a:solidFill>
                <a:latin typeface="微软雅黑" panose="020B0503020204020204" charset="-122"/>
                <a:ea typeface="微软雅黑" panose="020B0503020204020204" charset="-122"/>
                <a:cs typeface="微软雅黑" panose="020B0503020204020204" charset="-122"/>
              </a:rPr>
              <a:t>中间流程修改 → </a:t>
            </a:r>
            <a:r>
              <a:rPr lang="en-US" altLang="zh-CN" sz="1200" b="1" dirty="0">
                <a:solidFill>
                  <a:srgbClr val="5C7F99"/>
                </a:solidFill>
                <a:latin typeface="微软雅黑" panose="020B0503020204020204" charset="-122"/>
                <a:ea typeface="微软雅黑" panose="020B0503020204020204" charset="-122"/>
                <a:cs typeface="微软雅黑" panose="020B0503020204020204" charset="-122"/>
              </a:rPr>
              <a:t>Artifact Replay</a:t>
            </a:r>
          </a:p>
        </p:txBody>
      </p:sp>
      <p:sp>
        <p:nvSpPr>
          <p:cNvPr id="105" name="phase-a-sidebar-divider"/>
          <p:cNvSpPr>
            <a:spLocks noGrp="1"/>
          </p:cNvSpPr>
          <p:nvPr/>
        </p:nvSpPr>
        <p:spPr>
          <a:xfrm>
            <a:off x="5491497" y="4044090"/>
            <a:ext cx="9525" cy="790575"/>
          </a:xfrm>
          <a:prstGeom prst="rect">
            <a:avLst/>
          </a:prstGeom>
          <a:solidFill>
            <a:srgbClr val="D1DCE3"/>
          </a:solidFill>
          <a:ln w="0">
            <a:solidFill>
              <a:srgbClr val="D1DCE3"/>
            </a:solidFill>
            <a:prstDash val="solid"/>
          </a:ln>
        </p:spPr>
      </p:sp>
      <p:sp>
        <p:nvSpPr>
          <p:cNvPr id="157" name="矩形 156"/>
          <p:cNvSpPr/>
          <p:nvPr/>
        </p:nvSpPr>
        <p:spPr>
          <a:xfrm>
            <a:off x="2571115" y="4686880"/>
            <a:ext cx="2171700" cy="224790"/>
          </a:xfrm>
          <a:prstGeom prst="rect">
            <a:avLst/>
          </a:prstGeom>
        </p:spPr>
        <p:txBody>
          <a:bodyPr wrap="none">
            <a:spAutoFit/>
          </a:bodyPr>
          <a:lstStyle/>
          <a:p>
            <a:pPr>
              <a:defRPr sz="865" b="1">
                <a:solidFill>
                  <a:srgbClr val="677684"/>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63544"/>
                </a:solidFill>
                <a:latin typeface="微软雅黑" panose="020B0503020204020204" charset="-122"/>
                <a:ea typeface="微软雅黑" panose="020B0503020204020204" charset="-122"/>
                <a:cs typeface="微软雅黑" panose="020B0503020204020204" charset="-122"/>
              </a:rPr>
              <a:t>从修改分支最近的有效产物继续进行验证</a:t>
            </a:r>
          </a:p>
        </p:txBody>
      </p:sp>
      <p:sp>
        <p:nvSpPr>
          <p:cNvPr id="158" name="矩形 157"/>
          <p:cNvSpPr/>
          <p:nvPr/>
        </p:nvSpPr>
        <p:spPr>
          <a:xfrm>
            <a:off x="2590548" y="4439378"/>
            <a:ext cx="1401346" cy="225126"/>
          </a:xfrm>
          <a:prstGeom prst="rect">
            <a:avLst/>
          </a:prstGeom>
        </p:spPr>
        <p:txBody>
          <a:bodyPr wrap="none">
            <a:spAutoFit/>
          </a:bodyPr>
          <a:lstStyle/>
          <a:p>
            <a:pPr>
              <a:defRPr sz="865" b="1">
                <a:solidFill>
                  <a:srgbClr val="677684"/>
                </a:solidFill>
                <a:latin typeface="微软雅黑" panose="020B0503020204020204" charset="-122"/>
                <a:ea typeface="微软雅黑" panose="020B0503020204020204" charset="-122"/>
                <a:cs typeface="微软雅黑" panose="020B0503020204020204" charset="-122"/>
              </a:defRPr>
            </a:pPr>
            <a:r>
              <a:rPr lang="zh-CN" altLang="en-US" sz="865" b="1" dirty="0" smtClean="0">
                <a:solidFill>
                  <a:srgbClr val="263544"/>
                </a:solidFill>
                <a:latin typeface="微软雅黑" panose="020B0503020204020204" charset="-122"/>
                <a:ea typeface="微软雅黑" panose="020B0503020204020204" charset="-122"/>
                <a:cs typeface="微软雅黑" panose="020B0503020204020204" charset="-122"/>
              </a:rPr>
              <a:t>保存上次运行的中间产物</a:t>
            </a:r>
            <a:endParaRPr lang="zh-CN" altLang="en-US" sz="86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61" name="step-04-number"/>
          <p:cNvSpPr>
            <a:spLocks noGrp="1"/>
          </p:cNvSpPr>
          <p:nvPr/>
        </p:nvSpPr>
        <p:spPr>
          <a:xfrm>
            <a:off x="5926455" y="4137453"/>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dirty="0" smtClean="0">
                <a:solidFill>
                  <a:srgbClr val="5C7F99"/>
                </a:solidFill>
                <a:latin typeface="微软雅黑" panose="020B0503020204020204" charset="-122"/>
                <a:ea typeface="微软雅黑" panose="020B0503020204020204" charset="-122"/>
                <a:cs typeface="微软雅黑" panose="020B0503020204020204" charset="-122"/>
              </a:rPr>
              <a:t>0</a:t>
            </a:r>
            <a:r>
              <a:rPr lang="en-US" sz="1125" b="1" dirty="0" smtClean="0">
                <a:solidFill>
                  <a:srgbClr val="5C7F99"/>
                </a:solidFill>
                <a:latin typeface="微软雅黑" panose="020B0503020204020204" charset="-122"/>
                <a:ea typeface="微软雅黑" panose="020B0503020204020204" charset="-122"/>
                <a:cs typeface="微软雅黑" panose="020B0503020204020204" charset="-122"/>
              </a:rPr>
              <a:t>4</a:t>
            </a:r>
            <a:endParaRPr sz="1125"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62" name="step-04-title"/>
          <p:cNvSpPr>
            <a:spLocks noGrp="1"/>
          </p:cNvSpPr>
          <p:nvPr/>
        </p:nvSpPr>
        <p:spPr>
          <a:xfrm>
            <a:off x="6345555" y="4108878"/>
            <a:ext cx="2857500" cy="247650"/>
          </a:xfrm>
          <a:prstGeom prst="rect">
            <a:avLst/>
          </a:prstGeom>
          <a:noFill/>
          <a:ln w="0">
            <a:noFill/>
            <a:prstDash val="solid"/>
          </a:ln>
        </p:spPr>
        <p:txBody>
          <a:bodyPr wrap="square" lIns="0" tIns="0" rIns="0" bIns="0" anchor="ctr">
            <a:noAutofit/>
          </a:bodyPr>
          <a:lstStyle/>
          <a:p>
            <a:pPr algn="l">
              <a:buNone/>
              <a:defRPr sz="1240" b="1">
                <a:solidFill>
                  <a:srgbClr val="173F61"/>
                </a:solidFill>
                <a:latin typeface="微软雅黑" panose="020B0503020204020204" charset="-122"/>
                <a:ea typeface="微软雅黑" panose="020B0503020204020204" charset="-122"/>
                <a:cs typeface="微软雅黑" panose="020B0503020204020204" charset="-122"/>
              </a:defRPr>
            </a:pPr>
            <a:r>
              <a:rPr sz="1200" b="1" dirty="0" err="1">
                <a:solidFill>
                  <a:srgbClr val="5C7F99"/>
                </a:solidFill>
                <a:latin typeface="微软雅黑" panose="020B0503020204020204" charset="-122"/>
                <a:ea typeface="微软雅黑" panose="020B0503020204020204" charset="-122"/>
                <a:cs typeface="微软雅黑" panose="020B0503020204020204" charset="-122"/>
              </a:rPr>
              <a:t>版本级修改</a:t>
            </a:r>
            <a:r>
              <a:rPr sz="1240" b="1" dirty="0">
                <a:solidFill>
                  <a:srgbClr val="173F61"/>
                </a:solidFill>
                <a:latin typeface="微软雅黑" panose="020B0503020204020204" charset="-122"/>
                <a:ea typeface="微软雅黑" panose="020B0503020204020204" charset="-122"/>
                <a:cs typeface="微软雅黑" panose="020B0503020204020204" charset="-122"/>
              </a:rPr>
              <a:t> → </a:t>
            </a:r>
            <a:r>
              <a:rPr sz="1200" b="1" dirty="0">
                <a:solidFill>
                  <a:srgbClr val="5C7F99"/>
                </a:solidFill>
                <a:latin typeface="微软雅黑" panose="020B0503020204020204" charset="-122"/>
                <a:ea typeface="微软雅黑" panose="020B0503020204020204" charset="-122"/>
                <a:cs typeface="微软雅黑" panose="020B0503020204020204" charset="-122"/>
              </a:rPr>
              <a:t>Regression</a:t>
            </a:r>
            <a:r>
              <a:rPr sz="1240" b="1" dirty="0">
                <a:solidFill>
                  <a:srgbClr val="173F61"/>
                </a:solidFill>
                <a:latin typeface="微软雅黑" panose="020B0503020204020204" charset="-122"/>
                <a:ea typeface="微软雅黑" panose="020B0503020204020204" charset="-122"/>
                <a:cs typeface="微软雅黑" panose="020B0503020204020204" charset="-122"/>
              </a:rPr>
              <a:t> </a:t>
            </a:r>
            <a:r>
              <a:rPr sz="1200" b="1" dirty="0">
                <a:solidFill>
                  <a:srgbClr val="5C7F99"/>
                </a:solidFill>
                <a:latin typeface="微软雅黑" panose="020B0503020204020204" charset="-122"/>
                <a:ea typeface="微软雅黑" panose="020B0503020204020204" charset="-122"/>
                <a:cs typeface="微软雅黑" panose="020B0503020204020204" charset="-122"/>
              </a:rPr>
              <a:t>Suite</a:t>
            </a:r>
          </a:p>
        </p:txBody>
      </p:sp>
      <p:sp>
        <p:nvSpPr>
          <p:cNvPr id="170" name="矩形 169"/>
          <p:cNvSpPr/>
          <p:nvPr/>
        </p:nvSpPr>
        <p:spPr>
          <a:xfrm>
            <a:off x="6213015" y="4576054"/>
            <a:ext cx="3502882" cy="225126"/>
          </a:xfrm>
          <a:prstGeom prst="rect">
            <a:avLst/>
          </a:prstGeom>
        </p:spPr>
        <p:txBody>
          <a:bodyPr wrap="none">
            <a:spAutoFit/>
          </a:bodyPr>
          <a:lstStyle/>
          <a:p>
            <a:pPr>
              <a:defRPr sz="865" b="1">
                <a:solidFill>
                  <a:srgbClr val="677684"/>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63544"/>
                </a:solidFill>
                <a:latin typeface="微软雅黑" panose="020B0503020204020204" charset="-122"/>
                <a:ea typeface="微软雅黑" panose="020B0503020204020204" charset="-122"/>
                <a:cs typeface="微软雅黑" panose="020B0503020204020204" charset="-122"/>
              </a:rPr>
              <a:t>针对</a:t>
            </a:r>
            <a:r>
              <a:rPr lang="zh-CN" altLang="en-US" sz="865" b="1" dirty="0" smtClean="0">
                <a:solidFill>
                  <a:srgbClr val="263544"/>
                </a:solidFill>
                <a:latin typeface="微软雅黑" panose="020B0503020204020204" charset="-122"/>
                <a:ea typeface="微软雅黑" panose="020B0503020204020204" charset="-122"/>
                <a:cs typeface="微软雅黑" panose="020B0503020204020204" charset="-122"/>
              </a:rPr>
              <a:t>于主流程等各个部分都产生的大修改，进行大范围数据集测试。</a:t>
            </a:r>
            <a:endParaRPr lang="zh-CN" altLang="en-US" sz="865" b="1" dirty="0">
              <a:solidFill>
                <a:srgbClr val="26354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微软雅黑" panose="020B050302020402020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微软雅黑" panose="020B0503020204020204" charset="-122"/>
                <a:cs typeface="微软雅黑" panose="020B0503020204020204" charset="-122"/>
              </a:rPr>
              <a:t>Agent/</a:t>
            </a:r>
            <a:r>
              <a:rPr sz="1600">
                <a:solidFill>
                  <a:srgbClr val="2F3A45"/>
                </a:solidFill>
                <a:latin typeface="Arial" panose="020B0604020202020204" pitchFamily="34" charset="0"/>
                <a:ea typeface="微软雅黑" panose="020B050302020402020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EEF2F5"/>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5B7188"/>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微软雅黑" panose="020B050302020402020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b="1">
                <a:solidFill>
                  <a:srgbClr val="243B53"/>
                </a:solidFill>
                <a:latin typeface="Arial" panose="020B0604020202020204" pitchFamily="34" charset="0"/>
                <a:ea typeface="微软雅黑" panose="020B0503020204020204" charset="-122"/>
                <a:cs typeface="微软雅黑" panose="020B0503020204020204" charset="-122"/>
              </a:rPr>
              <a:t>寒武纪</a:t>
            </a:r>
            <a:r>
              <a:rPr sz="1600" b="1">
                <a:solidFill>
                  <a:srgbClr val="243B53"/>
                </a:solidFill>
                <a:latin typeface="Arial" panose="020B0604020202020204" pitchFamily="34" charset="0"/>
                <a:ea typeface="微软雅黑" panose="020B050302020402020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未来展望</a:t>
            </a: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pic>
        <p:nvPicPr>
          <p:cNvPr id="15" name="overall-orchestration-architecture"/>
          <p:cNvPicPr>
            <a:picLocks noChangeAspect="1"/>
          </p:cNvPicPr>
          <p:nvPr/>
        </p:nvPicPr>
        <p:blipFill>
          <a:blip r:embed="rId3">
            <a:grayscl/>
          </a:blip>
          <a:srcRect l="101" r="101" b="60"/>
          <a:stretch>
            <a:fillRect/>
          </a:stretch>
        </p:blipFill>
        <p:spPr>
          <a:xfrm>
            <a:off x="1209675" y="857250"/>
            <a:ext cx="3143250" cy="5324475"/>
          </a:xfrm>
          <a:prstGeom prst="rect">
            <a:avLst/>
          </a:prstGeom>
          <a:effectLst/>
        </p:spPr>
      </p:pic>
      <p:pic>
        <p:nvPicPr>
          <p:cNvPr id="16" name="main-orchestration-module"/>
          <p:cNvPicPr>
            <a:picLocks noChangeAspect="1"/>
          </p:cNvPicPr>
          <p:nvPr/>
        </p:nvPicPr>
        <p:blipFill>
          <a:blip r:embed="rId4">
            <a:grayscl/>
          </a:blip>
          <a:srcRect r="104"/>
          <a:stretch>
            <a:fillRect/>
          </a:stretch>
        </p:blipFill>
        <p:spPr>
          <a:xfrm>
            <a:off x="4572000" y="857250"/>
            <a:ext cx="3057525" cy="2552700"/>
          </a:xfrm>
          <a:prstGeom prst="rect">
            <a:avLst/>
          </a:prstGeom>
          <a:effectLst/>
        </p:spPr>
      </p:pic>
      <p:pic>
        <p:nvPicPr>
          <p:cNvPr id="17" name="code-generation-module"/>
          <p:cNvPicPr>
            <a:picLocks noChangeAspect="1"/>
          </p:cNvPicPr>
          <p:nvPr/>
        </p:nvPicPr>
        <p:blipFill>
          <a:blip r:embed="rId5">
            <a:grayscl/>
          </a:blip>
          <a:srcRect/>
          <a:stretch>
            <a:fillRect/>
          </a:stretch>
        </p:blipFill>
        <p:spPr>
          <a:xfrm>
            <a:off x="7715250" y="857250"/>
            <a:ext cx="3276600" cy="2552700"/>
          </a:xfrm>
          <a:prstGeom prst="rect">
            <a:avLst/>
          </a:prstGeom>
          <a:effectLst/>
        </p:spPr>
      </p:pic>
      <p:pic>
        <p:nvPicPr>
          <p:cNvPr id="18" name="code-review-module"/>
          <p:cNvPicPr>
            <a:picLocks noChangeAspect="1"/>
          </p:cNvPicPr>
          <p:nvPr/>
        </p:nvPicPr>
        <p:blipFill>
          <a:blip r:embed="rId6">
            <a:grayscl/>
          </a:blip>
          <a:srcRect t="119" r="104" b="119"/>
          <a:stretch>
            <a:fillRect/>
          </a:stretch>
        </p:blipFill>
        <p:spPr>
          <a:xfrm>
            <a:off x="4572000" y="3514725"/>
            <a:ext cx="3057525" cy="2667000"/>
          </a:xfrm>
          <a:prstGeom prst="rect">
            <a:avLst/>
          </a:prstGeom>
          <a:effectLst/>
        </p:spPr>
      </p:pic>
      <p:pic>
        <p:nvPicPr>
          <p:cNvPr id="19" name="optimization-module"/>
          <p:cNvPicPr>
            <a:picLocks noChangeAspect="1"/>
          </p:cNvPicPr>
          <p:nvPr/>
        </p:nvPicPr>
        <p:blipFill>
          <a:blip r:embed="rId7">
            <a:grayscl/>
          </a:blip>
          <a:srcRect t="119" b="119"/>
          <a:stretch>
            <a:fillRect/>
          </a:stretch>
        </p:blipFill>
        <p:spPr>
          <a:xfrm>
            <a:off x="7715250" y="3514725"/>
            <a:ext cx="3276600" cy="2667000"/>
          </a:xfrm>
          <a:prstGeom prst="rect">
            <a:avLst/>
          </a:prstGeom>
          <a:effectLst/>
        </p:spPr>
      </p:pic>
      <p:sp>
        <p:nvSpPr>
          <p:cNvPr id="6" name="slide-4-title"/>
          <p:cNvSpPr>
            <a:spLocks noGrp="1"/>
          </p:cNvSpPr>
          <p:nvPr/>
        </p:nvSpPr>
        <p:spPr>
          <a:xfrm>
            <a:off x="1209675" y="260350"/>
            <a:ext cx="8048625" cy="4286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700" b="1" dirty="0">
                <a:solidFill>
                  <a:srgbClr val="243B53"/>
                </a:solidFill>
                <a:latin typeface="Arial" panose="020B0604020202020204" pitchFamily="34" charset="0"/>
                <a:ea typeface="微软雅黑" panose="020B0503020204020204" charset="-122"/>
                <a:cs typeface="微软雅黑" panose="020B0503020204020204" charset="-122"/>
              </a:rPr>
              <a:t>原寒武纪 </a:t>
            </a:r>
            <a:r>
              <a:rPr lang="en-US" sz="2700" b="1" dirty="0">
                <a:solidFill>
                  <a:srgbClr val="243B53"/>
                </a:solidFill>
                <a:latin typeface="Arial" panose="020B0604020202020204" pitchFamily="34" charset="0"/>
                <a:ea typeface="微软雅黑" panose="020B0503020204020204" charset="-122"/>
                <a:cs typeface="微软雅黑" panose="020B0503020204020204" charset="-122"/>
              </a:rPr>
              <a:t>Triton </a:t>
            </a:r>
            <a:r>
              <a:rPr lang="zh-CN" altLang="en-US" sz="2700" b="1" dirty="0">
                <a:solidFill>
                  <a:srgbClr val="243B53"/>
                </a:solidFill>
                <a:latin typeface="Arial" panose="020B0604020202020204" pitchFamily="34" charset="0"/>
                <a:ea typeface="微软雅黑" panose="020B0503020204020204" charset="-122"/>
                <a:cs typeface="微软雅黑" panose="020B0503020204020204" charset="-122"/>
              </a:rPr>
              <a:t>算子开发 </a:t>
            </a:r>
            <a:r>
              <a:rPr lang="en-US" sz="2700" b="1" dirty="0">
                <a:solidFill>
                  <a:srgbClr val="243B53"/>
                </a:solidFill>
                <a:latin typeface="Arial" panose="020B0604020202020204" pitchFamily="34" charset="0"/>
                <a:ea typeface="微软雅黑" panose="020B0503020204020204" charset="-122"/>
                <a:cs typeface="微软雅黑" panose="020B0503020204020204" charset="-122"/>
              </a:rPr>
              <a:t>Skill </a:t>
            </a:r>
            <a:r>
              <a:rPr lang="zh-CN" altLang="en-US" sz="2700" b="1" dirty="0">
                <a:solidFill>
                  <a:srgbClr val="243B53"/>
                </a:solidFill>
                <a:latin typeface="Arial" panose="020B0604020202020204" pitchFamily="34" charset="0"/>
                <a:ea typeface="微软雅黑" panose="020B0503020204020204" charset="-122"/>
                <a:cs typeface="微软雅黑" panose="020B0503020204020204" charset="-122"/>
              </a:rPr>
              <a:t>的结构</a:t>
            </a:r>
            <a:endParaRPr lang="zh-CN"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 name="slide-4-editable-footer"/>
          <p:cNvSpPr>
            <a:spLocks noGrp="1"/>
          </p:cNvSpPr>
          <p:nvPr/>
        </p:nvSpPr>
        <p:spPr>
          <a:xfrm>
            <a:off x="1209675" y="6286500"/>
            <a:ext cx="9782175" cy="428625"/>
          </a:xfrm>
          <a:prstGeom prst="rect">
            <a:avLst/>
          </a:prstGeom>
          <a:solidFill>
            <a:srgbClr val="EEF2F5"/>
          </a:solidFill>
          <a:ln w="0">
            <a:solidFill>
              <a:srgbClr val="D6DEE6"/>
            </a:solidFill>
            <a:prstDash val="solid"/>
          </a:ln>
          <a:effectLst/>
        </p:spPr>
        <p:txBody>
          <a:bodyPr wrap="square" lIns="133350" tIns="28575" rIns="133350" bIns="28575" anchor="ctr">
            <a:noAutofit/>
          </a:bodyPr>
          <a:lstStyle/>
          <a:p>
            <a:pPr algn="ctr">
              <a:buNone/>
              <a:defRPr sz="900" b="1">
                <a:solidFill>
                  <a:srgbClr val="072A67"/>
                </a:solidFill>
                <a:latin typeface="微软雅黑" panose="020B0503020204020204" charset="-122"/>
                <a:ea typeface="微软雅黑" panose="020B0503020204020204" charset="-122"/>
                <a:cs typeface="微软雅黑" panose="020B0503020204020204" charset="-122"/>
              </a:defRPr>
            </a:pPr>
            <a:r>
              <a:rPr sz="1400" b="1">
                <a:solidFill>
                  <a:srgbClr val="2F3A45"/>
                </a:solidFill>
                <a:latin typeface="Arial" panose="020B0604020202020204" pitchFamily="34" charset="0"/>
                <a:ea typeface="微软雅黑" panose="020B0503020204020204" charset="-122"/>
                <a:cs typeface="微软雅黑" panose="020B0503020204020204" charset="-122"/>
              </a:rPr>
              <a:t>原 MLU Triton Skill 采用“主流程编排 + 阶段 Skill + 专业 Sub-Agent”的分层流水线结构，将算子开发拆分为生成、验证和优化三个连续阶段。</a:t>
            </a:r>
          </a:p>
        </p:txBody>
      </p:sp>
      <p:pic>
        <p:nvPicPr>
          <p:cNvPr id="2" name="图片 1"/>
          <p:cNvPicPr>
            <a:picLocks noChangeAspect="1"/>
          </p:cNvPicPr>
          <p:nvPr/>
        </p:nvPicPr>
        <p:blipFill>
          <a:blip r:embed="rId8">
            <a:grayscl/>
          </a:blip>
          <a:stretch>
            <a:fillRect/>
          </a:stretch>
        </p:blipFill>
        <p:spPr>
          <a:xfrm>
            <a:off x="6816090" y="908685"/>
            <a:ext cx="723900" cy="857250"/>
          </a:xfrm>
          <a:prstGeom prst="rect">
            <a:avLst/>
          </a:prstGeom>
          <a:effectLst/>
        </p:spPr>
      </p:pic>
      <p:pic>
        <p:nvPicPr>
          <p:cNvPr id="3" name="图片 2"/>
          <p:cNvPicPr>
            <a:picLocks noChangeAspect="1"/>
          </p:cNvPicPr>
          <p:nvPr/>
        </p:nvPicPr>
        <p:blipFill>
          <a:blip r:embed="rId8">
            <a:grayscl/>
          </a:blip>
          <a:stretch>
            <a:fillRect/>
          </a:stretch>
        </p:blipFill>
        <p:spPr>
          <a:xfrm>
            <a:off x="10223500" y="980440"/>
            <a:ext cx="503555" cy="596265"/>
          </a:xfrm>
          <a:prstGeom prst="rect">
            <a:avLst/>
          </a:prstGeom>
          <a:effectLst/>
        </p:spPr>
      </p:pic>
      <p:pic>
        <p:nvPicPr>
          <p:cNvPr id="4" name="图片 3"/>
          <p:cNvPicPr>
            <a:picLocks noChangeAspect="1"/>
          </p:cNvPicPr>
          <p:nvPr/>
        </p:nvPicPr>
        <p:blipFill>
          <a:blip r:embed="rId8">
            <a:grayscl/>
          </a:blip>
          <a:stretch>
            <a:fillRect/>
          </a:stretch>
        </p:blipFill>
        <p:spPr>
          <a:xfrm>
            <a:off x="7049770" y="3573145"/>
            <a:ext cx="490220" cy="581025"/>
          </a:xfrm>
          <a:prstGeom prst="rect">
            <a:avLst/>
          </a:prstGeom>
          <a:effectLst/>
        </p:spPr>
      </p:pic>
      <p:pic>
        <p:nvPicPr>
          <p:cNvPr id="5" name="图片 4"/>
          <p:cNvPicPr>
            <a:picLocks noChangeAspect="1"/>
          </p:cNvPicPr>
          <p:nvPr/>
        </p:nvPicPr>
        <p:blipFill>
          <a:blip r:embed="rId8">
            <a:grayscl/>
          </a:blip>
          <a:stretch>
            <a:fillRect/>
          </a:stretch>
        </p:blipFill>
        <p:spPr>
          <a:xfrm>
            <a:off x="10344150" y="3573145"/>
            <a:ext cx="436245" cy="516890"/>
          </a:xfrm>
          <a:prstGeom prst="rect">
            <a:avLst/>
          </a:prstGeom>
          <a:effectLst/>
        </p:spPr>
      </p:pic>
      <p:sp>
        <p:nvSpPr>
          <p:cNvPr id="7"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12</a:t>
            </a:r>
          </a:p>
        </p:txBody>
      </p:sp>
      <p:sp>
        <p:nvSpPr>
          <p:cNvPr id="2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2.1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slide-5-title"/>
          <p:cNvSpPr>
            <a:spLocks noGrp="1"/>
          </p:cNvSpPr>
          <p:nvPr/>
        </p:nvSpPr>
        <p:spPr>
          <a:xfrm>
            <a:off x="996949" y="196255"/>
            <a:ext cx="9652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3000" b="1" dirty="0">
                <a:solidFill>
                  <a:srgbClr val="243B53"/>
                </a:solidFill>
                <a:latin typeface="Arial" panose="020B0604020202020204" pitchFamily="34" charset="0"/>
                <a:ea typeface="微软雅黑" panose="020B0503020204020204" charset="-122"/>
                <a:cs typeface="微软雅黑" panose="020B0503020204020204" charset="-122"/>
              </a:rPr>
              <a:t>开发一个算子的流程</a:t>
            </a:r>
            <a:endParaRPr lang="zh-CN"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4" name="measurement-section-frame"/>
          <p:cNvSpPr>
            <a:spLocks noGrp="1"/>
          </p:cNvSpPr>
          <p:nvPr/>
        </p:nvSpPr>
        <p:spPr>
          <a:xfrm>
            <a:off x="254000" y="4533900"/>
            <a:ext cx="11684000" cy="1651000"/>
          </a:xfrm>
          <a:prstGeom prst="rect">
            <a:avLst/>
          </a:prstGeom>
          <a:noFill/>
          <a:ln w="12700">
            <a:solidFill>
              <a:srgbClr val="D6DEE6"/>
            </a:solid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endParaRPr/>
          </a:p>
        </p:txBody>
      </p:sp>
      <p:sp>
        <p:nvSpPr>
          <p:cNvPr id="15" name="measurement-title"/>
          <p:cNvSpPr>
            <a:spLocks noGrp="1"/>
          </p:cNvSpPr>
          <p:nvPr/>
        </p:nvSpPr>
        <p:spPr>
          <a:xfrm>
            <a:off x="381000" y="4597400"/>
            <a:ext cx="4572000" cy="279400"/>
          </a:xfrm>
          <a:prstGeom prst="rect">
            <a:avLst/>
          </a:prstGeom>
          <a:noFill/>
          <a:ln w="0">
            <a:noFill/>
            <a:prstDash val="solid"/>
          </a:ln>
          <a:effectLst/>
        </p:spPr>
        <p:txBody>
          <a:bodyPr wrap="square" lIns="0" tIns="0" rIns="0" bIns="0" anchor="t">
            <a:noAutofit/>
          </a:bodyPr>
          <a:lstStyle/>
          <a:p>
            <a:pPr>
              <a:buNone/>
              <a:defRPr sz="1275" b="1">
                <a:solidFill>
                  <a:srgbClr val="0A3B88"/>
                </a:solidFill>
                <a:latin typeface="微软雅黑" panose="020B0503020204020204" charset="-122"/>
                <a:ea typeface="微软雅黑" panose="020B0503020204020204" charset="-122"/>
                <a:cs typeface="微软雅黑" panose="020B0503020204020204" charset="-122"/>
              </a:defRPr>
            </a:pPr>
            <a:r>
              <a:rPr sz="1400" b="1" dirty="0" err="1" smtClean="0">
                <a:solidFill>
                  <a:srgbClr val="243B53"/>
                </a:solidFill>
                <a:latin typeface="Arial" panose="020B0604020202020204" pitchFamily="34" charset="0"/>
                <a:ea typeface="微软雅黑" panose="020B0503020204020204" charset="-122"/>
                <a:cs typeface="微软雅黑" panose="020B0503020204020204" charset="-122"/>
              </a:rPr>
              <a:t>已开发算子实测</a:t>
            </a:r>
            <a:r>
              <a:rPr lang="zh-CN" altLang="en-US" sz="1400" b="1" dirty="0" smtClean="0">
                <a:solidFill>
                  <a:srgbClr val="243B53"/>
                </a:solidFill>
                <a:latin typeface="Arial" panose="020B0604020202020204" pitchFamily="34" charset="0"/>
                <a:ea typeface="微软雅黑" panose="020B0503020204020204" charset="-122"/>
                <a:cs typeface="微软雅黑" panose="020B0503020204020204" charset="-122"/>
              </a:rPr>
              <a:t>（旧</a:t>
            </a:r>
            <a:r>
              <a:rPr lang="zh-CN" altLang="en-US" sz="1400" b="1" dirty="0">
                <a:solidFill>
                  <a:srgbClr val="243B53"/>
                </a:solidFill>
                <a:latin typeface="Arial" panose="020B0604020202020204" pitchFamily="34" charset="0"/>
                <a:ea typeface="微软雅黑" panose="020B0503020204020204" charset="-122"/>
                <a:cs typeface="微软雅黑" panose="020B0503020204020204" charset="-122"/>
              </a:rPr>
              <a:t>结构</a:t>
            </a:r>
            <a:r>
              <a:rPr lang="zh-CN" altLang="en-US" sz="1400" b="1" dirty="0" smtClean="0">
                <a:solidFill>
                  <a:srgbClr val="243B53"/>
                </a:solidFill>
                <a:latin typeface="Arial" panose="020B0604020202020204" pitchFamily="34" charset="0"/>
                <a:ea typeface="微软雅黑" panose="020B0503020204020204" charset="-122"/>
                <a:cs typeface="微软雅黑" panose="020B0503020204020204" charset="-122"/>
              </a:rPr>
              <a:t>）</a:t>
            </a:r>
            <a:r>
              <a:rPr sz="1400" b="1" dirty="0" smtClean="0">
                <a:solidFill>
                  <a:srgbClr val="243B53"/>
                </a:solidFill>
                <a:latin typeface="Arial" panose="020B0604020202020204" pitchFamily="34" charset="0"/>
                <a:ea typeface="微软雅黑" panose="020B0503020204020204" charset="-122"/>
                <a:cs typeface="微软雅黑" panose="020B0503020204020204" charset="-122"/>
              </a:rPr>
              <a:t>：</a:t>
            </a:r>
            <a:r>
              <a:rPr sz="1400" b="1" dirty="0" err="1">
                <a:solidFill>
                  <a:srgbClr val="243B53"/>
                </a:solidFill>
                <a:latin typeface="Arial" panose="020B0604020202020204" pitchFamily="34" charset="0"/>
                <a:ea typeface="微软雅黑" panose="020B0503020204020204" charset="-122"/>
                <a:cs typeface="微软雅黑" panose="020B0503020204020204" charset="-122"/>
              </a:rPr>
              <a:t>开发效率与最终性能</a:t>
            </a:r>
            <a:endParaRPr sz="14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6" name="speedup-label"/>
          <p:cNvSpPr>
            <a:spLocks noGrp="1"/>
          </p:cNvSpPr>
          <p:nvPr/>
        </p:nvSpPr>
        <p:spPr>
          <a:xfrm>
            <a:off x="8661400" y="5054600"/>
            <a:ext cx="762000"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50" b="1" dirty="0" err="1">
                <a:solidFill>
                  <a:srgbClr val="66737F"/>
                </a:solidFill>
                <a:latin typeface="Arial" panose="020B0604020202020204" pitchFamily="34" charset="0"/>
                <a:ea typeface="微软雅黑" panose="020B0503020204020204" charset="-122"/>
                <a:cs typeface="微软雅黑" panose="020B0503020204020204" charset="-122"/>
              </a:rPr>
              <a:t>加速比</a:t>
            </a:r>
            <a:r>
              <a:rPr sz="1050" b="1" dirty="0">
                <a:solidFill>
                  <a:srgbClr val="66737F"/>
                </a:solidFill>
                <a:latin typeface="Arial" panose="020B0604020202020204" pitchFamily="34" charset="0"/>
                <a:ea typeface="微软雅黑" panose="020B0503020204020204" charset="-122"/>
                <a:cs typeface="微软雅黑" panose="020B0503020204020204" charset="-122"/>
              </a:rPr>
              <a:t> =</a:t>
            </a:r>
          </a:p>
        </p:txBody>
      </p:sp>
      <p:sp>
        <p:nvSpPr>
          <p:cNvPr id="17" name="speedup-formula"/>
          <p:cNvSpPr>
            <a:spLocks noGrp="1"/>
          </p:cNvSpPr>
          <p:nvPr/>
        </p:nvSpPr>
        <p:spPr>
          <a:xfrm>
            <a:off x="9423399" y="5054600"/>
            <a:ext cx="2387600" cy="2540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err="1">
                <a:solidFill>
                  <a:srgbClr val="2F3A45"/>
                </a:solidFill>
                <a:latin typeface="Arial" panose="020B0604020202020204" pitchFamily="34" charset="0"/>
                <a:ea typeface="微软雅黑" panose="020B0503020204020204" charset="-122"/>
                <a:cs typeface="微软雅黑" panose="020B0503020204020204" charset="-122"/>
              </a:rPr>
              <a:t>平台基线耗时</a:t>
            </a:r>
            <a:r>
              <a:rPr sz="1050" dirty="0">
                <a:solidFill>
                  <a:srgbClr val="2F3A45"/>
                </a:solidFill>
                <a:latin typeface="Arial" panose="020B0604020202020204" pitchFamily="34" charset="0"/>
                <a:ea typeface="微软雅黑" panose="020B0503020204020204" charset="-122"/>
                <a:cs typeface="微软雅黑" panose="020B0503020204020204" charset="-122"/>
              </a:rPr>
              <a:t> / </a:t>
            </a:r>
            <a:r>
              <a:rPr sz="1050" dirty="0" err="1">
                <a:solidFill>
                  <a:srgbClr val="2F3A45"/>
                </a:solidFill>
                <a:latin typeface="Arial" panose="020B0604020202020204" pitchFamily="34" charset="0"/>
                <a:ea typeface="微软雅黑" panose="020B0503020204020204" charset="-122"/>
                <a:cs typeface="微软雅黑" panose="020B0503020204020204" charset="-122"/>
              </a:rPr>
              <a:t>优化后</a:t>
            </a:r>
            <a:r>
              <a:rPr sz="1050" dirty="0">
                <a:solidFill>
                  <a:srgbClr val="2F3A45"/>
                </a:solidFill>
                <a:latin typeface="Arial" panose="020B0604020202020204" pitchFamily="34" charset="0"/>
                <a:ea typeface="微软雅黑" panose="020B0503020204020204" charset="-122"/>
                <a:cs typeface="微软雅黑" panose="020B0503020204020204" charset="-122"/>
              </a:rPr>
              <a:t> Kernel </a:t>
            </a:r>
            <a:r>
              <a:rPr sz="1050" dirty="0" err="1">
                <a:solidFill>
                  <a:srgbClr val="2F3A45"/>
                </a:solidFill>
                <a:latin typeface="Arial" panose="020B0604020202020204" pitchFamily="34" charset="0"/>
                <a:ea typeface="微软雅黑" panose="020B0503020204020204" charset="-122"/>
                <a:cs typeface="微软雅黑" panose="020B0503020204020204" charset="-122"/>
              </a:rPr>
              <a:t>耗时</a:t>
            </a:r>
            <a:endParaRPr sz="105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8" name="development-time-label"/>
          <p:cNvSpPr>
            <a:spLocks noGrp="1"/>
          </p:cNvSpPr>
          <p:nvPr/>
        </p:nvSpPr>
        <p:spPr>
          <a:xfrm>
            <a:off x="8661400" y="5549900"/>
            <a:ext cx="825500"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50" b="1" dirty="0" err="1">
                <a:solidFill>
                  <a:srgbClr val="66737F"/>
                </a:solidFill>
                <a:latin typeface="Arial" panose="020B0604020202020204" pitchFamily="34" charset="0"/>
                <a:ea typeface="微软雅黑" panose="020B0503020204020204" charset="-122"/>
                <a:cs typeface="微软雅黑" panose="020B0503020204020204" charset="-122"/>
              </a:rPr>
              <a:t>开发耗时</a:t>
            </a:r>
            <a:r>
              <a:rPr sz="1050" b="1" dirty="0">
                <a:solidFill>
                  <a:srgbClr val="66737F"/>
                </a:solidFill>
                <a:latin typeface="Arial" panose="020B0604020202020204" pitchFamily="34" charset="0"/>
                <a:ea typeface="微软雅黑" panose="020B0503020204020204" charset="-122"/>
                <a:cs typeface="微软雅黑" panose="020B0503020204020204" charset="-122"/>
              </a:rPr>
              <a:t> =</a:t>
            </a:r>
          </a:p>
        </p:txBody>
      </p:sp>
      <p:sp>
        <p:nvSpPr>
          <p:cNvPr id="19" name="development-time-definition"/>
          <p:cNvSpPr>
            <a:spLocks noGrp="1"/>
          </p:cNvSpPr>
          <p:nvPr/>
        </p:nvSpPr>
        <p:spPr>
          <a:xfrm>
            <a:off x="9486899" y="5511800"/>
            <a:ext cx="232410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err="1">
                <a:solidFill>
                  <a:srgbClr val="2F3A45"/>
                </a:solidFill>
                <a:latin typeface="Arial" panose="020B0604020202020204" pitchFamily="34" charset="0"/>
                <a:ea typeface="微软雅黑" panose="020B0503020204020204" charset="-122"/>
                <a:cs typeface="微软雅黑" panose="020B0503020204020204" charset="-122"/>
              </a:rPr>
              <a:t>从需求提交到获得最终可用</a:t>
            </a:r>
            <a:endParaRPr sz="1050" dirty="0">
              <a:solidFill>
                <a:srgbClr val="2F3A45"/>
              </a:solidFill>
              <a:latin typeface="Arial" panose="020B0604020202020204" pitchFamily="34" charset="0"/>
              <a:ea typeface="微软雅黑" panose="020B0503020204020204" charset="-122"/>
              <a:cs typeface="微软雅黑" panose="020B0503020204020204" charset="-122"/>
            </a:endParaRPr>
          </a:p>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a:solidFill>
                  <a:srgbClr val="2F3A45"/>
                </a:solidFill>
                <a:latin typeface="Arial" panose="020B0604020202020204" pitchFamily="34" charset="0"/>
                <a:ea typeface="微软雅黑" panose="020B0503020204020204" charset="-122"/>
                <a:cs typeface="微软雅黑" panose="020B0503020204020204" charset="-122"/>
              </a:rPr>
              <a:t>Kernel </a:t>
            </a:r>
            <a:r>
              <a:rPr sz="1050" dirty="0" err="1">
                <a:solidFill>
                  <a:srgbClr val="2F3A45"/>
                </a:solidFill>
                <a:latin typeface="Arial" panose="020B0604020202020204" pitchFamily="34" charset="0"/>
                <a:ea typeface="微软雅黑" panose="020B0503020204020204" charset="-122"/>
                <a:cs typeface="微软雅黑" panose="020B0503020204020204" charset="-122"/>
              </a:rPr>
              <a:t>的端到端时间</a:t>
            </a:r>
            <a:endParaRPr sz="1050" dirty="0">
              <a:solidFill>
                <a:srgbClr val="2F3A45"/>
              </a:solidFill>
              <a:latin typeface="Arial" panose="020B0604020202020204" pitchFamily="34" charset="0"/>
              <a:ea typeface="微软雅黑" panose="020B0503020204020204" charset="-122"/>
              <a:cs typeface="微软雅黑" panose="020B0503020204020204" charset="-122"/>
            </a:endParaRPr>
          </a:p>
        </p:txBody>
      </p:sp>
      <p:graphicFrame>
        <p:nvGraphicFramePr>
          <p:cNvPr id="58" name="operator-measurement-table"/>
          <p:cNvGraphicFramePr/>
          <p:nvPr/>
        </p:nvGraphicFramePr>
        <p:xfrm>
          <a:off x="381000" y="4953000"/>
          <a:ext cx="7620000" cy="1143000"/>
        </p:xfrm>
        <a:graphic>
          <a:graphicData uri="http://schemas.openxmlformats.org/drawingml/2006/table">
            <a:tbl>
              <a:tblPr firstRow="1">
                <a:effectLst/>
              </a:tblPr>
              <a:tblGrid>
                <a:gridCol w="1476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285750">
                <a:tc>
                  <a:txBody>
                    <a:bodyPr/>
                    <a:lstStyle/>
                    <a:p>
                      <a:pPr algn="ctr">
                        <a:buNone/>
                      </a:pPr>
                      <a:r>
                        <a:rPr sz="1050" b="1">
                          <a:solidFill>
                            <a:srgbClr val="FFFFFF"/>
                          </a:solidFill>
                          <a:latin typeface="Arial" panose="020B0604020202020204" pitchFamily="34" charset="0"/>
                          <a:ea typeface="微软雅黑" panose="020B0503020204020204" charset="-122"/>
                          <a:cs typeface="微软雅黑" panose="020B0503020204020204" charset="-122"/>
                        </a:rPr>
                        <a:t>算子</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lang="zh-CN" altLang="en-US" sz="1050" b="1" dirty="0">
                          <a:solidFill>
                            <a:srgbClr val="FFFFFF"/>
                          </a:solidFill>
                          <a:latin typeface="Arial" panose="020B0604020202020204" pitchFamily="34" charset="0"/>
                          <a:ea typeface="微软雅黑" panose="020B0503020204020204" charset="-122"/>
                          <a:cs typeface="微软雅黑" panose="020B0503020204020204" charset="-122"/>
                        </a:rPr>
                        <a:t>误差</a:t>
                      </a:r>
                      <a:endParaRPr sz="1050" b="1" dirty="0">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050" b="1">
                          <a:solidFill>
                            <a:srgbClr val="FFFFFF"/>
                          </a:solidFill>
                          <a:latin typeface="Arial" panose="020B0604020202020204" pitchFamily="34" charset="0"/>
                          <a:ea typeface="微软雅黑" panose="020B0503020204020204" charset="-122"/>
                          <a:cs typeface="微软雅黑" panose="020B0503020204020204" charset="-122"/>
                        </a:rPr>
                        <a:t>相对基线加速比</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050" b="1">
                          <a:solidFill>
                            <a:srgbClr val="FFFFFF"/>
                          </a:solidFill>
                          <a:latin typeface="Arial" panose="020B0604020202020204" pitchFamily="34" charset="0"/>
                          <a:ea typeface="微软雅黑" panose="020B0503020204020204" charset="-122"/>
                          <a:cs typeface="微软雅黑" panose="020B0503020204020204" charset="-122"/>
                        </a:rPr>
                        <a:t>开发耗时</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lang="zh-CN" altLang="en-US" sz="1050" b="1" dirty="0">
                          <a:solidFill>
                            <a:srgbClr val="FFFFFF"/>
                          </a:solidFill>
                          <a:latin typeface="Arial" panose="020B0604020202020204" pitchFamily="34" charset="0"/>
                          <a:ea typeface="微软雅黑" panose="020B0503020204020204" charset="-122"/>
                          <a:cs typeface="微软雅黑" panose="020B0503020204020204" charset="-122"/>
                        </a:rPr>
                        <a:t>运行时间</a:t>
                      </a:r>
                      <a:endParaRPr sz="1050" b="1" dirty="0">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285750">
                <a:tc>
                  <a:txBody>
                    <a:bodyPr/>
                    <a:lstStyle/>
                    <a:p>
                      <a:pPr algn="ctr">
                        <a:buNone/>
                      </a:pPr>
                      <a:r>
                        <a:rPr sz="1050" b="1" dirty="0" err="1">
                          <a:solidFill>
                            <a:srgbClr val="2F3A45"/>
                          </a:solidFill>
                          <a:latin typeface="Arial" panose="020B0604020202020204" pitchFamily="34" charset="0"/>
                          <a:ea typeface="微软雅黑" panose="020B0503020204020204" charset="-122"/>
                          <a:cs typeface="微软雅黑" panose="020B0503020204020204" charset="-122"/>
                        </a:rPr>
                        <a:t>LayerNorm</a:t>
                      </a:r>
                      <a:endParaRPr sz="105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e</a:t>
                      </a:r>
                      <a:r>
                        <a:rPr lang="en-US" altLang="zh-CN" sz="1050" b="0" baseline="30000" dirty="0">
                          <a:solidFill>
                            <a:srgbClr val="2F3A45"/>
                          </a:solidFill>
                          <a:latin typeface="Arial" panose="020B0604020202020204" pitchFamily="34" charset="0"/>
                          <a:ea typeface="微软雅黑" panose="020B0503020204020204" charset="-122"/>
                          <a:cs typeface="微软雅黑" panose="020B0503020204020204" charset="-122"/>
                        </a:rPr>
                        <a:t>-6</a:t>
                      </a:r>
                      <a:endParaRPr sz="1050" b="0" baseline="3000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0.86</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FF0000"/>
                          </a:solidFill>
                          <a:latin typeface="Arial" panose="020B0604020202020204" pitchFamily="34" charset="0"/>
                          <a:ea typeface="微软雅黑" panose="020B0503020204020204" charset="-122"/>
                          <a:cs typeface="微软雅黑" panose="020B0503020204020204" charset="-122"/>
                        </a:rPr>
                        <a:t>3</a:t>
                      </a:r>
                      <a:r>
                        <a:rPr lang="en-US" altLang="zh-CN" sz="1050" b="0" dirty="0">
                          <a:solidFill>
                            <a:srgbClr val="FF0000"/>
                          </a:solidFill>
                          <a:latin typeface="Arial" panose="020B0604020202020204" pitchFamily="34" charset="0"/>
                          <a:ea typeface="微软雅黑" panose="020B0503020204020204" charset="-122"/>
                          <a:cs typeface="微软雅黑" panose="020B0503020204020204" charset="-122"/>
                        </a:rPr>
                        <a:t>h33m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0.175</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ms</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285750">
                <a:tc>
                  <a:txBody>
                    <a:bodyPr/>
                    <a:lstStyle/>
                    <a:p>
                      <a:pPr algn="ctr">
                        <a:buNone/>
                      </a:pPr>
                      <a:r>
                        <a:rPr sz="1050" b="1">
                          <a:solidFill>
                            <a:srgbClr val="2F3A45"/>
                          </a:solidFill>
                          <a:latin typeface="Arial" panose="020B0604020202020204" pitchFamily="34" charset="0"/>
                          <a:ea typeface="微软雅黑" panose="020B050302020402020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e</a:t>
                      </a:r>
                      <a:r>
                        <a:rPr lang="en-US" altLang="zh-CN" sz="1050" b="0" baseline="30000" dirty="0">
                          <a:solidFill>
                            <a:srgbClr val="2F3A45"/>
                          </a:solidFill>
                          <a:latin typeface="Arial" panose="020B0604020202020204" pitchFamily="34" charset="0"/>
                          <a:ea typeface="微软雅黑" panose="020B0503020204020204" charset="-122"/>
                          <a:cs typeface="微软雅黑" panose="020B0503020204020204" charset="-122"/>
                        </a:rPr>
                        <a:t>-5</a:t>
                      </a:r>
                      <a:endParaRPr sz="1050" b="0" baseline="3000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050" b="1" dirty="0">
                          <a:solidFill>
                            <a:srgbClr val="4F8A83"/>
                          </a:solidFill>
                          <a:latin typeface="Arial" panose="020B0604020202020204" pitchFamily="34" charset="0"/>
                          <a:ea typeface="微软雅黑" panose="020B0503020204020204" charset="-122"/>
                          <a:cs typeface="微软雅黑" panose="020B0503020204020204" charset="-122"/>
                        </a:rPr>
                        <a:t>1.23</a:t>
                      </a:r>
                      <a:endParaRPr sz="105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h</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0.086</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ms</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285750">
                <a:tc>
                  <a:txBody>
                    <a:bodyPr/>
                    <a:lstStyle/>
                    <a:p>
                      <a:pPr algn="ctr">
                        <a:buNone/>
                      </a:pPr>
                      <a:r>
                        <a:rPr sz="1050" b="1">
                          <a:solidFill>
                            <a:srgbClr val="2F3A45"/>
                          </a:solidFill>
                          <a:latin typeface="Arial" panose="020B0604020202020204" pitchFamily="34" charset="0"/>
                          <a:ea typeface="微软雅黑" panose="020B050302020402020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e</a:t>
                      </a:r>
                      <a:r>
                        <a:rPr lang="en-US" altLang="zh-CN" sz="1050" b="0" baseline="30000" dirty="0">
                          <a:solidFill>
                            <a:srgbClr val="2F3A45"/>
                          </a:solidFill>
                          <a:latin typeface="Arial" panose="020B0604020202020204" pitchFamily="34" charset="0"/>
                          <a:ea typeface="微软雅黑" panose="020B0503020204020204" charset="-122"/>
                          <a:cs typeface="微软雅黑" panose="020B0503020204020204" charset="-122"/>
                        </a:rPr>
                        <a:t>-5</a:t>
                      </a:r>
                      <a:endParaRPr sz="1050" b="0" baseline="3000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1" dirty="0">
                          <a:solidFill>
                            <a:srgbClr val="C77C59"/>
                          </a:solidFill>
                          <a:latin typeface="Arial" panose="020B0604020202020204" pitchFamily="34" charset="0"/>
                          <a:ea typeface="微软雅黑" panose="020B0503020204020204" charset="-122"/>
                          <a:cs typeface="微软雅黑" panose="020B0503020204020204" charset="-122"/>
                        </a:rPr>
                        <a:t>0.45</a:t>
                      </a:r>
                      <a:endParaRPr sz="105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h55m</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11.84</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ms</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13</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8" name="s8-primary-chain"/>
          <p:cNvSpPr txBox="1"/>
          <p:nvPr/>
        </p:nvSpPr>
        <p:spPr>
          <a:xfrm>
            <a:off x="2921000" y="838200"/>
            <a:ext cx="6350000" cy="369332"/>
          </a:xfrm>
          <a:prstGeom prst="rect">
            <a:avLst/>
          </a:prstGeom>
          <a:noFill/>
        </p:spPr>
        <p:txBody>
          <a:bodyPr vert="horz" wrap="square" lIns="0" tIns="0" rIns="0" bIns="0" rtlCol="0" anchor="t">
            <a:noAutofit/>
          </a:bodyPr>
          <a:lstStyle/>
          <a:p>
            <a:pPr algn="ctr"/>
            <a:r>
              <a:rPr lang="zh-CN" altLang="en-US" sz="1700" b="1">
                <a:solidFill>
                  <a:srgbClr val="294A6D"/>
                </a:solidFill>
                <a:latin typeface="Arial" panose="020B0604020202020204" pitchFamily="34" charset="0"/>
                <a:ea typeface="微软雅黑" panose="020B0503020204020204" charset="-122"/>
              </a:rPr>
              <a:t>需求  →  生成  →  验证  →  优化  →  交付</a:t>
            </a:r>
          </a:p>
        </p:txBody>
      </p:sp>
      <p:sp>
        <p:nvSpPr>
          <p:cNvPr id="9" name="s8-stage-number-1"/>
          <p:cNvSpPr txBox="1"/>
          <p:nvPr/>
        </p:nvSpPr>
        <p:spPr>
          <a:xfrm>
            <a:off x="508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微软雅黑" panose="020B0503020204020204" charset="-122"/>
              </a:rPr>
              <a:t>01.</a:t>
            </a:r>
            <a:endParaRPr lang="zh-CN" altLang="en-US" sz="1250" b="1">
              <a:solidFill>
                <a:srgbClr val="294A6D"/>
              </a:solidFill>
              <a:latin typeface="Arial" panose="020B0604020202020204" pitchFamily="34" charset="0"/>
              <a:ea typeface="微软雅黑" panose="020B0503020204020204" charset="-122"/>
            </a:endParaRPr>
          </a:p>
        </p:txBody>
      </p:sp>
      <p:sp>
        <p:nvSpPr>
          <p:cNvPr id="10" name="s8-stage-name-1"/>
          <p:cNvSpPr txBox="1"/>
          <p:nvPr/>
        </p:nvSpPr>
        <p:spPr>
          <a:xfrm>
            <a:off x="508000" y="1739900"/>
            <a:ext cx="1651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用户输入</a:t>
            </a:r>
          </a:p>
        </p:txBody>
      </p:sp>
      <p:sp>
        <p:nvSpPr>
          <p:cNvPr id="11" name="s8-stage-action-label-1"/>
          <p:cNvSpPr txBox="1"/>
          <p:nvPr/>
        </p:nvSpPr>
        <p:spPr>
          <a:xfrm>
            <a:off x="508000" y="2463800"/>
            <a:ext cx="1651000" cy="369332"/>
          </a:xfrm>
          <a:prstGeom prst="rect">
            <a:avLst/>
          </a:prstGeom>
          <a:noFill/>
        </p:spPr>
        <p:txBody>
          <a:bodyPr vert="horz" wrap="square" lIns="0" tIns="0" rIns="0" bIns="0" rtlCol="0" anchor="t">
            <a:noAutofit/>
          </a:bodyPr>
          <a:lstStyle/>
          <a:p>
            <a:r>
              <a:rPr lang="zh-CN" altLang="en-US" sz="1050" b="1" dirty="0">
                <a:solidFill>
                  <a:srgbClr val="66737F"/>
                </a:solidFill>
                <a:latin typeface="Arial" panose="020B0604020202020204" pitchFamily="34" charset="0"/>
                <a:ea typeface="微软雅黑" panose="020B0503020204020204" charset="-122"/>
              </a:rPr>
              <a:t>核心动作</a:t>
            </a:r>
          </a:p>
        </p:txBody>
      </p:sp>
      <p:sp>
        <p:nvSpPr>
          <p:cNvPr id="13" name="s8-stage-action-1"/>
          <p:cNvSpPr txBox="1"/>
          <p:nvPr/>
        </p:nvSpPr>
        <p:spPr>
          <a:xfrm>
            <a:off x="508000" y="2743200"/>
            <a:ext cx="1651000" cy="923330"/>
          </a:xfrm>
          <a:prstGeom prst="rect">
            <a:avLst/>
          </a:prstGeom>
          <a:noFill/>
        </p:spPr>
        <p:txBody>
          <a:bodyPr vert="horz" wrap="square" lIns="0" tIns="0" rIns="0" bIns="0" rtlCol="0" anchor="t">
            <a:noAutofit/>
          </a:bodyPr>
          <a:lstStyle/>
          <a:p>
            <a:r>
              <a:rPr lang="zh-CN" altLang="en-US" sz="1220" dirty="0">
                <a:solidFill>
                  <a:srgbClr val="2F3A45"/>
                </a:solidFill>
                <a:latin typeface="Arial" panose="020B0604020202020204" pitchFamily="34" charset="0"/>
                <a:ea typeface="微软雅黑" panose="020B0503020204020204" charset="-122"/>
              </a:rPr>
              <a:t>理解</a:t>
            </a:r>
            <a:r>
              <a:rPr lang="zh-CN" altLang="en-US" sz="1220" dirty="0" smtClean="0">
                <a:solidFill>
                  <a:srgbClr val="2F3A45"/>
                </a:solidFill>
                <a:latin typeface="Arial" panose="020B0604020202020204" pitchFamily="34" charset="0"/>
                <a:ea typeface="微软雅黑" panose="020B0503020204020204" charset="-122"/>
              </a:rPr>
              <a:t>输入</a:t>
            </a:r>
            <a:endParaRPr lang="zh-CN" altLang="en-US" sz="1220" dirty="0">
              <a:solidFill>
                <a:srgbClr val="2F3A45"/>
              </a:solidFill>
              <a:latin typeface="Arial" panose="020B0604020202020204" pitchFamily="34" charset="0"/>
              <a:ea typeface="微软雅黑" panose="020B0503020204020204" charset="-122"/>
            </a:endParaRPr>
          </a:p>
        </p:txBody>
      </p:sp>
      <p:sp>
        <p:nvSpPr>
          <p:cNvPr id="20" name="s8-stage-output-label-1"/>
          <p:cNvSpPr txBox="1"/>
          <p:nvPr/>
        </p:nvSpPr>
        <p:spPr>
          <a:xfrm>
            <a:off x="50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p>
        </p:txBody>
      </p:sp>
      <p:sp>
        <p:nvSpPr>
          <p:cNvPr id="22" name="s8-stage-output-1"/>
          <p:cNvSpPr txBox="1"/>
          <p:nvPr/>
        </p:nvSpPr>
        <p:spPr>
          <a:xfrm>
            <a:off x="508000" y="3860800"/>
            <a:ext cx="1651000" cy="369332"/>
          </a:xfrm>
          <a:prstGeom prst="rect">
            <a:avLst/>
          </a:prstGeom>
          <a:noFill/>
        </p:spPr>
        <p:txBody>
          <a:bodyPr vert="horz" wrap="square" lIns="0" tIns="0" rIns="0" bIns="0" rtlCol="0" anchor="t">
            <a:noAutofit/>
          </a:bodyPr>
          <a:lstStyle/>
          <a:p>
            <a:r>
              <a:rPr lang="zh-CN" altLang="en-US" sz="1140" b="1">
                <a:solidFill>
                  <a:srgbClr val="294A6D"/>
                </a:solidFill>
                <a:latin typeface="Arial" panose="020B0604020202020204" pitchFamily="34" charset="0"/>
                <a:ea typeface="微软雅黑" panose="020B0503020204020204" charset="-122"/>
              </a:rPr>
              <a:t>算子需求</a:t>
            </a:r>
          </a:p>
        </p:txBody>
      </p:sp>
      <p:cxnSp>
        <p:nvCxnSpPr>
          <p:cNvPr id="23" name="s8-stage-divider-2"/>
          <p:cNvCxnSpPr/>
          <p:nvPr/>
        </p:nvCxnSpPr>
        <p:spPr>
          <a:xfrm>
            <a:off x="228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4" name="s8-stage-number-2"/>
          <p:cNvSpPr txBox="1"/>
          <p:nvPr/>
        </p:nvSpPr>
        <p:spPr>
          <a:xfrm>
            <a:off x="2413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微软雅黑" panose="020B0503020204020204" charset="-122"/>
              </a:rPr>
              <a:t>02.</a:t>
            </a:r>
            <a:endParaRPr lang="zh-CN" altLang="en-US" sz="1250" b="1">
              <a:solidFill>
                <a:srgbClr val="294A6D"/>
              </a:solidFill>
              <a:latin typeface="Arial" panose="020B0604020202020204" pitchFamily="34" charset="0"/>
              <a:ea typeface="微软雅黑" panose="020B0503020204020204" charset="-122"/>
            </a:endParaRPr>
          </a:p>
        </p:txBody>
      </p:sp>
      <p:sp>
        <p:nvSpPr>
          <p:cNvPr id="25" name="s8-stage-name-2"/>
          <p:cNvSpPr txBox="1"/>
          <p:nvPr/>
        </p:nvSpPr>
        <p:spPr>
          <a:xfrm>
            <a:off x="2413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环境与需求准备</a:t>
            </a:r>
          </a:p>
        </p:txBody>
      </p:sp>
      <p:sp>
        <p:nvSpPr>
          <p:cNvPr id="26" name="s8-stage-action-label-2"/>
          <p:cNvSpPr txBox="1"/>
          <p:nvPr/>
        </p:nvSpPr>
        <p:spPr>
          <a:xfrm>
            <a:off x="241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p>
        </p:txBody>
      </p:sp>
      <p:sp>
        <p:nvSpPr>
          <p:cNvPr id="27" name="s8-stage-action-2"/>
          <p:cNvSpPr txBox="1"/>
          <p:nvPr/>
        </p:nvSpPr>
        <p:spPr>
          <a:xfrm>
            <a:off x="2413000" y="2743200"/>
            <a:ext cx="1651000" cy="646331"/>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微软雅黑" panose="020B0503020204020204" charset="-122"/>
              </a:rPr>
              <a:t>环境检查 </a:t>
            </a:r>
            <a:r>
              <a:rPr lang="en-US" altLang="zh-CN" sz="1220">
                <a:solidFill>
                  <a:srgbClr val="2F3A45"/>
                </a:solidFill>
                <a:latin typeface="Arial" panose="020B0604020202020204" pitchFamily="34" charset="0"/>
                <a:ea typeface="微软雅黑" panose="020B0503020204020204" charset="-122"/>
              </a:rPr>
              <a:t>+</a:t>
            </a:r>
          </a:p>
          <a:p>
            <a:r>
              <a:rPr lang="zh-CN" altLang="en-US" sz="1220">
                <a:solidFill>
                  <a:srgbClr val="2F3A45"/>
                </a:solidFill>
                <a:latin typeface="Arial" panose="020B0604020202020204" pitchFamily="34" charset="0"/>
                <a:ea typeface="微软雅黑" panose="020B0503020204020204" charset="-122"/>
              </a:rPr>
              <a:t>需求结构化</a:t>
            </a:r>
          </a:p>
        </p:txBody>
      </p:sp>
      <p:sp>
        <p:nvSpPr>
          <p:cNvPr id="28" name="s8-stage-output-label-2"/>
          <p:cNvSpPr txBox="1"/>
          <p:nvPr/>
        </p:nvSpPr>
        <p:spPr>
          <a:xfrm>
            <a:off x="241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p>
        </p:txBody>
      </p:sp>
      <p:sp>
        <p:nvSpPr>
          <p:cNvPr id="29" name="s8-stage-output-2"/>
          <p:cNvSpPr txBox="1"/>
          <p:nvPr/>
        </p:nvSpPr>
        <p:spPr>
          <a:xfrm>
            <a:off x="2413000" y="3860800"/>
            <a:ext cx="1651000" cy="646331"/>
          </a:xfrm>
          <a:prstGeom prst="rect">
            <a:avLst/>
          </a:prstGeom>
          <a:noFill/>
        </p:spPr>
        <p:txBody>
          <a:bodyPr vert="horz" wrap="square" lIns="0" tIns="0" rIns="0" bIns="0" rtlCol="0" anchor="t">
            <a:noAutofit/>
          </a:bodyPr>
          <a:lstStyle/>
          <a:p>
            <a:r>
              <a:rPr lang="en-US" altLang="zh-CN" sz="1140" b="1">
                <a:solidFill>
                  <a:srgbClr val="294A6D"/>
                </a:solidFill>
                <a:latin typeface="Arial" panose="020B0604020202020204" pitchFamily="34" charset="0"/>
                <a:ea typeface="微软雅黑" panose="020B0503020204020204" charset="-122"/>
              </a:rPr>
              <a:t>config / requirement</a:t>
            </a:r>
            <a:endParaRPr lang="zh-CN" altLang="en-US" sz="1140" b="1">
              <a:solidFill>
                <a:srgbClr val="294A6D"/>
              </a:solidFill>
              <a:latin typeface="Arial" panose="020B0604020202020204" pitchFamily="34" charset="0"/>
              <a:ea typeface="微软雅黑" panose="020B0503020204020204" charset="-122"/>
            </a:endParaRPr>
          </a:p>
        </p:txBody>
      </p:sp>
      <p:cxnSp>
        <p:nvCxnSpPr>
          <p:cNvPr id="30" name="s8-stage-divider-3"/>
          <p:cNvCxnSpPr/>
          <p:nvPr/>
        </p:nvCxnSpPr>
        <p:spPr>
          <a:xfrm>
            <a:off x="4191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s8-stage-number-3"/>
          <p:cNvSpPr txBox="1"/>
          <p:nvPr/>
        </p:nvSpPr>
        <p:spPr>
          <a:xfrm>
            <a:off x="4318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微软雅黑" panose="020B0503020204020204" charset="-122"/>
              </a:rPr>
              <a:t>03.</a:t>
            </a:r>
            <a:endParaRPr lang="zh-CN" altLang="en-US" sz="1250" b="1">
              <a:solidFill>
                <a:srgbClr val="294A6D"/>
              </a:solidFill>
              <a:latin typeface="Arial" panose="020B0604020202020204" pitchFamily="34" charset="0"/>
              <a:ea typeface="微软雅黑" panose="020B0503020204020204" charset="-122"/>
            </a:endParaRPr>
          </a:p>
        </p:txBody>
      </p:sp>
      <p:sp>
        <p:nvSpPr>
          <p:cNvPr id="32" name="s8-stage-name-3"/>
          <p:cNvSpPr txBox="1"/>
          <p:nvPr/>
        </p:nvSpPr>
        <p:spPr>
          <a:xfrm>
            <a:off x="4318000" y="1739900"/>
            <a:ext cx="1651000" cy="646331"/>
          </a:xfrm>
          <a:prstGeom prst="rect">
            <a:avLst/>
          </a:prstGeom>
          <a:noFill/>
        </p:spPr>
        <p:txBody>
          <a:bodyPr vert="horz" wrap="square" lIns="0" tIns="0" rIns="0" bIns="0" rtlCol="0" anchor="t">
            <a:noAutofit/>
          </a:bodyPr>
          <a:lstStyle/>
          <a:p>
            <a:r>
              <a:rPr lang="en-US" altLang="zh-CN" sz="1500" b="1">
                <a:solidFill>
                  <a:srgbClr val="243B53"/>
                </a:solidFill>
                <a:latin typeface="Arial" panose="020B0604020202020204" pitchFamily="34" charset="0"/>
                <a:ea typeface="微软雅黑" panose="020B0503020204020204" charset="-122"/>
              </a:rPr>
              <a:t>Kernel </a:t>
            </a:r>
            <a:r>
              <a:rPr lang="zh-CN" altLang="en-US" sz="1500" b="1">
                <a:solidFill>
                  <a:srgbClr val="243B53"/>
                </a:solidFill>
                <a:latin typeface="Arial" panose="020B0604020202020204" pitchFamily="34" charset="0"/>
                <a:ea typeface="微软雅黑" panose="020B0503020204020204" charset="-122"/>
              </a:rPr>
              <a:t>与测试生成</a:t>
            </a:r>
          </a:p>
        </p:txBody>
      </p:sp>
      <p:sp>
        <p:nvSpPr>
          <p:cNvPr id="33" name="s8-stage-action-label-3"/>
          <p:cNvSpPr txBox="1"/>
          <p:nvPr/>
        </p:nvSpPr>
        <p:spPr>
          <a:xfrm>
            <a:off x="431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p>
        </p:txBody>
      </p:sp>
      <p:sp>
        <p:nvSpPr>
          <p:cNvPr id="34" name="s8-stage-action-3"/>
          <p:cNvSpPr txBox="1"/>
          <p:nvPr/>
        </p:nvSpPr>
        <p:spPr>
          <a:xfrm>
            <a:off x="4318000" y="2743200"/>
            <a:ext cx="1651000" cy="646331"/>
          </a:xfrm>
          <a:prstGeom prst="rect">
            <a:avLst/>
          </a:prstGeom>
          <a:noFill/>
        </p:spPr>
        <p:txBody>
          <a:bodyPr vert="horz" wrap="square" lIns="0" tIns="0" rIns="0" bIns="0" rtlCol="0" anchor="t">
            <a:noAutofit/>
          </a:bodyPr>
          <a:lstStyle/>
          <a:p>
            <a:r>
              <a:rPr lang="en-US" altLang="zh-CN" sz="1220">
                <a:solidFill>
                  <a:srgbClr val="2F3A45"/>
                </a:solidFill>
                <a:latin typeface="Arial" panose="020B0604020202020204" pitchFamily="34" charset="0"/>
                <a:ea typeface="微软雅黑" panose="020B0503020204020204" charset="-122"/>
              </a:rPr>
              <a:t>Kernel </a:t>
            </a:r>
            <a:r>
              <a:rPr lang="zh-CN" altLang="en-US" sz="1220">
                <a:solidFill>
                  <a:srgbClr val="2F3A45"/>
                </a:solidFill>
                <a:latin typeface="Arial" panose="020B0604020202020204" pitchFamily="34" charset="0"/>
                <a:ea typeface="微软雅黑" panose="020B0503020204020204" charset="-122"/>
              </a:rPr>
              <a:t>设计与</a:t>
            </a:r>
          </a:p>
          <a:p>
            <a:r>
              <a:rPr lang="zh-CN" altLang="en-US" sz="1220">
                <a:solidFill>
                  <a:srgbClr val="2F3A45"/>
                </a:solidFill>
                <a:latin typeface="Arial" panose="020B0604020202020204" pitchFamily="34" charset="0"/>
                <a:ea typeface="微软雅黑" panose="020B0503020204020204" charset="-122"/>
              </a:rPr>
              <a:t>代码生成</a:t>
            </a:r>
          </a:p>
        </p:txBody>
      </p:sp>
      <p:sp>
        <p:nvSpPr>
          <p:cNvPr id="35" name="s8-stage-output-label-3"/>
          <p:cNvSpPr txBox="1"/>
          <p:nvPr/>
        </p:nvSpPr>
        <p:spPr>
          <a:xfrm>
            <a:off x="431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p>
        </p:txBody>
      </p:sp>
      <p:sp>
        <p:nvSpPr>
          <p:cNvPr id="36" name="s8-stage-output-3"/>
          <p:cNvSpPr txBox="1"/>
          <p:nvPr/>
        </p:nvSpPr>
        <p:spPr>
          <a:xfrm>
            <a:off x="4318000" y="3860800"/>
            <a:ext cx="1651000" cy="369332"/>
          </a:xfrm>
          <a:prstGeom prst="rect">
            <a:avLst/>
          </a:prstGeom>
          <a:noFill/>
        </p:spPr>
        <p:txBody>
          <a:bodyPr vert="horz" wrap="square" lIns="0" tIns="0" rIns="0" bIns="0" rtlCol="0" anchor="t">
            <a:noAutofit/>
          </a:bodyPr>
          <a:lstStyle/>
          <a:p>
            <a:r>
              <a:rPr lang="en-US" altLang="zh-CN" sz="1140" b="1">
                <a:solidFill>
                  <a:srgbClr val="294A6D"/>
                </a:solidFill>
                <a:latin typeface="Arial" panose="020B0604020202020204" pitchFamily="34" charset="0"/>
                <a:ea typeface="微软雅黑" panose="020B0503020204020204" charset="-122"/>
              </a:rPr>
              <a:t>Kernel + Test</a:t>
            </a:r>
            <a:endParaRPr lang="zh-CN" altLang="en-US" sz="1140" b="1">
              <a:solidFill>
                <a:srgbClr val="294A6D"/>
              </a:solidFill>
              <a:latin typeface="Arial" panose="020B0604020202020204" pitchFamily="34" charset="0"/>
              <a:ea typeface="微软雅黑" panose="020B0503020204020204" charset="-122"/>
            </a:endParaRPr>
          </a:p>
        </p:txBody>
      </p:sp>
      <p:cxnSp>
        <p:nvCxnSpPr>
          <p:cNvPr id="37" name="s8-stage-divider-4"/>
          <p:cNvCxnSpPr/>
          <p:nvPr/>
        </p:nvCxnSpPr>
        <p:spPr>
          <a:xfrm>
            <a:off x="609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8" name="s8-stage-number-4"/>
          <p:cNvSpPr txBox="1"/>
          <p:nvPr/>
        </p:nvSpPr>
        <p:spPr>
          <a:xfrm>
            <a:off x="6223000" y="1384300"/>
            <a:ext cx="1587500" cy="369332"/>
          </a:xfrm>
          <a:prstGeom prst="rect">
            <a:avLst/>
          </a:prstGeom>
          <a:noFill/>
        </p:spPr>
        <p:txBody>
          <a:bodyPr vert="horz" wrap="square" lIns="0" tIns="0" rIns="0" bIns="0" rtlCol="0" anchor="t">
            <a:noAutofit/>
          </a:bodyPr>
          <a:lstStyle/>
          <a:p>
            <a:r>
              <a:rPr lang="en-US" altLang="zh-CN" sz="1250" b="1">
                <a:solidFill>
                  <a:srgbClr val="4F8A83"/>
                </a:solidFill>
                <a:latin typeface="Arial" panose="020B0604020202020204" pitchFamily="34" charset="0"/>
                <a:ea typeface="微软雅黑" panose="020B0503020204020204" charset="-122"/>
              </a:rPr>
              <a:t>04.</a:t>
            </a:r>
            <a:endParaRPr lang="zh-CN" altLang="en-US" sz="1250" b="1">
              <a:solidFill>
                <a:srgbClr val="4F8A83"/>
              </a:solidFill>
              <a:latin typeface="Arial" panose="020B0604020202020204" pitchFamily="34" charset="0"/>
              <a:ea typeface="微软雅黑" panose="020B0503020204020204" charset="-122"/>
            </a:endParaRPr>
          </a:p>
        </p:txBody>
      </p:sp>
      <p:sp>
        <p:nvSpPr>
          <p:cNvPr id="44" name="s8-stage-name-4"/>
          <p:cNvSpPr txBox="1"/>
          <p:nvPr/>
        </p:nvSpPr>
        <p:spPr>
          <a:xfrm>
            <a:off x="6223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正确性验证与修复</a:t>
            </a:r>
          </a:p>
        </p:txBody>
      </p:sp>
      <p:sp>
        <p:nvSpPr>
          <p:cNvPr id="46" name="s8-stage-action-label-4"/>
          <p:cNvSpPr txBox="1"/>
          <p:nvPr/>
        </p:nvSpPr>
        <p:spPr>
          <a:xfrm>
            <a:off x="622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p>
        </p:txBody>
      </p:sp>
      <p:sp>
        <p:nvSpPr>
          <p:cNvPr id="50" name="s8-stage-action-4"/>
          <p:cNvSpPr txBox="1"/>
          <p:nvPr/>
        </p:nvSpPr>
        <p:spPr>
          <a:xfrm>
            <a:off x="6223000" y="2743200"/>
            <a:ext cx="1651000" cy="646331"/>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微软雅黑" panose="020B0503020204020204" charset="-122"/>
              </a:rPr>
              <a:t>执行测试 →</a:t>
            </a:r>
          </a:p>
          <a:p>
            <a:r>
              <a:rPr lang="zh-CN" altLang="en-US" sz="1220">
                <a:solidFill>
                  <a:srgbClr val="2F3A45"/>
                </a:solidFill>
                <a:latin typeface="Arial" panose="020B0604020202020204" pitchFamily="34" charset="0"/>
                <a:ea typeface="微软雅黑" panose="020B0503020204020204" charset="-122"/>
              </a:rPr>
              <a:t>对比 → 修复</a:t>
            </a:r>
          </a:p>
        </p:txBody>
      </p:sp>
      <p:sp>
        <p:nvSpPr>
          <p:cNvPr id="51" name="s8-stage-output-label-4"/>
          <p:cNvSpPr txBox="1"/>
          <p:nvPr/>
        </p:nvSpPr>
        <p:spPr>
          <a:xfrm>
            <a:off x="622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p>
        </p:txBody>
      </p:sp>
      <p:sp>
        <p:nvSpPr>
          <p:cNvPr id="52" name="s8-stage-output-4"/>
          <p:cNvSpPr txBox="1"/>
          <p:nvPr/>
        </p:nvSpPr>
        <p:spPr>
          <a:xfrm>
            <a:off x="6223000" y="3860800"/>
            <a:ext cx="1651000" cy="369332"/>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微软雅黑" panose="020B0503020204020204" charset="-122"/>
              </a:rPr>
              <a:t>Verified Kernel</a:t>
            </a:r>
            <a:endParaRPr lang="zh-CN" altLang="en-US" sz="1140" b="1">
              <a:solidFill>
                <a:srgbClr val="4F8A83"/>
              </a:solidFill>
              <a:latin typeface="Arial" panose="020B0604020202020204" pitchFamily="34" charset="0"/>
              <a:ea typeface="微软雅黑" panose="020B0503020204020204" charset="-122"/>
            </a:endParaRPr>
          </a:p>
        </p:txBody>
      </p:sp>
      <p:cxnSp>
        <p:nvCxnSpPr>
          <p:cNvPr id="53" name="s8-stage-divider-5"/>
          <p:cNvCxnSpPr/>
          <p:nvPr/>
        </p:nvCxnSpPr>
        <p:spPr>
          <a:xfrm>
            <a:off x="8001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4" name="s8-stage-number-5"/>
          <p:cNvSpPr txBox="1"/>
          <p:nvPr/>
        </p:nvSpPr>
        <p:spPr>
          <a:xfrm>
            <a:off x="8128000" y="1384300"/>
            <a:ext cx="1587500" cy="369332"/>
          </a:xfrm>
          <a:prstGeom prst="rect">
            <a:avLst/>
          </a:prstGeom>
          <a:noFill/>
        </p:spPr>
        <p:txBody>
          <a:bodyPr vert="horz" wrap="square" lIns="0" tIns="0" rIns="0" bIns="0" rtlCol="0" anchor="t">
            <a:noAutofit/>
          </a:bodyPr>
          <a:lstStyle/>
          <a:p>
            <a:r>
              <a:rPr lang="en-US" altLang="zh-CN" sz="1250" b="1">
                <a:solidFill>
                  <a:srgbClr val="4F8A83"/>
                </a:solidFill>
                <a:latin typeface="Arial" panose="020B0604020202020204" pitchFamily="34" charset="0"/>
                <a:ea typeface="微软雅黑" panose="020B0503020204020204" charset="-122"/>
              </a:rPr>
              <a:t>05.</a:t>
            </a:r>
            <a:endParaRPr lang="zh-CN" altLang="en-US" sz="1250" b="1">
              <a:solidFill>
                <a:srgbClr val="4F8A83"/>
              </a:solidFill>
              <a:latin typeface="Arial" panose="020B0604020202020204" pitchFamily="34" charset="0"/>
              <a:ea typeface="微软雅黑" panose="020B0503020204020204" charset="-122"/>
            </a:endParaRPr>
          </a:p>
        </p:txBody>
      </p:sp>
      <p:sp>
        <p:nvSpPr>
          <p:cNvPr id="55" name="s8-stage-name-5"/>
          <p:cNvSpPr txBox="1"/>
          <p:nvPr/>
        </p:nvSpPr>
        <p:spPr>
          <a:xfrm>
            <a:off x="8128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性能基准与优化</a:t>
            </a:r>
          </a:p>
        </p:txBody>
      </p:sp>
      <p:sp>
        <p:nvSpPr>
          <p:cNvPr id="56" name="s8-stage-action-label-5"/>
          <p:cNvSpPr txBox="1"/>
          <p:nvPr/>
        </p:nvSpPr>
        <p:spPr>
          <a:xfrm>
            <a:off x="812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p>
        </p:txBody>
      </p:sp>
      <p:sp>
        <p:nvSpPr>
          <p:cNvPr id="57" name="s8-stage-action-5"/>
          <p:cNvSpPr txBox="1"/>
          <p:nvPr/>
        </p:nvSpPr>
        <p:spPr>
          <a:xfrm>
            <a:off x="8128000" y="2743200"/>
            <a:ext cx="1651000" cy="1200329"/>
          </a:xfrm>
          <a:prstGeom prst="rect">
            <a:avLst/>
          </a:prstGeom>
          <a:noFill/>
        </p:spPr>
        <p:txBody>
          <a:bodyPr vert="horz" wrap="square" lIns="0" tIns="0" rIns="0" bIns="0" rtlCol="0" anchor="t">
            <a:noAutofit/>
          </a:bodyPr>
          <a:lstStyle/>
          <a:p>
            <a:r>
              <a:rPr lang="en-US" altLang="zh-CN" sz="1220">
                <a:solidFill>
                  <a:srgbClr val="2F3A45"/>
                </a:solidFill>
                <a:latin typeface="Arial" panose="020B0604020202020204" pitchFamily="34" charset="0"/>
                <a:ea typeface="微软雅黑" panose="020B0503020204020204" charset="-122"/>
              </a:rPr>
              <a:t>Benchmark → </a:t>
            </a:r>
            <a:r>
              <a:rPr lang="zh-CN" altLang="en-US" sz="1220">
                <a:solidFill>
                  <a:srgbClr val="2F3A45"/>
                </a:solidFill>
                <a:latin typeface="Arial" panose="020B0604020202020204" pitchFamily="34" charset="0"/>
                <a:ea typeface="微软雅黑" panose="020B0503020204020204" charset="-122"/>
              </a:rPr>
              <a:t>分析</a:t>
            </a:r>
          </a:p>
          <a:p>
            <a:r>
              <a:rPr lang="zh-CN" altLang="en-US" sz="1220">
                <a:solidFill>
                  <a:srgbClr val="2F3A45"/>
                </a:solidFill>
                <a:latin typeface="Arial" panose="020B0604020202020204" pitchFamily="34" charset="0"/>
                <a:ea typeface="微软雅黑" panose="020B0503020204020204" charset="-122"/>
              </a:rPr>
              <a:t>→ 优化 → 复测</a:t>
            </a:r>
          </a:p>
        </p:txBody>
      </p:sp>
      <p:sp>
        <p:nvSpPr>
          <p:cNvPr id="59" name="s8-stage-output-label-5"/>
          <p:cNvSpPr txBox="1"/>
          <p:nvPr/>
        </p:nvSpPr>
        <p:spPr>
          <a:xfrm>
            <a:off x="812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p>
        </p:txBody>
      </p:sp>
      <p:sp>
        <p:nvSpPr>
          <p:cNvPr id="60" name="s8-stage-output-5"/>
          <p:cNvSpPr txBox="1"/>
          <p:nvPr/>
        </p:nvSpPr>
        <p:spPr>
          <a:xfrm>
            <a:off x="8128000" y="3860800"/>
            <a:ext cx="1651000" cy="923330"/>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微软雅黑" panose="020B0503020204020204" charset="-122"/>
              </a:rPr>
              <a:t>Optimized Kernel</a:t>
            </a:r>
          </a:p>
          <a:p>
            <a:r>
              <a:rPr lang="en-US" altLang="zh-CN" sz="1140" b="1">
                <a:solidFill>
                  <a:srgbClr val="4F8A83"/>
                </a:solidFill>
                <a:latin typeface="Arial" panose="020B0604020202020204" pitchFamily="34" charset="0"/>
                <a:ea typeface="微软雅黑" panose="020B0503020204020204" charset="-122"/>
              </a:rPr>
              <a:t>+ Metrics</a:t>
            </a:r>
            <a:endParaRPr lang="zh-CN" altLang="en-US" sz="1140" b="1">
              <a:solidFill>
                <a:srgbClr val="4F8A83"/>
              </a:solidFill>
              <a:latin typeface="Arial" panose="020B0604020202020204" pitchFamily="34" charset="0"/>
              <a:ea typeface="微软雅黑" panose="020B0503020204020204" charset="-122"/>
            </a:endParaRPr>
          </a:p>
        </p:txBody>
      </p:sp>
      <p:cxnSp>
        <p:nvCxnSpPr>
          <p:cNvPr id="61" name="s8-stage-divider-6"/>
          <p:cNvCxnSpPr/>
          <p:nvPr/>
        </p:nvCxnSpPr>
        <p:spPr>
          <a:xfrm>
            <a:off x="990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2" name="s8-stage-number-6"/>
          <p:cNvSpPr txBox="1"/>
          <p:nvPr/>
        </p:nvSpPr>
        <p:spPr>
          <a:xfrm>
            <a:off x="10033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微软雅黑" panose="020B0503020204020204" charset="-122"/>
              </a:rPr>
              <a:t>06.</a:t>
            </a:r>
            <a:endParaRPr lang="zh-CN" altLang="en-US" sz="1250" b="1">
              <a:solidFill>
                <a:srgbClr val="294A6D"/>
              </a:solidFill>
              <a:latin typeface="Arial" panose="020B0604020202020204" pitchFamily="34" charset="0"/>
              <a:ea typeface="微软雅黑" panose="020B0503020204020204" charset="-122"/>
            </a:endParaRPr>
          </a:p>
        </p:txBody>
      </p:sp>
      <p:sp>
        <p:nvSpPr>
          <p:cNvPr id="64" name="s8-stage-name-6"/>
          <p:cNvSpPr txBox="1"/>
          <p:nvPr/>
        </p:nvSpPr>
        <p:spPr>
          <a:xfrm>
            <a:off x="10033000" y="1739900"/>
            <a:ext cx="1651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最终交付</a:t>
            </a:r>
          </a:p>
        </p:txBody>
      </p:sp>
      <p:sp>
        <p:nvSpPr>
          <p:cNvPr id="65" name="s8-stage-action-label-6"/>
          <p:cNvSpPr txBox="1"/>
          <p:nvPr/>
        </p:nvSpPr>
        <p:spPr>
          <a:xfrm>
            <a:off x="1003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p>
        </p:txBody>
      </p:sp>
      <p:sp>
        <p:nvSpPr>
          <p:cNvPr id="66" name="s8-stage-action-6"/>
          <p:cNvSpPr txBox="1"/>
          <p:nvPr/>
        </p:nvSpPr>
        <p:spPr>
          <a:xfrm>
            <a:off x="10033000" y="2743200"/>
            <a:ext cx="1651000" cy="923330"/>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微软雅黑" panose="020B0503020204020204" charset="-122"/>
              </a:rPr>
              <a:t>汇总代码、验证结果</a:t>
            </a:r>
          </a:p>
          <a:p>
            <a:r>
              <a:rPr lang="zh-CN" altLang="en-US" sz="1220">
                <a:solidFill>
                  <a:srgbClr val="2F3A45"/>
                </a:solidFill>
                <a:latin typeface="Arial" panose="020B0604020202020204" pitchFamily="34" charset="0"/>
                <a:ea typeface="微软雅黑" panose="020B0503020204020204" charset="-122"/>
              </a:rPr>
              <a:t>与性能报告</a:t>
            </a:r>
          </a:p>
        </p:txBody>
      </p:sp>
      <p:sp>
        <p:nvSpPr>
          <p:cNvPr id="67" name="s8-stage-output-label-6"/>
          <p:cNvSpPr txBox="1"/>
          <p:nvPr/>
        </p:nvSpPr>
        <p:spPr>
          <a:xfrm>
            <a:off x="1003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p>
        </p:txBody>
      </p:sp>
      <p:sp>
        <p:nvSpPr>
          <p:cNvPr id="68" name="s8-stage-output-6"/>
          <p:cNvSpPr txBox="1"/>
          <p:nvPr/>
        </p:nvSpPr>
        <p:spPr>
          <a:xfrm>
            <a:off x="10033000" y="3860800"/>
            <a:ext cx="1651000" cy="1200329"/>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微软雅黑" panose="020B0503020204020204" charset="-122"/>
              </a:rPr>
              <a:t>Kernel / Test /</a:t>
            </a:r>
          </a:p>
          <a:p>
            <a:r>
              <a:rPr lang="en-US" altLang="zh-CN" sz="1140" b="1">
                <a:solidFill>
                  <a:srgbClr val="4F8A83"/>
                </a:solidFill>
                <a:latin typeface="Arial" panose="020B0604020202020204" pitchFamily="34" charset="0"/>
                <a:ea typeface="微软雅黑" panose="020B0503020204020204" charset="-122"/>
              </a:rPr>
              <a:t>Correctness / Benchmark / Report</a:t>
            </a:r>
            <a:endParaRPr lang="zh-CN" altLang="en-US" sz="1140" b="1">
              <a:solidFill>
                <a:srgbClr val="4F8A83"/>
              </a:solidFill>
              <a:latin typeface="Arial" panose="020B0604020202020204" pitchFamily="34" charset="0"/>
              <a:ea typeface="微软雅黑" panose="020B0503020204020204" charset="-122"/>
            </a:endParaRPr>
          </a:p>
        </p:txBody>
      </p:sp>
      <p:sp>
        <p:nvSpPr>
          <p:cNvPr id="63"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6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2.2</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70" name="speedup-label"/>
          <p:cNvSpPr>
            <a:spLocks noGrp="1"/>
          </p:cNvSpPr>
          <p:nvPr/>
        </p:nvSpPr>
        <p:spPr>
          <a:xfrm>
            <a:off x="8635999" y="4648716"/>
            <a:ext cx="2498725"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lang="zh-CN" altLang="en-US" sz="1050" b="1" dirty="0" smtClean="0">
                <a:solidFill>
                  <a:srgbClr val="66737F"/>
                </a:solidFill>
                <a:latin typeface="Arial" panose="020B0604020202020204" pitchFamily="34" charset="0"/>
                <a:ea typeface="微软雅黑" panose="020B0503020204020204" charset="-122"/>
                <a:cs typeface="微软雅黑" panose="020B0503020204020204" charset="-122"/>
              </a:rPr>
              <a:t>人工干预成本：  输入清晰的情况下</a:t>
            </a:r>
            <a:r>
              <a:rPr lang="en-US" altLang="zh-CN" sz="1050" b="1" dirty="0" smtClean="0">
                <a:solidFill>
                  <a:srgbClr val="66737F"/>
                </a:solidFill>
                <a:latin typeface="Arial" panose="020B0604020202020204" pitchFamily="34" charset="0"/>
                <a:ea typeface="微软雅黑" panose="020B0503020204020204" charset="-122"/>
                <a:cs typeface="微软雅黑" panose="020B0503020204020204" charset="-122"/>
              </a:rPr>
              <a:t>1-2</a:t>
            </a:r>
            <a:r>
              <a:rPr lang="zh-CN" altLang="en-US" sz="1050" b="1" dirty="0" smtClean="0">
                <a:solidFill>
                  <a:srgbClr val="66737F"/>
                </a:solidFill>
                <a:latin typeface="Arial" panose="020B0604020202020204" pitchFamily="34" charset="0"/>
                <a:ea typeface="微软雅黑" panose="020B0503020204020204" charset="-122"/>
                <a:cs typeface="微软雅黑" panose="020B0503020204020204" charset="-122"/>
              </a:rPr>
              <a:t>次</a:t>
            </a:r>
            <a:endParaRPr sz="105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71" name="development-time-definition"/>
          <p:cNvSpPr>
            <a:spLocks noGrp="1"/>
          </p:cNvSpPr>
          <p:nvPr/>
        </p:nvSpPr>
        <p:spPr>
          <a:xfrm>
            <a:off x="660400" y="6375400"/>
            <a:ext cx="400685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lang="zh-CN" altLang="en-US" sz="1050" dirty="0" smtClean="0">
                <a:solidFill>
                  <a:srgbClr val="2F3A45"/>
                </a:solidFill>
                <a:latin typeface="Arial" panose="020B0604020202020204" pitchFamily="34" charset="0"/>
                <a:ea typeface="微软雅黑" panose="020B0503020204020204" charset="-122"/>
                <a:cs typeface="微软雅黑" panose="020B0503020204020204" charset="-122"/>
              </a:rPr>
              <a:t>算子开发的</a:t>
            </a:r>
            <a:r>
              <a:rPr lang="en-US" altLang="zh-CN" sz="1050" dirty="0" smtClean="0">
                <a:solidFill>
                  <a:srgbClr val="2F3A45"/>
                </a:solidFill>
                <a:latin typeface="Arial" panose="020B0604020202020204" pitchFamily="34" charset="0"/>
                <a:ea typeface="微软雅黑" panose="020B0503020204020204" charset="-122"/>
                <a:cs typeface="微软雅黑" panose="020B0503020204020204" charset="-122"/>
              </a:rPr>
              <a:t>token</a:t>
            </a:r>
            <a:r>
              <a:rPr lang="zh-CN" altLang="en-US" sz="1050" dirty="0" smtClean="0">
                <a:solidFill>
                  <a:srgbClr val="2F3A45"/>
                </a:solidFill>
                <a:latin typeface="Arial" panose="020B0604020202020204" pitchFamily="34" charset="0"/>
                <a:ea typeface="微软雅黑" panose="020B0503020204020204" charset="-122"/>
                <a:cs typeface="微软雅黑" panose="020B0503020204020204" charset="-122"/>
              </a:rPr>
              <a:t>消耗是数百万</a:t>
            </a:r>
            <a:r>
              <a:rPr lang="en-US" altLang="zh-CN" sz="1050" dirty="0" err="1" smtClean="0">
                <a:solidFill>
                  <a:srgbClr val="2F3A45"/>
                </a:solidFill>
                <a:latin typeface="Arial" panose="020B0604020202020204" pitchFamily="34" charset="0"/>
                <a:ea typeface="微软雅黑" panose="020B0503020204020204" charset="-122"/>
                <a:cs typeface="微软雅黑" panose="020B0503020204020204" charset="-122"/>
              </a:rPr>
              <a:t>okens</a:t>
            </a:r>
            <a:r>
              <a:rPr lang="zh-CN" altLang="en-US" sz="1050" dirty="0" smtClean="0">
                <a:solidFill>
                  <a:srgbClr val="2F3A45"/>
                </a:solidFill>
                <a:latin typeface="Arial" panose="020B0604020202020204" pitchFamily="34" charset="0"/>
                <a:ea typeface="微软雅黑" panose="020B0503020204020204" charset="-122"/>
                <a:cs typeface="微软雅黑" panose="020B0503020204020204" charset="-122"/>
              </a:rPr>
              <a:t>级别的，具体数据后续会重新测量记录。</a:t>
            </a:r>
            <a:endParaRPr sz="105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 name="矩形 1"/>
          <p:cNvSpPr/>
          <p:nvPr/>
        </p:nvSpPr>
        <p:spPr>
          <a:xfrm>
            <a:off x="5271770" y="5250815"/>
            <a:ext cx="824230" cy="845185"/>
          </a:xfrm>
          <a:prstGeom prst="rect">
            <a:avLst/>
          </a:prstGeom>
          <a:noFill/>
          <a:ln w="381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development-time-definition"/>
          <p:cNvSpPr>
            <a:spLocks noGrp="1"/>
          </p:cNvSpPr>
          <p:nvPr/>
        </p:nvSpPr>
        <p:spPr>
          <a:xfrm>
            <a:off x="5271770" y="6241415"/>
            <a:ext cx="400685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lang="zh-CN" sz="1050" dirty="0">
                <a:solidFill>
                  <a:srgbClr val="2F3A45"/>
                </a:solidFill>
                <a:latin typeface="Arial" panose="020B0604020202020204" pitchFamily="34" charset="0"/>
                <a:ea typeface="微软雅黑" panose="020B0503020204020204" charset="-122"/>
                <a:cs typeface="微软雅黑" panose="020B0503020204020204" charset="-122"/>
              </a:rPr>
              <a:t>针对开发耗时，后面新开发了一版</a:t>
            </a:r>
            <a:r>
              <a:rPr lang="en-US" altLang="zh-CN" sz="1050" dirty="0">
                <a:solidFill>
                  <a:srgbClr val="2F3A45"/>
                </a:solidFill>
                <a:latin typeface="Arial" panose="020B0604020202020204" pitchFamily="34" charset="0"/>
                <a:ea typeface="微软雅黑" panose="020B0503020204020204" charset="-122"/>
                <a:cs typeface="微软雅黑" panose="020B0503020204020204" charset="-122"/>
              </a:rPr>
              <a:t>mlu</a:t>
            </a:r>
            <a:r>
              <a:rPr lang="zh-CN" altLang="en-US" sz="1050" dirty="0">
                <a:solidFill>
                  <a:srgbClr val="2F3A45"/>
                </a:solidFill>
                <a:latin typeface="Arial" panose="020B0604020202020204" pitchFamily="34" charset="0"/>
                <a:ea typeface="微软雅黑" panose="020B0503020204020204" charset="-122"/>
                <a:cs typeface="微软雅黑" panose="020B0503020204020204" charset="-122"/>
              </a:rPr>
              <a:t>的</a:t>
            </a:r>
            <a:r>
              <a:rPr lang="en-US" altLang="zh-CN" sz="1050" dirty="0">
                <a:solidFill>
                  <a:srgbClr val="2F3A45"/>
                </a:solidFill>
                <a:latin typeface="Arial" panose="020B0604020202020204" pitchFamily="34" charset="0"/>
                <a:ea typeface="微软雅黑" panose="020B0503020204020204" charset="-122"/>
                <a:cs typeface="微软雅黑" panose="020B0503020204020204" charset="-122"/>
              </a:rPr>
              <a:t>triton</a:t>
            </a:r>
            <a:r>
              <a:rPr lang="zh-CN" altLang="en-US" sz="1050" dirty="0">
                <a:solidFill>
                  <a:srgbClr val="2F3A45"/>
                </a:solidFill>
                <a:latin typeface="Arial" panose="020B0604020202020204" pitchFamily="34" charset="0"/>
                <a:ea typeface="微软雅黑" panose="020B0503020204020204" charset="-122"/>
                <a:cs typeface="微软雅黑" panose="020B0503020204020204" charset="-122"/>
              </a:rPr>
              <a:t>开发</a:t>
            </a:r>
            <a:r>
              <a:rPr lang="en-US" altLang="zh-CN" sz="1050" dirty="0">
                <a:solidFill>
                  <a:srgbClr val="2F3A45"/>
                </a:solidFill>
                <a:latin typeface="Arial" panose="020B0604020202020204" pitchFamily="34" charset="0"/>
                <a:ea typeface="微软雅黑" panose="020B0503020204020204" charset="-122"/>
                <a:cs typeface="微软雅黑" panose="020B0503020204020204" charset="-122"/>
              </a:rPr>
              <a:t>skill</a:t>
            </a:r>
            <a:r>
              <a:rPr lang="zh-CN" altLang="en-US" sz="1050" dirty="0">
                <a:solidFill>
                  <a:srgbClr val="2F3A45"/>
                </a:solidFill>
                <a:latin typeface="Arial" panose="020B0604020202020204" pitchFamily="34" charset="0"/>
                <a:ea typeface="微软雅黑" panose="020B0503020204020204" charset="-122"/>
                <a:cs typeface="微软雅黑" panose="020B0503020204020204" charset="-122"/>
              </a:rPr>
              <a:t>，有了一些轻微的加速。</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slide-6-title"/>
          <p:cNvSpPr>
            <a:spLocks noGrp="1"/>
          </p:cNvSpPr>
          <p:nvPr/>
        </p:nvSpPr>
        <p:spPr>
          <a:xfrm>
            <a:off x="1198287" y="206375"/>
            <a:ext cx="9953625" cy="4572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550" b="1" dirty="0">
                <a:solidFill>
                  <a:srgbClr val="243B53"/>
                </a:solidFill>
                <a:latin typeface="Arial" panose="020B0604020202020204" pitchFamily="34" charset="0"/>
                <a:ea typeface="微软雅黑" panose="020B0503020204020204" charset="-122"/>
                <a:cs typeface="微软雅黑" panose="020B0503020204020204" charset="-122"/>
              </a:rPr>
              <a:t>寒武纪</a:t>
            </a:r>
            <a:r>
              <a:rPr sz="2550" b="1" dirty="0" err="1">
                <a:solidFill>
                  <a:srgbClr val="243B53"/>
                </a:solidFill>
                <a:latin typeface="Arial" panose="020B0604020202020204" pitchFamily="34" charset="0"/>
                <a:ea typeface="微软雅黑" panose="020B0503020204020204" charset="-122"/>
                <a:cs typeface="微软雅黑" panose="020B0503020204020204" charset="-122"/>
              </a:rPr>
              <a:t>算子</a:t>
            </a:r>
            <a:r>
              <a:rPr sz="2550" b="1" dirty="0">
                <a:solidFill>
                  <a:srgbClr val="243B53"/>
                </a:solidFill>
                <a:latin typeface="Arial" panose="020B0604020202020204" pitchFamily="34" charset="0"/>
                <a:ea typeface="微软雅黑" panose="020B0503020204020204" charset="-122"/>
                <a:cs typeface="微软雅黑" panose="020B0503020204020204" charset="-122"/>
              </a:rPr>
              <a:t> Skill 的</a:t>
            </a:r>
            <a:r>
              <a:rPr lang="zh-CN" sz="2550" b="1" dirty="0">
                <a:solidFill>
                  <a:srgbClr val="243B53"/>
                </a:solidFill>
                <a:latin typeface="Arial" panose="020B0604020202020204" pitchFamily="34" charset="0"/>
                <a:ea typeface="微软雅黑" panose="020B0503020204020204" charset="-122"/>
                <a:cs typeface="微软雅黑" panose="020B0503020204020204" charset="-122"/>
              </a:rPr>
              <a:t>优势</a:t>
            </a:r>
            <a:r>
              <a:rPr sz="2550" b="1" dirty="0" err="1">
                <a:solidFill>
                  <a:srgbClr val="243B53"/>
                </a:solidFill>
                <a:latin typeface="Arial" panose="020B0604020202020204" pitchFamily="34" charset="0"/>
                <a:ea typeface="微软雅黑" panose="020B0503020204020204" charset="-122"/>
                <a:cs typeface="微软雅黑" panose="020B0503020204020204" charset="-122"/>
              </a:rPr>
              <a:t>与问题</a:t>
            </a:r>
            <a:endParaRPr sz="255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2" name="left-column-heading"/>
          <p:cNvSpPr>
            <a:spLocks noGrp="1"/>
          </p:cNvSpPr>
          <p:nvPr/>
        </p:nvSpPr>
        <p:spPr>
          <a:xfrm>
            <a:off x="1127760" y="1390650"/>
            <a:ext cx="4057650" cy="304800"/>
          </a:xfrm>
          <a:prstGeom prst="rect">
            <a:avLst/>
          </a:prstGeom>
          <a:noFill/>
          <a:ln w="0">
            <a:noFill/>
            <a:prstDash val="solid"/>
          </a:ln>
          <a:effectLst/>
        </p:spPr>
        <p:txBody>
          <a:bodyPr wrap="square" lIns="0" tIns="0" rIns="0" bIns="0" anchor="ctr">
            <a:noAutofit/>
          </a:bodyPr>
          <a:lstStyle/>
          <a:p>
            <a:pPr>
              <a:buNone/>
              <a:defRPr sz="1240" b="1">
                <a:solidFill>
                  <a:srgbClr val="008A50"/>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243B53"/>
                </a:solidFill>
                <a:latin typeface="Arial" panose="020B0604020202020204" pitchFamily="34" charset="0"/>
                <a:ea typeface="微软雅黑" panose="020B0503020204020204" charset="-122"/>
                <a:cs typeface="微软雅黑" panose="020B0503020204020204" charset="-122"/>
              </a:rPr>
              <a:t>三大</a:t>
            </a:r>
            <a:r>
              <a:rPr lang="zh-CN" sz="1600" b="1" dirty="0">
                <a:solidFill>
                  <a:srgbClr val="243B53"/>
                </a:solidFill>
                <a:latin typeface="Arial" panose="020B0604020202020204" pitchFamily="34" charset="0"/>
                <a:ea typeface="微软雅黑" panose="020B0503020204020204" charset="-122"/>
                <a:cs typeface="微软雅黑" panose="020B0503020204020204" charset="-122"/>
              </a:rPr>
              <a:t>优势</a:t>
            </a:r>
          </a:p>
        </p:txBody>
      </p:sp>
      <p:sp>
        <p:nvSpPr>
          <p:cNvPr id="13" name="right-column-heading"/>
          <p:cNvSpPr>
            <a:spLocks noGrp="1"/>
          </p:cNvSpPr>
          <p:nvPr/>
        </p:nvSpPr>
        <p:spPr>
          <a:xfrm>
            <a:off x="6671310" y="1352550"/>
            <a:ext cx="4362450" cy="304800"/>
          </a:xfrm>
          <a:prstGeom prst="rect">
            <a:avLst/>
          </a:prstGeom>
          <a:noFill/>
          <a:ln w="0">
            <a:noFill/>
            <a:prstDash val="solid"/>
          </a:ln>
          <a:effectLst/>
        </p:spPr>
        <p:txBody>
          <a:bodyPr wrap="square" lIns="0" tIns="0" rIns="0" bIns="0" anchor="ctr">
            <a:noAutofit/>
          </a:bodyPr>
          <a:lstStyle/>
          <a:p>
            <a:pPr>
              <a:buNone/>
              <a:defRPr sz="1240" b="1">
                <a:solidFill>
                  <a:srgbClr val="0752A7"/>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C77C59"/>
                </a:solidFill>
                <a:latin typeface="Arial" panose="020B0604020202020204" pitchFamily="34" charset="0"/>
                <a:ea typeface="微软雅黑" panose="020B0503020204020204" charset="-122"/>
                <a:cs typeface="微软雅黑" panose="020B0503020204020204" charset="-122"/>
              </a:rPr>
              <a:t>四个</a:t>
            </a:r>
            <a:r>
              <a:rPr sz="1600" b="1" dirty="0" err="1">
                <a:solidFill>
                  <a:srgbClr val="C77C59"/>
                </a:solidFill>
                <a:latin typeface="Arial" panose="020B0604020202020204" pitchFamily="34" charset="0"/>
                <a:ea typeface="微软雅黑" panose="020B0503020204020204" charset="-122"/>
                <a:cs typeface="微软雅黑" panose="020B0503020204020204" charset="-122"/>
              </a:rPr>
              <a:t>问题</a:t>
            </a:r>
            <a:endParaRPr sz="1600" b="1" dirty="0">
              <a:solidFill>
                <a:srgbClr val="C77C59"/>
              </a:solidFill>
              <a:latin typeface="Arial" panose="020B0604020202020204" pitchFamily="34" charset="0"/>
              <a:ea typeface="微软雅黑" panose="020B0503020204020204" charset="-122"/>
              <a:cs typeface="微软雅黑" panose="020B0503020204020204" charset="-122"/>
            </a:endParaRPr>
          </a:p>
        </p:txBody>
      </p:sp>
      <p:sp>
        <p:nvSpPr>
          <p:cNvPr id="19" name="flow-identify-frame"/>
          <p:cNvSpPr>
            <a:spLocks noGrp="1"/>
          </p:cNvSpPr>
          <p:nvPr/>
        </p:nvSpPr>
        <p:spPr>
          <a:xfrm>
            <a:off x="2135505" y="5445125"/>
            <a:ext cx="6377305" cy="485140"/>
          </a:xfrm>
          <a:prstGeom prst="rect">
            <a:avLst/>
          </a:prstGeom>
          <a:solidFill>
            <a:srgbClr val="EEF2F5"/>
          </a:solidFill>
          <a:ln w="9525">
            <a:solidFill>
              <a:srgbClr val="D6DEE6"/>
            </a:solidFill>
            <a:prstDash val="solid"/>
          </a:ln>
          <a:effectLst/>
        </p:spPr>
        <p:txBody>
          <a:bodyPr wrap="square" lIns="0" tIns="0" rIns="0" bIns="0" anchor="ctr">
            <a:normAutofit/>
          </a:bodyPr>
          <a:lstStyle/>
          <a:p>
            <a:endParaRPr sz="1400" b="1"/>
          </a:p>
        </p:txBody>
      </p:sp>
      <p:sp>
        <p:nvSpPr>
          <p:cNvPr id="20" name="flow-identify-label"/>
          <p:cNvSpPr>
            <a:spLocks noGrp="1"/>
          </p:cNvSpPr>
          <p:nvPr/>
        </p:nvSpPr>
        <p:spPr>
          <a:xfrm>
            <a:off x="2927350" y="5445125"/>
            <a:ext cx="2580640" cy="538480"/>
          </a:xfrm>
          <a:prstGeom prst="rect">
            <a:avLst/>
          </a:prstGeom>
          <a:noFill/>
          <a:ln w="0">
            <a:noFill/>
            <a:prstDash val="solid"/>
          </a:ln>
          <a:effectLst/>
        </p:spPr>
        <p:txBody>
          <a:bodyPr wrap="square" lIns="0" tIns="0" rIns="0" bIns="0" anchor="ctr">
            <a:noAutofit/>
          </a:bodyPr>
          <a:lstStyle/>
          <a:p>
            <a:pPr algn="l">
              <a:buNone/>
              <a:defRPr sz="1050" b="1">
                <a:solidFill>
                  <a:srgbClr val="161B2B"/>
                </a:solidFill>
                <a:latin typeface="微软雅黑" panose="020B0503020204020204" charset="-122"/>
                <a:ea typeface="微软雅黑" panose="020B0503020204020204" charset="-122"/>
                <a:cs typeface="微软雅黑" panose="020B0503020204020204" charset="-122"/>
              </a:defRPr>
            </a:pPr>
            <a:r>
              <a:rPr lang="zh-CN" sz="1400" dirty="0">
                <a:solidFill>
                  <a:srgbClr val="2F3A45"/>
                </a:solidFill>
                <a:latin typeface="Arial" panose="020B0604020202020204" pitchFamily="34" charset="0"/>
                <a:ea typeface="微软雅黑" panose="020B0503020204020204" charset="-122"/>
                <a:cs typeface="微软雅黑" panose="020B0503020204020204" charset="-122"/>
              </a:rPr>
              <a:t>算子开发指南结构</a:t>
            </a:r>
            <a:r>
              <a:rPr sz="1400" dirty="0">
                <a:solidFill>
                  <a:srgbClr val="2F3A45"/>
                </a:solidFill>
                <a:latin typeface="Arial" panose="020B0604020202020204" pitchFamily="34" charset="0"/>
                <a:ea typeface="微软雅黑" panose="020B0503020204020204" charset="-122"/>
                <a:cs typeface="微软雅黑" panose="020B0503020204020204" charset="-122"/>
              </a:rPr>
              <a:t>：</a:t>
            </a:r>
          </a:p>
        </p:txBody>
      </p:sp>
      <p:sp>
        <p:nvSpPr>
          <p:cNvPr id="21" name="flow-general-process"/>
          <p:cNvSpPr>
            <a:spLocks noGrp="1"/>
          </p:cNvSpPr>
          <p:nvPr/>
        </p:nvSpPr>
        <p:spPr>
          <a:xfrm>
            <a:off x="4871002" y="5567363"/>
            <a:ext cx="1438275" cy="276225"/>
          </a:xfrm>
          <a:prstGeom prst="roundRect">
            <a:avLst>
              <a:gd name="adj" fmla="val 17241"/>
            </a:avLst>
          </a:prstGeom>
          <a:solidFill>
            <a:srgbClr val="EAF3F1"/>
          </a:solidFill>
          <a:ln w="9525">
            <a:solidFill>
              <a:srgbClr val="D6DEE6"/>
            </a:solidFill>
            <a:prstDash val="solid"/>
          </a:ln>
          <a:effectLst/>
        </p:spPr>
        <p:txBody>
          <a:bodyPr wrap="square" lIns="38100" tIns="0" rIns="38100" bIns="0" anchor="ctr">
            <a:normAutofit/>
          </a:bodyPr>
          <a:lstStyle/>
          <a:p>
            <a:pPr algn="ctr">
              <a:buNone/>
              <a:defRPr sz="975" b="1">
                <a:solidFill>
                  <a:srgbClr val="087242"/>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cs typeface="微软雅黑" panose="020B0503020204020204" charset="-122"/>
              </a:rPr>
              <a:t>通用开发流程</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2" name="flow-plus"/>
          <p:cNvSpPr>
            <a:spLocks noGrp="1"/>
          </p:cNvSpPr>
          <p:nvPr/>
        </p:nvSpPr>
        <p:spPr>
          <a:xfrm>
            <a:off x="6383655" y="5589270"/>
            <a:ext cx="304800" cy="295275"/>
          </a:xfrm>
          <a:prstGeom prst="rect">
            <a:avLst/>
          </a:prstGeom>
          <a:noFill/>
          <a:ln w="0">
            <a:noFill/>
            <a:prstDash val="solid"/>
          </a:ln>
          <a:effectLst/>
        </p:spPr>
        <p:txBody>
          <a:bodyPr wrap="square" lIns="0" tIns="0" rIns="0" bIns="0" anchor="ctr">
            <a:normAutofit/>
          </a:bodyPr>
          <a:lstStyle/>
          <a:p>
            <a:pPr algn="ctr">
              <a:buNone/>
              <a:defRPr sz="1200" b="1">
                <a:solidFill>
                  <a:srgbClr val="1A1A1A"/>
                </a:solidFill>
                <a:latin typeface="微软雅黑" panose="020B0503020204020204" charset="-122"/>
                <a:ea typeface="微软雅黑" panose="020B0503020204020204" charset="-122"/>
                <a:cs typeface="微软雅黑" panose="020B0503020204020204" charset="-122"/>
              </a:defRPr>
            </a:pPr>
            <a:r>
              <a:rPr sz="1400">
                <a:solidFill>
                  <a:srgbClr val="2F3A45"/>
                </a:solidFill>
                <a:latin typeface="Arial" panose="020B0604020202020204" pitchFamily="34" charset="0"/>
                <a:ea typeface="微软雅黑" panose="020B0503020204020204" charset="-122"/>
                <a:cs typeface="微软雅黑" panose="020B0503020204020204" charset="-122"/>
              </a:rPr>
              <a:t>+</a:t>
            </a:r>
          </a:p>
        </p:txBody>
      </p:sp>
      <p:sp>
        <p:nvSpPr>
          <p:cNvPr id="23" name="flow-platform-knowledge"/>
          <p:cNvSpPr>
            <a:spLocks noGrp="1"/>
          </p:cNvSpPr>
          <p:nvPr/>
        </p:nvSpPr>
        <p:spPr>
          <a:xfrm>
            <a:off x="6734175" y="5560392"/>
            <a:ext cx="1371600" cy="276225"/>
          </a:xfrm>
          <a:prstGeom prst="roundRect">
            <a:avLst>
              <a:gd name="adj" fmla="val 17241"/>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75" b="1">
                <a:solidFill>
                  <a:srgbClr val="124EA0"/>
                </a:solidFill>
                <a:latin typeface="微软雅黑" panose="020B0503020204020204" charset="-122"/>
                <a:ea typeface="微软雅黑" panose="020B0503020204020204" charset="-122"/>
                <a:cs typeface="微软雅黑" panose="020B0503020204020204" charset="-122"/>
              </a:defRPr>
            </a:pPr>
            <a:r>
              <a:rPr sz="1400" dirty="0" err="1">
                <a:solidFill>
                  <a:srgbClr val="294A6D"/>
                </a:solidFill>
                <a:latin typeface="Arial" panose="020B0604020202020204" pitchFamily="34" charset="0"/>
                <a:ea typeface="微软雅黑" panose="020B0503020204020204" charset="-122"/>
                <a:cs typeface="微软雅黑" panose="020B0503020204020204" charset="-122"/>
              </a:rPr>
              <a:t>平台专属知识</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25" name="slide-6-editable-footer"/>
          <p:cNvSpPr>
            <a:spLocks noGrp="1"/>
          </p:cNvSpPr>
          <p:nvPr/>
        </p:nvSpPr>
        <p:spPr>
          <a:xfrm>
            <a:off x="219075" y="6248400"/>
            <a:ext cx="11753850" cy="52387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dirty="0">
                <a:solidFill>
                  <a:srgbClr val="2F3A45"/>
                </a:solidFill>
                <a:latin typeface="Arial" panose="020B0604020202020204" pitchFamily="34" charset="0"/>
                <a:ea typeface="微软雅黑" panose="020B0503020204020204" charset="-122"/>
                <a:cs typeface="微软雅黑" panose="020B0503020204020204" charset="-122"/>
              </a:rPr>
              <a:t> </a:t>
            </a:r>
            <a:r>
              <a:rPr sz="1015" b="1" dirty="0" err="1">
                <a:solidFill>
                  <a:srgbClr val="2F3A45"/>
                </a:solidFill>
                <a:latin typeface="Arial" panose="020B0604020202020204" pitchFamily="34" charset="0"/>
                <a:ea typeface="微软雅黑" panose="020B0503020204020204" charset="-122"/>
                <a:cs typeface="微软雅黑" panose="020B0503020204020204" charset="-122"/>
              </a:rPr>
              <a:t>从“开发算子</a:t>
            </a:r>
            <a:r>
              <a:rPr lang="en-US" sz="1015" b="1" dirty="0" err="1">
                <a:solidFill>
                  <a:srgbClr val="2F3A45"/>
                </a:solidFill>
                <a:latin typeface="Arial" panose="020B0604020202020204" pitchFamily="34" charset="0"/>
                <a:ea typeface="微软雅黑" panose="020B0503020204020204" charset="-122"/>
                <a:cs typeface="微软雅黑" panose="020B0503020204020204" charset="-122"/>
              </a:rPr>
              <a:t>Skill</a:t>
            </a:r>
            <a:r>
              <a:rPr sz="1015" b="1" dirty="0" err="1">
                <a:solidFill>
                  <a:srgbClr val="2F3A45"/>
                </a:solidFill>
                <a:latin typeface="Arial" panose="020B0604020202020204" pitchFamily="34" charset="0"/>
                <a:ea typeface="微软雅黑" panose="020B0503020204020204" charset="-122"/>
                <a:cs typeface="微软雅黑" panose="020B0503020204020204" charset="-122"/>
              </a:rPr>
              <a:t>”进一步到“开发算子</a:t>
            </a:r>
            <a:r>
              <a:rPr sz="1015" b="1" dirty="0">
                <a:solidFill>
                  <a:srgbClr val="2F3A45"/>
                </a:solidFill>
                <a:latin typeface="Arial" panose="020B0604020202020204" pitchFamily="34" charset="0"/>
                <a:ea typeface="微软雅黑" panose="020B0503020204020204" charset="-122"/>
                <a:cs typeface="微软雅黑" panose="020B0503020204020204" charset="-122"/>
              </a:rPr>
              <a:t> Skill</a:t>
            </a:r>
            <a:r>
              <a:rPr lang="zh-CN" sz="1015" b="1" dirty="0">
                <a:solidFill>
                  <a:srgbClr val="2F3A45"/>
                </a:solidFill>
                <a:latin typeface="Arial" panose="020B0604020202020204" pitchFamily="34" charset="0"/>
                <a:ea typeface="微软雅黑" panose="020B0503020204020204" charset="-122"/>
                <a:cs typeface="微软雅黑" panose="020B0503020204020204" charset="-122"/>
              </a:rPr>
              <a:t>指南</a:t>
            </a:r>
            <a:r>
              <a:rPr sz="1015" b="1" dirty="0">
                <a:solidFill>
                  <a:srgbClr val="2F3A45"/>
                </a:solidFill>
                <a:latin typeface="Arial" panose="020B0604020202020204" pitchFamily="34" charset="0"/>
                <a:ea typeface="微软雅黑" panose="020B0503020204020204" charset="-122"/>
                <a:cs typeface="微软雅黑" panose="020B0503020204020204" charset="-122"/>
              </a:rPr>
              <a:t>”：</a:t>
            </a:r>
            <a:r>
              <a:rPr sz="1015" b="1" dirty="0" err="1">
                <a:solidFill>
                  <a:srgbClr val="2F3A45"/>
                </a:solidFill>
                <a:latin typeface="Arial" panose="020B0604020202020204" pitchFamily="34" charset="0"/>
                <a:ea typeface="微软雅黑" panose="020B0503020204020204" charset="-122"/>
                <a:cs typeface="微软雅黑" panose="020B0503020204020204" charset="-122"/>
              </a:rPr>
              <a:t>需要解决的是通用流程如何复用、平台知识如何采集和组织</a:t>
            </a:r>
            <a:r>
              <a:rPr sz="1015" b="1" dirty="0">
                <a:solidFill>
                  <a:srgbClr val="2F3A45"/>
                </a:solidFill>
                <a:latin typeface="Arial" panose="020B0604020202020204" pitchFamily="34" charset="0"/>
                <a:ea typeface="微软雅黑" panose="020B0503020204020204" charset="-122"/>
                <a:cs typeface="微软雅黑" panose="020B0503020204020204" charset="-122"/>
              </a:rPr>
              <a:t>。</a:t>
            </a:r>
          </a:p>
        </p:txBody>
      </p:sp>
      <p:sp>
        <p:nvSpPr>
          <p:cNvPr id="26"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7" name="s13-left-1-frame"/>
          <p:cNvSpPr>
            <a:spLocks noGrp="1"/>
          </p:cNvSpPr>
          <p:nvPr/>
        </p:nvSpPr>
        <p:spPr>
          <a:xfrm>
            <a:off x="333375" y="1724025"/>
            <a:ext cx="5514975" cy="733425"/>
          </a:xfrm>
          <a:prstGeom prst="rect">
            <a:avLst/>
          </a:prstGeom>
          <a:solidFill>
            <a:srgbClr val="EAF3F1"/>
          </a:solidFill>
          <a:ln w="9525">
            <a:solidFill>
              <a:srgbClr val="D6DEE6"/>
            </a:solidFill>
            <a:prstDash val="solid"/>
          </a:ln>
          <a:effectLst/>
        </p:spPr>
      </p:sp>
      <p:sp>
        <p:nvSpPr>
          <p:cNvPr id="28" name="s13-left-1-number"/>
          <p:cNvSpPr>
            <a:spLocks noGrp="1"/>
          </p:cNvSpPr>
          <p:nvPr/>
        </p:nvSpPr>
        <p:spPr>
          <a:xfrm>
            <a:off x="466725" y="18478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01</a:t>
            </a:r>
          </a:p>
        </p:txBody>
      </p:sp>
      <p:sp>
        <p:nvSpPr>
          <p:cNvPr id="29" name="s13-left-1-separator"/>
          <p:cNvSpPr>
            <a:spLocks noGrp="1"/>
          </p:cNvSpPr>
          <p:nvPr/>
        </p:nvSpPr>
        <p:spPr>
          <a:xfrm>
            <a:off x="1019175" y="1857375"/>
            <a:ext cx="9525" cy="466725"/>
          </a:xfrm>
          <a:prstGeom prst="rect">
            <a:avLst/>
          </a:prstGeom>
          <a:solidFill>
            <a:srgbClr val="EAF3F1"/>
          </a:solidFill>
          <a:ln w="0">
            <a:solidFill>
              <a:srgbClr val="D6DEE6"/>
            </a:solidFill>
            <a:prstDash val="solid"/>
          </a:ln>
          <a:effectLst/>
        </p:spPr>
      </p:sp>
      <p:sp>
        <p:nvSpPr>
          <p:cNvPr id="30" name="s13-left-1-title"/>
          <p:cNvSpPr>
            <a:spLocks noGrp="1"/>
          </p:cNvSpPr>
          <p:nvPr/>
        </p:nvSpPr>
        <p:spPr>
          <a:xfrm>
            <a:off x="1171575" y="1843323"/>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cs typeface="微软雅黑" panose="020B0503020204020204" charset="-122"/>
              </a:rPr>
              <a:t>开发流程能够跑通</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1" name="s13-left-1-body"/>
          <p:cNvSpPr>
            <a:spLocks noGrp="1"/>
          </p:cNvSpPr>
          <p:nvPr/>
        </p:nvSpPr>
        <p:spPr>
          <a:xfrm>
            <a:off x="1171575" y="2147957"/>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err="1">
                <a:solidFill>
                  <a:srgbClr val="2F3A45"/>
                </a:solidFill>
                <a:latin typeface="Arial" panose="020B0604020202020204" pitchFamily="34" charset="0"/>
                <a:ea typeface="微软雅黑" panose="020B0503020204020204" charset="-122"/>
                <a:cs typeface="微软雅黑" panose="020B0503020204020204" charset="-122"/>
              </a:rPr>
              <a:t>环境</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需求</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生成</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验证</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优化</a:t>
            </a:r>
            <a:endParaRPr sz="1200"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2" name="s13-left-2-frame"/>
          <p:cNvSpPr>
            <a:spLocks noGrp="1"/>
          </p:cNvSpPr>
          <p:nvPr/>
        </p:nvSpPr>
        <p:spPr>
          <a:xfrm>
            <a:off x="381000" y="2852737"/>
            <a:ext cx="5514975" cy="733425"/>
          </a:xfrm>
          <a:prstGeom prst="rect">
            <a:avLst/>
          </a:prstGeom>
          <a:solidFill>
            <a:srgbClr val="EAF3F1"/>
          </a:solidFill>
          <a:ln w="9525">
            <a:solidFill>
              <a:srgbClr val="D6DEE6"/>
            </a:solidFill>
            <a:prstDash val="solid"/>
          </a:ln>
          <a:effectLst/>
        </p:spPr>
      </p:sp>
      <p:sp>
        <p:nvSpPr>
          <p:cNvPr id="33" name="s13-left-2-number"/>
          <p:cNvSpPr>
            <a:spLocks noGrp="1"/>
          </p:cNvSpPr>
          <p:nvPr/>
        </p:nvSpPr>
        <p:spPr>
          <a:xfrm>
            <a:off x="514350" y="2976562"/>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02</a:t>
            </a:r>
          </a:p>
        </p:txBody>
      </p:sp>
      <p:sp>
        <p:nvSpPr>
          <p:cNvPr id="34" name="s13-left-2-separator"/>
          <p:cNvSpPr>
            <a:spLocks noGrp="1"/>
          </p:cNvSpPr>
          <p:nvPr/>
        </p:nvSpPr>
        <p:spPr>
          <a:xfrm>
            <a:off x="1066800" y="2986087"/>
            <a:ext cx="9525" cy="466725"/>
          </a:xfrm>
          <a:prstGeom prst="rect">
            <a:avLst/>
          </a:prstGeom>
          <a:solidFill>
            <a:srgbClr val="EAF3F1"/>
          </a:solidFill>
          <a:ln w="0">
            <a:solidFill>
              <a:srgbClr val="D6DEE6"/>
            </a:solidFill>
            <a:prstDash val="solid"/>
          </a:ln>
          <a:effectLst/>
        </p:spPr>
      </p:sp>
      <p:sp>
        <p:nvSpPr>
          <p:cNvPr id="35" name="s13-left-2-title"/>
          <p:cNvSpPr>
            <a:spLocks noGrp="1"/>
          </p:cNvSpPr>
          <p:nvPr/>
        </p:nvSpPr>
        <p:spPr>
          <a:xfrm>
            <a:off x="1219200" y="2998250"/>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smtClean="0">
                <a:solidFill>
                  <a:srgbClr val="2F3A45"/>
                </a:solidFill>
                <a:latin typeface="Arial" panose="020B0604020202020204" pitchFamily="34" charset="0"/>
                <a:ea typeface="微软雅黑" panose="020B0503020204020204" charset="-122"/>
                <a:cs typeface="微软雅黑" panose="020B0503020204020204" charset="-122"/>
              </a:rPr>
              <a:t>生成与验证</a:t>
            </a:r>
            <a:r>
              <a:rPr lang="zh-CN" altLang="en-US" sz="1400" dirty="0" smtClean="0">
                <a:solidFill>
                  <a:srgbClr val="2F3A45"/>
                </a:solidFill>
                <a:latin typeface="Arial" panose="020B0604020202020204" pitchFamily="34" charset="0"/>
                <a:ea typeface="微软雅黑" panose="020B0503020204020204" charset="-122"/>
                <a:cs typeface="微软雅黑" panose="020B0503020204020204" charset="-122"/>
              </a:rPr>
              <a:t>提供保障</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6" name="s13-left-2-body"/>
          <p:cNvSpPr>
            <a:spLocks noGrp="1"/>
          </p:cNvSpPr>
          <p:nvPr/>
        </p:nvSpPr>
        <p:spPr>
          <a:xfrm>
            <a:off x="1219200" y="3276282"/>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F3A45"/>
                </a:solidFill>
                <a:latin typeface="Arial" panose="020B0604020202020204" pitchFamily="34" charset="0"/>
                <a:ea typeface="微软雅黑" panose="020B0503020204020204" charset="-122"/>
                <a:cs typeface="微软雅黑" panose="020B0503020204020204" charset="-122"/>
              </a:rPr>
              <a:t>Kernel + Test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执行</a:t>
            </a:r>
            <a:r>
              <a:rPr sz="1200" b="1" dirty="0">
                <a:solidFill>
                  <a:srgbClr val="2F3A45"/>
                </a:solidFill>
                <a:latin typeface="Arial" panose="020B0604020202020204" pitchFamily="34" charset="0"/>
                <a:ea typeface="微软雅黑" panose="020B0503020204020204" charset="-122"/>
                <a:cs typeface="微软雅黑" panose="020B0503020204020204" charset="-122"/>
              </a:rPr>
              <a:t> → Correctness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修复</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通过</a:t>
            </a:r>
            <a:endParaRPr sz="1200"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7" name="s13-left-3-frame"/>
          <p:cNvSpPr>
            <a:spLocks noGrp="1"/>
          </p:cNvSpPr>
          <p:nvPr/>
        </p:nvSpPr>
        <p:spPr>
          <a:xfrm>
            <a:off x="381000" y="3984582"/>
            <a:ext cx="5514975" cy="733425"/>
          </a:xfrm>
          <a:prstGeom prst="rect">
            <a:avLst/>
          </a:prstGeom>
          <a:solidFill>
            <a:srgbClr val="EAF3F1"/>
          </a:solidFill>
          <a:ln w="9525">
            <a:solidFill>
              <a:srgbClr val="D6DEE6"/>
            </a:solidFill>
            <a:prstDash val="solid"/>
          </a:ln>
          <a:effectLst/>
        </p:spPr>
      </p:sp>
      <p:sp>
        <p:nvSpPr>
          <p:cNvPr id="38" name="s13-left-3-number"/>
          <p:cNvSpPr>
            <a:spLocks noGrp="1"/>
          </p:cNvSpPr>
          <p:nvPr/>
        </p:nvSpPr>
        <p:spPr>
          <a:xfrm>
            <a:off x="514350" y="4108407"/>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03</a:t>
            </a:r>
          </a:p>
        </p:txBody>
      </p:sp>
      <p:sp>
        <p:nvSpPr>
          <p:cNvPr id="39" name="s13-left-3-separator"/>
          <p:cNvSpPr>
            <a:spLocks noGrp="1"/>
          </p:cNvSpPr>
          <p:nvPr/>
        </p:nvSpPr>
        <p:spPr>
          <a:xfrm>
            <a:off x="1066800" y="4117932"/>
            <a:ext cx="9525" cy="466725"/>
          </a:xfrm>
          <a:prstGeom prst="rect">
            <a:avLst/>
          </a:prstGeom>
          <a:solidFill>
            <a:srgbClr val="EAF3F1"/>
          </a:solidFill>
          <a:ln w="0">
            <a:solidFill>
              <a:srgbClr val="D6DEE6"/>
            </a:solidFill>
            <a:prstDash val="solid"/>
          </a:ln>
          <a:effectLst/>
        </p:spPr>
      </p:sp>
      <p:sp>
        <p:nvSpPr>
          <p:cNvPr id="40" name="s13-left-3-title"/>
          <p:cNvSpPr>
            <a:spLocks noGrp="1"/>
          </p:cNvSpPr>
          <p:nvPr/>
        </p:nvSpPr>
        <p:spPr>
          <a:xfrm>
            <a:off x="1209675" y="4119214"/>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cs typeface="微软雅黑" panose="020B0503020204020204" charset="-122"/>
              </a:rPr>
              <a:t>性能优化</a:t>
            </a:r>
            <a:r>
              <a:rPr lang="zh-CN" altLang="en-US" sz="1400" dirty="0">
                <a:solidFill>
                  <a:srgbClr val="2F3A45"/>
                </a:solidFill>
                <a:latin typeface="Arial" panose="020B0604020202020204" pitchFamily="34" charset="0"/>
                <a:ea typeface="微软雅黑" panose="020B0503020204020204" charset="-122"/>
                <a:cs typeface="微软雅黑" panose="020B0503020204020204" charset="-122"/>
              </a:rPr>
              <a:t>全面</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41" name="s13-left-3-body"/>
          <p:cNvSpPr>
            <a:spLocks noGrp="1"/>
          </p:cNvSpPr>
          <p:nvPr/>
        </p:nvSpPr>
        <p:spPr>
          <a:xfrm>
            <a:off x="1198287" y="4401129"/>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F3A45"/>
                </a:solidFill>
                <a:latin typeface="Arial" panose="020B0604020202020204" pitchFamily="34" charset="0"/>
                <a:ea typeface="微软雅黑" panose="020B0503020204020204" charset="-122"/>
                <a:cs typeface="微软雅黑" panose="020B0503020204020204" charset="-122"/>
              </a:rPr>
              <a:t>Benchmark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分析</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优化</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复测</a:t>
            </a:r>
            <a:endParaRPr sz="1200"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47" name="s13-right-1-frame"/>
          <p:cNvSpPr>
            <a:spLocks noGrp="1"/>
          </p:cNvSpPr>
          <p:nvPr/>
        </p:nvSpPr>
        <p:spPr>
          <a:xfrm>
            <a:off x="6181725" y="1685925"/>
            <a:ext cx="5324475" cy="733425"/>
          </a:xfrm>
          <a:prstGeom prst="rect">
            <a:avLst/>
          </a:prstGeom>
          <a:solidFill>
            <a:srgbClr val="EEF2F5"/>
          </a:solidFill>
          <a:ln w="9525">
            <a:solidFill>
              <a:srgbClr val="D6DEE6"/>
            </a:solidFill>
            <a:prstDash val="solid"/>
          </a:ln>
          <a:effectLst/>
        </p:spPr>
      </p:sp>
      <p:sp>
        <p:nvSpPr>
          <p:cNvPr id="48" name="s13-right-1-number"/>
          <p:cNvSpPr>
            <a:spLocks noGrp="1"/>
          </p:cNvSpPr>
          <p:nvPr/>
        </p:nvSpPr>
        <p:spPr>
          <a:xfrm>
            <a:off x="6315075" y="1809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01</a:t>
            </a:r>
          </a:p>
        </p:txBody>
      </p:sp>
      <p:sp>
        <p:nvSpPr>
          <p:cNvPr id="49" name="s13-right-1-separator"/>
          <p:cNvSpPr>
            <a:spLocks noGrp="1"/>
          </p:cNvSpPr>
          <p:nvPr/>
        </p:nvSpPr>
        <p:spPr>
          <a:xfrm>
            <a:off x="6867525" y="1819275"/>
            <a:ext cx="9525" cy="466725"/>
          </a:xfrm>
          <a:prstGeom prst="rect">
            <a:avLst/>
          </a:prstGeom>
          <a:solidFill>
            <a:srgbClr val="EEF2F5"/>
          </a:solidFill>
          <a:ln w="0">
            <a:solidFill>
              <a:srgbClr val="D6DEE6"/>
            </a:solidFill>
            <a:prstDash val="solid"/>
          </a:ln>
          <a:effectLst/>
        </p:spPr>
      </p:sp>
      <p:sp>
        <p:nvSpPr>
          <p:cNvPr id="50" name="s13-right-1-title"/>
          <p:cNvSpPr>
            <a:spLocks noGrp="1"/>
          </p:cNvSpPr>
          <p:nvPr/>
        </p:nvSpPr>
        <p:spPr>
          <a:xfrm>
            <a:off x="7019925" y="1891679"/>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sz="1400" dirty="0" err="1" smtClean="0">
                <a:solidFill>
                  <a:srgbClr val="294A6D"/>
                </a:solidFill>
                <a:latin typeface="Arial" panose="020B0604020202020204" pitchFamily="34" charset="0"/>
                <a:ea typeface="微软雅黑" panose="020B0503020204020204" charset="-122"/>
                <a:cs typeface="微软雅黑" panose="020B0503020204020204" charset="-122"/>
              </a:rPr>
              <a:t>平台知识</a:t>
            </a:r>
            <a:r>
              <a:rPr lang="zh-CN" altLang="en-US" sz="1400" dirty="0" smtClean="0">
                <a:solidFill>
                  <a:srgbClr val="294A6D"/>
                </a:solidFill>
                <a:latin typeface="Arial" panose="020B0604020202020204" pitchFamily="34" charset="0"/>
                <a:ea typeface="微软雅黑" panose="020B0503020204020204" charset="-122"/>
                <a:cs typeface="微软雅黑" panose="020B0503020204020204" charset="-122"/>
              </a:rPr>
              <a:t>较</a:t>
            </a:r>
            <a:r>
              <a:rPr sz="1400" dirty="0" err="1" smtClean="0">
                <a:solidFill>
                  <a:srgbClr val="294A6D"/>
                </a:solidFill>
                <a:latin typeface="Arial" panose="020B0604020202020204" pitchFamily="34" charset="0"/>
                <a:ea typeface="微软雅黑" panose="020B0503020204020204" charset="-122"/>
                <a:cs typeface="微软雅黑" panose="020B0503020204020204" charset="-122"/>
              </a:rPr>
              <a:t>分散</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51" name="s13-right-1-body"/>
          <p:cNvSpPr>
            <a:spLocks noGrp="1"/>
          </p:cNvSpPr>
          <p:nvPr/>
        </p:nvSpPr>
        <p:spPr>
          <a:xfrm>
            <a:off x="7019925" y="1981200"/>
            <a:ext cx="4352925" cy="40005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2" name="s13-right-2-frame"/>
          <p:cNvSpPr>
            <a:spLocks noGrp="1"/>
          </p:cNvSpPr>
          <p:nvPr/>
        </p:nvSpPr>
        <p:spPr>
          <a:xfrm>
            <a:off x="6181725" y="2447925"/>
            <a:ext cx="5324475" cy="733425"/>
          </a:xfrm>
          <a:prstGeom prst="rect">
            <a:avLst/>
          </a:prstGeom>
          <a:solidFill>
            <a:srgbClr val="EEF2F5"/>
          </a:solidFill>
          <a:ln w="9525">
            <a:solidFill>
              <a:srgbClr val="D6DEE6"/>
            </a:solidFill>
            <a:prstDash val="solid"/>
          </a:ln>
          <a:effectLst/>
        </p:spPr>
      </p:sp>
      <p:sp>
        <p:nvSpPr>
          <p:cNvPr id="53" name="s13-right-2-number"/>
          <p:cNvSpPr>
            <a:spLocks noGrp="1"/>
          </p:cNvSpPr>
          <p:nvPr/>
        </p:nvSpPr>
        <p:spPr>
          <a:xfrm>
            <a:off x="6315075" y="2571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02</a:t>
            </a:r>
          </a:p>
        </p:txBody>
      </p:sp>
      <p:sp>
        <p:nvSpPr>
          <p:cNvPr id="54" name="s13-right-2-separator"/>
          <p:cNvSpPr>
            <a:spLocks noGrp="1"/>
          </p:cNvSpPr>
          <p:nvPr/>
        </p:nvSpPr>
        <p:spPr>
          <a:xfrm>
            <a:off x="6867525" y="2581275"/>
            <a:ext cx="9525" cy="466725"/>
          </a:xfrm>
          <a:prstGeom prst="rect">
            <a:avLst/>
          </a:prstGeom>
          <a:solidFill>
            <a:srgbClr val="EEF2F5"/>
          </a:solidFill>
          <a:ln w="0">
            <a:solidFill>
              <a:srgbClr val="D6DEE6"/>
            </a:solidFill>
            <a:prstDash val="solid"/>
          </a:ln>
          <a:effectLst/>
        </p:spPr>
      </p:sp>
      <p:sp>
        <p:nvSpPr>
          <p:cNvPr id="55" name="s13-right-2-title"/>
          <p:cNvSpPr>
            <a:spLocks noGrp="1"/>
          </p:cNvSpPr>
          <p:nvPr/>
        </p:nvSpPr>
        <p:spPr>
          <a:xfrm>
            <a:off x="7019925" y="2697163"/>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smtClean="0">
                <a:solidFill>
                  <a:srgbClr val="294A6D"/>
                </a:solidFill>
                <a:latin typeface="Arial" panose="020B0604020202020204" pitchFamily="34" charset="0"/>
                <a:ea typeface="微软雅黑" panose="020B0503020204020204" charset="-122"/>
                <a:cs typeface="微软雅黑" panose="020B0503020204020204" charset="-122"/>
              </a:rPr>
              <a:t>消耗</a:t>
            </a:r>
            <a:r>
              <a:rPr lang="en-US" altLang="zh-CN" sz="1400" dirty="0" smtClean="0">
                <a:solidFill>
                  <a:srgbClr val="294A6D"/>
                </a:solidFill>
                <a:latin typeface="Arial" panose="020B0604020202020204" pitchFamily="34" charset="0"/>
                <a:ea typeface="微软雅黑" panose="020B0503020204020204" charset="-122"/>
                <a:cs typeface="微软雅黑" panose="020B0503020204020204" charset="-122"/>
              </a:rPr>
              <a:t>token</a:t>
            </a:r>
            <a:r>
              <a:rPr lang="zh-CN" altLang="en-US" sz="1400" dirty="0" smtClean="0">
                <a:solidFill>
                  <a:srgbClr val="294A6D"/>
                </a:solidFill>
                <a:latin typeface="Arial" panose="020B0604020202020204" pitchFamily="34" charset="0"/>
                <a:ea typeface="微软雅黑" panose="020B0503020204020204" charset="-122"/>
                <a:cs typeface="微软雅黑" panose="020B0503020204020204" charset="-122"/>
              </a:rPr>
              <a:t>较多</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56" name="s13-right-2-body"/>
          <p:cNvSpPr>
            <a:spLocks noGrp="1"/>
          </p:cNvSpPr>
          <p:nvPr/>
        </p:nvSpPr>
        <p:spPr>
          <a:xfrm>
            <a:off x="7019925" y="2743200"/>
            <a:ext cx="4352925" cy="40005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7" name="s13-right-3-frame"/>
          <p:cNvSpPr>
            <a:spLocks noGrp="1"/>
          </p:cNvSpPr>
          <p:nvPr/>
        </p:nvSpPr>
        <p:spPr>
          <a:xfrm>
            <a:off x="6181725" y="3209925"/>
            <a:ext cx="5324475" cy="733425"/>
          </a:xfrm>
          <a:prstGeom prst="rect">
            <a:avLst/>
          </a:prstGeom>
          <a:solidFill>
            <a:srgbClr val="EEF2F5"/>
          </a:solidFill>
          <a:ln w="9525">
            <a:solidFill>
              <a:srgbClr val="D6DEE6"/>
            </a:solidFill>
            <a:prstDash val="solid"/>
          </a:ln>
          <a:effectLst/>
        </p:spPr>
      </p:sp>
      <p:sp>
        <p:nvSpPr>
          <p:cNvPr id="58" name="s13-right-3-number"/>
          <p:cNvSpPr>
            <a:spLocks noGrp="1"/>
          </p:cNvSpPr>
          <p:nvPr/>
        </p:nvSpPr>
        <p:spPr>
          <a:xfrm>
            <a:off x="6315075" y="3333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03</a:t>
            </a:r>
          </a:p>
        </p:txBody>
      </p:sp>
      <p:sp>
        <p:nvSpPr>
          <p:cNvPr id="59" name="s13-right-3-separator"/>
          <p:cNvSpPr>
            <a:spLocks noGrp="1"/>
          </p:cNvSpPr>
          <p:nvPr/>
        </p:nvSpPr>
        <p:spPr>
          <a:xfrm>
            <a:off x="6867525" y="3343275"/>
            <a:ext cx="9525" cy="466725"/>
          </a:xfrm>
          <a:prstGeom prst="rect">
            <a:avLst/>
          </a:prstGeom>
          <a:solidFill>
            <a:srgbClr val="EEF2F5"/>
          </a:solidFill>
          <a:ln w="0">
            <a:solidFill>
              <a:srgbClr val="D6DEE6"/>
            </a:solidFill>
            <a:prstDash val="solid"/>
          </a:ln>
          <a:effectLst/>
        </p:spPr>
      </p:sp>
      <p:sp>
        <p:nvSpPr>
          <p:cNvPr id="60" name="s13-right-3-title"/>
          <p:cNvSpPr>
            <a:spLocks noGrp="1"/>
          </p:cNvSpPr>
          <p:nvPr/>
        </p:nvSpPr>
        <p:spPr>
          <a:xfrm>
            <a:off x="6999605" y="3424237"/>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a:solidFill>
                  <a:srgbClr val="294A6D"/>
                </a:solidFill>
                <a:latin typeface="Arial" panose="020B0604020202020204" pitchFamily="34" charset="0"/>
                <a:ea typeface="微软雅黑" panose="020B0503020204020204" charset="-122"/>
                <a:cs typeface="微软雅黑" panose="020B0503020204020204" charset="-122"/>
              </a:rPr>
              <a:t>新</a:t>
            </a:r>
            <a:r>
              <a:rPr lang="zh-CN" altLang="en-US" sz="1400" dirty="0" smtClean="0">
                <a:solidFill>
                  <a:srgbClr val="294A6D"/>
                </a:solidFill>
                <a:latin typeface="Arial" panose="020B0604020202020204" pitchFamily="34" charset="0"/>
                <a:ea typeface="微软雅黑" panose="020B0503020204020204" charset="-122"/>
                <a:cs typeface="微软雅黑" panose="020B0503020204020204" charset="-122"/>
              </a:rPr>
              <a:t>加一些优化较为困难</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63" name="s13-right-4-frame"/>
          <p:cNvSpPr>
            <a:spLocks noGrp="1"/>
          </p:cNvSpPr>
          <p:nvPr/>
        </p:nvSpPr>
        <p:spPr>
          <a:xfrm>
            <a:off x="6181725" y="3971925"/>
            <a:ext cx="5324475" cy="752475"/>
          </a:xfrm>
          <a:prstGeom prst="rect">
            <a:avLst/>
          </a:prstGeom>
          <a:solidFill>
            <a:srgbClr val="EEF2F5"/>
          </a:solidFill>
          <a:ln w="9525">
            <a:solidFill>
              <a:srgbClr val="D6DEE6"/>
            </a:solidFill>
            <a:prstDash val="solid"/>
          </a:ln>
          <a:effectLst/>
        </p:spPr>
      </p:sp>
      <p:sp>
        <p:nvSpPr>
          <p:cNvPr id="64" name="s13-right-4-number"/>
          <p:cNvSpPr>
            <a:spLocks noGrp="1"/>
          </p:cNvSpPr>
          <p:nvPr/>
        </p:nvSpPr>
        <p:spPr>
          <a:xfrm>
            <a:off x="6315075" y="4095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04</a:t>
            </a:r>
          </a:p>
        </p:txBody>
      </p:sp>
      <p:sp>
        <p:nvSpPr>
          <p:cNvPr id="65" name="s13-right-4-separator"/>
          <p:cNvSpPr>
            <a:spLocks noGrp="1"/>
          </p:cNvSpPr>
          <p:nvPr/>
        </p:nvSpPr>
        <p:spPr>
          <a:xfrm>
            <a:off x="6867525" y="4105275"/>
            <a:ext cx="9525" cy="485775"/>
          </a:xfrm>
          <a:prstGeom prst="rect">
            <a:avLst/>
          </a:prstGeom>
          <a:solidFill>
            <a:srgbClr val="EEF2F5"/>
          </a:solidFill>
          <a:ln w="0">
            <a:solidFill>
              <a:srgbClr val="D6DEE6"/>
            </a:solidFill>
            <a:prstDash val="solid"/>
          </a:ln>
          <a:effectLst/>
        </p:spPr>
      </p:sp>
      <p:sp>
        <p:nvSpPr>
          <p:cNvPr id="66" name="s13-right-4-title"/>
          <p:cNvSpPr>
            <a:spLocks noGrp="1"/>
          </p:cNvSpPr>
          <p:nvPr/>
        </p:nvSpPr>
        <p:spPr>
          <a:xfrm>
            <a:off x="6999605" y="4178300"/>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a:solidFill>
                  <a:srgbClr val="294A6D"/>
                </a:solidFill>
                <a:latin typeface="Arial" panose="020B0604020202020204" pitchFamily="34" charset="0"/>
                <a:ea typeface="微软雅黑" panose="020B0503020204020204" charset="-122"/>
                <a:cs typeface="微软雅黑" panose="020B0503020204020204" charset="-122"/>
              </a:rPr>
              <a:t>开发时间较长</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67" name="s13-right-4-body"/>
          <p:cNvSpPr>
            <a:spLocks noGrp="1"/>
          </p:cNvSpPr>
          <p:nvPr/>
        </p:nvSpPr>
        <p:spPr>
          <a:xfrm>
            <a:off x="7019925" y="4267200"/>
            <a:ext cx="4352925" cy="41910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14</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6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2.3</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微软雅黑" panose="020B050302020402020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微软雅黑" panose="020B0503020204020204" charset="-122"/>
                <a:cs typeface="微软雅黑" panose="020B0503020204020204" charset="-122"/>
              </a:rPr>
              <a:t>Agent/</a:t>
            </a:r>
            <a:r>
              <a:rPr sz="1600">
                <a:solidFill>
                  <a:srgbClr val="2F3A45"/>
                </a:solidFill>
                <a:latin typeface="Arial" panose="020B0604020202020204" pitchFamily="34" charset="0"/>
                <a:ea typeface="微软雅黑" panose="020B050302020402020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微软雅黑" panose="020B0503020204020204" charset="-122"/>
                <a:cs typeface="微软雅黑" panose="020B0503020204020204" charset="-122"/>
              </a:rPr>
              <a:t>寒武纪</a:t>
            </a:r>
            <a:r>
              <a:rPr sz="1600">
                <a:solidFill>
                  <a:srgbClr val="2F3A45"/>
                </a:solidFill>
                <a:latin typeface="Arial" panose="020B0604020202020204" pitchFamily="34" charset="0"/>
                <a:ea typeface="微软雅黑" panose="020B050302020402020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EEF2F5"/>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5B7188"/>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lvl="0">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微软雅黑" panose="020B0503020204020204" charset="-122"/>
                <a:sym typeface="+mn-ea"/>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b="1">
                <a:solidFill>
                  <a:srgbClr val="243B53"/>
                </a:solidFill>
                <a:latin typeface="Arial" panose="020B0604020202020204" pitchFamily="34" charset="0"/>
                <a:ea typeface="微软雅黑" panose="020B050302020402020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未来展望</a:t>
            </a: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7-title"/>
          <p:cNvSpPr>
            <a:spLocks noGrp="1"/>
          </p:cNvSpPr>
          <p:nvPr/>
        </p:nvSpPr>
        <p:spPr>
          <a:xfrm>
            <a:off x="977900" y="245409"/>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sz="2550" b="1" dirty="0" err="1">
                <a:solidFill>
                  <a:srgbClr val="243B53"/>
                </a:solidFill>
                <a:latin typeface="Arial" panose="020B0604020202020204" pitchFamily="34" charset="0"/>
                <a:ea typeface="微软雅黑" panose="020B0503020204020204" charset="-122"/>
              </a:rPr>
              <a:t>算子</a:t>
            </a:r>
            <a:r>
              <a:rPr sz="2550" b="1" dirty="0">
                <a:solidFill>
                  <a:srgbClr val="243B53"/>
                </a:solidFill>
                <a:latin typeface="Arial" panose="020B0604020202020204" pitchFamily="34" charset="0"/>
                <a:ea typeface="微软雅黑" panose="020B0503020204020204" charset="-122"/>
              </a:rPr>
              <a:t> Skill </a:t>
            </a:r>
            <a:r>
              <a:rPr sz="2550" b="1" dirty="0" err="1" smtClean="0">
                <a:solidFill>
                  <a:srgbClr val="243B53"/>
                </a:solidFill>
                <a:latin typeface="Arial" panose="020B0604020202020204" pitchFamily="34" charset="0"/>
                <a:ea typeface="微软雅黑" panose="020B0503020204020204" charset="-122"/>
              </a:rPr>
              <a:t>开发指南</a:t>
            </a:r>
            <a:r>
              <a:rPr lang="zh-CN" altLang="en-US" sz="2550" b="1" dirty="0" smtClean="0">
                <a:solidFill>
                  <a:srgbClr val="243B53"/>
                </a:solidFill>
                <a:latin typeface="Arial" panose="020B0604020202020204" pitchFamily="34" charset="0"/>
                <a:ea typeface="微软雅黑" panose="020B0503020204020204" charset="-122"/>
              </a:rPr>
              <a:t>：开发一个好用的</a:t>
            </a:r>
            <a:r>
              <a:rPr lang="en-US" altLang="zh-CN" sz="2550" b="1" dirty="0" smtClean="0">
                <a:solidFill>
                  <a:srgbClr val="243B53"/>
                </a:solidFill>
                <a:latin typeface="Arial" panose="020B0604020202020204" pitchFamily="34" charset="0"/>
                <a:ea typeface="微软雅黑" panose="020B0503020204020204" charset="-122"/>
              </a:rPr>
              <a:t>skill</a:t>
            </a:r>
            <a:endParaRPr sz="2550" b="1" dirty="0">
              <a:solidFill>
                <a:srgbClr val="243B53"/>
              </a:solidFill>
              <a:latin typeface="Arial" panose="020B0604020202020204" pitchFamily="34" charset="0"/>
              <a:ea typeface="微软雅黑" panose="020B0503020204020204" charset="-122"/>
            </a:endParaRP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15</a:t>
            </a:r>
            <a:endParaRPr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9" name="s15-universal-frame"/>
          <p:cNvSpPr>
            <a:spLocks noGrp="1"/>
          </p:cNvSpPr>
          <p:nvPr/>
        </p:nvSpPr>
        <p:spPr>
          <a:xfrm>
            <a:off x="1171574" y="1747642"/>
            <a:ext cx="4743450" cy="990600"/>
          </a:xfrm>
          <a:prstGeom prst="rect">
            <a:avLst/>
          </a:prstGeom>
          <a:solidFill>
            <a:srgbClr val="EEF2F5"/>
          </a:solidFill>
          <a:ln w="13335">
            <a:solidFill>
              <a:srgbClr val="D6DEE6"/>
            </a:solidFill>
            <a:prstDash val="solid"/>
          </a:ln>
          <a:effectLst/>
        </p:spPr>
      </p:sp>
      <p:sp>
        <p:nvSpPr>
          <p:cNvPr id="20" name="s15-universal-title"/>
          <p:cNvSpPr>
            <a:spLocks noGrp="1"/>
          </p:cNvSpPr>
          <p:nvPr/>
        </p:nvSpPr>
        <p:spPr>
          <a:xfrm>
            <a:off x="1255912" y="1831148"/>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lang="en-US" sz="1600" dirty="0" smtClean="0">
                <a:solidFill>
                  <a:srgbClr val="294A6D"/>
                </a:solidFill>
                <a:latin typeface="Arial" panose="020B0604020202020204" pitchFamily="34" charset="0"/>
                <a:ea typeface="微软雅黑" panose="020B0503020204020204" charset="-122"/>
                <a:cs typeface="微软雅黑" panose="020B0503020204020204" charset="-122"/>
              </a:rPr>
              <a:t>1</a:t>
            </a:r>
            <a:r>
              <a:rPr lang="zh-CN" altLang="en-US" sz="1600" dirty="0" smtClean="0">
                <a:solidFill>
                  <a:srgbClr val="294A6D"/>
                </a:solidFill>
                <a:latin typeface="Arial" panose="020B0604020202020204" pitchFamily="34" charset="0"/>
                <a:ea typeface="微软雅黑" panose="020B0503020204020204" charset="-122"/>
                <a:cs typeface="微软雅黑" panose="020B0503020204020204" charset="-122"/>
              </a:rPr>
              <a:t>、成本低</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21" name="s15-universal-subtitle"/>
          <p:cNvSpPr>
            <a:spLocks noGrp="1"/>
          </p:cNvSpPr>
          <p:nvPr/>
        </p:nvSpPr>
        <p:spPr>
          <a:xfrm>
            <a:off x="1276349" y="2078798"/>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lang="zh-CN" altLang="en-US" sz="1400" dirty="0" smtClean="0">
                <a:solidFill>
                  <a:srgbClr val="2F3A45"/>
                </a:solidFill>
                <a:latin typeface="Arial" panose="020B0604020202020204" pitchFamily="34" charset="0"/>
                <a:ea typeface="微软雅黑" panose="020B0503020204020204" charset="-122"/>
              </a:rPr>
              <a:t>消耗</a:t>
            </a:r>
            <a:r>
              <a:rPr lang="en-US" altLang="zh-CN" sz="1400" dirty="0" smtClean="0">
                <a:solidFill>
                  <a:srgbClr val="2F3A45"/>
                </a:solidFill>
                <a:latin typeface="Arial" panose="020B0604020202020204" pitchFamily="34" charset="0"/>
                <a:ea typeface="微软雅黑" panose="020B0503020204020204" charset="-122"/>
              </a:rPr>
              <a:t>token</a:t>
            </a:r>
            <a:r>
              <a:rPr lang="zh-CN" altLang="en-US" sz="1400" dirty="0" smtClean="0">
                <a:solidFill>
                  <a:srgbClr val="2F3A45"/>
                </a:solidFill>
                <a:latin typeface="Arial" panose="020B0604020202020204" pitchFamily="34" charset="0"/>
                <a:ea typeface="微软雅黑" panose="020B0503020204020204" charset="-122"/>
              </a:rPr>
              <a:t>少，开发时间短</a:t>
            </a:r>
            <a:endParaRPr sz="1400" dirty="0">
              <a:solidFill>
                <a:srgbClr val="2F3A45"/>
              </a:solidFill>
              <a:latin typeface="Arial" panose="020B0604020202020204" pitchFamily="34" charset="0"/>
              <a:ea typeface="微软雅黑" panose="020B0503020204020204" charset="-122"/>
            </a:endParaRPr>
          </a:p>
        </p:txBody>
      </p:sp>
      <p:sp>
        <p:nvSpPr>
          <p:cNvPr id="22" name="s15-arrow-1"/>
          <p:cNvSpPr>
            <a:spLocks noGrp="1"/>
          </p:cNvSpPr>
          <p:nvPr/>
        </p:nvSpPr>
        <p:spPr>
          <a:xfrm>
            <a:off x="3400424" y="2719192"/>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endParaRPr sz="1650" dirty="0">
              <a:solidFill>
                <a:srgbClr val="294A6D"/>
              </a:solidFill>
              <a:latin typeface="Arial" panose="020B0604020202020204" pitchFamily="34" charset="0"/>
              <a:ea typeface="微软雅黑" panose="020B0503020204020204" charset="-122"/>
              <a:cs typeface="Calibri" panose="020F0502020204030204"/>
            </a:endParaRPr>
          </a:p>
        </p:txBody>
      </p:sp>
      <p:sp>
        <p:nvSpPr>
          <p:cNvPr id="23" name="s15-platform-frame"/>
          <p:cNvSpPr>
            <a:spLocks noGrp="1"/>
          </p:cNvSpPr>
          <p:nvPr/>
        </p:nvSpPr>
        <p:spPr>
          <a:xfrm>
            <a:off x="1171574" y="2938267"/>
            <a:ext cx="4743450" cy="1257300"/>
          </a:xfrm>
          <a:prstGeom prst="rect">
            <a:avLst/>
          </a:prstGeom>
          <a:solidFill>
            <a:srgbClr val="EAF3F1"/>
          </a:solidFill>
          <a:ln w="13335">
            <a:solidFill>
              <a:srgbClr val="D6DEE6"/>
            </a:solidFill>
            <a:prstDash val="solid"/>
          </a:ln>
          <a:effectLst/>
        </p:spPr>
      </p:sp>
      <p:sp>
        <p:nvSpPr>
          <p:cNvPr id="24" name="s15-platform-title"/>
          <p:cNvSpPr>
            <a:spLocks noGrp="1"/>
          </p:cNvSpPr>
          <p:nvPr/>
        </p:nvSpPr>
        <p:spPr>
          <a:xfrm>
            <a:off x="1285874" y="2976367"/>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lang="en-US" sz="1600" dirty="0" smtClean="0">
                <a:solidFill>
                  <a:srgbClr val="4F8A83"/>
                </a:solidFill>
                <a:latin typeface="Arial" panose="020B0604020202020204" pitchFamily="34" charset="0"/>
                <a:ea typeface="微软雅黑" panose="020B0503020204020204" charset="-122"/>
                <a:cs typeface="微软雅黑" panose="020B0503020204020204" charset="-122"/>
              </a:rPr>
              <a:t>2</a:t>
            </a:r>
            <a:r>
              <a:rPr lang="zh-CN" altLang="en-US" sz="1600" dirty="0" smtClean="0">
                <a:solidFill>
                  <a:srgbClr val="4F8A83"/>
                </a:solidFill>
                <a:latin typeface="Arial" panose="020B0604020202020204" pitchFamily="34" charset="0"/>
                <a:ea typeface="微软雅黑" panose="020B0503020204020204" charset="-122"/>
                <a:cs typeface="微软雅黑" panose="020B0503020204020204" charset="-122"/>
              </a:rPr>
              <a:t>、验证快</a:t>
            </a:r>
            <a:endParaRPr sz="1600" dirty="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25" name="s15-platform-left"/>
          <p:cNvSpPr>
            <a:spLocks noGrp="1"/>
          </p:cNvSpPr>
          <p:nvPr/>
        </p:nvSpPr>
        <p:spPr>
          <a:xfrm>
            <a:off x="2038349" y="3338317"/>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endParaRPr sz="94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7" name="s15-platform-right"/>
          <p:cNvSpPr>
            <a:spLocks noGrp="1"/>
          </p:cNvSpPr>
          <p:nvPr/>
        </p:nvSpPr>
        <p:spPr>
          <a:xfrm>
            <a:off x="2552699" y="3357367"/>
            <a:ext cx="1695450" cy="819150"/>
          </a:xfrm>
          <a:prstGeom prst="rect">
            <a:avLst/>
          </a:prstGeom>
          <a:noFill/>
          <a:ln w="0">
            <a:noFill/>
            <a:prstDash val="solid"/>
          </a:ln>
          <a:effectLst/>
        </p:spPr>
        <p:txBody>
          <a:bodyPr wrap="square" lIns="19050" tIns="9525" rIns="19050" bIns="9525" anchor="t">
            <a:normAutofit/>
          </a:bodyPr>
          <a:lstStyle/>
          <a:p>
            <a:pPr>
              <a:lnSpc>
                <a:spcPct val="95000"/>
              </a:lnSpc>
              <a:defRPr sz="925" b="0">
                <a:solidFill>
                  <a:srgbClr val="27364A"/>
                </a:solidFill>
                <a:latin typeface="微软雅黑" panose="020B0503020204020204" charset="-122"/>
                <a:ea typeface="微软雅黑" panose="020B0503020204020204" charset="-122"/>
                <a:cs typeface="微软雅黑" panose="020B0503020204020204" charset="-122"/>
              </a:defRPr>
            </a:pPr>
            <a:r>
              <a:rPr lang="zh-CN" altLang="en-US" sz="900" b="1" dirty="0">
                <a:solidFill>
                  <a:srgbClr val="2F3A45"/>
                </a:solidFill>
                <a:latin typeface="Arial" panose="020B0604020202020204" pitchFamily="34" charset="0"/>
                <a:ea typeface="微软雅黑" panose="020B0503020204020204" charset="-122"/>
                <a:cs typeface="微软雅黑" panose="020B0503020204020204" charset="-122"/>
              </a:rPr>
              <a:t>新增每阶段缓存</a:t>
            </a:r>
            <a:r>
              <a:rPr lang="zh-CN" altLang="en-US" sz="900" b="1" dirty="0" smtClean="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925" b="1" dirty="0" err="1" smtClean="0">
                <a:solidFill>
                  <a:srgbClr val="2F3A45"/>
                </a:solidFill>
                <a:latin typeface="Arial" panose="020B0604020202020204" pitchFamily="34" charset="0"/>
                <a:ea typeface="微软雅黑" panose="020B0503020204020204" charset="-122"/>
                <a:cs typeface="微软雅黑" panose="020B0503020204020204" charset="-122"/>
              </a:rPr>
              <a:t>Codegen</a:t>
            </a:r>
            <a:r>
              <a:rPr lang="zh-CN" altLang="en-US" sz="925" b="1" dirty="0" smtClean="0">
                <a:solidFill>
                  <a:srgbClr val="2F3A45"/>
                </a:solidFill>
                <a:latin typeface="Arial" panose="020B0604020202020204" pitchFamily="34" charset="0"/>
                <a:ea typeface="微软雅黑" panose="020B0503020204020204" charset="-122"/>
                <a:cs typeface="微软雅黑" panose="020B0503020204020204" charset="-122"/>
              </a:rPr>
              <a:t>七步生成中间加入缓存点，可以直接从中间跑。</a:t>
            </a:r>
            <a:endParaRPr lang="en-US" altLang="zh-CN" sz="925" b="1" dirty="0" smtClean="0">
              <a:solidFill>
                <a:srgbClr val="2F3A45"/>
              </a:solidFill>
              <a:latin typeface="Arial" panose="020B0604020202020204" pitchFamily="34" charset="0"/>
              <a:ea typeface="微软雅黑" panose="020B0503020204020204" charset="-122"/>
              <a:cs typeface="微软雅黑" panose="020B0503020204020204" charset="-122"/>
            </a:endParaRPr>
          </a:p>
          <a:p>
            <a:pPr>
              <a:lnSpc>
                <a:spcPct val="95000"/>
              </a:lnSpc>
              <a:defRPr sz="925" b="0">
                <a:solidFill>
                  <a:srgbClr val="27364A"/>
                </a:solidFill>
                <a:latin typeface="微软雅黑" panose="020B0503020204020204" charset="-122"/>
                <a:ea typeface="微软雅黑" panose="020B0503020204020204" charset="-122"/>
                <a:cs typeface="微软雅黑" panose="020B0503020204020204" charset="-122"/>
              </a:defRPr>
            </a:pPr>
            <a:r>
              <a:rPr lang="zh-CN" altLang="en-US" sz="925" b="1" dirty="0" smtClean="0">
                <a:solidFill>
                  <a:srgbClr val="2F3A45"/>
                </a:solidFill>
                <a:latin typeface="Arial" panose="020B0604020202020204" pitchFamily="34" charset="0"/>
                <a:ea typeface="微软雅黑" panose="020B0503020204020204" charset="-122"/>
                <a:cs typeface="微软雅黑" panose="020B0503020204020204" charset="-122"/>
              </a:rPr>
              <a:t>根据修改大小采取不同的级别的验证方式</a:t>
            </a:r>
            <a:endParaRPr sz="92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0" name="s15-validation-frame"/>
          <p:cNvSpPr>
            <a:spLocks noGrp="1"/>
          </p:cNvSpPr>
          <p:nvPr/>
        </p:nvSpPr>
        <p:spPr>
          <a:xfrm>
            <a:off x="1171574" y="4347967"/>
            <a:ext cx="4743450" cy="1057275"/>
          </a:xfrm>
          <a:prstGeom prst="rect">
            <a:avLst/>
          </a:prstGeom>
          <a:solidFill>
            <a:srgbClr val="EEF2F5"/>
          </a:solidFill>
          <a:ln w="13335">
            <a:solidFill>
              <a:srgbClr val="D6DEE6"/>
            </a:solidFill>
            <a:prstDash val="solid"/>
          </a:ln>
          <a:effectLst/>
        </p:spPr>
      </p:sp>
      <p:sp>
        <p:nvSpPr>
          <p:cNvPr id="31" name="s15-validation-title"/>
          <p:cNvSpPr>
            <a:spLocks noGrp="1"/>
          </p:cNvSpPr>
          <p:nvPr/>
        </p:nvSpPr>
        <p:spPr>
          <a:xfrm>
            <a:off x="1285874" y="4386067"/>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lang="en-US" sz="1600" dirty="0" smtClean="0">
                <a:solidFill>
                  <a:srgbClr val="294A6D"/>
                </a:solidFill>
                <a:latin typeface="Arial" panose="020B0604020202020204" pitchFamily="34" charset="0"/>
                <a:ea typeface="微软雅黑" panose="020B0503020204020204" charset="-122"/>
                <a:cs typeface="微软雅黑" panose="020B0503020204020204" charset="-122"/>
              </a:rPr>
              <a:t>3</a:t>
            </a:r>
            <a:r>
              <a:rPr lang="zh-CN" altLang="en-US" sz="1600" dirty="0" smtClean="0">
                <a:solidFill>
                  <a:srgbClr val="294A6D"/>
                </a:solidFill>
                <a:latin typeface="Arial" panose="020B0604020202020204" pitchFamily="34" charset="0"/>
                <a:ea typeface="微软雅黑" panose="020B0503020204020204" charset="-122"/>
                <a:cs typeface="微软雅黑" panose="020B0503020204020204" charset="-122"/>
              </a:rPr>
              <a:t>、算子性能高</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32" name="s15-validation-subtitle"/>
          <p:cNvSpPr>
            <a:spLocks noGrp="1"/>
          </p:cNvSpPr>
          <p:nvPr/>
        </p:nvSpPr>
        <p:spPr>
          <a:xfrm>
            <a:off x="2647949" y="4654021"/>
            <a:ext cx="179070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lang="zh-CN" altLang="en-US" sz="885" dirty="0" smtClean="0">
                <a:solidFill>
                  <a:srgbClr val="2F3A45"/>
                </a:solidFill>
                <a:latin typeface="Arial" panose="020B0604020202020204" pitchFamily="34" charset="0"/>
                <a:ea typeface="微软雅黑" panose="020B0503020204020204" charset="-122"/>
              </a:rPr>
              <a:t>加入</a:t>
            </a:r>
            <a:r>
              <a:rPr lang="en-US" altLang="zh-CN" sz="885" dirty="0" smtClean="0">
                <a:solidFill>
                  <a:srgbClr val="2F3A45"/>
                </a:solidFill>
                <a:latin typeface="Arial" panose="020B0604020202020204" pitchFamily="34" charset="0"/>
                <a:ea typeface="微软雅黑" panose="020B0503020204020204" charset="-122"/>
              </a:rPr>
              <a:t>profiler</a:t>
            </a:r>
            <a:r>
              <a:rPr lang="zh-CN" altLang="en-US" sz="885" dirty="0" smtClean="0">
                <a:solidFill>
                  <a:srgbClr val="2F3A45"/>
                </a:solidFill>
                <a:latin typeface="Arial" panose="020B0604020202020204" pitchFamily="34" charset="0"/>
                <a:ea typeface="微软雅黑" panose="020B0503020204020204" charset="-122"/>
              </a:rPr>
              <a:t>阶段，根据初步优化的结果和</a:t>
            </a:r>
            <a:r>
              <a:rPr lang="en-US" altLang="zh-CN" sz="885" dirty="0" smtClean="0">
                <a:solidFill>
                  <a:srgbClr val="2F3A45"/>
                </a:solidFill>
                <a:latin typeface="Arial" panose="020B0604020202020204" pitchFamily="34" charset="0"/>
                <a:ea typeface="微软雅黑" panose="020B0503020204020204" charset="-122"/>
              </a:rPr>
              <a:t>profiler</a:t>
            </a:r>
            <a:r>
              <a:rPr lang="zh-CN" altLang="en-US" sz="885" dirty="0" smtClean="0">
                <a:solidFill>
                  <a:srgbClr val="2F3A45"/>
                </a:solidFill>
                <a:latin typeface="Arial" panose="020B0604020202020204" pitchFamily="34" charset="0"/>
                <a:ea typeface="微软雅黑" panose="020B0503020204020204" charset="-122"/>
              </a:rPr>
              <a:t>阶段的分析，选择性的采取优化方式</a:t>
            </a:r>
            <a:endParaRPr sz="885" dirty="0">
              <a:solidFill>
                <a:srgbClr val="2F3A45"/>
              </a:solidFill>
              <a:latin typeface="Arial" panose="020B0604020202020204" pitchFamily="34" charset="0"/>
              <a:ea typeface="微软雅黑" panose="020B0503020204020204" charset="-122"/>
            </a:endParaRPr>
          </a:p>
        </p:txBody>
      </p:sp>
      <p:sp>
        <p:nvSpPr>
          <p:cNvPr id="3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pic>
        <p:nvPicPr>
          <p:cNvPr id="2" name="图片 1"/>
          <p:cNvPicPr>
            <a:picLocks noChangeAspect="1"/>
          </p:cNvPicPr>
          <p:nvPr/>
        </p:nvPicPr>
        <p:blipFill>
          <a:blip r:embed="rId3"/>
          <a:stretch>
            <a:fillRect/>
          </a:stretch>
        </p:blipFill>
        <p:spPr>
          <a:xfrm>
            <a:off x="6781799" y="1905090"/>
            <a:ext cx="3752962" cy="2904553"/>
          </a:xfrm>
          <a:prstGeom prst="rect">
            <a:avLst/>
          </a:prstGeom>
        </p:spPr>
      </p:pic>
      <p:sp>
        <p:nvSpPr>
          <p:cNvPr id="3" name="文本框 2"/>
          <p:cNvSpPr txBox="1"/>
          <p:nvPr/>
        </p:nvSpPr>
        <p:spPr>
          <a:xfrm>
            <a:off x="342900" y="1064581"/>
            <a:ext cx="3254417" cy="400110"/>
          </a:xfrm>
          <a:prstGeom prst="rect">
            <a:avLst/>
          </a:prstGeom>
          <a:noFill/>
        </p:spPr>
        <p:txBody>
          <a:bodyPr wrap="none" rtlCol="0">
            <a:spAutoFit/>
          </a:bodyPr>
          <a:lstStyle/>
          <a:p>
            <a:r>
              <a:rPr lang="zh-CN" altLang="en-US" sz="2000" b="1" dirty="0" smtClean="0">
                <a:latin typeface="微软雅黑" panose="020B0503020204020204" pitchFamily="34" charset="-122"/>
                <a:ea typeface="微软雅黑" panose="020B0503020204020204" pitchFamily="34" charset="-122"/>
              </a:rPr>
              <a:t>一、怎么算一个好用的</a:t>
            </a:r>
            <a:r>
              <a:rPr lang="en-US" altLang="zh-CN" sz="2000" b="1" dirty="0" smtClean="0">
                <a:latin typeface="微软雅黑" panose="020B0503020204020204" pitchFamily="34" charset="-122"/>
                <a:ea typeface="微软雅黑" panose="020B0503020204020204" pitchFamily="34" charset="-122"/>
              </a:rPr>
              <a:t>skill</a:t>
            </a:r>
            <a:endParaRPr lang="zh-CN" altLang="en-US" sz="2000" b="1" dirty="0">
              <a:latin typeface="微软雅黑" panose="020B0503020204020204" pitchFamily="34" charset="-122"/>
              <a:ea typeface="微软雅黑" panose="020B0503020204020204" pitchFamily="34" charset="-122"/>
            </a:endParaRPr>
          </a:p>
        </p:txBody>
      </p:sp>
      <p:sp>
        <p:nvSpPr>
          <p:cNvPr id="37" name="文本框 36"/>
          <p:cNvSpPr txBox="1"/>
          <p:nvPr/>
        </p:nvSpPr>
        <p:spPr>
          <a:xfrm>
            <a:off x="6378436" y="1019187"/>
            <a:ext cx="3005951" cy="400110"/>
          </a:xfrm>
          <a:prstGeom prst="rect">
            <a:avLst/>
          </a:prstGeom>
          <a:noFill/>
        </p:spPr>
        <p:txBody>
          <a:bodyPr wrap="none" rtlCol="0">
            <a:spAutoFit/>
          </a:bodyPr>
          <a:lstStyle/>
          <a:p>
            <a:r>
              <a:rPr lang="zh-CN" altLang="en-US" sz="2000" b="1" dirty="0" smtClean="0">
                <a:latin typeface="微软雅黑" panose="020B0503020204020204" pitchFamily="34" charset="-122"/>
                <a:ea typeface="微软雅黑" panose="020B0503020204020204" pitchFamily="34" charset="-122"/>
              </a:rPr>
              <a:t>二、要有一个清晰的结构</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7-title"/>
          <p:cNvSpPr>
            <a:spLocks noGrp="1"/>
          </p:cNvSpPr>
          <p:nvPr/>
        </p:nvSpPr>
        <p:spPr>
          <a:xfrm>
            <a:off x="977900" y="245409"/>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sz="2550" b="1" dirty="0" err="1">
                <a:solidFill>
                  <a:srgbClr val="243B53"/>
                </a:solidFill>
                <a:latin typeface="Arial" panose="020B0604020202020204" pitchFamily="34" charset="0"/>
                <a:ea typeface="微软雅黑" panose="020B0503020204020204" charset="-122"/>
              </a:rPr>
              <a:t>算子</a:t>
            </a:r>
            <a:r>
              <a:rPr sz="2550" b="1" dirty="0">
                <a:solidFill>
                  <a:srgbClr val="243B53"/>
                </a:solidFill>
                <a:latin typeface="Arial" panose="020B0604020202020204" pitchFamily="34" charset="0"/>
                <a:ea typeface="微软雅黑" panose="020B0503020204020204" charset="-122"/>
              </a:rPr>
              <a:t> Skill </a:t>
            </a:r>
            <a:r>
              <a:rPr sz="2550" b="1" dirty="0" err="1">
                <a:solidFill>
                  <a:srgbClr val="243B53"/>
                </a:solidFill>
                <a:latin typeface="Arial" panose="020B0604020202020204" pitchFamily="34" charset="0"/>
                <a:ea typeface="微软雅黑" panose="020B0503020204020204" charset="-122"/>
              </a:rPr>
              <a:t>开发指南：通用框架</a:t>
            </a:r>
            <a:r>
              <a:rPr sz="2550" b="1" dirty="0">
                <a:solidFill>
                  <a:srgbClr val="243B53"/>
                </a:solidFill>
                <a:latin typeface="Arial" panose="020B0604020202020204" pitchFamily="34" charset="0"/>
                <a:ea typeface="微软雅黑" panose="020B0503020204020204" charset="-122"/>
              </a:rPr>
              <a:t> × </a:t>
            </a:r>
            <a:r>
              <a:rPr sz="2550" b="1" dirty="0" err="1">
                <a:solidFill>
                  <a:srgbClr val="243B53"/>
                </a:solidFill>
                <a:latin typeface="Arial" panose="020B0604020202020204" pitchFamily="34" charset="0"/>
                <a:ea typeface="微软雅黑" panose="020B0503020204020204" charset="-122"/>
              </a:rPr>
              <a:t>平台知识</a:t>
            </a:r>
            <a:r>
              <a:rPr sz="2550" b="1" dirty="0">
                <a:solidFill>
                  <a:srgbClr val="243B53"/>
                </a:solidFill>
                <a:latin typeface="Arial" panose="020B0604020202020204" pitchFamily="34" charset="0"/>
                <a:ea typeface="微软雅黑" panose="020B0503020204020204" charset="-122"/>
              </a:rPr>
              <a:t> × </a:t>
            </a:r>
            <a:r>
              <a:rPr sz="2550" b="1" dirty="0" err="1">
                <a:solidFill>
                  <a:srgbClr val="243B53"/>
                </a:solidFill>
                <a:latin typeface="Arial" panose="020B0604020202020204" pitchFamily="34" charset="0"/>
                <a:ea typeface="微软雅黑" panose="020B0503020204020204" charset="-122"/>
              </a:rPr>
              <a:t>验证闭环</a:t>
            </a:r>
            <a:endParaRPr sz="2550" b="1" dirty="0">
              <a:solidFill>
                <a:srgbClr val="243B53"/>
              </a:solidFill>
              <a:latin typeface="Arial" panose="020B0604020202020204" pitchFamily="34" charset="0"/>
              <a:ea typeface="微软雅黑" panose="020B0503020204020204" charset="-122"/>
            </a:endParaRPr>
          </a:p>
        </p:txBody>
      </p:sp>
      <p:sp>
        <p:nvSpPr>
          <p:cNvPr id="14" name="framework-synthesis"/>
          <p:cNvSpPr>
            <a:spLocks noGrp="1"/>
          </p:cNvSpPr>
          <p:nvPr/>
        </p:nvSpPr>
        <p:spPr>
          <a:xfrm>
            <a:off x="3271422" y="5353050"/>
            <a:ext cx="5095875" cy="266700"/>
          </a:xfrm>
          <a:prstGeom prst="rect">
            <a:avLst/>
          </a:prstGeom>
          <a:solidFill>
            <a:srgbClr val="EEF2F5"/>
          </a:solidFill>
          <a:ln w="9525">
            <a:solidFill>
              <a:srgbClr val="D6DEE6"/>
            </a:solidFill>
            <a:prstDash val="solid"/>
          </a:ln>
          <a:effectLst/>
        </p:spPr>
        <p:txBody>
          <a:bodyPr wrap="square" lIns="76200" tIns="0" rIns="762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dirty="0">
                <a:solidFill>
                  <a:srgbClr val="2F3A45"/>
                </a:solidFill>
                <a:latin typeface="Arial" panose="020B0604020202020204" pitchFamily="34" charset="0"/>
                <a:ea typeface="微软雅黑" panose="020B0503020204020204" charset="-122"/>
              </a:rPr>
              <a:t>★  </a:t>
            </a:r>
            <a:r>
              <a:rPr sz="940" dirty="0" err="1">
                <a:solidFill>
                  <a:srgbClr val="2F3A45"/>
                </a:solidFill>
                <a:latin typeface="Arial" panose="020B0604020202020204" pitchFamily="34" charset="0"/>
                <a:ea typeface="微软雅黑" panose="020B0503020204020204" charset="-122"/>
              </a:rPr>
              <a:t>通用框架提供骨架，平台知识填充差异，真实验证不断校准两者</a:t>
            </a:r>
            <a:r>
              <a:rPr sz="940" dirty="0">
                <a:solidFill>
                  <a:srgbClr val="2F3A45"/>
                </a:solidFill>
                <a:latin typeface="Arial" panose="020B0604020202020204" pitchFamily="34" charset="0"/>
                <a:ea typeface="微软雅黑" panose="020B0503020204020204" charset="-122"/>
              </a:rPr>
              <a:t>。</a:t>
            </a: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15</a:t>
            </a:r>
            <a:endParaRPr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7" name="slide-7-editable-footer"/>
          <p:cNvSpPr>
            <a:spLocks noGrp="1"/>
          </p:cNvSpPr>
          <p:nvPr/>
        </p:nvSpPr>
        <p:spPr>
          <a:xfrm>
            <a:off x="228600" y="6400800"/>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dirty="0">
                <a:solidFill>
                  <a:srgbClr val="2F3A45"/>
                </a:solidFill>
                <a:latin typeface="Arial" panose="020B0604020202020204" pitchFamily="34" charset="0"/>
                <a:ea typeface="微软雅黑" panose="020B0503020204020204" charset="-122"/>
              </a:rPr>
              <a:t>算子skill的开发不是一蹴而就的，需要不断的完善和更新迭代。平台事实验证和环境验证看起来复杂，实际上可以通过一类模板指令让大模型进行检测。</a:t>
            </a: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9" name="s15-universal-frame"/>
          <p:cNvSpPr>
            <a:spLocks noGrp="1"/>
          </p:cNvSpPr>
          <p:nvPr/>
        </p:nvSpPr>
        <p:spPr>
          <a:xfrm>
            <a:off x="1141757" y="863059"/>
            <a:ext cx="4743450" cy="990600"/>
          </a:xfrm>
          <a:prstGeom prst="rect">
            <a:avLst/>
          </a:prstGeom>
          <a:solidFill>
            <a:srgbClr val="EEF2F5"/>
          </a:solidFill>
          <a:ln w="13335">
            <a:solidFill>
              <a:srgbClr val="D6DEE6"/>
            </a:solidFill>
            <a:prstDash val="solid"/>
          </a:ln>
          <a:effectLst/>
        </p:spPr>
      </p:sp>
      <p:sp>
        <p:nvSpPr>
          <p:cNvPr id="20" name="s15-universal-title"/>
          <p:cNvSpPr>
            <a:spLocks noGrp="1"/>
          </p:cNvSpPr>
          <p:nvPr/>
        </p:nvSpPr>
        <p:spPr>
          <a:xfrm>
            <a:off x="1226095" y="946565"/>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微软雅黑" panose="020B0503020204020204" charset="-122"/>
                <a:cs typeface="微软雅黑" panose="020B0503020204020204" charset="-122"/>
              </a:rPr>
              <a:t>通用框架</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21" name="s15-universal-subtitle"/>
          <p:cNvSpPr>
            <a:spLocks noGrp="1"/>
          </p:cNvSpPr>
          <p:nvPr/>
        </p:nvSpPr>
        <p:spPr>
          <a:xfrm>
            <a:off x="1246532" y="1194215"/>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rPr>
              <a:t>需求</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生成</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验证</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优化</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输出</a:t>
            </a:r>
            <a:endParaRPr sz="1400" dirty="0">
              <a:solidFill>
                <a:srgbClr val="2F3A45"/>
              </a:solidFill>
              <a:latin typeface="Arial" panose="020B0604020202020204" pitchFamily="34" charset="0"/>
              <a:ea typeface="微软雅黑" panose="020B0503020204020204" charset="-122"/>
            </a:endParaRPr>
          </a:p>
        </p:txBody>
      </p:sp>
      <p:sp>
        <p:nvSpPr>
          <p:cNvPr id="22" name="s15-arrow-1"/>
          <p:cNvSpPr>
            <a:spLocks noGrp="1"/>
          </p:cNvSpPr>
          <p:nvPr/>
        </p:nvSpPr>
        <p:spPr>
          <a:xfrm>
            <a:off x="3370607" y="1834609"/>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endParaRPr sz="1650" dirty="0">
              <a:solidFill>
                <a:srgbClr val="294A6D"/>
              </a:solidFill>
              <a:latin typeface="Arial" panose="020B0604020202020204" pitchFamily="34" charset="0"/>
              <a:ea typeface="微软雅黑" panose="020B0503020204020204" charset="-122"/>
              <a:cs typeface="Calibri" panose="020F0502020204030204"/>
            </a:endParaRPr>
          </a:p>
        </p:txBody>
      </p:sp>
      <p:sp>
        <p:nvSpPr>
          <p:cNvPr id="23" name="s15-platform-frame"/>
          <p:cNvSpPr>
            <a:spLocks noGrp="1"/>
          </p:cNvSpPr>
          <p:nvPr/>
        </p:nvSpPr>
        <p:spPr>
          <a:xfrm>
            <a:off x="1141757" y="2053684"/>
            <a:ext cx="4743450" cy="1257300"/>
          </a:xfrm>
          <a:prstGeom prst="rect">
            <a:avLst/>
          </a:prstGeom>
          <a:solidFill>
            <a:srgbClr val="EAF3F1"/>
          </a:solidFill>
          <a:ln w="13335">
            <a:solidFill>
              <a:srgbClr val="D6DEE6"/>
            </a:solidFill>
            <a:prstDash val="solid"/>
          </a:ln>
          <a:effectLst/>
        </p:spPr>
      </p:sp>
      <p:sp>
        <p:nvSpPr>
          <p:cNvPr id="24" name="s15-platform-title"/>
          <p:cNvSpPr>
            <a:spLocks noGrp="1"/>
          </p:cNvSpPr>
          <p:nvPr/>
        </p:nvSpPr>
        <p:spPr>
          <a:xfrm>
            <a:off x="1256057" y="2091784"/>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a:solidFill>
                  <a:srgbClr val="4F8A83"/>
                </a:solidFill>
                <a:latin typeface="Arial" panose="020B0604020202020204" pitchFamily="34" charset="0"/>
                <a:ea typeface="微软雅黑" panose="020B0503020204020204" charset="-122"/>
                <a:cs typeface="微软雅黑" panose="020B0503020204020204" charset="-122"/>
              </a:rPr>
              <a:t>平台知识</a:t>
            </a:r>
            <a:endParaRPr sz="1600" dirty="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25" name="s15-platform-left"/>
          <p:cNvSpPr>
            <a:spLocks noGrp="1"/>
          </p:cNvSpPr>
          <p:nvPr/>
        </p:nvSpPr>
        <p:spPr>
          <a:xfrm>
            <a:off x="2008532" y="2453734"/>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Hardware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API / Primitive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Profiler</a:t>
            </a:r>
          </a:p>
        </p:txBody>
      </p:sp>
      <p:sp>
        <p:nvSpPr>
          <p:cNvPr id="26" name="s15-platform-mid-rule"/>
          <p:cNvSpPr>
            <a:spLocks noGrp="1"/>
          </p:cNvSpPr>
          <p:nvPr/>
        </p:nvSpPr>
        <p:spPr>
          <a:xfrm>
            <a:off x="3380132" y="2472784"/>
            <a:ext cx="9525" cy="514350"/>
          </a:xfrm>
          <a:prstGeom prst="rect">
            <a:avLst/>
          </a:prstGeom>
          <a:solidFill>
            <a:srgbClr val="EAF3F1"/>
          </a:solidFill>
          <a:ln w="0">
            <a:solidFill>
              <a:srgbClr val="D6DEE6"/>
            </a:solidFill>
            <a:prstDash val="solid"/>
          </a:ln>
          <a:effectLst/>
        </p:spPr>
      </p:sp>
      <p:sp>
        <p:nvSpPr>
          <p:cNvPr id="27" name="s15-platform-right"/>
          <p:cNvSpPr>
            <a:spLocks noGrp="1"/>
          </p:cNvSpPr>
          <p:nvPr/>
        </p:nvSpPr>
        <p:spPr>
          <a:xfrm>
            <a:off x="3675407" y="2453734"/>
            <a:ext cx="16954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dirty="0" smtClean="0">
                <a:solidFill>
                  <a:srgbClr val="2F3A45"/>
                </a:solidFill>
                <a:latin typeface="Arial" panose="020B0604020202020204" pitchFamily="34" charset="0"/>
                <a:ea typeface="微软雅黑" panose="020B0503020204020204" charset="-122"/>
                <a:cs typeface="微软雅黑" panose="020B0503020204020204" charset="-122"/>
              </a:rPr>
              <a:t>Environment </a:t>
            </a:r>
            <a:r>
              <a:rPr sz="925" b="1" dirty="0">
                <a:solidFill>
                  <a:srgbClr val="2F3A45"/>
                </a:solidFill>
                <a:latin typeface="Arial" panose="020B0604020202020204" pitchFamily="34" charset="0"/>
                <a:ea typeface="微软雅黑" panose="020B0503020204020204" charset="-122"/>
                <a:cs typeface="微软雅黑" panose="020B0503020204020204" charset="-122"/>
              </a:rPr>
              <a:t>/ Toolchain</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dirty="0">
                <a:solidFill>
                  <a:srgbClr val="2F3A45"/>
                </a:solidFill>
                <a:latin typeface="Arial" panose="020B0604020202020204" pitchFamily="34" charset="0"/>
                <a:ea typeface="微软雅黑" panose="020B0503020204020204" charset="-122"/>
                <a:cs typeface="微软雅黑" panose="020B0503020204020204" charset="-122"/>
              </a:rPr>
              <a:t>Optimization / Examples</a:t>
            </a:r>
          </a:p>
        </p:txBody>
      </p:sp>
      <p:sp>
        <p:nvSpPr>
          <p:cNvPr id="30" name="s15-validation-frame"/>
          <p:cNvSpPr>
            <a:spLocks noGrp="1"/>
          </p:cNvSpPr>
          <p:nvPr/>
        </p:nvSpPr>
        <p:spPr>
          <a:xfrm>
            <a:off x="1141757" y="3463384"/>
            <a:ext cx="4743450" cy="1057275"/>
          </a:xfrm>
          <a:prstGeom prst="rect">
            <a:avLst/>
          </a:prstGeom>
          <a:solidFill>
            <a:srgbClr val="EEF2F5"/>
          </a:solidFill>
          <a:ln w="13335">
            <a:solidFill>
              <a:srgbClr val="D6DEE6"/>
            </a:solidFill>
            <a:prstDash val="solid"/>
          </a:ln>
          <a:effectLst/>
        </p:spPr>
      </p:sp>
      <p:sp>
        <p:nvSpPr>
          <p:cNvPr id="31" name="s15-validation-title"/>
          <p:cNvSpPr>
            <a:spLocks noGrp="1"/>
          </p:cNvSpPr>
          <p:nvPr/>
        </p:nvSpPr>
        <p:spPr>
          <a:xfrm>
            <a:off x="1256057" y="3501484"/>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lang="zh-CN" altLang="en-US" sz="1600" dirty="0" smtClean="0">
                <a:solidFill>
                  <a:srgbClr val="294A6D"/>
                </a:solidFill>
                <a:latin typeface="Arial" panose="020B0604020202020204" pitchFamily="34" charset="0"/>
                <a:ea typeface="微软雅黑" panose="020B0503020204020204" charset="-122"/>
                <a:cs typeface="微软雅黑" panose="020B0503020204020204" charset="-122"/>
              </a:rPr>
              <a:t>修改与</a:t>
            </a:r>
            <a:r>
              <a:rPr sz="1600" dirty="0" err="1" smtClean="0">
                <a:solidFill>
                  <a:srgbClr val="294A6D"/>
                </a:solidFill>
                <a:latin typeface="Arial" panose="020B0604020202020204" pitchFamily="34" charset="0"/>
                <a:ea typeface="微软雅黑" panose="020B0503020204020204" charset="-122"/>
                <a:cs typeface="微软雅黑" panose="020B0503020204020204" charset="-122"/>
              </a:rPr>
              <a:t>验证</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32" name="s15-validation-subtitle"/>
          <p:cNvSpPr>
            <a:spLocks noGrp="1"/>
          </p:cNvSpPr>
          <p:nvPr/>
        </p:nvSpPr>
        <p:spPr>
          <a:xfrm>
            <a:off x="1256057" y="3749134"/>
            <a:ext cx="451485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dirty="0">
                <a:solidFill>
                  <a:srgbClr val="2F3A45"/>
                </a:solidFill>
                <a:latin typeface="Arial" panose="020B0604020202020204" pitchFamily="34" charset="0"/>
                <a:ea typeface="微软雅黑" panose="020B0503020204020204" charset="-122"/>
              </a:rPr>
              <a:t>L1  </a:t>
            </a:r>
            <a:r>
              <a:rPr lang="zh-CN" altLang="en-US" sz="885" dirty="0" smtClean="0">
                <a:solidFill>
                  <a:srgbClr val="2F3A45"/>
                </a:solidFill>
                <a:latin typeface="Arial" panose="020B0604020202020204" pitchFamily="34" charset="0"/>
                <a:ea typeface="微软雅黑" panose="020B0503020204020204" charset="-122"/>
              </a:rPr>
              <a:t>基础修改（门禁，契约）</a:t>
            </a:r>
            <a:endParaRPr sz="885" dirty="0">
              <a:solidFill>
                <a:srgbClr val="2F3A45"/>
              </a:solidFill>
              <a:latin typeface="Arial" panose="020B0604020202020204" pitchFamily="34" charset="0"/>
              <a:ea typeface="微软雅黑" panose="020B0503020204020204" charset="-122"/>
            </a:endParaRP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dirty="0" smtClean="0">
                <a:solidFill>
                  <a:srgbClr val="2F3A45"/>
                </a:solidFill>
                <a:latin typeface="Arial" panose="020B0604020202020204" pitchFamily="34" charset="0"/>
                <a:ea typeface="微软雅黑" panose="020B0503020204020204" charset="-122"/>
              </a:rPr>
              <a:t>L2</a:t>
            </a:r>
            <a:r>
              <a:rPr lang="zh-CN" altLang="en-US" sz="885" dirty="0">
                <a:solidFill>
                  <a:srgbClr val="2F3A45"/>
                </a:solidFill>
                <a:latin typeface="Arial" panose="020B0604020202020204" pitchFamily="34" charset="0"/>
                <a:ea typeface="微软雅黑" panose="020B0503020204020204" charset="-122"/>
              </a:rPr>
              <a:t> </a:t>
            </a:r>
            <a:r>
              <a:rPr lang="zh-CN" altLang="en-US" sz="885" dirty="0" smtClean="0">
                <a:solidFill>
                  <a:srgbClr val="2F3A45"/>
                </a:solidFill>
                <a:latin typeface="Arial" panose="020B0604020202020204" pitchFamily="34" charset="0"/>
                <a:ea typeface="微软雅黑" panose="020B0503020204020204" charset="-122"/>
              </a:rPr>
              <a:t>简单算子小</a:t>
            </a:r>
            <a:r>
              <a:rPr lang="en-US" altLang="zh-CN" sz="885" dirty="0" smtClean="0">
                <a:solidFill>
                  <a:srgbClr val="2F3A45"/>
                </a:solidFill>
                <a:latin typeface="Arial" panose="020B0604020202020204" pitchFamily="34" charset="0"/>
                <a:ea typeface="微软雅黑" panose="020B0503020204020204" charset="-122"/>
              </a:rPr>
              <a:t>shape</a:t>
            </a:r>
            <a:endParaRPr sz="885" dirty="0">
              <a:solidFill>
                <a:srgbClr val="2F3A45"/>
              </a:solidFill>
              <a:latin typeface="Arial" panose="020B0604020202020204" pitchFamily="34" charset="0"/>
              <a:ea typeface="微软雅黑" panose="020B0503020204020204" charset="-122"/>
            </a:endParaRP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dirty="0">
                <a:solidFill>
                  <a:srgbClr val="2F3A45"/>
                </a:solidFill>
                <a:latin typeface="Arial" panose="020B0604020202020204" pitchFamily="34" charset="0"/>
                <a:ea typeface="微软雅黑" panose="020B0503020204020204" charset="-122"/>
              </a:rPr>
              <a:t>L3  </a:t>
            </a:r>
            <a:r>
              <a:rPr sz="885" dirty="0" err="1" smtClean="0">
                <a:solidFill>
                  <a:srgbClr val="2F3A45"/>
                </a:solidFill>
                <a:latin typeface="Arial" panose="020B0604020202020204" pitchFamily="34" charset="0"/>
                <a:ea typeface="微软雅黑" panose="020B0503020204020204" charset="-122"/>
              </a:rPr>
              <a:t>典型算子验证</a:t>
            </a:r>
            <a:endParaRPr sz="885" dirty="0">
              <a:solidFill>
                <a:srgbClr val="2F3A45"/>
              </a:solidFill>
              <a:latin typeface="Arial" panose="020B0604020202020204" pitchFamily="34" charset="0"/>
              <a:ea typeface="微软雅黑" panose="020B0503020204020204" charset="-122"/>
            </a:endParaRPr>
          </a:p>
        </p:txBody>
      </p:sp>
      <p:sp>
        <p:nvSpPr>
          <p:cNvPr id="33" name="s15-arrow-3-left"/>
          <p:cNvSpPr>
            <a:spLocks noGrp="1"/>
          </p:cNvSpPr>
          <p:nvPr/>
        </p:nvSpPr>
        <p:spPr>
          <a:xfrm>
            <a:off x="2151407" y="4501609"/>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微软雅黑" panose="020B0503020204020204" charset="-122"/>
                <a:cs typeface="Calibri" panose="020F0502020204030204"/>
              </a:rPr>
              <a:t>↓</a:t>
            </a:r>
          </a:p>
        </p:txBody>
      </p:sp>
      <p:sp>
        <p:nvSpPr>
          <p:cNvPr id="34" name="s15-arrow-3-right"/>
          <p:cNvSpPr>
            <a:spLocks noGrp="1"/>
          </p:cNvSpPr>
          <p:nvPr/>
        </p:nvSpPr>
        <p:spPr>
          <a:xfrm>
            <a:off x="4532657" y="4501609"/>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微软雅黑" panose="020B0503020204020204" charset="-122"/>
                <a:cs typeface="Calibri" panose="020F0502020204030204"/>
              </a:rPr>
              <a:t>↓</a:t>
            </a:r>
          </a:p>
        </p:txBody>
      </p:sp>
      <p:sp>
        <p:nvSpPr>
          <p:cNvPr id="35" name="s15-update-knowledge"/>
          <p:cNvSpPr>
            <a:spLocks noGrp="1"/>
          </p:cNvSpPr>
          <p:nvPr/>
        </p:nvSpPr>
        <p:spPr>
          <a:xfrm>
            <a:off x="1198907" y="4692109"/>
            <a:ext cx="184785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dirty="0" err="1" smtClean="0">
                <a:solidFill>
                  <a:srgbClr val="2F3A45"/>
                </a:solidFill>
                <a:latin typeface="Arial" panose="020B0604020202020204" pitchFamily="34" charset="0"/>
                <a:ea typeface="微软雅黑" panose="020B0503020204020204" charset="-122"/>
              </a:rPr>
              <a:t>更新平台知识</a:t>
            </a:r>
            <a:endParaRPr sz="915" dirty="0">
              <a:solidFill>
                <a:srgbClr val="2F3A45"/>
              </a:solidFill>
              <a:latin typeface="Arial" panose="020B0604020202020204" pitchFamily="34" charset="0"/>
              <a:ea typeface="微软雅黑" panose="020B0503020204020204" charset="-122"/>
            </a:endParaRPr>
          </a:p>
        </p:txBody>
      </p:sp>
      <p:sp>
        <p:nvSpPr>
          <p:cNvPr id="36" name="s15-adjust-workflow"/>
          <p:cNvSpPr>
            <a:spLocks noGrp="1"/>
          </p:cNvSpPr>
          <p:nvPr/>
        </p:nvSpPr>
        <p:spPr>
          <a:xfrm>
            <a:off x="3846857" y="4692109"/>
            <a:ext cx="175260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dirty="0" err="1" smtClean="0">
                <a:solidFill>
                  <a:srgbClr val="2F3A45"/>
                </a:solidFill>
                <a:latin typeface="Arial" panose="020B0604020202020204" pitchFamily="34" charset="0"/>
                <a:ea typeface="微软雅黑" panose="020B0503020204020204" charset="-122"/>
              </a:rPr>
              <a:t>修正通用流程</a:t>
            </a:r>
            <a:endParaRPr sz="915" dirty="0">
              <a:solidFill>
                <a:srgbClr val="2F3A45"/>
              </a:solidFill>
              <a:latin typeface="Arial" panose="020B0604020202020204" pitchFamily="34" charset="0"/>
              <a:ea typeface="微软雅黑" panose="020B0503020204020204" charset="-122"/>
            </a:endParaRPr>
          </a:p>
        </p:txBody>
      </p:sp>
      <p:sp>
        <p:nvSpPr>
          <p:cNvPr id="83" name="s15-feedback-label"/>
          <p:cNvSpPr>
            <a:spLocks noGrp="1"/>
          </p:cNvSpPr>
          <p:nvPr/>
        </p:nvSpPr>
        <p:spPr>
          <a:xfrm>
            <a:off x="1628775" y="5800725"/>
            <a:ext cx="1304925" cy="514350"/>
          </a:xfrm>
          <a:prstGeom prst="roundRect">
            <a:avLst>
              <a:gd name="adj" fmla="val 12963"/>
            </a:avLst>
          </a:prstGeom>
          <a:solidFill>
            <a:srgbClr val="294A6D"/>
          </a:solidFill>
          <a:ln w="0">
            <a:solidFill>
              <a:srgbClr val="D6DEE6"/>
            </a:solidFill>
            <a:prstDash val="solid"/>
          </a:ln>
          <a:effectLst/>
        </p:spPr>
        <p:txBody>
          <a:bodyPr wrap="square" lIns="47625" tIns="19050" rIns="47625" bIns="19050" anchor="ctr">
            <a:normAutofit/>
          </a:bodyPr>
          <a:lstStyle/>
          <a:p>
            <a:pPr algn="ctr">
              <a:defRPr sz="1165" b="1">
                <a:solidFill>
                  <a:srgbClr val="FFFFFF"/>
                </a:solidFill>
                <a:latin typeface="微软雅黑" panose="020B0503020204020204" charset="-122"/>
                <a:ea typeface="微软雅黑" panose="020B0503020204020204" charset="-122"/>
                <a:cs typeface="微软雅黑" panose="020B0503020204020204" charset="-122"/>
              </a:defRPr>
            </a:pPr>
            <a:r>
              <a:rPr sz="1165" dirty="0" err="1">
                <a:solidFill>
                  <a:srgbClr val="FFFFFF"/>
                </a:solidFill>
                <a:latin typeface="Arial" panose="020B0604020202020204" pitchFamily="34" charset="0"/>
                <a:ea typeface="微软雅黑" panose="020B0503020204020204" charset="-122"/>
                <a:cs typeface="微软雅黑" panose="020B0503020204020204" charset="-122"/>
              </a:rPr>
              <a:t>反馈规则</a:t>
            </a:r>
            <a:endParaRPr sz="1165" dirty="0">
              <a:solidFill>
                <a:srgbClr val="FFFFFF"/>
              </a:solidFill>
              <a:latin typeface="Arial" panose="020B0604020202020204" pitchFamily="34" charset="0"/>
              <a:ea typeface="微软雅黑" panose="020B0503020204020204" charset="-122"/>
              <a:cs typeface="微软雅黑" panose="020B0503020204020204" charset="-122"/>
            </a:endParaRPr>
          </a:p>
        </p:txBody>
      </p:sp>
      <p:sp>
        <p:nvSpPr>
          <p:cNvPr id="84" name="s15-feedback-1-title"/>
          <p:cNvSpPr>
            <a:spLocks noGrp="1"/>
          </p:cNvSpPr>
          <p:nvPr/>
        </p:nvSpPr>
        <p:spPr>
          <a:xfrm>
            <a:off x="30861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855C"/>
                </a:solidFill>
                <a:latin typeface="微软雅黑" panose="020B0503020204020204" charset="-122"/>
                <a:ea typeface="微软雅黑" panose="020B0503020204020204" charset="-122"/>
                <a:cs typeface="微软雅黑" panose="020B0503020204020204" charset="-122"/>
              </a:defRPr>
            </a:pPr>
            <a:r>
              <a:rPr sz="885">
                <a:solidFill>
                  <a:srgbClr val="4F8A83"/>
                </a:solidFill>
                <a:latin typeface="Arial" panose="020B0604020202020204" pitchFamily="34" charset="0"/>
                <a:ea typeface="微软雅黑" panose="020B0503020204020204" charset="-122"/>
                <a:cs typeface="微软雅黑" panose="020B0503020204020204" charset="-122"/>
              </a:rPr>
              <a:t>平台事实不符</a:t>
            </a:r>
          </a:p>
        </p:txBody>
      </p:sp>
      <p:sp>
        <p:nvSpPr>
          <p:cNvPr id="85" name="s15-feedback-1-action"/>
          <p:cNvSpPr>
            <a:spLocks noGrp="1"/>
          </p:cNvSpPr>
          <p:nvPr/>
        </p:nvSpPr>
        <p:spPr>
          <a:xfrm>
            <a:off x="30861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微软雅黑" panose="020B0503020204020204" charset="-122"/>
              </a:rPr>
              <a:t>→ 更新 Platform Knowledge</a:t>
            </a:r>
          </a:p>
        </p:txBody>
      </p:sp>
      <p:sp>
        <p:nvSpPr>
          <p:cNvPr id="86" name="s15-feedback-divider-1"/>
          <p:cNvSpPr>
            <a:spLocks noGrp="1"/>
          </p:cNvSpPr>
          <p:nvPr/>
        </p:nvSpPr>
        <p:spPr>
          <a:xfrm>
            <a:off x="5124450" y="5867400"/>
            <a:ext cx="9525" cy="381000"/>
          </a:xfrm>
          <a:prstGeom prst="rect">
            <a:avLst/>
          </a:prstGeom>
          <a:solidFill>
            <a:srgbClr val="EEF2F5"/>
          </a:solidFill>
          <a:ln w="0">
            <a:solidFill>
              <a:srgbClr val="D6DEE6"/>
            </a:solidFill>
            <a:prstDash val="solid"/>
          </a:ln>
          <a:effectLst/>
        </p:spPr>
      </p:sp>
      <p:sp>
        <p:nvSpPr>
          <p:cNvPr id="87" name="s15-feedback-2-title"/>
          <p:cNvSpPr>
            <a:spLocks noGrp="1"/>
          </p:cNvSpPr>
          <p:nvPr/>
        </p:nvSpPr>
        <p:spPr>
          <a:xfrm>
            <a:off x="527685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E97132"/>
                </a:solidFill>
                <a:latin typeface="微软雅黑" panose="020B0503020204020204" charset="-122"/>
                <a:ea typeface="微软雅黑" panose="020B0503020204020204" charset="-122"/>
                <a:cs typeface="微软雅黑" panose="020B0503020204020204" charset="-122"/>
              </a:defRPr>
            </a:pPr>
            <a:r>
              <a:rPr sz="885">
                <a:solidFill>
                  <a:srgbClr val="C77C59"/>
                </a:solidFill>
                <a:latin typeface="Arial" panose="020B0604020202020204" pitchFamily="34" charset="0"/>
                <a:ea typeface="微软雅黑" panose="020B0503020204020204" charset="-122"/>
                <a:cs typeface="微软雅黑" panose="020B0503020204020204" charset="-122"/>
              </a:rPr>
              <a:t>优化策略失效</a:t>
            </a:r>
          </a:p>
        </p:txBody>
      </p:sp>
      <p:sp>
        <p:nvSpPr>
          <p:cNvPr id="88" name="s15-feedback-2-action"/>
          <p:cNvSpPr>
            <a:spLocks noGrp="1"/>
          </p:cNvSpPr>
          <p:nvPr/>
        </p:nvSpPr>
        <p:spPr>
          <a:xfrm>
            <a:off x="527685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微软雅黑" panose="020B0503020204020204" charset="-122"/>
              </a:rPr>
              <a:t>→ 更新 Optimization Rules</a:t>
            </a:r>
          </a:p>
        </p:txBody>
      </p:sp>
      <p:sp>
        <p:nvSpPr>
          <p:cNvPr id="89" name="s15-feedback-divider-2"/>
          <p:cNvSpPr>
            <a:spLocks noGrp="1"/>
          </p:cNvSpPr>
          <p:nvPr/>
        </p:nvSpPr>
        <p:spPr>
          <a:xfrm>
            <a:off x="7315200" y="5867400"/>
            <a:ext cx="9525" cy="381000"/>
          </a:xfrm>
          <a:prstGeom prst="rect">
            <a:avLst/>
          </a:prstGeom>
          <a:solidFill>
            <a:srgbClr val="EEF2F5"/>
          </a:solidFill>
          <a:ln w="0">
            <a:solidFill>
              <a:srgbClr val="D6DEE6"/>
            </a:solidFill>
            <a:prstDash val="solid"/>
          </a:ln>
          <a:effectLst/>
        </p:spPr>
      </p:sp>
      <p:sp>
        <p:nvSpPr>
          <p:cNvPr id="90" name="s15-feedback-3-title"/>
          <p:cNvSpPr>
            <a:spLocks noGrp="1"/>
          </p:cNvSpPr>
          <p:nvPr/>
        </p:nvSpPr>
        <p:spPr>
          <a:xfrm>
            <a:off x="74676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57C5"/>
                </a:solidFill>
                <a:latin typeface="微软雅黑" panose="020B0503020204020204" charset="-122"/>
                <a:ea typeface="微软雅黑" panose="020B0503020204020204" charset="-122"/>
                <a:cs typeface="微软雅黑" panose="020B0503020204020204" charset="-122"/>
              </a:defRPr>
            </a:pPr>
            <a:r>
              <a:rPr sz="885">
                <a:solidFill>
                  <a:srgbClr val="294A6D"/>
                </a:solidFill>
                <a:latin typeface="Arial" panose="020B0604020202020204" pitchFamily="34" charset="0"/>
                <a:ea typeface="微软雅黑" panose="020B0503020204020204" charset="-122"/>
                <a:cs typeface="微软雅黑" panose="020B0503020204020204" charset="-122"/>
              </a:rPr>
              <a:t>流程信息不足</a:t>
            </a:r>
          </a:p>
        </p:txBody>
      </p:sp>
      <p:sp>
        <p:nvSpPr>
          <p:cNvPr id="91" name="s15-feedback-3-action"/>
          <p:cNvSpPr>
            <a:spLocks noGrp="1"/>
          </p:cNvSpPr>
          <p:nvPr/>
        </p:nvSpPr>
        <p:spPr>
          <a:xfrm>
            <a:off x="74676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微软雅黑" panose="020B0503020204020204" charset="-122"/>
              </a:rPr>
              <a:t>→ 调整 Workflow / Contract</a:t>
            </a:r>
          </a:p>
        </p:txBody>
      </p:sp>
      <p:sp>
        <p:nvSpPr>
          <p:cNvPr id="3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Tree>
    <p:extLst>
      <p:ext uri="{BB962C8B-B14F-4D97-AF65-F5344CB8AC3E}">
        <p14:creationId xmlns:p14="http://schemas.microsoft.com/office/powerpoint/2010/main" val="1066340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7-title"/>
          <p:cNvSpPr>
            <a:spLocks noGrp="1"/>
          </p:cNvSpPr>
          <p:nvPr/>
        </p:nvSpPr>
        <p:spPr>
          <a:xfrm>
            <a:off x="1057275" y="205090"/>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550" b="1" dirty="0" smtClean="0">
                <a:solidFill>
                  <a:srgbClr val="243B53"/>
                </a:solidFill>
                <a:latin typeface="Arial" panose="020B0604020202020204" pitchFamily="34" charset="0"/>
                <a:ea typeface="微软雅黑" panose="020B0503020204020204" charset="-122"/>
              </a:rPr>
              <a:t>开发</a:t>
            </a:r>
            <a:r>
              <a:rPr lang="en-US" altLang="zh-CN" sz="2550" b="1" dirty="0" smtClean="0">
                <a:solidFill>
                  <a:srgbClr val="243B53"/>
                </a:solidFill>
                <a:latin typeface="Arial" panose="020B0604020202020204" pitchFamily="34" charset="0"/>
                <a:ea typeface="微软雅黑" panose="020B0503020204020204" charset="-122"/>
              </a:rPr>
              <a:t>Skill</a:t>
            </a:r>
            <a:r>
              <a:rPr lang="zh-CN" altLang="en-US" sz="2550" b="1" dirty="0" smtClean="0">
                <a:solidFill>
                  <a:srgbClr val="243B53"/>
                </a:solidFill>
                <a:latin typeface="Arial" panose="020B0604020202020204" pitchFamily="34" charset="0"/>
                <a:ea typeface="微软雅黑" panose="020B0503020204020204" charset="-122"/>
              </a:rPr>
              <a:t>指南细节</a:t>
            </a:r>
            <a:endParaRPr sz="2550" b="1" dirty="0">
              <a:solidFill>
                <a:srgbClr val="243B53"/>
              </a:solidFill>
              <a:latin typeface="Arial" panose="020B0604020202020204" pitchFamily="34" charset="0"/>
              <a:ea typeface="微软雅黑" panose="020B0503020204020204" charset="-122"/>
            </a:endParaRPr>
          </a:p>
        </p:txBody>
      </p:sp>
      <p:sp>
        <p:nvSpPr>
          <p:cNvPr id="8" name="universal-framework-question"/>
          <p:cNvSpPr>
            <a:spLocks noGrp="1"/>
          </p:cNvSpPr>
          <p:nvPr/>
        </p:nvSpPr>
        <p:spPr>
          <a:xfrm>
            <a:off x="5791200" y="1271890"/>
            <a:ext cx="5095875" cy="257175"/>
          </a:xfrm>
          <a:prstGeom prst="rect">
            <a:avLst/>
          </a:prstGeom>
          <a:noFill/>
          <a:ln w="0">
            <a:noFill/>
            <a:prstDash val="solid"/>
          </a:ln>
          <a:effectLst/>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294A6D"/>
                </a:solidFill>
                <a:latin typeface="Arial" panose="020B0604020202020204" pitchFamily="34" charset="0"/>
                <a:ea typeface="微软雅黑" panose="020B0503020204020204" charset="-122"/>
              </a:rPr>
              <a:t>① 通用框架｜什么东西应该保持稳定？</a:t>
            </a:r>
          </a:p>
        </p:txBody>
      </p:sp>
      <p:sp>
        <p:nvSpPr>
          <p:cNvPr id="9" name="universal-framework-takeaway"/>
          <p:cNvSpPr>
            <a:spLocks noGrp="1"/>
          </p:cNvSpPr>
          <p:nvPr/>
        </p:nvSpPr>
        <p:spPr>
          <a:xfrm>
            <a:off x="5914390" y="2481565"/>
            <a:ext cx="4257675" cy="228600"/>
          </a:xfrm>
          <a:prstGeom prst="rect">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微软雅黑" panose="020B0503020204020204" charset="-122"/>
                <a:cs typeface="微软雅黑" panose="020B0503020204020204" charset="-122"/>
              </a:rPr>
              <a:t>框架有时也需要根据实际情况进行微调。</a:t>
            </a:r>
          </a:p>
        </p:txBody>
      </p:sp>
      <p:sp>
        <p:nvSpPr>
          <p:cNvPr id="10" name="platform-knowledge-question"/>
          <p:cNvSpPr>
            <a:spLocks noGrp="1"/>
          </p:cNvSpPr>
          <p:nvPr/>
        </p:nvSpPr>
        <p:spPr>
          <a:xfrm>
            <a:off x="5791200" y="2776840"/>
            <a:ext cx="5095875" cy="257175"/>
          </a:xfrm>
          <a:prstGeom prst="rect">
            <a:avLst/>
          </a:prstGeom>
          <a:noFill/>
          <a:ln w="0">
            <a:noFill/>
            <a:prstDash val="solid"/>
          </a:ln>
          <a:effectLst/>
        </p:spPr>
        <p:txBody>
          <a:bodyPr wrap="square" lIns="0" tIns="0" rIns="0" bIns="0" anchor="ctr">
            <a:normAutofit/>
          </a:bodyPr>
          <a:lstStyle/>
          <a:p>
            <a:pPr algn="l">
              <a:buNone/>
              <a:defRPr sz="1165" b="1">
                <a:solidFill>
                  <a:srgbClr val="087B35"/>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微软雅黑" panose="020B0503020204020204" charset="-122"/>
              </a:rPr>
              <a:t>② 平台知识｜换平台时到底要补什么？</a:t>
            </a:r>
          </a:p>
        </p:txBody>
      </p:sp>
      <p:sp>
        <p:nvSpPr>
          <p:cNvPr id="11" name="platform-knowledge-takeaway"/>
          <p:cNvSpPr>
            <a:spLocks noGrp="1"/>
          </p:cNvSpPr>
          <p:nvPr/>
        </p:nvSpPr>
        <p:spPr>
          <a:xfrm>
            <a:off x="6000750" y="4224640"/>
            <a:ext cx="4895850" cy="219075"/>
          </a:xfrm>
          <a:prstGeom prst="roundRect">
            <a:avLst>
              <a:gd name="adj" fmla="val 21739"/>
            </a:avLst>
          </a:prstGeom>
          <a:solidFill>
            <a:srgbClr val="EAF3F1"/>
          </a:solidFill>
          <a:ln w="9525">
            <a:solidFill>
              <a:srgbClr val="D6DEE6"/>
            </a:solidFill>
            <a:prstDash val="solid"/>
          </a:ln>
          <a:effectLst/>
        </p:spPr>
        <p:txBody>
          <a:bodyPr wrap="square" lIns="38100" tIns="0" rIns="38100" bIns="0" anchor="ctr">
            <a:normAutofit/>
          </a:bodyPr>
          <a:lstStyle/>
          <a:p>
            <a:pPr algn="ctr">
              <a:buNone/>
              <a:defRPr sz="940" b="1">
                <a:solidFill>
                  <a:srgbClr val="176B31"/>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微软雅黑" panose="020B0503020204020204" charset="-122"/>
              </a:rPr>
              <a:t>官方资料定义“支持什么”，真实测试补充“实际表现如何”。</a:t>
            </a:r>
          </a:p>
        </p:txBody>
      </p:sp>
      <p:sp>
        <p:nvSpPr>
          <p:cNvPr id="12" name="validation-loop-question"/>
          <p:cNvSpPr>
            <a:spLocks noGrp="1"/>
          </p:cNvSpPr>
          <p:nvPr/>
        </p:nvSpPr>
        <p:spPr>
          <a:xfrm>
            <a:off x="5791200" y="4529440"/>
            <a:ext cx="5219700" cy="257175"/>
          </a:xfrm>
          <a:prstGeom prst="rect">
            <a:avLst/>
          </a:prstGeom>
          <a:noFill/>
          <a:ln w="0">
            <a:noFill/>
            <a:prstDash val="solid"/>
          </a:ln>
          <a:effectLst/>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294A6D"/>
                </a:solidFill>
                <a:latin typeface="Arial" panose="020B0604020202020204" pitchFamily="34" charset="0"/>
                <a:ea typeface="微软雅黑" panose="020B0503020204020204" charset="-122"/>
              </a:rPr>
              <a:t>③ 验证闭环｜怎么确认收到的知识真的能用？</a:t>
            </a: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16</a:t>
            </a:r>
            <a:endParaRPr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7" name="slide-7-editable-footer"/>
          <p:cNvSpPr>
            <a:spLocks noGrp="1"/>
          </p:cNvSpPr>
          <p:nvPr/>
        </p:nvSpPr>
        <p:spPr>
          <a:xfrm>
            <a:off x="228600" y="6400800"/>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微软雅黑" panose="020B0503020204020204" charset="-122"/>
              </a:rPr>
              <a:t>算子skill的开发不是一蹴而就的，需要不断的完善和更新迭代。平台事实验证和环境验证看起来复杂，实际上可以通过一类模板指令让大模型进行检测。</a:t>
            </a: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38" name="s15-universal-details-frame"/>
          <p:cNvSpPr>
            <a:spLocks noGrp="1"/>
          </p:cNvSpPr>
          <p:nvPr/>
        </p:nvSpPr>
        <p:spPr>
          <a:xfrm>
            <a:off x="5572125" y="1519540"/>
            <a:ext cx="5543550" cy="942975"/>
          </a:xfrm>
          <a:prstGeom prst="rect">
            <a:avLst/>
          </a:prstGeom>
          <a:solidFill>
            <a:srgbClr val="EEF2F5"/>
          </a:solidFill>
          <a:ln w="9525">
            <a:solidFill>
              <a:srgbClr val="D6DEE6"/>
            </a:solidFill>
            <a:prstDash val="solid"/>
          </a:ln>
          <a:effectLst/>
        </p:spPr>
      </p:sp>
      <p:sp>
        <p:nvSpPr>
          <p:cNvPr id="39" name="s15-detail-1-label"/>
          <p:cNvSpPr>
            <a:spLocks noGrp="1"/>
          </p:cNvSpPr>
          <p:nvPr/>
        </p:nvSpPr>
        <p:spPr>
          <a:xfrm>
            <a:off x="5810250" y="1567165"/>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任务编排：</a:t>
            </a:r>
          </a:p>
        </p:txBody>
      </p:sp>
      <p:sp>
        <p:nvSpPr>
          <p:cNvPr id="40" name="s15-detail-1-value"/>
          <p:cNvSpPr>
            <a:spLocks noGrp="1"/>
          </p:cNvSpPr>
          <p:nvPr/>
        </p:nvSpPr>
        <p:spPr>
          <a:xfrm>
            <a:off x="6610350" y="1567165"/>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微软雅黑" panose="020B0503020204020204" charset="-122"/>
              </a:rPr>
              <a:t>需求 → 生成 → 验证 → 优化 → 输出</a:t>
            </a:r>
          </a:p>
        </p:txBody>
      </p:sp>
      <p:sp>
        <p:nvSpPr>
          <p:cNvPr id="41" name="s15-detail-2-label"/>
          <p:cNvSpPr>
            <a:spLocks noGrp="1"/>
          </p:cNvSpPr>
          <p:nvPr/>
        </p:nvSpPr>
        <p:spPr>
          <a:xfrm>
            <a:off x="5810250" y="1738615"/>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模块边界：</a:t>
            </a:r>
          </a:p>
        </p:txBody>
      </p:sp>
      <p:sp>
        <p:nvSpPr>
          <p:cNvPr id="42" name="s15-detail-2-value"/>
          <p:cNvSpPr>
            <a:spLocks noGrp="1"/>
          </p:cNvSpPr>
          <p:nvPr/>
        </p:nvSpPr>
        <p:spPr>
          <a:xfrm>
            <a:off x="6610350" y="1738615"/>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C77C59"/>
                </a:solidFill>
                <a:latin typeface="Arial" panose="020B0604020202020204" pitchFamily="34" charset="0"/>
                <a:ea typeface="微软雅黑" panose="020B0503020204020204" charset="-122"/>
                <a:cs typeface="微软雅黑" panose="020B0503020204020204" charset="-122"/>
              </a:rPr>
              <a:t>每个阶段负责解决什么问题</a:t>
            </a:r>
          </a:p>
        </p:txBody>
      </p:sp>
      <p:sp>
        <p:nvSpPr>
          <p:cNvPr id="43" name="s15-detail-3-label"/>
          <p:cNvSpPr>
            <a:spLocks noGrp="1"/>
          </p:cNvSpPr>
          <p:nvPr/>
        </p:nvSpPr>
        <p:spPr>
          <a:xfrm>
            <a:off x="5810250" y="1910065"/>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阶段契约：</a:t>
            </a:r>
          </a:p>
        </p:txBody>
      </p:sp>
      <p:sp>
        <p:nvSpPr>
          <p:cNvPr id="44" name="s15-detail-3-value"/>
          <p:cNvSpPr>
            <a:spLocks noGrp="1"/>
          </p:cNvSpPr>
          <p:nvPr/>
        </p:nvSpPr>
        <p:spPr>
          <a:xfrm>
            <a:off x="6610350" y="1910065"/>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微软雅黑" panose="020B0503020204020204" charset="-122"/>
                <a:cs typeface="微软雅黑" panose="020B0503020204020204" charset="-122"/>
              </a:rPr>
              <a:t>上一阶段输出什么，下一阶段需要什么</a:t>
            </a:r>
          </a:p>
        </p:txBody>
      </p:sp>
      <p:sp>
        <p:nvSpPr>
          <p:cNvPr id="45" name="s15-detail-4-label"/>
          <p:cNvSpPr>
            <a:spLocks noGrp="1"/>
          </p:cNvSpPr>
          <p:nvPr/>
        </p:nvSpPr>
        <p:spPr>
          <a:xfrm>
            <a:off x="5810250" y="2081515"/>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子任务分工：</a:t>
            </a:r>
          </a:p>
        </p:txBody>
      </p:sp>
      <p:sp>
        <p:nvSpPr>
          <p:cNvPr id="46" name="s15-detail-4-value"/>
          <p:cNvSpPr>
            <a:spLocks noGrp="1"/>
          </p:cNvSpPr>
          <p:nvPr/>
        </p:nvSpPr>
        <p:spPr>
          <a:xfrm>
            <a:off x="6610350" y="2081515"/>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微软雅黑" panose="020B0503020204020204" charset="-122"/>
              </a:rPr>
              <a:t>复杂阶段允许进一步拆分 Sub-Agent</a:t>
            </a:r>
          </a:p>
        </p:txBody>
      </p:sp>
      <p:sp>
        <p:nvSpPr>
          <p:cNvPr id="47" name="s15-detail-5-label"/>
          <p:cNvSpPr>
            <a:spLocks noGrp="1"/>
          </p:cNvSpPr>
          <p:nvPr/>
        </p:nvSpPr>
        <p:spPr>
          <a:xfrm>
            <a:off x="5810250" y="2252965"/>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输出规范：</a:t>
            </a:r>
          </a:p>
        </p:txBody>
      </p:sp>
      <p:sp>
        <p:nvSpPr>
          <p:cNvPr id="48" name="s15-detail-5-value"/>
          <p:cNvSpPr>
            <a:spLocks noGrp="1"/>
          </p:cNvSpPr>
          <p:nvPr/>
        </p:nvSpPr>
        <p:spPr>
          <a:xfrm>
            <a:off x="6610350" y="2252965"/>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微软雅黑" panose="020B0503020204020204" charset="-122"/>
              </a:rPr>
              <a:t>Kernel、Test、Correctness、Benchmark、Report</a:t>
            </a:r>
          </a:p>
        </p:txBody>
      </p:sp>
      <p:sp>
        <p:nvSpPr>
          <p:cNvPr id="49" name="s15-knowledge-1-frame"/>
          <p:cNvSpPr>
            <a:spLocks noGrp="1"/>
          </p:cNvSpPr>
          <p:nvPr/>
        </p:nvSpPr>
        <p:spPr>
          <a:xfrm>
            <a:off x="5667375" y="3034015"/>
            <a:ext cx="1724025" cy="438150"/>
          </a:xfrm>
          <a:prstGeom prst="rect">
            <a:avLst/>
          </a:prstGeom>
          <a:solidFill>
            <a:srgbClr val="EAF3F1"/>
          </a:solidFill>
          <a:ln w="9525">
            <a:solidFill>
              <a:srgbClr val="D6DEE6"/>
            </a:solidFill>
            <a:prstDash val="solid"/>
          </a:ln>
          <a:effectLst/>
        </p:spPr>
      </p:sp>
      <p:sp>
        <p:nvSpPr>
          <p:cNvPr id="50" name="s15-knowledge-1-title"/>
          <p:cNvSpPr>
            <a:spLocks noGrp="1"/>
          </p:cNvSpPr>
          <p:nvPr/>
        </p:nvSpPr>
        <p:spPr>
          <a:xfrm>
            <a:off x="5753100" y="305306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1. Hardware</a:t>
            </a:r>
          </a:p>
        </p:txBody>
      </p:sp>
      <p:sp>
        <p:nvSpPr>
          <p:cNvPr id="51" name="s15-knowledge-1-body"/>
          <p:cNvSpPr>
            <a:spLocks noGrp="1"/>
          </p:cNvSpPr>
          <p:nvPr/>
        </p:nvSpPr>
        <p:spPr>
          <a:xfrm>
            <a:off x="5753100" y="321499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cs typeface="微软雅黑" panose="020B0503020204020204" charset="-122"/>
              </a:rPr>
              <a:t>计算单元、存储、</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cs typeface="微软雅黑" panose="020B0503020204020204" charset="-122"/>
              </a:rPr>
              <a:t>并行结构</a:t>
            </a:r>
          </a:p>
        </p:txBody>
      </p:sp>
      <p:sp>
        <p:nvSpPr>
          <p:cNvPr id="52" name="s15-knowledge-2-frame"/>
          <p:cNvSpPr>
            <a:spLocks noGrp="1"/>
          </p:cNvSpPr>
          <p:nvPr/>
        </p:nvSpPr>
        <p:spPr>
          <a:xfrm>
            <a:off x="7477125" y="3034015"/>
            <a:ext cx="1724025" cy="438150"/>
          </a:xfrm>
          <a:prstGeom prst="rect">
            <a:avLst/>
          </a:prstGeom>
          <a:solidFill>
            <a:srgbClr val="EAF3F1"/>
          </a:solidFill>
          <a:ln w="9525">
            <a:solidFill>
              <a:srgbClr val="D6DEE6"/>
            </a:solidFill>
            <a:prstDash val="solid"/>
          </a:ln>
          <a:effectLst/>
        </p:spPr>
      </p:sp>
      <p:sp>
        <p:nvSpPr>
          <p:cNvPr id="53" name="s15-knowledge-2-title"/>
          <p:cNvSpPr>
            <a:spLocks noGrp="1"/>
          </p:cNvSpPr>
          <p:nvPr/>
        </p:nvSpPr>
        <p:spPr>
          <a:xfrm>
            <a:off x="7562850" y="3053065"/>
            <a:ext cx="1571625" cy="171450"/>
          </a:xfrm>
          <a:prstGeom prst="rect">
            <a:avLst/>
          </a:prstGeom>
          <a:noFill/>
          <a:ln w="0">
            <a:noFill/>
            <a:prstDash val="solid"/>
          </a:ln>
          <a:effectLst/>
        </p:spPr>
        <p:txBody>
          <a:bodyPr wrap="square" lIns="0" tIns="0" rIns="0" bIns="0" anchor="ctr">
            <a:normAutofit/>
          </a:bodyPr>
          <a:lstStyle/>
          <a:p>
            <a:pPr algn="l">
              <a:defRPr sz="755" b="1">
                <a:solidFill>
                  <a:srgbClr val="14855C"/>
                </a:solidFill>
                <a:latin typeface="微软雅黑" panose="020B0503020204020204" charset="-122"/>
                <a:ea typeface="微软雅黑" panose="020B0503020204020204" charset="-122"/>
                <a:cs typeface="微软雅黑" panose="020B0503020204020204" charset="-122"/>
              </a:defRPr>
            </a:pPr>
            <a:r>
              <a:rPr sz="755">
                <a:solidFill>
                  <a:srgbClr val="4F8A83"/>
                </a:solidFill>
                <a:latin typeface="Arial" panose="020B0604020202020204" pitchFamily="34" charset="0"/>
                <a:ea typeface="微软雅黑" panose="020B0503020204020204" charset="-122"/>
                <a:cs typeface="微软雅黑" panose="020B0503020204020204" charset="-122"/>
              </a:rPr>
              <a:t>2. Programming Model</a:t>
            </a:r>
          </a:p>
        </p:txBody>
      </p:sp>
      <p:sp>
        <p:nvSpPr>
          <p:cNvPr id="54" name="s15-knowledge-2-body"/>
          <p:cNvSpPr>
            <a:spLocks noGrp="1"/>
          </p:cNvSpPr>
          <p:nvPr/>
        </p:nvSpPr>
        <p:spPr>
          <a:xfrm>
            <a:off x="7562850" y="3214990"/>
            <a:ext cx="1571625" cy="238125"/>
          </a:xfrm>
          <a:prstGeom prst="rect">
            <a:avLst/>
          </a:prstGeom>
          <a:noFill/>
          <a:ln w="0">
            <a:noFill/>
            <a:prstDash val="solid"/>
          </a:ln>
          <a:effectLst/>
        </p:spPr>
        <p:txBody>
          <a:bodyPr wrap="square" lIns="0" tIns="0" rIns="0" bIns="0" anchor="t">
            <a:no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Grid、Tile、</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执行模型</a:t>
            </a:r>
          </a:p>
        </p:txBody>
      </p:sp>
      <p:sp>
        <p:nvSpPr>
          <p:cNvPr id="55" name="s15-knowledge-3-frame"/>
          <p:cNvSpPr>
            <a:spLocks noGrp="1"/>
          </p:cNvSpPr>
          <p:nvPr/>
        </p:nvSpPr>
        <p:spPr>
          <a:xfrm>
            <a:off x="9286875" y="3034015"/>
            <a:ext cx="1724025" cy="438150"/>
          </a:xfrm>
          <a:prstGeom prst="rect">
            <a:avLst/>
          </a:prstGeom>
          <a:solidFill>
            <a:srgbClr val="EAF3F1"/>
          </a:solidFill>
          <a:ln w="9525">
            <a:solidFill>
              <a:srgbClr val="D6DEE6"/>
            </a:solidFill>
            <a:prstDash val="solid"/>
          </a:ln>
          <a:effectLst/>
        </p:spPr>
      </p:sp>
      <p:sp>
        <p:nvSpPr>
          <p:cNvPr id="56" name="s15-knowledge-3-title"/>
          <p:cNvSpPr>
            <a:spLocks noGrp="1"/>
          </p:cNvSpPr>
          <p:nvPr/>
        </p:nvSpPr>
        <p:spPr>
          <a:xfrm>
            <a:off x="9372600" y="305306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3. API / Primitive</a:t>
            </a:r>
          </a:p>
        </p:txBody>
      </p:sp>
      <p:sp>
        <p:nvSpPr>
          <p:cNvPr id="57" name="s15-knowledge-3-body"/>
          <p:cNvSpPr>
            <a:spLocks noGrp="1"/>
          </p:cNvSpPr>
          <p:nvPr/>
        </p:nvSpPr>
        <p:spPr>
          <a:xfrm>
            <a:off x="9372600" y="321499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cs typeface="微软雅黑" panose="020B0503020204020204" charset="-122"/>
              </a:rPr>
              <a:t>支持能力、限制、</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cs typeface="微软雅黑" panose="020B0503020204020204" charset="-122"/>
              </a:rPr>
              <a:t>特殊行为</a:t>
            </a:r>
          </a:p>
        </p:txBody>
      </p:sp>
      <p:sp>
        <p:nvSpPr>
          <p:cNvPr id="58" name="s15-knowledge-4-frame"/>
          <p:cNvSpPr>
            <a:spLocks noGrp="1"/>
          </p:cNvSpPr>
          <p:nvPr/>
        </p:nvSpPr>
        <p:spPr>
          <a:xfrm>
            <a:off x="5667375" y="3519790"/>
            <a:ext cx="1724025" cy="438150"/>
          </a:xfrm>
          <a:prstGeom prst="rect">
            <a:avLst/>
          </a:prstGeom>
          <a:solidFill>
            <a:srgbClr val="EAF3F1"/>
          </a:solidFill>
          <a:ln w="9525">
            <a:solidFill>
              <a:srgbClr val="D6DEE6"/>
            </a:solidFill>
            <a:prstDash val="solid"/>
          </a:ln>
          <a:effectLst/>
        </p:spPr>
      </p:sp>
      <p:sp>
        <p:nvSpPr>
          <p:cNvPr id="59" name="s15-knowledge-4-title"/>
          <p:cNvSpPr>
            <a:spLocks noGrp="1"/>
          </p:cNvSpPr>
          <p:nvPr/>
        </p:nvSpPr>
        <p:spPr>
          <a:xfrm>
            <a:off x="5753100" y="353884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4. Environment</a:t>
            </a:r>
          </a:p>
        </p:txBody>
      </p:sp>
      <p:sp>
        <p:nvSpPr>
          <p:cNvPr id="60" name="s15-knowledge-4-body"/>
          <p:cNvSpPr>
            <a:spLocks noGrp="1"/>
          </p:cNvSpPr>
          <p:nvPr/>
        </p:nvSpPr>
        <p:spPr>
          <a:xfrm>
            <a:off x="5753100" y="370076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Compiler、Runtime、</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Version</a:t>
            </a:r>
          </a:p>
        </p:txBody>
      </p:sp>
      <p:sp>
        <p:nvSpPr>
          <p:cNvPr id="61" name="s15-knowledge-5-frame"/>
          <p:cNvSpPr>
            <a:spLocks noGrp="1"/>
          </p:cNvSpPr>
          <p:nvPr/>
        </p:nvSpPr>
        <p:spPr>
          <a:xfrm>
            <a:off x="7477125" y="3519790"/>
            <a:ext cx="1724025" cy="438150"/>
          </a:xfrm>
          <a:prstGeom prst="rect">
            <a:avLst/>
          </a:prstGeom>
          <a:solidFill>
            <a:srgbClr val="EAF3F1"/>
          </a:solidFill>
          <a:ln w="9525">
            <a:solidFill>
              <a:srgbClr val="D6DEE6"/>
            </a:solidFill>
            <a:prstDash val="solid"/>
          </a:ln>
          <a:effectLst/>
        </p:spPr>
      </p:sp>
      <p:sp>
        <p:nvSpPr>
          <p:cNvPr id="62" name="s15-knowledge-5-title"/>
          <p:cNvSpPr>
            <a:spLocks noGrp="1"/>
          </p:cNvSpPr>
          <p:nvPr/>
        </p:nvSpPr>
        <p:spPr>
          <a:xfrm>
            <a:off x="7562850" y="353884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5. Profiler</a:t>
            </a:r>
          </a:p>
        </p:txBody>
      </p:sp>
      <p:sp>
        <p:nvSpPr>
          <p:cNvPr id="63" name="s15-knowledge-5-body"/>
          <p:cNvSpPr>
            <a:spLocks noGrp="1"/>
          </p:cNvSpPr>
          <p:nvPr/>
        </p:nvSpPr>
        <p:spPr>
          <a:xfrm>
            <a:off x="7562850" y="370076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Benchmark、Counter、</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计时</a:t>
            </a:r>
          </a:p>
        </p:txBody>
      </p:sp>
      <p:sp>
        <p:nvSpPr>
          <p:cNvPr id="64" name="s15-knowledge-6-frame"/>
          <p:cNvSpPr>
            <a:spLocks noGrp="1"/>
          </p:cNvSpPr>
          <p:nvPr/>
        </p:nvSpPr>
        <p:spPr>
          <a:xfrm>
            <a:off x="9286875" y="3519790"/>
            <a:ext cx="1724025" cy="438150"/>
          </a:xfrm>
          <a:prstGeom prst="rect">
            <a:avLst/>
          </a:prstGeom>
          <a:solidFill>
            <a:srgbClr val="EAF3F1"/>
          </a:solidFill>
          <a:ln w="9525">
            <a:solidFill>
              <a:srgbClr val="D6DEE6"/>
            </a:solidFill>
            <a:prstDash val="solid"/>
          </a:ln>
          <a:effectLst/>
        </p:spPr>
      </p:sp>
      <p:sp>
        <p:nvSpPr>
          <p:cNvPr id="65" name="s15-knowledge-6-title"/>
          <p:cNvSpPr>
            <a:spLocks noGrp="1"/>
          </p:cNvSpPr>
          <p:nvPr/>
        </p:nvSpPr>
        <p:spPr>
          <a:xfrm>
            <a:off x="9372600" y="353884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6. Optimization</a:t>
            </a:r>
          </a:p>
        </p:txBody>
      </p:sp>
      <p:sp>
        <p:nvSpPr>
          <p:cNvPr id="66" name="s15-knowledge-6-body"/>
          <p:cNvSpPr>
            <a:spLocks noGrp="1"/>
          </p:cNvSpPr>
          <p:nvPr/>
        </p:nvSpPr>
        <p:spPr>
          <a:xfrm>
            <a:off x="9372600" y="370076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Tile、Layout、</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Pipeline、案例</a:t>
            </a:r>
          </a:p>
        </p:txBody>
      </p:sp>
      <p:sp>
        <p:nvSpPr>
          <p:cNvPr id="67" name="s15-knowledge-sources"/>
          <p:cNvSpPr>
            <a:spLocks noGrp="1"/>
          </p:cNvSpPr>
          <p:nvPr/>
        </p:nvSpPr>
        <p:spPr>
          <a:xfrm>
            <a:off x="5800725" y="3996040"/>
            <a:ext cx="4991100" cy="190500"/>
          </a:xfrm>
          <a:prstGeom prst="rect">
            <a:avLst/>
          </a:prstGeom>
          <a:noFill/>
          <a:ln w="0">
            <a:noFill/>
            <a:prstDash val="solid"/>
          </a:ln>
          <a:effectLst/>
        </p:spPr>
        <p:txBody>
          <a:bodyPr wrap="square" lIns="19050" tIns="9525" rIns="19050" bIns="9525" anchor="ctr">
            <a:normAutofit/>
          </a:bodyPr>
          <a:lstStyle/>
          <a:p>
            <a:pPr algn="ctr">
              <a:defRPr sz="790" b="1">
                <a:solidFill>
                  <a:srgbClr val="27364A"/>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微软雅黑" panose="020B0503020204020204" charset="-122"/>
              </a:rPr>
              <a:t>Platform Knowledge 来源 = 官方资料 + 环境检测 + 微基准 + 实际算子开发经验</a:t>
            </a:r>
          </a:p>
        </p:txBody>
      </p:sp>
      <p:sp>
        <p:nvSpPr>
          <p:cNvPr id="68" name="s15-level-1-frame"/>
          <p:cNvSpPr>
            <a:spLocks noGrp="1"/>
          </p:cNvSpPr>
          <p:nvPr/>
        </p:nvSpPr>
        <p:spPr>
          <a:xfrm>
            <a:off x="5657850" y="4888869"/>
            <a:ext cx="5353050" cy="295275"/>
          </a:xfrm>
          <a:prstGeom prst="rect">
            <a:avLst/>
          </a:prstGeom>
          <a:solidFill>
            <a:srgbClr val="EEF2F5"/>
          </a:solidFill>
          <a:ln w="9525">
            <a:solidFill>
              <a:srgbClr val="D6DEE6"/>
            </a:solidFill>
            <a:prstDash val="solid"/>
          </a:ln>
          <a:effectLst/>
        </p:spPr>
      </p:sp>
      <p:sp>
        <p:nvSpPr>
          <p:cNvPr id="71" name="s15-level-1-question"/>
          <p:cNvSpPr>
            <a:spLocks noGrp="1"/>
          </p:cNvSpPr>
          <p:nvPr/>
        </p:nvSpPr>
        <p:spPr>
          <a:xfrm>
            <a:off x="5810250" y="4955544"/>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微软雅黑" panose="020B0503020204020204" charset="-122"/>
                <a:cs typeface="微软雅黑" panose="020B0503020204020204" charset="-122"/>
              </a:rPr>
              <a:t>能不能跑？</a:t>
            </a:r>
          </a:p>
        </p:txBody>
      </p:sp>
      <p:sp>
        <p:nvSpPr>
          <p:cNvPr id="73" name="s15-level-2-frame"/>
          <p:cNvSpPr>
            <a:spLocks noGrp="1"/>
          </p:cNvSpPr>
          <p:nvPr/>
        </p:nvSpPr>
        <p:spPr>
          <a:xfrm>
            <a:off x="5657850" y="5222244"/>
            <a:ext cx="5353050" cy="295275"/>
          </a:xfrm>
          <a:prstGeom prst="rect">
            <a:avLst/>
          </a:prstGeom>
          <a:solidFill>
            <a:srgbClr val="EEF2F5"/>
          </a:solidFill>
          <a:ln w="9525">
            <a:solidFill>
              <a:srgbClr val="D6DEE6"/>
            </a:solidFill>
            <a:prstDash val="solid"/>
          </a:ln>
          <a:effectLst/>
        </p:spPr>
      </p:sp>
      <p:sp>
        <p:nvSpPr>
          <p:cNvPr id="76" name="s15-level-2-question"/>
          <p:cNvSpPr>
            <a:spLocks noGrp="1"/>
          </p:cNvSpPr>
          <p:nvPr/>
        </p:nvSpPr>
        <p:spPr>
          <a:xfrm>
            <a:off x="5810250" y="5288919"/>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微软雅黑" panose="020B0503020204020204" charset="-122"/>
                <a:cs typeface="微软雅黑" panose="020B0503020204020204" charset="-122"/>
              </a:rPr>
              <a:t>我们理解的平台行为对不对？</a:t>
            </a:r>
          </a:p>
        </p:txBody>
      </p:sp>
      <p:sp>
        <p:nvSpPr>
          <p:cNvPr id="78" name="s15-level-3-frame"/>
          <p:cNvSpPr>
            <a:spLocks noGrp="1"/>
          </p:cNvSpPr>
          <p:nvPr/>
        </p:nvSpPr>
        <p:spPr>
          <a:xfrm>
            <a:off x="5657850" y="5555619"/>
            <a:ext cx="5353050" cy="295275"/>
          </a:xfrm>
          <a:prstGeom prst="rect">
            <a:avLst/>
          </a:prstGeom>
          <a:solidFill>
            <a:srgbClr val="EEF2F5"/>
          </a:solidFill>
          <a:ln w="9525">
            <a:solidFill>
              <a:srgbClr val="D6DEE6"/>
            </a:solidFill>
            <a:prstDash val="solid"/>
          </a:ln>
          <a:effectLst/>
        </p:spPr>
      </p:sp>
      <p:sp>
        <p:nvSpPr>
          <p:cNvPr id="81" name="s15-level-3-question"/>
          <p:cNvSpPr>
            <a:spLocks noGrp="1"/>
          </p:cNvSpPr>
          <p:nvPr/>
        </p:nvSpPr>
        <p:spPr>
          <a:xfrm>
            <a:off x="5810250" y="5622294"/>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dirty="0" err="1">
                <a:solidFill>
                  <a:srgbClr val="2F3A45"/>
                </a:solidFill>
                <a:latin typeface="Arial" panose="020B0604020202020204" pitchFamily="34" charset="0"/>
                <a:ea typeface="微软雅黑" panose="020B0503020204020204" charset="-122"/>
                <a:cs typeface="微软雅黑" panose="020B0503020204020204" charset="-122"/>
              </a:rPr>
              <a:t>这些知识能不能真正支撑算子开发</a:t>
            </a:r>
            <a:r>
              <a:rPr sz="790" dirty="0">
                <a:solidFill>
                  <a:srgbClr val="2F3A45"/>
                </a:solidFill>
                <a:latin typeface="Arial" panose="020B0604020202020204" pitchFamily="34" charset="0"/>
                <a:ea typeface="微软雅黑" panose="020B0503020204020204" charset="-122"/>
                <a:cs typeface="微软雅黑" panose="020B0503020204020204" charset="-122"/>
              </a:rPr>
              <a:t>？</a:t>
            </a:r>
          </a:p>
        </p:txBody>
      </p:sp>
      <p:sp>
        <p:nvSpPr>
          <p:cNvPr id="9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3.1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94" name="s15-universal-frame"/>
          <p:cNvSpPr>
            <a:spLocks noGrp="1"/>
          </p:cNvSpPr>
          <p:nvPr/>
        </p:nvSpPr>
        <p:spPr>
          <a:xfrm>
            <a:off x="630037" y="1297921"/>
            <a:ext cx="4743450" cy="990600"/>
          </a:xfrm>
          <a:prstGeom prst="rect">
            <a:avLst/>
          </a:prstGeom>
          <a:solidFill>
            <a:srgbClr val="EEF2F5"/>
          </a:solidFill>
          <a:ln w="13335">
            <a:solidFill>
              <a:srgbClr val="D6DEE6"/>
            </a:solidFill>
            <a:prstDash val="solid"/>
          </a:ln>
          <a:effectLst/>
        </p:spPr>
      </p:sp>
      <p:sp>
        <p:nvSpPr>
          <p:cNvPr id="95" name="s15-universal-title"/>
          <p:cNvSpPr>
            <a:spLocks noGrp="1"/>
          </p:cNvSpPr>
          <p:nvPr/>
        </p:nvSpPr>
        <p:spPr>
          <a:xfrm>
            <a:off x="714375" y="1381427"/>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微软雅黑" panose="020B0503020204020204" charset="-122"/>
                <a:cs typeface="微软雅黑" panose="020B0503020204020204" charset="-122"/>
              </a:rPr>
              <a:t>通用框架</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96" name="s15-universal-subtitle"/>
          <p:cNvSpPr>
            <a:spLocks noGrp="1"/>
          </p:cNvSpPr>
          <p:nvPr/>
        </p:nvSpPr>
        <p:spPr>
          <a:xfrm>
            <a:off x="734812" y="1629077"/>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rPr>
              <a:t>需求</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生成</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验证</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优化</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输出</a:t>
            </a:r>
            <a:endParaRPr sz="1400" dirty="0">
              <a:solidFill>
                <a:srgbClr val="2F3A45"/>
              </a:solidFill>
              <a:latin typeface="Arial" panose="020B0604020202020204" pitchFamily="34" charset="0"/>
              <a:ea typeface="微软雅黑" panose="020B0503020204020204" charset="-122"/>
            </a:endParaRPr>
          </a:p>
        </p:txBody>
      </p:sp>
      <p:sp>
        <p:nvSpPr>
          <p:cNvPr id="97" name="s15-arrow-1"/>
          <p:cNvSpPr>
            <a:spLocks noGrp="1"/>
          </p:cNvSpPr>
          <p:nvPr/>
        </p:nvSpPr>
        <p:spPr>
          <a:xfrm>
            <a:off x="2858887" y="2269471"/>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endParaRPr sz="1650" dirty="0">
              <a:solidFill>
                <a:srgbClr val="294A6D"/>
              </a:solidFill>
              <a:latin typeface="Arial" panose="020B0604020202020204" pitchFamily="34" charset="0"/>
              <a:ea typeface="微软雅黑" panose="020B0503020204020204" charset="-122"/>
              <a:cs typeface="Calibri" panose="020F0502020204030204"/>
            </a:endParaRPr>
          </a:p>
        </p:txBody>
      </p:sp>
      <p:sp>
        <p:nvSpPr>
          <p:cNvPr id="98" name="s15-platform-frame"/>
          <p:cNvSpPr>
            <a:spLocks noGrp="1"/>
          </p:cNvSpPr>
          <p:nvPr/>
        </p:nvSpPr>
        <p:spPr>
          <a:xfrm>
            <a:off x="630037" y="2488546"/>
            <a:ext cx="4743450" cy="1257300"/>
          </a:xfrm>
          <a:prstGeom prst="rect">
            <a:avLst/>
          </a:prstGeom>
          <a:solidFill>
            <a:srgbClr val="EAF3F1"/>
          </a:solidFill>
          <a:ln w="13335">
            <a:solidFill>
              <a:srgbClr val="D6DEE6"/>
            </a:solidFill>
            <a:prstDash val="solid"/>
          </a:ln>
          <a:effectLst/>
        </p:spPr>
      </p:sp>
      <p:sp>
        <p:nvSpPr>
          <p:cNvPr id="99" name="s15-platform-title"/>
          <p:cNvSpPr>
            <a:spLocks noGrp="1"/>
          </p:cNvSpPr>
          <p:nvPr/>
        </p:nvSpPr>
        <p:spPr>
          <a:xfrm>
            <a:off x="744337" y="2526646"/>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a:solidFill>
                  <a:srgbClr val="4F8A83"/>
                </a:solidFill>
                <a:latin typeface="Arial" panose="020B0604020202020204" pitchFamily="34" charset="0"/>
                <a:ea typeface="微软雅黑" panose="020B0503020204020204" charset="-122"/>
                <a:cs typeface="微软雅黑" panose="020B0503020204020204" charset="-122"/>
              </a:rPr>
              <a:t>平台知识</a:t>
            </a:r>
            <a:endParaRPr sz="1600" dirty="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100" name="s15-platform-left"/>
          <p:cNvSpPr>
            <a:spLocks noGrp="1"/>
          </p:cNvSpPr>
          <p:nvPr/>
        </p:nvSpPr>
        <p:spPr>
          <a:xfrm>
            <a:off x="1496812" y="2888596"/>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Hardware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API / Primitive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Profiler</a:t>
            </a:r>
          </a:p>
        </p:txBody>
      </p:sp>
      <p:sp>
        <p:nvSpPr>
          <p:cNvPr id="101" name="s15-platform-mid-rule"/>
          <p:cNvSpPr>
            <a:spLocks noGrp="1"/>
          </p:cNvSpPr>
          <p:nvPr/>
        </p:nvSpPr>
        <p:spPr>
          <a:xfrm>
            <a:off x="2868412" y="2907646"/>
            <a:ext cx="9525" cy="514350"/>
          </a:xfrm>
          <a:prstGeom prst="rect">
            <a:avLst/>
          </a:prstGeom>
          <a:solidFill>
            <a:srgbClr val="EAF3F1"/>
          </a:solidFill>
          <a:ln w="0">
            <a:solidFill>
              <a:srgbClr val="D6DEE6"/>
            </a:solidFill>
            <a:prstDash val="solid"/>
          </a:ln>
          <a:effectLst/>
        </p:spPr>
      </p:sp>
      <p:sp>
        <p:nvSpPr>
          <p:cNvPr id="102" name="s15-platform-right"/>
          <p:cNvSpPr>
            <a:spLocks noGrp="1"/>
          </p:cNvSpPr>
          <p:nvPr/>
        </p:nvSpPr>
        <p:spPr>
          <a:xfrm>
            <a:off x="3163687" y="2888596"/>
            <a:ext cx="16954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dirty="0" smtClean="0">
                <a:solidFill>
                  <a:srgbClr val="2F3A45"/>
                </a:solidFill>
                <a:latin typeface="Arial" panose="020B0604020202020204" pitchFamily="34" charset="0"/>
                <a:ea typeface="微软雅黑" panose="020B0503020204020204" charset="-122"/>
                <a:cs typeface="微软雅黑" panose="020B0503020204020204" charset="-122"/>
              </a:rPr>
              <a:t>Environment </a:t>
            </a:r>
            <a:r>
              <a:rPr sz="925" b="1" dirty="0">
                <a:solidFill>
                  <a:srgbClr val="2F3A45"/>
                </a:solidFill>
                <a:latin typeface="Arial" panose="020B0604020202020204" pitchFamily="34" charset="0"/>
                <a:ea typeface="微软雅黑" panose="020B0503020204020204" charset="-122"/>
                <a:cs typeface="微软雅黑" panose="020B0503020204020204" charset="-122"/>
              </a:rPr>
              <a:t>/ Toolchain</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dirty="0">
                <a:solidFill>
                  <a:srgbClr val="2F3A45"/>
                </a:solidFill>
                <a:latin typeface="Arial" panose="020B0604020202020204" pitchFamily="34" charset="0"/>
                <a:ea typeface="微软雅黑" panose="020B0503020204020204" charset="-122"/>
                <a:cs typeface="微软雅黑" panose="020B0503020204020204" charset="-122"/>
              </a:rPr>
              <a:t>Optimization / Examples</a:t>
            </a:r>
          </a:p>
        </p:txBody>
      </p:sp>
      <p:sp>
        <p:nvSpPr>
          <p:cNvPr id="103" name="s15-validation-frame"/>
          <p:cNvSpPr>
            <a:spLocks noGrp="1"/>
          </p:cNvSpPr>
          <p:nvPr/>
        </p:nvSpPr>
        <p:spPr>
          <a:xfrm>
            <a:off x="630037" y="3898246"/>
            <a:ext cx="4743450" cy="1057275"/>
          </a:xfrm>
          <a:prstGeom prst="rect">
            <a:avLst/>
          </a:prstGeom>
          <a:solidFill>
            <a:srgbClr val="EEF2F5"/>
          </a:solidFill>
          <a:ln w="13335">
            <a:solidFill>
              <a:srgbClr val="D6DEE6"/>
            </a:solidFill>
            <a:prstDash val="solid"/>
          </a:ln>
          <a:effectLst/>
        </p:spPr>
      </p:sp>
      <p:sp>
        <p:nvSpPr>
          <p:cNvPr id="104" name="s15-validation-title"/>
          <p:cNvSpPr>
            <a:spLocks noGrp="1"/>
          </p:cNvSpPr>
          <p:nvPr/>
        </p:nvSpPr>
        <p:spPr>
          <a:xfrm>
            <a:off x="744337" y="3936346"/>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lang="zh-CN" altLang="en-US" sz="1600" dirty="0" smtClean="0">
                <a:solidFill>
                  <a:srgbClr val="294A6D"/>
                </a:solidFill>
                <a:latin typeface="Arial" panose="020B0604020202020204" pitchFamily="34" charset="0"/>
                <a:ea typeface="微软雅黑" panose="020B0503020204020204" charset="-122"/>
                <a:cs typeface="微软雅黑" panose="020B0503020204020204" charset="-122"/>
              </a:rPr>
              <a:t>修改与</a:t>
            </a:r>
            <a:r>
              <a:rPr sz="1600" dirty="0" err="1" smtClean="0">
                <a:solidFill>
                  <a:srgbClr val="294A6D"/>
                </a:solidFill>
                <a:latin typeface="Arial" panose="020B0604020202020204" pitchFamily="34" charset="0"/>
                <a:ea typeface="微软雅黑" panose="020B0503020204020204" charset="-122"/>
                <a:cs typeface="微软雅黑" panose="020B0503020204020204" charset="-122"/>
              </a:rPr>
              <a:t>验证</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105" name="s15-validation-subtitle"/>
          <p:cNvSpPr>
            <a:spLocks noGrp="1"/>
          </p:cNvSpPr>
          <p:nvPr/>
        </p:nvSpPr>
        <p:spPr>
          <a:xfrm>
            <a:off x="744337" y="4183996"/>
            <a:ext cx="451485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dirty="0">
                <a:solidFill>
                  <a:srgbClr val="2F3A45"/>
                </a:solidFill>
                <a:latin typeface="Arial" panose="020B0604020202020204" pitchFamily="34" charset="0"/>
                <a:ea typeface="微软雅黑" panose="020B0503020204020204" charset="-122"/>
              </a:rPr>
              <a:t>L1  </a:t>
            </a:r>
            <a:r>
              <a:rPr lang="zh-CN" altLang="en-US" sz="885" dirty="0" smtClean="0">
                <a:solidFill>
                  <a:srgbClr val="2F3A45"/>
                </a:solidFill>
                <a:latin typeface="Arial" panose="020B0604020202020204" pitchFamily="34" charset="0"/>
                <a:ea typeface="微软雅黑" panose="020B0503020204020204" charset="-122"/>
              </a:rPr>
              <a:t>基础修改（门禁，契约）</a:t>
            </a:r>
            <a:endParaRPr sz="885" dirty="0">
              <a:solidFill>
                <a:srgbClr val="2F3A45"/>
              </a:solidFill>
              <a:latin typeface="Arial" panose="020B0604020202020204" pitchFamily="34" charset="0"/>
              <a:ea typeface="微软雅黑" panose="020B0503020204020204" charset="-122"/>
            </a:endParaRP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dirty="0" smtClean="0">
                <a:solidFill>
                  <a:srgbClr val="2F3A45"/>
                </a:solidFill>
                <a:latin typeface="Arial" panose="020B0604020202020204" pitchFamily="34" charset="0"/>
                <a:ea typeface="微软雅黑" panose="020B0503020204020204" charset="-122"/>
              </a:rPr>
              <a:t>L2</a:t>
            </a:r>
            <a:r>
              <a:rPr lang="zh-CN" altLang="en-US" sz="885" dirty="0">
                <a:solidFill>
                  <a:srgbClr val="2F3A45"/>
                </a:solidFill>
                <a:latin typeface="Arial" panose="020B0604020202020204" pitchFamily="34" charset="0"/>
                <a:ea typeface="微软雅黑" panose="020B0503020204020204" charset="-122"/>
              </a:rPr>
              <a:t> </a:t>
            </a:r>
            <a:r>
              <a:rPr lang="zh-CN" altLang="en-US" sz="885" dirty="0" smtClean="0">
                <a:solidFill>
                  <a:srgbClr val="2F3A45"/>
                </a:solidFill>
                <a:latin typeface="Arial" panose="020B0604020202020204" pitchFamily="34" charset="0"/>
                <a:ea typeface="微软雅黑" panose="020B0503020204020204" charset="-122"/>
              </a:rPr>
              <a:t>简单算子小</a:t>
            </a:r>
            <a:r>
              <a:rPr lang="en-US" altLang="zh-CN" sz="885" dirty="0" smtClean="0">
                <a:solidFill>
                  <a:srgbClr val="2F3A45"/>
                </a:solidFill>
                <a:latin typeface="Arial" panose="020B0604020202020204" pitchFamily="34" charset="0"/>
                <a:ea typeface="微软雅黑" panose="020B0503020204020204" charset="-122"/>
              </a:rPr>
              <a:t>shape</a:t>
            </a:r>
            <a:endParaRPr sz="885" dirty="0">
              <a:solidFill>
                <a:srgbClr val="2F3A45"/>
              </a:solidFill>
              <a:latin typeface="Arial" panose="020B0604020202020204" pitchFamily="34" charset="0"/>
              <a:ea typeface="微软雅黑" panose="020B0503020204020204" charset="-122"/>
            </a:endParaRP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dirty="0">
                <a:solidFill>
                  <a:srgbClr val="2F3A45"/>
                </a:solidFill>
                <a:latin typeface="Arial" panose="020B0604020202020204" pitchFamily="34" charset="0"/>
                <a:ea typeface="微软雅黑" panose="020B0503020204020204" charset="-122"/>
              </a:rPr>
              <a:t>L3  </a:t>
            </a:r>
            <a:r>
              <a:rPr sz="885" dirty="0" err="1" smtClean="0">
                <a:solidFill>
                  <a:srgbClr val="2F3A45"/>
                </a:solidFill>
                <a:latin typeface="Arial" panose="020B0604020202020204" pitchFamily="34" charset="0"/>
                <a:ea typeface="微软雅黑" panose="020B0503020204020204" charset="-122"/>
              </a:rPr>
              <a:t>典型算子验证</a:t>
            </a:r>
            <a:endParaRPr sz="885" dirty="0">
              <a:solidFill>
                <a:srgbClr val="2F3A45"/>
              </a:solidFill>
              <a:latin typeface="Arial" panose="020B0604020202020204" pitchFamily="34" charset="0"/>
              <a:ea typeface="微软雅黑" panose="020B0503020204020204" charset="-122"/>
            </a:endParaRPr>
          </a:p>
        </p:txBody>
      </p:sp>
      <p:sp>
        <p:nvSpPr>
          <p:cNvPr id="106" name="s15-arrow-3-left"/>
          <p:cNvSpPr>
            <a:spLocks noGrp="1"/>
          </p:cNvSpPr>
          <p:nvPr/>
        </p:nvSpPr>
        <p:spPr>
          <a:xfrm>
            <a:off x="1639687" y="4936471"/>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微软雅黑" panose="020B0503020204020204" charset="-122"/>
                <a:cs typeface="Calibri" panose="020F0502020204030204"/>
              </a:rPr>
              <a:t>↓</a:t>
            </a:r>
          </a:p>
        </p:txBody>
      </p:sp>
      <p:sp>
        <p:nvSpPr>
          <p:cNvPr id="107" name="s15-arrow-3-right"/>
          <p:cNvSpPr>
            <a:spLocks noGrp="1"/>
          </p:cNvSpPr>
          <p:nvPr/>
        </p:nvSpPr>
        <p:spPr>
          <a:xfrm>
            <a:off x="4020937" y="4936471"/>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微软雅黑" panose="020B0503020204020204" charset="-122"/>
                <a:cs typeface="Calibri" panose="020F0502020204030204"/>
              </a:rPr>
              <a:t>↓</a:t>
            </a:r>
          </a:p>
        </p:txBody>
      </p:sp>
      <p:sp>
        <p:nvSpPr>
          <p:cNvPr id="108" name="s15-update-knowledge"/>
          <p:cNvSpPr>
            <a:spLocks noGrp="1"/>
          </p:cNvSpPr>
          <p:nvPr/>
        </p:nvSpPr>
        <p:spPr>
          <a:xfrm>
            <a:off x="687187" y="5126971"/>
            <a:ext cx="184785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dirty="0" err="1" smtClean="0">
                <a:solidFill>
                  <a:srgbClr val="2F3A45"/>
                </a:solidFill>
                <a:latin typeface="Arial" panose="020B0604020202020204" pitchFamily="34" charset="0"/>
                <a:ea typeface="微软雅黑" panose="020B0503020204020204" charset="-122"/>
              </a:rPr>
              <a:t>更新平台知识</a:t>
            </a:r>
            <a:endParaRPr sz="915" dirty="0">
              <a:solidFill>
                <a:srgbClr val="2F3A45"/>
              </a:solidFill>
              <a:latin typeface="Arial" panose="020B0604020202020204" pitchFamily="34" charset="0"/>
              <a:ea typeface="微软雅黑" panose="020B0503020204020204" charset="-122"/>
            </a:endParaRPr>
          </a:p>
        </p:txBody>
      </p:sp>
      <p:sp>
        <p:nvSpPr>
          <p:cNvPr id="109" name="s15-adjust-workflow"/>
          <p:cNvSpPr>
            <a:spLocks noGrp="1"/>
          </p:cNvSpPr>
          <p:nvPr/>
        </p:nvSpPr>
        <p:spPr>
          <a:xfrm>
            <a:off x="3335137" y="5126971"/>
            <a:ext cx="175260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dirty="0" err="1" smtClean="0">
                <a:solidFill>
                  <a:srgbClr val="2F3A45"/>
                </a:solidFill>
                <a:latin typeface="Arial" panose="020B0604020202020204" pitchFamily="34" charset="0"/>
                <a:ea typeface="微软雅黑" panose="020B0503020204020204" charset="-122"/>
              </a:rPr>
              <a:t>修正通用流程</a:t>
            </a:r>
            <a:endParaRPr sz="915" dirty="0">
              <a:solidFill>
                <a:srgbClr val="2F3A45"/>
              </a:solidFill>
              <a:latin typeface="Arial" panose="020B0604020202020204" pitchFamily="34" charset="0"/>
              <a:ea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7" name="slide-8-title"/>
          <p:cNvSpPr>
            <a:spLocks noGrp="1"/>
          </p:cNvSpPr>
          <p:nvPr/>
        </p:nvSpPr>
        <p:spPr>
          <a:xfrm>
            <a:off x="1083310" y="247015"/>
            <a:ext cx="8572500" cy="409575"/>
          </a:xfrm>
          <a:prstGeom prst="rect">
            <a:avLst/>
          </a:prstGeom>
          <a:noFill/>
          <a:ln w="0">
            <a:noFill/>
            <a:prstDash val="solid"/>
          </a:ln>
          <a:effectLst/>
        </p:spPr>
        <p:txBody>
          <a:bodyPr wrap="square" lIns="0" tIns="0" rIns="0" bIns="0" anchor="ctr">
            <a:no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500" b="1" dirty="0" err="1">
                <a:solidFill>
                  <a:srgbClr val="243B53"/>
                </a:solidFill>
                <a:latin typeface="Arial" panose="020B0604020202020204" pitchFamily="34" charset="0"/>
                <a:ea typeface="微软雅黑" panose="020B0503020204020204" charset="-122"/>
                <a:cs typeface="微软雅黑" panose="020B0503020204020204" charset="-122"/>
              </a:rPr>
              <a:t>如何根据指南开发一个新平台</a:t>
            </a:r>
            <a:r>
              <a:rPr sz="2500" b="1" dirty="0">
                <a:solidFill>
                  <a:srgbClr val="243B53"/>
                </a:solidFill>
                <a:latin typeface="Arial" panose="020B0604020202020204" pitchFamily="34" charset="0"/>
                <a:ea typeface="微软雅黑" panose="020B0503020204020204" charset="-122"/>
                <a:cs typeface="微软雅黑" panose="020B0503020204020204" charset="-122"/>
              </a:rPr>
              <a:t> Skill？</a:t>
            </a:r>
          </a:p>
        </p:txBody>
      </p:sp>
      <p:sp>
        <p:nvSpPr>
          <p:cNvPr id="9" name="footer-background"/>
          <p:cNvSpPr>
            <a:spLocks noGrp="1"/>
          </p:cNvSpPr>
          <p:nvPr/>
        </p:nvSpPr>
        <p:spPr>
          <a:xfrm>
            <a:off x="200025" y="6172201"/>
            <a:ext cx="11791950" cy="533400"/>
          </a:xfrm>
          <a:prstGeom prst="rect">
            <a:avLst/>
          </a:prstGeom>
          <a:solidFill>
            <a:srgbClr val="EEF2F5"/>
          </a:solidFill>
          <a:ln w="0">
            <a:solidFill>
              <a:srgbClr val="D6DEE6"/>
            </a:solidFill>
            <a:prstDash val="solid"/>
          </a:ln>
          <a:effectLst/>
        </p:spPr>
        <p:txBody>
          <a:bodyPr wrap="square" lIns="0" tIns="0" rIns="0" bIns="0" anchor="ctr">
            <a:normAutofit/>
          </a:bodyPr>
          <a:lstStyle/>
          <a:p>
            <a:endParaRPr/>
          </a:p>
        </p:txBody>
      </p:sp>
      <p:sp>
        <p:nvSpPr>
          <p:cNvPr id="11" name="slide-8-editable-footer"/>
          <p:cNvSpPr>
            <a:spLocks noGrp="1"/>
          </p:cNvSpPr>
          <p:nvPr/>
        </p:nvSpPr>
        <p:spPr>
          <a:xfrm>
            <a:off x="1171575" y="6181725"/>
            <a:ext cx="10620375" cy="523875"/>
          </a:xfrm>
          <a:prstGeom prst="rect">
            <a:avLst/>
          </a:prstGeom>
          <a:solidFill>
            <a:srgbClr val="EEF2F5"/>
          </a:solidFill>
          <a:ln w="0">
            <a:noFill/>
            <a:prstDash val="solid"/>
          </a:ln>
          <a:effectLst/>
        </p:spPr>
        <p:txBody>
          <a:bodyPr wrap="square" lIns="95250" tIns="19050" rIns="95250" bIns="19050" anchor="ctr">
            <a:normAutofit/>
          </a:bodyPr>
          <a:lstStyle/>
          <a:p>
            <a:pPr algn="ctr">
              <a:lnSpc>
                <a:spcPct val="100000"/>
              </a:lnSpc>
              <a:buNone/>
              <a:defRPr sz="940" b="1">
                <a:solidFill>
                  <a:srgbClr val="072A67"/>
                </a:solidFill>
                <a:latin typeface="微软雅黑" panose="020B0503020204020204" charset="-122"/>
                <a:ea typeface="微软雅黑" panose="020B0503020204020204" charset="-122"/>
                <a:cs typeface="微软雅黑" panose="020B0503020204020204" charset="-122"/>
              </a:defRPr>
            </a:pPr>
            <a:r>
              <a:rPr sz="1200" b="1" dirty="0" err="1">
                <a:solidFill>
                  <a:srgbClr val="2F3A45"/>
                </a:solidFill>
                <a:latin typeface="Arial" panose="020B0604020202020204" pitchFamily="34" charset="0"/>
                <a:ea typeface="微软雅黑" panose="020B0503020204020204" charset="-122"/>
                <a:cs typeface="微软雅黑" panose="020B0503020204020204" charset="-122"/>
              </a:rPr>
              <a:t>新平台</a:t>
            </a:r>
            <a:r>
              <a:rPr sz="1200" b="1" dirty="0">
                <a:solidFill>
                  <a:srgbClr val="2F3A45"/>
                </a:solidFill>
                <a:latin typeface="Arial" panose="020B0604020202020204" pitchFamily="34" charset="0"/>
                <a:ea typeface="微软雅黑" panose="020B0503020204020204" charset="-122"/>
                <a:cs typeface="微软雅黑" panose="020B0503020204020204" charset="-122"/>
              </a:rPr>
              <a:t> Skill </a:t>
            </a:r>
            <a:r>
              <a:rPr sz="1200" b="1" dirty="0" smtClean="0">
                <a:solidFill>
                  <a:srgbClr val="2F3A45"/>
                </a:solidFill>
                <a:latin typeface="Arial" panose="020B0604020202020204" pitchFamily="34" charset="0"/>
                <a:ea typeface="微软雅黑" panose="020B0503020204020204" charset="-122"/>
                <a:cs typeface="微软雅黑" panose="020B0503020204020204" charset="-122"/>
              </a:rPr>
              <a:t>是</a:t>
            </a:r>
            <a:r>
              <a:rPr lang="zh-CN" altLang="zh-CN" sz="1200" b="1" dirty="0">
                <a:solidFill>
                  <a:srgbClr val="2F3A45"/>
                </a:solidFill>
                <a:latin typeface="Arial" panose="020B0604020202020204" pitchFamily="34" charset="0"/>
                <a:ea typeface="微软雅黑" panose="020B0503020204020204" charset="-122"/>
                <a:cs typeface="微软雅黑" panose="020B0503020204020204" charset="-122"/>
              </a:rPr>
              <a:t>在</a:t>
            </a:r>
            <a:r>
              <a:rPr sz="1200" b="1" dirty="0" err="1" smtClean="0">
                <a:solidFill>
                  <a:srgbClr val="2F3A45"/>
                </a:solidFill>
                <a:latin typeface="Arial" panose="020B0604020202020204" pitchFamily="34" charset="0"/>
                <a:ea typeface="微软雅黑" panose="020B0503020204020204" charset="-122"/>
                <a:cs typeface="微软雅黑" panose="020B0503020204020204" charset="-122"/>
              </a:rPr>
              <a:t>通用框架上补齐目标平台知识</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，并通过真实验证不断校准</a:t>
            </a:r>
            <a:r>
              <a:rPr sz="1200" b="1" dirty="0">
                <a:solidFill>
                  <a:srgbClr val="2F3A45"/>
                </a:solidFill>
                <a:latin typeface="Arial" panose="020B0604020202020204" pitchFamily="34" charset="0"/>
                <a:ea typeface="微软雅黑" panose="020B0503020204020204" charset="-122"/>
                <a:cs typeface="微软雅黑" panose="020B0503020204020204" charset="-122"/>
              </a:rPr>
              <a:t>。</a:t>
            </a:r>
          </a:p>
          <a:p>
            <a:pPr algn="ctr">
              <a:lnSpc>
                <a:spcPct val="100000"/>
              </a:lnSpc>
              <a:buNone/>
              <a:defRPr sz="940" b="1">
                <a:solidFill>
                  <a:srgbClr val="072A67"/>
                </a:solidFill>
                <a:latin typeface="微软雅黑" panose="020B0503020204020204" charset="-122"/>
                <a:ea typeface="微软雅黑" panose="020B0503020204020204" charset="-122"/>
                <a:cs typeface="微软雅黑" panose="020B0503020204020204" charset="-122"/>
              </a:defRPr>
            </a:pPr>
            <a:endParaRPr sz="1200"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0" name="knowledge-source-1"/>
          <p:cNvSpPr>
            <a:spLocks noGrp="1"/>
          </p:cNvSpPr>
          <p:nvPr/>
        </p:nvSpPr>
        <p:spPr>
          <a:xfrm>
            <a:off x="1759585" y="764540"/>
            <a:ext cx="2857500" cy="514350"/>
          </a:xfrm>
          <a:prstGeom prst="roundRect">
            <a:avLst>
              <a:gd name="adj" fmla="val 14815"/>
            </a:avLst>
          </a:prstGeom>
          <a:solidFill>
            <a:srgbClr val="FFFFFF"/>
          </a:solidFill>
          <a:ln w="9525">
            <a:solidFill>
              <a:srgbClr val="D6DEE6"/>
            </a:solidFill>
            <a:prstDash val="solid"/>
          </a:ln>
          <a:effectLst/>
        </p:spPr>
      </p:sp>
      <p:sp>
        <p:nvSpPr>
          <p:cNvPr id="22" name="knowledge-source-1-title"/>
          <p:cNvSpPr>
            <a:spLocks noGrp="1"/>
          </p:cNvSpPr>
          <p:nvPr/>
        </p:nvSpPr>
        <p:spPr>
          <a:xfrm>
            <a:off x="2445385"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微软雅黑" panose="020B0503020204020204" charset="-122"/>
                <a:cs typeface="微软雅黑" panose="020B0503020204020204" charset="-122"/>
              </a:rPr>
              <a:t>官方 / 网络资料</a:t>
            </a:r>
          </a:p>
        </p:txBody>
      </p:sp>
      <p:sp>
        <p:nvSpPr>
          <p:cNvPr id="23" name="knowledge-source-1-note"/>
          <p:cNvSpPr>
            <a:spLocks noGrp="1"/>
          </p:cNvSpPr>
          <p:nvPr/>
        </p:nvSpPr>
        <p:spPr>
          <a:xfrm>
            <a:off x="2445385"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微软雅黑" panose="020B0503020204020204" charset="-122"/>
                <a:cs typeface="微软雅黑" panose="020B0503020204020204" charset="-122"/>
              </a:rPr>
              <a:t>定义能力边界</a:t>
            </a:r>
          </a:p>
        </p:txBody>
      </p:sp>
      <p:sp>
        <p:nvSpPr>
          <p:cNvPr id="24" name="knowledge-source-2"/>
          <p:cNvSpPr>
            <a:spLocks noGrp="1"/>
          </p:cNvSpPr>
          <p:nvPr/>
        </p:nvSpPr>
        <p:spPr>
          <a:xfrm>
            <a:off x="4683760" y="764540"/>
            <a:ext cx="2857500" cy="514350"/>
          </a:xfrm>
          <a:prstGeom prst="roundRect">
            <a:avLst>
              <a:gd name="adj" fmla="val 14815"/>
            </a:avLst>
          </a:prstGeom>
          <a:solidFill>
            <a:srgbClr val="FFFFFF"/>
          </a:solidFill>
          <a:ln w="9525">
            <a:solidFill>
              <a:srgbClr val="D6DEE6"/>
            </a:solidFill>
            <a:prstDash val="solid"/>
          </a:ln>
          <a:effectLst/>
        </p:spPr>
      </p:sp>
      <p:sp>
        <p:nvSpPr>
          <p:cNvPr id="26" name="knowledge-source-2-title"/>
          <p:cNvSpPr>
            <a:spLocks noGrp="1"/>
          </p:cNvSpPr>
          <p:nvPr/>
        </p:nvSpPr>
        <p:spPr>
          <a:xfrm>
            <a:off x="5369560"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微软雅黑" panose="020B0503020204020204" charset="-122"/>
                <a:cs typeface="微软雅黑" panose="020B0503020204020204" charset="-122"/>
              </a:rPr>
              <a:t>真实平台测试</a:t>
            </a:r>
          </a:p>
        </p:txBody>
      </p:sp>
      <p:sp>
        <p:nvSpPr>
          <p:cNvPr id="27" name="knowledge-source-2-note"/>
          <p:cNvSpPr>
            <a:spLocks noGrp="1"/>
          </p:cNvSpPr>
          <p:nvPr/>
        </p:nvSpPr>
        <p:spPr>
          <a:xfrm>
            <a:off x="5369560"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微软雅黑" panose="020B0503020204020204" charset="-122"/>
                <a:cs typeface="微软雅黑" panose="020B0503020204020204" charset="-122"/>
              </a:rPr>
              <a:t>校准实际行为</a:t>
            </a:r>
          </a:p>
        </p:txBody>
      </p:sp>
      <p:sp>
        <p:nvSpPr>
          <p:cNvPr id="28" name="knowledge-source-3"/>
          <p:cNvSpPr>
            <a:spLocks noGrp="1"/>
          </p:cNvSpPr>
          <p:nvPr/>
        </p:nvSpPr>
        <p:spPr>
          <a:xfrm>
            <a:off x="7607935" y="764540"/>
            <a:ext cx="2857500" cy="514350"/>
          </a:xfrm>
          <a:prstGeom prst="roundRect">
            <a:avLst>
              <a:gd name="adj" fmla="val 14815"/>
            </a:avLst>
          </a:prstGeom>
          <a:solidFill>
            <a:srgbClr val="FFFFFF"/>
          </a:solidFill>
          <a:ln w="9525">
            <a:solidFill>
              <a:srgbClr val="D6DEE6"/>
            </a:solidFill>
            <a:prstDash val="solid"/>
          </a:ln>
          <a:effectLst/>
        </p:spPr>
        <p:txBody>
          <a:bodyPr/>
          <a:lstStyle/>
          <a:p>
            <a:endParaRPr lang="zh-CN" altLang="en-US"/>
          </a:p>
        </p:txBody>
      </p:sp>
      <p:sp>
        <p:nvSpPr>
          <p:cNvPr id="30" name="knowledge-source-3-title"/>
          <p:cNvSpPr>
            <a:spLocks noGrp="1"/>
          </p:cNvSpPr>
          <p:nvPr/>
        </p:nvSpPr>
        <p:spPr>
          <a:xfrm>
            <a:off x="8293735"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微软雅黑" panose="020B0503020204020204" charset="-122"/>
                <a:cs typeface="微软雅黑" panose="020B0503020204020204" charset="-122"/>
              </a:rPr>
              <a:t>已有工程经验</a:t>
            </a:r>
          </a:p>
        </p:txBody>
      </p:sp>
      <p:sp>
        <p:nvSpPr>
          <p:cNvPr id="31" name="knowledge-source-3-note"/>
          <p:cNvSpPr>
            <a:spLocks noGrp="1"/>
          </p:cNvSpPr>
          <p:nvPr/>
        </p:nvSpPr>
        <p:spPr>
          <a:xfrm>
            <a:off x="8293735"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微软雅黑" panose="020B0503020204020204" charset="-122"/>
                <a:cs typeface="微软雅黑" panose="020B0503020204020204" charset="-122"/>
              </a:rPr>
              <a:t>减少重复试错</a:t>
            </a:r>
          </a:p>
        </p:txBody>
      </p:sp>
      <p:sp>
        <p:nvSpPr>
          <p:cNvPr id="32" name="platform-knowledge-node"/>
          <p:cNvSpPr>
            <a:spLocks noGrp="1"/>
          </p:cNvSpPr>
          <p:nvPr/>
        </p:nvSpPr>
        <p:spPr>
          <a:xfrm>
            <a:off x="4762500" y="1508760"/>
            <a:ext cx="2667000" cy="238125"/>
          </a:xfrm>
          <a:prstGeom prst="roundRect">
            <a:avLst>
              <a:gd name="adj" fmla="val 24000"/>
            </a:avLst>
          </a:prstGeom>
          <a:solidFill>
            <a:srgbClr val="294A6D"/>
          </a:solidFill>
          <a:ln w="9525">
            <a:solidFill>
              <a:srgbClr val="294A6D"/>
            </a:solidFill>
            <a:prstDash val="solid"/>
          </a:ln>
          <a:effectLst/>
        </p:spPr>
        <p:txBody>
          <a:bodyPr wrap="square" lIns="47625" tIns="19050" rIns="47625" bIns="19050" anchor="ctr">
            <a:noAutofit/>
          </a:bodyPr>
          <a:lstStyle/>
          <a:p>
            <a:pPr algn="ctr">
              <a:defRPr sz="1050" b="1">
                <a:solidFill>
                  <a:srgbClr val="FFFFFF"/>
                </a:solidFill>
                <a:latin typeface="Calibri" panose="020F0502020204030204"/>
                <a:ea typeface="Calibri" panose="020F0502020204030204"/>
                <a:cs typeface="Calibri" panose="020F0502020204030204"/>
              </a:defRPr>
            </a:pPr>
            <a:r>
              <a:rPr lang="zh-CN" altLang="en-US" sz="1400" b="1" dirty="0">
                <a:solidFill>
                  <a:srgbClr val="FFFFFF"/>
                </a:solidFill>
                <a:latin typeface="Arial" panose="020B0604020202020204" pitchFamily="34" charset="0"/>
                <a:ea typeface="微软雅黑" panose="020B0503020204020204" charset="-122"/>
                <a:cs typeface="Calibri" panose="020F0502020204030204"/>
              </a:rPr>
              <a:t>平台知识</a:t>
            </a:r>
            <a:endParaRPr sz="1400" b="1" dirty="0">
              <a:solidFill>
                <a:srgbClr val="FFFFFF"/>
              </a:solidFill>
              <a:latin typeface="Arial" panose="020B0604020202020204" pitchFamily="34" charset="0"/>
              <a:ea typeface="微软雅黑" panose="020B0503020204020204" charset="-122"/>
              <a:cs typeface="Calibri" panose="020F0502020204030204"/>
            </a:endParaRPr>
          </a:p>
        </p:txBody>
      </p:sp>
      <p:cxnSp>
        <p:nvCxnSpPr>
          <p:cNvPr id="183" name="knowledge-source-1-to-platform"/>
          <p:cNvCxnSpPr/>
          <p:nvPr/>
        </p:nvCxnSpPr>
        <p:spPr>
          <a:xfrm rot="5400000" flipV="1">
            <a:off x="4527233" y="0"/>
            <a:ext cx="229870" cy="2907665"/>
          </a:xfrm>
          <a:prstGeom prst="bentConnector3">
            <a:avLst>
              <a:gd name="adj1" fmla="val 49862"/>
            </a:avLst>
          </a:prstGeom>
          <a:ln w="10478">
            <a:solidFill>
              <a:srgbClr val="294A6D"/>
            </a:solidFill>
            <a:prstDash val="solid"/>
            <a:tailEnd type="triangle" w="sm" len="sm"/>
          </a:ln>
          <a:effectLst/>
        </p:spPr>
      </p:cxnSp>
      <p:cxnSp>
        <p:nvCxnSpPr>
          <p:cNvPr id="184" name="knowledge-source-2-to-platform"/>
          <p:cNvCxnSpPr>
            <a:stCxn id="24" idx="2"/>
            <a:endCxn id="32" idx="0"/>
          </p:cNvCxnSpPr>
          <p:nvPr/>
        </p:nvCxnSpPr>
        <p:spPr>
          <a:xfrm rot="5400000">
            <a:off x="5989320" y="1385570"/>
            <a:ext cx="229870" cy="16510"/>
          </a:xfrm>
          <a:prstGeom prst="bentConnector3">
            <a:avLst>
              <a:gd name="adj1" fmla="val 50000"/>
            </a:avLst>
          </a:prstGeom>
          <a:ln w="10478">
            <a:solidFill>
              <a:srgbClr val="294A6D"/>
            </a:solidFill>
            <a:prstDash val="solid"/>
            <a:tailEnd type="triangle" w="sm" len="sm"/>
          </a:ln>
          <a:effectLst/>
        </p:spPr>
      </p:cxnSp>
      <p:cxnSp>
        <p:nvCxnSpPr>
          <p:cNvPr id="185" name="knowledge-source-3-to-platform"/>
          <p:cNvCxnSpPr/>
          <p:nvPr/>
        </p:nvCxnSpPr>
        <p:spPr>
          <a:xfrm rot="5400000">
            <a:off x="7451408" y="0"/>
            <a:ext cx="229870" cy="2940685"/>
          </a:xfrm>
          <a:prstGeom prst="bentConnector3">
            <a:avLst>
              <a:gd name="adj1" fmla="val 49862"/>
            </a:avLst>
          </a:prstGeom>
          <a:ln w="10478">
            <a:solidFill>
              <a:srgbClr val="294A6D"/>
            </a:solidFill>
            <a:prstDash val="solid"/>
            <a:tailEnd type="triangle" w="sm" len="sm"/>
          </a:ln>
          <a:effectLst/>
        </p:spPr>
      </p:cxnSp>
      <p:sp>
        <p:nvSpPr>
          <p:cNvPr id="37" name="phase-a-surface"/>
          <p:cNvSpPr>
            <a:spLocks noGrp="1"/>
          </p:cNvSpPr>
          <p:nvPr/>
        </p:nvSpPr>
        <p:spPr>
          <a:xfrm>
            <a:off x="1295400" y="1844675"/>
            <a:ext cx="9601200" cy="1000125"/>
          </a:xfrm>
          <a:prstGeom prst="rect">
            <a:avLst/>
          </a:prstGeom>
          <a:solidFill>
            <a:srgbClr val="EEF2F5"/>
          </a:solidFill>
          <a:ln w="9525">
            <a:solidFill>
              <a:srgbClr val="D6DEE6"/>
            </a:solidFill>
            <a:prstDash val="solid"/>
          </a:ln>
          <a:effectLst/>
        </p:spPr>
      </p:sp>
      <p:sp>
        <p:nvSpPr>
          <p:cNvPr id="38" name="phase-a-accent"/>
          <p:cNvSpPr>
            <a:spLocks noGrp="1"/>
          </p:cNvSpPr>
          <p:nvPr/>
        </p:nvSpPr>
        <p:spPr>
          <a:xfrm>
            <a:off x="1295400" y="1844675"/>
            <a:ext cx="57150" cy="1000125"/>
          </a:xfrm>
          <a:prstGeom prst="roundRect">
            <a:avLst>
              <a:gd name="adj" fmla="val 50000"/>
            </a:avLst>
          </a:prstGeom>
          <a:solidFill>
            <a:srgbClr val="5B7188"/>
          </a:solidFill>
          <a:ln w="9525">
            <a:solidFill>
              <a:srgbClr val="294A6D"/>
            </a:solidFill>
            <a:prstDash val="solid"/>
          </a:ln>
          <a:effectLst/>
        </p:spPr>
      </p:sp>
      <p:sp>
        <p:nvSpPr>
          <p:cNvPr id="39" name="phase-a-letter"/>
          <p:cNvSpPr>
            <a:spLocks noGrp="1"/>
          </p:cNvSpPr>
          <p:nvPr/>
        </p:nvSpPr>
        <p:spPr>
          <a:xfrm>
            <a:off x="1438275" y="1968500"/>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A</a:t>
            </a:r>
          </a:p>
        </p:txBody>
      </p:sp>
      <p:sp>
        <p:nvSpPr>
          <p:cNvPr id="41" name="phase-a-chinese"/>
          <p:cNvSpPr>
            <a:spLocks noGrp="1"/>
          </p:cNvSpPr>
          <p:nvPr/>
        </p:nvSpPr>
        <p:spPr>
          <a:xfrm>
            <a:off x="1476375" y="214947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57C5"/>
                </a:solidFill>
                <a:latin typeface="微软雅黑" panose="020B0503020204020204" charset="-122"/>
                <a:ea typeface="微软雅黑" panose="020B0503020204020204" charset="-122"/>
                <a:cs typeface="微软雅黑" panose="020B0503020204020204" charset="-122"/>
              </a:defRPr>
            </a:pPr>
            <a:r>
              <a:rPr sz="1275" b="1">
                <a:solidFill>
                  <a:srgbClr val="294A6D"/>
                </a:solidFill>
                <a:latin typeface="Arial" panose="020B0604020202020204" pitchFamily="34" charset="0"/>
                <a:ea typeface="微软雅黑" panose="020B0503020204020204" charset="-122"/>
                <a:cs typeface="微软雅黑" panose="020B0503020204020204" charset="-122"/>
              </a:rPr>
              <a:t>平台认知</a:t>
            </a:r>
          </a:p>
        </p:txBody>
      </p:sp>
      <p:sp>
        <p:nvSpPr>
          <p:cNvPr id="42" name="phase-a-sidebar-divider"/>
          <p:cNvSpPr>
            <a:spLocks noGrp="1"/>
          </p:cNvSpPr>
          <p:nvPr/>
        </p:nvSpPr>
        <p:spPr>
          <a:xfrm>
            <a:off x="2847975" y="1939925"/>
            <a:ext cx="9525" cy="9525"/>
          </a:xfrm>
          <a:prstGeom prst="rect">
            <a:avLst/>
          </a:prstGeom>
          <a:solidFill>
            <a:srgbClr val="EEF2F5"/>
          </a:solidFill>
          <a:ln w="9525">
            <a:solidFill>
              <a:srgbClr val="D6DEE6"/>
            </a:solidFill>
            <a:prstDash val="solid"/>
          </a:ln>
          <a:effectLst/>
        </p:spPr>
      </p:sp>
      <p:sp>
        <p:nvSpPr>
          <p:cNvPr id="43" name="phase-a-step-divider"/>
          <p:cNvSpPr>
            <a:spLocks noGrp="1"/>
          </p:cNvSpPr>
          <p:nvPr/>
        </p:nvSpPr>
        <p:spPr>
          <a:xfrm>
            <a:off x="6924675" y="1939925"/>
            <a:ext cx="9525" cy="9525"/>
          </a:xfrm>
          <a:prstGeom prst="rect">
            <a:avLst/>
          </a:prstGeom>
          <a:solidFill>
            <a:srgbClr val="EEF2F5"/>
          </a:solidFill>
          <a:ln w="9525">
            <a:solidFill>
              <a:srgbClr val="D6DEE6"/>
            </a:solidFill>
            <a:prstDash val="solid"/>
          </a:ln>
          <a:effectLst/>
        </p:spPr>
      </p:sp>
      <p:sp>
        <p:nvSpPr>
          <p:cNvPr id="44" name="step-01-number"/>
          <p:cNvSpPr>
            <a:spLocks noGrp="1"/>
          </p:cNvSpPr>
          <p:nvPr/>
        </p:nvSpPr>
        <p:spPr>
          <a:xfrm>
            <a:off x="3009900" y="193992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01</a:t>
            </a:r>
          </a:p>
        </p:txBody>
      </p:sp>
      <p:sp>
        <p:nvSpPr>
          <p:cNvPr id="45" name="step-01-title"/>
          <p:cNvSpPr>
            <a:spLocks noGrp="1"/>
          </p:cNvSpPr>
          <p:nvPr/>
        </p:nvSpPr>
        <p:spPr>
          <a:xfrm>
            <a:off x="3429000" y="192087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294A6D"/>
                </a:solidFill>
                <a:latin typeface="Arial" panose="020B0604020202020204" pitchFamily="34" charset="0"/>
                <a:ea typeface="微软雅黑" panose="020B0503020204020204" charset="-122"/>
                <a:cs typeface="微软雅黑" panose="020B0503020204020204" charset="-122"/>
              </a:rPr>
              <a:t>平台定位</a:t>
            </a:r>
          </a:p>
        </p:txBody>
      </p:sp>
      <p:sp>
        <p:nvSpPr>
          <p:cNvPr id="46" name="step-01-subtitle"/>
          <p:cNvSpPr>
            <a:spLocks noGrp="1"/>
          </p:cNvSpPr>
          <p:nvPr/>
        </p:nvSpPr>
        <p:spPr>
          <a:xfrm>
            <a:off x="3429000" y="211137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smtClean="0">
                <a:solidFill>
                  <a:srgbClr val="2F3A45"/>
                </a:solidFill>
                <a:latin typeface="Arial" panose="020B0604020202020204" pitchFamily="34" charset="0"/>
                <a:ea typeface="微软雅黑" panose="020B0503020204020204" charset="-122"/>
                <a:cs typeface="微软雅黑" panose="020B0503020204020204" charset="-122"/>
              </a:rPr>
              <a:t>锁定平台与编程</a:t>
            </a:r>
            <a:r>
              <a:rPr lang="zh-CN" altLang="en-US" sz="825" b="1" dirty="0">
                <a:solidFill>
                  <a:srgbClr val="2F3A45"/>
                </a:solidFill>
                <a:latin typeface="Arial" panose="020B0604020202020204" pitchFamily="34" charset="0"/>
                <a:ea typeface="微软雅黑" panose="020B0503020204020204" charset="-122"/>
                <a:cs typeface="微软雅黑" panose="020B0503020204020204" charset="-122"/>
              </a:rPr>
              <a:t>语言</a:t>
            </a:r>
            <a:endParaRPr sz="82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47" name="step-01-hardware"/>
          <p:cNvSpPr>
            <a:spLocks noGrp="1"/>
          </p:cNvSpPr>
          <p:nvPr/>
        </p:nvSpPr>
        <p:spPr>
          <a:xfrm>
            <a:off x="3448050" y="2282825"/>
            <a:ext cx="838200" cy="190500"/>
          </a:xfrm>
          <a:prstGeom prst="roundRect">
            <a:avLst>
              <a:gd name="adj" fmla="val 30000"/>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sz="790" b="1">
                <a:solidFill>
                  <a:srgbClr val="2F3A45"/>
                </a:solidFill>
                <a:latin typeface="Arial" panose="020B0604020202020204" pitchFamily="34" charset="0"/>
                <a:ea typeface="微软雅黑" panose="020B0503020204020204" charset="-122"/>
                <a:cs typeface="Calibri" panose="020F0502020204030204"/>
              </a:rPr>
              <a:t>Hardware</a:t>
            </a:r>
          </a:p>
        </p:txBody>
      </p:sp>
      <p:sp>
        <p:nvSpPr>
          <p:cNvPr id="49" name="step-01-stack"/>
          <p:cNvSpPr>
            <a:spLocks noGrp="1"/>
          </p:cNvSpPr>
          <p:nvPr/>
        </p:nvSpPr>
        <p:spPr>
          <a:xfrm>
            <a:off x="4514850" y="2273300"/>
            <a:ext cx="1066800" cy="190500"/>
          </a:xfrm>
          <a:prstGeom prst="roundRect">
            <a:avLst>
              <a:gd name="adj" fmla="val 30000"/>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lang="en-US" altLang="zh-CN" sz="790" b="1" dirty="0" smtClean="0">
                <a:solidFill>
                  <a:srgbClr val="2F3A45"/>
                </a:solidFill>
                <a:latin typeface="Arial" panose="020B0604020202020204" pitchFamily="34" charset="0"/>
                <a:ea typeface="微软雅黑" panose="020B0503020204020204" charset="-122"/>
                <a:cs typeface="Calibri" panose="020F0502020204030204"/>
              </a:rPr>
              <a:t>C++/ triton</a:t>
            </a:r>
            <a:endParaRPr sz="790" b="1" dirty="0">
              <a:solidFill>
                <a:srgbClr val="2F3A45"/>
              </a:solidFill>
              <a:latin typeface="Arial" panose="020B0604020202020204" pitchFamily="34" charset="0"/>
              <a:ea typeface="微软雅黑" panose="020B0503020204020204" charset="-122"/>
              <a:cs typeface="Calibri" panose="020F0502020204030204"/>
            </a:endParaRPr>
          </a:p>
        </p:txBody>
      </p:sp>
      <p:sp>
        <p:nvSpPr>
          <p:cNvPr id="52" name="step-02-number"/>
          <p:cNvSpPr>
            <a:spLocks noGrp="1"/>
          </p:cNvSpPr>
          <p:nvPr/>
        </p:nvSpPr>
        <p:spPr>
          <a:xfrm>
            <a:off x="7067550" y="193992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02</a:t>
            </a:r>
          </a:p>
        </p:txBody>
      </p:sp>
      <p:sp>
        <p:nvSpPr>
          <p:cNvPr id="53" name="step-02-title"/>
          <p:cNvSpPr>
            <a:spLocks noGrp="1"/>
          </p:cNvSpPr>
          <p:nvPr/>
        </p:nvSpPr>
        <p:spPr>
          <a:xfrm>
            <a:off x="7486650" y="192087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294A6D"/>
                </a:solidFill>
                <a:latin typeface="Arial" panose="020B0604020202020204" pitchFamily="34" charset="0"/>
                <a:ea typeface="微软雅黑" panose="020B0503020204020204" charset="-122"/>
                <a:cs typeface="微软雅黑" panose="020B0503020204020204" charset="-122"/>
              </a:rPr>
              <a:t>知识收集</a:t>
            </a:r>
          </a:p>
        </p:txBody>
      </p:sp>
      <p:sp>
        <p:nvSpPr>
          <p:cNvPr id="54" name="step-02-subtitle"/>
          <p:cNvSpPr>
            <a:spLocks noGrp="1"/>
          </p:cNvSpPr>
          <p:nvPr/>
        </p:nvSpPr>
        <p:spPr>
          <a:xfrm>
            <a:off x="7486650" y="211137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微软雅黑" panose="020B0503020204020204" charset="-122"/>
                <a:cs typeface="微软雅黑" panose="020B0503020204020204" charset="-122"/>
              </a:rPr>
              <a:t>系统收集平台资料</a:t>
            </a:r>
          </a:p>
        </p:txBody>
      </p:sp>
      <p:sp>
        <p:nvSpPr>
          <p:cNvPr id="55" name="step-02-tag-1"/>
          <p:cNvSpPr>
            <a:spLocks noGrp="1"/>
          </p:cNvSpPr>
          <p:nvPr/>
        </p:nvSpPr>
        <p:spPr>
          <a:xfrm>
            <a:off x="7505700" y="2254250"/>
            <a:ext cx="8382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微软雅黑" panose="020B0503020204020204" charset="-122"/>
                <a:cs typeface="Calibri" panose="020F0502020204030204"/>
              </a:rPr>
              <a:t>Hardware</a:t>
            </a:r>
          </a:p>
        </p:txBody>
      </p:sp>
      <p:sp>
        <p:nvSpPr>
          <p:cNvPr id="56" name="step-02-tag-2"/>
          <p:cNvSpPr>
            <a:spLocks noGrp="1"/>
          </p:cNvSpPr>
          <p:nvPr/>
        </p:nvSpPr>
        <p:spPr>
          <a:xfrm>
            <a:off x="8391525" y="2254250"/>
            <a:ext cx="10668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微软雅黑" panose="020B0503020204020204" charset="-122"/>
                <a:cs typeface="Calibri" panose="020F0502020204030204"/>
              </a:rPr>
              <a:t>Programming</a:t>
            </a:r>
          </a:p>
        </p:txBody>
      </p:sp>
      <p:sp>
        <p:nvSpPr>
          <p:cNvPr id="58" name="step-02-tag-4"/>
          <p:cNvSpPr>
            <a:spLocks noGrp="1"/>
          </p:cNvSpPr>
          <p:nvPr/>
        </p:nvSpPr>
        <p:spPr>
          <a:xfrm>
            <a:off x="7505700" y="2463800"/>
            <a:ext cx="9906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微软雅黑" panose="020B0503020204020204" charset="-122"/>
                <a:cs typeface="Calibri" panose="020F0502020204030204"/>
              </a:rPr>
              <a:t>Environment</a:t>
            </a:r>
          </a:p>
        </p:txBody>
      </p:sp>
      <p:sp>
        <p:nvSpPr>
          <p:cNvPr id="59" name="step-02-tag-5"/>
          <p:cNvSpPr>
            <a:spLocks noGrp="1"/>
          </p:cNvSpPr>
          <p:nvPr/>
        </p:nvSpPr>
        <p:spPr>
          <a:xfrm>
            <a:off x="8543925" y="2463800"/>
            <a:ext cx="81915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微软雅黑" panose="020B0503020204020204" charset="-122"/>
                <a:cs typeface="Calibri" panose="020F0502020204030204"/>
              </a:rPr>
              <a:t>Profiler</a:t>
            </a:r>
          </a:p>
        </p:txBody>
      </p:sp>
      <p:sp>
        <p:nvSpPr>
          <p:cNvPr id="60" name="step-02-tag-6"/>
          <p:cNvSpPr>
            <a:spLocks noGrp="1"/>
          </p:cNvSpPr>
          <p:nvPr/>
        </p:nvSpPr>
        <p:spPr>
          <a:xfrm>
            <a:off x="9410700" y="2463800"/>
            <a:ext cx="9906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微软雅黑" panose="020B0503020204020204" charset="-122"/>
                <a:cs typeface="Calibri" panose="020F0502020204030204"/>
              </a:rPr>
              <a:t>Optimization</a:t>
            </a:r>
          </a:p>
        </p:txBody>
      </p:sp>
      <p:sp>
        <p:nvSpPr>
          <p:cNvPr id="63" name="phase-b-surface"/>
          <p:cNvSpPr>
            <a:spLocks noGrp="1"/>
          </p:cNvSpPr>
          <p:nvPr/>
        </p:nvSpPr>
        <p:spPr>
          <a:xfrm>
            <a:off x="1295400" y="2892425"/>
            <a:ext cx="9601200" cy="971550"/>
          </a:xfrm>
          <a:prstGeom prst="rect">
            <a:avLst/>
          </a:prstGeom>
          <a:solidFill>
            <a:srgbClr val="EAF3F1"/>
          </a:solidFill>
          <a:ln w="9525">
            <a:solidFill>
              <a:srgbClr val="D6DEE6"/>
            </a:solidFill>
            <a:prstDash val="solid"/>
          </a:ln>
          <a:effectLst/>
        </p:spPr>
      </p:sp>
      <p:sp>
        <p:nvSpPr>
          <p:cNvPr id="64" name="phase-b-accent"/>
          <p:cNvSpPr>
            <a:spLocks noGrp="1"/>
          </p:cNvSpPr>
          <p:nvPr/>
        </p:nvSpPr>
        <p:spPr>
          <a:xfrm>
            <a:off x="1295400" y="2892425"/>
            <a:ext cx="57150" cy="971550"/>
          </a:xfrm>
          <a:prstGeom prst="roundRect">
            <a:avLst>
              <a:gd name="adj" fmla="val 50000"/>
            </a:avLst>
          </a:prstGeom>
          <a:solidFill>
            <a:srgbClr val="4F8A83"/>
          </a:solidFill>
          <a:ln w="9525">
            <a:solidFill>
              <a:srgbClr val="4F8A83"/>
            </a:solidFill>
            <a:prstDash val="solid"/>
          </a:ln>
          <a:effectLst/>
        </p:spPr>
      </p:sp>
      <p:sp>
        <p:nvSpPr>
          <p:cNvPr id="65" name="phase-b-letter"/>
          <p:cNvSpPr>
            <a:spLocks noGrp="1"/>
          </p:cNvSpPr>
          <p:nvPr/>
        </p:nvSpPr>
        <p:spPr>
          <a:xfrm>
            <a:off x="1438275" y="3016250"/>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B</a:t>
            </a:r>
          </a:p>
        </p:txBody>
      </p:sp>
      <p:sp>
        <p:nvSpPr>
          <p:cNvPr id="67" name="phase-b-chinese"/>
          <p:cNvSpPr>
            <a:spLocks noGrp="1"/>
          </p:cNvSpPr>
          <p:nvPr/>
        </p:nvSpPr>
        <p:spPr>
          <a:xfrm>
            <a:off x="1552575" y="325437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0B8B99"/>
                </a:solidFill>
                <a:latin typeface="微软雅黑" panose="020B0503020204020204" charset="-122"/>
                <a:ea typeface="微软雅黑" panose="020B0503020204020204" charset="-122"/>
                <a:cs typeface="微软雅黑" panose="020B0503020204020204" charset="-122"/>
              </a:defRPr>
            </a:pPr>
            <a:r>
              <a:rPr sz="1275" b="1">
                <a:solidFill>
                  <a:srgbClr val="4F8A83"/>
                </a:solidFill>
                <a:latin typeface="Arial" panose="020B0604020202020204" pitchFamily="34" charset="0"/>
                <a:ea typeface="微软雅黑" panose="020B0503020204020204" charset="-122"/>
                <a:cs typeface="微软雅黑" panose="020B0503020204020204" charset="-122"/>
              </a:rPr>
              <a:t>事实验证</a:t>
            </a:r>
          </a:p>
        </p:txBody>
      </p:sp>
      <p:sp>
        <p:nvSpPr>
          <p:cNvPr id="68" name="phase-b-sidebar-divider"/>
          <p:cNvSpPr>
            <a:spLocks noGrp="1"/>
          </p:cNvSpPr>
          <p:nvPr/>
        </p:nvSpPr>
        <p:spPr>
          <a:xfrm>
            <a:off x="2847975" y="2987675"/>
            <a:ext cx="9525" cy="9525"/>
          </a:xfrm>
          <a:prstGeom prst="rect">
            <a:avLst/>
          </a:prstGeom>
          <a:solidFill>
            <a:srgbClr val="EEF2F5"/>
          </a:solidFill>
          <a:ln w="9525">
            <a:solidFill>
              <a:srgbClr val="D6DEE6"/>
            </a:solidFill>
            <a:prstDash val="solid"/>
          </a:ln>
          <a:effectLst/>
        </p:spPr>
      </p:sp>
      <p:sp>
        <p:nvSpPr>
          <p:cNvPr id="69" name="phase-b-step-divider"/>
          <p:cNvSpPr>
            <a:spLocks noGrp="1"/>
          </p:cNvSpPr>
          <p:nvPr/>
        </p:nvSpPr>
        <p:spPr>
          <a:xfrm>
            <a:off x="6924675" y="2978150"/>
            <a:ext cx="9525" cy="9525"/>
          </a:xfrm>
          <a:prstGeom prst="rect">
            <a:avLst/>
          </a:prstGeom>
          <a:solidFill>
            <a:srgbClr val="EAF3F1"/>
          </a:solidFill>
          <a:ln w="9525">
            <a:solidFill>
              <a:srgbClr val="D6DEE6"/>
            </a:solidFill>
            <a:prstDash val="solid"/>
          </a:ln>
          <a:effectLst/>
        </p:spPr>
      </p:sp>
      <p:sp>
        <p:nvSpPr>
          <p:cNvPr id="70" name="step-03-number"/>
          <p:cNvSpPr>
            <a:spLocks noGrp="1"/>
          </p:cNvSpPr>
          <p:nvPr/>
        </p:nvSpPr>
        <p:spPr>
          <a:xfrm>
            <a:off x="3009900" y="297815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a:solidFill>
                  <a:schemeClr val="tx1">
                    <a:lumMod val="85000"/>
                    <a:lumOff val="15000"/>
                  </a:schemeClr>
                </a:solidFill>
                <a:latin typeface="Arial" panose="020B0604020202020204" pitchFamily="34" charset="0"/>
                <a:ea typeface="微软雅黑" panose="020B0503020204020204" charset="-122"/>
                <a:cs typeface="Calibri" panose="020F0502020204030204"/>
              </a:rPr>
              <a:t>03</a:t>
            </a:r>
          </a:p>
        </p:txBody>
      </p:sp>
      <p:sp>
        <p:nvSpPr>
          <p:cNvPr id="71" name="step-03-title"/>
          <p:cNvSpPr>
            <a:spLocks noGrp="1"/>
          </p:cNvSpPr>
          <p:nvPr/>
        </p:nvSpPr>
        <p:spPr>
          <a:xfrm>
            <a:off x="3429000" y="2959100"/>
            <a:ext cx="2000250" cy="190500"/>
          </a:xfrm>
          <a:prstGeom prst="rect">
            <a:avLst/>
          </a:prstGeom>
          <a:noFill/>
          <a:ln w="0">
            <a:noFill/>
            <a:prstDash val="solid"/>
          </a:ln>
          <a:effectLst/>
        </p:spPr>
        <p:txBody>
          <a:bodyPr wrap="square" lIns="0" tIns="0" rIns="0" bIns="0" anchor="ctr">
            <a:normAutofit/>
          </a:bodyPr>
          <a:lstStyle/>
          <a:p>
            <a:pPr algn="l">
              <a:defRPr sz="1125" b="1">
                <a:solidFill>
                  <a:srgbClr val="0B8B99"/>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微软雅黑" panose="020B0503020204020204" charset="-122"/>
                <a:cs typeface="微软雅黑" panose="020B0503020204020204" charset="-122"/>
              </a:rPr>
              <a:t>环境验证</a:t>
            </a:r>
          </a:p>
        </p:txBody>
      </p:sp>
      <p:sp>
        <p:nvSpPr>
          <p:cNvPr id="72" name="step-03-subtitle"/>
          <p:cNvSpPr>
            <a:spLocks noGrp="1"/>
          </p:cNvSpPr>
          <p:nvPr/>
        </p:nvSpPr>
        <p:spPr>
          <a:xfrm>
            <a:off x="3429000" y="314960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微软雅黑" panose="020B0503020204020204" charset="-122"/>
                <a:cs typeface="微软雅黑" panose="020B0503020204020204" charset="-122"/>
              </a:rPr>
              <a:t>真实环境与工具链检测</a:t>
            </a:r>
          </a:p>
        </p:txBody>
      </p:sp>
      <p:sp>
        <p:nvSpPr>
          <p:cNvPr id="74" name="step-03-tag-1"/>
          <p:cNvSpPr>
            <a:spLocks noGrp="1"/>
          </p:cNvSpPr>
          <p:nvPr/>
        </p:nvSpPr>
        <p:spPr>
          <a:xfrm>
            <a:off x="3448050" y="3321050"/>
            <a:ext cx="5524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微软雅黑" panose="020B0503020204020204" charset="-122"/>
                <a:cs typeface="Calibri" panose="020F0502020204030204"/>
              </a:rPr>
              <a:t>Device</a:t>
            </a:r>
          </a:p>
        </p:txBody>
      </p:sp>
      <p:sp>
        <p:nvSpPr>
          <p:cNvPr id="75" name="step-03-tag-2"/>
          <p:cNvSpPr>
            <a:spLocks noGrp="1"/>
          </p:cNvSpPr>
          <p:nvPr/>
        </p:nvSpPr>
        <p:spPr>
          <a:xfrm>
            <a:off x="4048125" y="3321050"/>
            <a:ext cx="6286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微软雅黑" panose="020B0503020204020204" charset="-122"/>
                <a:cs typeface="Calibri" panose="020F0502020204030204"/>
              </a:rPr>
              <a:t>Compiler</a:t>
            </a:r>
          </a:p>
        </p:txBody>
      </p:sp>
      <p:sp>
        <p:nvSpPr>
          <p:cNvPr id="76" name="step-03-tag-3"/>
          <p:cNvSpPr>
            <a:spLocks noGrp="1"/>
          </p:cNvSpPr>
          <p:nvPr/>
        </p:nvSpPr>
        <p:spPr>
          <a:xfrm>
            <a:off x="4724400" y="3321050"/>
            <a:ext cx="57150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微软雅黑" panose="020B0503020204020204" charset="-122"/>
                <a:cs typeface="Calibri" panose="020F0502020204030204"/>
              </a:rPr>
              <a:t>Runtime</a:t>
            </a:r>
          </a:p>
        </p:txBody>
      </p:sp>
      <p:sp>
        <p:nvSpPr>
          <p:cNvPr id="77" name="step-03-tag-4"/>
          <p:cNvSpPr>
            <a:spLocks noGrp="1"/>
          </p:cNvSpPr>
          <p:nvPr/>
        </p:nvSpPr>
        <p:spPr>
          <a:xfrm>
            <a:off x="5343525" y="3321050"/>
            <a:ext cx="72390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微软雅黑" panose="020B0503020204020204" charset="-122"/>
                <a:cs typeface="Calibri" panose="020F0502020204030204"/>
              </a:rPr>
              <a:t>Framework</a:t>
            </a:r>
          </a:p>
        </p:txBody>
      </p:sp>
      <p:sp>
        <p:nvSpPr>
          <p:cNvPr id="78" name="step-03-tag-5"/>
          <p:cNvSpPr>
            <a:spLocks noGrp="1"/>
          </p:cNvSpPr>
          <p:nvPr/>
        </p:nvSpPr>
        <p:spPr>
          <a:xfrm>
            <a:off x="6115050" y="3321050"/>
            <a:ext cx="5524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微软雅黑" panose="020B0503020204020204" charset="-122"/>
                <a:cs typeface="Calibri" panose="020F0502020204030204"/>
              </a:rPr>
              <a:t>Profiler</a:t>
            </a:r>
          </a:p>
        </p:txBody>
      </p:sp>
      <p:sp>
        <p:nvSpPr>
          <p:cNvPr id="81" name="step-04-number"/>
          <p:cNvSpPr>
            <a:spLocks noGrp="1"/>
          </p:cNvSpPr>
          <p:nvPr/>
        </p:nvSpPr>
        <p:spPr>
          <a:xfrm>
            <a:off x="7067550" y="297815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04</a:t>
            </a:r>
          </a:p>
        </p:txBody>
      </p:sp>
      <p:sp>
        <p:nvSpPr>
          <p:cNvPr id="82" name="step-04-title"/>
          <p:cNvSpPr>
            <a:spLocks noGrp="1"/>
          </p:cNvSpPr>
          <p:nvPr/>
        </p:nvSpPr>
        <p:spPr>
          <a:xfrm>
            <a:off x="7486650" y="2959100"/>
            <a:ext cx="2000250" cy="190500"/>
          </a:xfrm>
          <a:prstGeom prst="rect">
            <a:avLst/>
          </a:prstGeom>
          <a:noFill/>
          <a:ln w="0">
            <a:noFill/>
            <a:prstDash val="solid"/>
          </a:ln>
          <a:effectLst/>
        </p:spPr>
        <p:txBody>
          <a:bodyPr wrap="square" lIns="0" tIns="0" rIns="0" bIns="0" anchor="ctr">
            <a:normAutofit/>
          </a:bodyPr>
          <a:lstStyle/>
          <a:p>
            <a:pPr algn="l">
              <a:defRPr sz="1125" b="1">
                <a:solidFill>
                  <a:srgbClr val="0B8B99"/>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微软雅黑" panose="020B0503020204020204" charset="-122"/>
                <a:cs typeface="微软雅黑" panose="020B0503020204020204" charset="-122"/>
              </a:rPr>
              <a:t>微基准</a:t>
            </a:r>
          </a:p>
        </p:txBody>
      </p:sp>
      <p:sp>
        <p:nvSpPr>
          <p:cNvPr id="83" name="step-04-subtitle"/>
          <p:cNvSpPr>
            <a:spLocks noGrp="1"/>
          </p:cNvSpPr>
          <p:nvPr/>
        </p:nvSpPr>
        <p:spPr>
          <a:xfrm>
            <a:off x="7486650" y="314960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smtClean="0">
                <a:solidFill>
                  <a:srgbClr val="2F3A45"/>
                </a:solidFill>
                <a:latin typeface="Arial" panose="020B0604020202020204" pitchFamily="34" charset="0"/>
                <a:ea typeface="微软雅黑" panose="020B0503020204020204" charset="-122"/>
                <a:cs typeface="微软雅黑" panose="020B0503020204020204" charset="-122"/>
              </a:rPr>
              <a:t>验证</a:t>
            </a:r>
            <a:r>
              <a:rPr lang="zh-CN" altLang="en-US" sz="825" b="1" dirty="0" smtClean="0">
                <a:solidFill>
                  <a:srgbClr val="2F3A45"/>
                </a:solidFill>
                <a:latin typeface="Arial" panose="020B0604020202020204" pitchFamily="34" charset="0"/>
                <a:ea typeface="微软雅黑" panose="020B0503020204020204" charset="-122"/>
                <a:cs typeface="微软雅黑" panose="020B0503020204020204" charset="-122"/>
              </a:rPr>
              <a:t>平台实际性能</a:t>
            </a:r>
            <a:endParaRPr sz="82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84" name="step-04-tag-1"/>
          <p:cNvSpPr>
            <a:spLocks noGrp="1"/>
          </p:cNvSpPr>
          <p:nvPr/>
        </p:nvSpPr>
        <p:spPr>
          <a:xfrm>
            <a:off x="7505700" y="3302000"/>
            <a:ext cx="8382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微软雅黑" panose="020B0503020204020204" charset="-122"/>
                <a:cs typeface="Calibri" panose="020F0502020204030204"/>
              </a:rPr>
              <a:t>Memory</a:t>
            </a:r>
          </a:p>
        </p:txBody>
      </p:sp>
      <p:sp>
        <p:nvSpPr>
          <p:cNvPr id="85" name="step-04-tag-2"/>
          <p:cNvSpPr>
            <a:spLocks noGrp="1"/>
          </p:cNvSpPr>
          <p:nvPr/>
        </p:nvSpPr>
        <p:spPr>
          <a:xfrm>
            <a:off x="8391525" y="3302000"/>
            <a:ext cx="8763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微软雅黑" panose="020B0503020204020204" charset="-122"/>
                <a:cs typeface="Calibri" panose="020F0502020204030204"/>
              </a:rPr>
              <a:t>Compute</a:t>
            </a:r>
          </a:p>
        </p:txBody>
      </p:sp>
      <p:sp>
        <p:nvSpPr>
          <p:cNvPr id="86" name="step-04-tag-3"/>
          <p:cNvSpPr>
            <a:spLocks noGrp="1"/>
          </p:cNvSpPr>
          <p:nvPr/>
        </p:nvSpPr>
        <p:spPr>
          <a:xfrm>
            <a:off x="9315450" y="3302000"/>
            <a:ext cx="10287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微软雅黑" panose="020B0503020204020204" charset="-122"/>
                <a:cs typeface="Calibri" panose="020F0502020204030204"/>
              </a:rPr>
              <a:t>Reduction</a:t>
            </a:r>
          </a:p>
        </p:txBody>
      </p:sp>
      <p:sp>
        <p:nvSpPr>
          <p:cNvPr id="87" name="step-04-tag-4"/>
          <p:cNvSpPr>
            <a:spLocks noGrp="1"/>
          </p:cNvSpPr>
          <p:nvPr/>
        </p:nvSpPr>
        <p:spPr>
          <a:xfrm>
            <a:off x="7505700" y="3511550"/>
            <a:ext cx="8382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微软雅黑" panose="020B0503020204020204" charset="-122"/>
                <a:cs typeface="Calibri" panose="020F0502020204030204"/>
              </a:rPr>
              <a:t>Layout</a:t>
            </a:r>
          </a:p>
        </p:txBody>
      </p:sp>
      <p:sp>
        <p:nvSpPr>
          <p:cNvPr id="88" name="step-04-tag-5"/>
          <p:cNvSpPr>
            <a:spLocks noGrp="1"/>
          </p:cNvSpPr>
          <p:nvPr/>
        </p:nvSpPr>
        <p:spPr>
          <a:xfrm>
            <a:off x="8391525" y="3511550"/>
            <a:ext cx="89535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微软雅黑" panose="020B0503020204020204" charset="-122"/>
                <a:cs typeface="Calibri" panose="020F0502020204030204"/>
              </a:rPr>
              <a:t>Pipeline</a:t>
            </a:r>
          </a:p>
        </p:txBody>
      </p:sp>
      <p:sp>
        <p:nvSpPr>
          <p:cNvPr id="89" name="step-04-tag-6"/>
          <p:cNvSpPr>
            <a:spLocks noGrp="1"/>
          </p:cNvSpPr>
          <p:nvPr/>
        </p:nvSpPr>
        <p:spPr>
          <a:xfrm>
            <a:off x="9334500" y="3511550"/>
            <a:ext cx="131445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微软雅黑" panose="020B0503020204020204" charset="-122"/>
                <a:cs typeface="Calibri" panose="020F0502020204030204"/>
              </a:rPr>
              <a:t>Synchronization</a:t>
            </a:r>
          </a:p>
        </p:txBody>
      </p:sp>
      <p:sp>
        <p:nvSpPr>
          <p:cNvPr id="92" name="phase-c-surface"/>
          <p:cNvSpPr>
            <a:spLocks noGrp="1"/>
          </p:cNvSpPr>
          <p:nvPr/>
        </p:nvSpPr>
        <p:spPr>
          <a:xfrm>
            <a:off x="1295400" y="3911600"/>
            <a:ext cx="9601200" cy="1000125"/>
          </a:xfrm>
          <a:prstGeom prst="rect">
            <a:avLst/>
          </a:prstGeom>
          <a:solidFill>
            <a:srgbClr val="EEF2F5"/>
          </a:solidFill>
          <a:ln w="9525">
            <a:solidFill>
              <a:srgbClr val="D6DEE6"/>
            </a:solidFill>
            <a:prstDash val="solid"/>
          </a:ln>
          <a:effectLst/>
        </p:spPr>
      </p:sp>
      <p:sp>
        <p:nvSpPr>
          <p:cNvPr id="93" name="phase-c-accent"/>
          <p:cNvSpPr>
            <a:spLocks noGrp="1"/>
          </p:cNvSpPr>
          <p:nvPr/>
        </p:nvSpPr>
        <p:spPr>
          <a:xfrm>
            <a:off x="1295400" y="3911600"/>
            <a:ext cx="57150" cy="1000125"/>
          </a:xfrm>
          <a:prstGeom prst="roundRect">
            <a:avLst>
              <a:gd name="adj" fmla="val 50000"/>
            </a:avLst>
          </a:prstGeom>
          <a:solidFill>
            <a:srgbClr val="5B7188"/>
          </a:solidFill>
          <a:ln w="9525">
            <a:solidFill>
              <a:srgbClr val="294A6D"/>
            </a:solidFill>
            <a:prstDash val="solid"/>
          </a:ln>
          <a:effectLst/>
        </p:spPr>
      </p:sp>
      <p:sp>
        <p:nvSpPr>
          <p:cNvPr id="94" name="phase-c-letter"/>
          <p:cNvSpPr>
            <a:spLocks noGrp="1"/>
          </p:cNvSpPr>
          <p:nvPr/>
        </p:nvSpPr>
        <p:spPr>
          <a:xfrm>
            <a:off x="1438275" y="4035425"/>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C</a:t>
            </a:r>
          </a:p>
        </p:txBody>
      </p:sp>
      <p:sp>
        <p:nvSpPr>
          <p:cNvPr id="96" name="phase-c-chinese"/>
          <p:cNvSpPr>
            <a:spLocks noGrp="1"/>
          </p:cNvSpPr>
          <p:nvPr/>
        </p:nvSpPr>
        <p:spPr>
          <a:xfrm>
            <a:off x="1476375" y="430212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57C5"/>
                </a:solidFill>
                <a:latin typeface="微软雅黑" panose="020B0503020204020204" charset="-122"/>
                <a:ea typeface="微软雅黑" panose="020B0503020204020204" charset="-122"/>
                <a:cs typeface="微软雅黑" panose="020B0503020204020204" charset="-122"/>
              </a:defRPr>
            </a:pPr>
            <a:r>
              <a:rPr sz="1275" b="1" dirty="0">
                <a:solidFill>
                  <a:srgbClr val="294A6D"/>
                </a:solidFill>
                <a:latin typeface="Arial" panose="020B0604020202020204" pitchFamily="34" charset="0"/>
                <a:ea typeface="微软雅黑" panose="020B0503020204020204" charset="-122"/>
                <a:cs typeface="微软雅黑" panose="020B0503020204020204" charset="-122"/>
              </a:rPr>
              <a:t>Skill </a:t>
            </a:r>
            <a:r>
              <a:rPr sz="1275" b="1" dirty="0" err="1">
                <a:solidFill>
                  <a:srgbClr val="294A6D"/>
                </a:solidFill>
                <a:latin typeface="Arial" panose="020B0604020202020204" pitchFamily="34" charset="0"/>
                <a:ea typeface="微软雅黑" panose="020B0503020204020204" charset="-122"/>
                <a:cs typeface="微软雅黑" panose="020B0503020204020204" charset="-122"/>
              </a:rPr>
              <a:t>构建</a:t>
            </a:r>
            <a:endParaRPr sz="1275" b="1"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97" name="phase-c-sidebar-divider"/>
          <p:cNvSpPr>
            <a:spLocks noGrp="1"/>
          </p:cNvSpPr>
          <p:nvPr/>
        </p:nvSpPr>
        <p:spPr>
          <a:xfrm>
            <a:off x="2847975" y="4006850"/>
            <a:ext cx="9525" cy="9525"/>
          </a:xfrm>
          <a:prstGeom prst="rect">
            <a:avLst/>
          </a:prstGeom>
          <a:solidFill>
            <a:srgbClr val="EEF2F5"/>
          </a:solidFill>
          <a:ln w="9525">
            <a:solidFill>
              <a:srgbClr val="D6DEE6"/>
            </a:solidFill>
            <a:prstDash val="solid"/>
          </a:ln>
          <a:effectLst/>
        </p:spPr>
      </p:sp>
      <p:sp>
        <p:nvSpPr>
          <p:cNvPr id="98" name="phase-c-step-divider"/>
          <p:cNvSpPr>
            <a:spLocks noGrp="1"/>
          </p:cNvSpPr>
          <p:nvPr/>
        </p:nvSpPr>
        <p:spPr>
          <a:xfrm>
            <a:off x="6924675" y="4006850"/>
            <a:ext cx="9525" cy="9525"/>
          </a:xfrm>
          <a:prstGeom prst="rect">
            <a:avLst/>
          </a:prstGeom>
          <a:solidFill>
            <a:srgbClr val="EEF2F5"/>
          </a:solidFill>
          <a:ln w="9525">
            <a:solidFill>
              <a:srgbClr val="D6DEE6"/>
            </a:solidFill>
            <a:prstDash val="solid"/>
          </a:ln>
          <a:effectLst/>
        </p:spPr>
      </p:sp>
      <p:sp>
        <p:nvSpPr>
          <p:cNvPr id="99" name="step-05-number"/>
          <p:cNvSpPr>
            <a:spLocks noGrp="1"/>
          </p:cNvSpPr>
          <p:nvPr/>
        </p:nvSpPr>
        <p:spPr>
          <a:xfrm>
            <a:off x="3005965" y="419417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05</a:t>
            </a:r>
          </a:p>
        </p:txBody>
      </p:sp>
      <p:sp>
        <p:nvSpPr>
          <p:cNvPr id="100" name="step-05-title"/>
          <p:cNvSpPr>
            <a:spLocks noGrp="1"/>
          </p:cNvSpPr>
          <p:nvPr/>
        </p:nvSpPr>
        <p:spPr>
          <a:xfrm>
            <a:off x="3425065" y="417512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dirty="0">
                <a:solidFill>
                  <a:srgbClr val="294A6D"/>
                </a:solidFill>
                <a:latin typeface="Arial" panose="020B0604020202020204" pitchFamily="34" charset="0"/>
                <a:ea typeface="微软雅黑" panose="020B0503020204020204" charset="-122"/>
                <a:cs typeface="微软雅黑" panose="020B0503020204020204" charset="-122"/>
              </a:rPr>
              <a:t>Platform Knowledge</a:t>
            </a:r>
          </a:p>
        </p:txBody>
      </p:sp>
      <p:sp>
        <p:nvSpPr>
          <p:cNvPr id="101" name="step-05-subtitle"/>
          <p:cNvSpPr>
            <a:spLocks noGrp="1"/>
          </p:cNvSpPr>
          <p:nvPr/>
        </p:nvSpPr>
        <p:spPr>
          <a:xfrm>
            <a:off x="3425065" y="436562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lang="zh-CN" altLang="en-US" sz="825" b="1" dirty="0" smtClean="0">
                <a:solidFill>
                  <a:srgbClr val="2F3A45"/>
                </a:solidFill>
                <a:latin typeface="Arial" panose="020B0604020202020204" pitchFamily="34" charset="0"/>
                <a:ea typeface="微软雅黑" panose="020B0503020204020204" charset="-122"/>
                <a:cs typeface="微软雅黑" panose="020B0503020204020204" charset="-122"/>
              </a:rPr>
              <a:t>纳入平台</a:t>
            </a:r>
            <a:r>
              <a:rPr sz="825" b="1" dirty="0" err="1" smtClean="0">
                <a:solidFill>
                  <a:srgbClr val="2F3A45"/>
                </a:solidFill>
                <a:latin typeface="Arial" panose="020B0604020202020204" pitchFamily="34" charset="0"/>
                <a:ea typeface="微软雅黑" panose="020B0503020204020204" charset="-122"/>
                <a:cs typeface="微软雅黑" panose="020B0503020204020204" charset="-122"/>
              </a:rPr>
              <a:t>知识</a:t>
            </a:r>
            <a:r>
              <a:rPr lang="zh-CN" altLang="en-US" sz="825" b="1" dirty="0" smtClean="0">
                <a:solidFill>
                  <a:srgbClr val="2F3A45"/>
                </a:solidFill>
                <a:latin typeface="Arial" panose="020B0604020202020204" pitchFamily="34" charset="0"/>
                <a:ea typeface="微软雅黑" panose="020B0503020204020204" charset="-122"/>
                <a:cs typeface="微软雅黑" panose="020B0503020204020204" charset="-122"/>
              </a:rPr>
              <a:t>库</a:t>
            </a:r>
            <a:endParaRPr sz="82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07" name="step-06-number"/>
          <p:cNvSpPr>
            <a:spLocks noGrp="1"/>
          </p:cNvSpPr>
          <p:nvPr/>
        </p:nvSpPr>
        <p:spPr>
          <a:xfrm>
            <a:off x="7063615" y="419417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06</a:t>
            </a:r>
          </a:p>
        </p:txBody>
      </p:sp>
      <p:sp>
        <p:nvSpPr>
          <p:cNvPr id="108" name="step-06-title"/>
          <p:cNvSpPr>
            <a:spLocks noGrp="1"/>
          </p:cNvSpPr>
          <p:nvPr/>
        </p:nvSpPr>
        <p:spPr>
          <a:xfrm>
            <a:off x="7482715" y="417512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dirty="0">
                <a:solidFill>
                  <a:srgbClr val="294A6D"/>
                </a:solidFill>
                <a:latin typeface="Arial" panose="020B0604020202020204" pitchFamily="34" charset="0"/>
                <a:ea typeface="微软雅黑" panose="020B0503020204020204" charset="-122"/>
                <a:cs typeface="微软雅黑" panose="020B0503020204020204" charset="-122"/>
              </a:rPr>
              <a:t>Workflow </a:t>
            </a:r>
            <a:r>
              <a:rPr lang="zh-CN" altLang="en-US" sz="1125" b="1" dirty="0">
                <a:solidFill>
                  <a:srgbClr val="294A6D"/>
                </a:solidFill>
                <a:latin typeface="Arial" panose="020B0604020202020204" pitchFamily="34" charset="0"/>
                <a:ea typeface="微软雅黑" panose="020B0503020204020204" charset="-122"/>
                <a:cs typeface="微软雅黑" panose="020B0503020204020204" charset="-122"/>
              </a:rPr>
              <a:t>完善</a:t>
            </a:r>
            <a:endParaRPr sz="1125" b="1"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109" name="step-06-subtitle"/>
          <p:cNvSpPr>
            <a:spLocks noGrp="1"/>
          </p:cNvSpPr>
          <p:nvPr/>
        </p:nvSpPr>
        <p:spPr>
          <a:xfrm>
            <a:off x="7482715" y="4365625"/>
            <a:ext cx="2143125"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a:solidFill>
                  <a:srgbClr val="2F3A45"/>
                </a:solidFill>
                <a:latin typeface="Arial" panose="020B0604020202020204" pitchFamily="34" charset="0"/>
                <a:ea typeface="微软雅黑" panose="020B0503020204020204" charset="-122"/>
                <a:cs typeface="微软雅黑" panose="020B0503020204020204" charset="-122"/>
              </a:rPr>
              <a:t>接入通用</a:t>
            </a:r>
            <a:r>
              <a:rPr sz="825" b="1" dirty="0">
                <a:solidFill>
                  <a:srgbClr val="2F3A45"/>
                </a:solidFill>
                <a:latin typeface="Arial" panose="020B0604020202020204" pitchFamily="34" charset="0"/>
                <a:ea typeface="微软雅黑" panose="020B0503020204020204" charset="-122"/>
                <a:cs typeface="微软雅黑" panose="020B0503020204020204" charset="-122"/>
              </a:rPr>
              <a:t> Workflow</a:t>
            </a:r>
          </a:p>
        </p:txBody>
      </p:sp>
      <p:sp>
        <p:nvSpPr>
          <p:cNvPr id="118" name="phase-d-surface"/>
          <p:cNvSpPr>
            <a:spLocks noGrp="1"/>
          </p:cNvSpPr>
          <p:nvPr/>
        </p:nvSpPr>
        <p:spPr>
          <a:xfrm>
            <a:off x="1295400" y="4959350"/>
            <a:ext cx="9601200" cy="889000"/>
          </a:xfrm>
          <a:prstGeom prst="rect">
            <a:avLst/>
          </a:prstGeom>
          <a:solidFill>
            <a:srgbClr val="EAF3F1"/>
          </a:solidFill>
          <a:ln w="9525">
            <a:solidFill>
              <a:srgbClr val="D6DEE6"/>
            </a:solidFill>
            <a:prstDash val="solid"/>
          </a:ln>
          <a:effectLst/>
        </p:spPr>
      </p:sp>
      <p:sp>
        <p:nvSpPr>
          <p:cNvPr id="119" name="phase-d-accent"/>
          <p:cNvSpPr>
            <a:spLocks noGrp="1"/>
          </p:cNvSpPr>
          <p:nvPr/>
        </p:nvSpPr>
        <p:spPr>
          <a:xfrm>
            <a:off x="1295400" y="4959350"/>
            <a:ext cx="57150" cy="889000"/>
          </a:xfrm>
          <a:prstGeom prst="roundRect">
            <a:avLst>
              <a:gd name="adj" fmla="val 50000"/>
            </a:avLst>
          </a:prstGeom>
          <a:solidFill>
            <a:srgbClr val="4F8A83"/>
          </a:solidFill>
          <a:ln w="9525">
            <a:solidFill>
              <a:srgbClr val="4F8A83"/>
            </a:solidFill>
            <a:prstDash val="solid"/>
          </a:ln>
          <a:effectLst/>
        </p:spPr>
      </p:sp>
      <p:sp>
        <p:nvSpPr>
          <p:cNvPr id="120" name="phase-d-letter"/>
          <p:cNvSpPr>
            <a:spLocks noGrp="1"/>
          </p:cNvSpPr>
          <p:nvPr/>
        </p:nvSpPr>
        <p:spPr>
          <a:xfrm>
            <a:off x="1438275" y="5083175"/>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D</a:t>
            </a:r>
          </a:p>
        </p:txBody>
      </p:sp>
      <p:sp>
        <p:nvSpPr>
          <p:cNvPr id="122" name="phase-d-chinese"/>
          <p:cNvSpPr>
            <a:spLocks noGrp="1"/>
          </p:cNvSpPr>
          <p:nvPr/>
        </p:nvSpPr>
        <p:spPr>
          <a:xfrm>
            <a:off x="1474470" y="5378450"/>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855C"/>
                </a:solidFill>
                <a:latin typeface="微软雅黑" panose="020B0503020204020204" charset="-122"/>
                <a:ea typeface="微软雅黑" panose="020B0503020204020204" charset="-122"/>
                <a:cs typeface="微软雅黑" panose="020B0503020204020204" charset="-122"/>
              </a:defRPr>
            </a:pPr>
            <a:r>
              <a:rPr lang="zh-CN" sz="1275" b="1">
                <a:solidFill>
                  <a:srgbClr val="4F8A83"/>
                </a:solidFill>
                <a:latin typeface="Arial" panose="020B0604020202020204" pitchFamily="34" charset="0"/>
                <a:ea typeface="微软雅黑" panose="020B0503020204020204" charset="-122"/>
                <a:cs typeface="微软雅黑" panose="020B0503020204020204" charset="-122"/>
              </a:rPr>
              <a:t>最终</a:t>
            </a:r>
            <a:r>
              <a:rPr sz="1275" b="1">
                <a:solidFill>
                  <a:srgbClr val="4F8A83"/>
                </a:solidFill>
                <a:latin typeface="Arial" panose="020B0604020202020204" pitchFamily="34" charset="0"/>
                <a:ea typeface="微软雅黑" panose="020B0503020204020204" charset="-122"/>
                <a:cs typeface="微软雅黑" panose="020B0503020204020204" charset="-122"/>
              </a:rPr>
              <a:t>验收</a:t>
            </a:r>
          </a:p>
        </p:txBody>
      </p:sp>
      <p:sp>
        <p:nvSpPr>
          <p:cNvPr id="123" name="phase-d-sidebar-divider"/>
          <p:cNvSpPr>
            <a:spLocks noGrp="1"/>
          </p:cNvSpPr>
          <p:nvPr/>
        </p:nvSpPr>
        <p:spPr>
          <a:xfrm>
            <a:off x="2847975" y="5054600"/>
            <a:ext cx="9525" cy="9525"/>
          </a:xfrm>
          <a:prstGeom prst="rect">
            <a:avLst/>
          </a:prstGeom>
          <a:solidFill>
            <a:srgbClr val="EEF2F5"/>
          </a:solidFill>
          <a:ln w="9525">
            <a:solidFill>
              <a:srgbClr val="D6DEE6"/>
            </a:solidFill>
            <a:prstDash val="solid"/>
          </a:ln>
          <a:effectLst/>
        </p:spPr>
      </p:sp>
      <p:sp>
        <p:nvSpPr>
          <p:cNvPr id="124" name="phase-d-step-divider"/>
          <p:cNvSpPr>
            <a:spLocks noGrp="1"/>
          </p:cNvSpPr>
          <p:nvPr/>
        </p:nvSpPr>
        <p:spPr>
          <a:xfrm>
            <a:off x="6924675" y="5054600"/>
            <a:ext cx="9525" cy="9525"/>
          </a:xfrm>
          <a:prstGeom prst="rect">
            <a:avLst/>
          </a:prstGeom>
          <a:solidFill>
            <a:srgbClr val="EAF3F1"/>
          </a:solidFill>
          <a:ln w="9525">
            <a:solidFill>
              <a:srgbClr val="D6DEE6"/>
            </a:solidFill>
            <a:prstDash val="solid"/>
          </a:ln>
          <a:effectLst/>
        </p:spPr>
      </p:sp>
      <p:sp>
        <p:nvSpPr>
          <p:cNvPr id="125" name="step-07-number"/>
          <p:cNvSpPr>
            <a:spLocks noGrp="1"/>
          </p:cNvSpPr>
          <p:nvPr/>
        </p:nvSpPr>
        <p:spPr>
          <a:xfrm>
            <a:off x="3009900" y="505460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07</a:t>
            </a:r>
          </a:p>
        </p:txBody>
      </p:sp>
      <p:sp>
        <p:nvSpPr>
          <p:cNvPr id="126" name="step-07-title"/>
          <p:cNvSpPr>
            <a:spLocks noGrp="1"/>
          </p:cNvSpPr>
          <p:nvPr/>
        </p:nvSpPr>
        <p:spPr>
          <a:xfrm>
            <a:off x="3429000" y="5035550"/>
            <a:ext cx="2000250" cy="190500"/>
          </a:xfrm>
          <a:prstGeom prst="rect">
            <a:avLst/>
          </a:prstGeom>
          <a:noFill/>
          <a:ln w="0">
            <a:noFill/>
            <a:prstDash val="solid"/>
          </a:ln>
          <a:effectLst/>
        </p:spPr>
        <p:txBody>
          <a:bodyPr wrap="square" lIns="0" tIns="0" rIns="0" bIns="0" anchor="ctr">
            <a:normAutofit/>
          </a:bodyPr>
          <a:lstStyle/>
          <a:p>
            <a:pPr algn="l">
              <a:defRPr sz="1125" b="1">
                <a:solidFill>
                  <a:srgbClr val="14855C"/>
                </a:solidFill>
                <a:latin typeface="微软雅黑" panose="020B0503020204020204" charset="-122"/>
                <a:ea typeface="微软雅黑" panose="020B0503020204020204" charset="-122"/>
                <a:cs typeface="微软雅黑" panose="020B0503020204020204" charset="-122"/>
              </a:defRPr>
            </a:pPr>
            <a:r>
              <a:rPr sz="1125" b="1" dirty="0" err="1">
                <a:solidFill>
                  <a:srgbClr val="4F8A83"/>
                </a:solidFill>
                <a:latin typeface="Arial" panose="020B0604020202020204" pitchFamily="34" charset="0"/>
                <a:ea typeface="微软雅黑" panose="020B0503020204020204" charset="-122"/>
                <a:cs typeface="微软雅黑" panose="020B0503020204020204" charset="-122"/>
              </a:rPr>
              <a:t>典型算子验证</a:t>
            </a:r>
            <a:endParaRPr sz="1125" b="1" dirty="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128" name="step-07-operator-1"/>
          <p:cNvSpPr>
            <a:spLocks noGrp="1"/>
          </p:cNvSpPr>
          <p:nvPr/>
        </p:nvSpPr>
        <p:spPr>
          <a:xfrm>
            <a:off x="3429000"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lnSpcReduction="10000"/>
          </a:bodyPr>
          <a:lstStyle/>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微软雅黑" panose="020B0503020204020204" charset="-122"/>
                <a:cs typeface="Calibri" panose="020F0502020204030204"/>
              </a:rPr>
              <a:t>LayerNorm</a:t>
            </a:r>
          </a:p>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微软雅黑" panose="020B0503020204020204" charset="-122"/>
                <a:cs typeface="Calibri" panose="020F0502020204030204"/>
              </a:rPr>
              <a:t>Memory + Reduction</a:t>
            </a:r>
          </a:p>
        </p:txBody>
      </p:sp>
      <p:sp>
        <p:nvSpPr>
          <p:cNvPr id="129" name="step-07-operator-2"/>
          <p:cNvSpPr>
            <a:spLocks noGrp="1"/>
          </p:cNvSpPr>
          <p:nvPr/>
        </p:nvSpPr>
        <p:spPr>
          <a:xfrm>
            <a:off x="4543425"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fontScale="98375" lnSpcReduction="10000"/>
          </a:bodyPr>
          <a:lstStyle/>
          <a:p>
            <a:pPr algn="ctr">
              <a:lnSpc>
                <a:spcPct val="95000"/>
              </a:lnSpc>
              <a:buNone/>
              <a:defRPr sz="690" b="1">
                <a:solidFill>
                  <a:srgbClr val="14855C"/>
                </a:solidFill>
                <a:latin typeface="Calibri" panose="020F0502020204030204"/>
                <a:ea typeface="Calibri" panose="020F0502020204030204"/>
                <a:cs typeface="Calibri" panose="020F0502020204030204"/>
              </a:defRPr>
            </a:pPr>
            <a:r>
              <a:rPr sz="690" b="1">
                <a:solidFill>
                  <a:srgbClr val="4F8A83"/>
                </a:solidFill>
                <a:latin typeface="Arial" panose="020B0604020202020204" pitchFamily="34" charset="0"/>
                <a:ea typeface="微软雅黑" panose="020B0503020204020204" charset="-122"/>
                <a:cs typeface="Calibri" panose="020F0502020204030204"/>
              </a:rPr>
              <a:t>Softmax</a:t>
            </a:r>
          </a:p>
          <a:p>
            <a:pPr algn="ctr">
              <a:lnSpc>
                <a:spcPct val="95000"/>
              </a:lnSpc>
              <a:buNone/>
              <a:defRPr sz="690" b="1">
                <a:solidFill>
                  <a:srgbClr val="14855C"/>
                </a:solidFill>
                <a:latin typeface="Calibri" panose="020F0502020204030204"/>
                <a:ea typeface="Calibri" panose="020F0502020204030204"/>
                <a:cs typeface="Calibri" panose="020F0502020204030204"/>
              </a:defRPr>
            </a:pPr>
            <a:r>
              <a:rPr sz="690" b="1">
                <a:solidFill>
                  <a:srgbClr val="4F8A83"/>
                </a:solidFill>
                <a:latin typeface="Arial" panose="020B0604020202020204" pitchFamily="34" charset="0"/>
                <a:ea typeface="微软雅黑" panose="020B0503020204020204" charset="-122"/>
                <a:cs typeface="Calibri" panose="020F0502020204030204"/>
              </a:rPr>
              <a:t>Elementwise + Reduction</a:t>
            </a:r>
          </a:p>
        </p:txBody>
      </p:sp>
      <p:sp>
        <p:nvSpPr>
          <p:cNvPr id="130" name="step-07-operator-3"/>
          <p:cNvSpPr>
            <a:spLocks noGrp="1"/>
          </p:cNvSpPr>
          <p:nvPr/>
        </p:nvSpPr>
        <p:spPr>
          <a:xfrm>
            <a:off x="5657850"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a:bodyPr>
          <a:lstStyle/>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微软雅黑" panose="020B0503020204020204" charset="-122"/>
                <a:cs typeface="Calibri" panose="020F0502020204030204"/>
              </a:rPr>
              <a:t>MatMul</a:t>
            </a:r>
          </a:p>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微软雅黑" panose="020B0503020204020204" charset="-122"/>
                <a:cs typeface="Calibri" panose="020F0502020204030204"/>
              </a:rPr>
              <a:t>Compute + Tiling</a:t>
            </a:r>
          </a:p>
        </p:txBody>
      </p:sp>
      <p:sp>
        <p:nvSpPr>
          <p:cNvPr id="133" name="step-08-number"/>
          <p:cNvSpPr>
            <a:spLocks noGrp="1"/>
          </p:cNvSpPr>
          <p:nvPr/>
        </p:nvSpPr>
        <p:spPr>
          <a:xfrm>
            <a:off x="7067550" y="505460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08</a:t>
            </a:r>
          </a:p>
        </p:txBody>
      </p:sp>
      <p:sp>
        <p:nvSpPr>
          <p:cNvPr id="134" name="step-08-title"/>
          <p:cNvSpPr>
            <a:spLocks noGrp="1"/>
          </p:cNvSpPr>
          <p:nvPr/>
        </p:nvSpPr>
        <p:spPr>
          <a:xfrm>
            <a:off x="7486650" y="5035550"/>
            <a:ext cx="2000250" cy="190500"/>
          </a:xfrm>
          <a:prstGeom prst="rect">
            <a:avLst/>
          </a:prstGeom>
          <a:noFill/>
          <a:ln w="0">
            <a:noFill/>
            <a:prstDash val="solid"/>
          </a:ln>
          <a:effectLst/>
        </p:spPr>
        <p:txBody>
          <a:bodyPr wrap="square" lIns="0" tIns="0" rIns="0" bIns="0" anchor="ctr">
            <a:normAutofit/>
          </a:bodyPr>
          <a:lstStyle/>
          <a:p>
            <a:pPr algn="l">
              <a:defRPr sz="1125" b="1">
                <a:solidFill>
                  <a:srgbClr val="14855C"/>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微软雅黑" panose="020B0503020204020204" charset="-122"/>
                <a:cs typeface="微软雅黑" panose="020B0503020204020204" charset="-122"/>
              </a:rPr>
              <a:t>Feedback &amp; Iterate</a:t>
            </a:r>
          </a:p>
        </p:txBody>
      </p:sp>
      <p:sp>
        <p:nvSpPr>
          <p:cNvPr id="135" name="step-08-subtitle"/>
          <p:cNvSpPr>
            <a:spLocks noGrp="1"/>
          </p:cNvSpPr>
          <p:nvPr/>
        </p:nvSpPr>
        <p:spPr>
          <a:xfrm>
            <a:off x="7486650" y="522605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微软雅黑" panose="020B0503020204020204" charset="-122"/>
                <a:cs typeface="微软雅黑" panose="020B0503020204020204" charset="-122"/>
              </a:rPr>
              <a:t>分类反馈并迭代</a:t>
            </a:r>
          </a:p>
        </p:txBody>
      </p:sp>
      <p:sp>
        <p:nvSpPr>
          <p:cNvPr id="136" name="step-08-branch-1"/>
          <p:cNvSpPr>
            <a:spLocks noGrp="1"/>
          </p:cNvSpPr>
          <p:nvPr/>
        </p:nvSpPr>
        <p:spPr>
          <a:xfrm>
            <a:off x="7496175"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E97132"/>
                </a:solidFill>
                <a:latin typeface="微软雅黑" panose="020B0503020204020204" charset="-122"/>
                <a:ea typeface="微软雅黑" panose="020B0503020204020204" charset="-122"/>
                <a:cs typeface="微软雅黑" panose="020B0503020204020204" charset="-122"/>
              </a:defRPr>
            </a:pPr>
            <a:r>
              <a:rPr sz="690" b="1">
                <a:solidFill>
                  <a:srgbClr val="C77C59"/>
                </a:solidFill>
                <a:latin typeface="Arial" panose="020B0604020202020204" pitchFamily="34" charset="0"/>
                <a:ea typeface="微软雅黑" panose="020B0503020204020204" charset="-122"/>
                <a:cs typeface="微软雅黑" panose="020B0503020204020204" charset="-122"/>
              </a:rPr>
              <a:t>平台事实偏差</a:t>
            </a:r>
          </a:p>
          <a:p>
            <a:pPr algn="ctr">
              <a:lnSpc>
                <a:spcPct val="95000"/>
              </a:lnSpc>
              <a:buNone/>
              <a:defRPr sz="690" b="1">
                <a:solidFill>
                  <a:srgbClr val="E97132"/>
                </a:solidFill>
                <a:latin typeface="微软雅黑" panose="020B0503020204020204" charset="-122"/>
                <a:ea typeface="微软雅黑" panose="020B0503020204020204" charset="-122"/>
                <a:cs typeface="微软雅黑" panose="020B0503020204020204" charset="-122"/>
              </a:defRPr>
            </a:pPr>
            <a:r>
              <a:rPr sz="690" b="1">
                <a:solidFill>
                  <a:srgbClr val="C77C59"/>
                </a:solidFill>
                <a:latin typeface="Arial" panose="020B0604020202020204" pitchFamily="34" charset="0"/>
                <a:ea typeface="微软雅黑" panose="020B0503020204020204" charset="-122"/>
                <a:cs typeface="微软雅黑" panose="020B0503020204020204" charset="-122"/>
              </a:rPr>
              <a:t>→ Update Knowledge</a:t>
            </a:r>
          </a:p>
        </p:txBody>
      </p:sp>
      <p:sp>
        <p:nvSpPr>
          <p:cNvPr id="137" name="step-08-branch-2"/>
          <p:cNvSpPr>
            <a:spLocks noGrp="1"/>
          </p:cNvSpPr>
          <p:nvPr/>
        </p:nvSpPr>
        <p:spPr>
          <a:xfrm>
            <a:off x="8572500"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微软雅黑" panose="020B0503020204020204" charset="-122"/>
                <a:cs typeface="微软雅黑" panose="020B0503020204020204" charset="-122"/>
              </a:rPr>
              <a:t>优化策略失效</a:t>
            </a:r>
          </a:p>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微软雅黑" panose="020B0503020204020204" charset="-122"/>
                <a:cs typeface="微软雅黑" panose="020B0503020204020204" charset="-122"/>
              </a:rPr>
              <a:t>→ Update Rules</a:t>
            </a:r>
          </a:p>
        </p:txBody>
      </p:sp>
      <p:sp>
        <p:nvSpPr>
          <p:cNvPr id="138" name="step-08-branch-3"/>
          <p:cNvSpPr>
            <a:spLocks noGrp="1"/>
          </p:cNvSpPr>
          <p:nvPr/>
        </p:nvSpPr>
        <p:spPr>
          <a:xfrm>
            <a:off x="9648825"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微软雅黑" panose="020B0503020204020204" charset="-122"/>
                <a:cs typeface="微软雅黑" panose="020B0503020204020204" charset="-122"/>
              </a:rPr>
              <a:t>流程 / 契约不足</a:t>
            </a:r>
          </a:p>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微软雅黑" panose="020B0503020204020204" charset="-122"/>
                <a:cs typeface="微软雅黑" panose="020B0503020204020204" charset="-122"/>
              </a:rPr>
              <a:t>→ Adjust Workflow</a:t>
            </a:r>
          </a:p>
        </p:txBody>
      </p:sp>
      <p:cxnSp>
        <p:nvCxnSpPr>
          <p:cNvPr id="291" name="phase-a-to-b"/>
          <p:cNvCxnSpPr/>
          <p:nvPr/>
        </p:nvCxnSpPr>
        <p:spPr>
          <a:xfrm>
            <a:off x="6096000" y="2844800"/>
            <a:ext cx="0" cy="47625"/>
          </a:xfrm>
          <a:prstGeom prst="straightConnector1">
            <a:avLst/>
          </a:prstGeom>
          <a:ln w="11430">
            <a:solidFill>
              <a:srgbClr val="294A6D"/>
            </a:solidFill>
            <a:prstDash val="solid"/>
            <a:tailEnd type="triangle" w="sm" len="sm"/>
          </a:ln>
          <a:effectLst/>
        </p:spPr>
      </p:cxnSp>
      <p:cxnSp>
        <p:nvCxnSpPr>
          <p:cNvPr id="292" name="phase-b-to-c"/>
          <p:cNvCxnSpPr/>
          <p:nvPr/>
        </p:nvCxnSpPr>
        <p:spPr>
          <a:xfrm>
            <a:off x="6096000" y="3863975"/>
            <a:ext cx="0" cy="47625"/>
          </a:xfrm>
          <a:prstGeom prst="straightConnector1">
            <a:avLst/>
          </a:prstGeom>
          <a:ln w="11430">
            <a:solidFill>
              <a:srgbClr val="4F8A83"/>
            </a:solidFill>
            <a:prstDash val="solid"/>
            <a:tailEnd type="triangle" w="sm" len="sm"/>
          </a:ln>
          <a:effectLst/>
        </p:spPr>
      </p:cxnSp>
      <p:cxnSp>
        <p:nvCxnSpPr>
          <p:cNvPr id="293" name="phase-c-to-d"/>
          <p:cNvCxnSpPr/>
          <p:nvPr/>
        </p:nvCxnSpPr>
        <p:spPr>
          <a:xfrm>
            <a:off x="6096000" y="4911725"/>
            <a:ext cx="0" cy="47625"/>
          </a:xfrm>
          <a:prstGeom prst="straightConnector1">
            <a:avLst/>
          </a:prstGeom>
          <a:ln w="11430">
            <a:solidFill>
              <a:srgbClr val="4F8A83"/>
            </a:solidFill>
            <a:prstDash val="solid"/>
            <a:tailEnd type="triangle" w="sm" len="sm"/>
          </a:ln>
          <a:effectLst/>
        </p:spPr>
      </p:cxnSp>
      <p:sp>
        <p:nvSpPr>
          <p:cNvPr id="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17</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0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3.2</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04"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9-title"/>
          <p:cNvSpPr>
            <a:spLocks noGrp="1"/>
          </p:cNvSpPr>
          <p:nvPr/>
        </p:nvSpPr>
        <p:spPr>
          <a:xfrm>
            <a:off x="696912" y="289560"/>
            <a:ext cx="5635625" cy="37338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fontScale="95000" lnSpcReduction="10000"/>
          </a:bodyPr>
          <a:lstStyle/>
          <a:p>
            <a:pPr algn="ctr">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b="1" dirty="0" err="1">
                <a:solidFill>
                  <a:srgbClr val="243B53"/>
                </a:solidFill>
                <a:latin typeface="Times New Roman" panose="02020603050405020304" pitchFamily="18" charset="0"/>
                <a:ea typeface="微软雅黑" panose="020B0503020204020204" charset="-122"/>
                <a:cs typeface="Times New Roman" panose="02020603050405020304" pitchFamily="18" charset="0"/>
              </a:rPr>
              <a:t>当前四个平台的算子</a:t>
            </a:r>
            <a:r>
              <a:rPr b="1" dirty="0">
                <a:solidFill>
                  <a:srgbClr val="243B53"/>
                </a:solidFill>
                <a:latin typeface="Times New Roman" panose="02020603050405020304" pitchFamily="18" charset="0"/>
                <a:ea typeface="微软雅黑" panose="020B0503020204020204" charset="-122"/>
                <a:cs typeface="Times New Roman" panose="02020603050405020304" pitchFamily="18" charset="0"/>
              </a:rPr>
              <a:t> </a:t>
            </a:r>
            <a:r>
              <a:rPr b="1" dirty="0" err="1">
                <a:solidFill>
                  <a:srgbClr val="243B53"/>
                </a:solidFill>
                <a:latin typeface="Times New Roman" panose="02020603050405020304" pitchFamily="18" charset="0"/>
                <a:ea typeface="微软雅黑" panose="020B0503020204020204" charset="-122"/>
                <a:cs typeface="Times New Roman" panose="02020603050405020304" pitchFamily="18" charset="0"/>
              </a:rPr>
              <a:t>Skill开发情况</a:t>
            </a:r>
            <a:endParaRPr b="1" dirty="0">
              <a:solidFill>
                <a:srgbClr val="243B5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 name="takeaway_band_background"/>
          <p:cNvSpPr>
            <a:spLocks noGrp="1"/>
          </p:cNvSpPr>
          <p:nvPr/>
        </p:nvSpPr>
        <p:spPr>
          <a:xfrm>
            <a:off x="152400" y="6076950"/>
            <a:ext cx="11887200" cy="361950"/>
          </a:xfrm>
          <a:prstGeom prst="rect">
            <a:avLst/>
          </a:prstGeom>
          <a:solidFill>
            <a:srgbClr val="EEF2F5"/>
          </a:solidFill>
          <a:ln w="7620">
            <a:solidFill>
              <a:srgbClr val="D6DEE6"/>
            </a:solidFill>
            <a:prstDash val="solid"/>
          </a:ln>
          <a:effectLst/>
        </p:spPr>
        <p:txBody>
          <a:bodyPr wrap="square" lIns="0" tIns="0" rIns="0" bIns="0" anchor="ctr">
            <a:normAutofit/>
          </a:bodyPr>
          <a:lstStyle/>
          <a:p>
            <a:endParaRPr>
              <a:latin typeface="Times New Roman" panose="02020603050405020304" pitchFamily="18" charset="0"/>
              <a:ea typeface="微软雅黑" panose="020B0503020204020204" charset="-122"/>
              <a:cs typeface="Times New Roman" panose="02020603050405020304" pitchFamily="18" charset="0"/>
            </a:endParaRPr>
          </a:p>
        </p:txBody>
      </p:sp>
      <p:sp>
        <p:nvSpPr>
          <p:cNvPr id="9" name="takeaway_1_badge"/>
          <p:cNvSpPr>
            <a:spLocks noGrp="1"/>
          </p:cNvSpPr>
          <p:nvPr/>
        </p:nvSpPr>
        <p:spPr>
          <a:xfrm>
            <a:off x="13049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lang="en-US"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rPr>
              <a:t>1</a:t>
            </a:r>
            <a:endParaRPr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 name="takeaway_1_text"/>
          <p:cNvSpPr>
            <a:spLocks noGrp="1"/>
          </p:cNvSpPr>
          <p:nvPr/>
        </p:nvSpPr>
        <p:spPr>
          <a:xfrm>
            <a:off x="1619250" y="6124575"/>
            <a:ext cx="2952750"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charset="-122"/>
                <a:cs typeface="Times New Roman" panose="02020603050405020304" pitchFamily="18" charset="0"/>
              </a:rPr>
              <a:t>MLU Triton 是当前方法的实践起点</a:t>
            </a:r>
          </a:p>
        </p:txBody>
      </p:sp>
      <p:sp>
        <p:nvSpPr>
          <p:cNvPr id="11" name="takeaway_2_badge"/>
          <p:cNvSpPr>
            <a:spLocks noGrp="1"/>
          </p:cNvSpPr>
          <p:nvPr/>
        </p:nvSpPr>
        <p:spPr>
          <a:xfrm>
            <a:off x="46958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rPr>
              <a:t>2</a:t>
            </a:r>
          </a:p>
        </p:txBody>
      </p:sp>
      <p:sp>
        <p:nvSpPr>
          <p:cNvPr id="12" name="takeaway_2_text"/>
          <p:cNvSpPr>
            <a:spLocks noGrp="1"/>
          </p:cNvSpPr>
          <p:nvPr/>
        </p:nvSpPr>
        <p:spPr>
          <a:xfrm>
            <a:off x="5019675" y="6124575"/>
            <a:ext cx="3095625"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charset="-122"/>
                <a:cs typeface="Times New Roman" panose="02020603050405020304" pitchFamily="18" charset="0"/>
              </a:rPr>
              <a:t>平台差异主要体现在平台知识成熟度</a:t>
            </a:r>
          </a:p>
        </p:txBody>
      </p:sp>
      <p:sp>
        <p:nvSpPr>
          <p:cNvPr id="13" name="takeaway_3_badge"/>
          <p:cNvSpPr>
            <a:spLocks noGrp="1"/>
          </p:cNvSpPr>
          <p:nvPr/>
        </p:nvSpPr>
        <p:spPr>
          <a:xfrm>
            <a:off x="82010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rPr>
              <a:t>3</a:t>
            </a:r>
          </a:p>
        </p:txBody>
      </p:sp>
      <p:sp>
        <p:nvSpPr>
          <p:cNvPr id="14" name="takeaway_3_text"/>
          <p:cNvSpPr>
            <a:spLocks noGrp="1"/>
          </p:cNvSpPr>
          <p:nvPr/>
        </p:nvSpPr>
        <p:spPr>
          <a:xfrm>
            <a:off x="8524875" y="6124575"/>
            <a:ext cx="2619375"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charset="-122"/>
                <a:cs typeface="Times New Roman" panose="02020603050405020304" pitchFamily="18" charset="0"/>
              </a:rPr>
              <a:t>Skill 仍需多次算子开发验证</a:t>
            </a:r>
          </a:p>
        </p:txBody>
      </p:sp>
      <p:sp>
        <p:nvSpPr>
          <p:cNvPr id="15" name="slide-9-editable-footer"/>
          <p:cNvSpPr>
            <a:spLocks noGrp="1"/>
          </p:cNvSpPr>
          <p:nvPr/>
        </p:nvSpPr>
        <p:spPr>
          <a:xfrm>
            <a:off x="152400" y="6467475"/>
            <a:ext cx="11887200" cy="323850"/>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810"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F3A45"/>
                </a:solidFill>
                <a:latin typeface="Times New Roman" panose="02020603050405020304" pitchFamily="18" charset="0"/>
                <a:ea typeface="微软雅黑" panose="020B0503020204020204" charset="-122"/>
                <a:cs typeface="Times New Roman" panose="02020603050405020304" pitchFamily="18" charset="0"/>
              </a:rPr>
              <a:t>四个平台已经处于不同成熟阶段：MLU Triton 已形成较完整闭环，BANG C 已跑通基础真机链路，CUDA 基础 Skill 已完成，GPU Triton 正在进行平台知识迁移与验证。</a:t>
            </a:r>
          </a:p>
        </p:txBody>
      </p:sp>
      <p:sp>
        <p:nvSpPr>
          <p:cNvPr id="17" name="s18-mlu-frame"/>
          <p:cNvSpPr>
            <a:spLocks noGrp="1"/>
          </p:cNvSpPr>
          <p:nvPr/>
        </p:nvSpPr>
        <p:spPr>
          <a:xfrm>
            <a:off x="95250" y="1122362"/>
            <a:ext cx="5743575" cy="2286000"/>
          </a:xfrm>
          <a:prstGeom prst="rect">
            <a:avLst/>
          </a:prstGeom>
          <a:solidFill>
            <a:srgbClr val="294A6D"/>
          </a:solidFill>
          <a:ln w="11430">
            <a:solidFill>
              <a:srgbClr val="D6DEE6"/>
            </a:solidFill>
            <a:prstDash val="solid"/>
          </a:ln>
          <a:effectLst/>
        </p:spPr>
      </p:sp>
      <p:sp>
        <p:nvSpPr>
          <p:cNvPr id="18" name="s18-mlu-body-fill"/>
          <p:cNvSpPr>
            <a:spLocks noGrp="1"/>
          </p:cNvSpPr>
          <p:nvPr/>
        </p:nvSpPr>
        <p:spPr>
          <a:xfrm>
            <a:off x="104775" y="1693862"/>
            <a:ext cx="5724525" cy="1704975"/>
          </a:xfrm>
          <a:prstGeom prst="rect">
            <a:avLst/>
          </a:prstGeom>
          <a:solidFill>
            <a:srgbClr val="FFFFFF"/>
          </a:solidFill>
          <a:ln w="0">
            <a:solidFill>
              <a:srgbClr val="D6DEE6"/>
            </a:solidFill>
            <a:prstDash val="solid"/>
          </a:ln>
          <a:effectLst/>
        </p:spPr>
      </p:sp>
      <p:sp>
        <p:nvSpPr>
          <p:cNvPr id="19" name="s18-mlu-header-rule"/>
          <p:cNvSpPr>
            <a:spLocks noGrp="1"/>
          </p:cNvSpPr>
          <p:nvPr/>
        </p:nvSpPr>
        <p:spPr>
          <a:xfrm>
            <a:off x="104775" y="1684337"/>
            <a:ext cx="5724525" cy="9525"/>
          </a:xfrm>
          <a:prstGeom prst="rect">
            <a:avLst/>
          </a:prstGeom>
          <a:solidFill>
            <a:srgbClr val="5B7188"/>
          </a:solidFill>
          <a:ln w="0">
            <a:solidFill>
              <a:srgbClr val="294A6D"/>
            </a:solidFill>
            <a:prstDash val="solid"/>
          </a:ln>
          <a:effectLst/>
        </p:spPr>
      </p:sp>
      <p:sp>
        <p:nvSpPr>
          <p:cNvPr id="20" name="s18-mlu-title"/>
          <p:cNvSpPr>
            <a:spLocks noGrp="1"/>
          </p:cNvSpPr>
          <p:nvPr/>
        </p:nvSpPr>
        <p:spPr>
          <a:xfrm>
            <a:off x="142875" y="1271904"/>
            <a:ext cx="5591175" cy="295275"/>
          </a:xfrm>
          <a:prstGeom prst="rect">
            <a:avLst/>
          </a:prstGeom>
          <a:noFill/>
          <a:ln w="0">
            <a:noFill/>
            <a:prstDash val="solid"/>
          </a:ln>
          <a:effectLst/>
        </p:spPr>
        <p:txBody>
          <a:bodyPr wrap="square" lIns="0" tIns="0" rIns="0" bIns="0" anchor="ctr">
            <a:normAutofit fontScale="99359"/>
          </a:bodyPr>
          <a:lstStyle/>
          <a:p>
            <a:pPr algn="ctr">
              <a:defRPr sz="1950" b="1">
                <a:solidFill>
                  <a:srgbClr val="FFFFFF"/>
                </a:solidFill>
                <a:latin typeface="Calibri" panose="020F0502020204030204"/>
                <a:ea typeface="Calibri" panose="020F0502020204030204"/>
                <a:cs typeface="Calibri" panose="020F0502020204030204"/>
              </a:defRPr>
            </a:pPr>
            <a:r>
              <a:rPr sz="1950" b="1" dirty="0">
                <a:solidFill>
                  <a:srgbClr val="FFFFFF"/>
                </a:solidFill>
                <a:latin typeface="Times New Roman" panose="02020603050405020304" pitchFamily="18" charset="0"/>
                <a:ea typeface="微软雅黑" panose="020B0503020204020204" charset="-122"/>
                <a:cs typeface="Times New Roman" panose="02020603050405020304" pitchFamily="18" charset="0"/>
              </a:rPr>
              <a:t>MLU Triton</a:t>
            </a:r>
          </a:p>
        </p:txBody>
      </p:sp>
      <p:sp>
        <p:nvSpPr>
          <p:cNvPr id="22" name="s18-mlu-divider-1"/>
          <p:cNvSpPr>
            <a:spLocks noGrp="1"/>
          </p:cNvSpPr>
          <p:nvPr/>
        </p:nvSpPr>
        <p:spPr>
          <a:xfrm>
            <a:off x="1247775" y="1760537"/>
            <a:ext cx="9525" cy="1562100"/>
          </a:xfrm>
          <a:prstGeom prst="rect">
            <a:avLst/>
          </a:prstGeom>
          <a:solidFill>
            <a:srgbClr val="EEF2F5"/>
          </a:solidFill>
          <a:ln w="0">
            <a:solidFill>
              <a:srgbClr val="D6DEE6"/>
            </a:solidFill>
            <a:prstDash val="solid"/>
          </a:ln>
          <a:effectLst/>
        </p:spPr>
      </p:sp>
      <p:sp>
        <p:nvSpPr>
          <p:cNvPr id="23" name="s18-mlu-divider-2"/>
          <p:cNvSpPr>
            <a:spLocks noGrp="1"/>
          </p:cNvSpPr>
          <p:nvPr/>
        </p:nvSpPr>
        <p:spPr>
          <a:xfrm>
            <a:off x="3276600" y="1760537"/>
            <a:ext cx="9525" cy="1562100"/>
          </a:xfrm>
          <a:prstGeom prst="rect">
            <a:avLst/>
          </a:prstGeom>
          <a:solidFill>
            <a:srgbClr val="EEF2F5"/>
          </a:solidFill>
          <a:ln w="0">
            <a:solidFill>
              <a:srgbClr val="D6DEE6"/>
            </a:solidFill>
            <a:prstDash val="solid"/>
          </a:ln>
          <a:effectLst/>
        </p:spPr>
      </p:sp>
      <p:sp>
        <p:nvSpPr>
          <p:cNvPr id="24" name="s18-mlu-divider-3"/>
          <p:cNvSpPr>
            <a:spLocks noGrp="1"/>
          </p:cNvSpPr>
          <p:nvPr/>
        </p:nvSpPr>
        <p:spPr>
          <a:xfrm>
            <a:off x="4543425" y="1760537"/>
            <a:ext cx="9525" cy="1562100"/>
          </a:xfrm>
          <a:prstGeom prst="rect">
            <a:avLst/>
          </a:prstGeom>
          <a:solidFill>
            <a:srgbClr val="EEF2F5"/>
          </a:solidFill>
          <a:ln w="0">
            <a:solidFill>
              <a:srgbClr val="D6DEE6"/>
            </a:solidFill>
            <a:prstDash val="solid"/>
          </a:ln>
          <a:effectLst/>
        </p:spPr>
      </p:sp>
      <p:sp>
        <p:nvSpPr>
          <p:cNvPr id="25" name="s18-mlu-c1-number"/>
          <p:cNvSpPr>
            <a:spLocks noGrp="1"/>
          </p:cNvSpPr>
          <p:nvPr/>
        </p:nvSpPr>
        <p:spPr>
          <a:xfrm>
            <a:off x="1905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1</a:t>
            </a:r>
          </a:p>
        </p:txBody>
      </p:sp>
      <p:sp>
        <p:nvSpPr>
          <p:cNvPr id="26" name="s18-mlu-c1-title"/>
          <p:cNvSpPr>
            <a:spLocks noGrp="1"/>
          </p:cNvSpPr>
          <p:nvPr/>
        </p:nvSpPr>
        <p:spPr>
          <a:xfrm>
            <a:off x="438150" y="1751012"/>
            <a:ext cx="762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当前阶段</a:t>
            </a:r>
          </a:p>
        </p:txBody>
      </p:sp>
      <p:sp>
        <p:nvSpPr>
          <p:cNvPr id="27" name="s18-mlu-c2-number"/>
          <p:cNvSpPr>
            <a:spLocks noGrp="1"/>
          </p:cNvSpPr>
          <p:nvPr/>
        </p:nvSpPr>
        <p:spPr>
          <a:xfrm>
            <a:off x="13335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2</a:t>
            </a:r>
          </a:p>
        </p:txBody>
      </p:sp>
      <p:sp>
        <p:nvSpPr>
          <p:cNvPr id="28" name="s18-mlu-c2-title"/>
          <p:cNvSpPr>
            <a:spLocks noGrp="1"/>
          </p:cNvSpPr>
          <p:nvPr/>
        </p:nvSpPr>
        <p:spPr>
          <a:xfrm>
            <a:off x="1581150" y="1751012"/>
            <a:ext cx="16192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已完成</a:t>
            </a:r>
          </a:p>
        </p:txBody>
      </p:sp>
      <p:sp>
        <p:nvSpPr>
          <p:cNvPr id="29" name="s18-mlu-c3-number"/>
          <p:cNvSpPr>
            <a:spLocks noGrp="1"/>
          </p:cNvSpPr>
          <p:nvPr/>
        </p:nvSpPr>
        <p:spPr>
          <a:xfrm>
            <a:off x="33718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3</a:t>
            </a:r>
          </a:p>
        </p:txBody>
      </p:sp>
      <p:sp>
        <p:nvSpPr>
          <p:cNvPr id="30" name="s18-mlu-c3-title"/>
          <p:cNvSpPr>
            <a:spLocks noGrp="1"/>
          </p:cNvSpPr>
          <p:nvPr/>
        </p:nvSpPr>
        <p:spPr>
          <a:xfrm>
            <a:off x="3619500" y="1751012"/>
            <a:ext cx="8572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验证程度</a:t>
            </a:r>
          </a:p>
        </p:txBody>
      </p:sp>
      <p:sp>
        <p:nvSpPr>
          <p:cNvPr id="31" name="s18-mlu-c4-number"/>
          <p:cNvSpPr>
            <a:spLocks noGrp="1"/>
          </p:cNvSpPr>
          <p:nvPr/>
        </p:nvSpPr>
        <p:spPr>
          <a:xfrm>
            <a:off x="4638675"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4</a:t>
            </a:r>
          </a:p>
        </p:txBody>
      </p:sp>
      <p:sp>
        <p:nvSpPr>
          <p:cNvPr id="32" name="s18-mlu-c4-title"/>
          <p:cNvSpPr>
            <a:spLocks noGrp="1"/>
          </p:cNvSpPr>
          <p:nvPr/>
        </p:nvSpPr>
        <p:spPr>
          <a:xfrm>
            <a:off x="4886325" y="1751012"/>
            <a:ext cx="8191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下一步</a:t>
            </a:r>
          </a:p>
        </p:txBody>
      </p:sp>
      <p:sp>
        <p:nvSpPr>
          <p:cNvPr id="33" name="s18-mlu-stage"/>
          <p:cNvSpPr>
            <a:spLocks noGrp="1"/>
          </p:cNvSpPr>
          <p:nvPr/>
        </p:nvSpPr>
        <p:spPr>
          <a:xfrm>
            <a:off x="190500" y="2036762"/>
            <a:ext cx="971550" cy="400050"/>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F3A45"/>
                </a:solidFill>
                <a:latin typeface="Times New Roman" panose="02020603050405020304" pitchFamily="18" charset="0"/>
                <a:ea typeface="微软雅黑" panose="020B0503020204020204" charset="-122"/>
                <a:cs typeface="Times New Roman" panose="02020603050405020304" pitchFamily="18" charset="0"/>
              </a:rPr>
              <a:t>完成基础闭环验证</a:t>
            </a:r>
            <a:endParaRPr sz="86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4" name="s18-mlu-done-1-symbol"/>
          <p:cNvSpPr>
            <a:spLocks noGrp="1"/>
          </p:cNvSpPr>
          <p:nvPr/>
        </p:nvSpPr>
        <p:spPr>
          <a:xfrm>
            <a:off x="1352550" y="20177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35" name="s18-mlu-done-1-text"/>
          <p:cNvSpPr>
            <a:spLocks noGrp="1"/>
          </p:cNvSpPr>
          <p:nvPr/>
        </p:nvSpPr>
        <p:spPr>
          <a:xfrm>
            <a:off x="1514475" y="2017712"/>
            <a:ext cx="1724025" cy="190500"/>
          </a:xfrm>
          <a:prstGeom prst="rect">
            <a:avLst/>
          </a:prstGeom>
          <a:noFill/>
          <a:ln w="0">
            <a:noFill/>
            <a:prstDash val="solid"/>
          </a:ln>
          <a:effectLst/>
        </p:spPr>
        <p:txBody>
          <a:bodyPr wrap="square" lIns="0" tIns="0" rIns="0" bIns="0" anchor="ctr">
            <a:normAutofit fontScale="95917"/>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Main / Code-Gen / Review / Optimize</a:t>
            </a:r>
          </a:p>
        </p:txBody>
      </p:sp>
      <p:sp>
        <p:nvSpPr>
          <p:cNvPr id="36" name="s18-mlu-done-2-symbol"/>
          <p:cNvSpPr>
            <a:spLocks noGrp="1"/>
          </p:cNvSpPr>
          <p:nvPr/>
        </p:nvSpPr>
        <p:spPr>
          <a:xfrm>
            <a:off x="1352550" y="22463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37" name="s18-mlu-done-2-text"/>
          <p:cNvSpPr>
            <a:spLocks noGrp="1"/>
          </p:cNvSpPr>
          <p:nvPr/>
        </p:nvSpPr>
        <p:spPr>
          <a:xfrm>
            <a:off x="1514475" y="2246312"/>
            <a:ext cx="172402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平台知识与开发规则已积累</a:t>
            </a:r>
          </a:p>
        </p:txBody>
      </p:sp>
      <p:sp>
        <p:nvSpPr>
          <p:cNvPr id="38" name="s18-mlu-done-3-symbol"/>
          <p:cNvSpPr>
            <a:spLocks noGrp="1"/>
          </p:cNvSpPr>
          <p:nvPr/>
        </p:nvSpPr>
        <p:spPr>
          <a:xfrm>
            <a:off x="1352550" y="24749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39" name="s18-mlu-done-3-text"/>
          <p:cNvSpPr>
            <a:spLocks noGrp="1"/>
          </p:cNvSpPr>
          <p:nvPr/>
        </p:nvSpPr>
        <p:spPr>
          <a:xfrm>
            <a:off x="1514475" y="2474912"/>
            <a:ext cx="17240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已进行多类算子开发与优化实践</a:t>
            </a:r>
          </a:p>
        </p:txBody>
      </p:sp>
      <p:sp>
        <p:nvSpPr>
          <p:cNvPr id="40" name="s18-mlu-done-4-symbol"/>
          <p:cNvSpPr>
            <a:spLocks noGrp="1"/>
          </p:cNvSpPr>
          <p:nvPr/>
        </p:nvSpPr>
        <p:spPr>
          <a:xfrm>
            <a:off x="1352550" y="27035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41" name="s18-mlu-done-4-text"/>
          <p:cNvSpPr>
            <a:spLocks noGrp="1"/>
          </p:cNvSpPr>
          <p:nvPr/>
        </p:nvSpPr>
        <p:spPr>
          <a:xfrm>
            <a:off x="1514475" y="2703512"/>
            <a:ext cx="1724025" cy="209550"/>
          </a:xfrm>
          <a:prstGeom prst="rect">
            <a:avLst/>
          </a:prstGeom>
          <a:noFill/>
          <a:ln w="0">
            <a:noFill/>
            <a:prstDash val="solid"/>
          </a:ln>
          <a:effectLst/>
        </p:spPr>
        <p:txBody>
          <a:bodyPr wrap="square" lIns="0" tIns="0" rIns="0" bIns="0" anchor="ctr">
            <a:normAutofit fontScale="97500"/>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Benchmark / Profiling 能进入优化流程</a:t>
            </a:r>
          </a:p>
        </p:txBody>
      </p:sp>
      <p:sp>
        <p:nvSpPr>
          <p:cNvPr id="42" name="s18-mlu-validation-1-symbol"/>
          <p:cNvSpPr>
            <a:spLocks noGrp="1"/>
          </p:cNvSpPr>
          <p:nvPr/>
        </p:nvSpPr>
        <p:spPr>
          <a:xfrm>
            <a:off x="3381375" y="2008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43" name="s18-mlu-validation-1-text"/>
          <p:cNvSpPr>
            <a:spLocks noGrp="1"/>
          </p:cNvSpPr>
          <p:nvPr/>
        </p:nvSpPr>
        <p:spPr>
          <a:xfrm>
            <a:off x="3543300" y="2008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charset="-122"/>
                <a:cs typeface="Times New Roman" panose="02020603050405020304" pitchFamily="18" charset="0"/>
              </a:rPr>
              <a:t>环境  ✓</a:t>
            </a:r>
          </a:p>
        </p:txBody>
      </p:sp>
      <p:sp>
        <p:nvSpPr>
          <p:cNvPr id="44" name="s18-mlu-validation-2-symbol"/>
          <p:cNvSpPr>
            <a:spLocks noGrp="1"/>
          </p:cNvSpPr>
          <p:nvPr/>
        </p:nvSpPr>
        <p:spPr>
          <a:xfrm>
            <a:off x="3381375" y="2198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45" name="s18-mlu-validation-2-text"/>
          <p:cNvSpPr>
            <a:spLocks noGrp="1"/>
          </p:cNvSpPr>
          <p:nvPr/>
        </p:nvSpPr>
        <p:spPr>
          <a:xfrm>
            <a:off x="3543300" y="21986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dirty="0" err="1">
                <a:solidFill>
                  <a:srgbClr val="2F3A45"/>
                </a:solidFill>
                <a:latin typeface="Times New Roman" panose="02020603050405020304" pitchFamily="18" charset="0"/>
                <a:ea typeface="微软雅黑" panose="020B0503020204020204" charset="-122"/>
                <a:cs typeface="Times New Roman" panose="02020603050405020304" pitchFamily="18" charset="0"/>
              </a:rPr>
              <a:t>代码生成</a:t>
            </a:r>
            <a:r>
              <a:rPr sz="795" b="1" dirty="0">
                <a:solidFill>
                  <a:srgbClr val="2F3A45"/>
                </a:solidFill>
                <a:latin typeface="Times New Roman" panose="02020603050405020304" pitchFamily="18" charset="0"/>
                <a:ea typeface="微软雅黑" panose="020B0503020204020204" charset="-122"/>
                <a:cs typeface="Times New Roman" panose="02020603050405020304" pitchFamily="18" charset="0"/>
              </a:rPr>
              <a:t>  ✓</a:t>
            </a:r>
          </a:p>
        </p:txBody>
      </p:sp>
      <p:sp>
        <p:nvSpPr>
          <p:cNvPr id="46" name="s18-mlu-validation-3-symbol"/>
          <p:cNvSpPr>
            <a:spLocks noGrp="1"/>
          </p:cNvSpPr>
          <p:nvPr/>
        </p:nvSpPr>
        <p:spPr>
          <a:xfrm>
            <a:off x="3381375" y="2389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47" name="s18-mlu-validation-3-text"/>
          <p:cNvSpPr>
            <a:spLocks noGrp="1"/>
          </p:cNvSpPr>
          <p:nvPr/>
        </p:nvSpPr>
        <p:spPr>
          <a:xfrm>
            <a:off x="3543300" y="2389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dirty="0">
                <a:solidFill>
                  <a:srgbClr val="2F3A45"/>
                </a:solidFill>
                <a:latin typeface="Times New Roman" panose="02020603050405020304" pitchFamily="18" charset="0"/>
                <a:ea typeface="微软雅黑" panose="020B0503020204020204" charset="-122"/>
                <a:cs typeface="Times New Roman" panose="02020603050405020304" pitchFamily="18" charset="0"/>
              </a:rPr>
              <a:t>Correctness  ✓</a:t>
            </a:r>
          </a:p>
        </p:txBody>
      </p:sp>
      <p:sp>
        <p:nvSpPr>
          <p:cNvPr id="48" name="s18-mlu-validation-4-symbol"/>
          <p:cNvSpPr>
            <a:spLocks noGrp="1"/>
          </p:cNvSpPr>
          <p:nvPr/>
        </p:nvSpPr>
        <p:spPr>
          <a:xfrm>
            <a:off x="3381375" y="2579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49" name="s18-mlu-validation-4-text"/>
          <p:cNvSpPr>
            <a:spLocks noGrp="1"/>
          </p:cNvSpPr>
          <p:nvPr/>
        </p:nvSpPr>
        <p:spPr>
          <a:xfrm>
            <a:off x="3543300" y="25796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charset="-122"/>
                <a:cs typeface="Times New Roman" panose="02020603050405020304" pitchFamily="18" charset="0"/>
              </a:rPr>
              <a:t>Benchmark  ✓</a:t>
            </a:r>
          </a:p>
        </p:txBody>
      </p:sp>
      <p:sp>
        <p:nvSpPr>
          <p:cNvPr id="50" name="s18-mlu-validation-5-symbol"/>
          <p:cNvSpPr>
            <a:spLocks noGrp="1"/>
          </p:cNvSpPr>
          <p:nvPr/>
        </p:nvSpPr>
        <p:spPr>
          <a:xfrm>
            <a:off x="3381375" y="2770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51" name="s18-mlu-validation-5-text"/>
          <p:cNvSpPr>
            <a:spLocks noGrp="1"/>
          </p:cNvSpPr>
          <p:nvPr/>
        </p:nvSpPr>
        <p:spPr>
          <a:xfrm>
            <a:off x="3543300" y="2770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charset="-122"/>
                <a:cs typeface="Times New Roman" panose="02020603050405020304" pitchFamily="18" charset="0"/>
              </a:rPr>
              <a:t>Optimize  ✓</a:t>
            </a:r>
          </a:p>
        </p:txBody>
      </p:sp>
      <p:sp>
        <p:nvSpPr>
          <p:cNvPr id="54" name="s18-mlu-next-1-symbol"/>
          <p:cNvSpPr>
            <a:spLocks noGrp="1"/>
          </p:cNvSpPr>
          <p:nvPr/>
        </p:nvSpPr>
        <p:spPr>
          <a:xfrm>
            <a:off x="4648200" y="2008187"/>
            <a:ext cx="133350" cy="3524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55" name="s18-mlu-next-1-text"/>
          <p:cNvSpPr>
            <a:spLocks noGrp="1"/>
          </p:cNvSpPr>
          <p:nvPr/>
        </p:nvSpPr>
        <p:spPr>
          <a:xfrm>
            <a:off x="4810125" y="2008187"/>
            <a:ext cx="895350" cy="352425"/>
          </a:xfrm>
          <a:prstGeom prst="rect">
            <a:avLst/>
          </a:prstGeom>
          <a:noFill/>
          <a:ln w="0">
            <a:noFill/>
            <a:prstDash val="solid"/>
          </a:ln>
          <a:effectLst/>
        </p:spPr>
        <p:txBody>
          <a:bodyPr wrap="square" lIns="0" tIns="0" rIns="0" bIns="0" anchor="ctr">
            <a:normAutofit fontScale="98825" lnSpcReduction="10000"/>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进一步整理</a:t>
            </a: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Platform Knowledge</a:t>
            </a:r>
          </a:p>
        </p:txBody>
      </p:sp>
      <p:sp>
        <p:nvSpPr>
          <p:cNvPr id="56" name="s18-mlu-next-2-symbol"/>
          <p:cNvSpPr>
            <a:spLocks noGrp="1"/>
          </p:cNvSpPr>
          <p:nvPr/>
        </p:nvSpPr>
        <p:spPr>
          <a:xfrm>
            <a:off x="4648200" y="2408237"/>
            <a:ext cx="133350" cy="2381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57" name="s18-mlu-next-2-text"/>
          <p:cNvSpPr>
            <a:spLocks noGrp="1"/>
          </p:cNvSpPr>
          <p:nvPr/>
        </p:nvSpPr>
        <p:spPr>
          <a:xfrm>
            <a:off x="4810125" y="2408237"/>
            <a:ext cx="895350" cy="238125"/>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补齐复杂算子经验</a:t>
            </a:r>
          </a:p>
        </p:txBody>
      </p:sp>
      <p:sp>
        <p:nvSpPr>
          <p:cNvPr id="58" name="s18-mlu-next-3-symbol"/>
          <p:cNvSpPr>
            <a:spLocks noGrp="1"/>
          </p:cNvSpPr>
          <p:nvPr/>
        </p:nvSpPr>
        <p:spPr>
          <a:xfrm>
            <a:off x="4648200" y="2684462"/>
            <a:ext cx="133350" cy="4000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59" name="s18-mlu-next-3-text"/>
          <p:cNvSpPr>
            <a:spLocks noGrp="1"/>
          </p:cNvSpPr>
          <p:nvPr/>
        </p:nvSpPr>
        <p:spPr>
          <a:xfrm>
            <a:off x="4810125" y="2684462"/>
            <a:ext cx="895350" cy="40005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统一不同算子的</a:t>
            </a: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评估与归档方式</a:t>
            </a:r>
          </a:p>
        </p:txBody>
      </p:sp>
      <p:sp>
        <p:nvSpPr>
          <p:cNvPr id="60" name="s18-bang-frame"/>
          <p:cNvSpPr>
            <a:spLocks noGrp="1"/>
          </p:cNvSpPr>
          <p:nvPr/>
        </p:nvSpPr>
        <p:spPr>
          <a:xfrm>
            <a:off x="5943600" y="1122362"/>
            <a:ext cx="6038850" cy="2286000"/>
          </a:xfrm>
          <a:prstGeom prst="rect">
            <a:avLst/>
          </a:prstGeom>
          <a:solidFill>
            <a:srgbClr val="FFFFFF"/>
          </a:solidFill>
          <a:ln w="11430">
            <a:solidFill>
              <a:srgbClr val="D6DEE6"/>
            </a:solidFill>
            <a:prstDash val="solid"/>
          </a:ln>
          <a:effectLst/>
        </p:spPr>
      </p:sp>
      <p:sp>
        <p:nvSpPr>
          <p:cNvPr id="61" name="s18-bang-header-fill"/>
          <p:cNvSpPr>
            <a:spLocks noGrp="1"/>
          </p:cNvSpPr>
          <p:nvPr/>
        </p:nvSpPr>
        <p:spPr>
          <a:xfrm>
            <a:off x="5953125" y="1131887"/>
            <a:ext cx="6019800" cy="561975"/>
          </a:xfrm>
          <a:prstGeom prst="rect">
            <a:avLst/>
          </a:prstGeom>
          <a:solidFill>
            <a:srgbClr val="FFFFFF"/>
          </a:solidFill>
          <a:ln w="0">
            <a:solidFill>
              <a:srgbClr val="D6DEE6"/>
            </a:solidFill>
            <a:prstDash val="solid"/>
          </a:ln>
          <a:effectLst/>
        </p:spPr>
      </p:sp>
      <p:sp>
        <p:nvSpPr>
          <p:cNvPr id="62" name="s18-bang-body-fill"/>
          <p:cNvSpPr>
            <a:spLocks noGrp="1"/>
          </p:cNvSpPr>
          <p:nvPr/>
        </p:nvSpPr>
        <p:spPr>
          <a:xfrm>
            <a:off x="5953125" y="1693862"/>
            <a:ext cx="6019800" cy="1704975"/>
          </a:xfrm>
          <a:prstGeom prst="rect">
            <a:avLst/>
          </a:prstGeom>
          <a:solidFill>
            <a:srgbClr val="FFFFFF"/>
          </a:solidFill>
          <a:ln w="0">
            <a:solidFill>
              <a:srgbClr val="D6DEE6"/>
            </a:solidFill>
            <a:prstDash val="solid"/>
          </a:ln>
          <a:effectLst/>
        </p:spPr>
        <p:txBody>
          <a:bodyPr/>
          <a:lstStyle/>
          <a:p>
            <a:endParaRPr lang="zh-CN" altLang="en-US">
              <a:latin typeface="Times New Roman" panose="02020603050405020304" pitchFamily="18" charset="0"/>
              <a:ea typeface="微软雅黑" panose="020B0503020204020204" charset="-122"/>
              <a:cs typeface="Times New Roman" panose="02020603050405020304" pitchFamily="18" charset="0"/>
            </a:endParaRPr>
          </a:p>
        </p:txBody>
      </p:sp>
      <p:sp>
        <p:nvSpPr>
          <p:cNvPr id="63" name="s18-bang-header-rule"/>
          <p:cNvSpPr>
            <a:spLocks noGrp="1"/>
          </p:cNvSpPr>
          <p:nvPr/>
        </p:nvSpPr>
        <p:spPr>
          <a:xfrm>
            <a:off x="5953125" y="1684337"/>
            <a:ext cx="6019800" cy="9525"/>
          </a:xfrm>
          <a:prstGeom prst="rect">
            <a:avLst/>
          </a:prstGeom>
          <a:solidFill>
            <a:srgbClr val="5B7188"/>
          </a:solidFill>
          <a:ln w="0">
            <a:solidFill>
              <a:srgbClr val="294A6D"/>
            </a:solidFill>
            <a:prstDash val="solid"/>
          </a:ln>
          <a:effectLst/>
        </p:spPr>
      </p:sp>
      <p:sp>
        <p:nvSpPr>
          <p:cNvPr id="64" name="s18-bang-title"/>
          <p:cNvSpPr>
            <a:spLocks noGrp="1"/>
          </p:cNvSpPr>
          <p:nvPr/>
        </p:nvSpPr>
        <p:spPr>
          <a:xfrm>
            <a:off x="6019800" y="1150937"/>
            <a:ext cx="5886450" cy="295275"/>
          </a:xfrm>
          <a:prstGeom prst="rect">
            <a:avLst/>
          </a:prstGeom>
          <a:noFill/>
          <a:ln w="0">
            <a:noFill/>
            <a:prstDash val="solid"/>
          </a:ln>
          <a:effectLst/>
        </p:spPr>
        <p:txBody>
          <a:bodyPr wrap="square" lIns="0" tIns="0" rIns="0" bIns="0" anchor="ctr">
            <a:normAutofit fontScale="99359"/>
          </a:bodyPr>
          <a:lstStyle/>
          <a:p>
            <a:pPr algn="ctr">
              <a:defRPr sz="1950" b="1">
                <a:solidFill>
                  <a:srgbClr val="1457C5"/>
                </a:solidFill>
                <a:latin typeface="Calibri" panose="020F0502020204030204"/>
                <a:ea typeface="Calibri" panose="020F0502020204030204"/>
                <a:cs typeface="Calibri" panose="020F0502020204030204"/>
              </a:defRPr>
            </a:pPr>
            <a:r>
              <a:rPr sz="1950" b="1">
                <a:solidFill>
                  <a:srgbClr val="294A6D"/>
                </a:solidFill>
                <a:latin typeface="Times New Roman" panose="02020603050405020304" pitchFamily="18" charset="0"/>
                <a:ea typeface="微软雅黑" panose="020B0503020204020204" charset="-122"/>
                <a:cs typeface="Times New Roman" panose="02020603050405020304" pitchFamily="18" charset="0"/>
              </a:rPr>
              <a:t>BANG C</a:t>
            </a:r>
          </a:p>
        </p:txBody>
      </p:sp>
      <p:sp>
        <p:nvSpPr>
          <p:cNvPr id="66" name="s18-bang-divider-1"/>
          <p:cNvSpPr>
            <a:spLocks noGrp="1"/>
          </p:cNvSpPr>
          <p:nvPr/>
        </p:nvSpPr>
        <p:spPr>
          <a:xfrm>
            <a:off x="7181850" y="1760537"/>
            <a:ext cx="9525" cy="1562100"/>
          </a:xfrm>
          <a:prstGeom prst="rect">
            <a:avLst/>
          </a:prstGeom>
          <a:solidFill>
            <a:srgbClr val="EEF2F5"/>
          </a:solidFill>
          <a:ln w="0">
            <a:solidFill>
              <a:srgbClr val="D6DEE6"/>
            </a:solidFill>
            <a:prstDash val="solid"/>
          </a:ln>
          <a:effectLst/>
        </p:spPr>
      </p:sp>
      <p:sp>
        <p:nvSpPr>
          <p:cNvPr id="67" name="s18-bang-divider-2"/>
          <p:cNvSpPr>
            <a:spLocks noGrp="1"/>
          </p:cNvSpPr>
          <p:nvPr/>
        </p:nvSpPr>
        <p:spPr>
          <a:xfrm>
            <a:off x="8715375" y="1760537"/>
            <a:ext cx="9525" cy="1562100"/>
          </a:xfrm>
          <a:prstGeom prst="rect">
            <a:avLst/>
          </a:prstGeom>
          <a:solidFill>
            <a:srgbClr val="EEF2F5"/>
          </a:solidFill>
          <a:ln w="0">
            <a:solidFill>
              <a:srgbClr val="D6DEE6"/>
            </a:solidFill>
            <a:prstDash val="solid"/>
          </a:ln>
          <a:effectLst/>
        </p:spPr>
      </p:sp>
      <p:sp>
        <p:nvSpPr>
          <p:cNvPr id="68" name="s18-bang-divider-3"/>
          <p:cNvSpPr>
            <a:spLocks noGrp="1"/>
          </p:cNvSpPr>
          <p:nvPr/>
        </p:nvSpPr>
        <p:spPr>
          <a:xfrm>
            <a:off x="10782300" y="1760537"/>
            <a:ext cx="9525" cy="1562100"/>
          </a:xfrm>
          <a:prstGeom prst="rect">
            <a:avLst/>
          </a:prstGeom>
          <a:solidFill>
            <a:srgbClr val="EEF2F5"/>
          </a:solidFill>
          <a:ln w="0">
            <a:solidFill>
              <a:srgbClr val="D6DEE6"/>
            </a:solidFill>
            <a:prstDash val="solid"/>
          </a:ln>
          <a:effectLst/>
        </p:spPr>
      </p:sp>
      <p:sp>
        <p:nvSpPr>
          <p:cNvPr id="69" name="s18-bang-c1-number"/>
          <p:cNvSpPr>
            <a:spLocks noGrp="1"/>
          </p:cNvSpPr>
          <p:nvPr/>
        </p:nvSpPr>
        <p:spPr>
          <a:xfrm>
            <a:off x="60388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1</a:t>
            </a:r>
          </a:p>
        </p:txBody>
      </p:sp>
      <p:sp>
        <p:nvSpPr>
          <p:cNvPr id="70" name="s18-bang-c1-title"/>
          <p:cNvSpPr>
            <a:spLocks noGrp="1"/>
          </p:cNvSpPr>
          <p:nvPr/>
        </p:nvSpPr>
        <p:spPr>
          <a:xfrm>
            <a:off x="6286500" y="1751012"/>
            <a:ext cx="8382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当前阶段</a:t>
            </a:r>
          </a:p>
        </p:txBody>
      </p:sp>
      <p:sp>
        <p:nvSpPr>
          <p:cNvPr id="71" name="s18-bang-c2-number"/>
          <p:cNvSpPr>
            <a:spLocks noGrp="1"/>
          </p:cNvSpPr>
          <p:nvPr/>
        </p:nvSpPr>
        <p:spPr>
          <a:xfrm>
            <a:off x="72771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2</a:t>
            </a:r>
          </a:p>
        </p:txBody>
      </p:sp>
      <p:sp>
        <p:nvSpPr>
          <p:cNvPr id="72" name="s18-bang-c2-title"/>
          <p:cNvSpPr>
            <a:spLocks noGrp="1"/>
          </p:cNvSpPr>
          <p:nvPr/>
        </p:nvSpPr>
        <p:spPr>
          <a:xfrm>
            <a:off x="7524750" y="1751012"/>
            <a:ext cx="1114425"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已完成</a:t>
            </a:r>
          </a:p>
        </p:txBody>
      </p:sp>
      <p:sp>
        <p:nvSpPr>
          <p:cNvPr id="73" name="s18-bang-c3-number"/>
          <p:cNvSpPr>
            <a:spLocks noGrp="1"/>
          </p:cNvSpPr>
          <p:nvPr/>
        </p:nvSpPr>
        <p:spPr>
          <a:xfrm>
            <a:off x="8810625"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3</a:t>
            </a:r>
          </a:p>
        </p:txBody>
      </p:sp>
      <p:sp>
        <p:nvSpPr>
          <p:cNvPr id="74" name="s18-bang-c3-title"/>
          <p:cNvSpPr>
            <a:spLocks noGrp="1"/>
          </p:cNvSpPr>
          <p:nvPr/>
        </p:nvSpPr>
        <p:spPr>
          <a:xfrm>
            <a:off x="9058275" y="1751012"/>
            <a:ext cx="16573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验证程度</a:t>
            </a:r>
          </a:p>
        </p:txBody>
      </p:sp>
      <p:sp>
        <p:nvSpPr>
          <p:cNvPr id="75" name="s18-bang-c4-number"/>
          <p:cNvSpPr>
            <a:spLocks noGrp="1"/>
          </p:cNvSpPr>
          <p:nvPr/>
        </p:nvSpPr>
        <p:spPr>
          <a:xfrm>
            <a:off x="108775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4</a:t>
            </a:r>
          </a:p>
        </p:txBody>
      </p:sp>
      <p:sp>
        <p:nvSpPr>
          <p:cNvPr id="76" name="s18-bang-c4-title"/>
          <p:cNvSpPr>
            <a:spLocks noGrp="1"/>
          </p:cNvSpPr>
          <p:nvPr/>
        </p:nvSpPr>
        <p:spPr>
          <a:xfrm>
            <a:off x="11125200" y="1751012"/>
            <a:ext cx="762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下一步</a:t>
            </a:r>
          </a:p>
        </p:txBody>
      </p:sp>
      <p:sp>
        <p:nvSpPr>
          <p:cNvPr id="77" name="s18-bang-stage"/>
          <p:cNvSpPr>
            <a:spLocks noGrp="1"/>
          </p:cNvSpPr>
          <p:nvPr/>
        </p:nvSpPr>
        <p:spPr>
          <a:xfrm>
            <a:off x="6038850" y="2017712"/>
            <a:ext cx="1066800" cy="504825"/>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F3A45"/>
                </a:solidFill>
                <a:latin typeface="Times New Roman" panose="02020603050405020304" pitchFamily="18" charset="0"/>
                <a:ea typeface="微软雅黑" panose="020B0503020204020204" charset="-122"/>
                <a:cs typeface="Times New Roman" panose="02020603050405020304" pitchFamily="18" charset="0"/>
              </a:rPr>
              <a:t>从“能开发”向</a:t>
            </a:r>
          </a:p>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F3A45"/>
                </a:solidFill>
                <a:latin typeface="Times New Roman" panose="02020603050405020304" pitchFamily="18" charset="0"/>
                <a:ea typeface="微软雅黑" panose="020B0503020204020204" charset="-122"/>
                <a:cs typeface="Times New Roman" panose="02020603050405020304" pitchFamily="18" charset="0"/>
              </a:rPr>
              <a:t>“高性能开发”推进</a:t>
            </a:r>
          </a:p>
        </p:txBody>
      </p:sp>
      <p:sp>
        <p:nvSpPr>
          <p:cNvPr id="78" name="s18-bang-done-1-symbol"/>
          <p:cNvSpPr>
            <a:spLocks noGrp="1"/>
          </p:cNvSpPr>
          <p:nvPr/>
        </p:nvSpPr>
        <p:spPr>
          <a:xfrm>
            <a:off x="7296150" y="2008187"/>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79" name="s18-bang-done-1-text"/>
          <p:cNvSpPr>
            <a:spLocks noGrp="1"/>
          </p:cNvSpPr>
          <p:nvPr/>
        </p:nvSpPr>
        <p:spPr>
          <a:xfrm>
            <a:off x="7458075" y="2008187"/>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基础 Skill 结构</a:t>
            </a:r>
          </a:p>
        </p:txBody>
      </p:sp>
      <p:sp>
        <p:nvSpPr>
          <p:cNvPr id="80" name="s18-bang-done-2-symbol"/>
          <p:cNvSpPr>
            <a:spLocks noGrp="1"/>
          </p:cNvSpPr>
          <p:nvPr/>
        </p:nvSpPr>
        <p:spPr>
          <a:xfrm>
            <a:off x="7296150" y="22272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81" name="s18-bang-done-2-text"/>
          <p:cNvSpPr>
            <a:spLocks noGrp="1"/>
          </p:cNvSpPr>
          <p:nvPr/>
        </p:nvSpPr>
        <p:spPr>
          <a:xfrm>
            <a:off x="7458075" y="2227262"/>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真机编译 / 执行</a:t>
            </a:r>
          </a:p>
        </p:txBody>
      </p:sp>
      <p:sp>
        <p:nvSpPr>
          <p:cNvPr id="82" name="s18-bang-done-3-symbol"/>
          <p:cNvSpPr>
            <a:spLocks noGrp="1"/>
          </p:cNvSpPr>
          <p:nvPr/>
        </p:nvSpPr>
        <p:spPr>
          <a:xfrm>
            <a:off x="7296150" y="2446337"/>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83" name="s18-bang-done-3-text"/>
          <p:cNvSpPr>
            <a:spLocks noGrp="1"/>
          </p:cNvSpPr>
          <p:nvPr/>
        </p:nvSpPr>
        <p:spPr>
          <a:xfrm>
            <a:off x="7458075" y="2446337"/>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Correctness</a:t>
            </a:r>
          </a:p>
        </p:txBody>
      </p:sp>
      <p:sp>
        <p:nvSpPr>
          <p:cNvPr id="84" name="s18-bang-done-4-symbol"/>
          <p:cNvSpPr>
            <a:spLocks noGrp="1"/>
          </p:cNvSpPr>
          <p:nvPr/>
        </p:nvSpPr>
        <p:spPr>
          <a:xfrm>
            <a:off x="7296150" y="26654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85" name="s18-bang-done-4-text"/>
          <p:cNvSpPr>
            <a:spLocks noGrp="1"/>
          </p:cNvSpPr>
          <p:nvPr/>
        </p:nvSpPr>
        <p:spPr>
          <a:xfrm>
            <a:off x="7458075" y="2665412"/>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Benchmark</a:t>
            </a:r>
          </a:p>
        </p:txBody>
      </p:sp>
      <p:sp>
        <p:nvSpPr>
          <p:cNvPr id="86" name="s18-bang-done-5-symbol"/>
          <p:cNvSpPr>
            <a:spLocks noGrp="1"/>
          </p:cNvSpPr>
          <p:nvPr/>
        </p:nvSpPr>
        <p:spPr>
          <a:xfrm>
            <a:off x="7296150" y="2884487"/>
            <a:ext cx="133350" cy="3048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87" name="s18-bang-done-5-text"/>
          <p:cNvSpPr>
            <a:spLocks noGrp="1"/>
          </p:cNvSpPr>
          <p:nvPr/>
        </p:nvSpPr>
        <p:spPr>
          <a:xfrm>
            <a:off x="7458075" y="2884487"/>
            <a:ext cx="1209675" cy="30480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LayerNorm 等实际算子测试</a:t>
            </a:r>
          </a:p>
        </p:txBody>
      </p:sp>
      <p:sp>
        <p:nvSpPr>
          <p:cNvPr id="88" name="s18-bang-val-1-symbol"/>
          <p:cNvSpPr>
            <a:spLocks noGrp="1"/>
          </p:cNvSpPr>
          <p:nvPr/>
        </p:nvSpPr>
        <p:spPr>
          <a:xfrm>
            <a:off x="8829675" y="2008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89" name="s18-bang-val-1-text"/>
          <p:cNvSpPr>
            <a:spLocks noGrp="1"/>
          </p:cNvSpPr>
          <p:nvPr/>
        </p:nvSpPr>
        <p:spPr>
          <a:xfrm>
            <a:off x="8991600" y="2008187"/>
            <a:ext cx="638175" cy="180975"/>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环境  </a:t>
            </a:r>
          </a:p>
        </p:txBody>
      </p:sp>
      <p:sp>
        <p:nvSpPr>
          <p:cNvPr id="90" name="s18-bang-val-2-symbol"/>
          <p:cNvSpPr>
            <a:spLocks noGrp="1"/>
          </p:cNvSpPr>
          <p:nvPr/>
        </p:nvSpPr>
        <p:spPr>
          <a:xfrm>
            <a:off x="8829675" y="2198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91" name="s18-bang-val-2-text"/>
          <p:cNvSpPr>
            <a:spLocks noGrp="1"/>
          </p:cNvSpPr>
          <p:nvPr/>
        </p:nvSpPr>
        <p:spPr>
          <a:xfrm>
            <a:off x="8991600" y="2198687"/>
            <a:ext cx="638175" cy="180975"/>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代码生成  </a:t>
            </a:r>
          </a:p>
        </p:txBody>
      </p:sp>
      <p:sp>
        <p:nvSpPr>
          <p:cNvPr id="92" name="s18-bang-val-3-symbol"/>
          <p:cNvSpPr>
            <a:spLocks noGrp="1"/>
          </p:cNvSpPr>
          <p:nvPr/>
        </p:nvSpPr>
        <p:spPr>
          <a:xfrm>
            <a:off x="8829675" y="2389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93" name="s18-bang-val-3-text"/>
          <p:cNvSpPr>
            <a:spLocks noGrp="1"/>
          </p:cNvSpPr>
          <p:nvPr/>
        </p:nvSpPr>
        <p:spPr>
          <a:xfrm>
            <a:off x="8991600" y="2389187"/>
            <a:ext cx="638175" cy="180975"/>
          </a:xfrm>
          <a:prstGeom prst="rect">
            <a:avLst/>
          </a:prstGeom>
          <a:noFill/>
          <a:ln w="0">
            <a:noFill/>
            <a:prstDash val="solid"/>
          </a:ln>
          <a:effectLst/>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F3A45"/>
                </a:solidFill>
                <a:latin typeface="Times New Roman" panose="02020603050405020304" pitchFamily="18" charset="0"/>
                <a:ea typeface="微软雅黑" panose="020B0503020204020204" charset="-122"/>
                <a:cs typeface="Times New Roman" panose="02020603050405020304" pitchFamily="18" charset="0"/>
              </a:rPr>
              <a:t>Correctness  </a:t>
            </a:r>
          </a:p>
        </p:txBody>
      </p:sp>
      <p:sp>
        <p:nvSpPr>
          <p:cNvPr id="94" name="s18-bang-val-4-symbol"/>
          <p:cNvSpPr>
            <a:spLocks noGrp="1"/>
          </p:cNvSpPr>
          <p:nvPr/>
        </p:nvSpPr>
        <p:spPr>
          <a:xfrm>
            <a:off x="8829675" y="2579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95" name="s18-bang-val-4-text"/>
          <p:cNvSpPr>
            <a:spLocks noGrp="1"/>
          </p:cNvSpPr>
          <p:nvPr/>
        </p:nvSpPr>
        <p:spPr>
          <a:xfrm>
            <a:off x="8991600" y="2579687"/>
            <a:ext cx="638175" cy="180975"/>
          </a:xfrm>
          <a:prstGeom prst="rect">
            <a:avLst/>
          </a:prstGeom>
          <a:noFill/>
          <a:ln w="0">
            <a:noFill/>
            <a:prstDash val="solid"/>
          </a:ln>
          <a:effectLst/>
        </p:spPr>
        <p:txBody>
          <a:bodyPr wrap="square" lIns="0" tIns="0" rIns="0" bIns="0" anchor="ctr">
            <a:normAutofit/>
          </a:bodyPr>
          <a:lstStyle/>
          <a:p>
            <a:pPr algn="l">
              <a:defRPr sz="745" b="0">
                <a:solidFill>
                  <a:srgbClr val="24344D"/>
                </a:solidFill>
                <a:latin typeface="微软雅黑" panose="020B0503020204020204" charset="-122"/>
                <a:ea typeface="微软雅黑" panose="020B0503020204020204" charset="-122"/>
                <a:cs typeface="微软雅黑" panose="020B0503020204020204" charset="-122"/>
              </a:defRPr>
            </a:pPr>
            <a:r>
              <a:rPr sz="745" b="1">
                <a:solidFill>
                  <a:srgbClr val="2F3A45"/>
                </a:solidFill>
                <a:latin typeface="Times New Roman" panose="02020603050405020304" pitchFamily="18" charset="0"/>
                <a:ea typeface="微软雅黑" panose="020B0503020204020204" charset="-122"/>
                <a:cs typeface="Times New Roman" panose="02020603050405020304" pitchFamily="18" charset="0"/>
              </a:rPr>
              <a:t>Benchmark  </a:t>
            </a:r>
          </a:p>
        </p:txBody>
      </p:sp>
      <p:sp>
        <p:nvSpPr>
          <p:cNvPr id="96" name="s18-bang-val-5-symbol"/>
          <p:cNvSpPr>
            <a:spLocks noGrp="1"/>
          </p:cNvSpPr>
          <p:nvPr/>
        </p:nvSpPr>
        <p:spPr>
          <a:xfrm>
            <a:off x="8829675" y="2770187"/>
            <a:ext cx="133350" cy="200025"/>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97" name="s18-bang-val-5-text"/>
          <p:cNvSpPr>
            <a:spLocks noGrp="1"/>
          </p:cNvSpPr>
          <p:nvPr/>
        </p:nvSpPr>
        <p:spPr>
          <a:xfrm>
            <a:off x="8991600" y="2770187"/>
            <a:ext cx="638175" cy="200025"/>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高性能优化</a:t>
            </a:r>
          </a:p>
        </p:txBody>
      </p:sp>
      <p:sp>
        <p:nvSpPr>
          <p:cNvPr id="98" name="s18-bang-gap"/>
          <p:cNvSpPr>
            <a:spLocks noGrp="1"/>
          </p:cNvSpPr>
          <p:nvPr/>
        </p:nvSpPr>
        <p:spPr>
          <a:xfrm>
            <a:off x="9658350" y="2253297"/>
            <a:ext cx="1038225" cy="974090"/>
          </a:xfrm>
          <a:prstGeom prst="roundRect">
            <a:avLst>
              <a:gd name="adj" fmla="val 5505"/>
            </a:avLst>
          </a:prstGeom>
          <a:solidFill>
            <a:srgbClr val="F6ECE6"/>
          </a:solidFill>
          <a:ln w="9525">
            <a:solidFill>
              <a:srgbClr val="C77C59"/>
            </a:solidFill>
            <a:prstDash val="solid"/>
          </a:ln>
          <a:effectLst/>
        </p:spPr>
        <p:txBody>
          <a:bodyPr wrap="square" lIns="38100" tIns="28575" rIns="38100" bIns="28575" anchor="ctr">
            <a:normAutofit/>
          </a:bodyPr>
          <a:lstStyle/>
          <a:p>
            <a:endParaRPr>
              <a:solidFill>
                <a:srgbClr val="66737F"/>
              </a:solidFill>
              <a:latin typeface="Times New Roman" panose="02020603050405020304" pitchFamily="18" charset="0"/>
              <a:ea typeface="微软雅黑" panose="020B0503020204020204" charset="-122"/>
              <a:cs typeface="Times New Roman" panose="02020603050405020304" pitchFamily="18" charset="0"/>
            </a:endParaRP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显式片上存储管理、</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DMA / Pipeline、</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Core / Cluster 分工</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及高性能算子案例</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仍需进一步沉淀。</a:t>
            </a:r>
          </a:p>
        </p:txBody>
      </p:sp>
      <p:sp>
        <p:nvSpPr>
          <p:cNvPr id="99" name="s18-bang-gap-title-overlay"/>
          <p:cNvSpPr>
            <a:spLocks noGrp="1"/>
          </p:cNvSpPr>
          <p:nvPr/>
        </p:nvSpPr>
        <p:spPr>
          <a:xfrm>
            <a:off x="9686925" y="2351087"/>
            <a:ext cx="942975" cy="171450"/>
          </a:xfrm>
          <a:prstGeom prst="rect">
            <a:avLst/>
          </a:prstGeom>
          <a:noFill/>
          <a:ln w="0">
            <a:noFill/>
            <a:prstDash val="solid"/>
          </a:ln>
          <a:effectLst/>
        </p:spPr>
        <p:txBody>
          <a:bodyPr wrap="square" lIns="9525" tIns="0" rIns="9525" bIns="0" anchor="ctr">
            <a:normAutofit/>
          </a:bodyPr>
          <a:lstStyle/>
          <a:p>
            <a:pPr algn="ctr">
              <a:defRPr sz="765" b="1">
                <a:solidFill>
                  <a:srgbClr val="F07818"/>
                </a:solidFill>
                <a:latin typeface="微软雅黑" panose="020B0503020204020204" charset="-122"/>
                <a:ea typeface="微软雅黑" panose="020B0503020204020204" charset="-122"/>
                <a:cs typeface="微软雅黑" panose="020B0503020204020204" charset="-122"/>
              </a:defRPr>
            </a:pPr>
            <a:r>
              <a:rPr sz="765" b="1" dirty="0" err="1">
                <a:solidFill>
                  <a:srgbClr val="C77C59"/>
                </a:solidFill>
                <a:latin typeface="Times New Roman" panose="02020603050405020304" pitchFamily="18" charset="0"/>
                <a:ea typeface="微软雅黑" panose="020B0503020204020204" charset="-122"/>
                <a:cs typeface="Times New Roman" panose="02020603050405020304" pitchFamily="18" charset="0"/>
              </a:rPr>
              <a:t>当前主要缺口</a:t>
            </a:r>
            <a:endParaRPr sz="765" b="1" dirty="0">
              <a:solidFill>
                <a:srgbClr val="C77C59"/>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0" name="s18-bang-next-1-symbol"/>
          <p:cNvSpPr>
            <a:spLocks noGrp="1"/>
          </p:cNvSpPr>
          <p:nvPr/>
        </p:nvSpPr>
        <p:spPr>
          <a:xfrm>
            <a:off x="10887075" y="2008187"/>
            <a:ext cx="133350" cy="3619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01" name="s18-bang-next-1-text"/>
          <p:cNvSpPr>
            <a:spLocks noGrp="1"/>
          </p:cNvSpPr>
          <p:nvPr/>
        </p:nvSpPr>
        <p:spPr>
          <a:xfrm>
            <a:off x="11049000" y="2008187"/>
            <a:ext cx="828675" cy="36195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charset="-122"/>
                <a:cs typeface="Times New Roman" panose="02020603050405020304" pitchFamily="18" charset="0"/>
              </a:rPr>
              <a:t>补高性能</a:t>
            </a:r>
          </a:p>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charset="-122"/>
                <a:cs typeface="Times New Roman" panose="02020603050405020304" pitchFamily="18" charset="0"/>
              </a:rPr>
              <a:t>BANG C Reference</a:t>
            </a:r>
          </a:p>
        </p:txBody>
      </p:sp>
      <p:sp>
        <p:nvSpPr>
          <p:cNvPr id="102" name="s18-bang-next-2-symbol"/>
          <p:cNvSpPr>
            <a:spLocks noGrp="1"/>
          </p:cNvSpPr>
          <p:nvPr/>
        </p:nvSpPr>
        <p:spPr>
          <a:xfrm>
            <a:off x="10887075" y="2427287"/>
            <a:ext cx="133350" cy="4000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03" name="s18-bang-next-2-text"/>
          <p:cNvSpPr>
            <a:spLocks noGrp="1"/>
          </p:cNvSpPr>
          <p:nvPr/>
        </p:nvSpPr>
        <p:spPr>
          <a:xfrm>
            <a:off x="11049000" y="2427287"/>
            <a:ext cx="828675" cy="4000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dirty="0" err="1" smtClean="0">
                <a:solidFill>
                  <a:srgbClr val="2F3A45"/>
                </a:solidFill>
                <a:latin typeface="Times New Roman" panose="02020603050405020304" pitchFamily="18" charset="0"/>
                <a:ea typeface="微软雅黑" panose="020B0503020204020204" charset="-122"/>
                <a:cs typeface="Times New Roman" panose="02020603050405020304" pitchFamily="18" charset="0"/>
              </a:rPr>
              <a:t>将微基准结果转化为优化规则</a:t>
            </a:r>
            <a:endParaRPr sz="73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 name="s18-bang-next-3-symbol"/>
          <p:cNvSpPr>
            <a:spLocks noGrp="1"/>
          </p:cNvSpPr>
          <p:nvPr/>
        </p:nvSpPr>
        <p:spPr>
          <a:xfrm>
            <a:off x="10887075" y="2865437"/>
            <a:ext cx="133350" cy="3619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endParaRPr sz="865" b="1" dirty="0">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5" name="s18-bang-next-3-text"/>
          <p:cNvSpPr>
            <a:spLocks noGrp="1"/>
          </p:cNvSpPr>
          <p:nvPr/>
        </p:nvSpPr>
        <p:spPr>
          <a:xfrm>
            <a:off x="11049000" y="2865437"/>
            <a:ext cx="828675" cy="36195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endParaRPr sz="75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6" name="s18-cuda-frame"/>
          <p:cNvSpPr>
            <a:spLocks noGrp="1"/>
          </p:cNvSpPr>
          <p:nvPr/>
        </p:nvSpPr>
        <p:spPr>
          <a:xfrm>
            <a:off x="95250" y="3513137"/>
            <a:ext cx="5743575" cy="1905000"/>
          </a:xfrm>
          <a:prstGeom prst="rect">
            <a:avLst/>
          </a:prstGeom>
          <a:solidFill>
            <a:srgbClr val="FFFFFF"/>
          </a:solidFill>
          <a:ln w="11430">
            <a:solidFill>
              <a:srgbClr val="D6DEE6"/>
            </a:solidFill>
            <a:prstDash val="solid"/>
          </a:ln>
          <a:effectLst/>
        </p:spPr>
      </p:sp>
      <p:sp>
        <p:nvSpPr>
          <p:cNvPr id="107" name="s18-cuda-header-fill"/>
          <p:cNvSpPr>
            <a:spLocks noGrp="1"/>
          </p:cNvSpPr>
          <p:nvPr/>
        </p:nvSpPr>
        <p:spPr>
          <a:xfrm>
            <a:off x="76199" y="3522662"/>
            <a:ext cx="5724525" cy="495300"/>
          </a:xfrm>
          <a:prstGeom prst="rect">
            <a:avLst/>
          </a:prstGeom>
          <a:solidFill>
            <a:srgbClr val="FFFFFF"/>
          </a:solidFill>
          <a:ln w="0">
            <a:solidFill>
              <a:srgbClr val="D6DEE6"/>
            </a:solidFill>
            <a:prstDash val="solid"/>
          </a:ln>
          <a:effectLst/>
        </p:spPr>
      </p:sp>
      <p:sp>
        <p:nvSpPr>
          <p:cNvPr id="108" name="s18-cuda-body-fill"/>
          <p:cNvSpPr>
            <a:spLocks noGrp="1"/>
          </p:cNvSpPr>
          <p:nvPr/>
        </p:nvSpPr>
        <p:spPr>
          <a:xfrm>
            <a:off x="104775" y="4017962"/>
            <a:ext cx="5724525" cy="1390650"/>
          </a:xfrm>
          <a:prstGeom prst="rect">
            <a:avLst/>
          </a:prstGeom>
          <a:solidFill>
            <a:srgbClr val="FFFFFF"/>
          </a:solidFill>
          <a:ln w="0">
            <a:solidFill>
              <a:srgbClr val="D6DEE6"/>
            </a:solidFill>
            <a:prstDash val="solid"/>
          </a:ln>
          <a:effectLst/>
        </p:spPr>
      </p:sp>
      <p:sp>
        <p:nvSpPr>
          <p:cNvPr id="109" name="s18-cuda-header-rule"/>
          <p:cNvSpPr>
            <a:spLocks noGrp="1"/>
          </p:cNvSpPr>
          <p:nvPr/>
        </p:nvSpPr>
        <p:spPr>
          <a:xfrm>
            <a:off x="104775" y="4008437"/>
            <a:ext cx="5724525" cy="9525"/>
          </a:xfrm>
          <a:prstGeom prst="rect">
            <a:avLst/>
          </a:prstGeom>
          <a:solidFill>
            <a:srgbClr val="5B7188"/>
          </a:solidFill>
          <a:ln w="0">
            <a:solidFill>
              <a:srgbClr val="294A6D"/>
            </a:solidFill>
            <a:prstDash val="solid"/>
          </a:ln>
          <a:effectLst/>
        </p:spPr>
      </p:sp>
      <p:sp>
        <p:nvSpPr>
          <p:cNvPr id="110" name="s18-cuda-title"/>
          <p:cNvSpPr>
            <a:spLocks noGrp="1"/>
          </p:cNvSpPr>
          <p:nvPr/>
        </p:nvSpPr>
        <p:spPr>
          <a:xfrm>
            <a:off x="171450" y="3541712"/>
            <a:ext cx="5591175" cy="295275"/>
          </a:xfrm>
          <a:prstGeom prst="rect">
            <a:avLst/>
          </a:prstGeom>
          <a:noFill/>
          <a:ln w="0">
            <a:noFill/>
            <a:prstDash val="solid"/>
          </a:ln>
          <a:effectLst/>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dirty="0">
                <a:solidFill>
                  <a:srgbClr val="294A6D"/>
                </a:solidFill>
                <a:latin typeface="Times New Roman" panose="02020603050405020304" pitchFamily="18" charset="0"/>
                <a:ea typeface="微软雅黑" panose="020B0503020204020204" charset="-122"/>
                <a:cs typeface="Times New Roman" panose="02020603050405020304" pitchFamily="18" charset="0"/>
              </a:rPr>
              <a:t>CUDA</a:t>
            </a:r>
            <a:r>
              <a:rPr lang="en-US" sz="1875" b="1" dirty="0">
                <a:solidFill>
                  <a:srgbClr val="294A6D"/>
                </a:solidFill>
                <a:latin typeface="Times New Roman" panose="02020603050405020304" pitchFamily="18" charset="0"/>
                <a:ea typeface="微软雅黑" panose="020B0503020204020204" charset="-122"/>
                <a:cs typeface="Times New Roman" panose="02020603050405020304" pitchFamily="18" charset="0"/>
              </a:rPr>
              <a:t> C</a:t>
            </a:r>
            <a:endParaRPr sz="1875" b="1" dirty="0">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2" name="s18-cuda-divider-1"/>
          <p:cNvSpPr>
            <a:spLocks noGrp="1"/>
          </p:cNvSpPr>
          <p:nvPr/>
        </p:nvSpPr>
        <p:spPr>
          <a:xfrm>
            <a:off x="1228725" y="4084637"/>
            <a:ext cx="9525" cy="1257300"/>
          </a:xfrm>
          <a:prstGeom prst="rect">
            <a:avLst/>
          </a:prstGeom>
          <a:solidFill>
            <a:srgbClr val="EEF2F5"/>
          </a:solidFill>
          <a:ln w="0">
            <a:solidFill>
              <a:srgbClr val="D6DEE6"/>
            </a:solidFill>
            <a:prstDash val="solid"/>
          </a:ln>
          <a:effectLst/>
        </p:spPr>
      </p:sp>
      <p:sp>
        <p:nvSpPr>
          <p:cNvPr id="113" name="s18-cuda-divider-2"/>
          <p:cNvSpPr>
            <a:spLocks noGrp="1"/>
          </p:cNvSpPr>
          <p:nvPr/>
        </p:nvSpPr>
        <p:spPr>
          <a:xfrm>
            <a:off x="3086100" y="4084637"/>
            <a:ext cx="9525" cy="1257300"/>
          </a:xfrm>
          <a:prstGeom prst="rect">
            <a:avLst/>
          </a:prstGeom>
          <a:solidFill>
            <a:srgbClr val="EEF2F5"/>
          </a:solidFill>
          <a:ln w="0">
            <a:solidFill>
              <a:srgbClr val="D6DEE6"/>
            </a:solidFill>
            <a:prstDash val="solid"/>
          </a:ln>
          <a:effectLst/>
        </p:spPr>
      </p:sp>
      <p:sp>
        <p:nvSpPr>
          <p:cNvPr id="114" name="s18-cuda-divider-3"/>
          <p:cNvSpPr>
            <a:spLocks noGrp="1"/>
          </p:cNvSpPr>
          <p:nvPr/>
        </p:nvSpPr>
        <p:spPr>
          <a:xfrm>
            <a:off x="4467225" y="4084637"/>
            <a:ext cx="9525" cy="1257300"/>
          </a:xfrm>
          <a:prstGeom prst="rect">
            <a:avLst/>
          </a:prstGeom>
          <a:solidFill>
            <a:srgbClr val="EEF2F5"/>
          </a:solidFill>
          <a:ln w="0">
            <a:solidFill>
              <a:srgbClr val="D6DEE6"/>
            </a:solidFill>
            <a:prstDash val="solid"/>
          </a:ln>
          <a:effectLst/>
        </p:spPr>
      </p:sp>
      <p:sp>
        <p:nvSpPr>
          <p:cNvPr id="115" name="s18-cuda-c1-number"/>
          <p:cNvSpPr>
            <a:spLocks noGrp="1"/>
          </p:cNvSpPr>
          <p:nvPr/>
        </p:nvSpPr>
        <p:spPr>
          <a:xfrm>
            <a:off x="19050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1</a:t>
            </a:r>
          </a:p>
        </p:txBody>
      </p:sp>
      <p:sp>
        <p:nvSpPr>
          <p:cNvPr id="116" name="s18-cuda-c1-title"/>
          <p:cNvSpPr>
            <a:spLocks noGrp="1"/>
          </p:cNvSpPr>
          <p:nvPr/>
        </p:nvSpPr>
        <p:spPr>
          <a:xfrm>
            <a:off x="438150" y="4075112"/>
            <a:ext cx="733425"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当前阶段</a:t>
            </a:r>
          </a:p>
        </p:txBody>
      </p:sp>
      <p:sp>
        <p:nvSpPr>
          <p:cNvPr id="117" name="s18-cuda-c2-number"/>
          <p:cNvSpPr>
            <a:spLocks noGrp="1"/>
          </p:cNvSpPr>
          <p:nvPr/>
        </p:nvSpPr>
        <p:spPr>
          <a:xfrm>
            <a:off x="13239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2</a:t>
            </a:r>
          </a:p>
        </p:txBody>
      </p:sp>
      <p:sp>
        <p:nvSpPr>
          <p:cNvPr id="118" name="s18-cuda-c2-title"/>
          <p:cNvSpPr>
            <a:spLocks noGrp="1"/>
          </p:cNvSpPr>
          <p:nvPr/>
        </p:nvSpPr>
        <p:spPr>
          <a:xfrm>
            <a:off x="1571625" y="4075112"/>
            <a:ext cx="14478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已完成</a:t>
            </a:r>
          </a:p>
        </p:txBody>
      </p:sp>
      <p:sp>
        <p:nvSpPr>
          <p:cNvPr id="119" name="s18-cuda-c3-number"/>
          <p:cNvSpPr>
            <a:spLocks noGrp="1"/>
          </p:cNvSpPr>
          <p:nvPr/>
        </p:nvSpPr>
        <p:spPr>
          <a:xfrm>
            <a:off x="31813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3</a:t>
            </a:r>
          </a:p>
        </p:txBody>
      </p:sp>
      <p:sp>
        <p:nvSpPr>
          <p:cNvPr id="120" name="s18-cuda-c3-title"/>
          <p:cNvSpPr>
            <a:spLocks noGrp="1"/>
          </p:cNvSpPr>
          <p:nvPr/>
        </p:nvSpPr>
        <p:spPr>
          <a:xfrm>
            <a:off x="3429000" y="4075112"/>
            <a:ext cx="9715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验证程度</a:t>
            </a:r>
          </a:p>
        </p:txBody>
      </p:sp>
      <p:sp>
        <p:nvSpPr>
          <p:cNvPr id="121" name="s18-cuda-c4-number"/>
          <p:cNvSpPr>
            <a:spLocks noGrp="1"/>
          </p:cNvSpPr>
          <p:nvPr/>
        </p:nvSpPr>
        <p:spPr>
          <a:xfrm>
            <a:off x="45624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4</a:t>
            </a:r>
          </a:p>
        </p:txBody>
      </p:sp>
      <p:sp>
        <p:nvSpPr>
          <p:cNvPr id="122" name="s18-cuda-c4-title"/>
          <p:cNvSpPr>
            <a:spLocks noGrp="1"/>
          </p:cNvSpPr>
          <p:nvPr/>
        </p:nvSpPr>
        <p:spPr>
          <a:xfrm>
            <a:off x="4810125" y="4075112"/>
            <a:ext cx="9144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下一步</a:t>
            </a:r>
          </a:p>
        </p:txBody>
      </p:sp>
      <p:sp>
        <p:nvSpPr>
          <p:cNvPr id="123" name="s18-cuda-stage"/>
          <p:cNvSpPr>
            <a:spLocks noGrp="1"/>
          </p:cNvSpPr>
          <p:nvPr/>
        </p:nvSpPr>
        <p:spPr>
          <a:xfrm>
            <a:off x="190500" y="4351337"/>
            <a:ext cx="962025" cy="304800"/>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F3A45"/>
                </a:solidFill>
                <a:latin typeface="Times New Roman" panose="02020603050405020304" pitchFamily="18" charset="0"/>
                <a:ea typeface="微软雅黑" panose="020B0503020204020204" charset="-122"/>
                <a:cs typeface="Times New Roman" panose="02020603050405020304" pitchFamily="18" charset="0"/>
              </a:rPr>
              <a:t>基础框架完成</a:t>
            </a:r>
            <a:endParaRPr sz="86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4" name="s18-cuda-done-1-symbol"/>
          <p:cNvSpPr>
            <a:spLocks noGrp="1"/>
          </p:cNvSpPr>
          <p:nvPr/>
        </p:nvSpPr>
        <p:spPr>
          <a:xfrm>
            <a:off x="1343025" y="4341812"/>
            <a:ext cx="133350" cy="20002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25" name="s18-cuda-done-1-text"/>
          <p:cNvSpPr>
            <a:spLocks noGrp="1"/>
          </p:cNvSpPr>
          <p:nvPr/>
        </p:nvSpPr>
        <p:spPr>
          <a:xfrm>
            <a:off x="1504950" y="4341812"/>
            <a:ext cx="1543050" cy="200025"/>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CUDA 算子开发 Skill 基础版本</a:t>
            </a:r>
          </a:p>
        </p:txBody>
      </p:sp>
      <p:sp>
        <p:nvSpPr>
          <p:cNvPr id="126" name="s18-cuda-done-2-symbol"/>
          <p:cNvSpPr>
            <a:spLocks noGrp="1"/>
          </p:cNvSpPr>
          <p:nvPr/>
        </p:nvSpPr>
        <p:spPr>
          <a:xfrm>
            <a:off x="1343025"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27" name="s18-cuda-done-2-text"/>
          <p:cNvSpPr>
            <a:spLocks noGrp="1"/>
          </p:cNvSpPr>
          <p:nvPr/>
        </p:nvSpPr>
        <p:spPr>
          <a:xfrm>
            <a:off x="1504950" y="4551362"/>
            <a:ext cx="1543050" cy="19050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基础 Workflow</a:t>
            </a:r>
          </a:p>
        </p:txBody>
      </p:sp>
      <p:sp>
        <p:nvSpPr>
          <p:cNvPr id="128" name="s18-cuda-done-3-symbol"/>
          <p:cNvSpPr>
            <a:spLocks noGrp="1"/>
          </p:cNvSpPr>
          <p:nvPr/>
        </p:nvSpPr>
        <p:spPr>
          <a:xfrm>
            <a:off x="1343025" y="47609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29" name="s18-cuda-done-3-text"/>
          <p:cNvSpPr>
            <a:spLocks noGrp="1"/>
          </p:cNvSpPr>
          <p:nvPr/>
        </p:nvSpPr>
        <p:spPr>
          <a:xfrm>
            <a:off x="1504950" y="4760912"/>
            <a:ext cx="1543050" cy="209550"/>
          </a:xfrm>
          <a:prstGeom prst="rect">
            <a:avLst/>
          </a:prstGeom>
          <a:noFill/>
          <a:ln w="0">
            <a:noFill/>
            <a:prstDash val="solid"/>
          </a:ln>
          <a:effectLst/>
        </p:spPr>
        <p:txBody>
          <a:bodyPr wrap="square" lIns="0" tIns="0" rIns="0" bIns="0" anchor="ctr">
            <a:normAutofit/>
          </a:bodyPr>
          <a:lstStyle/>
          <a:p>
            <a:pPr algn="l">
              <a:defRPr sz="700"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charset="-122"/>
                <a:cs typeface="Times New Roman" panose="02020603050405020304" pitchFamily="18" charset="0"/>
              </a:rPr>
              <a:t>CUDA 平台开发规则 / 工具链框架</a:t>
            </a:r>
          </a:p>
        </p:txBody>
      </p:sp>
      <p:sp>
        <p:nvSpPr>
          <p:cNvPr id="130" name="s18-cuda-done-4-symbol"/>
          <p:cNvSpPr>
            <a:spLocks noGrp="1"/>
          </p:cNvSpPr>
          <p:nvPr/>
        </p:nvSpPr>
        <p:spPr>
          <a:xfrm>
            <a:off x="1343025" y="49895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31" name="s18-cuda-done-4-text"/>
          <p:cNvSpPr>
            <a:spLocks noGrp="1"/>
          </p:cNvSpPr>
          <p:nvPr/>
        </p:nvSpPr>
        <p:spPr>
          <a:xfrm>
            <a:off x="1504950" y="4989512"/>
            <a:ext cx="1543050" cy="2095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环境和开发提示信息已整理</a:t>
            </a:r>
          </a:p>
        </p:txBody>
      </p:sp>
      <p:sp>
        <p:nvSpPr>
          <p:cNvPr id="132" name="s18-cuda-val-1-symbol"/>
          <p:cNvSpPr>
            <a:spLocks noGrp="1"/>
          </p:cNvSpPr>
          <p:nvPr/>
        </p:nvSpPr>
        <p:spPr>
          <a:xfrm>
            <a:off x="3200400"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33" name="s18-cuda-val-1-text"/>
          <p:cNvSpPr>
            <a:spLocks noGrp="1"/>
          </p:cNvSpPr>
          <p:nvPr/>
        </p:nvSpPr>
        <p:spPr>
          <a:xfrm>
            <a:off x="3362325" y="4341812"/>
            <a:ext cx="1038225" cy="19050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Skill 框架  ✓</a:t>
            </a:r>
          </a:p>
        </p:txBody>
      </p:sp>
      <p:sp>
        <p:nvSpPr>
          <p:cNvPr id="134" name="s18-cuda-val-2-symbol"/>
          <p:cNvSpPr>
            <a:spLocks noGrp="1"/>
          </p:cNvSpPr>
          <p:nvPr/>
        </p:nvSpPr>
        <p:spPr>
          <a:xfrm>
            <a:off x="3200400"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35" name="s18-cuda-val-2-text"/>
          <p:cNvSpPr>
            <a:spLocks noGrp="1"/>
          </p:cNvSpPr>
          <p:nvPr/>
        </p:nvSpPr>
        <p:spPr>
          <a:xfrm>
            <a:off x="3362325" y="4551362"/>
            <a:ext cx="10382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平台知识  初版</a:t>
            </a:r>
          </a:p>
        </p:txBody>
      </p:sp>
      <p:sp>
        <p:nvSpPr>
          <p:cNvPr id="136" name="s18-cuda-val-3-symbol"/>
          <p:cNvSpPr>
            <a:spLocks noGrp="1"/>
          </p:cNvSpPr>
          <p:nvPr/>
        </p:nvSpPr>
        <p:spPr>
          <a:xfrm>
            <a:off x="3200400" y="4760912"/>
            <a:ext cx="133350" cy="20955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37" name="s18-cuda-val-3-text"/>
          <p:cNvSpPr>
            <a:spLocks noGrp="1"/>
          </p:cNvSpPr>
          <p:nvPr/>
        </p:nvSpPr>
        <p:spPr>
          <a:xfrm>
            <a:off x="3362325" y="4760912"/>
            <a:ext cx="1038225" cy="209550"/>
          </a:xfrm>
          <a:prstGeom prst="rect">
            <a:avLst/>
          </a:prstGeom>
          <a:noFill/>
          <a:ln w="0">
            <a:noFill/>
            <a:prstDash val="solid"/>
          </a:ln>
          <a:effectLst/>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F3A45"/>
                </a:solidFill>
                <a:latin typeface="Times New Roman" panose="02020603050405020304" pitchFamily="18" charset="0"/>
                <a:ea typeface="微软雅黑" panose="020B0503020204020204" charset="-122"/>
                <a:cs typeface="Times New Roman" panose="02020603050405020304" pitchFamily="18" charset="0"/>
              </a:rPr>
              <a:t>真实算子  待系统验证</a:t>
            </a:r>
          </a:p>
        </p:txBody>
      </p:sp>
      <p:sp>
        <p:nvSpPr>
          <p:cNvPr id="138" name="s18-cuda-val-4-symbol"/>
          <p:cNvSpPr>
            <a:spLocks noGrp="1"/>
          </p:cNvSpPr>
          <p:nvPr/>
        </p:nvSpPr>
        <p:spPr>
          <a:xfrm>
            <a:off x="3200400" y="498951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39" name="s18-cuda-val-4-text"/>
          <p:cNvSpPr>
            <a:spLocks noGrp="1"/>
          </p:cNvSpPr>
          <p:nvPr/>
        </p:nvSpPr>
        <p:spPr>
          <a:xfrm>
            <a:off x="3362325" y="4989512"/>
            <a:ext cx="10382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C77C59"/>
                </a:solidFill>
                <a:latin typeface="Times New Roman" panose="02020603050405020304" pitchFamily="18" charset="0"/>
                <a:ea typeface="微软雅黑" panose="020B0503020204020204" charset="-122"/>
                <a:cs typeface="Times New Roman" panose="02020603050405020304" pitchFamily="18" charset="0"/>
              </a:rPr>
              <a:t>性能评价  待补</a:t>
            </a:r>
          </a:p>
        </p:txBody>
      </p:sp>
      <p:sp>
        <p:nvSpPr>
          <p:cNvPr id="140" name="s18-cuda-next-1-symbol"/>
          <p:cNvSpPr>
            <a:spLocks noGrp="1"/>
          </p:cNvSpPr>
          <p:nvPr/>
        </p:nvSpPr>
        <p:spPr>
          <a:xfrm>
            <a:off x="4581525"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41" name="s18-cuda-next-1-text"/>
          <p:cNvSpPr>
            <a:spLocks noGrp="1"/>
          </p:cNvSpPr>
          <p:nvPr/>
        </p:nvSpPr>
        <p:spPr>
          <a:xfrm>
            <a:off x="4743450" y="4341812"/>
            <a:ext cx="971550"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charset="-122"/>
                <a:cs typeface="Times New Roman" panose="02020603050405020304" pitchFamily="18" charset="0"/>
              </a:rPr>
              <a:t>统一环境验证</a:t>
            </a:r>
          </a:p>
        </p:txBody>
      </p:sp>
      <p:sp>
        <p:nvSpPr>
          <p:cNvPr id="142" name="s18-cuda-next-2-symbol"/>
          <p:cNvSpPr>
            <a:spLocks noGrp="1"/>
          </p:cNvSpPr>
          <p:nvPr/>
        </p:nvSpPr>
        <p:spPr>
          <a:xfrm>
            <a:off x="4581525" y="4541837"/>
            <a:ext cx="133350" cy="3238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43" name="s18-cuda-next-2-text"/>
          <p:cNvSpPr>
            <a:spLocks noGrp="1"/>
          </p:cNvSpPr>
          <p:nvPr/>
        </p:nvSpPr>
        <p:spPr>
          <a:xfrm>
            <a:off x="4743450" y="4541837"/>
            <a:ext cx="971550" cy="323850"/>
          </a:xfrm>
          <a:prstGeom prst="rect">
            <a:avLst/>
          </a:prstGeom>
          <a:noFill/>
          <a:ln w="0">
            <a:noFill/>
            <a:prstDash val="solid"/>
          </a:ln>
          <a:effectLst/>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charset="-122"/>
                <a:cs typeface="Times New Roman" panose="02020603050405020304" pitchFamily="18" charset="0"/>
              </a:rPr>
              <a:t>LayerNorm / Softmax </a:t>
            </a:r>
          </a:p>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charset="-122"/>
                <a:cs typeface="Times New Roman" panose="02020603050405020304" pitchFamily="18" charset="0"/>
              </a:rPr>
              <a:t>MatMul 实测</a:t>
            </a:r>
          </a:p>
        </p:txBody>
      </p:sp>
      <p:sp>
        <p:nvSpPr>
          <p:cNvPr id="144" name="s18-cuda-next-3-symbol"/>
          <p:cNvSpPr>
            <a:spLocks noGrp="1"/>
          </p:cNvSpPr>
          <p:nvPr/>
        </p:nvSpPr>
        <p:spPr>
          <a:xfrm>
            <a:off x="4581525" y="4875212"/>
            <a:ext cx="133350" cy="3238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45" name="s18-cuda-next-3-text"/>
          <p:cNvSpPr>
            <a:spLocks noGrp="1"/>
          </p:cNvSpPr>
          <p:nvPr/>
        </p:nvSpPr>
        <p:spPr>
          <a:xfrm>
            <a:off x="4762500" y="4836477"/>
            <a:ext cx="971550" cy="323850"/>
          </a:xfrm>
          <a:prstGeom prst="rect">
            <a:avLst/>
          </a:prstGeom>
          <a:noFill/>
          <a:ln w="0">
            <a:noFill/>
            <a:prstDash val="solid"/>
          </a:ln>
          <a:effectLst/>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charset="-122"/>
                <a:cs typeface="Times New Roman" panose="02020603050405020304" pitchFamily="18" charset="0"/>
              </a:rPr>
              <a:t>补齐 Nsight / Profiling</a:t>
            </a:r>
          </a:p>
        </p:txBody>
      </p:sp>
      <p:sp>
        <p:nvSpPr>
          <p:cNvPr id="146" name="s18-cuda-next-4-symbol"/>
          <p:cNvSpPr>
            <a:spLocks noGrp="1"/>
          </p:cNvSpPr>
          <p:nvPr/>
        </p:nvSpPr>
        <p:spPr>
          <a:xfrm>
            <a:off x="4581525" y="5199062"/>
            <a:ext cx="133350" cy="1524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47" name="s18-cuda-next-4-text"/>
          <p:cNvSpPr>
            <a:spLocks noGrp="1"/>
          </p:cNvSpPr>
          <p:nvPr/>
        </p:nvSpPr>
        <p:spPr>
          <a:xfrm>
            <a:off x="4742815" y="5160962"/>
            <a:ext cx="1372870" cy="209550"/>
          </a:xfrm>
          <a:prstGeom prst="rect">
            <a:avLst/>
          </a:prstGeom>
          <a:noFill/>
          <a:ln w="0">
            <a:noFill/>
            <a:prstDash val="solid"/>
          </a:ln>
          <a:effectLst/>
        </p:spPr>
        <p:txBody>
          <a:bodyPr wrap="square" lIns="0" tIns="0" rIns="0" bIns="0" anchor="ctr">
            <a:noAutofit/>
          </a:bodyPr>
          <a:lstStyle/>
          <a:p>
            <a:pPr algn="l">
              <a:defRPr sz="660"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charset="-122"/>
                <a:cs typeface="Times New Roman" panose="02020603050405020304" pitchFamily="18" charset="0"/>
              </a:rPr>
              <a:t>形成 CUDA Platform Knowledge</a:t>
            </a:r>
          </a:p>
        </p:txBody>
      </p:sp>
      <p:sp>
        <p:nvSpPr>
          <p:cNvPr id="148" name="s18-gpu-frame"/>
          <p:cNvSpPr>
            <a:spLocks noGrp="1"/>
          </p:cNvSpPr>
          <p:nvPr/>
        </p:nvSpPr>
        <p:spPr>
          <a:xfrm>
            <a:off x="5943600" y="3513137"/>
            <a:ext cx="6038850" cy="1905000"/>
          </a:xfrm>
          <a:prstGeom prst="rect">
            <a:avLst/>
          </a:prstGeom>
          <a:solidFill>
            <a:srgbClr val="FFFFFF"/>
          </a:solidFill>
          <a:ln w="11430">
            <a:solidFill>
              <a:srgbClr val="D6DEE6"/>
            </a:solidFill>
            <a:prstDash val="solid"/>
          </a:ln>
          <a:effectLst/>
        </p:spPr>
      </p:sp>
      <p:sp>
        <p:nvSpPr>
          <p:cNvPr id="149" name="s18-gpu-header-fill"/>
          <p:cNvSpPr>
            <a:spLocks noGrp="1"/>
          </p:cNvSpPr>
          <p:nvPr/>
        </p:nvSpPr>
        <p:spPr>
          <a:xfrm>
            <a:off x="5953125" y="3522662"/>
            <a:ext cx="6019800" cy="495300"/>
          </a:xfrm>
          <a:prstGeom prst="rect">
            <a:avLst/>
          </a:prstGeom>
          <a:solidFill>
            <a:srgbClr val="FFFFFF"/>
          </a:solidFill>
          <a:ln w="0">
            <a:solidFill>
              <a:srgbClr val="D6DEE6"/>
            </a:solidFill>
            <a:prstDash val="solid"/>
          </a:ln>
          <a:effectLst/>
        </p:spPr>
      </p:sp>
      <p:sp>
        <p:nvSpPr>
          <p:cNvPr id="150" name="s18-gpu-body-fill"/>
          <p:cNvSpPr>
            <a:spLocks noGrp="1"/>
          </p:cNvSpPr>
          <p:nvPr/>
        </p:nvSpPr>
        <p:spPr>
          <a:xfrm>
            <a:off x="5953125" y="4017962"/>
            <a:ext cx="6019800" cy="1390650"/>
          </a:xfrm>
          <a:prstGeom prst="rect">
            <a:avLst/>
          </a:prstGeom>
          <a:solidFill>
            <a:srgbClr val="FFFFFF"/>
          </a:solidFill>
          <a:ln w="0">
            <a:solidFill>
              <a:srgbClr val="D6DEE6"/>
            </a:solidFill>
            <a:prstDash val="solid"/>
          </a:ln>
          <a:effectLst/>
        </p:spPr>
      </p:sp>
      <p:sp>
        <p:nvSpPr>
          <p:cNvPr id="151" name="s18-gpu-header-rule"/>
          <p:cNvSpPr>
            <a:spLocks noGrp="1"/>
          </p:cNvSpPr>
          <p:nvPr/>
        </p:nvSpPr>
        <p:spPr>
          <a:xfrm>
            <a:off x="5953125" y="4008437"/>
            <a:ext cx="6019800" cy="9525"/>
          </a:xfrm>
          <a:prstGeom prst="rect">
            <a:avLst/>
          </a:prstGeom>
          <a:solidFill>
            <a:srgbClr val="4F8A83"/>
          </a:solidFill>
          <a:ln w="0">
            <a:solidFill>
              <a:srgbClr val="4F8A83"/>
            </a:solidFill>
            <a:prstDash val="solid"/>
          </a:ln>
          <a:effectLst/>
        </p:spPr>
      </p:sp>
      <p:sp>
        <p:nvSpPr>
          <p:cNvPr id="152" name="s18-gpu-title"/>
          <p:cNvSpPr>
            <a:spLocks noGrp="1"/>
          </p:cNvSpPr>
          <p:nvPr/>
        </p:nvSpPr>
        <p:spPr>
          <a:xfrm>
            <a:off x="6019800" y="3541712"/>
            <a:ext cx="5886450" cy="295275"/>
          </a:xfrm>
          <a:prstGeom prst="rect">
            <a:avLst/>
          </a:prstGeom>
          <a:noFill/>
          <a:ln w="0">
            <a:noFill/>
            <a:prstDash val="solid"/>
          </a:ln>
          <a:effectLst/>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a:solidFill>
                  <a:srgbClr val="294A6D"/>
                </a:solidFill>
                <a:latin typeface="Times New Roman" panose="02020603050405020304" pitchFamily="18" charset="0"/>
                <a:ea typeface="微软雅黑" panose="020B0503020204020204" charset="-122"/>
                <a:cs typeface="Times New Roman" panose="02020603050405020304" pitchFamily="18" charset="0"/>
              </a:rPr>
              <a:t>GPU Triton</a:t>
            </a:r>
          </a:p>
        </p:txBody>
      </p:sp>
      <p:sp>
        <p:nvSpPr>
          <p:cNvPr id="154" name="s18-gpu-divider-1"/>
          <p:cNvSpPr>
            <a:spLocks noGrp="1"/>
          </p:cNvSpPr>
          <p:nvPr/>
        </p:nvSpPr>
        <p:spPr>
          <a:xfrm>
            <a:off x="7048500" y="4084637"/>
            <a:ext cx="9525" cy="1257300"/>
          </a:xfrm>
          <a:prstGeom prst="rect">
            <a:avLst/>
          </a:prstGeom>
          <a:solidFill>
            <a:srgbClr val="EEF2F5"/>
          </a:solidFill>
          <a:ln w="0">
            <a:solidFill>
              <a:srgbClr val="D6DEE6"/>
            </a:solidFill>
            <a:prstDash val="solid"/>
          </a:ln>
          <a:effectLst/>
        </p:spPr>
      </p:sp>
      <p:sp>
        <p:nvSpPr>
          <p:cNvPr id="155" name="s18-gpu-divider-2"/>
          <p:cNvSpPr>
            <a:spLocks noGrp="1"/>
          </p:cNvSpPr>
          <p:nvPr/>
        </p:nvSpPr>
        <p:spPr>
          <a:xfrm>
            <a:off x="8924925" y="4084637"/>
            <a:ext cx="9525" cy="1257300"/>
          </a:xfrm>
          <a:prstGeom prst="rect">
            <a:avLst/>
          </a:prstGeom>
          <a:solidFill>
            <a:srgbClr val="EEF2F5"/>
          </a:solidFill>
          <a:ln w="0">
            <a:solidFill>
              <a:srgbClr val="D6DEE6"/>
            </a:solidFill>
            <a:prstDash val="solid"/>
          </a:ln>
          <a:effectLst/>
        </p:spPr>
      </p:sp>
      <p:sp>
        <p:nvSpPr>
          <p:cNvPr id="156" name="s18-gpu-divider-3"/>
          <p:cNvSpPr>
            <a:spLocks noGrp="1"/>
          </p:cNvSpPr>
          <p:nvPr/>
        </p:nvSpPr>
        <p:spPr>
          <a:xfrm>
            <a:off x="10382250" y="4084637"/>
            <a:ext cx="9525" cy="1257300"/>
          </a:xfrm>
          <a:prstGeom prst="rect">
            <a:avLst/>
          </a:prstGeom>
          <a:solidFill>
            <a:srgbClr val="EEF2F5"/>
          </a:solidFill>
          <a:ln w="0">
            <a:solidFill>
              <a:srgbClr val="D6DEE6"/>
            </a:solidFill>
            <a:prstDash val="solid"/>
          </a:ln>
          <a:effectLst/>
        </p:spPr>
      </p:sp>
      <p:sp>
        <p:nvSpPr>
          <p:cNvPr id="157" name="s18-gpu-c1-number"/>
          <p:cNvSpPr>
            <a:spLocks noGrp="1"/>
          </p:cNvSpPr>
          <p:nvPr/>
        </p:nvSpPr>
        <p:spPr>
          <a:xfrm>
            <a:off x="60388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1</a:t>
            </a:r>
          </a:p>
        </p:txBody>
      </p:sp>
      <p:sp>
        <p:nvSpPr>
          <p:cNvPr id="158" name="s18-gpu-c1-title"/>
          <p:cNvSpPr>
            <a:spLocks noGrp="1"/>
          </p:cNvSpPr>
          <p:nvPr/>
        </p:nvSpPr>
        <p:spPr>
          <a:xfrm>
            <a:off x="6286500" y="4075112"/>
            <a:ext cx="7048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当前阶段</a:t>
            </a:r>
          </a:p>
        </p:txBody>
      </p:sp>
      <p:sp>
        <p:nvSpPr>
          <p:cNvPr id="159" name="s18-gpu-c2-number"/>
          <p:cNvSpPr>
            <a:spLocks noGrp="1"/>
          </p:cNvSpPr>
          <p:nvPr/>
        </p:nvSpPr>
        <p:spPr>
          <a:xfrm>
            <a:off x="71437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2</a:t>
            </a:r>
          </a:p>
        </p:txBody>
      </p:sp>
      <p:sp>
        <p:nvSpPr>
          <p:cNvPr id="160" name="s18-gpu-c2-title"/>
          <p:cNvSpPr>
            <a:spLocks noGrp="1"/>
          </p:cNvSpPr>
          <p:nvPr/>
        </p:nvSpPr>
        <p:spPr>
          <a:xfrm>
            <a:off x="7391400" y="4075112"/>
            <a:ext cx="14668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已完成</a:t>
            </a:r>
          </a:p>
        </p:txBody>
      </p:sp>
      <p:sp>
        <p:nvSpPr>
          <p:cNvPr id="161" name="s18-gpu-c3-number"/>
          <p:cNvSpPr>
            <a:spLocks noGrp="1"/>
          </p:cNvSpPr>
          <p:nvPr/>
        </p:nvSpPr>
        <p:spPr>
          <a:xfrm>
            <a:off x="90201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3</a:t>
            </a:r>
          </a:p>
        </p:txBody>
      </p:sp>
      <p:sp>
        <p:nvSpPr>
          <p:cNvPr id="162" name="s18-gpu-c3-title"/>
          <p:cNvSpPr>
            <a:spLocks noGrp="1"/>
          </p:cNvSpPr>
          <p:nvPr/>
        </p:nvSpPr>
        <p:spPr>
          <a:xfrm>
            <a:off x="9267825" y="4075112"/>
            <a:ext cx="10477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验证程度</a:t>
            </a:r>
          </a:p>
        </p:txBody>
      </p:sp>
      <p:sp>
        <p:nvSpPr>
          <p:cNvPr id="163" name="s18-gpu-c4-number"/>
          <p:cNvSpPr>
            <a:spLocks noGrp="1"/>
          </p:cNvSpPr>
          <p:nvPr/>
        </p:nvSpPr>
        <p:spPr>
          <a:xfrm>
            <a:off x="1047750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4</a:t>
            </a:r>
          </a:p>
        </p:txBody>
      </p:sp>
      <p:sp>
        <p:nvSpPr>
          <p:cNvPr id="164" name="s18-gpu-c4-title"/>
          <p:cNvSpPr>
            <a:spLocks noGrp="1"/>
          </p:cNvSpPr>
          <p:nvPr/>
        </p:nvSpPr>
        <p:spPr>
          <a:xfrm>
            <a:off x="10725150" y="4075112"/>
            <a:ext cx="1143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下一步</a:t>
            </a:r>
          </a:p>
        </p:txBody>
      </p:sp>
      <p:sp>
        <p:nvSpPr>
          <p:cNvPr id="165" name="s18-gpu-stage"/>
          <p:cNvSpPr>
            <a:spLocks noGrp="1"/>
          </p:cNvSpPr>
          <p:nvPr/>
        </p:nvSpPr>
        <p:spPr>
          <a:xfrm>
            <a:off x="6038850" y="4341812"/>
            <a:ext cx="942975" cy="666750"/>
          </a:xfrm>
          <a:prstGeom prst="rect">
            <a:avLst/>
          </a:prstGeom>
          <a:noFill/>
          <a:ln w="0">
            <a:noFill/>
            <a:prstDash val="solid"/>
          </a:ln>
          <a:effectLst/>
        </p:spPr>
        <p:txBody>
          <a:bodyPr wrap="square" lIns="0" tIns="19050" rIns="0" bIns="0" anchor="t">
            <a:normAutofit/>
          </a:bodyPr>
          <a:lstStyle/>
          <a:p>
            <a:pPr>
              <a:defRPr sz="865" b="1">
                <a:solidFill>
                  <a:srgbClr val="24344D"/>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F3A45"/>
                </a:solidFill>
                <a:latin typeface="Times New Roman" panose="02020603050405020304" pitchFamily="18" charset="0"/>
                <a:ea typeface="微软雅黑" panose="020B0503020204020204" charset="-122"/>
                <a:cs typeface="Times New Roman" panose="02020603050405020304" pitchFamily="18" charset="0"/>
              </a:rPr>
              <a:t>基础框架完成</a:t>
            </a:r>
          </a:p>
        </p:txBody>
      </p:sp>
      <p:sp>
        <p:nvSpPr>
          <p:cNvPr id="166" name="s18-gpu-done-1-symbol"/>
          <p:cNvSpPr>
            <a:spLocks noGrp="1"/>
          </p:cNvSpPr>
          <p:nvPr/>
        </p:nvSpPr>
        <p:spPr>
          <a:xfrm>
            <a:off x="7162800"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67" name="s18-gpu-done-1-text"/>
          <p:cNvSpPr>
            <a:spLocks noGrp="1"/>
          </p:cNvSpPr>
          <p:nvPr/>
        </p:nvSpPr>
        <p:spPr>
          <a:xfrm>
            <a:off x="7324725" y="4341812"/>
            <a:ext cx="155257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GPU 环境信息采集</a:t>
            </a:r>
          </a:p>
        </p:txBody>
      </p:sp>
      <p:sp>
        <p:nvSpPr>
          <p:cNvPr id="168" name="s18-gpu-done-2-symbol"/>
          <p:cNvSpPr>
            <a:spLocks noGrp="1"/>
          </p:cNvSpPr>
          <p:nvPr/>
        </p:nvSpPr>
        <p:spPr>
          <a:xfrm>
            <a:off x="7162800"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69" name="s18-gpu-done-2-text"/>
          <p:cNvSpPr>
            <a:spLocks noGrp="1"/>
          </p:cNvSpPr>
          <p:nvPr/>
        </p:nvSpPr>
        <p:spPr>
          <a:xfrm>
            <a:off x="7324725" y="4551362"/>
            <a:ext cx="155257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基础迁移框架</a:t>
            </a:r>
          </a:p>
        </p:txBody>
      </p:sp>
      <p:sp>
        <p:nvSpPr>
          <p:cNvPr id="170" name="s18-gpu-done-3-symbol"/>
          <p:cNvSpPr>
            <a:spLocks noGrp="1"/>
          </p:cNvSpPr>
          <p:nvPr/>
        </p:nvSpPr>
        <p:spPr>
          <a:xfrm>
            <a:off x="7162800" y="4760912"/>
            <a:ext cx="133350" cy="2857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71" name="s18-gpu-done-3-text"/>
          <p:cNvSpPr>
            <a:spLocks noGrp="1"/>
          </p:cNvSpPr>
          <p:nvPr/>
        </p:nvSpPr>
        <p:spPr>
          <a:xfrm>
            <a:off x="7324725" y="4760912"/>
            <a:ext cx="1552575" cy="285750"/>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charset="-122"/>
                <a:cs typeface="Times New Roman" panose="02020603050405020304" pitchFamily="18" charset="0"/>
              </a:rPr>
              <a:t>GPU 平台 Shared / Knowledge 初步整理</a:t>
            </a:r>
          </a:p>
        </p:txBody>
      </p:sp>
      <p:sp>
        <p:nvSpPr>
          <p:cNvPr id="172" name="s18-gpu-done-4-symbol"/>
          <p:cNvSpPr>
            <a:spLocks noGrp="1"/>
          </p:cNvSpPr>
          <p:nvPr/>
        </p:nvSpPr>
        <p:spPr>
          <a:xfrm>
            <a:off x="7162800" y="5065712"/>
            <a:ext cx="133350" cy="2667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73" name="s18-gpu-done-4-text"/>
          <p:cNvSpPr>
            <a:spLocks noGrp="1"/>
          </p:cNvSpPr>
          <p:nvPr/>
        </p:nvSpPr>
        <p:spPr>
          <a:xfrm>
            <a:off x="7324725" y="5065712"/>
            <a:ext cx="1552575" cy="266700"/>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charset="-122"/>
                <a:cs typeface="Times New Roman" panose="02020603050405020304" pitchFamily="18" charset="0"/>
              </a:rPr>
              <a:t>保留 Triton 算子开发主 Workflow</a:t>
            </a:r>
          </a:p>
        </p:txBody>
      </p:sp>
      <p:sp>
        <p:nvSpPr>
          <p:cNvPr id="174" name="s18-gpu-val-1-symbol"/>
          <p:cNvSpPr>
            <a:spLocks noGrp="1"/>
          </p:cNvSpPr>
          <p:nvPr/>
        </p:nvSpPr>
        <p:spPr>
          <a:xfrm>
            <a:off x="9039225"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75" name="s18-gpu-val-1-text"/>
          <p:cNvSpPr>
            <a:spLocks noGrp="1"/>
          </p:cNvSpPr>
          <p:nvPr/>
        </p:nvSpPr>
        <p:spPr>
          <a:xfrm>
            <a:off x="9201150" y="4341812"/>
            <a:ext cx="1114425" cy="19050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charset="-122"/>
                <a:cs typeface="Times New Roman" panose="02020603050405020304" pitchFamily="18" charset="0"/>
              </a:rPr>
              <a:t>Workflow 复用  </a:t>
            </a:r>
          </a:p>
        </p:txBody>
      </p:sp>
      <p:sp>
        <p:nvSpPr>
          <p:cNvPr id="176" name="s18-gpu-val-2-symbol"/>
          <p:cNvSpPr>
            <a:spLocks noGrp="1"/>
          </p:cNvSpPr>
          <p:nvPr/>
        </p:nvSpPr>
        <p:spPr>
          <a:xfrm>
            <a:off x="9039225"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0F9ED5"/>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77" name="s18-gpu-val-2-text"/>
          <p:cNvSpPr>
            <a:spLocks noGrp="1"/>
          </p:cNvSpPr>
          <p:nvPr/>
        </p:nvSpPr>
        <p:spPr>
          <a:xfrm>
            <a:off x="9201150" y="4551362"/>
            <a:ext cx="11144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环境采集  </a:t>
            </a:r>
          </a:p>
        </p:txBody>
      </p:sp>
      <p:sp>
        <p:nvSpPr>
          <p:cNvPr id="178" name="s18-gpu-val-3-symbol"/>
          <p:cNvSpPr>
            <a:spLocks noGrp="1"/>
          </p:cNvSpPr>
          <p:nvPr/>
        </p:nvSpPr>
        <p:spPr>
          <a:xfrm>
            <a:off x="9039225" y="476091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79" name="s18-gpu-val-3-text"/>
          <p:cNvSpPr>
            <a:spLocks noGrp="1"/>
          </p:cNvSpPr>
          <p:nvPr/>
        </p:nvSpPr>
        <p:spPr>
          <a:xfrm>
            <a:off x="9201150" y="4760912"/>
            <a:ext cx="11144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平台知识  △</a:t>
            </a:r>
          </a:p>
        </p:txBody>
      </p:sp>
      <p:sp>
        <p:nvSpPr>
          <p:cNvPr id="180" name="s18-gpu-val-4-symbol"/>
          <p:cNvSpPr>
            <a:spLocks noGrp="1"/>
          </p:cNvSpPr>
          <p:nvPr/>
        </p:nvSpPr>
        <p:spPr>
          <a:xfrm>
            <a:off x="9039225" y="497046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81" name="s18-gpu-val-4-text"/>
          <p:cNvSpPr>
            <a:spLocks noGrp="1"/>
          </p:cNvSpPr>
          <p:nvPr/>
        </p:nvSpPr>
        <p:spPr>
          <a:xfrm>
            <a:off x="9201150" y="4970462"/>
            <a:ext cx="1114425" cy="19050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C77C59"/>
                </a:solidFill>
                <a:latin typeface="Times New Roman" panose="02020603050405020304" pitchFamily="18" charset="0"/>
                <a:ea typeface="微软雅黑" panose="020B0503020204020204" charset="-122"/>
                <a:cs typeface="Times New Roman" panose="02020603050405020304" pitchFamily="18" charset="0"/>
              </a:rPr>
              <a:t>三算子验证  待补</a:t>
            </a:r>
          </a:p>
        </p:txBody>
      </p:sp>
      <p:sp>
        <p:nvSpPr>
          <p:cNvPr id="182" name="s18-gpu-val-5-symbol"/>
          <p:cNvSpPr>
            <a:spLocks noGrp="1"/>
          </p:cNvSpPr>
          <p:nvPr/>
        </p:nvSpPr>
        <p:spPr>
          <a:xfrm>
            <a:off x="9039225" y="5180012"/>
            <a:ext cx="133350" cy="17145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83" name="s18-gpu-val-5-text"/>
          <p:cNvSpPr>
            <a:spLocks noGrp="1"/>
          </p:cNvSpPr>
          <p:nvPr/>
        </p:nvSpPr>
        <p:spPr>
          <a:xfrm>
            <a:off x="9201150" y="5180012"/>
            <a:ext cx="1114425" cy="1714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性能规则  待校准</a:t>
            </a:r>
          </a:p>
        </p:txBody>
      </p:sp>
      <p:sp>
        <p:nvSpPr>
          <p:cNvPr id="184" name="s18-gpu-next-1-symbol"/>
          <p:cNvSpPr>
            <a:spLocks noGrp="1"/>
          </p:cNvSpPr>
          <p:nvPr/>
        </p:nvSpPr>
        <p:spPr>
          <a:xfrm>
            <a:off x="10496550" y="4341812"/>
            <a:ext cx="133350" cy="3143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85" name="s18-gpu-next-1-text"/>
          <p:cNvSpPr>
            <a:spLocks noGrp="1"/>
          </p:cNvSpPr>
          <p:nvPr/>
        </p:nvSpPr>
        <p:spPr>
          <a:xfrm>
            <a:off x="10658475" y="4341812"/>
            <a:ext cx="1200150" cy="314325"/>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charset="-122"/>
                <a:cs typeface="Times New Roman" panose="02020603050405020304" pitchFamily="18" charset="0"/>
              </a:rPr>
              <a:t>补 GPU Hardware / Memory Profiler 信息</a:t>
            </a:r>
          </a:p>
        </p:txBody>
      </p:sp>
      <p:sp>
        <p:nvSpPr>
          <p:cNvPr id="186" name="s18-gpu-next-2-symbol"/>
          <p:cNvSpPr>
            <a:spLocks noGrp="1"/>
          </p:cNvSpPr>
          <p:nvPr/>
        </p:nvSpPr>
        <p:spPr>
          <a:xfrm>
            <a:off x="10496550" y="46656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87" name="s18-gpu-next-2-text"/>
          <p:cNvSpPr>
            <a:spLocks noGrp="1"/>
          </p:cNvSpPr>
          <p:nvPr/>
        </p:nvSpPr>
        <p:spPr>
          <a:xfrm>
            <a:off x="10658475" y="4665662"/>
            <a:ext cx="1200150"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dirty="0" err="1" smtClean="0">
                <a:solidFill>
                  <a:srgbClr val="2F3A45"/>
                </a:solidFill>
                <a:latin typeface="Times New Roman" panose="02020603050405020304" pitchFamily="18" charset="0"/>
                <a:ea typeface="微软雅黑" panose="020B0503020204020204" charset="-122"/>
                <a:cs typeface="Times New Roman" panose="02020603050405020304" pitchFamily="18" charset="0"/>
              </a:rPr>
              <a:t>跑平台</a:t>
            </a:r>
            <a:r>
              <a:rPr lang="zh-CN" altLang="en-US" sz="765" b="1" dirty="0" smtClean="0">
                <a:solidFill>
                  <a:srgbClr val="2F3A45"/>
                </a:solidFill>
                <a:latin typeface="Times New Roman" panose="02020603050405020304" pitchFamily="18" charset="0"/>
                <a:ea typeface="微软雅黑" panose="020B0503020204020204" charset="-122"/>
                <a:cs typeface="Times New Roman" panose="02020603050405020304" pitchFamily="18" charset="0"/>
              </a:rPr>
              <a:t>真实参数</a:t>
            </a:r>
            <a:endParaRPr sz="76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88" name="s18-gpu-next-3-symbol"/>
          <p:cNvSpPr>
            <a:spLocks noGrp="1"/>
          </p:cNvSpPr>
          <p:nvPr/>
        </p:nvSpPr>
        <p:spPr>
          <a:xfrm>
            <a:off x="10496550" y="4875212"/>
            <a:ext cx="133350" cy="25717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89" name="s18-gpu-next-3-text"/>
          <p:cNvSpPr>
            <a:spLocks noGrp="1"/>
          </p:cNvSpPr>
          <p:nvPr/>
        </p:nvSpPr>
        <p:spPr>
          <a:xfrm>
            <a:off x="10658475" y="4875212"/>
            <a:ext cx="1200150" cy="257175"/>
          </a:xfrm>
          <a:prstGeom prst="rect">
            <a:avLst/>
          </a:prstGeom>
          <a:noFill/>
          <a:ln w="0">
            <a:noFill/>
            <a:prstDash val="solid"/>
          </a:ln>
          <a:effectLst/>
        </p:spPr>
        <p:txBody>
          <a:bodyPr wrap="square" lIns="0" tIns="0" rIns="0" bIns="0" anchor="ctr">
            <a:norm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15" b="1">
                <a:solidFill>
                  <a:srgbClr val="2F3A45"/>
                </a:solidFill>
                <a:latin typeface="Times New Roman" panose="02020603050405020304" pitchFamily="18" charset="0"/>
                <a:ea typeface="微软雅黑" panose="020B0503020204020204" charset="-122"/>
                <a:cs typeface="Times New Roman" panose="02020603050405020304" pitchFamily="18" charset="0"/>
              </a:rPr>
              <a:t>用三个标准算子完成闭环验证</a:t>
            </a:r>
          </a:p>
        </p:txBody>
      </p:sp>
      <p:sp>
        <p:nvSpPr>
          <p:cNvPr id="190" name="s18-gpu-next-4-symbol"/>
          <p:cNvSpPr>
            <a:spLocks noGrp="1"/>
          </p:cNvSpPr>
          <p:nvPr/>
        </p:nvSpPr>
        <p:spPr>
          <a:xfrm>
            <a:off x="10496550" y="5141912"/>
            <a:ext cx="133350" cy="2286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91" name="s18-gpu-next-4-text"/>
          <p:cNvSpPr>
            <a:spLocks noGrp="1"/>
          </p:cNvSpPr>
          <p:nvPr/>
        </p:nvSpPr>
        <p:spPr>
          <a:xfrm>
            <a:off x="10658475" y="5141912"/>
            <a:ext cx="1200150" cy="228600"/>
          </a:xfrm>
          <a:prstGeom prst="rect">
            <a:avLst/>
          </a:prstGeom>
          <a:noFill/>
          <a:ln w="0">
            <a:noFill/>
            <a:prstDash val="solid"/>
          </a:ln>
          <a:effectLst/>
        </p:spPr>
        <p:txBody>
          <a:bodyPr wrap="square" lIns="0" tIns="0" rIns="0" bIns="0" anchor="ctr">
            <a:normAutofit/>
          </a:bodyPr>
          <a:lstStyle/>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Times New Roman" panose="02020603050405020304" pitchFamily="18" charset="0"/>
                <a:ea typeface="微软雅黑" panose="020B0503020204020204" charset="-122"/>
                <a:cs typeface="Times New Roman" panose="02020603050405020304" pitchFamily="18" charset="0"/>
              </a:rPr>
              <a:t>重新校准 Tile / Pipeline /</a:t>
            </a:r>
          </a:p>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Times New Roman" panose="02020603050405020304" pitchFamily="18" charset="0"/>
                <a:ea typeface="微软雅黑" panose="020B0503020204020204" charset="-122"/>
                <a:cs typeface="Times New Roman" panose="02020603050405020304" pitchFamily="18" charset="0"/>
              </a:rPr>
              <a:t>Autotune 经验</a:t>
            </a:r>
          </a:p>
        </p:txBody>
      </p:sp>
      <p:sp>
        <p:nvSpPr>
          <p:cNvPr id="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Times New Roman" panose="02020603050405020304" pitchFamily="18" charset="0"/>
                <a:ea typeface="微软雅黑" panose="020B0503020204020204" charset="-122"/>
                <a:cs typeface="Times New Roman" panose="02020603050405020304" pitchFamily="18" charset="0"/>
              </a:rPr>
              <a:t>18</a:t>
            </a:r>
            <a:endParaRPr lang="en-US" sz="1200" b="1" dirty="0">
              <a:solidFill>
                <a:srgbClr val="66737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9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3.3</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93"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977900" y="24251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四类 </a:t>
            </a:r>
            <a:r>
              <a:rPr lang="en-US" sz="2600" b="1" dirty="0">
                <a:solidFill>
                  <a:srgbClr val="243B53"/>
                </a:solidFill>
                <a:latin typeface="Arial" panose="020B0604020202020204" pitchFamily="34" charset="0"/>
                <a:ea typeface="微软雅黑" panose="020B0503020204020204" charset="-122"/>
                <a:cs typeface="微软雅黑" panose="020B0503020204020204" charset="-122"/>
              </a:rPr>
              <a:t>Skill </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生成 </a:t>
            </a:r>
            <a:r>
              <a:rPr lang="en-US" sz="2600" b="1" dirty="0">
                <a:solidFill>
                  <a:srgbClr val="243B53"/>
                </a:solidFill>
                <a:latin typeface="Arial" panose="020B0604020202020204" pitchFamily="34" charset="0"/>
                <a:ea typeface="微软雅黑" panose="020B0503020204020204" charset="-122"/>
                <a:cs typeface="微软雅黑" panose="020B0503020204020204" charset="-122"/>
              </a:rPr>
              <a:t>Kernel：</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性能结果对比</a:t>
            </a:r>
            <a:endParaRPr sz="2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measurement_and_baseline_note"/>
          <p:cNvSpPr>
            <a:spLocks noGrp="1"/>
          </p:cNvSpPr>
          <p:nvPr/>
        </p:nvSpPr>
        <p:spPr>
          <a:xfrm>
            <a:off x="1200150" y="4749800"/>
            <a:ext cx="9772650" cy="254000"/>
          </a:xfrm>
          <a:prstGeom prst="rect">
            <a:avLst/>
          </a:prstGeom>
          <a:noFill/>
          <a:ln w="0">
            <a:noFill/>
            <a:prstDash val="solid"/>
          </a:ln>
          <a:effectLst/>
        </p:spPr>
        <p:txBody>
          <a:bodyPr wrap="square" lIns="0" tIns="0" rIns="0" bIns="0" anchor="t">
            <a:noAutofit/>
          </a:bodyPr>
          <a:lstStyle/>
          <a:p>
            <a:pPr>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a:solidFill>
                  <a:srgbClr val="66737F"/>
                </a:solidFill>
                <a:latin typeface="Arial" panose="020B0604020202020204" pitchFamily="34" charset="0"/>
                <a:ea typeface="微软雅黑" panose="020B0503020204020204" charset="-122"/>
                <a:cs typeface="微软雅黑" panose="020B0503020204020204" charset="-122"/>
              </a:rPr>
              <a:t>单元格：Kernel / PyTorch  |  Baseline：MLU  → PyTorch-MLU  |  GPU → PyTorch-CUDA</a:t>
            </a:r>
          </a:p>
        </p:txBody>
      </p:sp>
      <p:graphicFrame>
        <p:nvGraphicFramePr>
          <p:cNvPr id="13" name="kernel_vs_pytorch_performance"/>
          <p:cNvGraphicFramePr/>
          <p:nvPr/>
        </p:nvGraphicFramePr>
        <p:xfrm>
          <a:off x="1200150" y="990600"/>
          <a:ext cx="9772650" cy="3657598"/>
        </p:xfrm>
        <a:graphic>
          <a:graphicData uri="http://schemas.openxmlformats.org/drawingml/2006/table">
            <a:tbl>
              <a:tblPr firstRow="1">
                <a:effectLst/>
              </a:tblPr>
              <a:tblGrid>
                <a:gridCol w="22193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522514">
                <a:tc>
                  <a:txBody>
                    <a:bodyPr/>
                    <a:lstStyle/>
                    <a:p>
                      <a:pPr algn="ctr">
                        <a:buNone/>
                      </a:pPr>
                      <a:r>
                        <a:rPr lang="zh-CN" sz="1400" b="1">
                          <a:solidFill>
                            <a:srgbClr val="FFFFFF"/>
                          </a:solidFill>
                          <a:latin typeface="Arial" panose="020B0604020202020204" pitchFamily="34" charset="0"/>
                          <a:ea typeface="微软雅黑" panose="020B0503020204020204" charset="-122"/>
                          <a:cs typeface="微软雅黑" panose="020B0503020204020204" charset="-122"/>
                        </a:rPr>
                        <a:t>平台</a:t>
                      </a:r>
                      <a:r>
                        <a:rPr lang="en-US" altLang="zh-CN" sz="1400" b="1">
                          <a:solidFill>
                            <a:srgbClr val="FFFFFF"/>
                          </a:solidFill>
                          <a:latin typeface="Arial" panose="020B0604020202020204" pitchFamily="34" charset="0"/>
                          <a:ea typeface="微软雅黑" panose="020B0503020204020204" charset="-122"/>
                          <a:cs typeface="微软雅黑" panose="020B0503020204020204" charset="-122"/>
                        </a:rPr>
                        <a:t>/</a:t>
                      </a:r>
                      <a:r>
                        <a:rPr lang="zh-CN" altLang="en-US" sz="1400" b="1">
                          <a:solidFill>
                            <a:srgbClr val="FFFFFF"/>
                          </a:solidFill>
                          <a:latin typeface="Arial" panose="020B0604020202020204" pitchFamily="34" charset="0"/>
                          <a:ea typeface="微软雅黑" panose="020B0503020204020204" charset="-122"/>
                          <a:cs typeface="微软雅黑" panose="020B0503020204020204" charset="-122"/>
                        </a:rPr>
                        <a:t>算子输入</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522514">
                <a:tc>
                  <a:txBody>
                    <a:bodyPr/>
                    <a:lstStyle/>
                    <a:p>
                      <a:pPr algn="ctr">
                        <a:buNone/>
                      </a:pPr>
                      <a:r>
                        <a:rPr lang="zh-CN" sz="1400" b="1">
                          <a:solidFill>
                            <a:srgbClr val="2F3A45"/>
                          </a:solidFill>
                          <a:latin typeface="Arial" panose="020B0604020202020204" pitchFamily="34" charset="0"/>
                          <a:ea typeface="微软雅黑" panose="020B0503020204020204" charset="-122"/>
                          <a:cs typeface="微软雅黑" panose="020B0503020204020204" charset="-122"/>
                        </a:rPr>
                        <a:t>精度</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rPr>
                        <a:t>FP32</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sym typeface="+mn-ea"/>
                        </a:rPr>
                        <a:t>FP32</a:t>
                      </a:r>
                      <a:endParaRPr sz="1400" b="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rPr>
                        <a:t>FP16</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522514">
                <a:tc>
                  <a:txBody>
                    <a:bodyPr/>
                    <a:lstStyle/>
                    <a:p>
                      <a:pPr algn="ctr">
                        <a:buNone/>
                      </a:pPr>
                      <a:r>
                        <a:rPr lang="zh-CN" sz="1400" b="1">
                          <a:solidFill>
                            <a:srgbClr val="2F3A45"/>
                          </a:solidFill>
                          <a:latin typeface="Arial" panose="020B0604020202020204" pitchFamily="34" charset="0"/>
                          <a:ea typeface="微软雅黑" panose="020B0503020204020204" charset="-122"/>
                          <a:cs typeface="微软雅黑" panose="020B0503020204020204" charset="-122"/>
                        </a:rPr>
                        <a:t>输入结构</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64</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512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1024</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4096</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4096</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8192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8192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522514">
                <a:tc>
                  <a:txBody>
                    <a:bodyPr/>
                    <a:lstStyle/>
                    <a:p>
                      <a:pPr algn="ctr">
                        <a:buNone/>
                      </a:pPr>
                      <a:r>
                        <a:rPr sz="1400" b="1" dirty="0">
                          <a:solidFill>
                            <a:srgbClr val="2F3A45"/>
                          </a:solidFill>
                          <a:latin typeface="Arial" panose="020B0604020202020204" pitchFamily="34" charset="0"/>
                          <a:ea typeface="微软雅黑" panose="020B0503020204020204" charset="-122"/>
                          <a:cs typeface="微软雅黑" panose="020B0503020204020204" charset="-122"/>
                        </a:rPr>
                        <a:t>MLU </a:t>
                      </a:r>
                      <a:r>
                        <a:rPr sz="1400" b="1" dirty="0" smtClean="0">
                          <a:solidFill>
                            <a:srgbClr val="2F3A45"/>
                          </a:solidFill>
                          <a:latin typeface="Arial" panose="020B0604020202020204" pitchFamily="34" charset="0"/>
                          <a:ea typeface="微软雅黑" panose="020B0503020204020204" charset="-122"/>
                          <a:cs typeface="微软雅黑" panose="020B0503020204020204" charset="-122"/>
                        </a:rPr>
                        <a:t>Triton</a:t>
                      </a:r>
                      <a:r>
                        <a:rPr lang="zh-CN" altLang="en-US" sz="1400" b="1" dirty="0" smtClean="0">
                          <a:solidFill>
                            <a:srgbClr val="2F3A45"/>
                          </a:solidFill>
                          <a:latin typeface="Arial" panose="020B0604020202020204" pitchFamily="34" charset="0"/>
                          <a:ea typeface="微软雅黑" panose="020B0503020204020204" charset="-122"/>
                          <a:cs typeface="微软雅黑" panose="020B0503020204020204" charset="-122"/>
                        </a:rPr>
                        <a:t>（新结构）</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0.15</a:t>
                      </a:r>
                      <a:r>
                        <a:rPr sz="1400" b="1" dirty="0">
                          <a:solidFill>
                            <a:srgbClr val="4F8A83"/>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0.15</a:t>
                      </a:r>
                      <a:r>
                        <a:rPr sz="1400" b="1" dirty="0">
                          <a:solidFill>
                            <a:srgbClr val="4F8A83"/>
                          </a:solidFill>
                          <a:latin typeface="Arial" panose="020B0604020202020204" pitchFamily="34" charset="0"/>
                          <a:ea typeface="微软雅黑" panose="020B0503020204020204" charset="-122"/>
                          <a:cs typeface="微软雅黑" panose="020B0503020204020204" charset="-122"/>
                        </a:rPr>
                        <a:t> </a:t>
                      </a:r>
                      <a:r>
                        <a:rPr sz="1400" b="1" dirty="0" err="1">
                          <a:solidFill>
                            <a:srgbClr val="4F8A83"/>
                          </a:solidFill>
                          <a:latin typeface="Arial" panose="020B0604020202020204" pitchFamily="34" charset="0"/>
                          <a:ea typeface="微软雅黑" panose="020B0503020204020204" charset="-122"/>
                          <a:cs typeface="微软雅黑" panose="020B0503020204020204" charset="-122"/>
                        </a:rPr>
                        <a:t>ms</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0.086</a:t>
                      </a:r>
                      <a:r>
                        <a:rPr sz="1400" b="1" dirty="0">
                          <a:solidFill>
                            <a:srgbClr val="4F8A83"/>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0.11</a:t>
                      </a:r>
                      <a:r>
                        <a:rPr sz="1400" b="1" dirty="0">
                          <a:solidFill>
                            <a:srgbClr val="4F8A83"/>
                          </a:solidFill>
                          <a:latin typeface="Arial" panose="020B0604020202020204" pitchFamily="34" charset="0"/>
                          <a:ea typeface="微软雅黑" panose="020B0503020204020204" charset="-122"/>
                          <a:cs typeface="微软雅黑" panose="020B0503020204020204" charset="-122"/>
                        </a:rPr>
                        <a:t> </a:t>
                      </a:r>
                      <a:r>
                        <a:rPr sz="1400" b="1" dirty="0" err="1">
                          <a:solidFill>
                            <a:srgbClr val="4F8A83"/>
                          </a:solidFill>
                          <a:latin typeface="Arial" panose="020B0604020202020204" pitchFamily="34" charset="0"/>
                          <a:ea typeface="微软雅黑" panose="020B0503020204020204" charset="-122"/>
                          <a:cs typeface="微软雅黑" panose="020B0503020204020204" charset="-122"/>
                        </a:rPr>
                        <a:t>ms</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11.84</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5.3</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r h="522514">
                <a:tc>
                  <a:txBody>
                    <a:bodyPr/>
                    <a:lstStyle/>
                    <a:p>
                      <a:pPr algn="ctr">
                        <a:buNone/>
                      </a:pPr>
                      <a:r>
                        <a:rPr sz="1400" b="1">
                          <a:solidFill>
                            <a:srgbClr val="2F3A45"/>
                          </a:solidFill>
                          <a:latin typeface="Arial" panose="020B0604020202020204" pitchFamily="34" charset="0"/>
                          <a:ea typeface="微软雅黑" panose="020B050302020402020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25.53</a:t>
                      </a:r>
                      <a:r>
                        <a:rPr sz="1400" b="1" dirty="0">
                          <a:solidFill>
                            <a:srgbClr val="C77C59"/>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0.15</a:t>
                      </a: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sz="1400" b="1" dirty="0" err="1">
                          <a:solidFill>
                            <a:srgbClr val="C77C59"/>
                          </a:solidFill>
                          <a:latin typeface="Arial" panose="020B0604020202020204" pitchFamily="34" charset="0"/>
                          <a:ea typeface="微软雅黑" panose="020B0503020204020204" charset="-122"/>
                          <a:cs typeface="微软雅黑" panose="020B0503020204020204" charset="-122"/>
                        </a:rPr>
                        <a:t>ms</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3.68</a:t>
                      </a:r>
                      <a:r>
                        <a:rPr sz="1400" b="1" dirty="0">
                          <a:solidFill>
                            <a:srgbClr val="C77C59"/>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0.11</a:t>
                      </a: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sz="1400" b="1" dirty="0" err="1">
                          <a:solidFill>
                            <a:srgbClr val="C77C59"/>
                          </a:solidFill>
                          <a:latin typeface="Arial" panose="020B0604020202020204" pitchFamily="34" charset="0"/>
                          <a:ea typeface="微软雅黑" panose="020B0503020204020204" charset="-122"/>
                          <a:cs typeface="微软雅黑" panose="020B0503020204020204" charset="-122"/>
                        </a:rPr>
                        <a:t>ms</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16.24</a:t>
                      </a:r>
                      <a:r>
                        <a:rPr sz="1400" b="1" dirty="0">
                          <a:solidFill>
                            <a:srgbClr val="C77C59"/>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5.3</a:t>
                      </a: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sz="1400" b="1" dirty="0" err="1">
                          <a:solidFill>
                            <a:srgbClr val="C77C59"/>
                          </a:solidFill>
                          <a:latin typeface="Arial" panose="020B0604020202020204" pitchFamily="34" charset="0"/>
                          <a:ea typeface="微软雅黑" panose="020B0503020204020204" charset="-122"/>
                          <a:cs typeface="微软雅黑" panose="020B0503020204020204" charset="-122"/>
                        </a:rPr>
                        <a:t>ms</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4"/>
                  </a:ext>
                </a:extLst>
              </a:tr>
              <a:tr h="522514">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0.32</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0.45</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0.162</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0.17</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29.43</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15.59</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5"/>
                  </a:ext>
                </a:extLst>
              </a:tr>
              <a:tr h="522514">
                <a:tc>
                  <a:txBody>
                    <a:bodyPr/>
                    <a:lstStyle/>
                    <a:p>
                      <a:pPr algn="ctr">
                        <a:buNone/>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CUDA C</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0.31</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0.45</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0.16</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0.17</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48.26</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15.59</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6"/>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19</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8" name="s15-observation-heading"/>
          <p:cNvSpPr txBox="1"/>
          <p:nvPr/>
        </p:nvSpPr>
        <p:spPr>
          <a:xfrm>
            <a:off x="1193800" y="51054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结果观察</a:t>
            </a:r>
          </a:p>
        </p:txBody>
      </p:sp>
      <p:sp>
        <p:nvSpPr>
          <p:cNvPr id="10" name="s15-observation-body"/>
          <p:cNvSpPr txBox="1"/>
          <p:nvPr/>
        </p:nvSpPr>
        <p:spPr>
          <a:xfrm>
            <a:off x="1193800" y="5448300"/>
            <a:ext cx="9779000" cy="939800"/>
          </a:xfrm>
          <a:prstGeom prst="rect">
            <a:avLst/>
          </a:prstGeom>
          <a:noFill/>
        </p:spPr>
        <p:txBody>
          <a:bodyPr vert="horz" wrap="square" lIns="0" tIns="0" rIns="0" bIns="0" rtlCol="0" anchor="t">
            <a:noAutofit/>
          </a:bodyPr>
          <a:lstStyle/>
          <a:p>
            <a:pPr>
              <a:spcAft>
                <a:spcPts val="500"/>
              </a:spcAft>
            </a:pPr>
            <a:r>
              <a:rPr lang="en-US" altLang="zh-CN" sz="1250" dirty="0">
                <a:solidFill>
                  <a:srgbClr val="2F3A45"/>
                </a:solidFill>
                <a:latin typeface="Arial" panose="020B0604020202020204" pitchFamily="34" charset="0"/>
                <a:ea typeface="微软雅黑" panose="020B0503020204020204" charset="-122"/>
              </a:rPr>
              <a:t>• MLU Triton</a:t>
            </a:r>
            <a:r>
              <a:rPr lang="zh-CN" altLang="en-US" sz="1250" dirty="0">
                <a:solidFill>
                  <a:srgbClr val="2F3A45"/>
                </a:solidFill>
                <a:latin typeface="Arial" panose="020B0604020202020204" pitchFamily="34" charset="0"/>
                <a:ea typeface="微软雅黑" panose="020B0503020204020204" charset="-122"/>
              </a:rPr>
              <a:t>：</a:t>
            </a:r>
            <a:r>
              <a:rPr lang="en-US" altLang="zh-CN" sz="1250" dirty="0" err="1">
                <a:solidFill>
                  <a:srgbClr val="2F3A45"/>
                </a:solidFill>
                <a:latin typeface="Arial" panose="020B0604020202020204" pitchFamily="34" charset="0"/>
                <a:ea typeface="微软雅黑" panose="020B0503020204020204" charset="-122"/>
              </a:rPr>
              <a:t>LayerNorm</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与 </a:t>
            </a:r>
            <a:r>
              <a:rPr lang="en-US" altLang="zh-CN" sz="1250" dirty="0" err="1">
                <a:solidFill>
                  <a:srgbClr val="2F3A45"/>
                </a:solidFill>
                <a:latin typeface="Arial" panose="020B0604020202020204" pitchFamily="34" charset="0"/>
                <a:ea typeface="微软雅黑" panose="020B0503020204020204" charset="-122"/>
              </a:rPr>
              <a:t>PyTorch</a:t>
            </a:r>
            <a:r>
              <a:rPr lang="en-US" altLang="zh-CN" sz="1250" dirty="0">
                <a:solidFill>
                  <a:srgbClr val="2F3A45"/>
                </a:solidFill>
                <a:latin typeface="Arial" panose="020B0604020202020204" pitchFamily="34" charset="0"/>
                <a:ea typeface="微软雅黑" panose="020B0503020204020204" charset="-122"/>
              </a:rPr>
              <a:t>-MLU </a:t>
            </a:r>
            <a:r>
              <a:rPr lang="zh-CN" altLang="en-US" sz="1250" dirty="0">
                <a:solidFill>
                  <a:srgbClr val="2F3A45"/>
                </a:solidFill>
                <a:latin typeface="Arial" panose="020B0604020202020204" pitchFamily="34" charset="0"/>
                <a:ea typeface="微软雅黑" panose="020B0503020204020204" charset="-122"/>
              </a:rPr>
              <a:t>持平，</a:t>
            </a:r>
            <a:r>
              <a:rPr lang="en-US" altLang="zh-CN" sz="1250" dirty="0">
                <a:solidFill>
                  <a:srgbClr val="2F3A45"/>
                </a:solidFill>
                <a:latin typeface="Arial" panose="020B0604020202020204" pitchFamily="34" charset="0"/>
                <a:ea typeface="微软雅黑" panose="020B0503020204020204" charset="-122"/>
              </a:rPr>
              <a:t>0.15 / 0.15 </a:t>
            </a:r>
            <a:r>
              <a:rPr lang="en-US" altLang="zh-CN" sz="1250" dirty="0" err="1">
                <a:solidFill>
                  <a:srgbClr val="2F3A45"/>
                </a:solidFill>
                <a:latin typeface="Arial" panose="020B0604020202020204" pitchFamily="34" charset="0"/>
                <a:ea typeface="微软雅黑" panose="020B0503020204020204" charset="-122"/>
              </a:rPr>
              <a:t>ms</a:t>
            </a:r>
            <a:r>
              <a:rPr lang="zh-CN" altLang="en-US" sz="1250" dirty="0">
                <a:solidFill>
                  <a:srgbClr val="2F3A45"/>
                </a:solidFill>
                <a:latin typeface="Arial" panose="020B0604020202020204" pitchFamily="34" charset="0"/>
                <a:ea typeface="微软雅黑" panose="020B0503020204020204" charset="-122"/>
              </a:rPr>
              <a:t>；</a:t>
            </a:r>
            <a:r>
              <a:rPr lang="en-US" altLang="zh-CN" sz="1250" dirty="0" err="1">
                <a:solidFill>
                  <a:srgbClr val="2F3A45"/>
                </a:solidFill>
                <a:latin typeface="Arial" panose="020B0604020202020204" pitchFamily="34" charset="0"/>
                <a:ea typeface="微软雅黑" panose="020B0503020204020204" charset="-122"/>
              </a:rPr>
              <a:t>Softmax</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更快，</a:t>
            </a:r>
            <a:r>
              <a:rPr lang="en-US" altLang="zh-CN" sz="1250" dirty="0">
                <a:solidFill>
                  <a:srgbClr val="2F3A45"/>
                </a:solidFill>
                <a:latin typeface="Arial" panose="020B0604020202020204" pitchFamily="34" charset="0"/>
                <a:ea typeface="微软雅黑" panose="020B0503020204020204" charset="-122"/>
              </a:rPr>
              <a:t>0.086 / 0.11 </a:t>
            </a:r>
            <a:r>
              <a:rPr lang="en-US" altLang="zh-CN" sz="1250" dirty="0" err="1">
                <a:solidFill>
                  <a:srgbClr val="2F3A45"/>
                </a:solidFill>
                <a:latin typeface="Arial" panose="020B0604020202020204" pitchFamily="34" charset="0"/>
                <a:ea typeface="微软雅黑" panose="020B0503020204020204" charset="-122"/>
              </a:rPr>
              <a:t>ms</a:t>
            </a:r>
            <a:r>
              <a:rPr lang="zh-CN" altLang="en-US" sz="1250" dirty="0">
                <a:solidFill>
                  <a:srgbClr val="2F3A45"/>
                </a:solidFill>
                <a:latin typeface="Arial" panose="020B0604020202020204" pitchFamily="34" charset="0"/>
                <a:ea typeface="微软雅黑" panose="020B0503020204020204" charset="-122"/>
              </a:rPr>
              <a:t>；</a:t>
            </a:r>
            <a:r>
              <a:rPr lang="en-US" altLang="zh-CN" sz="1250" dirty="0" err="1">
                <a:solidFill>
                  <a:srgbClr val="2F3A45"/>
                </a:solidFill>
                <a:latin typeface="Arial" panose="020B0604020202020204" pitchFamily="34" charset="0"/>
                <a:ea typeface="微软雅黑" panose="020B0503020204020204" charset="-122"/>
              </a:rPr>
              <a:t>MatMul</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仍较慢，</a:t>
            </a:r>
            <a:r>
              <a:rPr lang="en-US" altLang="zh-CN" sz="1250" dirty="0">
                <a:solidFill>
                  <a:srgbClr val="2F3A45"/>
                </a:solidFill>
                <a:latin typeface="Arial" panose="020B0604020202020204" pitchFamily="34" charset="0"/>
                <a:ea typeface="微软雅黑" panose="020B0503020204020204" charset="-122"/>
              </a:rPr>
              <a:t>11.84 / 5.3 </a:t>
            </a:r>
            <a:r>
              <a:rPr lang="en-US" altLang="zh-CN" sz="1250" dirty="0" err="1">
                <a:solidFill>
                  <a:srgbClr val="2F3A45"/>
                </a:solidFill>
                <a:latin typeface="Arial" panose="020B0604020202020204" pitchFamily="34" charset="0"/>
                <a:ea typeface="微软雅黑" panose="020B0503020204020204" charset="-122"/>
              </a:rPr>
              <a:t>ms</a:t>
            </a:r>
            <a:r>
              <a:rPr lang="zh-CN" altLang="en-US" sz="1250" dirty="0">
                <a:solidFill>
                  <a:srgbClr val="2F3A45"/>
                </a:solidFill>
                <a:latin typeface="Arial" panose="020B0604020202020204" pitchFamily="34" charset="0"/>
                <a:ea typeface="微软雅黑" panose="020B0503020204020204" charset="-122"/>
              </a:rPr>
              <a:t>。</a:t>
            </a:r>
          </a:p>
          <a:p>
            <a:pPr>
              <a:spcAft>
                <a:spcPts val="500"/>
              </a:spcAft>
            </a:pPr>
            <a:r>
              <a:rPr lang="en-US" altLang="zh-CN" sz="1250" dirty="0">
                <a:solidFill>
                  <a:srgbClr val="2F3A45"/>
                </a:solidFill>
                <a:latin typeface="Arial" panose="020B0604020202020204" pitchFamily="34" charset="0"/>
                <a:ea typeface="微软雅黑" panose="020B0503020204020204" charset="-122"/>
              </a:rPr>
              <a:t>• BANG C </a:t>
            </a:r>
            <a:r>
              <a:rPr lang="zh-CN" altLang="en-US" sz="1250" dirty="0">
                <a:solidFill>
                  <a:srgbClr val="2F3A45"/>
                </a:solidFill>
                <a:latin typeface="Arial" panose="020B0604020202020204" pitchFamily="34" charset="0"/>
                <a:ea typeface="微软雅黑" panose="020B0503020204020204" charset="-122"/>
              </a:rPr>
              <a:t>三项 </a:t>
            </a:r>
            <a:r>
              <a:rPr lang="en-US" altLang="zh-CN" sz="1250" dirty="0">
                <a:solidFill>
                  <a:srgbClr val="2F3A45"/>
                </a:solidFill>
                <a:latin typeface="Arial" panose="020B0604020202020204" pitchFamily="34" charset="0"/>
                <a:ea typeface="微软雅黑" panose="020B0503020204020204" charset="-122"/>
              </a:rPr>
              <a:t>Kernel </a:t>
            </a:r>
            <a:r>
              <a:rPr lang="zh-CN" altLang="en-US" sz="1250" dirty="0">
                <a:solidFill>
                  <a:srgbClr val="2F3A45"/>
                </a:solidFill>
                <a:latin typeface="Arial" panose="020B0604020202020204" pitchFamily="34" charset="0"/>
                <a:ea typeface="微软雅黑" panose="020B0503020204020204" charset="-122"/>
              </a:rPr>
              <a:t>耗时均高于同平台 </a:t>
            </a:r>
            <a:r>
              <a:rPr lang="en-US" altLang="zh-CN" sz="1250" dirty="0" err="1">
                <a:solidFill>
                  <a:srgbClr val="2F3A45"/>
                </a:solidFill>
                <a:latin typeface="Arial" panose="020B0604020202020204" pitchFamily="34" charset="0"/>
                <a:ea typeface="微软雅黑" panose="020B0503020204020204" charset="-122"/>
              </a:rPr>
              <a:t>PyTorch</a:t>
            </a:r>
            <a:r>
              <a:rPr lang="zh-CN" altLang="en-US" sz="1250" dirty="0">
                <a:solidFill>
                  <a:srgbClr val="2F3A45"/>
                </a:solidFill>
                <a:latin typeface="Arial" panose="020B0604020202020204" pitchFamily="34" charset="0"/>
                <a:ea typeface="微软雅黑" panose="020B0503020204020204" charset="-122"/>
              </a:rPr>
              <a:t>；</a:t>
            </a:r>
            <a:r>
              <a:rPr lang="en-US" altLang="zh-CN" sz="1250" dirty="0" err="1">
                <a:solidFill>
                  <a:srgbClr val="2F3A45"/>
                </a:solidFill>
                <a:latin typeface="Arial" panose="020B0604020202020204" pitchFamily="34" charset="0"/>
                <a:ea typeface="微软雅黑" panose="020B0503020204020204" charset="-122"/>
              </a:rPr>
              <a:t>LayerNorm</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与 </a:t>
            </a:r>
            <a:r>
              <a:rPr lang="en-US" altLang="zh-CN" sz="1250" dirty="0" err="1">
                <a:solidFill>
                  <a:srgbClr val="2F3A45"/>
                </a:solidFill>
                <a:latin typeface="Arial" panose="020B0604020202020204" pitchFamily="34" charset="0"/>
                <a:ea typeface="微软雅黑" panose="020B0503020204020204" charset="-122"/>
              </a:rPr>
              <a:t>Softmax</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差距最突出。</a:t>
            </a:r>
          </a:p>
        </p:txBody>
      </p:sp>
      <p:sp>
        <p:nvSpPr>
          <p:cNvPr id="1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3.4</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2"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977900" y="241755"/>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四类 </a:t>
            </a:r>
            <a:r>
              <a:rPr lang="en-US" sz="2600" b="1" dirty="0">
                <a:solidFill>
                  <a:srgbClr val="243B53"/>
                </a:solidFill>
                <a:latin typeface="Arial" panose="020B0604020202020204" pitchFamily="34" charset="0"/>
                <a:ea typeface="微软雅黑" panose="020B0503020204020204" charset="-122"/>
                <a:cs typeface="微软雅黑" panose="020B0503020204020204" charset="-122"/>
              </a:rPr>
              <a:t>Skill </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生成 </a:t>
            </a:r>
            <a:r>
              <a:rPr lang="en-US" sz="2600" b="1" dirty="0">
                <a:solidFill>
                  <a:srgbClr val="243B53"/>
                </a:solidFill>
                <a:latin typeface="Arial" panose="020B0604020202020204" pitchFamily="34" charset="0"/>
                <a:ea typeface="微软雅黑" panose="020B0503020204020204" charset="-122"/>
                <a:cs typeface="微软雅黑" panose="020B0503020204020204" charset="-122"/>
              </a:rPr>
              <a:t>Kernel：</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性能结果对比</a:t>
            </a:r>
            <a:endParaRPr sz="2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measurement_and_baseline_note"/>
          <p:cNvSpPr>
            <a:spLocks noGrp="1"/>
          </p:cNvSpPr>
          <p:nvPr/>
        </p:nvSpPr>
        <p:spPr>
          <a:xfrm>
            <a:off x="1200150" y="4749800"/>
            <a:ext cx="9772650" cy="254000"/>
          </a:xfrm>
          <a:prstGeom prst="rect">
            <a:avLst/>
          </a:prstGeom>
          <a:noFill/>
          <a:ln w="0">
            <a:noFill/>
            <a:prstDash val="solid"/>
          </a:ln>
          <a:effectLst/>
        </p:spPr>
        <p:txBody>
          <a:bodyPr wrap="square" lIns="0" tIns="0" rIns="0" bIns="0" anchor="t">
            <a:noAutofit/>
          </a:bodyPr>
          <a:lstStyle/>
          <a:p>
            <a:pPr>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dirty="0" err="1">
                <a:solidFill>
                  <a:srgbClr val="66737F"/>
                </a:solidFill>
                <a:latin typeface="Arial" panose="020B0604020202020204" pitchFamily="34" charset="0"/>
                <a:ea typeface="微软雅黑" panose="020B0503020204020204" charset="-122"/>
                <a:cs typeface="微软雅黑" panose="020B0503020204020204" charset="-122"/>
              </a:rPr>
              <a:t>单元格：Kernel</a:t>
            </a:r>
            <a:r>
              <a:rPr sz="1050" dirty="0">
                <a:solidFill>
                  <a:srgbClr val="66737F"/>
                </a:solidFill>
                <a:latin typeface="Arial" panose="020B0604020202020204" pitchFamily="34" charset="0"/>
                <a:ea typeface="微软雅黑" panose="020B0503020204020204" charset="-122"/>
                <a:cs typeface="微软雅黑" panose="020B0503020204020204" charset="-122"/>
              </a:rPr>
              <a:t> / </a:t>
            </a:r>
            <a:r>
              <a:rPr sz="1050" dirty="0" err="1">
                <a:solidFill>
                  <a:srgbClr val="66737F"/>
                </a:solidFill>
                <a:latin typeface="Arial" panose="020B0604020202020204" pitchFamily="34" charset="0"/>
                <a:ea typeface="微软雅黑" panose="020B0503020204020204" charset="-122"/>
                <a:cs typeface="微软雅黑" panose="020B0503020204020204" charset="-122"/>
              </a:rPr>
              <a:t>PyTorch</a:t>
            </a:r>
            <a:r>
              <a:rPr sz="1050" dirty="0">
                <a:solidFill>
                  <a:srgbClr val="66737F"/>
                </a:solidFill>
                <a:latin typeface="Arial" panose="020B0604020202020204" pitchFamily="34" charset="0"/>
                <a:ea typeface="微软雅黑" panose="020B0503020204020204" charset="-122"/>
                <a:cs typeface="微软雅黑" panose="020B0503020204020204" charset="-122"/>
              </a:rPr>
              <a:t> </a:t>
            </a:r>
            <a:r>
              <a:rPr lang="zh-CN" altLang="en-US" sz="1050" dirty="0">
                <a:solidFill>
                  <a:srgbClr val="66737F"/>
                </a:solidFill>
                <a:latin typeface="Arial" panose="020B0604020202020204" pitchFamily="34" charset="0"/>
                <a:ea typeface="微软雅黑" panose="020B0503020204020204" charset="-122"/>
                <a:cs typeface="微软雅黑" panose="020B0503020204020204" charset="-122"/>
              </a:rPr>
              <a:t>加速比</a:t>
            </a:r>
            <a:endParaRPr sz="1050" dirty="0">
              <a:solidFill>
                <a:srgbClr val="66737F"/>
              </a:solidFill>
              <a:latin typeface="Arial" panose="020B0604020202020204" pitchFamily="34" charset="0"/>
              <a:ea typeface="微软雅黑" panose="020B0503020204020204" charset="-122"/>
              <a:cs typeface="微软雅黑" panose="020B0503020204020204" charset="-122"/>
            </a:endParaRPr>
          </a:p>
        </p:txBody>
      </p:sp>
      <p:graphicFrame>
        <p:nvGraphicFramePr>
          <p:cNvPr id="13" name="kernel_vs_pytorch_performance"/>
          <p:cNvGraphicFramePr/>
          <p:nvPr/>
        </p:nvGraphicFramePr>
        <p:xfrm>
          <a:off x="1200150" y="990600"/>
          <a:ext cx="9772650" cy="3657598"/>
        </p:xfrm>
        <a:graphic>
          <a:graphicData uri="http://schemas.openxmlformats.org/drawingml/2006/table">
            <a:tbl>
              <a:tblPr firstRow="1">
                <a:effectLst/>
              </a:tblPr>
              <a:tblGrid>
                <a:gridCol w="22193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522514">
                <a:tc>
                  <a:txBody>
                    <a:bodyPr/>
                    <a:lstStyle/>
                    <a:p>
                      <a:pPr algn="ctr">
                        <a:buNone/>
                      </a:pPr>
                      <a:r>
                        <a:rPr lang="zh-CN" sz="1400" b="1">
                          <a:solidFill>
                            <a:srgbClr val="FFFFFF"/>
                          </a:solidFill>
                          <a:latin typeface="Arial" panose="020B0604020202020204" pitchFamily="34" charset="0"/>
                          <a:ea typeface="微软雅黑" panose="020B0503020204020204" charset="-122"/>
                          <a:cs typeface="微软雅黑" panose="020B0503020204020204" charset="-122"/>
                        </a:rPr>
                        <a:t>平台</a:t>
                      </a:r>
                      <a:r>
                        <a:rPr lang="en-US" altLang="zh-CN" sz="1400" b="1">
                          <a:solidFill>
                            <a:srgbClr val="FFFFFF"/>
                          </a:solidFill>
                          <a:latin typeface="Arial" panose="020B0604020202020204" pitchFamily="34" charset="0"/>
                          <a:ea typeface="微软雅黑" panose="020B0503020204020204" charset="-122"/>
                          <a:cs typeface="微软雅黑" panose="020B0503020204020204" charset="-122"/>
                        </a:rPr>
                        <a:t>/</a:t>
                      </a:r>
                      <a:r>
                        <a:rPr lang="zh-CN" altLang="en-US" sz="1400" b="1">
                          <a:solidFill>
                            <a:srgbClr val="FFFFFF"/>
                          </a:solidFill>
                          <a:latin typeface="Arial" panose="020B0604020202020204" pitchFamily="34" charset="0"/>
                          <a:ea typeface="微软雅黑" panose="020B0503020204020204" charset="-122"/>
                          <a:cs typeface="微软雅黑" panose="020B0503020204020204" charset="-122"/>
                        </a:rPr>
                        <a:t>算子输入</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522514">
                <a:tc>
                  <a:txBody>
                    <a:bodyPr/>
                    <a:lstStyle/>
                    <a:p>
                      <a:pPr algn="ctr">
                        <a:buNone/>
                      </a:pPr>
                      <a:r>
                        <a:rPr lang="zh-CN" sz="1400" b="1">
                          <a:solidFill>
                            <a:srgbClr val="2F3A45"/>
                          </a:solidFill>
                          <a:latin typeface="Arial" panose="020B0604020202020204" pitchFamily="34" charset="0"/>
                          <a:ea typeface="微软雅黑" panose="020B0503020204020204" charset="-122"/>
                          <a:cs typeface="微软雅黑" panose="020B0503020204020204" charset="-122"/>
                        </a:rPr>
                        <a:t>精度</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rPr>
                        <a:t>FP32</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sym typeface="+mn-ea"/>
                        </a:rPr>
                        <a:t>FP32</a:t>
                      </a:r>
                      <a:endParaRPr sz="1400" b="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rPr>
                        <a:t>FP16</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522514">
                <a:tc>
                  <a:txBody>
                    <a:bodyPr/>
                    <a:lstStyle/>
                    <a:p>
                      <a:pPr algn="ctr">
                        <a:buNone/>
                      </a:pPr>
                      <a:r>
                        <a:rPr lang="zh-CN" sz="1400" b="1">
                          <a:solidFill>
                            <a:srgbClr val="2F3A45"/>
                          </a:solidFill>
                          <a:latin typeface="Arial" panose="020B0604020202020204" pitchFamily="34" charset="0"/>
                          <a:ea typeface="微软雅黑" panose="020B0503020204020204" charset="-122"/>
                          <a:cs typeface="微软雅黑" panose="020B0503020204020204" charset="-122"/>
                        </a:rPr>
                        <a:t>输入结构</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64</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512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1024</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4096</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4096</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8192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8192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522514">
                <a:tc>
                  <a:txBody>
                    <a:bodyPr/>
                    <a:lstStyle/>
                    <a:p>
                      <a:pPr algn="ctr">
                        <a:buNone/>
                      </a:pPr>
                      <a:r>
                        <a:rPr sz="1400" b="1">
                          <a:solidFill>
                            <a:srgbClr val="2F3A45"/>
                          </a:solidFill>
                          <a:latin typeface="Arial" panose="020B0604020202020204" pitchFamily="34" charset="0"/>
                          <a:ea typeface="微软雅黑" panose="020B0503020204020204" charset="-122"/>
                          <a:cs typeface="微软雅黑" panose="020B0503020204020204" charset="-122"/>
                        </a:rPr>
                        <a:t>MLU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1.23</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0.45</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r h="522514">
                <a:tc>
                  <a:txBody>
                    <a:bodyPr/>
                    <a:lstStyle/>
                    <a:p>
                      <a:pPr algn="ctr">
                        <a:buNone/>
                      </a:pPr>
                      <a:r>
                        <a:rPr sz="1400" b="1">
                          <a:solidFill>
                            <a:srgbClr val="2F3A45"/>
                          </a:solidFill>
                          <a:latin typeface="Arial" panose="020B0604020202020204" pitchFamily="34" charset="0"/>
                          <a:ea typeface="微软雅黑" panose="020B050302020402020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0.01</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x</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0.05</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x</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0.33</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x</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4"/>
                  </a:ext>
                </a:extLst>
              </a:tr>
              <a:tr h="522514">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1.43</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1.06</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0.53x</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5"/>
                  </a:ext>
                </a:extLst>
              </a:tr>
              <a:tr h="522514">
                <a:tc>
                  <a:txBody>
                    <a:bodyPr/>
                    <a:lstStyle/>
                    <a:p>
                      <a:pPr algn="ctr">
                        <a:buNone/>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CUDA C</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1.45</a:t>
                      </a:r>
                      <a:r>
                        <a:rPr lang="en-US" altLang="zh-CN" sz="1400" b="1" dirty="0">
                          <a:solidFill>
                            <a:srgbClr val="4F8A83"/>
                          </a:solidFill>
                          <a:latin typeface="Arial" panose="020B0604020202020204" pitchFamily="34" charset="0"/>
                          <a:ea typeface="微软雅黑" panose="020B0503020204020204" charset="-122"/>
                          <a:cs typeface="微软雅黑" panose="020B0503020204020204" charset="-122"/>
                        </a:rPr>
                        <a:t>x</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1.06</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0.33x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6"/>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20</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8" name="s16-observation-heading"/>
          <p:cNvSpPr txBox="1"/>
          <p:nvPr/>
        </p:nvSpPr>
        <p:spPr>
          <a:xfrm>
            <a:off x="1193800" y="50673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结果观察</a:t>
            </a:r>
          </a:p>
        </p:txBody>
      </p:sp>
      <p:sp>
        <p:nvSpPr>
          <p:cNvPr id="10" name="s16-observation-left"/>
          <p:cNvSpPr txBox="1"/>
          <p:nvPr/>
        </p:nvSpPr>
        <p:spPr>
          <a:xfrm>
            <a:off x="1193800" y="54102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微软雅黑" panose="020B0503020204020204" charset="-122"/>
              </a:rPr>
              <a:t>• LayerNorm</a:t>
            </a:r>
            <a:r>
              <a:rPr lang="zh-CN" altLang="en-US" sz="1180">
                <a:solidFill>
                  <a:srgbClr val="2F3A45"/>
                </a:solidFill>
                <a:latin typeface="Arial" panose="020B0604020202020204" pitchFamily="34" charset="0"/>
                <a:ea typeface="微软雅黑" panose="020B0503020204020204" charset="-122"/>
              </a:rPr>
              <a:t>：</a:t>
            </a:r>
            <a:r>
              <a:rPr lang="en-US" altLang="zh-CN" sz="1180">
                <a:solidFill>
                  <a:srgbClr val="2F3A45"/>
                </a:solidFill>
                <a:latin typeface="Arial" panose="020B0604020202020204" pitchFamily="34" charset="0"/>
                <a:ea typeface="微软雅黑" panose="020B0503020204020204" charset="-122"/>
              </a:rPr>
              <a:t>GPU Triton 1.45× </a:t>
            </a:r>
            <a:r>
              <a:rPr lang="zh-CN" altLang="en-US" sz="1180">
                <a:solidFill>
                  <a:srgbClr val="2F3A45"/>
                </a:solidFill>
                <a:latin typeface="Arial" panose="020B0604020202020204" pitchFamily="34" charset="0"/>
                <a:ea typeface="微软雅黑" panose="020B0503020204020204" charset="-122"/>
              </a:rPr>
              <a:t>最优，</a:t>
            </a:r>
            <a:r>
              <a:rPr lang="en-US" altLang="zh-CN" sz="1180">
                <a:solidFill>
                  <a:srgbClr val="2F3A45"/>
                </a:solidFill>
                <a:latin typeface="Arial" panose="020B0604020202020204" pitchFamily="34" charset="0"/>
                <a:ea typeface="微软雅黑" panose="020B0503020204020204" charset="-122"/>
              </a:rPr>
              <a:t>CUDA C 1.43× </a:t>
            </a:r>
            <a:r>
              <a:rPr lang="zh-CN" altLang="en-US" sz="1180">
                <a:solidFill>
                  <a:srgbClr val="2F3A45"/>
                </a:solidFill>
                <a:latin typeface="Arial" panose="020B0604020202020204" pitchFamily="34" charset="0"/>
                <a:ea typeface="微软雅黑" panose="020B0503020204020204" charset="-122"/>
              </a:rPr>
              <a:t>紧随；</a:t>
            </a:r>
            <a:r>
              <a:rPr lang="en-US" altLang="zh-CN" sz="1180">
                <a:solidFill>
                  <a:srgbClr val="2F3A45"/>
                </a:solidFill>
                <a:latin typeface="Arial" panose="020B0604020202020204" pitchFamily="34" charset="0"/>
                <a:ea typeface="微软雅黑" panose="020B0503020204020204" charset="-122"/>
              </a:rPr>
              <a:t>MLU Triton </a:t>
            </a:r>
            <a:r>
              <a:rPr lang="zh-CN" altLang="en-US" sz="1180">
                <a:solidFill>
                  <a:srgbClr val="2F3A45"/>
                </a:solidFill>
                <a:latin typeface="Arial" panose="020B0604020202020204" pitchFamily="34" charset="0"/>
                <a:ea typeface="微软雅黑" panose="020B0503020204020204" charset="-122"/>
              </a:rPr>
              <a:t>与基线持平。</a:t>
            </a:r>
          </a:p>
          <a:p>
            <a:pPr>
              <a:spcAft>
                <a:spcPts val="500"/>
              </a:spcAft>
            </a:pPr>
            <a:r>
              <a:rPr lang="en-US" altLang="zh-CN" sz="1180">
                <a:solidFill>
                  <a:srgbClr val="2F3A45"/>
                </a:solidFill>
                <a:latin typeface="Arial" panose="020B0604020202020204" pitchFamily="34" charset="0"/>
                <a:ea typeface="微软雅黑" panose="020B0503020204020204" charset="-122"/>
              </a:rPr>
              <a:t>• Softmax</a:t>
            </a:r>
            <a:r>
              <a:rPr lang="zh-CN" altLang="en-US" sz="1180">
                <a:solidFill>
                  <a:srgbClr val="2F3A45"/>
                </a:solidFill>
                <a:latin typeface="Arial" panose="020B0604020202020204" pitchFamily="34" charset="0"/>
                <a:ea typeface="微软雅黑" panose="020B0503020204020204" charset="-122"/>
              </a:rPr>
              <a:t>：</a:t>
            </a:r>
            <a:r>
              <a:rPr lang="en-US" altLang="zh-CN" sz="1180">
                <a:solidFill>
                  <a:srgbClr val="2F3A45"/>
                </a:solidFill>
                <a:latin typeface="Arial" panose="020B0604020202020204" pitchFamily="34" charset="0"/>
                <a:ea typeface="微软雅黑" panose="020B0503020204020204" charset="-122"/>
              </a:rPr>
              <a:t>MLU Triton 1.23×</a:t>
            </a:r>
            <a:r>
              <a:rPr lang="zh-CN" altLang="en-US" sz="1180">
                <a:solidFill>
                  <a:srgbClr val="2F3A45"/>
                </a:solidFill>
                <a:latin typeface="Arial" panose="020B0604020202020204" pitchFamily="34" charset="0"/>
                <a:ea typeface="微软雅黑" panose="020B0503020204020204" charset="-122"/>
              </a:rPr>
              <a:t>；</a:t>
            </a:r>
            <a:r>
              <a:rPr lang="en-US" altLang="zh-CN" sz="1180">
                <a:solidFill>
                  <a:srgbClr val="2F3A45"/>
                </a:solidFill>
                <a:latin typeface="Arial" panose="020B0604020202020204" pitchFamily="34" charset="0"/>
                <a:ea typeface="微软雅黑" panose="020B0503020204020204" charset="-122"/>
              </a:rPr>
              <a:t>CUDA C </a:t>
            </a:r>
            <a:r>
              <a:rPr lang="zh-CN" altLang="en-US" sz="1180">
                <a:solidFill>
                  <a:srgbClr val="2F3A45"/>
                </a:solidFill>
                <a:latin typeface="Arial" panose="020B0604020202020204" pitchFamily="34" charset="0"/>
                <a:ea typeface="微软雅黑" panose="020B0503020204020204" charset="-122"/>
              </a:rPr>
              <a:t>与 </a:t>
            </a:r>
            <a:r>
              <a:rPr lang="en-US" altLang="zh-CN" sz="1180">
                <a:solidFill>
                  <a:srgbClr val="2F3A45"/>
                </a:solidFill>
                <a:latin typeface="Arial" panose="020B0604020202020204" pitchFamily="34" charset="0"/>
                <a:ea typeface="微软雅黑" panose="020B0503020204020204" charset="-122"/>
              </a:rPr>
              <a:t>GPU Triton </a:t>
            </a:r>
            <a:r>
              <a:rPr lang="zh-CN" altLang="en-US" sz="1180">
                <a:solidFill>
                  <a:srgbClr val="2F3A45"/>
                </a:solidFill>
                <a:latin typeface="Arial" panose="020B0604020202020204" pitchFamily="34" charset="0"/>
                <a:ea typeface="微软雅黑" panose="020B0503020204020204" charset="-122"/>
              </a:rPr>
              <a:t>均为 </a:t>
            </a:r>
            <a:r>
              <a:rPr lang="en-US" altLang="zh-CN" sz="1180">
                <a:solidFill>
                  <a:srgbClr val="2F3A45"/>
                </a:solidFill>
                <a:latin typeface="Arial" panose="020B0604020202020204" pitchFamily="34" charset="0"/>
                <a:ea typeface="微软雅黑" panose="020B0503020204020204" charset="-122"/>
              </a:rPr>
              <a:t>1.06×</a:t>
            </a:r>
            <a:r>
              <a:rPr lang="zh-CN" altLang="en-US" sz="1180">
                <a:solidFill>
                  <a:srgbClr val="2F3A45"/>
                </a:solidFill>
                <a:latin typeface="Arial" panose="020B0604020202020204" pitchFamily="34" charset="0"/>
                <a:ea typeface="微软雅黑" panose="020B0503020204020204" charset="-122"/>
              </a:rPr>
              <a:t>，接近或超过基线。</a:t>
            </a:r>
          </a:p>
        </p:txBody>
      </p:sp>
      <p:sp>
        <p:nvSpPr>
          <p:cNvPr id="11" name="s16-observation-right"/>
          <p:cNvSpPr txBox="1"/>
          <p:nvPr/>
        </p:nvSpPr>
        <p:spPr>
          <a:xfrm>
            <a:off x="6299200" y="54102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微软雅黑" panose="020B0503020204020204" charset="-122"/>
              </a:rPr>
              <a:t>• MatMul</a:t>
            </a:r>
            <a:r>
              <a:rPr lang="zh-CN" altLang="en-US" sz="1180">
                <a:solidFill>
                  <a:srgbClr val="2F3A45"/>
                </a:solidFill>
                <a:latin typeface="Arial" panose="020B0604020202020204" pitchFamily="34" charset="0"/>
                <a:ea typeface="微软雅黑" panose="020B0503020204020204" charset="-122"/>
              </a:rPr>
              <a:t>：四类 </a:t>
            </a:r>
            <a:r>
              <a:rPr lang="en-US" altLang="zh-CN" sz="1180">
                <a:solidFill>
                  <a:srgbClr val="2F3A45"/>
                </a:solidFill>
                <a:latin typeface="Arial" panose="020B0604020202020204" pitchFamily="34" charset="0"/>
                <a:ea typeface="微软雅黑" panose="020B0503020204020204" charset="-122"/>
              </a:rPr>
              <a:t>Skill </a:t>
            </a:r>
            <a:r>
              <a:rPr lang="zh-CN" altLang="en-US" sz="1180">
                <a:solidFill>
                  <a:srgbClr val="2F3A45"/>
                </a:solidFill>
                <a:latin typeface="Arial" panose="020B0604020202020204" pitchFamily="34" charset="0"/>
                <a:ea typeface="微软雅黑" panose="020B0503020204020204" charset="-122"/>
              </a:rPr>
              <a:t>全部低于 </a:t>
            </a:r>
            <a:r>
              <a:rPr lang="en-US" altLang="zh-CN" sz="1180">
                <a:solidFill>
                  <a:srgbClr val="2F3A45"/>
                </a:solidFill>
                <a:latin typeface="Arial" panose="020B0604020202020204" pitchFamily="34" charset="0"/>
                <a:ea typeface="微软雅黑" panose="020B0503020204020204" charset="-122"/>
              </a:rPr>
              <a:t>1×</a:t>
            </a:r>
            <a:r>
              <a:rPr lang="zh-CN" altLang="en-US" sz="1180">
                <a:solidFill>
                  <a:srgbClr val="2F3A45"/>
                </a:solidFill>
                <a:latin typeface="Arial" panose="020B0604020202020204" pitchFamily="34" charset="0"/>
                <a:ea typeface="微软雅黑" panose="020B0503020204020204" charset="-122"/>
              </a:rPr>
              <a:t>；最高 </a:t>
            </a:r>
            <a:r>
              <a:rPr lang="en-US" altLang="zh-CN" sz="1180">
                <a:solidFill>
                  <a:srgbClr val="2F3A45"/>
                </a:solidFill>
                <a:latin typeface="Arial" panose="020B0604020202020204" pitchFamily="34" charset="0"/>
                <a:ea typeface="微软雅黑" panose="020B0503020204020204" charset="-122"/>
              </a:rPr>
              <a:t>CUDA C </a:t>
            </a:r>
            <a:r>
              <a:rPr lang="zh-CN" altLang="en-US" sz="1180">
                <a:solidFill>
                  <a:srgbClr val="2F3A45"/>
                </a:solidFill>
                <a:latin typeface="Arial" panose="020B0604020202020204" pitchFamily="34" charset="0"/>
                <a:ea typeface="微软雅黑" panose="020B0503020204020204" charset="-122"/>
              </a:rPr>
              <a:t>也只有 </a:t>
            </a:r>
            <a:r>
              <a:rPr lang="en-US" altLang="zh-CN" sz="1180">
                <a:solidFill>
                  <a:srgbClr val="2F3A45"/>
                </a:solidFill>
                <a:latin typeface="Arial" panose="020B0604020202020204" pitchFamily="34" charset="0"/>
                <a:ea typeface="微软雅黑" panose="020B0503020204020204" charset="-122"/>
              </a:rPr>
              <a:t>0.53×</a:t>
            </a:r>
            <a:r>
              <a:rPr lang="zh-CN" altLang="en-US" sz="1180">
                <a:solidFill>
                  <a:srgbClr val="2F3A45"/>
                </a:solidFill>
                <a:latin typeface="Arial" panose="020B0604020202020204" pitchFamily="34" charset="0"/>
                <a:ea typeface="微软雅黑" panose="020B0503020204020204" charset="-122"/>
              </a:rPr>
              <a:t>。</a:t>
            </a:r>
          </a:p>
          <a:p>
            <a:pPr>
              <a:spcAft>
                <a:spcPts val="500"/>
              </a:spcAft>
            </a:pPr>
            <a:r>
              <a:rPr lang="en-US" altLang="zh-CN" sz="1180">
                <a:solidFill>
                  <a:srgbClr val="2F3A45"/>
                </a:solidFill>
                <a:latin typeface="Arial" panose="020B0604020202020204" pitchFamily="34" charset="0"/>
                <a:ea typeface="微软雅黑" panose="020B0503020204020204" charset="-122"/>
              </a:rPr>
              <a:t>• BANG C </a:t>
            </a:r>
            <a:r>
              <a:rPr lang="zh-CN" altLang="en-US" sz="1180">
                <a:solidFill>
                  <a:srgbClr val="2F3A45"/>
                </a:solidFill>
                <a:latin typeface="Arial" panose="020B0604020202020204" pitchFamily="34" charset="0"/>
                <a:ea typeface="微软雅黑" panose="020B0503020204020204" charset="-122"/>
              </a:rPr>
              <a:t>三项均低于基线；当前主要短板是高性能优化。</a:t>
            </a:r>
          </a:p>
        </p:txBody>
      </p:sp>
      <p:sp>
        <p:nvSpPr>
          <p:cNvPr id="1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3.4</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4"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6" name="slide-10-title"/>
          <p:cNvSpPr>
            <a:spLocks noGrp="1"/>
          </p:cNvSpPr>
          <p:nvPr/>
        </p:nvSpPr>
        <p:spPr>
          <a:xfrm>
            <a:off x="977900" y="27426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四类算子 </a:t>
            </a:r>
            <a:r>
              <a:rPr lang="en-US" altLang="zh-CN" sz="2600" b="1" dirty="0">
                <a:solidFill>
                  <a:srgbClr val="243B53"/>
                </a:solidFill>
                <a:latin typeface="Arial" panose="020B0604020202020204" pitchFamily="34" charset="0"/>
                <a:ea typeface="微软雅黑" panose="020B0503020204020204" charset="-122"/>
                <a:cs typeface="微软雅黑" panose="020B0503020204020204" charset="-122"/>
              </a:rPr>
              <a:t>Skill</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：开发效率对比</a:t>
            </a:r>
            <a:endParaRPr sz="2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elapsed_time_definition"/>
          <p:cNvSpPr>
            <a:spLocks noGrp="1"/>
          </p:cNvSpPr>
          <p:nvPr/>
        </p:nvSpPr>
        <p:spPr>
          <a:xfrm>
            <a:off x="1200149" y="4241800"/>
            <a:ext cx="6350000" cy="254000"/>
          </a:xfrm>
          <a:prstGeom prst="rect">
            <a:avLst/>
          </a:prstGeom>
          <a:noFill/>
          <a:ln w="0">
            <a:noFill/>
            <a:prstDash val="solid"/>
          </a:ln>
          <a:effectLst/>
        </p:spPr>
        <p:txBody>
          <a:bodyPr wrap="square" lIns="0" tIns="0" rIns="0" bIns="0" anchor="t">
            <a:noAutofit/>
          </a:bodyPr>
          <a:lstStyle/>
          <a:p>
            <a:pPr>
              <a:buNone/>
              <a:defRPr sz="1050" b="0">
                <a:solidFill>
                  <a:srgbClr val="59616D"/>
                </a:solidFill>
                <a:latin typeface="微软雅黑" panose="020B0503020204020204" charset="-122"/>
                <a:ea typeface="微软雅黑" panose="020B0503020204020204" charset="-122"/>
                <a:cs typeface="微软雅黑" panose="020B0503020204020204" charset="-122"/>
              </a:defRPr>
            </a:pPr>
            <a:r>
              <a:rPr sz="1050">
                <a:solidFill>
                  <a:srgbClr val="66737F"/>
                </a:solidFill>
                <a:latin typeface="Arial" panose="020B0604020202020204" pitchFamily="34" charset="0"/>
                <a:ea typeface="微软雅黑" panose="020B0503020204020204" charset="-122"/>
                <a:cs typeface="微软雅黑" panose="020B0503020204020204" charset="-122"/>
              </a:rPr>
              <a:t>端到端耗时：需求提交 → 最终交付</a:t>
            </a:r>
          </a:p>
        </p:txBody>
      </p:sp>
      <p:graphicFrame>
        <p:nvGraphicFramePr>
          <p:cNvPr id="54" name="development_time_by_skill_and_operator"/>
          <p:cNvGraphicFramePr/>
          <p:nvPr/>
        </p:nvGraphicFramePr>
        <p:xfrm>
          <a:off x="1200150" y="990600"/>
          <a:ext cx="7600950" cy="3149600"/>
        </p:xfrm>
        <a:graphic>
          <a:graphicData uri="http://schemas.openxmlformats.org/drawingml/2006/table">
            <a:tbl>
              <a:tblPr firstRow="1">
                <a:effectLst/>
              </a:tblPr>
              <a:tblGrid>
                <a:gridCol w="198120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18764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tblGrid>
              <a:tr h="629920">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Skill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629920">
                <a:tc>
                  <a:txBody>
                    <a:bodyPr/>
                    <a:lstStyle/>
                    <a:p>
                      <a:pPr algn="ctr">
                        <a:buNone/>
                      </a:pPr>
                      <a:r>
                        <a:rPr sz="1400" b="1" dirty="0">
                          <a:solidFill>
                            <a:srgbClr val="2F3A45"/>
                          </a:solidFill>
                          <a:latin typeface="Arial" panose="020B0604020202020204" pitchFamily="34" charset="0"/>
                          <a:ea typeface="微软雅黑" panose="020B0503020204020204" charset="-122"/>
                          <a:cs typeface="微软雅黑" panose="020B0503020204020204" charset="-122"/>
                        </a:rPr>
                        <a:t>MLU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3</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h59</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629920">
                <a:tc>
                  <a:txBody>
                    <a:bodyPr/>
                    <a:lstStyle/>
                    <a:p>
                      <a:pPr algn="ctr">
                        <a:buNone/>
                      </a:pPr>
                      <a:r>
                        <a:rPr sz="1400" b="1">
                          <a:solidFill>
                            <a:srgbClr val="C77C59"/>
                          </a:solidFill>
                          <a:latin typeface="Arial" panose="020B0604020202020204" pitchFamily="34" charset="0"/>
                          <a:ea typeface="微软雅黑" panose="020B050302020402020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7</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h</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7</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h</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10</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h</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2"/>
                  </a:ext>
                </a:extLst>
              </a:tr>
              <a:tr h="62992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400" b="1" dirty="0" smtClean="0">
                          <a:solidFill>
                            <a:srgbClr val="4F8A83"/>
                          </a:solidFill>
                          <a:latin typeface="Arial" panose="020B0604020202020204" pitchFamily="34" charset="0"/>
                          <a:ea typeface="微软雅黑" panose="020B050302020402020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a:t>
                      </a:r>
                      <a:r>
                        <a:rPr lang="en-US" altLang="zh-CN" sz="1400" b="1" dirty="0">
                          <a:solidFill>
                            <a:srgbClr val="4F8A83"/>
                          </a:solidFill>
                          <a:latin typeface="Arial" panose="020B0604020202020204" pitchFamily="34" charset="0"/>
                          <a:ea typeface="微软雅黑" panose="020B0503020204020204" charset="-122"/>
                          <a:cs typeface="微软雅黑" panose="020B0503020204020204" charset="-122"/>
                        </a:rPr>
                        <a:t>h57</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a:t>
                      </a:r>
                      <a:r>
                        <a:rPr lang="en-US" altLang="zh-CN" sz="1400" b="1" dirty="0">
                          <a:solidFill>
                            <a:srgbClr val="4F8A83"/>
                          </a:solidFill>
                          <a:latin typeface="Arial" panose="020B0604020202020204" pitchFamily="34" charset="0"/>
                          <a:ea typeface="微软雅黑" panose="020B0503020204020204" charset="-122"/>
                          <a:cs typeface="微软雅黑" panose="020B0503020204020204" charset="-122"/>
                        </a:rPr>
                        <a:t>h10m</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a:t>
                      </a:r>
                      <a:r>
                        <a:rPr lang="en-US" altLang="zh-CN" sz="1400" b="1" dirty="0">
                          <a:solidFill>
                            <a:srgbClr val="4F8A83"/>
                          </a:solidFill>
                          <a:latin typeface="Arial" panose="020B0604020202020204" pitchFamily="34" charset="0"/>
                          <a:ea typeface="微软雅黑" panose="020B0503020204020204" charset="-122"/>
                          <a:cs typeface="微软雅黑" panose="020B0503020204020204" charset="-122"/>
                        </a:rPr>
                        <a:t>h20m</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3"/>
                  </a:ext>
                </a:extLst>
              </a:tr>
              <a:tr h="629920">
                <a:tc>
                  <a:txBody>
                    <a:bodyPr/>
                    <a:lstStyle/>
                    <a:p>
                      <a:pPr algn="ctr">
                        <a:buNone/>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CUDA C</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h30m</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3</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h30m</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4"/>
                  </a:ext>
                </a:extLst>
              </a:tr>
            </a:tbl>
          </a:graphicData>
        </a:graphic>
      </p:graphicFrame>
      <p:graphicFrame>
        <p:nvGraphicFramePr>
          <p:cNvPr id="55" name="average_development_time"/>
          <p:cNvGraphicFramePr/>
          <p:nvPr/>
        </p:nvGraphicFramePr>
        <p:xfrm>
          <a:off x="8801100" y="990600"/>
          <a:ext cx="2199640" cy="3149600"/>
        </p:xfrm>
        <a:graphic>
          <a:graphicData uri="http://schemas.openxmlformats.org/drawingml/2006/table">
            <a:tbl>
              <a:tblPr firstRow="1">
                <a:effectLst/>
              </a:tblPr>
              <a:tblGrid>
                <a:gridCol w="2199640">
                  <a:extLst>
                    <a:ext uri="{9D8B030D-6E8A-4147-A177-3AD203B41FA5}">
                      <a16:colId xmlns:a16="http://schemas.microsoft.com/office/drawing/2014/main" val="20000"/>
                    </a:ext>
                  </a:extLst>
                </a:gridCol>
              </a:tblGrid>
              <a:tr h="629920">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平均耗时</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629920">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2h 49m</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629920">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8</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h</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2"/>
                  </a:ext>
                </a:extLst>
              </a:tr>
              <a:tr h="629920">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1h 29m</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3"/>
                  </a:ext>
                </a:extLst>
              </a:tr>
              <a:tr h="629920">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2h 20m</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4"/>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21</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6" name="s17-observation-heading"/>
          <p:cNvSpPr txBox="1"/>
          <p:nvPr/>
        </p:nvSpPr>
        <p:spPr>
          <a:xfrm>
            <a:off x="1193800" y="45974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效率观察</a:t>
            </a:r>
          </a:p>
        </p:txBody>
      </p:sp>
      <p:sp>
        <p:nvSpPr>
          <p:cNvPr id="11" name="s17-observation-left"/>
          <p:cNvSpPr txBox="1"/>
          <p:nvPr/>
        </p:nvSpPr>
        <p:spPr>
          <a:xfrm>
            <a:off x="1193800" y="49403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微软雅黑" panose="020B0503020204020204" charset="-122"/>
              </a:rPr>
              <a:t>• CUDA C </a:t>
            </a:r>
            <a:r>
              <a:rPr lang="zh-CN" altLang="en-US" sz="1180">
                <a:solidFill>
                  <a:srgbClr val="2F3A45"/>
                </a:solidFill>
                <a:latin typeface="Arial" panose="020B0604020202020204" pitchFamily="34" charset="0"/>
                <a:ea typeface="微软雅黑" panose="020B0503020204020204" charset="-122"/>
              </a:rPr>
              <a:t>平均 </a:t>
            </a:r>
            <a:r>
              <a:rPr lang="en-US" altLang="zh-CN" sz="1180">
                <a:solidFill>
                  <a:srgbClr val="2F3A45"/>
                </a:solidFill>
                <a:latin typeface="Arial" panose="020B0604020202020204" pitchFamily="34" charset="0"/>
                <a:ea typeface="微软雅黑" panose="020B0503020204020204" charset="-122"/>
              </a:rPr>
              <a:t>1h29m</a:t>
            </a:r>
            <a:r>
              <a:rPr lang="zh-CN" altLang="en-US" sz="1180">
                <a:solidFill>
                  <a:srgbClr val="2F3A45"/>
                </a:solidFill>
                <a:latin typeface="Arial" panose="020B0604020202020204" pitchFamily="34" charset="0"/>
                <a:ea typeface="微软雅黑" panose="020B0503020204020204" charset="-122"/>
              </a:rPr>
              <a:t>，开发耗时最短；</a:t>
            </a:r>
            <a:r>
              <a:rPr lang="en-US" altLang="zh-CN" sz="1180">
                <a:solidFill>
                  <a:srgbClr val="2F3A45"/>
                </a:solidFill>
                <a:latin typeface="Arial" panose="020B0604020202020204" pitchFamily="34" charset="0"/>
                <a:ea typeface="微软雅黑" panose="020B0503020204020204" charset="-122"/>
              </a:rPr>
              <a:t>BANG C </a:t>
            </a:r>
            <a:r>
              <a:rPr lang="zh-CN" altLang="en-US" sz="1180">
                <a:solidFill>
                  <a:srgbClr val="2F3A45"/>
                </a:solidFill>
                <a:latin typeface="Arial" panose="020B0604020202020204" pitchFamily="34" charset="0"/>
                <a:ea typeface="微软雅黑" panose="020B0503020204020204" charset="-122"/>
              </a:rPr>
              <a:t>平均 </a:t>
            </a:r>
            <a:r>
              <a:rPr lang="en-US" altLang="zh-CN" sz="1180">
                <a:solidFill>
                  <a:srgbClr val="2F3A45"/>
                </a:solidFill>
                <a:latin typeface="Arial" panose="020B0604020202020204" pitchFamily="34" charset="0"/>
                <a:ea typeface="微软雅黑" panose="020B0503020204020204" charset="-122"/>
              </a:rPr>
              <a:t>8h</a:t>
            </a:r>
            <a:r>
              <a:rPr lang="zh-CN" altLang="en-US" sz="1180">
                <a:solidFill>
                  <a:srgbClr val="2F3A45"/>
                </a:solidFill>
                <a:latin typeface="Arial" panose="020B0604020202020204" pitchFamily="34" charset="0"/>
                <a:ea typeface="微软雅黑" panose="020B0503020204020204" charset="-122"/>
              </a:rPr>
              <a:t>，耗时最长。</a:t>
            </a:r>
          </a:p>
          <a:p>
            <a:pPr>
              <a:spcAft>
                <a:spcPts val="500"/>
              </a:spcAft>
            </a:pPr>
            <a:r>
              <a:rPr lang="en-US" altLang="zh-CN" sz="1180">
                <a:solidFill>
                  <a:srgbClr val="2F3A45"/>
                </a:solidFill>
                <a:latin typeface="Arial" panose="020B0604020202020204" pitchFamily="34" charset="0"/>
                <a:ea typeface="微软雅黑" panose="020B0503020204020204" charset="-122"/>
              </a:rPr>
              <a:t>• </a:t>
            </a:r>
            <a:r>
              <a:rPr lang="zh-CN" altLang="en-US" sz="1180">
                <a:solidFill>
                  <a:srgbClr val="2F3A45"/>
                </a:solidFill>
                <a:latin typeface="Arial" panose="020B0604020202020204" pitchFamily="34" charset="0"/>
                <a:ea typeface="微软雅黑" panose="020B0503020204020204" charset="-122"/>
              </a:rPr>
              <a:t>开发时间与最终性能并非完全正相关：</a:t>
            </a:r>
            <a:r>
              <a:rPr lang="en-US" altLang="zh-CN" sz="1180">
                <a:solidFill>
                  <a:srgbClr val="2F3A45"/>
                </a:solidFill>
                <a:latin typeface="Arial" panose="020B0604020202020204" pitchFamily="34" charset="0"/>
                <a:ea typeface="微软雅黑" panose="020B0503020204020204" charset="-122"/>
              </a:rPr>
              <a:t>CUDA C </a:t>
            </a:r>
            <a:r>
              <a:rPr lang="zh-CN" altLang="en-US" sz="1180">
                <a:solidFill>
                  <a:srgbClr val="2F3A45"/>
                </a:solidFill>
                <a:latin typeface="Arial" panose="020B0604020202020204" pitchFamily="34" charset="0"/>
                <a:ea typeface="微软雅黑" panose="020B0503020204020204" charset="-122"/>
              </a:rPr>
              <a:t>最快，但 </a:t>
            </a:r>
            <a:r>
              <a:rPr lang="en-US" altLang="zh-CN" sz="1180">
                <a:solidFill>
                  <a:srgbClr val="2F3A45"/>
                </a:solidFill>
                <a:latin typeface="Arial" panose="020B0604020202020204" pitchFamily="34" charset="0"/>
                <a:ea typeface="微软雅黑" panose="020B0503020204020204" charset="-122"/>
              </a:rPr>
              <a:t>MatMul </a:t>
            </a:r>
            <a:r>
              <a:rPr lang="zh-CN" altLang="en-US" sz="1180">
                <a:solidFill>
                  <a:srgbClr val="2F3A45"/>
                </a:solidFill>
                <a:latin typeface="Arial" panose="020B0604020202020204" pitchFamily="34" charset="0"/>
                <a:ea typeface="微软雅黑" panose="020B0503020204020204" charset="-122"/>
              </a:rPr>
              <a:t>仍只有 </a:t>
            </a:r>
            <a:r>
              <a:rPr lang="en-US" altLang="zh-CN" sz="1180">
                <a:solidFill>
                  <a:srgbClr val="2F3A45"/>
                </a:solidFill>
                <a:latin typeface="Arial" panose="020B0604020202020204" pitchFamily="34" charset="0"/>
                <a:ea typeface="微软雅黑" panose="020B0503020204020204" charset="-122"/>
              </a:rPr>
              <a:t>0.53×</a:t>
            </a:r>
            <a:r>
              <a:rPr lang="zh-CN" altLang="en-US" sz="1180">
                <a:solidFill>
                  <a:srgbClr val="2F3A45"/>
                </a:solidFill>
                <a:latin typeface="Arial" panose="020B0604020202020204" pitchFamily="34" charset="0"/>
                <a:ea typeface="微软雅黑" panose="020B0503020204020204" charset="-122"/>
              </a:rPr>
              <a:t>。</a:t>
            </a:r>
          </a:p>
          <a:p>
            <a:pPr>
              <a:spcAft>
                <a:spcPts val="500"/>
              </a:spcAft>
            </a:pPr>
            <a:r>
              <a:rPr lang="en-US" altLang="zh-CN" sz="1180">
                <a:solidFill>
                  <a:srgbClr val="2F3A45"/>
                </a:solidFill>
                <a:latin typeface="Arial" panose="020B0604020202020204" pitchFamily="34" charset="0"/>
                <a:ea typeface="微软雅黑" panose="020B0503020204020204" charset="-122"/>
                <a:sym typeface="+mn-ea"/>
              </a:rPr>
              <a:t>• </a:t>
            </a:r>
            <a:r>
              <a:rPr lang="zh-CN" altLang="en-US" sz="1180">
                <a:solidFill>
                  <a:srgbClr val="FF0000"/>
                </a:solidFill>
                <a:latin typeface="Arial" panose="020B0604020202020204" pitchFamily="34" charset="0"/>
                <a:ea typeface="微软雅黑" panose="020B0503020204020204" charset="-122"/>
                <a:sym typeface="+mn-ea"/>
              </a:rPr>
              <a:t>新版</a:t>
            </a:r>
            <a:r>
              <a:rPr lang="en-US" altLang="zh-CN" sz="1180">
                <a:solidFill>
                  <a:srgbClr val="FF0000"/>
                </a:solidFill>
                <a:latin typeface="Arial" panose="020B0604020202020204" pitchFamily="34" charset="0"/>
                <a:ea typeface="微软雅黑" panose="020B0503020204020204" charset="-122"/>
                <a:sym typeface="+mn-ea"/>
              </a:rPr>
              <a:t>mlu</a:t>
            </a:r>
            <a:r>
              <a:rPr lang="zh-CN" altLang="en-US" sz="1180">
                <a:solidFill>
                  <a:srgbClr val="FF0000"/>
                </a:solidFill>
                <a:latin typeface="Arial" panose="020B0604020202020204" pitchFamily="34" charset="0"/>
                <a:ea typeface="微软雅黑" panose="020B0503020204020204" charset="-122"/>
                <a:sym typeface="+mn-ea"/>
              </a:rPr>
              <a:t>算子进行了消耗</a:t>
            </a:r>
            <a:r>
              <a:rPr lang="en-US" altLang="zh-CN" sz="1180">
                <a:solidFill>
                  <a:srgbClr val="FF0000"/>
                </a:solidFill>
                <a:latin typeface="Arial" panose="020B0604020202020204" pitchFamily="34" charset="0"/>
                <a:ea typeface="微软雅黑" panose="020B0503020204020204" charset="-122"/>
                <a:sym typeface="+mn-ea"/>
              </a:rPr>
              <a:t>token</a:t>
            </a:r>
            <a:r>
              <a:rPr lang="zh-CN" altLang="en-US" sz="1180">
                <a:solidFill>
                  <a:srgbClr val="FF0000"/>
                </a:solidFill>
                <a:latin typeface="Arial" panose="020B0604020202020204" pitchFamily="34" charset="0"/>
                <a:ea typeface="微软雅黑" panose="020B0503020204020204" charset="-122"/>
                <a:sym typeface="+mn-ea"/>
              </a:rPr>
              <a:t>和生成时间方面的优化</a:t>
            </a:r>
            <a:r>
              <a:rPr lang="zh-CN" altLang="en-US" sz="1180">
                <a:solidFill>
                  <a:srgbClr val="2F3A45"/>
                </a:solidFill>
                <a:latin typeface="Arial" panose="020B0604020202020204" pitchFamily="34" charset="0"/>
                <a:ea typeface="微软雅黑" panose="020B0503020204020204" charset="-122"/>
                <a:sym typeface="+mn-ea"/>
              </a:rPr>
              <a:t>，</a:t>
            </a:r>
            <a:r>
              <a:rPr lang="en-US" altLang="zh-CN" sz="1180">
                <a:solidFill>
                  <a:srgbClr val="2F3A45"/>
                </a:solidFill>
                <a:latin typeface="Arial" panose="020B0604020202020204" pitchFamily="34" charset="0"/>
                <a:ea typeface="微软雅黑" panose="020B0503020204020204" charset="-122"/>
                <a:sym typeface="+mn-ea"/>
              </a:rPr>
              <a:t>layerNorm</a:t>
            </a:r>
            <a:r>
              <a:rPr lang="zh-CN" altLang="en-US" sz="1180">
                <a:solidFill>
                  <a:srgbClr val="2F3A45"/>
                </a:solidFill>
                <a:latin typeface="Arial" panose="020B0604020202020204" pitchFamily="34" charset="0"/>
                <a:ea typeface="微软雅黑" panose="020B0503020204020204" charset="-122"/>
                <a:sym typeface="+mn-ea"/>
              </a:rPr>
              <a:t>算子开发时间由</a:t>
            </a:r>
            <a:r>
              <a:rPr lang="en-US" altLang="zh-CN" sz="1180">
                <a:solidFill>
                  <a:srgbClr val="2F3A45"/>
                </a:solidFill>
                <a:latin typeface="Arial" panose="020B0604020202020204" pitchFamily="34" charset="0"/>
                <a:ea typeface="微软雅黑" panose="020B0503020204020204" charset="-122"/>
                <a:sym typeface="+mn-ea"/>
              </a:rPr>
              <a:t>3.6h</a:t>
            </a:r>
            <a:r>
              <a:rPr lang="zh-CN" altLang="en-US" sz="1180">
                <a:solidFill>
                  <a:srgbClr val="2F3A45"/>
                </a:solidFill>
                <a:latin typeface="Arial" panose="020B0604020202020204" pitchFamily="34" charset="0"/>
                <a:ea typeface="微软雅黑" panose="020B0503020204020204" charset="-122"/>
                <a:sym typeface="+mn-ea"/>
              </a:rPr>
              <a:t>降低到</a:t>
            </a:r>
            <a:r>
              <a:rPr lang="en-US" altLang="zh-CN" sz="1180">
                <a:solidFill>
                  <a:srgbClr val="2F3A45"/>
                </a:solidFill>
                <a:latin typeface="Arial" panose="020B0604020202020204" pitchFamily="34" charset="0"/>
                <a:ea typeface="微软雅黑" panose="020B0503020204020204" charset="-122"/>
                <a:sym typeface="+mn-ea"/>
              </a:rPr>
              <a:t>3h</a:t>
            </a:r>
            <a:r>
              <a:rPr lang="zh-CN" altLang="en-US" sz="1180">
                <a:solidFill>
                  <a:srgbClr val="2F3A45"/>
                </a:solidFill>
                <a:latin typeface="Arial" panose="020B0604020202020204" pitchFamily="34" charset="0"/>
                <a:ea typeface="微软雅黑" panose="020B0503020204020204" charset="-122"/>
                <a:sym typeface="+mn-ea"/>
              </a:rPr>
              <a:t>。其余算子没有变化。</a:t>
            </a:r>
          </a:p>
        </p:txBody>
      </p:sp>
      <p:sp>
        <p:nvSpPr>
          <p:cNvPr id="14" name="s17-observation-right"/>
          <p:cNvSpPr txBox="1"/>
          <p:nvPr/>
        </p:nvSpPr>
        <p:spPr>
          <a:xfrm>
            <a:off x="6327140" y="49403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微软雅黑" panose="020B0503020204020204" charset="-122"/>
              </a:rPr>
              <a:t>• GPU Triton </a:t>
            </a:r>
            <a:r>
              <a:rPr lang="zh-CN" altLang="en-US" sz="1180">
                <a:solidFill>
                  <a:srgbClr val="2F3A45"/>
                </a:solidFill>
                <a:latin typeface="Arial" panose="020B0604020202020204" pitchFamily="34" charset="0"/>
                <a:ea typeface="微软雅黑" panose="020B0503020204020204" charset="-122"/>
              </a:rPr>
              <a:t>的 </a:t>
            </a:r>
            <a:r>
              <a:rPr lang="en-US" altLang="zh-CN" sz="1180">
                <a:solidFill>
                  <a:srgbClr val="2F3A45"/>
                </a:solidFill>
                <a:latin typeface="Arial" panose="020B0604020202020204" pitchFamily="34" charset="0"/>
                <a:ea typeface="微软雅黑" panose="020B0503020204020204" charset="-122"/>
              </a:rPr>
              <a:t>MatMul </a:t>
            </a:r>
            <a:r>
              <a:rPr lang="zh-CN" altLang="en-US" sz="1180">
                <a:solidFill>
                  <a:srgbClr val="2F3A45"/>
                </a:solidFill>
                <a:latin typeface="Arial" panose="020B0604020202020204" pitchFamily="34" charset="0"/>
                <a:ea typeface="微软雅黑" panose="020B0503020204020204" charset="-122"/>
              </a:rPr>
              <a:t>开发仅 </a:t>
            </a:r>
            <a:r>
              <a:rPr lang="en-US" altLang="zh-CN" sz="1180">
                <a:solidFill>
                  <a:srgbClr val="2F3A45"/>
                </a:solidFill>
                <a:latin typeface="Arial" panose="020B0604020202020204" pitchFamily="34" charset="0"/>
                <a:ea typeface="微软雅黑" panose="020B0503020204020204" charset="-122"/>
              </a:rPr>
              <a:t>1h30m</a:t>
            </a:r>
            <a:r>
              <a:rPr lang="zh-CN" altLang="en-US" sz="1180">
                <a:solidFill>
                  <a:srgbClr val="2F3A45"/>
                </a:solidFill>
                <a:latin typeface="Arial" panose="020B0604020202020204" pitchFamily="34" charset="0"/>
                <a:ea typeface="微软雅黑" panose="020B0503020204020204" charset="-122"/>
              </a:rPr>
              <a:t>，却只有 </a:t>
            </a:r>
            <a:r>
              <a:rPr lang="en-US" altLang="zh-CN" sz="1180">
                <a:solidFill>
                  <a:srgbClr val="2F3A45"/>
                </a:solidFill>
                <a:latin typeface="Arial" panose="020B0604020202020204" pitchFamily="34" charset="0"/>
                <a:ea typeface="微软雅黑" panose="020B0503020204020204" charset="-122"/>
              </a:rPr>
              <a:t>0.33×</a:t>
            </a:r>
            <a:r>
              <a:rPr lang="zh-CN" altLang="en-US" sz="1180">
                <a:solidFill>
                  <a:srgbClr val="2F3A45"/>
                </a:solidFill>
                <a:latin typeface="Arial" panose="020B0604020202020204" pitchFamily="34" charset="0"/>
                <a:ea typeface="微软雅黑" panose="020B0503020204020204" charset="-122"/>
              </a:rPr>
              <a:t>；快速生成不等于高性能。</a:t>
            </a:r>
          </a:p>
          <a:p>
            <a:pPr>
              <a:spcAft>
                <a:spcPts val="500"/>
              </a:spcAft>
            </a:pPr>
            <a:r>
              <a:rPr lang="en-US" altLang="zh-CN" sz="1180">
                <a:solidFill>
                  <a:srgbClr val="2F3A45"/>
                </a:solidFill>
                <a:latin typeface="Arial" panose="020B0604020202020204" pitchFamily="34" charset="0"/>
                <a:ea typeface="微软雅黑" panose="020B0503020204020204" charset="-122"/>
              </a:rPr>
              <a:t>• BANG C </a:t>
            </a:r>
            <a:r>
              <a:rPr lang="zh-CN" altLang="en-US" sz="1180">
                <a:solidFill>
                  <a:srgbClr val="2F3A45"/>
                </a:solidFill>
                <a:latin typeface="Arial" panose="020B0604020202020204" pitchFamily="34" charset="0"/>
                <a:ea typeface="微软雅黑" panose="020B0503020204020204" charset="-122"/>
              </a:rPr>
              <a:t>已能生成并验证 </a:t>
            </a:r>
            <a:r>
              <a:rPr lang="en-US" altLang="zh-CN" sz="1180">
                <a:solidFill>
                  <a:srgbClr val="2F3A45"/>
                </a:solidFill>
                <a:latin typeface="Arial" panose="020B0604020202020204" pitchFamily="34" charset="0"/>
                <a:ea typeface="微软雅黑" panose="020B0503020204020204" charset="-122"/>
              </a:rPr>
              <a:t>Kernel</a:t>
            </a:r>
            <a:r>
              <a:rPr lang="zh-CN" altLang="en-US" sz="1180">
                <a:solidFill>
                  <a:srgbClr val="2F3A45"/>
                </a:solidFill>
                <a:latin typeface="Arial" panose="020B0604020202020204" pitchFamily="34" charset="0"/>
                <a:ea typeface="微软雅黑" panose="020B0503020204020204" charset="-122"/>
              </a:rPr>
              <a:t>；当前主要瓶颈是优化知识与规则不足。</a:t>
            </a:r>
          </a:p>
        </p:txBody>
      </p:sp>
      <p:sp>
        <p:nvSpPr>
          <p:cNvPr id="12" name="slide-7-editable-footer"/>
          <p:cNvSpPr>
            <a:spLocks noGrp="1"/>
          </p:cNvSpPr>
          <p:nvPr/>
        </p:nvSpPr>
        <p:spPr>
          <a:xfrm>
            <a:off x="234950" y="6433833"/>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1600" dirty="0">
                <a:solidFill>
                  <a:srgbClr val="2F3A45"/>
                </a:solidFill>
                <a:latin typeface="Arial" panose="020B0604020202020204" pitchFamily="34" charset="0"/>
                <a:ea typeface="微软雅黑" panose="020B0503020204020204" charset="-122"/>
              </a:rPr>
              <a:t>总结：结果显示 </a:t>
            </a:r>
            <a:r>
              <a:rPr lang="en-US" altLang="zh-CN" sz="1600" dirty="0" err="1">
                <a:solidFill>
                  <a:srgbClr val="2F3A45"/>
                </a:solidFill>
                <a:latin typeface="Arial" panose="020B0604020202020204" pitchFamily="34" charset="0"/>
                <a:ea typeface="微软雅黑" panose="020B0503020204020204" charset="-122"/>
              </a:rPr>
              <a:t>mlu</a:t>
            </a:r>
            <a:r>
              <a:rPr lang="en-US" altLang="zh-CN" sz="1600" dirty="0">
                <a:solidFill>
                  <a:srgbClr val="2F3A45"/>
                </a:solidFill>
                <a:latin typeface="Arial" panose="020B0604020202020204" pitchFamily="34" charset="0"/>
                <a:ea typeface="微软雅黑" panose="020B0503020204020204" charset="-122"/>
              </a:rPr>
              <a:t> triton </a:t>
            </a:r>
            <a:r>
              <a:rPr lang="en-US" altLang="zh-CN" sz="1600" dirty="0" err="1">
                <a:solidFill>
                  <a:srgbClr val="2F3A45"/>
                </a:solidFill>
                <a:latin typeface="Arial" panose="020B0604020202020204" pitchFamily="34" charset="0"/>
                <a:ea typeface="微软雅黑" panose="020B0503020204020204" charset="-122"/>
              </a:rPr>
              <a:t>cuda</a:t>
            </a:r>
            <a:r>
              <a:rPr lang="en-US" altLang="zh-CN" sz="1600" dirty="0">
                <a:solidFill>
                  <a:srgbClr val="2F3A45"/>
                </a:solidFill>
                <a:latin typeface="Arial" panose="020B0604020202020204" pitchFamily="34" charset="0"/>
                <a:ea typeface="微软雅黑" panose="020B0503020204020204" charset="-122"/>
              </a:rPr>
              <a:t> c </a:t>
            </a:r>
            <a:r>
              <a:rPr lang="en-US" altLang="zh-CN" sz="1600" dirty="0" err="1">
                <a:solidFill>
                  <a:srgbClr val="2F3A45"/>
                </a:solidFill>
                <a:latin typeface="Arial" panose="020B0604020202020204" pitchFamily="34" charset="0"/>
                <a:ea typeface="微软雅黑" panose="020B0503020204020204" charset="-122"/>
              </a:rPr>
              <a:t>gpu</a:t>
            </a:r>
            <a:r>
              <a:rPr lang="en-US" altLang="zh-CN" sz="1600" dirty="0">
                <a:solidFill>
                  <a:srgbClr val="2F3A45"/>
                </a:solidFill>
                <a:latin typeface="Arial" panose="020B0604020202020204" pitchFamily="34" charset="0"/>
                <a:ea typeface="微软雅黑" panose="020B0503020204020204" charset="-122"/>
              </a:rPr>
              <a:t> triton</a:t>
            </a:r>
            <a:r>
              <a:rPr lang="zh-CN" altLang="en-US" sz="1600" dirty="0">
                <a:solidFill>
                  <a:srgbClr val="2F3A45"/>
                </a:solidFill>
                <a:latin typeface="Arial" panose="020B0604020202020204" pitchFamily="34" charset="0"/>
                <a:ea typeface="微软雅黑" panose="020B0503020204020204" charset="-122"/>
              </a:rPr>
              <a:t>的</a:t>
            </a:r>
            <a:r>
              <a:rPr lang="en-US" altLang="zh-CN" sz="1600" dirty="0">
                <a:solidFill>
                  <a:srgbClr val="2F3A45"/>
                </a:solidFill>
                <a:latin typeface="Arial" panose="020B0604020202020204" pitchFamily="34" charset="0"/>
                <a:ea typeface="微软雅黑" panose="020B0503020204020204" charset="-122"/>
              </a:rPr>
              <a:t>skill</a:t>
            </a:r>
            <a:r>
              <a:rPr lang="zh-CN" altLang="en-US" sz="1600" dirty="0">
                <a:solidFill>
                  <a:srgbClr val="2F3A45"/>
                </a:solidFill>
                <a:latin typeface="Arial" panose="020B0604020202020204" pitchFamily="34" charset="0"/>
                <a:ea typeface="微软雅黑" panose="020B0503020204020204" charset="-122"/>
              </a:rPr>
              <a:t>开发效率尚可，但仍需大量算子测试。</a:t>
            </a:r>
            <a:r>
              <a:rPr lang="en-US" altLang="zh-CN" sz="1600" dirty="0">
                <a:solidFill>
                  <a:srgbClr val="2F3A45"/>
                </a:solidFill>
                <a:latin typeface="Arial" panose="020B0604020202020204" pitchFamily="34" charset="0"/>
                <a:ea typeface="微软雅黑" panose="020B0503020204020204" charset="-122"/>
              </a:rPr>
              <a:t>Bang c</a:t>
            </a:r>
            <a:r>
              <a:rPr lang="zh-CN" altLang="en-US" sz="1600" dirty="0">
                <a:solidFill>
                  <a:srgbClr val="2F3A45"/>
                </a:solidFill>
                <a:latin typeface="Arial" panose="020B0604020202020204" pitchFamily="34" charset="0"/>
                <a:ea typeface="微软雅黑" panose="020B0503020204020204" charset="-122"/>
              </a:rPr>
              <a:t>算子缺口较大，正在完善</a:t>
            </a:r>
            <a:r>
              <a:rPr sz="1600" dirty="0">
                <a:solidFill>
                  <a:srgbClr val="2F3A45"/>
                </a:solidFill>
                <a:latin typeface="Arial" panose="020B0604020202020204" pitchFamily="34" charset="0"/>
                <a:ea typeface="微软雅黑" panose="020B0503020204020204" charset="-122"/>
              </a:rPr>
              <a:t>。</a:t>
            </a:r>
          </a:p>
        </p:txBody>
      </p:sp>
      <p:sp>
        <p:nvSpPr>
          <p:cNvPr id="1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3.4</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5"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111250" y="276225"/>
            <a:ext cx="10001250" cy="361950"/>
          </a:xfrm>
          <a:prstGeom prst="rect">
            <a:avLst/>
          </a:prstGeom>
          <a:noFill/>
          <a:ln w="0">
            <a:noFill/>
            <a:prstDash val="solid"/>
          </a:ln>
        </p:spPr>
        <p:txBody>
          <a:bodyPr wrap="square" lIns="0" tIns="0" rIns="0" bIns="0" anchor="ctr">
            <a:noAutofit/>
          </a:bodyPr>
          <a:lstStyle/>
          <a:p>
            <a:pPr algn="l">
              <a:lnSpc>
                <a:spcPct val="96000"/>
              </a:lnSpc>
              <a:buNone/>
              <a:defRPr sz="2250" b="1">
                <a:solidFill>
                  <a:srgbClr val="252B33"/>
                </a:solidFill>
                <a:latin typeface="微软雅黑" panose="020B0503020204020204" charset="-122"/>
                <a:ea typeface="微软雅黑" panose="020B0503020204020204" charset="-122"/>
                <a:cs typeface="微软雅黑" panose="020B0503020204020204" charset="-122"/>
              </a:defRPr>
            </a:pPr>
            <a:r>
              <a:rPr sz="2600" b="1" dirty="0">
                <a:solidFill>
                  <a:srgbClr val="243B53"/>
                </a:solidFill>
                <a:latin typeface="Arial" panose="020B0604020202020204" pitchFamily="34" charset="0"/>
                <a:ea typeface="微软雅黑" panose="020B0503020204020204" charset="-122"/>
                <a:cs typeface="微软雅黑" panose="020B0503020204020204" charset="-122"/>
              </a:rPr>
              <a:t>Triton vs </a:t>
            </a:r>
            <a:r>
              <a:rPr sz="2600" b="1" dirty="0" err="1">
                <a:solidFill>
                  <a:srgbClr val="243B53"/>
                </a:solidFill>
                <a:latin typeface="Arial" panose="020B0604020202020204" pitchFamily="34" charset="0"/>
                <a:ea typeface="微软雅黑" panose="020B0503020204020204" charset="-122"/>
                <a:cs typeface="微软雅黑" panose="020B0503020204020204" charset="-122"/>
              </a:rPr>
              <a:t>CUDA：算子资源与性能瓶颈对比</a:t>
            </a:r>
            <a:endParaRPr sz="2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5" name="header-0"/>
          <p:cNvSpPr>
            <a:spLocks noGrp="1"/>
          </p:cNvSpPr>
          <p:nvPr/>
        </p:nvSpPr>
        <p:spPr>
          <a:xfrm>
            <a:off x="552450" y="1599372"/>
            <a:ext cx="6858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算子</a:t>
            </a:r>
          </a:p>
        </p:txBody>
      </p:sp>
      <p:sp>
        <p:nvSpPr>
          <p:cNvPr id="6" name="header-1"/>
          <p:cNvSpPr>
            <a:spLocks noGrp="1"/>
          </p:cNvSpPr>
          <p:nvPr/>
        </p:nvSpPr>
        <p:spPr>
          <a:xfrm>
            <a:off x="1238250" y="1599372"/>
            <a:ext cx="1647825"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实现</a:t>
            </a:r>
          </a:p>
        </p:txBody>
      </p:sp>
      <p:sp>
        <p:nvSpPr>
          <p:cNvPr id="7" name="header-2"/>
          <p:cNvSpPr>
            <a:spLocks noGrp="1"/>
          </p:cNvSpPr>
          <p:nvPr/>
        </p:nvSpPr>
        <p:spPr>
          <a:xfrm>
            <a:off x="2886075" y="1599372"/>
            <a:ext cx="5143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Regs</a:t>
            </a: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 Thd</a:t>
            </a:r>
          </a:p>
        </p:txBody>
      </p:sp>
      <p:sp>
        <p:nvSpPr>
          <p:cNvPr id="8" name="header-3"/>
          <p:cNvSpPr>
            <a:spLocks noGrp="1"/>
          </p:cNvSpPr>
          <p:nvPr/>
        </p:nvSpPr>
        <p:spPr>
          <a:xfrm>
            <a:off x="3400425" y="1599372"/>
            <a:ext cx="4762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Spills</a:t>
            </a:r>
          </a:p>
        </p:txBody>
      </p:sp>
      <p:sp>
        <p:nvSpPr>
          <p:cNvPr id="9" name="header-4"/>
          <p:cNvSpPr>
            <a:spLocks noGrp="1"/>
          </p:cNvSpPr>
          <p:nvPr/>
        </p:nvSpPr>
        <p:spPr>
          <a:xfrm>
            <a:off x="3876675" y="1599372"/>
            <a:ext cx="7810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SMEM</a:t>
            </a: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 Blk</a:t>
            </a:r>
          </a:p>
        </p:txBody>
      </p:sp>
      <p:sp>
        <p:nvSpPr>
          <p:cNvPr id="10" name="header-5"/>
          <p:cNvSpPr>
            <a:spLocks noGrp="1"/>
          </p:cNvSpPr>
          <p:nvPr/>
        </p:nvSpPr>
        <p:spPr>
          <a:xfrm>
            <a:off x="4657725" y="1599372"/>
            <a:ext cx="10858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Occupancy</a:t>
            </a: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理论 / 实际</a:t>
            </a:r>
          </a:p>
        </p:txBody>
      </p:sp>
      <p:sp>
        <p:nvSpPr>
          <p:cNvPr id="11" name="header-6"/>
          <p:cNvSpPr>
            <a:spLocks noGrp="1"/>
          </p:cNvSpPr>
          <p:nvPr/>
        </p:nvSpPr>
        <p:spPr>
          <a:xfrm>
            <a:off x="5743575" y="1599372"/>
            <a:ext cx="8763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DRAM</a:t>
            </a: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吞吐</a:t>
            </a:r>
          </a:p>
        </p:txBody>
      </p:sp>
      <p:sp>
        <p:nvSpPr>
          <p:cNvPr id="12" name="header-7"/>
          <p:cNvSpPr>
            <a:spLocks noGrp="1"/>
          </p:cNvSpPr>
          <p:nvPr/>
        </p:nvSpPr>
        <p:spPr>
          <a:xfrm>
            <a:off x="6619875" y="1599372"/>
            <a:ext cx="7239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SM</a:t>
            </a: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计算</a:t>
            </a:r>
          </a:p>
        </p:txBody>
      </p:sp>
      <p:sp>
        <p:nvSpPr>
          <p:cNvPr id="13" name="header-8"/>
          <p:cNvSpPr>
            <a:spLocks noGrp="1"/>
          </p:cNvSpPr>
          <p:nvPr/>
        </p:nvSpPr>
        <p:spPr>
          <a:xfrm>
            <a:off x="7343775" y="1599372"/>
            <a:ext cx="25717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90" b="1">
                <a:solidFill>
                  <a:srgbClr val="FFFFFF"/>
                </a:solidFill>
                <a:latin typeface="微软雅黑" panose="020B0503020204020204" charset="-122"/>
                <a:ea typeface="微软雅黑" panose="020B0503020204020204" charset="-122"/>
                <a:cs typeface="微软雅黑" panose="020B0503020204020204" charset="-122"/>
              </a:defRPr>
            </a:pPr>
            <a:r>
              <a:rPr sz="790" b="1">
                <a:solidFill>
                  <a:srgbClr val="FFFFFF"/>
                </a:solidFill>
                <a:latin typeface="微软雅黑" panose="020B0503020204020204" charset="-122"/>
                <a:ea typeface="微软雅黑" panose="020B0503020204020204" charset="-122"/>
                <a:cs typeface="微软雅黑" panose="020B0503020204020204" charset="-122"/>
              </a:rPr>
              <a:t>关键信号 / 停顿原因</a:t>
            </a:r>
          </a:p>
        </p:txBody>
      </p:sp>
      <p:sp>
        <p:nvSpPr>
          <p:cNvPr id="14" name="header-9"/>
          <p:cNvSpPr>
            <a:spLocks noGrp="1"/>
          </p:cNvSpPr>
          <p:nvPr/>
        </p:nvSpPr>
        <p:spPr>
          <a:xfrm>
            <a:off x="9915525" y="1599372"/>
            <a:ext cx="2066925"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90" b="1">
                <a:solidFill>
                  <a:srgbClr val="FFFFFF"/>
                </a:solidFill>
                <a:latin typeface="微软雅黑" panose="020B0503020204020204" charset="-122"/>
                <a:ea typeface="微软雅黑" panose="020B0503020204020204" charset="-122"/>
                <a:cs typeface="微软雅黑" panose="020B0503020204020204" charset="-122"/>
              </a:defRPr>
            </a:pPr>
            <a:r>
              <a:rPr sz="790" b="1">
                <a:solidFill>
                  <a:srgbClr val="FFFFFF"/>
                </a:solidFill>
                <a:latin typeface="微软雅黑" panose="020B0503020204020204" charset="-122"/>
                <a:ea typeface="微软雅黑" panose="020B0503020204020204" charset="-122"/>
                <a:cs typeface="微软雅黑" panose="020B0503020204020204" charset="-122"/>
              </a:rPr>
              <a:t>最终瓶颈</a:t>
            </a:r>
          </a:p>
        </p:txBody>
      </p:sp>
      <p:sp>
        <p:nvSpPr>
          <p:cNvPr id="15" name="cell-0-0"/>
          <p:cNvSpPr>
            <a:spLocks noGrp="1"/>
          </p:cNvSpPr>
          <p:nvPr/>
        </p:nvSpPr>
        <p:spPr>
          <a:xfrm>
            <a:off x="552450" y="1904172"/>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softmax</a:t>
            </a:r>
          </a:p>
        </p:txBody>
      </p:sp>
      <p:sp>
        <p:nvSpPr>
          <p:cNvPr id="16" name="cell-0-1"/>
          <p:cNvSpPr>
            <a:spLocks noGrp="1"/>
          </p:cNvSpPr>
          <p:nvPr/>
        </p:nvSpPr>
        <p:spPr>
          <a:xfrm>
            <a:off x="1238250" y="1904172"/>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Triton</a:t>
            </a: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BLOCK_M=1 · nw2 · ns2</a:t>
            </a:r>
          </a:p>
        </p:txBody>
      </p:sp>
      <p:sp>
        <p:nvSpPr>
          <p:cNvPr id="17" name="cell-0-2"/>
          <p:cNvSpPr>
            <a:spLocks noGrp="1"/>
          </p:cNvSpPr>
          <p:nvPr/>
        </p:nvSpPr>
        <p:spPr>
          <a:xfrm>
            <a:off x="2886075" y="1904172"/>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108</a:t>
            </a:r>
          </a:p>
        </p:txBody>
      </p:sp>
      <p:sp>
        <p:nvSpPr>
          <p:cNvPr id="18" name="cell-0-3"/>
          <p:cNvSpPr>
            <a:spLocks noGrp="1"/>
          </p:cNvSpPr>
          <p:nvPr/>
        </p:nvSpPr>
        <p:spPr>
          <a:xfrm>
            <a:off x="3400425" y="1904172"/>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19" name="cell-0-4"/>
          <p:cNvSpPr>
            <a:spLocks noGrp="1"/>
          </p:cNvSpPr>
          <p:nvPr/>
        </p:nvSpPr>
        <p:spPr>
          <a:xfrm>
            <a:off x="3876675" y="1904172"/>
            <a:ext cx="7810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20" name="cell-0-5"/>
          <p:cNvSpPr>
            <a:spLocks noGrp="1"/>
          </p:cNvSpPr>
          <p:nvPr/>
        </p:nvSpPr>
        <p:spPr>
          <a:xfrm>
            <a:off x="4657725" y="1904172"/>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33.33% /</a:t>
            </a:r>
          </a:p>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31.30%</a:t>
            </a:r>
          </a:p>
        </p:txBody>
      </p:sp>
      <p:sp>
        <p:nvSpPr>
          <p:cNvPr id="21" name="cell-0-6"/>
          <p:cNvSpPr>
            <a:spLocks noGrp="1"/>
          </p:cNvSpPr>
          <p:nvPr/>
        </p:nvSpPr>
        <p:spPr>
          <a:xfrm>
            <a:off x="5743575" y="1904172"/>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91.48%</a:t>
            </a:r>
          </a:p>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830 GB/s</a:t>
            </a:r>
          </a:p>
        </p:txBody>
      </p:sp>
      <p:sp>
        <p:nvSpPr>
          <p:cNvPr id="22" name="cell-0-7"/>
          <p:cNvSpPr>
            <a:spLocks noGrp="1"/>
          </p:cNvSpPr>
          <p:nvPr/>
        </p:nvSpPr>
        <p:spPr>
          <a:xfrm>
            <a:off x="6619875" y="1904172"/>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23" name="cell-0-8"/>
          <p:cNvSpPr>
            <a:spLocks noGrp="1"/>
          </p:cNvSpPr>
          <p:nvPr/>
        </p:nvSpPr>
        <p:spPr>
          <a:xfrm>
            <a:off x="7343775" y="1904172"/>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搬运 = 理论下限</a:t>
            </a: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tl.load 已合并</a:t>
            </a:r>
          </a:p>
        </p:txBody>
      </p:sp>
      <p:sp>
        <p:nvSpPr>
          <p:cNvPr id="24" name="cell-0-9"/>
          <p:cNvSpPr>
            <a:spLocks noGrp="1"/>
          </p:cNvSpPr>
          <p:nvPr/>
        </p:nvSpPr>
        <p:spPr>
          <a:xfrm>
            <a:off x="9915525" y="1904172"/>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DRAM 带宽饱和</a:t>
            </a:r>
          </a:p>
        </p:txBody>
      </p:sp>
      <p:sp>
        <p:nvSpPr>
          <p:cNvPr id="25" name="cell-1-0"/>
          <p:cNvSpPr>
            <a:spLocks noGrp="1"/>
          </p:cNvSpPr>
          <p:nvPr/>
        </p:nvSpPr>
        <p:spPr>
          <a:xfrm>
            <a:off x="552450" y="2418522"/>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softmax</a:t>
            </a:r>
          </a:p>
        </p:txBody>
      </p:sp>
      <p:sp>
        <p:nvSpPr>
          <p:cNvPr id="26" name="cell-1-1"/>
          <p:cNvSpPr>
            <a:spLocks noGrp="1"/>
          </p:cNvSpPr>
          <p:nvPr/>
        </p:nvSpPr>
        <p:spPr>
          <a:xfrm>
            <a:off x="1238250" y="2418522"/>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CUDA</a:t>
            </a: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b512 · 32 KB dyn smem</a:t>
            </a:r>
          </a:p>
        </p:txBody>
      </p:sp>
      <p:sp>
        <p:nvSpPr>
          <p:cNvPr id="27" name="cell-1-2"/>
          <p:cNvSpPr>
            <a:spLocks noGrp="1"/>
          </p:cNvSpPr>
          <p:nvPr/>
        </p:nvSpPr>
        <p:spPr>
          <a:xfrm>
            <a:off x="2886075" y="2418522"/>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25</a:t>
            </a:r>
          </a:p>
        </p:txBody>
      </p:sp>
      <p:sp>
        <p:nvSpPr>
          <p:cNvPr id="28" name="cell-1-3"/>
          <p:cNvSpPr>
            <a:spLocks noGrp="1"/>
          </p:cNvSpPr>
          <p:nvPr/>
        </p:nvSpPr>
        <p:spPr>
          <a:xfrm>
            <a:off x="3400425" y="2418522"/>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0</a:t>
            </a:r>
          </a:p>
        </p:txBody>
      </p:sp>
      <p:sp>
        <p:nvSpPr>
          <p:cNvPr id="29" name="cell-1-4"/>
          <p:cNvSpPr>
            <a:spLocks noGrp="1"/>
          </p:cNvSpPr>
          <p:nvPr/>
        </p:nvSpPr>
        <p:spPr>
          <a:xfrm>
            <a:off x="3876675" y="2418522"/>
            <a:ext cx="7810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144 B +</a:t>
            </a:r>
          </a:p>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32 KB</a:t>
            </a:r>
          </a:p>
        </p:txBody>
      </p:sp>
      <p:sp>
        <p:nvSpPr>
          <p:cNvPr id="30" name="cell-1-5"/>
          <p:cNvSpPr>
            <a:spLocks noGrp="1"/>
          </p:cNvSpPr>
          <p:nvPr/>
        </p:nvSpPr>
        <p:spPr>
          <a:xfrm>
            <a:off x="4657725" y="2418522"/>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100% /</a:t>
            </a:r>
          </a:p>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96.51%</a:t>
            </a:r>
          </a:p>
        </p:txBody>
      </p:sp>
      <p:sp>
        <p:nvSpPr>
          <p:cNvPr id="31" name="cell-1-6"/>
          <p:cNvSpPr>
            <a:spLocks noGrp="1"/>
          </p:cNvSpPr>
          <p:nvPr/>
        </p:nvSpPr>
        <p:spPr>
          <a:xfrm>
            <a:off x="5743575" y="2418522"/>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90.24%</a:t>
            </a:r>
          </a:p>
        </p:txBody>
      </p:sp>
      <p:sp>
        <p:nvSpPr>
          <p:cNvPr id="32" name="cell-1-7"/>
          <p:cNvSpPr>
            <a:spLocks noGrp="1"/>
          </p:cNvSpPr>
          <p:nvPr/>
        </p:nvSpPr>
        <p:spPr>
          <a:xfrm>
            <a:off x="6619875" y="2418522"/>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38.66%</a:t>
            </a:r>
          </a:p>
        </p:txBody>
      </p:sp>
      <p:sp>
        <p:nvSpPr>
          <p:cNvPr id="33" name="cell-1-8"/>
          <p:cNvSpPr>
            <a:spLocks noGrp="1"/>
          </p:cNvSpPr>
          <p:nvPr/>
        </p:nvSpPr>
        <p:spPr>
          <a:xfrm>
            <a:off x="7343775" y="2418522"/>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long_scoreboard 17.08 warps / issue</a:t>
            </a: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L1 完美合并</a:t>
            </a:r>
          </a:p>
        </p:txBody>
      </p:sp>
      <p:sp>
        <p:nvSpPr>
          <p:cNvPr id="34" name="cell-1-9"/>
          <p:cNvSpPr>
            <a:spLocks noGrp="1"/>
          </p:cNvSpPr>
          <p:nvPr/>
        </p:nvSpPr>
        <p:spPr>
          <a:xfrm>
            <a:off x="9915525" y="2418522"/>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DRAM 带宽 /</a:t>
            </a:r>
          </a:p>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内存延迟受限</a:t>
            </a:r>
          </a:p>
        </p:txBody>
      </p:sp>
      <p:sp>
        <p:nvSpPr>
          <p:cNvPr id="35" name="cell-2-0"/>
          <p:cNvSpPr>
            <a:spLocks noGrp="1"/>
          </p:cNvSpPr>
          <p:nvPr/>
        </p:nvSpPr>
        <p:spPr>
          <a:xfrm>
            <a:off x="552450" y="2932872"/>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layernorm</a:t>
            </a:r>
          </a:p>
        </p:txBody>
      </p:sp>
      <p:sp>
        <p:nvSpPr>
          <p:cNvPr id="36" name="cell-2-1"/>
          <p:cNvSpPr>
            <a:spLocks noGrp="1"/>
          </p:cNvSpPr>
          <p:nvPr/>
        </p:nvSpPr>
        <p:spPr>
          <a:xfrm>
            <a:off x="1238250" y="2932872"/>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Triton</a:t>
            </a: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BLOCK_BS=4 · nw8 · ns2</a:t>
            </a:r>
          </a:p>
        </p:txBody>
      </p:sp>
      <p:sp>
        <p:nvSpPr>
          <p:cNvPr id="37" name="cell-2-2"/>
          <p:cNvSpPr>
            <a:spLocks noGrp="1"/>
          </p:cNvSpPr>
          <p:nvPr/>
        </p:nvSpPr>
        <p:spPr>
          <a:xfrm>
            <a:off x="2886075" y="2932872"/>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40</a:t>
            </a:r>
          </a:p>
        </p:txBody>
      </p:sp>
      <p:sp>
        <p:nvSpPr>
          <p:cNvPr id="38" name="cell-2-3"/>
          <p:cNvSpPr>
            <a:spLocks noGrp="1"/>
          </p:cNvSpPr>
          <p:nvPr/>
        </p:nvSpPr>
        <p:spPr>
          <a:xfrm>
            <a:off x="3400425" y="2932872"/>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39" name="cell-2-4"/>
          <p:cNvSpPr>
            <a:spLocks noGrp="1"/>
          </p:cNvSpPr>
          <p:nvPr/>
        </p:nvSpPr>
        <p:spPr>
          <a:xfrm>
            <a:off x="3876675" y="2932872"/>
            <a:ext cx="7810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128 B</a:t>
            </a:r>
          </a:p>
        </p:txBody>
      </p:sp>
      <p:sp>
        <p:nvSpPr>
          <p:cNvPr id="40" name="cell-2-5"/>
          <p:cNvSpPr>
            <a:spLocks noGrp="1"/>
          </p:cNvSpPr>
          <p:nvPr/>
        </p:nvSpPr>
        <p:spPr>
          <a:xfrm>
            <a:off x="4657725" y="2932872"/>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100% /</a:t>
            </a:r>
          </a:p>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91.86%</a:t>
            </a:r>
          </a:p>
        </p:txBody>
      </p:sp>
      <p:sp>
        <p:nvSpPr>
          <p:cNvPr id="41" name="cell-2-6"/>
          <p:cNvSpPr>
            <a:spLocks noGrp="1"/>
          </p:cNvSpPr>
          <p:nvPr/>
        </p:nvSpPr>
        <p:spPr>
          <a:xfrm>
            <a:off x="5743575" y="2932872"/>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80.61%</a:t>
            </a:r>
          </a:p>
        </p:txBody>
      </p:sp>
      <p:sp>
        <p:nvSpPr>
          <p:cNvPr id="42" name="cell-2-7"/>
          <p:cNvSpPr>
            <a:spLocks noGrp="1"/>
          </p:cNvSpPr>
          <p:nvPr/>
        </p:nvSpPr>
        <p:spPr>
          <a:xfrm>
            <a:off x="6619875" y="2932872"/>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35.38%</a:t>
            </a:r>
          </a:p>
        </p:txBody>
      </p:sp>
      <p:sp>
        <p:nvSpPr>
          <p:cNvPr id="43" name="cell-2-8"/>
          <p:cNvSpPr>
            <a:spLocks noGrp="1"/>
          </p:cNvSpPr>
          <p:nvPr/>
        </p:nvSpPr>
        <p:spPr>
          <a:xfrm>
            <a:off x="7343775" y="2932872"/>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L1 命中 74.99%</a:t>
            </a: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L2 46.17% · ALU 23.0%</a:t>
            </a:r>
          </a:p>
        </p:txBody>
      </p:sp>
      <p:sp>
        <p:nvSpPr>
          <p:cNvPr id="44" name="cell-2-9"/>
          <p:cNvSpPr>
            <a:spLocks noGrp="1"/>
          </p:cNvSpPr>
          <p:nvPr/>
        </p:nvSpPr>
        <p:spPr>
          <a:xfrm>
            <a:off x="9915525" y="2932872"/>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DRAM 带宽受限</a:t>
            </a:r>
          </a:p>
        </p:txBody>
      </p:sp>
      <p:sp>
        <p:nvSpPr>
          <p:cNvPr id="45" name="cell-3-0"/>
          <p:cNvSpPr>
            <a:spLocks noGrp="1"/>
          </p:cNvSpPr>
          <p:nvPr/>
        </p:nvSpPr>
        <p:spPr>
          <a:xfrm>
            <a:off x="552450" y="3447222"/>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layernorm</a:t>
            </a:r>
          </a:p>
        </p:txBody>
      </p:sp>
      <p:sp>
        <p:nvSpPr>
          <p:cNvPr id="46" name="cell-3-1"/>
          <p:cNvSpPr>
            <a:spLocks noGrp="1"/>
          </p:cNvSpPr>
          <p:nvPr/>
        </p:nvSpPr>
        <p:spPr>
          <a:xfrm>
            <a:off x="1238250" y="3447222"/>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CUDA</a:t>
            </a: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b512 · 2 elem / thd</a:t>
            </a:r>
          </a:p>
        </p:txBody>
      </p:sp>
      <p:sp>
        <p:nvSpPr>
          <p:cNvPr id="47" name="cell-3-2"/>
          <p:cNvSpPr>
            <a:spLocks noGrp="1"/>
          </p:cNvSpPr>
          <p:nvPr/>
        </p:nvSpPr>
        <p:spPr>
          <a:xfrm>
            <a:off x="2886075" y="3447222"/>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25</a:t>
            </a:r>
          </a:p>
        </p:txBody>
      </p:sp>
      <p:sp>
        <p:nvSpPr>
          <p:cNvPr id="48" name="cell-3-3"/>
          <p:cNvSpPr>
            <a:spLocks noGrp="1"/>
          </p:cNvSpPr>
          <p:nvPr/>
        </p:nvSpPr>
        <p:spPr>
          <a:xfrm>
            <a:off x="3400425" y="3447222"/>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0</a:t>
            </a:r>
          </a:p>
        </p:txBody>
      </p:sp>
      <p:sp>
        <p:nvSpPr>
          <p:cNvPr id="49" name="cell-3-4"/>
          <p:cNvSpPr>
            <a:spLocks noGrp="1"/>
          </p:cNvSpPr>
          <p:nvPr/>
        </p:nvSpPr>
        <p:spPr>
          <a:xfrm>
            <a:off x="3876675" y="3447222"/>
            <a:ext cx="7810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72 B</a:t>
            </a:r>
          </a:p>
        </p:txBody>
      </p:sp>
      <p:sp>
        <p:nvSpPr>
          <p:cNvPr id="50" name="cell-3-5"/>
          <p:cNvSpPr>
            <a:spLocks noGrp="1"/>
          </p:cNvSpPr>
          <p:nvPr/>
        </p:nvSpPr>
        <p:spPr>
          <a:xfrm>
            <a:off x="4657725" y="3447222"/>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 /</a:t>
            </a:r>
          </a:p>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92.50%</a:t>
            </a:r>
          </a:p>
        </p:txBody>
      </p:sp>
      <p:sp>
        <p:nvSpPr>
          <p:cNvPr id="51" name="cell-3-6"/>
          <p:cNvSpPr>
            <a:spLocks noGrp="1"/>
          </p:cNvSpPr>
          <p:nvPr/>
        </p:nvSpPr>
        <p:spPr>
          <a:xfrm>
            <a:off x="5743575" y="3447222"/>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90.30%</a:t>
            </a:r>
          </a:p>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823 GB/s</a:t>
            </a:r>
          </a:p>
        </p:txBody>
      </p:sp>
      <p:sp>
        <p:nvSpPr>
          <p:cNvPr id="52" name="cell-3-7"/>
          <p:cNvSpPr>
            <a:spLocks noGrp="1"/>
          </p:cNvSpPr>
          <p:nvPr/>
        </p:nvSpPr>
        <p:spPr>
          <a:xfrm>
            <a:off x="6619875" y="3447222"/>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56.75%</a:t>
            </a:r>
          </a:p>
        </p:txBody>
      </p:sp>
      <p:sp>
        <p:nvSpPr>
          <p:cNvPr id="53" name="cell-3-8"/>
          <p:cNvSpPr>
            <a:spLocks noGrp="1"/>
          </p:cNvSpPr>
          <p:nvPr/>
        </p:nvSpPr>
        <p:spPr>
          <a:xfrm>
            <a:off x="7343775" y="3447222"/>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Block Limit Warps = 3</a:t>
            </a: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Barrier 34.2% + L1TEX 32.9%</a:t>
            </a:r>
          </a:p>
        </p:txBody>
      </p:sp>
      <p:sp>
        <p:nvSpPr>
          <p:cNvPr id="54" name="cell-3-9"/>
          <p:cNvSpPr>
            <a:spLocks noGrp="1"/>
          </p:cNvSpPr>
          <p:nvPr/>
        </p:nvSpPr>
        <p:spPr>
          <a:xfrm>
            <a:off x="9915525" y="3447222"/>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DRAM 带宽受限</a:t>
            </a:r>
          </a:p>
        </p:txBody>
      </p:sp>
      <p:sp>
        <p:nvSpPr>
          <p:cNvPr id="55" name="cell-4-0"/>
          <p:cNvSpPr>
            <a:spLocks noGrp="1"/>
          </p:cNvSpPr>
          <p:nvPr/>
        </p:nvSpPr>
        <p:spPr>
          <a:xfrm>
            <a:off x="552450" y="3961572"/>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matmul</a:t>
            </a:r>
          </a:p>
        </p:txBody>
      </p:sp>
      <p:sp>
        <p:nvSpPr>
          <p:cNvPr id="56" name="cell-4-1"/>
          <p:cNvSpPr>
            <a:spLocks noGrp="1"/>
          </p:cNvSpPr>
          <p:nvPr/>
        </p:nvSpPr>
        <p:spPr>
          <a:xfrm>
            <a:off x="1238250" y="3961572"/>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Triton</a:t>
            </a: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M128N256K32 · nw8 · ns3</a:t>
            </a: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persistent</a:t>
            </a:r>
          </a:p>
        </p:txBody>
      </p:sp>
      <p:sp>
        <p:nvSpPr>
          <p:cNvPr id="57" name="cell-4-2"/>
          <p:cNvSpPr>
            <a:spLocks noGrp="1"/>
          </p:cNvSpPr>
          <p:nvPr/>
        </p:nvSpPr>
        <p:spPr>
          <a:xfrm>
            <a:off x="2886075" y="3961572"/>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255</a:t>
            </a:r>
          </a:p>
        </p:txBody>
      </p:sp>
      <p:sp>
        <p:nvSpPr>
          <p:cNvPr id="58" name="cell-4-3"/>
          <p:cNvSpPr>
            <a:spLocks noGrp="1"/>
          </p:cNvSpPr>
          <p:nvPr/>
        </p:nvSpPr>
        <p:spPr>
          <a:xfrm>
            <a:off x="3400425" y="3961572"/>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116</a:t>
            </a:r>
          </a:p>
        </p:txBody>
      </p:sp>
      <p:sp>
        <p:nvSpPr>
          <p:cNvPr id="59" name="cell-4-4"/>
          <p:cNvSpPr>
            <a:spLocks noGrp="1"/>
          </p:cNvSpPr>
          <p:nvPr/>
        </p:nvSpPr>
        <p:spPr>
          <a:xfrm>
            <a:off x="3876675" y="3961572"/>
            <a:ext cx="7810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60" name="cell-4-5"/>
          <p:cNvSpPr>
            <a:spLocks noGrp="1"/>
          </p:cNvSpPr>
          <p:nvPr/>
        </p:nvSpPr>
        <p:spPr>
          <a:xfrm>
            <a:off x="4657725" y="3961572"/>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~16.67%</a:t>
            </a:r>
          </a:p>
        </p:txBody>
      </p:sp>
      <p:sp>
        <p:nvSpPr>
          <p:cNvPr id="61" name="cell-4-6"/>
          <p:cNvSpPr>
            <a:spLocks noGrp="1"/>
          </p:cNvSpPr>
          <p:nvPr/>
        </p:nvSpPr>
        <p:spPr>
          <a:xfrm>
            <a:off x="5743575" y="3961572"/>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62" name="cell-4-7"/>
          <p:cNvSpPr>
            <a:spLocks noGrp="1"/>
          </p:cNvSpPr>
          <p:nvPr/>
        </p:nvSpPr>
        <p:spPr>
          <a:xfrm>
            <a:off x="6619875" y="3961572"/>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63" name="cell-4-8"/>
          <p:cNvSpPr>
            <a:spLocks noGrp="1"/>
          </p:cNvSpPr>
          <p:nvPr/>
        </p:nvSpPr>
        <p:spPr>
          <a:xfrm>
            <a:off x="7343775" y="3961572"/>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1 block / SM</a:t>
            </a: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~24.8% FP16 peak</a:t>
            </a:r>
          </a:p>
        </p:txBody>
      </p:sp>
      <p:sp>
        <p:nvSpPr>
          <p:cNvPr id="64" name="cell-4-9"/>
          <p:cNvSpPr>
            <a:spLocks noGrp="1"/>
          </p:cNvSpPr>
          <p:nvPr/>
        </p:nvSpPr>
        <p:spPr>
          <a:xfrm>
            <a:off x="9915525" y="3961572"/>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寄存器 / 占用受限</a:t>
            </a:r>
          </a:p>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latency-bound</a:t>
            </a:r>
          </a:p>
        </p:txBody>
      </p:sp>
      <p:sp>
        <p:nvSpPr>
          <p:cNvPr id="65" name="cell-5-0"/>
          <p:cNvSpPr>
            <a:spLocks noGrp="1"/>
          </p:cNvSpPr>
          <p:nvPr/>
        </p:nvSpPr>
        <p:spPr>
          <a:xfrm>
            <a:off x="552450" y="4475922"/>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matmul</a:t>
            </a:r>
          </a:p>
        </p:txBody>
      </p:sp>
      <p:sp>
        <p:nvSpPr>
          <p:cNvPr id="66" name="cell-5-1"/>
          <p:cNvSpPr>
            <a:spLocks noGrp="1"/>
          </p:cNvSpPr>
          <p:nvPr/>
        </p:nvSpPr>
        <p:spPr>
          <a:xfrm>
            <a:off x="1238250" y="4475922"/>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CUDA</a:t>
            </a: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WMMA TC · BK32</a:t>
            </a: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grid 64 × 64</a:t>
            </a:r>
          </a:p>
        </p:txBody>
      </p:sp>
      <p:sp>
        <p:nvSpPr>
          <p:cNvPr id="67" name="cell-5-2"/>
          <p:cNvSpPr>
            <a:spLocks noGrp="1"/>
          </p:cNvSpPr>
          <p:nvPr/>
        </p:nvSpPr>
        <p:spPr>
          <a:xfrm>
            <a:off x="2886075" y="4475922"/>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128</a:t>
            </a:r>
          </a:p>
        </p:txBody>
      </p:sp>
      <p:sp>
        <p:nvSpPr>
          <p:cNvPr id="68" name="cell-5-3"/>
          <p:cNvSpPr>
            <a:spLocks noGrp="1"/>
          </p:cNvSpPr>
          <p:nvPr/>
        </p:nvSpPr>
        <p:spPr>
          <a:xfrm>
            <a:off x="3400425" y="4475922"/>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0</a:t>
            </a:r>
          </a:p>
        </p:txBody>
      </p:sp>
      <p:sp>
        <p:nvSpPr>
          <p:cNvPr id="69" name="cell-5-4"/>
          <p:cNvSpPr>
            <a:spLocks noGrp="1"/>
          </p:cNvSpPr>
          <p:nvPr/>
        </p:nvSpPr>
        <p:spPr>
          <a:xfrm>
            <a:off x="3876675" y="4475922"/>
            <a:ext cx="7810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24576 B</a:t>
            </a:r>
          </a:p>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24 KB</a:t>
            </a:r>
          </a:p>
        </p:txBody>
      </p:sp>
      <p:sp>
        <p:nvSpPr>
          <p:cNvPr id="70" name="cell-5-5"/>
          <p:cNvSpPr>
            <a:spLocks noGrp="1"/>
          </p:cNvSpPr>
          <p:nvPr/>
        </p:nvSpPr>
        <p:spPr>
          <a:xfrm>
            <a:off x="4657725" y="4475922"/>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2 blocks / SM</a:t>
            </a:r>
          </a:p>
        </p:txBody>
      </p:sp>
      <p:sp>
        <p:nvSpPr>
          <p:cNvPr id="71" name="cell-5-6"/>
          <p:cNvSpPr>
            <a:spLocks noGrp="1"/>
          </p:cNvSpPr>
          <p:nvPr/>
        </p:nvSpPr>
        <p:spPr>
          <a:xfrm>
            <a:off x="5743575" y="4475922"/>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~13.9%</a:t>
            </a:r>
          </a:p>
        </p:txBody>
      </p:sp>
      <p:sp>
        <p:nvSpPr>
          <p:cNvPr id="72" name="cell-5-7"/>
          <p:cNvSpPr>
            <a:spLocks noGrp="1"/>
          </p:cNvSpPr>
          <p:nvPr/>
        </p:nvSpPr>
        <p:spPr>
          <a:xfrm>
            <a:off x="6619875" y="4475922"/>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73" name="cell-5-8"/>
          <p:cNvSpPr>
            <a:spLocks noGrp="1"/>
          </p:cNvSpPr>
          <p:nvPr/>
        </p:nvSpPr>
        <p:spPr>
          <a:xfrm>
            <a:off x="7343775" y="4475922"/>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baseline Tensor Core 0% 空闲 → fmaf</a:t>
            </a: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计算瓶颈</a:t>
            </a:r>
          </a:p>
        </p:txBody>
      </p:sp>
      <p:sp>
        <p:nvSpPr>
          <p:cNvPr id="74" name="cell-5-9"/>
          <p:cNvSpPr>
            <a:spLocks noGrp="1"/>
          </p:cNvSpPr>
          <p:nvPr/>
        </p:nvSpPr>
        <p:spPr>
          <a:xfrm>
            <a:off x="9915525" y="4475922"/>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访存 / 算术强度受限</a:t>
            </a:r>
          </a:p>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 启用张量核</a:t>
            </a:r>
          </a:p>
        </p:txBody>
      </p:sp>
      <p:sp>
        <p:nvSpPr>
          <p:cNvPr id="75" name="softmax-separator"/>
          <p:cNvSpPr>
            <a:spLocks noGrp="1"/>
          </p:cNvSpPr>
          <p:nvPr/>
        </p:nvSpPr>
        <p:spPr>
          <a:xfrm>
            <a:off x="552450" y="2923347"/>
            <a:ext cx="11430000" cy="19050"/>
          </a:xfrm>
          <a:prstGeom prst="rect">
            <a:avLst/>
          </a:prstGeom>
          <a:solidFill>
            <a:srgbClr val="5A819B"/>
          </a:solidFill>
          <a:ln w="0">
            <a:noFill/>
            <a:prstDash val="solid"/>
          </a:ln>
        </p:spPr>
      </p:sp>
      <p:sp>
        <p:nvSpPr>
          <p:cNvPr id="76" name="layernorm-separator"/>
          <p:cNvSpPr>
            <a:spLocks noGrp="1"/>
          </p:cNvSpPr>
          <p:nvPr/>
        </p:nvSpPr>
        <p:spPr>
          <a:xfrm>
            <a:off x="552450" y="3952047"/>
            <a:ext cx="11430000" cy="19050"/>
          </a:xfrm>
          <a:prstGeom prst="rect">
            <a:avLst/>
          </a:prstGeom>
          <a:solidFill>
            <a:srgbClr val="5A819B"/>
          </a:solidFill>
          <a:ln w="0">
            <a:noFill/>
            <a:prstDash val="solid"/>
          </a:ln>
        </p:spPr>
      </p:sp>
      <p:sp>
        <p:nvSpPr>
          <p:cNvPr id="77" name="table-left"/>
          <p:cNvSpPr>
            <a:spLocks noGrp="1"/>
          </p:cNvSpPr>
          <p:nvPr/>
        </p:nvSpPr>
        <p:spPr>
          <a:xfrm>
            <a:off x="552450" y="1599372"/>
            <a:ext cx="9525" cy="3390900"/>
          </a:xfrm>
          <a:prstGeom prst="rect">
            <a:avLst/>
          </a:prstGeom>
          <a:solidFill>
            <a:srgbClr val="416B88"/>
          </a:solidFill>
          <a:ln w="0">
            <a:noFill/>
            <a:prstDash val="solid"/>
          </a:ln>
        </p:spPr>
      </p:sp>
      <p:sp>
        <p:nvSpPr>
          <p:cNvPr id="78" name="table-right"/>
          <p:cNvSpPr>
            <a:spLocks noGrp="1"/>
          </p:cNvSpPr>
          <p:nvPr/>
        </p:nvSpPr>
        <p:spPr>
          <a:xfrm>
            <a:off x="11972925" y="1599372"/>
            <a:ext cx="9525" cy="3390900"/>
          </a:xfrm>
          <a:prstGeom prst="rect">
            <a:avLst/>
          </a:prstGeom>
          <a:solidFill>
            <a:srgbClr val="416B88"/>
          </a:solidFill>
          <a:ln w="0">
            <a:noFill/>
            <a:prstDash val="solid"/>
          </a:ln>
        </p:spPr>
      </p:sp>
      <p:sp>
        <p:nvSpPr>
          <p:cNvPr id="9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99" name="slide-1-title"/>
          <p:cNvSpPr>
            <a:spLocks noGrp="1"/>
          </p:cNvSpPr>
          <p:nvPr/>
        </p:nvSpPr>
        <p:spPr>
          <a:xfrm>
            <a:off x="381000" y="219075"/>
            <a:ext cx="635000" cy="51435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3.5</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22</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微软雅黑" panose="020B050302020402020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微软雅黑" panose="020B0503020204020204" charset="-122"/>
                <a:cs typeface="微软雅黑" panose="020B0503020204020204" charset="-122"/>
              </a:rPr>
              <a:t>Agent/</a:t>
            </a:r>
            <a:r>
              <a:rPr sz="1600">
                <a:solidFill>
                  <a:srgbClr val="2F3A45"/>
                </a:solidFill>
                <a:latin typeface="Arial" panose="020B0604020202020204" pitchFamily="34" charset="0"/>
                <a:ea typeface="微软雅黑" panose="020B050302020402020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微软雅黑" panose="020B0503020204020204" charset="-122"/>
                <a:cs typeface="微软雅黑" panose="020B0503020204020204" charset="-122"/>
              </a:rPr>
              <a:t>寒武纪</a:t>
            </a:r>
            <a:r>
              <a:rPr sz="1600">
                <a:solidFill>
                  <a:srgbClr val="2F3A45"/>
                </a:solidFill>
                <a:latin typeface="Arial" panose="020B0604020202020204" pitchFamily="34" charset="0"/>
                <a:ea typeface="微软雅黑" panose="020B050302020402020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lvl="0">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sym typeface="+mn-ea"/>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EEF2F5"/>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5B7188"/>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微软雅黑" panose="020B050302020402020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b="1" dirty="0" err="1" smtClean="0">
                <a:solidFill>
                  <a:srgbClr val="243B53"/>
                </a:solidFill>
                <a:latin typeface="Arial" panose="020B0604020202020204" pitchFamily="34" charset="0"/>
                <a:ea typeface="微软雅黑" panose="020B0503020204020204" charset="-122"/>
                <a:cs typeface="微软雅黑" panose="020B0503020204020204" charset="-122"/>
              </a:rPr>
              <a:t>未来</a:t>
            </a:r>
            <a:r>
              <a:rPr lang="zh-CN" altLang="en-US" sz="1600" b="1" dirty="0" smtClean="0">
                <a:solidFill>
                  <a:srgbClr val="243B53"/>
                </a:solidFill>
                <a:latin typeface="Arial" panose="020B0604020202020204" pitchFamily="34" charset="0"/>
                <a:ea typeface="微软雅黑" panose="020B0503020204020204" charset="-122"/>
                <a:cs typeface="微软雅黑" panose="020B0503020204020204" charset="-122"/>
              </a:rPr>
              <a:t>计划</a:t>
            </a:r>
            <a:endParaRPr sz="1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Grp="1"/>
          </p:cNvSpPr>
          <p:nvPr/>
        </p:nvSpPr>
        <p:spPr>
          <a:xfrm>
            <a:off x="11277600" y="389490"/>
            <a:ext cx="381000" cy="247650"/>
          </a:xfrm>
          <a:prstGeom prst="rect">
            <a:avLst/>
          </a:prstGeom>
          <a:noFill/>
          <a:ln w="0">
            <a:noFill/>
            <a:prstDash val="solid"/>
          </a:ln>
        </p:spPr>
        <p:txBody>
          <a:bodyPr wrap="square" lIns="0" tIns="0" rIns="0" bIns="0" anchor="t">
            <a:noAutofit/>
          </a:bodyPr>
          <a:lstStyle/>
          <a:p>
            <a:pPr algn="r">
              <a:lnSpc>
                <a:spcPct val="108000"/>
              </a:lnSpc>
              <a:buNone/>
              <a:defRPr sz="1200" b="1">
                <a:solidFill>
                  <a:srgbClr val="AFC2D5"/>
                </a:solidFill>
                <a:latin typeface="微软雅黑" panose="020B0503020204020204" charset="-122"/>
                <a:ea typeface="微软雅黑" panose="020B0503020204020204" charset="-122"/>
                <a:cs typeface="微软雅黑" panose="020B0503020204020204" charset="-122"/>
              </a:defRPr>
            </a:pPr>
            <a:r>
              <a:rPr lang="en-US" sz="1200" b="1" dirty="0">
                <a:solidFill>
                  <a:srgbClr val="AFC2D5"/>
                </a:solidFill>
                <a:latin typeface="微软雅黑" panose="020B0503020204020204" charset="-122"/>
                <a:ea typeface="微软雅黑" panose="020B0503020204020204" charset="-122"/>
                <a:cs typeface="微软雅黑" panose="020B0503020204020204" charset="-122"/>
              </a:rPr>
              <a:t>23</a:t>
            </a:r>
          </a:p>
        </p:txBody>
      </p:sp>
      <p:sp>
        <p:nvSpPr>
          <p:cNvPr id="6" name="矩形 5"/>
          <p:cNvSpPr>
            <a:spLocks noGrp="1"/>
          </p:cNvSpPr>
          <p:nvPr/>
        </p:nvSpPr>
        <p:spPr>
          <a:xfrm>
            <a:off x="6705600" y="1466850"/>
            <a:ext cx="4572000" cy="323850"/>
          </a:xfrm>
          <a:prstGeom prst="rect">
            <a:avLst/>
          </a:prstGeom>
          <a:noFill/>
          <a:ln w="0">
            <a:noFill/>
            <a:prstDash val="solid"/>
          </a:ln>
        </p:spPr>
        <p:txBody>
          <a:bodyPr wrap="square" lIns="0" tIns="0" rIns="0" bIns="0" anchor="t">
            <a:noAutofit/>
          </a:bodyPr>
          <a:lstStyle/>
          <a:p>
            <a:pPr algn="l">
              <a:lnSpc>
                <a:spcPct val="105000"/>
              </a:lnSpc>
              <a:buNone/>
              <a:defRPr sz="1950" b="1">
                <a:solidFill>
                  <a:srgbClr val="FFFFFF"/>
                </a:solidFill>
                <a:latin typeface="微软雅黑" panose="020B0503020204020204" charset="-122"/>
                <a:ea typeface="微软雅黑" panose="020B0503020204020204" charset="-122"/>
                <a:cs typeface="微软雅黑" panose="020B0503020204020204" charset="-122"/>
              </a:defRPr>
            </a:pPr>
            <a:r>
              <a:rPr sz="1950" b="1">
                <a:solidFill>
                  <a:srgbClr val="FFFFFF"/>
                </a:solidFill>
                <a:latin typeface="微软雅黑" panose="020B0503020204020204" charset="-122"/>
                <a:ea typeface="微软雅黑" panose="020B0503020204020204" charset="-122"/>
                <a:cs typeface="微软雅黑" panose="020B0503020204020204" charset="-122"/>
              </a:rPr>
              <a:t>人机协同优化闭环</a:t>
            </a:r>
          </a:p>
        </p:txBody>
      </p:sp>
      <p:sp>
        <p:nvSpPr>
          <p:cNvPr id="27" name="圆角矩形 26"/>
          <p:cNvSpPr>
            <a:spLocks noGrp="1"/>
          </p:cNvSpPr>
          <p:nvPr/>
        </p:nvSpPr>
        <p:spPr>
          <a:xfrm>
            <a:off x="3896992" y="2571055"/>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开发、检验算子成本进一步</a:t>
            </a:r>
            <a:endParaRPr 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3896992" y="3333055"/>
            <a:ext cx="3581400" cy="514350"/>
          </a:xfrm>
          <a:prstGeom prst="roundRect">
            <a:avLst>
              <a:gd name="adj" fmla="val 11111"/>
            </a:avLst>
          </a:prstGeom>
          <a:solidFill>
            <a:srgbClr val="1A4568"/>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算子库测试规模化</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9" name="圆角矩形 28"/>
          <p:cNvSpPr>
            <a:spLocks noGrp="1"/>
          </p:cNvSpPr>
          <p:nvPr/>
        </p:nvSpPr>
        <p:spPr>
          <a:xfrm>
            <a:off x="3896992" y="4095055"/>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a:solidFill>
                  <a:srgbClr val="FFFFFF"/>
                </a:solidFill>
                <a:latin typeface="微软雅黑" panose="020B0503020204020204" charset="-122"/>
                <a:ea typeface="微软雅黑" panose="020B0503020204020204" charset="-122"/>
                <a:cs typeface="微软雅黑" panose="020B0503020204020204" charset="-122"/>
              </a:rPr>
              <a:t>跨</a:t>
            </a: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平台效率量化</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0" name="直接连接符 39"/>
          <p:cNvSpPr>
            <a:spLocks noGrp="1"/>
          </p:cNvSpPr>
          <p:nvPr/>
        </p:nvSpPr>
        <p:spPr>
          <a:xfrm>
            <a:off x="685800" y="6448425"/>
            <a:ext cx="10820400" cy="0"/>
          </a:xfrm>
          <a:prstGeom prst="line">
            <a:avLst/>
          </a:prstGeom>
          <a:noFill/>
          <a:ln w="7620">
            <a:solidFill>
              <a:srgbClr val="416987"/>
            </a:solidFill>
            <a:prstDash val="solid"/>
          </a:ln>
        </p:spPr>
      </p:sp>
      <p:sp>
        <p:nvSpPr>
          <p:cNvPr id="43" name="contents-title"/>
          <p:cNvSpPr>
            <a:spLocks noGrp="1"/>
          </p:cNvSpPr>
          <p:nvPr/>
        </p:nvSpPr>
        <p:spPr>
          <a:xfrm>
            <a:off x="1356678" y="150718"/>
            <a:ext cx="6858000" cy="533400"/>
          </a:xfrm>
          <a:prstGeom prst="rect">
            <a:avLst/>
          </a:prstGeom>
          <a:noFill/>
          <a:ln w="0">
            <a:noFill/>
            <a:prstDash val="solid"/>
          </a:ln>
        </p:spPr>
        <p:txBody>
          <a:bodyPr wrap="square" lIns="0" tIns="0" rIns="0" bIns="0" anchor="ctr">
            <a:norm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dirty="0" err="1">
                <a:solidFill>
                  <a:srgbClr val="072A67"/>
                </a:solidFill>
                <a:latin typeface="微软雅黑" panose="020B0503020204020204" charset="-122"/>
                <a:ea typeface="微软雅黑" panose="020B0503020204020204" charset="-122"/>
                <a:cs typeface="微软雅黑" panose="020B0503020204020204" charset="-122"/>
              </a:rPr>
              <a:t>未来计划</a:t>
            </a:r>
            <a:endParaRPr sz="285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45" name="next_page_navigation_background"/>
          <p:cNvSpPr>
            <a:spLocks noGrp="1"/>
          </p:cNvSpPr>
          <p:nvPr/>
        </p:nvSpPr>
        <p:spPr>
          <a:xfrm>
            <a:off x="1165569" y="5770079"/>
            <a:ext cx="9801225" cy="523875"/>
          </a:xfrm>
          <a:prstGeom prst="roundRect">
            <a:avLst>
              <a:gd name="adj" fmla="val 10909"/>
            </a:avLst>
          </a:prstGeom>
          <a:solidFill>
            <a:srgbClr val="EEF4FE"/>
          </a:solidFill>
          <a:ln w="0">
            <a:solidFill>
              <a:srgbClr val="EEF4FE"/>
            </a:solidFill>
            <a:prstDash val="solid"/>
          </a:ln>
        </p:spPr>
        <p:txBody>
          <a:bodyPr wrap="square" lIns="0" tIns="0" rIns="0" bIns="0" anchor="ctr">
            <a:normAutofit/>
          </a:bodyPr>
          <a:lstStyle/>
          <a:p>
            <a:endParaRPr/>
          </a:p>
        </p:txBody>
      </p:sp>
      <p:sp>
        <p:nvSpPr>
          <p:cNvPr id="7" name="矩形 6"/>
          <p:cNvSpPr/>
          <p:nvPr/>
        </p:nvSpPr>
        <p:spPr>
          <a:xfrm>
            <a:off x="1553842" y="5860494"/>
            <a:ext cx="9375775" cy="337185"/>
          </a:xfrm>
          <a:prstGeom prst="rect">
            <a:avLst/>
          </a:prstGeom>
        </p:spPr>
        <p:txBody>
          <a:bodyPr wrap="none">
            <a:spAutoFit/>
          </a:bodyPr>
          <a:lstStyle/>
          <a:p>
            <a:pPr>
              <a:defRPr sz="1500" b="1">
                <a:solidFill>
                  <a:srgbClr val="E97132"/>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最终目标</a:t>
            </a:r>
            <a:r>
              <a:rPr lang="zh-CN" altLang="en-US"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从“</a:t>
            </a:r>
            <a:r>
              <a:rPr lang="en-US" altLang="zh-CN" sz="1600" b="1" dirty="0">
                <a:solidFill>
                  <a:srgbClr val="072A67"/>
                </a:solidFill>
                <a:latin typeface="微软雅黑" panose="020B0503020204020204" charset="-122"/>
                <a:ea typeface="微软雅黑" panose="020B0503020204020204" charset="-122"/>
                <a:cs typeface="微软雅黑" panose="020B0503020204020204" charset="-122"/>
              </a:rPr>
              <a:t>Agent</a:t>
            </a: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 辅助写算子”扩展到“人 </a:t>
            </a:r>
            <a:r>
              <a:rPr lang="en-US" altLang="zh-CN" sz="1600" b="1" dirty="0">
                <a:solidFill>
                  <a:srgbClr val="072A67"/>
                </a:solidFill>
                <a:latin typeface="微软雅黑" panose="020B0503020204020204" charset="-122"/>
                <a:ea typeface="微软雅黑" panose="020B0503020204020204" charset="-122"/>
                <a:cs typeface="微软雅黑" panose="020B0503020204020204" charset="-122"/>
              </a:rPr>
              <a:t>+ Agent + </a:t>
            </a: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真实硬件”协同完成模型部署与性能优化</a:t>
            </a:r>
            <a:endParaRPr lang="zh-CN" altLang="en-US"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4.1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20"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1" name="圆角矩形 20"/>
          <p:cNvSpPr>
            <a:spLocks noGrp="1"/>
          </p:cNvSpPr>
          <p:nvPr/>
        </p:nvSpPr>
        <p:spPr>
          <a:xfrm>
            <a:off x="3896992" y="1733543"/>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算子优化方式进一步调整</a:t>
            </a:r>
            <a:endParaRPr 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5960</Words>
  <Application>Microsoft Office PowerPoint</Application>
  <PresentationFormat>宽屏</PresentationFormat>
  <Paragraphs>1275</Paragraphs>
  <Slides>29</Slides>
  <Notes>29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29</vt:i4>
      </vt:variant>
    </vt:vector>
  </HeadingPairs>
  <TitlesOfParts>
    <vt:vector size="36" baseType="lpstr">
      <vt:lpstr>楷体_GB2312</vt:lpstr>
      <vt:lpstr>微软雅黑</vt:lpstr>
      <vt:lpstr>Arial</vt:lpstr>
      <vt:lpstr>Calibri</vt:lpstr>
      <vt:lpstr>Consolas</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霍子昂</cp:lastModifiedBy>
  <cp:revision>193</cp:revision>
  <dcterms:created xsi:type="dcterms:W3CDTF">2026-08-17T11:31:00Z</dcterms:created>
  <dcterms:modified xsi:type="dcterms:W3CDTF">2026-08-27T08:37:33Z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EB95D0488D594F14AB70C2DE36E43D4E_12</vt:lpwstr>
  </property>
</Properties>
</file>